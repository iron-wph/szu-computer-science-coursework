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7" r:id="rId2"/>
    <p:sldId id="256" r:id="rId3"/>
    <p:sldId id="270" r:id="rId4"/>
    <p:sldId id="278" r:id="rId5"/>
    <p:sldId id="275" r:id="rId6"/>
    <p:sldId id="274" r:id="rId7"/>
    <p:sldId id="271" r:id="rId8"/>
    <p:sldId id="272" r:id="rId9"/>
    <p:sldId id="284" r:id="rId10"/>
    <p:sldId id="268" r:id="rId11"/>
    <p:sldId id="269" r:id="rId12"/>
    <p:sldId id="279" r:id="rId13"/>
    <p:sldId id="280" r:id="rId14"/>
    <p:sldId id="285" r:id="rId15"/>
    <p:sldId id="281" r:id="rId16"/>
    <p:sldId id="283" r:id="rId17"/>
    <p:sldId id="282" r:id="rId18"/>
    <p:sldId id="28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D6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86" d="100"/>
          <a:sy n="86" d="100"/>
        </p:scale>
        <p:origin x="53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A19E9-B171-49C7-9405-052D6B2AD182}"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BB4CAA-6C1C-437B-BFF4-C573F697C8F1}" type="slidenum">
              <a:rPr lang="zh-CN" altLang="en-US" smtClean="0"/>
              <a:t>‹#›</a:t>
            </a:fld>
            <a:endParaRPr lang="zh-CN" altLang="en-US"/>
          </a:p>
        </p:txBody>
      </p:sp>
    </p:spTree>
    <p:extLst>
      <p:ext uri="{BB962C8B-B14F-4D97-AF65-F5344CB8AC3E}">
        <p14:creationId xmlns:p14="http://schemas.microsoft.com/office/powerpoint/2010/main" val="387479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BB4CAA-6C1C-437B-BFF4-C573F697C8F1}" type="slidenum">
              <a:rPr lang="zh-CN" altLang="en-US" smtClean="0"/>
              <a:t>9</a:t>
            </a:fld>
            <a:endParaRPr lang="zh-CN" altLang="en-US"/>
          </a:p>
        </p:txBody>
      </p:sp>
    </p:spTree>
    <p:extLst>
      <p:ext uri="{BB962C8B-B14F-4D97-AF65-F5344CB8AC3E}">
        <p14:creationId xmlns:p14="http://schemas.microsoft.com/office/powerpoint/2010/main" val="419687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664FFC-2245-4E75-878A-E3490A00882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EA9ED2C-241D-409B-A28E-9D52DE9AB52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114B44-C54B-4644-8EE0-927CA75181EB}"/>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BE36ECBE-55D6-4FA1-9152-C0F1EC7004D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12A18A7-5234-4F6E-90C7-0FBF0DC2A67D}"/>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484627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150FDE-806E-41E6-BE0A-0E01140F875B}"/>
              </a:ext>
            </a:extLst>
          </p:cNvPr>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723C1319-A865-469A-8697-F3C7E591B8D6}"/>
              </a:ext>
            </a:extLst>
          </p:cNvPr>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A05CB0-0A46-46B1-A364-37D052A62CA5}"/>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E9C2D0AC-4551-4716-BE2E-CD9FA0FFA5C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89240EC-DF94-4E1F-9465-C697DA320F91}"/>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142680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A73FCB79-87FD-457B-89EA-DFD8941141B6}"/>
              </a:ext>
            </a:extLst>
          </p:cNvPr>
          <p:cNvSpPr txBox="1"/>
          <p:nvPr userDrawn="1"/>
        </p:nvSpPr>
        <p:spPr>
          <a:xfrm>
            <a:off x="1132514" y="327171"/>
            <a:ext cx="3271706" cy="461665"/>
          </a:xfrm>
          <a:prstGeom prst="rect">
            <a:avLst/>
          </a:prstGeom>
          <a:noFill/>
        </p:spPr>
        <p:txBody>
          <a:bodyPr wrap="square" rtlCol="0">
            <a:spAutoFit/>
          </a:bodyPr>
          <a:lstStyle/>
          <a:p>
            <a:r>
              <a:rPr lang="zh-CN" altLang="en-US" sz="2400" dirty="0"/>
              <a:t>单击插入</a:t>
            </a:r>
          </a:p>
        </p:txBody>
      </p:sp>
    </p:spTree>
    <p:extLst>
      <p:ext uri="{BB962C8B-B14F-4D97-AF65-F5344CB8AC3E}">
        <p14:creationId xmlns:p14="http://schemas.microsoft.com/office/powerpoint/2010/main" val="954756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7DD454-A7F4-4F2B-8EB4-BB684CCD94C6}"/>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93ABF-82D0-438D-9A61-E5BB2C35ABC7}"/>
              </a:ext>
            </a:extLst>
          </p:cNvPr>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700A716-A567-4F19-946C-A587C902DFA0}"/>
              </a:ext>
            </a:extLst>
          </p:cNvPr>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3F61E39-F92D-4842-8779-F1321E0AFC2F}"/>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67A6D2DD-47BE-4E75-A868-6FB29713270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9ED71F0-0AE2-4F78-B2F3-97B8CFF5672C}"/>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1423059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126CFA-1E17-4880-A21E-46E2E742ED58}"/>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5F8EBC-56AB-4766-BC57-A20C7467BD47}"/>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8F611A5-BFCF-4D88-812C-9B63C7C51119}"/>
              </a:ext>
            </a:extLst>
          </p:cNvPr>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AF6B1BD-3376-4C77-B2AA-37CC923B480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CCA079-F6BB-410D-AAFD-EB08446D2201}"/>
              </a:ext>
            </a:extLst>
          </p:cNvPr>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4077EA6-60B0-4EC3-9CD8-21C6BA0917D3}"/>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8" name="页脚占位符 7">
            <a:extLst>
              <a:ext uri="{FF2B5EF4-FFF2-40B4-BE49-F238E27FC236}">
                <a16:creationId xmlns:a16="http://schemas.microsoft.com/office/drawing/2014/main" id="{261BC883-36F0-41D3-BFD2-BF7C5F41F0D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6F879C6F-4E82-4B08-BAAA-30669FD9A823}"/>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3556788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6E7693-C0DF-4230-B9AF-E9319763DDCB}"/>
              </a:ext>
            </a:extLst>
          </p:cNvPr>
          <p:cNvSpPr>
            <a:spLocks noGrp="1"/>
          </p:cNvSpPr>
          <p:nvPr>
            <p:ph type="title"/>
          </p:nvPr>
        </p:nvSpPr>
        <p:spPr>
          <a:xfrm>
            <a:off x="1156982" y="293614"/>
            <a:ext cx="3641521" cy="528507"/>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38257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7851AA1-944B-40C3-8573-F9B33994F057}"/>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3" name="页脚占位符 2">
            <a:extLst>
              <a:ext uri="{FF2B5EF4-FFF2-40B4-BE49-F238E27FC236}">
                <a16:creationId xmlns:a16="http://schemas.microsoft.com/office/drawing/2014/main" id="{10CBA703-6234-469A-9DA4-33FEBEEF1F8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CA49650-B495-4821-A819-67C44586DFDE}"/>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306991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D7205-9A73-4460-B51A-5B2208DC270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2468549-88B2-42E5-8167-9B6086CFCC6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215B8E3-6F51-4ECF-A92F-C7CD338E2F6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FB13CB7-5BD4-44D5-860A-476C914ABBE6}"/>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BBE9E0D7-9626-45B8-AC60-89262C3093D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01FC29D5-8EDC-4197-B04B-208C885FA6FF}"/>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103526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0DB9B0-7C4F-46BC-A5C4-547D7AC3A0B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CD06A56-1B19-48C9-9DD9-CA0789A5982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FABA8FC-6BF5-4678-AEEC-486E44CA94E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2955121-BB2C-47E5-8AF9-EDA98649E67D}"/>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3A143CD5-15C1-49C8-836F-4A6F84A9ED0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8D5901C6-A24C-42E1-BE7C-36A034D86D94}"/>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2765238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50979E-79AF-4F9B-90FC-84C512B1578C}"/>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707197E-B58A-438E-91A7-FAD93FDB67F2}"/>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3443BC5-8AF6-4BEA-A181-B3CF0C84DCB8}"/>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449E69E8-A253-46EF-BEC1-63E9D9588B3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FBEA895-F45C-4B73-85C7-4D1E055C449A}"/>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4197127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B63BDB-16CC-4EBF-8724-FE4877B80818}"/>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B13B18F-602F-459F-83C1-4185C993AC14}"/>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23491A6-C0F2-4DE1-B54F-ECF8AA181649}"/>
              </a:ext>
            </a:extLst>
          </p:cNvPr>
          <p:cNvSpPr>
            <a:spLocks noGrp="1"/>
          </p:cNvSpPr>
          <p:nvPr>
            <p:ph type="dt" sz="half" idx="10"/>
          </p:nvPr>
        </p:nvSpPr>
        <p:spPr>
          <a:xfrm>
            <a:off x="838200" y="6356350"/>
            <a:ext cx="2743200" cy="365125"/>
          </a:xfrm>
          <a:prstGeom prst="rect">
            <a:avLst/>
          </a:prstGeom>
        </p:spPr>
        <p:txBody>
          <a:bodyPr/>
          <a:lstStyle/>
          <a:p>
            <a:fld id="{ABC52535-32E9-4B4C-B25C-70CE74D1F412}"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CF8107EC-B164-482E-8A39-702B6D32BA0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E8B0BB3-2570-4D60-86A4-8C4CCCB1578C}"/>
              </a:ext>
            </a:extLst>
          </p:cNvPr>
          <p:cNvSpPr>
            <a:spLocks noGrp="1"/>
          </p:cNvSpPr>
          <p:nvPr>
            <p:ph type="sldNum" sz="quarter" idx="12"/>
          </p:nvPr>
        </p:nvSpPr>
        <p:spPr>
          <a:xfrm>
            <a:off x="8610600" y="6356350"/>
            <a:ext cx="2743200" cy="365125"/>
          </a:xfrm>
          <a:prstGeom prst="rect">
            <a:avLst/>
          </a:prstGeom>
        </p:spPr>
        <p:txBody>
          <a:bodyPr/>
          <a:lstStyle/>
          <a:p>
            <a:fld id="{2E63158F-BCF2-4C7B-8174-D487E58A4E56}" type="slidenum">
              <a:rPr lang="zh-CN" altLang="en-US" smtClean="0"/>
              <a:t>‹#›</a:t>
            </a:fld>
            <a:endParaRPr lang="zh-CN" altLang="en-US"/>
          </a:p>
        </p:txBody>
      </p:sp>
    </p:spTree>
    <p:extLst>
      <p:ext uri="{BB962C8B-B14F-4D97-AF65-F5344CB8AC3E}">
        <p14:creationId xmlns:p14="http://schemas.microsoft.com/office/powerpoint/2010/main" val="4290878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1DE14A3-CF9A-4FE9-92CB-FFC6EA85ECAC}"/>
              </a:ext>
            </a:extLst>
          </p:cNvPr>
          <p:cNvSpPr/>
          <p:nvPr userDrawn="1"/>
        </p:nvSpPr>
        <p:spPr>
          <a:xfrm>
            <a:off x="1136072" y="295564"/>
            <a:ext cx="11055928" cy="550402"/>
          </a:xfrm>
          <a:prstGeom prst="rect">
            <a:avLst/>
          </a:prstGeom>
          <a:solidFill>
            <a:srgbClr val="00B0F0"/>
          </a:solid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nvGrpSpPr>
          <p:cNvPr id="8" name="组合 7">
            <a:extLst>
              <a:ext uri="{FF2B5EF4-FFF2-40B4-BE49-F238E27FC236}">
                <a16:creationId xmlns:a16="http://schemas.microsoft.com/office/drawing/2014/main" id="{ADADFA53-F26D-4C7F-8467-4268CAF04DCB}"/>
              </a:ext>
            </a:extLst>
          </p:cNvPr>
          <p:cNvGrpSpPr/>
          <p:nvPr userDrawn="1"/>
        </p:nvGrpSpPr>
        <p:grpSpPr>
          <a:xfrm>
            <a:off x="9814110" y="267547"/>
            <a:ext cx="2096408" cy="605580"/>
            <a:chOff x="3854450" y="4787900"/>
            <a:chExt cx="4462463" cy="1289050"/>
          </a:xfrm>
          <a:solidFill>
            <a:srgbClr val="C00000"/>
          </a:solidFill>
        </p:grpSpPr>
        <p:sp>
          <p:nvSpPr>
            <p:cNvPr id="9" name="Freeform 5">
              <a:extLst>
                <a:ext uri="{FF2B5EF4-FFF2-40B4-BE49-F238E27FC236}">
                  <a16:creationId xmlns:a16="http://schemas.microsoft.com/office/drawing/2014/main" id="{B4381A08-EA5E-434E-8DDA-40B0BC0F1BEE}"/>
                </a:ext>
              </a:extLst>
            </p:cNvPr>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Freeform 6">
              <a:extLst>
                <a:ext uri="{FF2B5EF4-FFF2-40B4-BE49-F238E27FC236}">
                  <a16:creationId xmlns:a16="http://schemas.microsoft.com/office/drawing/2014/main" id="{52FF0618-BABC-4BC8-98FA-88AB37F85E0E}"/>
                </a:ext>
              </a:extLst>
            </p:cNvPr>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Freeform 7">
              <a:extLst>
                <a:ext uri="{FF2B5EF4-FFF2-40B4-BE49-F238E27FC236}">
                  <a16:creationId xmlns:a16="http://schemas.microsoft.com/office/drawing/2014/main" id="{C1C93BE0-BC75-4D31-B602-C602B99BD80A}"/>
                </a:ext>
              </a:extLst>
            </p:cNvPr>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Freeform 8">
              <a:extLst>
                <a:ext uri="{FF2B5EF4-FFF2-40B4-BE49-F238E27FC236}">
                  <a16:creationId xmlns:a16="http://schemas.microsoft.com/office/drawing/2014/main" id="{E18CFB93-4F18-43F6-A88C-CF63C16E5610}"/>
                </a:ext>
              </a:extLst>
            </p:cNvPr>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Freeform 9">
              <a:extLst>
                <a:ext uri="{FF2B5EF4-FFF2-40B4-BE49-F238E27FC236}">
                  <a16:creationId xmlns:a16="http://schemas.microsoft.com/office/drawing/2014/main" id="{18DD703B-FBB9-4E57-AE13-92A5E4A2C57B}"/>
                </a:ext>
              </a:extLst>
            </p:cNvPr>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10">
              <a:extLst>
                <a:ext uri="{FF2B5EF4-FFF2-40B4-BE49-F238E27FC236}">
                  <a16:creationId xmlns:a16="http://schemas.microsoft.com/office/drawing/2014/main" id="{C933AB9C-A826-47C7-B3FD-A8702A553A7F}"/>
                </a:ext>
              </a:extLst>
            </p:cNvPr>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5" name="Freeform 11">
              <a:extLst>
                <a:ext uri="{FF2B5EF4-FFF2-40B4-BE49-F238E27FC236}">
                  <a16:creationId xmlns:a16="http://schemas.microsoft.com/office/drawing/2014/main" id="{DD02AFAA-EBEF-4CEC-97DE-E05C29E0F27C}"/>
                </a:ext>
              </a:extLst>
            </p:cNvPr>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6" name="Freeform 12">
              <a:extLst>
                <a:ext uri="{FF2B5EF4-FFF2-40B4-BE49-F238E27FC236}">
                  <a16:creationId xmlns:a16="http://schemas.microsoft.com/office/drawing/2014/main" id="{FB5D914B-BC3F-4C86-AB81-9C7B71A115AD}"/>
                </a:ext>
              </a:extLst>
            </p:cNvPr>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7" name="Freeform 13">
              <a:extLst>
                <a:ext uri="{FF2B5EF4-FFF2-40B4-BE49-F238E27FC236}">
                  <a16:creationId xmlns:a16="http://schemas.microsoft.com/office/drawing/2014/main" id="{B72549AA-9EE6-4B0D-ADA9-AD0AE0FD02A7}"/>
                </a:ext>
              </a:extLst>
            </p:cNvPr>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14">
              <a:extLst>
                <a:ext uri="{FF2B5EF4-FFF2-40B4-BE49-F238E27FC236}">
                  <a16:creationId xmlns:a16="http://schemas.microsoft.com/office/drawing/2014/main" id="{1BB6348F-1386-4AF4-8F52-66E4D4812424}"/>
                </a:ext>
              </a:extLst>
            </p:cNvPr>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Freeform 15">
              <a:extLst>
                <a:ext uri="{FF2B5EF4-FFF2-40B4-BE49-F238E27FC236}">
                  <a16:creationId xmlns:a16="http://schemas.microsoft.com/office/drawing/2014/main" id="{A914A968-1179-477E-8B07-DB4F3DA741BE}"/>
                </a:ext>
              </a:extLst>
            </p:cNvPr>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16">
              <a:extLst>
                <a:ext uri="{FF2B5EF4-FFF2-40B4-BE49-F238E27FC236}">
                  <a16:creationId xmlns:a16="http://schemas.microsoft.com/office/drawing/2014/main" id="{92FCCD8D-E69A-4EF0-8562-DD6474DBA042}"/>
                </a:ext>
              </a:extLst>
            </p:cNvPr>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17">
              <a:extLst>
                <a:ext uri="{FF2B5EF4-FFF2-40B4-BE49-F238E27FC236}">
                  <a16:creationId xmlns:a16="http://schemas.microsoft.com/office/drawing/2014/main" id="{9D84C145-8581-477E-AA5D-044179DDCB5E}"/>
                </a:ext>
              </a:extLst>
            </p:cNvPr>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8">
              <a:extLst>
                <a:ext uri="{FF2B5EF4-FFF2-40B4-BE49-F238E27FC236}">
                  <a16:creationId xmlns:a16="http://schemas.microsoft.com/office/drawing/2014/main" id="{BEAAE053-38DB-4EDF-84B7-3EF76DF792BF}"/>
                </a:ext>
              </a:extLst>
            </p:cNvPr>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9">
              <a:extLst>
                <a:ext uri="{FF2B5EF4-FFF2-40B4-BE49-F238E27FC236}">
                  <a16:creationId xmlns:a16="http://schemas.microsoft.com/office/drawing/2014/main" id="{F0B314D0-F816-4246-8C43-21F61B42D8E1}"/>
                </a:ext>
              </a:extLst>
            </p:cNvPr>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20">
              <a:extLst>
                <a:ext uri="{FF2B5EF4-FFF2-40B4-BE49-F238E27FC236}">
                  <a16:creationId xmlns:a16="http://schemas.microsoft.com/office/drawing/2014/main" id="{98A94581-DDD7-4A56-958C-82C3FC5610E2}"/>
                </a:ext>
              </a:extLst>
            </p:cNvPr>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21">
              <a:extLst>
                <a:ext uri="{FF2B5EF4-FFF2-40B4-BE49-F238E27FC236}">
                  <a16:creationId xmlns:a16="http://schemas.microsoft.com/office/drawing/2014/main" id="{AA05B2C2-802F-4207-9798-36F4CFCFABA1}"/>
                </a:ext>
              </a:extLst>
            </p:cNvPr>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22">
              <a:extLst>
                <a:ext uri="{FF2B5EF4-FFF2-40B4-BE49-F238E27FC236}">
                  <a16:creationId xmlns:a16="http://schemas.microsoft.com/office/drawing/2014/main" id="{61F53A83-BEF8-427C-A75E-3E4E0CE314E3}"/>
                </a:ext>
              </a:extLst>
            </p:cNvPr>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23">
              <a:extLst>
                <a:ext uri="{FF2B5EF4-FFF2-40B4-BE49-F238E27FC236}">
                  <a16:creationId xmlns:a16="http://schemas.microsoft.com/office/drawing/2014/main" id="{89DAFF17-56E9-448C-A36F-6C13F96DD772}"/>
                </a:ext>
              </a:extLst>
            </p:cNvPr>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24">
              <a:extLst>
                <a:ext uri="{FF2B5EF4-FFF2-40B4-BE49-F238E27FC236}">
                  <a16:creationId xmlns:a16="http://schemas.microsoft.com/office/drawing/2014/main" id="{B6342AC3-269D-4E28-A52B-82E5D973C629}"/>
                </a:ext>
              </a:extLst>
            </p:cNvPr>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25">
              <a:extLst>
                <a:ext uri="{FF2B5EF4-FFF2-40B4-BE49-F238E27FC236}">
                  <a16:creationId xmlns:a16="http://schemas.microsoft.com/office/drawing/2014/main" id="{F9A2B14A-2291-4B73-9FD8-382934160F53}"/>
                </a:ext>
              </a:extLst>
            </p:cNvPr>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26">
              <a:extLst>
                <a:ext uri="{FF2B5EF4-FFF2-40B4-BE49-F238E27FC236}">
                  <a16:creationId xmlns:a16="http://schemas.microsoft.com/office/drawing/2014/main" id="{B4E9A7FE-2018-46EE-A515-C99E48B148B4}"/>
                </a:ext>
              </a:extLst>
            </p:cNvPr>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27">
              <a:extLst>
                <a:ext uri="{FF2B5EF4-FFF2-40B4-BE49-F238E27FC236}">
                  <a16:creationId xmlns:a16="http://schemas.microsoft.com/office/drawing/2014/main" id="{2935D5F6-108C-461F-ABB7-1D7A5A848A7B}"/>
                </a:ext>
              </a:extLst>
            </p:cNvPr>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28">
              <a:extLst>
                <a:ext uri="{FF2B5EF4-FFF2-40B4-BE49-F238E27FC236}">
                  <a16:creationId xmlns:a16="http://schemas.microsoft.com/office/drawing/2014/main" id="{B38D1479-3452-4687-B28F-CFE389BC4218}"/>
                </a:ext>
              </a:extLst>
            </p:cNvPr>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29">
              <a:extLst>
                <a:ext uri="{FF2B5EF4-FFF2-40B4-BE49-F238E27FC236}">
                  <a16:creationId xmlns:a16="http://schemas.microsoft.com/office/drawing/2014/main" id="{A90240D7-E01B-4BA3-9269-07F5F1E5CFFA}"/>
                </a:ext>
              </a:extLst>
            </p:cNvPr>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30">
              <a:extLst>
                <a:ext uri="{FF2B5EF4-FFF2-40B4-BE49-F238E27FC236}">
                  <a16:creationId xmlns:a16="http://schemas.microsoft.com/office/drawing/2014/main" id="{C0614727-985A-41B1-BAC5-2ACBB2051381}"/>
                </a:ext>
              </a:extLst>
            </p:cNvPr>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31">
              <a:extLst>
                <a:ext uri="{FF2B5EF4-FFF2-40B4-BE49-F238E27FC236}">
                  <a16:creationId xmlns:a16="http://schemas.microsoft.com/office/drawing/2014/main" id="{5F10851A-0672-4BC4-BAC0-CA6BEA8D1B62}"/>
                </a:ext>
              </a:extLst>
            </p:cNvPr>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32">
              <a:extLst>
                <a:ext uri="{FF2B5EF4-FFF2-40B4-BE49-F238E27FC236}">
                  <a16:creationId xmlns:a16="http://schemas.microsoft.com/office/drawing/2014/main" id="{2263F91E-3C93-440A-81A4-4D2BC18C80AA}"/>
                </a:ext>
              </a:extLst>
            </p:cNvPr>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33">
              <a:extLst>
                <a:ext uri="{FF2B5EF4-FFF2-40B4-BE49-F238E27FC236}">
                  <a16:creationId xmlns:a16="http://schemas.microsoft.com/office/drawing/2014/main" id="{ACA50306-A643-458C-879C-01DD556080F1}"/>
                </a:ext>
              </a:extLst>
            </p:cNvPr>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34">
              <a:extLst>
                <a:ext uri="{FF2B5EF4-FFF2-40B4-BE49-F238E27FC236}">
                  <a16:creationId xmlns:a16="http://schemas.microsoft.com/office/drawing/2014/main" id="{01ED1045-E8E1-45AA-84B5-E335C6CE6562}"/>
                </a:ext>
              </a:extLst>
            </p:cNvPr>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35">
              <a:extLst>
                <a:ext uri="{FF2B5EF4-FFF2-40B4-BE49-F238E27FC236}">
                  <a16:creationId xmlns:a16="http://schemas.microsoft.com/office/drawing/2014/main" id="{1BD13CE1-C74B-4CFE-A826-150A7A99D2D6}"/>
                </a:ext>
              </a:extLst>
            </p:cNvPr>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36">
              <a:extLst>
                <a:ext uri="{FF2B5EF4-FFF2-40B4-BE49-F238E27FC236}">
                  <a16:creationId xmlns:a16="http://schemas.microsoft.com/office/drawing/2014/main" id="{4AA3D5C3-3F06-4FAE-9F3B-DC9C45EED1A6}"/>
                </a:ext>
              </a:extLst>
            </p:cNvPr>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37">
              <a:extLst>
                <a:ext uri="{FF2B5EF4-FFF2-40B4-BE49-F238E27FC236}">
                  <a16:creationId xmlns:a16="http://schemas.microsoft.com/office/drawing/2014/main" id="{0B368D4B-166E-4D45-8CE9-2D0B5E3D0D50}"/>
                </a:ext>
              </a:extLst>
            </p:cNvPr>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38">
              <a:extLst>
                <a:ext uri="{FF2B5EF4-FFF2-40B4-BE49-F238E27FC236}">
                  <a16:creationId xmlns:a16="http://schemas.microsoft.com/office/drawing/2014/main" id="{9C1B3ED8-7D72-4F55-A8CC-734EE0681CBC}"/>
                </a:ext>
              </a:extLst>
            </p:cNvPr>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Freeform 39">
              <a:extLst>
                <a:ext uri="{FF2B5EF4-FFF2-40B4-BE49-F238E27FC236}">
                  <a16:creationId xmlns:a16="http://schemas.microsoft.com/office/drawing/2014/main" id="{F5C89143-9A26-4338-85EA-63C61FD5FA17}"/>
                </a:ext>
              </a:extLst>
            </p:cNvPr>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40">
              <a:extLst>
                <a:ext uri="{FF2B5EF4-FFF2-40B4-BE49-F238E27FC236}">
                  <a16:creationId xmlns:a16="http://schemas.microsoft.com/office/drawing/2014/main" id="{CF000550-9713-42F6-8004-DD2CAEEDA3D0}"/>
                </a:ext>
              </a:extLst>
            </p:cNvPr>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41">
              <a:extLst>
                <a:ext uri="{FF2B5EF4-FFF2-40B4-BE49-F238E27FC236}">
                  <a16:creationId xmlns:a16="http://schemas.microsoft.com/office/drawing/2014/main" id="{3FD60BD4-7336-456E-8388-1982304FE432}"/>
                </a:ext>
              </a:extLst>
            </p:cNvPr>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42">
              <a:extLst>
                <a:ext uri="{FF2B5EF4-FFF2-40B4-BE49-F238E27FC236}">
                  <a16:creationId xmlns:a16="http://schemas.microsoft.com/office/drawing/2014/main" id="{1671BE60-B30C-426D-9ABA-0F194B0193BA}"/>
                </a:ext>
              </a:extLst>
            </p:cNvPr>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43">
              <a:extLst>
                <a:ext uri="{FF2B5EF4-FFF2-40B4-BE49-F238E27FC236}">
                  <a16:creationId xmlns:a16="http://schemas.microsoft.com/office/drawing/2014/main" id="{FC58785C-6678-440A-9BC9-63364B6BB30D}"/>
                </a:ext>
              </a:extLst>
            </p:cNvPr>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44">
              <a:extLst>
                <a:ext uri="{FF2B5EF4-FFF2-40B4-BE49-F238E27FC236}">
                  <a16:creationId xmlns:a16="http://schemas.microsoft.com/office/drawing/2014/main" id="{38AACC22-9853-47C6-B675-0083060C294E}"/>
                </a:ext>
              </a:extLst>
            </p:cNvPr>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45">
              <a:extLst>
                <a:ext uri="{FF2B5EF4-FFF2-40B4-BE49-F238E27FC236}">
                  <a16:creationId xmlns:a16="http://schemas.microsoft.com/office/drawing/2014/main" id="{563786D3-EDA5-4A3C-8E46-BD9BA3F211BE}"/>
                </a:ext>
              </a:extLst>
            </p:cNvPr>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46">
              <a:extLst>
                <a:ext uri="{FF2B5EF4-FFF2-40B4-BE49-F238E27FC236}">
                  <a16:creationId xmlns:a16="http://schemas.microsoft.com/office/drawing/2014/main" id="{B3F36608-F65F-409E-9C6B-C99FC2B9EBA5}"/>
                </a:ext>
              </a:extLst>
            </p:cNvPr>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47">
              <a:extLst>
                <a:ext uri="{FF2B5EF4-FFF2-40B4-BE49-F238E27FC236}">
                  <a16:creationId xmlns:a16="http://schemas.microsoft.com/office/drawing/2014/main" id="{D1B75456-1640-4A89-BEE8-590976F9C06B}"/>
                </a:ext>
              </a:extLst>
            </p:cNvPr>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48">
              <a:extLst>
                <a:ext uri="{FF2B5EF4-FFF2-40B4-BE49-F238E27FC236}">
                  <a16:creationId xmlns:a16="http://schemas.microsoft.com/office/drawing/2014/main" id="{D07B59C3-BC76-487F-BBEB-2EB8C9CC606A}"/>
                </a:ext>
              </a:extLst>
            </p:cNvPr>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49">
              <a:extLst>
                <a:ext uri="{FF2B5EF4-FFF2-40B4-BE49-F238E27FC236}">
                  <a16:creationId xmlns:a16="http://schemas.microsoft.com/office/drawing/2014/main" id="{7D7FC025-AF53-47CC-A4AE-3D1963F14736}"/>
                </a:ext>
              </a:extLst>
            </p:cNvPr>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50">
              <a:extLst>
                <a:ext uri="{FF2B5EF4-FFF2-40B4-BE49-F238E27FC236}">
                  <a16:creationId xmlns:a16="http://schemas.microsoft.com/office/drawing/2014/main" id="{E7E0AA15-0C6F-4F54-A07D-68BDC171F70C}"/>
                </a:ext>
              </a:extLst>
            </p:cNvPr>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51">
              <a:extLst>
                <a:ext uri="{FF2B5EF4-FFF2-40B4-BE49-F238E27FC236}">
                  <a16:creationId xmlns:a16="http://schemas.microsoft.com/office/drawing/2014/main" id="{DA0A268F-AC4E-45A2-858F-D1CA7E5B20A7}"/>
                </a:ext>
              </a:extLst>
            </p:cNvPr>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52">
              <a:extLst>
                <a:ext uri="{FF2B5EF4-FFF2-40B4-BE49-F238E27FC236}">
                  <a16:creationId xmlns:a16="http://schemas.microsoft.com/office/drawing/2014/main" id="{96DC2715-FE56-43B3-9AB7-1D524D11A854}"/>
                </a:ext>
              </a:extLst>
            </p:cNvPr>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53">
              <a:extLst>
                <a:ext uri="{FF2B5EF4-FFF2-40B4-BE49-F238E27FC236}">
                  <a16:creationId xmlns:a16="http://schemas.microsoft.com/office/drawing/2014/main" id="{FFE627D7-329D-4E52-B9C1-70F2A9E536F4}"/>
                </a:ext>
              </a:extLst>
            </p:cNvPr>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54">
              <a:extLst>
                <a:ext uri="{FF2B5EF4-FFF2-40B4-BE49-F238E27FC236}">
                  <a16:creationId xmlns:a16="http://schemas.microsoft.com/office/drawing/2014/main" id="{F1D84E9F-3E85-46D8-8AE5-8EE1730DEEA4}"/>
                </a:ext>
              </a:extLst>
            </p:cNvPr>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55">
              <a:extLst>
                <a:ext uri="{FF2B5EF4-FFF2-40B4-BE49-F238E27FC236}">
                  <a16:creationId xmlns:a16="http://schemas.microsoft.com/office/drawing/2014/main" id="{79DE438A-0414-41E3-BED0-458808F77AA2}"/>
                </a:ext>
              </a:extLst>
            </p:cNvPr>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56">
              <a:extLst>
                <a:ext uri="{FF2B5EF4-FFF2-40B4-BE49-F238E27FC236}">
                  <a16:creationId xmlns:a16="http://schemas.microsoft.com/office/drawing/2014/main" id="{F0451458-9AD5-4624-9F2F-C65EE39B6A44}"/>
                </a:ext>
              </a:extLst>
            </p:cNvPr>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57">
              <a:extLst>
                <a:ext uri="{FF2B5EF4-FFF2-40B4-BE49-F238E27FC236}">
                  <a16:creationId xmlns:a16="http://schemas.microsoft.com/office/drawing/2014/main" id="{42171092-EBD7-4718-B113-24AD48C766EA}"/>
                </a:ext>
              </a:extLst>
            </p:cNvPr>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58">
              <a:extLst>
                <a:ext uri="{FF2B5EF4-FFF2-40B4-BE49-F238E27FC236}">
                  <a16:creationId xmlns:a16="http://schemas.microsoft.com/office/drawing/2014/main" id="{A67629DF-48D0-450B-AC5F-B2CA89E4085B}"/>
                </a:ext>
              </a:extLst>
            </p:cNvPr>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Oval 59">
              <a:extLst>
                <a:ext uri="{FF2B5EF4-FFF2-40B4-BE49-F238E27FC236}">
                  <a16:creationId xmlns:a16="http://schemas.microsoft.com/office/drawing/2014/main" id="{12F80E26-8BAB-40CA-AD56-DF7ED2E59E0A}"/>
                </a:ext>
              </a:extLst>
            </p:cNvPr>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Oval 60">
              <a:extLst>
                <a:ext uri="{FF2B5EF4-FFF2-40B4-BE49-F238E27FC236}">
                  <a16:creationId xmlns:a16="http://schemas.microsoft.com/office/drawing/2014/main" id="{32B8B133-4C2F-48B6-9D1F-25B38DEEBE87}"/>
                </a:ext>
              </a:extLst>
            </p:cNvPr>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61">
              <a:extLst>
                <a:ext uri="{FF2B5EF4-FFF2-40B4-BE49-F238E27FC236}">
                  <a16:creationId xmlns:a16="http://schemas.microsoft.com/office/drawing/2014/main" id="{28A7B7AA-B03B-4808-9287-FEE9D727B9C2}"/>
                </a:ext>
              </a:extLst>
            </p:cNvPr>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62">
              <a:extLst>
                <a:ext uri="{FF2B5EF4-FFF2-40B4-BE49-F238E27FC236}">
                  <a16:creationId xmlns:a16="http://schemas.microsoft.com/office/drawing/2014/main" id="{E01D57E0-3175-4D89-A507-78CA51DA62C5}"/>
                </a:ext>
              </a:extLst>
            </p:cNvPr>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63">
              <a:extLst>
                <a:ext uri="{FF2B5EF4-FFF2-40B4-BE49-F238E27FC236}">
                  <a16:creationId xmlns:a16="http://schemas.microsoft.com/office/drawing/2014/main" id="{655E0DF7-A0E2-4AFE-8C2B-7CDA175FC2E0}"/>
                </a:ext>
              </a:extLst>
            </p:cNvPr>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64">
              <a:extLst>
                <a:ext uri="{FF2B5EF4-FFF2-40B4-BE49-F238E27FC236}">
                  <a16:creationId xmlns:a16="http://schemas.microsoft.com/office/drawing/2014/main" id="{28CD4719-7E16-4DE0-9A14-F66A1F8D33D0}"/>
                </a:ext>
              </a:extLst>
            </p:cNvPr>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65">
              <a:extLst>
                <a:ext uri="{FF2B5EF4-FFF2-40B4-BE49-F238E27FC236}">
                  <a16:creationId xmlns:a16="http://schemas.microsoft.com/office/drawing/2014/main" id="{65CE8DED-A4E0-4929-A535-26DE941B4FD4}"/>
                </a:ext>
              </a:extLst>
            </p:cNvPr>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66">
              <a:extLst>
                <a:ext uri="{FF2B5EF4-FFF2-40B4-BE49-F238E27FC236}">
                  <a16:creationId xmlns:a16="http://schemas.microsoft.com/office/drawing/2014/main" id="{325B38AD-76F0-41E3-BE00-D73EE98BC9F9}"/>
                </a:ext>
              </a:extLst>
            </p:cNvPr>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67">
              <a:extLst>
                <a:ext uri="{FF2B5EF4-FFF2-40B4-BE49-F238E27FC236}">
                  <a16:creationId xmlns:a16="http://schemas.microsoft.com/office/drawing/2014/main" id="{19C5951D-BE10-45A8-B930-7D1B632D73F2}"/>
                </a:ext>
              </a:extLst>
            </p:cNvPr>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Freeform 68">
              <a:extLst>
                <a:ext uri="{FF2B5EF4-FFF2-40B4-BE49-F238E27FC236}">
                  <a16:creationId xmlns:a16="http://schemas.microsoft.com/office/drawing/2014/main" id="{50353286-9B15-471C-B1FF-8C0A5A9B57E2}"/>
                </a:ext>
              </a:extLst>
            </p:cNvPr>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69">
              <a:extLst>
                <a:ext uri="{FF2B5EF4-FFF2-40B4-BE49-F238E27FC236}">
                  <a16:creationId xmlns:a16="http://schemas.microsoft.com/office/drawing/2014/main" id="{B78C40EC-EA85-410B-8360-D39A3B549CF8}"/>
                </a:ext>
              </a:extLst>
            </p:cNvPr>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70">
              <a:extLst>
                <a:ext uri="{FF2B5EF4-FFF2-40B4-BE49-F238E27FC236}">
                  <a16:creationId xmlns:a16="http://schemas.microsoft.com/office/drawing/2014/main" id="{2BF6825D-B33F-4FFA-BAD9-C19580748D6C}"/>
                </a:ext>
              </a:extLst>
            </p:cNvPr>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5" name="组合 74">
            <a:extLst>
              <a:ext uri="{FF2B5EF4-FFF2-40B4-BE49-F238E27FC236}">
                <a16:creationId xmlns:a16="http://schemas.microsoft.com/office/drawing/2014/main" id="{EE3050A2-540E-45A4-8B7A-37A25513FB66}"/>
              </a:ext>
            </a:extLst>
          </p:cNvPr>
          <p:cNvGrpSpPr/>
          <p:nvPr userDrawn="1"/>
        </p:nvGrpSpPr>
        <p:grpSpPr>
          <a:xfrm>
            <a:off x="0" y="-18269"/>
            <a:ext cx="1136073" cy="864235"/>
            <a:chOff x="0" y="-18269"/>
            <a:chExt cx="1136073" cy="864235"/>
          </a:xfrm>
          <a:solidFill>
            <a:srgbClr val="79D6F3"/>
          </a:solidFill>
        </p:grpSpPr>
        <p:sp>
          <p:nvSpPr>
            <p:cNvPr id="76" name="矩形 75">
              <a:extLst>
                <a:ext uri="{FF2B5EF4-FFF2-40B4-BE49-F238E27FC236}">
                  <a16:creationId xmlns:a16="http://schemas.microsoft.com/office/drawing/2014/main" id="{CF67D518-4CEF-482B-A24B-D3FEA1DAF46E}"/>
                </a:ext>
              </a:extLst>
            </p:cNvPr>
            <p:cNvSpPr/>
            <p:nvPr/>
          </p:nvSpPr>
          <p:spPr>
            <a:xfrm>
              <a:off x="0" y="551919"/>
              <a:ext cx="1136072" cy="29404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7" name="矩形 76">
              <a:extLst>
                <a:ext uri="{FF2B5EF4-FFF2-40B4-BE49-F238E27FC236}">
                  <a16:creationId xmlns:a16="http://schemas.microsoft.com/office/drawing/2014/main" id="{B98A968A-F536-417D-B80D-7842AB5DC36E}"/>
                </a:ext>
              </a:extLst>
            </p:cNvPr>
            <p:cNvSpPr/>
            <p:nvPr/>
          </p:nvSpPr>
          <p:spPr>
            <a:xfrm>
              <a:off x="323274" y="300434"/>
              <a:ext cx="364736" cy="545532"/>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8" name="矩形 77">
              <a:extLst>
                <a:ext uri="{FF2B5EF4-FFF2-40B4-BE49-F238E27FC236}">
                  <a16:creationId xmlns:a16="http://schemas.microsoft.com/office/drawing/2014/main" id="{D78A48FA-DC4E-4DE3-AAEE-C232D8E4FC9C}"/>
                </a:ext>
              </a:extLst>
            </p:cNvPr>
            <p:cNvSpPr/>
            <p:nvPr/>
          </p:nvSpPr>
          <p:spPr>
            <a:xfrm>
              <a:off x="688011" y="-18269"/>
              <a:ext cx="448062" cy="57018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79" name="矩形 78">
              <a:extLst>
                <a:ext uri="{FF2B5EF4-FFF2-40B4-BE49-F238E27FC236}">
                  <a16:creationId xmlns:a16="http://schemas.microsoft.com/office/drawing/2014/main" id="{C6E847E9-CC76-4AC7-9769-87BCF5DEBA46}"/>
                </a:ext>
              </a:extLst>
            </p:cNvPr>
            <p:cNvSpPr/>
            <p:nvPr/>
          </p:nvSpPr>
          <p:spPr>
            <a:xfrm>
              <a:off x="688010" y="295565"/>
              <a:ext cx="448062" cy="256354"/>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80" name="矩形 79">
              <a:extLst>
                <a:ext uri="{FF2B5EF4-FFF2-40B4-BE49-F238E27FC236}">
                  <a16:creationId xmlns:a16="http://schemas.microsoft.com/office/drawing/2014/main" id="{5EBAE6AC-968C-4305-BAAB-548BEE239758}"/>
                </a:ext>
              </a:extLst>
            </p:cNvPr>
            <p:cNvSpPr/>
            <p:nvPr/>
          </p:nvSpPr>
          <p:spPr>
            <a:xfrm>
              <a:off x="688010" y="551918"/>
              <a:ext cx="448061" cy="294047"/>
            </a:xfrm>
            <a:prstGeom prst="rect">
              <a:avLst/>
            </a:prstGeom>
            <a:grpFill/>
            <a:ln w="12700" cap="flat" cmpd="sng" algn="ctr">
              <a:noFill/>
              <a:prstDash val="solid"/>
              <a:miter lim="800000"/>
            </a:ln>
            <a:effectLst/>
          </p:spPr>
          <p:txBody>
            <a:bodyPr wrap="square" rtlCol="0" anchor="ctr">
              <a:noAutofit/>
            </a:bodyP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ea"/>
                <a:sym typeface="+mn-lt"/>
              </a:endParaRPr>
            </a:p>
          </p:txBody>
        </p:sp>
      </p:grpSp>
    </p:spTree>
    <p:extLst>
      <p:ext uri="{BB962C8B-B14F-4D97-AF65-F5344CB8AC3E}">
        <p14:creationId xmlns:p14="http://schemas.microsoft.com/office/powerpoint/2010/main" val="1747467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5" Type="http://schemas.openxmlformats.org/officeDocument/2006/relationships/image" Target="../media/image220.png"/><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3" Type="http://schemas.openxmlformats.org/officeDocument/2006/relationships/image" Target="../media/image240.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l="4776" t="88" r="64" b="12548"/>
          <a:stretch>
            <a:fillRect/>
          </a:stretch>
        </p:blipFill>
        <p:spPr>
          <a:xfrm>
            <a:off x="482" y="0"/>
            <a:ext cx="12191999" cy="8267612"/>
          </a:xfrm>
          <a:prstGeom prst="rect">
            <a:avLst/>
          </a:prstGeom>
        </p:spPr>
      </p:pic>
      <p:sp>
        <p:nvSpPr>
          <p:cNvPr id="76" name="任意多边形: 形状 75"/>
          <p:cNvSpPr/>
          <p:nvPr/>
        </p:nvSpPr>
        <p:spPr>
          <a:xfrm rot="20940000">
            <a:off x="-230645" y="-1192196"/>
            <a:ext cx="12770482" cy="3627778"/>
          </a:xfrm>
          <a:custGeom>
            <a:avLst/>
            <a:gdLst>
              <a:gd name="connsiteX0" fmla="*/ 12770482 w 12770482"/>
              <a:gd name="connsiteY0" fmla="*/ 3571764 h 3627778"/>
              <a:gd name="connsiteX1" fmla="*/ 12770482 w 12770482"/>
              <a:gd name="connsiteY1" fmla="*/ 3627778 h 3627778"/>
              <a:gd name="connsiteX2" fmla="*/ 12759594 w 12770482"/>
              <a:gd name="connsiteY2" fmla="*/ 3627778 h 3627778"/>
              <a:gd name="connsiteX3" fmla="*/ 456753 w 12770482"/>
              <a:gd name="connsiteY3" fmla="*/ 0 h 3627778"/>
              <a:gd name="connsiteX4" fmla="*/ 12424752 w 12770482"/>
              <a:gd name="connsiteY4" fmla="*/ 2326343 h 3627778"/>
              <a:gd name="connsiteX5" fmla="*/ 12171778 w 12770482"/>
              <a:gd name="connsiteY5" fmla="*/ 3627778 h 3627778"/>
              <a:gd name="connsiteX6" fmla="*/ 1031105 w 12770482"/>
              <a:gd name="connsiteY6" fmla="*/ 3627778 h 3627778"/>
              <a:gd name="connsiteX7" fmla="*/ 0 w 12770482"/>
              <a:gd name="connsiteY7" fmla="*/ 2349789 h 36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70482" h="3627778">
                <a:moveTo>
                  <a:pt x="12770482" y="3571764"/>
                </a:moveTo>
                <a:lnTo>
                  <a:pt x="12770482" y="3627778"/>
                </a:lnTo>
                <a:lnTo>
                  <a:pt x="12759594" y="3627778"/>
                </a:lnTo>
                <a:close/>
                <a:moveTo>
                  <a:pt x="456753" y="0"/>
                </a:moveTo>
                <a:lnTo>
                  <a:pt x="12424752" y="2326343"/>
                </a:lnTo>
                <a:lnTo>
                  <a:pt x="12171778" y="3627778"/>
                </a:lnTo>
                <a:lnTo>
                  <a:pt x="1031105" y="3627778"/>
                </a:lnTo>
                <a:lnTo>
                  <a:pt x="0" y="2349789"/>
                </a:lnTo>
                <a:close/>
              </a:path>
            </a:pathLst>
          </a:custGeom>
          <a:solidFill>
            <a:srgbClr val="E2F4FA">
              <a:alpha val="7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7" name="任意多边形: 形状 36"/>
          <p:cNvSpPr/>
          <p:nvPr/>
        </p:nvSpPr>
        <p:spPr>
          <a:xfrm rot="600000">
            <a:off x="46696" y="2800202"/>
            <a:ext cx="821674" cy="797295"/>
          </a:xfrm>
          <a:custGeom>
            <a:avLst/>
            <a:gdLst>
              <a:gd name="connsiteX0" fmla="*/ 293485 w 821674"/>
              <a:gd name="connsiteY0" fmla="*/ 0 h 797295"/>
              <a:gd name="connsiteX1" fmla="*/ 821674 w 821674"/>
              <a:gd name="connsiteY1" fmla="*/ 797295 h 797295"/>
              <a:gd name="connsiteX2" fmla="*/ 62470 w 821674"/>
              <a:gd name="connsiteY2" fmla="*/ 797295 h 797295"/>
              <a:gd name="connsiteX3" fmla="*/ 0 w 821674"/>
              <a:gd name="connsiteY3" fmla="*/ 443012 h 797295"/>
            </a:gdLst>
            <a:ahLst/>
            <a:cxnLst>
              <a:cxn ang="0">
                <a:pos x="connsiteX0" y="connsiteY0"/>
              </a:cxn>
              <a:cxn ang="0">
                <a:pos x="connsiteX1" y="connsiteY1"/>
              </a:cxn>
              <a:cxn ang="0">
                <a:pos x="connsiteX2" y="connsiteY2"/>
              </a:cxn>
              <a:cxn ang="0">
                <a:pos x="connsiteX3" y="connsiteY3"/>
              </a:cxn>
            </a:cxnLst>
            <a:rect l="l" t="t" r="r" b="b"/>
            <a:pathLst>
              <a:path w="821674" h="797295">
                <a:moveTo>
                  <a:pt x="293485" y="0"/>
                </a:moveTo>
                <a:lnTo>
                  <a:pt x="821674" y="797295"/>
                </a:lnTo>
                <a:lnTo>
                  <a:pt x="62470" y="797295"/>
                </a:lnTo>
                <a:lnTo>
                  <a:pt x="0" y="443012"/>
                </a:lnTo>
                <a:close/>
              </a:path>
            </a:pathLst>
          </a:custGeom>
          <a:solidFill>
            <a:srgbClr val="E2F4F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u="sng" dirty="0"/>
          </a:p>
        </p:txBody>
      </p:sp>
      <p:sp>
        <p:nvSpPr>
          <p:cNvPr id="43" name="任意多边形: 形状 42"/>
          <p:cNvSpPr/>
          <p:nvPr/>
        </p:nvSpPr>
        <p:spPr>
          <a:xfrm rot="10141441">
            <a:off x="-107012" y="2843366"/>
            <a:ext cx="12466655" cy="244769"/>
          </a:xfrm>
          <a:custGeom>
            <a:avLst/>
            <a:gdLst>
              <a:gd name="connsiteX0" fmla="*/ 9485248 w 12466655"/>
              <a:gd name="connsiteY0" fmla="*/ 244769 h 244769"/>
              <a:gd name="connsiteX1" fmla="*/ 9424055 w 12466655"/>
              <a:gd name="connsiteY1" fmla="*/ 0 h 244769"/>
              <a:gd name="connsiteX2" fmla="*/ 12466655 w 12466655"/>
              <a:gd name="connsiteY2" fmla="*/ 0 h 244769"/>
              <a:gd name="connsiteX3" fmla="*/ 12419183 w 12466655"/>
              <a:gd name="connsiteY3" fmla="*/ 244769 h 244769"/>
              <a:gd name="connsiteX4" fmla="*/ 0 w 12466655"/>
              <a:gd name="connsiteY4" fmla="*/ 244769 h 244769"/>
              <a:gd name="connsiteX5" fmla="*/ 47472 w 12466655"/>
              <a:gd name="connsiteY5" fmla="*/ 0 h 244769"/>
              <a:gd name="connsiteX6" fmla="*/ 8762326 w 12466655"/>
              <a:gd name="connsiteY6" fmla="*/ 0 h 244769"/>
              <a:gd name="connsiteX7" fmla="*/ 8823518 w 12466655"/>
              <a:gd name="connsiteY7" fmla="*/ 244769 h 244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6655" h="244769">
                <a:moveTo>
                  <a:pt x="9485248" y="244769"/>
                </a:moveTo>
                <a:lnTo>
                  <a:pt x="9424055" y="0"/>
                </a:lnTo>
                <a:lnTo>
                  <a:pt x="12466655" y="0"/>
                </a:lnTo>
                <a:lnTo>
                  <a:pt x="12419183" y="244769"/>
                </a:lnTo>
                <a:close/>
                <a:moveTo>
                  <a:pt x="0" y="244769"/>
                </a:moveTo>
                <a:lnTo>
                  <a:pt x="47472" y="0"/>
                </a:lnTo>
                <a:lnTo>
                  <a:pt x="8762326" y="0"/>
                </a:lnTo>
                <a:lnTo>
                  <a:pt x="8823518" y="244769"/>
                </a:lnTo>
                <a:close/>
              </a:path>
            </a:pathLst>
          </a:custGeom>
          <a:solidFill>
            <a:srgbClr val="E2F4FA">
              <a:alpha val="7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51" name="直接连接符 50"/>
          <p:cNvCxnSpPr/>
          <p:nvPr/>
        </p:nvCxnSpPr>
        <p:spPr>
          <a:xfrm flipV="1">
            <a:off x="6096000" y="5919133"/>
            <a:ext cx="6224454" cy="955312"/>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V="1">
            <a:off x="6819900" y="6062052"/>
            <a:ext cx="5380251" cy="825746"/>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7581900" y="6162507"/>
            <a:ext cx="4720884" cy="724548"/>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8067675" y="6243073"/>
            <a:ext cx="4295954" cy="659331"/>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9016734" y="6374495"/>
            <a:ext cx="3373781" cy="517798"/>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9686925" y="6473754"/>
            <a:ext cx="2660415" cy="408313"/>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0325100" y="6594881"/>
            <a:ext cx="2007411" cy="308090"/>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11239500" y="6716292"/>
            <a:ext cx="1063284" cy="163189"/>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11677650" y="6804013"/>
            <a:ext cx="756042" cy="116034"/>
          </a:xfrm>
          <a:prstGeom prst="line">
            <a:avLst/>
          </a:prstGeom>
          <a:ln w="25400">
            <a:solidFill>
              <a:srgbClr val="E2F4FA"/>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9814110" y="169889"/>
            <a:ext cx="2096408" cy="605580"/>
            <a:chOff x="3854450" y="4787900"/>
            <a:chExt cx="4462463" cy="1289050"/>
          </a:xfrm>
          <a:solidFill>
            <a:srgbClr val="C00000"/>
          </a:solidFill>
        </p:grpSpPr>
        <p:sp>
          <p:nvSpPr>
            <p:cNvPr id="18" name="Freeform 5"/>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6"/>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7"/>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8"/>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9"/>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0"/>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1"/>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2"/>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3"/>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14"/>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15"/>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16"/>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17"/>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18"/>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19"/>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0"/>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1"/>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2"/>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23"/>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24"/>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25"/>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26"/>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27"/>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28"/>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29"/>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30"/>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31"/>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32"/>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33"/>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34"/>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35"/>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36"/>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37"/>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38"/>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39"/>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40"/>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41"/>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42"/>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43"/>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44"/>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45"/>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Freeform 46"/>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Freeform 47"/>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48"/>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49"/>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50"/>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51"/>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52"/>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53"/>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54"/>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55"/>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56"/>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Freeform 57"/>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4" name="Freeform 58"/>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Oval 59"/>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6" name="Oval 60"/>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Freeform 61"/>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Freeform 62"/>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9" name="Freeform 63"/>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Freeform 64"/>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Freeform 65"/>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Freeform 66"/>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3" name="Freeform 67"/>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Freeform 68"/>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5" name="Freeform 69"/>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Freeform 70"/>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98" name="标题 3073"/>
          <p:cNvSpPr txBox="1"/>
          <p:nvPr/>
        </p:nvSpPr>
        <p:spPr>
          <a:xfrm>
            <a:off x="2893993" y="2646242"/>
            <a:ext cx="6404014" cy="1478112"/>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zh-CN" sz="5400" dirty="0">
              <a:solidFill>
                <a:schemeClr val="accent2"/>
              </a:solidFill>
              <a:latin typeface="Arial" panose="020B0604020202020204" pitchFamily="34" charset="0"/>
              <a:ea typeface="宋体" panose="02010600030101010101" pitchFamily="2" charset="-122"/>
            </a:endParaRPr>
          </a:p>
        </p:txBody>
      </p:sp>
      <p:sp>
        <p:nvSpPr>
          <p:cNvPr id="97" name="文本框 96">
            <a:extLst>
              <a:ext uri="{FF2B5EF4-FFF2-40B4-BE49-F238E27FC236}">
                <a16:creationId xmlns:a16="http://schemas.microsoft.com/office/drawing/2014/main" id="{FE997FDA-D907-4803-861F-B12EFB4700F5}"/>
              </a:ext>
            </a:extLst>
          </p:cNvPr>
          <p:cNvSpPr txBox="1"/>
          <p:nvPr/>
        </p:nvSpPr>
        <p:spPr>
          <a:xfrm>
            <a:off x="3736781" y="2646984"/>
            <a:ext cx="6419272" cy="1569660"/>
          </a:xfrm>
          <a:prstGeom prst="rect">
            <a:avLst/>
          </a:prstGeom>
          <a:noFill/>
        </p:spPr>
        <p:txBody>
          <a:bodyPr wrap="square">
            <a:spAutoFit/>
          </a:bodyPr>
          <a:lstStyle/>
          <a:p>
            <a:r>
              <a:rPr lang="zh-CN" altLang="zh-CN" sz="4800" b="1" kern="100" dirty="0">
                <a:effectLst/>
                <a:latin typeface="Times New Roman" panose="02020603050405020304" pitchFamily="18" charset="0"/>
                <a:ea typeface="宋体" panose="02010600030101010101" pitchFamily="2" charset="-122"/>
                <a:cs typeface="宋体" panose="02010600030101010101" pitchFamily="2" charset="-122"/>
              </a:rPr>
              <a:t>算法性能分析</a:t>
            </a:r>
            <a:endParaRPr lang="en-US" altLang="zh-CN" sz="4800" b="1" kern="100" dirty="0">
              <a:effectLst/>
              <a:latin typeface="Times New Roman" panose="02020603050405020304" pitchFamily="18" charset="0"/>
              <a:ea typeface="宋体" panose="02010600030101010101" pitchFamily="2" charset="-122"/>
              <a:cs typeface="宋体" panose="02010600030101010101" pitchFamily="2" charset="-122"/>
            </a:endParaRPr>
          </a:p>
          <a:p>
            <a:r>
              <a:rPr lang="en-US" altLang="zh-CN" sz="2400" b="1" kern="100" dirty="0">
                <a:latin typeface="Times New Roman" panose="02020603050405020304" pitchFamily="18" charset="0"/>
                <a:ea typeface="宋体" panose="02010600030101010101" pitchFamily="2" charset="-122"/>
              </a:rPr>
              <a:t>                                 </a:t>
            </a:r>
          </a:p>
          <a:p>
            <a:r>
              <a:rPr lang="en-US" altLang="zh-CN" sz="2400" b="1" kern="100" dirty="0">
                <a:latin typeface="Times New Roman" panose="02020603050405020304" pitchFamily="18" charset="0"/>
                <a:ea typeface="宋体" panose="02010600030101010101" pitchFamily="2" charset="-122"/>
              </a:rPr>
              <a:t>                                    --</a:t>
            </a:r>
            <a:r>
              <a:rPr lang="zh-CN" altLang="en-US" sz="2400" b="1" kern="100" dirty="0">
                <a:latin typeface="Times New Roman" panose="02020603050405020304" pitchFamily="18" charset="0"/>
                <a:ea typeface="宋体" panose="02010600030101010101" pitchFamily="2" charset="-122"/>
              </a:rPr>
              <a:t>王培鸿</a:t>
            </a:r>
            <a:endParaRPr lang="zh-CN" altLang="en-US" sz="2400" dirty="0"/>
          </a:p>
        </p:txBody>
      </p:sp>
    </p:spTree>
    <p:extLst>
      <p:ext uri="{BB962C8B-B14F-4D97-AF65-F5344CB8AC3E}">
        <p14:creationId xmlns:p14="http://schemas.microsoft.com/office/powerpoint/2010/main" val="1428074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3D18895-8A16-413A-9FD1-A7FCD4B26790}"/>
              </a:ext>
            </a:extLst>
          </p:cNvPr>
          <p:cNvSpPr txBox="1"/>
          <p:nvPr/>
        </p:nvSpPr>
        <p:spPr>
          <a:xfrm>
            <a:off x="3043381" y="1760221"/>
            <a:ext cx="8119919" cy="646331"/>
          </a:xfrm>
          <a:prstGeom prst="rect">
            <a:avLst/>
          </a:prstGeom>
          <a:noFill/>
        </p:spPr>
        <p:txBody>
          <a:bodyPr wrap="square" rtlCol="0">
            <a:spAutoFit/>
          </a:bodyPr>
          <a:lstStyle/>
          <a:p>
            <a:r>
              <a:rPr lang="zh-CN" altLang="en-US" sz="3600" b="1" kern="100" dirty="0">
                <a:latin typeface="Times New Roman" panose="02020603050405020304" pitchFamily="18" charset="0"/>
                <a:ea typeface="宋体" panose="02010600030101010101" pitchFamily="2" charset="-122"/>
              </a:rPr>
              <a:t>冒泡排序、选择排序、插入排序</a:t>
            </a:r>
          </a:p>
        </p:txBody>
      </p:sp>
      <p:sp>
        <p:nvSpPr>
          <p:cNvPr id="5" name="文本框 4">
            <a:extLst>
              <a:ext uri="{FF2B5EF4-FFF2-40B4-BE49-F238E27FC236}">
                <a16:creationId xmlns:a16="http://schemas.microsoft.com/office/drawing/2014/main" id="{1237BC45-CA9E-43EA-BB92-106BAD2EFC4A}"/>
              </a:ext>
            </a:extLst>
          </p:cNvPr>
          <p:cNvSpPr txBox="1"/>
          <p:nvPr/>
        </p:nvSpPr>
        <p:spPr>
          <a:xfrm>
            <a:off x="3043381" y="2887267"/>
            <a:ext cx="6862619" cy="646331"/>
          </a:xfrm>
          <a:prstGeom prst="rect">
            <a:avLst/>
          </a:prstGeom>
          <a:noFill/>
        </p:spPr>
        <p:txBody>
          <a:bodyPr wrap="square" rtlCol="0">
            <a:spAutoFit/>
          </a:bodyPr>
          <a:lstStyle/>
          <a:p>
            <a:r>
              <a:rPr lang="zh-CN" altLang="en-US" sz="3600" b="1" kern="100" dirty="0">
                <a:latin typeface="Times New Roman" panose="02020603050405020304" pitchFamily="18" charset="0"/>
                <a:ea typeface="宋体" panose="02010600030101010101" pitchFamily="2" charset="-122"/>
              </a:rPr>
              <a:t>快速排序、归并排序</a:t>
            </a:r>
          </a:p>
        </p:txBody>
      </p:sp>
      <p:sp>
        <p:nvSpPr>
          <p:cNvPr id="6" name="文本框 5">
            <a:extLst>
              <a:ext uri="{FF2B5EF4-FFF2-40B4-BE49-F238E27FC236}">
                <a16:creationId xmlns:a16="http://schemas.microsoft.com/office/drawing/2014/main" id="{2A518029-EF6C-414B-AD45-24919BD843BF}"/>
              </a:ext>
            </a:extLst>
          </p:cNvPr>
          <p:cNvSpPr txBox="1"/>
          <p:nvPr/>
        </p:nvSpPr>
        <p:spPr>
          <a:xfrm>
            <a:off x="3043381" y="4120634"/>
            <a:ext cx="4257963" cy="646331"/>
          </a:xfrm>
          <a:prstGeom prst="rect">
            <a:avLst/>
          </a:prstGeom>
          <a:noFill/>
        </p:spPr>
        <p:txBody>
          <a:bodyPr wrap="square" rtlCol="0">
            <a:spAutoFit/>
          </a:bodyPr>
          <a:lstStyle/>
          <a:p>
            <a:r>
              <a:rPr lang="en-US" altLang="zh-CN" sz="3600" b="1" kern="100" dirty="0">
                <a:latin typeface="Times New Roman" panose="02020603050405020304" pitchFamily="18" charset="0"/>
                <a:ea typeface="宋体" panose="02010600030101010101" pitchFamily="2" charset="-122"/>
              </a:rPr>
              <a:t>Top K</a:t>
            </a:r>
            <a:r>
              <a:rPr lang="zh-CN" altLang="en-US" sz="3600" b="1" kern="100" dirty="0">
                <a:latin typeface="Times New Roman" panose="02020603050405020304" pitchFamily="18" charset="0"/>
                <a:ea typeface="宋体" panose="02010600030101010101" pitchFamily="2" charset="-122"/>
              </a:rPr>
              <a:t>问题</a:t>
            </a:r>
          </a:p>
        </p:txBody>
      </p:sp>
    </p:spTree>
    <p:extLst>
      <p:ext uri="{BB962C8B-B14F-4D97-AF65-F5344CB8AC3E}">
        <p14:creationId xmlns:p14="http://schemas.microsoft.com/office/powerpoint/2010/main" val="1213948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6307508" cy="635528"/>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冒泡排序</a:t>
            </a:r>
          </a:p>
        </p:txBody>
      </p:sp>
      <p:sp>
        <p:nvSpPr>
          <p:cNvPr id="5" name="文本框 4">
            <a:extLst>
              <a:ext uri="{FF2B5EF4-FFF2-40B4-BE49-F238E27FC236}">
                <a16:creationId xmlns:a16="http://schemas.microsoft.com/office/drawing/2014/main" id="{779396BF-6361-443B-BEBF-030E775417A7}"/>
              </a:ext>
            </a:extLst>
          </p:cNvPr>
          <p:cNvSpPr txBox="1"/>
          <p:nvPr/>
        </p:nvSpPr>
        <p:spPr>
          <a:xfrm>
            <a:off x="1234273" y="1408545"/>
            <a:ext cx="9723455" cy="892552"/>
          </a:xfrm>
          <a:prstGeom prst="rect">
            <a:avLst/>
          </a:prstGeom>
          <a:noFill/>
        </p:spPr>
        <p:txBody>
          <a:bodyPr wrap="square">
            <a:spAutoFit/>
          </a:bodyPr>
          <a:lstStyle/>
          <a:p>
            <a:pPr lvl="0" algn="just"/>
            <a:r>
              <a:rPr lang="zh-CN" altLang="zh-CN" sz="2000" b="1" kern="100" dirty="0">
                <a:effectLst/>
                <a:latin typeface="Times New Roman" panose="02020603050405020304" pitchFamily="18" charset="0"/>
                <a:ea typeface="宋体" panose="02010600030101010101" pitchFamily="2" charset="-122"/>
              </a:rPr>
              <a:t>算法原理：</a:t>
            </a:r>
            <a:endParaRPr lang="zh-CN" altLang="zh-CN" sz="1600" kern="100" dirty="0">
              <a:effectLst/>
              <a:latin typeface="Times New Roman" panose="02020603050405020304" pitchFamily="18" charset="0"/>
              <a:ea typeface="宋体" panose="02010600030101010101" pitchFamily="2" charset="-122"/>
            </a:endParaRPr>
          </a:p>
          <a:p>
            <a:pPr indent="266700" algn="just"/>
            <a:r>
              <a:rPr lang="x-none" altLang="zh-CN" sz="1600" kern="100" dirty="0">
                <a:effectLst/>
                <a:latin typeface="宋体" panose="02010600030101010101" pitchFamily="2" charset="-122"/>
                <a:ea typeface="宋体" panose="02010600030101010101" pitchFamily="2" charset="-122"/>
              </a:rPr>
              <a:t>比较序列中前后两个位置的元素，如果符合前小后大或前大后小，则继续比较；如果不符合则交换两个位置的元素，再继续比较。</a:t>
            </a:r>
            <a:endParaRPr lang="zh-CN" altLang="zh-CN" sz="1600" kern="100" dirty="0">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29B77333-69F5-4E85-A1FA-6BB15D8B1900}"/>
              </a:ext>
            </a:extLst>
          </p:cNvPr>
          <p:cNvPicPr/>
          <p:nvPr/>
        </p:nvPicPr>
        <p:blipFill>
          <a:blip r:embed="rId2">
            <a:extLst>
              <a:ext uri="{28A0092B-C50C-407E-A947-70E740481C1C}">
                <a14:useLocalDpi xmlns:a14="http://schemas.microsoft.com/office/drawing/2010/main" val="0"/>
              </a:ext>
            </a:extLst>
          </a:blip>
          <a:srcRect l="10835" t="8043" r="10289" b="8519"/>
          <a:stretch>
            <a:fillRect/>
          </a:stretch>
        </p:blipFill>
        <p:spPr bwMode="auto">
          <a:xfrm>
            <a:off x="6742546" y="2238746"/>
            <a:ext cx="3417454" cy="3584801"/>
          </a:xfrm>
          <a:prstGeom prst="rect">
            <a:avLst/>
          </a:prstGeom>
          <a:noFill/>
          <a:ln>
            <a:noFill/>
          </a:ln>
        </p:spPr>
      </p:pic>
      <p:sp>
        <p:nvSpPr>
          <p:cNvPr id="11" name="文本框 10">
            <a:extLst>
              <a:ext uri="{FF2B5EF4-FFF2-40B4-BE49-F238E27FC236}">
                <a16:creationId xmlns:a16="http://schemas.microsoft.com/office/drawing/2014/main" id="{67F24734-4B94-4A7F-8B92-CFD9AF555EA6}"/>
              </a:ext>
            </a:extLst>
          </p:cNvPr>
          <p:cNvSpPr txBox="1"/>
          <p:nvPr/>
        </p:nvSpPr>
        <p:spPr>
          <a:xfrm>
            <a:off x="5800435" y="5809712"/>
            <a:ext cx="6096000" cy="1323439"/>
          </a:xfrm>
          <a:prstGeom prst="rect">
            <a:avLst/>
          </a:prstGeom>
          <a:noFill/>
        </p:spPr>
        <p:txBody>
          <a:bodyPr wrap="square">
            <a:spAutoFit/>
          </a:bodyPr>
          <a:lstStyle/>
          <a:p>
            <a:pPr lvl="1" algn="l" eaLnBrk="1" hangingPunct="1">
              <a:buClrTx/>
              <a:buSzTx/>
            </a:pPr>
            <a:r>
              <a:rPr lang="zh-CN" altLang="en-US" sz="1600" kern="100" dirty="0">
                <a:latin typeface="宋体" panose="02010600030101010101" pitchFamily="2" charset="-122"/>
                <a:ea typeface="宋体" panose="02010600030101010101" pitchFamily="2" charset="-122"/>
                <a:sym typeface="+mn-ea"/>
              </a:rPr>
              <a:t>最好：有序，只执行一趟，总比较次数</a:t>
            </a:r>
            <a:r>
              <a:rPr lang="en-US" altLang="zh-CN" sz="1600" kern="100" dirty="0">
                <a:latin typeface="宋体" panose="02010600030101010101" pitchFamily="2" charset="-122"/>
                <a:ea typeface="宋体" panose="02010600030101010101" pitchFamily="2" charset="-122"/>
                <a:sym typeface="+mn-ea"/>
              </a:rPr>
              <a:t>n-1</a:t>
            </a:r>
            <a:r>
              <a:rPr lang="zh-CN" altLang="en-US" sz="1600" kern="100" dirty="0">
                <a:latin typeface="宋体" panose="02010600030101010101" pitchFamily="2" charset="-122"/>
                <a:ea typeface="宋体" panose="02010600030101010101" pitchFamily="2" charset="-122"/>
                <a:sym typeface="+mn-ea"/>
              </a:rPr>
              <a:t>，移动次数</a:t>
            </a:r>
            <a:r>
              <a:rPr lang="en-US" altLang="zh-CN" sz="1600" kern="100" dirty="0">
                <a:latin typeface="宋体" panose="02010600030101010101" pitchFamily="2" charset="-122"/>
                <a:ea typeface="宋体" panose="02010600030101010101" pitchFamily="2" charset="-122"/>
                <a:sym typeface="+mn-ea"/>
              </a:rPr>
              <a:t>0</a:t>
            </a:r>
            <a:r>
              <a:rPr lang="zh-CN" altLang="en-US" sz="1600" kern="100" dirty="0">
                <a:latin typeface="宋体" panose="02010600030101010101" pitchFamily="2" charset="-122"/>
                <a:ea typeface="宋体" panose="02010600030101010101" pitchFamily="2" charset="-122"/>
                <a:sym typeface="+mn-ea"/>
              </a:rPr>
              <a:t>；</a:t>
            </a:r>
            <a:endParaRPr lang="en-US" altLang="zh-CN" sz="1600" kern="100" dirty="0">
              <a:latin typeface="宋体" panose="02010600030101010101" pitchFamily="2" charset="-122"/>
              <a:ea typeface="宋体" panose="02010600030101010101" pitchFamily="2" charset="-122"/>
              <a:sym typeface="+mn-ea"/>
            </a:endParaRPr>
          </a:p>
          <a:p>
            <a:pPr lvl="1" algn="l" eaLnBrk="1" hangingPunct="1">
              <a:buClrTx/>
              <a:buSzTx/>
            </a:pPr>
            <a:r>
              <a:rPr lang="zh-CN" altLang="en-US" sz="1600" kern="100" dirty="0">
                <a:latin typeface="宋体" panose="02010600030101010101" pitchFamily="2" charset="-122"/>
                <a:ea typeface="宋体" panose="02010600030101010101" pitchFamily="2" charset="-122"/>
                <a:sym typeface="+mn-ea"/>
              </a:rPr>
              <a:t>最坏：排序前是逆序，每趟排序都要比较</a:t>
            </a:r>
            <a:r>
              <a:rPr lang="en-US" altLang="zh-CN" sz="1600" kern="100" dirty="0">
                <a:latin typeface="宋体" panose="02010600030101010101" pitchFamily="2" charset="-122"/>
                <a:ea typeface="宋体" panose="02010600030101010101" pitchFamily="2" charset="-122"/>
                <a:sym typeface="+mn-ea"/>
              </a:rPr>
              <a:t>i-1</a:t>
            </a:r>
            <a:r>
              <a:rPr lang="zh-CN" altLang="en-US" sz="1600" kern="100" dirty="0">
                <a:latin typeface="宋体" panose="02010600030101010101" pitchFamily="2" charset="-122"/>
                <a:ea typeface="宋体" panose="02010600030101010101" pitchFamily="2" charset="-122"/>
                <a:sym typeface="+mn-ea"/>
              </a:rPr>
              <a:t>次和移动</a:t>
            </a:r>
            <a:r>
              <a:rPr lang="en-US" altLang="zh-CN" sz="1600" kern="100" dirty="0">
                <a:latin typeface="宋体" panose="02010600030101010101" pitchFamily="2" charset="-122"/>
                <a:ea typeface="宋体" panose="02010600030101010101" pitchFamily="2" charset="-122"/>
                <a:sym typeface="+mn-ea"/>
              </a:rPr>
              <a:t>i-1</a:t>
            </a:r>
            <a:r>
              <a:rPr lang="zh-CN" altLang="en-US" sz="1600" kern="100" dirty="0">
                <a:latin typeface="宋体" panose="02010600030101010101" pitchFamily="2" charset="-122"/>
                <a:ea typeface="宋体" panose="02010600030101010101" pitchFamily="2" charset="-122"/>
                <a:sym typeface="+mn-ea"/>
              </a:rPr>
              <a:t>次，    </a:t>
            </a:r>
            <a:r>
              <a:rPr lang="en-US" altLang="zh-CN" sz="1600" kern="100" dirty="0">
                <a:latin typeface="宋体" panose="02010600030101010101" pitchFamily="2" charset="-122"/>
                <a:ea typeface="宋体" panose="02010600030101010101" pitchFamily="2" charset="-122"/>
                <a:sym typeface="+mn-ea"/>
              </a:rPr>
              <a:t>	</a:t>
            </a:r>
            <a:r>
              <a:rPr lang="zh-CN" altLang="en-US" sz="1600" kern="100" dirty="0">
                <a:latin typeface="宋体" panose="02010600030101010101" pitchFamily="2" charset="-122"/>
                <a:ea typeface="宋体" panose="02010600030101010101" pitchFamily="2" charset="-122"/>
                <a:sym typeface="+mn-ea"/>
              </a:rPr>
              <a:t>总比较次数</a:t>
            </a:r>
            <a:r>
              <a:rPr lang="en-US" altLang="zh-CN" sz="1600" kern="100" dirty="0">
                <a:latin typeface="宋体" panose="02010600030101010101" pitchFamily="2" charset="-122"/>
                <a:ea typeface="宋体" panose="02010600030101010101" pitchFamily="2" charset="-122"/>
                <a:sym typeface="+mn-ea"/>
              </a:rPr>
              <a:t>n2/2</a:t>
            </a:r>
            <a:r>
              <a:rPr lang="zh-CN" altLang="en-US" sz="1600" kern="100" dirty="0">
                <a:latin typeface="宋体" panose="02010600030101010101" pitchFamily="2" charset="-122"/>
                <a:ea typeface="宋体" panose="02010600030101010101" pitchFamily="2" charset="-122"/>
                <a:sym typeface="+mn-ea"/>
              </a:rPr>
              <a:t>，总移动次数</a:t>
            </a:r>
            <a:r>
              <a:rPr lang="en-US" altLang="zh-CN" sz="1600" kern="100" dirty="0">
                <a:latin typeface="宋体" panose="02010600030101010101" pitchFamily="2" charset="-122"/>
                <a:ea typeface="宋体" panose="02010600030101010101" pitchFamily="2" charset="-122"/>
                <a:sym typeface="+mn-ea"/>
              </a:rPr>
              <a:t>n2/2</a:t>
            </a:r>
            <a:r>
              <a:rPr lang="zh-CN" altLang="en-US" sz="1600" kern="100" dirty="0">
                <a:latin typeface="宋体" panose="02010600030101010101" pitchFamily="2" charset="-122"/>
                <a:ea typeface="宋体" panose="02010600030101010101" pitchFamily="2" charset="-122"/>
                <a:sym typeface="+mn-ea"/>
              </a:rPr>
              <a:t>。</a:t>
            </a:r>
            <a:endParaRPr lang="en-US" altLang="zh-CN" sz="1600" kern="100" dirty="0">
              <a:latin typeface="宋体" panose="02010600030101010101" pitchFamily="2" charset="-122"/>
              <a:ea typeface="宋体" panose="02010600030101010101" pitchFamily="2" charset="-122"/>
              <a:sym typeface="+mn-ea"/>
            </a:endParaRPr>
          </a:p>
          <a:p>
            <a:pPr lvl="1"/>
            <a:r>
              <a:rPr lang="zh-CN" altLang="zh-CN" sz="1600" kern="100" dirty="0">
                <a:effectLst/>
                <a:latin typeface="Times New Roman" panose="02020603050405020304" pitchFamily="18" charset="0"/>
                <a:ea typeface="宋体" panose="02010600030101010101" pitchFamily="2" charset="-122"/>
              </a:rPr>
              <a:t>冒泡</a:t>
            </a:r>
            <a:r>
              <a:rPr lang="x-none" altLang="zh-CN" sz="1600" kern="100" dirty="0">
                <a:effectLst/>
                <a:latin typeface="宋体" panose="02010600030101010101" pitchFamily="2" charset="-122"/>
                <a:ea typeface="宋体" panose="02010600030101010101" pitchFamily="2" charset="-122"/>
              </a:rPr>
              <a:t>排序的时间复杂度为</a:t>
            </a:r>
            <a:r>
              <a:rPr lang="en-US" altLang="zh-CN" sz="1600" kern="100" dirty="0">
                <a:effectLst/>
                <a:latin typeface="Times New Roman" panose="02020603050405020304" pitchFamily="18" charset="0"/>
                <a:ea typeface="宋体" panose="02010600030101010101" pitchFamily="2" charset="-122"/>
              </a:rPr>
              <a:t>O(n</a:t>
            </a:r>
            <a:r>
              <a:rPr lang="en-US" altLang="zh-CN" sz="1600" kern="100" baseline="30000" dirty="0">
                <a:effectLst/>
                <a:latin typeface="Times New Roman" panose="02020603050405020304" pitchFamily="18" charset="0"/>
                <a:ea typeface="宋体" panose="02010600030101010101" pitchFamily="2" charset="-122"/>
              </a:rPr>
              <a:t>2</a:t>
            </a:r>
            <a:r>
              <a:rPr lang="en-US" altLang="zh-CN" sz="1600" kern="100" dirty="0">
                <a:effectLst/>
                <a:latin typeface="Times New Roman" panose="02020603050405020304" pitchFamily="18" charset="0"/>
                <a:ea typeface="宋体"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a:t>
            </a:r>
          </a:p>
          <a:p>
            <a:pPr lvl="1" algn="l" eaLnBrk="1" hangingPunct="1">
              <a:buClrTx/>
              <a:buSzTx/>
            </a:pPr>
            <a:endParaRPr lang="en-US" altLang="zh-CN" sz="1600" dirty="0">
              <a:latin typeface="黑体" panose="02010609060101010101" pitchFamily="2" charset="-122"/>
              <a:ea typeface="黑体" panose="02010609060101010101" pitchFamily="2" charset="-122"/>
              <a:sym typeface="+mn-ea"/>
            </a:endParaRPr>
          </a:p>
        </p:txBody>
      </p:sp>
      <p:pic>
        <p:nvPicPr>
          <p:cNvPr id="12" name="图片 11">
            <a:extLst>
              <a:ext uri="{FF2B5EF4-FFF2-40B4-BE49-F238E27FC236}">
                <a16:creationId xmlns:a16="http://schemas.microsoft.com/office/drawing/2014/main" id="{3E2D8E76-0F0D-4A23-8099-624FD5F5630E}"/>
              </a:ext>
            </a:extLst>
          </p:cNvPr>
          <p:cNvPicPr/>
          <p:nvPr/>
        </p:nvPicPr>
        <p:blipFill>
          <a:blip r:embed="rId3"/>
          <a:stretch>
            <a:fillRect/>
          </a:stretch>
        </p:blipFill>
        <p:spPr>
          <a:xfrm>
            <a:off x="981199" y="2491312"/>
            <a:ext cx="4021508" cy="3318400"/>
          </a:xfrm>
          <a:prstGeom prst="rect">
            <a:avLst/>
          </a:prstGeom>
        </p:spPr>
      </p:pic>
    </p:spTree>
    <p:extLst>
      <p:ext uri="{BB962C8B-B14F-4D97-AF65-F5344CB8AC3E}">
        <p14:creationId xmlns:p14="http://schemas.microsoft.com/office/powerpoint/2010/main" val="101033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6671402" cy="601294"/>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冒泡排序</a:t>
            </a:r>
          </a:p>
        </p:txBody>
      </p:sp>
      <p:sp>
        <p:nvSpPr>
          <p:cNvPr id="7" name="文本框 6">
            <a:extLst>
              <a:ext uri="{FF2B5EF4-FFF2-40B4-BE49-F238E27FC236}">
                <a16:creationId xmlns:a16="http://schemas.microsoft.com/office/drawing/2014/main" id="{5C1A4236-70F0-4E43-8D7F-40C261A6D230}"/>
              </a:ext>
            </a:extLst>
          </p:cNvPr>
          <p:cNvSpPr txBox="1"/>
          <p:nvPr/>
        </p:nvSpPr>
        <p:spPr>
          <a:xfrm>
            <a:off x="1923600" y="1520551"/>
            <a:ext cx="7980218" cy="584775"/>
          </a:xfrm>
          <a:prstGeom prst="rect">
            <a:avLst/>
          </a:prstGeom>
          <a:noFill/>
        </p:spPr>
        <p:txBody>
          <a:bodyPr wrap="square">
            <a:spAutoFit/>
          </a:bodyPr>
          <a:lstStyle/>
          <a:p>
            <a:pPr marL="533400" algn="just"/>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使用</a:t>
            </a:r>
            <a:r>
              <a:rPr lang="x-none" altLang="zh-CN" sz="1600" kern="100" dirty="0">
                <a:effectLst/>
                <a:latin typeface="Times New Roman" panose="02020603050405020304" pitchFamily="18" charset="0"/>
                <a:ea typeface="宋体" panose="02010600030101010101" pitchFamily="2" charset="-122"/>
              </a:rPr>
              <a:t>[1,10000</a:t>
            </a:r>
            <a:r>
              <a:rPr lang="en-US" altLang="zh-CN" sz="1600" kern="100" dirty="0">
                <a:effectLst/>
                <a:latin typeface="Times New Roman" panose="02020603050405020304" pitchFamily="18" charset="0"/>
                <a:ea typeface="宋体" panose="02010600030101010101" pitchFamily="2" charset="-122"/>
              </a:rPr>
              <a:t>0000</a:t>
            </a:r>
            <a:r>
              <a:rPr lang="x-none" altLang="zh-CN" sz="1600" kern="100" dirty="0">
                <a:effectLst/>
                <a:latin typeface="Times New Roman" panose="02020603050405020304" pitchFamily="18" charset="0"/>
                <a:ea typeface="宋体"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的随机数生成</a:t>
            </a:r>
            <a:r>
              <a:rPr lang="zh-CN" altLang="en-US" sz="1600" kern="100" dirty="0">
                <a:effectLst/>
                <a:latin typeface="Times New Roman" panose="02020603050405020304" pitchFamily="18" charset="0"/>
                <a:ea typeface="宋体" panose="02010600030101010101" pitchFamily="2" charset="-122"/>
              </a:rPr>
              <a:t>的</a:t>
            </a:r>
            <a:r>
              <a:rPr lang="zh-CN" altLang="zh-CN" sz="1600" kern="100" dirty="0">
                <a:effectLst/>
                <a:latin typeface="Times New Roman" panose="02020603050405020304" pitchFamily="18" charset="0"/>
                <a:ea typeface="宋体" panose="02010600030101010101" pitchFamily="2" charset="-122"/>
              </a:rPr>
              <a:t>数据样本，并分别对不同规模</a:t>
            </a:r>
            <a:r>
              <a:rPr lang="x-none" altLang="zh-CN" sz="1600" kern="100" dirty="0">
                <a:effectLst/>
                <a:latin typeface="Times New Roman" panose="02020603050405020304" pitchFamily="18" charset="0"/>
                <a:ea typeface="宋体" panose="02010600030101010101" pitchFamily="2" charset="-122"/>
              </a:rPr>
              <a:t>n</a:t>
            </a:r>
            <a:r>
              <a:rPr lang="zh-CN" altLang="zh-CN" sz="1600" kern="100" dirty="0">
                <a:effectLst/>
                <a:latin typeface="Times New Roman" panose="02020603050405020304" pitchFamily="18" charset="0"/>
                <a:ea typeface="宋体" panose="02010600030101010101" pitchFamily="2" charset="-122"/>
              </a:rPr>
              <a:t>生成了</a:t>
            </a:r>
            <a:r>
              <a:rPr lang="x-none" altLang="zh-CN" sz="1600" kern="100" dirty="0">
                <a:effectLst/>
                <a:latin typeface="Times New Roman" panose="02020603050405020304" pitchFamily="18" charset="0"/>
                <a:ea typeface="宋体" panose="02010600030101010101" pitchFamily="2" charset="-122"/>
              </a:rPr>
              <a:t>20</a:t>
            </a:r>
            <a:r>
              <a:rPr lang="zh-CN" altLang="zh-CN" sz="1600" kern="100" dirty="0">
                <a:effectLst/>
                <a:latin typeface="Times New Roman" panose="02020603050405020304" pitchFamily="18" charset="0"/>
                <a:ea typeface="宋体" panose="02010600030101010101" pitchFamily="2" charset="-122"/>
              </a:rPr>
              <a:t>个样本，统计每个规模下的样本排序时间并取平均值作为该规模下样本的排序时间。</a:t>
            </a:r>
          </a:p>
        </p:txBody>
      </p:sp>
      <p:sp>
        <p:nvSpPr>
          <p:cNvPr id="10" name="文本框 9">
            <a:extLst>
              <a:ext uri="{FF2B5EF4-FFF2-40B4-BE49-F238E27FC236}">
                <a16:creationId xmlns:a16="http://schemas.microsoft.com/office/drawing/2014/main" id="{6E49200E-FCC4-41A6-8B01-AD12B692C7E1}"/>
              </a:ext>
            </a:extLst>
          </p:cNvPr>
          <p:cNvSpPr txBox="1"/>
          <p:nvPr/>
        </p:nvSpPr>
        <p:spPr>
          <a:xfrm>
            <a:off x="932873" y="2634479"/>
            <a:ext cx="6096000" cy="338554"/>
          </a:xfrm>
          <a:prstGeom prst="rect">
            <a:avLst/>
          </a:prstGeom>
          <a:noFill/>
        </p:spPr>
        <p:txBody>
          <a:bodyPr wrap="square">
            <a:spAutoFit/>
          </a:bodyPr>
          <a:lstStyle/>
          <a:p>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冒泡排序不同规模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的实际</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、理论</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E5BE609-4B1F-41CF-A4A1-E368433EDC6D}"/>
                  </a:ext>
                </a:extLst>
              </p:cNvPr>
              <p:cNvSpPr txBox="1"/>
              <p:nvPr/>
            </p:nvSpPr>
            <p:spPr>
              <a:xfrm>
                <a:off x="1156981" y="5664610"/>
                <a:ext cx="9201413" cy="646331"/>
              </a:xfrm>
              <a:prstGeom prst="rect">
                <a:avLst/>
              </a:prstGeom>
              <a:noFill/>
            </p:spPr>
            <p:txBody>
              <a:bodyPr wrap="square">
                <a:spAutoFit/>
              </a:bodyPr>
              <a:lstStyle/>
              <a:p>
                <a:pPr marL="266700" algn="just"/>
                <a:r>
                  <a:rPr lang="zh-CN" altLang="zh-CN" sz="2000" b="1" kern="100" dirty="0">
                    <a:latin typeface="Times New Roman" panose="02020603050405020304" pitchFamily="18" charset="0"/>
                    <a:ea typeface="宋体" panose="02010600030101010101" pitchFamily="2" charset="-122"/>
                  </a:rPr>
                  <a:t>结论：</a:t>
                </a:r>
                <a:r>
                  <a:rPr lang="zh-CN" altLang="zh-CN" sz="1600" kern="100" dirty="0">
                    <a:latin typeface="Times New Roman" panose="02020603050405020304" pitchFamily="18" charset="0"/>
                    <a:ea typeface="宋体" panose="02010600030101010101" pitchFamily="2" charset="-122"/>
                  </a:rPr>
                  <a:t>本次实验中</a:t>
                </a:r>
                <a:r>
                  <a:rPr lang="zh-CN" altLang="en-US" sz="1600" kern="100" dirty="0">
                    <a:latin typeface="Times New Roman" panose="02020603050405020304" pitchFamily="18" charset="0"/>
                    <a:ea typeface="宋体" panose="02010600030101010101" pitchFamily="2" charset="-122"/>
                  </a:rPr>
                  <a:t>冒泡</a:t>
                </a:r>
                <a:r>
                  <a:rPr lang="zh-CN" altLang="zh-CN" sz="1600" kern="100" dirty="0">
                    <a:latin typeface="Times New Roman" panose="02020603050405020304" pitchFamily="18" charset="0"/>
                    <a:ea typeface="宋体" panose="02010600030101010101" pitchFamily="2" charset="-122"/>
                  </a:rPr>
                  <a:t>排序的实际时间效率和理论时间效率几乎完全符合，且曲线图呈现</a:t>
                </a:r>
                <a14:m>
                  <m:oMath xmlns:m="http://schemas.openxmlformats.org/officeDocument/2006/math">
                    <m:r>
                      <a:rPr lang="x-none" altLang="zh-CN" sz="1600" i="1" kern="100">
                        <a:latin typeface="Cambria Math" panose="02040503050406030204" pitchFamily="18" charset="0"/>
                        <a:ea typeface="宋体" panose="02010600030101010101" pitchFamily="2" charset="-122"/>
                      </a:rPr>
                      <m:t>𝑂</m:t>
                    </m:r>
                    <m:r>
                      <a:rPr lang="x-none" altLang="zh-CN" sz="1600" i="1" kern="100">
                        <a:latin typeface="Cambria Math" panose="02040503050406030204" pitchFamily="18" charset="0"/>
                        <a:ea typeface="宋体" panose="02010600030101010101" pitchFamily="2" charset="-122"/>
                      </a:rPr>
                      <m:t>(</m:t>
                    </m:r>
                    <m:sSup>
                      <m:sSupPr>
                        <m:ctrlPr>
                          <a:rPr lang="zh-CN" altLang="zh-CN" sz="1600" i="1" kern="100">
                            <a:latin typeface="Cambria Math" panose="02040503050406030204" pitchFamily="18" charset="0"/>
                            <a:ea typeface="Cambria Math" panose="02040503050406030204" pitchFamily="18" charset="0"/>
                          </a:rPr>
                        </m:ctrlPr>
                      </m:sSupPr>
                      <m:e>
                        <m:r>
                          <a:rPr lang="x-none" altLang="zh-CN" sz="1600" i="1" kern="100">
                            <a:latin typeface="Cambria Math" panose="02040503050406030204" pitchFamily="18" charset="0"/>
                            <a:ea typeface="宋体" panose="02010600030101010101" pitchFamily="2" charset="-122"/>
                          </a:rPr>
                          <m:t>𝑛</m:t>
                        </m:r>
                      </m:e>
                      <m:sup>
                        <m:r>
                          <a:rPr lang="x-none" altLang="zh-CN" sz="1600" i="1" kern="100">
                            <a:latin typeface="Cambria Math" panose="02040503050406030204" pitchFamily="18" charset="0"/>
                            <a:ea typeface="宋体" panose="02010600030101010101" pitchFamily="2" charset="-122"/>
                          </a:rPr>
                          <m:t>2</m:t>
                        </m:r>
                      </m:sup>
                    </m:sSup>
                    <m:r>
                      <a:rPr lang="x-none" altLang="zh-CN" sz="1600" i="1" kern="100">
                        <a:latin typeface="Cambria Math" panose="02040503050406030204" pitchFamily="18" charset="0"/>
                        <a:ea typeface="宋体" panose="02010600030101010101" pitchFamily="2" charset="-122"/>
                      </a:rPr>
                      <m:t>)</m:t>
                    </m:r>
                  </m:oMath>
                </a14:m>
                <a:r>
                  <a:rPr lang="zh-CN" altLang="zh-CN" sz="1600" kern="100" dirty="0">
                    <a:latin typeface="Times New Roman" panose="02020603050405020304" pitchFamily="18" charset="0"/>
                    <a:ea typeface="宋体" panose="02010600030101010101" pitchFamily="2" charset="-122"/>
                  </a:rPr>
                  <a:t>的二次曲线，且实际与理论之间的误差极小可以忽略。</a:t>
                </a:r>
              </a:p>
            </p:txBody>
          </p:sp>
        </mc:Choice>
        <mc:Fallback xmlns="">
          <p:sp>
            <p:nvSpPr>
              <p:cNvPr id="12" name="文本框 11">
                <a:extLst>
                  <a:ext uri="{FF2B5EF4-FFF2-40B4-BE49-F238E27FC236}">
                    <a16:creationId xmlns:a16="http://schemas.microsoft.com/office/drawing/2014/main" id="{CE5BE609-4B1F-41CF-A4A1-E368433EDC6D}"/>
                  </a:ext>
                </a:extLst>
              </p:cNvPr>
              <p:cNvSpPr txBox="1">
                <a:spLocks noRot="1" noChangeAspect="1" noMove="1" noResize="1" noEditPoints="1" noAdjustHandles="1" noChangeArrowheads="1" noChangeShapeType="1" noTextEdit="1"/>
              </p:cNvSpPr>
              <p:nvPr/>
            </p:nvSpPr>
            <p:spPr>
              <a:xfrm>
                <a:off x="1156981" y="5664610"/>
                <a:ext cx="9201413" cy="646331"/>
              </a:xfrm>
              <a:prstGeom prst="rect">
                <a:avLst/>
              </a:prstGeom>
              <a:blipFill>
                <a:blip r:embed="rId2"/>
                <a:stretch>
                  <a:fillRect t="-4717" b="-1037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42B37F3-6C7B-4E20-B398-F0CAAAA2F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709" y="2400556"/>
            <a:ext cx="5980005" cy="2866703"/>
          </a:xfrm>
          <a:prstGeom prst="rect">
            <a:avLst/>
          </a:prstGeom>
        </p:spPr>
      </p:pic>
      <p:graphicFrame>
        <p:nvGraphicFramePr>
          <p:cNvPr id="6" name="表格 5">
            <a:extLst>
              <a:ext uri="{FF2B5EF4-FFF2-40B4-BE49-F238E27FC236}">
                <a16:creationId xmlns:a16="http://schemas.microsoft.com/office/drawing/2014/main" id="{3C2596A0-D6D2-4264-A6A8-782CE2D1B301}"/>
              </a:ext>
            </a:extLst>
          </p:cNvPr>
          <p:cNvGraphicFramePr>
            <a:graphicFrameLocks noGrp="1"/>
          </p:cNvGraphicFramePr>
          <p:nvPr>
            <p:extLst>
              <p:ext uri="{D42A27DB-BD31-4B8C-83A1-F6EECF244321}">
                <p14:modId xmlns:p14="http://schemas.microsoft.com/office/powerpoint/2010/main" val="4139420009"/>
              </p:ext>
            </p:extLst>
          </p:nvPr>
        </p:nvGraphicFramePr>
        <p:xfrm>
          <a:off x="484297" y="3065887"/>
          <a:ext cx="5429412" cy="1215745"/>
        </p:xfrm>
        <a:graphic>
          <a:graphicData uri="http://schemas.openxmlformats.org/drawingml/2006/table">
            <a:tbl>
              <a:tblPr>
                <a:tableStyleId>{5C22544A-7EE6-4342-B048-85BDC9FD1C3A}</a:tableStyleId>
              </a:tblPr>
              <a:tblGrid>
                <a:gridCol w="974205">
                  <a:extLst>
                    <a:ext uri="{9D8B030D-6E8A-4147-A177-3AD203B41FA5}">
                      <a16:colId xmlns:a16="http://schemas.microsoft.com/office/drawing/2014/main" val="1571997910"/>
                    </a:ext>
                  </a:extLst>
                </a:gridCol>
                <a:gridCol w="875123">
                  <a:extLst>
                    <a:ext uri="{9D8B030D-6E8A-4147-A177-3AD203B41FA5}">
                      <a16:colId xmlns:a16="http://schemas.microsoft.com/office/drawing/2014/main" val="829499944"/>
                    </a:ext>
                  </a:extLst>
                </a:gridCol>
                <a:gridCol w="914400">
                  <a:extLst>
                    <a:ext uri="{9D8B030D-6E8A-4147-A177-3AD203B41FA5}">
                      <a16:colId xmlns:a16="http://schemas.microsoft.com/office/drawing/2014/main" val="1752677930"/>
                    </a:ext>
                  </a:extLst>
                </a:gridCol>
                <a:gridCol w="885825">
                  <a:extLst>
                    <a:ext uri="{9D8B030D-6E8A-4147-A177-3AD203B41FA5}">
                      <a16:colId xmlns:a16="http://schemas.microsoft.com/office/drawing/2014/main" val="2752074574"/>
                    </a:ext>
                  </a:extLst>
                </a:gridCol>
                <a:gridCol w="828675">
                  <a:extLst>
                    <a:ext uri="{9D8B030D-6E8A-4147-A177-3AD203B41FA5}">
                      <a16:colId xmlns:a16="http://schemas.microsoft.com/office/drawing/2014/main" val="929667719"/>
                    </a:ext>
                  </a:extLst>
                </a:gridCol>
                <a:gridCol w="951184">
                  <a:extLst>
                    <a:ext uri="{9D8B030D-6E8A-4147-A177-3AD203B41FA5}">
                      <a16:colId xmlns:a16="http://schemas.microsoft.com/office/drawing/2014/main" val="711401246"/>
                    </a:ext>
                  </a:extLst>
                </a:gridCol>
              </a:tblGrid>
              <a:tr h="347065">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规模</a:t>
                      </a:r>
                      <a:r>
                        <a:rPr lang="en-US" sz="14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20w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30w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40w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50w</a:t>
                      </a:r>
                    </a:p>
                  </a:txBody>
                  <a:tcPr marL="7620" marR="7620" marT="7620" marB="0" anchor="b">
                    <a:solidFill>
                      <a:srgbClr val="0070C0"/>
                    </a:solidFill>
                  </a:tcPr>
                </a:tc>
                <a:extLst>
                  <a:ext uri="{0D108BD9-81ED-4DB2-BD59-A6C34878D82A}">
                    <a16:rowId xmlns:a16="http://schemas.microsoft.com/office/drawing/2014/main" val="2362060095"/>
                  </a:ext>
                </a:extLst>
              </a:tr>
              <a:tr h="347065">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实际时间</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74,644</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299,253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673,435</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1,195,647</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1,867,469</a:t>
                      </a:r>
                    </a:p>
                  </a:txBody>
                  <a:tcPr marL="7620" marR="7620" marT="7620" marB="0" anchor="b">
                    <a:solidFill>
                      <a:srgbClr val="79D6F3"/>
                    </a:solidFill>
                  </a:tcPr>
                </a:tc>
                <a:extLst>
                  <a:ext uri="{0D108BD9-81ED-4DB2-BD59-A6C34878D82A}">
                    <a16:rowId xmlns:a16="http://schemas.microsoft.com/office/drawing/2014/main" val="2811848355"/>
                  </a:ext>
                </a:extLst>
              </a:tr>
              <a:tr h="347065">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理论时间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74,644</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298,576</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671,796</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1,194,304</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1,866,100</a:t>
                      </a:r>
                    </a:p>
                  </a:txBody>
                  <a:tcPr marL="7620" marR="7620" marT="7620" marB="0" anchor="b">
                    <a:solidFill>
                      <a:srgbClr val="79D6F3"/>
                    </a:solidFill>
                  </a:tcPr>
                </a:tc>
                <a:extLst>
                  <a:ext uri="{0D108BD9-81ED-4DB2-BD59-A6C34878D82A}">
                    <a16:rowId xmlns:a16="http://schemas.microsoft.com/office/drawing/2014/main" val="921364651"/>
                  </a:ext>
                </a:extLst>
              </a:tr>
            </a:tbl>
          </a:graphicData>
        </a:graphic>
      </p:graphicFrame>
    </p:spTree>
    <p:extLst>
      <p:ext uri="{BB962C8B-B14F-4D97-AF65-F5344CB8AC3E}">
        <p14:creationId xmlns:p14="http://schemas.microsoft.com/office/powerpoint/2010/main" val="194000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1" y="293614"/>
            <a:ext cx="6718055" cy="683283"/>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选择排序</a:t>
            </a:r>
          </a:p>
        </p:txBody>
      </p:sp>
      <p:sp>
        <p:nvSpPr>
          <p:cNvPr id="5" name="文本框 4">
            <a:extLst>
              <a:ext uri="{FF2B5EF4-FFF2-40B4-BE49-F238E27FC236}">
                <a16:creationId xmlns:a16="http://schemas.microsoft.com/office/drawing/2014/main" id="{E7871710-2731-4773-BE95-16CCE3C91871}"/>
              </a:ext>
            </a:extLst>
          </p:cNvPr>
          <p:cNvSpPr txBox="1"/>
          <p:nvPr/>
        </p:nvSpPr>
        <p:spPr>
          <a:xfrm>
            <a:off x="2054678" y="1438562"/>
            <a:ext cx="8082643" cy="892552"/>
          </a:xfrm>
          <a:prstGeom prst="rect">
            <a:avLst/>
          </a:prstGeom>
          <a:noFill/>
        </p:spPr>
        <p:txBody>
          <a:bodyPr wrap="square">
            <a:spAutoFit/>
          </a:bodyPr>
          <a:lstStyle/>
          <a:p>
            <a:pPr lvl="0" algn="just"/>
            <a:r>
              <a:rPr lang="zh-CN" altLang="zh-CN" sz="2000" b="1" kern="100" dirty="0">
                <a:latin typeface="Times New Roman" panose="02020603050405020304" pitchFamily="18" charset="0"/>
                <a:ea typeface="宋体" panose="02010600030101010101" pitchFamily="2" charset="-122"/>
              </a:rPr>
              <a:t>算法原理：</a:t>
            </a:r>
          </a:p>
          <a:p>
            <a:pPr indent="266700" algn="just"/>
            <a:r>
              <a:rPr lang="en-US" altLang="zh-CN" sz="1600" kern="100" dirty="0">
                <a:ea typeface="宋体" panose="02010600030101010101" pitchFamily="2" charset="-122"/>
              </a:rPr>
              <a:t>   </a:t>
            </a:r>
            <a:r>
              <a:rPr lang="x-none" altLang="zh-CN" sz="1600" kern="100" dirty="0">
                <a:ea typeface="宋体" panose="02010600030101010101" pitchFamily="2" charset="-122"/>
              </a:rPr>
              <a:t>每一趟</a:t>
            </a:r>
            <a:r>
              <a:rPr lang="zh-CN" altLang="zh-CN" sz="1600" kern="100" dirty="0">
                <a:latin typeface="Times New Roman" panose="02020603050405020304" pitchFamily="18" charset="0"/>
                <a:ea typeface="宋体" panose="02010600030101010101" pitchFamily="2" charset="-122"/>
              </a:rPr>
              <a:t>排序从第</a:t>
            </a:r>
            <a:r>
              <a:rPr lang="en-US" altLang="zh-CN" sz="1600" kern="100" dirty="0" err="1">
                <a:latin typeface="Times New Roman" panose="02020603050405020304" pitchFamily="18" charset="0"/>
                <a:ea typeface="宋体" panose="02010600030101010101" pitchFamily="2" charset="-122"/>
              </a:rPr>
              <a:t>i</a:t>
            </a:r>
            <a:r>
              <a:rPr lang="zh-CN" altLang="zh-CN" sz="1600" kern="100" dirty="0">
                <a:latin typeface="Times New Roman" panose="02020603050405020304" pitchFamily="18" charset="0"/>
                <a:ea typeface="宋体" panose="02010600030101010101" pitchFamily="2" charset="-122"/>
              </a:rPr>
              <a:t>到最后一个元素之间</a:t>
            </a:r>
            <a:r>
              <a:rPr lang="x-none" altLang="zh-CN" sz="1600" kern="100" dirty="0">
                <a:ea typeface="宋体" panose="02010600030101010101" pitchFamily="2" charset="-122"/>
              </a:rPr>
              <a:t>选出</a:t>
            </a:r>
            <a:r>
              <a:rPr lang="zh-CN" altLang="zh-CN" sz="1600" kern="100" dirty="0">
                <a:latin typeface="Times New Roman" panose="02020603050405020304" pitchFamily="18" charset="0"/>
                <a:ea typeface="宋体" panose="02010600030101010101" pitchFamily="2" charset="-122"/>
              </a:rPr>
              <a:t>最</a:t>
            </a:r>
            <a:r>
              <a:rPr lang="x-none" altLang="zh-CN" sz="1600" kern="100" dirty="0">
                <a:ea typeface="宋体" panose="02010600030101010101" pitchFamily="2" charset="-122"/>
              </a:rPr>
              <a:t>小</a:t>
            </a:r>
            <a:r>
              <a:rPr lang="zh-CN" altLang="zh-CN" sz="1600" kern="100" dirty="0">
                <a:latin typeface="Times New Roman" panose="02020603050405020304" pitchFamily="18" charset="0"/>
                <a:ea typeface="宋体" panose="02010600030101010101" pitchFamily="2" charset="-122"/>
              </a:rPr>
              <a:t>或</a:t>
            </a:r>
            <a:r>
              <a:rPr lang="x-none" altLang="zh-CN" sz="1600" kern="100" dirty="0">
                <a:ea typeface="宋体" panose="02010600030101010101" pitchFamily="2" charset="-122"/>
              </a:rPr>
              <a:t>大的元素，与第</a:t>
            </a:r>
            <a:r>
              <a:rPr lang="en-US" altLang="zh-CN" sz="1600" kern="100" dirty="0" err="1">
                <a:latin typeface="Times New Roman" panose="02020603050405020304" pitchFamily="18" charset="0"/>
                <a:ea typeface="宋体" panose="02010600030101010101" pitchFamily="2" charset="-122"/>
              </a:rPr>
              <a:t>i</a:t>
            </a:r>
            <a:r>
              <a:rPr lang="x-none" altLang="zh-CN" sz="1600" kern="100" dirty="0">
                <a:ea typeface="宋体" panose="02010600030101010101" pitchFamily="2" charset="-122"/>
              </a:rPr>
              <a:t>个位置的元素交换</a:t>
            </a:r>
            <a:r>
              <a:rPr lang="zh-CN" altLang="zh-CN" sz="1600" kern="100" dirty="0">
                <a:latin typeface="Times New Roman" panose="02020603050405020304" pitchFamily="18" charset="0"/>
                <a:ea typeface="宋体" panose="02010600030101010101" pitchFamily="2" charset="-122"/>
              </a:rPr>
              <a:t>，一共重复执行</a:t>
            </a:r>
            <a:r>
              <a:rPr lang="en-US" altLang="zh-CN" sz="1600" kern="100" dirty="0">
                <a:latin typeface="Times New Roman" panose="02020603050405020304" pitchFamily="18" charset="0"/>
                <a:ea typeface="宋体" panose="02010600030101010101" pitchFamily="2" charset="-122"/>
              </a:rPr>
              <a:t>n-1</a:t>
            </a:r>
            <a:r>
              <a:rPr lang="zh-CN" altLang="zh-CN" sz="1600" kern="100" dirty="0">
                <a:latin typeface="Times New Roman" panose="02020603050405020304" pitchFamily="18" charset="0"/>
                <a:ea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rPr>
              <a:t>n</a:t>
            </a:r>
            <a:r>
              <a:rPr lang="zh-CN" altLang="zh-CN" sz="1600" kern="100" dirty="0">
                <a:latin typeface="Times New Roman" panose="02020603050405020304" pitchFamily="18" charset="0"/>
                <a:ea typeface="宋体" panose="02010600030101010101" pitchFamily="2" charset="-122"/>
              </a:rPr>
              <a:t>为数组长度）趟，所有元素均排序完毕。</a:t>
            </a:r>
          </a:p>
        </p:txBody>
      </p:sp>
      <p:pic>
        <p:nvPicPr>
          <p:cNvPr id="6" name="图片 5">
            <a:extLst>
              <a:ext uri="{FF2B5EF4-FFF2-40B4-BE49-F238E27FC236}">
                <a16:creationId xmlns:a16="http://schemas.microsoft.com/office/drawing/2014/main" id="{76104FAA-A4B6-44BA-9BD4-2C4830E88D73}"/>
              </a:ext>
            </a:extLst>
          </p:cNvPr>
          <p:cNvPicPr/>
          <p:nvPr/>
        </p:nvPicPr>
        <p:blipFill>
          <a:blip r:embed="rId2">
            <a:extLst>
              <a:ext uri="{28A0092B-C50C-407E-A947-70E740481C1C}">
                <a14:useLocalDpi xmlns:a14="http://schemas.microsoft.com/office/drawing/2010/main" val="0"/>
              </a:ext>
            </a:extLst>
          </a:blip>
          <a:srcRect l="9038" t="7143" r="9038" b="7295"/>
          <a:stretch>
            <a:fillRect/>
          </a:stretch>
        </p:blipFill>
        <p:spPr bwMode="auto">
          <a:xfrm>
            <a:off x="6536739" y="2458548"/>
            <a:ext cx="3600582" cy="3214267"/>
          </a:xfrm>
          <a:prstGeom prst="rect">
            <a:avLst/>
          </a:prstGeom>
          <a:noFill/>
          <a:ln>
            <a:noFill/>
          </a:ln>
        </p:spPr>
      </p:pic>
      <p:pic>
        <p:nvPicPr>
          <p:cNvPr id="7" name="图片 6">
            <a:extLst>
              <a:ext uri="{FF2B5EF4-FFF2-40B4-BE49-F238E27FC236}">
                <a16:creationId xmlns:a16="http://schemas.microsoft.com/office/drawing/2014/main" id="{7E598F41-6B69-4BEC-BCA9-2AF78EBF504D}"/>
              </a:ext>
            </a:extLst>
          </p:cNvPr>
          <p:cNvPicPr/>
          <p:nvPr/>
        </p:nvPicPr>
        <p:blipFill>
          <a:blip r:embed="rId3"/>
          <a:stretch>
            <a:fillRect/>
          </a:stretch>
        </p:blipFill>
        <p:spPr>
          <a:xfrm>
            <a:off x="1611707" y="2458548"/>
            <a:ext cx="4141393" cy="3214267"/>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7B3D4B0-9B5C-4575-8909-3F277966CC0E}"/>
                  </a:ext>
                </a:extLst>
              </p:cNvPr>
              <p:cNvSpPr txBox="1"/>
              <p:nvPr/>
            </p:nvSpPr>
            <p:spPr>
              <a:xfrm>
                <a:off x="1611707" y="5800249"/>
                <a:ext cx="8968586" cy="923330"/>
              </a:xfrm>
              <a:prstGeom prst="rect">
                <a:avLst/>
              </a:prstGeom>
              <a:noFill/>
            </p:spPr>
            <p:txBody>
              <a:bodyPr wrap="square">
                <a:spAutoFit/>
              </a:bodyPr>
              <a:lstStyle/>
              <a:p>
                <a:pPr marL="533400" algn="just"/>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rPr>
                  <a:t>选择排序的每一趟排序中都需要从第</a:t>
                </a:r>
                <a:r>
                  <a:rPr lang="x-none" altLang="zh-CN" sz="1800" kern="100" dirty="0">
                    <a:effectLst/>
                    <a:latin typeface="Times New Roman" panose="02020603050405020304" pitchFamily="18" charset="0"/>
                    <a:ea typeface="宋体" panose="02010600030101010101" pitchFamily="2" charset="-122"/>
                  </a:rPr>
                  <a:t>i</a:t>
                </a:r>
                <a:r>
                  <a:rPr lang="zh-CN" altLang="zh-CN" sz="1800" kern="100" dirty="0">
                    <a:effectLst/>
                    <a:latin typeface="Times New Roman" panose="02020603050405020304" pitchFamily="18" charset="0"/>
                    <a:ea typeface="宋体" panose="02010600030101010101" pitchFamily="2" charset="-122"/>
                  </a:rPr>
                  <a:t>个位置遍历到最后一个元素，所以其复</a:t>
                </a:r>
              </a:p>
              <a:p>
                <a:pPr indent="266700" algn="just"/>
                <a:r>
                  <a:rPr lang="zh-CN" altLang="zh-CN" sz="1800" kern="100" dirty="0">
                    <a:effectLst/>
                    <a:latin typeface="Times New Roman" panose="02020603050405020304" pitchFamily="18" charset="0"/>
                    <a:ea typeface="宋体" panose="02010600030101010101" pitchFamily="2" charset="-122"/>
                  </a:rPr>
                  <a:t>杂度与原始序列的有序性无关，即时间复杂度仅仅与问题的规模</a:t>
                </a:r>
                <a:r>
                  <a:rPr lang="x-none" altLang="zh-CN" sz="1800" kern="100" dirty="0">
                    <a:effectLst/>
                    <a:latin typeface="Times New Roman" panose="02020603050405020304" pitchFamily="18" charset="0"/>
                    <a:ea typeface="宋体" panose="02010600030101010101" pitchFamily="2" charset="-122"/>
                  </a:rPr>
                  <a:t>n</a:t>
                </a:r>
                <a:r>
                  <a:rPr lang="zh-CN" altLang="zh-CN" sz="1800" kern="100" dirty="0">
                    <a:effectLst/>
                    <a:latin typeface="Times New Roman" panose="02020603050405020304" pitchFamily="18" charset="0"/>
                    <a:ea typeface="宋体" panose="02010600030101010101" pitchFamily="2" charset="-122"/>
                  </a:rPr>
                  <a:t>的大小有关。</a:t>
                </a:r>
                <a:endParaRPr lang="en-US" altLang="zh-CN" sz="1800" kern="100" dirty="0">
                  <a:effectLst/>
                  <a:latin typeface="Times New Roman" panose="02020603050405020304" pitchFamily="18" charset="0"/>
                  <a:ea typeface="宋体" panose="02010600030101010101" pitchFamily="2" charset="-122"/>
                </a:endParaRPr>
              </a:p>
              <a:p>
                <a:pPr indent="266700" algn="just"/>
                <a:r>
                  <a:rPr lang="zh-CN" altLang="en-US" kern="100" dirty="0">
                    <a:latin typeface="Times New Roman" panose="02020603050405020304" pitchFamily="18" charset="0"/>
                    <a:ea typeface="宋体" panose="02010600030101010101" pitchFamily="2" charset="-122"/>
                  </a:rPr>
                  <a:t>时间复杂度为</a:t>
                </a:r>
                <a14:m>
                  <m:oMath xmlns:m="http://schemas.openxmlformats.org/officeDocument/2006/math">
                    <m:r>
                      <a:rPr lang="x-none" altLang="zh-CN" sz="1800" i="1" kern="100" smtClean="0">
                        <a:effectLst/>
                        <a:latin typeface="Cambria Math" panose="02040503050406030204" pitchFamily="18" charset="0"/>
                        <a:ea typeface="宋体" panose="02010600030101010101" pitchFamily="2" charset="-122"/>
                        <a:cs typeface="Times New Roman" panose="02020603050405020304" pitchFamily="18" charset="0"/>
                      </a:rPr>
                      <m:t>𝑂</m:t>
                    </m:r>
                    <m:r>
                      <a:rPr lang="x-none" altLang="zh-CN" sz="1800" i="1" kern="100" smtClean="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x-none"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e>
                      <m:sup>
                        <m:r>
                          <a:rPr lang="x-none"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sup>
                    </m:sSup>
                    <m:r>
                      <a:rPr lang="x-none"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1800" kern="100" dirty="0">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p:txBody>
          </p:sp>
        </mc:Choice>
        <mc:Fallback xmlns="">
          <p:sp>
            <p:nvSpPr>
              <p:cNvPr id="9" name="文本框 8">
                <a:extLst>
                  <a:ext uri="{FF2B5EF4-FFF2-40B4-BE49-F238E27FC236}">
                    <a16:creationId xmlns:a16="http://schemas.microsoft.com/office/drawing/2014/main" id="{F7B3D4B0-9B5C-4575-8909-3F277966CC0E}"/>
                  </a:ext>
                </a:extLst>
              </p:cNvPr>
              <p:cNvSpPr txBox="1">
                <a:spLocks noRot="1" noChangeAspect="1" noMove="1" noResize="1" noEditPoints="1" noAdjustHandles="1" noChangeArrowheads="1" noChangeShapeType="1" noTextEdit="1"/>
              </p:cNvSpPr>
              <p:nvPr/>
            </p:nvSpPr>
            <p:spPr>
              <a:xfrm>
                <a:off x="1611707" y="5800249"/>
                <a:ext cx="8968586" cy="923330"/>
              </a:xfrm>
              <a:prstGeom prst="rect">
                <a:avLst/>
              </a:prstGeom>
              <a:blipFill>
                <a:blip r:embed="rId4"/>
                <a:stretch>
                  <a:fillRect t="-4605" b="-78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532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1" y="293614"/>
            <a:ext cx="6997973" cy="601294"/>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选择排序</a:t>
            </a:r>
          </a:p>
        </p:txBody>
      </p:sp>
      <p:sp>
        <p:nvSpPr>
          <p:cNvPr id="5" name="文本框 4">
            <a:extLst>
              <a:ext uri="{FF2B5EF4-FFF2-40B4-BE49-F238E27FC236}">
                <a16:creationId xmlns:a16="http://schemas.microsoft.com/office/drawing/2014/main" id="{07BDF4E2-9E49-467C-BB5B-0BEC5D6C1D90}"/>
              </a:ext>
            </a:extLst>
          </p:cNvPr>
          <p:cNvSpPr txBox="1"/>
          <p:nvPr/>
        </p:nvSpPr>
        <p:spPr>
          <a:xfrm>
            <a:off x="1923600" y="1520551"/>
            <a:ext cx="7980218" cy="584775"/>
          </a:xfrm>
          <a:prstGeom prst="rect">
            <a:avLst/>
          </a:prstGeom>
          <a:noFill/>
        </p:spPr>
        <p:txBody>
          <a:bodyPr wrap="square">
            <a:spAutoFit/>
          </a:bodyPr>
          <a:lstStyle/>
          <a:p>
            <a:pPr marL="533400" algn="just"/>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使用</a:t>
            </a:r>
            <a:r>
              <a:rPr lang="x-none" altLang="zh-CN" sz="1600" kern="100" dirty="0">
                <a:effectLst/>
                <a:latin typeface="Times New Roman" panose="02020603050405020304" pitchFamily="18" charset="0"/>
                <a:ea typeface="宋体" panose="02010600030101010101" pitchFamily="2" charset="-122"/>
              </a:rPr>
              <a:t>[1,10000</a:t>
            </a:r>
            <a:r>
              <a:rPr lang="en-US" altLang="zh-CN" sz="1600" kern="100" dirty="0">
                <a:effectLst/>
                <a:latin typeface="Times New Roman" panose="02020603050405020304" pitchFamily="18" charset="0"/>
                <a:ea typeface="宋体" panose="02010600030101010101" pitchFamily="2" charset="-122"/>
              </a:rPr>
              <a:t>0000</a:t>
            </a:r>
            <a:r>
              <a:rPr lang="x-none" altLang="zh-CN" sz="1600" kern="100" dirty="0">
                <a:effectLst/>
                <a:latin typeface="Times New Roman" panose="02020603050405020304" pitchFamily="18" charset="0"/>
                <a:ea typeface="宋体"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的随机数生成</a:t>
            </a:r>
            <a:r>
              <a:rPr lang="zh-CN" altLang="en-US" sz="1600" kern="100" dirty="0">
                <a:effectLst/>
                <a:latin typeface="Times New Roman" panose="02020603050405020304" pitchFamily="18" charset="0"/>
                <a:ea typeface="宋体" panose="02010600030101010101" pitchFamily="2" charset="-122"/>
              </a:rPr>
              <a:t>的</a:t>
            </a:r>
            <a:r>
              <a:rPr lang="zh-CN" altLang="zh-CN" sz="1600" kern="100" dirty="0">
                <a:effectLst/>
                <a:latin typeface="Times New Roman" panose="02020603050405020304" pitchFamily="18" charset="0"/>
                <a:ea typeface="宋体" panose="02010600030101010101" pitchFamily="2" charset="-122"/>
              </a:rPr>
              <a:t>数据样本，并分别对不同规模</a:t>
            </a:r>
            <a:r>
              <a:rPr lang="x-none" altLang="zh-CN" sz="1600" kern="100" dirty="0">
                <a:effectLst/>
                <a:latin typeface="Times New Roman" panose="02020603050405020304" pitchFamily="18" charset="0"/>
                <a:ea typeface="宋体" panose="02010600030101010101" pitchFamily="2" charset="-122"/>
              </a:rPr>
              <a:t>n</a:t>
            </a:r>
            <a:r>
              <a:rPr lang="zh-CN" altLang="zh-CN" sz="1600" kern="100" dirty="0">
                <a:effectLst/>
                <a:latin typeface="Times New Roman" panose="02020603050405020304" pitchFamily="18" charset="0"/>
                <a:ea typeface="宋体" panose="02010600030101010101" pitchFamily="2" charset="-122"/>
              </a:rPr>
              <a:t>生成了</a:t>
            </a:r>
            <a:r>
              <a:rPr lang="x-none" altLang="zh-CN" sz="1600" kern="100" dirty="0">
                <a:effectLst/>
                <a:latin typeface="Times New Roman" panose="02020603050405020304" pitchFamily="18" charset="0"/>
                <a:ea typeface="宋体" panose="02010600030101010101" pitchFamily="2" charset="-122"/>
              </a:rPr>
              <a:t>20</a:t>
            </a:r>
            <a:r>
              <a:rPr lang="zh-CN" altLang="zh-CN" sz="1600" kern="100" dirty="0">
                <a:effectLst/>
                <a:latin typeface="Times New Roman" panose="02020603050405020304" pitchFamily="18" charset="0"/>
                <a:ea typeface="宋体" panose="02010600030101010101" pitchFamily="2" charset="-122"/>
              </a:rPr>
              <a:t>个样本，统计每个规模下的样本排序时间并取平均值作为该规模下样本的排序时间。</a:t>
            </a:r>
          </a:p>
        </p:txBody>
      </p:sp>
      <p:sp>
        <p:nvSpPr>
          <p:cNvPr id="8" name="文本框 7">
            <a:extLst>
              <a:ext uri="{FF2B5EF4-FFF2-40B4-BE49-F238E27FC236}">
                <a16:creationId xmlns:a16="http://schemas.microsoft.com/office/drawing/2014/main" id="{2DA7ECC5-835B-4CDF-85F6-17DE7E538E9E}"/>
              </a:ext>
            </a:extLst>
          </p:cNvPr>
          <p:cNvSpPr txBox="1"/>
          <p:nvPr/>
        </p:nvSpPr>
        <p:spPr>
          <a:xfrm>
            <a:off x="702405" y="2634479"/>
            <a:ext cx="6097554" cy="338554"/>
          </a:xfrm>
          <a:prstGeom prst="rect">
            <a:avLst/>
          </a:prstGeom>
          <a:noFill/>
        </p:spPr>
        <p:txBody>
          <a:bodyPr wrap="square">
            <a:spAutoFit/>
          </a:bodyPr>
          <a:lstStyle/>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选择</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排序不同规模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的实际</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、理论</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9E29859-35B0-4EA2-BA02-8E68CD0056C3}"/>
                  </a:ext>
                </a:extLst>
              </p:cNvPr>
              <p:cNvSpPr txBox="1"/>
              <p:nvPr/>
            </p:nvSpPr>
            <p:spPr>
              <a:xfrm>
                <a:off x="1951265" y="5394146"/>
                <a:ext cx="8289471" cy="677108"/>
              </a:xfrm>
              <a:prstGeom prst="rect">
                <a:avLst/>
              </a:prstGeom>
              <a:noFill/>
            </p:spPr>
            <p:txBody>
              <a:bodyPr wrap="square">
                <a:spAutoFit/>
              </a:bodyPr>
              <a:lstStyle/>
              <a:p>
                <a:pPr marL="266700" algn="just"/>
                <a:r>
                  <a:rPr lang="zh-CN" altLang="zh-CN" sz="2000" b="1" kern="100" dirty="0">
                    <a:latin typeface="Times New Roman" panose="02020603050405020304" pitchFamily="18" charset="0"/>
                    <a:ea typeface="宋体" panose="02010600030101010101" pitchFamily="2" charset="-122"/>
                  </a:rPr>
                  <a:t>结论：</a:t>
                </a:r>
                <a:r>
                  <a:rPr lang="zh-CN" altLang="zh-CN" sz="1800" kern="100" dirty="0">
                    <a:effectLst/>
                    <a:latin typeface="Times New Roman" panose="02020603050405020304" pitchFamily="18" charset="0"/>
                    <a:ea typeface="宋体" panose="02010600030101010101" pitchFamily="2" charset="-122"/>
                  </a:rPr>
                  <a:t>本次实验中选择排序的实际时间效率和理论时间效率几乎完全符合，且曲线图呈现</a:t>
                </a:r>
                <a14:m>
                  <m:oMath xmlns:m="http://schemas.openxmlformats.org/officeDocument/2006/math">
                    <m:r>
                      <a:rPr lang="x-none" altLang="zh-CN" sz="1800" i="1" kern="100">
                        <a:effectLst/>
                        <a:latin typeface="Cambria Math" panose="02040503050406030204" pitchFamily="18" charset="0"/>
                        <a:ea typeface="宋体" panose="02010600030101010101" pitchFamily="2" charset="-122"/>
                      </a:rPr>
                      <m:t>𝑂</m:t>
                    </m:r>
                    <m:r>
                      <a:rPr lang="x-none" altLang="zh-CN" sz="1800" i="1" kern="100">
                        <a:effectLst/>
                        <a:latin typeface="Cambria Math" panose="02040503050406030204" pitchFamily="18" charset="0"/>
                        <a:ea typeface="宋体" panose="02010600030101010101" pitchFamily="2" charset="-122"/>
                      </a:rPr>
                      <m:t>(</m:t>
                    </m:r>
                    <m:sSup>
                      <m:sSupPr>
                        <m:ctrlPr>
                          <a:rPr lang="zh-CN" altLang="zh-CN" sz="1800" i="1" kern="100">
                            <a:effectLst/>
                            <a:latin typeface="Cambria Math" panose="02040503050406030204" pitchFamily="18" charset="0"/>
                            <a:ea typeface="Cambria Math" panose="02040503050406030204" pitchFamily="18" charset="0"/>
                          </a:rPr>
                        </m:ctrlPr>
                      </m:sSupPr>
                      <m:e>
                        <m:r>
                          <a:rPr lang="x-none" altLang="zh-CN" sz="1800" i="1" kern="100">
                            <a:effectLst/>
                            <a:latin typeface="Cambria Math" panose="02040503050406030204" pitchFamily="18" charset="0"/>
                            <a:ea typeface="宋体" panose="02010600030101010101" pitchFamily="2" charset="-122"/>
                          </a:rPr>
                          <m:t>𝑛</m:t>
                        </m:r>
                      </m:e>
                      <m:sup>
                        <m:r>
                          <a:rPr lang="x-none" altLang="zh-CN" sz="1800" i="1" kern="100">
                            <a:effectLst/>
                            <a:latin typeface="Cambria Math" panose="02040503050406030204" pitchFamily="18" charset="0"/>
                            <a:ea typeface="宋体" panose="02010600030101010101" pitchFamily="2" charset="-122"/>
                          </a:rPr>
                          <m:t>2</m:t>
                        </m:r>
                      </m:sup>
                    </m:sSup>
                    <m:r>
                      <a:rPr lang="x-none" altLang="zh-CN" sz="1800" i="1" kern="100">
                        <a:effectLst/>
                        <a:latin typeface="Cambria Math" panose="02040503050406030204" pitchFamily="18" charset="0"/>
                        <a:ea typeface="宋体" panose="02010600030101010101" pitchFamily="2" charset="-122"/>
                      </a:rPr>
                      <m:t>)</m:t>
                    </m:r>
                  </m:oMath>
                </a14:m>
                <a:r>
                  <a:rPr lang="zh-CN" altLang="zh-CN" sz="1800" kern="100" dirty="0">
                    <a:effectLst/>
                    <a:latin typeface="Times New Roman" panose="02020603050405020304" pitchFamily="18" charset="0"/>
                    <a:ea typeface="宋体" panose="02010600030101010101" pitchFamily="2" charset="-122"/>
                  </a:rPr>
                  <a:t>的二次曲线，且实际与理论之间的误差极小可以忽略。</a:t>
                </a:r>
              </a:p>
            </p:txBody>
          </p:sp>
        </mc:Choice>
        <mc:Fallback xmlns="">
          <p:sp>
            <p:nvSpPr>
              <p:cNvPr id="10" name="文本框 9">
                <a:extLst>
                  <a:ext uri="{FF2B5EF4-FFF2-40B4-BE49-F238E27FC236}">
                    <a16:creationId xmlns:a16="http://schemas.microsoft.com/office/drawing/2014/main" id="{39E29859-35B0-4EA2-BA02-8E68CD0056C3}"/>
                  </a:ext>
                </a:extLst>
              </p:cNvPr>
              <p:cNvSpPr txBox="1">
                <a:spLocks noRot="1" noChangeAspect="1" noMove="1" noResize="1" noEditPoints="1" noAdjustHandles="1" noChangeArrowheads="1" noChangeShapeType="1" noTextEdit="1"/>
              </p:cNvSpPr>
              <p:nvPr/>
            </p:nvSpPr>
            <p:spPr>
              <a:xfrm>
                <a:off x="1951265" y="5394146"/>
                <a:ext cx="8289471" cy="677108"/>
              </a:xfrm>
              <a:prstGeom prst="rect">
                <a:avLst/>
              </a:prstGeom>
              <a:blipFill>
                <a:blip r:embed="rId3"/>
                <a:stretch>
                  <a:fillRect t="-5405" r="-662" b="-1171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E5228EA-5453-4A79-BCEA-E1AE8C92A2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963" y="2105326"/>
            <a:ext cx="6484208" cy="3368785"/>
          </a:xfrm>
          <a:prstGeom prst="rect">
            <a:avLst/>
          </a:prstGeom>
        </p:spPr>
      </p:pic>
      <p:graphicFrame>
        <p:nvGraphicFramePr>
          <p:cNvPr id="11" name="表格 10">
            <a:extLst>
              <a:ext uri="{FF2B5EF4-FFF2-40B4-BE49-F238E27FC236}">
                <a16:creationId xmlns:a16="http://schemas.microsoft.com/office/drawing/2014/main" id="{62A56B48-697F-43A8-BB7A-C75B27F340BE}"/>
              </a:ext>
            </a:extLst>
          </p:cNvPr>
          <p:cNvGraphicFramePr>
            <a:graphicFrameLocks noGrp="1"/>
          </p:cNvGraphicFramePr>
          <p:nvPr>
            <p:extLst>
              <p:ext uri="{D42A27DB-BD31-4B8C-83A1-F6EECF244321}">
                <p14:modId xmlns:p14="http://schemas.microsoft.com/office/powerpoint/2010/main" val="1744048003"/>
              </p:ext>
            </p:extLst>
          </p:nvPr>
        </p:nvGraphicFramePr>
        <p:xfrm>
          <a:off x="123518" y="3099661"/>
          <a:ext cx="5291445" cy="1089660"/>
        </p:xfrm>
        <a:graphic>
          <a:graphicData uri="http://schemas.openxmlformats.org/drawingml/2006/table">
            <a:tbl>
              <a:tblPr>
                <a:tableStyleId>{5C22544A-7EE6-4342-B048-85BDC9FD1C3A}</a:tableStyleId>
              </a:tblPr>
              <a:tblGrid>
                <a:gridCol w="805169">
                  <a:extLst>
                    <a:ext uri="{9D8B030D-6E8A-4147-A177-3AD203B41FA5}">
                      <a16:colId xmlns:a16="http://schemas.microsoft.com/office/drawing/2014/main" val="141935260"/>
                    </a:ext>
                  </a:extLst>
                </a:gridCol>
                <a:gridCol w="833404">
                  <a:extLst>
                    <a:ext uri="{9D8B030D-6E8A-4147-A177-3AD203B41FA5}">
                      <a16:colId xmlns:a16="http://schemas.microsoft.com/office/drawing/2014/main" val="675156676"/>
                    </a:ext>
                  </a:extLst>
                </a:gridCol>
                <a:gridCol w="908281">
                  <a:extLst>
                    <a:ext uri="{9D8B030D-6E8A-4147-A177-3AD203B41FA5}">
                      <a16:colId xmlns:a16="http://schemas.microsoft.com/office/drawing/2014/main" val="2558387474"/>
                    </a:ext>
                  </a:extLst>
                </a:gridCol>
                <a:gridCol w="898409">
                  <a:extLst>
                    <a:ext uri="{9D8B030D-6E8A-4147-A177-3AD203B41FA5}">
                      <a16:colId xmlns:a16="http://schemas.microsoft.com/office/drawing/2014/main" val="474608567"/>
                    </a:ext>
                  </a:extLst>
                </a:gridCol>
                <a:gridCol w="898409">
                  <a:extLst>
                    <a:ext uri="{9D8B030D-6E8A-4147-A177-3AD203B41FA5}">
                      <a16:colId xmlns:a16="http://schemas.microsoft.com/office/drawing/2014/main" val="313635613"/>
                    </a:ext>
                  </a:extLst>
                </a:gridCol>
                <a:gridCol w="947773">
                  <a:extLst>
                    <a:ext uri="{9D8B030D-6E8A-4147-A177-3AD203B41FA5}">
                      <a16:colId xmlns:a16="http://schemas.microsoft.com/office/drawing/2014/main" val="455795516"/>
                    </a:ext>
                  </a:extLst>
                </a:gridCol>
              </a:tblGrid>
              <a:tr h="175260">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规模</a:t>
                      </a:r>
                      <a:r>
                        <a:rPr lang="en-US" sz="1400" b="1" u="none" strike="noStrike" kern="120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20w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30w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40w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50w</a:t>
                      </a:r>
                    </a:p>
                  </a:txBody>
                  <a:tcPr marL="7620" marR="7620" marT="7620" marB="0" anchor="b">
                    <a:solidFill>
                      <a:srgbClr val="0070C0"/>
                    </a:solidFill>
                  </a:tcPr>
                </a:tc>
                <a:extLst>
                  <a:ext uri="{0D108BD9-81ED-4DB2-BD59-A6C34878D82A}">
                    <a16:rowId xmlns:a16="http://schemas.microsoft.com/office/drawing/2014/main" val="571523565"/>
                  </a:ext>
                </a:extLst>
              </a:tr>
              <a:tr h="175260">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实际时间</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39,268</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156,652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352,310</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631,552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989,853</a:t>
                      </a:r>
                    </a:p>
                  </a:txBody>
                  <a:tcPr marL="7620" marR="7620" marT="7620" marB="0" anchor="b">
                    <a:solidFill>
                      <a:srgbClr val="79D6F3"/>
                    </a:solidFill>
                  </a:tcPr>
                </a:tc>
                <a:extLst>
                  <a:ext uri="{0D108BD9-81ED-4DB2-BD59-A6C34878D82A}">
                    <a16:rowId xmlns:a16="http://schemas.microsoft.com/office/drawing/2014/main" val="1404189517"/>
                  </a:ext>
                </a:extLst>
              </a:tr>
              <a:tr h="175260">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理论时间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39,268</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157073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353414</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628292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981706</a:t>
                      </a:r>
                    </a:p>
                  </a:txBody>
                  <a:tcPr marL="7620" marR="7620" marT="7620" marB="0" anchor="b">
                    <a:solidFill>
                      <a:srgbClr val="79D6F3"/>
                    </a:solidFill>
                  </a:tcPr>
                </a:tc>
                <a:extLst>
                  <a:ext uri="{0D108BD9-81ED-4DB2-BD59-A6C34878D82A}">
                    <a16:rowId xmlns:a16="http://schemas.microsoft.com/office/drawing/2014/main" val="4124435115"/>
                  </a:ext>
                </a:extLst>
              </a:tr>
            </a:tbl>
          </a:graphicData>
        </a:graphic>
      </p:graphicFrame>
    </p:spTree>
    <p:extLst>
      <p:ext uri="{BB962C8B-B14F-4D97-AF65-F5344CB8AC3E}">
        <p14:creationId xmlns:p14="http://schemas.microsoft.com/office/powerpoint/2010/main" val="2609968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8285598" cy="539673"/>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插入排序</a:t>
            </a:r>
          </a:p>
        </p:txBody>
      </p:sp>
      <p:sp>
        <p:nvSpPr>
          <p:cNvPr id="5" name="文本框 4">
            <a:extLst>
              <a:ext uri="{FF2B5EF4-FFF2-40B4-BE49-F238E27FC236}">
                <a16:creationId xmlns:a16="http://schemas.microsoft.com/office/drawing/2014/main" id="{96208486-F469-4DC8-B8A6-9557DCB73054}"/>
              </a:ext>
            </a:extLst>
          </p:cNvPr>
          <p:cNvSpPr txBox="1"/>
          <p:nvPr/>
        </p:nvSpPr>
        <p:spPr>
          <a:xfrm>
            <a:off x="2217965" y="1449650"/>
            <a:ext cx="7756071" cy="954107"/>
          </a:xfrm>
          <a:prstGeom prst="rect">
            <a:avLst/>
          </a:prstGeom>
          <a:noFill/>
        </p:spPr>
        <p:txBody>
          <a:bodyPr wrap="square">
            <a:spAutoFit/>
          </a:bodyPr>
          <a:lstStyle/>
          <a:p>
            <a:pPr lvl="0" algn="just"/>
            <a:r>
              <a:rPr lang="zh-CN" altLang="zh-CN" sz="2000" b="1" kern="100" dirty="0">
                <a:effectLst/>
                <a:latin typeface="Times New Roman" panose="02020603050405020304" pitchFamily="18" charset="0"/>
                <a:ea typeface="宋体" panose="02010600030101010101" pitchFamily="2" charset="-122"/>
              </a:rPr>
              <a:t>算法原理：</a:t>
            </a:r>
            <a:endParaRPr lang="en-US" altLang="zh-CN" sz="2000" b="1" kern="100" dirty="0">
              <a:latin typeface="Times New Roman" panose="02020603050405020304" pitchFamily="18" charset="0"/>
              <a:ea typeface="宋体" panose="02010600030101010101" pitchFamily="2" charset="-122"/>
            </a:endParaRPr>
          </a:p>
          <a:p>
            <a:pPr lvl="0" algn="just"/>
            <a:r>
              <a:rPr lang="en-US" altLang="zh-CN" sz="2000" b="1"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每步将一个待排序的对象</a:t>
            </a:r>
            <a:r>
              <a:rPr lang="x-none" altLang="zh-CN" sz="1600" kern="100" dirty="0">
                <a:effectLst/>
                <a:latin typeface="Times New Roman" panose="02020603050405020304" pitchFamily="18" charset="0"/>
                <a:ea typeface="宋体"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按其关键字大小</a:t>
            </a:r>
            <a:r>
              <a:rPr lang="x-none" altLang="zh-CN" sz="1600" kern="100" dirty="0">
                <a:effectLst/>
                <a:latin typeface="Times New Roman" panose="02020603050405020304" pitchFamily="18" charset="0"/>
                <a:ea typeface="宋体" panose="02010600030101010101" pitchFamily="2" charset="-122"/>
              </a:rPr>
              <a:t>,</a:t>
            </a:r>
            <a:r>
              <a:rPr lang="zh-CN" altLang="zh-CN" sz="1600" kern="100" dirty="0">
                <a:effectLst/>
                <a:latin typeface="Times New Roman" panose="02020603050405020304" pitchFamily="18" charset="0"/>
                <a:ea typeface="宋体" panose="02010600030101010101" pitchFamily="2" charset="-122"/>
              </a:rPr>
              <a:t>插入到前面已经排好序的有序表的适当位置上</a:t>
            </a:r>
            <a:r>
              <a:rPr lang="x-none"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直到对象全部插入为止。</a:t>
            </a:r>
          </a:p>
        </p:txBody>
      </p:sp>
      <p:pic>
        <p:nvPicPr>
          <p:cNvPr id="6" name="图片 5">
            <a:extLst>
              <a:ext uri="{FF2B5EF4-FFF2-40B4-BE49-F238E27FC236}">
                <a16:creationId xmlns:a16="http://schemas.microsoft.com/office/drawing/2014/main" id="{A3046D66-AF8B-4E5C-85EC-7DFAF234FBE0}"/>
              </a:ext>
            </a:extLst>
          </p:cNvPr>
          <p:cNvPicPr/>
          <p:nvPr/>
        </p:nvPicPr>
        <p:blipFill>
          <a:blip r:embed="rId2"/>
          <a:stretch>
            <a:fillRect/>
          </a:stretch>
        </p:blipFill>
        <p:spPr>
          <a:xfrm>
            <a:off x="1087534" y="2477874"/>
            <a:ext cx="4557486" cy="3097608"/>
          </a:xfrm>
          <a:prstGeom prst="rect">
            <a:avLst/>
          </a:prstGeom>
        </p:spPr>
      </p:pic>
      <p:pic>
        <p:nvPicPr>
          <p:cNvPr id="7" name="图片 6">
            <a:extLst>
              <a:ext uri="{FF2B5EF4-FFF2-40B4-BE49-F238E27FC236}">
                <a16:creationId xmlns:a16="http://schemas.microsoft.com/office/drawing/2014/main" id="{5418D246-E330-4F61-988A-AFDC22358E26}"/>
              </a:ext>
            </a:extLst>
          </p:cNvPr>
          <p:cNvPicPr/>
          <p:nvPr/>
        </p:nvPicPr>
        <p:blipFill>
          <a:blip r:embed="rId3">
            <a:extLst>
              <a:ext uri="{28A0092B-C50C-407E-A947-70E740481C1C}">
                <a14:useLocalDpi xmlns:a14="http://schemas.microsoft.com/office/drawing/2010/main" val="0"/>
              </a:ext>
            </a:extLst>
          </a:blip>
          <a:srcRect l="9251" t="6345" r="9842" b="6354"/>
          <a:stretch>
            <a:fillRect/>
          </a:stretch>
        </p:blipFill>
        <p:spPr bwMode="auto">
          <a:xfrm>
            <a:off x="6546983" y="2189153"/>
            <a:ext cx="3212838" cy="3782439"/>
          </a:xfrm>
          <a:prstGeom prst="rect">
            <a:avLst/>
          </a:prstGeom>
          <a:noFill/>
          <a:ln>
            <a:noFill/>
          </a:ln>
        </p:spPr>
      </p:pic>
      <p:sp>
        <p:nvSpPr>
          <p:cNvPr id="9" name="文本框 8">
            <a:extLst>
              <a:ext uri="{FF2B5EF4-FFF2-40B4-BE49-F238E27FC236}">
                <a16:creationId xmlns:a16="http://schemas.microsoft.com/office/drawing/2014/main" id="{D5002852-ADC2-42B4-AA81-03679D105577}"/>
              </a:ext>
            </a:extLst>
          </p:cNvPr>
          <p:cNvSpPr txBox="1"/>
          <p:nvPr/>
        </p:nvSpPr>
        <p:spPr>
          <a:xfrm>
            <a:off x="2283085" y="6191845"/>
            <a:ext cx="7625831" cy="369332"/>
          </a:xfrm>
          <a:prstGeom prst="rect">
            <a:avLst/>
          </a:prstGeom>
          <a:noFill/>
        </p:spPr>
        <p:txBody>
          <a:bodyPr wrap="square">
            <a:spAutoFit/>
          </a:bodyPr>
          <a:lstStyle/>
          <a:p>
            <a:pPr marL="533400" indent="266700" algn="just"/>
            <a:r>
              <a:rPr lang="zh-CN" altLang="zh-CN" sz="1800" kern="100" dirty="0">
                <a:effectLst/>
                <a:latin typeface="Times New Roman" panose="02020603050405020304" pitchFamily="18" charset="0"/>
                <a:ea typeface="宋体" panose="02010600030101010101" pitchFamily="2" charset="-122"/>
              </a:rPr>
              <a:t>直接插入排序的时间复杂度为</a:t>
            </a:r>
            <a:r>
              <a:rPr lang="x-none" altLang="zh-CN" sz="1800" kern="100" dirty="0">
                <a:effectLst/>
                <a:latin typeface="Times New Roman" panose="02020603050405020304" pitchFamily="18" charset="0"/>
                <a:ea typeface="宋体" panose="02010600030101010101" pitchFamily="2" charset="-122"/>
              </a:rPr>
              <a:t>O(n2)</a:t>
            </a:r>
            <a:r>
              <a:rPr lang="zh-CN" altLang="zh-CN" sz="1800" kern="100" dirty="0">
                <a:effectLst/>
                <a:latin typeface="Times New Roman" panose="02020603050405020304" pitchFamily="18" charset="0"/>
                <a:ea typeface="宋体" panose="02010600030101010101" pitchFamily="2" charset="-122"/>
              </a:rPr>
              <a:t>，空间复杂度</a:t>
            </a:r>
            <a:r>
              <a:rPr lang="x-none" altLang="zh-CN" sz="1800" kern="100" dirty="0">
                <a:effectLst/>
                <a:latin typeface="Times New Roman" panose="02020603050405020304" pitchFamily="18" charset="0"/>
                <a:ea typeface="宋体" panose="02010600030101010101" pitchFamily="2" charset="-122"/>
              </a:rPr>
              <a:t>O(1)</a:t>
            </a:r>
            <a:r>
              <a:rPr lang="zh-CN" altLang="zh-CN" sz="18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86503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1" y="293614"/>
            <a:ext cx="7735091" cy="564054"/>
          </a:xfrm>
        </p:spPr>
        <p:txBody>
          <a:bodyPr>
            <a:noAutofit/>
          </a:bodyPr>
          <a:lstStyle/>
          <a:p>
            <a:r>
              <a:rPr lang="zh-CN" altLang="en-US" sz="3200" b="1" dirty="0">
                <a:latin typeface="+mn-lt"/>
                <a:ea typeface="+mn-ea"/>
                <a:cs typeface="+mn-cs"/>
              </a:rPr>
              <a:t>冒泡排序、选择排序、插入排序</a:t>
            </a:r>
          </a:p>
        </p:txBody>
      </p:sp>
      <p:sp>
        <p:nvSpPr>
          <p:cNvPr id="3" name="文本框 2">
            <a:extLst>
              <a:ext uri="{FF2B5EF4-FFF2-40B4-BE49-F238E27FC236}">
                <a16:creationId xmlns:a16="http://schemas.microsoft.com/office/drawing/2014/main" id="{CBB1D0C6-EE74-4350-AF73-F4AB7DA524B5}"/>
              </a:ext>
            </a:extLst>
          </p:cNvPr>
          <p:cNvSpPr txBox="1"/>
          <p:nvPr/>
        </p:nvSpPr>
        <p:spPr>
          <a:xfrm>
            <a:off x="390363" y="976897"/>
            <a:ext cx="1533237" cy="461665"/>
          </a:xfrm>
          <a:prstGeom prst="rect">
            <a:avLst/>
          </a:prstGeom>
          <a:noFill/>
        </p:spPr>
        <p:txBody>
          <a:bodyPr wrap="square" rtlCol="0">
            <a:spAutoFit/>
          </a:bodyPr>
          <a:lstStyle/>
          <a:p>
            <a:r>
              <a:rPr lang="zh-CN" altLang="en-US" sz="2400" b="1" dirty="0"/>
              <a:t>插入排序</a:t>
            </a:r>
          </a:p>
        </p:txBody>
      </p:sp>
      <p:sp>
        <p:nvSpPr>
          <p:cNvPr id="5" name="文本框 4">
            <a:extLst>
              <a:ext uri="{FF2B5EF4-FFF2-40B4-BE49-F238E27FC236}">
                <a16:creationId xmlns:a16="http://schemas.microsoft.com/office/drawing/2014/main" id="{FF9C77E5-9EE8-4C92-AA41-DE1D94A02E69}"/>
              </a:ext>
            </a:extLst>
          </p:cNvPr>
          <p:cNvSpPr txBox="1"/>
          <p:nvPr/>
        </p:nvSpPr>
        <p:spPr>
          <a:xfrm>
            <a:off x="1923600" y="1520551"/>
            <a:ext cx="7980218" cy="584775"/>
          </a:xfrm>
          <a:prstGeom prst="rect">
            <a:avLst/>
          </a:prstGeom>
          <a:noFill/>
        </p:spPr>
        <p:txBody>
          <a:bodyPr wrap="square">
            <a:spAutoFit/>
          </a:bodyPr>
          <a:lstStyle/>
          <a:p>
            <a:pPr marL="533400" algn="just"/>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使用</a:t>
            </a:r>
            <a:r>
              <a:rPr lang="x-none" altLang="zh-CN" sz="1600" kern="100" dirty="0">
                <a:effectLst/>
                <a:latin typeface="Times New Roman" panose="02020603050405020304" pitchFamily="18" charset="0"/>
                <a:ea typeface="宋体" panose="02010600030101010101" pitchFamily="2" charset="-122"/>
              </a:rPr>
              <a:t>[1,100</a:t>
            </a:r>
            <a:r>
              <a:rPr lang="en-US" altLang="zh-CN" sz="1600" kern="100" dirty="0">
                <a:effectLst/>
                <a:latin typeface="Times New Roman" panose="02020603050405020304" pitchFamily="18" charset="0"/>
                <a:ea typeface="宋体" panose="02010600030101010101" pitchFamily="2" charset="-122"/>
              </a:rPr>
              <a:t>0000</a:t>
            </a:r>
            <a:r>
              <a:rPr lang="x-none" altLang="zh-CN" sz="1600" kern="100" dirty="0">
                <a:effectLst/>
                <a:latin typeface="Times New Roman" panose="02020603050405020304" pitchFamily="18" charset="0"/>
                <a:ea typeface="宋体" panose="02010600030101010101" pitchFamily="2" charset="-122"/>
              </a:rPr>
              <a:t>00)</a:t>
            </a:r>
            <a:r>
              <a:rPr lang="zh-CN" altLang="zh-CN" sz="1600" kern="100" dirty="0">
                <a:effectLst/>
                <a:latin typeface="Times New Roman" panose="02020603050405020304" pitchFamily="18" charset="0"/>
                <a:ea typeface="宋体" panose="02010600030101010101" pitchFamily="2" charset="-122"/>
              </a:rPr>
              <a:t>的随机数生成</a:t>
            </a:r>
            <a:r>
              <a:rPr lang="zh-CN" altLang="en-US" sz="1600" kern="100" dirty="0">
                <a:effectLst/>
                <a:latin typeface="Times New Roman" panose="02020603050405020304" pitchFamily="18" charset="0"/>
                <a:ea typeface="宋体" panose="02010600030101010101" pitchFamily="2" charset="-122"/>
              </a:rPr>
              <a:t>的</a:t>
            </a:r>
            <a:r>
              <a:rPr lang="zh-CN" altLang="zh-CN" sz="1600" kern="100" dirty="0">
                <a:effectLst/>
                <a:latin typeface="Times New Roman" panose="02020603050405020304" pitchFamily="18" charset="0"/>
                <a:ea typeface="宋体" panose="02010600030101010101" pitchFamily="2" charset="-122"/>
              </a:rPr>
              <a:t>数据样本，并分别对不同规模</a:t>
            </a:r>
            <a:r>
              <a:rPr lang="x-none" altLang="zh-CN" sz="1600" kern="100" dirty="0">
                <a:effectLst/>
                <a:latin typeface="Times New Roman" panose="02020603050405020304" pitchFamily="18" charset="0"/>
                <a:ea typeface="宋体" panose="02010600030101010101" pitchFamily="2" charset="-122"/>
              </a:rPr>
              <a:t>n</a:t>
            </a:r>
            <a:r>
              <a:rPr lang="zh-CN" altLang="zh-CN" sz="1600" kern="100" dirty="0">
                <a:effectLst/>
                <a:latin typeface="Times New Roman" panose="02020603050405020304" pitchFamily="18" charset="0"/>
                <a:ea typeface="宋体" panose="02010600030101010101" pitchFamily="2" charset="-122"/>
              </a:rPr>
              <a:t>生成了</a:t>
            </a:r>
            <a:r>
              <a:rPr lang="x-none" altLang="zh-CN" sz="1600" kern="100" dirty="0">
                <a:effectLst/>
                <a:latin typeface="Times New Roman" panose="02020603050405020304" pitchFamily="18" charset="0"/>
                <a:ea typeface="宋体" panose="02010600030101010101" pitchFamily="2" charset="-122"/>
              </a:rPr>
              <a:t>20</a:t>
            </a:r>
            <a:r>
              <a:rPr lang="zh-CN" altLang="zh-CN" sz="1600" kern="100" dirty="0">
                <a:effectLst/>
                <a:latin typeface="Times New Roman" panose="02020603050405020304" pitchFamily="18" charset="0"/>
                <a:ea typeface="宋体" panose="02010600030101010101" pitchFamily="2" charset="-122"/>
              </a:rPr>
              <a:t>个样本，统计每个规模下的样本排序时间并取平均值作为该规模下样本的排序时间。</a:t>
            </a:r>
          </a:p>
        </p:txBody>
      </p:sp>
      <p:sp>
        <p:nvSpPr>
          <p:cNvPr id="6" name="文本框 5">
            <a:extLst>
              <a:ext uri="{FF2B5EF4-FFF2-40B4-BE49-F238E27FC236}">
                <a16:creationId xmlns:a16="http://schemas.microsoft.com/office/drawing/2014/main" id="{6F5A3D63-02B3-44D0-8F2D-703902AB50D0}"/>
              </a:ext>
            </a:extLst>
          </p:cNvPr>
          <p:cNvSpPr txBox="1"/>
          <p:nvPr/>
        </p:nvSpPr>
        <p:spPr>
          <a:xfrm>
            <a:off x="907682" y="2634479"/>
            <a:ext cx="6097554" cy="338554"/>
          </a:xfrm>
          <a:prstGeom prst="rect">
            <a:avLst/>
          </a:prstGeom>
          <a:noFill/>
        </p:spPr>
        <p:txBody>
          <a:bodyPr wrap="square">
            <a:spAutoFit/>
          </a:bodyPr>
          <a:lstStyle/>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插入</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排序不同规模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的实际</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、理论</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E5E66A8-F474-4466-81CA-AF893B212E88}"/>
                  </a:ext>
                </a:extLst>
              </p:cNvPr>
              <p:cNvSpPr txBox="1"/>
              <p:nvPr/>
            </p:nvSpPr>
            <p:spPr>
              <a:xfrm>
                <a:off x="2544536" y="5624290"/>
                <a:ext cx="7102929" cy="651910"/>
              </a:xfrm>
              <a:prstGeom prst="rect">
                <a:avLst/>
              </a:prstGeom>
              <a:noFill/>
            </p:spPr>
            <p:txBody>
              <a:bodyPr wrap="square">
                <a:spAutoFit/>
              </a:bodyPr>
              <a:lstStyle/>
              <a:p>
                <a:r>
                  <a:rPr lang="zh-CN" altLang="zh-CN" sz="2000" b="1" kern="100" dirty="0">
                    <a:latin typeface="Times New Roman" panose="02020603050405020304" pitchFamily="18" charset="0"/>
                    <a:ea typeface="宋体" panose="02010600030101010101" pitchFamily="2" charset="-122"/>
                  </a:rPr>
                  <a:t>结论：</a:t>
                </a:r>
                <a:r>
                  <a:rPr lang="zh-CN" altLang="zh-CN" sz="1600" kern="100" dirty="0">
                    <a:latin typeface="Times New Roman" panose="02020603050405020304" pitchFamily="18" charset="0"/>
                    <a:ea typeface="宋体" panose="02010600030101010101" pitchFamily="2" charset="-122"/>
                  </a:rPr>
                  <a:t>本次实验中插入排序的实际时间效率和理论时间效率几乎完全符合，且曲线图呈现</a:t>
                </a:r>
                <a14:m>
                  <m:oMath xmlns:m="http://schemas.openxmlformats.org/officeDocument/2006/math">
                    <m:r>
                      <a:rPr lang="x-none" altLang="zh-CN" sz="1600" kern="100">
                        <a:latin typeface="Cambria Math" panose="02040503050406030204" pitchFamily="18" charset="0"/>
                        <a:ea typeface="宋体" panose="02010600030101010101" pitchFamily="2" charset="-122"/>
                      </a:rPr>
                      <m:t>𝑂</m:t>
                    </m:r>
                    <m:r>
                      <a:rPr lang="x-none" altLang="zh-CN" sz="1600" kern="100">
                        <a:latin typeface="Cambria Math" panose="02040503050406030204" pitchFamily="18" charset="0"/>
                        <a:ea typeface="宋体" panose="02010600030101010101" pitchFamily="2" charset="-122"/>
                      </a:rPr>
                      <m:t>(</m:t>
                    </m:r>
                    <m:sSup>
                      <m:sSupPr>
                        <m:ctrlPr>
                          <a:rPr lang="zh-CN" altLang="zh-CN" sz="1600" i="1" kern="100">
                            <a:latin typeface="Cambria Math" panose="02040503050406030204" pitchFamily="18" charset="0"/>
                            <a:ea typeface="宋体" panose="02010600030101010101" pitchFamily="2" charset="-122"/>
                          </a:rPr>
                        </m:ctrlPr>
                      </m:sSupPr>
                      <m:e>
                        <m:r>
                          <a:rPr lang="x-none" altLang="zh-CN" sz="1600" kern="100">
                            <a:latin typeface="Cambria Math" panose="02040503050406030204" pitchFamily="18" charset="0"/>
                            <a:ea typeface="宋体" panose="02010600030101010101" pitchFamily="2" charset="-122"/>
                          </a:rPr>
                          <m:t>𝑛</m:t>
                        </m:r>
                      </m:e>
                      <m:sup>
                        <m:r>
                          <a:rPr lang="x-none" altLang="zh-CN" sz="1600" kern="100">
                            <a:latin typeface="Cambria Math" panose="02040503050406030204" pitchFamily="18" charset="0"/>
                            <a:ea typeface="宋体" panose="02010600030101010101" pitchFamily="2" charset="-122"/>
                          </a:rPr>
                          <m:t>2</m:t>
                        </m:r>
                      </m:sup>
                    </m:sSup>
                    <m:r>
                      <a:rPr lang="x-none" altLang="zh-CN" sz="1600" kern="100">
                        <a:latin typeface="Cambria Math" panose="02040503050406030204" pitchFamily="18" charset="0"/>
                        <a:ea typeface="宋体" panose="02010600030101010101" pitchFamily="2" charset="-122"/>
                      </a:rPr>
                      <m:t>)</m:t>
                    </m:r>
                  </m:oMath>
                </a14:m>
                <a:r>
                  <a:rPr lang="zh-CN" altLang="zh-CN" sz="1600" kern="100" dirty="0">
                    <a:latin typeface="Times New Roman" panose="02020603050405020304" pitchFamily="18" charset="0"/>
                    <a:ea typeface="宋体" panose="02010600030101010101" pitchFamily="2" charset="-122"/>
                  </a:rPr>
                  <a:t>的二次曲线，且实际与理论之间的误差极小可以忽略</a:t>
                </a:r>
                <a:endParaRPr lang="zh-CN" altLang="en-US" sz="1600" kern="100" dirty="0">
                  <a:latin typeface="Times New Roman" panose="02020603050405020304" pitchFamily="18" charset="0"/>
                  <a:ea typeface="宋体" panose="02010600030101010101" pitchFamily="2" charset="-122"/>
                </a:endParaRPr>
              </a:p>
            </p:txBody>
          </p:sp>
        </mc:Choice>
        <mc:Fallback xmlns="">
          <p:sp>
            <p:nvSpPr>
              <p:cNvPr id="9" name="文本框 8">
                <a:extLst>
                  <a:ext uri="{FF2B5EF4-FFF2-40B4-BE49-F238E27FC236}">
                    <a16:creationId xmlns:a16="http://schemas.microsoft.com/office/drawing/2014/main" id="{9E5E66A8-F474-4466-81CA-AF893B212E88}"/>
                  </a:ext>
                </a:extLst>
              </p:cNvPr>
              <p:cNvSpPr txBox="1">
                <a:spLocks noRot="1" noChangeAspect="1" noMove="1" noResize="1" noEditPoints="1" noAdjustHandles="1" noChangeArrowheads="1" noChangeShapeType="1" noTextEdit="1"/>
              </p:cNvSpPr>
              <p:nvPr/>
            </p:nvSpPr>
            <p:spPr>
              <a:xfrm>
                <a:off x="2544536" y="5624290"/>
                <a:ext cx="7102929" cy="651910"/>
              </a:xfrm>
              <a:prstGeom prst="rect">
                <a:avLst/>
              </a:prstGeom>
              <a:blipFill>
                <a:blip r:embed="rId3"/>
                <a:stretch>
                  <a:fillRect l="-858" t="-5607" b="-9346"/>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881D927F-76B1-46BD-978E-B0EC421A51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3691" y="2168894"/>
            <a:ext cx="6448309" cy="3432148"/>
          </a:xfrm>
          <a:prstGeom prst="rect">
            <a:avLst/>
          </a:prstGeom>
        </p:spPr>
      </p:pic>
      <p:graphicFrame>
        <p:nvGraphicFramePr>
          <p:cNvPr id="13" name="表格 12">
            <a:extLst>
              <a:ext uri="{FF2B5EF4-FFF2-40B4-BE49-F238E27FC236}">
                <a16:creationId xmlns:a16="http://schemas.microsoft.com/office/drawing/2014/main" id="{BCAC55D1-A323-4191-9F4D-2001EF26C1B6}"/>
              </a:ext>
            </a:extLst>
          </p:cNvPr>
          <p:cNvGraphicFramePr>
            <a:graphicFrameLocks noGrp="1"/>
          </p:cNvGraphicFramePr>
          <p:nvPr>
            <p:extLst>
              <p:ext uri="{D42A27DB-BD31-4B8C-83A1-F6EECF244321}">
                <p14:modId xmlns:p14="http://schemas.microsoft.com/office/powerpoint/2010/main" val="650710403"/>
              </p:ext>
            </p:extLst>
          </p:nvPr>
        </p:nvGraphicFramePr>
        <p:xfrm>
          <a:off x="593725" y="3037411"/>
          <a:ext cx="4740275" cy="1131539"/>
        </p:xfrm>
        <a:graphic>
          <a:graphicData uri="http://schemas.openxmlformats.org/drawingml/2006/table">
            <a:tbl>
              <a:tblPr>
                <a:tableStyleId>{5C22544A-7EE6-4342-B048-85BDC9FD1C3A}</a:tableStyleId>
              </a:tblPr>
              <a:tblGrid>
                <a:gridCol w="850553">
                  <a:extLst>
                    <a:ext uri="{9D8B030D-6E8A-4147-A177-3AD203B41FA5}">
                      <a16:colId xmlns:a16="http://schemas.microsoft.com/office/drawing/2014/main" val="3923280442"/>
                    </a:ext>
                  </a:extLst>
                </a:gridCol>
                <a:gridCol w="794097">
                  <a:extLst>
                    <a:ext uri="{9D8B030D-6E8A-4147-A177-3AD203B41FA5}">
                      <a16:colId xmlns:a16="http://schemas.microsoft.com/office/drawing/2014/main" val="3375427956"/>
                    </a:ext>
                  </a:extLst>
                </a:gridCol>
                <a:gridCol w="723900">
                  <a:extLst>
                    <a:ext uri="{9D8B030D-6E8A-4147-A177-3AD203B41FA5}">
                      <a16:colId xmlns:a16="http://schemas.microsoft.com/office/drawing/2014/main" val="1597309360"/>
                    </a:ext>
                  </a:extLst>
                </a:gridCol>
                <a:gridCol w="781050">
                  <a:extLst>
                    <a:ext uri="{9D8B030D-6E8A-4147-A177-3AD203B41FA5}">
                      <a16:colId xmlns:a16="http://schemas.microsoft.com/office/drawing/2014/main" val="3657436512"/>
                    </a:ext>
                  </a:extLst>
                </a:gridCol>
                <a:gridCol w="802358">
                  <a:extLst>
                    <a:ext uri="{9D8B030D-6E8A-4147-A177-3AD203B41FA5}">
                      <a16:colId xmlns:a16="http://schemas.microsoft.com/office/drawing/2014/main" val="2077859395"/>
                    </a:ext>
                  </a:extLst>
                </a:gridCol>
                <a:gridCol w="788317">
                  <a:extLst>
                    <a:ext uri="{9D8B030D-6E8A-4147-A177-3AD203B41FA5}">
                      <a16:colId xmlns:a16="http://schemas.microsoft.com/office/drawing/2014/main" val="1568899430"/>
                    </a:ext>
                  </a:extLst>
                </a:gridCol>
              </a:tblGrid>
              <a:tr h="262859">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规模</a:t>
                      </a:r>
                      <a:r>
                        <a:rPr lang="en-US" sz="14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20w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30w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40w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50w</a:t>
                      </a:r>
                    </a:p>
                  </a:txBody>
                  <a:tcPr marL="7620" marR="7620" marT="7620" marB="0" anchor="b">
                    <a:solidFill>
                      <a:srgbClr val="0070C0"/>
                    </a:solidFill>
                  </a:tcPr>
                </a:tc>
                <a:extLst>
                  <a:ext uri="{0D108BD9-81ED-4DB2-BD59-A6C34878D82A}">
                    <a16:rowId xmlns:a16="http://schemas.microsoft.com/office/drawing/2014/main" val="1690249249"/>
                  </a:ext>
                </a:extLst>
              </a:tr>
              <a:tr h="262859">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实际时间</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39,265</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154,440</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355,893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632,109</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978,329</a:t>
                      </a:r>
                    </a:p>
                  </a:txBody>
                  <a:tcPr marL="7620" marR="7620" marT="7620" marB="0" anchor="b">
                    <a:solidFill>
                      <a:srgbClr val="79D6F3"/>
                    </a:solidFill>
                  </a:tcPr>
                </a:tc>
                <a:extLst>
                  <a:ext uri="{0D108BD9-81ED-4DB2-BD59-A6C34878D82A}">
                    <a16:rowId xmlns:a16="http://schemas.microsoft.com/office/drawing/2014/main" val="4163239863"/>
                  </a:ext>
                </a:extLst>
              </a:tr>
              <a:tr h="262859">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理论时间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39,265</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157,063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353,392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628,253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981,646</a:t>
                      </a:r>
                    </a:p>
                  </a:txBody>
                  <a:tcPr marL="7620" marR="7620" marT="7620" marB="0" anchor="b">
                    <a:solidFill>
                      <a:srgbClr val="79D6F3"/>
                    </a:solidFill>
                  </a:tcPr>
                </a:tc>
                <a:extLst>
                  <a:ext uri="{0D108BD9-81ED-4DB2-BD59-A6C34878D82A}">
                    <a16:rowId xmlns:a16="http://schemas.microsoft.com/office/drawing/2014/main" val="2447188954"/>
                  </a:ext>
                </a:extLst>
              </a:tr>
            </a:tbl>
          </a:graphicData>
        </a:graphic>
      </p:graphicFrame>
    </p:spTree>
    <p:extLst>
      <p:ext uri="{BB962C8B-B14F-4D97-AF65-F5344CB8AC3E}">
        <p14:creationId xmlns:p14="http://schemas.microsoft.com/office/powerpoint/2010/main" val="306247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1" y="293614"/>
            <a:ext cx="7735091" cy="564054"/>
          </a:xfrm>
        </p:spPr>
        <p:txBody>
          <a:bodyPr>
            <a:noAutofit/>
          </a:bodyPr>
          <a:lstStyle/>
          <a:p>
            <a:r>
              <a:rPr lang="zh-CN" altLang="en-US" sz="3200" b="1" dirty="0">
                <a:latin typeface="+mn-lt"/>
                <a:ea typeface="+mn-ea"/>
                <a:cs typeface="+mn-cs"/>
              </a:rPr>
              <a:t>冒泡排序、选择排序、插入排序</a:t>
            </a:r>
          </a:p>
        </p:txBody>
      </p:sp>
      <p:sp>
        <p:nvSpPr>
          <p:cNvPr id="11" name="文本框 10">
            <a:extLst>
              <a:ext uri="{FF2B5EF4-FFF2-40B4-BE49-F238E27FC236}">
                <a16:creationId xmlns:a16="http://schemas.microsoft.com/office/drawing/2014/main" id="{CC59A5AC-0BC8-43F2-912E-C422D53A448A}"/>
              </a:ext>
            </a:extLst>
          </p:cNvPr>
          <p:cNvSpPr txBox="1"/>
          <p:nvPr/>
        </p:nvSpPr>
        <p:spPr>
          <a:xfrm>
            <a:off x="988978" y="1961989"/>
            <a:ext cx="6097554" cy="338554"/>
          </a:xfrm>
          <a:prstGeom prst="rect">
            <a:avLst/>
          </a:prstGeom>
          <a:noFill/>
        </p:spPr>
        <p:txBody>
          <a:bodyPr wrap="square">
            <a:spAutoFit/>
          </a:bodyPr>
          <a:lstStyle/>
          <a:p>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三种排序</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不同规模</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b="1" kern="100" dirty="0">
                <a:effectLst/>
                <a:latin typeface="Times New Roman" panose="02020603050405020304" pitchFamily="18" charset="0"/>
                <a:ea typeface="宋体" panose="02010600030101010101" pitchFamily="2" charset="-122"/>
                <a:cs typeface="Times New Roman" panose="02020603050405020304" pitchFamily="18" charset="0"/>
              </a:rPr>
              <a:t>的实际运行时间</a:t>
            </a:r>
            <a:r>
              <a:rPr lang="zh-CN" altLang="en-US" sz="1600" b="1"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b="1"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5275544-816E-4CA1-95ED-D3C3B61F8AAB}"/>
                  </a:ext>
                </a:extLst>
              </p:cNvPr>
              <p:cNvSpPr txBox="1"/>
              <p:nvPr/>
            </p:nvSpPr>
            <p:spPr>
              <a:xfrm>
                <a:off x="390363" y="976897"/>
                <a:ext cx="3183261" cy="509178"/>
              </a:xfrm>
              <a:prstGeom prst="rect">
                <a:avLst/>
              </a:prstGeom>
              <a:noFill/>
            </p:spPr>
            <p:txBody>
              <a:bodyPr wrap="square" rtlCol="0">
                <a:spAutoFit/>
              </a:bodyPr>
              <a:lstStyle/>
              <a:p>
                <a14:m>
                  <m:oMath xmlns:m="http://schemas.openxmlformats.org/officeDocument/2006/math">
                    <m:r>
                      <a:rPr lang="x-none" altLang="zh-CN" sz="2400" b="1">
                        <a:latin typeface="Cambria Math" panose="02040503050406030204" pitchFamily="18" charset="0"/>
                      </a:rPr>
                      <m:t>𝑂</m:t>
                    </m:r>
                    <m:d>
                      <m:dPr>
                        <m:ctrlPr>
                          <a:rPr lang="zh-CN" altLang="zh-CN" sz="2400" b="1" i="1">
                            <a:latin typeface="Cambria Math" panose="02040503050406030204" pitchFamily="18" charset="0"/>
                          </a:rPr>
                        </m:ctrlPr>
                      </m:dPr>
                      <m:e>
                        <m:sSup>
                          <m:sSupPr>
                            <m:ctrlPr>
                              <a:rPr lang="zh-CN" altLang="zh-CN" sz="2400" b="1" i="1">
                                <a:latin typeface="Cambria Math" panose="02040503050406030204" pitchFamily="18" charset="0"/>
                              </a:rPr>
                            </m:ctrlPr>
                          </m:sSupPr>
                          <m:e>
                            <m:r>
                              <a:rPr lang="x-none" altLang="zh-CN" sz="2400" b="1">
                                <a:latin typeface="Cambria Math" panose="02040503050406030204" pitchFamily="18" charset="0"/>
                              </a:rPr>
                              <m:t>𝑛</m:t>
                            </m:r>
                          </m:e>
                          <m:sup>
                            <m:r>
                              <a:rPr lang="x-none" altLang="zh-CN" sz="2400" b="1">
                                <a:latin typeface="Cambria Math" panose="02040503050406030204" pitchFamily="18" charset="0"/>
                              </a:rPr>
                              <m:t>2</m:t>
                            </m:r>
                          </m:sup>
                        </m:sSup>
                      </m:e>
                    </m:d>
                  </m:oMath>
                </a14:m>
                <a:r>
                  <a:rPr lang="zh-CN" altLang="en-US" sz="2400" b="1" dirty="0"/>
                  <a:t>比较分析</a:t>
                </a:r>
              </a:p>
            </p:txBody>
          </p:sp>
        </mc:Choice>
        <mc:Fallback xmlns="">
          <p:sp>
            <p:nvSpPr>
              <p:cNvPr id="12" name="文本框 11">
                <a:extLst>
                  <a:ext uri="{FF2B5EF4-FFF2-40B4-BE49-F238E27FC236}">
                    <a16:creationId xmlns:a16="http://schemas.microsoft.com/office/drawing/2014/main" id="{C5275544-816E-4CA1-95ED-D3C3B61F8AAB}"/>
                  </a:ext>
                </a:extLst>
              </p:cNvPr>
              <p:cNvSpPr txBox="1">
                <a:spLocks noRot="1" noChangeAspect="1" noMove="1" noResize="1" noEditPoints="1" noAdjustHandles="1" noChangeArrowheads="1" noChangeShapeType="1" noTextEdit="1"/>
              </p:cNvSpPr>
              <p:nvPr/>
            </p:nvSpPr>
            <p:spPr>
              <a:xfrm>
                <a:off x="390363" y="976897"/>
                <a:ext cx="3183261" cy="509178"/>
              </a:xfrm>
              <a:prstGeom prst="rect">
                <a:avLst/>
              </a:prstGeom>
              <a:blipFill>
                <a:blip r:embed="rId3"/>
                <a:stretch>
                  <a:fillRect t="-2381" b="-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31A12D7-E503-4580-99C9-7B80CAEE8C25}"/>
                  </a:ext>
                </a:extLst>
              </p:cNvPr>
              <p:cNvSpPr txBox="1"/>
              <p:nvPr/>
            </p:nvSpPr>
            <p:spPr>
              <a:xfrm>
                <a:off x="1981993" y="5661525"/>
                <a:ext cx="8879295" cy="1138773"/>
              </a:xfrm>
              <a:prstGeom prst="rect">
                <a:avLst/>
              </a:prstGeom>
              <a:noFill/>
            </p:spPr>
            <p:txBody>
              <a:bodyPr wrap="square">
                <a:spAutoFit/>
              </a:bodyPr>
              <a:lstStyle/>
              <a:p>
                <a:pPr marL="266700" algn="just"/>
                <a:r>
                  <a:rPr lang="zh-CN" altLang="en-US" sz="2000" b="1" kern="100" dirty="0">
                    <a:effectLst/>
                    <a:latin typeface="Times New Roman" panose="02020603050405020304" pitchFamily="18" charset="0"/>
                    <a:ea typeface="宋体" panose="02010600030101010101" pitchFamily="2" charset="-122"/>
                  </a:rPr>
                  <a:t>结论：</a:t>
                </a:r>
                <a:r>
                  <a:rPr lang="zh-CN" altLang="zh-CN" sz="1600" kern="100" dirty="0">
                    <a:effectLst/>
                    <a:latin typeface="Times New Roman" panose="02020603050405020304" pitchFamily="18" charset="0"/>
                    <a:ea typeface="宋体" panose="02010600030101010101" pitchFamily="2" charset="-122"/>
                  </a:rPr>
                  <a:t>插入排序和选择排序在实际和理论</a:t>
                </a:r>
                <a:r>
                  <a:rPr lang="zh-CN" altLang="en-US" sz="1600" kern="100" dirty="0">
                    <a:latin typeface="Times New Roman" panose="02020603050405020304" pitchFamily="18" charset="0"/>
                    <a:ea typeface="宋体" panose="02010600030101010101" pitchFamily="2" charset="-122"/>
                  </a:rPr>
                  <a:t>时间</a:t>
                </a:r>
                <a:r>
                  <a:rPr lang="zh-CN" altLang="zh-CN" sz="1600" kern="100" dirty="0">
                    <a:effectLst/>
                    <a:latin typeface="Times New Roman" panose="02020603050405020304" pitchFamily="18" charset="0"/>
                    <a:ea typeface="宋体" panose="02010600030101010101" pitchFamily="2" charset="-122"/>
                  </a:rPr>
                  <a:t>效率下几乎完全贴合、之间差距</a:t>
                </a:r>
              </a:p>
              <a:p>
                <a:pPr algn="just"/>
                <a:r>
                  <a:rPr lang="zh-CN" altLang="zh-CN" sz="1600" kern="100" dirty="0">
                    <a:effectLst/>
                    <a:latin typeface="Times New Roman" panose="02020603050405020304" pitchFamily="18" charset="0"/>
                    <a:ea typeface="宋体" panose="02010600030101010101" pitchFamily="2" charset="-122"/>
                  </a:rPr>
                  <a:t>极小。冒泡排序与选择、插入排序的时间开销间差距也随之越来越大。</a:t>
                </a:r>
              </a:p>
              <a:p>
                <a:pPr marL="266700" indent="-266700" algn="just"/>
                <a:r>
                  <a:rPr lang="x-none" altLang="zh-CN" sz="1600" kern="100" dirty="0">
                    <a:effectLst/>
                    <a:latin typeface="Times New Roman" panose="02020603050405020304" pitchFamily="18" charset="0"/>
                    <a:ea typeface="宋体" panose="02010600030101010101" pitchFamily="2" charset="-122"/>
                  </a:rPr>
                  <a:t>    </a:t>
                </a:r>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所以，在时间复杂度均为</a:t>
                </a:r>
                <a14:m>
                  <m:oMath xmlns:m="http://schemas.openxmlformats.org/officeDocument/2006/math">
                    <m:r>
                      <a:rPr lang="x-none" altLang="zh-CN" sz="1600" i="1" kern="100">
                        <a:effectLst/>
                        <a:latin typeface="Cambria Math" panose="02040503050406030204" pitchFamily="18" charset="0"/>
                        <a:ea typeface="宋体" panose="02010600030101010101" pitchFamily="2" charset="-122"/>
                      </a:rPr>
                      <m:t>𝑂</m:t>
                    </m:r>
                    <m:d>
                      <m:dPr>
                        <m:ctrlPr>
                          <a:rPr lang="zh-CN" altLang="zh-CN" sz="1600" i="1" kern="100">
                            <a:effectLst/>
                            <a:latin typeface="Cambria Math" panose="02040503050406030204" pitchFamily="18" charset="0"/>
                            <a:ea typeface="Cambria Math" panose="02040503050406030204" pitchFamily="18" charset="0"/>
                          </a:rPr>
                        </m:ctrlPr>
                      </m:dPr>
                      <m:e>
                        <m:sSup>
                          <m:sSupPr>
                            <m:ctrlPr>
                              <a:rPr lang="zh-CN" altLang="zh-CN" sz="1600" i="1" kern="100">
                                <a:effectLst/>
                                <a:latin typeface="Cambria Math" panose="02040503050406030204" pitchFamily="18" charset="0"/>
                                <a:ea typeface="Cambria Math" panose="02040503050406030204" pitchFamily="18" charset="0"/>
                              </a:rPr>
                            </m:ctrlPr>
                          </m:sSupPr>
                          <m:e>
                            <m:r>
                              <a:rPr lang="x-none" altLang="zh-CN" sz="1600" i="1" kern="100">
                                <a:effectLst/>
                                <a:latin typeface="Cambria Math" panose="02040503050406030204" pitchFamily="18" charset="0"/>
                                <a:ea typeface="宋体" panose="02010600030101010101" pitchFamily="2" charset="-122"/>
                              </a:rPr>
                              <m:t>𝑛</m:t>
                            </m:r>
                          </m:e>
                          <m:sup>
                            <m:r>
                              <a:rPr lang="x-none" altLang="zh-CN" sz="1600" kern="100">
                                <a:effectLst/>
                                <a:latin typeface="Cambria Math" panose="02040503050406030204" pitchFamily="18" charset="0"/>
                                <a:ea typeface="宋体" panose="02010600030101010101" pitchFamily="2" charset="-122"/>
                              </a:rPr>
                              <m:t>2</m:t>
                            </m:r>
                          </m:sup>
                        </m:sSup>
                      </m:e>
                    </m:d>
                  </m:oMath>
                </a14:m>
                <a:r>
                  <a:rPr lang="zh-CN" altLang="zh-CN" sz="1600" kern="100" dirty="0">
                    <a:effectLst/>
                    <a:latin typeface="Times New Roman" panose="02020603050405020304" pitchFamily="18" charset="0"/>
                    <a:ea typeface="宋体" panose="02010600030101010101" pitchFamily="2" charset="-122"/>
                  </a:rPr>
                  <a:t>下，冒泡排序的效率比选择、插入排序低得多，选择排序和插</a:t>
                </a:r>
                <a:endParaRPr lang="en-US" altLang="zh-CN" sz="1600" kern="100" dirty="0">
                  <a:effectLst/>
                  <a:latin typeface="Times New Roman" panose="02020603050405020304" pitchFamily="18" charset="0"/>
                  <a:ea typeface="宋体" panose="02010600030101010101" pitchFamily="2" charset="-122"/>
                </a:endParaRPr>
              </a:p>
              <a:p>
                <a:pPr marL="266700" indent="-266700" algn="just"/>
                <a:r>
                  <a:rPr lang="zh-CN" altLang="zh-CN" sz="1600" kern="100" dirty="0">
                    <a:effectLst/>
                    <a:latin typeface="Times New Roman" panose="02020603050405020304" pitchFamily="18" charset="0"/>
                    <a:ea typeface="宋体" panose="02010600030101010101" pitchFamily="2" charset="-122"/>
                  </a:rPr>
                  <a:t>入排序之间的效率相当。</a:t>
                </a:r>
              </a:p>
            </p:txBody>
          </p:sp>
        </mc:Choice>
        <mc:Fallback xmlns="">
          <p:sp>
            <p:nvSpPr>
              <p:cNvPr id="16" name="文本框 15">
                <a:extLst>
                  <a:ext uri="{FF2B5EF4-FFF2-40B4-BE49-F238E27FC236}">
                    <a16:creationId xmlns:a16="http://schemas.microsoft.com/office/drawing/2014/main" id="{931A12D7-E503-4580-99C9-7B80CAEE8C25}"/>
                  </a:ext>
                </a:extLst>
              </p:cNvPr>
              <p:cNvSpPr txBox="1">
                <a:spLocks noRot="1" noChangeAspect="1" noMove="1" noResize="1" noEditPoints="1" noAdjustHandles="1" noChangeArrowheads="1" noChangeShapeType="1" noTextEdit="1"/>
              </p:cNvSpPr>
              <p:nvPr/>
            </p:nvSpPr>
            <p:spPr>
              <a:xfrm>
                <a:off x="1981993" y="5661525"/>
                <a:ext cx="8879295" cy="1138773"/>
              </a:xfrm>
              <a:prstGeom prst="rect">
                <a:avLst/>
              </a:prstGeom>
              <a:blipFill>
                <a:blip r:embed="rId5"/>
                <a:stretch>
                  <a:fillRect l="-343" t="-3743" b="-534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42A97512-378C-40C9-B655-DA6DD6D67D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9771" y="1931543"/>
            <a:ext cx="6084602" cy="3255075"/>
          </a:xfrm>
          <a:prstGeom prst="rect">
            <a:avLst/>
          </a:prstGeom>
        </p:spPr>
      </p:pic>
      <p:graphicFrame>
        <p:nvGraphicFramePr>
          <p:cNvPr id="6" name="表格 5">
            <a:extLst>
              <a:ext uri="{FF2B5EF4-FFF2-40B4-BE49-F238E27FC236}">
                <a16:creationId xmlns:a16="http://schemas.microsoft.com/office/drawing/2014/main" id="{BAAFE901-0A57-4B45-B50E-71EEA14A8F58}"/>
              </a:ext>
            </a:extLst>
          </p:cNvPr>
          <p:cNvGraphicFramePr>
            <a:graphicFrameLocks noGrp="1"/>
          </p:cNvGraphicFramePr>
          <p:nvPr>
            <p:extLst>
              <p:ext uri="{D42A27DB-BD31-4B8C-83A1-F6EECF244321}">
                <p14:modId xmlns:p14="http://schemas.microsoft.com/office/powerpoint/2010/main" val="850696932"/>
              </p:ext>
            </p:extLst>
          </p:nvPr>
        </p:nvGraphicFramePr>
        <p:xfrm>
          <a:off x="306045" y="2476097"/>
          <a:ext cx="5334002" cy="2081361"/>
        </p:xfrm>
        <a:graphic>
          <a:graphicData uri="http://schemas.openxmlformats.org/drawingml/2006/table">
            <a:tbl>
              <a:tblPr>
                <a:tableStyleId>{5C22544A-7EE6-4342-B048-85BDC9FD1C3A}</a:tableStyleId>
              </a:tblPr>
              <a:tblGrid>
                <a:gridCol w="748631">
                  <a:extLst>
                    <a:ext uri="{9D8B030D-6E8A-4147-A177-3AD203B41FA5}">
                      <a16:colId xmlns:a16="http://schemas.microsoft.com/office/drawing/2014/main" val="2062106782"/>
                    </a:ext>
                  </a:extLst>
                </a:gridCol>
                <a:gridCol w="889001">
                  <a:extLst>
                    <a:ext uri="{9D8B030D-6E8A-4147-A177-3AD203B41FA5}">
                      <a16:colId xmlns:a16="http://schemas.microsoft.com/office/drawing/2014/main" val="4260179738"/>
                    </a:ext>
                  </a:extLst>
                </a:gridCol>
                <a:gridCol w="873403">
                  <a:extLst>
                    <a:ext uri="{9D8B030D-6E8A-4147-A177-3AD203B41FA5}">
                      <a16:colId xmlns:a16="http://schemas.microsoft.com/office/drawing/2014/main" val="2519574514"/>
                    </a:ext>
                  </a:extLst>
                </a:gridCol>
                <a:gridCol w="966983">
                  <a:extLst>
                    <a:ext uri="{9D8B030D-6E8A-4147-A177-3AD203B41FA5}">
                      <a16:colId xmlns:a16="http://schemas.microsoft.com/office/drawing/2014/main" val="1965453469"/>
                    </a:ext>
                  </a:extLst>
                </a:gridCol>
                <a:gridCol w="966983">
                  <a:extLst>
                    <a:ext uri="{9D8B030D-6E8A-4147-A177-3AD203B41FA5}">
                      <a16:colId xmlns:a16="http://schemas.microsoft.com/office/drawing/2014/main" val="3399137565"/>
                    </a:ext>
                  </a:extLst>
                </a:gridCol>
                <a:gridCol w="889001">
                  <a:extLst>
                    <a:ext uri="{9D8B030D-6E8A-4147-A177-3AD203B41FA5}">
                      <a16:colId xmlns:a16="http://schemas.microsoft.com/office/drawing/2014/main" val="315669372"/>
                    </a:ext>
                  </a:extLst>
                </a:gridCol>
              </a:tblGrid>
              <a:tr h="301797">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规模</a:t>
                      </a:r>
                      <a:r>
                        <a:rPr lang="en-US" sz="14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20w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30w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40w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50w</a:t>
                      </a:r>
                    </a:p>
                  </a:txBody>
                  <a:tcPr marL="7620" marR="7620" marT="7620" marB="0" anchor="b">
                    <a:solidFill>
                      <a:srgbClr val="0070C0"/>
                    </a:solidFill>
                  </a:tcPr>
                </a:tc>
                <a:extLst>
                  <a:ext uri="{0D108BD9-81ED-4DB2-BD59-A6C34878D82A}">
                    <a16:rowId xmlns:a16="http://schemas.microsoft.com/office/drawing/2014/main" val="1317256382"/>
                  </a:ext>
                </a:extLst>
              </a:tr>
              <a:tr h="593188">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冒泡排序</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74,644</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299,253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673,435</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1,195,647</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1,867,469</a:t>
                      </a:r>
                    </a:p>
                  </a:txBody>
                  <a:tcPr marL="7620" marR="7620" marT="7620" marB="0" anchor="b">
                    <a:solidFill>
                      <a:srgbClr val="79D6F3"/>
                    </a:solidFill>
                  </a:tcPr>
                </a:tc>
                <a:extLst>
                  <a:ext uri="{0D108BD9-81ED-4DB2-BD59-A6C34878D82A}">
                    <a16:rowId xmlns:a16="http://schemas.microsoft.com/office/drawing/2014/main" val="2545454811"/>
                  </a:ext>
                </a:extLst>
              </a:tr>
              <a:tr h="593188">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选择排序</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39,268</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156,652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352,310</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631,552</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989,854</a:t>
                      </a:r>
                    </a:p>
                  </a:txBody>
                  <a:tcPr marL="7620" marR="7620" marT="7620" marB="0" anchor="b">
                    <a:solidFill>
                      <a:srgbClr val="79D6F3"/>
                    </a:solidFill>
                  </a:tcPr>
                </a:tc>
                <a:extLst>
                  <a:ext uri="{0D108BD9-81ED-4DB2-BD59-A6C34878D82A}">
                    <a16:rowId xmlns:a16="http://schemas.microsoft.com/office/drawing/2014/main" val="3651185414"/>
                  </a:ext>
                </a:extLst>
              </a:tr>
              <a:tr h="593188">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插入排序</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39,266</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154,440</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355,893</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632,109</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978,330</a:t>
                      </a:r>
                    </a:p>
                  </a:txBody>
                  <a:tcPr marL="7620" marR="7620" marT="7620" marB="0" anchor="b">
                    <a:solidFill>
                      <a:srgbClr val="79D6F3"/>
                    </a:solidFill>
                  </a:tcPr>
                </a:tc>
                <a:extLst>
                  <a:ext uri="{0D108BD9-81ED-4DB2-BD59-A6C34878D82A}">
                    <a16:rowId xmlns:a16="http://schemas.microsoft.com/office/drawing/2014/main" val="1400593681"/>
                  </a:ext>
                </a:extLst>
              </a:tr>
            </a:tbl>
          </a:graphicData>
        </a:graphic>
      </p:graphicFrame>
    </p:spTree>
    <p:extLst>
      <p:ext uri="{BB962C8B-B14F-4D97-AF65-F5344CB8AC3E}">
        <p14:creationId xmlns:p14="http://schemas.microsoft.com/office/powerpoint/2010/main" val="427099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zh-CN" altLang="en-US" sz="3200" b="1" dirty="0">
                <a:latin typeface="+mn-lt"/>
                <a:ea typeface="+mn-ea"/>
                <a:cs typeface="+mn-cs"/>
              </a:rPr>
              <a:t>快速排序、归并排序</a:t>
            </a:r>
          </a:p>
        </p:txBody>
      </p:sp>
      <p:sp>
        <p:nvSpPr>
          <p:cNvPr id="4" name="文本框 3">
            <a:extLst>
              <a:ext uri="{FF2B5EF4-FFF2-40B4-BE49-F238E27FC236}">
                <a16:creationId xmlns:a16="http://schemas.microsoft.com/office/drawing/2014/main" id="{99753B6C-E00E-4A54-A6F4-F2F0A0B0C97D}"/>
              </a:ext>
            </a:extLst>
          </p:cNvPr>
          <p:cNvSpPr txBox="1"/>
          <p:nvPr/>
        </p:nvSpPr>
        <p:spPr>
          <a:xfrm>
            <a:off x="1942712" y="1352080"/>
            <a:ext cx="8306577" cy="1692771"/>
          </a:xfrm>
          <a:prstGeom prst="rect">
            <a:avLst/>
          </a:prstGeom>
          <a:noFill/>
        </p:spPr>
        <p:txBody>
          <a:bodyPr wrap="square">
            <a:spAutoFit/>
          </a:bodyPr>
          <a:lstStyle/>
          <a:p>
            <a:pPr lvl="0" algn="just"/>
            <a:r>
              <a:rPr lang="zh-CN" altLang="zh-CN" sz="2000" b="1" kern="100" dirty="0">
                <a:effectLst/>
                <a:latin typeface="Times New Roman" panose="02020603050405020304" pitchFamily="18" charset="0"/>
                <a:ea typeface="宋体" panose="02010600030101010101" pitchFamily="2" charset="-122"/>
              </a:rPr>
              <a:t>算法原理：</a:t>
            </a:r>
            <a:endParaRPr lang="zh-CN" altLang="zh-CN" sz="2000" kern="100" dirty="0">
              <a:effectLst/>
              <a:latin typeface="Times New Roman" panose="02020603050405020304" pitchFamily="18" charset="0"/>
              <a:ea typeface="宋体" panose="02010600030101010101" pitchFamily="2" charset="-122"/>
            </a:endParaRPr>
          </a:p>
          <a:p>
            <a:pPr marL="742950" lvl="1" indent="-285750" algn="just">
              <a:buFont typeface="Wingdings" panose="05000000000000000000" pitchFamily="2" charset="2"/>
              <a:buChar char=""/>
            </a:pPr>
            <a:r>
              <a:rPr lang="x-none" altLang="zh-CN" sz="1400" kern="100" dirty="0">
                <a:effectLst/>
                <a:latin typeface="宋体" panose="02010600030101010101" pitchFamily="2" charset="-122"/>
                <a:ea typeface="宋体" panose="02010600030101010101" pitchFamily="2" charset="-122"/>
              </a:rPr>
              <a:t>任取待排序记录序列中的某个记录</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例如取第一个记录</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作为基准</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枢</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按照该记录的关键字大小</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将整个记录序列划分为左右两个子序列：</a:t>
            </a:r>
            <a:r>
              <a:rPr lang="x-none"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marL="742950" lvl="1" indent="-285750" algn="just">
              <a:buFont typeface="Wingdings" panose="05000000000000000000" pitchFamily="2" charset="2"/>
              <a:buChar char=""/>
            </a:pPr>
            <a:r>
              <a:rPr lang="x-none" altLang="zh-CN" sz="1400" kern="100" dirty="0">
                <a:effectLst/>
                <a:latin typeface="宋体" panose="02010600030101010101" pitchFamily="2" charset="-122"/>
                <a:ea typeface="宋体" panose="02010600030101010101" pitchFamily="2" charset="-122"/>
              </a:rPr>
              <a:t>左侧子序列中所有记录的关键字都小于或等于基准记录的关键字</a:t>
            </a:r>
            <a:r>
              <a:rPr lang="x-none" altLang="zh-CN" sz="1400" kern="100" dirty="0">
                <a:effectLst/>
                <a:latin typeface="Times New Roman" panose="02020603050405020304" pitchFamily="18" charset="0"/>
                <a:ea typeface="宋体" panose="02010600030101010101" pitchFamily="2" charset="-122"/>
              </a:rPr>
              <a:t> </a:t>
            </a:r>
            <a:endParaRPr lang="zh-CN" altLang="zh-CN" sz="1400" kern="100" dirty="0">
              <a:effectLst/>
              <a:latin typeface="Times New Roman" panose="02020603050405020304" pitchFamily="18" charset="0"/>
              <a:ea typeface="宋体" panose="02010600030101010101" pitchFamily="2" charset="-122"/>
            </a:endParaRPr>
          </a:p>
          <a:p>
            <a:pPr marL="742950" lvl="1" indent="-285750" algn="just">
              <a:buFont typeface="Wingdings" panose="05000000000000000000" pitchFamily="2" charset="2"/>
              <a:buChar char=""/>
            </a:pPr>
            <a:r>
              <a:rPr lang="x-none" altLang="zh-CN" sz="1400" kern="100" dirty="0">
                <a:effectLst/>
                <a:latin typeface="宋体" panose="02010600030101010101" pitchFamily="2" charset="-122"/>
                <a:ea typeface="宋体" panose="02010600030101010101" pitchFamily="2" charset="-122"/>
              </a:rPr>
              <a:t>右侧子序列中所有记录的关键字都大于基准记录的关键字</a:t>
            </a:r>
            <a:endParaRPr lang="zh-CN" altLang="zh-CN" sz="1400" kern="100" dirty="0">
              <a:effectLst/>
              <a:latin typeface="Times New Roman" panose="02020603050405020304" pitchFamily="18" charset="0"/>
              <a:ea typeface="宋体" panose="02010600030101010101" pitchFamily="2" charset="-122"/>
            </a:endParaRPr>
          </a:p>
          <a:p>
            <a:pPr marL="742950" lvl="1" indent="-285750" algn="just">
              <a:buFont typeface="Wingdings" panose="05000000000000000000" pitchFamily="2" charset="2"/>
              <a:buChar char=""/>
            </a:pPr>
            <a:r>
              <a:rPr lang="x-none" altLang="zh-CN" sz="1400" kern="100" dirty="0">
                <a:effectLst/>
                <a:latin typeface="宋体" panose="02010600030101010101" pitchFamily="2" charset="-122"/>
                <a:ea typeface="宋体" panose="02010600030101010101" pitchFamily="2" charset="-122"/>
              </a:rPr>
              <a:t>基准记录则排在这两个子序列中间</a:t>
            </a:r>
            <a:r>
              <a:rPr lang="en-US" altLang="zh-CN" sz="1400" kern="100" dirty="0">
                <a:effectLst/>
                <a:latin typeface="Times New Roman" panose="02020603050405020304" pitchFamily="18" charset="0"/>
                <a:ea typeface="宋体" panose="02010600030101010101" pitchFamily="2" charset="-122"/>
              </a:rPr>
              <a:t>(</a:t>
            </a:r>
            <a:r>
              <a:rPr lang="x-none" altLang="zh-CN" sz="1400" kern="100" dirty="0">
                <a:effectLst/>
                <a:latin typeface="宋体" panose="02010600030101010101" pitchFamily="2" charset="-122"/>
                <a:ea typeface="宋体" panose="02010600030101010101" pitchFamily="2" charset="-122"/>
              </a:rPr>
              <a:t>这也是该记录最终应安放的位置</a:t>
            </a:r>
            <a:r>
              <a:rPr lang="en-US" altLang="zh-CN" sz="1400" kern="100" dirty="0">
                <a:effectLst/>
                <a:latin typeface="Times New Roman" panose="02020603050405020304" pitchFamily="18" charset="0"/>
                <a:ea typeface="宋体" panose="02010600030101010101" pitchFamily="2" charset="-122"/>
              </a:rPr>
              <a:t>)</a:t>
            </a:r>
            <a:endParaRPr lang="zh-CN" altLang="zh-CN" sz="1400" kern="100" dirty="0">
              <a:effectLst/>
              <a:latin typeface="Times New Roman" panose="02020603050405020304" pitchFamily="18" charset="0"/>
              <a:ea typeface="宋体" panose="02010600030101010101" pitchFamily="2" charset="-122"/>
            </a:endParaRPr>
          </a:p>
          <a:p>
            <a:pPr marL="742950" lvl="1" indent="-285750" algn="just">
              <a:buFont typeface="Wingdings" panose="05000000000000000000" pitchFamily="2" charset="2"/>
              <a:buChar char=""/>
            </a:pPr>
            <a:r>
              <a:rPr lang="x-none" altLang="zh-CN" sz="1400" kern="100" dirty="0">
                <a:effectLst/>
                <a:latin typeface="宋体" panose="02010600030101010101" pitchFamily="2" charset="-122"/>
                <a:ea typeface="宋体" panose="02010600030101010101" pitchFamily="2" charset="-122"/>
              </a:rPr>
              <a:t>然后分别对这两个子序列重复施行上述方法，直到所有的记录都排在相应位置上为止</a:t>
            </a:r>
            <a:endParaRPr lang="zh-CN" altLang="zh-CN" sz="1400" kern="1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ED210E79-3C10-453A-9BD7-BE24D9180F08}"/>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快速排序</a:t>
            </a:r>
          </a:p>
        </p:txBody>
      </p:sp>
      <p:pic>
        <p:nvPicPr>
          <p:cNvPr id="6" name="图片 5">
            <a:extLst>
              <a:ext uri="{FF2B5EF4-FFF2-40B4-BE49-F238E27FC236}">
                <a16:creationId xmlns:a16="http://schemas.microsoft.com/office/drawing/2014/main" id="{429D3889-193C-41E8-B546-DD0EC3A4F466}"/>
              </a:ext>
            </a:extLst>
          </p:cNvPr>
          <p:cNvPicPr/>
          <p:nvPr/>
        </p:nvPicPr>
        <p:blipFill>
          <a:blip r:embed="rId2"/>
          <a:stretch>
            <a:fillRect/>
          </a:stretch>
        </p:blipFill>
        <p:spPr>
          <a:xfrm>
            <a:off x="502330" y="3210465"/>
            <a:ext cx="4452226" cy="3163077"/>
          </a:xfrm>
          <a:prstGeom prst="rect">
            <a:avLst/>
          </a:prstGeom>
        </p:spPr>
      </p:pic>
      <p:pic>
        <p:nvPicPr>
          <p:cNvPr id="7" name="图片 6">
            <a:extLst>
              <a:ext uri="{FF2B5EF4-FFF2-40B4-BE49-F238E27FC236}">
                <a16:creationId xmlns:a16="http://schemas.microsoft.com/office/drawing/2014/main" id="{8900663C-25D9-453B-8407-30D19FB22A3E}"/>
              </a:ext>
            </a:extLst>
          </p:cNvPr>
          <p:cNvPicPr/>
          <p:nvPr/>
        </p:nvPicPr>
        <p:blipFill>
          <a:blip r:embed="rId3">
            <a:extLst>
              <a:ext uri="{28A0092B-C50C-407E-A947-70E740481C1C}">
                <a14:useLocalDpi xmlns:a14="http://schemas.microsoft.com/office/drawing/2010/main" val="0"/>
              </a:ext>
            </a:extLst>
          </a:blip>
          <a:srcRect l="8786" t="3615" r="8786" b="3612"/>
          <a:stretch>
            <a:fillRect/>
          </a:stretch>
        </p:blipFill>
        <p:spPr bwMode="auto">
          <a:xfrm>
            <a:off x="6706249" y="822121"/>
            <a:ext cx="3562152" cy="5645354"/>
          </a:xfrm>
          <a:prstGeom prst="rect">
            <a:avLst/>
          </a:prstGeom>
          <a:noFill/>
          <a:ln>
            <a:noFill/>
          </a:ln>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3B5C35F-D297-44A0-BC10-AD90DE9539E4}"/>
                  </a:ext>
                </a:extLst>
              </p:cNvPr>
              <p:cNvSpPr txBox="1"/>
              <p:nvPr/>
            </p:nvSpPr>
            <p:spPr>
              <a:xfrm flipH="1">
                <a:off x="3751182" y="6392592"/>
                <a:ext cx="3630931" cy="369332"/>
              </a:xfrm>
              <a:prstGeom prst="rect">
                <a:avLst/>
              </a:prstGeom>
              <a:noFill/>
            </p:spPr>
            <p:txBody>
              <a:bodyPr wrap="square" rtlCol="0">
                <a:spAutoFit/>
              </a:bodyPr>
              <a:lstStyle/>
              <a:p>
                <a:r>
                  <a:rPr lang="zh-CN" altLang="en-US" dirty="0"/>
                  <a:t>平均时间复杂度为</a:t>
                </a:r>
                <a14:m>
                  <m:oMath xmlns:m="http://schemas.openxmlformats.org/officeDocument/2006/math">
                    <m:r>
                      <a:rPr lang="en-US" altLang="zh-CN" sz="1800" i="1" kern="100" smtClean="0">
                        <a:effectLst/>
                        <a:latin typeface="Cambria Math" panose="02040503050406030204" pitchFamily="18" charset="0"/>
                        <a:ea typeface="宋体" panose="02010600030101010101" pitchFamily="2" charset="-122"/>
                      </a:rPr>
                      <m:t>𝑂</m:t>
                    </m:r>
                    <m:d>
                      <m:dPr>
                        <m:ctrlPr>
                          <a:rPr lang="zh-CN" altLang="zh-CN" sz="1800" i="1" kern="100">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宋体" panose="02010600030101010101" pitchFamily="2" charset="-122"/>
                          </a:rPr>
                          <m:t>𝑛</m:t>
                        </m:r>
                        <m:func>
                          <m:funcPr>
                            <m:ctrlPr>
                              <a:rPr lang="zh-CN" altLang="zh-CN" sz="1800" i="1" kern="100">
                                <a:effectLst/>
                                <a:latin typeface="Cambria Math" panose="02040503050406030204" pitchFamily="18" charset="0"/>
                                <a:ea typeface="Cambria Math" panose="02040503050406030204" pitchFamily="18" charset="0"/>
                              </a:rPr>
                            </m:ctrlPr>
                          </m:funcPr>
                          <m:fName>
                            <m:r>
                              <m:rPr>
                                <m:sty m:val="p"/>
                              </m:rPr>
                              <a:rPr lang="en-US" altLang="zh-CN" sz="1800" kern="100">
                                <a:effectLst/>
                                <a:latin typeface="Cambria Math" panose="02040503050406030204" pitchFamily="18" charset="0"/>
                                <a:ea typeface="宋体" panose="02010600030101010101" pitchFamily="2" charset="-122"/>
                              </a:rPr>
                              <m:t>log</m:t>
                            </m:r>
                          </m:fName>
                          <m:e>
                            <m:r>
                              <a:rPr lang="en-US" altLang="zh-CN" sz="1800" i="1" kern="100">
                                <a:effectLst/>
                                <a:latin typeface="Cambria Math" panose="02040503050406030204" pitchFamily="18" charset="0"/>
                                <a:ea typeface="宋体" panose="02010600030101010101" pitchFamily="2" charset="-122"/>
                              </a:rPr>
                              <m:t>𝑛</m:t>
                            </m:r>
                          </m:e>
                        </m:func>
                      </m:e>
                    </m:d>
                  </m:oMath>
                </a14:m>
                <a:endParaRPr lang="zh-CN" altLang="en-US" dirty="0"/>
              </a:p>
            </p:txBody>
          </p:sp>
        </mc:Choice>
        <mc:Fallback xmlns="">
          <p:sp>
            <p:nvSpPr>
              <p:cNvPr id="3" name="文本框 2">
                <a:extLst>
                  <a:ext uri="{FF2B5EF4-FFF2-40B4-BE49-F238E27FC236}">
                    <a16:creationId xmlns:a16="http://schemas.microsoft.com/office/drawing/2014/main" id="{03B5C35F-D297-44A0-BC10-AD90DE9539E4}"/>
                  </a:ext>
                </a:extLst>
              </p:cNvPr>
              <p:cNvSpPr txBox="1">
                <a:spLocks noRot="1" noChangeAspect="1" noMove="1" noResize="1" noEditPoints="1" noAdjustHandles="1" noChangeArrowheads="1" noChangeShapeType="1" noTextEdit="1"/>
              </p:cNvSpPr>
              <p:nvPr/>
            </p:nvSpPr>
            <p:spPr>
              <a:xfrm flipH="1">
                <a:off x="3751182" y="6392592"/>
                <a:ext cx="3630931" cy="369332"/>
              </a:xfrm>
              <a:prstGeom prst="rect">
                <a:avLst/>
              </a:prstGeom>
              <a:blipFill>
                <a:blip r:embed="rId4"/>
                <a:stretch>
                  <a:fillRect l="-1342" t="-10000"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658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zh-CN" altLang="en-US" sz="3200" dirty="0">
                <a:latin typeface="+mn-lt"/>
                <a:ea typeface="+mn-ea"/>
                <a:cs typeface="+mn-cs"/>
              </a:rPr>
              <a:t>快速排序、归并排序</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dirty="0"/>
              <a:t>快速排序</a:t>
            </a:r>
          </a:p>
        </p:txBody>
      </p:sp>
      <p:sp>
        <p:nvSpPr>
          <p:cNvPr id="5" name="文本框 4">
            <a:extLst>
              <a:ext uri="{FF2B5EF4-FFF2-40B4-BE49-F238E27FC236}">
                <a16:creationId xmlns:a16="http://schemas.microsoft.com/office/drawing/2014/main" id="{4C559332-675E-4288-9E76-85C7D30BB4A1}"/>
              </a:ext>
            </a:extLst>
          </p:cNvPr>
          <p:cNvSpPr txBox="1"/>
          <p:nvPr/>
        </p:nvSpPr>
        <p:spPr>
          <a:xfrm>
            <a:off x="1923600" y="1520551"/>
            <a:ext cx="7980218" cy="584775"/>
          </a:xfrm>
          <a:prstGeom prst="rect">
            <a:avLst/>
          </a:prstGeom>
          <a:noFill/>
        </p:spPr>
        <p:txBody>
          <a:bodyPr wrap="square">
            <a:spAutoFit/>
          </a:bodyPr>
          <a:lstStyle/>
          <a:p>
            <a:pPr marL="533400" algn="just"/>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使用</a:t>
            </a:r>
            <a:r>
              <a:rPr lang="x-none" altLang="zh-CN" sz="1600" kern="100" dirty="0">
                <a:effectLst/>
                <a:latin typeface="Times New Roman" panose="02020603050405020304" pitchFamily="18" charset="0"/>
                <a:ea typeface="宋体" panose="02010600030101010101" pitchFamily="2" charset="-122"/>
              </a:rPr>
              <a:t>[1,1000</a:t>
            </a:r>
            <a:r>
              <a:rPr lang="en-US" altLang="zh-CN" sz="1600" kern="100" dirty="0">
                <a:effectLst/>
                <a:latin typeface="Times New Roman" panose="02020603050405020304" pitchFamily="18" charset="0"/>
                <a:ea typeface="宋体" panose="02010600030101010101" pitchFamily="2" charset="-122"/>
              </a:rPr>
              <a:t>0000</a:t>
            </a:r>
            <a:r>
              <a:rPr lang="x-none" altLang="zh-CN" sz="1600" kern="100" dirty="0">
                <a:effectLst/>
                <a:latin typeface="Times New Roman" panose="02020603050405020304" pitchFamily="18" charset="0"/>
                <a:ea typeface="宋体" panose="02010600030101010101" pitchFamily="2" charset="-122"/>
              </a:rPr>
              <a:t>0)</a:t>
            </a:r>
            <a:r>
              <a:rPr lang="zh-CN" altLang="zh-CN" sz="1600" kern="100" dirty="0">
                <a:effectLst/>
                <a:latin typeface="Times New Roman" panose="02020603050405020304" pitchFamily="18" charset="0"/>
                <a:ea typeface="宋体" panose="02010600030101010101" pitchFamily="2" charset="-122"/>
              </a:rPr>
              <a:t>的随机数生成</a:t>
            </a:r>
            <a:r>
              <a:rPr lang="zh-CN" altLang="en-US" sz="1600" kern="100" dirty="0">
                <a:effectLst/>
                <a:latin typeface="Times New Roman" panose="02020603050405020304" pitchFamily="18" charset="0"/>
                <a:ea typeface="宋体" panose="02010600030101010101" pitchFamily="2" charset="-122"/>
              </a:rPr>
              <a:t>的</a:t>
            </a:r>
            <a:r>
              <a:rPr lang="zh-CN" altLang="zh-CN" sz="1600" kern="100" dirty="0">
                <a:effectLst/>
                <a:latin typeface="Times New Roman" panose="02020603050405020304" pitchFamily="18" charset="0"/>
                <a:ea typeface="宋体" panose="02010600030101010101" pitchFamily="2" charset="-122"/>
              </a:rPr>
              <a:t>数据样本，并分别对不同规模</a:t>
            </a:r>
            <a:r>
              <a:rPr lang="x-none" altLang="zh-CN" sz="1600" kern="100" dirty="0">
                <a:effectLst/>
                <a:latin typeface="Times New Roman" panose="02020603050405020304" pitchFamily="18" charset="0"/>
                <a:ea typeface="宋体" panose="02010600030101010101" pitchFamily="2" charset="-122"/>
              </a:rPr>
              <a:t>n</a:t>
            </a:r>
            <a:r>
              <a:rPr lang="zh-CN" altLang="zh-CN" sz="1600" kern="100" dirty="0">
                <a:effectLst/>
                <a:latin typeface="Times New Roman" panose="02020603050405020304" pitchFamily="18" charset="0"/>
                <a:ea typeface="宋体" panose="02010600030101010101" pitchFamily="2" charset="-122"/>
              </a:rPr>
              <a:t>生成了</a:t>
            </a:r>
            <a:r>
              <a:rPr lang="x-none" altLang="zh-CN" sz="1600" kern="100" dirty="0">
                <a:effectLst/>
                <a:latin typeface="Times New Roman" panose="02020603050405020304" pitchFamily="18" charset="0"/>
                <a:ea typeface="宋体" panose="02010600030101010101" pitchFamily="2" charset="-122"/>
              </a:rPr>
              <a:t>20</a:t>
            </a:r>
            <a:r>
              <a:rPr lang="zh-CN" altLang="zh-CN" sz="1600" kern="100" dirty="0">
                <a:effectLst/>
                <a:latin typeface="Times New Roman" panose="02020603050405020304" pitchFamily="18" charset="0"/>
                <a:ea typeface="宋体" panose="02010600030101010101" pitchFamily="2" charset="-122"/>
              </a:rPr>
              <a:t>个样本，统计每个规模下的样本排序时间并取平均值作为该规模下样本的排序时间。</a:t>
            </a:r>
          </a:p>
        </p:txBody>
      </p:sp>
      <p:sp>
        <p:nvSpPr>
          <p:cNvPr id="6" name="文本框 5">
            <a:extLst>
              <a:ext uri="{FF2B5EF4-FFF2-40B4-BE49-F238E27FC236}">
                <a16:creationId xmlns:a16="http://schemas.microsoft.com/office/drawing/2014/main" id="{C667AE38-39B6-468E-93A3-708677F46250}"/>
              </a:ext>
            </a:extLst>
          </p:cNvPr>
          <p:cNvSpPr txBox="1"/>
          <p:nvPr/>
        </p:nvSpPr>
        <p:spPr>
          <a:xfrm>
            <a:off x="1156982" y="2803756"/>
            <a:ext cx="6097554" cy="338554"/>
          </a:xfrm>
          <a:prstGeom prst="rect">
            <a:avLst/>
          </a:prstGeom>
          <a:noFill/>
        </p:spPr>
        <p:txBody>
          <a:bodyPr wrap="square">
            <a:spAutoFit/>
          </a:bodyPr>
          <a:lstStyle/>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快速</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排序不同规模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的实际</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、理论</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7983E97-2037-4BBD-A22D-38BB1B50E277}"/>
                  </a:ext>
                </a:extLst>
              </p:cNvPr>
              <p:cNvSpPr txBox="1"/>
              <p:nvPr/>
            </p:nvSpPr>
            <p:spPr>
              <a:xfrm>
                <a:off x="1424863" y="5377535"/>
                <a:ext cx="9342275" cy="646331"/>
              </a:xfrm>
              <a:prstGeom prst="rect">
                <a:avLst/>
              </a:prstGeom>
              <a:noFill/>
            </p:spPr>
            <p:txBody>
              <a:bodyPr wrap="square">
                <a:spAutoFit/>
              </a:bodyPr>
              <a:lstStyle/>
              <a:p>
                <a:pPr marL="266700" algn="just"/>
                <a:r>
                  <a:rPr lang="zh-CN" altLang="zh-CN" sz="2000" kern="100" dirty="0">
                    <a:latin typeface="Times New Roman" panose="02020603050405020304" pitchFamily="18" charset="0"/>
                    <a:ea typeface="宋体" panose="02010600030101010101" pitchFamily="2" charset="-122"/>
                  </a:rPr>
                  <a:t>结论：</a:t>
                </a:r>
                <a:r>
                  <a:rPr lang="zh-CN" altLang="zh-CN" sz="1600" kern="100" dirty="0">
                    <a:effectLst/>
                    <a:latin typeface="Times New Roman" panose="02020603050405020304" pitchFamily="18" charset="0"/>
                    <a:ea typeface="宋体" panose="02010600030101010101" pitchFamily="2" charset="-122"/>
                  </a:rPr>
                  <a:t>本次实验中快速排序的实际时间效率和理论时间效率相互的趋势符合，且曲线图呈现</a:t>
                </a:r>
                <a14:m>
                  <m:oMath xmlns:m="http://schemas.openxmlformats.org/officeDocument/2006/math">
                    <m:r>
                      <a:rPr lang="en-US" altLang="zh-CN" sz="1600" b="0" i="1" kern="100">
                        <a:effectLst/>
                        <a:latin typeface="Cambria Math" panose="02040503050406030204" pitchFamily="18" charset="0"/>
                        <a:ea typeface="宋体" panose="02010600030101010101" pitchFamily="2" charset="-122"/>
                      </a:rPr>
                      <m:t>𝑂</m:t>
                    </m:r>
                    <m:d>
                      <m:dPr>
                        <m:ctrlPr>
                          <a:rPr lang="zh-CN" altLang="zh-CN" sz="1600" i="1" kern="100">
                            <a:effectLst/>
                            <a:latin typeface="Cambria Math" panose="02040503050406030204" pitchFamily="18" charset="0"/>
                            <a:ea typeface="Cambria Math" panose="02040503050406030204" pitchFamily="18" charset="0"/>
                          </a:rPr>
                        </m:ctrlPr>
                      </m:dPr>
                      <m:e>
                        <m:r>
                          <a:rPr lang="en-US" altLang="zh-CN" sz="1600" b="0" i="1" kern="100">
                            <a:effectLst/>
                            <a:latin typeface="Cambria Math" panose="02040503050406030204" pitchFamily="18" charset="0"/>
                            <a:ea typeface="宋体" panose="02010600030101010101" pitchFamily="2" charset="-122"/>
                          </a:rPr>
                          <m:t>𝑛</m:t>
                        </m:r>
                        <m:func>
                          <m:funcPr>
                            <m:ctrlPr>
                              <a:rPr lang="zh-CN" altLang="zh-CN" sz="1600" i="1" kern="100">
                                <a:effectLst/>
                                <a:latin typeface="Cambria Math" panose="02040503050406030204" pitchFamily="18" charset="0"/>
                                <a:ea typeface="Cambria Math" panose="02040503050406030204" pitchFamily="18" charset="0"/>
                              </a:rPr>
                            </m:ctrlPr>
                          </m:funcPr>
                          <m:fName>
                            <m:r>
                              <m:rPr>
                                <m:sty m:val="p"/>
                              </m:rPr>
                              <a:rPr lang="en-US" altLang="zh-CN" sz="1600" b="0" kern="100">
                                <a:effectLst/>
                                <a:latin typeface="Cambria Math" panose="02040503050406030204" pitchFamily="18" charset="0"/>
                                <a:ea typeface="宋体" panose="02010600030101010101" pitchFamily="2" charset="-122"/>
                              </a:rPr>
                              <m:t>log</m:t>
                            </m:r>
                          </m:fName>
                          <m:e>
                            <m:r>
                              <a:rPr lang="en-US" altLang="zh-CN" sz="1600" b="0" i="1" kern="100">
                                <a:effectLst/>
                                <a:latin typeface="Cambria Math" panose="02040503050406030204" pitchFamily="18" charset="0"/>
                                <a:ea typeface="宋体" panose="02010600030101010101" pitchFamily="2" charset="-122"/>
                              </a:rPr>
                              <m:t>𝑛</m:t>
                            </m:r>
                          </m:e>
                        </m:func>
                      </m:e>
                    </m:d>
                  </m:oMath>
                </a14:m>
                <a:r>
                  <a:rPr lang="zh-CN" altLang="zh-CN" sz="1600" kern="100" dirty="0">
                    <a:effectLst/>
                    <a:latin typeface="Times New Roman" panose="02020603050405020304" pitchFamily="18" charset="0"/>
                    <a:ea typeface="宋体" panose="02010600030101010101" pitchFamily="2" charset="-122"/>
                  </a:rPr>
                  <a:t>的曲线</a:t>
                </a:r>
                <a:r>
                  <a:rPr lang="zh-CN" altLang="en-US" sz="1600" kern="100" dirty="0">
                    <a:latin typeface="Times New Roman" panose="02020603050405020304" pitchFamily="18" charset="0"/>
                    <a:ea typeface="宋体" panose="02010600030101010101" pitchFamily="2" charset="-122"/>
                  </a:rPr>
                  <a:t>。</a:t>
                </a:r>
                <a:endParaRPr lang="zh-CN" altLang="zh-CN" sz="1600" kern="100" dirty="0">
                  <a:effectLst/>
                  <a:latin typeface="Times New Roman" panose="02020603050405020304" pitchFamily="18" charset="0"/>
                  <a:ea typeface="宋体" panose="02010600030101010101" pitchFamily="2" charset="-122"/>
                </a:endParaRPr>
              </a:p>
            </p:txBody>
          </p:sp>
        </mc:Choice>
        <mc:Fallback xmlns="">
          <p:sp>
            <p:nvSpPr>
              <p:cNvPr id="9" name="文本框 8">
                <a:extLst>
                  <a:ext uri="{FF2B5EF4-FFF2-40B4-BE49-F238E27FC236}">
                    <a16:creationId xmlns:a16="http://schemas.microsoft.com/office/drawing/2014/main" id="{C7983E97-2037-4BBD-A22D-38BB1B50E277}"/>
                  </a:ext>
                </a:extLst>
              </p:cNvPr>
              <p:cNvSpPr txBox="1">
                <a:spLocks noRot="1" noChangeAspect="1" noMove="1" noResize="1" noEditPoints="1" noAdjustHandles="1" noChangeArrowheads="1" noChangeShapeType="1" noTextEdit="1"/>
              </p:cNvSpPr>
              <p:nvPr/>
            </p:nvSpPr>
            <p:spPr>
              <a:xfrm>
                <a:off x="1424863" y="5377535"/>
                <a:ext cx="9342275" cy="646331"/>
              </a:xfrm>
              <a:prstGeom prst="rect">
                <a:avLst/>
              </a:prstGeom>
              <a:blipFill>
                <a:blip r:embed="rId2"/>
                <a:stretch>
                  <a:fillRect t="-4717" r="-326" b="-10377"/>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6C55540F-1359-403D-9E08-1E7144AF8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299" y="2060188"/>
            <a:ext cx="5591175" cy="3328988"/>
          </a:xfrm>
          <a:prstGeom prst="rect">
            <a:avLst/>
          </a:prstGeom>
        </p:spPr>
      </p:pic>
      <p:graphicFrame>
        <p:nvGraphicFramePr>
          <p:cNvPr id="11" name="表格 10">
            <a:extLst>
              <a:ext uri="{FF2B5EF4-FFF2-40B4-BE49-F238E27FC236}">
                <a16:creationId xmlns:a16="http://schemas.microsoft.com/office/drawing/2014/main" id="{DBC978B2-3A96-4AC8-B39D-6529D25EF115}"/>
              </a:ext>
            </a:extLst>
          </p:cNvPr>
          <p:cNvGraphicFramePr>
            <a:graphicFrameLocks noGrp="1"/>
          </p:cNvGraphicFramePr>
          <p:nvPr>
            <p:extLst>
              <p:ext uri="{D42A27DB-BD31-4B8C-83A1-F6EECF244321}">
                <p14:modId xmlns:p14="http://schemas.microsoft.com/office/powerpoint/2010/main" val="4006559931"/>
              </p:ext>
            </p:extLst>
          </p:nvPr>
        </p:nvGraphicFramePr>
        <p:xfrm>
          <a:off x="676275" y="3166158"/>
          <a:ext cx="5130800" cy="1544613"/>
        </p:xfrm>
        <a:graphic>
          <a:graphicData uri="http://schemas.openxmlformats.org/drawingml/2006/table">
            <a:tbl>
              <a:tblPr>
                <a:tableStyleId>{5C22544A-7EE6-4342-B048-85BDC9FD1C3A}</a:tableStyleId>
              </a:tblPr>
              <a:tblGrid>
                <a:gridCol w="866977">
                  <a:extLst>
                    <a:ext uri="{9D8B030D-6E8A-4147-A177-3AD203B41FA5}">
                      <a16:colId xmlns:a16="http://schemas.microsoft.com/office/drawing/2014/main" val="56134104"/>
                    </a:ext>
                  </a:extLst>
                </a:gridCol>
                <a:gridCol w="857048">
                  <a:extLst>
                    <a:ext uri="{9D8B030D-6E8A-4147-A177-3AD203B41FA5}">
                      <a16:colId xmlns:a16="http://schemas.microsoft.com/office/drawing/2014/main" val="1949750171"/>
                    </a:ext>
                  </a:extLst>
                </a:gridCol>
                <a:gridCol w="866775">
                  <a:extLst>
                    <a:ext uri="{9D8B030D-6E8A-4147-A177-3AD203B41FA5}">
                      <a16:colId xmlns:a16="http://schemas.microsoft.com/office/drawing/2014/main" val="167435119"/>
                    </a:ext>
                  </a:extLst>
                </a:gridCol>
                <a:gridCol w="847725">
                  <a:extLst>
                    <a:ext uri="{9D8B030D-6E8A-4147-A177-3AD203B41FA5}">
                      <a16:colId xmlns:a16="http://schemas.microsoft.com/office/drawing/2014/main" val="751312685"/>
                    </a:ext>
                  </a:extLst>
                </a:gridCol>
                <a:gridCol w="781050">
                  <a:extLst>
                    <a:ext uri="{9D8B030D-6E8A-4147-A177-3AD203B41FA5}">
                      <a16:colId xmlns:a16="http://schemas.microsoft.com/office/drawing/2014/main" val="3195148296"/>
                    </a:ext>
                  </a:extLst>
                </a:gridCol>
                <a:gridCol w="911225">
                  <a:extLst>
                    <a:ext uri="{9D8B030D-6E8A-4147-A177-3AD203B41FA5}">
                      <a16:colId xmlns:a16="http://schemas.microsoft.com/office/drawing/2014/main" val="3159853196"/>
                    </a:ext>
                  </a:extLst>
                </a:gridCol>
              </a:tblGrid>
              <a:tr h="313243">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规模</a:t>
                      </a:r>
                      <a:r>
                        <a:rPr lang="en-US" sz="14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200w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300w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400w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500w</a:t>
                      </a:r>
                    </a:p>
                  </a:txBody>
                  <a:tcPr marL="7620" marR="7620" marT="7620" marB="0" anchor="b">
                    <a:solidFill>
                      <a:srgbClr val="0070C0"/>
                    </a:solidFill>
                  </a:tcPr>
                </a:tc>
                <a:extLst>
                  <a:ext uri="{0D108BD9-81ED-4DB2-BD59-A6C34878D82A}">
                    <a16:rowId xmlns:a16="http://schemas.microsoft.com/office/drawing/2014/main" val="2065378591"/>
                  </a:ext>
                </a:extLst>
              </a:tr>
              <a:tr h="615685">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实际时间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267.95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566.42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869.47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1184.26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1502.95 </a:t>
                      </a:r>
                    </a:p>
                  </a:txBody>
                  <a:tcPr marL="7620" marR="7620" marT="7620" marB="0" anchor="b">
                    <a:solidFill>
                      <a:srgbClr val="79D6F3"/>
                    </a:solidFill>
                  </a:tcPr>
                </a:tc>
                <a:extLst>
                  <a:ext uri="{0D108BD9-81ED-4DB2-BD59-A6C34878D82A}">
                    <a16:rowId xmlns:a16="http://schemas.microsoft.com/office/drawing/2014/main" val="2524946414"/>
                  </a:ext>
                </a:extLst>
              </a:tr>
              <a:tr h="615685">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理论时间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267.95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568.16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880.55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1200.85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1527.02 </a:t>
                      </a:r>
                    </a:p>
                  </a:txBody>
                  <a:tcPr marL="7620" marR="7620" marT="7620" marB="0" anchor="b">
                    <a:solidFill>
                      <a:srgbClr val="79D6F3"/>
                    </a:solidFill>
                  </a:tcPr>
                </a:tc>
                <a:extLst>
                  <a:ext uri="{0D108BD9-81ED-4DB2-BD59-A6C34878D82A}">
                    <a16:rowId xmlns:a16="http://schemas.microsoft.com/office/drawing/2014/main" val="715054114"/>
                  </a:ext>
                </a:extLst>
              </a:tr>
            </a:tbl>
          </a:graphicData>
        </a:graphic>
      </p:graphicFrame>
    </p:spTree>
    <p:extLst>
      <p:ext uri="{BB962C8B-B14F-4D97-AF65-F5344CB8AC3E}">
        <p14:creationId xmlns:p14="http://schemas.microsoft.com/office/powerpoint/2010/main" val="3827539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zh-CN" altLang="en-US" sz="3200" b="1" dirty="0">
                <a:latin typeface="+mn-lt"/>
                <a:ea typeface="+mn-ea"/>
                <a:cs typeface="+mn-cs"/>
              </a:rPr>
              <a:t>快速排序、归并排序</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归并排序</a:t>
            </a:r>
          </a:p>
        </p:txBody>
      </p:sp>
      <p:sp>
        <p:nvSpPr>
          <p:cNvPr id="5" name="文本框 4">
            <a:extLst>
              <a:ext uri="{FF2B5EF4-FFF2-40B4-BE49-F238E27FC236}">
                <a16:creationId xmlns:a16="http://schemas.microsoft.com/office/drawing/2014/main" id="{66EFE4F4-F31F-4284-BE01-4B8548D1C191}"/>
              </a:ext>
            </a:extLst>
          </p:cNvPr>
          <p:cNvSpPr txBox="1"/>
          <p:nvPr/>
        </p:nvSpPr>
        <p:spPr>
          <a:xfrm>
            <a:off x="2002583" y="1423696"/>
            <a:ext cx="8186834" cy="892552"/>
          </a:xfrm>
          <a:prstGeom prst="rect">
            <a:avLst/>
          </a:prstGeom>
          <a:noFill/>
        </p:spPr>
        <p:txBody>
          <a:bodyPr wrap="square">
            <a:spAutoFit/>
          </a:bodyPr>
          <a:lstStyle/>
          <a:p>
            <a:pPr lvl="0" algn="just"/>
            <a:r>
              <a:rPr lang="zh-CN" altLang="zh-CN" sz="2000" b="1" kern="100" dirty="0">
                <a:effectLst/>
                <a:latin typeface="Times New Roman" panose="02020603050405020304" pitchFamily="18" charset="0"/>
                <a:ea typeface="宋体" panose="02010600030101010101" pitchFamily="2" charset="-122"/>
              </a:rPr>
              <a:t>算法原理：</a:t>
            </a:r>
            <a:endParaRPr lang="zh-CN" altLang="zh-CN" sz="2000" kern="100" dirty="0">
              <a:effectLst/>
              <a:latin typeface="Times New Roman" panose="02020603050405020304" pitchFamily="18" charset="0"/>
              <a:ea typeface="宋体" panose="02010600030101010101" pitchFamily="2" charset="-122"/>
            </a:endParaRPr>
          </a:p>
          <a:p>
            <a:pPr marL="266700" indent="266700" algn="just"/>
            <a:r>
              <a:rPr lang="zh-CN" altLang="en-US" sz="1600" kern="100" dirty="0">
                <a:effectLst/>
                <a:latin typeface="宋体" panose="02010600030101010101" pitchFamily="2" charset="-122"/>
                <a:ea typeface="宋体" panose="02010600030101010101" pitchFamily="2" charset="-122"/>
              </a:rPr>
              <a:t>采用分治策略</a:t>
            </a:r>
            <a:r>
              <a:rPr lang="zh-CN" altLang="en-US" sz="1600" kern="100" dirty="0">
                <a:latin typeface="宋体" panose="02010600030101010101" pitchFamily="2" charset="-122"/>
                <a:ea typeface="宋体" panose="02010600030101010101" pitchFamily="2" charset="-122"/>
              </a:rPr>
              <a:t>：将规模为</a:t>
            </a:r>
            <a:r>
              <a:rPr lang="en-US" altLang="zh-CN" sz="1600" kern="100" dirty="0">
                <a:latin typeface="宋体" panose="02010600030101010101" pitchFamily="2" charset="-122"/>
                <a:ea typeface="宋体" panose="02010600030101010101" pitchFamily="2" charset="-122"/>
              </a:rPr>
              <a:t>n</a:t>
            </a:r>
            <a:r>
              <a:rPr lang="zh-CN" altLang="en-US" sz="1600" kern="100" dirty="0">
                <a:latin typeface="宋体" panose="02010600030101010101" pitchFamily="2" charset="-122"/>
                <a:ea typeface="宋体" panose="02010600030101010101" pitchFamily="2" charset="-122"/>
              </a:rPr>
              <a:t>的序列逐次二分，</a:t>
            </a:r>
            <a:r>
              <a:rPr lang="x-none" altLang="zh-CN" sz="1600" kern="100" dirty="0">
                <a:effectLst/>
                <a:latin typeface="宋体" panose="02010600030101010101" pitchFamily="2" charset="-122"/>
                <a:ea typeface="宋体" panose="02010600030101010101" pitchFamily="2" charset="-122"/>
              </a:rPr>
              <a:t>将两个或两个以上的有序表合并成一个新的有序表</a:t>
            </a:r>
            <a:r>
              <a:rPr lang="zh-CN" altLang="en-US" sz="1600" kern="100" dirty="0">
                <a:latin typeface="宋体" panose="02010600030101010101" pitchFamily="2" charset="-122"/>
                <a:ea typeface="宋体" panose="02010600030101010101" pitchFamily="2" charset="-122"/>
              </a:rPr>
              <a:t>。</a:t>
            </a:r>
            <a:endParaRPr lang="zh-CN" altLang="zh-CN" sz="1600" kern="100" dirty="0">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88E15119-08D0-4EFB-A63F-4245EE36A8FE}"/>
              </a:ext>
            </a:extLst>
          </p:cNvPr>
          <p:cNvPicPr/>
          <p:nvPr/>
        </p:nvPicPr>
        <p:blipFill>
          <a:blip r:embed="rId2"/>
          <a:stretch>
            <a:fillRect/>
          </a:stretch>
        </p:blipFill>
        <p:spPr>
          <a:xfrm>
            <a:off x="1526409" y="2295939"/>
            <a:ext cx="4249239" cy="3078495"/>
          </a:xfrm>
          <a:prstGeom prst="rect">
            <a:avLst/>
          </a:prstGeom>
        </p:spPr>
      </p:pic>
      <p:pic>
        <p:nvPicPr>
          <p:cNvPr id="7" name="图片 6">
            <a:extLst>
              <a:ext uri="{FF2B5EF4-FFF2-40B4-BE49-F238E27FC236}">
                <a16:creationId xmlns:a16="http://schemas.microsoft.com/office/drawing/2014/main" id="{077ECA19-9207-4A6C-8D26-5C36A736395E}"/>
              </a:ext>
            </a:extLst>
          </p:cNvPr>
          <p:cNvPicPr/>
          <p:nvPr/>
        </p:nvPicPr>
        <p:blipFill>
          <a:blip r:embed="rId3">
            <a:extLst>
              <a:ext uri="{28A0092B-C50C-407E-A947-70E740481C1C}">
                <a14:useLocalDpi xmlns:a14="http://schemas.microsoft.com/office/drawing/2010/main" val="0"/>
              </a:ext>
            </a:extLst>
          </a:blip>
          <a:srcRect l="7750" t="8734" r="7750" b="8734"/>
          <a:stretch>
            <a:fillRect/>
          </a:stretch>
        </p:blipFill>
        <p:spPr bwMode="auto">
          <a:xfrm>
            <a:off x="6278983" y="2295939"/>
            <a:ext cx="3789524" cy="3181117"/>
          </a:xfrm>
          <a:prstGeom prst="rect">
            <a:avLst/>
          </a:prstGeom>
          <a:noFill/>
          <a:ln>
            <a:noFill/>
          </a:ln>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57E20AE-29AD-4773-B19A-77D360D177CA}"/>
                  </a:ext>
                </a:extLst>
              </p:cNvPr>
              <p:cNvSpPr txBox="1"/>
              <p:nvPr/>
            </p:nvSpPr>
            <p:spPr>
              <a:xfrm>
                <a:off x="483638" y="5664145"/>
                <a:ext cx="6097554" cy="758669"/>
              </a:xfrm>
              <a:prstGeom prst="rect">
                <a:avLst/>
              </a:prstGeom>
              <a:noFill/>
            </p:spPr>
            <p:txBody>
              <a:bodyPr wrap="square">
                <a:spAutoFit/>
              </a:bodyPr>
              <a:lstStyle/>
              <a:p>
                <a:pPr marL="533400" indent="266700" algn="just"/>
                <a:r>
                  <a:rPr lang="zh-CN" altLang="zh-CN" sz="1600" kern="100" dirty="0">
                    <a:effectLst/>
                    <a:latin typeface="Times New Roman" panose="02020603050405020304" pitchFamily="18" charset="0"/>
                    <a:ea typeface="宋体" panose="02010600030101010101" pitchFamily="2" charset="-122"/>
                  </a:rPr>
                  <a:t>时间复杂度的递推式：</a:t>
                </a:r>
              </a:p>
              <a:p>
                <a:pPr algn="just"/>
                <a14:m>
                  <m:oMathPara xmlns:m="http://schemas.openxmlformats.org/officeDocument/2006/math">
                    <m:oMathParaPr>
                      <m:jc m:val="centerGroup"/>
                    </m:oMathParaPr>
                    <m:oMath xmlns:m="http://schemas.openxmlformats.org/officeDocument/2006/math">
                      <m:r>
                        <a:rPr lang="x-none" altLang="zh-CN" sz="1600" i="1" kern="100">
                          <a:effectLst/>
                          <a:latin typeface="Cambria Math" panose="02040503050406030204" pitchFamily="18" charset="0"/>
                          <a:ea typeface="宋体" panose="02010600030101010101" pitchFamily="2" charset="-122"/>
                        </a:rPr>
                        <m:t> </m:t>
                      </m:r>
                      <m:r>
                        <a:rPr lang="x-none" altLang="zh-CN" sz="1600" i="1" kern="100">
                          <a:effectLst/>
                          <a:latin typeface="Cambria Math" panose="02040503050406030204" pitchFamily="18" charset="0"/>
                          <a:ea typeface="宋体" panose="02010600030101010101" pitchFamily="2" charset="-122"/>
                        </a:rPr>
                        <m:t>𝑇</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e>
                      </m:d>
                      <m:r>
                        <a:rPr lang="x-none" altLang="zh-CN" sz="1600" i="1" kern="100">
                          <a:effectLst/>
                          <a:latin typeface="Cambria Math" panose="02040503050406030204" pitchFamily="18" charset="0"/>
                          <a:ea typeface="宋体" panose="02010600030101010101" pitchFamily="2" charset="-122"/>
                        </a:rPr>
                        <m:t>=2</m:t>
                      </m:r>
                      <m:r>
                        <a:rPr lang="x-none" altLang="zh-CN" sz="1600" i="1" kern="100">
                          <a:effectLst/>
                          <a:latin typeface="Cambria Math" panose="02040503050406030204" pitchFamily="18" charset="0"/>
                          <a:ea typeface="宋体" panose="02010600030101010101" pitchFamily="2" charset="-122"/>
                        </a:rPr>
                        <m:t>𝑇</m:t>
                      </m:r>
                      <m:d>
                        <m:dPr>
                          <m:ctrlPr>
                            <a:rPr lang="zh-CN" altLang="zh-CN" sz="1600" i="1" kern="100">
                              <a:effectLst/>
                              <a:latin typeface="Cambria Math" panose="02040503050406030204" pitchFamily="18" charset="0"/>
                              <a:ea typeface="Cambria Math" panose="02040503050406030204" pitchFamily="18" charset="0"/>
                            </a:rPr>
                          </m:ctrlPr>
                        </m:dPr>
                        <m:e>
                          <m:f>
                            <m:fPr>
                              <m:ctrlPr>
                                <a:rPr lang="zh-CN" altLang="zh-CN" sz="1600" i="1" kern="100">
                                  <a:effectLst/>
                                  <a:latin typeface="Cambria Math" panose="02040503050406030204" pitchFamily="18" charset="0"/>
                                  <a:ea typeface="Cambria Math" panose="02040503050406030204" pitchFamily="18" charset="0"/>
                                </a:rPr>
                              </m:ctrlPr>
                            </m:fPr>
                            <m:num>
                              <m:r>
                                <a:rPr lang="x-none" altLang="zh-CN" sz="1600" i="1" kern="100">
                                  <a:effectLst/>
                                  <a:latin typeface="Cambria Math" panose="02040503050406030204" pitchFamily="18" charset="0"/>
                                  <a:ea typeface="宋体" panose="02010600030101010101" pitchFamily="2" charset="-122"/>
                                </a:rPr>
                                <m:t>𝑛</m:t>
                              </m:r>
                            </m:num>
                            <m:den>
                              <m:r>
                                <a:rPr lang="x-none" altLang="zh-CN" sz="1600" i="1" kern="100">
                                  <a:effectLst/>
                                  <a:latin typeface="Cambria Math" panose="02040503050406030204" pitchFamily="18" charset="0"/>
                                  <a:ea typeface="宋体" panose="02010600030101010101" pitchFamily="2" charset="-122"/>
                                </a:rPr>
                                <m:t>2</m:t>
                              </m:r>
                            </m:den>
                          </m:f>
                        </m:e>
                      </m:d>
                      <m:r>
                        <a:rPr lang="x-none" altLang="zh-CN" sz="1600" i="1" kern="100">
                          <a:effectLst/>
                          <a:latin typeface="Cambria Math" panose="02040503050406030204" pitchFamily="18" charset="0"/>
                          <a:ea typeface="宋体" panose="02010600030101010101" pitchFamily="2" charset="-122"/>
                        </a:rPr>
                        <m:t>+</m:t>
                      </m:r>
                      <m:r>
                        <a:rPr lang="x-none" altLang="zh-CN" sz="1600" i="1" kern="100">
                          <a:effectLst/>
                          <a:latin typeface="Cambria Math" panose="02040503050406030204" pitchFamily="18" charset="0"/>
                          <a:ea typeface="宋体" panose="02010600030101010101" pitchFamily="2" charset="-122"/>
                        </a:rPr>
                        <m:t>𝑂</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e>
                      </m:d>
                      <m:r>
                        <a:rPr lang="zh-CN" altLang="zh-CN" sz="1600" i="1" kern="100">
                          <a:effectLst/>
                          <a:latin typeface="Cambria Math" panose="02040503050406030204" pitchFamily="18" charset="0"/>
                          <a:ea typeface="宋体" panose="02010600030101010101" pitchFamily="2" charset="-122"/>
                        </a:rPr>
                        <m:t>，</m:t>
                      </m:r>
                      <m:r>
                        <a:rPr lang="x-none" altLang="zh-CN" sz="1600" i="1" kern="100">
                          <a:effectLst/>
                          <a:latin typeface="Cambria Math" panose="02040503050406030204" pitchFamily="18" charset="0"/>
                          <a:ea typeface="宋体" panose="02010600030101010101" pitchFamily="2" charset="-122"/>
                        </a:rPr>
                        <m:t>   </m:t>
                      </m:r>
                      <m:r>
                        <a:rPr lang="zh-CN" altLang="zh-CN" sz="1600" kern="100">
                          <a:effectLst/>
                          <a:latin typeface="Cambria Math" panose="02040503050406030204" pitchFamily="18" charset="0"/>
                          <a:ea typeface="宋体" panose="02010600030101010101" pitchFamily="2" charset="-122"/>
                        </a:rPr>
                        <m:t>且</m:t>
                      </m:r>
                      <m:r>
                        <a:rPr lang="x-none" altLang="zh-CN" sz="1600" i="1" kern="100">
                          <a:effectLst/>
                          <a:latin typeface="Cambria Math" panose="02040503050406030204" pitchFamily="18" charset="0"/>
                          <a:ea typeface="宋体" panose="02010600030101010101" pitchFamily="2" charset="-122"/>
                        </a:rPr>
                        <m:t>𝑇</m:t>
                      </m:r>
                      <m:d>
                        <m:dPr>
                          <m:begChr m:val="（"/>
                          <m:endChr m:val="）"/>
                          <m:ctrlPr>
                            <a:rPr lang="zh-CN" altLang="zh-CN" sz="1600" i="1" kern="100">
                              <a:effectLst/>
                              <a:latin typeface="Cambria Math" panose="02040503050406030204" pitchFamily="18" charset="0"/>
                              <a:ea typeface="Cambria Math" panose="02040503050406030204" pitchFamily="18" charset="0"/>
                            </a:rPr>
                          </m:ctrlPr>
                        </m:dPr>
                        <m:e>
                          <m:r>
                            <a:rPr lang="x-none" altLang="zh-CN" sz="1600" kern="100">
                              <a:effectLst/>
                              <a:latin typeface="Cambria Math" panose="02040503050406030204" pitchFamily="18" charset="0"/>
                              <a:ea typeface="宋体" panose="02010600030101010101" pitchFamily="2" charset="-122"/>
                            </a:rPr>
                            <m:t>1</m:t>
                          </m:r>
                        </m:e>
                      </m:d>
                      <m:r>
                        <a:rPr lang="x-none" altLang="zh-CN" sz="1600" kern="100">
                          <a:effectLst/>
                          <a:latin typeface="Cambria Math" panose="02040503050406030204" pitchFamily="18" charset="0"/>
                          <a:ea typeface="宋体" panose="02010600030101010101" pitchFamily="2" charset="-122"/>
                        </a:rPr>
                        <m:t>=1</m:t>
                      </m:r>
                    </m:oMath>
                  </m:oMathPara>
                </a14:m>
                <a:endParaRPr lang="zh-CN" altLang="zh-CN" sz="1600" kern="100" dirty="0">
                  <a:effectLst/>
                  <a:latin typeface="Times New Roman" panose="02020603050405020304" pitchFamily="18" charset="0"/>
                  <a:ea typeface="宋体" panose="02010600030101010101" pitchFamily="2" charset="-122"/>
                </a:endParaRPr>
              </a:p>
            </p:txBody>
          </p:sp>
        </mc:Choice>
        <mc:Fallback xmlns="">
          <p:sp>
            <p:nvSpPr>
              <p:cNvPr id="9" name="文本框 8">
                <a:extLst>
                  <a:ext uri="{FF2B5EF4-FFF2-40B4-BE49-F238E27FC236}">
                    <a16:creationId xmlns:a16="http://schemas.microsoft.com/office/drawing/2014/main" id="{557E20AE-29AD-4773-B19A-77D360D177CA}"/>
                  </a:ext>
                </a:extLst>
              </p:cNvPr>
              <p:cNvSpPr txBox="1">
                <a:spLocks noRot="1" noChangeAspect="1" noMove="1" noResize="1" noEditPoints="1" noAdjustHandles="1" noChangeArrowheads="1" noChangeShapeType="1" noTextEdit="1"/>
              </p:cNvSpPr>
              <p:nvPr/>
            </p:nvSpPr>
            <p:spPr>
              <a:xfrm>
                <a:off x="483638" y="5664145"/>
                <a:ext cx="6097554" cy="758669"/>
              </a:xfrm>
              <a:prstGeom prst="rect">
                <a:avLst/>
              </a:prstGeom>
              <a:blipFill>
                <a:blip r:embed="rId4"/>
                <a:stretch>
                  <a:fillRect t="-3200" b="-16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7AF43A0-40ED-4CB9-9860-ECE31BBD2F60}"/>
                  </a:ext>
                </a:extLst>
              </p:cNvPr>
              <p:cNvSpPr txBox="1"/>
              <p:nvPr/>
            </p:nvSpPr>
            <p:spPr>
              <a:xfrm>
                <a:off x="5610808" y="5449561"/>
                <a:ext cx="6097554" cy="1355179"/>
              </a:xfrm>
              <a:prstGeom prst="rect">
                <a:avLst/>
              </a:prstGeom>
              <a:noFill/>
            </p:spPr>
            <p:txBody>
              <a:bodyPr wrap="square">
                <a:spAutoFit/>
              </a:bodyPr>
              <a:lstStyle/>
              <a:p>
                <a:pPr algn="just"/>
                <a:r>
                  <a:rPr lang="zh-CN" altLang="zh-CN" sz="1600" kern="100" dirty="0">
                    <a:effectLst/>
                    <a:latin typeface="Times New Roman" panose="02020603050405020304" pitchFamily="18" charset="0"/>
                    <a:ea typeface="宋体" panose="02010600030101010101" pitchFamily="2" charset="-122"/>
                  </a:rPr>
                  <a:t>由主定理法可得：</a:t>
                </a:r>
              </a:p>
              <a:p>
                <a:pPr algn="just"/>
                <a:r>
                  <a:rPr lang="x-none"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合并代价：</a:t>
                </a:r>
                <a14:m>
                  <m:oMath xmlns:m="http://schemas.openxmlformats.org/officeDocument/2006/math">
                    <m:r>
                      <a:rPr lang="x-none" altLang="zh-CN" sz="1600" i="1" kern="100">
                        <a:effectLst/>
                        <a:latin typeface="Cambria Math" panose="02040503050406030204" pitchFamily="18" charset="0"/>
                        <a:ea typeface="宋体" panose="02010600030101010101" pitchFamily="2" charset="-122"/>
                      </a:rPr>
                      <m:t>𝑓</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e>
                    </m:d>
                    <m:r>
                      <a:rPr lang="x-none" altLang="zh-CN" sz="1600" i="1" kern="100">
                        <a:effectLst/>
                        <a:latin typeface="Cambria Math" panose="02040503050406030204" pitchFamily="18" charset="0"/>
                        <a:ea typeface="宋体" panose="02010600030101010101" pitchFamily="2" charset="-122"/>
                      </a:rPr>
                      <m:t>=</m:t>
                    </m:r>
                    <m:r>
                      <a:rPr lang="x-none" altLang="zh-CN" sz="1600" i="1" kern="100">
                        <a:effectLst/>
                        <a:latin typeface="Cambria Math" panose="02040503050406030204" pitchFamily="18" charset="0"/>
                        <a:ea typeface="宋体" panose="02010600030101010101" pitchFamily="2" charset="-122"/>
                      </a:rPr>
                      <m:t>𝜃</m:t>
                    </m:r>
                    <m:d>
                      <m:dPr>
                        <m:ctrlPr>
                          <a:rPr lang="zh-CN" altLang="zh-CN" sz="1600" i="1" kern="100">
                            <a:effectLst/>
                            <a:latin typeface="Cambria Math" panose="02040503050406030204" pitchFamily="18" charset="0"/>
                            <a:ea typeface="Cambria Math" panose="02040503050406030204" pitchFamily="18" charset="0"/>
                          </a:rPr>
                        </m:ctrlPr>
                      </m:dPr>
                      <m:e>
                        <m:sSup>
                          <m:sSupPr>
                            <m:ctrlPr>
                              <a:rPr lang="zh-CN" altLang="zh-CN" sz="1600" i="1" kern="100">
                                <a:effectLst/>
                                <a:latin typeface="Cambria Math" panose="02040503050406030204" pitchFamily="18" charset="0"/>
                                <a:ea typeface="Cambria Math" panose="02040503050406030204" pitchFamily="18" charset="0"/>
                              </a:rPr>
                            </m:ctrlPr>
                          </m:sSupPr>
                          <m:e>
                            <m:r>
                              <a:rPr lang="x-none" altLang="zh-CN" sz="1600" i="1" kern="100">
                                <a:effectLst/>
                                <a:latin typeface="Cambria Math" panose="02040503050406030204" pitchFamily="18" charset="0"/>
                                <a:ea typeface="宋体" panose="02010600030101010101" pitchFamily="2" charset="-122"/>
                              </a:rPr>
                              <m:t>𝑛</m:t>
                            </m:r>
                          </m:e>
                          <m:sup>
                            <m:r>
                              <a:rPr lang="x-none" altLang="zh-CN" sz="1600" i="1" kern="100">
                                <a:effectLst/>
                                <a:latin typeface="Cambria Math" panose="02040503050406030204" pitchFamily="18" charset="0"/>
                                <a:ea typeface="宋体" panose="02010600030101010101" pitchFamily="2" charset="-122"/>
                              </a:rPr>
                              <m:t>𝑐</m:t>
                            </m:r>
                          </m:sup>
                        </m:sSup>
                        <m:sSup>
                          <m:sSupPr>
                            <m:ctrlPr>
                              <a:rPr lang="zh-CN" altLang="zh-CN" sz="1600" i="1" kern="100">
                                <a:effectLst/>
                                <a:latin typeface="Cambria Math" panose="02040503050406030204" pitchFamily="18" charset="0"/>
                                <a:ea typeface="Cambria Math" panose="02040503050406030204" pitchFamily="18" charset="0"/>
                              </a:rPr>
                            </m:ctrlPr>
                          </m:sSupPr>
                          <m:e>
                            <m:func>
                              <m:funcPr>
                                <m:ctrlPr>
                                  <a:rPr lang="zh-CN" altLang="zh-CN" sz="1600" i="1" kern="100">
                                    <a:effectLst/>
                                    <a:latin typeface="Cambria Math" panose="02040503050406030204" pitchFamily="18" charset="0"/>
                                    <a:ea typeface="Cambria Math" panose="02040503050406030204" pitchFamily="18" charset="0"/>
                                  </a:rPr>
                                </m:ctrlPr>
                              </m:funcPr>
                              <m:fName>
                                <m:r>
                                  <a:rPr lang="x-none" altLang="zh-CN" sz="1600" kern="100">
                                    <a:effectLst/>
                                    <a:latin typeface="Cambria Math" panose="02040503050406030204" pitchFamily="18" charset="0"/>
                                    <a:ea typeface="宋体" panose="02010600030101010101" pitchFamily="2" charset="-122"/>
                                  </a:rPr>
                                  <m:t>(</m:t>
                                </m:r>
                                <m:r>
                                  <m:rPr>
                                    <m:sty m:val="p"/>
                                  </m:rPr>
                                  <a:rPr lang="x-none" altLang="zh-CN" sz="1600" kern="100">
                                    <a:effectLst/>
                                    <a:latin typeface="Cambria Math" panose="02040503050406030204" pitchFamily="18" charset="0"/>
                                    <a:ea typeface="宋体" panose="02010600030101010101" pitchFamily="2" charset="-122"/>
                                  </a:rPr>
                                  <m:t>log</m:t>
                                </m:r>
                              </m:fName>
                              <m:e>
                                <m:r>
                                  <a:rPr lang="x-none" altLang="zh-CN" sz="1600" i="1" kern="100">
                                    <a:effectLst/>
                                    <a:latin typeface="Cambria Math" panose="02040503050406030204" pitchFamily="18" charset="0"/>
                                    <a:ea typeface="宋体" panose="02010600030101010101" pitchFamily="2" charset="-122"/>
                                  </a:rPr>
                                  <m:t>𝑛</m:t>
                                </m:r>
                              </m:e>
                            </m:func>
                            <m:r>
                              <a:rPr lang="x-none" altLang="zh-CN" sz="1600" i="1" kern="100">
                                <a:effectLst/>
                                <a:latin typeface="Cambria Math" panose="02040503050406030204" pitchFamily="18" charset="0"/>
                                <a:ea typeface="宋体" panose="02010600030101010101" pitchFamily="2" charset="-122"/>
                              </a:rPr>
                              <m:t>)</m:t>
                            </m:r>
                          </m:e>
                          <m:sup>
                            <m:r>
                              <a:rPr lang="x-none" altLang="zh-CN" sz="1600" i="1" kern="100">
                                <a:effectLst/>
                                <a:latin typeface="Cambria Math" panose="02040503050406030204" pitchFamily="18" charset="0"/>
                                <a:ea typeface="宋体" panose="02010600030101010101" pitchFamily="2" charset="-122"/>
                              </a:rPr>
                              <m:t>𝑘</m:t>
                            </m:r>
                          </m:sup>
                        </m:sSup>
                      </m:e>
                    </m:d>
                    <m:r>
                      <a:rPr lang="x-none" altLang="zh-CN" sz="1600" i="1" kern="100">
                        <a:effectLst/>
                        <a:latin typeface="Cambria Math" panose="02040503050406030204" pitchFamily="18" charset="0"/>
                        <a:ea typeface="宋体" panose="02010600030101010101" pitchFamily="2" charset="-122"/>
                      </a:rPr>
                      <m:t>=</m:t>
                    </m:r>
                    <m:r>
                      <a:rPr lang="x-none" altLang="zh-CN" sz="1600" i="1" kern="100">
                        <a:effectLst/>
                        <a:latin typeface="Cambria Math" panose="02040503050406030204" pitchFamily="18" charset="0"/>
                        <a:ea typeface="宋体" panose="02010600030101010101" pitchFamily="2" charset="-122"/>
                      </a:rPr>
                      <m:t>𝜃</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sSup>
                          <m:sSupPr>
                            <m:ctrlPr>
                              <a:rPr lang="zh-CN" altLang="zh-CN" sz="1600" i="1" kern="100">
                                <a:effectLst/>
                                <a:latin typeface="Cambria Math" panose="02040503050406030204" pitchFamily="18" charset="0"/>
                                <a:ea typeface="Cambria Math" panose="02040503050406030204" pitchFamily="18" charset="0"/>
                              </a:rPr>
                            </m:ctrlPr>
                          </m:sSupPr>
                          <m:e>
                            <m:func>
                              <m:funcPr>
                                <m:ctrlPr>
                                  <a:rPr lang="zh-CN" altLang="zh-CN" sz="1600" i="1" kern="100">
                                    <a:effectLst/>
                                    <a:latin typeface="Cambria Math" panose="02040503050406030204" pitchFamily="18" charset="0"/>
                                    <a:ea typeface="Cambria Math" panose="02040503050406030204" pitchFamily="18" charset="0"/>
                                  </a:rPr>
                                </m:ctrlPr>
                              </m:funcPr>
                              <m:fName>
                                <m:r>
                                  <a:rPr lang="x-none" altLang="zh-CN" sz="1600" kern="100">
                                    <a:effectLst/>
                                    <a:latin typeface="Cambria Math" panose="02040503050406030204" pitchFamily="18" charset="0"/>
                                    <a:ea typeface="宋体" panose="02010600030101010101" pitchFamily="2" charset="-122"/>
                                  </a:rPr>
                                  <m:t>(</m:t>
                                </m:r>
                                <m:r>
                                  <m:rPr>
                                    <m:sty m:val="p"/>
                                  </m:rPr>
                                  <a:rPr lang="x-none" altLang="zh-CN" sz="1600" kern="100">
                                    <a:effectLst/>
                                    <a:latin typeface="Cambria Math" panose="02040503050406030204" pitchFamily="18" charset="0"/>
                                    <a:ea typeface="宋体" panose="02010600030101010101" pitchFamily="2" charset="-122"/>
                                  </a:rPr>
                                  <m:t>log</m:t>
                                </m:r>
                              </m:fName>
                              <m:e>
                                <m:r>
                                  <a:rPr lang="x-none" altLang="zh-CN" sz="1600" i="1" kern="100">
                                    <a:effectLst/>
                                    <a:latin typeface="Cambria Math" panose="02040503050406030204" pitchFamily="18" charset="0"/>
                                    <a:ea typeface="宋体" panose="02010600030101010101" pitchFamily="2" charset="-122"/>
                                  </a:rPr>
                                  <m:t>𝑛</m:t>
                                </m:r>
                              </m:e>
                            </m:func>
                            <m:r>
                              <a:rPr lang="x-none" altLang="zh-CN" sz="1600" i="1" kern="100">
                                <a:effectLst/>
                                <a:latin typeface="Cambria Math" panose="02040503050406030204" pitchFamily="18" charset="0"/>
                                <a:ea typeface="宋体" panose="02010600030101010101" pitchFamily="2" charset="-122"/>
                              </a:rPr>
                              <m:t>)</m:t>
                            </m:r>
                          </m:e>
                          <m:sup>
                            <m:r>
                              <a:rPr lang="x-none" altLang="zh-CN" sz="1600" i="1" kern="100">
                                <a:effectLst/>
                                <a:latin typeface="Cambria Math" panose="02040503050406030204" pitchFamily="18" charset="0"/>
                                <a:ea typeface="宋体" panose="02010600030101010101" pitchFamily="2" charset="-122"/>
                              </a:rPr>
                              <m:t>0</m:t>
                            </m:r>
                          </m:sup>
                        </m:sSup>
                      </m:e>
                    </m:d>
                  </m:oMath>
                </a14:m>
                <a:r>
                  <a:rPr lang="x-none" altLang="zh-CN" sz="1600" kern="100" dirty="0">
                    <a:effectLst/>
                    <a:latin typeface="Times New Roman" panose="02020603050405020304" pitchFamily="18" charset="0"/>
                    <a:ea typeface="宋体" panose="02010600030101010101" pitchFamily="2" charset="-122"/>
                  </a:rPr>
                  <a:t>,  </a:t>
                </a:r>
                <a:r>
                  <a:rPr lang="en-US" altLang="zh-CN" sz="1600" kern="100" dirty="0">
                    <a:effectLst/>
                    <a:latin typeface="Times New Roman" panose="02020603050405020304" pitchFamily="18" charset="0"/>
                    <a:ea typeface="宋体" panose="02010600030101010101" pitchFamily="2" charset="-122"/>
                  </a:rPr>
                  <a:t> </a:t>
                </a:r>
                <a:r>
                  <a:rPr lang="x-none" altLang="zh-CN" sz="1600" kern="100" dirty="0">
                    <a:effectLst/>
                    <a:latin typeface="Times New Roman" panose="02020603050405020304" pitchFamily="18" charset="0"/>
                    <a:ea typeface="宋体" panose="02010600030101010101" pitchFamily="2" charset="-122"/>
                  </a:rPr>
                  <a:t> c=1</a:t>
                </a:r>
                <a:r>
                  <a:rPr lang="zh-CN" altLang="zh-CN" sz="1600" kern="100" dirty="0">
                    <a:effectLst/>
                    <a:latin typeface="Times New Roman" panose="02020603050405020304" pitchFamily="18" charset="0"/>
                    <a:ea typeface="宋体" panose="02010600030101010101" pitchFamily="2" charset="-122"/>
                  </a:rPr>
                  <a:t>且</a:t>
                </a:r>
                <a:r>
                  <a:rPr lang="x-none" altLang="zh-CN" sz="1600" kern="100" dirty="0">
                    <a:effectLst/>
                    <a:latin typeface="Times New Roman" panose="02020603050405020304" pitchFamily="18" charset="0"/>
                    <a:ea typeface="宋体" panose="02010600030101010101" pitchFamily="2" charset="-122"/>
                  </a:rPr>
                  <a:t>k=0</a:t>
                </a:r>
                <a:endParaRPr lang="zh-CN" altLang="zh-CN" sz="1600" kern="100" dirty="0">
                  <a:effectLst/>
                  <a:latin typeface="Times New Roman" panose="02020603050405020304" pitchFamily="18" charset="0"/>
                  <a:ea typeface="宋体" panose="02010600030101010101" pitchFamily="2" charset="-122"/>
                </a:endParaRPr>
              </a:p>
              <a:p>
                <a:pPr algn="just"/>
                <a:r>
                  <a:rPr lang="x-none"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且 </a:t>
                </a:r>
                <a14:m>
                  <m:oMath xmlns:m="http://schemas.openxmlformats.org/officeDocument/2006/math">
                    <m:func>
                      <m:funcPr>
                        <m:ctrlPr>
                          <a:rPr lang="zh-CN" altLang="zh-CN" sz="1600" i="1" kern="100">
                            <a:effectLst/>
                            <a:latin typeface="Cambria Math" panose="02040503050406030204" pitchFamily="18" charset="0"/>
                            <a:ea typeface="Cambria Math" panose="02040503050406030204" pitchFamily="18" charset="0"/>
                          </a:rPr>
                        </m:ctrlPr>
                      </m:funcPr>
                      <m:fName>
                        <m:sSub>
                          <m:sSubPr>
                            <m:ctrlPr>
                              <a:rPr lang="zh-CN" altLang="zh-CN" sz="1600" i="1" kern="100">
                                <a:effectLst/>
                                <a:latin typeface="Cambria Math" panose="02040503050406030204" pitchFamily="18" charset="0"/>
                                <a:ea typeface="Cambria Math" panose="02040503050406030204" pitchFamily="18" charset="0"/>
                              </a:rPr>
                            </m:ctrlPr>
                          </m:sSubPr>
                          <m:e>
                            <m:r>
                              <m:rPr>
                                <m:sty m:val="p"/>
                              </m:rPr>
                              <a:rPr lang="x-none" altLang="zh-CN" sz="1600" kern="100">
                                <a:effectLst/>
                                <a:latin typeface="Cambria Math" panose="02040503050406030204" pitchFamily="18" charset="0"/>
                                <a:ea typeface="宋体" panose="02010600030101010101" pitchFamily="2" charset="-122"/>
                              </a:rPr>
                              <m:t>log</m:t>
                            </m:r>
                          </m:e>
                          <m:sub>
                            <m:r>
                              <a:rPr lang="x-none" altLang="zh-CN" sz="1600" i="1" kern="100">
                                <a:effectLst/>
                                <a:latin typeface="Cambria Math" panose="02040503050406030204" pitchFamily="18" charset="0"/>
                                <a:ea typeface="宋体" panose="02010600030101010101" pitchFamily="2" charset="-122"/>
                              </a:rPr>
                              <m:t>𝑏</m:t>
                            </m:r>
                          </m:sub>
                        </m:sSub>
                      </m:fName>
                      <m:e>
                        <m:r>
                          <a:rPr lang="x-none" altLang="zh-CN" sz="1600" i="1" kern="100">
                            <a:effectLst/>
                            <a:latin typeface="Cambria Math" panose="02040503050406030204" pitchFamily="18" charset="0"/>
                            <a:ea typeface="宋体" panose="02010600030101010101" pitchFamily="2" charset="-122"/>
                          </a:rPr>
                          <m:t>𝑎</m:t>
                        </m:r>
                      </m:e>
                    </m:func>
                    <m:r>
                      <a:rPr lang="x-none" altLang="zh-CN" sz="1600" i="1" kern="100">
                        <a:effectLst/>
                        <a:latin typeface="Cambria Math" panose="02040503050406030204" pitchFamily="18" charset="0"/>
                        <a:ea typeface="宋体" panose="02010600030101010101" pitchFamily="2" charset="-122"/>
                      </a:rPr>
                      <m:t>=</m:t>
                    </m:r>
                    <m:func>
                      <m:funcPr>
                        <m:ctrlPr>
                          <a:rPr lang="zh-CN" altLang="zh-CN" sz="1600" i="1" kern="100">
                            <a:effectLst/>
                            <a:latin typeface="Cambria Math" panose="02040503050406030204" pitchFamily="18" charset="0"/>
                            <a:ea typeface="Cambria Math" panose="02040503050406030204" pitchFamily="18" charset="0"/>
                          </a:rPr>
                        </m:ctrlPr>
                      </m:funcPr>
                      <m:fName>
                        <m:sSub>
                          <m:sSubPr>
                            <m:ctrlPr>
                              <a:rPr lang="zh-CN" altLang="zh-CN" sz="1600" i="1" kern="100">
                                <a:effectLst/>
                                <a:latin typeface="Cambria Math" panose="02040503050406030204" pitchFamily="18" charset="0"/>
                                <a:ea typeface="Cambria Math" panose="02040503050406030204" pitchFamily="18" charset="0"/>
                              </a:rPr>
                            </m:ctrlPr>
                          </m:sSubPr>
                          <m:e>
                            <m:r>
                              <m:rPr>
                                <m:sty m:val="p"/>
                              </m:rPr>
                              <a:rPr lang="x-none" altLang="zh-CN" sz="1600" kern="100">
                                <a:effectLst/>
                                <a:latin typeface="Cambria Math" panose="02040503050406030204" pitchFamily="18" charset="0"/>
                                <a:ea typeface="宋体" panose="02010600030101010101" pitchFamily="2" charset="-122"/>
                              </a:rPr>
                              <m:t>log</m:t>
                            </m:r>
                          </m:e>
                          <m:sub>
                            <m:r>
                              <a:rPr lang="x-none" altLang="zh-CN" sz="1600" i="1" kern="100">
                                <a:effectLst/>
                                <a:latin typeface="Cambria Math" panose="02040503050406030204" pitchFamily="18" charset="0"/>
                                <a:ea typeface="宋体" panose="02010600030101010101" pitchFamily="2" charset="-122"/>
                              </a:rPr>
                              <m:t>2</m:t>
                            </m:r>
                          </m:sub>
                        </m:sSub>
                      </m:fName>
                      <m:e>
                        <m:r>
                          <a:rPr lang="x-none" altLang="zh-CN" sz="1600" i="1" kern="100">
                            <a:effectLst/>
                            <a:latin typeface="Cambria Math" panose="02040503050406030204" pitchFamily="18" charset="0"/>
                            <a:ea typeface="宋体" panose="02010600030101010101" pitchFamily="2" charset="-122"/>
                          </a:rPr>
                          <m:t>2</m:t>
                        </m:r>
                      </m:e>
                    </m:func>
                    <m:r>
                      <a:rPr lang="x-none" altLang="zh-CN" sz="1600" i="1" kern="100">
                        <a:effectLst/>
                        <a:latin typeface="Cambria Math" panose="02040503050406030204" pitchFamily="18" charset="0"/>
                        <a:ea typeface="宋体" panose="02010600030101010101" pitchFamily="2" charset="-122"/>
                      </a:rPr>
                      <m:t>=1</m:t>
                    </m:r>
                  </m:oMath>
                </a14:m>
                <a:endParaRPr lang="zh-CN" altLang="zh-CN" sz="1600" kern="100" dirty="0">
                  <a:effectLst/>
                  <a:latin typeface="Times New Roman" panose="02020603050405020304" pitchFamily="18" charset="0"/>
                  <a:ea typeface="宋体" panose="02010600030101010101" pitchFamily="2" charset="-122"/>
                </a:endParaRPr>
              </a:p>
              <a:p>
                <a:pPr algn="just"/>
                <a:endParaRPr lang="en-US" altLang="zh-CN" sz="1600" kern="100" dirty="0">
                  <a:latin typeface="Times New Roman" panose="02020603050405020304" pitchFamily="18" charset="0"/>
                  <a:ea typeface="宋体" panose="02010600030101010101" pitchFamily="2" charset="-122"/>
                </a:endParaRPr>
              </a:p>
              <a:p>
                <a:pPr algn="just"/>
                <a:r>
                  <a:rPr lang="zh-CN" altLang="zh-CN" sz="1600" kern="100" dirty="0">
                    <a:effectLst/>
                    <a:latin typeface="Times New Roman" panose="02020603050405020304" pitchFamily="18" charset="0"/>
                    <a:ea typeface="宋体" panose="02010600030101010101" pitchFamily="2" charset="-122"/>
                  </a:rPr>
                  <a:t>所以，时间复杂度为：</a:t>
                </a:r>
                <a14:m>
                  <m:oMath xmlns:m="http://schemas.openxmlformats.org/officeDocument/2006/math">
                    <m:r>
                      <a:rPr lang="x-none" altLang="zh-CN" sz="1600" i="1" kern="100">
                        <a:effectLst/>
                        <a:latin typeface="Cambria Math" panose="02040503050406030204" pitchFamily="18" charset="0"/>
                        <a:ea typeface="宋体" panose="02010600030101010101" pitchFamily="2" charset="-122"/>
                      </a:rPr>
                      <m:t>𝑇</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e>
                    </m:d>
                    <m:r>
                      <a:rPr lang="x-none" altLang="zh-CN" sz="1600" i="1" kern="100">
                        <a:effectLst/>
                        <a:latin typeface="Cambria Math" panose="02040503050406030204" pitchFamily="18" charset="0"/>
                        <a:ea typeface="宋体" panose="02010600030101010101" pitchFamily="2" charset="-122"/>
                      </a:rPr>
                      <m:t>=</m:t>
                    </m:r>
                    <m:r>
                      <a:rPr lang="x-none" altLang="zh-CN" sz="1600" i="1" kern="100">
                        <a:effectLst/>
                        <a:latin typeface="Cambria Math" panose="02040503050406030204" pitchFamily="18" charset="0"/>
                        <a:ea typeface="宋体" panose="02010600030101010101" pitchFamily="2" charset="-122"/>
                      </a:rPr>
                      <m:t>𝜃</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func>
                          <m:funcPr>
                            <m:ctrlPr>
                              <a:rPr lang="zh-CN" altLang="zh-CN" sz="1600" i="1" kern="100">
                                <a:effectLst/>
                                <a:latin typeface="Cambria Math" panose="02040503050406030204" pitchFamily="18" charset="0"/>
                                <a:ea typeface="Cambria Math" panose="02040503050406030204" pitchFamily="18" charset="0"/>
                              </a:rPr>
                            </m:ctrlPr>
                          </m:funcPr>
                          <m:fName>
                            <m:r>
                              <m:rPr>
                                <m:sty m:val="p"/>
                              </m:rPr>
                              <a:rPr lang="x-none" altLang="zh-CN" sz="1600" kern="100">
                                <a:effectLst/>
                                <a:latin typeface="Cambria Math" panose="02040503050406030204" pitchFamily="18" charset="0"/>
                                <a:ea typeface="宋体" panose="02010600030101010101" pitchFamily="2" charset="-122"/>
                              </a:rPr>
                              <m:t>log</m:t>
                            </m:r>
                          </m:fName>
                          <m:e>
                            <m:r>
                              <a:rPr lang="x-none" altLang="zh-CN" sz="1600" i="1" kern="100">
                                <a:effectLst/>
                                <a:latin typeface="Cambria Math" panose="02040503050406030204" pitchFamily="18" charset="0"/>
                                <a:ea typeface="宋体" panose="02010600030101010101" pitchFamily="2" charset="-122"/>
                              </a:rPr>
                              <m:t>𝑛</m:t>
                            </m:r>
                          </m:e>
                        </m:func>
                      </m:e>
                    </m:d>
                  </m:oMath>
                </a14:m>
                <a:endParaRPr lang="zh-CN" altLang="zh-CN" sz="1600" kern="100" dirty="0">
                  <a:effectLst/>
                  <a:latin typeface="Times New Roman" panose="02020603050405020304" pitchFamily="18" charset="0"/>
                  <a:ea typeface="宋体" panose="02010600030101010101" pitchFamily="2" charset="-122"/>
                </a:endParaRPr>
              </a:p>
            </p:txBody>
          </p:sp>
        </mc:Choice>
        <mc:Fallback xmlns="">
          <p:sp>
            <p:nvSpPr>
              <p:cNvPr id="11" name="文本框 10">
                <a:extLst>
                  <a:ext uri="{FF2B5EF4-FFF2-40B4-BE49-F238E27FC236}">
                    <a16:creationId xmlns:a16="http://schemas.microsoft.com/office/drawing/2014/main" id="{C7AF43A0-40ED-4CB9-9860-ECE31BBD2F60}"/>
                  </a:ext>
                </a:extLst>
              </p:cNvPr>
              <p:cNvSpPr txBox="1">
                <a:spLocks noRot="1" noChangeAspect="1" noMove="1" noResize="1" noEditPoints="1" noAdjustHandles="1" noChangeArrowheads="1" noChangeShapeType="1" noTextEdit="1"/>
              </p:cNvSpPr>
              <p:nvPr/>
            </p:nvSpPr>
            <p:spPr>
              <a:xfrm>
                <a:off x="5610808" y="5449561"/>
                <a:ext cx="6097554" cy="1355179"/>
              </a:xfrm>
              <a:prstGeom prst="rect">
                <a:avLst/>
              </a:prstGeom>
              <a:blipFill>
                <a:blip r:embed="rId5"/>
                <a:stretch>
                  <a:fillRect l="-500" t="-1802" b="-45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6067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zh-CN" altLang="en-US" sz="3200" b="1" dirty="0">
                <a:latin typeface="+mn-lt"/>
                <a:ea typeface="+mn-ea"/>
                <a:cs typeface="+mn-cs"/>
              </a:rPr>
              <a:t>快速排序、归并排序</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归并排序</a:t>
            </a:r>
          </a:p>
        </p:txBody>
      </p:sp>
      <p:sp>
        <p:nvSpPr>
          <p:cNvPr id="5" name="文本框 4">
            <a:extLst>
              <a:ext uri="{FF2B5EF4-FFF2-40B4-BE49-F238E27FC236}">
                <a16:creationId xmlns:a16="http://schemas.microsoft.com/office/drawing/2014/main" id="{82A092BF-4731-42B1-94EF-9CB3EC497435}"/>
              </a:ext>
            </a:extLst>
          </p:cNvPr>
          <p:cNvSpPr txBox="1"/>
          <p:nvPr/>
        </p:nvSpPr>
        <p:spPr>
          <a:xfrm>
            <a:off x="1923600" y="1520551"/>
            <a:ext cx="7980218" cy="584775"/>
          </a:xfrm>
          <a:prstGeom prst="rect">
            <a:avLst/>
          </a:prstGeom>
          <a:noFill/>
        </p:spPr>
        <p:txBody>
          <a:bodyPr wrap="square">
            <a:spAutoFit/>
          </a:bodyPr>
          <a:lstStyle/>
          <a:p>
            <a:pPr marL="533400" algn="just"/>
            <a:r>
              <a:rPr lang="en-US" altLang="zh-CN" sz="1600" kern="100" dirty="0">
                <a:effectLst/>
                <a:latin typeface="Times New Roman" panose="02020603050405020304" pitchFamily="18" charset="0"/>
                <a:ea typeface="宋体" panose="02010600030101010101" pitchFamily="2" charset="-122"/>
              </a:rPr>
              <a:t>	 </a:t>
            </a:r>
            <a:r>
              <a:rPr lang="zh-CN" altLang="zh-CN" sz="1600" kern="100" dirty="0">
                <a:effectLst/>
                <a:latin typeface="Times New Roman" panose="02020603050405020304" pitchFamily="18" charset="0"/>
                <a:ea typeface="宋体" panose="02010600030101010101" pitchFamily="2" charset="-122"/>
              </a:rPr>
              <a:t>使用</a:t>
            </a:r>
            <a:r>
              <a:rPr lang="x-none" altLang="zh-CN" sz="1600" kern="100" dirty="0">
                <a:effectLst/>
                <a:latin typeface="Times New Roman" panose="02020603050405020304" pitchFamily="18" charset="0"/>
                <a:ea typeface="宋体" panose="02010600030101010101" pitchFamily="2" charset="-122"/>
              </a:rPr>
              <a:t>[1,1000</a:t>
            </a:r>
            <a:r>
              <a:rPr lang="en-US" altLang="zh-CN" sz="1600" kern="100" dirty="0">
                <a:effectLst/>
                <a:latin typeface="Times New Roman" panose="02020603050405020304" pitchFamily="18" charset="0"/>
                <a:ea typeface="宋体" panose="02010600030101010101" pitchFamily="2" charset="-122"/>
              </a:rPr>
              <a:t>0000</a:t>
            </a:r>
            <a:r>
              <a:rPr lang="x-none" altLang="zh-CN" sz="1600" kern="100" dirty="0">
                <a:effectLst/>
                <a:latin typeface="Times New Roman" panose="02020603050405020304" pitchFamily="18" charset="0"/>
                <a:ea typeface="宋体" panose="02010600030101010101" pitchFamily="2" charset="-122"/>
              </a:rPr>
              <a:t>0)</a:t>
            </a:r>
            <a:r>
              <a:rPr lang="zh-CN" altLang="zh-CN" sz="1600" kern="100" dirty="0">
                <a:effectLst/>
                <a:latin typeface="Times New Roman" panose="02020603050405020304" pitchFamily="18" charset="0"/>
                <a:ea typeface="宋体" panose="02010600030101010101" pitchFamily="2" charset="-122"/>
              </a:rPr>
              <a:t>的随机数生成</a:t>
            </a:r>
            <a:r>
              <a:rPr lang="zh-CN" altLang="en-US" sz="1600" kern="100" dirty="0">
                <a:effectLst/>
                <a:latin typeface="Times New Roman" panose="02020603050405020304" pitchFamily="18" charset="0"/>
                <a:ea typeface="宋体" panose="02010600030101010101" pitchFamily="2" charset="-122"/>
              </a:rPr>
              <a:t>的</a:t>
            </a:r>
            <a:r>
              <a:rPr lang="zh-CN" altLang="zh-CN" sz="1600" kern="100" dirty="0">
                <a:effectLst/>
                <a:latin typeface="Times New Roman" panose="02020603050405020304" pitchFamily="18" charset="0"/>
                <a:ea typeface="宋体" panose="02010600030101010101" pitchFamily="2" charset="-122"/>
              </a:rPr>
              <a:t>数据样本，并分别对不同规模</a:t>
            </a:r>
            <a:r>
              <a:rPr lang="x-none" altLang="zh-CN" sz="1600" kern="100" dirty="0">
                <a:effectLst/>
                <a:latin typeface="Times New Roman" panose="02020603050405020304" pitchFamily="18" charset="0"/>
                <a:ea typeface="宋体" panose="02010600030101010101" pitchFamily="2" charset="-122"/>
              </a:rPr>
              <a:t>n</a:t>
            </a:r>
            <a:r>
              <a:rPr lang="zh-CN" altLang="zh-CN" sz="1600" kern="100" dirty="0">
                <a:effectLst/>
                <a:latin typeface="Times New Roman" panose="02020603050405020304" pitchFamily="18" charset="0"/>
                <a:ea typeface="宋体" panose="02010600030101010101" pitchFamily="2" charset="-122"/>
              </a:rPr>
              <a:t>生成了</a:t>
            </a:r>
            <a:r>
              <a:rPr lang="x-none" altLang="zh-CN" sz="1600" kern="100" dirty="0">
                <a:effectLst/>
                <a:latin typeface="Times New Roman" panose="02020603050405020304" pitchFamily="18" charset="0"/>
                <a:ea typeface="宋体" panose="02010600030101010101" pitchFamily="2" charset="-122"/>
              </a:rPr>
              <a:t>20</a:t>
            </a:r>
            <a:r>
              <a:rPr lang="zh-CN" altLang="zh-CN" sz="1600" kern="100" dirty="0">
                <a:effectLst/>
                <a:latin typeface="Times New Roman" panose="02020603050405020304" pitchFamily="18" charset="0"/>
                <a:ea typeface="宋体" panose="02010600030101010101" pitchFamily="2" charset="-122"/>
              </a:rPr>
              <a:t>个样本，统计每个规模下的样本排序时间并取平均值作为该规模下样本的排序时间。</a:t>
            </a:r>
          </a:p>
        </p:txBody>
      </p:sp>
      <p:sp>
        <p:nvSpPr>
          <p:cNvPr id="6" name="文本框 5">
            <a:extLst>
              <a:ext uri="{FF2B5EF4-FFF2-40B4-BE49-F238E27FC236}">
                <a16:creationId xmlns:a16="http://schemas.microsoft.com/office/drawing/2014/main" id="{AC579188-8900-4EBC-AF00-DBC1CC638505}"/>
              </a:ext>
            </a:extLst>
          </p:cNvPr>
          <p:cNvSpPr txBox="1"/>
          <p:nvPr/>
        </p:nvSpPr>
        <p:spPr>
          <a:xfrm>
            <a:off x="1156982" y="2803756"/>
            <a:ext cx="6097554" cy="338554"/>
          </a:xfrm>
          <a:prstGeom prst="rect">
            <a:avLst/>
          </a:prstGeom>
          <a:noFill/>
        </p:spPr>
        <p:txBody>
          <a:bodyPr wrap="square">
            <a:spAutoFit/>
          </a:bodyPr>
          <a:lstStyle/>
          <a:p>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归并</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排序不同规模</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的实际</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、理论</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运行时间</a:t>
            </a:r>
            <a:r>
              <a:rPr lang="zh-CN" altLang="en-US" sz="1600"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6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312198D-37B6-4BB7-A522-2DA62DF2A9F3}"/>
                  </a:ext>
                </a:extLst>
              </p:cNvPr>
              <p:cNvSpPr txBox="1"/>
              <p:nvPr/>
            </p:nvSpPr>
            <p:spPr>
              <a:xfrm>
                <a:off x="2463207" y="5489536"/>
                <a:ext cx="7265587" cy="646331"/>
              </a:xfrm>
              <a:prstGeom prst="rect">
                <a:avLst/>
              </a:prstGeom>
              <a:noFill/>
            </p:spPr>
            <p:txBody>
              <a:bodyPr wrap="square">
                <a:spAutoFit/>
              </a:bodyPr>
              <a:lstStyle/>
              <a:p>
                <a:pPr marL="266700" algn="just"/>
                <a:r>
                  <a:rPr lang="zh-CN" altLang="zh-CN" sz="2000" b="1" kern="100" dirty="0">
                    <a:effectLst/>
                    <a:latin typeface="Times New Roman" panose="02020603050405020304" pitchFamily="18" charset="0"/>
                    <a:ea typeface="宋体" panose="02010600030101010101" pitchFamily="2" charset="-122"/>
                  </a:rPr>
                  <a:t>结论：</a:t>
                </a:r>
                <a:r>
                  <a:rPr lang="zh-CN" altLang="zh-CN" sz="1600" kern="100" dirty="0">
                    <a:effectLst/>
                    <a:latin typeface="Times New Roman" panose="02020603050405020304" pitchFamily="18" charset="0"/>
                    <a:ea typeface="宋体" panose="02010600030101010101" pitchFamily="2" charset="-122"/>
                  </a:rPr>
                  <a:t>由图可得，本次实验中归并排序的实际时间效率和理论时间效率的趋势符合，且曲线图呈现</a:t>
                </a:r>
                <a14:m>
                  <m:oMath xmlns:m="http://schemas.openxmlformats.org/officeDocument/2006/math">
                    <m:r>
                      <a:rPr lang="en-US" altLang="zh-CN" sz="1600" i="1" kern="100">
                        <a:effectLst/>
                        <a:latin typeface="Cambria Math" panose="02040503050406030204" pitchFamily="18" charset="0"/>
                        <a:ea typeface="宋体" panose="02010600030101010101" pitchFamily="2" charset="-122"/>
                      </a:rPr>
                      <m:t>𝑂</m:t>
                    </m:r>
                    <m:d>
                      <m:dPr>
                        <m:ctrlPr>
                          <a:rPr lang="zh-CN" altLang="zh-CN" sz="1600" i="1" kern="100">
                            <a:effectLst/>
                            <a:latin typeface="Cambria Math" panose="02040503050406030204" pitchFamily="18" charset="0"/>
                            <a:ea typeface="Cambria Math" panose="02040503050406030204" pitchFamily="18" charset="0"/>
                          </a:rPr>
                        </m:ctrlPr>
                      </m:dPr>
                      <m:e>
                        <m:r>
                          <a:rPr lang="en-US" altLang="zh-CN" sz="1600" i="1" kern="100">
                            <a:effectLst/>
                            <a:latin typeface="Cambria Math" panose="02040503050406030204" pitchFamily="18" charset="0"/>
                            <a:ea typeface="宋体" panose="02010600030101010101" pitchFamily="2" charset="-122"/>
                          </a:rPr>
                          <m:t>𝑛</m:t>
                        </m:r>
                        <m:func>
                          <m:funcPr>
                            <m:ctrlPr>
                              <a:rPr lang="zh-CN" altLang="zh-CN" sz="1600" i="1" kern="100">
                                <a:effectLst/>
                                <a:latin typeface="Cambria Math" panose="02040503050406030204" pitchFamily="18" charset="0"/>
                                <a:ea typeface="Cambria Math" panose="02040503050406030204" pitchFamily="18" charset="0"/>
                              </a:rPr>
                            </m:ctrlPr>
                          </m:funcPr>
                          <m:fName>
                            <m:r>
                              <m:rPr>
                                <m:sty m:val="p"/>
                              </m:rPr>
                              <a:rPr lang="en-US" altLang="zh-CN" sz="1600" kern="100">
                                <a:effectLst/>
                                <a:latin typeface="Cambria Math" panose="02040503050406030204" pitchFamily="18" charset="0"/>
                                <a:ea typeface="宋体" panose="02010600030101010101" pitchFamily="2" charset="-122"/>
                              </a:rPr>
                              <m:t>log</m:t>
                            </m:r>
                          </m:fName>
                          <m:e>
                            <m:r>
                              <a:rPr lang="en-US" altLang="zh-CN" sz="1600" i="1" kern="100">
                                <a:effectLst/>
                                <a:latin typeface="Cambria Math" panose="02040503050406030204" pitchFamily="18" charset="0"/>
                                <a:ea typeface="宋体" panose="02010600030101010101" pitchFamily="2" charset="-122"/>
                              </a:rPr>
                              <m:t>𝑛</m:t>
                            </m:r>
                          </m:e>
                        </m:func>
                      </m:e>
                    </m:d>
                  </m:oMath>
                </a14:m>
                <a:r>
                  <a:rPr lang="zh-CN" altLang="zh-CN" sz="1600" kern="100" dirty="0">
                    <a:effectLst/>
                    <a:latin typeface="Times New Roman" panose="02020603050405020304" pitchFamily="18" charset="0"/>
                    <a:ea typeface="宋体" panose="02010600030101010101" pitchFamily="2" charset="-122"/>
                  </a:rPr>
                  <a:t>的曲线，且实际与理论之间的误差较小。</a:t>
                </a:r>
              </a:p>
            </p:txBody>
          </p:sp>
        </mc:Choice>
        <mc:Fallback xmlns="">
          <p:sp>
            <p:nvSpPr>
              <p:cNvPr id="9" name="文本框 8">
                <a:extLst>
                  <a:ext uri="{FF2B5EF4-FFF2-40B4-BE49-F238E27FC236}">
                    <a16:creationId xmlns:a16="http://schemas.microsoft.com/office/drawing/2014/main" id="{6312198D-37B6-4BB7-A522-2DA62DF2A9F3}"/>
                  </a:ext>
                </a:extLst>
              </p:cNvPr>
              <p:cNvSpPr txBox="1">
                <a:spLocks noRot="1" noChangeAspect="1" noMove="1" noResize="1" noEditPoints="1" noAdjustHandles="1" noChangeArrowheads="1" noChangeShapeType="1" noTextEdit="1"/>
              </p:cNvSpPr>
              <p:nvPr/>
            </p:nvSpPr>
            <p:spPr>
              <a:xfrm>
                <a:off x="2463207" y="5489536"/>
                <a:ext cx="7265587" cy="646331"/>
              </a:xfrm>
              <a:prstGeom prst="rect">
                <a:avLst/>
              </a:prstGeom>
              <a:blipFill>
                <a:blip r:embed="rId3"/>
                <a:stretch>
                  <a:fillRect t="-5660" r="-503" b="-10377"/>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0DF7189C-69B7-4912-9590-FE0A22278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4859" y="2105326"/>
            <a:ext cx="5695950" cy="3429603"/>
          </a:xfrm>
          <a:prstGeom prst="rect">
            <a:avLst/>
          </a:prstGeom>
        </p:spPr>
      </p:pic>
      <p:graphicFrame>
        <p:nvGraphicFramePr>
          <p:cNvPr id="11" name="表格 10">
            <a:extLst>
              <a:ext uri="{FF2B5EF4-FFF2-40B4-BE49-F238E27FC236}">
                <a16:creationId xmlns:a16="http://schemas.microsoft.com/office/drawing/2014/main" id="{876B6CB7-BD6F-47F6-926B-D322E214F768}"/>
              </a:ext>
            </a:extLst>
          </p:cNvPr>
          <p:cNvGraphicFramePr>
            <a:graphicFrameLocks noGrp="1"/>
          </p:cNvGraphicFramePr>
          <p:nvPr>
            <p:extLst>
              <p:ext uri="{D42A27DB-BD31-4B8C-83A1-F6EECF244321}">
                <p14:modId xmlns:p14="http://schemas.microsoft.com/office/powerpoint/2010/main" val="664174409"/>
              </p:ext>
            </p:extLst>
          </p:nvPr>
        </p:nvGraphicFramePr>
        <p:xfrm>
          <a:off x="390363" y="3120782"/>
          <a:ext cx="5339603" cy="1701989"/>
        </p:xfrm>
        <a:graphic>
          <a:graphicData uri="http://schemas.openxmlformats.org/drawingml/2006/table">
            <a:tbl>
              <a:tblPr>
                <a:tableStyleId>{5C22544A-7EE6-4342-B048-85BDC9FD1C3A}</a:tableStyleId>
              </a:tblPr>
              <a:tblGrid>
                <a:gridCol w="902260">
                  <a:extLst>
                    <a:ext uri="{9D8B030D-6E8A-4147-A177-3AD203B41FA5}">
                      <a16:colId xmlns:a16="http://schemas.microsoft.com/office/drawing/2014/main" val="670877525"/>
                    </a:ext>
                  </a:extLst>
                </a:gridCol>
                <a:gridCol w="869552">
                  <a:extLst>
                    <a:ext uri="{9D8B030D-6E8A-4147-A177-3AD203B41FA5}">
                      <a16:colId xmlns:a16="http://schemas.microsoft.com/office/drawing/2014/main" val="684594517"/>
                    </a:ext>
                  </a:extLst>
                </a:gridCol>
                <a:gridCol w="847725">
                  <a:extLst>
                    <a:ext uri="{9D8B030D-6E8A-4147-A177-3AD203B41FA5}">
                      <a16:colId xmlns:a16="http://schemas.microsoft.com/office/drawing/2014/main" val="3002805883"/>
                    </a:ext>
                  </a:extLst>
                </a:gridCol>
                <a:gridCol w="914400">
                  <a:extLst>
                    <a:ext uri="{9D8B030D-6E8A-4147-A177-3AD203B41FA5}">
                      <a16:colId xmlns:a16="http://schemas.microsoft.com/office/drawing/2014/main" val="2700678824"/>
                    </a:ext>
                  </a:extLst>
                </a:gridCol>
                <a:gridCol w="904875">
                  <a:extLst>
                    <a:ext uri="{9D8B030D-6E8A-4147-A177-3AD203B41FA5}">
                      <a16:colId xmlns:a16="http://schemas.microsoft.com/office/drawing/2014/main" val="1273372772"/>
                    </a:ext>
                  </a:extLst>
                </a:gridCol>
                <a:gridCol w="900791">
                  <a:extLst>
                    <a:ext uri="{9D8B030D-6E8A-4147-A177-3AD203B41FA5}">
                      <a16:colId xmlns:a16="http://schemas.microsoft.com/office/drawing/2014/main" val="3750283169"/>
                    </a:ext>
                  </a:extLst>
                </a:gridCol>
              </a:tblGrid>
              <a:tr h="345159">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规模</a:t>
                      </a:r>
                      <a:r>
                        <a:rPr lang="en-US" sz="14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200w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300w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400w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500w</a:t>
                      </a:r>
                    </a:p>
                  </a:txBody>
                  <a:tcPr marL="7620" marR="7620" marT="7620" marB="0" anchor="b">
                    <a:solidFill>
                      <a:srgbClr val="0070C0"/>
                    </a:solidFill>
                  </a:tcPr>
                </a:tc>
                <a:extLst>
                  <a:ext uri="{0D108BD9-81ED-4DB2-BD59-A6C34878D82A}">
                    <a16:rowId xmlns:a16="http://schemas.microsoft.com/office/drawing/2014/main" val="2168546056"/>
                  </a:ext>
                </a:extLst>
              </a:tr>
              <a:tr h="678415">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实际时间</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1746.74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3666.58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5703.05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7775.26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9847.16 </a:t>
                      </a:r>
                    </a:p>
                  </a:txBody>
                  <a:tcPr marL="7620" marR="7620" marT="7620" marB="0" anchor="b">
                    <a:solidFill>
                      <a:srgbClr val="79D6F3"/>
                    </a:solidFill>
                  </a:tcPr>
                </a:tc>
                <a:extLst>
                  <a:ext uri="{0D108BD9-81ED-4DB2-BD59-A6C34878D82A}">
                    <a16:rowId xmlns:a16="http://schemas.microsoft.com/office/drawing/2014/main" val="303040946"/>
                  </a:ext>
                </a:extLst>
              </a:tr>
              <a:tr h="678415">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理论时间</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1746.74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3703.80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a:solidFill>
                            <a:schemeClr val="dk1"/>
                          </a:solidFill>
                          <a:effectLst/>
                          <a:latin typeface="+mn-lt"/>
                          <a:ea typeface="+mn-ea"/>
                          <a:cs typeface="+mn-cs"/>
                        </a:rPr>
                        <a:t>5740.25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7828.26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9954.60 </a:t>
                      </a:r>
                    </a:p>
                  </a:txBody>
                  <a:tcPr marL="7620" marR="7620" marT="7620" marB="0" anchor="b">
                    <a:solidFill>
                      <a:srgbClr val="79D6F3"/>
                    </a:solidFill>
                  </a:tcPr>
                </a:tc>
                <a:extLst>
                  <a:ext uri="{0D108BD9-81ED-4DB2-BD59-A6C34878D82A}">
                    <a16:rowId xmlns:a16="http://schemas.microsoft.com/office/drawing/2014/main" val="553429898"/>
                  </a:ext>
                </a:extLst>
              </a:tr>
            </a:tbl>
          </a:graphicData>
        </a:graphic>
      </p:graphicFrame>
    </p:spTree>
    <p:extLst>
      <p:ext uri="{BB962C8B-B14F-4D97-AF65-F5344CB8AC3E}">
        <p14:creationId xmlns:p14="http://schemas.microsoft.com/office/powerpoint/2010/main" val="2879493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1" y="293614"/>
            <a:ext cx="7735091" cy="564054"/>
          </a:xfrm>
        </p:spPr>
        <p:txBody>
          <a:bodyPr>
            <a:noAutofit/>
          </a:bodyPr>
          <a:lstStyle/>
          <a:p>
            <a:r>
              <a:rPr lang="zh-CN" altLang="en-US" sz="3200" b="1" dirty="0">
                <a:latin typeface="+mn-lt"/>
                <a:ea typeface="+mn-ea"/>
                <a:cs typeface="+mn-cs"/>
              </a:rPr>
              <a:t>快速排序、归并排序</a:t>
            </a:r>
          </a:p>
        </p:txBody>
      </p:sp>
      <p:sp>
        <p:nvSpPr>
          <p:cNvPr id="11" name="文本框 10">
            <a:extLst>
              <a:ext uri="{FF2B5EF4-FFF2-40B4-BE49-F238E27FC236}">
                <a16:creationId xmlns:a16="http://schemas.microsoft.com/office/drawing/2014/main" id="{CC59A5AC-0BC8-43F2-912E-C422D53A448A}"/>
              </a:ext>
            </a:extLst>
          </p:cNvPr>
          <p:cNvSpPr txBox="1"/>
          <p:nvPr/>
        </p:nvSpPr>
        <p:spPr>
          <a:xfrm>
            <a:off x="1297637" y="2071052"/>
            <a:ext cx="6097554" cy="307777"/>
          </a:xfrm>
          <a:prstGeom prst="rect">
            <a:avLst/>
          </a:prstGeom>
          <a:noFill/>
        </p:spPr>
        <p:txBody>
          <a:bodyPr wrap="square">
            <a:spAutoFit/>
          </a:bodyPr>
          <a:lstStyle/>
          <a:p>
            <a:r>
              <a:rPr lang="zh-CN" altLang="en-US" sz="1400" b="1" kern="100" dirty="0">
                <a:latin typeface="Times New Roman" panose="02020603050405020304" pitchFamily="18" charset="0"/>
                <a:ea typeface="宋体" panose="02010600030101010101" pitchFamily="2" charset="-122"/>
                <a:cs typeface="Times New Roman" panose="02020603050405020304" pitchFamily="18" charset="0"/>
              </a:rPr>
              <a:t>两</a:t>
            </a:r>
            <a:r>
              <a:rPr lang="zh-CN" altLang="en-US" sz="1400" b="1" kern="100" dirty="0">
                <a:effectLst/>
                <a:latin typeface="Times New Roman" panose="02020603050405020304" pitchFamily="18" charset="0"/>
                <a:ea typeface="宋体" panose="02010600030101010101" pitchFamily="2" charset="-122"/>
                <a:cs typeface="Times New Roman" panose="02020603050405020304" pitchFamily="18" charset="0"/>
              </a:rPr>
              <a:t>种排序</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不同规模</a:t>
            </a:r>
            <a:r>
              <a:rPr lang="zh-CN" altLang="en-US" sz="1400" b="1" kern="100" dirty="0">
                <a:effectLst/>
                <a:latin typeface="Times New Roman" panose="02020603050405020304" pitchFamily="18" charset="0"/>
                <a:ea typeface="宋体" panose="02010600030101010101" pitchFamily="2" charset="-122"/>
                <a:cs typeface="Times New Roman" panose="02020603050405020304" pitchFamily="18" charset="0"/>
              </a:rPr>
              <a:t>下</a:t>
            </a: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的实际运行时间</a:t>
            </a:r>
            <a:r>
              <a:rPr lang="zh-CN" altLang="en-US" sz="1400" b="1" kern="100" dirty="0">
                <a:effectLst/>
                <a:latin typeface="Times New Roman" panose="02020603050405020304" pitchFamily="18" charset="0"/>
                <a:ea typeface="宋体" panose="02010600030101010101" pitchFamily="2" charset="-122"/>
                <a:cs typeface="Times New Roman" panose="02020603050405020304" pitchFamily="18" charset="0"/>
              </a:rPr>
              <a:t>表</a:t>
            </a:r>
            <a:endParaRPr lang="zh-CN" altLang="en-US" sz="1400" b="1" dirty="0"/>
          </a:p>
        </p:txBody>
      </p:sp>
      <p:sp>
        <p:nvSpPr>
          <p:cNvPr id="12" name="文本框 11">
            <a:extLst>
              <a:ext uri="{FF2B5EF4-FFF2-40B4-BE49-F238E27FC236}">
                <a16:creationId xmlns:a16="http://schemas.microsoft.com/office/drawing/2014/main" id="{C5275544-816E-4CA1-95ED-D3C3B61F8AAB}"/>
              </a:ext>
            </a:extLst>
          </p:cNvPr>
          <p:cNvSpPr txBox="1"/>
          <p:nvPr/>
        </p:nvSpPr>
        <p:spPr>
          <a:xfrm>
            <a:off x="390363" y="976897"/>
            <a:ext cx="3183261" cy="461665"/>
          </a:xfrm>
          <a:prstGeom prst="rect">
            <a:avLst/>
          </a:prstGeom>
          <a:noFill/>
        </p:spPr>
        <p:txBody>
          <a:bodyPr wrap="square" rtlCol="0">
            <a:spAutoFit/>
          </a:bodyPr>
          <a:lstStyle/>
          <a:p>
            <a:r>
              <a:rPr lang="zh-CN" altLang="en-US" sz="2400" b="1" dirty="0"/>
              <a:t>𝑂</a:t>
            </a:r>
            <a:r>
              <a:rPr lang="en-US" altLang="zh-CN" sz="2400" b="1" dirty="0"/>
              <a:t>(</a:t>
            </a:r>
            <a:r>
              <a:rPr lang="zh-CN" altLang="en-US" sz="2400" b="1" dirty="0"/>
              <a:t>𝑛 </a:t>
            </a:r>
            <a:r>
              <a:rPr lang="en-US" altLang="zh-CN" sz="2400" b="1" dirty="0"/>
              <a:t>log⁡</a:t>
            </a:r>
            <a:r>
              <a:rPr lang="zh-CN" altLang="en-US" sz="2400" b="1" dirty="0"/>
              <a:t>𝑛 </a:t>
            </a:r>
            <a:r>
              <a:rPr lang="en-US" altLang="zh-CN" sz="2400" b="1" dirty="0"/>
              <a:t>)</a:t>
            </a:r>
            <a:r>
              <a:rPr lang="zh-CN" altLang="en-US" sz="2400" b="1" dirty="0"/>
              <a:t>比较分析</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FF847E98-30B2-40E0-A5B8-A82F90F71174}"/>
                  </a:ext>
                </a:extLst>
              </p:cNvPr>
              <p:cNvSpPr txBox="1"/>
              <p:nvPr/>
            </p:nvSpPr>
            <p:spPr>
              <a:xfrm>
                <a:off x="2042485" y="5559507"/>
                <a:ext cx="8107030" cy="1138773"/>
              </a:xfrm>
              <a:prstGeom prst="rect">
                <a:avLst/>
              </a:prstGeom>
              <a:noFill/>
            </p:spPr>
            <p:txBody>
              <a:bodyPr wrap="square">
                <a:spAutoFit/>
              </a:bodyPr>
              <a:lstStyle/>
              <a:p>
                <a:pPr algn="just"/>
                <a:r>
                  <a:rPr lang="zh-CN" altLang="zh-CN" sz="2000" b="1" kern="100" dirty="0">
                    <a:effectLst/>
                    <a:latin typeface="Times New Roman" panose="02020603050405020304" pitchFamily="18" charset="0"/>
                    <a:ea typeface="宋体" panose="02010600030101010101" pitchFamily="2" charset="-122"/>
                  </a:rPr>
                  <a:t> 结论：</a:t>
                </a:r>
                <a:r>
                  <a:rPr lang="zh-CN" altLang="zh-CN" sz="1600" kern="100" dirty="0">
                    <a:effectLst/>
                    <a:latin typeface="Times New Roman" panose="02020603050405020304" pitchFamily="18" charset="0"/>
                    <a:ea typeface="宋体" panose="02010600030101010101" pitchFamily="2" charset="-122"/>
                  </a:rPr>
                  <a:t>快速排序在</a:t>
                </a:r>
                <a:r>
                  <a:rPr lang="zh-CN" altLang="en-US" sz="1600" kern="100" dirty="0">
                    <a:effectLst/>
                    <a:latin typeface="Times New Roman" panose="02020603050405020304" pitchFamily="18" charset="0"/>
                    <a:ea typeface="宋体" panose="02010600030101010101" pitchFamily="2" charset="-122"/>
                  </a:rPr>
                  <a:t>实际</a:t>
                </a:r>
                <a:r>
                  <a:rPr lang="zh-CN" altLang="zh-CN" sz="1600" kern="100" dirty="0">
                    <a:effectLst/>
                    <a:latin typeface="Times New Roman" panose="02020603050405020304" pitchFamily="18" charset="0"/>
                    <a:ea typeface="宋体" panose="02010600030101010101" pitchFamily="2" charset="-122"/>
                  </a:rPr>
                  <a:t>时间效率均远远比归并排序要高，且归并排序的时间</a:t>
                </a:r>
                <a:r>
                  <a:rPr lang="zh-CN" altLang="en-US" sz="1600" kern="100" dirty="0">
                    <a:latin typeface="Times New Roman" panose="02020603050405020304" pitchFamily="18" charset="0"/>
                    <a:ea typeface="宋体" panose="02010600030101010101" pitchFamily="2" charset="-122"/>
                  </a:rPr>
                  <a:t>开销</a:t>
                </a:r>
                <a:r>
                  <a:rPr lang="zh-CN" altLang="zh-CN" sz="1600" kern="100" dirty="0">
                    <a:effectLst/>
                    <a:latin typeface="Times New Roman" panose="02020603050405020304" pitchFamily="18" charset="0"/>
                    <a:ea typeface="宋体" panose="02010600030101010101" pitchFamily="2" charset="-122"/>
                  </a:rPr>
                  <a:t>比快速排序大</a:t>
                </a:r>
                <a:r>
                  <a:rPr lang="en-US" altLang="zh-CN" sz="1600" kern="100" dirty="0">
                    <a:latin typeface="Times New Roman" panose="02020603050405020304" pitchFamily="18" charset="0"/>
                    <a:ea typeface="宋体" panose="02010600030101010101" pitchFamily="2" charset="-122"/>
                  </a:rPr>
                  <a:t>7</a:t>
                </a:r>
                <a:r>
                  <a:rPr lang="zh-CN" altLang="zh-CN" sz="1600" kern="100" dirty="0">
                    <a:effectLst/>
                    <a:latin typeface="Times New Roman" panose="02020603050405020304" pitchFamily="18" charset="0"/>
                    <a:ea typeface="宋体" panose="02010600030101010101" pitchFamily="2" charset="-122"/>
                  </a:rPr>
                  <a:t>倍以上。</a:t>
                </a:r>
                <a:endParaRPr lang="en-US" altLang="zh-CN" sz="1600" kern="100" dirty="0">
                  <a:effectLst/>
                  <a:latin typeface="Times New Roman" panose="02020603050405020304" pitchFamily="18" charset="0"/>
                  <a:ea typeface="宋体" panose="02010600030101010101" pitchFamily="2" charset="-122"/>
                </a:endParaRPr>
              </a:p>
              <a:p>
                <a:pPr algn="just"/>
                <a:r>
                  <a:rPr lang="zh-CN" altLang="zh-CN" sz="1600" kern="100" dirty="0">
                    <a:effectLst/>
                    <a:latin typeface="Times New Roman" panose="02020603050405020304" pitchFamily="18" charset="0"/>
                    <a:ea typeface="宋体" panose="02010600030101010101" pitchFamily="2" charset="-122"/>
                  </a:rPr>
                  <a:t>所以，在时间复杂度均为</a:t>
                </a:r>
                <a14:m>
                  <m:oMath xmlns:m="http://schemas.openxmlformats.org/officeDocument/2006/math">
                    <m:r>
                      <a:rPr lang="x-none" altLang="zh-CN" sz="1600" i="1" kern="100">
                        <a:effectLst/>
                        <a:latin typeface="Cambria Math" panose="02040503050406030204" pitchFamily="18" charset="0"/>
                        <a:ea typeface="宋体" panose="02010600030101010101" pitchFamily="2" charset="-122"/>
                      </a:rPr>
                      <m:t>𝑂</m:t>
                    </m:r>
                    <m:d>
                      <m:dPr>
                        <m:ctrlPr>
                          <a:rPr lang="zh-CN" altLang="zh-CN" sz="1600" i="1" kern="100">
                            <a:effectLst/>
                            <a:latin typeface="Cambria Math" panose="02040503050406030204" pitchFamily="18" charset="0"/>
                            <a:ea typeface="Cambria Math" panose="02040503050406030204" pitchFamily="18" charset="0"/>
                          </a:rPr>
                        </m:ctrlPr>
                      </m:dPr>
                      <m:e>
                        <m:r>
                          <a:rPr lang="x-none" altLang="zh-CN" sz="1600" i="1" kern="100">
                            <a:effectLst/>
                            <a:latin typeface="Cambria Math" panose="02040503050406030204" pitchFamily="18" charset="0"/>
                            <a:ea typeface="宋体" panose="02010600030101010101" pitchFamily="2" charset="-122"/>
                          </a:rPr>
                          <m:t>𝑛</m:t>
                        </m:r>
                        <m:func>
                          <m:funcPr>
                            <m:ctrlPr>
                              <a:rPr lang="zh-CN" altLang="zh-CN" sz="1600" i="1" kern="100">
                                <a:effectLst/>
                                <a:latin typeface="Cambria Math" panose="02040503050406030204" pitchFamily="18" charset="0"/>
                                <a:ea typeface="Cambria Math" panose="02040503050406030204" pitchFamily="18" charset="0"/>
                              </a:rPr>
                            </m:ctrlPr>
                          </m:funcPr>
                          <m:fName>
                            <m:r>
                              <m:rPr>
                                <m:sty m:val="p"/>
                              </m:rPr>
                              <a:rPr lang="x-none" altLang="zh-CN" sz="1600" kern="100">
                                <a:effectLst/>
                                <a:latin typeface="Cambria Math" panose="02040503050406030204" pitchFamily="18" charset="0"/>
                                <a:ea typeface="宋体" panose="02010600030101010101" pitchFamily="2" charset="-122"/>
                              </a:rPr>
                              <m:t>log</m:t>
                            </m:r>
                          </m:fName>
                          <m:e>
                            <m:r>
                              <a:rPr lang="x-none" altLang="zh-CN" sz="1600" i="1" kern="100">
                                <a:effectLst/>
                                <a:latin typeface="Cambria Math" panose="02040503050406030204" pitchFamily="18" charset="0"/>
                                <a:ea typeface="宋体" panose="02010600030101010101" pitchFamily="2" charset="-122"/>
                              </a:rPr>
                              <m:t>𝑛</m:t>
                            </m:r>
                          </m:e>
                        </m:func>
                      </m:e>
                    </m:d>
                  </m:oMath>
                </a14:m>
                <a:r>
                  <a:rPr lang="zh-CN" altLang="zh-CN" sz="1600" kern="100" dirty="0">
                    <a:effectLst/>
                    <a:latin typeface="Times New Roman" panose="02020603050405020304" pitchFamily="18" charset="0"/>
                    <a:ea typeface="宋体" panose="02010600030101010101" pitchFamily="2" charset="-122"/>
                  </a:rPr>
                  <a:t>下，快速排序在数据规模为</a:t>
                </a:r>
                <a:r>
                  <a:rPr lang="x-none" altLang="zh-CN" sz="1600" kern="100" dirty="0">
                    <a:effectLst/>
                    <a:latin typeface="Times New Roman" panose="02020603050405020304" pitchFamily="18" charset="0"/>
                    <a:ea typeface="宋体" panose="02010600030101010101" pitchFamily="2" charset="-122"/>
                  </a:rPr>
                  <a:t>10</a:t>
                </a:r>
                <a:r>
                  <a:rPr lang="en-US" altLang="zh-CN" sz="1600" kern="100" dirty="0">
                    <a:effectLst/>
                    <a:latin typeface="Times New Roman" panose="02020603050405020304" pitchFamily="18" charset="0"/>
                    <a:ea typeface="宋体" panose="02010600030101010101" pitchFamily="2" charset="-122"/>
                  </a:rPr>
                  <a:t>0</a:t>
                </a:r>
                <a:r>
                  <a:rPr lang="x-none" altLang="zh-CN" sz="1600" kern="100" dirty="0">
                    <a:effectLst/>
                    <a:latin typeface="Times New Roman" panose="02020603050405020304" pitchFamily="18" charset="0"/>
                    <a:ea typeface="宋体" panose="02010600030101010101" pitchFamily="2" charset="-122"/>
                  </a:rPr>
                  <a:t>w—50</a:t>
                </a:r>
                <a:r>
                  <a:rPr lang="en-US" altLang="zh-CN" sz="1600" kern="100" dirty="0">
                    <a:effectLst/>
                    <a:latin typeface="Times New Roman" panose="02020603050405020304" pitchFamily="18" charset="0"/>
                    <a:ea typeface="宋体" panose="02010600030101010101" pitchFamily="2" charset="-122"/>
                  </a:rPr>
                  <a:t>0</a:t>
                </a:r>
                <a:r>
                  <a:rPr lang="x-none" altLang="zh-CN" sz="1600" kern="100" dirty="0">
                    <a:effectLst/>
                    <a:latin typeface="Times New Roman" panose="02020603050405020304" pitchFamily="18" charset="0"/>
                    <a:ea typeface="宋体" panose="02010600030101010101" pitchFamily="2" charset="-122"/>
                  </a:rPr>
                  <a:t>w</a:t>
                </a:r>
                <a:r>
                  <a:rPr lang="zh-CN" altLang="zh-CN" sz="1600" kern="100" dirty="0">
                    <a:effectLst/>
                    <a:latin typeface="Times New Roman" panose="02020603050405020304" pitchFamily="18" charset="0"/>
                    <a:ea typeface="宋体" panose="02010600030101010101" pitchFamily="2" charset="-122"/>
                  </a:rPr>
                  <a:t>下的时间效率远比归并排序高。</a:t>
                </a:r>
              </a:p>
            </p:txBody>
          </p:sp>
        </mc:Choice>
        <mc:Fallback xmlns="">
          <p:sp>
            <p:nvSpPr>
              <p:cNvPr id="19" name="文本框 18">
                <a:extLst>
                  <a:ext uri="{FF2B5EF4-FFF2-40B4-BE49-F238E27FC236}">
                    <a16:creationId xmlns:a16="http://schemas.microsoft.com/office/drawing/2014/main" id="{FF847E98-30B2-40E0-A5B8-A82F90F71174}"/>
                  </a:ext>
                </a:extLst>
              </p:cNvPr>
              <p:cNvSpPr txBox="1">
                <a:spLocks noRot="1" noChangeAspect="1" noMove="1" noResize="1" noEditPoints="1" noAdjustHandles="1" noChangeArrowheads="1" noChangeShapeType="1" noTextEdit="1"/>
              </p:cNvSpPr>
              <p:nvPr/>
            </p:nvSpPr>
            <p:spPr>
              <a:xfrm>
                <a:off x="2042485" y="5559507"/>
                <a:ext cx="8107030" cy="1138773"/>
              </a:xfrm>
              <a:prstGeom prst="rect">
                <a:avLst/>
              </a:prstGeom>
              <a:blipFill>
                <a:blip r:embed="rId2"/>
                <a:stretch>
                  <a:fillRect l="-376" t="-4278" r="-451" b="-5348"/>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836F92E-D38B-4B27-94EB-3C989A6B86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2137" y="1487757"/>
            <a:ext cx="5953125" cy="3619500"/>
          </a:xfrm>
          <a:prstGeom prst="rect">
            <a:avLst/>
          </a:prstGeom>
        </p:spPr>
      </p:pic>
      <p:graphicFrame>
        <p:nvGraphicFramePr>
          <p:cNvPr id="7" name="表格 6">
            <a:extLst>
              <a:ext uri="{FF2B5EF4-FFF2-40B4-BE49-F238E27FC236}">
                <a16:creationId xmlns:a16="http://schemas.microsoft.com/office/drawing/2014/main" id="{0658A91F-87D9-41B0-B3F3-036454AEA5AF}"/>
              </a:ext>
            </a:extLst>
          </p:cNvPr>
          <p:cNvGraphicFramePr>
            <a:graphicFrameLocks noGrp="1"/>
          </p:cNvGraphicFramePr>
          <p:nvPr>
            <p:extLst>
              <p:ext uri="{D42A27DB-BD31-4B8C-83A1-F6EECF244321}">
                <p14:modId xmlns:p14="http://schemas.microsoft.com/office/powerpoint/2010/main" val="2536057063"/>
              </p:ext>
            </p:extLst>
          </p:nvPr>
        </p:nvGraphicFramePr>
        <p:xfrm>
          <a:off x="566738" y="2476500"/>
          <a:ext cx="4879974" cy="1440758"/>
        </p:xfrm>
        <a:graphic>
          <a:graphicData uri="http://schemas.openxmlformats.org/drawingml/2006/table">
            <a:tbl>
              <a:tblPr>
                <a:tableStyleId>{5C22544A-7EE6-4342-B048-85BDC9FD1C3A}</a:tableStyleId>
              </a:tblPr>
              <a:tblGrid>
                <a:gridCol w="842962">
                  <a:extLst>
                    <a:ext uri="{9D8B030D-6E8A-4147-A177-3AD203B41FA5}">
                      <a16:colId xmlns:a16="http://schemas.microsoft.com/office/drawing/2014/main" val="3911208963"/>
                    </a:ext>
                  </a:extLst>
                </a:gridCol>
                <a:gridCol w="809625">
                  <a:extLst>
                    <a:ext uri="{9D8B030D-6E8A-4147-A177-3AD203B41FA5}">
                      <a16:colId xmlns:a16="http://schemas.microsoft.com/office/drawing/2014/main" val="1908194693"/>
                    </a:ext>
                  </a:extLst>
                </a:gridCol>
                <a:gridCol w="790575">
                  <a:extLst>
                    <a:ext uri="{9D8B030D-6E8A-4147-A177-3AD203B41FA5}">
                      <a16:colId xmlns:a16="http://schemas.microsoft.com/office/drawing/2014/main" val="3917705646"/>
                    </a:ext>
                  </a:extLst>
                </a:gridCol>
                <a:gridCol w="809625">
                  <a:extLst>
                    <a:ext uri="{9D8B030D-6E8A-4147-A177-3AD203B41FA5}">
                      <a16:colId xmlns:a16="http://schemas.microsoft.com/office/drawing/2014/main" val="18403934"/>
                    </a:ext>
                  </a:extLst>
                </a:gridCol>
                <a:gridCol w="790575">
                  <a:extLst>
                    <a:ext uri="{9D8B030D-6E8A-4147-A177-3AD203B41FA5}">
                      <a16:colId xmlns:a16="http://schemas.microsoft.com/office/drawing/2014/main" val="1634263186"/>
                    </a:ext>
                  </a:extLst>
                </a:gridCol>
                <a:gridCol w="836612">
                  <a:extLst>
                    <a:ext uri="{9D8B030D-6E8A-4147-A177-3AD203B41FA5}">
                      <a16:colId xmlns:a16="http://schemas.microsoft.com/office/drawing/2014/main" val="3254505805"/>
                    </a:ext>
                  </a:extLst>
                </a:gridCol>
              </a:tblGrid>
              <a:tr h="63773">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规模</a:t>
                      </a:r>
                      <a:r>
                        <a:rPr lang="en-US" sz="1400" b="1" u="none" strike="noStrike" kern="120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100w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200w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300w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a:solidFill>
                            <a:schemeClr val="dk1"/>
                          </a:solidFill>
                          <a:effectLst/>
                          <a:latin typeface="+mn-lt"/>
                          <a:ea typeface="+mn-ea"/>
                          <a:cs typeface="+mn-cs"/>
                        </a:rPr>
                        <a:t>400w</a:t>
                      </a:r>
                    </a:p>
                  </a:txBody>
                  <a:tcPr marL="7620" marR="7620" marT="7620" marB="0" anchor="b">
                    <a:solidFill>
                      <a:srgbClr val="0070C0"/>
                    </a:solidFill>
                  </a:tcPr>
                </a:tc>
                <a:tc>
                  <a:txBody>
                    <a:bodyPr/>
                    <a:lstStyle/>
                    <a:p>
                      <a:pPr marL="0" algn="ctr" defTabSz="914400" rtl="0" eaLnBrk="1" fontAlgn="b" latinLnBrk="0" hangingPunct="1"/>
                      <a:r>
                        <a:rPr lang="en-US" sz="1400" b="1" u="none" strike="noStrike" kern="1200" dirty="0">
                          <a:solidFill>
                            <a:schemeClr val="dk1"/>
                          </a:solidFill>
                          <a:effectLst/>
                          <a:latin typeface="+mn-lt"/>
                          <a:ea typeface="+mn-ea"/>
                          <a:cs typeface="+mn-cs"/>
                        </a:rPr>
                        <a:t>500w</a:t>
                      </a:r>
                    </a:p>
                  </a:txBody>
                  <a:tcPr marL="7620" marR="7620" marT="7620" marB="0" anchor="b">
                    <a:solidFill>
                      <a:srgbClr val="0070C0"/>
                    </a:solidFill>
                  </a:tcPr>
                </a:tc>
                <a:extLst>
                  <a:ext uri="{0D108BD9-81ED-4DB2-BD59-A6C34878D82A}">
                    <a16:rowId xmlns:a16="http://schemas.microsoft.com/office/drawing/2014/main" val="3922118221"/>
                  </a:ext>
                </a:extLst>
              </a:tr>
              <a:tr h="609889">
                <a:tc>
                  <a:txBody>
                    <a:bodyPr/>
                    <a:lstStyle/>
                    <a:p>
                      <a:pPr marL="0" algn="ctr" defTabSz="914400" rtl="0" eaLnBrk="1" fontAlgn="b" latinLnBrk="0" hangingPunct="1"/>
                      <a:r>
                        <a:rPr lang="zh-CN" altLang="en-US" sz="1400" b="1" u="none" strike="noStrike" kern="1200">
                          <a:solidFill>
                            <a:schemeClr val="dk1"/>
                          </a:solidFill>
                          <a:effectLst/>
                          <a:latin typeface="+mn-lt"/>
                          <a:ea typeface="+mn-ea"/>
                          <a:cs typeface="+mn-cs"/>
                        </a:rPr>
                        <a:t>归并排序</a:t>
                      </a:r>
                      <a:r>
                        <a:rPr lang="en-US" altLang="zh-CN" sz="1400" b="1" u="none" strike="noStrike" kern="1200">
                          <a:solidFill>
                            <a:schemeClr val="dk1"/>
                          </a:solidFill>
                          <a:effectLst/>
                          <a:latin typeface="+mn-lt"/>
                          <a:ea typeface="+mn-ea"/>
                          <a:cs typeface="+mn-cs"/>
                        </a:rPr>
                        <a:t>(</a:t>
                      </a:r>
                      <a:r>
                        <a:rPr lang="en-US" sz="1400" b="1" u="none" strike="noStrike" kern="1200">
                          <a:solidFill>
                            <a:schemeClr val="dk1"/>
                          </a:solidFill>
                          <a:effectLst/>
                          <a:latin typeface="+mn-lt"/>
                          <a:ea typeface="+mn-ea"/>
                          <a:cs typeface="+mn-cs"/>
                        </a:rPr>
                        <a:t>ms)</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1746.74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3666.58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5703.05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7775.26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9847.16 </a:t>
                      </a:r>
                    </a:p>
                  </a:txBody>
                  <a:tcPr marL="7620" marR="7620" marT="7620" marB="0" anchor="b">
                    <a:solidFill>
                      <a:srgbClr val="79D6F3"/>
                    </a:solidFill>
                  </a:tcPr>
                </a:tc>
                <a:extLst>
                  <a:ext uri="{0D108BD9-81ED-4DB2-BD59-A6C34878D82A}">
                    <a16:rowId xmlns:a16="http://schemas.microsoft.com/office/drawing/2014/main" val="1865325696"/>
                  </a:ext>
                </a:extLst>
              </a:tr>
              <a:tr h="609889">
                <a:tc>
                  <a:txBody>
                    <a:bodyPr/>
                    <a:lstStyle/>
                    <a:p>
                      <a:pPr marL="0" algn="ctr" defTabSz="914400" rtl="0" eaLnBrk="1" fontAlgn="b" latinLnBrk="0" hangingPunct="1"/>
                      <a:r>
                        <a:rPr lang="zh-CN" altLang="en-US" sz="1400" b="1" u="none" strike="noStrike" kern="1200" dirty="0">
                          <a:solidFill>
                            <a:schemeClr val="dk1"/>
                          </a:solidFill>
                          <a:effectLst/>
                          <a:latin typeface="+mn-lt"/>
                          <a:ea typeface="+mn-ea"/>
                          <a:cs typeface="+mn-cs"/>
                        </a:rPr>
                        <a:t>快速排序</a:t>
                      </a:r>
                      <a:r>
                        <a:rPr lang="en-US" altLang="zh-CN" sz="1400" b="1" u="none" strike="noStrike" kern="1200" dirty="0">
                          <a:solidFill>
                            <a:schemeClr val="dk1"/>
                          </a:solidFill>
                          <a:effectLst/>
                          <a:latin typeface="+mn-lt"/>
                          <a:ea typeface="+mn-ea"/>
                          <a:cs typeface="+mn-cs"/>
                        </a:rPr>
                        <a:t>(</a:t>
                      </a:r>
                      <a:r>
                        <a:rPr lang="en-US" sz="1400" b="1" u="none" strike="noStrike" kern="1200" dirty="0" err="1">
                          <a:solidFill>
                            <a:schemeClr val="dk1"/>
                          </a:solidFill>
                          <a:effectLst/>
                          <a:latin typeface="+mn-lt"/>
                          <a:ea typeface="+mn-ea"/>
                          <a:cs typeface="+mn-cs"/>
                        </a:rPr>
                        <a:t>ms</a:t>
                      </a:r>
                      <a:r>
                        <a:rPr lang="en-US" sz="1400" b="1" u="none" strike="noStrike" kern="1200" dirty="0">
                          <a:solidFill>
                            <a:schemeClr val="dk1"/>
                          </a:solidFill>
                          <a:effectLst/>
                          <a:latin typeface="+mn-lt"/>
                          <a:ea typeface="+mn-ea"/>
                          <a:cs typeface="+mn-cs"/>
                        </a:rPr>
                        <a:t>)</a:t>
                      </a:r>
                    </a:p>
                  </a:txBody>
                  <a:tcPr marL="7620" marR="7620" marT="7620" marB="0" anchor="b">
                    <a:solidFill>
                      <a:srgbClr val="0070C0"/>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267.95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566.42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869.47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1184.26 </a:t>
                      </a:r>
                    </a:p>
                  </a:txBody>
                  <a:tcPr marL="7620" marR="7620" marT="7620" marB="0" anchor="b">
                    <a:solidFill>
                      <a:srgbClr val="79D6F3"/>
                    </a:solidFill>
                  </a:tcPr>
                </a:tc>
                <a:tc>
                  <a:txBody>
                    <a:bodyPr/>
                    <a:lstStyle/>
                    <a:p>
                      <a:pPr marL="0" algn="ctr" defTabSz="914400" rtl="0" eaLnBrk="1" fontAlgn="b" latinLnBrk="0" hangingPunct="1"/>
                      <a:r>
                        <a:rPr lang="en-US" altLang="zh-CN" sz="1400" b="1" u="none" strike="noStrike" kern="1200" dirty="0">
                          <a:solidFill>
                            <a:schemeClr val="dk1"/>
                          </a:solidFill>
                          <a:effectLst/>
                          <a:latin typeface="+mn-lt"/>
                          <a:ea typeface="+mn-ea"/>
                          <a:cs typeface="+mn-cs"/>
                        </a:rPr>
                        <a:t>1502.95 </a:t>
                      </a:r>
                    </a:p>
                  </a:txBody>
                  <a:tcPr marL="7620" marR="7620" marT="7620" marB="0" anchor="b">
                    <a:solidFill>
                      <a:srgbClr val="79D6F3"/>
                    </a:solidFill>
                  </a:tcPr>
                </a:tc>
                <a:extLst>
                  <a:ext uri="{0D108BD9-81ED-4DB2-BD59-A6C34878D82A}">
                    <a16:rowId xmlns:a16="http://schemas.microsoft.com/office/drawing/2014/main" val="136277870"/>
                  </a:ext>
                </a:extLst>
              </a:tr>
            </a:tbl>
          </a:graphicData>
        </a:graphic>
      </p:graphicFrame>
    </p:spTree>
    <p:extLst>
      <p:ext uri="{BB962C8B-B14F-4D97-AF65-F5344CB8AC3E}">
        <p14:creationId xmlns:p14="http://schemas.microsoft.com/office/powerpoint/2010/main" val="1913676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en-US" altLang="zh-CN" sz="3200" b="1" dirty="0">
                <a:latin typeface="+mn-lt"/>
                <a:ea typeface="+mn-ea"/>
                <a:cs typeface="+mn-cs"/>
              </a:rPr>
              <a:t>Top K</a:t>
            </a:r>
            <a:r>
              <a:rPr lang="zh-CN" altLang="en-US" sz="3200" b="1" dirty="0">
                <a:latin typeface="+mn-lt"/>
                <a:ea typeface="+mn-ea"/>
                <a:cs typeface="+mn-cs"/>
              </a:rPr>
              <a:t>问题</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快速排序</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4B266F5-9888-4D78-BC51-5FBE69E8A24D}"/>
                  </a:ext>
                </a:extLst>
              </p:cNvPr>
              <p:cNvSpPr txBox="1"/>
              <p:nvPr/>
            </p:nvSpPr>
            <p:spPr>
              <a:xfrm>
                <a:off x="2581275" y="1438562"/>
                <a:ext cx="6096000" cy="646331"/>
              </a:xfrm>
              <a:prstGeom prst="rect">
                <a:avLst/>
              </a:prstGeom>
              <a:noFill/>
            </p:spPr>
            <p:txBody>
              <a:bodyPr wrap="square">
                <a:spAutoFit/>
              </a:bodyPr>
              <a:lstStyle/>
              <a:p>
                <a:r>
                  <a:rPr lang="zh-CN" altLang="en-US" sz="1800" kern="100" dirty="0">
                    <a:effectLst/>
                    <a:latin typeface="Times New Roman" panose="02020603050405020304" pitchFamily="18" charset="0"/>
                    <a:ea typeface="宋体" panose="02010600030101010101" pitchFamily="2" charset="-122"/>
                  </a:rPr>
                  <a:t>由上述实验可得：</a:t>
                </a:r>
                <a:r>
                  <a:rPr lang="zh-CN" altLang="zh-CN" sz="1800" kern="100" dirty="0">
                    <a:effectLst/>
                    <a:latin typeface="Times New Roman" panose="02020603050405020304" pitchFamily="18" charset="0"/>
                    <a:ea typeface="宋体" panose="02010600030101010101" pitchFamily="2" charset="-122"/>
                  </a:rPr>
                  <a:t>快速排序</a:t>
                </a:r>
                <a:r>
                  <a:rPr lang="zh-CN" altLang="en-US" sz="1800" kern="100" dirty="0">
                    <a:effectLst/>
                    <a:latin typeface="Times New Roman" panose="02020603050405020304" pitchFamily="18" charset="0"/>
                    <a:ea typeface="宋体" panose="02010600030101010101" pitchFamily="2" charset="-122"/>
                  </a:rPr>
                  <a:t>的排序时间最快也稳定于</a:t>
                </a:r>
                <a14:m>
                  <m:oMath xmlns:m="http://schemas.openxmlformats.org/officeDocument/2006/math">
                    <m:r>
                      <a:rPr lang="en-US" altLang="zh-CN" sz="1800" i="1" kern="100" smtClean="0">
                        <a:effectLst/>
                        <a:latin typeface="Cambria Math" panose="02040503050406030204" pitchFamily="18" charset="0"/>
                        <a:ea typeface="宋体" panose="02010600030101010101" pitchFamily="2" charset="-122"/>
                      </a:rPr>
                      <m:t>𝑂</m:t>
                    </m:r>
                    <m:d>
                      <m:dPr>
                        <m:ctrlPr>
                          <a:rPr lang="zh-CN" altLang="zh-CN" sz="1800" i="1" kern="100">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宋体" panose="02010600030101010101" pitchFamily="2" charset="-122"/>
                          </a:rPr>
                          <m:t>𝑛</m:t>
                        </m:r>
                        <m:func>
                          <m:funcPr>
                            <m:ctrlPr>
                              <a:rPr lang="zh-CN" altLang="zh-CN" sz="1800" i="1" kern="100">
                                <a:effectLst/>
                                <a:latin typeface="Cambria Math" panose="02040503050406030204" pitchFamily="18" charset="0"/>
                                <a:ea typeface="Cambria Math" panose="02040503050406030204" pitchFamily="18" charset="0"/>
                              </a:rPr>
                            </m:ctrlPr>
                          </m:funcPr>
                          <m:fName>
                            <m:r>
                              <m:rPr>
                                <m:sty m:val="p"/>
                              </m:rPr>
                              <a:rPr lang="en-US" altLang="zh-CN" sz="1800" kern="100">
                                <a:effectLst/>
                                <a:latin typeface="Cambria Math" panose="02040503050406030204" pitchFamily="18" charset="0"/>
                                <a:ea typeface="宋体" panose="02010600030101010101" pitchFamily="2" charset="-122"/>
                              </a:rPr>
                              <m:t>log</m:t>
                            </m:r>
                          </m:fName>
                          <m:e>
                            <m:r>
                              <a:rPr lang="en-US" altLang="zh-CN" sz="1800" i="1" kern="100">
                                <a:effectLst/>
                                <a:latin typeface="Cambria Math" panose="02040503050406030204" pitchFamily="18" charset="0"/>
                                <a:ea typeface="宋体" panose="02010600030101010101" pitchFamily="2" charset="-122"/>
                              </a:rPr>
                              <m:t>𝑛</m:t>
                            </m:r>
                          </m:e>
                        </m:func>
                      </m:e>
                    </m:d>
                  </m:oMath>
                </a14:m>
                <a:r>
                  <a:rPr lang="zh-CN" altLang="zh-CN" sz="1800" kern="100" dirty="0">
                    <a:effectLst/>
                    <a:latin typeface="Times New Roman" panose="02020603050405020304" pitchFamily="18" charset="0"/>
                    <a:ea typeface="宋体" panose="02010600030101010101" pitchFamily="2" charset="-122"/>
                  </a:rPr>
                  <a:t>的曲线</a:t>
                </a:r>
                <a:r>
                  <a:rPr lang="zh-CN" altLang="en-US" sz="1800" kern="100" dirty="0">
                    <a:effectLst/>
                    <a:latin typeface="Times New Roman" panose="02020603050405020304" pitchFamily="18" charset="0"/>
                    <a:ea typeface="宋体" panose="02010600030101010101" pitchFamily="2" charset="-122"/>
                  </a:rPr>
                  <a:t>上，因此可以使用快速排序解决</a:t>
                </a:r>
                <a:r>
                  <a:rPr lang="en-US" altLang="zh-CN" sz="1800" kern="100" dirty="0">
                    <a:effectLst/>
                    <a:latin typeface="Times New Roman" panose="02020603050405020304" pitchFamily="18" charset="0"/>
                    <a:ea typeface="宋体" panose="02010600030101010101" pitchFamily="2" charset="-122"/>
                  </a:rPr>
                  <a:t>top k</a:t>
                </a:r>
                <a:r>
                  <a:rPr lang="zh-CN" altLang="en-US" sz="1800" kern="100" dirty="0">
                    <a:effectLst/>
                    <a:latin typeface="Times New Roman" panose="02020603050405020304" pitchFamily="18" charset="0"/>
                    <a:ea typeface="宋体" panose="02010600030101010101" pitchFamily="2" charset="-122"/>
                  </a:rPr>
                  <a:t>问题</a:t>
                </a:r>
                <a:endParaRPr lang="zh-CN" altLang="en-US" dirty="0"/>
              </a:p>
            </p:txBody>
          </p:sp>
        </mc:Choice>
        <mc:Fallback xmlns="">
          <p:sp>
            <p:nvSpPr>
              <p:cNvPr id="6" name="文本框 5">
                <a:extLst>
                  <a:ext uri="{FF2B5EF4-FFF2-40B4-BE49-F238E27FC236}">
                    <a16:creationId xmlns:a16="http://schemas.microsoft.com/office/drawing/2014/main" id="{14B266F5-9888-4D78-BC51-5FBE69E8A24D}"/>
                  </a:ext>
                </a:extLst>
              </p:cNvPr>
              <p:cNvSpPr txBox="1">
                <a:spLocks noRot="1" noChangeAspect="1" noMove="1" noResize="1" noEditPoints="1" noAdjustHandles="1" noChangeArrowheads="1" noChangeShapeType="1" noTextEdit="1"/>
              </p:cNvSpPr>
              <p:nvPr/>
            </p:nvSpPr>
            <p:spPr>
              <a:xfrm>
                <a:off x="2581275" y="1438562"/>
                <a:ext cx="6096000" cy="646331"/>
              </a:xfrm>
              <a:prstGeom prst="rect">
                <a:avLst/>
              </a:prstGeom>
              <a:blipFill>
                <a:blip r:embed="rId2"/>
                <a:stretch>
                  <a:fillRect l="-800" t="-5660" b="-1415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5F972AD7-855A-46D3-9266-4E1255CE3F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3384" y="2084893"/>
            <a:ext cx="6347781" cy="3827431"/>
          </a:xfrm>
          <a:prstGeom prst="rect">
            <a:avLst/>
          </a:prstGeom>
        </p:spPr>
      </p:pic>
      <p:graphicFrame>
        <p:nvGraphicFramePr>
          <p:cNvPr id="10" name="表格 9">
            <a:extLst>
              <a:ext uri="{FF2B5EF4-FFF2-40B4-BE49-F238E27FC236}">
                <a16:creationId xmlns:a16="http://schemas.microsoft.com/office/drawing/2014/main" id="{03934571-E00F-42FD-BA1D-EB9C282FCB14}"/>
              </a:ext>
            </a:extLst>
          </p:cNvPr>
          <p:cNvGraphicFramePr>
            <a:graphicFrameLocks noGrp="1"/>
          </p:cNvGraphicFramePr>
          <p:nvPr>
            <p:extLst>
              <p:ext uri="{D42A27DB-BD31-4B8C-83A1-F6EECF244321}">
                <p14:modId xmlns:p14="http://schemas.microsoft.com/office/powerpoint/2010/main" val="451544850"/>
              </p:ext>
            </p:extLst>
          </p:nvPr>
        </p:nvGraphicFramePr>
        <p:xfrm>
          <a:off x="182879" y="2701334"/>
          <a:ext cx="5015705" cy="1734662"/>
        </p:xfrm>
        <a:graphic>
          <a:graphicData uri="http://schemas.openxmlformats.org/drawingml/2006/table">
            <a:tbl>
              <a:tblPr firstRow="1" firstCol="1" bandRow="1">
                <a:tableStyleId>{5C22544A-7EE6-4342-B048-85BDC9FD1C3A}</a:tableStyleId>
              </a:tblPr>
              <a:tblGrid>
                <a:gridCol w="1293496">
                  <a:extLst>
                    <a:ext uri="{9D8B030D-6E8A-4147-A177-3AD203B41FA5}">
                      <a16:colId xmlns:a16="http://schemas.microsoft.com/office/drawing/2014/main" val="1304631599"/>
                    </a:ext>
                  </a:extLst>
                </a:gridCol>
                <a:gridCol w="1000125">
                  <a:extLst>
                    <a:ext uri="{9D8B030D-6E8A-4147-A177-3AD203B41FA5}">
                      <a16:colId xmlns:a16="http://schemas.microsoft.com/office/drawing/2014/main" val="2568232415"/>
                    </a:ext>
                  </a:extLst>
                </a:gridCol>
                <a:gridCol w="971550">
                  <a:extLst>
                    <a:ext uri="{9D8B030D-6E8A-4147-A177-3AD203B41FA5}">
                      <a16:colId xmlns:a16="http://schemas.microsoft.com/office/drawing/2014/main" val="3824836212"/>
                    </a:ext>
                  </a:extLst>
                </a:gridCol>
                <a:gridCol w="914400">
                  <a:extLst>
                    <a:ext uri="{9D8B030D-6E8A-4147-A177-3AD203B41FA5}">
                      <a16:colId xmlns:a16="http://schemas.microsoft.com/office/drawing/2014/main" val="3448839310"/>
                    </a:ext>
                  </a:extLst>
                </a:gridCol>
                <a:gridCol w="836134">
                  <a:extLst>
                    <a:ext uri="{9D8B030D-6E8A-4147-A177-3AD203B41FA5}">
                      <a16:colId xmlns:a16="http://schemas.microsoft.com/office/drawing/2014/main" val="1975767932"/>
                    </a:ext>
                  </a:extLst>
                </a:gridCol>
              </a:tblGrid>
              <a:tr h="867331">
                <a:tc>
                  <a:txBody>
                    <a:bodyPr/>
                    <a:lstStyle/>
                    <a:p>
                      <a:pPr algn="ctr"/>
                      <a:r>
                        <a:rPr lang="zh-CN" sz="1600" b="1" kern="0">
                          <a:effectLst/>
                        </a:rPr>
                        <a:t>规模</a:t>
                      </a:r>
                      <a:r>
                        <a:rPr lang="en-US" sz="1600" b="1" kern="0">
                          <a:effectLst/>
                        </a:rPr>
                        <a:t>n</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dirty="0">
                          <a:effectLst/>
                        </a:rPr>
                        <a:t>1 w</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10 w</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100 w</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1000 w</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extLst>
                  <a:ext uri="{0D108BD9-81ED-4DB2-BD59-A6C34878D82A}">
                    <a16:rowId xmlns:a16="http://schemas.microsoft.com/office/drawing/2014/main" val="2435014778"/>
                  </a:ext>
                </a:extLst>
              </a:tr>
              <a:tr h="867331">
                <a:tc>
                  <a:txBody>
                    <a:bodyPr/>
                    <a:lstStyle/>
                    <a:p>
                      <a:pPr algn="ctr"/>
                      <a:r>
                        <a:rPr lang="zh-CN" sz="1600" b="1" kern="0">
                          <a:effectLst/>
                        </a:rPr>
                        <a:t>排序时间</a:t>
                      </a:r>
                      <a:r>
                        <a:rPr lang="en-US" sz="1600" b="1" kern="0">
                          <a:effectLst/>
                        </a:rPr>
                        <a:t>(ms)</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1.2</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21.65</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a:effectLst/>
                        </a:rPr>
                        <a:t>265.3</a:t>
                      </a:r>
                      <a:endParaRPr lang="zh-CN" sz="1400" b="1" kern="100">
                        <a:effectLst/>
                        <a:latin typeface="Times New Roman" panose="02020603050405020304" pitchFamily="18" charset="0"/>
                        <a:ea typeface="宋体" panose="02010600030101010101" pitchFamily="2" charset="-122"/>
                      </a:endParaRPr>
                    </a:p>
                  </a:txBody>
                  <a:tcPr marL="68580" marR="68580" marT="0" marB="0" anchor="b"/>
                </a:tc>
                <a:tc>
                  <a:txBody>
                    <a:bodyPr/>
                    <a:lstStyle/>
                    <a:p>
                      <a:pPr algn="ctr"/>
                      <a:r>
                        <a:rPr lang="en-US" sz="1600" b="1" kern="0" dirty="0">
                          <a:effectLst/>
                        </a:rPr>
                        <a:t>3095.6</a:t>
                      </a:r>
                      <a:endParaRPr lang="zh-CN" sz="1400" b="1" kern="100" dirty="0">
                        <a:effectLst/>
                        <a:latin typeface="Times New Roman" panose="02020603050405020304" pitchFamily="18" charset="0"/>
                        <a:ea typeface="宋体" panose="02010600030101010101" pitchFamily="2" charset="-122"/>
                      </a:endParaRPr>
                    </a:p>
                  </a:txBody>
                  <a:tcPr marL="68580" marR="68580" marT="0" marB="0" anchor="b"/>
                </a:tc>
                <a:extLst>
                  <a:ext uri="{0D108BD9-81ED-4DB2-BD59-A6C34878D82A}">
                    <a16:rowId xmlns:a16="http://schemas.microsoft.com/office/drawing/2014/main" val="2796653848"/>
                  </a:ext>
                </a:extLst>
              </a:tr>
            </a:tbl>
          </a:graphicData>
        </a:graphic>
      </p:graphicFrame>
    </p:spTree>
    <p:extLst>
      <p:ext uri="{BB962C8B-B14F-4D97-AF65-F5344CB8AC3E}">
        <p14:creationId xmlns:p14="http://schemas.microsoft.com/office/powerpoint/2010/main" val="614737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en-US" altLang="zh-CN" sz="3200" b="1" dirty="0">
                <a:latin typeface="+mn-lt"/>
                <a:ea typeface="+mn-ea"/>
                <a:cs typeface="+mn-cs"/>
              </a:rPr>
              <a:t>Top K</a:t>
            </a:r>
            <a:r>
              <a:rPr lang="zh-CN" altLang="en-US" sz="3200" b="1" dirty="0">
                <a:latin typeface="+mn-lt"/>
                <a:ea typeface="+mn-ea"/>
                <a:cs typeface="+mn-cs"/>
              </a:rPr>
              <a:t>问题</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b="1" dirty="0"/>
              <a:t>选择排序</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854A03E-9D50-4886-85E0-0EF6B9204960}"/>
                  </a:ext>
                </a:extLst>
              </p:cNvPr>
              <p:cNvSpPr txBox="1"/>
              <p:nvPr/>
            </p:nvSpPr>
            <p:spPr>
              <a:xfrm>
                <a:off x="1990725" y="1602422"/>
                <a:ext cx="7848600" cy="946991"/>
              </a:xfrm>
              <a:prstGeom prst="rect">
                <a:avLst/>
              </a:prstGeom>
              <a:noFill/>
            </p:spPr>
            <p:txBody>
              <a:bodyPr wrap="square">
                <a:spAutoFit/>
              </a:bodyPr>
              <a:lstStyle/>
              <a:p>
                <a:pPr marL="533400" algn="just"/>
                <a:r>
                  <a:rPr lang="zh-CN" altLang="zh-CN" sz="1800" kern="100" dirty="0">
                    <a:effectLst/>
                    <a:latin typeface="Times New Roman" panose="02020603050405020304" pitchFamily="18" charset="0"/>
                    <a:ea typeface="宋体" panose="02010600030101010101" pitchFamily="2" charset="-122"/>
                  </a:rPr>
                  <a:t>选择排序的每一趟排序中都需要从第</a:t>
                </a:r>
                <a:r>
                  <a:rPr lang="x-none" altLang="zh-CN" sz="1800" kern="100" dirty="0">
                    <a:effectLst/>
                    <a:latin typeface="Times New Roman" panose="02020603050405020304" pitchFamily="18" charset="0"/>
                    <a:ea typeface="宋体" panose="02010600030101010101" pitchFamily="2" charset="-122"/>
                  </a:rPr>
                  <a:t>i</a:t>
                </a:r>
                <a:r>
                  <a:rPr lang="zh-CN" altLang="zh-CN" sz="1800" kern="100" dirty="0">
                    <a:effectLst/>
                    <a:latin typeface="Times New Roman" panose="02020603050405020304" pitchFamily="18" charset="0"/>
                    <a:ea typeface="宋体" panose="02010600030101010101" pitchFamily="2" charset="-122"/>
                  </a:rPr>
                  <a:t>个位置遍历到最后一个元素，所以其复杂度与原始序列的有序性无关，</a:t>
                </a:r>
                <a:r>
                  <a:rPr lang="zh-CN" altLang="en-US" sz="1800" kern="100" dirty="0">
                    <a:effectLst/>
                    <a:latin typeface="Times New Roman" panose="02020603050405020304" pitchFamily="18" charset="0"/>
                    <a:ea typeface="宋体" panose="02010600030101010101" pitchFamily="2" charset="-122"/>
                  </a:rPr>
                  <a:t>对于</a:t>
                </a:r>
                <a:r>
                  <a:rPr lang="en-US" altLang="zh-CN" sz="1800" kern="100" dirty="0">
                    <a:effectLst/>
                    <a:latin typeface="Times New Roman" panose="02020603050405020304" pitchFamily="18" charset="0"/>
                    <a:ea typeface="宋体" panose="02010600030101010101" pitchFamily="2" charset="-122"/>
                  </a:rPr>
                  <a:t>top </a:t>
                </a:r>
                <a:r>
                  <a:rPr lang="en-US" altLang="zh-CN" kern="100" dirty="0">
                    <a:latin typeface="Times New Roman" panose="02020603050405020304" pitchFamily="18" charset="0"/>
                    <a:ea typeface="宋体" panose="02010600030101010101" pitchFamily="2" charset="-122"/>
                  </a:rPr>
                  <a:t>k</a:t>
                </a:r>
                <a:r>
                  <a:rPr lang="zh-CN" altLang="en-US" kern="100" dirty="0">
                    <a:latin typeface="Times New Roman" panose="02020603050405020304" pitchFamily="18" charset="0"/>
                    <a:ea typeface="宋体" panose="02010600030101010101" pitchFamily="2" charset="-122"/>
                  </a:rPr>
                  <a:t>问题的时间复杂度为</a:t>
                </a:r>
                <a14:m>
                  <m:oMath xmlns:m="http://schemas.openxmlformats.org/officeDocument/2006/math">
                    <m:r>
                      <a:rPr lang="x-none" altLang="zh-CN" sz="1800" i="1" kern="100" smtClean="0">
                        <a:effectLst/>
                        <a:latin typeface="Cambria Math" panose="02040503050406030204" pitchFamily="18" charset="0"/>
                        <a:ea typeface="宋体" panose="02010600030101010101" pitchFamily="2" charset="-122"/>
                        <a:cs typeface="Times New Roman" panose="02020603050405020304" pitchFamily="18" charset="0"/>
                      </a:rPr>
                      <m:t>𝑂</m:t>
                    </m:r>
                    <m:r>
                      <a:rPr lang="x-none" altLang="zh-CN" sz="1800" i="1" kern="100" smtClean="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b="0" i="1" smtClean="0">
                            <a:effectLst/>
                            <a:latin typeface="Cambria Math" panose="02040503050406030204" pitchFamily="18" charset="0"/>
                            <a:ea typeface="Cambria Math" panose="02040503050406030204" pitchFamily="18" charset="0"/>
                          </a:rPr>
                          <m:t>𝐾</m:t>
                        </m:r>
                        <m:r>
                          <a:rPr lang="x-none" altLang="zh-CN" sz="1800" i="1" kern="100">
                            <a:effectLst/>
                            <a:latin typeface="Cambria Math" panose="02040503050406030204" pitchFamily="18" charset="0"/>
                            <a:ea typeface="宋体" panose="02010600030101010101" pitchFamily="2" charset="-122"/>
                            <a:cs typeface="Times New Roman" panose="02020603050405020304" pitchFamily="18" charset="0"/>
                          </a:rPr>
                          <m:t>𝑛</m:t>
                        </m:r>
                      </m:e>
                      <m:sup/>
                    </m:sSup>
                    <m:r>
                      <a:rPr lang="x-none"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1800" kern="100" dirty="0">
                    <a:effectLst/>
                    <a:latin typeface="Times New Roman" panose="02020603050405020304" pitchFamily="18" charset="0"/>
                    <a:ea typeface="宋体" panose="02010600030101010101" pitchFamily="2" charset="-122"/>
                  </a:rPr>
                  <a:t>。</a:t>
                </a:r>
                <a:endParaRPr lang="zh-CN" altLang="en-US" dirty="0"/>
              </a:p>
            </p:txBody>
          </p:sp>
        </mc:Choice>
        <mc:Fallback xmlns="">
          <p:sp>
            <p:nvSpPr>
              <p:cNvPr id="6" name="文本框 5">
                <a:extLst>
                  <a:ext uri="{FF2B5EF4-FFF2-40B4-BE49-F238E27FC236}">
                    <a16:creationId xmlns:a16="http://schemas.microsoft.com/office/drawing/2014/main" id="{1854A03E-9D50-4886-85E0-0EF6B9204960}"/>
                  </a:ext>
                </a:extLst>
              </p:cNvPr>
              <p:cNvSpPr txBox="1">
                <a:spLocks noRot="1" noChangeAspect="1" noMove="1" noResize="1" noEditPoints="1" noAdjustHandles="1" noChangeArrowheads="1" noChangeShapeType="1" noTextEdit="1"/>
              </p:cNvSpPr>
              <p:nvPr/>
            </p:nvSpPr>
            <p:spPr>
              <a:xfrm>
                <a:off x="1990725" y="1602422"/>
                <a:ext cx="7848600" cy="946991"/>
              </a:xfrm>
              <a:prstGeom prst="rect">
                <a:avLst/>
              </a:prstGeom>
              <a:blipFill>
                <a:blip r:embed="rId2"/>
                <a:stretch>
                  <a:fillRect t="-5161" r="-622" b="-7097"/>
                </a:stretch>
              </a:blipFill>
            </p:spPr>
            <p:txBody>
              <a:bodyPr/>
              <a:lstStyle/>
              <a:p>
                <a:r>
                  <a:rPr lang="zh-CN" altLang="en-US">
                    <a:noFill/>
                  </a:rPr>
                  <a:t> </a:t>
                </a:r>
              </a:p>
            </p:txBody>
          </p:sp>
        </mc:Fallback>
      </mc:AlternateContent>
      <p:graphicFrame>
        <p:nvGraphicFramePr>
          <p:cNvPr id="5" name="表格 4">
            <a:extLst>
              <a:ext uri="{FF2B5EF4-FFF2-40B4-BE49-F238E27FC236}">
                <a16:creationId xmlns:a16="http://schemas.microsoft.com/office/drawing/2014/main" id="{D3B03355-87CE-4779-8279-D7B77BD7AF34}"/>
              </a:ext>
            </a:extLst>
          </p:cNvPr>
          <p:cNvGraphicFramePr>
            <a:graphicFrameLocks noGrp="1"/>
          </p:cNvGraphicFramePr>
          <p:nvPr>
            <p:extLst>
              <p:ext uri="{D42A27DB-BD31-4B8C-83A1-F6EECF244321}">
                <p14:modId xmlns:p14="http://schemas.microsoft.com/office/powerpoint/2010/main" val="1961350845"/>
              </p:ext>
            </p:extLst>
          </p:nvPr>
        </p:nvGraphicFramePr>
        <p:xfrm>
          <a:off x="104771" y="2926079"/>
          <a:ext cx="5267329" cy="1617346"/>
        </p:xfrm>
        <a:graphic>
          <a:graphicData uri="http://schemas.openxmlformats.org/drawingml/2006/table">
            <a:tbl>
              <a:tblPr>
                <a:tableStyleId>{5C22544A-7EE6-4342-B048-85BDC9FD1C3A}</a:tableStyleId>
              </a:tblPr>
              <a:tblGrid>
                <a:gridCol w="990601">
                  <a:extLst>
                    <a:ext uri="{9D8B030D-6E8A-4147-A177-3AD203B41FA5}">
                      <a16:colId xmlns:a16="http://schemas.microsoft.com/office/drawing/2014/main" val="648363474"/>
                    </a:ext>
                  </a:extLst>
                </a:gridCol>
                <a:gridCol w="962025">
                  <a:extLst>
                    <a:ext uri="{9D8B030D-6E8A-4147-A177-3AD203B41FA5}">
                      <a16:colId xmlns:a16="http://schemas.microsoft.com/office/drawing/2014/main" val="3347731361"/>
                    </a:ext>
                  </a:extLst>
                </a:gridCol>
                <a:gridCol w="1037230">
                  <a:extLst>
                    <a:ext uri="{9D8B030D-6E8A-4147-A177-3AD203B41FA5}">
                      <a16:colId xmlns:a16="http://schemas.microsoft.com/office/drawing/2014/main" val="3565443227"/>
                    </a:ext>
                  </a:extLst>
                </a:gridCol>
                <a:gridCol w="1144133">
                  <a:extLst>
                    <a:ext uri="{9D8B030D-6E8A-4147-A177-3AD203B41FA5}">
                      <a16:colId xmlns:a16="http://schemas.microsoft.com/office/drawing/2014/main" val="3106172254"/>
                    </a:ext>
                  </a:extLst>
                </a:gridCol>
                <a:gridCol w="1133340">
                  <a:extLst>
                    <a:ext uri="{9D8B030D-6E8A-4147-A177-3AD203B41FA5}">
                      <a16:colId xmlns:a16="http://schemas.microsoft.com/office/drawing/2014/main" val="2075784296"/>
                    </a:ext>
                  </a:extLst>
                </a:gridCol>
              </a:tblGrid>
              <a:tr h="272692">
                <a:tc>
                  <a:txBody>
                    <a:bodyPr/>
                    <a:lstStyle/>
                    <a:p>
                      <a:pPr algn="ctr" fontAlgn="b"/>
                      <a:r>
                        <a:rPr lang="zh-CN" altLang="en-US" sz="1400" b="1" u="none" strike="noStrike" dirty="0">
                          <a:effectLst/>
                        </a:rPr>
                        <a:t>规模</a:t>
                      </a:r>
                      <a:r>
                        <a:rPr lang="en-US" sz="1400" b="1" u="none" strike="noStrike" dirty="0">
                          <a:effectLst/>
                        </a:rPr>
                        <a:t>n</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sz="1400" b="1" u="none" strike="noStrike">
                          <a:effectLst/>
                        </a:rPr>
                        <a:t>1w</a:t>
                      </a:r>
                      <a:endParaRPr 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sz="1400" b="1" u="none" strike="noStrike">
                          <a:effectLst/>
                        </a:rPr>
                        <a:t>10w</a:t>
                      </a:r>
                      <a:endParaRPr lang="en-US"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sz="1400" b="1" u="none" strike="noStrike" dirty="0">
                          <a:effectLst/>
                        </a:rPr>
                        <a:t>100w</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sz="1400" b="1" u="none" strike="noStrike" dirty="0">
                          <a:effectLst/>
                        </a:rPr>
                        <a:t>1000w</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extLst>
                  <a:ext uri="{0D108BD9-81ED-4DB2-BD59-A6C34878D82A}">
                    <a16:rowId xmlns:a16="http://schemas.microsoft.com/office/drawing/2014/main" val="3101108307"/>
                  </a:ext>
                </a:extLst>
              </a:tr>
              <a:tr h="272692">
                <a:tc>
                  <a:txBody>
                    <a:bodyPr/>
                    <a:lstStyle/>
                    <a:p>
                      <a:pPr algn="ctr" fontAlgn="b"/>
                      <a:r>
                        <a:rPr lang="en-US" sz="1400" b="1" u="none" strike="noStrike" dirty="0">
                          <a:effectLst/>
                        </a:rPr>
                        <a:t>k=10(</a:t>
                      </a:r>
                      <a:r>
                        <a:rPr lang="en-US" sz="1400" b="1" u="none" strike="noStrike" dirty="0" err="1">
                          <a:effectLst/>
                        </a:rPr>
                        <a:t>ms</a:t>
                      </a:r>
                      <a:r>
                        <a:rPr lang="en-US" sz="1400" b="1" u="none" strike="noStrike" dirty="0">
                          <a:effectLst/>
                        </a:rPr>
                        <a:t>)</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altLang="zh-CN" sz="1400" b="1" u="none" strike="noStrike" dirty="0">
                          <a:effectLst/>
                        </a:rPr>
                        <a:t>0.05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dirty="0">
                          <a:effectLst/>
                        </a:rPr>
                        <a:t>7.30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a:effectLst/>
                        </a:rPr>
                        <a:t>75.70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a:effectLst/>
                        </a:rPr>
                        <a:t>756.20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extLst>
                  <a:ext uri="{0D108BD9-81ED-4DB2-BD59-A6C34878D82A}">
                    <a16:rowId xmlns:a16="http://schemas.microsoft.com/office/drawing/2014/main" val="1472650934"/>
                  </a:ext>
                </a:extLst>
              </a:tr>
              <a:tr h="535981">
                <a:tc>
                  <a:txBody>
                    <a:bodyPr/>
                    <a:lstStyle/>
                    <a:p>
                      <a:pPr algn="ctr" fontAlgn="b"/>
                      <a:r>
                        <a:rPr lang="en-US" sz="1400" b="1" u="none" strike="noStrike" dirty="0">
                          <a:effectLst/>
                        </a:rPr>
                        <a:t>k=100(</a:t>
                      </a:r>
                      <a:r>
                        <a:rPr lang="en-US" sz="1400" b="1" u="none" strike="noStrike" dirty="0" err="1">
                          <a:effectLst/>
                        </a:rPr>
                        <a:t>ms</a:t>
                      </a:r>
                      <a:r>
                        <a:rPr lang="en-US" sz="1400" b="1" u="none" strike="noStrike" dirty="0">
                          <a:effectLst/>
                        </a:rPr>
                        <a:t>)</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altLang="zh-CN" sz="1400" b="1" u="none" strike="noStrike">
                          <a:effectLst/>
                        </a:rPr>
                        <a:t>7.05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dirty="0">
                          <a:effectLst/>
                        </a:rPr>
                        <a:t>78.35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dirty="0">
                          <a:effectLst/>
                        </a:rPr>
                        <a:t>774.95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a:effectLst/>
                        </a:rPr>
                        <a:t>7564.20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extLst>
                  <a:ext uri="{0D108BD9-81ED-4DB2-BD59-A6C34878D82A}">
                    <a16:rowId xmlns:a16="http://schemas.microsoft.com/office/drawing/2014/main" val="2301485388"/>
                  </a:ext>
                </a:extLst>
              </a:tr>
              <a:tr h="535981">
                <a:tc>
                  <a:txBody>
                    <a:bodyPr/>
                    <a:lstStyle/>
                    <a:p>
                      <a:pPr algn="ctr" fontAlgn="b"/>
                      <a:r>
                        <a:rPr lang="en-US" sz="1400" b="1" u="none" strike="noStrike" dirty="0">
                          <a:effectLst/>
                        </a:rPr>
                        <a:t>k=1000(</a:t>
                      </a:r>
                      <a:r>
                        <a:rPr lang="en-US" sz="1400" b="1" u="none" strike="noStrike" dirty="0" err="1">
                          <a:effectLst/>
                        </a:rPr>
                        <a:t>ms</a:t>
                      </a:r>
                      <a:r>
                        <a:rPr lang="en-US" sz="1400" b="1" u="none" strike="noStrike" dirty="0">
                          <a:effectLst/>
                        </a:rPr>
                        <a:t>)</a:t>
                      </a:r>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0070C0"/>
                    </a:solidFill>
                  </a:tcPr>
                </a:tc>
                <a:tc>
                  <a:txBody>
                    <a:bodyPr/>
                    <a:lstStyle/>
                    <a:p>
                      <a:pPr algn="ctr" fontAlgn="b"/>
                      <a:r>
                        <a:rPr lang="en-US" altLang="zh-CN" sz="1400" b="1" u="none" strike="noStrike">
                          <a:effectLst/>
                        </a:rPr>
                        <a:t>73.25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a:effectLst/>
                        </a:rPr>
                        <a:t>768.85 </a:t>
                      </a:r>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dirty="0">
                          <a:effectLst/>
                        </a:rPr>
                        <a:t>7708.40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tc>
                  <a:txBody>
                    <a:bodyPr/>
                    <a:lstStyle/>
                    <a:p>
                      <a:pPr algn="ctr" fontAlgn="b"/>
                      <a:r>
                        <a:rPr lang="en-US" altLang="zh-CN" sz="1400" b="1" u="none" strike="noStrike" dirty="0">
                          <a:effectLst/>
                        </a:rPr>
                        <a:t>75765.11 </a:t>
                      </a:r>
                      <a:endParaRPr lang="en-US" altLang="zh-CN" sz="14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solidFill>
                      <a:srgbClr val="79D6F3"/>
                    </a:solidFill>
                  </a:tcPr>
                </a:tc>
                <a:extLst>
                  <a:ext uri="{0D108BD9-81ED-4DB2-BD59-A6C34878D82A}">
                    <a16:rowId xmlns:a16="http://schemas.microsoft.com/office/drawing/2014/main" val="474039914"/>
                  </a:ext>
                </a:extLst>
              </a:tr>
            </a:tbl>
          </a:graphicData>
        </a:graphic>
      </p:graphicFrame>
      <p:pic>
        <p:nvPicPr>
          <p:cNvPr id="10" name="图片 9">
            <a:extLst>
              <a:ext uri="{FF2B5EF4-FFF2-40B4-BE49-F238E27FC236}">
                <a16:creationId xmlns:a16="http://schemas.microsoft.com/office/drawing/2014/main" id="{6406F60E-F4B7-4A20-8B46-49DF79CAA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2376488"/>
            <a:ext cx="6019800" cy="4279702"/>
          </a:xfrm>
          <a:prstGeom prst="rect">
            <a:avLst/>
          </a:prstGeom>
        </p:spPr>
      </p:pic>
    </p:spTree>
    <p:extLst>
      <p:ext uri="{BB962C8B-B14F-4D97-AF65-F5344CB8AC3E}">
        <p14:creationId xmlns:p14="http://schemas.microsoft.com/office/powerpoint/2010/main" val="3194147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en-US" altLang="zh-CN" sz="3200" b="1" dirty="0">
                <a:latin typeface="+mn-lt"/>
                <a:ea typeface="+mn-ea"/>
                <a:cs typeface="+mn-cs"/>
              </a:rPr>
              <a:t>Top K</a:t>
            </a:r>
            <a:r>
              <a:rPr lang="zh-CN" altLang="en-US" sz="3200" b="1" dirty="0">
                <a:latin typeface="+mn-lt"/>
                <a:ea typeface="+mn-ea"/>
                <a:cs typeface="+mn-cs"/>
              </a:rPr>
              <a:t>问题</a:t>
            </a:r>
          </a:p>
        </p:txBody>
      </p:sp>
      <p:sp>
        <p:nvSpPr>
          <p:cNvPr id="3" name="文本框 2">
            <a:extLst>
              <a:ext uri="{FF2B5EF4-FFF2-40B4-BE49-F238E27FC236}">
                <a16:creationId xmlns:a16="http://schemas.microsoft.com/office/drawing/2014/main" id="{8EECB12B-CD7B-43C5-B47F-95AB7587D612}"/>
              </a:ext>
            </a:extLst>
          </p:cNvPr>
          <p:cNvSpPr txBox="1"/>
          <p:nvPr/>
        </p:nvSpPr>
        <p:spPr>
          <a:xfrm>
            <a:off x="390363" y="976897"/>
            <a:ext cx="1533237" cy="461665"/>
          </a:xfrm>
          <a:prstGeom prst="rect">
            <a:avLst/>
          </a:prstGeom>
          <a:noFill/>
        </p:spPr>
        <p:txBody>
          <a:bodyPr wrap="square" rtlCol="0">
            <a:spAutoFit/>
          </a:bodyPr>
          <a:lstStyle/>
          <a:p>
            <a:r>
              <a:rPr lang="zh-CN" altLang="en-US" sz="2400" b="1" dirty="0"/>
              <a:t>堆调整</a:t>
            </a:r>
          </a:p>
        </p:txBody>
      </p:sp>
      <p:graphicFrame>
        <p:nvGraphicFramePr>
          <p:cNvPr id="5" name="表格 4">
            <a:extLst>
              <a:ext uri="{FF2B5EF4-FFF2-40B4-BE49-F238E27FC236}">
                <a16:creationId xmlns:a16="http://schemas.microsoft.com/office/drawing/2014/main" id="{402CD0AB-4589-421A-AE58-44BB9A9ECCBE}"/>
              </a:ext>
            </a:extLst>
          </p:cNvPr>
          <p:cNvGraphicFramePr>
            <a:graphicFrameLocks noGrp="1"/>
          </p:cNvGraphicFramePr>
          <p:nvPr>
            <p:extLst>
              <p:ext uri="{D42A27DB-BD31-4B8C-83A1-F6EECF244321}">
                <p14:modId xmlns:p14="http://schemas.microsoft.com/office/powerpoint/2010/main" val="1888716717"/>
              </p:ext>
            </p:extLst>
          </p:nvPr>
        </p:nvGraphicFramePr>
        <p:xfrm>
          <a:off x="351976" y="2926415"/>
          <a:ext cx="5429700" cy="1474136"/>
        </p:xfrm>
        <a:graphic>
          <a:graphicData uri="http://schemas.openxmlformats.org/drawingml/2006/table">
            <a:tbl>
              <a:tblPr>
                <a:tableStyleId>{5C22544A-7EE6-4342-B048-85BDC9FD1C3A}</a:tableStyleId>
              </a:tblPr>
              <a:tblGrid>
                <a:gridCol w="1085940">
                  <a:extLst>
                    <a:ext uri="{9D8B030D-6E8A-4147-A177-3AD203B41FA5}">
                      <a16:colId xmlns:a16="http://schemas.microsoft.com/office/drawing/2014/main" val="1357879483"/>
                    </a:ext>
                  </a:extLst>
                </a:gridCol>
                <a:gridCol w="1085940">
                  <a:extLst>
                    <a:ext uri="{9D8B030D-6E8A-4147-A177-3AD203B41FA5}">
                      <a16:colId xmlns:a16="http://schemas.microsoft.com/office/drawing/2014/main" val="3536068158"/>
                    </a:ext>
                  </a:extLst>
                </a:gridCol>
                <a:gridCol w="1085940">
                  <a:extLst>
                    <a:ext uri="{9D8B030D-6E8A-4147-A177-3AD203B41FA5}">
                      <a16:colId xmlns:a16="http://schemas.microsoft.com/office/drawing/2014/main" val="3022454033"/>
                    </a:ext>
                  </a:extLst>
                </a:gridCol>
                <a:gridCol w="1085940">
                  <a:extLst>
                    <a:ext uri="{9D8B030D-6E8A-4147-A177-3AD203B41FA5}">
                      <a16:colId xmlns:a16="http://schemas.microsoft.com/office/drawing/2014/main" val="453442226"/>
                    </a:ext>
                  </a:extLst>
                </a:gridCol>
                <a:gridCol w="1085940">
                  <a:extLst>
                    <a:ext uri="{9D8B030D-6E8A-4147-A177-3AD203B41FA5}">
                      <a16:colId xmlns:a16="http://schemas.microsoft.com/office/drawing/2014/main" val="3813042952"/>
                    </a:ext>
                  </a:extLst>
                </a:gridCol>
              </a:tblGrid>
              <a:tr h="315506">
                <a:tc>
                  <a:txBody>
                    <a:bodyPr/>
                    <a:lstStyle/>
                    <a:p>
                      <a:pPr marL="0" algn="ctr" defTabSz="914400" rtl="0" eaLnBrk="1" fontAlgn="b" latinLnBrk="0" hangingPunct="1"/>
                      <a:r>
                        <a:rPr lang="zh-CN" altLang="en-US" sz="1600" b="1" u="none" strike="noStrike" kern="1200" dirty="0">
                          <a:solidFill>
                            <a:schemeClr val="dk1"/>
                          </a:solidFill>
                          <a:effectLst/>
                          <a:latin typeface="+mn-lt"/>
                          <a:ea typeface="+mn-ea"/>
                          <a:cs typeface="+mn-cs"/>
                        </a:rPr>
                        <a:t>规模</a:t>
                      </a:r>
                      <a:r>
                        <a:rPr lang="en-US" sz="1600" b="1" u="none" strike="noStrike" kern="1200" dirty="0">
                          <a:solidFill>
                            <a:schemeClr val="dk1"/>
                          </a:solidFill>
                          <a:effectLst/>
                          <a:latin typeface="+mn-lt"/>
                          <a:ea typeface="+mn-ea"/>
                          <a:cs typeface="+mn-cs"/>
                        </a:rPr>
                        <a:t>n</a:t>
                      </a:r>
                    </a:p>
                  </a:txBody>
                  <a:tcPr marL="7620" marR="7620" marT="7620" marB="0" anchor="b">
                    <a:solidFill>
                      <a:srgbClr val="0070C0"/>
                    </a:solidFill>
                  </a:tcPr>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1w</a:t>
                      </a:r>
                    </a:p>
                  </a:txBody>
                  <a:tcPr marL="7620" marR="7620" marT="7620" marB="0" anchor="b">
                    <a:solidFill>
                      <a:srgbClr val="0070C0"/>
                    </a:solidFill>
                  </a:tcPr>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10w</a:t>
                      </a:r>
                    </a:p>
                  </a:txBody>
                  <a:tcPr marL="7620" marR="7620" marT="7620" marB="0" anchor="b">
                    <a:solidFill>
                      <a:srgbClr val="0070C0"/>
                    </a:solidFill>
                  </a:tcPr>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100w</a:t>
                      </a:r>
                    </a:p>
                  </a:txBody>
                  <a:tcPr marL="7620" marR="7620" marT="7620" marB="0" anchor="b">
                    <a:solidFill>
                      <a:srgbClr val="0070C0"/>
                    </a:solidFill>
                  </a:tcPr>
                </a:tc>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1000w</a:t>
                      </a:r>
                    </a:p>
                  </a:txBody>
                  <a:tcPr marL="7620" marR="7620" marT="7620" marB="0" anchor="b">
                    <a:solidFill>
                      <a:srgbClr val="0070C0"/>
                    </a:solidFill>
                  </a:tcPr>
                </a:tc>
                <a:extLst>
                  <a:ext uri="{0D108BD9-81ED-4DB2-BD59-A6C34878D82A}">
                    <a16:rowId xmlns:a16="http://schemas.microsoft.com/office/drawing/2014/main" val="2460085197"/>
                  </a:ext>
                </a:extLst>
              </a:tr>
              <a:tr h="386210">
                <a:tc>
                  <a:txBody>
                    <a:bodyPr/>
                    <a:lstStyle/>
                    <a:p>
                      <a:pPr marL="0" algn="ctr" defTabSz="914400" rtl="0" eaLnBrk="1" fontAlgn="b" latinLnBrk="0" hangingPunct="1"/>
                      <a:r>
                        <a:rPr lang="en-US" sz="1600" b="1" u="none" strike="noStrike" kern="1200" dirty="0">
                          <a:solidFill>
                            <a:schemeClr val="dk1"/>
                          </a:solidFill>
                          <a:effectLst/>
                          <a:latin typeface="+mn-lt"/>
                          <a:ea typeface="+mn-ea"/>
                          <a:cs typeface="+mn-cs"/>
                        </a:rPr>
                        <a:t>k=10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32.5</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345.25</a:t>
                      </a:r>
                    </a:p>
                  </a:txBody>
                  <a:tcPr marL="7620" marR="7620" marT="7620" marB="0" anchor="b">
                    <a:solidFill>
                      <a:srgbClr val="79D6F3"/>
                    </a:solidFill>
                  </a:tcPr>
                </a:tc>
                <a:extLst>
                  <a:ext uri="{0D108BD9-81ED-4DB2-BD59-A6C34878D82A}">
                    <a16:rowId xmlns:a16="http://schemas.microsoft.com/office/drawing/2014/main" val="3741551971"/>
                  </a:ext>
                </a:extLst>
              </a:tr>
              <a:tr h="38621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k=100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a:solidFill>
                            <a:schemeClr val="dk1"/>
                          </a:solidFill>
                          <a:effectLst/>
                          <a:latin typeface="+mn-lt"/>
                          <a:ea typeface="+mn-ea"/>
                          <a:cs typeface="+mn-cs"/>
                        </a:rPr>
                        <a:t>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32.3</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347.45</a:t>
                      </a:r>
                    </a:p>
                  </a:txBody>
                  <a:tcPr marL="7620" marR="7620" marT="7620" marB="0" anchor="b">
                    <a:solidFill>
                      <a:srgbClr val="79D6F3"/>
                    </a:solidFill>
                  </a:tcPr>
                </a:tc>
                <a:extLst>
                  <a:ext uri="{0D108BD9-81ED-4DB2-BD59-A6C34878D82A}">
                    <a16:rowId xmlns:a16="http://schemas.microsoft.com/office/drawing/2014/main" val="350642853"/>
                  </a:ext>
                </a:extLst>
              </a:tr>
              <a:tr h="386210">
                <a:tc>
                  <a:txBody>
                    <a:bodyPr/>
                    <a:lstStyle/>
                    <a:p>
                      <a:pPr marL="0" algn="ctr" defTabSz="914400" rtl="0" eaLnBrk="1" fontAlgn="b" latinLnBrk="0" hangingPunct="1"/>
                      <a:r>
                        <a:rPr lang="en-US" sz="1600" b="1" u="none" strike="noStrike" kern="1200">
                          <a:solidFill>
                            <a:schemeClr val="dk1"/>
                          </a:solidFill>
                          <a:effectLst/>
                          <a:latin typeface="+mn-lt"/>
                          <a:ea typeface="+mn-ea"/>
                          <a:cs typeface="+mn-cs"/>
                        </a:rPr>
                        <a:t>k=1000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a:solidFill>
                            <a:schemeClr val="dk1"/>
                          </a:solidFill>
                          <a:effectLst/>
                          <a:latin typeface="+mn-lt"/>
                          <a:ea typeface="+mn-ea"/>
                          <a:cs typeface="+mn-cs"/>
                        </a:rPr>
                        <a:t>0</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3.15</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33.3</a:t>
                      </a:r>
                    </a:p>
                  </a:txBody>
                  <a:tcPr marL="7620" marR="7620" marT="7620" marB="0" anchor="b">
                    <a:solidFill>
                      <a:srgbClr val="79D6F3"/>
                    </a:solidFill>
                  </a:tcPr>
                </a:tc>
                <a:tc>
                  <a:txBody>
                    <a:bodyPr/>
                    <a:lstStyle/>
                    <a:p>
                      <a:pPr marL="0" algn="ctr" defTabSz="914400" rtl="0" eaLnBrk="1" fontAlgn="b" latinLnBrk="0" hangingPunct="1"/>
                      <a:r>
                        <a:rPr lang="en-US" altLang="zh-CN" sz="1600" b="1" u="none" strike="noStrike" kern="1200" dirty="0">
                          <a:solidFill>
                            <a:schemeClr val="dk1"/>
                          </a:solidFill>
                          <a:effectLst/>
                          <a:latin typeface="+mn-lt"/>
                          <a:ea typeface="+mn-ea"/>
                          <a:cs typeface="+mn-cs"/>
                        </a:rPr>
                        <a:t>347.75</a:t>
                      </a:r>
                    </a:p>
                  </a:txBody>
                  <a:tcPr marL="7620" marR="7620" marT="7620" marB="0" anchor="b">
                    <a:solidFill>
                      <a:srgbClr val="79D6F3"/>
                    </a:solidFill>
                  </a:tcPr>
                </a:tc>
                <a:extLst>
                  <a:ext uri="{0D108BD9-81ED-4DB2-BD59-A6C34878D82A}">
                    <a16:rowId xmlns:a16="http://schemas.microsoft.com/office/drawing/2014/main" val="3098624373"/>
                  </a:ext>
                </a:extLst>
              </a:tr>
            </a:tbl>
          </a:graphicData>
        </a:graphic>
      </p:graphicFrame>
      <p:sp>
        <p:nvSpPr>
          <p:cNvPr id="7" name="文本框 6">
            <a:extLst>
              <a:ext uri="{FF2B5EF4-FFF2-40B4-BE49-F238E27FC236}">
                <a16:creationId xmlns:a16="http://schemas.microsoft.com/office/drawing/2014/main" id="{1665A960-88B5-40A6-BF66-E4C3414B9725}"/>
              </a:ext>
            </a:extLst>
          </p:cNvPr>
          <p:cNvSpPr txBox="1"/>
          <p:nvPr/>
        </p:nvSpPr>
        <p:spPr>
          <a:xfrm>
            <a:off x="1661806" y="2169879"/>
            <a:ext cx="9810912" cy="683264"/>
          </a:xfrm>
          <a:prstGeom prst="rect">
            <a:avLst/>
          </a:prstGeom>
          <a:noFill/>
        </p:spPr>
        <p:txBody>
          <a:bodyPr wrap="square">
            <a:spAutoFit/>
          </a:bodyPr>
          <a:lstStyle/>
          <a:p>
            <a:pPr lvl="1" algn="l" eaLnBrk="1" hangingPunct="1">
              <a:buClrTx/>
              <a:buSzTx/>
            </a:pPr>
            <a:r>
              <a:rPr lang="zh-CN" altLang="en-US" sz="1600" dirty="0">
                <a:sym typeface="+mn-ea"/>
              </a:rPr>
              <a:t>时间复杂度为O(nlog2n)，对于</a:t>
            </a:r>
            <a:r>
              <a:rPr lang="en-US" altLang="zh-CN" sz="1600" dirty="0">
                <a:sym typeface="+mn-ea"/>
              </a:rPr>
              <a:t>top k</a:t>
            </a:r>
            <a:r>
              <a:rPr lang="zh-CN" altLang="en-US" sz="1600" dirty="0">
                <a:sym typeface="+mn-ea"/>
              </a:rPr>
              <a:t>问题的理论时间复杂度为O(</a:t>
            </a:r>
            <a:r>
              <a:rPr lang="en-US" altLang="zh-CN" sz="1600" dirty="0">
                <a:sym typeface="+mn-ea"/>
              </a:rPr>
              <a:t>n</a:t>
            </a:r>
            <a:r>
              <a:rPr lang="zh-CN" altLang="en-US" sz="1600" dirty="0">
                <a:sym typeface="+mn-ea"/>
              </a:rPr>
              <a:t>og2</a:t>
            </a:r>
            <a:r>
              <a:rPr lang="en-US" altLang="zh-CN" sz="1600" dirty="0">
                <a:sym typeface="+mn-ea"/>
              </a:rPr>
              <a:t>k</a:t>
            </a:r>
            <a:r>
              <a:rPr lang="zh-CN" altLang="en-US" sz="1600" dirty="0">
                <a:sym typeface="+mn-ea"/>
              </a:rPr>
              <a:t>)</a:t>
            </a:r>
            <a:endParaRPr lang="zh-CN" altLang="en-US" sz="1600" dirty="0"/>
          </a:p>
          <a:p>
            <a:pPr marL="609600" indent="-609600" eaLnBrk="1" hangingPunct="1">
              <a:lnSpc>
                <a:spcPct val="90000"/>
              </a:lnSpc>
              <a:spcBef>
                <a:spcPct val="50000"/>
              </a:spcBef>
              <a:spcAft>
                <a:spcPct val="50000"/>
              </a:spcAft>
              <a:buClr>
                <a:schemeClr val="accent1"/>
              </a:buClr>
              <a:buSzTx/>
              <a:buFont typeface="Wingdings" panose="05000000000000000000" pitchFamily="2" charset="2"/>
              <a:buNone/>
            </a:pPr>
            <a:endParaRPr lang="en-US" altLang="zh-CN" sz="2400" baseline="-25000" dirty="0">
              <a:latin typeface="黑体" panose="02010609060101010101" pitchFamily="2" charset="-122"/>
              <a:ea typeface="黑体" panose="02010609060101010101" pitchFamily="2" charset="-122"/>
              <a:sym typeface="Symbol" panose="05050102010706020507" pitchFamily="18" charset="2"/>
            </a:endParaRPr>
          </a:p>
        </p:txBody>
      </p:sp>
      <p:sp>
        <p:nvSpPr>
          <p:cNvPr id="9" name="文本框 8">
            <a:extLst>
              <a:ext uri="{FF2B5EF4-FFF2-40B4-BE49-F238E27FC236}">
                <a16:creationId xmlns:a16="http://schemas.microsoft.com/office/drawing/2014/main" id="{ED4DCAD4-2923-4F93-951F-F3C564B0686D}"/>
              </a:ext>
            </a:extLst>
          </p:cNvPr>
          <p:cNvSpPr txBox="1"/>
          <p:nvPr/>
        </p:nvSpPr>
        <p:spPr>
          <a:xfrm>
            <a:off x="1226191" y="1511833"/>
            <a:ext cx="9739619" cy="584775"/>
          </a:xfrm>
          <a:prstGeom prst="rect">
            <a:avLst/>
          </a:prstGeom>
          <a:noFill/>
        </p:spPr>
        <p:txBody>
          <a:bodyPr wrap="square">
            <a:spAutoFit/>
          </a:bodyPr>
          <a:lstStyle/>
          <a:p>
            <a:pPr lvl="1" algn="l" eaLnBrk="1" hangingPunct="1">
              <a:buClrTx/>
              <a:buSzTx/>
            </a:pPr>
            <a:r>
              <a:rPr lang="zh-CN" altLang="en-US" sz="1600" dirty="0">
                <a:sym typeface="+mn-ea"/>
              </a:rPr>
              <a:t>       设有一个关键字集合，按完全二叉树的顺序存储方式存放在一个一维数组中。对它们从根开始，自顶向下，同一层自左向右从 1 开始连续编号。若满足   </a:t>
            </a:r>
            <a:r>
              <a:rPr lang="en-US" altLang="zh-CN" sz="1600" dirty="0">
                <a:sym typeface="+mn-ea"/>
              </a:rPr>
              <a:t>Ki </a:t>
            </a:r>
            <a:r>
              <a:rPr lang="en-US" altLang="zh-CN" sz="1600" dirty="0">
                <a:sym typeface="Symbol" panose="05050102010706020507" pitchFamily="18" charset="2"/>
              </a:rPr>
              <a:t>&lt;= K2i &amp;&amp; Ki &lt;= K2i+1  ,</a:t>
            </a:r>
            <a:r>
              <a:rPr lang="zh-CN" altLang="en-US" sz="1600" dirty="0">
                <a:sym typeface="Symbol" panose="05050102010706020507" pitchFamily="18" charset="2"/>
              </a:rPr>
              <a:t>则为最小堆</a:t>
            </a:r>
            <a:endParaRPr lang="en-US" altLang="zh-CN" sz="1600" dirty="0">
              <a:sym typeface="Symbol" panose="05050102010706020507" pitchFamily="18" charset="2"/>
            </a:endParaRPr>
          </a:p>
        </p:txBody>
      </p:sp>
      <p:pic>
        <p:nvPicPr>
          <p:cNvPr id="6" name="图片 5">
            <a:extLst>
              <a:ext uri="{FF2B5EF4-FFF2-40B4-BE49-F238E27FC236}">
                <a16:creationId xmlns:a16="http://schemas.microsoft.com/office/drawing/2014/main" id="{52017D8B-65B5-4B6B-848E-A34B5BF0B4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1676" y="2509838"/>
            <a:ext cx="6178103" cy="3781425"/>
          </a:xfrm>
          <a:prstGeom prst="rect">
            <a:avLst/>
          </a:prstGeom>
        </p:spPr>
      </p:pic>
    </p:spTree>
    <p:extLst>
      <p:ext uri="{BB962C8B-B14F-4D97-AF65-F5344CB8AC3E}">
        <p14:creationId xmlns:p14="http://schemas.microsoft.com/office/powerpoint/2010/main" val="51296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0838C-5D73-43BC-822D-8088A800D674}"/>
              </a:ext>
            </a:extLst>
          </p:cNvPr>
          <p:cNvSpPr>
            <a:spLocks noGrp="1"/>
          </p:cNvSpPr>
          <p:nvPr>
            <p:ph type="title"/>
          </p:nvPr>
        </p:nvSpPr>
        <p:spPr>
          <a:xfrm>
            <a:off x="1156982" y="293614"/>
            <a:ext cx="5188400" cy="528507"/>
          </a:xfrm>
        </p:spPr>
        <p:txBody>
          <a:bodyPr>
            <a:noAutofit/>
          </a:bodyPr>
          <a:lstStyle/>
          <a:p>
            <a:r>
              <a:rPr lang="en-US" altLang="zh-CN" sz="3200" b="1" dirty="0">
                <a:latin typeface="+mn-lt"/>
                <a:ea typeface="+mn-ea"/>
                <a:cs typeface="+mn-cs"/>
              </a:rPr>
              <a:t>Top K</a:t>
            </a:r>
            <a:r>
              <a:rPr lang="zh-CN" altLang="en-US" sz="3200" b="1" dirty="0">
                <a:latin typeface="+mn-lt"/>
                <a:ea typeface="+mn-ea"/>
                <a:cs typeface="+mn-cs"/>
              </a:rPr>
              <a:t>问题</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79AFA13-24EA-4AB5-8D5C-8DABEDEE6A1C}"/>
                  </a:ext>
                </a:extLst>
              </p:cNvPr>
              <p:cNvSpPr txBox="1"/>
              <p:nvPr/>
            </p:nvSpPr>
            <p:spPr>
              <a:xfrm>
                <a:off x="2843213" y="999003"/>
                <a:ext cx="7991475" cy="605871"/>
              </a:xfrm>
              <a:prstGeom prst="rect">
                <a:avLst/>
              </a:prstGeom>
              <a:noFill/>
            </p:spPr>
            <p:txBody>
              <a:bodyPr wrap="square" rtlCol="0">
                <a:spAutoFit/>
              </a:bodyPr>
              <a:lstStyle/>
              <a:p>
                <a:r>
                  <a:rPr lang="zh-CN" altLang="en-US" sz="1600" dirty="0"/>
                  <a:t>对于</a:t>
                </a:r>
                <a:r>
                  <a:rPr lang="en-US" altLang="zh-CN" sz="1600" dirty="0"/>
                  <a:t>top K</a:t>
                </a:r>
                <a:r>
                  <a:rPr lang="zh-CN" altLang="en-US" sz="1600" dirty="0"/>
                  <a:t>问题：</a:t>
                </a:r>
                <a:r>
                  <a:rPr lang="en-US" altLang="zh-CN" sz="1600" dirty="0"/>
                  <a:t>k &lt;&lt; n</a:t>
                </a:r>
                <a:r>
                  <a:rPr lang="zh-CN" altLang="en-US" sz="1600" dirty="0"/>
                  <a:t>时，堆调整的时间复杂度为</a:t>
                </a:r>
                <a:r>
                  <a:rPr lang="zh-CN" altLang="en-US" sz="1600" dirty="0">
                    <a:sym typeface="+mn-ea"/>
                  </a:rPr>
                  <a:t>O(</a:t>
                </a:r>
                <a:r>
                  <a:rPr lang="en-US" altLang="zh-CN" sz="1600" dirty="0">
                    <a:sym typeface="+mn-ea"/>
                  </a:rPr>
                  <a:t>n</a:t>
                </a:r>
                <a:r>
                  <a:rPr lang="zh-CN" altLang="en-US" sz="1600" dirty="0">
                    <a:sym typeface="+mn-ea"/>
                  </a:rPr>
                  <a:t>log</a:t>
                </a:r>
                <a:r>
                  <a:rPr lang="en-US" altLang="zh-CN" sz="1600" dirty="0">
                    <a:sym typeface="+mn-ea"/>
                  </a:rPr>
                  <a:t>k</a:t>
                </a:r>
                <a:r>
                  <a:rPr lang="zh-CN" altLang="en-US" sz="1600" dirty="0">
                    <a:sym typeface="+mn-ea"/>
                  </a:rPr>
                  <a:t>)，</a:t>
                </a:r>
                <a:endParaRPr lang="en-US" altLang="zh-CN" sz="1600" dirty="0">
                  <a:sym typeface="+mn-ea"/>
                </a:endParaRPr>
              </a:p>
              <a:p>
                <a:r>
                  <a:rPr lang="zh-CN" altLang="en-US" sz="1600" dirty="0">
                    <a:sym typeface="+mn-ea"/>
                  </a:rPr>
                  <a:t>选择排序的时间复杂度为</a:t>
                </a:r>
                <a14:m>
                  <m:oMath xmlns:m="http://schemas.openxmlformats.org/officeDocument/2006/math">
                    <m:r>
                      <a:rPr lang="x-none" altLang="zh-CN" sz="1600" i="1" kern="100" smtClean="0">
                        <a:effectLst/>
                        <a:latin typeface="Cambria Math" panose="02040503050406030204" pitchFamily="18" charset="0"/>
                        <a:ea typeface="宋体" panose="02010600030101010101" pitchFamily="2" charset="-122"/>
                        <a:cs typeface="Times New Roman" panose="02020603050405020304" pitchFamily="18" charset="0"/>
                      </a:rPr>
                      <m:t>𝑂</m:t>
                    </m:r>
                    <m:r>
                      <a:rPr lang="x-none" altLang="zh-CN" sz="1600" i="1" kern="100" smtClean="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1600" i="1">
                            <a:effectLst/>
                            <a:latin typeface="Cambria Math" panose="02040503050406030204" pitchFamily="18" charset="0"/>
                            <a:ea typeface="Cambria Math" panose="02040503050406030204" pitchFamily="18" charset="0"/>
                          </a:rPr>
                        </m:ctrlPr>
                      </m:sSupPr>
                      <m:e>
                        <m:r>
                          <a:rPr lang="x-none" altLang="zh-CN" sz="1600" i="1" kern="100">
                            <a:effectLst/>
                            <a:latin typeface="Cambria Math" panose="02040503050406030204" pitchFamily="18" charset="0"/>
                            <a:ea typeface="宋体" panose="02010600030101010101" pitchFamily="2" charset="-122"/>
                            <a:cs typeface="Times New Roman" panose="02020603050405020304" pitchFamily="18" charset="0"/>
                          </a:rPr>
                          <m:t>𝑛</m:t>
                        </m:r>
                      </m:e>
                      <m:sup/>
                    </m:sSup>
                    <m:r>
                      <a:rPr lang="x-none"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zh-CN" altLang="en-US" sz="16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1600" dirty="0"/>
                  <a:t>快速排序的时间复杂度为</a:t>
                </a:r>
                <a14:m>
                  <m:oMath xmlns:m="http://schemas.openxmlformats.org/officeDocument/2006/math">
                    <m:r>
                      <a:rPr lang="en-US" altLang="zh-CN" sz="1600" i="1" kern="100">
                        <a:latin typeface="Cambria Math" panose="02040503050406030204" pitchFamily="18" charset="0"/>
                        <a:ea typeface="宋体" panose="02010600030101010101" pitchFamily="2" charset="-122"/>
                      </a:rPr>
                      <m:t>𝑂</m:t>
                    </m:r>
                    <m:d>
                      <m:dPr>
                        <m:ctrlPr>
                          <a:rPr lang="zh-CN" altLang="zh-CN" sz="1600" i="1" kern="100">
                            <a:latin typeface="Cambria Math" panose="02040503050406030204" pitchFamily="18" charset="0"/>
                            <a:ea typeface="Cambria Math" panose="02040503050406030204" pitchFamily="18" charset="0"/>
                          </a:rPr>
                        </m:ctrlPr>
                      </m:dPr>
                      <m:e>
                        <m:r>
                          <a:rPr lang="en-US" altLang="zh-CN" sz="1600" i="1" kern="100">
                            <a:latin typeface="Cambria Math" panose="02040503050406030204" pitchFamily="18" charset="0"/>
                            <a:ea typeface="宋体" panose="02010600030101010101" pitchFamily="2" charset="-122"/>
                          </a:rPr>
                          <m:t>𝑛</m:t>
                        </m:r>
                        <m:func>
                          <m:funcPr>
                            <m:ctrlPr>
                              <a:rPr lang="zh-CN" altLang="zh-CN" sz="1600" i="1" kern="100">
                                <a:latin typeface="Cambria Math" panose="02040503050406030204" pitchFamily="18" charset="0"/>
                                <a:ea typeface="Cambria Math" panose="02040503050406030204" pitchFamily="18" charset="0"/>
                              </a:rPr>
                            </m:ctrlPr>
                          </m:funcPr>
                          <m:fName>
                            <m:r>
                              <m:rPr>
                                <m:sty m:val="p"/>
                              </m:rPr>
                              <a:rPr lang="en-US" altLang="zh-CN" sz="1600" kern="100">
                                <a:latin typeface="Cambria Math" panose="02040503050406030204" pitchFamily="18" charset="0"/>
                                <a:ea typeface="宋体" panose="02010600030101010101" pitchFamily="2" charset="-122"/>
                              </a:rPr>
                              <m:t>log</m:t>
                            </m:r>
                          </m:fName>
                          <m:e>
                            <m:r>
                              <a:rPr lang="en-US" altLang="zh-CN" sz="1600" i="1" kern="100">
                                <a:latin typeface="Cambria Math" panose="02040503050406030204" pitchFamily="18" charset="0"/>
                                <a:ea typeface="宋体" panose="02010600030101010101" pitchFamily="2" charset="-122"/>
                              </a:rPr>
                              <m:t>𝑛</m:t>
                            </m:r>
                          </m:e>
                        </m:func>
                      </m:e>
                    </m:d>
                  </m:oMath>
                </a14:m>
                <a:endParaRPr lang="zh-CN" altLang="en-US" sz="1600" dirty="0"/>
              </a:p>
            </p:txBody>
          </p:sp>
        </mc:Choice>
        <mc:Fallback xmlns="">
          <p:sp>
            <p:nvSpPr>
              <p:cNvPr id="11" name="文本框 10">
                <a:extLst>
                  <a:ext uri="{FF2B5EF4-FFF2-40B4-BE49-F238E27FC236}">
                    <a16:creationId xmlns:a16="http://schemas.microsoft.com/office/drawing/2014/main" id="{479AFA13-24EA-4AB5-8D5C-8DABEDEE6A1C}"/>
                  </a:ext>
                </a:extLst>
              </p:cNvPr>
              <p:cNvSpPr txBox="1">
                <a:spLocks noRot="1" noChangeAspect="1" noMove="1" noResize="1" noEditPoints="1" noAdjustHandles="1" noChangeArrowheads="1" noChangeShapeType="1" noTextEdit="1"/>
              </p:cNvSpPr>
              <p:nvPr/>
            </p:nvSpPr>
            <p:spPr>
              <a:xfrm>
                <a:off x="2843213" y="999003"/>
                <a:ext cx="7991475" cy="605871"/>
              </a:xfrm>
              <a:prstGeom prst="rect">
                <a:avLst/>
              </a:prstGeom>
              <a:blipFill>
                <a:blip r:embed="rId2"/>
                <a:stretch>
                  <a:fillRect l="-381" t="-3030" b="-13131"/>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297F81E2-E686-4423-92DA-64A3E208C924}"/>
              </a:ext>
            </a:extLst>
          </p:cNvPr>
          <p:cNvSpPr txBox="1"/>
          <p:nvPr/>
        </p:nvSpPr>
        <p:spPr>
          <a:xfrm>
            <a:off x="3722594" y="5231285"/>
            <a:ext cx="4746812" cy="400110"/>
          </a:xfrm>
          <a:prstGeom prst="rect">
            <a:avLst/>
          </a:prstGeom>
          <a:noFill/>
        </p:spPr>
        <p:txBody>
          <a:bodyPr wrap="none" rtlCol="0">
            <a:spAutoFit/>
          </a:bodyPr>
          <a:lstStyle/>
          <a:p>
            <a:r>
              <a:rPr lang="zh-CN" altLang="en-US" sz="2000" b="1" dirty="0"/>
              <a:t>结论：</a:t>
            </a:r>
            <a:r>
              <a:rPr lang="zh-CN" altLang="en-US" sz="1600" dirty="0"/>
              <a:t>对于</a:t>
            </a:r>
            <a:r>
              <a:rPr lang="en-US" altLang="zh-CN" sz="1600" dirty="0"/>
              <a:t>Top K</a:t>
            </a:r>
            <a:r>
              <a:rPr lang="zh-CN" altLang="en-US" sz="1600" dirty="0"/>
              <a:t>问题，最优的排序算法是堆排序</a:t>
            </a:r>
          </a:p>
        </p:txBody>
      </p:sp>
      <p:pic>
        <p:nvPicPr>
          <p:cNvPr id="4" name="图片 3">
            <a:extLst>
              <a:ext uri="{FF2B5EF4-FFF2-40B4-BE49-F238E27FC236}">
                <a16:creationId xmlns:a16="http://schemas.microsoft.com/office/drawing/2014/main" id="{A1486459-B840-413A-91F4-62713D4B3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 y="1750390"/>
            <a:ext cx="4154517" cy="2916859"/>
          </a:xfrm>
          <a:prstGeom prst="rect">
            <a:avLst/>
          </a:prstGeom>
        </p:spPr>
      </p:pic>
      <p:pic>
        <p:nvPicPr>
          <p:cNvPr id="6" name="图片 5">
            <a:extLst>
              <a:ext uri="{FF2B5EF4-FFF2-40B4-BE49-F238E27FC236}">
                <a16:creationId xmlns:a16="http://schemas.microsoft.com/office/drawing/2014/main" id="{53BFA5D3-1091-47DD-AFED-A2515353A5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8816" y="1781755"/>
            <a:ext cx="3993189" cy="2885493"/>
          </a:xfrm>
          <a:prstGeom prst="rect">
            <a:avLst/>
          </a:prstGeom>
        </p:spPr>
      </p:pic>
      <p:pic>
        <p:nvPicPr>
          <p:cNvPr id="8" name="图片 7">
            <a:extLst>
              <a:ext uri="{FF2B5EF4-FFF2-40B4-BE49-F238E27FC236}">
                <a16:creationId xmlns:a16="http://schemas.microsoft.com/office/drawing/2014/main" id="{C3B90E9F-1FF7-4948-9FBA-D9D5C8EB97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2005" y="1519238"/>
            <a:ext cx="3993189" cy="3052762"/>
          </a:xfrm>
          <a:prstGeom prst="rect">
            <a:avLst/>
          </a:prstGeom>
        </p:spPr>
      </p:pic>
    </p:spTree>
    <p:extLst>
      <p:ext uri="{BB962C8B-B14F-4D97-AF65-F5344CB8AC3E}">
        <p14:creationId xmlns:p14="http://schemas.microsoft.com/office/powerpoint/2010/main" val="28362533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1616</Words>
  <Application>Microsoft Office PowerPoint</Application>
  <PresentationFormat>宽屏</PresentationFormat>
  <Paragraphs>279</Paragraphs>
  <Slides>18</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等线</vt:lpstr>
      <vt:lpstr>等线 Light</vt:lpstr>
      <vt:lpstr>黑体</vt:lpstr>
      <vt:lpstr>思源黑体 CN Heavy</vt:lpstr>
      <vt:lpstr>宋体</vt:lpstr>
      <vt:lpstr>Arial</vt:lpstr>
      <vt:lpstr>Cambria Math</vt:lpstr>
      <vt:lpstr>Times New Roman</vt:lpstr>
      <vt:lpstr>Wingdings</vt:lpstr>
      <vt:lpstr>Office 主题​​</vt:lpstr>
      <vt:lpstr>PowerPoint 演示文稿</vt:lpstr>
      <vt:lpstr>PowerPoint 演示文稿</vt:lpstr>
      <vt:lpstr>冒泡排序、选择排序、插入排序</vt:lpstr>
      <vt:lpstr>冒泡排序、选择排序、插入排序</vt:lpstr>
      <vt:lpstr>冒泡排序、选择排序、插入排序</vt:lpstr>
      <vt:lpstr>冒泡排序、选择排序、插入排序</vt:lpstr>
      <vt:lpstr>冒泡排序、选择排序、插入排序</vt:lpstr>
      <vt:lpstr>冒泡排序、选择排序、插入排序</vt:lpstr>
      <vt:lpstr>冒泡排序、选择排序、插入排序</vt:lpstr>
      <vt:lpstr>快速排序、归并排序</vt:lpstr>
      <vt:lpstr>快速排序、归并排序</vt:lpstr>
      <vt:lpstr>快速排序、归并排序</vt:lpstr>
      <vt:lpstr>快速排序、归并排序</vt:lpstr>
      <vt:lpstr>快速排序、归并排序</vt:lpstr>
      <vt:lpstr>Top K问题</vt:lpstr>
      <vt:lpstr>Top K问题</vt:lpstr>
      <vt:lpstr>Top K问题</vt:lpstr>
      <vt:lpstr>Top K问题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王锦鸿</dc:creator>
  <cp:lastModifiedBy>王锦鸿</cp:lastModifiedBy>
  <cp:revision>44</cp:revision>
  <dcterms:created xsi:type="dcterms:W3CDTF">2024-03-22T02:49:35Z</dcterms:created>
  <dcterms:modified xsi:type="dcterms:W3CDTF">2024-04-07T00:16:42Z</dcterms:modified>
</cp:coreProperties>
</file>