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9" r:id="rId2"/>
    <p:sldId id="272" r:id="rId3"/>
    <p:sldId id="283" r:id="rId4"/>
    <p:sldId id="288" r:id="rId5"/>
    <p:sldId id="291" r:id="rId6"/>
    <p:sldId id="290" r:id="rId7"/>
    <p:sldId id="292" r:id="rId8"/>
    <p:sldId id="274" r:id="rId9"/>
    <p:sldId id="275" r:id="rId10"/>
    <p:sldId id="276" r:id="rId11"/>
    <p:sldId id="286" r:id="rId12"/>
    <p:sldId id="277" r:id="rId13"/>
    <p:sldId id="279" r:id="rId14"/>
    <p:sldId id="281" r:id="rId15"/>
    <p:sldId id="285" r:id="rId16"/>
    <p:sldId id="293" r:id="rId17"/>
    <p:sldId id="284" r:id="rId18"/>
    <p:sldId id="28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锦鸿" initials="王锦鸿" lastIdx="1" clrIdx="0">
    <p:extLst>
      <p:ext uri="{19B8F6BF-5375-455C-9EA6-DF929625EA0E}">
        <p15:presenceInfo xmlns:p15="http://schemas.microsoft.com/office/powerpoint/2012/main" userId="王锦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949E7-978C-433D-8782-A942BD5C8A73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3BD75-790F-4725-AD26-667E1D67A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27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49EBE-6A8A-480B-8B38-157661819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14CB92-06C1-4735-88CB-84A5DBAF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3A2259-2366-43FA-A86D-915A452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3E01C-EE70-4D7C-8712-1ED0C438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F55B78-478D-40FE-997E-5DA309F6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05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5385A-A663-4DFA-B31A-9E0B3DE0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AAD07-E52F-45A7-8BE2-953BCB34F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758FC-077F-4DB7-A9C9-021FA12B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A682A-4557-4738-9C50-397240F9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34375-41FA-4E7C-9CB8-148CA199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14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BAF9F-BA4E-408F-BDFE-3E9788D6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187101-0A9B-4BA5-A8DB-7A9C2A46B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FC527-45BF-4941-906E-26CBEFE2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6AB76-5B33-49D5-AA53-D33848A9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F1368-37C1-4837-991E-2A47FCD9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6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26D91-F6FA-4174-ABE6-46C88566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218E7C-591B-4962-B056-78C1AEC4D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D4790C-7F85-49C3-B677-6C033318A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E1CC74-3010-49B2-9F00-F5A683AE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212245-E14E-4F7B-82B5-09815870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B024CD-9446-4C22-8188-F7F07734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47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172E7-98ED-48C2-ACCE-82D77A16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F69D0C-95FD-4C65-897E-DF8B5A874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5F954F-6D18-49E4-B6AC-C37273310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14D92-ED91-4DC8-861F-BD330C0AE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15DD61-27BA-4BB4-ACA8-7533CB1A3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26A5EE-501B-4A17-9D66-BAB3A11C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6BB778-56C8-49A3-B298-B66A6157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DCE0E3-3858-4FB7-AC91-40A3FCE1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73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A3731-3E43-47A7-A4F0-85FADCF7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DDB793-B23F-4F23-93B0-43B44A54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63E49B-3F45-4FD9-A6E9-207FD186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74CDC-7D84-4305-9ABF-8EA9E5AD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6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9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CC327-140A-47D5-9F91-DE5B83DC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0DFBC-F838-4857-8E2A-6BD0C1F7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2E53C7-5304-4609-A348-68240F421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5F80E6-D414-44D6-8841-15B43ED4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22BD69-0E5F-4F44-9751-4A034146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D0373B-B61C-48EB-B1B1-D42EFADA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2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12404-8D3F-4552-9E97-889F4E7A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513B24-A4D6-4C41-9FC3-ADAA88907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519934-04AA-4F94-9858-D350986C8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5D1B2D-E6B1-4B66-968C-DF8F24E9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960829-2024-4F1E-88AE-68F85F77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F4C214-644E-443F-97E0-25B388A4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54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D374A-C685-45E9-B076-53CC971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F2B9D6-772F-44A5-8D24-F0B2E007D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29F1B-2A7D-4503-9DE6-200ECD96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2E2134-6522-4E25-8A0A-3528C557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34358-2057-4A0E-BECF-DDF725A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84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58FB1E-42F6-489F-8F5E-29F7BEDD5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AB6F33-A12C-488A-A52B-40FF212F9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D7375-488A-4017-97A7-E279397E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A1BAF-13BC-4B21-8405-087AB6CABCE5}" type="datetimeFigureOut">
              <a:rPr lang="zh-CN" altLang="en-US" smtClean="0"/>
              <a:t>2024/5/1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B6E7A-3F8F-44D5-B2DC-57C6474B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58AA5-BC51-48A5-B40B-0A450606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C8E083-C0B7-42A8-B5EA-EE26E5F1A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86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B5B887-E3F2-47A1-806F-8DFAD593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398D2-0AA9-4DBD-A962-036246098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CD675C-94F3-45AF-A3B4-061A75990634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A7B0950-9D88-4C67-8AFC-452DE7917599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555F992-8B6F-432A-83FA-99A1A7BA6D98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ED3D9E5-6019-46DC-9B21-803A2CB02718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5246E98-C6DF-4CC9-8A66-16C1162EDAF3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C8C76B2-A592-4026-B724-667E605BEBBC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5A72839-E8A4-4D6E-B370-1BB626FE8550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D808031-4D0A-4F7E-A8B6-906D371571F4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16B0DD5A-53C8-43F2-9273-C824FBDD0C56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D7F54444-F2AB-4B1F-9654-F21178A484BB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A68DE65A-A364-4897-B3EE-32E16E33AA42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23D5BB-22B8-4439-B20F-A8E027D48BD2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2110DA4-6F9F-4949-A97B-813DFC27961A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60AFA6AD-E95F-4C2F-9EEF-66257D5C20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246AC6B9-91E4-4386-B7E0-A26911F39160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7A32D425-6B3C-4A9E-B60E-34A28C97D8BF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27EEF89-F1E9-461A-ACE5-BCF34E4885CC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7995D685-D9FA-4F19-AC52-F40F0ABB30FC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D9EAFD48-534F-4B18-B1E8-F5D710511D1C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53EFAE6D-FDEC-4F22-8774-C473B6112F32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BEDEEFFC-DF2D-4CE9-89F1-7DD09A61E98E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C7F59726-24A7-4C7B-83C4-9471AABB52C9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641AD05-1684-4439-9BE6-AF3C4DD001AD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5EA894F-1D5D-41E6-A7A7-99D2396DDE7E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67F767D5-AACE-4403-B481-FC2251A48954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FE777C03-9A81-4711-9955-12BCAF70CD38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D422A28B-CAF8-4309-9E72-5FAD5984EE31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45670983-F885-4844-89E9-34B55F7FCADA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C9736DBE-A383-47E9-803B-4953EEE5CABB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96BB7035-7496-40FD-B3AD-8D1B1EC8D496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E1A499DD-CD85-4B7E-966A-863EC4CACEFE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CFD40397-E0CC-47BF-B38A-3A0BB1265A77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B8AE069A-8279-4BB8-A723-D6B696723ED9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4330BAAD-CA9C-4441-A44E-9F77293DB9E9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F3BCD60C-CC82-41F7-9E25-577D0F4D3727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FCC22687-61F2-4838-893C-2EA616991655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AF39CA5C-7E10-4F07-BD10-FAC05E82897C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F5E1A3CA-807D-4799-9CC4-4856E300FCEB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0F334CEA-BF96-4BB3-98D9-D46427B26FEE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07AF909D-8933-4080-A419-E538BF125D02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0202EC3F-185E-4EFC-90D0-B8F08E6BBA3E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FC006DBE-53FA-4E77-A600-F76F036E5FAF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8017F91C-2EB7-4E62-A777-03A308AC28C4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ED3257C5-0EF7-42D4-9A71-57C03C76EA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14A18BD6-0300-4C50-B9A6-1CA3C4003D7D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ABF8ECAD-10A1-4229-945A-852F3792157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40BAB8FD-7258-45E1-A765-7EEEDA140E08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E0653A16-0525-446B-A84B-BF71F0FA9E9A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31368863-CF22-426E-ADC9-6395FC84C96A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DFBA9761-AAC4-49EF-A317-68E7AE8828FF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1F0055B7-0C86-4BA9-8685-51A73C071D6D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CBA107D4-A23E-4913-96DB-31E5D29E6E2F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307A5A6C-9A47-454A-996B-859040CF46F3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4561853A-960B-4E2C-9207-9CE92A25EDE3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C6613B9A-1E5F-4905-804D-54ADA58766B8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659367BD-232C-4A80-AFFF-F9A7E2147E07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59">
              <a:extLst>
                <a:ext uri="{FF2B5EF4-FFF2-40B4-BE49-F238E27FC236}">
                  <a16:creationId xmlns:a16="http://schemas.microsoft.com/office/drawing/2014/main" id="{8D8F8FEE-522A-4A88-B84C-A94D57A53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Oval 60">
              <a:extLst>
                <a:ext uri="{FF2B5EF4-FFF2-40B4-BE49-F238E27FC236}">
                  <a16:creationId xmlns:a16="http://schemas.microsoft.com/office/drawing/2014/main" id="{915AAA0A-1564-45B0-A7E4-68A7FEB1C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4DD91FB6-91E2-4F36-9DEA-D44F6B40C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4C980240-3E43-4887-B1BB-9023CC44CB83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4E6E4C19-7BA2-42BF-BB29-EE4281721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7843EAA5-D092-48BA-AFC8-77DB9B88EF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1B8F7BD4-6DB5-4257-9977-E9F80CC1685B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B1633DBF-870B-4478-9F55-BF01A6E83549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9A859666-3C6F-4031-8520-0EBB78A59D9A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E7BE3EA6-DC27-482B-95EA-58818D8EA9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D21AFBEA-BE86-4937-A9D3-62BFCF701C47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C249D177-121A-4D87-A7E1-75E50EE7EAEB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46BB2295-68D4-4AB2-94DA-FC7254624272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7A031ED-9F2E-4888-9A57-68E2C35673AE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2C48E3D6-ECD6-4B19-8C97-899368E1A2FF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27D7794-4EFD-473F-A955-E474856F9D02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3577D3B-77C9-4D09-8F48-C8889BCD0751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3A1F0FF4-1DDC-4BD4-AEFE-7C590ACED357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118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3810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8" name="标题 3073"/>
          <p:cNvSpPr txBox="1"/>
          <p:nvPr/>
        </p:nvSpPr>
        <p:spPr>
          <a:xfrm>
            <a:off x="2893993" y="2646242"/>
            <a:ext cx="6404014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E997FDA-D907-4803-861F-B12EFB4700F5}"/>
              </a:ext>
            </a:extLst>
          </p:cNvPr>
          <p:cNvSpPr txBox="1"/>
          <p:nvPr/>
        </p:nvSpPr>
        <p:spPr>
          <a:xfrm>
            <a:off x="2820840" y="2598684"/>
            <a:ext cx="6419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回溯法（地图填色问题）</a:t>
            </a:r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</a:t>
            </a:r>
          </a:p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--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王培鸿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4072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80976FA-8D80-46CF-AAFE-874D0D112F30}"/>
              </a:ext>
            </a:extLst>
          </p:cNvPr>
          <p:cNvSpPr txBox="1"/>
          <p:nvPr/>
        </p:nvSpPr>
        <p:spPr>
          <a:xfrm>
            <a:off x="2175153" y="2382472"/>
            <a:ext cx="80440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解向量为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(x1,x2,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,x7)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，节点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xi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的取值范围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red,green,blue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,……}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/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一颗深度为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层的完全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叉树。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5CB0E1-6401-483B-ACCB-C46BD5617D82}"/>
              </a:ext>
            </a:extLst>
          </p:cNvPr>
          <p:cNvSpPr txBox="1"/>
          <p:nvPr/>
        </p:nvSpPr>
        <p:spPr>
          <a:xfrm>
            <a:off x="1077686" y="265993"/>
            <a:ext cx="2981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直接回溯法：</a:t>
            </a:r>
            <a:endParaRPr lang="zh-CN" altLang="en-US" sz="36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7073AD-4241-4839-8F06-A5DA44A71526}"/>
              </a:ext>
            </a:extLst>
          </p:cNvPr>
          <p:cNvSpPr txBox="1"/>
          <p:nvPr/>
        </p:nvSpPr>
        <p:spPr>
          <a:xfrm>
            <a:off x="1708010" y="1084831"/>
            <a:ext cx="8775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从第一个节点开始，依次枚举每个节点填充各种颜色下的解决方案，直到所有节点都填充完颜色或者无法再继续填充颜色。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EDA2C73-35DD-4027-8EBC-DDF438799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869" y="3429000"/>
            <a:ext cx="6718841" cy="279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0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90AC6A-B322-4F82-8547-E953FFE586C7}"/>
              </a:ext>
            </a:extLst>
          </p:cNvPr>
          <p:cNvSpPr txBox="1"/>
          <p:nvPr/>
        </p:nvSpPr>
        <p:spPr>
          <a:xfrm>
            <a:off x="1077686" y="265993"/>
            <a:ext cx="2981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直接回溯法：</a:t>
            </a:r>
            <a:endParaRPr lang="zh-CN" altLang="en-US" sz="3600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456AEE7-958D-4548-9400-D92DC4F92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20418"/>
              </p:ext>
            </p:extLst>
          </p:nvPr>
        </p:nvGraphicFramePr>
        <p:xfrm>
          <a:off x="6660003" y="2657475"/>
          <a:ext cx="4681536" cy="1069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384">
                  <a:extLst>
                    <a:ext uri="{9D8B030D-6E8A-4147-A177-3AD203B41FA5}">
                      <a16:colId xmlns:a16="http://schemas.microsoft.com/office/drawing/2014/main" val="2596452390"/>
                    </a:ext>
                  </a:extLst>
                </a:gridCol>
                <a:gridCol w="1170384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170384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170384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5308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385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411DCBAF-B70D-48A0-A913-07E2D643F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8" y="4237989"/>
            <a:ext cx="4752975" cy="12382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6045B00-E718-4D59-B36C-CBC62BA3C398}"/>
              </a:ext>
            </a:extLst>
          </p:cNvPr>
          <p:cNvSpPr txBox="1"/>
          <p:nvPr/>
        </p:nvSpPr>
        <p:spPr>
          <a:xfrm>
            <a:off x="2077915" y="1054050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测试集验证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08EE38-7930-4551-AE43-072F92686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40" y="1423382"/>
            <a:ext cx="3274821" cy="228397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B0D501D-2313-42DB-879C-7265B1F687E9}"/>
              </a:ext>
            </a:extLst>
          </p:cNvPr>
          <p:cNvSpPr txBox="1"/>
          <p:nvPr/>
        </p:nvSpPr>
        <p:spPr>
          <a:xfrm>
            <a:off x="590955" y="3726931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对于上述图像，暴力法的求解如下图所示。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C67E90-2F52-45A1-B1A7-7D824BB78E34}"/>
              </a:ext>
            </a:extLst>
          </p:cNvPr>
          <p:cNvSpPr txBox="1"/>
          <p:nvPr/>
        </p:nvSpPr>
        <p:spPr>
          <a:xfrm>
            <a:off x="6715530" y="2107681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对于三个测试数据，求取第一个解的时间。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5BAD78-0E7E-47D1-BC06-0E9793DCEC37}"/>
              </a:ext>
            </a:extLst>
          </p:cNvPr>
          <p:cNvSpPr txBox="1"/>
          <p:nvPr/>
        </p:nvSpPr>
        <p:spPr>
          <a:xfrm>
            <a:off x="6274996" y="3911597"/>
            <a:ext cx="5917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5a</a:t>
            </a:r>
            <a:r>
              <a:rPr lang="zh-CN" altLang="en-US" dirty="0"/>
              <a:t>、求取所有解，</a:t>
            </a:r>
            <a:r>
              <a:rPr lang="en-US" altLang="zh-CN" dirty="0"/>
              <a:t>15a</a:t>
            </a:r>
            <a:r>
              <a:rPr lang="zh-CN" altLang="en-US" dirty="0"/>
              <a:t>、</a:t>
            </a:r>
            <a:r>
              <a:rPr lang="en-US" altLang="zh-CN" dirty="0"/>
              <a:t>25a</a:t>
            </a:r>
            <a:r>
              <a:rPr lang="zh-CN" altLang="en-US" dirty="0"/>
              <a:t>求取一亿个解的时间。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11F3452-7D0E-4BF0-B355-03216AA15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0140"/>
              </p:ext>
            </p:extLst>
          </p:nvPr>
        </p:nvGraphicFramePr>
        <p:xfrm>
          <a:off x="6677430" y="4406783"/>
          <a:ext cx="4681536" cy="1069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384">
                  <a:extLst>
                    <a:ext uri="{9D8B030D-6E8A-4147-A177-3AD203B41FA5}">
                      <a16:colId xmlns:a16="http://schemas.microsoft.com/office/drawing/2014/main" val="2596452390"/>
                    </a:ext>
                  </a:extLst>
                </a:gridCol>
                <a:gridCol w="1170384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170384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170384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5308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385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76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BA3D02-F5E6-4F0E-91B3-2A954B28818F}"/>
              </a:ext>
            </a:extLst>
          </p:cNvPr>
          <p:cNvSpPr txBox="1"/>
          <p:nvPr/>
        </p:nvSpPr>
        <p:spPr>
          <a:xfrm>
            <a:off x="1114112" y="23299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MRV_DH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233436-8081-4987-B9D6-3164548B9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1577545"/>
            <a:ext cx="9274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优先选择剩余未填色节点中可填颜色最少的节点，即先对容易导致失败的节点填涂，可以减少回溯法中的分支数目。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824C2F-7E30-431A-A3FE-5DE31447DB59}"/>
              </a:ext>
            </a:extLst>
          </p:cNvPr>
          <p:cNvSpPr txBox="1"/>
          <p:nvPr/>
        </p:nvSpPr>
        <p:spPr>
          <a:xfrm>
            <a:off x="199293" y="1000682"/>
            <a:ext cx="8732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最少剩余量选择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MRV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D725F8-3F4A-4833-BEDA-4C6CA3D2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7" y="2647950"/>
            <a:ext cx="6943725" cy="1133475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ADD8580-0914-41A1-BED9-3DEEF08B471C}"/>
              </a:ext>
            </a:extLst>
          </p:cNvPr>
          <p:cNvCxnSpPr>
            <a:cxnSpLocks/>
          </p:cNvCxnSpPr>
          <p:nvPr/>
        </p:nvCxnSpPr>
        <p:spPr>
          <a:xfrm>
            <a:off x="678191" y="3086879"/>
            <a:ext cx="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2">
            <a:extLst>
              <a:ext uri="{FF2B5EF4-FFF2-40B4-BE49-F238E27FC236}">
                <a16:creationId xmlns:a16="http://schemas.microsoft.com/office/drawing/2014/main" id="{65CB9A66-EEF2-4652-B4D6-7BDBA3711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3203" y="4045232"/>
            <a:ext cx="9485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未填色节点中可填颜色最少的节点，其对应的填色分支也最少，从而实现搜索树的剪枝。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3967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BA3D02-F5E6-4F0E-91B3-2A954B28818F}"/>
              </a:ext>
            </a:extLst>
          </p:cNvPr>
          <p:cNvSpPr txBox="1"/>
          <p:nvPr/>
        </p:nvSpPr>
        <p:spPr>
          <a:xfrm>
            <a:off x="1114112" y="23299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MRV_DH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70838A3-3D00-4305-A392-7127330E7E5C}"/>
              </a:ext>
            </a:extLst>
          </p:cNvPr>
          <p:cNvSpPr/>
          <p:nvPr/>
        </p:nvSpPr>
        <p:spPr>
          <a:xfrm>
            <a:off x="342212" y="2475100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E1AFE5-01AF-442F-A027-A0635785AC39}"/>
              </a:ext>
            </a:extLst>
          </p:cNvPr>
          <p:cNvSpPr/>
          <p:nvPr/>
        </p:nvSpPr>
        <p:spPr>
          <a:xfrm>
            <a:off x="1398718" y="2475099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2EE87C8-F970-4B60-967D-2113527F6EAD}"/>
              </a:ext>
            </a:extLst>
          </p:cNvPr>
          <p:cNvSpPr/>
          <p:nvPr/>
        </p:nvSpPr>
        <p:spPr>
          <a:xfrm>
            <a:off x="1398718" y="3446198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529173A-B3D7-402B-92ED-2E428A087512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822019" y="2726308"/>
            <a:ext cx="576699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40698F3-D1AC-45C5-9972-78B5D4B733F4}"/>
              </a:ext>
            </a:extLst>
          </p:cNvPr>
          <p:cNvCxnSpPr>
            <a:cxnSpLocks/>
          </p:cNvCxnSpPr>
          <p:nvPr/>
        </p:nvCxnSpPr>
        <p:spPr>
          <a:xfrm>
            <a:off x="1878525" y="2726307"/>
            <a:ext cx="6246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3D865B3A-2CC4-4F4E-AC63-BFC2E69EEC0C}"/>
              </a:ext>
            </a:extLst>
          </p:cNvPr>
          <p:cNvSpPr/>
          <p:nvPr/>
        </p:nvSpPr>
        <p:spPr>
          <a:xfrm>
            <a:off x="2503219" y="2475099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ADD8580-0914-41A1-BED9-3DEEF08B471C}"/>
              </a:ext>
            </a:extLst>
          </p:cNvPr>
          <p:cNvCxnSpPr>
            <a:cxnSpLocks/>
          </p:cNvCxnSpPr>
          <p:nvPr/>
        </p:nvCxnSpPr>
        <p:spPr>
          <a:xfrm>
            <a:off x="582985" y="3502395"/>
            <a:ext cx="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1371C5D-485D-4CF2-B65F-65D6EB33E6DC}"/>
              </a:ext>
            </a:extLst>
          </p:cNvPr>
          <p:cNvCxnSpPr>
            <a:stCxn id="14" idx="5"/>
            <a:endCxn id="16" idx="2"/>
          </p:cNvCxnSpPr>
          <p:nvPr/>
        </p:nvCxnSpPr>
        <p:spPr>
          <a:xfrm>
            <a:off x="751753" y="2903940"/>
            <a:ext cx="646965" cy="7934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7AD932C-4CC4-425B-9ED1-8A213854B5F8}"/>
              </a:ext>
            </a:extLst>
          </p:cNvPr>
          <p:cNvCxnSpPr>
            <a:cxnSpLocks/>
            <a:stCxn id="24" idx="3"/>
            <a:endCxn id="16" idx="6"/>
          </p:cNvCxnSpPr>
          <p:nvPr/>
        </p:nvCxnSpPr>
        <p:spPr>
          <a:xfrm flipH="1">
            <a:off x="1878525" y="2903939"/>
            <a:ext cx="694960" cy="79346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1C66A93-0876-43C0-B33A-3BC8CD34BEB3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1638622" y="2977516"/>
            <a:ext cx="0" cy="4686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C61B9F6D-34EE-4CCC-A1CE-B421DCE4B4B5}"/>
              </a:ext>
            </a:extLst>
          </p:cNvPr>
          <p:cNvSpPr txBox="1"/>
          <p:nvPr/>
        </p:nvSpPr>
        <p:spPr>
          <a:xfrm>
            <a:off x="1118009" y="209873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四色填涂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F89699-7D95-4292-A714-71A950EAC9C8}"/>
              </a:ext>
            </a:extLst>
          </p:cNvPr>
          <p:cNvSpPr txBox="1"/>
          <p:nvPr/>
        </p:nvSpPr>
        <p:spPr>
          <a:xfrm>
            <a:off x="4718407" y="17092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顺序填涂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1F512A8-1962-45FE-BD3C-33A491FAFD59}"/>
              </a:ext>
            </a:extLst>
          </p:cNvPr>
          <p:cNvSpPr/>
          <p:nvPr/>
        </p:nvSpPr>
        <p:spPr>
          <a:xfrm>
            <a:off x="4277458" y="2841505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F6D0D73-1160-4CD3-8A8E-572DF24EFA5E}"/>
              </a:ext>
            </a:extLst>
          </p:cNvPr>
          <p:cNvSpPr/>
          <p:nvPr/>
        </p:nvSpPr>
        <p:spPr>
          <a:xfrm>
            <a:off x="3744787" y="3624263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6E2EE76-8B92-4C83-A739-0BCF0B52F2A1}"/>
              </a:ext>
            </a:extLst>
          </p:cNvPr>
          <p:cNvSpPr/>
          <p:nvPr/>
        </p:nvSpPr>
        <p:spPr>
          <a:xfrm>
            <a:off x="3327455" y="4394887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1136451-C7A9-483F-8D59-A24FE2265258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 flipH="1">
            <a:off x="3984691" y="3270345"/>
            <a:ext cx="363033" cy="353918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97097A6-798F-4AE0-BE72-4DD49B7F9302}"/>
              </a:ext>
            </a:extLst>
          </p:cNvPr>
          <p:cNvCxnSpPr>
            <a:cxnSpLocks/>
            <a:stCxn id="23" idx="3"/>
            <a:endCxn id="27" idx="0"/>
          </p:cNvCxnSpPr>
          <p:nvPr/>
        </p:nvCxnSpPr>
        <p:spPr>
          <a:xfrm flipH="1">
            <a:off x="3567359" y="4053103"/>
            <a:ext cx="247694" cy="341784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5CF2825-945B-4BB9-A571-94B7B0FD4E82}"/>
              </a:ext>
            </a:extLst>
          </p:cNvPr>
          <p:cNvCxnSpPr>
            <a:cxnSpLocks/>
          </p:cNvCxnSpPr>
          <p:nvPr/>
        </p:nvCxnSpPr>
        <p:spPr>
          <a:xfrm>
            <a:off x="4718407" y="3224947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08F4506-FD48-4AE9-A959-2C5A5667E427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4517362" y="3343922"/>
            <a:ext cx="9715" cy="333162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37F3E678-B9DE-4070-93A5-9B865A754486}"/>
              </a:ext>
            </a:extLst>
          </p:cNvPr>
          <p:cNvSpPr txBox="1"/>
          <p:nvPr/>
        </p:nvSpPr>
        <p:spPr>
          <a:xfrm>
            <a:off x="9128151" y="1674376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MRV</a:t>
            </a:r>
            <a:r>
              <a:rPr lang="zh-CN" altLang="en-US" b="1" dirty="0"/>
              <a:t>填涂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4AD0FE5-05C1-463D-BAAD-EF03425FA85B}"/>
              </a:ext>
            </a:extLst>
          </p:cNvPr>
          <p:cNvSpPr txBox="1"/>
          <p:nvPr/>
        </p:nvSpPr>
        <p:spPr>
          <a:xfrm>
            <a:off x="5745993" y="2329619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1</a:t>
            </a:r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个选择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145BEC7-9878-4D7E-9A50-A4684A9DCE26}"/>
              </a:ext>
            </a:extLst>
          </p:cNvPr>
          <p:cNvSpPr txBox="1"/>
          <p:nvPr/>
        </p:nvSpPr>
        <p:spPr>
          <a:xfrm>
            <a:off x="199293" y="1000682"/>
            <a:ext cx="8732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最少剩余量选择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MRV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8" name="Rectangle 2">
            <a:extLst>
              <a:ext uri="{FF2B5EF4-FFF2-40B4-BE49-F238E27FC236}">
                <a16:creationId xmlns:a16="http://schemas.microsoft.com/office/drawing/2014/main" id="{221070C7-8343-446E-B03E-99FFB4606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622" y="5504626"/>
            <a:ext cx="9274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使用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MRV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策略，可以避免由于可选颜色多的节点产生更多的分支，实现剪枝。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4562322A-2B6F-4E0F-BEEF-E2B67A3837D8}"/>
              </a:ext>
            </a:extLst>
          </p:cNvPr>
          <p:cNvSpPr/>
          <p:nvPr/>
        </p:nvSpPr>
        <p:spPr>
          <a:xfrm>
            <a:off x="5029387" y="2047156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8271DE2D-1ABB-40D1-82C4-0BBA9DCD0C78}"/>
              </a:ext>
            </a:extLst>
          </p:cNvPr>
          <p:cNvCxnSpPr>
            <a:cxnSpLocks/>
          </p:cNvCxnSpPr>
          <p:nvPr/>
        </p:nvCxnSpPr>
        <p:spPr>
          <a:xfrm flipH="1">
            <a:off x="4570092" y="2381326"/>
            <a:ext cx="440938" cy="4502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70D0FADA-DBC7-430A-A80A-5889DE12A8A3}"/>
              </a:ext>
            </a:extLst>
          </p:cNvPr>
          <p:cNvCxnSpPr>
            <a:cxnSpLocks/>
          </p:cNvCxnSpPr>
          <p:nvPr/>
        </p:nvCxnSpPr>
        <p:spPr>
          <a:xfrm flipH="1">
            <a:off x="5022615" y="2533726"/>
            <a:ext cx="140815" cy="297849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FF6AA335-496D-4B22-BA43-EFE7B76DBD3D}"/>
              </a:ext>
            </a:extLst>
          </p:cNvPr>
          <p:cNvCxnSpPr>
            <a:cxnSpLocks/>
            <a:stCxn id="100" idx="5"/>
          </p:cNvCxnSpPr>
          <p:nvPr/>
        </p:nvCxnSpPr>
        <p:spPr>
          <a:xfrm>
            <a:off x="5438928" y="2475996"/>
            <a:ext cx="81851" cy="335226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38FB1CD1-0EA1-4818-91DF-4CCA7ECE4F2C}"/>
              </a:ext>
            </a:extLst>
          </p:cNvPr>
          <p:cNvCxnSpPr>
            <a:cxnSpLocks/>
          </p:cNvCxnSpPr>
          <p:nvPr/>
        </p:nvCxnSpPr>
        <p:spPr>
          <a:xfrm>
            <a:off x="5475138" y="2418794"/>
            <a:ext cx="464110" cy="422711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D48D98B8-1363-4984-86C0-43E706D043D9}"/>
              </a:ext>
            </a:extLst>
          </p:cNvPr>
          <p:cNvCxnSpPr>
            <a:cxnSpLocks/>
          </p:cNvCxnSpPr>
          <p:nvPr/>
        </p:nvCxnSpPr>
        <p:spPr>
          <a:xfrm>
            <a:off x="4211688" y="4041178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452A7997-A573-4832-8BD5-1A7749EE28F5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3984691" y="4126680"/>
            <a:ext cx="35667" cy="366635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4BF653B-F316-4567-BCEF-C6CB194E2329}"/>
              </a:ext>
            </a:extLst>
          </p:cNvPr>
          <p:cNvSpPr txBox="1"/>
          <p:nvPr/>
        </p:nvSpPr>
        <p:spPr>
          <a:xfrm>
            <a:off x="5707193" y="3328075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2</a:t>
            </a:r>
            <a:r>
              <a:rPr lang="zh-CN" altLang="en-US" dirty="0"/>
              <a:t>有</a:t>
            </a:r>
            <a:r>
              <a:rPr lang="en-US" altLang="zh-CN" dirty="0"/>
              <a:t>3</a:t>
            </a:r>
            <a:r>
              <a:rPr lang="zh-CN" altLang="en-US" dirty="0"/>
              <a:t>个选择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7AC52D9-74A5-4E03-A47E-14A9EB2EB3E6}"/>
              </a:ext>
            </a:extLst>
          </p:cNvPr>
          <p:cNvSpPr txBox="1"/>
          <p:nvPr/>
        </p:nvSpPr>
        <p:spPr>
          <a:xfrm>
            <a:off x="5705056" y="400824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3</a:t>
            </a:r>
            <a:r>
              <a:rPr lang="zh-CN" altLang="en-US" dirty="0"/>
              <a:t>有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dirty="0"/>
              <a:t>个选择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0D5251C7-415D-4C97-938C-1F17DADE665B}"/>
              </a:ext>
            </a:extLst>
          </p:cNvPr>
          <p:cNvSpPr/>
          <p:nvPr/>
        </p:nvSpPr>
        <p:spPr>
          <a:xfrm>
            <a:off x="8610660" y="2893947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D86EB47B-12B2-46C7-A876-A085BB1617B3}"/>
              </a:ext>
            </a:extLst>
          </p:cNvPr>
          <p:cNvSpPr/>
          <p:nvPr/>
        </p:nvSpPr>
        <p:spPr>
          <a:xfrm>
            <a:off x="8077989" y="3676705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DFE4CD3A-DEF9-4019-A750-9E8707C94526}"/>
              </a:ext>
            </a:extLst>
          </p:cNvPr>
          <p:cNvCxnSpPr>
            <a:cxnSpLocks/>
            <a:stCxn id="148" idx="3"/>
            <a:endCxn id="165" idx="0"/>
          </p:cNvCxnSpPr>
          <p:nvPr/>
        </p:nvCxnSpPr>
        <p:spPr>
          <a:xfrm flipH="1">
            <a:off x="7895446" y="4105545"/>
            <a:ext cx="252809" cy="39918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D79E4D56-8054-4E99-B213-E19689433148}"/>
              </a:ext>
            </a:extLst>
          </p:cNvPr>
          <p:cNvSpPr txBox="1"/>
          <p:nvPr/>
        </p:nvSpPr>
        <p:spPr>
          <a:xfrm>
            <a:off x="10079195" y="2382061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1</a:t>
            </a:r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个选择</a:t>
            </a: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DC0E3E65-44D0-468B-93A4-3191A9622BCD}"/>
              </a:ext>
            </a:extLst>
          </p:cNvPr>
          <p:cNvSpPr/>
          <p:nvPr/>
        </p:nvSpPr>
        <p:spPr>
          <a:xfrm>
            <a:off x="9362589" y="2099598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2C2071E2-8313-4632-954D-F231957A5671}"/>
              </a:ext>
            </a:extLst>
          </p:cNvPr>
          <p:cNvCxnSpPr>
            <a:cxnSpLocks/>
          </p:cNvCxnSpPr>
          <p:nvPr/>
        </p:nvCxnSpPr>
        <p:spPr>
          <a:xfrm>
            <a:off x="8532643" y="4067709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9F7DDEF7-6461-4799-AE11-BB5A7DC90F29}"/>
              </a:ext>
            </a:extLst>
          </p:cNvPr>
          <p:cNvSpPr txBox="1"/>
          <p:nvPr/>
        </p:nvSpPr>
        <p:spPr>
          <a:xfrm>
            <a:off x="10040395" y="3380517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2</a:t>
            </a:r>
            <a:r>
              <a:rPr lang="zh-CN" altLang="en-US" dirty="0"/>
              <a:t>有</a:t>
            </a:r>
            <a:r>
              <a:rPr lang="en-US" altLang="zh-CN" dirty="0"/>
              <a:t>3</a:t>
            </a:r>
            <a:r>
              <a:rPr lang="zh-CN" altLang="en-US" dirty="0"/>
              <a:t>个选择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4BDB5D3-44D0-4C6A-B08B-F818302B3F7C}"/>
              </a:ext>
            </a:extLst>
          </p:cNvPr>
          <p:cNvSpPr txBox="1"/>
          <p:nvPr/>
        </p:nvSpPr>
        <p:spPr>
          <a:xfrm>
            <a:off x="10038258" y="406068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4</a:t>
            </a:r>
            <a:r>
              <a:rPr lang="zh-CN" altLang="en-US" dirty="0"/>
              <a:t>有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个选择</a:t>
            </a:r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5430D0B1-FCA2-4A96-B22C-24D6F08B5E30}"/>
              </a:ext>
            </a:extLst>
          </p:cNvPr>
          <p:cNvSpPr/>
          <p:nvPr/>
        </p:nvSpPr>
        <p:spPr>
          <a:xfrm>
            <a:off x="7655542" y="4504730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A35AE97-82E7-4022-A124-ADD383C42F37}"/>
              </a:ext>
            </a:extLst>
          </p:cNvPr>
          <p:cNvCxnSpPr>
            <a:cxnSpLocks/>
          </p:cNvCxnSpPr>
          <p:nvPr/>
        </p:nvCxnSpPr>
        <p:spPr>
          <a:xfrm flipH="1">
            <a:off x="8945540" y="2425960"/>
            <a:ext cx="440938" cy="4502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1FB7906-12C2-4EFE-99A9-38F1282F1E36}"/>
              </a:ext>
            </a:extLst>
          </p:cNvPr>
          <p:cNvCxnSpPr>
            <a:cxnSpLocks/>
          </p:cNvCxnSpPr>
          <p:nvPr/>
        </p:nvCxnSpPr>
        <p:spPr>
          <a:xfrm flipH="1">
            <a:off x="9398063" y="2578360"/>
            <a:ext cx="140815" cy="297849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08F9FFF4-8FE5-402A-AD60-D69958C51CD6}"/>
              </a:ext>
            </a:extLst>
          </p:cNvPr>
          <p:cNvCxnSpPr>
            <a:cxnSpLocks/>
          </p:cNvCxnSpPr>
          <p:nvPr/>
        </p:nvCxnSpPr>
        <p:spPr>
          <a:xfrm>
            <a:off x="9814376" y="2520630"/>
            <a:ext cx="81851" cy="335226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6765670-44BE-4B9D-B5AF-C39744993726}"/>
              </a:ext>
            </a:extLst>
          </p:cNvPr>
          <p:cNvCxnSpPr>
            <a:cxnSpLocks/>
          </p:cNvCxnSpPr>
          <p:nvPr/>
        </p:nvCxnSpPr>
        <p:spPr>
          <a:xfrm>
            <a:off x="9850586" y="2463428"/>
            <a:ext cx="464110" cy="422711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3618D5B-D23E-4222-B24D-431E6408BA12}"/>
              </a:ext>
            </a:extLst>
          </p:cNvPr>
          <p:cNvCxnSpPr>
            <a:cxnSpLocks/>
          </p:cNvCxnSpPr>
          <p:nvPr/>
        </p:nvCxnSpPr>
        <p:spPr>
          <a:xfrm flipH="1">
            <a:off x="8272444" y="3317487"/>
            <a:ext cx="363033" cy="353918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1E16B6A6-A11F-488D-82BF-D4CB932C7889}"/>
              </a:ext>
            </a:extLst>
          </p:cNvPr>
          <p:cNvCxnSpPr>
            <a:cxnSpLocks/>
          </p:cNvCxnSpPr>
          <p:nvPr/>
        </p:nvCxnSpPr>
        <p:spPr>
          <a:xfrm>
            <a:off x="9006160" y="3272089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F8588E4A-15C3-4F50-BF2E-875C1E81A17C}"/>
              </a:ext>
            </a:extLst>
          </p:cNvPr>
          <p:cNvCxnSpPr>
            <a:cxnSpLocks/>
          </p:cNvCxnSpPr>
          <p:nvPr/>
        </p:nvCxnSpPr>
        <p:spPr>
          <a:xfrm>
            <a:off x="8805115" y="3391064"/>
            <a:ext cx="9715" cy="333162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F0DFD2B4-0B4C-4477-9B39-4C8B892603F5}"/>
              </a:ext>
            </a:extLst>
          </p:cNvPr>
          <p:cNvCxnSpPr>
            <a:cxnSpLocks/>
          </p:cNvCxnSpPr>
          <p:nvPr/>
        </p:nvCxnSpPr>
        <p:spPr>
          <a:xfrm flipH="1">
            <a:off x="7875295" y="4098518"/>
            <a:ext cx="252809" cy="39918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C5ED5B8-123C-4352-BF6E-22DBB69B9802}"/>
              </a:ext>
            </a:extLst>
          </p:cNvPr>
          <p:cNvCxnSpPr>
            <a:cxnSpLocks/>
          </p:cNvCxnSpPr>
          <p:nvPr/>
        </p:nvCxnSpPr>
        <p:spPr>
          <a:xfrm>
            <a:off x="8512492" y="4060682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65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BA3D02-F5E6-4F0E-91B3-2A954B28818F}"/>
              </a:ext>
            </a:extLst>
          </p:cNvPr>
          <p:cNvSpPr txBox="1"/>
          <p:nvPr/>
        </p:nvSpPr>
        <p:spPr>
          <a:xfrm>
            <a:off x="1114112" y="23299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MRV_DH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824C2F-7E30-431A-A3FE-5DE31447DB59}"/>
              </a:ext>
            </a:extLst>
          </p:cNvPr>
          <p:cNvSpPr txBox="1"/>
          <p:nvPr/>
        </p:nvSpPr>
        <p:spPr>
          <a:xfrm>
            <a:off x="199293" y="1000682"/>
            <a:ext cx="8732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度最大选择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336DC0-AC7B-4607-A31F-CEF72F7D3A35}"/>
              </a:ext>
            </a:extLst>
          </p:cNvPr>
          <p:cNvSpPr txBox="1"/>
          <p:nvPr/>
        </p:nvSpPr>
        <p:spPr>
          <a:xfrm>
            <a:off x="913669" y="1462347"/>
            <a:ext cx="95635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优先对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度最多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（随着相邻节点填色后减少）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的节点进行填色，节点的度数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越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大，即该节点约束了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越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多的节点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DD6B59-A79B-4F58-9E67-F838FFC03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5" y="2709862"/>
            <a:ext cx="7448550" cy="14382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D3EE44A-9D03-475A-9A37-2937C08ACD13}"/>
              </a:ext>
            </a:extLst>
          </p:cNvPr>
          <p:cNvSpPr txBox="1"/>
          <p:nvPr/>
        </p:nvSpPr>
        <p:spPr>
          <a:xfrm>
            <a:off x="1027969" y="4426155"/>
            <a:ext cx="95635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优先对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度最多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的节点进行填色，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使得更多的节点减少一种可选颜色，从而减少剩余节点的分支，实现搜索树的剪枝。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538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BA3D02-F5E6-4F0E-91B3-2A954B28818F}"/>
              </a:ext>
            </a:extLst>
          </p:cNvPr>
          <p:cNvSpPr txBox="1"/>
          <p:nvPr/>
        </p:nvSpPr>
        <p:spPr>
          <a:xfrm>
            <a:off x="1114112" y="23299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MRV_DH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70838A3-3D00-4305-A392-7127330E7E5C}"/>
              </a:ext>
            </a:extLst>
          </p:cNvPr>
          <p:cNvSpPr/>
          <p:nvPr/>
        </p:nvSpPr>
        <p:spPr>
          <a:xfrm>
            <a:off x="644590" y="2584659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E1AFE5-01AF-442F-A027-A0635785AC39}"/>
              </a:ext>
            </a:extLst>
          </p:cNvPr>
          <p:cNvSpPr/>
          <p:nvPr/>
        </p:nvSpPr>
        <p:spPr>
          <a:xfrm>
            <a:off x="1701096" y="2584658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2EE87C8-F970-4B60-967D-2113527F6EAD}"/>
              </a:ext>
            </a:extLst>
          </p:cNvPr>
          <p:cNvSpPr/>
          <p:nvPr/>
        </p:nvSpPr>
        <p:spPr>
          <a:xfrm>
            <a:off x="1701096" y="3555757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529173A-B3D7-402B-92ED-2E428A087512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1124397" y="2835867"/>
            <a:ext cx="576699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3D865B3A-2CC4-4F4E-AC63-BFC2E69EEC0C}"/>
              </a:ext>
            </a:extLst>
          </p:cNvPr>
          <p:cNvSpPr/>
          <p:nvPr/>
        </p:nvSpPr>
        <p:spPr>
          <a:xfrm>
            <a:off x="2805597" y="2584658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ADD8580-0914-41A1-BED9-3DEEF08B471C}"/>
              </a:ext>
            </a:extLst>
          </p:cNvPr>
          <p:cNvCxnSpPr>
            <a:cxnSpLocks/>
          </p:cNvCxnSpPr>
          <p:nvPr/>
        </p:nvCxnSpPr>
        <p:spPr>
          <a:xfrm>
            <a:off x="885363" y="3611954"/>
            <a:ext cx="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1371C5D-485D-4CF2-B65F-65D6EB33E6DC}"/>
              </a:ext>
            </a:extLst>
          </p:cNvPr>
          <p:cNvCxnSpPr>
            <a:cxnSpLocks/>
            <a:stCxn id="14" idx="5"/>
            <a:endCxn id="16" idx="2"/>
          </p:cNvCxnSpPr>
          <p:nvPr/>
        </p:nvCxnSpPr>
        <p:spPr>
          <a:xfrm>
            <a:off x="1054131" y="3013499"/>
            <a:ext cx="646965" cy="7934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7AD932C-4CC4-425B-9ED1-8A213854B5F8}"/>
              </a:ext>
            </a:extLst>
          </p:cNvPr>
          <p:cNvCxnSpPr>
            <a:cxnSpLocks/>
            <a:stCxn id="24" idx="3"/>
            <a:endCxn id="16" idx="6"/>
          </p:cNvCxnSpPr>
          <p:nvPr/>
        </p:nvCxnSpPr>
        <p:spPr>
          <a:xfrm flipH="1">
            <a:off x="2180903" y="3013498"/>
            <a:ext cx="694960" cy="79346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1C66A93-0876-43C0-B33A-3BC8CD34BEB3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1941000" y="3087075"/>
            <a:ext cx="0" cy="4686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C61B9F6D-34EE-4CCC-A1CE-B421DCE4B4B5}"/>
              </a:ext>
            </a:extLst>
          </p:cNvPr>
          <p:cNvSpPr txBox="1"/>
          <p:nvPr/>
        </p:nvSpPr>
        <p:spPr>
          <a:xfrm>
            <a:off x="1420387" y="22082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四色填涂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F3E678-B9DE-4070-93A5-9B865A754486}"/>
              </a:ext>
            </a:extLst>
          </p:cNvPr>
          <p:cNvSpPr txBox="1"/>
          <p:nvPr/>
        </p:nvSpPr>
        <p:spPr>
          <a:xfrm>
            <a:off x="9129822" y="1662680"/>
            <a:ext cx="98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DH</a:t>
            </a:r>
            <a:r>
              <a:rPr lang="zh-CN" altLang="en-US" b="1" dirty="0"/>
              <a:t>填涂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1E90CFF-DFD7-46F2-89EC-03DC8562D769}"/>
              </a:ext>
            </a:extLst>
          </p:cNvPr>
          <p:cNvSpPr txBox="1"/>
          <p:nvPr/>
        </p:nvSpPr>
        <p:spPr>
          <a:xfrm>
            <a:off x="199293" y="1000682"/>
            <a:ext cx="8732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度最大选择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4FF0F22F-8435-48E1-B352-3E15C42D24D1}"/>
              </a:ext>
            </a:extLst>
          </p:cNvPr>
          <p:cNvSpPr/>
          <p:nvPr/>
        </p:nvSpPr>
        <p:spPr>
          <a:xfrm>
            <a:off x="8542562" y="2930680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FD9BA452-FA0D-46EE-8889-DD2D1DD17D0C}"/>
              </a:ext>
            </a:extLst>
          </p:cNvPr>
          <p:cNvSpPr/>
          <p:nvPr/>
        </p:nvSpPr>
        <p:spPr>
          <a:xfrm>
            <a:off x="8009891" y="3713438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FDEBB96-4210-4A73-AF1A-7314C2F46C25}"/>
              </a:ext>
            </a:extLst>
          </p:cNvPr>
          <p:cNvSpPr txBox="1"/>
          <p:nvPr/>
        </p:nvSpPr>
        <p:spPr>
          <a:xfrm>
            <a:off x="10011097" y="2418794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2</a:t>
            </a:r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个选择</a:t>
            </a: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CA2C907A-BFF8-490B-93F4-69D2801DBBAB}"/>
              </a:ext>
            </a:extLst>
          </p:cNvPr>
          <p:cNvSpPr/>
          <p:nvPr/>
        </p:nvSpPr>
        <p:spPr>
          <a:xfrm>
            <a:off x="9294491" y="2136331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E974A23-284C-4F51-836D-B8F8A483E501}"/>
              </a:ext>
            </a:extLst>
          </p:cNvPr>
          <p:cNvSpPr txBox="1"/>
          <p:nvPr/>
        </p:nvSpPr>
        <p:spPr>
          <a:xfrm>
            <a:off x="10011096" y="4158011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2</a:t>
            </a:r>
            <a:r>
              <a:rPr lang="zh-CN" altLang="en-US" dirty="0"/>
              <a:t>有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个选择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0FC82A2-7E56-4F5A-B097-69E7E4CFCB00}"/>
              </a:ext>
            </a:extLst>
          </p:cNvPr>
          <p:cNvSpPr txBox="1"/>
          <p:nvPr/>
        </p:nvSpPr>
        <p:spPr>
          <a:xfrm>
            <a:off x="10011097" y="329897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4</a:t>
            </a:r>
            <a:r>
              <a:rPr lang="zh-CN" altLang="en-US" dirty="0"/>
              <a:t>有</a:t>
            </a:r>
            <a:r>
              <a:rPr lang="en-US" altLang="zh-CN" dirty="0"/>
              <a:t>3</a:t>
            </a:r>
            <a:r>
              <a:rPr lang="zh-CN" altLang="en-US" dirty="0"/>
              <a:t>个选择</a:t>
            </a: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BFE027A1-4B60-4303-BCAA-3A0ADCA4E762}"/>
              </a:ext>
            </a:extLst>
          </p:cNvPr>
          <p:cNvSpPr/>
          <p:nvPr/>
        </p:nvSpPr>
        <p:spPr>
          <a:xfrm>
            <a:off x="7587444" y="4541463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68575055-5DF3-4D42-B51B-CAC7C7DC7665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2180903" y="2831577"/>
            <a:ext cx="624694" cy="42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2">
            <a:extLst>
              <a:ext uri="{FF2B5EF4-FFF2-40B4-BE49-F238E27FC236}">
                <a16:creationId xmlns:a16="http://schemas.microsoft.com/office/drawing/2014/main" id="{3F4E7CED-D776-4A21-9A97-98BA2866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150" y="5559096"/>
            <a:ext cx="9274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使用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DH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策略，限制其他相邻节点可选颜色数目，实现剪枝。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8489BF-20DA-411D-844B-52EDE3A2BA6D}"/>
              </a:ext>
            </a:extLst>
          </p:cNvPr>
          <p:cNvSpPr txBox="1"/>
          <p:nvPr/>
        </p:nvSpPr>
        <p:spPr>
          <a:xfrm>
            <a:off x="4718407" y="17092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顺序填涂</a:t>
            </a: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AFA6A8F-E6FE-4A11-BC90-E89EF04CDE4F}"/>
              </a:ext>
            </a:extLst>
          </p:cNvPr>
          <p:cNvSpPr/>
          <p:nvPr/>
        </p:nvSpPr>
        <p:spPr>
          <a:xfrm>
            <a:off x="4277458" y="2841505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CABAB78A-193F-4460-B815-DE3CF27F635F}"/>
              </a:ext>
            </a:extLst>
          </p:cNvPr>
          <p:cNvSpPr/>
          <p:nvPr/>
        </p:nvSpPr>
        <p:spPr>
          <a:xfrm>
            <a:off x="3744787" y="3624263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53A8F62-942C-4D06-8398-0BCDC1AD4F0F}"/>
              </a:ext>
            </a:extLst>
          </p:cNvPr>
          <p:cNvSpPr/>
          <p:nvPr/>
        </p:nvSpPr>
        <p:spPr>
          <a:xfrm>
            <a:off x="3327455" y="4394887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A13BA76-6377-4084-A99F-9750F5AA2E4E}"/>
              </a:ext>
            </a:extLst>
          </p:cNvPr>
          <p:cNvCxnSpPr>
            <a:cxnSpLocks/>
            <a:stCxn id="53" idx="3"/>
            <a:endCxn id="64" idx="0"/>
          </p:cNvCxnSpPr>
          <p:nvPr/>
        </p:nvCxnSpPr>
        <p:spPr>
          <a:xfrm flipH="1">
            <a:off x="3984691" y="3270345"/>
            <a:ext cx="363033" cy="353918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EBE3966-0345-4B23-9C9D-5CD499B9D838}"/>
              </a:ext>
            </a:extLst>
          </p:cNvPr>
          <p:cNvCxnSpPr>
            <a:cxnSpLocks/>
            <a:stCxn id="64" idx="3"/>
            <a:endCxn id="65" idx="0"/>
          </p:cNvCxnSpPr>
          <p:nvPr/>
        </p:nvCxnSpPr>
        <p:spPr>
          <a:xfrm flipH="1">
            <a:off x="3567359" y="4053103"/>
            <a:ext cx="247694" cy="341784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8F63E24-8965-481D-9F4A-22998BCE34A5}"/>
              </a:ext>
            </a:extLst>
          </p:cNvPr>
          <p:cNvCxnSpPr>
            <a:cxnSpLocks/>
          </p:cNvCxnSpPr>
          <p:nvPr/>
        </p:nvCxnSpPr>
        <p:spPr>
          <a:xfrm>
            <a:off x="4718407" y="3224947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DFD96E76-3890-4375-931C-CC1619CE066E}"/>
              </a:ext>
            </a:extLst>
          </p:cNvPr>
          <p:cNvCxnSpPr>
            <a:cxnSpLocks/>
            <a:stCxn id="53" idx="4"/>
          </p:cNvCxnSpPr>
          <p:nvPr/>
        </p:nvCxnSpPr>
        <p:spPr>
          <a:xfrm>
            <a:off x="4517362" y="3343922"/>
            <a:ext cx="9715" cy="333162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95A22A3-9DF9-48CF-B955-E05F47905372}"/>
              </a:ext>
            </a:extLst>
          </p:cNvPr>
          <p:cNvSpPr txBox="1"/>
          <p:nvPr/>
        </p:nvSpPr>
        <p:spPr>
          <a:xfrm>
            <a:off x="5745993" y="2329619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1</a:t>
            </a:r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个选择</a:t>
            </a: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A58E900-19B0-4B15-8B22-D4D895FA17A0}"/>
              </a:ext>
            </a:extLst>
          </p:cNvPr>
          <p:cNvSpPr/>
          <p:nvPr/>
        </p:nvSpPr>
        <p:spPr>
          <a:xfrm>
            <a:off x="5029387" y="2047156"/>
            <a:ext cx="479807" cy="502417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F94F3215-0A29-49D5-BD14-A2EBC61CB5FD}"/>
              </a:ext>
            </a:extLst>
          </p:cNvPr>
          <p:cNvCxnSpPr>
            <a:cxnSpLocks/>
          </p:cNvCxnSpPr>
          <p:nvPr/>
        </p:nvCxnSpPr>
        <p:spPr>
          <a:xfrm flipH="1">
            <a:off x="4570092" y="2381326"/>
            <a:ext cx="440938" cy="4502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C627B7A0-46EB-468F-8003-25E2B9A43DC9}"/>
              </a:ext>
            </a:extLst>
          </p:cNvPr>
          <p:cNvCxnSpPr>
            <a:cxnSpLocks/>
          </p:cNvCxnSpPr>
          <p:nvPr/>
        </p:nvCxnSpPr>
        <p:spPr>
          <a:xfrm flipH="1">
            <a:off x="5022615" y="2533726"/>
            <a:ext cx="140815" cy="297849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701E5360-6980-4870-8E52-8E4B262C19B1}"/>
              </a:ext>
            </a:extLst>
          </p:cNvPr>
          <p:cNvCxnSpPr>
            <a:cxnSpLocks/>
            <a:stCxn id="79" idx="5"/>
          </p:cNvCxnSpPr>
          <p:nvPr/>
        </p:nvCxnSpPr>
        <p:spPr>
          <a:xfrm>
            <a:off x="5438928" y="2475996"/>
            <a:ext cx="81851" cy="335226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B41BE681-8014-4E42-AA64-9BCFCF9E94BD}"/>
              </a:ext>
            </a:extLst>
          </p:cNvPr>
          <p:cNvCxnSpPr>
            <a:cxnSpLocks/>
          </p:cNvCxnSpPr>
          <p:nvPr/>
        </p:nvCxnSpPr>
        <p:spPr>
          <a:xfrm>
            <a:off x="5475138" y="2418794"/>
            <a:ext cx="464110" cy="422711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37BA2F6-DEC4-49D6-834B-4A7AB9FE832E}"/>
              </a:ext>
            </a:extLst>
          </p:cNvPr>
          <p:cNvCxnSpPr>
            <a:cxnSpLocks/>
          </p:cNvCxnSpPr>
          <p:nvPr/>
        </p:nvCxnSpPr>
        <p:spPr>
          <a:xfrm>
            <a:off x="4211688" y="4041178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652A3B45-6076-492B-A09C-677C3FF282CC}"/>
              </a:ext>
            </a:extLst>
          </p:cNvPr>
          <p:cNvCxnSpPr>
            <a:cxnSpLocks/>
            <a:stCxn id="64" idx="4"/>
          </p:cNvCxnSpPr>
          <p:nvPr/>
        </p:nvCxnSpPr>
        <p:spPr>
          <a:xfrm>
            <a:off x="3984691" y="4126680"/>
            <a:ext cx="35667" cy="366635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7FC02F4F-C7B1-4E5C-9CB3-22DC636B3534}"/>
              </a:ext>
            </a:extLst>
          </p:cNvPr>
          <p:cNvSpPr txBox="1"/>
          <p:nvPr/>
        </p:nvSpPr>
        <p:spPr>
          <a:xfrm>
            <a:off x="5707193" y="3328075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2</a:t>
            </a:r>
            <a:r>
              <a:rPr lang="zh-CN" altLang="en-US" dirty="0"/>
              <a:t>有</a:t>
            </a:r>
            <a:r>
              <a:rPr lang="en-US" altLang="zh-CN" dirty="0"/>
              <a:t>3</a:t>
            </a:r>
            <a:r>
              <a:rPr lang="zh-CN" altLang="en-US" dirty="0"/>
              <a:t>个选择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3E81D00-67DB-4552-B893-CD72F7737AEC}"/>
              </a:ext>
            </a:extLst>
          </p:cNvPr>
          <p:cNvSpPr txBox="1"/>
          <p:nvPr/>
        </p:nvSpPr>
        <p:spPr>
          <a:xfrm>
            <a:off x="5705056" y="400824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3</a:t>
            </a:r>
            <a:r>
              <a:rPr lang="zh-CN" altLang="en-US" dirty="0"/>
              <a:t>有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dirty="0"/>
              <a:t>个选择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92E656D5-F367-4452-A8A9-E617C3031DD7}"/>
              </a:ext>
            </a:extLst>
          </p:cNvPr>
          <p:cNvCxnSpPr>
            <a:cxnSpLocks/>
          </p:cNvCxnSpPr>
          <p:nvPr/>
        </p:nvCxnSpPr>
        <p:spPr>
          <a:xfrm flipH="1">
            <a:off x="8855709" y="2494050"/>
            <a:ext cx="440938" cy="4502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F4E57F09-6314-4491-BC12-D59E8729FB0E}"/>
              </a:ext>
            </a:extLst>
          </p:cNvPr>
          <p:cNvCxnSpPr>
            <a:cxnSpLocks/>
          </p:cNvCxnSpPr>
          <p:nvPr/>
        </p:nvCxnSpPr>
        <p:spPr>
          <a:xfrm flipH="1">
            <a:off x="9308232" y="2646450"/>
            <a:ext cx="140815" cy="297849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CC7B1C7C-7B31-4FA7-9FE9-1933D847BD67}"/>
              </a:ext>
            </a:extLst>
          </p:cNvPr>
          <p:cNvCxnSpPr>
            <a:cxnSpLocks/>
          </p:cNvCxnSpPr>
          <p:nvPr/>
        </p:nvCxnSpPr>
        <p:spPr>
          <a:xfrm>
            <a:off x="9724545" y="2588720"/>
            <a:ext cx="81851" cy="335226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AA2A78C-8754-4DE6-817B-A4F868DBF39F}"/>
              </a:ext>
            </a:extLst>
          </p:cNvPr>
          <p:cNvCxnSpPr>
            <a:cxnSpLocks/>
          </p:cNvCxnSpPr>
          <p:nvPr/>
        </p:nvCxnSpPr>
        <p:spPr>
          <a:xfrm>
            <a:off x="9760755" y="2531518"/>
            <a:ext cx="464110" cy="422711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274899B8-DFE3-4736-AFA8-82D3F1A7AC11}"/>
              </a:ext>
            </a:extLst>
          </p:cNvPr>
          <p:cNvCxnSpPr>
            <a:cxnSpLocks/>
          </p:cNvCxnSpPr>
          <p:nvPr/>
        </p:nvCxnSpPr>
        <p:spPr>
          <a:xfrm flipH="1">
            <a:off x="4020673" y="3267629"/>
            <a:ext cx="363033" cy="353918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5D43184-4538-4DC0-9F45-FD217A4D5A0F}"/>
              </a:ext>
            </a:extLst>
          </p:cNvPr>
          <p:cNvCxnSpPr>
            <a:cxnSpLocks/>
          </p:cNvCxnSpPr>
          <p:nvPr/>
        </p:nvCxnSpPr>
        <p:spPr>
          <a:xfrm>
            <a:off x="9001868" y="3319048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D1C8B49C-0C90-4B27-978A-5748D7B72A27}"/>
              </a:ext>
            </a:extLst>
          </p:cNvPr>
          <p:cNvCxnSpPr>
            <a:cxnSpLocks/>
          </p:cNvCxnSpPr>
          <p:nvPr/>
        </p:nvCxnSpPr>
        <p:spPr>
          <a:xfrm flipH="1">
            <a:off x="8304134" y="3361730"/>
            <a:ext cx="363033" cy="353918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C4876B07-B664-4BA5-A76C-DEF81A58D14E}"/>
              </a:ext>
            </a:extLst>
          </p:cNvPr>
          <p:cNvCxnSpPr>
            <a:cxnSpLocks/>
          </p:cNvCxnSpPr>
          <p:nvPr/>
        </p:nvCxnSpPr>
        <p:spPr>
          <a:xfrm>
            <a:off x="8836805" y="3435307"/>
            <a:ext cx="9715" cy="333162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61ACC53D-CE47-44E7-8578-4D8ADB618AF0}"/>
              </a:ext>
            </a:extLst>
          </p:cNvPr>
          <p:cNvCxnSpPr>
            <a:cxnSpLocks/>
          </p:cNvCxnSpPr>
          <p:nvPr/>
        </p:nvCxnSpPr>
        <p:spPr>
          <a:xfrm flipH="1">
            <a:off x="7800540" y="4142411"/>
            <a:ext cx="252809" cy="39918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ECD7EF49-C5E3-43D6-A3FB-29C9A0FC3277}"/>
              </a:ext>
            </a:extLst>
          </p:cNvPr>
          <p:cNvCxnSpPr>
            <a:cxnSpLocks/>
          </p:cNvCxnSpPr>
          <p:nvPr/>
        </p:nvCxnSpPr>
        <p:spPr>
          <a:xfrm>
            <a:off x="8437737" y="4104575"/>
            <a:ext cx="292623" cy="41111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838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68A0F5-595E-4188-BADF-AC59C7EBDF81}"/>
              </a:ext>
            </a:extLst>
          </p:cNvPr>
          <p:cNvSpPr txBox="1"/>
          <p:nvPr/>
        </p:nvSpPr>
        <p:spPr>
          <a:xfrm>
            <a:off x="1117880" y="22229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MRV_DH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EB3032-0560-4E83-A53E-D623808FC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20" y="2037041"/>
            <a:ext cx="4646240" cy="116156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3E57E8A-DB55-46DD-B828-CDB40584C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310508"/>
              </p:ext>
            </p:extLst>
          </p:nvPr>
        </p:nvGraphicFramePr>
        <p:xfrm>
          <a:off x="6234825" y="4440117"/>
          <a:ext cx="4991100" cy="17226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435887589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55529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暴力法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67606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</a:t>
                      </a:r>
                      <a:endParaRPr lang="zh-CN" altLang="en-US" sz="2000" b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14327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57993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67E0F90-F3BE-4740-991C-D3B69E1CBB06}"/>
              </a:ext>
            </a:extLst>
          </p:cNvPr>
          <p:cNvSpPr txBox="1"/>
          <p:nvPr/>
        </p:nvSpPr>
        <p:spPr>
          <a:xfrm>
            <a:off x="2106490" y="1194486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测试集验证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27E91F6-E9E5-4D79-9FB4-357991998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89673"/>
              </p:ext>
            </p:extLst>
          </p:nvPr>
        </p:nvGraphicFramePr>
        <p:xfrm>
          <a:off x="6234825" y="1852375"/>
          <a:ext cx="4991100" cy="17226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435887589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55529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暴力法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67606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</a:t>
                      </a:r>
                      <a:endParaRPr lang="zh-CN" altLang="en-US" sz="2000" b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D272F18-1DB5-459E-A97D-64DAA54E05E0}"/>
              </a:ext>
            </a:extLst>
          </p:cNvPr>
          <p:cNvSpPr txBox="1"/>
          <p:nvPr/>
        </p:nvSpPr>
        <p:spPr>
          <a:xfrm>
            <a:off x="6473977" y="148304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对于三个测试数据，求取第一个解的时间。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9D9667-2B94-46F6-AF89-148DBE61E4BD}"/>
              </a:ext>
            </a:extLst>
          </p:cNvPr>
          <p:cNvSpPr txBox="1"/>
          <p:nvPr/>
        </p:nvSpPr>
        <p:spPr>
          <a:xfrm>
            <a:off x="6234825" y="3944360"/>
            <a:ext cx="5917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5a</a:t>
            </a:r>
            <a:r>
              <a:rPr lang="zh-CN" altLang="en-US" dirty="0"/>
              <a:t>、求取所有解，</a:t>
            </a:r>
            <a:r>
              <a:rPr lang="en-US" altLang="zh-CN" dirty="0"/>
              <a:t>15a</a:t>
            </a:r>
            <a:r>
              <a:rPr lang="zh-CN" altLang="en-US" dirty="0"/>
              <a:t>、</a:t>
            </a:r>
            <a:r>
              <a:rPr lang="en-US" altLang="zh-CN" dirty="0"/>
              <a:t>25a</a:t>
            </a:r>
            <a:r>
              <a:rPr lang="zh-CN" altLang="en-US" dirty="0"/>
              <a:t>求取一亿个解的时间。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3C71E4D-E833-4676-B00B-91BAB6CAC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20" y="3964877"/>
            <a:ext cx="4638746" cy="116156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BAA28D0-6CC8-4A06-A99E-C09C147E1548}"/>
              </a:ext>
            </a:extLst>
          </p:cNvPr>
          <p:cNvSpPr txBox="1"/>
          <p:nvPr/>
        </p:nvSpPr>
        <p:spPr>
          <a:xfrm>
            <a:off x="679620" y="1667709"/>
            <a:ext cx="492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对于只有</a:t>
            </a:r>
            <a:r>
              <a:rPr lang="en-US" altLang="zh-CN" dirty="0"/>
              <a:t>9</a:t>
            </a:r>
            <a:r>
              <a:rPr lang="zh-CN" altLang="en-US" dirty="0"/>
              <a:t>个点的测试数据，求取所有填色方案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662091-1B7C-4789-92CC-8DF892EDD500}"/>
              </a:ext>
            </a:extLst>
          </p:cNvPr>
          <p:cNvSpPr txBox="1"/>
          <p:nvPr/>
        </p:nvSpPr>
        <p:spPr>
          <a:xfrm>
            <a:off x="561975" y="3561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le450_5a</a:t>
            </a:r>
            <a:r>
              <a:rPr lang="zh-CN" altLang="en-US" dirty="0"/>
              <a:t>的测试数据，求取所有填色方案</a:t>
            </a:r>
          </a:p>
        </p:txBody>
      </p:sp>
    </p:spTree>
    <p:extLst>
      <p:ext uri="{BB962C8B-B14F-4D97-AF65-F5344CB8AC3E}">
        <p14:creationId xmlns:p14="http://schemas.microsoft.com/office/powerpoint/2010/main" val="2635563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42D969-BB8F-4A97-B4E8-1163C2B36BFA}"/>
              </a:ext>
            </a:extLst>
          </p:cNvPr>
          <p:cNvSpPr txBox="1"/>
          <p:nvPr/>
        </p:nvSpPr>
        <p:spPr>
          <a:xfrm>
            <a:off x="1030830" y="1043519"/>
            <a:ext cx="10083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当向一个节点填充某种合法颜色后，检查其相邻节点中剩余的颜色数目是否为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，若为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，则说明当前节点填充该颜色无法得出正确的解；反之，则说明当前填充颜色方案具有可行性，从而实现了剪枝。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277063-451E-4825-A190-CC7B6EC0631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15" y="2075594"/>
            <a:ext cx="7442514" cy="44365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369ED7-392E-4CFA-95DE-1668CD3091A0}"/>
              </a:ext>
            </a:extLst>
          </p:cNvPr>
          <p:cNvSpPr txBox="1"/>
          <p:nvPr/>
        </p:nvSpPr>
        <p:spPr>
          <a:xfrm>
            <a:off x="1077686" y="212243"/>
            <a:ext cx="611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向前探查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4982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8FCBA2-AEDF-44CE-8303-B8ADAB1F31F2}"/>
              </a:ext>
            </a:extLst>
          </p:cNvPr>
          <p:cNvSpPr txBox="1"/>
          <p:nvPr/>
        </p:nvSpPr>
        <p:spPr>
          <a:xfrm>
            <a:off x="1137975" y="21224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MRV_DH + </a:t>
            </a:r>
            <a:r>
              <a:rPr lang="zh-CN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向前探查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EE27CF-5E23-421D-9F15-26C1EEE22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40" y="3944360"/>
            <a:ext cx="3257550" cy="14763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E86A62-7F16-4D7E-BF2F-5AEA97BE7B13}"/>
              </a:ext>
            </a:extLst>
          </p:cNvPr>
          <p:cNvSpPr txBox="1"/>
          <p:nvPr/>
        </p:nvSpPr>
        <p:spPr>
          <a:xfrm>
            <a:off x="2090056" y="134409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测试集验证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C5927AB-5236-4085-BE35-BE5E5F367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77701"/>
              </p:ext>
            </p:extLst>
          </p:nvPr>
        </p:nvGraphicFramePr>
        <p:xfrm>
          <a:off x="6234825" y="4440117"/>
          <a:ext cx="4991100" cy="2094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435887589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55529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14327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57993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67606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MRV_DH+</a:t>
                      </a:r>
                      <a:r>
                        <a:rPr lang="zh-CN" altLang="en-US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向前探查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15030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53838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53360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D1F6570-B386-4C4E-AD5F-99493232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802548"/>
              </p:ext>
            </p:extLst>
          </p:nvPr>
        </p:nvGraphicFramePr>
        <p:xfrm>
          <a:off x="6234825" y="1852375"/>
          <a:ext cx="4991100" cy="2094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435887589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55529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67606"/>
                  </a:ext>
                </a:extLst>
              </a:tr>
              <a:tr h="5501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MRV_DH+</a:t>
                      </a:r>
                      <a:r>
                        <a:rPr lang="zh-CN" altLang="en-US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向前探查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367.3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7FE5E04-172D-4491-BFD6-6E68F249F17A}"/>
              </a:ext>
            </a:extLst>
          </p:cNvPr>
          <p:cNvSpPr txBox="1"/>
          <p:nvPr/>
        </p:nvSpPr>
        <p:spPr>
          <a:xfrm>
            <a:off x="6473977" y="148304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对于三个测试数据，求取第一个解的时间。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5373C2-45AA-4C8E-89AB-1898EBD81FD8}"/>
              </a:ext>
            </a:extLst>
          </p:cNvPr>
          <p:cNvSpPr txBox="1"/>
          <p:nvPr/>
        </p:nvSpPr>
        <p:spPr>
          <a:xfrm>
            <a:off x="6234825" y="3944360"/>
            <a:ext cx="5917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5a</a:t>
            </a:r>
            <a:r>
              <a:rPr lang="zh-CN" altLang="en-US" dirty="0"/>
              <a:t>、求取所有解，</a:t>
            </a:r>
            <a:r>
              <a:rPr lang="en-US" altLang="zh-CN" dirty="0"/>
              <a:t>15a</a:t>
            </a:r>
            <a:r>
              <a:rPr lang="zh-CN" altLang="en-US" dirty="0"/>
              <a:t>、</a:t>
            </a:r>
            <a:r>
              <a:rPr lang="en-US" altLang="zh-CN" dirty="0"/>
              <a:t>25a</a:t>
            </a:r>
            <a:r>
              <a:rPr lang="zh-CN" altLang="en-US" dirty="0"/>
              <a:t>求取一亿个解的时间。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88C84D-225D-4F32-9F8C-FDE818BE3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38" y="2229720"/>
            <a:ext cx="4319588" cy="114118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7E64A55-F83A-4DBB-901C-861476B8A81D}"/>
              </a:ext>
            </a:extLst>
          </p:cNvPr>
          <p:cNvSpPr txBox="1"/>
          <p:nvPr/>
        </p:nvSpPr>
        <p:spPr>
          <a:xfrm>
            <a:off x="708195" y="1925715"/>
            <a:ext cx="492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对于只有</a:t>
            </a:r>
            <a:r>
              <a:rPr lang="en-US" altLang="zh-CN" dirty="0"/>
              <a:t>9</a:t>
            </a:r>
            <a:r>
              <a:rPr lang="zh-CN" altLang="en-US" dirty="0"/>
              <a:t>个点的测试数据，求取所有填色方案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3A0C12-E2E9-4C4A-AD5C-3FA89A6C2246}"/>
              </a:ext>
            </a:extLst>
          </p:cNvPr>
          <p:cNvSpPr txBox="1"/>
          <p:nvPr/>
        </p:nvSpPr>
        <p:spPr>
          <a:xfrm>
            <a:off x="561975" y="3561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le450_5a</a:t>
            </a:r>
            <a:r>
              <a:rPr lang="zh-CN" altLang="en-US" dirty="0"/>
              <a:t>的测试数据，求取所有填色方案</a:t>
            </a:r>
          </a:p>
        </p:txBody>
      </p:sp>
    </p:spTree>
    <p:extLst>
      <p:ext uri="{BB962C8B-B14F-4D97-AF65-F5344CB8AC3E}">
        <p14:creationId xmlns:p14="http://schemas.microsoft.com/office/powerpoint/2010/main" val="421229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204D64E-6191-4F64-970D-C54E2F145E47}"/>
              </a:ext>
            </a:extLst>
          </p:cNvPr>
          <p:cNvSpPr txBox="1"/>
          <p:nvPr/>
        </p:nvSpPr>
        <p:spPr>
          <a:xfrm>
            <a:off x="1100295" y="212689"/>
            <a:ext cx="7988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颜色轮寻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5" name="文本框 2054">
            <a:extLst>
              <a:ext uri="{FF2B5EF4-FFF2-40B4-BE49-F238E27FC236}">
                <a16:creationId xmlns:a16="http://schemas.microsoft.com/office/drawing/2014/main" id="{0FDDBE93-1F96-45DF-851D-15FE11A564A8}"/>
              </a:ext>
            </a:extLst>
          </p:cNvPr>
          <p:cNvSpPr txBox="1"/>
          <p:nvPr/>
        </p:nvSpPr>
        <p:spPr>
          <a:xfrm>
            <a:off x="1615257" y="1543462"/>
            <a:ext cx="8528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假设初始可填颜色为红、黄、蓝、绿</a:t>
            </a:r>
            <a:r>
              <a:rPr lang="en-US" altLang="zh-CN" dirty="0"/>
              <a:t>4</a:t>
            </a:r>
            <a:r>
              <a:rPr lang="zh-CN" altLang="en-US" dirty="0"/>
              <a:t>种，每一个点都填上之前没有出现过的颜色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4596118-6E5C-47AD-B1E8-6A46767A2961}"/>
              </a:ext>
            </a:extLst>
          </p:cNvPr>
          <p:cNvGrpSpPr/>
          <p:nvPr/>
        </p:nvGrpSpPr>
        <p:grpSpPr>
          <a:xfrm>
            <a:off x="550823" y="2272110"/>
            <a:ext cx="11090353" cy="1531203"/>
            <a:chOff x="550823" y="2272110"/>
            <a:chExt cx="11090353" cy="1531203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6A4DAEF-E9FC-4AF7-98E6-3318983886DB}"/>
                </a:ext>
              </a:extLst>
            </p:cNvPr>
            <p:cNvSpPr/>
            <p:nvPr/>
          </p:nvSpPr>
          <p:spPr>
            <a:xfrm>
              <a:off x="550823" y="2272110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BD4DE87-38B5-4DAD-A570-64FF60A5ABF6}"/>
                </a:ext>
              </a:extLst>
            </p:cNvPr>
            <p:cNvSpPr/>
            <p:nvPr/>
          </p:nvSpPr>
          <p:spPr>
            <a:xfrm>
              <a:off x="1808541" y="2272110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8902953-6E4A-49E7-887D-D7983C9B4BE5}"/>
                </a:ext>
              </a:extLst>
            </p:cNvPr>
            <p:cNvSpPr/>
            <p:nvPr/>
          </p:nvSpPr>
          <p:spPr>
            <a:xfrm>
              <a:off x="550823" y="3300894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725361A-6664-44F7-AD76-D8CECDF3E8B5}"/>
                </a:ext>
              </a:extLst>
            </p:cNvPr>
            <p:cNvSpPr/>
            <p:nvPr/>
          </p:nvSpPr>
          <p:spPr>
            <a:xfrm>
              <a:off x="1808540" y="3300893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423093F-CCE1-4F4D-9346-D480D7100CBC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030630" y="2523319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55BF410-C17D-4453-B065-60A43FE55659}"/>
                </a:ext>
              </a:extLst>
            </p:cNvPr>
            <p:cNvCxnSpPr>
              <a:cxnSpLocks/>
            </p:cNvCxnSpPr>
            <p:nvPr/>
          </p:nvCxnSpPr>
          <p:spPr>
            <a:xfrm>
              <a:off x="1030629" y="3552101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7B7B352-B6C7-4FED-9A87-C943A1B68842}"/>
                </a:ext>
              </a:extLst>
            </p:cNvPr>
            <p:cNvCxnSpPr>
              <a:stCxn id="5" idx="4"/>
              <a:endCxn id="11" idx="0"/>
            </p:cNvCxnSpPr>
            <p:nvPr/>
          </p:nvCxnSpPr>
          <p:spPr>
            <a:xfrm>
              <a:off x="790727" y="2774527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747E2F9-86FA-4C93-9BEE-11B4339C05C3}"/>
                </a:ext>
              </a:extLst>
            </p:cNvPr>
            <p:cNvCxnSpPr>
              <a:cxnSpLocks/>
            </p:cNvCxnSpPr>
            <p:nvPr/>
          </p:nvCxnSpPr>
          <p:spPr>
            <a:xfrm>
              <a:off x="2048443" y="2774526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F11C65B-81CB-44BE-9D50-A14C59F3D801}"/>
                </a:ext>
              </a:extLst>
            </p:cNvPr>
            <p:cNvCxnSpPr>
              <a:stCxn id="5" idx="5"/>
              <a:endCxn id="12" idx="1"/>
            </p:cNvCxnSpPr>
            <p:nvPr/>
          </p:nvCxnSpPr>
          <p:spPr>
            <a:xfrm>
              <a:off x="960364" y="2700950"/>
              <a:ext cx="918442" cy="6735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BF8B00BF-A8E8-4FA9-880F-82FDE7AADD66}"/>
                </a:ext>
              </a:extLst>
            </p:cNvPr>
            <p:cNvCxnSpPr>
              <a:stCxn id="10" idx="3"/>
              <a:endCxn id="11" idx="7"/>
            </p:cNvCxnSpPr>
            <p:nvPr/>
          </p:nvCxnSpPr>
          <p:spPr>
            <a:xfrm flipH="1">
              <a:off x="960364" y="2700950"/>
              <a:ext cx="918443" cy="6735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3EC2E2D-33EB-406D-BC47-8C3F215C59C2}"/>
                </a:ext>
              </a:extLst>
            </p:cNvPr>
            <p:cNvSpPr/>
            <p:nvPr/>
          </p:nvSpPr>
          <p:spPr>
            <a:xfrm>
              <a:off x="3132984" y="2272112"/>
              <a:ext cx="479807" cy="502417"/>
            </a:xfrm>
            <a:prstGeom prst="ellipse">
              <a:avLst/>
            </a:prstGeom>
            <a:solidFill>
              <a:srgbClr val="FF00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38FB637-04C5-4761-88F5-FF79D9228F80}"/>
                </a:ext>
              </a:extLst>
            </p:cNvPr>
            <p:cNvSpPr/>
            <p:nvPr/>
          </p:nvSpPr>
          <p:spPr>
            <a:xfrm>
              <a:off x="4390702" y="2272112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8CB21CD3-31E3-44A3-9864-4052471447E5}"/>
                </a:ext>
              </a:extLst>
            </p:cNvPr>
            <p:cNvSpPr/>
            <p:nvPr/>
          </p:nvSpPr>
          <p:spPr>
            <a:xfrm>
              <a:off x="3132984" y="3300896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F6DA5896-EBB4-439F-8782-4D11B09F430C}"/>
                </a:ext>
              </a:extLst>
            </p:cNvPr>
            <p:cNvSpPr/>
            <p:nvPr/>
          </p:nvSpPr>
          <p:spPr>
            <a:xfrm>
              <a:off x="4390701" y="3300895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469A175-E7E4-4CAE-9406-07DB54772E36}"/>
                </a:ext>
              </a:extLst>
            </p:cNvPr>
            <p:cNvCxnSpPr>
              <a:stCxn id="22" idx="6"/>
              <a:endCxn id="23" idx="2"/>
            </p:cNvCxnSpPr>
            <p:nvPr/>
          </p:nvCxnSpPr>
          <p:spPr>
            <a:xfrm>
              <a:off x="3612791" y="2523321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4F38C3E-5AFB-41BE-BB8E-D8F752716EAA}"/>
                </a:ext>
              </a:extLst>
            </p:cNvPr>
            <p:cNvCxnSpPr>
              <a:stCxn id="22" idx="4"/>
              <a:endCxn id="24" idx="0"/>
            </p:cNvCxnSpPr>
            <p:nvPr/>
          </p:nvCxnSpPr>
          <p:spPr>
            <a:xfrm>
              <a:off x="3372888" y="2774529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32B54EE-DB04-4258-B241-686E9D128134}"/>
                </a:ext>
              </a:extLst>
            </p:cNvPr>
            <p:cNvCxnSpPr>
              <a:cxnSpLocks/>
            </p:cNvCxnSpPr>
            <p:nvPr/>
          </p:nvCxnSpPr>
          <p:spPr>
            <a:xfrm>
              <a:off x="4630604" y="2774528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204F116-02C2-42D8-9780-494348E75E0F}"/>
                </a:ext>
              </a:extLst>
            </p:cNvPr>
            <p:cNvCxnSpPr>
              <a:stCxn id="23" idx="3"/>
              <a:endCxn id="24" idx="7"/>
            </p:cNvCxnSpPr>
            <p:nvPr/>
          </p:nvCxnSpPr>
          <p:spPr>
            <a:xfrm flipH="1">
              <a:off x="3542525" y="2700952"/>
              <a:ext cx="918443" cy="6735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51D6623-915A-4E82-B958-B69745D3E251}"/>
                </a:ext>
              </a:extLst>
            </p:cNvPr>
            <p:cNvCxnSpPr>
              <a:cxnSpLocks/>
            </p:cNvCxnSpPr>
            <p:nvPr/>
          </p:nvCxnSpPr>
          <p:spPr>
            <a:xfrm>
              <a:off x="3612791" y="3517435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572853C-56C9-40C2-BFEE-F0B35F2DBB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8336" y="2700952"/>
              <a:ext cx="918442" cy="6735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8BEA494A-1DF7-425F-A64B-3F4A2CCCE951}"/>
                </a:ext>
              </a:extLst>
            </p:cNvPr>
            <p:cNvSpPr/>
            <p:nvPr/>
          </p:nvSpPr>
          <p:spPr>
            <a:xfrm>
              <a:off x="5393056" y="2272112"/>
              <a:ext cx="479807" cy="502417"/>
            </a:xfrm>
            <a:prstGeom prst="ellipse">
              <a:avLst/>
            </a:prstGeom>
            <a:solidFill>
              <a:srgbClr val="FF00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99EB384-9BF9-4FDF-8A21-944798EEB27D}"/>
                </a:ext>
              </a:extLst>
            </p:cNvPr>
            <p:cNvSpPr/>
            <p:nvPr/>
          </p:nvSpPr>
          <p:spPr>
            <a:xfrm>
              <a:off x="6650774" y="2272112"/>
              <a:ext cx="479807" cy="502417"/>
            </a:xfrm>
            <a:prstGeom prst="ellipse">
              <a:avLst/>
            </a:prstGeom>
            <a:solidFill>
              <a:srgbClr val="FFFF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A419773-C427-4E54-8DD0-C03AFBC699B1}"/>
                </a:ext>
              </a:extLst>
            </p:cNvPr>
            <p:cNvSpPr/>
            <p:nvPr/>
          </p:nvSpPr>
          <p:spPr>
            <a:xfrm>
              <a:off x="5393056" y="3300896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63427E8-BF03-4E93-879D-43E8DD5B11A1}"/>
                </a:ext>
              </a:extLst>
            </p:cNvPr>
            <p:cNvSpPr/>
            <p:nvPr/>
          </p:nvSpPr>
          <p:spPr>
            <a:xfrm>
              <a:off x="6650773" y="3300895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87EEF75-99AB-436F-A030-120FB0410BBF}"/>
                </a:ext>
              </a:extLst>
            </p:cNvPr>
            <p:cNvCxnSpPr>
              <a:stCxn id="32" idx="6"/>
              <a:endCxn id="33" idx="2"/>
            </p:cNvCxnSpPr>
            <p:nvPr/>
          </p:nvCxnSpPr>
          <p:spPr>
            <a:xfrm>
              <a:off x="5872863" y="2523321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1E66883-2FA4-47C5-A6E4-6876CD1FF6B9}"/>
                </a:ext>
              </a:extLst>
            </p:cNvPr>
            <p:cNvCxnSpPr>
              <a:cxnSpLocks/>
            </p:cNvCxnSpPr>
            <p:nvPr/>
          </p:nvCxnSpPr>
          <p:spPr>
            <a:xfrm>
              <a:off x="5872862" y="3552103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89D202B-84E6-4D5B-BE14-07359CBA6B0D}"/>
                </a:ext>
              </a:extLst>
            </p:cNvPr>
            <p:cNvCxnSpPr>
              <a:stCxn id="32" idx="4"/>
              <a:endCxn id="34" idx="0"/>
            </p:cNvCxnSpPr>
            <p:nvPr/>
          </p:nvCxnSpPr>
          <p:spPr>
            <a:xfrm>
              <a:off x="5632960" y="2774529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F56CB96-CB5C-4762-9C07-C36776BD2C14}"/>
                </a:ext>
              </a:extLst>
            </p:cNvPr>
            <p:cNvCxnSpPr>
              <a:cxnSpLocks/>
            </p:cNvCxnSpPr>
            <p:nvPr/>
          </p:nvCxnSpPr>
          <p:spPr>
            <a:xfrm>
              <a:off x="6890676" y="2774528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1B15897-1EE9-4F2C-84A3-EBC88E2E747D}"/>
                </a:ext>
              </a:extLst>
            </p:cNvPr>
            <p:cNvCxnSpPr>
              <a:stCxn id="32" idx="5"/>
              <a:endCxn id="35" idx="1"/>
            </p:cNvCxnSpPr>
            <p:nvPr/>
          </p:nvCxnSpPr>
          <p:spPr>
            <a:xfrm>
              <a:off x="5802597" y="2700952"/>
              <a:ext cx="918442" cy="6735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B7DEB2D-96C0-42C5-97BD-D9CB06D00476}"/>
                </a:ext>
              </a:extLst>
            </p:cNvPr>
            <p:cNvCxnSpPr>
              <a:stCxn id="33" idx="3"/>
              <a:endCxn id="34" idx="7"/>
            </p:cNvCxnSpPr>
            <p:nvPr/>
          </p:nvCxnSpPr>
          <p:spPr>
            <a:xfrm flipH="1">
              <a:off x="5802597" y="2700952"/>
              <a:ext cx="918443" cy="6735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2A8704B-65F0-4074-8B44-DCAFC07A5361}"/>
                </a:ext>
              </a:extLst>
            </p:cNvPr>
            <p:cNvSpPr/>
            <p:nvPr/>
          </p:nvSpPr>
          <p:spPr>
            <a:xfrm>
              <a:off x="7565681" y="2272112"/>
              <a:ext cx="479807" cy="502417"/>
            </a:xfrm>
            <a:prstGeom prst="ellipse">
              <a:avLst/>
            </a:prstGeom>
            <a:solidFill>
              <a:srgbClr val="FF00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B267AF66-2554-4D5C-8096-8ED6B26178AF}"/>
                </a:ext>
              </a:extLst>
            </p:cNvPr>
            <p:cNvSpPr/>
            <p:nvPr/>
          </p:nvSpPr>
          <p:spPr>
            <a:xfrm>
              <a:off x="8858531" y="2279436"/>
              <a:ext cx="479807" cy="502417"/>
            </a:xfrm>
            <a:prstGeom prst="ellipse">
              <a:avLst/>
            </a:prstGeom>
            <a:solidFill>
              <a:srgbClr val="FFFF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4DB6BCD-F3AA-493A-9705-4CB10AEB7380}"/>
                </a:ext>
              </a:extLst>
            </p:cNvPr>
            <p:cNvSpPr/>
            <p:nvPr/>
          </p:nvSpPr>
          <p:spPr>
            <a:xfrm>
              <a:off x="7565681" y="3300896"/>
              <a:ext cx="479807" cy="502417"/>
            </a:xfrm>
            <a:prstGeom prst="ellipse">
              <a:avLst/>
            </a:prstGeom>
            <a:solidFill>
              <a:srgbClr val="00B0F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FE5758E-CA3A-4C04-AF41-4BC773C55BA8}"/>
                </a:ext>
              </a:extLst>
            </p:cNvPr>
            <p:cNvSpPr/>
            <p:nvPr/>
          </p:nvSpPr>
          <p:spPr>
            <a:xfrm>
              <a:off x="8823398" y="3300895"/>
              <a:ext cx="479807" cy="502417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586E9B5-98C9-4DA6-B665-68B1C5741611}"/>
                </a:ext>
              </a:extLst>
            </p:cNvPr>
            <p:cNvCxnSpPr>
              <a:stCxn id="42" idx="6"/>
              <a:endCxn id="43" idx="2"/>
            </p:cNvCxnSpPr>
            <p:nvPr/>
          </p:nvCxnSpPr>
          <p:spPr>
            <a:xfrm>
              <a:off x="8045488" y="2523321"/>
              <a:ext cx="813043" cy="73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90E17D81-CD19-4451-95F2-2263F305DC3D}"/>
                </a:ext>
              </a:extLst>
            </p:cNvPr>
            <p:cNvCxnSpPr>
              <a:cxnSpLocks/>
            </p:cNvCxnSpPr>
            <p:nvPr/>
          </p:nvCxnSpPr>
          <p:spPr>
            <a:xfrm>
              <a:off x="8045487" y="3552103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1235BE07-0695-4583-998D-BC117573FC12}"/>
                </a:ext>
              </a:extLst>
            </p:cNvPr>
            <p:cNvCxnSpPr>
              <a:stCxn id="42" idx="4"/>
              <a:endCxn id="44" idx="0"/>
            </p:cNvCxnSpPr>
            <p:nvPr/>
          </p:nvCxnSpPr>
          <p:spPr>
            <a:xfrm>
              <a:off x="7805585" y="2774529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329238F-30DE-47CD-85ED-EA558986CC64}"/>
                </a:ext>
              </a:extLst>
            </p:cNvPr>
            <p:cNvCxnSpPr>
              <a:cxnSpLocks/>
            </p:cNvCxnSpPr>
            <p:nvPr/>
          </p:nvCxnSpPr>
          <p:spPr>
            <a:xfrm>
              <a:off x="9063301" y="2774528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B3C75EB8-75FF-44DD-A20F-72FD2F9D3101}"/>
                </a:ext>
              </a:extLst>
            </p:cNvPr>
            <p:cNvCxnSpPr>
              <a:stCxn id="42" idx="5"/>
              <a:endCxn id="45" idx="1"/>
            </p:cNvCxnSpPr>
            <p:nvPr/>
          </p:nvCxnSpPr>
          <p:spPr>
            <a:xfrm>
              <a:off x="7975222" y="2700952"/>
              <a:ext cx="918442" cy="6735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628B470D-598B-476E-BBBE-A94954834EC8}"/>
                </a:ext>
              </a:extLst>
            </p:cNvPr>
            <p:cNvCxnSpPr>
              <a:stCxn id="43" idx="3"/>
              <a:endCxn id="44" idx="7"/>
            </p:cNvCxnSpPr>
            <p:nvPr/>
          </p:nvCxnSpPr>
          <p:spPr>
            <a:xfrm flipH="1">
              <a:off x="7975222" y="2708276"/>
              <a:ext cx="953575" cy="66619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C0EE536E-A71E-4032-B80C-8FEAFD015737}"/>
                </a:ext>
              </a:extLst>
            </p:cNvPr>
            <p:cNvSpPr/>
            <p:nvPr/>
          </p:nvSpPr>
          <p:spPr>
            <a:xfrm>
              <a:off x="9903651" y="2272111"/>
              <a:ext cx="479807" cy="502417"/>
            </a:xfrm>
            <a:prstGeom prst="ellipse">
              <a:avLst/>
            </a:prstGeom>
            <a:solidFill>
              <a:srgbClr val="FF00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52C1EDAD-4E65-4707-88B4-CA2B1075A54D}"/>
                </a:ext>
              </a:extLst>
            </p:cNvPr>
            <p:cNvSpPr/>
            <p:nvPr/>
          </p:nvSpPr>
          <p:spPr>
            <a:xfrm>
              <a:off x="11161369" y="2272111"/>
              <a:ext cx="479807" cy="502417"/>
            </a:xfrm>
            <a:prstGeom prst="ellipse">
              <a:avLst/>
            </a:prstGeom>
            <a:solidFill>
              <a:srgbClr val="FFFF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44B05C14-8684-4AA5-9011-86FF097D501C}"/>
                </a:ext>
              </a:extLst>
            </p:cNvPr>
            <p:cNvSpPr/>
            <p:nvPr/>
          </p:nvSpPr>
          <p:spPr>
            <a:xfrm>
              <a:off x="9903651" y="3300895"/>
              <a:ext cx="479807" cy="502417"/>
            </a:xfrm>
            <a:prstGeom prst="ellipse">
              <a:avLst/>
            </a:prstGeom>
            <a:solidFill>
              <a:srgbClr val="00B0F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8CA672F-FFC2-4707-9D38-6BFFE96E0305}"/>
                </a:ext>
              </a:extLst>
            </p:cNvPr>
            <p:cNvSpPr/>
            <p:nvPr/>
          </p:nvSpPr>
          <p:spPr>
            <a:xfrm>
              <a:off x="11161368" y="3300894"/>
              <a:ext cx="479807" cy="502417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0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4647AD7-7440-4BFD-ACAD-2E983A8D972F}"/>
                </a:ext>
              </a:extLst>
            </p:cNvPr>
            <p:cNvCxnSpPr>
              <a:stCxn id="52" idx="6"/>
              <a:endCxn id="53" idx="2"/>
            </p:cNvCxnSpPr>
            <p:nvPr/>
          </p:nvCxnSpPr>
          <p:spPr>
            <a:xfrm>
              <a:off x="10383458" y="2523320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F172E7D-B07E-4AC7-9C1C-DB0DBE1CA42D}"/>
                </a:ext>
              </a:extLst>
            </p:cNvPr>
            <p:cNvCxnSpPr>
              <a:cxnSpLocks/>
            </p:cNvCxnSpPr>
            <p:nvPr/>
          </p:nvCxnSpPr>
          <p:spPr>
            <a:xfrm>
              <a:off x="10383457" y="3552102"/>
              <a:ext cx="7779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6E79446-FD2F-438E-9C3C-297684803B16}"/>
                </a:ext>
              </a:extLst>
            </p:cNvPr>
            <p:cNvCxnSpPr>
              <a:stCxn id="52" idx="4"/>
              <a:endCxn id="54" idx="0"/>
            </p:cNvCxnSpPr>
            <p:nvPr/>
          </p:nvCxnSpPr>
          <p:spPr>
            <a:xfrm>
              <a:off x="10143555" y="2774528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5ED8F336-4FFA-42FE-A7B9-C4FC1E715ED0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271" y="2774527"/>
              <a:ext cx="0" cy="5263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DC3309C-F976-4ED4-B1DF-A7A9B8402BDE}"/>
                </a:ext>
              </a:extLst>
            </p:cNvPr>
            <p:cNvCxnSpPr>
              <a:stCxn id="52" idx="5"/>
              <a:endCxn id="55" idx="1"/>
            </p:cNvCxnSpPr>
            <p:nvPr/>
          </p:nvCxnSpPr>
          <p:spPr>
            <a:xfrm>
              <a:off x="10313192" y="2700951"/>
              <a:ext cx="918442" cy="6735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082BFD1-F81A-46F2-A050-D0459D79F19C}"/>
                </a:ext>
              </a:extLst>
            </p:cNvPr>
            <p:cNvCxnSpPr>
              <a:stCxn id="53" idx="3"/>
              <a:endCxn id="54" idx="7"/>
            </p:cNvCxnSpPr>
            <p:nvPr/>
          </p:nvCxnSpPr>
          <p:spPr>
            <a:xfrm flipH="1">
              <a:off x="10313192" y="2700951"/>
              <a:ext cx="918443" cy="6735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3" name="箭头: 右 2052">
              <a:extLst>
                <a:ext uri="{FF2B5EF4-FFF2-40B4-BE49-F238E27FC236}">
                  <a16:creationId xmlns:a16="http://schemas.microsoft.com/office/drawing/2014/main" id="{A289213C-3B26-4C9E-B6AC-729A252D44E7}"/>
                </a:ext>
              </a:extLst>
            </p:cNvPr>
            <p:cNvSpPr/>
            <p:nvPr/>
          </p:nvSpPr>
          <p:spPr>
            <a:xfrm>
              <a:off x="4870508" y="2906152"/>
              <a:ext cx="487414" cy="209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箭头: 右 70">
              <a:extLst>
                <a:ext uri="{FF2B5EF4-FFF2-40B4-BE49-F238E27FC236}">
                  <a16:creationId xmlns:a16="http://schemas.microsoft.com/office/drawing/2014/main" id="{6B38AAFF-41E3-4608-81F5-725735D1BA68}"/>
                </a:ext>
              </a:extLst>
            </p:cNvPr>
            <p:cNvSpPr/>
            <p:nvPr/>
          </p:nvSpPr>
          <p:spPr>
            <a:xfrm>
              <a:off x="7130580" y="2887102"/>
              <a:ext cx="487414" cy="209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箭头: 右 71">
              <a:extLst>
                <a:ext uri="{FF2B5EF4-FFF2-40B4-BE49-F238E27FC236}">
                  <a16:creationId xmlns:a16="http://schemas.microsoft.com/office/drawing/2014/main" id="{D8B7F98B-99A4-4088-8A68-333C1870CBE8}"/>
                </a:ext>
              </a:extLst>
            </p:cNvPr>
            <p:cNvSpPr/>
            <p:nvPr/>
          </p:nvSpPr>
          <p:spPr>
            <a:xfrm>
              <a:off x="9359721" y="2875785"/>
              <a:ext cx="487414" cy="209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箭头: 右 74">
              <a:extLst>
                <a:ext uri="{FF2B5EF4-FFF2-40B4-BE49-F238E27FC236}">
                  <a16:creationId xmlns:a16="http://schemas.microsoft.com/office/drawing/2014/main" id="{41A77F3A-E452-4963-8A89-C5C2A587B13A}"/>
                </a:ext>
              </a:extLst>
            </p:cNvPr>
            <p:cNvSpPr/>
            <p:nvPr/>
          </p:nvSpPr>
          <p:spPr>
            <a:xfrm>
              <a:off x="2498242" y="2887102"/>
              <a:ext cx="487414" cy="209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9" name="文本框 88">
            <a:extLst>
              <a:ext uri="{FF2B5EF4-FFF2-40B4-BE49-F238E27FC236}">
                <a16:creationId xmlns:a16="http://schemas.microsoft.com/office/drawing/2014/main" id="{91656554-0618-4C76-B19C-C0245A362AF5}"/>
              </a:ext>
            </a:extLst>
          </p:cNvPr>
          <p:cNvSpPr txBox="1"/>
          <p:nvPr/>
        </p:nvSpPr>
        <p:spPr>
          <a:xfrm>
            <a:off x="1617163" y="4122689"/>
            <a:ext cx="8766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那么对于每个点按涂色顺序下来，依次有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0</a:t>
            </a:r>
            <a:r>
              <a:rPr lang="zh-CN" altLang="en-US" dirty="0"/>
              <a:t>种等价颜色，因此有该填色方案可以得到 </a:t>
            </a:r>
            <a:r>
              <a:rPr lang="en-US" altLang="zh-CN" dirty="0"/>
              <a:t>4! </a:t>
            </a:r>
            <a:r>
              <a:rPr lang="zh-CN" altLang="en-US" dirty="0"/>
              <a:t>种等价填涂方案。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4A555C-7D5B-4F1D-94A6-15B244D774B7}"/>
              </a:ext>
            </a:extLst>
          </p:cNvPr>
          <p:cNvSpPr txBox="1"/>
          <p:nvPr/>
        </p:nvSpPr>
        <p:spPr>
          <a:xfrm>
            <a:off x="886168" y="37157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四色填涂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DA1E34-DE14-4A43-9A94-5626AEBB4A52}"/>
              </a:ext>
            </a:extLst>
          </p:cNvPr>
          <p:cNvSpPr txBox="1"/>
          <p:nvPr/>
        </p:nvSpPr>
        <p:spPr>
          <a:xfrm>
            <a:off x="1617163" y="5051107"/>
            <a:ext cx="876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对于</a:t>
            </a:r>
            <a:r>
              <a:rPr lang="en-US" altLang="zh-CN" dirty="0"/>
              <a:t>n</a:t>
            </a:r>
            <a:r>
              <a:rPr lang="zh-CN" altLang="en-US" dirty="0"/>
              <a:t>阶无向完全图，任意两个节点都相邻，至少有</a:t>
            </a:r>
            <a:r>
              <a:rPr lang="en-US" altLang="zh-CN" dirty="0"/>
              <a:t>n</a:t>
            </a:r>
            <a:r>
              <a:rPr lang="zh-CN" altLang="en-US" dirty="0"/>
              <a:t>种颜色才可以得出填涂方案</a:t>
            </a:r>
          </a:p>
        </p:txBody>
      </p:sp>
    </p:spTree>
    <p:extLst>
      <p:ext uri="{BB962C8B-B14F-4D97-AF65-F5344CB8AC3E}">
        <p14:creationId xmlns:p14="http://schemas.microsoft.com/office/powerpoint/2010/main" val="323785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AF17B22-DB25-4DD4-A321-22695E3B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718" y="1681839"/>
            <a:ext cx="96254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825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825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同理，对于一共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种颜色选择的填色问题，一共可以对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的分支进行剪枝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解向量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(x1,x2,…,x7)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次使用新颜色填涂时进行对称性替换，可以映射出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！种不同的解向量，从而实现快速的剪枝。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49" name="图片 4">
            <a:extLst>
              <a:ext uri="{FF2B5EF4-FFF2-40B4-BE49-F238E27FC236}">
                <a16:creationId xmlns:a16="http://schemas.microsoft.com/office/drawing/2014/main" id="{98C2AD7E-9F6D-4B7A-8741-4E04D3D36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829" y="2801815"/>
            <a:ext cx="8960231" cy="350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204D64E-6191-4F64-970D-C54E2F145E47}"/>
              </a:ext>
            </a:extLst>
          </p:cNvPr>
          <p:cNvSpPr txBox="1"/>
          <p:nvPr/>
        </p:nvSpPr>
        <p:spPr>
          <a:xfrm>
            <a:off x="1100295" y="212689"/>
            <a:ext cx="7988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颜色轮寻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BF3583-3413-49FA-860E-22E3187E2DAC}"/>
              </a:ext>
            </a:extLst>
          </p:cNvPr>
          <p:cNvSpPr txBox="1"/>
          <p:nvPr/>
        </p:nvSpPr>
        <p:spPr>
          <a:xfrm>
            <a:off x="1499718" y="1047204"/>
            <a:ext cx="9342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825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已知一个填色方案的解向量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(x1,x2,…,x7)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，由数学的对称性可得：第一个点的剩余填色方案与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x1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等价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对于已知的解向量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(x1,x2,…,x7)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可以映射出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个等价解向量。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乘号 4">
            <a:extLst>
              <a:ext uri="{FF2B5EF4-FFF2-40B4-BE49-F238E27FC236}">
                <a16:creationId xmlns:a16="http://schemas.microsoft.com/office/drawing/2014/main" id="{61B5B59A-5607-4261-8A71-7E7DC7B24DF4}"/>
              </a:ext>
            </a:extLst>
          </p:cNvPr>
          <p:cNvSpPr/>
          <p:nvPr/>
        </p:nvSpPr>
        <p:spPr>
          <a:xfrm>
            <a:off x="6312459" y="3657315"/>
            <a:ext cx="542925" cy="5048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乘号 9">
            <a:extLst>
              <a:ext uri="{FF2B5EF4-FFF2-40B4-BE49-F238E27FC236}">
                <a16:creationId xmlns:a16="http://schemas.microsoft.com/office/drawing/2014/main" id="{A79B97DC-3179-4BC1-996F-7FDF6DEA2B98}"/>
              </a:ext>
            </a:extLst>
          </p:cNvPr>
          <p:cNvSpPr/>
          <p:nvPr/>
        </p:nvSpPr>
        <p:spPr>
          <a:xfrm>
            <a:off x="9088733" y="3657316"/>
            <a:ext cx="542925" cy="5048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乘号 10">
            <a:extLst>
              <a:ext uri="{FF2B5EF4-FFF2-40B4-BE49-F238E27FC236}">
                <a16:creationId xmlns:a16="http://schemas.microsoft.com/office/drawing/2014/main" id="{626F2AB0-8A63-4C55-B197-D1B3A84A2B09}"/>
              </a:ext>
            </a:extLst>
          </p:cNvPr>
          <p:cNvSpPr/>
          <p:nvPr/>
        </p:nvSpPr>
        <p:spPr>
          <a:xfrm>
            <a:off x="4145258" y="4936396"/>
            <a:ext cx="542925" cy="5048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270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204D64E-6191-4F64-970D-C54E2F145E47}"/>
              </a:ext>
            </a:extLst>
          </p:cNvPr>
          <p:cNvSpPr txBox="1"/>
          <p:nvPr/>
        </p:nvSpPr>
        <p:spPr>
          <a:xfrm>
            <a:off x="1100295" y="212689"/>
            <a:ext cx="7988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颜色轮寻</a:t>
            </a:r>
            <a:endParaRPr lang="zh-CN" altLang="en-US" sz="36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136473-2BDD-4A42-A6D2-EC44644A5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18" y="4136989"/>
            <a:ext cx="4757809" cy="118361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4D0068F-F122-4411-B5E3-E489087422F7}"/>
              </a:ext>
            </a:extLst>
          </p:cNvPr>
          <p:cNvSpPr txBox="1"/>
          <p:nvPr/>
        </p:nvSpPr>
        <p:spPr>
          <a:xfrm>
            <a:off x="2300676" y="146312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测试集验证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E75D168-E648-43A3-909C-D75816C86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32435"/>
              </p:ext>
            </p:extLst>
          </p:nvPr>
        </p:nvGraphicFramePr>
        <p:xfrm>
          <a:off x="5631337" y="1304074"/>
          <a:ext cx="6324600" cy="2077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435887589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3231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63847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67606"/>
                  </a:ext>
                </a:extLst>
              </a:tr>
              <a:tr h="71629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MRV_DH+</a:t>
                      </a:r>
                      <a:r>
                        <a:rPr lang="zh-CN" altLang="en-US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向前探查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367.3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  <a:tr h="3991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颜色轮寻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246.2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02860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38EEA85-DFE7-4BE5-AF3F-551847E52EBB}"/>
              </a:ext>
            </a:extLst>
          </p:cNvPr>
          <p:cNvSpPr txBox="1"/>
          <p:nvPr/>
        </p:nvSpPr>
        <p:spPr>
          <a:xfrm>
            <a:off x="6182355" y="936887"/>
            <a:ext cx="583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对于三个测试数据，求取第一个解的时间。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676D44-739D-4704-B147-F7EEA46D0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33" y="2342612"/>
            <a:ext cx="4574225" cy="12192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90B4F54-F89D-4C5D-85B1-6F7A1779592B}"/>
              </a:ext>
            </a:extLst>
          </p:cNvPr>
          <p:cNvSpPr txBox="1"/>
          <p:nvPr/>
        </p:nvSpPr>
        <p:spPr>
          <a:xfrm>
            <a:off x="708195" y="1925715"/>
            <a:ext cx="492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对于只有</a:t>
            </a:r>
            <a:r>
              <a:rPr lang="en-US" altLang="zh-CN" dirty="0"/>
              <a:t>9</a:t>
            </a:r>
            <a:r>
              <a:rPr lang="zh-CN" altLang="en-US" dirty="0"/>
              <a:t>个点的测试数据，求取所有填色方案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EAED8E-80F6-4F8F-89A0-579FFBBA1469}"/>
              </a:ext>
            </a:extLst>
          </p:cNvPr>
          <p:cNvSpPr txBox="1"/>
          <p:nvPr/>
        </p:nvSpPr>
        <p:spPr>
          <a:xfrm>
            <a:off x="719744" y="38243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le450_5a</a:t>
            </a:r>
            <a:r>
              <a:rPr lang="zh-CN" altLang="en-US" dirty="0"/>
              <a:t>的测试数据，求取所有填色方案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8EEEB96-333D-4B5B-A433-29E72596F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822876"/>
              </p:ext>
            </p:extLst>
          </p:nvPr>
        </p:nvGraphicFramePr>
        <p:xfrm>
          <a:off x="5631337" y="4052053"/>
          <a:ext cx="6455888" cy="23077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3972">
                  <a:extLst>
                    <a:ext uri="{9D8B030D-6E8A-4147-A177-3AD203B41FA5}">
                      <a16:colId xmlns:a16="http://schemas.microsoft.com/office/drawing/2014/main" val="435887589"/>
                    </a:ext>
                  </a:extLst>
                </a:gridCol>
                <a:gridCol w="1613972">
                  <a:extLst>
                    <a:ext uri="{9D8B030D-6E8A-4147-A177-3AD203B41FA5}">
                      <a16:colId xmlns:a16="http://schemas.microsoft.com/office/drawing/2014/main" val="2983473025"/>
                    </a:ext>
                  </a:extLst>
                </a:gridCol>
                <a:gridCol w="1613972">
                  <a:extLst>
                    <a:ext uri="{9D8B030D-6E8A-4147-A177-3AD203B41FA5}">
                      <a16:colId xmlns:a16="http://schemas.microsoft.com/office/drawing/2014/main" val="1622527677"/>
                    </a:ext>
                  </a:extLst>
                </a:gridCol>
                <a:gridCol w="1613972">
                  <a:extLst>
                    <a:ext uri="{9D8B030D-6E8A-4147-A177-3AD203B41FA5}">
                      <a16:colId xmlns:a16="http://schemas.microsoft.com/office/drawing/2014/main" val="1057171868"/>
                    </a:ext>
                  </a:extLst>
                </a:gridCol>
              </a:tblGrid>
              <a:tr h="38547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测试数据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le450_15a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le450_25a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572"/>
                  </a:ext>
                </a:extLst>
              </a:tr>
              <a:tr h="55973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14327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57993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67606"/>
                  </a:ext>
                </a:extLst>
              </a:tr>
              <a:tr h="68129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MRV_DH+</a:t>
                      </a:r>
                      <a:r>
                        <a:rPr lang="zh-CN" altLang="en-US" sz="2000" b="1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向前探查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15030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53838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53360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0251910"/>
                  </a:ext>
                </a:extLst>
              </a:tr>
              <a:tr h="68129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颜色轮寻</a:t>
                      </a:r>
                      <a:r>
                        <a:rPr lang="en-US" altLang="zh-C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0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altLang="zh-CN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indent="28067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 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indent="28067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3382 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indent="280670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1850 </a:t>
                      </a:r>
                      <a:endParaRPr lang="zh-CN" alt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9744310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0024224D-05FF-445E-AA80-A7EE46A6742A}"/>
              </a:ext>
            </a:extLst>
          </p:cNvPr>
          <p:cNvSpPr txBox="1"/>
          <p:nvPr/>
        </p:nvSpPr>
        <p:spPr>
          <a:xfrm>
            <a:off x="5941622" y="3682721"/>
            <a:ext cx="5917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5a</a:t>
            </a:r>
            <a:r>
              <a:rPr lang="zh-CN" altLang="en-US" dirty="0"/>
              <a:t>、求取所有解，</a:t>
            </a:r>
            <a:r>
              <a:rPr lang="en-US" altLang="zh-CN" dirty="0"/>
              <a:t>15a</a:t>
            </a:r>
            <a:r>
              <a:rPr lang="zh-CN" altLang="en-US" dirty="0"/>
              <a:t>、</a:t>
            </a:r>
            <a:r>
              <a:rPr lang="en-US" altLang="zh-CN" dirty="0"/>
              <a:t>25a</a:t>
            </a:r>
            <a:r>
              <a:rPr lang="zh-CN" altLang="en-US" dirty="0"/>
              <a:t>求取一亿个解的时间。</a:t>
            </a:r>
          </a:p>
        </p:txBody>
      </p:sp>
    </p:spTree>
    <p:extLst>
      <p:ext uri="{BB962C8B-B14F-4D97-AF65-F5344CB8AC3E}">
        <p14:creationId xmlns:p14="http://schemas.microsoft.com/office/powerpoint/2010/main" val="1738466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5205384-D862-42A2-AD6E-225E7B06CAF9}"/>
              </a:ext>
            </a:extLst>
          </p:cNvPr>
          <p:cNvSpPr txBox="1"/>
          <p:nvPr/>
        </p:nvSpPr>
        <p:spPr>
          <a:xfrm>
            <a:off x="1137975" y="21224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不同算法比较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CF63C0-3608-4A2C-B022-108C7974FC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8"/>
          <a:stretch/>
        </p:blipFill>
        <p:spPr>
          <a:xfrm>
            <a:off x="608330" y="1530070"/>
            <a:ext cx="5126752" cy="38447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9F1696-9B97-49E2-9BC1-D6E8143F77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30070"/>
            <a:ext cx="5563870" cy="38447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9F6EEE4-CF5C-4062-A759-E6DB9756EE98}"/>
              </a:ext>
            </a:extLst>
          </p:cNvPr>
          <p:cNvSpPr txBox="1"/>
          <p:nvPr/>
        </p:nvSpPr>
        <p:spPr>
          <a:xfrm>
            <a:off x="1228725" y="5438232"/>
            <a:ext cx="402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三种算法在</a:t>
            </a:r>
            <a:r>
              <a:rPr lang="en-US" altLang="zh-CN" dirty="0"/>
              <a:t>le450_5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25a</a:t>
            </a:r>
            <a:r>
              <a:rPr lang="zh-CN" altLang="en-US" dirty="0"/>
              <a:t>的测试集上求取一个解的时间效率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E48C55-9FBE-423A-A8D6-1905BB2C5267}"/>
              </a:ext>
            </a:extLst>
          </p:cNvPr>
          <p:cNvSpPr txBox="1"/>
          <p:nvPr/>
        </p:nvSpPr>
        <p:spPr>
          <a:xfrm>
            <a:off x="6667500" y="5374785"/>
            <a:ext cx="461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三种算法在</a:t>
            </a:r>
            <a:r>
              <a:rPr lang="en-US" altLang="zh-CN" dirty="0"/>
              <a:t>le450_5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25a</a:t>
            </a:r>
            <a:r>
              <a:rPr lang="zh-CN" altLang="en-US" dirty="0"/>
              <a:t>的测试集上求取一亿以内有穷解的时间效率</a:t>
            </a:r>
          </a:p>
        </p:txBody>
      </p:sp>
    </p:spTree>
    <p:extLst>
      <p:ext uri="{BB962C8B-B14F-4D97-AF65-F5344CB8AC3E}">
        <p14:creationId xmlns:p14="http://schemas.microsoft.com/office/powerpoint/2010/main" val="420444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CF2CC4A-BADE-41E5-9880-E5C8617F6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46586"/>
              </p:ext>
            </p:extLst>
          </p:nvPr>
        </p:nvGraphicFramePr>
        <p:xfrm>
          <a:off x="206749" y="2371237"/>
          <a:ext cx="5742696" cy="2240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16">
                  <a:extLst>
                    <a:ext uri="{9D8B030D-6E8A-4147-A177-3AD203B41FA5}">
                      <a16:colId xmlns:a16="http://schemas.microsoft.com/office/drawing/2014/main" val="2696437830"/>
                    </a:ext>
                  </a:extLst>
                </a:gridCol>
                <a:gridCol w="957116">
                  <a:extLst>
                    <a:ext uri="{9D8B030D-6E8A-4147-A177-3AD203B41FA5}">
                      <a16:colId xmlns:a16="http://schemas.microsoft.com/office/drawing/2014/main" val="177104119"/>
                    </a:ext>
                  </a:extLst>
                </a:gridCol>
                <a:gridCol w="957116">
                  <a:extLst>
                    <a:ext uri="{9D8B030D-6E8A-4147-A177-3AD203B41FA5}">
                      <a16:colId xmlns:a16="http://schemas.microsoft.com/office/drawing/2014/main" val="943911487"/>
                    </a:ext>
                  </a:extLst>
                </a:gridCol>
                <a:gridCol w="957116">
                  <a:extLst>
                    <a:ext uri="{9D8B030D-6E8A-4147-A177-3AD203B41FA5}">
                      <a16:colId xmlns:a16="http://schemas.microsoft.com/office/drawing/2014/main" val="3382015141"/>
                    </a:ext>
                  </a:extLst>
                </a:gridCol>
                <a:gridCol w="957116">
                  <a:extLst>
                    <a:ext uri="{9D8B030D-6E8A-4147-A177-3AD203B41FA5}">
                      <a16:colId xmlns:a16="http://schemas.microsoft.com/office/drawing/2014/main" val="4212280934"/>
                    </a:ext>
                  </a:extLst>
                </a:gridCol>
                <a:gridCol w="957116">
                  <a:extLst>
                    <a:ext uri="{9D8B030D-6E8A-4147-A177-3AD203B41FA5}">
                      <a16:colId xmlns:a16="http://schemas.microsoft.com/office/drawing/2014/main" val="2904904891"/>
                    </a:ext>
                  </a:extLst>
                </a:gridCol>
              </a:tblGrid>
              <a:tr h="47695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顶点数</a:t>
                      </a:r>
                      <a:r>
                        <a:rPr 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815377"/>
                  </a:ext>
                </a:extLst>
              </a:tr>
              <a:tr h="67881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边点比为</a:t>
                      </a:r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的时间</a:t>
                      </a:r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6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 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 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 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78941"/>
                  </a:ext>
                </a:extLst>
              </a:tr>
              <a:tr h="102457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边点比为</a:t>
                      </a:r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的时间</a:t>
                      </a:r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6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endParaRPr 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324.7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342369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C1D7AA6-1BE9-4709-BF54-A5921BDF3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047" y="2223323"/>
            <a:ext cx="6044404" cy="34066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E7AEA6-3CD6-4C0B-9AD1-41648E21BB80}"/>
              </a:ext>
            </a:extLst>
          </p:cNvPr>
          <p:cNvSpPr txBox="1"/>
          <p:nvPr/>
        </p:nvSpPr>
        <p:spPr>
          <a:xfrm>
            <a:off x="1137975" y="21224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随机规模测试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DE270E-899D-4F6B-B418-12147F9C13C8}"/>
              </a:ext>
            </a:extLst>
          </p:cNvPr>
          <p:cNvSpPr txBox="1"/>
          <p:nvPr/>
        </p:nvSpPr>
        <p:spPr>
          <a:xfrm>
            <a:off x="1137975" y="1350808"/>
            <a:ext cx="9606225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在固定可选颜色为</a:t>
            </a:r>
            <a:r>
              <a:rPr lang="en-US" altLang="zh-CN" dirty="0"/>
              <a:t>15</a:t>
            </a:r>
            <a:r>
              <a:rPr lang="zh-CN" altLang="en-US" dirty="0"/>
              <a:t>种，依次对颜色轮寻算法在边点数之比为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的不同规模的图进行测试，统计求取一亿个有穷可行解的时间</a:t>
            </a:r>
          </a:p>
        </p:txBody>
      </p:sp>
    </p:spTree>
    <p:extLst>
      <p:ext uri="{BB962C8B-B14F-4D97-AF65-F5344CB8AC3E}">
        <p14:creationId xmlns:p14="http://schemas.microsoft.com/office/powerpoint/2010/main" val="2902653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5205384-D862-42A2-AD6E-225E7B06CAF9}"/>
              </a:ext>
            </a:extLst>
          </p:cNvPr>
          <p:cNvSpPr txBox="1"/>
          <p:nvPr/>
        </p:nvSpPr>
        <p:spPr>
          <a:xfrm>
            <a:off x="1137975" y="21224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不同算法比较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C7763B-EE10-47FB-ADA5-07140BD3A46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25" y="1662109"/>
            <a:ext cx="4857750" cy="31246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779BCAA-2D77-4E5C-93E4-3442C34E712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1" y="1662109"/>
            <a:ext cx="4951414" cy="31284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267B17D-1D5C-4E7A-BABB-234F235B4771}"/>
              </a:ext>
            </a:extLst>
          </p:cNvPr>
          <p:cNvSpPr txBox="1"/>
          <p:nvPr/>
        </p:nvSpPr>
        <p:spPr>
          <a:xfrm>
            <a:off x="156062" y="4801551"/>
            <a:ext cx="5334000" cy="95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边点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数之比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，随机生成不同规模的顶点数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的图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三种不同算法的求取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亿种填色方案的时间效率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6F5A2E-8E09-4965-B7A1-7C2C8ABE9C62}"/>
              </a:ext>
            </a:extLst>
          </p:cNvPr>
          <p:cNvSpPr txBox="1"/>
          <p:nvPr/>
        </p:nvSpPr>
        <p:spPr>
          <a:xfrm>
            <a:off x="6019800" y="4801551"/>
            <a:ext cx="5334000" cy="95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边点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数之比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，随机生成不同规模的顶点数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的图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三种不同算法的求取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亿种填色方案的时间效率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9591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9659D94-E0CA-4BE5-84D9-8A0776333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30" y="1271252"/>
            <a:ext cx="6848343" cy="369593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E7AEA6-3CD6-4C0B-9AD1-41648E21BB80}"/>
              </a:ext>
            </a:extLst>
          </p:cNvPr>
          <p:cNvSpPr txBox="1"/>
          <p:nvPr/>
        </p:nvSpPr>
        <p:spPr>
          <a:xfrm>
            <a:off x="1137975" y="21224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随机规模测试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17A541-E2D6-4856-BACB-464AC4E6DCE5}"/>
              </a:ext>
            </a:extLst>
          </p:cNvPr>
          <p:cNvSpPr txBox="1"/>
          <p:nvPr/>
        </p:nvSpPr>
        <p:spPr>
          <a:xfrm>
            <a:off x="1877903" y="4967183"/>
            <a:ext cx="843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初始可选颜色为</a:t>
            </a:r>
            <a:r>
              <a:rPr lang="en-US" altLang="zh-CN" dirty="0"/>
              <a:t>15</a:t>
            </a:r>
            <a:r>
              <a:rPr lang="zh-CN" altLang="en-US" dirty="0"/>
              <a:t>，在固定顶点数为</a:t>
            </a:r>
            <a:r>
              <a:rPr lang="en-US" altLang="zh-CN" dirty="0"/>
              <a:t>100</a:t>
            </a:r>
            <a:r>
              <a:rPr lang="zh-CN" altLang="en-US" dirty="0"/>
              <a:t>，边数依次与顶点数成比例递增的图中，计算颜色轮寻方法在求取一亿个有穷解的时间效率图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6DD2A1-A06E-44DB-ADC9-812B45664D8B}"/>
              </a:ext>
            </a:extLst>
          </p:cNvPr>
          <p:cNvSpPr txBox="1"/>
          <p:nvPr/>
        </p:nvSpPr>
        <p:spPr>
          <a:xfrm>
            <a:off x="1877903" y="5767723"/>
            <a:ext cx="8436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实验结论：</a:t>
            </a:r>
            <a:r>
              <a:rPr lang="zh-CN" altLang="en-US" dirty="0"/>
              <a:t>颜色轮寻的时间开销在边数与顶点数大于</a:t>
            </a:r>
            <a:r>
              <a:rPr lang="en-US" altLang="zh-CN" dirty="0"/>
              <a:t>15</a:t>
            </a:r>
            <a:r>
              <a:rPr lang="zh-CN" altLang="en-US" dirty="0"/>
              <a:t>后随着边数的增大爆炸性增长，在小于</a:t>
            </a:r>
            <a:r>
              <a:rPr lang="en-US" altLang="zh-CN" dirty="0"/>
              <a:t>15</a:t>
            </a:r>
            <a:r>
              <a:rPr lang="zh-CN" altLang="en-US" dirty="0"/>
              <a:t>时缓慢增长。</a:t>
            </a:r>
          </a:p>
        </p:txBody>
      </p:sp>
    </p:spTree>
    <p:extLst>
      <p:ext uri="{BB962C8B-B14F-4D97-AF65-F5344CB8AC3E}">
        <p14:creationId xmlns:p14="http://schemas.microsoft.com/office/powerpoint/2010/main" val="2785929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825F13-3FDE-452F-A6CE-7546DEBD0869}"/>
              </a:ext>
            </a:extLst>
          </p:cNvPr>
          <p:cNvSpPr txBox="1"/>
          <p:nvPr/>
        </p:nvSpPr>
        <p:spPr>
          <a:xfrm>
            <a:off x="4765429" y="3105834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谢谢！！！</a:t>
            </a:r>
          </a:p>
        </p:txBody>
      </p:sp>
    </p:spTree>
    <p:extLst>
      <p:ext uri="{BB962C8B-B14F-4D97-AF65-F5344CB8AC3E}">
        <p14:creationId xmlns:p14="http://schemas.microsoft.com/office/powerpoint/2010/main" val="2962213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1397</Words>
  <Application>Microsoft Office PowerPoint</Application>
  <PresentationFormat>宽屏</PresentationFormat>
  <Paragraphs>232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思源黑体 CN Heavy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80</cp:revision>
  <dcterms:created xsi:type="dcterms:W3CDTF">2024-04-25T03:33:46Z</dcterms:created>
  <dcterms:modified xsi:type="dcterms:W3CDTF">2024-05-01T03:55:39Z</dcterms:modified>
</cp:coreProperties>
</file>