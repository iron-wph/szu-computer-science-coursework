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D92191-98FB-4909-9096-4789C93ADD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29A144A-20B5-4E4B-B13D-C11D3C3AAD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FB0732-99F9-4FFF-98A1-8E5141C5D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993CF-3191-4DC8-90A7-9FDFCF1885C5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EB28EB-9ACA-440A-88C3-40AD59AC5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AF6D8F-75D7-4BD9-8B95-345E7BD4F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55ACB-2BC7-453A-808C-E5FC11BF69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810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6003D9-0F2F-4640-A8AF-1D7795E03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B0687A-D62F-46C0-AD5E-8AF5FB976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97DDD0-2AA7-4368-960C-0767AAECB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993CF-3191-4DC8-90A7-9FDFCF1885C5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1E1BF2-976D-47EF-8951-B69414999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5EC749-A1B0-4C7C-9470-DFA1BF973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55ACB-2BC7-453A-808C-E5FC11BF69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952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1A76B2-371D-463B-833A-33F20F870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642E1D-D95E-45C9-949C-124FCE5C8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9BBE69-EAEA-4B08-8CFC-5660B2295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993CF-3191-4DC8-90A7-9FDFCF1885C5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B96208-D47F-4C71-BA8B-80E3FD9C2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279613-A15D-4E4B-BAF6-815EC7E66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55ACB-2BC7-453A-808C-E5FC11BF69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705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E02BF3-2915-47D6-B296-2AD87BF01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415259-7113-408D-91F6-476BFC318B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305699-F612-4294-985C-3EED39B27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9A5811-6063-416D-8239-89D54E28F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993CF-3191-4DC8-90A7-9FDFCF1885C5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7F7808-491D-4356-AC93-C5AF9C3EE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9A67E3-B144-40A2-8722-DCC76BB47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55ACB-2BC7-453A-808C-E5FC11BF69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8091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DD105-26AE-4DED-9153-F48035055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D69ACE-8933-4265-9C27-1D64A0846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B3AB11-556F-4FF3-A8E5-1ECDC208E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F5E3DF7-913F-42B6-B9F0-D944A377E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4A59B3D-A35D-4933-99F8-AB5EBEFCF8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2D627C-387C-4FB1-8682-59C631834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993CF-3191-4DC8-90A7-9FDFCF1885C5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A11FA0-CEA5-42D4-9057-8418A949B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89238C6-C890-4FA9-B559-7D8DA9E4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55ACB-2BC7-453A-808C-E5FC11BF69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2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16E1B4-4950-46BD-9E71-BA2AD1729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F639092-E109-47E8-BB0A-FDCDDC9A3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993CF-3191-4DC8-90A7-9FDFCF1885C5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6C10B8-27C4-447D-8690-A58EAD4AE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AAF8BC5-C1B1-4301-B955-02023A60C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55ACB-2BC7-453A-808C-E5FC11BF69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698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730025B-F005-40FF-8B66-222584899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993CF-3191-4DC8-90A7-9FDFCF1885C5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B212F1A-0B91-41F5-97B2-A3D34B22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2A41D1-8824-4523-B600-40744E5A5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55ACB-2BC7-453A-808C-E5FC11BF69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134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16E4C7-1234-41F5-A42C-702D39094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C3289C-8097-4CF1-9290-E4920E19E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4B54C6-9A4B-44F8-905B-08601B3E2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87FF67-5FAB-455E-9F23-1F535A678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993CF-3191-4DC8-90A7-9FDFCF1885C5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90582A-2D79-4F49-ABF5-E5F94E3E5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447C7A-AA74-482F-B7A2-D8F9E5D7F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55ACB-2BC7-453A-808C-E5FC11BF69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118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9F35DE-F246-43A0-B209-CBE08BAD6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731C434-C6AF-416C-AE67-F9062EE29D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4644C5-8129-4DAC-8276-6E14770D99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01E195-5D53-4176-AC16-E96668A2A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993CF-3191-4DC8-90A7-9FDFCF1885C5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11D8E0-4EA9-4661-8E08-B39ED6A44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42A04F-4CC1-4703-ACBD-BADC31703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55ACB-2BC7-453A-808C-E5FC11BF69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287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EFC04F-E12C-465A-8609-14AD09E77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894EDE-B4BA-4F36-8E56-409C5106C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6C6E81-84C3-4E83-A1E4-ED9D93458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993CF-3191-4DC8-90A7-9FDFCF1885C5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9FA107-0D42-4B37-B296-347949351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DADFCE-A6D1-4ABA-82A2-E2F096A50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55ACB-2BC7-453A-808C-E5FC11BF69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89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F1AB2CF-13C4-40D8-AB23-6A7A031D78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C67B56-7D62-4D36-9B3B-50323B514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8D4798-8C72-46BA-B8AA-1E764BF0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993CF-3191-4DC8-90A7-9FDFCF1885C5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4F03EE-23A6-4C2E-808C-003C21266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4FDAD-C670-45D9-B2AB-DF792DCC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55ACB-2BC7-453A-808C-E5FC11BF69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611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A4BDA39-6F3A-4A1F-8E38-D6DA3E67C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49A9CA-746A-4457-8F72-4C626D63F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185A34-4EFF-49C4-A4D3-D2C593384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993CF-3191-4DC8-90A7-9FDFCF1885C5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5F271F-5BA8-4CC9-BBDA-01F76B3ED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BFA9D4-C58A-43E9-A1EA-A3919289C8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55ACB-2BC7-453A-808C-E5FC11BF69F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24F085-B9E1-4274-B471-491AA48924F5}"/>
              </a:ext>
            </a:extLst>
          </p:cNvPr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FE437FD-9501-4D69-B5F4-6A5DE1C88776}"/>
              </a:ext>
            </a:extLst>
          </p:cNvPr>
          <p:cNvGrpSpPr/>
          <p:nvPr userDrawn="1"/>
        </p:nvGrpSpPr>
        <p:grpSpPr>
          <a:xfrm>
            <a:off x="9814110" y="267547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FDEFFFC-7A65-4331-A384-03BC81EC4652}"/>
                </a:ext>
              </a:extLst>
            </p:cNvPr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9203A342-686A-4459-964D-2194F44BCA95}"/>
                </a:ext>
              </a:extLst>
            </p:cNvPr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2123DC40-682D-4305-B5F7-05862C65BDCE}"/>
                </a:ext>
              </a:extLst>
            </p:cNvPr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6CA7C114-DDD0-4B8D-A212-E582348F3C56}"/>
                </a:ext>
              </a:extLst>
            </p:cNvPr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99973694-9D6C-4170-B355-139BA0354ADB}"/>
                </a:ext>
              </a:extLst>
            </p:cNvPr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0421203F-E20B-47AD-B91A-B8FACA5C386C}"/>
                </a:ext>
              </a:extLst>
            </p:cNvPr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A8469BF4-8237-4C83-9A9E-2444C2C8ABB6}"/>
                </a:ext>
              </a:extLst>
            </p:cNvPr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F0B061FB-58F3-4097-9ED5-984390377014}"/>
                </a:ext>
              </a:extLst>
            </p:cNvPr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A6CB2B90-292F-4213-ADFD-9C2854237A58}"/>
                </a:ext>
              </a:extLst>
            </p:cNvPr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885E2E87-BB66-4D3C-AFC0-BA3A5D75EE08}"/>
                </a:ext>
              </a:extLst>
            </p:cNvPr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480FB53D-E456-4F29-9E2D-F398C5421E9C}"/>
                </a:ext>
              </a:extLst>
            </p:cNvPr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28616B70-1979-4591-95AF-B8BD4B309E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E538D658-F680-4CDA-8466-F43632C2F987}"/>
                </a:ext>
              </a:extLst>
            </p:cNvPr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84B64569-8B08-4D15-9056-2A0D7B370B86}"/>
                </a:ext>
              </a:extLst>
            </p:cNvPr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A68F48E4-E245-4421-B484-AB6E5C3E0ED0}"/>
                </a:ext>
              </a:extLst>
            </p:cNvPr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D468CFDA-F730-4E25-B9A9-269B82DEFF32}"/>
                </a:ext>
              </a:extLst>
            </p:cNvPr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1E9E2555-F6BC-4D10-A49B-842EBC892B1A}"/>
                </a:ext>
              </a:extLst>
            </p:cNvPr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8C257A1B-27E0-4C39-B5A4-E542F0493853}"/>
                </a:ext>
              </a:extLst>
            </p:cNvPr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E7CA2F4E-72EF-4801-BEED-A098C6554187}"/>
                </a:ext>
              </a:extLst>
            </p:cNvPr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1371BC40-C4F7-48C9-A0FC-1B9078943938}"/>
                </a:ext>
              </a:extLst>
            </p:cNvPr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9D570F0A-2C18-49A5-989C-07D1BB722D6B}"/>
                </a:ext>
              </a:extLst>
            </p:cNvPr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41BB0281-6781-474B-8FB7-CB8D2235BF3D}"/>
                </a:ext>
              </a:extLst>
            </p:cNvPr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27DEDE01-D1FD-4768-8964-07D126677647}"/>
                </a:ext>
              </a:extLst>
            </p:cNvPr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AF532F98-6208-4FFF-A483-8418661725D9}"/>
                </a:ext>
              </a:extLst>
            </p:cNvPr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5A60D3AE-290F-4DCE-97FF-3257DDF79F25}"/>
                </a:ext>
              </a:extLst>
            </p:cNvPr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30">
              <a:extLst>
                <a:ext uri="{FF2B5EF4-FFF2-40B4-BE49-F238E27FC236}">
                  <a16:creationId xmlns:a16="http://schemas.microsoft.com/office/drawing/2014/main" id="{B7126C80-B346-45D2-9DAE-5AF56D09CF16}"/>
                </a:ext>
              </a:extLst>
            </p:cNvPr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Freeform 31">
              <a:extLst>
                <a:ext uri="{FF2B5EF4-FFF2-40B4-BE49-F238E27FC236}">
                  <a16:creationId xmlns:a16="http://schemas.microsoft.com/office/drawing/2014/main" id="{910C4B05-2809-4FCE-99AD-C3F8FE965B2F}"/>
                </a:ext>
              </a:extLst>
            </p:cNvPr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Freeform 32">
              <a:extLst>
                <a:ext uri="{FF2B5EF4-FFF2-40B4-BE49-F238E27FC236}">
                  <a16:creationId xmlns:a16="http://schemas.microsoft.com/office/drawing/2014/main" id="{755F5774-8E79-49A0-B3A5-F9D4ABAC0999}"/>
                </a:ext>
              </a:extLst>
            </p:cNvPr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7" name="Freeform 33">
              <a:extLst>
                <a:ext uri="{FF2B5EF4-FFF2-40B4-BE49-F238E27FC236}">
                  <a16:creationId xmlns:a16="http://schemas.microsoft.com/office/drawing/2014/main" id="{AA0CADF8-812B-4AB0-8C6C-F767C5122FFA}"/>
                </a:ext>
              </a:extLst>
            </p:cNvPr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34">
              <a:extLst>
                <a:ext uri="{FF2B5EF4-FFF2-40B4-BE49-F238E27FC236}">
                  <a16:creationId xmlns:a16="http://schemas.microsoft.com/office/drawing/2014/main" id="{00E69F0A-3A97-4C04-8D30-562870B1A4C5}"/>
                </a:ext>
              </a:extLst>
            </p:cNvPr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Freeform 35">
              <a:extLst>
                <a:ext uri="{FF2B5EF4-FFF2-40B4-BE49-F238E27FC236}">
                  <a16:creationId xmlns:a16="http://schemas.microsoft.com/office/drawing/2014/main" id="{4E55EFE0-60CD-4981-A7A5-6CA377EF31C5}"/>
                </a:ext>
              </a:extLst>
            </p:cNvPr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Freeform 36">
              <a:extLst>
                <a:ext uri="{FF2B5EF4-FFF2-40B4-BE49-F238E27FC236}">
                  <a16:creationId xmlns:a16="http://schemas.microsoft.com/office/drawing/2014/main" id="{8EB4CE38-9581-44E7-AF33-B0078F75E265}"/>
                </a:ext>
              </a:extLst>
            </p:cNvPr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Freeform 37">
              <a:extLst>
                <a:ext uri="{FF2B5EF4-FFF2-40B4-BE49-F238E27FC236}">
                  <a16:creationId xmlns:a16="http://schemas.microsoft.com/office/drawing/2014/main" id="{16EF7AD7-3BB0-4CDF-AE8B-F45538D55C16}"/>
                </a:ext>
              </a:extLst>
            </p:cNvPr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38">
              <a:extLst>
                <a:ext uri="{FF2B5EF4-FFF2-40B4-BE49-F238E27FC236}">
                  <a16:creationId xmlns:a16="http://schemas.microsoft.com/office/drawing/2014/main" id="{31E8B533-DAFE-4C8D-AB12-933D61BED835}"/>
                </a:ext>
              </a:extLst>
            </p:cNvPr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3" name="Freeform 39">
              <a:extLst>
                <a:ext uri="{FF2B5EF4-FFF2-40B4-BE49-F238E27FC236}">
                  <a16:creationId xmlns:a16="http://schemas.microsoft.com/office/drawing/2014/main" id="{62BE09F6-BC7E-4F20-A8C3-86C669BC1630}"/>
                </a:ext>
              </a:extLst>
            </p:cNvPr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Freeform 40">
              <a:extLst>
                <a:ext uri="{FF2B5EF4-FFF2-40B4-BE49-F238E27FC236}">
                  <a16:creationId xmlns:a16="http://schemas.microsoft.com/office/drawing/2014/main" id="{5C08F5DA-8E4A-4524-B93A-095768414316}"/>
                </a:ext>
              </a:extLst>
            </p:cNvPr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41">
              <a:extLst>
                <a:ext uri="{FF2B5EF4-FFF2-40B4-BE49-F238E27FC236}">
                  <a16:creationId xmlns:a16="http://schemas.microsoft.com/office/drawing/2014/main" id="{06794C8B-E66E-4D6C-B4C9-742A1B79C192}"/>
                </a:ext>
              </a:extLst>
            </p:cNvPr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Freeform 42">
              <a:extLst>
                <a:ext uri="{FF2B5EF4-FFF2-40B4-BE49-F238E27FC236}">
                  <a16:creationId xmlns:a16="http://schemas.microsoft.com/office/drawing/2014/main" id="{6B0E5A2E-6EF6-40FB-AA5A-E31BBA13E42A}"/>
                </a:ext>
              </a:extLst>
            </p:cNvPr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Freeform 43">
              <a:extLst>
                <a:ext uri="{FF2B5EF4-FFF2-40B4-BE49-F238E27FC236}">
                  <a16:creationId xmlns:a16="http://schemas.microsoft.com/office/drawing/2014/main" id="{DE38E57C-6068-43EA-B731-1C5886344181}"/>
                </a:ext>
              </a:extLst>
            </p:cNvPr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Freeform 44">
              <a:extLst>
                <a:ext uri="{FF2B5EF4-FFF2-40B4-BE49-F238E27FC236}">
                  <a16:creationId xmlns:a16="http://schemas.microsoft.com/office/drawing/2014/main" id="{AAEE4074-514A-4DD4-8ED8-81A1933A3651}"/>
                </a:ext>
              </a:extLst>
            </p:cNvPr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45">
              <a:extLst>
                <a:ext uri="{FF2B5EF4-FFF2-40B4-BE49-F238E27FC236}">
                  <a16:creationId xmlns:a16="http://schemas.microsoft.com/office/drawing/2014/main" id="{7F120C29-773E-4A72-AD87-09E9501DD45B}"/>
                </a:ext>
              </a:extLst>
            </p:cNvPr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Freeform 46">
              <a:extLst>
                <a:ext uri="{FF2B5EF4-FFF2-40B4-BE49-F238E27FC236}">
                  <a16:creationId xmlns:a16="http://schemas.microsoft.com/office/drawing/2014/main" id="{A331A1E3-C6B6-46D4-9FB9-85C2C44733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" name="Freeform 47">
              <a:extLst>
                <a:ext uri="{FF2B5EF4-FFF2-40B4-BE49-F238E27FC236}">
                  <a16:creationId xmlns:a16="http://schemas.microsoft.com/office/drawing/2014/main" id="{085E3A64-40D5-4523-A17A-40628072E433}"/>
                </a:ext>
              </a:extLst>
            </p:cNvPr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2" name="Freeform 48">
              <a:extLst>
                <a:ext uri="{FF2B5EF4-FFF2-40B4-BE49-F238E27FC236}">
                  <a16:creationId xmlns:a16="http://schemas.microsoft.com/office/drawing/2014/main" id="{35F60055-8224-48F9-B7BE-94F2EF081C8A}"/>
                </a:ext>
              </a:extLst>
            </p:cNvPr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Freeform 49">
              <a:extLst>
                <a:ext uri="{FF2B5EF4-FFF2-40B4-BE49-F238E27FC236}">
                  <a16:creationId xmlns:a16="http://schemas.microsoft.com/office/drawing/2014/main" id="{BD2CA61C-13F9-4875-B4C7-798FFBC4F54E}"/>
                </a:ext>
              </a:extLst>
            </p:cNvPr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4" name="Freeform 50">
              <a:extLst>
                <a:ext uri="{FF2B5EF4-FFF2-40B4-BE49-F238E27FC236}">
                  <a16:creationId xmlns:a16="http://schemas.microsoft.com/office/drawing/2014/main" id="{DF5D3B2F-75F1-4955-BD5D-3A25341A5559}"/>
                </a:ext>
              </a:extLst>
            </p:cNvPr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5" name="Freeform 51">
              <a:extLst>
                <a:ext uri="{FF2B5EF4-FFF2-40B4-BE49-F238E27FC236}">
                  <a16:creationId xmlns:a16="http://schemas.microsoft.com/office/drawing/2014/main" id="{FD442111-BDFA-48B3-839A-9718B67AB2D9}"/>
                </a:ext>
              </a:extLst>
            </p:cNvPr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52">
              <a:extLst>
                <a:ext uri="{FF2B5EF4-FFF2-40B4-BE49-F238E27FC236}">
                  <a16:creationId xmlns:a16="http://schemas.microsoft.com/office/drawing/2014/main" id="{88BE06FA-79E3-4469-81A5-C12E676418C2}"/>
                </a:ext>
              </a:extLst>
            </p:cNvPr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7" name="Freeform 53">
              <a:extLst>
                <a:ext uri="{FF2B5EF4-FFF2-40B4-BE49-F238E27FC236}">
                  <a16:creationId xmlns:a16="http://schemas.microsoft.com/office/drawing/2014/main" id="{2FEE662B-6895-44C9-8547-E7A002C0A581}"/>
                </a:ext>
              </a:extLst>
            </p:cNvPr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8" name="Freeform 54">
              <a:extLst>
                <a:ext uri="{FF2B5EF4-FFF2-40B4-BE49-F238E27FC236}">
                  <a16:creationId xmlns:a16="http://schemas.microsoft.com/office/drawing/2014/main" id="{E18E2575-113D-42FD-90EB-08E068CD4C3A}"/>
                </a:ext>
              </a:extLst>
            </p:cNvPr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9" name="Freeform 55">
              <a:extLst>
                <a:ext uri="{FF2B5EF4-FFF2-40B4-BE49-F238E27FC236}">
                  <a16:creationId xmlns:a16="http://schemas.microsoft.com/office/drawing/2014/main" id="{E777AE29-7E1F-4CBC-9B82-504EB9B46F36}"/>
                </a:ext>
              </a:extLst>
            </p:cNvPr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56">
              <a:extLst>
                <a:ext uri="{FF2B5EF4-FFF2-40B4-BE49-F238E27FC236}">
                  <a16:creationId xmlns:a16="http://schemas.microsoft.com/office/drawing/2014/main" id="{DC4599FA-7FC4-40E6-8DC2-0BCF56017997}"/>
                </a:ext>
              </a:extLst>
            </p:cNvPr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Freeform 57">
              <a:extLst>
                <a:ext uri="{FF2B5EF4-FFF2-40B4-BE49-F238E27FC236}">
                  <a16:creationId xmlns:a16="http://schemas.microsoft.com/office/drawing/2014/main" id="{39CE7A24-CAF9-4B1E-A712-6F6BEE5D5D87}"/>
                </a:ext>
              </a:extLst>
            </p:cNvPr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Freeform 58">
              <a:extLst>
                <a:ext uri="{FF2B5EF4-FFF2-40B4-BE49-F238E27FC236}">
                  <a16:creationId xmlns:a16="http://schemas.microsoft.com/office/drawing/2014/main" id="{D95A0A80-C3A4-49F8-944B-923ED6FA724B}"/>
                </a:ext>
              </a:extLst>
            </p:cNvPr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Oval 59">
              <a:extLst>
                <a:ext uri="{FF2B5EF4-FFF2-40B4-BE49-F238E27FC236}">
                  <a16:creationId xmlns:a16="http://schemas.microsoft.com/office/drawing/2014/main" id="{EEAF3FEC-3B4A-4FA6-A992-600C1430B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Oval 60">
              <a:extLst>
                <a:ext uri="{FF2B5EF4-FFF2-40B4-BE49-F238E27FC236}">
                  <a16:creationId xmlns:a16="http://schemas.microsoft.com/office/drawing/2014/main" id="{FF00C8A0-DC0E-49EC-BD6B-C82D7C2DC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Freeform 61">
              <a:extLst>
                <a:ext uri="{FF2B5EF4-FFF2-40B4-BE49-F238E27FC236}">
                  <a16:creationId xmlns:a16="http://schemas.microsoft.com/office/drawing/2014/main" id="{2967609C-0B9A-4D9A-9389-2B9487D4BE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Freeform 62">
              <a:extLst>
                <a:ext uri="{FF2B5EF4-FFF2-40B4-BE49-F238E27FC236}">
                  <a16:creationId xmlns:a16="http://schemas.microsoft.com/office/drawing/2014/main" id="{80ED6CCE-4FF8-46C8-A0CF-2531C3A57209}"/>
                </a:ext>
              </a:extLst>
            </p:cNvPr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63">
              <a:extLst>
                <a:ext uri="{FF2B5EF4-FFF2-40B4-BE49-F238E27FC236}">
                  <a16:creationId xmlns:a16="http://schemas.microsoft.com/office/drawing/2014/main" id="{16AF3500-03D8-4731-B7B7-71CD25D7AF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Freeform 64">
              <a:extLst>
                <a:ext uri="{FF2B5EF4-FFF2-40B4-BE49-F238E27FC236}">
                  <a16:creationId xmlns:a16="http://schemas.microsoft.com/office/drawing/2014/main" id="{217650F1-2D83-4456-9AE8-86A80F4A31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Freeform 65">
              <a:extLst>
                <a:ext uri="{FF2B5EF4-FFF2-40B4-BE49-F238E27FC236}">
                  <a16:creationId xmlns:a16="http://schemas.microsoft.com/office/drawing/2014/main" id="{35210B5E-9977-4E17-A162-8E1853F808BB}"/>
                </a:ext>
              </a:extLst>
            </p:cNvPr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Freeform 66">
              <a:extLst>
                <a:ext uri="{FF2B5EF4-FFF2-40B4-BE49-F238E27FC236}">
                  <a16:creationId xmlns:a16="http://schemas.microsoft.com/office/drawing/2014/main" id="{574A6EFA-29C2-40FC-BBEC-CD2EA7C07CE9}"/>
                </a:ext>
              </a:extLst>
            </p:cNvPr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67">
              <a:extLst>
                <a:ext uri="{FF2B5EF4-FFF2-40B4-BE49-F238E27FC236}">
                  <a16:creationId xmlns:a16="http://schemas.microsoft.com/office/drawing/2014/main" id="{A76924F5-F5F2-400E-B729-5BBCB2D3F998}"/>
                </a:ext>
              </a:extLst>
            </p:cNvPr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Freeform 68">
              <a:extLst>
                <a:ext uri="{FF2B5EF4-FFF2-40B4-BE49-F238E27FC236}">
                  <a16:creationId xmlns:a16="http://schemas.microsoft.com/office/drawing/2014/main" id="{1952B8A5-F870-4161-B471-C5FCCE0FF0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Freeform 69">
              <a:extLst>
                <a:ext uri="{FF2B5EF4-FFF2-40B4-BE49-F238E27FC236}">
                  <a16:creationId xmlns:a16="http://schemas.microsoft.com/office/drawing/2014/main" id="{0CE1CC2E-4392-4ECC-B0ED-42A37024067B}"/>
                </a:ext>
              </a:extLst>
            </p:cNvPr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Freeform 70">
              <a:extLst>
                <a:ext uri="{FF2B5EF4-FFF2-40B4-BE49-F238E27FC236}">
                  <a16:creationId xmlns:a16="http://schemas.microsoft.com/office/drawing/2014/main" id="{763779EA-23C5-42A6-B66D-83CD025FDFF8}"/>
                </a:ext>
              </a:extLst>
            </p:cNvPr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A1CEB7FE-E1F2-44E7-A385-FBF21265B8D1}"/>
              </a:ext>
            </a:extLst>
          </p:cNvPr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rgbClr val="79D6F3"/>
          </a:solidFill>
        </p:grpSpPr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E08A9F19-A0F4-43B3-8EEC-28EBDF0572D8}"/>
                </a:ext>
              </a:extLst>
            </p:cNvPr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82AAF370-AF54-4821-A98A-70BFAC0BE87F}"/>
                </a:ext>
              </a:extLst>
            </p:cNvPr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8AE45794-A000-4C96-B3C3-E98E3830898B}"/>
                </a:ext>
              </a:extLst>
            </p:cNvPr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D993A33F-E1F0-4B8C-A181-37ED004994BE}"/>
                </a:ext>
              </a:extLst>
            </p:cNvPr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F689E36C-2552-4EEF-AE31-50868100E2B5}"/>
                </a:ext>
              </a:extLst>
            </p:cNvPr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5294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6" t="88" r="64" b="12548"/>
          <a:stretch>
            <a:fillRect/>
          </a:stretch>
        </p:blipFill>
        <p:spPr>
          <a:xfrm>
            <a:off x="482" y="38100"/>
            <a:ext cx="12191999" cy="8267612"/>
          </a:xfrm>
          <a:prstGeom prst="rect">
            <a:avLst/>
          </a:prstGeom>
        </p:spPr>
      </p:pic>
      <p:sp>
        <p:nvSpPr>
          <p:cNvPr id="76" name="任意多边形: 形状 75"/>
          <p:cNvSpPr/>
          <p:nvPr/>
        </p:nvSpPr>
        <p:spPr>
          <a:xfrm rot="20940000">
            <a:off x="-230645" y="-1192196"/>
            <a:ext cx="12770482" cy="3627778"/>
          </a:xfrm>
          <a:custGeom>
            <a:avLst/>
            <a:gdLst>
              <a:gd name="connsiteX0" fmla="*/ 12770482 w 12770482"/>
              <a:gd name="connsiteY0" fmla="*/ 3571764 h 3627778"/>
              <a:gd name="connsiteX1" fmla="*/ 12770482 w 12770482"/>
              <a:gd name="connsiteY1" fmla="*/ 3627778 h 3627778"/>
              <a:gd name="connsiteX2" fmla="*/ 12759594 w 12770482"/>
              <a:gd name="connsiteY2" fmla="*/ 3627778 h 3627778"/>
              <a:gd name="connsiteX3" fmla="*/ 456753 w 12770482"/>
              <a:gd name="connsiteY3" fmla="*/ 0 h 3627778"/>
              <a:gd name="connsiteX4" fmla="*/ 12424752 w 12770482"/>
              <a:gd name="connsiteY4" fmla="*/ 2326343 h 3627778"/>
              <a:gd name="connsiteX5" fmla="*/ 12171778 w 12770482"/>
              <a:gd name="connsiteY5" fmla="*/ 3627778 h 3627778"/>
              <a:gd name="connsiteX6" fmla="*/ 1031105 w 12770482"/>
              <a:gd name="connsiteY6" fmla="*/ 3627778 h 3627778"/>
              <a:gd name="connsiteX7" fmla="*/ 0 w 12770482"/>
              <a:gd name="connsiteY7" fmla="*/ 2349789 h 3627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770482" h="3627778">
                <a:moveTo>
                  <a:pt x="12770482" y="3571764"/>
                </a:moveTo>
                <a:lnTo>
                  <a:pt x="12770482" y="3627778"/>
                </a:lnTo>
                <a:lnTo>
                  <a:pt x="12759594" y="3627778"/>
                </a:lnTo>
                <a:close/>
                <a:moveTo>
                  <a:pt x="456753" y="0"/>
                </a:moveTo>
                <a:lnTo>
                  <a:pt x="12424752" y="2326343"/>
                </a:lnTo>
                <a:lnTo>
                  <a:pt x="12171778" y="3627778"/>
                </a:lnTo>
                <a:lnTo>
                  <a:pt x="1031105" y="3627778"/>
                </a:lnTo>
                <a:lnTo>
                  <a:pt x="0" y="2349789"/>
                </a:lnTo>
                <a:close/>
              </a:path>
            </a:pathLst>
          </a:custGeom>
          <a:solidFill>
            <a:srgbClr val="E2F4FA">
              <a:alpha val="7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7" name="任意多边形: 形状 36"/>
          <p:cNvSpPr/>
          <p:nvPr/>
        </p:nvSpPr>
        <p:spPr>
          <a:xfrm rot="600000">
            <a:off x="46696" y="2800202"/>
            <a:ext cx="821674" cy="797295"/>
          </a:xfrm>
          <a:custGeom>
            <a:avLst/>
            <a:gdLst>
              <a:gd name="connsiteX0" fmla="*/ 293485 w 821674"/>
              <a:gd name="connsiteY0" fmla="*/ 0 h 797295"/>
              <a:gd name="connsiteX1" fmla="*/ 821674 w 821674"/>
              <a:gd name="connsiteY1" fmla="*/ 797295 h 797295"/>
              <a:gd name="connsiteX2" fmla="*/ 62470 w 821674"/>
              <a:gd name="connsiteY2" fmla="*/ 797295 h 797295"/>
              <a:gd name="connsiteX3" fmla="*/ 0 w 821674"/>
              <a:gd name="connsiteY3" fmla="*/ 443012 h 797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1674" h="797295">
                <a:moveTo>
                  <a:pt x="293485" y="0"/>
                </a:moveTo>
                <a:lnTo>
                  <a:pt x="821674" y="797295"/>
                </a:lnTo>
                <a:lnTo>
                  <a:pt x="62470" y="797295"/>
                </a:lnTo>
                <a:lnTo>
                  <a:pt x="0" y="443012"/>
                </a:lnTo>
                <a:close/>
              </a:path>
            </a:pathLst>
          </a:custGeom>
          <a:solidFill>
            <a:srgbClr val="E2F4F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just"/>
            <a:endParaRPr lang="zh-CN" altLang="en-US" u="sng" dirty="0"/>
          </a:p>
        </p:txBody>
      </p:sp>
      <p:sp>
        <p:nvSpPr>
          <p:cNvPr id="43" name="任意多边形: 形状 42"/>
          <p:cNvSpPr/>
          <p:nvPr/>
        </p:nvSpPr>
        <p:spPr>
          <a:xfrm rot="10141441">
            <a:off x="-107012" y="2843366"/>
            <a:ext cx="12466655" cy="244769"/>
          </a:xfrm>
          <a:custGeom>
            <a:avLst/>
            <a:gdLst>
              <a:gd name="connsiteX0" fmla="*/ 9485248 w 12466655"/>
              <a:gd name="connsiteY0" fmla="*/ 244769 h 244769"/>
              <a:gd name="connsiteX1" fmla="*/ 9424055 w 12466655"/>
              <a:gd name="connsiteY1" fmla="*/ 0 h 244769"/>
              <a:gd name="connsiteX2" fmla="*/ 12466655 w 12466655"/>
              <a:gd name="connsiteY2" fmla="*/ 0 h 244769"/>
              <a:gd name="connsiteX3" fmla="*/ 12419183 w 12466655"/>
              <a:gd name="connsiteY3" fmla="*/ 244769 h 244769"/>
              <a:gd name="connsiteX4" fmla="*/ 0 w 12466655"/>
              <a:gd name="connsiteY4" fmla="*/ 244769 h 244769"/>
              <a:gd name="connsiteX5" fmla="*/ 47472 w 12466655"/>
              <a:gd name="connsiteY5" fmla="*/ 0 h 244769"/>
              <a:gd name="connsiteX6" fmla="*/ 8762326 w 12466655"/>
              <a:gd name="connsiteY6" fmla="*/ 0 h 244769"/>
              <a:gd name="connsiteX7" fmla="*/ 8823518 w 12466655"/>
              <a:gd name="connsiteY7" fmla="*/ 244769 h 244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66655" h="244769">
                <a:moveTo>
                  <a:pt x="9485248" y="244769"/>
                </a:moveTo>
                <a:lnTo>
                  <a:pt x="9424055" y="0"/>
                </a:lnTo>
                <a:lnTo>
                  <a:pt x="12466655" y="0"/>
                </a:lnTo>
                <a:lnTo>
                  <a:pt x="12419183" y="244769"/>
                </a:lnTo>
                <a:close/>
                <a:moveTo>
                  <a:pt x="0" y="244769"/>
                </a:moveTo>
                <a:lnTo>
                  <a:pt x="47472" y="0"/>
                </a:lnTo>
                <a:lnTo>
                  <a:pt x="8762326" y="0"/>
                </a:lnTo>
                <a:lnTo>
                  <a:pt x="8823518" y="244769"/>
                </a:lnTo>
                <a:close/>
              </a:path>
            </a:pathLst>
          </a:custGeom>
          <a:solidFill>
            <a:srgbClr val="E2F4FA">
              <a:alpha val="7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51" name="直接连接符 50"/>
          <p:cNvCxnSpPr/>
          <p:nvPr/>
        </p:nvCxnSpPr>
        <p:spPr>
          <a:xfrm flipV="1">
            <a:off x="6096000" y="5919133"/>
            <a:ext cx="6224454" cy="955312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V="1">
            <a:off x="6819900" y="6062052"/>
            <a:ext cx="5380251" cy="825746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81900" y="6162507"/>
            <a:ext cx="4720884" cy="724548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V="1">
            <a:off x="8067675" y="6243073"/>
            <a:ext cx="4295954" cy="659331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V="1">
            <a:off x="9016734" y="6374495"/>
            <a:ext cx="3373781" cy="517798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9686925" y="6473754"/>
            <a:ext cx="2660415" cy="408313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10325100" y="6594881"/>
            <a:ext cx="2007411" cy="308090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11239500" y="6716292"/>
            <a:ext cx="1063284" cy="163189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11677650" y="6804013"/>
            <a:ext cx="756042" cy="116034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9814110" y="169889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18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5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7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8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9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0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1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2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3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98" name="标题 3073"/>
          <p:cNvSpPr txBox="1"/>
          <p:nvPr/>
        </p:nvSpPr>
        <p:spPr>
          <a:xfrm>
            <a:off x="2893993" y="2646242"/>
            <a:ext cx="6404014" cy="1478112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54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FE997FDA-D907-4803-861F-B12EFB4700F5}"/>
              </a:ext>
            </a:extLst>
          </p:cNvPr>
          <p:cNvSpPr txBox="1"/>
          <p:nvPr/>
        </p:nvSpPr>
        <p:spPr>
          <a:xfrm>
            <a:off x="2820840" y="2598684"/>
            <a:ext cx="64192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分治法求最邻近点对</a:t>
            </a:r>
            <a:r>
              <a:rPr lang="en-US" altLang="zh-CN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</a:t>
            </a:r>
          </a:p>
          <a:p>
            <a:r>
              <a:rPr lang="en-US" altLang="zh-CN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</a:t>
            </a:r>
            <a:r>
              <a:rPr lang="en-US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--</a:t>
            </a:r>
            <a:r>
              <a:rPr lang="zh-CN" altLang="en-US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王培鸿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342739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15F58B3-A279-459F-B091-3CE7F37A7A9F}"/>
              </a:ext>
            </a:extLst>
          </p:cNvPr>
          <p:cNvSpPr txBox="1"/>
          <p:nvPr/>
        </p:nvSpPr>
        <p:spPr>
          <a:xfrm>
            <a:off x="1143000" y="24527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36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暴力法求解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B53405-D730-4A6A-9B12-0F706A5E8418}"/>
              </a:ext>
            </a:extLst>
          </p:cNvPr>
          <p:cNvSpPr txBox="1"/>
          <p:nvPr/>
        </p:nvSpPr>
        <p:spPr>
          <a:xfrm>
            <a:off x="2390774" y="1120200"/>
            <a:ext cx="648652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算法原理：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暴力求解即每两个点之间计算距离，逐步遍历完所有不同的点对，迭代求取出最小的距离。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D32C62C-3CCB-42C6-97E5-E1E6605EC39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4" y="2373601"/>
            <a:ext cx="4733925" cy="24612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7874068-F754-4B66-9342-A6960256B69C}"/>
                  </a:ext>
                </a:extLst>
              </p:cNvPr>
              <p:cNvSpPr txBox="1"/>
              <p:nvPr/>
            </p:nvSpPr>
            <p:spPr>
              <a:xfrm>
                <a:off x="419100" y="4989450"/>
                <a:ext cx="5553075" cy="14494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分析：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每两个不同的点组成一个点对，形成一条边，即等价于一个</a:t>
                </a: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n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阶无向完全图。根据排列组合原理，该图的边数为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，暴力法的时间复杂度仅与求解边数成正比，故该算法的时间复杂度为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en-US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7874068-F754-4B66-9342-A6960256B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" y="4989450"/>
                <a:ext cx="5553075" cy="1449450"/>
              </a:xfrm>
              <a:prstGeom prst="rect">
                <a:avLst/>
              </a:prstGeom>
              <a:blipFill>
                <a:blip r:embed="rId3"/>
                <a:stretch>
                  <a:fillRect l="-1756" t="-3361" r="-3074" b="-2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4758F29B-4123-4A6F-B9B8-AA099806E1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174" y="2289751"/>
            <a:ext cx="5048250" cy="378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111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36D6F83-E5FF-4A78-8EDB-A057235136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939992"/>
              </p:ext>
            </p:extLst>
          </p:nvPr>
        </p:nvGraphicFramePr>
        <p:xfrm>
          <a:off x="367665" y="2605643"/>
          <a:ext cx="4528185" cy="12801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87057">
                  <a:extLst>
                    <a:ext uri="{9D8B030D-6E8A-4147-A177-3AD203B41FA5}">
                      <a16:colId xmlns:a16="http://schemas.microsoft.com/office/drawing/2014/main" val="2941279693"/>
                    </a:ext>
                  </a:extLst>
                </a:gridCol>
                <a:gridCol w="718242">
                  <a:extLst>
                    <a:ext uri="{9D8B030D-6E8A-4147-A177-3AD203B41FA5}">
                      <a16:colId xmlns:a16="http://schemas.microsoft.com/office/drawing/2014/main" val="795779082"/>
                    </a:ext>
                  </a:extLst>
                </a:gridCol>
                <a:gridCol w="718242">
                  <a:extLst>
                    <a:ext uri="{9D8B030D-6E8A-4147-A177-3AD203B41FA5}">
                      <a16:colId xmlns:a16="http://schemas.microsoft.com/office/drawing/2014/main" val="1589310280"/>
                    </a:ext>
                  </a:extLst>
                </a:gridCol>
                <a:gridCol w="718242">
                  <a:extLst>
                    <a:ext uri="{9D8B030D-6E8A-4147-A177-3AD203B41FA5}">
                      <a16:colId xmlns:a16="http://schemas.microsoft.com/office/drawing/2014/main" val="944693149"/>
                    </a:ext>
                  </a:extLst>
                </a:gridCol>
                <a:gridCol w="793201">
                  <a:extLst>
                    <a:ext uri="{9D8B030D-6E8A-4147-A177-3AD203B41FA5}">
                      <a16:colId xmlns:a16="http://schemas.microsoft.com/office/drawing/2014/main" val="1526019075"/>
                    </a:ext>
                  </a:extLst>
                </a:gridCol>
                <a:gridCol w="793201">
                  <a:extLst>
                    <a:ext uri="{9D8B030D-6E8A-4147-A177-3AD203B41FA5}">
                      <a16:colId xmlns:a16="http://schemas.microsoft.com/office/drawing/2014/main" val="1812215513"/>
                    </a:ext>
                  </a:extLst>
                </a:gridCol>
              </a:tblGrid>
              <a:tr h="211125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0">
                          <a:effectLst/>
                        </a:rPr>
                        <a:t>规模</a:t>
                      </a:r>
                      <a:r>
                        <a:rPr lang="en-US" sz="1400" b="1" kern="0">
                          <a:effectLst/>
                        </a:rPr>
                        <a:t>n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effectLst/>
                        </a:rPr>
                        <a:t>10w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effectLst/>
                        </a:rPr>
                        <a:t>20w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effectLst/>
                        </a:rPr>
                        <a:t>30w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 dirty="0">
                          <a:effectLst/>
                        </a:rPr>
                        <a:t>40w</a:t>
                      </a:r>
                      <a:endParaRPr lang="zh-CN" sz="12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effectLst/>
                        </a:rPr>
                        <a:t>50w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877869141"/>
                  </a:ext>
                </a:extLst>
              </a:tr>
              <a:tr h="403892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0">
                          <a:effectLst/>
                        </a:rPr>
                        <a:t>时间</a:t>
                      </a:r>
                      <a:r>
                        <a:rPr lang="en-US" sz="1400" b="1" kern="0">
                          <a:effectLst/>
                        </a:rPr>
                        <a:t>(ms)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63444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253704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569975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1021387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1627905 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74060482"/>
                  </a:ext>
                </a:extLst>
              </a:tr>
              <a:tr h="211125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0" dirty="0">
                          <a:effectLst/>
                        </a:rPr>
                        <a:t>规模</a:t>
                      </a:r>
                      <a:r>
                        <a:rPr lang="en-US" sz="1400" b="1" kern="0" dirty="0">
                          <a:effectLst/>
                        </a:rPr>
                        <a:t>n</a:t>
                      </a:r>
                      <a:endParaRPr lang="zh-CN" sz="12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 dirty="0">
                          <a:solidFill>
                            <a:schemeClr val="bg1"/>
                          </a:solidFill>
                          <a:effectLst/>
                        </a:rPr>
                        <a:t>60w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 dirty="0">
                          <a:solidFill>
                            <a:schemeClr val="bg1"/>
                          </a:solidFill>
                          <a:effectLst/>
                        </a:rPr>
                        <a:t>70w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 dirty="0">
                          <a:solidFill>
                            <a:schemeClr val="bg1"/>
                          </a:solidFill>
                          <a:effectLst/>
                        </a:rPr>
                        <a:t>80w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 dirty="0">
                          <a:solidFill>
                            <a:schemeClr val="bg1"/>
                          </a:solidFill>
                          <a:effectLst/>
                        </a:rPr>
                        <a:t>90w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 dirty="0">
                          <a:solidFill>
                            <a:schemeClr val="bg1"/>
                          </a:solidFill>
                          <a:effectLst/>
                        </a:rPr>
                        <a:t>100w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22019"/>
                  </a:ext>
                </a:extLst>
              </a:tr>
              <a:tr h="403892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0">
                          <a:effectLst/>
                        </a:rPr>
                        <a:t>时间</a:t>
                      </a:r>
                      <a:r>
                        <a:rPr lang="en-US" sz="1400" b="1" kern="0">
                          <a:effectLst/>
                        </a:rPr>
                        <a:t>(ms)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2249546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3062027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3999784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5057500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6367259 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3723556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975230F-AF8E-4342-82BC-C76DDE1A3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73496"/>
              </p:ext>
            </p:extLst>
          </p:nvPr>
        </p:nvGraphicFramePr>
        <p:xfrm>
          <a:off x="367665" y="4434623"/>
          <a:ext cx="4528186" cy="12801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87057">
                  <a:extLst>
                    <a:ext uri="{9D8B030D-6E8A-4147-A177-3AD203B41FA5}">
                      <a16:colId xmlns:a16="http://schemas.microsoft.com/office/drawing/2014/main" val="432209594"/>
                    </a:ext>
                  </a:extLst>
                </a:gridCol>
                <a:gridCol w="718243">
                  <a:extLst>
                    <a:ext uri="{9D8B030D-6E8A-4147-A177-3AD203B41FA5}">
                      <a16:colId xmlns:a16="http://schemas.microsoft.com/office/drawing/2014/main" val="726340539"/>
                    </a:ext>
                  </a:extLst>
                </a:gridCol>
                <a:gridCol w="718243">
                  <a:extLst>
                    <a:ext uri="{9D8B030D-6E8A-4147-A177-3AD203B41FA5}">
                      <a16:colId xmlns:a16="http://schemas.microsoft.com/office/drawing/2014/main" val="326654965"/>
                    </a:ext>
                  </a:extLst>
                </a:gridCol>
                <a:gridCol w="718243">
                  <a:extLst>
                    <a:ext uri="{9D8B030D-6E8A-4147-A177-3AD203B41FA5}">
                      <a16:colId xmlns:a16="http://schemas.microsoft.com/office/drawing/2014/main" val="2506421774"/>
                    </a:ext>
                  </a:extLst>
                </a:gridCol>
                <a:gridCol w="793200">
                  <a:extLst>
                    <a:ext uri="{9D8B030D-6E8A-4147-A177-3AD203B41FA5}">
                      <a16:colId xmlns:a16="http://schemas.microsoft.com/office/drawing/2014/main" val="382537788"/>
                    </a:ext>
                  </a:extLst>
                </a:gridCol>
                <a:gridCol w="793200">
                  <a:extLst>
                    <a:ext uri="{9D8B030D-6E8A-4147-A177-3AD203B41FA5}">
                      <a16:colId xmlns:a16="http://schemas.microsoft.com/office/drawing/2014/main" val="140568223"/>
                    </a:ext>
                  </a:extLst>
                </a:gridCol>
              </a:tblGrid>
              <a:tr h="211309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0">
                          <a:effectLst/>
                        </a:rPr>
                        <a:t>规模</a:t>
                      </a:r>
                      <a:r>
                        <a:rPr lang="en-US" sz="1400" b="1" kern="0">
                          <a:effectLst/>
                        </a:rPr>
                        <a:t>n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effectLst/>
                        </a:rPr>
                        <a:t>10w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effectLst/>
                        </a:rPr>
                        <a:t>20w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effectLst/>
                        </a:rPr>
                        <a:t>30w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effectLst/>
                        </a:rPr>
                        <a:t>40w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effectLst/>
                        </a:rPr>
                        <a:t>50w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779169525"/>
                  </a:ext>
                </a:extLst>
              </a:tr>
              <a:tr h="404243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0">
                          <a:effectLst/>
                        </a:rPr>
                        <a:t>时间</a:t>
                      </a:r>
                      <a:r>
                        <a:rPr lang="en-US" sz="1400" b="1" kern="0">
                          <a:effectLst/>
                        </a:rPr>
                        <a:t>(ms)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63444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253775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570994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1015101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1586095 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3495425"/>
                  </a:ext>
                </a:extLst>
              </a:tr>
              <a:tr h="211309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0">
                          <a:effectLst/>
                        </a:rPr>
                        <a:t>规模</a:t>
                      </a:r>
                      <a:r>
                        <a:rPr lang="en-US" sz="1400" b="1" kern="0">
                          <a:effectLst/>
                        </a:rPr>
                        <a:t>n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solidFill>
                            <a:schemeClr val="bg1"/>
                          </a:solidFill>
                          <a:effectLst/>
                        </a:rPr>
                        <a:t>60w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solidFill>
                            <a:schemeClr val="bg1"/>
                          </a:solidFill>
                          <a:effectLst/>
                        </a:rPr>
                        <a:t>70w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solidFill>
                            <a:schemeClr val="bg1"/>
                          </a:solidFill>
                          <a:effectLst/>
                        </a:rPr>
                        <a:t>80w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solidFill>
                            <a:schemeClr val="bg1"/>
                          </a:solidFill>
                          <a:effectLst/>
                        </a:rPr>
                        <a:t>90w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 dirty="0">
                          <a:solidFill>
                            <a:schemeClr val="bg1"/>
                          </a:solidFill>
                          <a:effectLst/>
                        </a:rPr>
                        <a:t>100w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067085"/>
                  </a:ext>
                </a:extLst>
              </a:tr>
              <a:tr h="404243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0">
                          <a:effectLst/>
                        </a:rPr>
                        <a:t>时间</a:t>
                      </a:r>
                      <a:r>
                        <a:rPr lang="en-US" sz="1400" b="1" kern="0">
                          <a:effectLst/>
                        </a:rPr>
                        <a:t>(ms)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2283977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3108746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4060403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5138948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6344380 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20789853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31FCE00B-A8D5-42BA-A3E2-A91138EEC7C7}"/>
              </a:ext>
            </a:extLst>
          </p:cNvPr>
          <p:cNvSpPr txBox="1"/>
          <p:nvPr/>
        </p:nvSpPr>
        <p:spPr>
          <a:xfrm>
            <a:off x="2624138" y="1143217"/>
            <a:ext cx="69437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生成</a:t>
            </a:r>
            <a:r>
              <a:rPr lang="zh-CN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数据范围为</a:t>
            </a:r>
            <a:r>
              <a:rPr lang="en-US" altLang="zh-CN" sz="1600" kern="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宋体" panose="02010600030101010101" pitchFamily="2" charset="-122"/>
                <a:cs typeface="新宋体" panose="02010609030101010101" pitchFamily="49" charset="-122"/>
              </a:rPr>
              <a:t>(-50000000, 50000000)</a:t>
            </a:r>
            <a:r>
              <a:rPr lang="zh-CN" altLang="zh-CN" sz="16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新宋体" panose="02010609030101010101" pitchFamily="49" charset="-122"/>
                <a:cs typeface="新宋体" panose="02010609030101010101" pitchFamily="49" charset="-122"/>
              </a:rPr>
              <a:t>的</a:t>
            </a:r>
            <a:r>
              <a:rPr lang="en-US" altLang="zh-CN" sz="16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新宋体" panose="02010609030101010101" pitchFamily="49" charset="-122"/>
                <a:cs typeface="新宋体" panose="02010609030101010101" pitchFamily="49" charset="-122"/>
              </a:rPr>
              <a:t>double</a:t>
            </a:r>
            <a:r>
              <a:rPr lang="zh-CN" altLang="zh-CN" sz="16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新宋体" panose="02010609030101010101" pitchFamily="49" charset="-122"/>
                <a:cs typeface="新宋体" panose="02010609030101010101" pitchFamily="49" charset="-122"/>
              </a:rPr>
              <a:t>双精度浮点型随机数点对，并通过手动验证没有重复点对。在数据规模为</a:t>
            </a:r>
            <a:r>
              <a:rPr lang="en-US" altLang="zh-CN" sz="16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新宋体" panose="02010609030101010101" pitchFamily="49" charset="-122"/>
                <a:cs typeface="新宋体" panose="02010609030101010101" pitchFamily="49" charset="-122"/>
              </a:rPr>
              <a:t>10w</a:t>
            </a:r>
            <a:r>
              <a:rPr lang="en-US" altLang="zh-CN" sz="1600" kern="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  <a:cs typeface="新宋体" panose="02010609030101010101" pitchFamily="49" charset="-122"/>
              </a:rPr>
              <a:t>—</a:t>
            </a:r>
            <a:r>
              <a:rPr lang="en-US" altLang="zh-CN" sz="1600" kern="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宋体" panose="02010600030101010101" pitchFamily="2" charset="-122"/>
                <a:cs typeface="新宋体" panose="02010609030101010101" pitchFamily="49" charset="-122"/>
              </a:rPr>
              <a:t>100w</a:t>
            </a:r>
            <a:r>
              <a:rPr lang="zh-CN" altLang="zh-CN" sz="16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新宋体" panose="02010609030101010101" pitchFamily="49" charset="-122"/>
                <a:cs typeface="新宋体" panose="02010609030101010101" pitchFamily="49" charset="-122"/>
              </a:rPr>
              <a:t>中每隔</a:t>
            </a:r>
            <a:r>
              <a:rPr lang="en-US" altLang="zh-CN" sz="16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新宋体" panose="02010609030101010101" pitchFamily="49" charset="-122"/>
                <a:cs typeface="新宋体" panose="02010609030101010101" pitchFamily="49" charset="-122"/>
              </a:rPr>
              <a:t>10w</a:t>
            </a:r>
            <a:r>
              <a:rPr lang="zh-CN" altLang="zh-CN" sz="16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新宋体" panose="02010609030101010101" pitchFamily="49" charset="-122"/>
                <a:cs typeface="新宋体" panose="02010609030101010101" pitchFamily="49" charset="-122"/>
              </a:rPr>
              <a:t>生成</a:t>
            </a:r>
            <a:r>
              <a:rPr lang="en-US" altLang="zh-CN" sz="16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新宋体" panose="02010609030101010101" pitchFamily="49" charset="-122"/>
                <a:cs typeface="新宋体" panose="02010609030101010101" pitchFamily="49" charset="-122"/>
              </a:rPr>
              <a:t>20</a:t>
            </a:r>
            <a:r>
              <a:rPr lang="zh-CN" altLang="zh-CN" sz="16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新宋体" panose="02010609030101010101" pitchFamily="49" charset="-122"/>
                <a:cs typeface="新宋体" panose="02010609030101010101" pitchFamily="49" charset="-122"/>
              </a:rPr>
              <a:t>个数据样本进行实验。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B4C22F4-1440-4575-93FB-FD092274C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798" y="2440380"/>
            <a:ext cx="5981737" cy="328136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04D33D2-5ECE-449E-BAD5-8C76B310F770}"/>
              </a:ext>
            </a:extLst>
          </p:cNvPr>
          <p:cNvSpPr txBox="1"/>
          <p:nvPr/>
        </p:nvSpPr>
        <p:spPr>
          <a:xfrm>
            <a:off x="977265" y="226948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暴力法在不同规模下实际时间效率表</a:t>
            </a:r>
            <a:endParaRPr lang="zh-CN" altLang="en-US" sz="1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4F9FF24-1039-4250-B2FC-3DEEA8AD282C}"/>
              </a:ext>
            </a:extLst>
          </p:cNvPr>
          <p:cNvSpPr txBox="1"/>
          <p:nvPr/>
        </p:nvSpPr>
        <p:spPr>
          <a:xfrm>
            <a:off x="977265" y="406605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暴力法在不同规模下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理论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时间效率表</a:t>
            </a:r>
            <a:endParaRPr lang="zh-CN" altLang="en-US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2A0C17-FBE3-4E33-9C92-6896DD6DF3C6}"/>
              </a:ext>
            </a:extLst>
          </p:cNvPr>
          <p:cNvSpPr txBox="1"/>
          <p:nvPr/>
        </p:nvSpPr>
        <p:spPr>
          <a:xfrm>
            <a:off x="1143000" y="24527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36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暴力法求解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8909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1759537-CC00-4473-88A3-D0874E605A8E}"/>
              </a:ext>
            </a:extLst>
          </p:cNvPr>
          <p:cNvSpPr txBox="1"/>
          <p:nvPr/>
        </p:nvSpPr>
        <p:spPr>
          <a:xfrm>
            <a:off x="1160207" y="26714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分治法</a:t>
            </a:r>
            <a:endParaRPr lang="zh-CN" altLang="en-US" sz="3200" dirty="0"/>
          </a:p>
        </p:txBody>
      </p:sp>
      <p:pic>
        <p:nvPicPr>
          <p:cNvPr id="2051" name="图片 3">
            <a:extLst>
              <a:ext uri="{FF2B5EF4-FFF2-40B4-BE49-F238E27FC236}">
                <a16:creationId xmlns:a16="http://schemas.microsoft.com/office/drawing/2014/main" id="{34C6C33F-26A1-49ED-9FD8-1DF3BC07B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198" y="2258211"/>
            <a:ext cx="2041525" cy="2017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图片 4">
            <a:extLst>
              <a:ext uri="{FF2B5EF4-FFF2-40B4-BE49-F238E27FC236}">
                <a16:creationId xmlns:a16="http://schemas.microsoft.com/office/drawing/2014/main" id="{E680DC79-1C39-48B4-AFAC-884F43CF9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562" y="2109619"/>
            <a:ext cx="2182761" cy="2244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图片 31">
            <a:extLst>
              <a:ext uri="{FF2B5EF4-FFF2-40B4-BE49-F238E27FC236}">
                <a16:creationId xmlns:a16="http://schemas.microsoft.com/office/drawing/2014/main" id="{3E3E236A-B7CD-4B52-8136-2247697E1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177" y="2253782"/>
            <a:ext cx="3912025" cy="2056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AD1ED252-7C7C-4224-8089-4678199BC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323" y="1327437"/>
            <a:ext cx="96712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2001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预处理：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对输入点集按照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轴坐标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排序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，选取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轴坐标中位数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mid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对点集做直线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x=mid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进行左右平分。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F015980-3309-415A-9834-9FE2C237F1B1}"/>
              </a:ext>
            </a:extLst>
          </p:cNvPr>
          <p:cNvSpPr txBox="1"/>
          <p:nvPr/>
        </p:nvSpPr>
        <p:spPr>
          <a:xfrm>
            <a:off x="-704850" y="454180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12001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n==1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，返回距离为无穷大；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03D5DA3-BBE1-48DB-B889-C74AC875B42C}"/>
              </a:ext>
            </a:extLst>
          </p:cNvPr>
          <p:cNvSpPr txBox="1"/>
          <p:nvPr/>
        </p:nvSpPr>
        <p:spPr>
          <a:xfrm>
            <a:off x="3183501" y="4538524"/>
            <a:ext cx="64942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n==2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，直接计算两点的距离；</a:t>
            </a:r>
            <a:endParaRPr kumimoji="0" lang="zh-CN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56B4A33-E22D-4356-9890-6407735907F3}"/>
              </a:ext>
            </a:extLst>
          </p:cNvPr>
          <p:cNvSpPr txBox="1"/>
          <p:nvPr/>
        </p:nvSpPr>
        <p:spPr>
          <a:xfrm>
            <a:off x="267323" y="1740287"/>
            <a:ext cx="66515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根据划分的点集的点数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计算点对的距离：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EC89A36-06BA-4F23-B93A-699D26E76F11}"/>
              </a:ext>
            </a:extLst>
          </p:cNvPr>
          <p:cNvSpPr txBox="1"/>
          <p:nvPr/>
        </p:nvSpPr>
        <p:spPr>
          <a:xfrm>
            <a:off x="0" y="917543"/>
            <a:ext cx="66532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2682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分治法的具体步骤如下：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500D84D-C114-4215-8B78-1618C5F1343E}"/>
              </a:ext>
            </a:extLst>
          </p:cNvPr>
          <p:cNvSpPr txBox="1"/>
          <p:nvPr/>
        </p:nvSpPr>
        <p:spPr>
          <a:xfrm>
            <a:off x="7010323" y="4455884"/>
            <a:ext cx="4538355" cy="842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666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n&gt;2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，将规模为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的问题分解为两个规模为</a:t>
            </a:r>
            <a:r>
              <a:rPr kumimoji="0" lang="en-US" altLang="zh-CN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n/2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的子问题（左右子集），重复划分步骤，直到得到两个子问题的最小距离的解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dl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dr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0" lang="zh-CN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189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BE1D1743-D238-4177-8BA9-808592BCDBD9}"/>
              </a:ext>
            </a:extLst>
          </p:cNvPr>
          <p:cNvSpPr txBox="1"/>
          <p:nvPr/>
        </p:nvSpPr>
        <p:spPr>
          <a:xfrm>
            <a:off x="314632" y="86970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Font typeface="Wingdings" panose="05000000000000000000" pitchFamily="2" charset="2"/>
              <a:buChar char="u"/>
            </a:pP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合并：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337C169-069B-44FD-9C75-DAADFDF73A30}"/>
              </a:ext>
            </a:extLst>
          </p:cNvPr>
          <p:cNvSpPr txBox="1"/>
          <p:nvPr/>
        </p:nvSpPr>
        <p:spPr>
          <a:xfrm>
            <a:off x="314632" y="1335039"/>
            <a:ext cx="49849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"/>
            </a:pP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排序：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取子问题的解为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d=min(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dl,dr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，在直线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的两边分别扩展出横坐标区域为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L-d,L+d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的区域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，再对区域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的点进行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排序。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DC5BBE8-E9A1-4659-A673-2FA319FCB98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361" y="2674656"/>
            <a:ext cx="3293807" cy="256593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66378065-5F0B-47DA-96B5-F9EC0ED3DAFC}"/>
                  </a:ext>
                </a:extLst>
              </p:cNvPr>
              <p:cNvSpPr txBox="1"/>
              <p:nvPr/>
            </p:nvSpPr>
            <p:spPr>
              <a:xfrm>
                <a:off x="5555226" y="1973601"/>
                <a:ext cx="6096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6700" indent="266700" algn="just"/>
                <a:r>
                  <a:rPr lang="zh-CN" altLang="zh-CN" sz="1800" b="1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快速排序</a:t>
                </a:r>
                <a:r>
                  <a:rPr lang="zh-CN" altLang="en-US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：直接使用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快速排序</a:t>
                </a:r>
                <a:r>
                  <a:rPr lang="zh-CN" altLang="en-US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，则排序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时间复杂度为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zh-CN" altLang="zh-CN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800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66378065-5F0B-47DA-96B5-F9EC0ED3D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5226" y="1973601"/>
                <a:ext cx="6096000" cy="646331"/>
              </a:xfrm>
              <a:prstGeom prst="rect">
                <a:avLst/>
              </a:prstGeom>
              <a:blipFill>
                <a:blip r:embed="rId3"/>
                <a:stretch>
                  <a:fillRect t="-5660" r="-900" b="-6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F7F0C06B-A867-4346-AEF7-62B0F4C030D7}"/>
                  </a:ext>
                </a:extLst>
              </p:cNvPr>
              <p:cNvSpPr txBox="1"/>
              <p:nvPr/>
            </p:nvSpPr>
            <p:spPr>
              <a:xfrm>
                <a:off x="5555226" y="2883365"/>
                <a:ext cx="6096000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6700" indent="266700" algn="just"/>
                <a:r>
                  <a:rPr lang="zh-CN" altLang="zh-CN" sz="1800" b="1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归并排序：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因为整个求解最邻近点对的算法采用的是分治法，不断地将问题规模逐渐二分；如果对每个子问题的点集或者区域</a:t>
                </a: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Y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的点集采用归并排序，那么排序的时间效率仅与排序的规模有关，排序过程的时间复杂度仅为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𝑂</m:t>
                    </m:r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，即合并代价为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𝑓</m:t>
                    </m:r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</m:e>
                    </m:d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𝑂</m:t>
                    </m:r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。</a:t>
                </a:r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F7F0C06B-A867-4346-AEF7-62B0F4C03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5226" y="2883365"/>
                <a:ext cx="6096000" cy="1477328"/>
              </a:xfrm>
              <a:prstGeom prst="rect">
                <a:avLst/>
              </a:prstGeom>
              <a:blipFill>
                <a:blip r:embed="rId4"/>
                <a:stretch>
                  <a:fillRect t="-2479" r="-900" b="-49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88F6EA6C-E003-480B-8159-92DB2A92565D}"/>
              </a:ext>
            </a:extLst>
          </p:cNvPr>
          <p:cNvSpPr txBox="1"/>
          <p:nvPr/>
        </p:nvSpPr>
        <p:spPr>
          <a:xfrm>
            <a:off x="5810866" y="1332581"/>
            <a:ext cx="63811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排序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方式</a:t>
            </a:r>
            <a:endParaRPr lang="zh-CN" altLang="en-US" sz="24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A39447A-F4DC-4CCF-A34F-ECF98F8E8FB9}"/>
              </a:ext>
            </a:extLst>
          </p:cNvPr>
          <p:cNvSpPr txBox="1"/>
          <p:nvPr/>
        </p:nvSpPr>
        <p:spPr>
          <a:xfrm>
            <a:off x="1160207" y="26714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分治法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966420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11">
            <a:extLst>
              <a:ext uri="{FF2B5EF4-FFF2-40B4-BE49-F238E27FC236}">
                <a16:creationId xmlns:a16="http://schemas.microsoft.com/office/drawing/2014/main" id="{73EEC175-9548-4E7C-951D-7D5D346FA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1663" y="853314"/>
            <a:ext cx="2332852" cy="2575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9DB0F77-F1FD-4454-893F-A8266D9A4BA1}"/>
              </a:ext>
            </a:extLst>
          </p:cNvPr>
          <p:cNvSpPr txBox="1"/>
          <p:nvPr/>
        </p:nvSpPr>
        <p:spPr>
          <a:xfrm>
            <a:off x="683341" y="1197443"/>
            <a:ext cx="616482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求解最短距离：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根据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鸽舍原理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，将区域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的所有点与其后的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个基准点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求解距离，若距离小于距离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，则更新最小距离。对于点集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中的一点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，如果其与其他的点的距离小于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，则该点的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轴坐标一定位于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kumimoji="0" lang="en-US" altLang="zh-C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p.y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-d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p.y+d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之间。所以符合条件的点一定位于宽为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，长为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2d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的矩形区域中，如下图所示。根据鸽舍原理，该矩形区域内的点不超过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个。</a:t>
            </a:r>
            <a:endParaRPr kumimoji="0" lang="zh-CN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72C2453-55C6-46BA-B7DB-96F5B2BA30E0}"/>
                  </a:ext>
                </a:extLst>
              </p:cNvPr>
              <p:cNvSpPr txBox="1"/>
              <p:nvPr/>
            </p:nvSpPr>
            <p:spPr>
              <a:xfrm>
                <a:off x="752167" y="3328075"/>
                <a:ext cx="6096000" cy="2029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zh-CN" sz="2000" b="1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证明：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如下图所示。将该矩形区域（</a:t>
                </a: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2d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）按宽二等分，按长三等分为</a:t>
                </a: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6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个长为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、宽为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的矩形区域。根据勾股定理可得：每个小矩形的对角线长为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6</m:t>
                        </m:r>
                      </m:den>
                    </m:f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。假设每个小矩形内存在两个点，则两点间的距离必定小于</a:t>
                </a: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，与左右区域的最小距离为</a:t>
                </a: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矛盾，故每个矩形内最多存在一个点。矩形内一共有</a:t>
                </a: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6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个小矩形，即该矩形内最多有</a:t>
                </a: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6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个点</a:t>
                </a:r>
                <a:endParaRPr lang="zh-CN" altLang="en-US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72C2453-55C6-46BA-B7DB-96F5B2BA3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167" y="3328075"/>
                <a:ext cx="6096000" cy="2029210"/>
              </a:xfrm>
              <a:prstGeom prst="rect">
                <a:avLst/>
              </a:prstGeom>
              <a:blipFill>
                <a:blip r:embed="rId3"/>
                <a:stretch>
                  <a:fillRect l="-1000" t="-2102" r="-900" b="-3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0E3DB361-1126-4C91-8637-66B6ABEAD5C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539" y="3429000"/>
            <a:ext cx="2899021" cy="324347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44345D9-D482-415E-96AF-4FC4B5BCB0EE}"/>
              </a:ext>
            </a:extLst>
          </p:cNvPr>
          <p:cNvSpPr txBox="1"/>
          <p:nvPr/>
        </p:nvSpPr>
        <p:spPr>
          <a:xfrm>
            <a:off x="1160207" y="26714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分治法</a:t>
            </a:r>
            <a:endParaRPr lang="zh-CN" altLang="en-US" sz="3200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F7852B9-510E-4891-BDDF-AE5202612090}"/>
              </a:ext>
            </a:extLst>
          </p:cNvPr>
          <p:cNvSpPr/>
          <p:nvPr/>
        </p:nvSpPr>
        <p:spPr>
          <a:xfrm>
            <a:off x="8048625" y="3676649"/>
            <a:ext cx="228600" cy="1809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250EE3D-7C94-4D7D-8629-02A32131CA46}"/>
              </a:ext>
            </a:extLst>
          </p:cNvPr>
          <p:cNvSpPr/>
          <p:nvPr/>
        </p:nvSpPr>
        <p:spPr>
          <a:xfrm>
            <a:off x="8020050" y="4726888"/>
            <a:ext cx="228600" cy="1809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062693D-175C-4E29-898E-D98C26A6B302}"/>
              </a:ext>
            </a:extLst>
          </p:cNvPr>
          <p:cNvSpPr/>
          <p:nvPr/>
        </p:nvSpPr>
        <p:spPr>
          <a:xfrm>
            <a:off x="8048625" y="5914198"/>
            <a:ext cx="228600" cy="1809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3B6E7BD-C4FF-4175-A009-B66D5B982321}"/>
              </a:ext>
            </a:extLst>
          </p:cNvPr>
          <p:cNvSpPr/>
          <p:nvPr/>
        </p:nvSpPr>
        <p:spPr>
          <a:xfrm>
            <a:off x="9324975" y="3676648"/>
            <a:ext cx="228600" cy="1809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8DDDBD1-9523-43ED-96A8-D5A37B0D9A0E}"/>
              </a:ext>
            </a:extLst>
          </p:cNvPr>
          <p:cNvSpPr/>
          <p:nvPr/>
        </p:nvSpPr>
        <p:spPr>
          <a:xfrm>
            <a:off x="9324975" y="4726888"/>
            <a:ext cx="228600" cy="1809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01D737AE-FE71-4056-9BD2-6E1BCDF027FC}"/>
              </a:ext>
            </a:extLst>
          </p:cNvPr>
          <p:cNvSpPr/>
          <p:nvPr/>
        </p:nvSpPr>
        <p:spPr>
          <a:xfrm>
            <a:off x="9324975" y="5947533"/>
            <a:ext cx="228600" cy="1809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846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A2C9118-3F9A-4789-BAA5-0C28329B7D40}"/>
                  </a:ext>
                </a:extLst>
              </p:cNvPr>
              <p:cNvSpPr txBox="1"/>
              <p:nvPr/>
            </p:nvSpPr>
            <p:spPr>
              <a:xfrm>
                <a:off x="776748" y="1120676"/>
                <a:ext cx="6096000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又因为，在求解过程中已经提前对区域</a:t>
                </a: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Y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的点根据</a:t>
                </a: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y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轴坐标</a:t>
                </a:r>
                <a:r>
                  <a:rPr lang="zh-CN" altLang="zh-CN" sz="1800" b="1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排序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，所以计算每个点的（</a:t>
                </a: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2d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）矩形区域实际上如下图中黄色区域所示。同理，根据鸽舍原理，只需判断每个点与其余后面</a:t>
                </a: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6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个点的距离关系即可。若该点与后面的点的</a:t>
                </a: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y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轴坐标相差</a:t>
                </a: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，则两点的距离必定大于</a:t>
                </a: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，不需比较直接舍弃，进行下一组的点对比较。</a:t>
                </a:r>
                <a:endParaRPr lang="en-US" altLang="zh-CN" sz="1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en-US" altLang="zh-CN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因此，求解跨越左右子集区域</a:t>
                </a: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Y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的最短距离的问题的时间复杂度为</a:t>
                </a:r>
                <a14:m>
                  <m:oMath xmlns:m="http://schemas.openxmlformats.org/officeDocument/2006/math">
                    <m:r>
                      <a:rPr lang="en-US" altLang="zh-CN" sz="180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zh-CN" altLang="zh-CN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  <m:r>
                      <a:rPr lang="zh-CN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，即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zh-CN" altLang="zh-CN" sz="18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为区域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zh-CN" altLang="zh-CN" sz="18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中点的个数</m:t>
                    </m:r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A2C9118-3F9A-4789-BAA5-0C28329B7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48" y="1120676"/>
                <a:ext cx="6096000" cy="2308324"/>
              </a:xfrm>
              <a:prstGeom prst="rect">
                <a:avLst/>
              </a:prstGeom>
              <a:blipFill>
                <a:blip r:embed="rId2"/>
                <a:stretch>
                  <a:fillRect l="-800" t="-2111" r="-700" b="-2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9C5D7980-9EE0-44FD-9305-0353B42D4C4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2242" y="1707024"/>
            <a:ext cx="3687036" cy="310654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F0297EC-9CFD-498A-8B3D-6C5534729D98}"/>
              </a:ext>
            </a:extLst>
          </p:cNvPr>
          <p:cNvSpPr txBox="1"/>
          <p:nvPr/>
        </p:nvSpPr>
        <p:spPr>
          <a:xfrm>
            <a:off x="1160207" y="26714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分治法</a:t>
            </a:r>
            <a:endParaRPr lang="zh-CN" altLang="en-US" sz="32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5719DA8-8ACE-4A95-8EED-571B1394CD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923" y="3429000"/>
            <a:ext cx="4442952" cy="333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52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66D4B6E-637D-4D8C-9FF3-D47A989FEF8A}"/>
              </a:ext>
            </a:extLst>
          </p:cNvPr>
          <p:cNvSpPr txBox="1"/>
          <p:nvPr/>
        </p:nvSpPr>
        <p:spPr>
          <a:xfrm>
            <a:off x="1160207" y="26714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分治法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BFE118-4E2A-40AB-ACDC-6344B0D80F5E}"/>
              </a:ext>
            </a:extLst>
          </p:cNvPr>
          <p:cNvSpPr txBox="1"/>
          <p:nvPr/>
        </p:nvSpPr>
        <p:spPr>
          <a:xfrm>
            <a:off x="249759" y="989252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时间复杂度分析：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274C135-B8BD-4D8B-9D6F-CCFDCD604899}"/>
                  </a:ext>
                </a:extLst>
              </p:cNvPr>
              <p:cNvSpPr txBox="1"/>
              <p:nvPr/>
            </p:nvSpPr>
            <p:spPr>
              <a:xfrm>
                <a:off x="6096000" y="2929871"/>
                <a:ext cx="5633884" cy="18918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6700" indent="266700" algn="just"/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因为归并排序过程的时间复杂度仅为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𝑂</m:t>
                    </m:r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，即合并代价为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𝑓</m:t>
                    </m:r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</m:e>
                    </m:d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𝑂</m:t>
                    </m:r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。</a:t>
                </a:r>
              </a:p>
              <a:p>
                <a:pPr indent="266700" algn="just"/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因此，使用归并排序下的算法整体时间复杂度为：</a:t>
                </a:r>
                <a14:m>
                  <m:oMath xmlns:m="http://schemas.openxmlformats.org/officeDocument/2006/math">
                    <m:r>
                      <a:rPr lang="en-US" altLang="zh-CN" sz="1800" b="0" i="0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                                       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𝑇</m:t>
                    </m:r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</m:e>
                    </m:d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=2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𝑇</m:t>
                    </m:r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𝑂</m:t>
                    </m:r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；</a:t>
                </a:r>
                <a:endParaRPr lang="en-US" altLang="zh-CN" sz="1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266700" algn="just"/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由主定理法可得：时间复杂度为：</a:t>
                </a:r>
                <a:endParaRPr lang="en-US" altLang="zh-CN" sz="1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266700" algn="just"/>
                <a:r>
                  <a:rPr lang="en-US" altLang="zh-CN" sz="1800" kern="100" dirty="0">
                    <a:effectLst/>
                    <a:ea typeface="宋体" panose="02010600030101010101" pitchFamily="2" charset="-122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𝑇</m:t>
                    </m:r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</m:e>
                    </m:d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𝑂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𝑛</m:t>
                    </m:r>
                    <m:func>
                      <m:func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800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log</m:t>
                        </m:r>
                      </m:fName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</m:e>
                    </m:func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。</a:t>
                </a: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274C135-B8BD-4D8B-9D6F-CCFDCD604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929871"/>
                <a:ext cx="5633884" cy="1891865"/>
              </a:xfrm>
              <a:prstGeom prst="rect">
                <a:avLst/>
              </a:prstGeom>
              <a:blipFill>
                <a:blip r:embed="rId2"/>
                <a:stretch>
                  <a:fillRect t="-2581" r="-866" b="-3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732517D-F764-4CDA-A02B-72659E12DDCF}"/>
                  </a:ext>
                </a:extLst>
              </p:cNvPr>
              <p:cNvSpPr txBox="1"/>
              <p:nvPr/>
            </p:nvSpPr>
            <p:spPr>
              <a:xfrm>
                <a:off x="1524000" y="1389934"/>
                <a:ext cx="914400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由上述算法可知，算法采用分治法策略，且求解跨左右子集的区域</a:t>
                </a: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Y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问题的时间复杂度为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𝑂</m:t>
                    </m:r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，故整个算法的合并代价取决于对区域</a:t>
                </a: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Y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的排序时间效率。</a:t>
                </a: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732517D-F764-4CDA-A02B-72659E12D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1389934"/>
                <a:ext cx="9144001" cy="646331"/>
              </a:xfrm>
              <a:prstGeom prst="rect">
                <a:avLst/>
              </a:prstGeom>
              <a:blipFill>
                <a:blip r:embed="rId3"/>
                <a:stretch>
                  <a:fillRect l="-533" t="-6604" r="-533" b="-150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7F1AB96-0C04-455E-9720-E7EBC20437CF}"/>
                  </a:ext>
                </a:extLst>
              </p:cNvPr>
              <p:cNvSpPr txBox="1"/>
              <p:nvPr/>
            </p:nvSpPr>
            <p:spPr>
              <a:xfrm>
                <a:off x="344129" y="2929871"/>
                <a:ext cx="5633884" cy="1690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6700" indent="266700" algn="just"/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因为快速排序的时间复杂度为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𝑂</m:t>
                    </m:r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func>
                          <m:funcPr>
                            <m:ctrlPr>
                              <a:rPr lang="zh-CN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800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，则合并代价为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𝑓</m:t>
                    </m:r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</m:e>
                    </m:d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𝑂</m:t>
                    </m:r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  <m:func>
                          <m:funcPr>
                            <m:ctrlPr>
                              <a:rPr lang="zh-CN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800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，时间复杂度为：</a:t>
                </a:r>
                <a:endParaRPr lang="en-US" altLang="zh-CN" sz="1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marL="266700" indent="26670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𝑇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𝑛</m:t>
                          </m:r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=2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𝑇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𝑂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𝑛</m:t>
                          </m:r>
                          <m:func>
                            <m:func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800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zh-CN" altLang="zh-CN" sz="1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marL="266700" indent="266700" algn="just"/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由主定理法可得：时间复杂度为：</a:t>
                </a:r>
                <a:endParaRPr lang="en-US" altLang="zh-CN" sz="1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marL="266700" indent="266700" algn="just"/>
                <a:r>
                  <a:rPr lang="en-US" altLang="zh-CN" sz="1800" kern="100" dirty="0">
                    <a:effectLst/>
                    <a:ea typeface="宋体" panose="02010600030101010101" pitchFamily="2" charset="-122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𝑇</m:t>
                    </m:r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</m:e>
                    </m:d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𝑂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𝑛</m:t>
                    </m:r>
                    <m:sSup>
                      <m:sSup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func>
                          <m:funcPr>
                            <m:ctrlPr>
                              <a:rPr lang="zh-CN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CN" sz="1800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altLang="zh-CN" sz="1800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𝑛</m:t>
                            </m:r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)</m:t>
                            </m:r>
                          </m:e>
                        </m:func>
                      </m:e>
                      <m:sup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。</a:t>
                </a:r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7F1AB96-0C04-455E-9720-E7EBC2043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29" y="2929871"/>
                <a:ext cx="5633884" cy="1690143"/>
              </a:xfrm>
              <a:prstGeom prst="rect">
                <a:avLst/>
              </a:prstGeom>
              <a:blipFill>
                <a:blip r:embed="rId4"/>
                <a:stretch>
                  <a:fillRect t="-2888" r="-865" b="-36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C0082451-A008-4024-8700-0C9D06BF7EB5}"/>
              </a:ext>
            </a:extLst>
          </p:cNvPr>
          <p:cNvSpPr txBox="1"/>
          <p:nvPr/>
        </p:nvSpPr>
        <p:spPr>
          <a:xfrm>
            <a:off x="5751871" y="250576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266700" algn="just"/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归并排序：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43CAFBD-A8E9-4682-B2AA-ABB9D11B5D12}"/>
              </a:ext>
            </a:extLst>
          </p:cNvPr>
          <p:cNvSpPr txBox="1"/>
          <p:nvPr/>
        </p:nvSpPr>
        <p:spPr>
          <a:xfrm>
            <a:off x="0" y="248698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266700" algn="just"/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快速排序：</a:t>
            </a:r>
            <a:endParaRPr lang="en-US" altLang="zh-CN" sz="2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1146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7389FCF-41C2-4403-A1FE-EF433CDDD8CB}"/>
              </a:ext>
            </a:extLst>
          </p:cNvPr>
          <p:cNvSpPr txBox="1"/>
          <p:nvPr/>
        </p:nvSpPr>
        <p:spPr>
          <a:xfrm>
            <a:off x="1160207" y="26714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分治法</a:t>
            </a:r>
            <a:endParaRPr lang="zh-CN" altLang="en-US" sz="32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ECB587F-914D-407B-AE88-8F725A94B7C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60" y="1525904"/>
            <a:ext cx="4536440" cy="85490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0C487F6E-B867-4822-B161-EC8D0EEC5779}"/>
              </a:ext>
            </a:extLst>
          </p:cNvPr>
          <p:cNvSpPr txBox="1"/>
          <p:nvPr/>
        </p:nvSpPr>
        <p:spPr>
          <a:xfrm>
            <a:off x="180975" y="10470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Font typeface="Wingdings" panose="05000000000000000000" pitchFamily="2" charset="2"/>
              <a:buChar char="l"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点对距离计算函数：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6282343-705C-4A2D-8AD6-DD60B8EFAE55}"/>
              </a:ext>
            </a:extLst>
          </p:cNvPr>
          <p:cNvSpPr txBox="1"/>
          <p:nvPr/>
        </p:nvSpPr>
        <p:spPr>
          <a:xfrm>
            <a:off x="180975" y="25837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Font typeface="Wingdings" panose="05000000000000000000" pitchFamily="2" charset="2"/>
              <a:buChar char="l"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分治函数：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1636C33-06C3-4FEB-80BA-32E1BF9B002D}"/>
              </a:ext>
            </a:extLst>
          </p:cNvPr>
          <p:cNvSpPr txBox="1"/>
          <p:nvPr/>
        </p:nvSpPr>
        <p:spPr>
          <a:xfrm>
            <a:off x="180975" y="30331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点集中只有一个点时，返回距离无穷大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INF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9B420081-B035-430D-B0AC-EACEF8B0E1A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700" y="3402449"/>
            <a:ext cx="1953260" cy="106616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37132486-A374-420F-8A3C-147619E93659}"/>
              </a:ext>
            </a:extLst>
          </p:cNvPr>
          <p:cNvSpPr txBox="1"/>
          <p:nvPr/>
        </p:nvSpPr>
        <p:spPr>
          <a:xfrm>
            <a:off x="225425" y="46344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点集中有两个点时，直接返回两点的距离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542F2D05-CCFF-44EE-8A89-62414614F441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497" y="5116133"/>
            <a:ext cx="3837305" cy="103378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8AD4A376-7AA7-4EB6-BB85-EFDF67B757DC}"/>
              </a:ext>
            </a:extLst>
          </p:cNvPr>
          <p:cNvSpPr txBox="1"/>
          <p:nvPr/>
        </p:nvSpPr>
        <p:spPr>
          <a:xfrm>
            <a:off x="6276975" y="2142061"/>
            <a:ext cx="56197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点集中的点数大于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，采用点集划分为左右子集，进行递归处理。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8044A973-7697-437A-B524-628D56856F8D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780" y="2868986"/>
            <a:ext cx="3525520" cy="195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24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68377D9-94B5-4F1F-AD55-A2A87608A35B}"/>
              </a:ext>
            </a:extLst>
          </p:cNvPr>
          <p:cNvSpPr txBox="1"/>
          <p:nvPr/>
        </p:nvSpPr>
        <p:spPr>
          <a:xfrm>
            <a:off x="457200" y="9405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合并函数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9988E0-9AF5-467B-AE42-4DF311EFAE26}"/>
              </a:ext>
            </a:extLst>
          </p:cNvPr>
          <p:cNvSpPr txBox="1"/>
          <p:nvPr/>
        </p:nvSpPr>
        <p:spPr>
          <a:xfrm>
            <a:off x="457200" y="1552665"/>
            <a:ext cx="5200650" cy="1247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求解跨区域点集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的最短距离：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/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根据左右子集的最短距离的解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（图中的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mind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），筛选出中线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附近横坐标加减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距离的点，构成区域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temp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向量）的点集。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1659D02-539C-4C3C-BA9E-420FD6E3F9D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824" y="2762339"/>
            <a:ext cx="4210051" cy="179052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823164B-56AD-46CC-BFF1-8874D2B6E8F2}"/>
              </a:ext>
            </a:extLst>
          </p:cNvPr>
          <p:cNvSpPr txBox="1"/>
          <p:nvPr/>
        </p:nvSpPr>
        <p:spPr>
          <a:xfrm>
            <a:off x="6046787" y="15777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选择排序算法：快速排序或者归并排序。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2646C9A-574C-4AD0-8784-E8B823BE3BE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9724" y="2047786"/>
            <a:ext cx="4454526" cy="64633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DBDAEC8-832C-4321-897E-3E6CDA81EA0B}"/>
              </a:ext>
            </a:extLst>
          </p:cNvPr>
          <p:cNvSpPr txBox="1"/>
          <p:nvPr/>
        </p:nvSpPr>
        <p:spPr>
          <a:xfrm>
            <a:off x="6046787" y="3002517"/>
            <a:ext cx="55149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根据鸽舍原理，对区域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中的点检测其与后面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个点距离，更新最邻近点对的距离。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DEDF8BC-E993-43E2-B1DB-15C1AA56C1F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127" y="3749515"/>
            <a:ext cx="3365501" cy="242723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3B3C60E-266C-4D8F-95E2-568411744D49}"/>
              </a:ext>
            </a:extLst>
          </p:cNvPr>
          <p:cNvSpPr txBox="1"/>
          <p:nvPr/>
        </p:nvSpPr>
        <p:spPr>
          <a:xfrm>
            <a:off x="1160207" y="26714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分治法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313894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51DA726-D655-48EF-A20E-F3EE81ECB1FE}"/>
              </a:ext>
            </a:extLst>
          </p:cNvPr>
          <p:cNvSpPr txBox="1"/>
          <p:nvPr/>
        </p:nvSpPr>
        <p:spPr>
          <a:xfrm>
            <a:off x="1160207" y="26714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分治法</a:t>
            </a:r>
            <a:endParaRPr lang="zh-CN" altLang="en-US" sz="3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3CF5244-8B42-47D8-8FAB-6AF97D288AC9}"/>
              </a:ext>
            </a:extLst>
          </p:cNvPr>
          <p:cNvSpPr txBox="1"/>
          <p:nvPr/>
        </p:nvSpPr>
        <p:spPr>
          <a:xfrm>
            <a:off x="581025" y="108743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快速排序</a:t>
            </a:r>
            <a:endParaRPr lang="zh-CN" altLang="en-US" sz="2400" b="1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0089831-4E00-4110-BCF0-4AC01F016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59069"/>
              </p:ext>
            </p:extLst>
          </p:nvPr>
        </p:nvGraphicFramePr>
        <p:xfrm>
          <a:off x="520065" y="2287963"/>
          <a:ext cx="4528185" cy="12801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87057">
                  <a:extLst>
                    <a:ext uri="{9D8B030D-6E8A-4147-A177-3AD203B41FA5}">
                      <a16:colId xmlns:a16="http://schemas.microsoft.com/office/drawing/2014/main" val="2941279693"/>
                    </a:ext>
                  </a:extLst>
                </a:gridCol>
                <a:gridCol w="718242">
                  <a:extLst>
                    <a:ext uri="{9D8B030D-6E8A-4147-A177-3AD203B41FA5}">
                      <a16:colId xmlns:a16="http://schemas.microsoft.com/office/drawing/2014/main" val="795779082"/>
                    </a:ext>
                  </a:extLst>
                </a:gridCol>
                <a:gridCol w="718242">
                  <a:extLst>
                    <a:ext uri="{9D8B030D-6E8A-4147-A177-3AD203B41FA5}">
                      <a16:colId xmlns:a16="http://schemas.microsoft.com/office/drawing/2014/main" val="1589310280"/>
                    </a:ext>
                  </a:extLst>
                </a:gridCol>
                <a:gridCol w="718242">
                  <a:extLst>
                    <a:ext uri="{9D8B030D-6E8A-4147-A177-3AD203B41FA5}">
                      <a16:colId xmlns:a16="http://schemas.microsoft.com/office/drawing/2014/main" val="944693149"/>
                    </a:ext>
                  </a:extLst>
                </a:gridCol>
                <a:gridCol w="793201">
                  <a:extLst>
                    <a:ext uri="{9D8B030D-6E8A-4147-A177-3AD203B41FA5}">
                      <a16:colId xmlns:a16="http://schemas.microsoft.com/office/drawing/2014/main" val="1526019075"/>
                    </a:ext>
                  </a:extLst>
                </a:gridCol>
                <a:gridCol w="793201">
                  <a:extLst>
                    <a:ext uri="{9D8B030D-6E8A-4147-A177-3AD203B41FA5}">
                      <a16:colId xmlns:a16="http://schemas.microsoft.com/office/drawing/2014/main" val="1812215513"/>
                    </a:ext>
                  </a:extLst>
                </a:gridCol>
              </a:tblGrid>
              <a:tr h="211125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0">
                          <a:effectLst/>
                        </a:rPr>
                        <a:t>规模</a:t>
                      </a:r>
                      <a:r>
                        <a:rPr lang="en-US" sz="1400" b="1" kern="0">
                          <a:effectLst/>
                        </a:rPr>
                        <a:t>n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effectLst/>
                        </a:rPr>
                        <a:t>10w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effectLst/>
                        </a:rPr>
                        <a:t>20w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effectLst/>
                        </a:rPr>
                        <a:t>30w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 dirty="0">
                          <a:effectLst/>
                        </a:rPr>
                        <a:t>40w</a:t>
                      </a:r>
                      <a:endParaRPr lang="zh-CN" sz="12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effectLst/>
                        </a:rPr>
                        <a:t>50w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877869141"/>
                  </a:ext>
                </a:extLst>
              </a:tr>
              <a:tr h="403892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0">
                          <a:effectLst/>
                        </a:rPr>
                        <a:t>时间</a:t>
                      </a:r>
                      <a:r>
                        <a:rPr lang="en-US" sz="1400" b="1" kern="0">
                          <a:effectLst/>
                        </a:rPr>
                        <a:t>(ms)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127.50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279.50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424.10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586.30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763.30 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74060482"/>
                  </a:ext>
                </a:extLst>
              </a:tr>
              <a:tr h="211125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0" dirty="0">
                          <a:effectLst/>
                        </a:rPr>
                        <a:t>规模</a:t>
                      </a:r>
                      <a:r>
                        <a:rPr lang="en-US" sz="1400" b="1" kern="0" dirty="0">
                          <a:effectLst/>
                        </a:rPr>
                        <a:t>n</a:t>
                      </a:r>
                      <a:endParaRPr lang="zh-CN" sz="12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 dirty="0">
                          <a:solidFill>
                            <a:schemeClr val="bg1"/>
                          </a:solidFill>
                          <a:effectLst/>
                        </a:rPr>
                        <a:t>60w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 dirty="0">
                          <a:solidFill>
                            <a:schemeClr val="bg1"/>
                          </a:solidFill>
                          <a:effectLst/>
                        </a:rPr>
                        <a:t>70w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 dirty="0">
                          <a:solidFill>
                            <a:schemeClr val="bg1"/>
                          </a:solidFill>
                          <a:effectLst/>
                        </a:rPr>
                        <a:t>80w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 dirty="0">
                          <a:solidFill>
                            <a:schemeClr val="bg1"/>
                          </a:solidFill>
                          <a:effectLst/>
                        </a:rPr>
                        <a:t>90w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 dirty="0">
                          <a:solidFill>
                            <a:schemeClr val="bg1"/>
                          </a:solidFill>
                          <a:effectLst/>
                        </a:rPr>
                        <a:t>100w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22019"/>
                  </a:ext>
                </a:extLst>
              </a:tr>
              <a:tr h="403892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0">
                          <a:effectLst/>
                        </a:rPr>
                        <a:t>时间</a:t>
                      </a:r>
                      <a:r>
                        <a:rPr lang="en-US" sz="1400" b="1" kern="0">
                          <a:effectLst/>
                        </a:rPr>
                        <a:t>(ms)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908.80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1101.40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1274.70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1448.90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1616.44 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372355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3EFD791-D18B-4508-AB51-7789F35E3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226485"/>
              </p:ext>
            </p:extLst>
          </p:nvPr>
        </p:nvGraphicFramePr>
        <p:xfrm>
          <a:off x="520065" y="4116943"/>
          <a:ext cx="4528186" cy="12801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87057">
                  <a:extLst>
                    <a:ext uri="{9D8B030D-6E8A-4147-A177-3AD203B41FA5}">
                      <a16:colId xmlns:a16="http://schemas.microsoft.com/office/drawing/2014/main" val="432209594"/>
                    </a:ext>
                  </a:extLst>
                </a:gridCol>
                <a:gridCol w="718243">
                  <a:extLst>
                    <a:ext uri="{9D8B030D-6E8A-4147-A177-3AD203B41FA5}">
                      <a16:colId xmlns:a16="http://schemas.microsoft.com/office/drawing/2014/main" val="726340539"/>
                    </a:ext>
                  </a:extLst>
                </a:gridCol>
                <a:gridCol w="718243">
                  <a:extLst>
                    <a:ext uri="{9D8B030D-6E8A-4147-A177-3AD203B41FA5}">
                      <a16:colId xmlns:a16="http://schemas.microsoft.com/office/drawing/2014/main" val="326654965"/>
                    </a:ext>
                  </a:extLst>
                </a:gridCol>
                <a:gridCol w="718243">
                  <a:extLst>
                    <a:ext uri="{9D8B030D-6E8A-4147-A177-3AD203B41FA5}">
                      <a16:colId xmlns:a16="http://schemas.microsoft.com/office/drawing/2014/main" val="2506421774"/>
                    </a:ext>
                  </a:extLst>
                </a:gridCol>
                <a:gridCol w="793200">
                  <a:extLst>
                    <a:ext uri="{9D8B030D-6E8A-4147-A177-3AD203B41FA5}">
                      <a16:colId xmlns:a16="http://schemas.microsoft.com/office/drawing/2014/main" val="382537788"/>
                    </a:ext>
                  </a:extLst>
                </a:gridCol>
                <a:gridCol w="793200">
                  <a:extLst>
                    <a:ext uri="{9D8B030D-6E8A-4147-A177-3AD203B41FA5}">
                      <a16:colId xmlns:a16="http://schemas.microsoft.com/office/drawing/2014/main" val="140568223"/>
                    </a:ext>
                  </a:extLst>
                </a:gridCol>
              </a:tblGrid>
              <a:tr h="211309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0">
                          <a:effectLst/>
                        </a:rPr>
                        <a:t>规模</a:t>
                      </a:r>
                      <a:r>
                        <a:rPr lang="en-US" sz="1400" b="1" kern="0">
                          <a:effectLst/>
                        </a:rPr>
                        <a:t>n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effectLst/>
                        </a:rPr>
                        <a:t>10w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effectLst/>
                        </a:rPr>
                        <a:t>20w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effectLst/>
                        </a:rPr>
                        <a:t>30w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effectLst/>
                        </a:rPr>
                        <a:t>40w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effectLst/>
                        </a:rPr>
                        <a:t>50w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779169525"/>
                  </a:ext>
                </a:extLst>
              </a:tr>
              <a:tr h="404243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0">
                          <a:effectLst/>
                        </a:rPr>
                        <a:t>时间</a:t>
                      </a:r>
                      <a:r>
                        <a:rPr lang="en-US" sz="1400" b="1" kern="0">
                          <a:effectLst/>
                        </a:rPr>
                        <a:t>(ms)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112.25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252.35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404.10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563.66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729.16 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3495425"/>
                  </a:ext>
                </a:extLst>
              </a:tr>
              <a:tr h="211309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0">
                          <a:effectLst/>
                        </a:rPr>
                        <a:t>规模</a:t>
                      </a:r>
                      <a:r>
                        <a:rPr lang="en-US" sz="1400" b="1" kern="0">
                          <a:effectLst/>
                        </a:rPr>
                        <a:t>n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solidFill>
                            <a:schemeClr val="bg1"/>
                          </a:solidFill>
                          <a:effectLst/>
                        </a:rPr>
                        <a:t>60w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solidFill>
                            <a:schemeClr val="bg1"/>
                          </a:solidFill>
                          <a:effectLst/>
                        </a:rPr>
                        <a:t>70w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solidFill>
                            <a:schemeClr val="bg1"/>
                          </a:solidFill>
                          <a:effectLst/>
                        </a:rPr>
                        <a:t>80w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solidFill>
                            <a:schemeClr val="bg1"/>
                          </a:solidFill>
                          <a:effectLst/>
                        </a:rPr>
                        <a:t>90w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 dirty="0">
                          <a:solidFill>
                            <a:schemeClr val="bg1"/>
                          </a:solidFill>
                          <a:effectLst/>
                        </a:rPr>
                        <a:t>100w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067085"/>
                  </a:ext>
                </a:extLst>
              </a:tr>
              <a:tr h="404243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0">
                          <a:effectLst/>
                        </a:rPr>
                        <a:t>时间</a:t>
                      </a:r>
                      <a:r>
                        <a:rPr lang="en-US" sz="1400" b="1" kern="0">
                          <a:effectLst/>
                        </a:rPr>
                        <a:t>(ms)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899.47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1073.84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1251.72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1432.70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1616.44 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20789853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7520A78B-9AFE-47B7-A15A-C00B071DDE3B}"/>
              </a:ext>
            </a:extLst>
          </p:cNvPr>
          <p:cNvSpPr txBox="1"/>
          <p:nvPr/>
        </p:nvSpPr>
        <p:spPr>
          <a:xfrm>
            <a:off x="1058227" y="1916096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快速排序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分治法实际时间效率表</a:t>
            </a:r>
            <a:endParaRPr lang="zh-CN" alt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C0BDFF-C7C8-4103-95B3-7CD945B9138C}"/>
              </a:ext>
            </a:extLst>
          </p:cNvPr>
          <p:cNvSpPr txBox="1"/>
          <p:nvPr/>
        </p:nvSpPr>
        <p:spPr>
          <a:xfrm>
            <a:off x="1129665" y="379594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快速排序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分治法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理论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时间效率表</a:t>
            </a:r>
            <a:endParaRPr lang="zh-CN" altLang="en-US" sz="14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6FC622C-F8B5-4B42-83DA-AF20A72DE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893" y="2069984"/>
            <a:ext cx="5653120" cy="351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75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5B86846-EB4A-465A-B130-98B49F56144C}"/>
              </a:ext>
            </a:extLst>
          </p:cNvPr>
          <p:cNvSpPr txBox="1"/>
          <p:nvPr/>
        </p:nvSpPr>
        <p:spPr>
          <a:xfrm>
            <a:off x="1160207" y="26714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分治法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7470E1-653E-46F1-80D1-6E831BFE7656}"/>
              </a:ext>
            </a:extLst>
          </p:cNvPr>
          <p:cNvSpPr txBox="1"/>
          <p:nvPr/>
        </p:nvSpPr>
        <p:spPr>
          <a:xfrm>
            <a:off x="581025" y="108743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归并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排序</a:t>
            </a:r>
            <a:endParaRPr lang="zh-CN" altLang="en-US" sz="2400" b="1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7E4670D-2A2C-4AD8-AEE6-453807E4CB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759397"/>
              </p:ext>
            </p:extLst>
          </p:nvPr>
        </p:nvGraphicFramePr>
        <p:xfrm>
          <a:off x="520065" y="2287963"/>
          <a:ext cx="4528185" cy="12801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87057">
                  <a:extLst>
                    <a:ext uri="{9D8B030D-6E8A-4147-A177-3AD203B41FA5}">
                      <a16:colId xmlns:a16="http://schemas.microsoft.com/office/drawing/2014/main" val="2941279693"/>
                    </a:ext>
                  </a:extLst>
                </a:gridCol>
                <a:gridCol w="718242">
                  <a:extLst>
                    <a:ext uri="{9D8B030D-6E8A-4147-A177-3AD203B41FA5}">
                      <a16:colId xmlns:a16="http://schemas.microsoft.com/office/drawing/2014/main" val="795779082"/>
                    </a:ext>
                  </a:extLst>
                </a:gridCol>
                <a:gridCol w="718242">
                  <a:extLst>
                    <a:ext uri="{9D8B030D-6E8A-4147-A177-3AD203B41FA5}">
                      <a16:colId xmlns:a16="http://schemas.microsoft.com/office/drawing/2014/main" val="1589310280"/>
                    </a:ext>
                  </a:extLst>
                </a:gridCol>
                <a:gridCol w="718242">
                  <a:extLst>
                    <a:ext uri="{9D8B030D-6E8A-4147-A177-3AD203B41FA5}">
                      <a16:colId xmlns:a16="http://schemas.microsoft.com/office/drawing/2014/main" val="944693149"/>
                    </a:ext>
                  </a:extLst>
                </a:gridCol>
                <a:gridCol w="793201">
                  <a:extLst>
                    <a:ext uri="{9D8B030D-6E8A-4147-A177-3AD203B41FA5}">
                      <a16:colId xmlns:a16="http://schemas.microsoft.com/office/drawing/2014/main" val="1526019075"/>
                    </a:ext>
                  </a:extLst>
                </a:gridCol>
                <a:gridCol w="793201">
                  <a:extLst>
                    <a:ext uri="{9D8B030D-6E8A-4147-A177-3AD203B41FA5}">
                      <a16:colId xmlns:a16="http://schemas.microsoft.com/office/drawing/2014/main" val="1812215513"/>
                    </a:ext>
                  </a:extLst>
                </a:gridCol>
              </a:tblGrid>
              <a:tr h="211125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0">
                          <a:effectLst/>
                        </a:rPr>
                        <a:t>规模</a:t>
                      </a:r>
                      <a:r>
                        <a:rPr lang="en-US" sz="1400" b="1" kern="0">
                          <a:effectLst/>
                        </a:rPr>
                        <a:t>n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effectLst/>
                        </a:rPr>
                        <a:t>10w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effectLst/>
                        </a:rPr>
                        <a:t>20w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effectLst/>
                        </a:rPr>
                        <a:t>30w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 dirty="0">
                          <a:effectLst/>
                        </a:rPr>
                        <a:t>40w</a:t>
                      </a:r>
                      <a:endParaRPr lang="zh-CN" sz="12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effectLst/>
                        </a:rPr>
                        <a:t>50w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877869141"/>
                  </a:ext>
                </a:extLst>
              </a:tr>
              <a:tr h="403892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0">
                          <a:effectLst/>
                        </a:rPr>
                        <a:t>时间</a:t>
                      </a:r>
                      <a:r>
                        <a:rPr lang="en-US" sz="1400" b="1" kern="0">
                          <a:effectLst/>
                        </a:rPr>
                        <a:t>(ms)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149.60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310.10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466.50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626.88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786.40 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74060482"/>
                  </a:ext>
                </a:extLst>
              </a:tr>
              <a:tr h="211125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0" dirty="0">
                          <a:effectLst/>
                        </a:rPr>
                        <a:t>规模</a:t>
                      </a:r>
                      <a:r>
                        <a:rPr lang="en-US" sz="1400" b="1" kern="0" dirty="0">
                          <a:effectLst/>
                        </a:rPr>
                        <a:t>n</a:t>
                      </a:r>
                      <a:endParaRPr lang="zh-CN" sz="12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 dirty="0">
                          <a:solidFill>
                            <a:schemeClr val="bg1"/>
                          </a:solidFill>
                          <a:effectLst/>
                        </a:rPr>
                        <a:t>60w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 dirty="0">
                          <a:solidFill>
                            <a:schemeClr val="bg1"/>
                          </a:solidFill>
                          <a:effectLst/>
                        </a:rPr>
                        <a:t>70w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 dirty="0">
                          <a:solidFill>
                            <a:schemeClr val="bg1"/>
                          </a:solidFill>
                          <a:effectLst/>
                        </a:rPr>
                        <a:t>80w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 dirty="0">
                          <a:solidFill>
                            <a:schemeClr val="bg1"/>
                          </a:solidFill>
                          <a:effectLst/>
                        </a:rPr>
                        <a:t>90w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 dirty="0">
                          <a:solidFill>
                            <a:schemeClr val="bg1"/>
                          </a:solidFill>
                          <a:effectLst/>
                        </a:rPr>
                        <a:t>100w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22019"/>
                  </a:ext>
                </a:extLst>
              </a:tr>
              <a:tr h="403892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0">
                          <a:effectLst/>
                        </a:rPr>
                        <a:t>时间</a:t>
                      </a:r>
                      <a:r>
                        <a:rPr lang="en-US" sz="1400" b="1" kern="0">
                          <a:effectLst/>
                        </a:rPr>
                        <a:t>(ms)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968.38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1136.88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1302.38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1470.00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1628.88 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3723556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EDC387E-A035-4819-9D0C-1414FCB64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285830"/>
              </p:ext>
            </p:extLst>
          </p:nvPr>
        </p:nvGraphicFramePr>
        <p:xfrm>
          <a:off x="520065" y="4116943"/>
          <a:ext cx="4528186" cy="12801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87057">
                  <a:extLst>
                    <a:ext uri="{9D8B030D-6E8A-4147-A177-3AD203B41FA5}">
                      <a16:colId xmlns:a16="http://schemas.microsoft.com/office/drawing/2014/main" val="432209594"/>
                    </a:ext>
                  </a:extLst>
                </a:gridCol>
                <a:gridCol w="718243">
                  <a:extLst>
                    <a:ext uri="{9D8B030D-6E8A-4147-A177-3AD203B41FA5}">
                      <a16:colId xmlns:a16="http://schemas.microsoft.com/office/drawing/2014/main" val="726340539"/>
                    </a:ext>
                  </a:extLst>
                </a:gridCol>
                <a:gridCol w="718243">
                  <a:extLst>
                    <a:ext uri="{9D8B030D-6E8A-4147-A177-3AD203B41FA5}">
                      <a16:colId xmlns:a16="http://schemas.microsoft.com/office/drawing/2014/main" val="326654965"/>
                    </a:ext>
                  </a:extLst>
                </a:gridCol>
                <a:gridCol w="718243">
                  <a:extLst>
                    <a:ext uri="{9D8B030D-6E8A-4147-A177-3AD203B41FA5}">
                      <a16:colId xmlns:a16="http://schemas.microsoft.com/office/drawing/2014/main" val="2506421774"/>
                    </a:ext>
                  </a:extLst>
                </a:gridCol>
                <a:gridCol w="793200">
                  <a:extLst>
                    <a:ext uri="{9D8B030D-6E8A-4147-A177-3AD203B41FA5}">
                      <a16:colId xmlns:a16="http://schemas.microsoft.com/office/drawing/2014/main" val="382537788"/>
                    </a:ext>
                  </a:extLst>
                </a:gridCol>
                <a:gridCol w="793200">
                  <a:extLst>
                    <a:ext uri="{9D8B030D-6E8A-4147-A177-3AD203B41FA5}">
                      <a16:colId xmlns:a16="http://schemas.microsoft.com/office/drawing/2014/main" val="140568223"/>
                    </a:ext>
                  </a:extLst>
                </a:gridCol>
              </a:tblGrid>
              <a:tr h="211309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0">
                          <a:effectLst/>
                        </a:rPr>
                        <a:t>规模</a:t>
                      </a:r>
                      <a:r>
                        <a:rPr lang="en-US" sz="1400" b="1" kern="0">
                          <a:effectLst/>
                        </a:rPr>
                        <a:t>n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effectLst/>
                        </a:rPr>
                        <a:t>10w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effectLst/>
                        </a:rPr>
                        <a:t>20w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effectLst/>
                        </a:rPr>
                        <a:t>30w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effectLst/>
                        </a:rPr>
                        <a:t>40w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effectLst/>
                        </a:rPr>
                        <a:t>50w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779169525"/>
                  </a:ext>
                </a:extLst>
              </a:tr>
              <a:tr h="404243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0">
                          <a:effectLst/>
                        </a:rPr>
                        <a:t>时间</a:t>
                      </a:r>
                      <a:r>
                        <a:rPr lang="en-US" sz="1400" b="1" kern="0">
                          <a:effectLst/>
                        </a:rPr>
                        <a:t>(ms)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135.74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287.82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446.08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608.34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773.58 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3495425"/>
                  </a:ext>
                </a:extLst>
              </a:tr>
              <a:tr h="211309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0">
                          <a:effectLst/>
                        </a:rPr>
                        <a:t>规模</a:t>
                      </a:r>
                      <a:r>
                        <a:rPr lang="en-US" sz="1400" b="1" kern="0">
                          <a:effectLst/>
                        </a:rPr>
                        <a:t>n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solidFill>
                            <a:schemeClr val="bg1"/>
                          </a:solidFill>
                          <a:effectLst/>
                        </a:rPr>
                        <a:t>60w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solidFill>
                            <a:schemeClr val="bg1"/>
                          </a:solidFill>
                          <a:effectLst/>
                        </a:rPr>
                        <a:t>70w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solidFill>
                            <a:schemeClr val="bg1"/>
                          </a:solidFill>
                          <a:effectLst/>
                        </a:rPr>
                        <a:t>80w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>
                          <a:solidFill>
                            <a:schemeClr val="bg1"/>
                          </a:solidFill>
                          <a:effectLst/>
                        </a:rPr>
                        <a:t>90w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0" dirty="0">
                          <a:solidFill>
                            <a:schemeClr val="bg1"/>
                          </a:solidFill>
                          <a:effectLst/>
                        </a:rPr>
                        <a:t>100w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067085"/>
                  </a:ext>
                </a:extLst>
              </a:tr>
              <a:tr h="404243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0">
                          <a:effectLst/>
                        </a:rPr>
                        <a:t>时间</a:t>
                      </a:r>
                      <a:r>
                        <a:rPr lang="en-US" sz="1400" b="1" kern="0">
                          <a:effectLst/>
                        </a:rPr>
                        <a:t>(ms)</a:t>
                      </a:r>
                      <a:endParaRPr lang="zh-CN" sz="12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941.19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1110.78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1282.05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1454.81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1628.88 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20789853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0566381-C3AE-40CE-A2C7-473D6464FD59}"/>
              </a:ext>
            </a:extLst>
          </p:cNvPr>
          <p:cNvSpPr txBox="1"/>
          <p:nvPr/>
        </p:nvSpPr>
        <p:spPr>
          <a:xfrm>
            <a:off x="1058227" y="1916096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归并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排序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分治法实际时间效率表</a:t>
            </a:r>
            <a:endParaRPr lang="zh-CN" altLang="en-US" sz="1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F38ED1-1FB1-4D84-BB2A-0F1638B0DDD3}"/>
              </a:ext>
            </a:extLst>
          </p:cNvPr>
          <p:cNvSpPr txBox="1"/>
          <p:nvPr/>
        </p:nvSpPr>
        <p:spPr>
          <a:xfrm>
            <a:off x="1129665" y="379594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归并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排序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分治法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理论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时间效率表</a:t>
            </a:r>
            <a:endParaRPr lang="zh-CN" altLang="en-US" sz="14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4DFED0C-D70A-4EB2-80BD-0ECA3E818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216" y="2093314"/>
            <a:ext cx="6449823" cy="348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48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E1B0842-FCF8-4B56-964A-08F155A36DF1}"/>
              </a:ext>
            </a:extLst>
          </p:cNvPr>
          <p:cNvSpPr txBox="1"/>
          <p:nvPr/>
        </p:nvSpPr>
        <p:spPr>
          <a:xfrm>
            <a:off x="1160207" y="26714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/>
              <a:t>算法效率比较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CFEEB35-DDB8-4828-87EE-1064A39D9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01" y="1543042"/>
            <a:ext cx="5297926" cy="321714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5C4F386-2A5E-46D4-A6BA-8A16700BC8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416" y="1616315"/>
            <a:ext cx="4833016" cy="314387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1112E0F-1C7F-47B3-9EA8-746087587265}"/>
              </a:ext>
            </a:extLst>
          </p:cNvPr>
          <p:cNvSpPr txBox="1"/>
          <p:nvPr/>
        </p:nvSpPr>
        <p:spPr>
          <a:xfrm>
            <a:off x="594607" y="4760188"/>
            <a:ext cx="4674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快速排序与归并排序下分治法的时间效率图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DCA60FD-44EA-4C11-BDF4-8C1F68F1AB59}"/>
              </a:ext>
            </a:extLst>
          </p:cNvPr>
          <p:cNvSpPr txBox="1"/>
          <p:nvPr/>
        </p:nvSpPr>
        <p:spPr>
          <a:xfrm>
            <a:off x="7197919" y="4760188"/>
            <a:ext cx="3188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暴力法与分治法的时间效率图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75682E0-EE0C-47F1-A3DC-50E5A9EDB91E}"/>
              </a:ext>
            </a:extLst>
          </p:cNvPr>
          <p:cNvSpPr txBox="1"/>
          <p:nvPr/>
        </p:nvSpPr>
        <p:spPr>
          <a:xfrm>
            <a:off x="361001" y="5129520"/>
            <a:ext cx="50762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结论：</a:t>
            </a:r>
            <a:r>
              <a:rPr lang="zh-CN" altLang="en-US" dirty="0"/>
              <a:t>分治法下快速排序的时间开销比归并排序的略小，但两者相差不大且整体趋势相同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A5DC97-7CB5-49C6-92F0-7D5D3F41418A}"/>
              </a:ext>
            </a:extLst>
          </p:cNvPr>
          <p:cNvSpPr txBox="1"/>
          <p:nvPr/>
        </p:nvSpPr>
        <p:spPr>
          <a:xfrm>
            <a:off x="6332805" y="5136434"/>
            <a:ext cx="5076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结论：</a:t>
            </a:r>
            <a:r>
              <a:rPr lang="zh-CN" altLang="en-US" dirty="0"/>
              <a:t>暴力法的时间效率远远低于分治法</a:t>
            </a:r>
          </a:p>
        </p:txBody>
      </p:sp>
    </p:spTree>
    <p:extLst>
      <p:ext uri="{BB962C8B-B14F-4D97-AF65-F5344CB8AC3E}">
        <p14:creationId xmlns:p14="http://schemas.microsoft.com/office/powerpoint/2010/main" val="307518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1472</Words>
  <Application>Microsoft Office PowerPoint</Application>
  <PresentationFormat>宽屏</PresentationFormat>
  <Paragraphs>211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等线</vt:lpstr>
      <vt:lpstr>等线 Light</vt:lpstr>
      <vt:lpstr>思源黑体 CN Heavy</vt:lpstr>
      <vt:lpstr>新宋体</vt:lpstr>
      <vt:lpstr>Arial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王锦鸿</dc:creator>
  <cp:lastModifiedBy>王锦鸿</cp:lastModifiedBy>
  <cp:revision>11</cp:revision>
  <dcterms:created xsi:type="dcterms:W3CDTF">2024-04-07T00:15:37Z</dcterms:created>
  <dcterms:modified xsi:type="dcterms:W3CDTF">2024-04-07T03:18:30Z</dcterms:modified>
</cp:coreProperties>
</file>