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68" r:id="rId4"/>
    <p:sldId id="270" r:id="rId5"/>
    <p:sldId id="272" r:id="rId6"/>
    <p:sldId id="279" r:id="rId7"/>
    <p:sldId id="269" r:id="rId8"/>
    <p:sldId id="273" r:id="rId9"/>
    <p:sldId id="274" r:id="rId10"/>
    <p:sldId id="275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B8F96DE-4298-4DB1-9195-96F733119B05}">
          <p14:sldIdLst>
            <p14:sldId id="267"/>
            <p14:sldId id="256"/>
            <p14:sldId id="268"/>
            <p14:sldId id="270"/>
            <p14:sldId id="272"/>
            <p14:sldId id="279"/>
            <p14:sldId id="269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锦鸿" initials="王锦鸿" lastIdx="1" clrIdx="0">
    <p:extLst>
      <p:ext uri="{19B8F6BF-5375-455C-9EA6-DF929625EA0E}">
        <p15:presenceInfo xmlns:p15="http://schemas.microsoft.com/office/powerpoint/2012/main" userId="王锦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7C349-BDA9-4F93-93C7-C8B74D666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AEFE14-BD83-427A-A0F4-E6DCE3CF6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8CCDDE-1D1C-49AF-A749-337826D6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8CB13F-EA2A-4BD5-A76F-0C9762AD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D4108-CC38-4B87-BA98-BEB9B400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64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808AB-486B-46D2-BC85-A9A439E4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F502A-CB40-4703-894E-FFE3F8B80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D8E7BB-8651-44E6-8328-75CE616C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C5276-50E9-44D2-A104-97A5E7A7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4839C-D7EE-4C0F-9533-5AB04012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384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DC85A-FE36-4B23-A9C5-89E2B273A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41B4BD-56CC-4D4D-9363-B6E1A1FA2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5C48D7-5CB8-4F24-B8AA-D11915D14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1A837-AB0B-4541-943A-EFE1E151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DEE57A-2D31-4810-B9BD-AFA04386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06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40642-0EDA-435A-9082-3BE6CE20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8F9350-0298-495E-ABBC-36DFD4641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E086B7-84FA-4506-9B27-39E9993A3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B737C1-DEB1-45AC-A70E-FDD8DCBD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05D58-8290-4134-81C9-E83E2AFA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F944B8-1DA0-411A-A27C-EE3454B9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8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43FDB-620A-4C67-B8C3-66EB581A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C1A758-57D8-4DA6-B418-DEF0B086C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71E98A-47B1-43E8-89EE-B30E6A03B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E5758E-C53B-4958-AD84-DD8D62D79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081761-6B4E-410E-9AFA-2BEE365EF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CB9141-BF6A-460A-A0E0-8059661D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9D9BA9-EC27-4482-8C3F-F2F21610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D560E5-9B63-47F0-B74E-08BEC724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4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26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11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C1256-FAAC-4584-9258-E9C3C8C61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EE2FB-2E87-4B85-8906-60967F104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00D4DE-3935-4391-8F15-3414CB43B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EB32C6-4F09-44EE-B4D5-5E31BC12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2B0B64-F689-4CE8-82F6-9BD859EF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FBECB2-38C4-4FF5-A8D3-91071228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77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63B88-5A81-4EC0-820F-5636DFD9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17D9E7-AD8E-46E6-9C8C-E9625C0E3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46388D-FC30-47BD-9F7E-6AA3FE835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1EE99F-E182-4603-824B-BE555B0B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4BE833-1760-4F13-867E-CF8A85F6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D620A5-86D4-48AA-AA19-74B8ACF6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4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C9765-8218-456C-BC29-90200BE8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19ED52-7424-4C60-9A1F-CD686BB81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73240-A0AF-4BBF-AC78-EC059145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80F9C-C69B-4BED-A367-346DEC49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1206B-8BAE-48F7-9BAF-D46B2FC6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69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6688B3-A49C-4A97-8F2A-A855D9D2F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E99B4B-FEBF-41D4-BD16-ED9B2E109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55440E-FF61-4C3A-884D-809434BF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4723F5-EA0E-4C21-A08E-F161FFD2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456444-2264-46D3-A70A-DCD17106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537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E977D2F-95B7-42BD-A340-19A9ECB29DB8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354AC49-1201-45C2-B880-79278C47FB48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52361D6-C8DA-4047-B02F-D9656F44025F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D241B31-D374-4B2A-91E7-68B75DB43DC3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23EEA69-6200-435F-8E39-8B5557397CA5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A9C52D3-12E1-4A4E-B5D9-C8ADAA2CD9AC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B7094F9-ECDB-4599-A721-ACF5AAA77C1E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0C0ACC2-AAA2-44DE-9758-3A62F7F2186F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B7BABDCE-2E8B-4D42-86DC-C7980DCC96C6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440795A-EB9C-4DA6-8ED3-6F3F3684EABC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18B3F813-BD57-4345-9CD7-018684504D96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3EAEA18B-2142-4E76-8190-D8937C99DEE5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B6BE10C-8B57-4328-832E-030BE42C6D34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9BB24DA-4A1F-47FB-9F3D-BF18C6B68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170D3F8A-BA2B-4783-A2EE-A055245378E6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AF7D654-FB23-4049-AAC7-6B2BE6E7FD18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77FA42F-2CCE-4FD9-82F2-AB1ED968E34C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2CC3B07-73DB-4FED-81A5-C30F4E225E2C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D71A83F-8866-4908-9192-A7711FCEEAE9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100B47D7-3427-4FC6-9ED8-E2C332ED23F4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B4BA8230-2397-4D20-9767-46721709CCD5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71C4E1F-1987-4E82-91AB-C1A258DC7F4F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8C26DCD-237D-48F9-85A3-C2D50674BD51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E4C659DA-45BE-4C56-AB50-FE8D4967FC6F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85CEF46C-7919-4878-AE1B-4F0EAB595BF0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7E3FC73A-3369-494B-A263-18727A2F50D0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449A2405-E31C-4C34-B584-FD9D219372CC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4251401-68F4-4C5F-83C2-5A9B53AECFD0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FF1FF145-10FD-46E8-965B-6258DC5B22D4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B38523D1-6342-4B0B-A9A7-456A63106324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5B3CE43A-FC64-41AC-95C2-84699AE0082C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9EE1880F-C29D-4F18-8CEF-DF9B16C216F6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9BEDCB24-280E-4029-99F4-98D7C56AA8C2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ADBDC1D7-52A9-4F5F-9EA6-8573EBEA0DBE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24E2FE99-D537-4E2F-8A35-664F801EA338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74F123F4-052C-4AE4-AF28-B0F4ABB98317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F8BC823-6EFB-4968-96FE-838D86752414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D6F5C211-8BEA-4AD8-B631-018C6B61B00E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EA626CE7-AD88-4103-92C7-E6EB2B33F3AE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D324E5F6-0D6A-4D56-B8AF-88C2F9995B1C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563A7E6E-0721-469B-BE1D-ED4882F54020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0BA0130F-22C4-4B9E-9416-9E6F24EA54C0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5">
              <a:extLst>
                <a:ext uri="{FF2B5EF4-FFF2-40B4-BE49-F238E27FC236}">
                  <a16:creationId xmlns:a16="http://schemas.microsoft.com/office/drawing/2014/main" id="{E7CE8D92-D47A-46B2-A2AE-04EE0A368B33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A58AD9BC-C77B-49B3-9BC8-A6D952DF7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44041724-5E0F-49E7-AC5F-E24427F0B380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548E3603-EA75-4D7A-890F-CE53AFCCF851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610838C2-6090-4B6B-8740-10528F934644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FC158CDF-7CEA-4848-99DA-075CD1168953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DFEEC8D9-806E-4EA1-B8E8-0951D90C17BF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6AD8D228-A3E3-49E6-981E-4A7EC10A2A60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D0236750-DE1A-4D83-835E-C7F12A27965C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927E730-CDF8-438B-8E76-1CBF12891C34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1F754AF5-0CAD-49EC-9981-D7236A398277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2E7BE24D-5076-4DF1-98DE-BFC4E20E14CA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041FC061-A743-49D5-BB3F-65C2FD09DC8C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8C4376A3-79FC-4F58-82A5-3C0AC3D8FC73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Oval 59">
              <a:extLst>
                <a:ext uri="{FF2B5EF4-FFF2-40B4-BE49-F238E27FC236}">
                  <a16:creationId xmlns:a16="http://schemas.microsoft.com/office/drawing/2014/main" id="{55A80D05-0E2F-4A31-9367-E4C462D4C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Oval 60">
              <a:extLst>
                <a:ext uri="{FF2B5EF4-FFF2-40B4-BE49-F238E27FC236}">
                  <a16:creationId xmlns:a16="http://schemas.microsoft.com/office/drawing/2014/main" id="{D8F74EA7-0FC3-4711-850B-2209D6489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1">
              <a:extLst>
                <a:ext uri="{FF2B5EF4-FFF2-40B4-BE49-F238E27FC236}">
                  <a16:creationId xmlns:a16="http://schemas.microsoft.com/office/drawing/2014/main" id="{E2DE3B58-5FEC-4DB5-A885-577BC6878A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2">
              <a:extLst>
                <a:ext uri="{FF2B5EF4-FFF2-40B4-BE49-F238E27FC236}">
                  <a16:creationId xmlns:a16="http://schemas.microsoft.com/office/drawing/2014/main" id="{58628AC1-4726-406F-9AB6-16F2AAEAF6DC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3">
              <a:extLst>
                <a:ext uri="{FF2B5EF4-FFF2-40B4-BE49-F238E27FC236}">
                  <a16:creationId xmlns:a16="http://schemas.microsoft.com/office/drawing/2014/main" id="{F9F1E16F-B362-4E11-910B-09FAD18D9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4">
              <a:extLst>
                <a:ext uri="{FF2B5EF4-FFF2-40B4-BE49-F238E27FC236}">
                  <a16:creationId xmlns:a16="http://schemas.microsoft.com/office/drawing/2014/main" id="{A7C8617B-49FA-405E-ACFE-D2D2DE1199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5">
              <a:extLst>
                <a:ext uri="{FF2B5EF4-FFF2-40B4-BE49-F238E27FC236}">
                  <a16:creationId xmlns:a16="http://schemas.microsoft.com/office/drawing/2014/main" id="{E63B2141-526C-43E6-9C96-B176FDB127E5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6">
              <a:extLst>
                <a:ext uri="{FF2B5EF4-FFF2-40B4-BE49-F238E27FC236}">
                  <a16:creationId xmlns:a16="http://schemas.microsoft.com/office/drawing/2014/main" id="{44179A2A-F7C6-4404-BA11-309F41E3D1FF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7">
              <a:extLst>
                <a:ext uri="{FF2B5EF4-FFF2-40B4-BE49-F238E27FC236}">
                  <a16:creationId xmlns:a16="http://schemas.microsoft.com/office/drawing/2014/main" id="{FC21599B-C4DD-4370-BDC4-F48CB83CA128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68">
              <a:extLst>
                <a:ext uri="{FF2B5EF4-FFF2-40B4-BE49-F238E27FC236}">
                  <a16:creationId xmlns:a16="http://schemas.microsoft.com/office/drawing/2014/main" id="{9D1A6E9A-5F31-4722-AA41-7BB04F4EF3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69">
              <a:extLst>
                <a:ext uri="{FF2B5EF4-FFF2-40B4-BE49-F238E27FC236}">
                  <a16:creationId xmlns:a16="http://schemas.microsoft.com/office/drawing/2014/main" id="{A61E7DA7-61E7-4D45-BA05-776288326C99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0">
              <a:extLst>
                <a:ext uri="{FF2B5EF4-FFF2-40B4-BE49-F238E27FC236}">
                  <a16:creationId xmlns:a16="http://schemas.microsoft.com/office/drawing/2014/main" id="{09F620D9-C586-4C5D-8C27-3885AFDFA72D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38F1E69E-3243-48F8-BA51-C842D750B44A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79D6F3"/>
          </a:solidFill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4B9E58A8-09B1-464B-8A78-82333F8B7EED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8B5D318-9D03-4BFE-989B-3710E07F3EFF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17030750-A69D-41AB-8978-34804091313E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10B3A516-2132-4A26-A93E-7EA24E966C4E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A8D903BB-7CF2-446B-8919-B2C12F9E7BCC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122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9525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8" name="标题 3073"/>
          <p:cNvSpPr txBox="1"/>
          <p:nvPr/>
        </p:nvSpPr>
        <p:spPr>
          <a:xfrm>
            <a:off x="2893993" y="2646242"/>
            <a:ext cx="6404014" cy="1478112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5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E997FDA-D907-4803-861F-B12EFB4700F5}"/>
              </a:ext>
            </a:extLst>
          </p:cNvPr>
          <p:cNvSpPr txBox="1"/>
          <p:nvPr/>
        </p:nvSpPr>
        <p:spPr>
          <a:xfrm>
            <a:off x="3736781" y="2646984"/>
            <a:ext cx="641927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桥</a:t>
            </a:r>
            <a:r>
              <a:rPr lang="en-US" altLang="zh-CN" sz="8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</a:t>
            </a:r>
          </a:p>
          <a:p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--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王培鸿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9065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49B390-A2B3-475B-822B-37BAD55EBA64}"/>
              </a:ext>
            </a:extLst>
          </p:cNvPr>
          <p:cNvSpPr txBox="1"/>
          <p:nvPr/>
        </p:nvSpPr>
        <p:spPr>
          <a:xfrm>
            <a:off x="4457700" y="2617877"/>
            <a:ext cx="2038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基准法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A5383F-A384-49D0-8C1A-31F34489C5BA}"/>
              </a:ext>
            </a:extLst>
          </p:cNvPr>
          <p:cNvSpPr txBox="1"/>
          <p:nvPr/>
        </p:nvSpPr>
        <p:spPr>
          <a:xfrm>
            <a:off x="4457700" y="3495676"/>
            <a:ext cx="4820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LCA+</a:t>
            </a:r>
            <a:r>
              <a:rPr lang="zh-CN" altLang="en-US" sz="3200" b="1" dirty="0"/>
              <a:t>并查集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路径优化</a:t>
            </a:r>
          </a:p>
        </p:txBody>
      </p:sp>
    </p:spTree>
    <p:extLst>
      <p:ext uri="{BB962C8B-B14F-4D97-AF65-F5344CB8AC3E}">
        <p14:creationId xmlns:p14="http://schemas.microsoft.com/office/powerpoint/2010/main" val="316526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B302D4-5EC0-4AF1-9943-C3DCA34DE8F2}"/>
              </a:ext>
            </a:extLst>
          </p:cNvPr>
          <p:cNvSpPr txBox="1"/>
          <p:nvPr/>
        </p:nvSpPr>
        <p:spPr>
          <a:xfrm>
            <a:off x="1114425" y="255677"/>
            <a:ext cx="2038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基准法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43942E-A46A-40FB-858A-1D8AC3FD6724}"/>
              </a:ext>
            </a:extLst>
          </p:cNvPr>
          <p:cNvSpPr txBox="1"/>
          <p:nvPr/>
        </p:nvSpPr>
        <p:spPr>
          <a:xfrm>
            <a:off x="1952624" y="1068134"/>
            <a:ext cx="8753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在图论中，一条边被称为“桥”代表这条边一旦被删除，这张图的</a:t>
            </a:r>
            <a:r>
              <a:rPr lang="zh-CN" altLang="en-US" sz="1800" b="1" dirty="0">
                <a:solidFill>
                  <a:srgbClr val="FF0000"/>
                </a:solidFill>
              </a:rPr>
              <a:t>连通块数量会增加</a:t>
            </a:r>
            <a:r>
              <a:rPr lang="zh-CN" altLang="en-US" sz="1800" dirty="0"/>
              <a:t>。等价地说，一条边是一座桥当且仅当这条边不在任何环上。一张图可以有零或多座桥。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008078-DC48-417A-9CCE-975B82E69AC2}"/>
              </a:ext>
            </a:extLst>
          </p:cNvPr>
          <p:cNvSpPr txBox="1"/>
          <p:nvPr/>
        </p:nvSpPr>
        <p:spPr>
          <a:xfrm>
            <a:off x="322729" y="2083796"/>
            <a:ext cx="64685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BASIC：</a:t>
            </a:r>
          </a:p>
          <a:p>
            <a:r>
              <a:rPr lang="en-US" altLang="zh-CN" sz="1800" dirty="0"/>
              <a:t>	count = BFS()	// </a:t>
            </a:r>
            <a:r>
              <a:rPr lang="zh-CN" altLang="en-US" sz="1800" dirty="0"/>
              <a:t>计算连通分支数</a:t>
            </a:r>
            <a:endParaRPr lang="en-US" altLang="zh-CN" sz="1800" dirty="0"/>
          </a:p>
          <a:p>
            <a:r>
              <a:rPr lang="en-US" altLang="zh-CN" sz="1800" dirty="0"/>
              <a:t>	For every edge (u, v) do following:</a:t>
            </a:r>
          </a:p>
          <a:p>
            <a:r>
              <a:rPr lang="en-US" altLang="zh-CN" sz="1800" dirty="0"/>
              <a:t>		Remove (u, v) from graph</a:t>
            </a:r>
          </a:p>
          <a:p>
            <a:r>
              <a:rPr lang="en-US" altLang="zh-CN" sz="1800" dirty="0"/>
              <a:t>		</a:t>
            </a:r>
            <a:r>
              <a:rPr lang="en-US" altLang="zh-CN" dirty="0"/>
              <a:t>If </a:t>
            </a:r>
            <a:r>
              <a:rPr lang="en-US" altLang="zh-CN" sz="1800" dirty="0"/>
              <a:t>BFS() &gt; count:</a:t>
            </a:r>
          </a:p>
          <a:p>
            <a:r>
              <a:rPr lang="en-US" altLang="zh-CN" sz="1800" dirty="0"/>
              <a:t>		</a:t>
            </a:r>
            <a:r>
              <a:rPr lang="en-US" altLang="zh-CN" dirty="0"/>
              <a:t>      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u,v</a:t>
            </a:r>
            <a:r>
              <a:rPr lang="en-US" altLang="zh-CN" sz="1800" dirty="0"/>
              <a:t>) is a bridge</a:t>
            </a:r>
          </a:p>
          <a:p>
            <a:r>
              <a:rPr lang="en-US" altLang="zh-CN" sz="1800" dirty="0"/>
              <a:t>		Add (u, v) back to the graph.</a:t>
            </a:r>
          </a:p>
        </p:txBody>
      </p:sp>
      <p:pic>
        <p:nvPicPr>
          <p:cNvPr id="9" name="图片 8" descr="https://upload.wikimedia.org/wikipedia/commons/thumb/d/df/Graph_cut_edges.svg/200px-Graph_cut_edges.svg.png">
            <a:extLst>
              <a:ext uri="{FF2B5EF4-FFF2-40B4-BE49-F238E27FC236}">
                <a16:creationId xmlns:a16="http://schemas.microsoft.com/office/drawing/2014/main" id="{FF3AEE48-3F89-431B-9CD1-FE880D3E5E72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9214" y="1951112"/>
            <a:ext cx="2778760" cy="27787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51580B4-4B3A-42EC-A44B-9DF7E2D432DA}"/>
                  </a:ext>
                </a:extLst>
              </p:cNvPr>
              <p:cNvSpPr txBox="1"/>
              <p:nvPr/>
            </p:nvSpPr>
            <p:spPr>
              <a:xfrm>
                <a:off x="485775" y="4484452"/>
                <a:ext cx="6123305" cy="2068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 err="1"/>
                  <a:t>时间复杂度分析</a:t>
                </a:r>
                <a:r>
                  <a:rPr lang="zh-CN" altLang="en-US" sz="2000" b="1" dirty="0"/>
                  <a:t>：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BFS</a:t>
                </a:r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 err="1"/>
                  <a:t>有e条边</a:t>
                </a:r>
                <a:r>
                  <a:rPr lang="zh-CN" altLang="en-US" dirty="0"/>
                  <a:t>，每次</a:t>
                </a:r>
                <a:r>
                  <a:rPr lang="en-US" altLang="zh-CN" dirty="0" err="1"/>
                  <a:t>BFS，总时间复杂度为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51580B4-4B3A-42EC-A44B-9DF7E2D43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4484452"/>
                <a:ext cx="6123305" cy="2068323"/>
              </a:xfrm>
              <a:prstGeom prst="rect">
                <a:avLst/>
              </a:prstGeom>
              <a:blipFill>
                <a:blip r:embed="rId4"/>
                <a:stretch>
                  <a:fillRect l="-1096" t="-17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5175097-60A7-4F60-BD42-1CFB7244B089}"/>
                  </a:ext>
                </a:extLst>
              </p:cNvPr>
              <p:cNvSpPr txBox="1"/>
              <p:nvPr/>
            </p:nvSpPr>
            <p:spPr>
              <a:xfrm>
                <a:off x="6524625" y="4720907"/>
                <a:ext cx="6096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zh-CN" dirty="0"/>
              </a:p>
              <a:p>
                <a:r>
                  <a:rPr lang="en-US" altLang="zh-CN" dirty="0" err="1"/>
                  <a:t>对于稀疏图e</a:t>
                </a:r>
                <a:r>
                  <a:rPr lang="en-US" altLang="zh-CN" dirty="0"/>
                  <a:t> = </a:t>
                </a:r>
                <a:r>
                  <a:rPr lang="en-US" altLang="zh-CN" dirty="0" err="1"/>
                  <a:t>n，对于稠密图e</a:t>
                </a:r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 err="1"/>
                  <a:t>稀疏图</a:t>
                </a:r>
                <a:r>
                  <a:rPr lang="en-US" altLang="zh-CN" dirty="0"/>
                  <a:t>：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，</a:t>
                </a:r>
                <a:r>
                  <a:rPr lang="en-US" altLang="zh-CN" dirty="0" err="1"/>
                  <a:t>稠密图</a:t>
                </a:r>
                <a:r>
                  <a:rPr lang="en-US" altLang="zh-CN" dirty="0"/>
                  <a:t>：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5175097-60A7-4F60-BD42-1CFB7244B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625" y="4720907"/>
                <a:ext cx="6096000" cy="1200329"/>
              </a:xfrm>
              <a:prstGeom prst="rect">
                <a:avLst/>
              </a:prstGeom>
              <a:blipFill>
                <a:blip r:embed="rId5"/>
                <a:stretch>
                  <a:fillRect l="-800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31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3AB268-1FFA-49DF-9AD0-3F473FB84777}"/>
              </a:ext>
            </a:extLst>
          </p:cNvPr>
          <p:cNvSpPr txBox="1"/>
          <p:nvPr/>
        </p:nvSpPr>
        <p:spPr>
          <a:xfrm>
            <a:off x="857249" y="1107014"/>
            <a:ext cx="99536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优化：</a:t>
            </a:r>
          </a:p>
          <a:p>
            <a:r>
              <a:rPr lang="zh-CN" altLang="en-US" sz="1800" dirty="0"/>
              <a:t>删除边后不需要对全图进行</a:t>
            </a:r>
            <a:r>
              <a:rPr lang="en-US" altLang="zh-CN" sz="1800" dirty="0"/>
              <a:t>B</a:t>
            </a:r>
            <a:r>
              <a:rPr lang="zh-CN" altLang="en-US" sz="1800" dirty="0"/>
              <a:t>FS</a:t>
            </a:r>
            <a:r>
              <a:rPr lang="zh-CN" altLang="en-US" dirty="0"/>
              <a:t>，以边中的其中一点为</a:t>
            </a:r>
            <a:r>
              <a:rPr lang="zh-CN" altLang="en-US" b="1" dirty="0"/>
              <a:t>起点</a:t>
            </a:r>
            <a:r>
              <a:rPr lang="zh-CN" altLang="en-US" dirty="0"/>
              <a:t>。</a:t>
            </a:r>
            <a:r>
              <a:rPr lang="zh-CN" altLang="en-US" sz="1800" dirty="0"/>
              <a:t>如果在</a:t>
            </a:r>
            <a:r>
              <a:rPr lang="zh-CN" altLang="en-US" dirty="0"/>
              <a:t>广度</a:t>
            </a:r>
            <a:r>
              <a:rPr lang="zh-CN" altLang="en-US" sz="1800" dirty="0"/>
              <a:t>优先搜索过程中，</a:t>
            </a:r>
            <a:r>
              <a:rPr lang="zh-CN" altLang="en-US" sz="1800" b="1" dirty="0"/>
              <a:t>搜索不到</a:t>
            </a:r>
            <a:r>
              <a:rPr lang="zh-CN" altLang="en-US" sz="1800" dirty="0"/>
              <a:t>另一结点则说明在同一连通分支，提前结束搜索。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F44AC6-F542-4ED3-BC98-95CB3819D385}"/>
              </a:ext>
            </a:extLst>
          </p:cNvPr>
          <p:cNvSpPr txBox="1"/>
          <p:nvPr/>
        </p:nvSpPr>
        <p:spPr>
          <a:xfrm>
            <a:off x="534551" y="242177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Improved BASIC：</a:t>
            </a:r>
          </a:p>
          <a:p>
            <a:r>
              <a:rPr lang="en-US" altLang="zh-CN" sz="1800" dirty="0"/>
              <a:t>	For every edge (u, v) do following:</a:t>
            </a:r>
          </a:p>
          <a:p>
            <a:r>
              <a:rPr lang="en-US" altLang="zh-CN" sz="1800" dirty="0"/>
              <a:t>		Remove (u, v) from graph</a:t>
            </a:r>
          </a:p>
          <a:p>
            <a:r>
              <a:rPr lang="en-US" altLang="zh-CN" sz="1800" dirty="0"/>
              <a:t>		BFS(u)</a:t>
            </a:r>
          </a:p>
          <a:p>
            <a:r>
              <a:rPr lang="en-US" altLang="zh-CN" sz="1800" dirty="0"/>
              <a:t>		</a:t>
            </a:r>
            <a:r>
              <a:rPr lang="en-US" altLang="zh-CN" dirty="0"/>
              <a:t>If v </a:t>
            </a:r>
            <a:r>
              <a:rPr lang="en-US" altLang="zh-CN" b="1" dirty="0"/>
              <a:t>is not </a:t>
            </a:r>
            <a:r>
              <a:rPr lang="en-US" altLang="zh-CN" dirty="0"/>
              <a:t>visited during BFS(u):</a:t>
            </a:r>
          </a:p>
          <a:p>
            <a:r>
              <a:rPr lang="en-US" altLang="zh-CN" sz="1800" dirty="0"/>
              <a:t>			(</a:t>
            </a:r>
            <a:r>
              <a:rPr lang="en-US" altLang="zh-CN" sz="1800" dirty="0" err="1"/>
              <a:t>u,v</a:t>
            </a:r>
            <a:r>
              <a:rPr lang="en-US" altLang="zh-CN" sz="1800" dirty="0"/>
              <a:t>) is a bridge</a:t>
            </a:r>
          </a:p>
          <a:p>
            <a:r>
              <a:rPr lang="en-US" altLang="zh-CN" dirty="0"/>
              <a:t>	</a:t>
            </a:r>
            <a:r>
              <a:rPr lang="en-US" altLang="zh-CN" sz="1800" dirty="0"/>
              <a:t>	Add (u, v) back to the graph.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F4E41D-3C92-4532-9409-A5067205AD43}"/>
              </a:ext>
            </a:extLst>
          </p:cNvPr>
          <p:cNvSpPr txBox="1"/>
          <p:nvPr/>
        </p:nvSpPr>
        <p:spPr>
          <a:xfrm>
            <a:off x="1114424" y="255677"/>
            <a:ext cx="3305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基准法优化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94C4DFC-8D75-49DA-9507-CB551D25A055}"/>
              </a:ext>
            </a:extLst>
          </p:cNvPr>
          <p:cNvGrpSpPr/>
          <p:nvPr/>
        </p:nvGrpSpPr>
        <p:grpSpPr>
          <a:xfrm>
            <a:off x="6689374" y="2232283"/>
            <a:ext cx="5016851" cy="1426866"/>
            <a:chOff x="6791324" y="2873829"/>
            <a:chExt cx="5016851" cy="142686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03841CB-19BB-4E8D-9349-106678363DA5}"/>
                </a:ext>
              </a:extLst>
            </p:cNvPr>
            <p:cNvSpPr/>
            <p:nvPr/>
          </p:nvSpPr>
          <p:spPr>
            <a:xfrm>
              <a:off x="6791324" y="3155182"/>
              <a:ext cx="2071322" cy="11455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连通分量</a:t>
              </a:r>
              <a:r>
                <a:rPr lang="en-US" altLang="zh-CN" b="1" dirty="0"/>
                <a:t>C</a:t>
              </a:r>
              <a:endParaRPr lang="zh-CN" altLang="en-US" b="1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51CB5EE7-B2B5-4C4E-8189-C14BB1EFF786}"/>
                </a:ext>
              </a:extLst>
            </p:cNvPr>
            <p:cNvSpPr/>
            <p:nvPr/>
          </p:nvSpPr>
          <p:spPr>
            <a:xfrm>
              <a:off x="9736853" y="3156856"/>
              <a:ext cx="2071322" cy="114383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连通分量</a:t>
              </a:r>
              <a:r>
                <a:rPr lang="en-US" altLang="zh-CN" b="1" dirty="0"/>
                <a:t>G</a:t>
              </a:r>
              <a:endParaRPr lang="zh-CN" altLang="en-US" b="1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976A72F-1E62-451F-856D-5DA076D568F2}"/>
                </a:ext>
              </a:extLst>
            </p:cNvPr>
            <p:cNvSpPr/>
            <p:nvPr/>
          </p:nvSpPr>
          <p:spPr>
            <a:xfrm>
              <a:off x="8380325" y="3285032"/>
              <a:ext cx="482321" cy="432858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/>
                <a:t>u</a:t>
              </a:r>
              <a:endParaRPr lang="zh-CN" altLang="en-US" sz="2800" b="1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01E6ACB-CFEE-4B14-A3A6-E743908A044A}"/>
                </a:ext>
              </a:extLst>
            </p:cNvPr>
            <p:cNvSpPr/>
            <p:nvPr/>
          </p:nvSpPr>
          <p:spPr>
            <a:xfrm>
              <a:off x="9736853" y="3295080"/>
              <a:ext cx="482321" cy="432858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/>
                <a:t>v</a:t>
              </a:r>
              <a:endParaRPr lang="zh-CN" altLang="en-US" sz="2800" b="1" dirty="0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B12CF43-5420-4E10-B55F-76AE001FDC4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8862646" y="3501461"/>
              <a:ext cx="874207" cy="10048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626AD6C-AAE8-4B72-BD91-4024225EF5C1}"/>
                </a:ext>
              </a:extLst>
            </p:cNvPr>
            <p:cNvCxnSpPr/>
            <p:nvPr/>
          </p:nvCxnSpPr>
          <p:spPr>
            <a:xfrm>
              <a:off x="9299749" y="2873829"/>
              <a:ext cx="0" cy="1185705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0B6F910B-5F48-41CE-9865-83A7EEADF3B5}"/>
              </a:ext>
            </a:extLst>
          </p:cNvPr>
          <p:cNvSpPr txBox="1"/>
          <p:nvPr/>
        </p:nvSpPr>
        <p:spPr>
          <a:xfrm>
            <a:off x="6810060" y="3884633"/>
            <a:ext cx="47754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如果边</a:t>
            </a:r>
            <a:r>
              <a:rPr lang="en-US" altLang="zh-CN" dirty="0"/>
              <a:t>(</a:t>
            </a:r>
            <a:r>
              <a:rPr lang="en-US" altLang="zh-CN" dirty="0" err="1"/>
              <a:t>u,v</a:t>
            </a:r>
            <a:r>
              <a:rPr lang="en-US" altLang="zh-CN" dirty="0"/>
              <a:t>)</a:t>
            </a:r>
            <a:r>
              <a:rPr lang="zh-CN" altLang="en-US" dirty="0"/>
              <a:t>是桥，则删除边后顶点</a:t>
            </a:r>
            <a:r>
              <a:rPr lang="en-US" altLang="zh-CN" dirty="0" err="1"/>
              <a:t>u,v</a:t>
            </a:r>
            <a:r>
              <a:rPr lang="zh-CN" altLang="en-US" dirty="0"/>
              <a:t>处于不同的连通分量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66936B1-6190-4781-A926-17C6FC57AE6D}"/>
                  </a:ext>
                </a:extLst>
              </p:cNvPr>
              <p:cNvSpPr txBox="1"/>
              <p:nvPr/>
            </p:nvSpPr>
            <p:spPr>
              <a:xfrm>
                <a:off x="485775" y="4484452"/>
                <a:ext cx="6123305" cy="2068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 err="1"/>
                  <a:t>时间复杂度分析</a:t>
                </a:r>
                <a:r>
                  <a:rPr lang="zh-CN" altLang="en-US" sz="2000" b="1" dirty="0"/>
                  <a:t>：</a:t>
                </a:r>
              </a:p>
              <a:p>
                <a:endParaRPr lang="en-US" altLang="zh-CN" dirty="0"/>
              </a:p>
              <a:p>
                <a:r>
                  <a:rPr lang="en-US" altLang="zh-CN" dirty="0" err="1"/>
                  <a:t>对全图BFS</a:t>
                </a:r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有e条边</a:t>
                </a:r>
                <a:r>
                  <a:rPr lang="zh-CN" altLang="en-US" dirty="0"/>
                  <a:t>，每次</a:t>
                </a:r>
                <a:r>
                  <a:rPr lang="en-US" altLang="zh-CN" dirty="0" err="1"/>
                  <a:t>对全图BFS，总时间复杂度为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66936B1-6190-4781-A926-17C6FC57A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4484452"/>
                <a:ext cx="6123305" cy="2068323"/>
              </a:xfrm>
              <a:prstGeom prst="rect">
                <a:avLst/>
              </a:prstGeom>
              <a:blipFill>
                <a:blip r:embed="rId2"/>
                <a:stretch>
                  <a:fillRect l="-1096" t="-17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21E5284-2487-47E0-AEB4-EDD18D6BD353}"/>
                  </a:ext>
                </a:extLst>
              </p:cNvPr>
              <p:cNvSpPr txBox="1"/>
              <p:nvPr/>
            </p:nvSpPr>
            <p:spPr>
              <a:xfrm>
                <a:off x="6524625" y="4941705"/>
                <a:ext cx="6096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zh-CN" dirty="0"/>
              </a:p>
              <a:p>
                <a:r>
                  <a:rPr lang="en-US" altLang="zh-CN" dirty="0" err="1"/>
                  <a:t>对于稀疏图e</a:t>
                </a:r>
                <a:r>
                  <a:rPr lang="en-US" altLang="zh-CN" dirty="0"/>
                  <a:t> = </a:t>
                </a:r>
                <a:r>
                  <a:rPr lang="en-US" altLang="zh-CN" dirty="0" err="1"/>
                  <a:t>n，对于稠密图e</a:t>
                </a:r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 err="1"/>
                  <a:t>稀疏图</a:t>
                </a:r>
                <a:r>
                  <a:rPr lang="en-US" altLang="zh-CN" dirty="0"/>
                  <a:t>：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，</a:t>
                </a:r>
                <a:r>
                  <a:rPr lang="en-US" altLang="zh-CN" dirty="0" err="1"/>
                  <a:t>稠密图</a:t>
                </a:r>
                <a:r>
                  <a:rPr lang="en-US" altLang="zh-CN" dirty="0"/>
                  <a:t>：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21E5284-2487-47E0-AEB4-EDD18D6BD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625" y="4941705"/>
                <a:ext cx="6096000" cy="1200329"/>
              </a:xfrm>
              <a:prstGeom prst="rect">
                <a:avLst/>
              </a:prstGeom>
              <a:blipFill>
                <a:blip r:embed="rId3"/>
                <a:stretch>
                  <a:fillRect l="-800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17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FED9ADC-3B91-4D1E-B18E-EA079C79F12E}"/>
              </a:ext>
            </a:extLst>
          </p:cNvPr>
          <p:cNvSpPr txBox="1"/>
          <p:nvPr/>
        </p:nvSpPr>
        <p:spPr>
          <a:xfrm>
            <a:off x="1114425" y="255677"/>
            <a:ext cx="2038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基准法</a:t>
            </a:r>
          </a:p>
        </p:txBody>
      </p:sp>
      <p:graphicFrame>
        <p:nvGraphicFramePr>
          <p:cNvPr id="5" name="表格 10">
            <a:extLst>
              <a:ext uri="{FF2B5EF4-FFF2-40B4-BE49-F238E27FC236}">
                <a16:creationId xmlns:a16="http://schemas.microsoft.com/office/drawing/2014/main" id="{5B1ED4F6-6683-43C6-908E-DBB588096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649277"/>
              </p:ext>
            </p:extLst>
          </p:nvPr>
        </p:nvGraphicFramePr>
        <p:xfrm>
          <a:off x="180783" y="3911084"/>
          <a:ext cx="5498076" cy="86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519">
                  <a:extLst>
                    <a:ext uri="{9D8B030D-6E8A-4147-A177-3AD203B41FA5}">
                      <a16:colId xmlns:a16="http://schemas.microsoft.com/office/drawing/2014/main" val="653660747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2180585943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4177119479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3091362994"/>
                    </a:ext>
                  </a:extLst>
                </a:gridCol>
              </a:tblGrid>
              <a:tr h="3862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数据集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SmallG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MediumG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LargeG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116021"/>
                  </a:ext>
                </a:extLst>
              </a:tr>
              <a:tr h="4837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038955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79BE445C-81CF-472A-93CE-A456F8DA7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93" y="1708536"/>
            <a:ext cx="4642782" cy="18248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FA44058-308C-41AE-B79B-F8526EACC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317" y="1708536"/>
            <a:ext cx="4642782" cy="1860465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7FB5CDA-4B56-4BB6-B189-410C41A35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91031"/>
              </p:ext>
            </p:extLst>
          </p:nvPr>
        </p:nvGraphicFramePr>
        <p:xfrm>
          <a:off x="6513142" y="3864940"/>
          <a:ext cx="5498076" cy="916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519">
                  <a:extLst>
                    <a:ext uri="{9D8B030D-6E8A-4147-A177-3AD203B41FA5}">
                      <a16:colId xmlns:a16="http://schemas.microsoft.com/office/drawing/2014/main" val="653660747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2180585943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4177119479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3091362994"/>
                    </a:ext>
                  </a:extLst>
                </a:gridCol>
              </a:tblGrid>
              <a:tr h="4580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数据集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SmallG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MediumG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LargeG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116021"/>
                  </a:ext>
                </a:extLst>
              </a:tr>
              <a:tr h="4580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----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038955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C03AF68-7B26-4E42-9498-4E6155259FF3}"/>
              </a:ext>
            </a:extLst>
          </p:cNvPr>
          <p:cNvSpPr txBox="1"/>
          <p:nvPr/>
        </p:nvSpPr>
        <p:spPr>
          <a:xfrm>
            <a:off x="2491239" y="108982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基准法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575969-76ED-4E3E-A10A-4A993CA5CCB0}"/>
              </a:ext>
            </a:extLst>
          </p:cNvPr>
          <p:cNvSpPr txBox="1"/>
          <p:nvPr/>
        </p:nvSpPr>
        <p:spPr>
          <a:xfrm>
            <a:off x="8507040" y="118176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基准法优化</a:t>
            </a:r>
          </a:p>
        </p:txBody>
      </p:sp>
    </p:spTree>
    <p:extLst>
      <p:ext uri="{BB962C8B-B14F-4D97-AF65-F5344CB8AC3E}">
        <p14:creationId xmlns:p14="http://schemas.microsoft.com/office/powerpoint/2010/main" val="299762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725505-D958-4561-8943-5FBF676F0BDF}"/>
              </a:ext>
            </a:extLst>
          </p:cNvPr>
          <p:cNvSpPr txBox="1"/>
          <p:nvPr/>
        </p:nvSpPr>
        <p:spPr>
          <a:xfrm>
            <a:off x="1114425" y="255677"/>
            <a:ext cx="2038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基准法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EBFA8C2-2DA8-4E4C-BEB8-0DE201F48A88}"/>
                  </a:ext>
                </a:extLst>
              </p:cNvPr>
              <p:cNvSpPr txBox="1"/>
              <p:nvPr/>
            </p:nvSpPr>
            <p:spPr>
              <a:xfrm>
                <a:off x="7100549" y="152665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 err="1"/>
                  <a:t>稠密图e</a:t>
                </a:r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，时间复杂度为</a:t>
                </a:r>
                <a:r>
                  <a:rPr lang="en-US" altLang="zh-CN" dirty="0"/>
                  <a:t>：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EBFA8C2-2DA8-4E4C-BEB8-0DE201F48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549" y="1526656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l="-90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761319D-7C0A-45AC-9CBE-F3A45482C3EA}"/>
                  </a:ext>
                </a:extLst>
              </p:cNvPr>
              <p:cNvSpPr txBox="1"/>
              <p:nvPr/>
            </p:nvSpPr>
            <p:spPr>
              <a:xfrm>
                <a:off x="1371794" y="152665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 err="1"/>
                  <a:t>稀疏图e</a:t>
                </a:r>
                <a:r>
                  <a:rPr lang="en-US" altLang="zh-CN" dirty="0"/>
                  <a:t> = n </a:t>
                </a:r>
                <a:r>
                  <a:rPr lang="zh-CN" altLang="en-US" dirty="0"/>
                  <a:t>，时间复杂度为</a:t>
                </a:r>
                <a:r>
                  <a:rPr lang="en-US" altLang="zh-CN" dirty="0"/>
                  <a:t>：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761319D-7C0A-45AC-9CBE-F3A45482C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794" y="1526656"/>
                <a:ext cx="6096000" cy="369332"/>
              </a:xfrm>
              <a:prstGeom prst="rect">
                <a:avLst/>
              </a:prstGeom>
              <a:blipFill>
                <a:blip r:embed="rId9"/>
                <a:stretch>
                  <a:fillRect l="-80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83C9C89-A3C1-45FD-BC65-079F30FEAF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868" y="2277876"/>
            <a:ext cx="5629275" cy="33242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EFF9D00-6360-4530-8199-90806F43EA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36" y="2287400"/>
            <a:ext cx="55245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1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2362CF0-846C-438C-8566-6D10200502FF}"/>
              </a:ext>
            </a:extLst>
          </p:cNvPr>
          <p:cNvSpPr txBox="1"/>
          <p:nvPr/>
        </p:nvSpPr>
        <p:spPr>
          <a:xfrm>
            <a:off x="970971" y="41589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LCA(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最小公共祖先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)</a:t>
            </a:r>
            <a:endParaRPr lang="zh-CN" altLang="en-US" sz="24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E272F6-9693-4B5B-8BF3-78FE31BE9FEE}"/>
              </a:ext>
            </a:extLst>
          </p:cNvPr>
          <p:cNvSpPr txBox="1"/>
          <p:nvPr/>
        </p:nvSpPr>
        <p:spPr>
          <a:xfrm>
            <a:off x="3700964" y="42449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一棵树中，两个节点的最近公共祖先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316D898-9F4F-45BC-A032-33AB56309709}"/>
              </a:ext>
            </a:extLst>
          </p:cNvPr>
          <p:cNvSpPr txBox="1"/>
          <p:nvPr/>
        </p:nvSpPr>
        <p:spPr>
          <a:xfrm>
            <a:off x="970971" y="4991293"/>
            <a:ext cx="77312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过程：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比较两个点的深度，深度大者移动到其前驱节点，以此类推，直到两个点重合。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F0575E-993E-490A-87DE-12A63CD4F2B5}"/>
              </a:ext>
            </a:extLst>
          </p:cNvPr>
          <p:cNvSpPr txBox="1"/>
          <p:nvPr/>
        </p:nvSpPr>
        <p:spPr>
          <a:xfrm>
            <a:off x="2336183" y="1018880"/>
            <a:ext cx="77544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树是边数最小的无环图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，向树上任意两个顶点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添加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边，必定会形成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环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，所以桥一定是生成树上的边。</a:t>
            </a:r>
            <a:endParaRPr lang="zh-CN" altLang="en-US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EAD0D989-34E3-406C-86E4-A1738EC029FE}"/>
              </a:ext>
            </a:extLst>
          </p:cNvPr>
          <p:cNvGrpSpPr/>
          <p:nvPr/>
        </p:nvGrpSpPr>
        <p:grpSpPr>
          <a:xfrm>
            <a:off x="970971" y="1812195"/>
            <a:ext cx="4399464" cy="2058970"/>
            <a:chOff x="1467936" y="1808907"/>
            <a:chExt cx="4455222" cy="208646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FA305E3C-4967-4A1C-8168-D5FC48790EE6}"/>
                </a:ext>
              </a:extLst>
            </p:cNvPr>
            <p:cNvSpPr/>
            <p:nvPr/>
          </p:nvSpPr>
          <p:spPr>
            <a:xfrm>
              <a:off x="1940209" y="2554160"/>
              <a:ext cx="472273" cy="492369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27872F8F-DEFB-4EAC-A050-B1D56653E31F}"/>
                </a:ext>
              </a:extLst>
            </p:cNvPr>
            <p:cNvSpPr/>
            <p:nvPr/>
          </p:nvSpPr>
          <p:spPr>
            <a:xfrm>
              <a:off x="2717282" y="2554160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D387E63D-FC63-4888-820A-0E7E7633E4AB}"/>
                </a:ext>
              </a:extLst>
            </p:cNvPr>
            <p:cNvSpPr/>
            <p:nvPr/>
          </p:nvSpPr>
          <p:spPr>
            <a:xfrm>
              <a:off x="1467936" y="3299413"/>
              <a:ext cx="472273" cy="492369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C9B5809-8006-4A70-841C-B3E03EBF9ED0}"/>
                </a:ext>
              </a:extLst>
            </p:cNvPr>
            <p:cNvSpPr/>
            <p:nvPr/>
          </p:nvSpPr>
          <p:spPr>
            <a:xfrm>
              <a:off x="2347688" y="1808907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451C61B-093E-40BA-BFC7-75353F216F57}"/>
                </a:ext>
              </a:extLst>
            </p:cNvPr>
            <p:cNvSpPr/>
            <p:nvPr/>
          </p:nvSpPr>
          <p:spPr>
            <a:xfrm>
              <a:off x="2383800" y="3299413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4</a:t>
              </a:r>
              <a:endParaRPr lang="zh-CN" altLang="en-US" sz="2000" b="1" dirty="0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C20B291-952A-4EB4-A252-4D3F5AB71110}"/>
                </a:ext>
              </a:extLst>
            </p:cNvPr>
            <p:cNvCxnSpPr>
              <a:stCxn id="42" idx="3"/>
              <a:endCxn id="39" idx="1"/>
            </p:cNvCxnSpPr>
            <p:nvPr/>
          </p:nvCxnSpPr>
          <p:spPr>
            <a:xfrm flipH="1">
              <a:off x="2176346" y="2229170"/>
              <a:ext cx="240505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D7D7C67-2D26-4C24-A42B-7FC6258B79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110" y="2974423"/>
              <a:ext cx="240505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4EEC235-3413-4AC8-83EF-4CEFD3CBC208}"/>
                </a:ext>
              </a:extLst>
            </p:cNvPr>
            <p:cNvCxnSpPr>
              <a:stCxn id="42" idx="5"/>
              <a:endCxn id="40" idx="0"/>
            </p:cNvCxnSpPr>
            <p:nvPr/>
          </p:nvCxnSpPr>
          <p:spPr>
            <a:xfrm>
              <a:off x="2750798" y="2229170"/>
              <a:ext cx="202621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2C92F139-FEC2-46EB-9130-43039CA831CB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2347187" y="2947031"/>
              <a:ext cx="272750" cy="352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1A89A08-D40A-4EBD-8AA6-B62593AA0961}"/>
                </a:ext>
              </a:extLst>
            </p:cNvPr>
            <p:cNvSpPr/>
            <p:nvPr/>
          </p:nvSpPr>
          <p:spPr>
            <a:xfrm>
              <a:off x="4673812" y="2657752"/>
              <a:ext cx="472273" cy="492369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7A7264E2-4076-4FEF-859E-33CBF13498FA}"/>
                </a:ext>
              </a:extLst>
            </p:cNvPr>
            <p:cNvSpPr/>
            <p:nvPr/>
          </p:nvSpPr>
          <p:spPr>
            <a:xfrm>
              <a:off x="5450885" y="2657752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9EFCC684-8861-4607-88A8-430D5E843815}"/>
                </a:ext>
              </a:extLst>
            </p:cNvPr>
            <p:cNvSpPr/>
            <p:nvPr/>
          </p:nvSpPr>
          <p:spPr>
            <a:xfrm>
              <a:off x="4201539" y="3403005"/>
              <a:ext cx="472273" cy="492369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65CF5E61-DC75-4AF9-BC3E-B274C4F026C6}"/>
                </a:ext>
              </a:extLst>
            </p:cNvPr>
            <p:cNvSpPr/>
            <p:nvPr/>
          </p:nvSpPr>
          <p:spPr>
            <a:xfrm>
              <a:off x="5081291" y="1912499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378EA72-3377-4B9D-8069-8D3ECD10D386}"/>
                </a:ext>
              </a:extLst>
            </p:cNvPr>
            <p:cNvSpPr/>
            <p:nvPr/>
          </p:nvSpPr>
          <p:spPr>
            <a:xfrm>
              <a:off x="5117403" y="3403005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4</a:t>
              </a:r>
              <a:endParaRPr lang="zh-CN" altLang="en-US" sz="2000" b="1" dirty="0"/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C102ADA0-E851-4B6C-A702-F04C6DDE91DC}"/>
                </a:ext>
              </a:extLst>
            </p:cNvPr>
            <p:cNvCxnSpPr>
              <a:stCxn id="53" idx="3"/>
              <a:endCxn id="50" idx="1"/>
            </p:cNvCxnSpPr>
            <p:nvPr/>
          </p:nvCxnSpPr>
          <p:spPr>
            <a:xfrm flipH="1">
              <a:off x="4909949" y="2332762"/>
              <a:ext cx="240505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0626971-524F-4F9C-AF05-201D46C17B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9713" y="3078015"/>
              <a:ext cx="240505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5E3AB586-735D-4B81-988C-2064A03AD031}"/>
                </a:ext>
              </a:extLst>
            </p:cNvPr>
            <p:cNvCxnSpPr>
              <a:stCxn id="53" idx="5"/>
              <a:endCxn id="51" idx="0"/>
            </p:cNvCxnSpPr>
            <p:nvPr/>
          </p:nvCxnSpPr>
          <p:spPr>
            <a:xfrm>
              <a:off x="5484401" y="2332762"/>
              <a:ext cx="202621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BE7C3D3-A5CD-4C87-8D3A-6E5E50E2FB93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5080790" y="3050623"/>
              <a:ext cx="272750" cy="352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63155282-11ED-4D2E-B598-71041BDD8606}"/>
                </a:ext>
              </a:extLst>
            </p:cNvPr>
            <p:cNvCxnSpPr>
              <a:stCxn id="52" idx="6"/>
              <a:endCxn id="54" idx="2"/>
            </p:cNvCxnSpPr>
            <p:nvPr/>
          </p:nvCxnSpPr>
          <p:spPr>
            <a:xfrm>
              <a:off x="4673812" y="3649190"/>
              <a:ext cx="44359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F8128DA8-E6CD-4712-8749-C0DF7A62C8A7}"/>
                </a:ext>
              </a:extLst>
            </p:cNvPr>
            <p:cNvCxnSpPr>
              <a:cxnSpLocks/>
            </p:cNvCxnSpPr>
            <p:nvPr/>
          </p:nvCxnSpPr>
          <p:spPr>
            <a:xfrm>
              <a:off x="3448050" y="2857500"/>
              <a:ext cx="8763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104D78A1-7A7A-4BBB-9257-793CEF475E8B}"/>
                </a:ext>
              </a:extLst>
            </p:cNvPr>
            <p:cNvSpPr txBox="1"/>
            <p:nvPr/>
          </p:nvSpPr>
          <p:spPr>
            <a:xfrm>
              <a:off x="3269499" y="2526262"/>
              <a:ext cx="12715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/>
                <a:t>加入（</a:t>
              </a:r>
              <a:r>
                <a:rPr lang="en-US" altLang="zh-CN" sz="1400" b="1" dirty="0"/>
                <a:t>3</a:t>
              </a:r>
              <a:r>
                <a:rPr lang="zh-CN" altLang="en-US" sz="1400" b="1" dirty="0"/>
                <a:t>，</a:t>
              </a:r>
              <a:r>
                <a:rPr lang="en-US" altLang="zh-CN" sz="1400" b="1" dirty="0"/>
                <a:t>4</a:t>
              </a:r>
              <a:r>
                <a:rPr lang="zh-CN" altLang="en-US" sz="1400" b="1" dirty="0"/>
                <a:t>）</a:t>
              </a:r>
            </a:p>
          </p:txBody>
        </p: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32A1D82D-99BF-439D-962B-BC280F479172}"/>
              </a:ext>
            </a:extLst>
          </p:cNvPr>
          <p:cNvSpPr txBox="1"/>
          <p:nvPr/>
        </p:nvSpPr>
        <p:spPr>
          <a:xfrm>
            <a:off x="5828514" y="1910296"/>
            <a:ext cx="5972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b="1" dirty="0"/>
              <a:t>BFS/DFS</a:t>
            </a:r>
            <a:r>
              <a:rPr lang="zh-CN" altLang="en-US" dirty="0"/>
              <a:t>上的生成树上添加非树边，必定成环；且该环边必不是桥；因此，</a:t>
            </a:r>
            <a:r>
              <a:rPr lang="zh-CN" altLang="en-US" b="1" dirty="0"/>
              <a:t>桥边数</a:t>
            </a:r>
            <a:r>
              <a:rPr lang="en-US" altLang="zh-CN" b="1" dirty="0"/>
              <a:t>==</a:t>
            </a:r>
            <a:r>
              <a:rPr lang="zh-CN" altLang="en-US" b="1" dirty="0"/>
              <a:t>生成树边数</a:t>
            </a:r>
            <a:r>
              <a:rPr lang="en-US" altLang="zh-CN" b="1" dirty="0"/>
              <a:t>- </a:t>
            </a:r>
            <a:r>
              <a:rPr lang="zh-CN" altLang="en-US" b="1" dirty="0"/>
              <a:t>树上环边数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42DEFD4-06CF-482A-8E2D-95C604F13F79}"/>
              </a:ext>
            </a:extLst>
          </p:cNvPr>
          <p:cNvSpPr txBox="1"/>
          <p:nvPr/>
        </p:nvSpPr>
        <p:spPr>
          <a:xfrm>
            <a:off x="4039943" y="3195698"/>
            <a:ext cx="687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成环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4081647-A5F1-4789-9BED-2FB29A68F169}"/>
              </a:ext>
            </a:extLst>
          </p:cNvPr>
          <p:cNvSpPr txBox="1"/>
          <p:nvPr/>
        </p:nvSpPr>
        <p:spPr>
          <a:xfrm>
            <a:off x="1133475" y="304801"/>
            <a:ext cx="448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LCA+</a:t>
            </a:r>
            <a:r>
              <a:rPr lang="zh-CN" altLang="en-US" sz="3200" b="1" dirty="0"/>
              <a:t>并查集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路径优化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7BA83BE-1435-4857-BC1E-55BB3F0A123B}"/>
              </a:ext>
            </a:extLst>
          </p:cNvPr>
          <p:cNvGrpSpPr/>
          <p:nvPr/>
        </p:nvGrpSpPr>
        <p:grpSpPr>
          <a:xfrm>
            <a:off x="9084588" y="3525998"/>
            <a:ext cx="1721619" cy="2688108"/>
            <a:chOff x="9092923" y="3644480"/>
            <a:chExt cx="1721619" cy="2688108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2082C68-8F3E-45A4-8AE8-4A6F619F9F46}"/>
                </a:ext>
              </a:extLst>
            </p:cNvPr>
            <p:cNvSpPr/>
            <p:nvPr/>
          </p:nvSpPr>
          <p:spPr>
            <a:xfrm>
              <a:off x="9565196" y="4389733"/>
              <a:ext cx="472273" cy="4923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A502C34-4DA8-4471-ABF8-97C9F57144F0}"/>
                </a:ext>
              </a:extLst>
            </p:cNvPr>
            <p:cNvSpPr/>
            <p:nvPr/>
          </p:nvSpPr>
          <p:spPr>
            <a:xfrm>
              <a:off x="10342269" y="4389733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481404D-4FC3-40F1-BA42-28A8C3522704}"/>
                </a:ext>
              </a:extLst>
            </p:cNvPr>
            <p:cNvSpPr/>
            <p:nvPr/>
          </p:nvSpPr>
          <p:spPr>
            <a:xfrm>
              <a:off x="9092923" y="5134986"/>
              <a:ext cx="472273" cy="49236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3DA8B3B-5F69-461F-8664-D742FA14905F}"/>
                </a:ext>
              </a:extLst>
            </p:cNvPr>
            <p:cNvSpPr/>
            <p:nvPr/>
          </p:nvSpPr>
          <p:spPr>
            <a:xfrm>
              <a:off x="9972675" y="3644480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8E7EA79-6DB1-4ED2-9638-1C208A5BDD84}"/>
                </a:ext>
              </a:extLst>
            </p:cNvPr>
            <p:cNvSpPr/>
            <p:nvPr/>
          </p:nvSpPr>
          <p:spPr>
            <a:xfrm>
              <a:off x="10008787" y="5134986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4</a:t>
              </a:r>
              <a:endParaRPr lang="zh-CN" altLang="en-US" sz="2000" b="1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B2BBC10-AE55-4D6C-9AC4-53B12D819D86}"/>
                </a:ext>
              </a:extLst>
            </p:cNvPr>
            <p:cNvSpPr/>
            <p:nvPr/>
          </p:nvSpPr>
          <p:spPr>
            <a:xfrm>
              <a:off x="9702522" y="5840219"/>
              <a:ext cx="472273" cy="49236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C5D055C-8E52-4D3D-A4BB-73D3D5B43BAB}"/>
                </a:ext>
              </a:extLst>
            </p:cNvPr>
            <p:cNvCxnSpPr>
              <a:stCxn id="10" idx="3"/>
              <a:endCxn id="7" idx="1"/>
            </p:cNvCxnSpPr>
            <p:nvPr/>
          </p:nvCxnSpPr>
          <p:spPr>
            <a:xfrm flipH="1">
              <a:off x="9801333" y="4064743"/>
              <a:ext cx="240505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AE7ABFC8-EF88-4D1F-8A97-E2AFC54A958E}"/>
                </a:ext>
              </a:extLst>
            </p:cNvPr>
            <p:cNvCxnSpPr/>
            <p:nvPr/>
          </p:nvCxnSpPr>
          <p:spPr>
            <a:xfrm flipH="1">
              <a:off x="9381097" y="4809996"/>
              <a:ext cx="240505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F98D8BC-3F42-4B29-A289-0F52CE9EBAD8}"/>
                </a:ext>
              </a:extLst>
            </p:cNvPr>
            <p:cNvCxnSpPr>
              <a:cxnSpLocks/>
              <a:endCxn id="14" idx="7"/>
            </p:cNvCxnSpPr>
            <p:nvPr/>
          </p:nvCxnSpPr>
          <p:spPr>
            <a:xfrm flipH="1">
              <a:off x="10105632" y="5576324"/>
              <a:ext cx="103180" cy="336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76607D8-9152-495B-8C89-DF5312952A69}"/>
                </a:ext>
              </a:extLst>
            </p:cNvPr>
            <p:cNvCxnSpPr>
              <a:stCxn id="10" idx="5"/>
              <a:endCxn id="8" idx="0"/>
            </p:cNvCxnSpPr>
            <p:nvPr/>
          </p:nvCxnSpPr>
          <p:spPr>
            <a:xfrm>
              <a:off x="10375785" y="4064743"/>
              <a:ext cx="202621" cy="324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3E1717C-6C2D-4F2D-B25E-714F5E18F63B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9972174" y="4782604"/>
              <a:ext cx="272750" cy="352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971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1CB0001-6AF6-4B02-8E4E-C4B8086BFCD2}"/>
              </a:ext>
            </a:extLst>
          </p:cNvPr>
          <p:cNvSpPr txBox="1"/>
          <p:nvPr/>
        </p:nvSpPr>
        <p:spPr>
          <a:xfrm>
            <a:off x="400050" y="97449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并查集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BCA059-0B0C-4006-A155-CAD0242FA301}"/>
              </a:ext>
            </a:extLst>
          </p:cNvPr>
          <p:cNvSpPr txBox="1"/>
          <p:nvPr/>
        </p:nvSpPr>
        <p:spPr>
          <a:xfrm>
            <a:off x="1228725" y="1521083"/>
            <a:ext cx="76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4D4D4D"/>
                </a:solidFill>
                <a:effectLst/>
                <a:latin typeface="-apple-system"/>
              </a:rPr>
              <a:t>创建：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初始状态下每个点的前驱节点是自己，时间复杂度为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O(n)</a:t>
            </a:r>
            <a:endParaRPr lang="zh-CN" altLang="en-US" b="1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980F24D-3C79-4181-B0D4-BA5438DEBBD9}"/>
              </a:ext>
            </a:extLst>
          </p:cNvPr>
          <p:cNvGrpSpPr/>
          <p:nvPr/>
        </p:nvGrpSpPr>
        <p:grpSpPr>
          <a:xfrm>
            <a:off x="3200504" y="1975336"/>
            <a:ext cx="4356491" cy="809384"/>
            <a:chOff x="419204" y="2057013"/>
            <a:chExt cx="4356491" cy="809384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D73901D-62A4-4AF8-9711-A526034E4AD8}"/>
                </a:ext>
              </a:extLst>
            </p:cNvPr>
            <p:cNvSpPr/>
            <p:nvPr/>
          </p:nvSpPr>
          <p:spPr>
            <a:xfrm>
              <a:off x="1133475" y="2374028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67C888C-973E-4E6F-8B92-A73A6419664E}"/>
                </a:ext>
              </a:extLst>
            </p:cNvPr>
            <p:cNvSpPr/>
            <p:nvPr/>
          </p:nvSpPr>
          <p:spPr>
            <a:xfrm>
              <a:off x="1910548" y="2374028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ABA054C-16DD-4812-9586-80F4B5BCD9BB}"/>
                </a:ext>
              </a:extLst>
            </p:cNvPr>
            <p:cNvSpPr/>
            <p:nvPr/>
          </p:nvSpPr>
          <p:spPr>
            <a:xfrm>
              <a:off x="2731165" y="2374028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A00FDB7-C095-49F6-969C-2FACBC004AE5}"/>
                </a:ext>
              </a:extLst>
            </p:cNvPr>
            <p:cNvSpPr/>
            <p:nvPr/>
          </p:nvSpPr>
          <p:spPr>
            <a:xfrm>
              <a:off x="3508238" y="2374028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0895802-C3D3-4AF1-BBA3-BA542067CCC0}"/>
                </a:ext>
              </a:extLst>
            </p:cNvPr>
            <p:cNvSpPr/>
            <p:nvPr/>
          </p:nvSpPr>
          <p:spPr>
            <a:xfrm>
              <a:off x="4303422" y="2374028"/>
              <a:ext cx="472273" cy="4923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B894621-CB66-4C38-815F-95EC865E4433}"/>
                </a:ext>
              </a:extLst>
            </p:cNvPr>
            <p:cNvSpPr txBox="1"/>
            <p:nvPr/>
          </p:nvSpPr>
          <p:spPr>
            <a:xfrm>
              <a:off x="419204" y="2057013"/>
              <a:ext cx="941069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前驱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85D9502-5559-4C17-8B33-18335CA75A19}"/>
                </a:ext>
              </a:extLst>
            </p:cNvPr>
            <p:cNvSpPr txBox="1"/>
            <p:nvPr/>
          </p:nvSpPr>
          <p:spPr>
            <a:xfrm>
              <a:off x="1223797" y="2059042"/>
              <a:ext cx="318134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F1940DA-9EDE-4DC1-A5EC-D61D5A11FAB2}"/>
                </a:ext>
              </a:extLst>
            </p:cNvPr>
            <p:cNvSpPr txBox="1"/>
            <p:nvPr/>
          </p:nvSpPr>
          <p:spPr>
            <a:xfrm>
              <a:off x="1987617" y="2057013"/>
              <a:ext cx="3181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645D3CD-830E-4F10-8B4D-F0C8F93BFE7B}"/>
                </a:ext>
              </a:extLst>
            </p:cNvPr>
            <p:cNvSpPr txBox="1"/>
            <p:nvPr/>
          </p:nvSpPr>
          <p:spPr>
            <a:xfrm>
              <a:off x="2795552" y="2057013"/>
              <a:ext cx="318134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4D4E5EC-F92A-485B-9381-D29CB44717A4}"/>
                </a:ext>
              </a:extLst>
            </p:cNvPr>
            <p:cNvSpPr txBox="1"/>
            <p:nvPr/>
          </p:nvSpPr>
          <p:spPr>
            <a:xfrm>
              <a:off x="3583098" y="2057013"/>
              <a:ext cx="318134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B236402-5505-4866-A46D-AEFB0314EB36}"/>
                </a:ext>
              </a:extLst>
            </p:cNvPr>
            <p:cNvSpPr txBox="1"/>
            <p:nvPr/>
          </p:nvSpPr>
          <p:spPr>
            <a:xfrm>
              <a:off x="4380491" y="2062139"/>
              <a:ext cx="318134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E18A9AD3-125B-4888-968B-1472AD86D29E}"/>
              </a:ext>
            </a:extLst>
          </p:cNvPr>
          <p:cNvSpPr txBox="1"/>
          <p:nvPr/>
        </p:nvSpPr>
        <p:spPr>
          <a:xfrm>
            <a:off x="1228725" y="2916850"/>
            <a:ext cx="9897594" cy="7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4D4D4D"/>
                </a:solidFill>
                <a:effectLst/>
                <a:latin typeface="-apple-system"/>
              </a:rPr>
              <a:t>合并：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遍历每条边，找其前驱节点，若前驱节点不同，将两个元素所在的集合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合并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为一个集合。</a:t>
            </a:r>
            <a:endParaRPr lang="zh-CN" altLang="en-US" dirty="0"/>
          </a:p>
          <a:p>
            <a:endParaRPr lang="zh-CN" altLang="en-US" sz="2000" b="1" dirty="0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E7BDE5ED-BC67-4799-A7FD-7C29FCDCC0BF}"/>
              </a:ext>
            </a:extLst>
          </p:cNvPr>
          <p:cNvGrpSpPr/>
          <p:nvPr/>
        </p:nvGrpSpPr>
        <p:grpSpPr>
          <a:xfrm>
            <a:off x="1368159" y="3438525"/>
            <a:ext cx="9455682" cy="1280745"/>
            <a:chOff x="627531" y="3513862"/>
            <a:chExt cx="9455682" cy="1280745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DB7F443-7F23-4B3E-A1A4-A2C8C288ED82}"/>
                </a:ext>
              </a:extLst>
            </p:cNvPr>
            <p:cNvSpPr/>
            <p:nvPr/>
          </p:nvSpPr>
          <p:spPr>
            <a:xfrm>
              <a:off x="1099804" y="3513862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3DAE1D6-A831-4EBB-8EAD-D2C4421C2334}"/>
                </a:ext>
              </a:extLst>
            </p:cNvPr>
            <p:cNvSpPr/>
            <p:nvPr/>
          </p:nvSpPr>
          <p:spPr>
            <a:xfrm>
              <a:off x="2524336" y="4268528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F1597F62-E240-4EB6-8E8C-A82A891F1806}"/>
                </a:ext>
              </a:extLst>
            </p:cNvPr>
            <p:cNvSpPr/>
            <p:nvPr/>
          </p:nvSpPr>
          <p:spPr>
            <a:xfrm>
              <a:off x="627531" y="4259115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5881E29-3E6D-44AB-89F2-F8089A8F5F7D}"/>
                </a:ext>
              </a:extLst>
            </p:cNvPr>
            <p:cNvSpPr/>
            <p:nvPr/>
          </p:nvSpPr>
          <p:spPr>
            <a:xfrm>
              <a:off x="2154742" y="3523275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4D35B3C5-7A33-478A-AE6A-ABAF0F7A9418}"/>
                </a:ext>
              </a:extLst>
            </p:cNvPr>
            <p:cNvCxnSpPr>
              <a:stCxn id="30" idx="7"/>
            </p:cNvCxnSpPr>
            <p:nvPr/>
          </p:nvCxnSpPr>
          <p:spPr>
            <a:xfrm flipV="1">
              <a:off x="1030641" y="4006231"/>
              <a:ext cx="198084" cy="32499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E4EC1117-157F-4D2E-9F5A-0CFCFD88AC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3966" y="3975866"/>
              <a:ext cx="202620" cy="32499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64FEC66-DE52-4A22-8B8B-046DB64F13BD}"/>
                </a:ext>
              </a:extLst>
            </p:cNvPr>
            <p:cNvSpPr/>
            <p:nvPr/>
          </p:nvSpPr>
          <p:spPr>
            <a:xfrm>
              <a:off x="4762327" y="3524779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6EE536E6-886D-4001-987C-C8B6B4A90089}"/>
                </a:ext>
              </a:extLst>
            </p:cNvPr>
            <p:cNvSpPr/>
            <p:nvPr/>
          </p:nvSpPr>
          <p:spPr>
            <a:xfrm>
              <a:off x="6186859" y="4279445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47B75F25-5CC1-4376-B9EC-AB660711C89E}"/>
                </a:ext>
              </a:extLst>
            </p:cNvPr>
            <p:cNvSpPr/>
            <p:nvPr/>
          </p:nvSpPr>
          <p:spPr>
            <a:xfrm>
              <a:off x="4290054" y="4270032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840A2CC-C9C9-43BC-9EFB-A36EF87C3382}"/>
                </a:ext>
              </a:extLst>
            </p:cNvPr>
            <p:cNvSpPr/>
            <p:nvPr/>
          </p:nvSpPr>
          <p:spPr>
            <a:xfrm>
              <a:off x="5817265" y="3534192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5C9B3D26-AB1E-45A5-B8B6-582EFD01556A}"/>
                </a:ext>
              </a:extLst>
            </p:cNvPr>
            <p:cNvCxnSpPr>
              <a:stCxn id="46" idx="7"/>
            </p:cNvCxnSpPr>
            <p:nvPr/>
          </p:nvCxnSpPr>
          <p:spPr>
            <a:xfrm flipV="1">
              <a:off x="4693164" y="4017148"/>
              <a:ext cx="198084" cy="32499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1B8E10E-8ADC-4438-815E-7103D188F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6489" y="3986783"/>
              <a:ext cx="202620" cy="32499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6F58142-8D0D-43E5-93D0-85A6B2774C54}"/>
                </a:ext>
              </a:extLst>
            </p:cNvPr>
            <p:cNvCxnSpPr>
              <a:stCxn id="44" idx="6"/>
              <a:endCxn id="47" idx="2"/>
            </p:cNvCxnSpPr>
            <p:nvPr/>
          </p:nvCxnSpPr>
          <p:spPr>
            <a:xfrm>
              <a:off x="5234600" y="3770964"/>
              <a:ext cx="582665" cy="941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64CD945-25AA-4DEA-AFD0-3726628E713F}"/>
                </a:ext>
              </a:extLst>
            </p:cNvPr>
            <p:cNvSpPr txBox="1"/>
            <p:nvPr/>
          </p:nvSpPr>
          <p:spPr>
            <a:xfrm>
              <a:off x="3223736" y="3805036"/>
              <a:ext cx="1066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加入</a:t>
              </a:r>
              <a:r>
                <a:rPr lang="en-US" altLang="zh-CN" sz="1600" b="1" dirty="0"/>
                <a:t>(0, 1)</a:t>
              </a:r>
              <a:endParaRPr lang="zh-CN" altLang="en-US" sz="1600" b="1" dirty="0"/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3066B76-94EB-4FC6-B594-DBEF3C928111}"/>
                </a:ext>
              </a:extLst>
            </p:cNvPr>
            <p:cNvCxnSpPr>
              <a:cxnSpLocks/>
            </p:cNvCxnSpPr>
            <p:nvPr/>
          </p:nvCxnSpPr>
          <p:spPr>
            <a:xfrm>
              <a:off x="3200504" y="4168726"/>
              <a:ext cx="1089550" cy="109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6029117E-50F6-499B-9B85-9B32CE77A70C}"/>
                </a:ext>
              </a:extLst>
            </p:cNvPr>
            <p:cNvCxnSpPr>
              <a:cxnSpLocks/>
            </p:cNvCxnSpPr>
            <p:nvPr/>
          </p:nvCxnSpPr>
          <p:spPr>
            <a:xfrm>
              <a:off x="6699780" y="4138361"/>
              <a:ext cx="1072620" cy="1074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FCF75813-CC05-4522-B5FC-A245253BD853}"/>
                </a:ext>
              </a:extLst>
            </p:cNvPr>
            <p:cNvSpPr txBox="1"/>
            <p:nvPr/>
          </p:nvSpPr>
          <p:spPr>
            <a:xfrm>
              <a:off x="6857826" y="3760046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合并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CDF3B77A-A9D8-4404-A626-147C20DAB610}"/>
                </a:ext>
              </a:extLst>
            </p:cNvPr>
            <p:cNvSpPr/>
            <p:nvPr/>
          </p:nvSpPr>
          <p:spPr>
            <a:xfrm>
              <a:off x="8186408" y="3547572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3E8B9B6A-1A65-41C7-93CB-515C17B2632D}"/>
                </a:ext>
              </a:extLst>
            </p:cNvPr>
            <p:cNvSpPr/>
            <p:nvPr/>
          </p:nvSpPr>
          <p:spPr>
            <a:xfrm>
              <a:off x="9610940" y="4302238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7359318C-D431-4D12-9642-CB0627774233}"/>
                </a:ext>
              </a:extLst>
            </p:cNvPr>
            <p:cNvSpPr/>
            <p:nvPr/>
          </p:nvSpPr>
          <p:spPr>
            <a:xfrm>
              <a:off x="7714135" y="4292825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B0792EF3-A42F-40A9-8793-FAF15D04535B}"/>
                </a:ext>
              </a:extLst>
            </p:cNvPr>
            <p:cNvSpPr/>
            <p:nvPr/>
          </p:nvSpPr>
          <p:spPr>
            <a:xfrm>
              <a:off x="9241346" y="3556985"/>
              <a:ext cx="472273" cy="4923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4CBC5CD8-37A2-4263-B98C-C515D2904CEF}"/>
                </a:ext>
              </a:extLst>
            </p:cNvPr>
            <p:cNvCxnSpPr>
              <a:stCxn id="65" idx="7"/>
            </p:cNvCxnSpPr>
            <p:nvPr/>
          </p:nvCxnSpPr>
          <p:spPr>
            <a:xfrm flipV="1">
              <a:off x="8117245" y="4039941"/>
              <a:ext cx="198084" cy="32499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666D2881-AF9C-44D3-90AD-C199B94D4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10570" y="4009576"/>
              <a:ext cx="202620" cy="32499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AEB7B54D-7F9F-4B16-96A4-39CB0272453F}"/>
                </a:ext>
              </a:extLst>
            </p:cNvPr>
            <p:cNvCxnSpPr>
              <a:cxnSpLocks/>
              <a:endCxn id="66" idx="2"/>
            </p:cNvCxnSpPr>
            <p:nvPr/>
          </p:nvCxnSpPr>
          <p:spPr>
            <a:xfrm flipV="1">
              <a:off x="8727844" y="3803170"/>
              <a:ext cx="513502" cy="2406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283EDF9E-FE67-4EB2-ADC7-DF6994654C74}"/>
              </a:ext>
            </a:extLst>
          </p:cNvPr>
          <p:cNvSpPr txBox="1"/>
          <p:nvPr/>
        </p:nvSpPr>
        <p:spPr>
          <a:xfrm>
            <a:off x="1133475" y="304801"/>
            <a:ext cx="448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LCA+</a:t>
            </a:r>
            <a:r>
              <a:rPr lang="zh-CN" altLang="en-US" sz="3200" b="1" dirty="0"/>
              <a:t>并查集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路径优化</a:t>
            </a:r>
          </a:p>
        </p:txBody>
      </p:sp>
    </p:spTree>
    <p:extLst>
      <p:ext uri="{BB962C8B-B14F-4D97-AF65-F5344CB8AC3E}">
        <p14:creationId xmlns:p14="http://schemas.microsoft.com/office/powerpoint/2010/main" val="1067193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E405FA6-269B-4785-A229-AB398A2C76FF}"/>
              </a:ext>
            </a:extLst>
          </p:cNvPr>
          <p:cNvSpPr txBox="1"/>
          <p:nvPr/>
        </p:nvSpPr>
        <p:spPr>
          <a:xfrm>
            <a:off x="274387" y="3547496"/>
            <a:ext cx="1272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路径压缩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8C18832-A6E2-49C1-8664-C308CCAAE910}"/>
              </a:ext>
            </a:extLst>
          </p:cNvPr>
          <p:cNvSpPr txBox="1"/>
          <p:nvPr/>
        </p:nvSpPr>
        <p:spPr>
          <a:xfrm>
            <a:off x="274387" y="14984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普通查找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268D46E-7320-4D56-A081-54D1EFE6DA76}"/>
              </a:ext>
            </a:extLst>
          </p:cNvPr>
          <p:cNvGrpSpPr/>
          <p:nvPr/>
        </p:nvGrpSpPr>
        <p:grpSpPr>
          <a:xfrm>
            <a:off x="1017009" y="4079339"/>
            <a:ext cx="10706756" cy="1949687"/>
            <a:chOff x="1017009" y="4079636"/>
            <a:chExt cx="10706756" cy="1949687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07D5CFD5-D2EA-4D8F-B8B4-42DC8682ABBC}"/>
                </a:ext>
              </a:extLst>
            </p:cNvPr>
            <p:cNvSpPr/>
            <p:nvPr/>
          </p:nvSpPr>
          <p:spPr>
            <a:xfrm>
              <a:off x="1220723" y="460557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4D2F2B4C-8BD6-477A-ADDC-614BDDF7566A}"/>
                </a:ext>
              </a:extLst>
            </p:cNvPr>
            <p:cNvSpPr/>
            <p:nvPr/>
          </p:nvSpPr>
          <p:spPr>
            <a:xfrm>
              <a:off x="1764573" y="460557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45F17937-B333-4240-9D83-90958865C589}"/>
                </a:ext>
              </a:extLst>
            </p:cNvPr>
            <p:cNvSpPr/>
            <p:nvPr/>
          </p:nvSpPr>
          <p:spPr>
            <a:xfrm>
              <a:off x="1103163" y="513928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B6756326-64D1-4F32-8283-9161C075D498}"/>
                </a:ext>
              </a:extLst>
            </p:cNvPr>
            <p:cNvSpPr/>
            <p:nvPr/>
          </p:nvSpPr>
          <p:spPr>
            <a:xfrm>
              <a:off x="1505905" y="4079636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80FDD072-E13E-4656-ACEB-9A9A20048E4C}"/>
                </a:ext>
              </a:extLst>
            </p:cNvPr>
            <p:cNvSpPr/>
            <p:nvPr/>
          </p:nvSpPr>
          <p:spPr>
            <a:xfrm>
              <a:off x="1882133" y="513928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4</a:t>
              </a:r>
              <a:endParaRPr lang="zh-CN" altLang="en-US" sz="2000" b="1" dirty="0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559F3CCA-9A45-437D-BD46-E3D0D344E2DC}"/>
                </a:ext>
              </a:extLst>
            </p:cNvPr>
            <p:cNvSpPr/>
            <p:nvPr/>
          </p:nvSpPr>
          <p:spPr>
            <a:xfrm>
              <a:off x="1017009" y="5681849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ACC2B89-9C15-496E-AF60-229EFF492994}"/>
                </a:ext>
              </a:extLst>
            </p:cNvPr>
            <p:cNvCxnSpPr>
              <a:stCxn id="70" idx="3"/>
              <a:endCxn id="67" idx="1"/>
            </p:cNvCxnSpPr>
            <p:nvPr/>
          </p:nvCxnSpPr>
          <p:spPr>
            <a:xfrm flipH="1">
              <a:off x="1385988" y="4376223"/>
              <a:ext cx="168323" cy="229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4DA02FA-6132-46EB-BFBE-2DEB899FEB65}"/>
                </a:ext>
              </a:extLst>
            </p:cNvPr>
            <p:cNvCxnSpPr>
              <a:cxnSpLocks/>
              <a:stCxn id="67" idx="4"/>
            </p:cNvCxnSpPr>
            <p:nvPr/>
          </p:nvCxnSpPr>
          <p:spPr>
            <a:xfrm flipH="1">
              <a:off x="1304849" y="4953048"/>
              <a:ext cx="81139" cy="1862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EA1D30E3-9663-4C7D-ADDF-56CDFBC4C5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274" y="5444727"/>
              <a:ext cx="72213" cy="237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76ADEF59-5E8A-4103-990E-5BEEAB902481}"/>
                </a:ext>
              </a:extLst>
            </p:cNvPr>
            <p:cNvCxnSpPr>
              <a:stCxn id="70" idx="5"/>
              <a:endCxn id="68" idx="0"/>
            </p:cNvCxnSpPr>
            <p:nvPr/>
          </p:nvCxnSpPr>
          <p:spPr>
            <a:xfrm>
              <a:off x="1788030" y="4376223"/>
              <a:ext cx="141808" cy="229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7B7ED680-2702-4D73-B93F-BDB546E6257E}"/>
                </a:ext>
              </a:extLst>
            </p:cNvPr>
            <p:cNvCxnSpPr>
              <a:cxnSpLocks/>
            </p:cNvCxnSpPr>
            <p:nvPr/>
          </p:nvCxnSpPr>
          <p:spPr>
            <a:xfrm>
              <a:off x="1932404" y="4902162"/>
              <a:ext cx="114994" cy="237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24723BFD-697C-495F-9BBF-23C9231CC6C2}"/>
                </a:ext>
              </a:extLst>
            </p:cNvPr>
            <p:cNvSpPr/>
            <p:nvPr/>
          </p:nvSpPr>
          <p:spPr>
            <a:xfrm>
              <a:off x="1929837" y="5672993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6</a:t>
              </a:r>
              <a:endParaRPr lang="zh-CN" altLang="en-US" sz="2000" b="1" dirty="0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66ACCB11-2B63-4801-AB6F-51E6713D5E65}"/>
                </a:ext>
              </a:extLst>
            </p:cNvPr>
            <p:cNvCxnSpPr>
              <a:cxnSpLocks/>
            </p:cNvCxnSpPr>
            <p:nvPr/>
          </p:nvCxnSpPr>
          <p:spPr>
            <a:xfrm>
              <a:off x="2015991" y="5431527"/>
              <a:ext cx="114994" cy="237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7F5170E7-9D3A-4D51-965B-2DF01D576E1F}"/>
                </a:ext>
              </a:extLst>
            </p:cNvPr>
            <p:cNvCxnSpPr>
              <a:cxnSpLocks/>
              <a:stCxn id="69" idx="6"/>
            </p:cNvCxnSpPr>
            <p:nvPr/>
          </p:nvCxnSpPr>
          <p:spPr>
            <a:xfrm>
              <a:off x="1433693" y="5313020"/>
              <a:ext cx="42559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DF570E92-0F65-44A2-A20F-685317FC2B3A}"/>
                </a:ext>
              </a:extLst>
            </p:cNvPr>
            <p:cNvSpPr/>
            <p:nvPr/>
          </p:nvSpPr>
          <p:spPr>
            <a:xfrm>
              <a:off x="3121998" y="460557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BAA14C75-84CB-42A5-8CB4-F21B58468863}"/>
                </a:ext>
              </a:extLst>
            </p:cNvPr>
            <p:cNvSpPr/>
            <p:nvPr/>
          </p:nvSpPr>
          <p:spPr>
            <a:xfrm>
              <a:off x="3665848" y="460557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4C4EAEB9-9EB0-49DE-BCF0-8944417CE0AE}"/>
                </a:ext>
              </a:extLst>
            </p:cNvPr>
            <p:cNvSpPr/>
            <p:nvPr/>
          </p:nvSpPr>
          <p:spPr>
            <a:xfrm>
              <a:off x="3004439" y="513928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B89679DE-DC97-449F-9737-E15B23264D5E}"/>
                </a:ext>
              </a:extLst>
            </p:cNvPr>
            <p:cNvSpPr/>
            <p:nvPr/>
          </p:nvSpPr>
          <p:spPr>
            <a:xfrm>
              <a:off x="3407180" y="4079636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24F9FA8A-CB59-46C1-A5F5-ADD9EA2C397C}"/>
                </a:ext>
              </a:extLst>
            </p:cNvPr>
            <p:cNvSpPr/>
            <p:nvPr/>
          </p:nvSpPr>
          <p:spPr>
            <a:xfrm>
              <a:off x="3783408" y="513928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4</a:t>
              </a:r>
              <a:endParaRPr lang="zh-CN" altLang="en-US" sz="2000" b="1" dirty="0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DF16037E-CDEB-4818-8215-7B1CB3DFFED5}"/>
                </a:ext>
              </a:extLst>
            </p:cNvPr>
            <p:cNvSpPr/>
            <p:nvPr/>
          </p:nvSpPr>
          <p:spPr>
            <a:xfrm>
              <a:off x="2918285" y="5681849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9AFF07C-DEB0-464C-AAB6-3C8D5E723D3D}"/>
                </a:ext>
              </a:extLst>
            </p:cNvPr>
            <p:cNvCxnSpPr>
              <a:stCxn id="84" idx="3"/>
              <a:endCxn id="81" idx="1"/>
            </p:cNvCxnSpPr>
            <p:nvPr/>
          </p:nvCxnSpPr>
          <p:spPr>
            <a:xfrm flipH="1">
              <a:off x="3287264" y="4376223"/>
              <a:ext cx="168323" cy="2293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B92A8A38-AC98-4DDE-9D8C-9A929625C3C1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>
              <a:off x="3206125" y="4953048"/>
              <a:ext cx="81139" cy="18623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6760896E-2C96-4E1F-BF3D-B9DFB6836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3550" y="5444727"/>
              <a:ext cx="72213" cy="237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F424E4DE-8F4E-4F72-A77D-FE3E23A3346C}"/>
                </a:ext>
              </a:extLst>
            </p:cNvPr>
            <p:cNvCxnSpPr>
              <a:stCxn id="84" idx="5"/>
              <a:endCxn id="82" idx="0"/>
            </p:cNvCxnSpPr>
            <p:nvPr/>
          </p:nvCxnSpPr>
          <p:spPr>
            <a:xfrm>
              <a:off x="3689306" y="4376223"/>
              <a:ext cx="141808" cy="2293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39B3C426-BB49-42CC-ACA0-C6BB14FE9BB1}"/>
                </a:ext>
              </a:extLst>
            </p:cNvPr>
            <p:cNvCxnSpPr>
              <a:cxnSpLocks/>
            </p:cNvCxnSpPr>
            <p:nvPr/>
          </p:nvCxnSpPr>
          <p:spPr>
            <a:xfrm>
              <a:off x="3833680" y="4902162"/>
              <a:ext cx="114994" cy="2371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A2F56BE0-A372-4727-8B93-78FAE191EB71}"/>
                </a:ext>
              </a:extLst>
            </p:cNvPr>
            <p:cNvSpPr/>
            <p:nvPr/>
          </p:nvSpPr>
          <p:spPr>
            <a:xfrm>
              <a:off x="3831113" y="5672993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6</a:t>
              </a:r>
              <a:endParaRPr lang="zh-CN" altLang="en-US" sz="2000" b="1" dirty="0"/>
            </a:p>
          </p:txBody>
        </p: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8AC79C33-6A11-4E32-83A1-4B16D0F03CB0}"/>
                </a:ext>
              </a:extLst>
            </p:cNvPr>
            <p:cNvCxnSpPr>
              <a:cxnSpLocks/>
            </p:cNvCxnSpPr>
            <p:nvPr/>
          </p:nvCxnSpPr>
          <p:spPr>
            <a:xfrm>
              <a:off x="3917267" y="5431527"/>
              <a:ext cx="114994" cy="237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83FA5100-5533-4423-B839-F8BD582AEB40}"/>
                </a:ext>
              </a:extLst>
            </p:cNvPr>
            <p:cNvCxnSpPr>
              <a:cxnSpLocks/>
              <a:stCxn id="83" idx="6"/>
            </p:cNvCxnSpPr>
            <p:nvPr/>
          </p:nvCxnSpPr>
          <p:spPr>
            <a:xfrm>
              <a:off x="3334969" y="5313020"/>
              <a:ext cx="42559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E0FD6900-B0F6-40B9-82EA-A78B86173990}"/>
                </a:ext>
              </a:extLst>
            </p:cNvPr>
            <p:cNvCxnSpPr/>
            <p:nvPr/>
          </p:nvCxnSpPr>
          <p:spPr>
            <a:xfrm>
              <a:off x="2262887" y="5108967"/>
              <a:ext cx="7415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9BD86607-778B-42AA-8951-A30590F9A18F}"/>
                </a:ext>
              </a:extLst>
            </p:cNvPr>
            <p:cNvSpPr txBox="1"/>
            <p:nvPr/>
          </p:nvSpPr>
          <p:spPr>
            <a:xfrm>
              <a:off x="4093330" y="4791136"/>
              <a:ext cx="749394" cy="354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树调整</a:t>
              </a:r>
            </a:p>
          </p:txBody>
        </p: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A54F7C60-29D6-4421-8721-9147A93FFE0D}"/>
                </a:ext>
              </a:extLst>
            </p:cNvPr>
            <p:cNvCxnSpPr/>
            <p:nvPr/>
          </p:nvCxnSpPr>
          <p:spPr>
            <a:xfrm>
              <a:off x="4161643" y="5139284"/>
              <a:ext cx="7415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EA1A0C0B-176A-4A27-A868-38C34E90158E}"/>
                </a:ext>
              </a:extLst>
            </p:cNvPr>
            <p:cNvSpPr txBox="1"/>
            <p:nvPr/>
          </p:nvSpPr>
          <p:spPr>
            <a:xfrm>
              <a:off x="2078142" y="4471989"/>
              <a:ext cx="10663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加入</a:t>
              </a:r>
              <a:r>
                <a:rPr lang="en-US" altLang="zh-CN" sz="1600" b="1" dirty="0"/>
                <a:t>(3, 4)</a:t>
              </a:r>
            </a:p>
            <a:p>
              <a:r>
                <a:rPr lang="zh-CN" altLang="en-US" sz="1600" b="1" dirty="0"/>
                <a:t>标记环边</a:t>
              </a:r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67A34794-9BC6-4ED6-A3C6-066EC9E2DBEC}"/>
                </a:ext>
              </a:extLst>
            </p:cNvPr>
            <p:cNvSpPr/>
            <p:nvPr/>
          </p:nvSpPr>
          <p:spPr>
            <a:xfrm>
              <a:off x="5296551" y="4816240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9926EC2C-1D20-4B9C-BE10-82D52DF64346}"/>
                </a:ext>
              </a:extLst>
            </p:cNvPr>
            <p:cNvSpPr/>
            <p:nvPr/>
          </p:nvSpPr>
          <p:spPr>
            <a:xfrm>
              <a:off x="5710706" y="4798806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FE1C69AD-FC35-4F71-84CD-5DDDDC6960D1}"/>
                </a:ext>
              </a:extLst>
            </p:cNvPr>
            <p:cNvSpPr/>
            <p:nvPr/>
          </p:nvSpPr>
          <p:spPr>
            <a:xfrm>
              <a:off x="4945817" y="4822723"/>
              <a:ext cx="307317" cy="35480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4709086D-E62F-4408-8658-3319BEFC4513}"/>
                </a:ext>
              </a:extLst>
            </p:cNvPr>
            <p:cNvSpPr/>
            <p:nvPr/>
          </p:nvSpPr>
          <p:spPr>
            <a:xfrm>
              <a:off x="5487500" y="424353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8A5C3643-0C5D-4E6E-88A3-BA0B54AD32B0}"/>
                </a:ext>
              </a:extLst>
            </p:cNvPr>
            <p:cNvSpPr/>
            <p:nvPr/>
          </p:nvSpPr>
          <p:spPr>
            <a:xfrm>
              <a:off x="6115563" y="4798806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4</a:t>
              </a:r>
              <a:endParaRPr lang="zh-CN" altLang="en-US" sz="2000" b="1" dirty="0"/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D51970CA-29D9-4113-AF9D-DA1F06654E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2848" y="4542485"/>
              <a:ext cx="51463" cy="28023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70CC53F1-66FD-4C59-9951-9B2B9BA8276C}"/>
                </a:ext>
              </a:extLst>
            </p:cNvPr>
            <p:cNvCxnSpPr>
              <a:cxnSpLocks/>
              <a:stCxn id="118" idx="3"/>
              <a:endCxn id="117" idx="7"/>
            </p:cNvCxnSpPr>
            <p:nvPr/>
          </p:nvCxnSpPr>
          <p:spPr>
            <a:xfrm flipH="1">
              <a:off x="5208128" y="4540121"/>
              <a:ext cx="327777" cy="3345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A3817AAB-DDBF-4A50-9749-6FB7CE6345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0071" y="5177529"/>
              <a:ext cx="72213" cy="237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E1C61B0-7FC4-45F8-A5A7-28AE58225BB1}"/>
                </a:ext>
              </a:extLst>
            </p:cNvPr>
            <p:cNvCxnSpPr>
              <a:cxnSpLocks/>
              <a:stCxn id="118" idx="5"/>
              <a:endCxn id="116" idx="0"/>
            </p:cNvCxnSpPr>
            <p:nvPr/>
          </p:nvCxnSpPr>
          <p:spPr>
            <a:xfrm>
              <a:off x="5769625" y="4540121"/>
              <a:ext cx="106345" cy="25868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2F741526-0F8C-4E44-B2AE-C6646A3D859E}"/>
                </a:ext>
              </a:extLst>
            </p:cNvPr>
            <p:cNvCxnSpPr>
              <a:cxnSpLocks/>
              <a:stCxn id="118" idx="6"/>
              <a:endCxn id="119" idx="1"/>
            </p:cNvCxnSpPr>
            <p:nvPr/>
          </p:nvCxnSpPr>
          <p:spPr>
            <a:xfrm>
              <a:off x="5818030" y="4417271"/>
              <a:ext cx="345938" cy="4324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A0CCADDE-46C6-49D6-AFD2-A92763864A14}"/>
                </a:ext>
              </a:extLst>
            </p:cNvPr>
            <p:cNvSpPr/>
            <p:nvPr/>
          </p:nvSpPr>
          <p:spPr>
            <a:xfrm>
              <a:off x="6261413" y="5344284"/>
              <a:ext cx="305657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6</a:t>
              </a:r>
              <a:endParaRPr lang="zh-CN" altLang="en-US" sz="2000" b="1" dirty="0"/>
            </a:p>
          </p:txBody>
        </p: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96493C58-446C-4622-A59B-C791DC51133C}"/>
                </a:ext>
              </a:extLst>
            </p:cNvPr>
            <p:cNvCxnSpPr>
              <a:cxnSpLocks/>
              <a:endCxn id="125" idx="0"/>
            </p:cNvCxnSpPr>
            <p:nvPr/>
          </p:nvCxnSpPr>
          <p:spPr>
            <a:xfrm>
              <a:off x="6290440" y="5046847"/>
              <a:ext cx="123801" cy="2974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01A2542E-BA1A-4E3C-8EBE-A7A233A2EE5F}"/>
                </a:ext>
              </a:extLst>
            </p:cNvPr>
            <p:cNvSpPr/>
            <p:nvPr/>
          </p:nvSpPr>
          <p:spPr>
            <a:xfrm>
              <a:off x="4822116" y="539003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C9651072-21A1-4A0B-A0C2-1AFCF700EB9E}"/>
                </a:ext>
              </a:extLst>
            </p:cNvPr>
            <p:cNvSpPr/>
            <p:nvPr/>
          </p:nvSpPr>
          <p:spPr>
            <a:xfrm>
              <a:off x="7963926" y="4829940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620D999B-89AB-4A33-93F4-2347C3CB42E1}"/>
                </a:ext>
              </a:extLst>
            </p:cNvPr>
            <p:cNvSpPr/>
            <p:nvPr/>
          </p:nvSpPr>
          <p:spPr>
            <a:xfrm>
              <a:off x="8378081" y="4812506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849DD9D2-021B-447D-B661-60CFE7F0DD26}"/>
                </a:ext>
              </a:extLst>
            </p:cNvPr>
            <p:cNvSpPr/>
            <p:nvPr/>
          </p:nvSpPr>
          <p:spPr>
            <a:xfrm>
              <a:off x="7613193" y="4836423"/>
              <a:ext cx="307317" cy="35480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FE250D63-F1DF-4A9B-AE3D-AFA340C56A84}"/>
                </a:ext>
              </a:extLst>
            </p:cNvPr>
            <p:cNvSpPr/>
            <p:nvPr/>
          </p:nvSpPr>
          <p:spPr>
            <a:xfrm>
              <a:off x="8154876" y="4257234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3B6AB3D8-4790-4281-8B6D-6C7F0822C5FA}"/>
                </a:ext>
              </a:extLst>
            </p:cNvPr>
            <p:cNvSpPr/>
            <p:nvPr/>
          </p:nvSpPr>
          <p:spPr>
            <a:xfrm>
              <a:off x="8782938" y="4812506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4</a:t>
              </a:r>
              <a:endParaRPr lang="zh-CN" altLang="en-US" sz="2000" b="1" dirty="0"/>
            </a:p>
          </p:txBody>
        </p: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2285C67D-E5F4-4876-B2A3-9631FEF02C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0223" y="4556185"/>
              <a:ext cx="51463" cy="28023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E59641DD-1974-4444-8A2B-42E8CF7D73E7}"/>
                </a:ext>
              </a:extLst>
            </p:cNvPr>
            <p:cNvCxnSpPr>
              <a:cxnSpLocks/>
              <a:stCxn id="147" idx="3"/>
              <a:endCxn id="146" idx="7"/>
            </p:cNvCxnSpPr>
            <p:nvPr/>
          </p:nvCxnSpPr>
          <p:spPr>
            <a:xfrm flipH="1">
              <a:off x="7875504" y="4553821"/>
              <a:ext cx="327777" cy="3345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5461E4BA-E4DA-45CD-90CC-A785028BCE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7447" y="5191229"/>
              <a:ext cx="72213" cy="2371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09477E7A-E69F-46CB-B541-E35331D1D072}"/>
                </a:ext>
              </a:extLst>
            </p:cNvPr>
            <p:cNvCxnSpPr>
              <a:cxnSpLocks/>
              <a:stCxn id="147" idx="5"/>
              <a:endCxn id="145" idx="0"/>
            </p:cNvCxnSpPr>
            <p:nvPr/>
          </p:nvCxnSpPr>
          <p:spPr>
            <a:xfrm>
              <a:off x="8437000" y="4553821"/>
              <a:ext cx="106345" cy="25868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FE98BD4E-7D57-4F2A-A354-961041C29B1A}"/>
                </a:ext>
              </a:extLst>
            </p:cNvPr>
            <p:cNvCxnSpPr>
              <a:cxnSpLocks/>
              <a:stCxn id="147" idx="6"/>
              <a:endCxn id="148" idx="1"/>
            </p:cNvCxnSpPr>
            <p:nvPr/>
          </p:nvCxnSpPr>
          <p:spPr>
            <a:xfrm>
              <a:off x="8485406" y="4430971"/>
              <a:ext cx="345938" cy="4324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5CCA6D90-E211-43B6-8394-B4333AE90729}"/>
                </a:ext>
              </a:extLst>
            </p:cNvPr>
            <p:cNvSpPr/>
            <p:nvPr/>
          </p:nvSpPr>
          <p:spPr>
            <a:xfrm>
              <a:off x="8928788" y="5357985"/>
              <a:ext cx="305657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6</a:t>
              </a:r>
              <a:endParaRPr lang="zh-CN" altLang="en-US" sz="2000" b="1" dirty="0"/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F143E661-611E-4210-92F3-190344A8E629}"/>
                </a:ext>
              </a:extLst>
            </p:cNvPr>
            <p:cNvCxnSpPr>
              <a:cxnSpLocks/>
              <a:endCxn id="154" idx="0"/>
            </p:cNvCxnSpPr>
            <p:nvPr/>
          </p:nvCxnSpPr>
          <p:spPr>
            <a:xfrm>
              <a:off x="8957815" y="5060547"/>
              <a:ext cx="123801" cy="29743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B0B993C7-032F-4226-830C-C9106E5E65E0}"/>
                </a:ext>
              </a:extLst>
            </p:cNvPr>
            <p:cNvSpPr/>
            <p:nvPr/>
          </p:nvSpPr>
          <p:spPr>
            <a:xfrm>
              <a:off x="7494190" y="5390035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EA21553B-BC22-4B72-BBA8-F237CF034955}"/>
                </a:ext>
              </a:extLst>
            </p:cNvPr>
            <p:cNvSpPr txBox="1"/>
            <p:nvPr/>
          </p:nvSpPr>
          <p:spPr>
            <a:xfrm>
              <a:off x="6507921" y="4602970"/>
              <a:ext cx="11657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加入</a:t>
              </a:r>
              <a:r>
                <a:rPr lang="en-US" altLang="zh-CN" sz="1600" b="1" dirty="0"/>
                <a:t>(5</a:t>
              </a:r>
              <a:r>
                <a:rPr lang="zh-CN" altLang="en-US" sz="1600" b="1" dirty="0"/>
                <a:t>，</a:t>
              </a:r>
              <a:r>
                <a:rPr lang="en-US" altLang="zh-CN" sz="1600" b="1" dirty="0"/>
                <a:t>6)</a:t>
              </a:r>
            </a:p>
            <a:p>
              <a:r>
                <a:rPr lang="zh-CN" altLang="en-US" sz="1600" b="1" dirty="0"/>
                <a:t>标记环边</a:t>
              </a:r>
            </a:p>
          </p:txBody>
        </p: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0ED3C45E-0284-4D56-A929-76208005FBB9}"/>
                </a:ext>
              </a:extLst>
            </p:cNvPr>
            <p:cNvCxnSpPr>
              <a:cxnSpLocks/>
            </p:cNvCxnSpPr>
            <p:nvPr/>
          </p:nvCxnSpPr>
          <p:spPr>
            <a:xfrm>
              <a:off x="6538933" y="5185617"/>
              <a:ext cx="964029" cy="14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DD5D40B5-D05C-4F76-950C-C6E19DCFB708}"/>
                </a:ext>
              </a:extLst>
            </p:cNvPr>
            <p:cNvCxnSpPr>
              <a:cxnSpLocks/>
              <a:endCxn id="154" idx="2"/>
            </p:cNvCxnSpPr>
            <p:nvPr/>
          </p:nvCxnSpPr>
          <p:spPr>
            <a:xfrm flipV="1">
              <a:off x="7820021" y="5531722"/>
              <a:ext cx="1108767" cy="457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A172218F-E52F-4605-AE6F-62BD3CD19AB3}"/>
                </a:ext>
              </a:extLst>
            </p:cNvPr>
            <p:cNvSpPr/>
            <p:nvPr/>
          </p:nvSpPr>
          <p:spPr>
            <a:xfrm>
              <a:off x="10494704" y="5014493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1</a:t>
              </a:r>
              <a:endParaRPr lang="zh-CN" altLang="en-US" sz="2000" b="1" dirty="0"/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20B02391-A696-4F51-B123-61347ED58A84}"/>
                </a:ext>
              </a:extLst>
            </p:cNvPr>
            <p:cNvSpPr/>
            <p:nvPr/>
          </p:nvSpPr>
          <p:spPr>
            <a:xfrm>
              <a:off x="10908859" y="4997058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2</a:t>
              </a:r>
              <a:endParaRPr lang="zh-CN" altLang="en-US" sz="2000" b="1" dirty="0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B34F1DBC-BD07-490A-A024-28A6C7D57C19}"/>
                </a:ext>
              </a:extLst>
            </p:cNvPr>
            <p:cNvSpPr/>
            <p:nvPr/>
          </p:nvSpPr>
          <p:spPr>
            <a:xfrm>
              <a:off x="10143971" y="5020975"/>
              <a:ext cx="307317" cy="35480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1954151A-C833-4B07-98D9-2B3D4F339BD8}"/>
                </a:ext>
              </a:extLst>
            </p:cNvPr>
            <p:cNvSpPr/>
            <p:nvPr/>
          </p:nvSpPr>
          <p:spPr>
            <a:xfrm>
              <a:off x="10685654" y="4441786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0</a:t>
              </a:r>
              <a:endParaRPr lang="zh-CN" altLang="en-US" sz="2000" b="1" dirty="0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03F7C12D-5289-4D25-99B4-8EEB3BD78757}"/>
                </a:ext>
              </a:extLst>
            </p:cNvPr>
            <p:cNvSpPr/>
            <p:nvPr/>
          </p:nvSpPr>
          <p:spPr>
            <a:xfrm>
              <a:off x="11313717" y="4997058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4</a:t>
              </a:r>
              <a:endParaRPr lang="zh-CN" altLang="en-US" sz="2000" b="1" dirty="0"/>
            </a:p>
          </p:txBody>
        </p: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55FA4903-C13B-45D3-A962-A431FE77B5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31002" y="4740738"/>
              <a:ext cx="51463" cy="28023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F2A2A2D8-01C4-4895-86A3-F192A4F335D6}"/>
                </a:ext>
              </a:extLst>
            </p:cNvPr>
            <p:cNvCxnSpPr>
              <a:cxnSpLocks/>
              <a:stCxn id="170" idx="3"/>
              <a:endCxn id="169" idx="7"/>
            </p:cNvCxnSpPr>
            <p:nvPr/>
          </p:nvCxnSpPr>
          <p:spPr>
            <a:xfrm flipH="1">
              <a:off x="10406282" y="4738373"/>
              <a:ext cx="327777" cy="3345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D597D123-03E3-4E1E-8BB8-DB26899EBDC1}"/>
                </a:ext>
              </a:extLst>
            </p:cNvPr>
            <p:cNvCxnSpPr>
              <a:cxnSpLocks/>
              <a:stCxn id="170" idx="5"/>
              <a:endCxn id="168" idx="0"/>
            </p:cNvCxnSpPr>
            <p:nvPr/>
          </p:nvCxnSpPr>
          <p:spPr>
            <a:xfrm>
              <a:off x="10967779" y="4738373"/>
              <a:ext cx="106345" cy="25868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EA29717B-E961-4480-9188-1E3D4313BCC4}"/>
                </a:ext>
              </a:extLst>
            </p:cNvPr>
            <p:cNvCxnSpPr>
              <a:cxnSpLocks/>
              <a:stCxn id="170" idx="6"/>
              <a:endCxn id="171" idx="1"/>
            </p:cNvCxnSpPr>
            <p:nvPr/>
          </p:nvCxnSpPr>
          <p:spPr>
            <a:xfrm>
              <a:off x="11016184" y="4615523"/>
              <a:ext cx="345938" cy="4324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ABB11DEB-912B-47F0-8F13-3499B0A4FEF1}"/>
                </a:ext>
              </a:extLst>
            </p:cNvPr>
            <p:cNvSpPr/>
            <p:nvPr/>
          </p:nvSpPr>
          <p:spPr>
            <a:xfrm>
              <a:off x="11418108" y="4407032"/>
              <a:ext cx="305657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6</a:t>
              </a:r>
              <a:endParaRPr lang="zh-CN" altLang="en-US" sz="2000" b="1" dirty="0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64624BEA-3334-45B4-91F9-91377EEC4E0D}"/>
                </a:ext>
              </a:extLst>
            </p:cNvPr>
            <p:cNvSpPr/>
            <p:nvPr/>
          </p:nvSpPr>
          <p:spPr>
            <a:xfrm>
              <a:off x="9940732" y="4425689"/>
              <a:ext cx="330530" cy="34747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05B6D20B-B10D-4EFC-96DA-38682D4B839A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65" y="4599426"/>
              <a:ext cx="42559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2EFB4A0C-7089-46D6-91FC-B360D191E122}"/>
                </a:ext>
              </a:extLst>
            </p:cNvPr>
            <p:cNvCxnSpPr>
              <a:cxnSpLocks/>
            </p:cNvCxnSpPr>
            <p:nvPr/>
          </p:nvCxnSpPr>
          <p:spPr>
            <a:xfrm>
              <a:off x="10988815" y="4563717"/>
              <a:ext cx="42559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5B3EC2D4-7147-455E-9A7B-4CC7381CD27A}"/>
                </a:ext>
              </a:extLst>
            </p:cNvPr>
            <p:cNvSpPr txBox="1"/>
            <p:nvPr/>
          </p:nvSpPr>
          <p:spPr>
            <a:xfrm>
              <a:off x="9199657" y="4820902"/>
              <a:ext cx="749394" cy="354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树调整</a:t>
              </a: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3DB992CD-4F4A-4A97-B467-CFAC4E40F0E8}"/>
                </a:ext>
              </a:extLst>
            </p:cNvPr>
            <p:cNvCxnSpPr/>
            <p:nvPr/>
          </p:nvCxnSpPr>
          <p:spPr>
            <a:xfrm>
              <a:off x="9234445" y="5171546"/>
              <a:ext cx="7415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8" name="文本框 187">
            <a:extLst>
              <a:ext uri="{FF2B5EF4-FFF2-40B4-BE49-F238E27FC236}">
                <a16:creationId xmlns:a16="http://schemas.microsoft.com/office/drawing/2014/main" id="{ADCB42A8-29B0-4C3A-8439-DCABBCBD0DE7}"/>
              </a:ext>
            </a:extLst>
          </p:cNvPr>
          <p:cNvSpPr txBox="1"/>
          <p:nvPr/>
        </p:nvSpPr>
        <p:spPr>
          <a:xfrm>
            <a:off x="7514416" y="3353170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向上查询次数从</a:t>
            </a:r>
            <a:r>
              <a:rPr lang="en-US" altLang="zh-CN" b="1" dirty="0"/>
              <a:t>6</a:t>
            </a:r>
            <a:r>
              <a:rPr lang="zh-CN" altLang="en-US" b="1" dirty="0"/>
              <a:t>次变为</a:t>
            </a:r>
            <a:r>
              <a:rPr lang="en-US" altLang="zh-CN" b="1" dirty="0"/>
              <a:t>4</a:t>
            </a:r>
            <a:r>
              <a:rPr lang="zh-CN" altLang="en-US" b="1" dirty="0"/>
              <a:t>次</a:t>
            </a:r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236DEB67-5570-446A-B269-C6C92441C4DE}"/>
              </a:ext>
            </a:extLst>
          </p:cNvPr>
          <p:cNvCxnSpPr/>
          <p:nvPr/>
        </p:nvCxnSpPr>
        <p:spPr>
          <a:xfrm>
            <a:off x="7006346" y="3048000"/>
            <a:ext cx="957580" cy="30517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F022D88D-5B84-4B85-8176-E78D39FE10EE}"/>
              </a:ext>
            </a:extLst>
          </p:cNvPr>
          <p:cNvCxnSpPr>
            <a:cxnSpLocks/>
            <a:stCxn id="147" idx="1"/>
          </p:cNvCxnSpPr>
          <p:nvPr/>
        </p:nvCxnSpPr>
        <p:spPr>
          <a:xfrm flipV="1">
            <a:off x="8203281" y="3747055"/>
            <a:ext cx="136358" cy="56076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AB00D5-1FFC-448D-964D-126905E0EDA6}"/>
              </a:ext>
            </a:extLst>
          </p:cNvPr>
          <p:cNvSpPr txBox="1"/>
          <p:nvPr/>
        </p:nvSpPr>
        <p:spPr>
          <a:xfrm>
            <a:off x="2339279" y="3339179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对每条边的孩子节点进行标记是否为环边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B23C964-7236-4E37-8F9E-AFAB1AE0B0AF}"/>
              </a:ext>
            </a:extLst>
          </p:cNvPr>
          <p:cNvSpPr txBox="1"/>
          <p:nvPr/>
        </p:nvSpPr>
        <p:spPr>
          <a:xfrm>
            <a:off x="1133475" y="304801"/>
            <a:ext cx="448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LCA+</a:t>
            </a:r>
            <a:r>
              <a:rPr lang="zh-CN" altLang="en-US" sz="3200" b="1" dirty="0"/>
              <a:t>并查集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路径优化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DB0DB80-662C-403E-BA89-FCD1AD0CD9E0}"/>
              </a:ext>
            </a:extLst>
          </p:cNvPr>
          <p:cNvGrpSpPr/>
          <p:nvPr/>
        </p:nvGrpSpPr>
        <p:grpSpPr>
          <a:xfrm>
            <a:off x="1625401" y="910822"/>
            <a:ext cx="6250103" cy="2029510"/>
            <a:chOff x="1625401" y="910822"/>
            <a:chExt cx="6250103" cy="20295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7FE8AE1-B204-438C-8151-9C8998C68DF8}"/>
                </a:ext>
              </a:extLst>
            </p:cNvPr>
            <p:cNvSpPr/>
            <p:nvPr/>
          </p:nvSpPr>
          <p:spPr>
            <a:xfrm>
              <a:off x="1625401" y="2578632"/>
              <a:ext cx="386884" cy="3617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293967E-D852-4141-8A51-89A036EF12B3}"/>
                </a:ext>
              </a:extLst>
            </p:cNvPr>
            <p:cNvSpPr/>
            <p:nvPr/>
          </p:nvSpPr>
          <p:spPr>
            <a:xfrm>
              <a:off x="2693864" y="2569413"/>
              <a:ext cx="386884" cy="3617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6</a:t>
              </a:r>
              <a:endParaRPr lang="zh-CN" altLang="en-US" sz="2000" b="1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DC74A02C-2ADC-4F44-988F-D4664CF8108A}"/>
                </a:ext>
              </a:extLst>
            </p:cNvPr>
            <p:cNvSpPr/>
            <p:nvPr/>
          </p:nvSpPr>
          <p:spPr>
            <a:xfrm>
              <a:off x="3850838" y="2578632"/>
              <a:ext cx="386884" cy="3617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3B760ECD-B382-4E44-960D-88EDA8FD2CE9}"/>
                </a:ext>
              </a:extLst>
            </p:cNvPr>
            <p:cNvSpPr/>
            <p:nvPr/>
          </p:nvSpPr>
          <p:spPr>
            <a:xfrm>
              <a:off x="4919300" y="2569413"/>
              <a:ext cx="386884" cy="3617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6</a:t>
              </a:r>
              <a:endParaRPr lang="zh-CN" altLang="en-US" sz="2000" b="1" dirty="0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44FBA217-49E3-4BC3-862D-9CD38B6A4A90}"/>
                </a:ext>
              </a:extLst>
            </p:cNvPr>
            <p:cNvSpPr/>
            <p:nvPr/>
          </p:nvSpPr>
          <p:spPr>
            <a:xfrm>
              <a:off x="6269544" y="2578632"/>
              <a:ext cx="386884" cy="3617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1B09DBD5-D510-4930-ABBB-40BADC434F6F}"/>
                </a:ext>
              </a:extLst>
            </p:cNvPr>
            <p:cNvSpPr/>
            <p:nvPr/>
          </p:nvSpPr>
          <p:spPr>
            <a:xfrm>
              <a:off x="7408310" y="2564891"/>
              <a:ext cx="386884" cy="3617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6</a:t>
              </a:r>
              <a:endParaRPr lang="zh-CN" altLang="en-US" sz="2000" b="1" dirty="0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345ACF6-F22C-4460-A8F2-0CEDA5DACEF8}"/>
                </a:ext>
              </a:extLst>
            </p:cNvPr>
            <p:cNvGrpSpPr/>
            <p:nvPr/>
          </p:nvGrpSpPr>
          <p:grpSpPr>
            <a:xfrm>
              <a:off x="1726244" y="910822"/>
              <a:ext cx="6149260" cy="1843192"/>
              <a:chOff x="1726244" y="910822"/>
              <a:chExt cx="6149260" cy="1843192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4BC392CB-BB9E-4C60-B476-EB391E548F5A}"/>
                  </a:ext>
                </a:extLst>
              </p:cNvPr>
              <p:cNvSpPr/>
              <p:nvPr/>
            </p:nvSpPr>
            <p:spPr>
              <a:xfrm>
                <a:off x="1863847" y="145829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1</a:t>
                </a:r>
                <a:endParaRPr lang="zh-CN" altLang="en-US" sz="2000" b="1" dirty="0"/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96AB0025-3B10-4B62-9FCB-A3BAEE57EB52}"/>
                  </a:ext>
                </a:extLst>
              </p:cNvPr>
              <p:cNvSpPr/>
              <p:nvPr/>
            </p:nvSpPr>
            <p:spPr>
              <a:xfrm>
                <a:off x="2500422" y="145829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2</a:t>
                </a:r>
                <a:endParaRPr lang="zh-CN" altLang="en-US" sz="2000" b="1" dirty="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7852803D-D7FF-4601-8F4B-DE69D41032DD}"/>
                  </a:ext>
                </a:extLst>
              </p:cNvPr>
              <p:cNvSpPr/>
              <p:nvPr/>
            </p:nvSpPr>
            <p:spPr>
              <a:xfrm>
                <a:off x="1726244" y="201385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3</a:t>
                </a:r>
                <a:endParaRPr lang="zh-CN" altLang="en-US" b="1" dirty="0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5A120636-81B2-42C8-8FB1-CEB0AD0FB957}"/>
                  </a:ext>
                </a:extLst>
              </p:cNvPr>
              <p:cNvSpPr/>
              <p:nvPr/>
            </p:nvSpPr>
            <p:spPr>
              <a:xfrm>
                <a:off x="2197652" y="910822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0</a:t>
                </a:r>
                <a:endParaRPr lang="zh-CN" altLang="en-US" sz="2000" b="1" dirty="0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1353E0F7-802C-4DFA-AE47-5E2866AD15E5}"/>
                  </a:ext>
                </a:extLst>
              </p:cNvPr>
              <p:cNvSpPr/>
              <p:nvPr/>
            </p:nvSpPr>
            <p:spPr>
              <a:xfrm>
                <a:off x="2638025" y="201385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4</a:t>
                </a:r>
                <a:endParaRPr lang="zh-CN" altLang="en-US" sz="2000" b="1" dirty="0"/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2C70BC6-A0A5-4FAD-BA01-37BDCAB7A9EC}"/>
                  </a:ext>
                </a:extLst>
              </p:cNvPr>
              <p:cNvCxnSpPr>
                <a:stCxn id="8" idx="3"/>
                <a:endCxn id="5" idx="1"/>
              </p:cNvCxnSpPr>
              <p:nvPr/>
            </p:nvCxnSpPr>
            <p:spPr>
              <a:xfrm flipH="1">
                <a:off x="2057289" y="1219552"/>
                <a:ext cx="197021" cy="23874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03F250FD-D455-4EA2-863E-E2D3ECC41DEE}"/>
                  </a:ext>
                </a:extLst>
              </p:cNvPr>
              <p:cNvCxnSpPr>
                <a:cxnSpLocks/>
                <a:stCxn id="5" idx="4"/>
              </p:cNvCxnSpPr>
              <p:nvPr/>
            </p:nvCxnSpPr>
            <p:spPr>
              <a:xfrm flipH="1">
                <a:off x="1962317" y="1819993"/>
                <a:ext cx="94973" cy="19386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8EB91FC-C476-4C9F-B39E-9A2C974D6A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8843" y="2331802"/>
                <a:ext cx="84525" cy="2468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82E0ACC-3B46-496F-A0FF-F953DC17E503}"/>
                  </a:ext>
                </a:extLst>
              </p:cNvPr>
              <p:cNvCxnSpPr>
                <a:stCxn id="8" idx="5"/>
                <a:endCxn id="6" idx="0"/>
              </p:cNvCxnSpPr>
              <p:nvPr/>
            </p:nvCxnSpPr>
            <p:spPr>
              <a:xfrm>
                <a:off x="2527878" y="1219552"/>
                <a:ext cx="165986" cy="23874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F8ADB330-2D92-4A87-B495-C0AFBEDA44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867" y="1767023"/>
                <a:ext cx="134600" cy="2468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4E980DB-089B-456B-8FC3-6B1147ED9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4707" y="2318061"/>
                <a:ext cx="134600" cy="2468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69918A53-6CA7-41A8-9684-36D7AF1446DA}"/>
                  </a:ext>
                </a:extLst>
              </p:cNvPr>
              <p:cNvCxnSpPr>
                <a:cxnSpLocks/>
                <a:stCxn id="7" idx="6"/>
              </p:cNvCxnSpPr>
              <p:nvPr/>
            </p:nvCxnSpPr>
            <p:spPr>
              <a:xfrm>
                <a:off x="2113128" y="2194703"/>
                <a:ext cx="498151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4F7B660-64F3-44BD-9769-D23A0F3C9979}"/>
                  </a:ext>
                </a:extLst>
              </p:cNvPr>
              <p:cNvSpPr/>
              <p:nvPr/>
            </p:nvSpPr>
            <p:spPr>
              <a:xfrm>
                <a:off x="4089283" y="145829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1</a:t>
                </a:r>
                <a:endParaRPr lang="zh-CN" altLang="en-US" sz="2000" b="1" dirty="0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6ED8B2A2-D0C6-4033-8582-08394E9E887A}"/>
                  </a:ext>
                </a:extLst>
              </p:cNvPr>
              <p:cNvSpPr/>
              <p:nvPr/>
            </p:nvSpPr>
            <p:spPr>
              <a:xfrm>
                <a:off x="4725859" y="145829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2</a:t>
                </a:r>
                <a:endParaRPr lang="zh-CN" altLang="en-US" sz="2000" b="1" dirty="0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ECC38B4-C6CB-4F3D-AD44-ABF3C485586F}"/>
                  </a:ext>
                </a:extLst>
              </p:cNvPr>
              <p:cNvSpPr/>
              <p:nvPr/>
            </p:nvSpPr>
            <p:spPr>
              <a:xfrm>
                <a:off x="3951681" y="201385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3</a:t>
                </a:r>
                <a:endParaRPr lang="zh-CN" altLang="en-US" b="1" dirty="0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738A255B-F570-4967-9964-415136B1BE21}"/>
                  </a:ext>
                </a:extLst>
              </p:cNvPr>
              <p:cNvSpPr/>
              <p:nvPr/>
            </p:nvSpPr>
            <p:spPr>
              <a:xfrm>
                <a:off x="4423089" y="910822"/>
                <a:ext cx="386884" cy="3617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0</a:t>
                </a:r>
                <a:endParaRPr lang="zh-CN" altLang="en-US" sz="2000" b="1" dirty="0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3D2D5440-B547-4018-BE45-9F7134C13B9C}"/>
                  </a:ext>
                </a:extLst>
              </p:cNvPr>
              <p:cNvSpPr/>
              <p:nvPr/>
            </p:nvSpPr>
            <p:spPr>
              <a:xfrm>
                <a:off x="4863461" y="201385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4</a:t>
                </a:r>
                <a:endParaRPr lang="zh-CN" altLang="en-US" sz="2000" b="1" dirty="0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D5EE7D2-9FBB-430E-BB7A-CD6813DB6908}"/>
                  </a:ext>
                </a:extLst>
              </p:cNvPr>
              <p:cNvCxnSpPr>
                <a:stCxn id="27" idx="3"/>
                <a:endCxn id="24" idx="1"/>
              </p:cNvCxnSpPr>
              <p:nvPr/>
            </p:nvCxnSpPr>
            <p:spPr>
              <a:xfrm flipH="1">
                <a:off x="4282726" y="1219552"/>
                <a:ext cx="197021" cy="23874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0A336F34-4BE6-451E-B1E9-90161DA3B54A}"/>
                  </a:ext>
                </a:extLst>
              </p:cNvPr>
              <p:cNvCxnSpPr>
                <a:cxnSpLocks/>
                <a:stCxn id="24" idx="4"/>
              </p:cNvCxnSpPr>
              <p:nvPr/>
            </p:nvCxnSpPr>
            <p:spPr>
              <a:xfrm flipH="1">
                <a:off x="4187753" y="1819993"/>
                <a:ext cx="94973" cy="19386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89D629BE-151F-4ECF-A2A0-6FAF81B600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44280" y="2331802"/>
                <a:ext cx="84525" cy="2468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2B61BB74-CA7A-49B2-8788-6C2526F03901}"/>
                  </a:ext>
                </a:extLst>
              </p:cNvPr>
              <p:cNvCxnSpPr>
                <a:stCxn id="27" idx="5"/>
                <a:endCxn id="25" idx="0"/>
              </p:cNvCxnSpPr>
              <p:nvPr/>
            </p:nvCxnSpPr>
            <p:spPr>
              <a:xfrm>
                <a:off x="4753315" y="1219552"/>
                <a:ext cx="165986" cy="23874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25DBAE75-7E4E-4872-9AD2-CE85CF39C1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2304" y="1767023"/>
                <a:ext cx="134600" cy="24683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DDD0E4EA-BC57-493B-A5FC-B0CC85A13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0143" y="2318061"/>
                <a:ext cx="134600" cy="2468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05CE0E7-5D9C-433B-8AAD-F1ABFDB44C11}"/>
                  </a:ext>
                </a:extLst>
              </p:cNvPr>
              <p:cNvCxnSpPr>
                <a:cxnSpLocks/>
                <a:stCxn id="26" idx="6"/>
              </p:cNvCxnSpPr>
              <p:nvPr/>
            </p:nvCxnSpPr>
            <p:spPr>
              <a:xfrm>
                <a:off x="4338565" y="2194703"/>
                <a:ext cx="498151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2087A14A-E081-427C-B6E4-77BD76B0B1C2}"/>
                  </a:ext>
                </a:extLst>
              </p:cNvPr>
              <p:cNvCxnSpPr/>
              <p:nvPr/>
            </p:nvCxnSpPr>
            <p:spPr>
              <a:xfrm>
                <a:off x="3158792" y="1987403"/>
                <a:ext cx="8679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F9F9DD5F-5674-4925-87F8-0423ADEBF687}"/>
                  </a:ext>
                </a:extLst>
              </p:cNvPr>
              <p:cNvSpPr/>
              <p:nvPr/>
            </p:nvSpPr>
            <p:spPr>
              <a:xfrm>
                <a:off x="6507990" y="145829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1</a:t>
                </a:r>
                <a:endParaRPr lang="zh-CN" altLang="en-US" sz="2000" b="1" dirty="0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61947D74-7323-414F-8A46-658F8F8C3E0A}"/>
                  </a:ext>
                </a:extLst>
              </p:cNvPr>
              <p:cNvSpPr/>
              <p:nvPr/>
            </p:nvSpPr>
            <p:spPr>
              <a:xfrm>
                <a:off x="7144565" y="145829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2</a:t>
                </a:r>
                <a:endParaRPr lang="zh-CN" altLang="en-US" sz="2000" b="1" dirty="0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BBE5282-6616-4125-81C7-A9D34D619998}"/>
                  </a:ext>
                </a:extLst>
              </p:cNvPr>
              <p:cNvSpPr/>
              <p:nvPr/>
            </p:nvSpPr>
            <p:spPr>
              <a:xfrm>
                <a:off x="6370387" y="201385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3</a:t>
                </a:r>
                <a:endParaRPr lang="zh-CN" altLang="en-US" b="1" dirty="0"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B96A4735-EB50-41CA-B98A-006B98221E65}"/>
                  </a:ext>
                </a:extLst>
              </p:cNvPr>
              <p:cNvSpPr/>
              <p:nvPr/>
            </p:nvSpPr>
            <p:spPr>
              <a:xfrm>
                <a:off x="6841795" y="910822"/>
                <a:ext cx="386884" cy="3617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0</a:t>
                </a:r>
                <a:endParaRPr lang="zh-CN" altLang="en-US" sz="2000" b="1" dirty="0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FB84A5C9-A89E-42C4-AAE6-F2325C0FE4CF}"/>
                  </a:ext>
                </a:extLst>
              </p:cNvPr>
              <p:cNvSpPr/>
              <p:nvPr/>
            </p:nvSpPr>
            <p:spPr>
              <a:xfrm>
                <a:off x="7282168" y="2013853"/>
                <a:ext cx="386884" cy="3617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4</a:t>
                </a:r>
                <a:endParaRPr lang="zh-CN" altLang="en-US" sz="2000" b="1" dirty="0"/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88532455-EB19-40B9-9C15-5B7C108780A7}"/>
                  </a:ext>
                </a:extLst>
              </p:cNvPr>
              <p:cNvCxnSpPr>
                <a:stCxn id="44" idx="3"/>
                <a:endCxn id="41" idx="1"/>
              </p:cNvCxnSpPr>
              <p:nvPr/>
            </p:nvCxnSpPr>
            <p:spPr>
              <a:xfrm flipH="1">
                <a:off x="6701432" y="1219552"/>
                <a:ext cx="197021" cy="238741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9E82410B-F07A-43DA-9109-F586D6683C7C}"/>
                  </a:ext>
                </a:extLst>
              </p:cNvPr>
              <p:cNvCxnSpPr>
                <a:cxnSpLocks/>
                <a:stCxn id="41" idx="4"/>
              </p:cNvCxnSpPr>
              <p:nvPr/>
            </p:nvCxnSpPr>
            <p:spPr>
              <a:xfrm flipH="1">
                <a:off x="6606460" y="1819993"/>
                <a:ext cx="94973" cy="19386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935D17B-4FE3-475F-AFC1-5213D8F586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62986" y="2331802"/>
                <a:ext cx="84525" cy="24683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B01CCB1C-9FB2-42C8-A6BF-2733D25F1237}"/>
                  </a:ext>
                </a:extLst>
              </p:cNvPr>
              <p:cNvCxnSpPr>
                <a:stCxn id="44" idx="5"/>
                <a:endCxn id="42" idx="0"/>
              </p:cNvCxnSpPr>
              <p:nvPr/>
            </p:nvCxnSpPr>
            <p:spPr>
              <a:xfrm>
                <a:off x="7172021" y="1219552"/>
                <a:ext cx="165986" cy="238741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82D4452B-C513-4F90-9744-6C592583DA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1010" y="1767023"/>
                <a:ext cx="134600" cy="24683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12D7FF3-C26C-4433-A9A3-27B0F956D0FA}"/>
                  </a:ext>
                </a:extLst>
              </p:cNvPr>
              <p:cNvCxnSpPr>
                <a:cxnSpLocks/>
                <a:stCxn id="45" idx="4"/>
              </p:cNvCxnSpPr>
              <p:nvPr/>
            </p:nvCxnSpPr>
            <p:spPr>
              <a:xfrm>
                <a:off x="7475610" y="2375553"/>
                <a:ext cx="97839" cy="18933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6CDE697-A778-483A-80DE-B4D712D6D087}"/>
                  </a:ext>
                </a:extLst>
              </p:cNvPr>
              <p:cNvCxnSpPr>
                <a:cxnSpLocks/>
                <a:stCxn id="43" idx="6"/>
              </p:cNvCxnSpPr>
              <p:nvPr/>
            </p:nvCxnSpPr>
            <p:spPr>
              <a:xfrm>
                <a:off x="6757271" y="2194703"/>
                <a:ext cx="498151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E459B46-DF1B-4840-AB41-0573AA7CB446}"/>
                  </a:ext>
                </a:extLst>
              </p:cNvPr>
              <p:cNvSpPr txBox="1"/>
              <p:nvPr/>
            </p:nvSpPr>
            <p:spPr>
              <a:xfrm>
                <a:off x="5294377" y="1402000"/>
                <a:ext cx="964132" cy="474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加入</a:t>
                </a:r>
                <a:r>
                  <a:rPr lang="en-US" altLang="zh-CN" b="1" dirty="0"/>
                  <a:t>(5, 6)</a:t>
                </a:r>
              </a:p>
              <a:p>
                <a:r>
                  <a:rPr lang="zh-CN" altLang="en-US" b="1" dirty="0"/>
                  <a:t>标记环边</a:t>
                </a:r>
              </a:p>
            </p:txBody>
          </p: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E01EA3E6-0C49-45E5-8DCC-A44A0A173701}"/>
                  </a:ext>
                </a:extLst>
              </p:cNvPr>
              <p:cNvCxnSpPr/>
              <p:nvPr/>
            </p:nvCxnSpPr>
            <p:spPr>
              <a:xfrm>
                <a:off x="5401560" y="2013853"/>
                <a:ext cx="8679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E69265B-17CA-4652-B44F-FCBFEF63858A}"/>
                  </a:ext>
                </a:extLst>
              </p:cNvPr>
              <p:cNvCxnSpPr>
                <a:cxnSpLocks/>
                <a:endCxn id="52" idx="2"/>
              </p:cNvCxnSpPr>
              <p:nvPr/>
            </p:nvCxnSpPr>
            <p:spPr>
              <a:xfrm flipV="1">
                <a:off x="6678930" y="2745741"/>
                <a:ext cx="729380" cy="827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1AEBE72-CCCC-422D-A53D-FBB1EF7969C8}"/>
                  </a:ext>
                </a:extLst>
              </p:cNvPr>
              <p:cNvSpPr txBox="1"/>
              <p:nvPr/>
            </p:nvSpPr>
            <p:spPr>
              <a:xfrm>
                <a:off x="2962842" y="1402000"/>
                <a:ext cx="964132" cy="474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加入</a:t>
                </a:r>
                <a:r>
                  <a:rPr lang="en-US" altLang="zh-CN" b="1" dirty="0"/>
                  <a:t>(3, 4)</a:t>
                </a:r>
              </a:p>
              <a:p>
                <a:r>
                  <a:rPr lang="zh-CN" altLang="en-US" b="1" dirty="0"/>
                  <a:t>标记环边</a:t>
                </a:r>
              </a:p>
            </p:txBody>
          </p:sp>
          <p:sp>
            <p:nvSpPr>
              <p:cNvPr id="2" name="箭头: 上 1">
                <a:extLst>
                  <a:ext uri="{FF2B5EF4-FFF2-40B4-BE49-F238E27FC236}">
                    <a16:creationId xmlns:a16="http://schemas.microsoft.com/office/drawing/2014/main" id="{3AF102BE-2A28-447C-90FA-95CDA77F8D57}"/>
                  </a:ext>
                </a:extLst>
              </p:cNvPr>
              <p:cNvSpPr/>
              <p:nvPr/>
            </p:nvSpPr>
            <p:spPr>
              <a:xfrm>
                <a:off x="5165454" y="1502953"/>
                <a:ext cx="182687" cy="369332"/>
              </a:xfrm>
              <a:prstGeom prst="upArrow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箭头: 上 135">
                <a:extLst>
                  <a:ext uri="{FF2B5EF4-FFF2-40B4-BE49-F238E27FC236}">
                    <a16:creationId xmlns:a16="http://schemas.microsoft.com/office/drawing/2014/main" id="{FC01EF36-96AB-409C-9D06-C75899777E17}"/>
                  </a:ext>
                </a:extLst>
              </p:cNvPr>
              <p:cNvSpPr/>
              <p:nvPr/>
            </p:nvSpPr>
            <p:spPr>
              <a:xfrm>
                <a:off x="7584522" y="1542663"/>
                <a:ext cx="182687" cy="369332"/>
              </a:xfrm>
              <a:prstGeom prst="upArrow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箭头: 上 136">
                <a:extLst>
                  <a:ext uri="{FF2B5EF4-FFF2-40B4-BE49-F238E27FC236}">
                    <a16:creationId xmlns:a16="http://schemas.microsoft.com/office/drawing/2014/main" id="{4B450FF9-6D5E-4E46-A412-33341CF9F0BD}"/>
                  </a:ext>
                </a:extLst>
              </p:cNvPr>
              <p:cNvSpPr/>
              <p:nvPr/>
            </p:nvSpPr>
            <p:spPr>
              <a:xfrm>
                <a:off x="7692817" y="2161534"/>
                <a:ext cx="182687" cy="369332"/>
              </a:xfrm>
              <a:prstGeom prst="upArrow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DE85161-3E36-4FC9-819D-B1A67C5E70A8}"/>
              </a:ext>
            </a:extLst>
          </p:cNvPr>
          <p:cNvSpPr txBox="1"/>
          <p:nvPr/>
        </p:nvSpPr>
        <p:spPr>
          <a:xfrm>
            <a:off x="8437000" y="1529622"/>
            <a:ext cx="2848037" cy="474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向上重复标记环边，若节点的深度很深，时间复杂度高</a:t>
            </a:r>
          </a:p>
        </p:txBody>
      </p:sp>
    </p:spTree>
    <p:extLst>
      <p:ext uri="{BB962C8B-B14F-4D97-AF65-F5344CB8AC3E}">
        <p14:creationId xmlns:p14="http://schemas.microsoft.com/office/powerpoint/2010/main" val="3958094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E03D2A-53DE-44D1-9912-E492B5B5989E}"/>
              </a:ext>
            </a:extLst>
          </p:cNvPr>
          <p:cNvSpPr txBox="1"/>
          <p:nvPr/>
        </p:nvSpPr>
        <p:spPr>
          <a:xfrm>
            <a:off x="1133475" y="304801"/>
            <a:ext cx="448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LCA+</a:t>
            </a:r>
            <a:r>
              <a:rPr lang="zh-CN" altLang="en-US" sz="3200" b="1" dirty="0"/>
              <a:t>并查集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路径优化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2C40DE0-6054-4368-ACC6-0881C890708D}"/>
              </a:ext>
            </a:extLst>
          </p:cNvPr>
          <p:cNvGrpSpPr/>
          <p:nvPr/>
        </p:nvGrpSpPr>
        <p:grpSpPr>
          <a:xfrm>
            <a:off x="1857979" y="1211420"/>
            <a:ext cx="8070290" cy="2312475"/>
            <a:chOff x="1857979" y="1211420"/>
            <a:chExt cx="8070290" cy="2312475"/>
          </a:xfrm>
        </p:grpSpPr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C3EFF098-80F9-4C27-B6E9-83684FBE2E16}"/>
                </a:ext>
              </a:extLst>
            </p:cNvPr>
            <p:cNvGrpSpPr/>
            <p:nvPr/>
          </p:nvGrpSpPr>
          <p:grpSpPr>
            <a:xfrm>
              <a:off x="6504292" y="1342782"/>
              <a:ext cx="468746" cy="1067738"/>
              <a:chOff x="6402650" y="1494797"/>
              <a:chExt cx="599968" cy="1451933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73F385C3-BBAC-41CB-8C7C-7E2BCB1BF475}"/>
                  </a:ext>
                </a:extLst>
              </p:cNvPr>
              <p:cNvSpPr/>
              <p:nvPr/>
            </p:nvSpPr>
            <p:spPr>
              <a:xfrm>
                <a:off x="6402650" y="1494797"/>
                <a:ext cx="599968" cy="575791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0</a:t>
                </a:r>
                <a:endParaRPr lang="zh-CN" altLang="en-US" sz="1600" b="1" dirty="0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6B3481C1-36A3-4157-AD91-7790538526E2}"/>
                  </a:ext>
                </a:extLst>
              </p:cNvPr>
              <p:cNvSpPr/>
              <p:nvPr/>
            </p:nvSpPr>
            <p:spPr>
              <a:xfrm>
                <a:off x="6402650" y="2370939"/>
                <a:ext cx="599968" cy="575791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1</a:t>
                </a:r>
                <a:endParaRPr lang="zh-CN" altLang="en-US" sz="1600" b="1" dirty="0"/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3D24361-16C5-488A-9CE5-16E70E92AD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03989" y="2083043"/>
                <a:ext cx="4930" cy="2878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7F03FE77-0078-44DB-A6AA-9723210B9AF4}"/>
                </a:ext>
              </a:extLst>
            </p:cNvPr>
            <p:cNvSpPr/>
            <p:nvPr/>
          </p:nvSpPr>
          <p:spPr>
            <a:xfrm>
              <a:off x="5727996" y="1342782"/>
              <a:ext cx="468746" cy="45514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5</a:t>
              </a:r>
              <a:endParaRPr lang="zh-CN" altLang="en-US" sz="1600" b="1" dirty="0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82445B47-6948-43B2-AB5A-847C4D301C02}"/>
                </a:ext>
              </a:extLst>
            </p:cNvPr>
            <p:cNvSpPr/>
            <p:nvPr/>
          </p:nvSpPr>
          <p:spPr>
            <a:xfrm>
              <a:off x="7317196" y="1954564"/>
              <a:ext cx="420680" cy="403168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6</a:t>
              </a:r>
              <a:endParaRPr lang="zh-CN" altLang="en-US" sz="1600" b="1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222FE4B-B50A-40A4-B0CE-FC0BF5223D5C}"/>
                </a:ext>
              </a:extLst>
            </p:cNvPr>
            <p:cNvGrpSpPr/>
            <p:nvPr/>
          </p:nvGrpSpPr>
          <p:grpSpPr>
            <a:xfrm>
              <a:off x="7301839" y="1355326"/>
              <a:ext cx="1034210" cy="1614152"/>
              <a:chOff x="7301839" y="1355326"/>
              <a:chExt cx="1034210" cy="1614152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9CE6C919-6D22-4454-AEAD-8AE8CCDDDCE8}"/>
                  </a:ext>
                </a:extLst>
              </p:cNvPr>
              <p:cNvSpPr/>
              <p:nvPr/>
            </p:nvSpPr>
            <p:spPr>
              <a:xfrm>
                <a:off x="7609139" y="1355326"/>
                <a:ext cx="420680" cy="403168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2</a:t>
                </a:r>
                <a:endParaRPr lang="zh-CN" altLang="en-US" sz="1600" b="1" dirty="0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FBD156CB-C001-4358-A23E-9AFD44FD5C66}"/>
                  </a:ext>
                </a:extLst>
              </p:cNvPr>
              <p:cNvSpPr/>
              <p:nvPr/>
            </p:nvSpPr>
            <p:spPr>
              <a:xfrm>
                <a:off x="7915369" y="1954564"/>
                <a:ext cx="420680" cy="403168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3</a:t>
                </a:r>
                <a:endParaRPr lang="zh-CN" altLang="en-US" sz="1600" b="1" dirty="0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B695A991-220B-41DE-88A8-A6EFF0142A9B}"/>
                  </a:ext>
                </a:extLst>
              </p:cNvPr>
              <p:cNvSpPr/>
              <p:nvPr/>
            </p:nvSpPr>
            <p:spPr>
              <a:xfrm>
                <a:off x="7301839" y="2566310"/>
                <a:ext cx="420680" cy="403168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/>
                  <a:t>7</a:t>
                </a:r>
                <a:endParaRPr lang="zh-CN" altLang="en-US" sz="1600" b="1" dirty="0"/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EA4BAEEC-BFBE-42AD-984C-7835E670E7C2}"/>
                  </a:ext>
                </a:extLst>
              </p:cNvPr>
              <p:cNvCxnSpPr>
                <a:cxnSpLocks/>
                <a:endCxn id="51" idx="0"/>
              </p:cNvCxnSpPr>
              <p:nvPr/>
            </p:nvCxnSpPr>
            <p:spPr>
              <a:xfrm flipH="1">
                <a:off x="7527536" y="1695966"/>
                <a:ext cx="141211" cy="25859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856991B7-C6AD-45E2-BD23-13E0346F7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8911" y="2353372"/>
                <a:ext cx="0" cy="21030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1B930A1-1DB3-4D05-AD66-052893E9B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9205" y="1685877"/>
                <a:ext cx="115641" cy="25998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C4D8E7C0-2FEB-48D4-94A1-C273A4254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7979" y="1211420"/>
              <a:ext cx="2603308" cy="2312475"/>
            </a:xfrm>
            <a:prstGeom prst="rect">
              <a:avLst/>
            </a:prstGeom>
          </p:spPr>
        </p:pic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872DF75F-1812-4377-ADE3-9CAE4BCFB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5906" y="1211420"/>
              <a:ext cx="1582363" cy="2228595"/>
            </a:xfrm>
            <a:prstGeom prst="rect">
              <a:avLst/>
            </a:prstGeom>
          </p:spPr>
        </p:pic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32C3F2BF-F31B-49B0-9E40-6E4E284FEA13}"/>
                </a:ext>
              </a:extLst>
            </p:cNvPr>
            <p:cNvCxnSpPr/>
            <p:nvPr/>
          </p:nvCxnSpPr>
          <p:spPr>
            <a:xfrm>
              <a:off x="4754880" y="2636532"/>
              <a:ext cx="86204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D52E9D49-F4E5-4572-BF86-71653A18784C}"/>
                </a:ext>
              </a:extLst>
            </p:cNvPr>
            <p:cNvSpPr txBox="1"/>
            <p:nvPr/>
          </p:nvSpPr>
          <p:spPr>
            <a:xfrm>
              <a:off x="4531309" y="2229160"/>
              <a:ext cx="1257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BFS</a:t>
              </a:r>
              <a:r>
                <a:rPr lang="zh-CN" altLang="en-US" b="1" dirty="0"/>
                <a:t>生成树</a:t>
              </a:r>
            </a:p>
          </p:txBody>
        </p:sp>
      </p:grpSp>
      <p:sp>
        <p:nvSpPr>
          <p:cNvPr id="97" name="文本框 96">
            <a:extLst>
              <a:ext uri="{FF2B5EF4-FFF2-40B4-BE49-F238E27FC236}">
                <a16:creationId xmlns:a16="http://schemas.microsoft.com/office/drawing/2014/main" id="{105CCB64-AFDF-4959-A6A9-00FA60499A20}"/>
              </a:ext>
            </a:extLst>
          </p:cNvPr>
          <p:cNvSpPr txBox="1"/>
          <p:nvPr/>
        </p:nvSpPr>
        <p:spPr>
          <a:xfrm>
            <a:off x="408292" y="406596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LCA：</a:t>
            </a:r>
          </a:p>
          <a:p>
            <a:r>
              <a:rPr lang="en-US" altLang="zh-CN" dirty="0"/>
              <a:t>       BFS()		// BFS</a:t>
            </a:r>
            <a:r>
              <a:rPr lang="zh-CN" altLang="en-US" dirty="0"/>
              <a:t>构建生成树</a:t>
            </a:r>
            <a:endParaRPr lang="en-US" altLang="zh-CN" sz="1800" dirty="0"/>
          </a:p>
          <a:p>
            <a:r>
              <a:rPr lang="en-US" altLang="zh-CN" dirty="0"/>
              <a:t>       // </a:t>
            </a:r>
            <a:r>
              <a:rPr lang="zh-CN" altLang="en-US" dirty="0"/>
              <a:t>遍历环边并进行</a:t>
            </a:r>
            <a:r>
              <a:rPr lang="en-US" altLang="zh-CN" dirty="0"/>
              <a:t>LCA+</a:t>
            </a:r>
            <a:r>
              <a:rPr lang="zh-CN" altLang="en-US" dirty="0"/>
              <a:t>路径压缩调整</a:t>
            </a:r>
            <a:endParaRPr lang="en-US" altLang="zh-CN" dirty="0"/>
          </a:p>
          <a:p>
            <a:r>
              <a:rPr lang="en-US" altLang="zh-CN" sz="1800" dirty="0"/>
              <a:t>       For every edge (u, v) do following:</a:t>
            </a:r>
          </a:p>
          <a:p>
            <a:r>
              <a:rPr lang="en-US" altLang="zh-CN" dirty="0"/>
              <a:t>             If (</a:t>
            </a:r>
            <a:r>
              <a:rPr lang="en-US" altLang="zh-CN" dirty="0" err="1"/>
              <a:t>u,v</a:t>
            </a:r>
            <a:r>
              <a:rPr lang="en-US" altLang="zh-CN" dirty="0"/>
              <a:t>) || (v, u) in </a:t>
            </a:r>
            <a:r>
              <a:rPr lang="en-US" altLang="zh-CN" dirty="0" err="1"/>
              <a:t>huan_set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	   </a:t>
            </a:r>
            <a:r>
              <a:rPr lang="en-US" altLang="zh-CN" dirty="0" err="1"/>
              <a:t>find_lca</a:t>
            </a:r>
            <a:r>
              <a:rPr lang="en-US" altLang="zh-CN" dirty="0"/>
              <a:t>(u, v)</a:t>
            </a:r>
          </a:p>
          <a:p>
            <a:r>
              <a:rPr lang="en-US" altLang="zh-CN" dirty="0"/>
              <a:t>       // count the </a:t>
            </a:r>
            <a:r>
              <a:rPr lang="en-US" altLang="zh-CN" dirty="0" err="1"/>
              <a:t>flag_nums</a:t>
            </a:r>
            <a:r>
              <a:rPr lang="en-US" altLang="zh-CN" dirty="0"/>
              <a:t> of tree</a:t>
            </a:r>
          </a:p>
          <a:p>
            <a:r>
              <a:rPr lang="en-US" altLang="zh-CN" dirty="0"/>
              <a:t>       </a:t>
            </a:r>
            <a:r>
              <a:rPr lang="en-US" altLang="zh-CN" sz="1800" dirty="0"/>
              <a:t>return </a:t>
            </a:r>
            <a:r>
              <a:rPr lang="en-US" altLang="zh-CN" sz="1800" dirty="0" err="1"/>
              <a:t>tree_nums</a:t>
            </a:r>
            <a:endParaRPr lang="en-US" altLang="zh-CN" sz="18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077E352-C056-4E26-AC16-9F30B0B0A7CD}"/>
              </a:ext>
            </a:extLst>
          </p:cNvPr>
          <p:cNvSpPr txBox="1"/>
          <p:nvPr/>
        </p:nvSpPr>
        <p:spPr>
          <a:xfrm>
            <a:off x="6973038" y="389840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BFS():</a:t>
            </a:r>
          </a:p>
          <a:p>
            <a:r>
              <a:rPr lang="en-US" altLang="zh-CN" dirty="0"/>
              <a:t>        for every point u in graph:</a:t>
            </a:r>
          </a:p>
          <a:p>
            <a:r>
              <a:rPr lang="en-US" altLang="zh-CN" dirty="0"/>
              <a:t>	depth[u] = 0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q.enqueue</a:t>
            </a:r>
            <a:r>
              <a:rPr lang="en-US" altLang="zh-CN" dirty="0"/>
              <a:t>(u)</a:t>
            </a:r>
          </a:p>
          <a:p>
            <a:r>
              <a:rPr lang="en-US" altLang="zh-CN" dirty="0"/>
              <a:t>	while(!q):</a:t>
            </a:r>
          </a:p>
          <a:p>
            <a:r>
              <a:rPr lang="en-US" altLang="zh-CN" dirty="0"/>
              <a:t>	       for every point v near u:</a:t>
            </a:r>
          </a:p>
          <a:p>
            <a:r>
              <a:rPr lang="en-US" altLang="zh-CN" dirty="0"/>
              <a:t>		depth[v] = depth[u]++</a:t>
            </a:r>
          </a:p>
          <a:p>
            <a:r>
              <a:rPr lang="en-US" altLang="zh-CN" dirty="0"/>
              <a:t>                              // </a:t>
            </a:r>
            <a:r>
              <a:rPr lang="zh-CN" altLang="en-US" dirty="0"/>
              <a:t>标记树边为桥</a:t>
            </a:r>
            <a:endParaRPr lang="en-US" altLang="zh-CN" dirty="0"/>
          </a:p>
          <a:p>
            <a:r>
              <a:rPr lang="en-US" altLang="zh-CN" dirty="0"/>
              <a:t>		tree[v] = true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q.enqueue</a:t>
            </a:r>
            <a:r>
              <a:rPr lang="en-US" altLang="zh-CN" dirty="0"/>
              <a:t>(v)</a:t>
            </a:r>
          </a:p>
        </p:txBody>
      </p:sp>
    </p:spTree>
    <p:extLst>
      <p:ext uri="{BB962C8B-B14F-4D97-AF65-F5344CB8AC3E}">
        <p14:creationId xmlns:p14="http://schemas.microsoft.com/office/powerpoint/2010/main" val="1458888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4F905F9-1004-4936-81AB-D05FCA7D1B75}"/>
              </a:ext>
            </a:extLst>
          </p:cNvPr>
          <p:cNvSpPr txBox="1"/>
          <p:nvPr/>
        </p:nvSpPr>
        <p:spPr>
          <a:xfrm>
            <a:off x="259080" y="1039338"/>
            <a:ext cx="51187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/>
              <a:t>find_lca</a:t>
            </a:r>
            <a:r>
              <a:rPr lang="en-US" altLang="zh-CN" sz="1400" dirty="0"/>
              <a:t>(u, v):</a:t>
            </a:r>
          </a:p>
          <a:p>
            <a:r>
              <a:rPr lang="en-US" altLang="zh-CN" sz="1400" dirty="0"/>
              <a:t>    # </a:t>
            </a:r>
            <a:r>
              <a:rPr lang="zh-CN" altLang="en-US" sz="1400" dirty="0"/>
              <a:t>如果 </a:t>
            </a:r>
            <a:r>
              <a:rPr lang="en-US" altLang="zh-CN" sz="1400" dirty="0"/>
              <a:t>u </a:t>
            </a:r>
            <a:r>
              <a:rPr lang="zh-CN" altLang="en-US" sz="1400" dirty="0"/>
              <a:t>和 </a:t>
            </a:r>
            <a:r>
              <a:rPr lang="en-US" altLang="zh-CN" sz="1400" dirty="0"/>
              <a:t>v </a:t>
            </a:r>
            <a:r>
              <a:rPr lang="zh-CN" altLang="en-US" sz="1400" dirty="0"/>
              <a:t>的父节点是对方</a:t>
            </a:r>
            <a:r>
              <a:rPr lang="en-US" altLang="zh-CN" sz="1400" dirty="0"/>
              <a:t>, </a:t>
            </a:r>
            <a:r>
              <a:rPr lang="zh-CN" altLang="en-US" sz="1400" dirty="0"/>
              <a:t>直接返回</a:t>
            </a:r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if parent[u] == v or parent[v] == u:</a:t>
            </a:r>
          </a:p>
          <a:p>
            <a:r>
              <a:rPr lang="en-US" altLang="zh-CN" sz="1400" dirty="0"/>
              <a:t>        return</a:t>
            </a:r>
          </a:p>
          <a:p>
            <a:endParaRPr lang="en-US" altLang="zh-CN" sz="1400" dirty="0"/>
          </a:p>
          <a:p>
            <a:r>
              <a:rPr lang="en-US" altLang="zh-CN" sz="1400" dirty="0"/>
              <a:t>    # </a:t>
            </a:r>
            <a:r>
              <a:rPr lang="zh-CN" altLang="en-US" sz="1400" dirty="0"/>
              <a:t>寻找 </a:t>
            </a:r>
            <a:r>
              <a:rPr lang="en-US" altLang="zh-CN" sz="1400" dirty="0"/>
              <a:t>u </a:t>
            </a:r>
            <a:r>
              <a:rPr lang="zh-CN" altLang="en-US" sz="1400" dirty="0"/>
              <a:t>和 </a:t>
            </a:r>
            <a:r>
              <a:rPr lang="en-US" altLang="zh-CN" sz="1400" dirty="0"/>
              <a:t>v </a:t>
            </a:r>
            <a:r>
              <a:rPr lang="zh-CN" altLang="en-US" sz="1400" dirty="0"/>
              <a:t>的共同祖先</a:t>
            </a:r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while u != v:</a:t>
            </a:r>
          </a:p>
          <a:p>
            <a:r>
              <a:rPr lang="en-US" altLang="zh-CN" sz="1400" dirty="0"/>
              <a:t>        # </a:t>
            </a:r>
            <a:r>
              <a:rPr lang="zh-CN" altLang="en-US" sz="1400" dirty="0"/>
              <a:t>如果 </a:t>
            </a:r>
            <a:r>
              <a:rPr lang="en-US" altLang="zh-CN" sz="1400" dirty="0"/>
              <a:t>u </a:t>
            </a:r>
            <a:r>
              <a:rPr lang="zh-CN" altLang="en-US" sz="1400" dirty="0"/>
              <a:t>的深度小于 </a:t>
            </a:r>
            <a:r>
              <a:rPr lang="en-US" altLang="zh-CN" sz="1400" dirty="0"/>
              <a:t>v </a:t>
            </a:r>
            <a:r>
              <a:rPr lang="zh-CN" altLang="en-US" sz="1400" dirty="0"/>
              <a:t>的深度</a:t>
            </a:r>
            <a:r>
              <a:rPr lang="en-US" altLang="zh-CN" sz="1400" dirty="0"/>
              <a:t>, </a:t>
            </a:r>
            <a:r>
              <a:rPr lang="zh-CN" altLang="en-US" sz="1400" dirty="0"/>
              <a:t>移动 </a:t>
            </a:r>
            <a:r>
              <a:rPr lang="en-US" altLang="zh-CN" sz="1400" dirty="0"/>
              <a:t>v </a:t>
            </a:r>
            <a:r>
              <a:rPr lang="zh-CN" altLang="en-US" sz="1400" dirty="0"/>
              <a:t>到它的父节点</a:t>
            </a:r>
          </a:p>
          <a:p>
            <a:r>
              <a:rPr lang="zh-CN" altLang="en-US" sz="1400" dirty="0"/>
              <a:t>        </a:t>
            </a:r>
            <a:r>
              <a:rPr lang="en-US" altLang="zh-CN" sz="1400" dirty="0"/>
              <a:t>if depth[u] &lt; depth[v]:</a:t>
            </a:r>
          </a:p>
          <a:p>
            <a:r>
              <a:rPr lang="en-US" altLang="zh-CN" sz="1400" b="1" dirty="0"/>
              <a:t>            tree[v] = false     </a:t>
            </a:r>
            <a:r>
              <a:rPr lang="en-US" altLang="zh-CN" sz="1400" dirty="0"/>
              <a:t>v = parent[v]</a:t>
            </a:r>
          </a:p>
          <a:p>
            <a:r>
              <a:rPr lang="en-US" altLang="zh-CN" sz="1400" dirty="0"/>
              <a:t>       else if depth[u] &gt; depth[v]:</a:t>
            </a:r>
          </a:p>
          <a:p>
            <a:r>
              <a:rPr lang="en-US" altLang="zh-CN" sz="1400" b="1" dirty="0"/>
              <a:t>            tree[v] = false </a:t>
            </a:r>
            <a:r>
              <a:rPr lang="en-US" altLang="zh-CN" sz="1400" dirty="0"/>
              <a:t>u = parent[u]</a:t>
            </a:r>
          </a:p>
          <a:p>
            <a:r>
              <a:rPr lang="en-US" altLang="zh-CN" sz="1400" dirty="0"/>
              <a:t># </a:t>
            </a:r>
            <a:r>
              <a:rPr lang="zh-CN" altLang="en-US" sz="1400" dirty="0"/>
              <a:t>如果深度相同</a:t>
            </a:r>
            <a:r>
              <a:rPr lang="en-US" altLang="zh-CN" sz="1400" dirty="0"/>
              <a:t>, </a:t>
            </a:r>
            <a:r>
              <a:rPr lang="zh-CN" altLang="en-US" sz="1400" dirty="0"/>
              <a:t>则同时移动 </a:t>
            </a:r>
            <a:r>
              <a:rPr lang="en-US" altLang="zh-CN" sz="1400" dirty="0"/>
              <a:t>u </a:t>
            </a:r>
            <a:r>
              <a:rPr lang="zh-CN" altLang="en-US" sz="1400" dirty="0"/>
              <a:t>和 </a:t>
            </a:r>
            <a:r>
              <a:rPr lang="en-US" altLang="zh-CN" sz="1400" dirty="0"/>
              <a:t>v </a:t>
            </a:r>
            <a:r>
              <a:rPr lang="zh-CN" altLang="en-US" sz="1400" dirty="0"/>
              <a:t>到它们的父节点</a:t>
            </a:r>
          </a:p>
          <a:p>
            <a:r>
              <a:rPr lang="zh-CN" altLang="en-US" sz="1400" dirty="0"/>
              <a:t>        </a:t>
            </a:r>
            <a:r>
              <a:rPr lang="en-US" altLang="zh-CN" sz="1400" dirty="0"/>
              <a:t>else:</a:t>
            </a:r>
          </a:p>
          <a:p>
            <a:r>
              <a:rPr lang="en-US" altLang="zh-CN" sz="1400" b="1" dirty="0"/>
              <a:t> 	tree[u] = false  tree[v] = false </a:t>
            </a:r>
            <a:endParaRPr lang="en-US" altLang="zh-CN" sz="1400" dirty="0"/>
          </a:p>
          <a:p>
            <a:r>
              <a:rPr lang="en-US" altLang="zh-CN" sz="1400" dirty="0"/>
              <a:t># </a:t>
            </a:r>
            <a:r>
              <a:rPr lang="zh-CN" altLang="en-US" sz="1400" dirty="0"/>
              <a:t>压缩路径，对</a:t>
            </a:r>
            <a:r>
              <a:rPr lang="en-US" altLang="zh-CN" sz="1400" dirty="0"/>
              <a:t>u, v</a:t>
            </a:r>
            <a:r>
              <a:rPr lang="zh-CN" altLang="en-US" sz="1400" dirty="0"/>
              <a:t>节点进行同样操作</a:t>
            </a:r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while </a:t>
            </a:r>
            <a:r>
              <a:rPr lang="en-US" altLang="zh-CN" sz="1400" dirty="0" err="1"/>
              <a:t>tu</a:t>
            </a:r>
            <a:r>
              <a:rPr lang="en-US" altLang="zh-CN" sz="1400" dirty="0"/>
              <a:t> != u:</a:t>
            </a:r>
          </a:p>
          <a:p>
            <a:r>
              <a:rPr lang="en-US" altLang="zh-CN" sz="1400" dirty="0"/>
              <a:t>        # </a:t>
            </a:r>
            <a:r>
              <a:rPr lang="zh-CN" altLang="en-US" sz="1400" dirty="0"/>
              <a:t>将 </a:t>
            </a:r>
            <a:r>
              <a:rPr lang="en-US" altLang="zh-CN" sz="1400" dirty="0" err="1"/>
              <a:t>tu</a:t>
            </a:r>
            <a:r>
              <a:rPr lang="en-US" altLang="zh-CN" sz="1400" dirty="0"/>
              <a:t> </a:t>
            </a:r>
            <a:r>
              <a:rPr lang="zh-CN" altLang="en-US" sz="1400" dirty="0"/>
              <a:t>的父节点设为 </a:t>
            </a:r>
            <a:r>
              <a:rPr lang="en-US" altLang="zh-CN" sz="1400" dirty="0"/>
              <a:t>u</a:t>
            </a:r>
          </a:p>
          <a:p>
            <a:r>
              <a:rPr lang="en-US" altLang="zh-CN" sz="1400" dirty="0"/>
              <a:t>        parent[</a:t>
            </a:r>
            <a:r>
              <a:rPr lang="en-US" altLang="zh-CN" sz="1400" dirty="0" err="1"/>
              <a:t>tu</a:t>
            </a:r>
            <a:r>
              <a:rPr lang="en-US" altLang="zh-CN" sz="1400" dirty="0"/>
              <a:t>] = u        </a:t>
            </a:r>
            <a:r>
              <a:rPr lang="en-US" altLang="zh-CN" sz="1400" dirty="0" err="1"/>
              <a:t>tu</a:t>
            </a:r>
            <a:r>
              <a:rPr lang="en-US" altLang="zh-CN" sz="1400" dirty="0"/>
              <a:t> = parent[</a:t>
            </a:r>
            <a:r>
              <a:rPr lang="en-US" altLang="zh-CN" sz="1400" dirty="0" err="1"/>
              <a:t>tu</a:t>
            </a:r>
            <a:r>
              <a:rPr lang="en-US" altLang="zh-CN" sz="1400" dirty="0"/>
              <a:t>]</a:t>
            </a:r>
          </a:p>
          <a:p>
            <a:r>
              <a:rPr lang="en-US" altLang="zh-CN" sz="1400" dirty="0"/>
              <a:t>    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C7C1D59-B885-4D90-B3DF-D30C6B77BA1A}"/>
                  </a:ext>
                </a:extLst>
              </p:cNvPr>
              <p:cNvSpPr txBox="1"/>
              <p:nvPr/>
            </p:nvSpPr>
            <p:spPr>
              <a:xfrm>
                <a:off x="5662308" y="3296523"/>
                <a:ext cx="6172200" cy="348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时间复杂度分析：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dirty="0"/>
                  <a:t>BFS</a:t>
                </a:r>
                <a:r>
                  <a:rPr lang="zh-CN" altLang="en-US" dirty="0"/>
                  <a:t>的时间复杂度为O(n+e)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依次加入找到的非生成树边进行LCA 算法，其中LCA 算法与并查集的搜索类似,  因此时间复杂度为O</a:t>
                </a:r>
                <a:r>
                  <a:rPr lang="en-US" altLang="zh-CN" dirty="0"/>
                  <a:t>(e)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算法复杂度为O(n+e+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)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对于稀疏图e=n，对于稠密图e=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稀疏图:O(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)，稠密图: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C7C1D59-B885-4D90-B3DF-D30C6B77B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08" y="3296523"/>
                <a:ext cx="6172200" cy="3483133"/>
              </a:xfrm>
              <a:prstGeom prst="rect">
                <a:avLst/>
              </a:prstGeom>
              <a:blipFill>
                <a:blip r:embed="rId2"/>
                <a:stretch>
                  <a:fillRect l="-889" t="-1051" r="-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5">
            <a:extLst>
              <a:ext uri="{FF2B5EF4-FFF2-40B4-BE49-F238E27FC236}">
                <a16:creationId xmlns:a16="http://schemas.microsoft.com/office/drawing/2014/main" id="{D4D91CF5-79E3-43BA-9AB7-CDF757EED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552" y="1010374"/>
            <a:ext cx="5643232" cy="22861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E01C96B-4FE8-4BB6-917A-77295B71CF75}"/>
              </a:ext>
            </a:extLst>
          </p:cNvPr>
          <p:cNvSpPr txBox="1"/>
          <p:nvPr/>
        </p:nvSpPr>
        <p:spPr>
          <a:xfrm>
            <a:off x="1133475" y="304801"/>
            <a:ext cx="448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LCA+</a:t>
            </a:r>
            <a:r>
              <a:rPr lang="zh-CN" altLang="en-US" sz="3200" b="1" dirty="0"/>
              <a:t>并查集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路径优化</a:t>
            </a:r>
          </a:p>
        </p:txBody>
      </p:sp>
    </p:spTree>
    <p:extLst>
      <p:ext uri="{BB962C8B-B14F-4D97-AF65-F5344CB8AC3E}">
        <p14:creationId xmlns:p14="http://schemas.microsoft.com/office/powerpoint/2010/main" val="82259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9AAE8D0-A01C-4CCD-B36C-C877C47D8848}"/>
              </a:ext>
            </a:extLst>
          </p:cNvPr>
          <p:cNvSpPr txBox="1"/>
          <p:nvPr/>
        </p:nvSpPr>
        <p:spPr>
          <a:xfrm>
            <a:off x="558800" y="102616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验证数据集</a:t>
            </a: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7A396368-6C13-4669-B47F-9E023D05F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398634"/>
              </p:ext>
            </p:extLst>
          </p:nvPr>
        </p:nvGraphicFramePr>
        <p:xfrm>
          <a:off x="5840484" y="1767523"/>
          <a:ext cx="5498076" cy="916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519">
                  <a:extLst>
                    <a:ext uri="{9D8B030D-6E8A-4147-A177-3AD203B41FA5}">
                      <a16:colId xmlns:a16="http://schemas.microsoft.com/office/drawing/2014/main" val="653660747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2180585943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4177119479"/>
                    </a:ext>
                  </a:extLst>
                </a:gridCol>
                <a:gridCol w="1374519">
                  <a:extLst>
                    <a:ext uri="{9D8B030D-6E8A-4147-A177-3AD203B41FA5}">
                      <a16:colId xmlns:a16="http://schemas.microsoft.com/office/drawing/2014/main" val="3091362994"/>
                    </a:ext>
                  </a:extLst>
                </a:gridCol>
              </a:tblGrid>
              <a:tr h="458047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数据集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SmallG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MediumG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LargeG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116021"/>
                  </a:ext>
                </a:extLst>
              </a:tr>
              <a:tr h="4580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038955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35720D0-4129-4A7F-9EBF-8E772BC849BF}"/>
              </a:ext>
            </a:extLst>
          </p:cNvPr>
          <p:cNvSpPr txBox="1"/>
          <p:nvPr/>
        </p:nvSpPr>
        <p:spPr>
          <a:xfrm>
            <a:off x="689927" y="3940963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稀疏图</a:t>
            </a:r>
            <a:r>
              <a:rPr lang="en-US" altLang="zh-CN" dirty="0"/>
              <a:t>:e=n    </a:t>
            </a:r>
            <a:r>
              <a:rPr lang="zh-CN" altLang="en-US" dirty="0"/>
              <a:t>时间复杂度</a:t>
            </a:r>
            <a:r>
              <a:rPr lang="en-US" altLang="zh-CN" dirty="0"/>
              <a:t>:</a:t>
            </a:r>
            <a:r>
              <a:rPr lang="zh-CN" altLang="en-US" dirty="0"/>
              <a:t> O(</a:t>
            </a:r>
            <a:r>
              <a:rPr lang="en-US" altLang="zh-CN" dirty="0"/>
              <a:t>n</a:t>
            </a:r>
            <a:r>
              <a:rPr lang="zh-CN" altLang="en-US" dirty="0"/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F9A1E4-0EEA-4122-B6F7-755C5EC84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66" y="1662401"/>
            <a:ext cx="4723122" cy="204243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9EACEC0-EB62-4B94-AE6E-D852928F481A}"/>
              </a:ext>
            </a:extLst>
          </p:cNvPr>
          <p:cNvSpPr txBox="1"/>
          <p:nvPr/>
        </p:nvSpPr>
        <p:spPr>
          <a:xfrm>
            <a:off x="1133475" y="304801"/>
            <a:ext cx="448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LCA+</a:t>
            </a:r>
            <a:r>
              <a:rPr lang="zh-CN" altLang="en-US" sz="3200" b="1" dirty="0"/>
              <a:t>并查集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路径优化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A9EC2F6-A065-4A18-B9AD-4A050BE48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144011"/>
              </p:ext>
            </p:extLst>
          </p:nvPr>
        </p:nvGraphicFramePr>
        <p:xfrm>
          <a:off x="343647" y="4546426"/>
          <a:ext cx="5133786" cy="13724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5631">
                  <a:extLst>
                    <a:ext uri="{9D8B030D-6E8A-4147-A177-3AD203B41FA5}">
                      <a16:colId xmlns:a16="http://schemas.microsoft.com/office/drawing/2014/main" val="1282210459"/>
                    </a:ext>
                  </a:extLst>
                </a:gridCol>
                <a:gridCol w="855631">
                  <a:extLst>
                    <a:ext uri="{9D8B030D-6E8A-4147-A177-3AD203B41FA5}">
                      <a16:colId xmlns:a16="http://schemas.microsoft.com/office/drawing/2014/main" val="1425260042"/>
                    </a:ext>
                  </a:extLst>
                </a:gridCol>
                <a:gridCol w="855631">
                  <a:extLst>
                    <a:ext uri="{9D8B030D-6E8A-4147-A177-3AD203B41FA5}">
                      <a16:colId xmlns:a16="http://schemas.microsoft.com/office/drawing/2014/main" val="2520221613"/>
                    </a:ext>
                  </a:extLst>
                </a:gridCol>
                <a:gridCol w="855631">
                  <a:extLst>
                    <a:ext uri="{9D8B030D-6E8A-4147-A177-3AD203B41FA5}">
                      <a16:colId xmlns:a16="http://schemas.microsoft.com/office/drawing/2014/main" val="1489101985"/>
                    </a:ext>
                  </a:extLst>
                </a:gridCol>
                <a:gridCol w="855631">
                  <a:extLst>
                    <a:ext uri="{9D8B030D-6E8A-4147-A177-3AD203B41FA5}">
                      <a16:colId xmlns:a16="http://schemas.microsoft.com/office/drawing/2014/main" val="2517806712"/>
                    </a:ext>
                  </a:extLst>
                </a:gridCol>
                <a:gridCol w="855631">
                  <a:extLst>
                    <a:ext uri="{9D8B030D-6E8A-4147-A177-3AD203B41FA5}">
                      <a16:colId xmlns:a16="http://schemas.microsoft.com/office/drawing/2014/main" val="3020314034"/>
                    </a:ext>
                  </a:extLst>
                </a:gridCol>
              </a:tblGrid>
              <a:tr h="38184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 dirty="0">
                          <a:effectLst/>
                        </a:rPr>
                        <a:t>顶点数</a:t>
                      </a:r>
                      <a:r>
                        <a:rPr lang="en-US" sz="1600" b="1" u="none" strike="noStrike" dirty="0">
                          <a:effectLst/>
                        </a:rPr>
                        <a:t>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100000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>
                          <a:effectLst/>
                        </a:rPr>
                        <a:t>200000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300000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400000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500000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005043"/>
                  </a:ext>
                </a:extLst>
              </a:tr>
              <a:tr h="45178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>
                          <a:effectLst/>
                        </a:rPr>
                        <a:t>实际</a:t>
                      </a:r>
                      <a:r>
                        <a:rPr lang="en-US" altLang="zh-CN" sz="1600" b="1" u="none" strike="noStrike">
                          <a:effectLst/>
                        </a:rPr>
                        <a:t>/(</a:t>
                      </a:r>
                      <a:r>
                        <a:rPr lang="en-US" sz="1600" b="1" u="none" strike="noStrike">
                          <a:effectLst/>
                        </a:rPr>
                        <a:t>ms)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12.00 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25.00 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>
                          <a:effectLst/>
                        </a:rPr>
                        <a:t>40.00 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55.00 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>
                          <a:effectLst/>
                        </a:rPr>
                        <a:t>68.00 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1740980"/>
                  </a:ext>
                </a:extLst>
              </a:tr>
              <a:tr h="45178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>
                          <a:effectLst/>
                        </a:rPr>
                        <a:t>理论</a:t>
                      </a:r>
                      <a:r>
                        <a:rPr lang="en-US" altLang="zh-CN" sz="1600" b="1" u="none" strike="noStrike">
                          <a:effectLst/>
                        </a:rPr>
                        <a:t>/(</a:t>
                      </a:r>
                      <a:r>
                        <a:rPr lang="en-US" sz="1600" b="1" u="none" strike="noStrike">
                          <a:effectLst/>
                        </a:rPr>
                        <a:t>ms)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13.60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27.20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40.80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54.40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68.00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3905032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4B6EF32D-1368-4634-BB15-74F2FB413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435" y="3085819"/>
            <a:ext cx="55721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28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C6A8A6-C284-43D6-A7D4-EB840ED4184D}"/>
                  </a:ext>
                </a:extLst>
              </p:cNvPr>
              <p:cNvSpPr txBox="1"/>
              <p:nvPr/>
            </p:nvSpPr>
            <p:spPr>
              <a:xfrm>
                <a:off x="576729" y="137703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稠密图e=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，时间复杂度: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C6A8A6-C284-43D6-A7D4-EB840ED4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29" y="1377038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l="-900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A275E6A-BC4D-44D3-BA80-DA8B6B8D688B}"/>
              </a:ext>
            </a:extLst>
          </p:cNvPr>
          <p:cNvSpPr txBox="1"/>
          <p:nvPr/>
        </p:nvSpPr>
        <p:spPr>
          <a:xfrm>
            <a:off x="1133475" y="304801"/>
            <a:ext cx="448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LCA+</a:t>
            </a:r>
            <a:r>
              <a:rPr lang="zh-CN" altLang="en-US" sz="3200" b="1" dirty="0"/>
              <a:t>并查集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路径优化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D56BCC7-3865-432B-B70B-0B2D743BA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202757"/>
              </p:ext>
            </p:extLst>
          </p:nvPr>
        </p:nvGraphicFramePr>
        <p:xfrm>
          <a:off x="232520" y="2594280"/>
          <a:ext cx="5863480" cy="1444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0507">
                  <a:extLst>
                    <a:ext uri="{9D8B030D-6E8A-4147-A177-3AD203B41FA5}">
                      <a16:colId xmlns:a16="http://schemas.microsoft.com/office/drawing/2014/main" val="3126802333"/>
                    </a:ext>
                  </a:extLst>
                </a:gridCol>
                <a:gridCol w="970507">
                  <a:extLst>
                    <a:ext uri="{9D8B030D-6E8A-4147-A177-3AD203B41FA5}">
                      <a16:colId xmlns:a16="http://schemas.microsoft.com/office/drawing/2014/main" val="3967268942"/>
                    </a:ext>
                  </a:extLst>
                </a:gridCol>
                <a:gridCol w="970507">
                  <a:extLst>
                    <a:ext uri="{9D8B030D-6E8A-4147-A177-3AD203B41FA5}">
                      <a16:colId xmlns:a16="http://schemas.microsoft.com/office/drawing/2014/main" val="2586482826"/>
                    </a:ext>
                  </a:extLst>
                </a:gridCol>
                <a:gridCol w="970507">
                  <a:extLst>
                    <a:ext uri="{9D8B030D-6E8A-4147-A177-3AD203B41FA5}">
                      <a16:colId xmlns:a16="http://schemas.microsoft.com/office/drawing/2014/main" val="3502504077"/>
                    </a:ext>
                  </a:extLst>
                </a:gridCol>
                <a:gridCol w="990726">
                  <a:extLst>
                    <a:ext uri="{9D8B030D-6E8A-4147-A177-3AD203B41FA5}">
                      <a16:colId xmlns:a16="http://schemas.microsoft.com/office/drawing/2014/main" val="777603103"/>
                    </a:ext>
                  </a:extLst>
                </a:gridCol>
                <a:gridCol w="990726">
                  <a:extLst>
                    <a:ext uri="{9D8B030D-6E8A-4147-A177-3AD203B41FA5}">
                      <a16:colId xmlns:a16="http://schemas.microsoft.com/office/drawing/2014/main" val="3759958893"/>
                    </a:ext>
                  </a:extLst>
                </a:gridCol>
              </a:tblGrid>
              <a:tr h="4544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1100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1200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1300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1400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1500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727673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>
                          <a:effectLst/>
                        </a:rPr>
                        <a:t>实际</a:t>
                      </a:r>
                      <a:r>
                        <a:rPr lang="en-US" altLang="zh-CN" sz="1600" b="1" u="none" strike="noStrike">
                          <a:effectLst/>
                        </a:rPr>
                        <a:t>/(</a:t>
                      </a:r>
                      <a:r>
                        <a:rPr lang="en-US" sz="1600" b="1" u="none" strike="noStrike">
                          <a:effectLst/>
                        </a:rPr>
                        <a:t>ms)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4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5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6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7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>
                          <a:effectLst/>
                        </a:rPr>
                        <a:t>8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1008940"/>
                  </a:ext>
                </a:extLst>
              </a:tr>
              <a:tr h="494838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>
                          <a:effectLst/>
                        </a:rPr>
                        <a:t>理论</a:t>
                      </a:r>
                      <a:r>
                        <a:rPr lang="en-US" altLang="zh-CN" sz="1600" b="1" u="none" strike="noStrike">
                          <a:effectLst/>
                        </a:rPr>
                        <a:t>/(</a:t>
                      </a:r>
                      <a:r>
                        <a:rPr lang="en-US" sz="1600" b="1" u="none" strike="noStrike">
                          <a:effectLst/>
                        </a:rPr>
                        <a:t>ms)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>
                          <a:effectLst/>
                        </a:rPr>
                        <a:t>4.30 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>
                          <a:effectLst/>
                        </a:rPr>
                        <a:t>5.12 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>
                          <a:effectLst/>
                        </a:rPr>
                        <a:t>6.01 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6.97 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effectLst/>
                        </a:rPr>
                        <a:t>8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152156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F572F127-1E71-4303-853C-6CA5358CB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25" y="1924890"/>
            <a:ext cx="58197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795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000,&quot;width&quot;:300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1400</Words>
  <Application>Microsoft Office PowerPoint</Application>
  <PresentationFormat>宽屏</PresentationFormat>
  <Paragraphs>302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-apple-system</vt:lpstr>
      <vt:lpstr>等线</vt:lpstr>
      <vt:lpstr>等线 Light</vt:lpstr>
      <vt:lpstr>思源黑体 CN Heavy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105</cp:revision>
  <dcterms:created xsi:type="dcterms:W3CDTF">2024-05-15T01:23:16Z</dcterms:created>
  <dcterms:modified xsi:type="dcterms:W3CDTF">2024-06-08T07:57:16Z</dcterms:modified>
</cp:coreProperties>
</file>