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ink/ink13.xml" ContentType="application/inkml+xml"/>
  <Override PartName="/ppt/ink/ink14.xml" ContentType="application/inkml+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648" r:id="rId1"/>
  </p:sldMasterIdLst>
  <p:notesMasterIdLst>
    <p:notesMasterId r:id="rId147"/>
  </p:notesMasterIdLst>
  <p:handoutMasterIdLst>
    <p:handoutMasterId r:id="rId148"/>
  </p:handoutMasterIdLst>
  <p:sldIdLst>
    <p:sldId id="606" r:id="rId2"/>
    <p:sldId id="699" r:id="rId3"/>
    <p:sldId id="282" r:id="rId4"/>
    <p:sldId id="2061" r:id="rId5"/>
    <p:sldId id="3012" r:id="rId6"/>
    <p:sldId id="2718" r:id="rId7"/>
    <p:sldId id="2717" r:id="rId8"/>
    <p:sldId id="2720" r:id="rId9"/>
    <p:sldId id="2723" r:id="rId10"/>
    <p:sldId id="2721" r:id="rId11"/>
    <p:sldId id="2724" r:id="rId12"/>
    <p:sldId id="2725" r:id="rId13"/>
    <p:sldId id="2726" r:id="rId14"/>
    <p:sldId id="2727" r:id="rId15"/>
    <p:sldId id="2728" r:id="rId16"/>
    <p:sldId id="2729" r:id="rId17"/>
    <p:sldId id="2730" r:id="rId18"/>
    <p:sldId id="2731" r:id="rId19"/>
    <p:sldId id="2732" r:id="rId20"/>
    <p:sldId id="2733" r:id="rId21"/>
    <p:sldId id="2734" r:id="rId22"/>
    <p:sldId id="2735" r:id="rId23"/>
    <p:sldId id="2736" r:id="rId24"/>
    <p:sldId id="2737" r:id="rId25"/>
    <p:sldId id="2738" r:id="rId26"/>
    <p:sldId id="2739" r:id="rId27"/>
    <p:sldId id="2740" r:id="rId28"/>
    <p:sldId id="2744" r:id="rId29"/>
    <p:sldId id="2743" r:id="rId30"/>
    <p:sldId id="2741" r:id="rId31"/>
    <p:sldId id="2742" r:id="rId32"/>
    <p:sldId id="2745" r:id="rId33"/>
    <p:sldId id="2746" r:id="rId34"/>
    <p:sldId id="2748" r:id="rId35"/>
    <p:sldId id="2747" r:id="rId36"/>
    <p:sldId id="3008" r:id="rId37"/>
    <p:sldId id="3009" r:id="rId38"/>
    <p:sldId id="2751" r:id="rId39"/>
    <p:sldId id="2752" r:id="rId40"/>
    <p:sldId id="2753" r:id="rId41"/>
    <p:sldId id="2754" r:id="rId42"/>
    <p:sldId id="2755" r:id="rId43"/>
    <p:sldId id="2756" r:id="rId44"/>
    <p:sldId id="2757" r:id="rId45"/>
    <p:sldId id="2760" r:id="rId46"/>
    <p:sldId id="2758" r:id="rId47"/>
    <p:sldId id="2761" r:id="rId48"/>
    <p:sldId id="2762" r:id="rId49"/>
    <p:sldId id="2763" r:id="rId50"/>
    <p:sldId id="2764" r:id="rId51"/>
    <p:sldId id="2765" r:id="rId52"/>
    <p:sldId id="2766" r:id="rId53"/>
    <p:sldId id="2767" r:id="rId54"/>
    <p:sldId id="2768" r:id="rId55"/>
    <p:sldId id="2769" r:id="rId56"/>
    <p:sldId id="2770" r:id="rId57"/>
    <p:sldId id="2771" r:id="rId58"/>
    <p:sldId id="2772" r:id="rId59"/>
    <p:sldId id="2891" r:id="rId60"/>
    <p:sldId id="2892" r:id="rId61"/>
    <p:sldId id="3013" r:id="rId62"/>
    <p:sldId id="3014" r:id="rId63"/>
    <p:sldId id="3015" r:id="rId64"/>
    <p:sldId id="3016" r:id="rId65"/>
    <p:sldId id="3017" r:id="rId66"/>
    <p:sldId id="3018" r:id="rId67"/>
    <p:sldId id="3019" r:id="rId68"/>
    <p:sldId id="3020" r:id="rId69"/>
    <p:sldId id="3021" r:id="rId70"/>
    <p:sldId id="3022" r:id="rId71"/>
    <p:sldId id="3023" r:id="rId72"/>
    <p:sldId id="3024" r:id="rId73"/>
    <p:sldId id="3025" r:id="rId74"/>
    <p:sldId id="3026" r:id="rId75"/>
    <p:sldId id="3027" r:id="rId76"/>
    <p:sldId id="3028" r:id="rId77"/>
    <p:sldId id="3029" r:id="rId78"/>
    <p:sldId id="3030" r:id="rId79"/>
    <p:sldId id="3031" r:id="rId80"/>
    <p:sldId id="3033" r:id="rId81"/>
    <p:sldId id="3034" r:id="rId82"/>
    <p:sldId id="3035" r:id="rId83"/>
    <p:sldId id="3036" r:id="rId84"/>
    <p:sldId id="3038" r:id="rId85"/>
    <p:sldId id="3039" r:id="rId86"/>
    <p:sldId id="3042" r:id="rId87"/>
    <p:sldId id="3043" r:id="rId88"/>
    <p:sldId id="3044" r:id="rId89"/>
    <p:sldId id="3045" r:id="rId90"/>
    <p:sldId id="3046" r:id="rId91"/>
    <p:sldId id="3047" r:id="rId92"/>
    <p:sldId id="3048" r:id="rId93"/>
    <p:sldId id="3049" r:id="rId94"/>
    <p:sldId id="3050" r:id="rId95"/>
    <p:sldId id="3051" r:id="rId96"/>
    <p:sldId id="3052" r:id="rId97"/>
    <p:sldId id="3053" r:id="rId98"/>
    <p:sldId id="3054" r:id="rId99"/>
    <p:sldId id="3055" r:id="rId100"/>
    <p:sldId id="3058" r:id="rId101"/>
    <p:sldId id="3059" r:id="rId102"/>
    <p:sldId id="3060" r:id="rId103"/>
    <p:sldId id="3061" r:id="rId104"/>
    <p:sldId id="3062" r:id="rId105"/>
    <p:sldId id="3166" r:id="rId106"/>
    <p:sldId id="3167" r:id="rId107"/>
    <p:sldId id="3159" r:id="rId108"/>
    <p:sldId id="3161" r:id="rId109"/>
    <p:sldId id="3160" r:id="rId110"/>
    <p:sldId id="3169" r:id="rId111"/>
    <p:sldId id="3057" r:id="rId112"/>
    <p:sldId id="3170" r:id="rId113"/>
    <p:sldId id="3173" r:id="rId114"/>
    <p:sldId id="3171" r:id="rId115"/>
    <p:sldId id="3174" r:id="rId116"/>
    <p:sldId id="3175" r:id="rId117"/>
    <p:sldId id="3176" r:id="rId118"/>
    <p:sldId id="3177" r:id="rId119"/>
    <p:sldId id="3178" r:id="rId120"/>
    <p:sldId id="3179" r:id="rId121"/>
    <p:sldId id="3180" r:id="rId122"/>
    <p:sldId id="3182" r:id="rId123"/>
    <p:sldId id="3183" r:id="rId124"/>
    <p:sldId id="3184" r:id="rId125"/>
    <p:sldId id="3185" r:id="rId126"/>
    <p:sldId id="3186" r:id="rId127"/>
    <p:sldId id="3187" r:id="rId128"/>
    <p:sldId id="3188" r:id="rId129"/>
    <p:sldId id="3310" r:id="rId130"/>
    <p:sldId id="3311" r:id="rId131"/>
    <p:sldId id="3312" r:id="rId132"/>
    <p:sldId id="3313" r:id="rId133"/>
    <p:sldId id="3314" r:id="rId134"/>
    <p:sldId id="3316" r:id="rId135"/>
    <p:sldId id="3317" r:id="rId136"/>
    <p:sldId id="3318" r:id="rId137"/>
    <p:sldId id="3320" r:id="rId138"/>
    <p:sldId id="3322" r:id="rId139"/>
    <p:sldId id="3323" r:id="rId140"/>
    <p:sldId id="3319" r:id="rId141"/>
    <p:sldId id="3309" r:id="rId142"/>
    <p:sldId id="3321" r:id="rId143"/>
    <p:sldId id="2556" r:id="rId144"/>
    <p:sldId id="1916" r:id="rId145"/>
    <p:sldId id="613" r:id="rId146"/>
  </p:sldIdLst>
  <p:sldSz cx="12192000" cy="6858000"/>
  <p:notesSz cx="6858000" cy="9144000"/>
  <p:embeddedFontLst>
    <p:embeddedFont>
      <p:font typeface="Copperplate Gothic Bold" panose="020E0705020206020404" pitchFamily="34" charset="0"/>
      <p:regular r:id="rId149"/>
    </p:embeddedFont>
    <p:embeddedFont>
      <p:font typeface="Garamond" panose="02020404030301010803" pitchFamily="18" charset="0"/>
      <p:regular r:id="rId150"/>
      <p:bold r:id="rId151"/>
      <p:italic r:id="rId152"/>
    </p:embeddedFont>
    <p:embeddedFont>
      <p:font typeface="Tahoma" panose="020B0604030504040204" pitchFamily="34" charset="0"/>
      <p:regular r:id="rId153"/>
      <p:bold r:id="rId154"/>
    </p:embeddedFont>
    <p:embeddedFont>
      <p:font typeface="黑体" panose="02010609060101010101" pitchFamily="49" charset="-122"/>
      <p:regular r:id="rId155"/>
    </p:embeddedFont>
    <p:embeddedFont>
      <p:font typeface="楷体" panose="02010609060101010101" pitchFamily="49" charset="-122"/>
      <p:regular r:id="rId156"/>
    </p:embeddedFont>
    <p:embeddedFont>
      <p:font typeface="隶书" panose="02010509060101010101" pitchFamily="49" charset="-122"/>
      <p:regular r:id="rId157"/>
    </p:embeddedFont>
    <p:embeddedFont>
      <p:font typeface="微软雅黑" panose="020B0503020204020204" pitchFamily="34" charset="-122"/>
      <p:regular r:id="rId158"/>
      <p:bold r:id="rId159"/>
    </p:embeddedFont>
  </p:embeddedFontLst>
  <p:custDataLst>
    <p:tags r:id="rId160"/>
  </p:custData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91">
          <p15:clr>
            <a:srgbClr val="A4A3A4"/>
          </p15:clr>
        </p15:guide>
        <p15:guide id="2" orient="horz" pos="1203">
          <p15:clr>
            <a:srgbClr val="A4A3A4"/>
          </p15:clr>
        </p15:guide>
        <p15:guide id="3" orient="horz" pos="4106">
          <p15:clr>
            <a:srgbClr val="A4A3A4"/>
          </p15:clr>
        </p15:guide>
        <p15:guide id="4" orient="horz" pos="3124">
          <p15:clr>
            <a:srgbClr val="A4A3A4"/>
          </p15:clr>
        </p15:guide>
        <p15:guide id="5" orient="horz" pos="2795">
          <p15:clr>
            <a:srgbClr val="A4A3A4"/>
          </p15:clr>
        </p15:guide>
        <p15:guide id="6" pos="3762">
          <p15:clr>
            <a:srgbClr val="A4A3A4"/>
          </p15:clr>
        </p15:guide>
        <p15:guide id="7" pos="907">
          <p15:clr>
            <a:srgbClr val="A4A3A4"/>
          </p15:clr>
        </p15:guide>
        <p15:guide id="8" pos="7650">
          <p15:clr>
            <a:srgbClr val="A4A3A4"/>
          </p15:clr>
        </p15:guide>
        <p15:guide id="9" pos="6976">
          <p15:clr>
            <a:srgbClr val="A4A3A4"/>
          </p15:clr>
        </p15:guide>
        <p15:guide id="10" pos="1376">
          <p15:clr>
            <a:srgbClr val="A4A3A4"/>
          </p15:clr>
        </p15:guide>
        <p15:guide id="11" pos="6370">
          <p15:clr>
            <a:srgbClr val="A4A3A4"/>
          </p15:clr>
        </p15:guide>
      </p15:sldGuideLst>
    </p:ext>
    <p:ext uri="{2D200454-40CA-4A62-9FC3-DE9A4176ACB9}">
      <p15:notesGuideLst xmlns:p15="http://schemas.microsoft.com/office/powerpoint/2012/main">
        <p15:guide id="1" orient="horz" pos="2884">
          <p15:clr>
            <a:srgbClr val="A4A3A4"/>
          </p15:clr>
        </p15:guide>
        <p15:guide id="2" pos="211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odongdongzjhw" initials="g" lastIdx="16" clrIdx="0"/>
  <p:cmAuthor id="2" name="Wuqijun" initials="W" lastIdx="7"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754" y="48"/>
      </p:cViewPr>
      <p:guideLst>
        <p:guide orient="horz" pos="391"/>
        <p:guide orient="horz" pos="1203"/>
        <p:guide orient="horz" pos="4106"/>
        <p:guide orient="horz" pos="3124"/>
        <p:guide orient="horz" pos="2795"/>
        <p:guide pos="3762"/>
        <p:guide pos="907"/>
        <p:guide pos="7650"/>
        <p:guide pos="6976"/>
        <p:guide pos="1376"/>
        <p:guide pos="6370"/>
      </p:guideLst>
    </p:cSldViewPr>
  </p:slideViewPr>
  <p:notesTextViewPr>
    <p:cViewPr>
      <p:scale>
        <a:sx n="100" d="100"/>
        <a:sy n="100" d="100"/>
      </p:scale>
      <p:origin x="0" y="0"/>
    </p:cViewPr>
  </p:notesTextViewPr>
  <p:notesViewPr>
    <p:cSldViewPr>
      <p:cViewPr varScale="1">
        <p:scale>
          <a:sx n="67" d="100"/>
          <a:sy n="67" d="100"/>
        </p:scale>
        <p:origin x="-3360" y="-108"/>
      </p:cViewPr>
      <p:guideLst>
        <p:guide orient="horz" pos="2884"/>
        <p:guide pos="2116"/>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11.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1.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gs" Target="tags/tag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font" Target="fonts/font2.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3.fntdata"/><Relationship Id="rId156" Type="http://schemas.openxmlformats.org/officeDocument/2006/relationships/font" Target="fonts/font8.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9.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5.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handoutMaster" Target="handoutMasters/handoutMaster1.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6.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7.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033BA84-6C1D-4F93-A9F4-04B92CE19457}" type="datetimeFigureOut">
              <a:rPr lang="zh-CN" altLang="en-US" smtClean="0"/>
              <a:t>2024/1/10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8FCAEF-2C49-435D-B9DA-BA0CC419F842}"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08:48:34.848"/>
    </inkml:context>
    <inkml:brush xml:id="br0">
      <inkml:brushProperty name="width" value="0.05292" units="cm"/>
      <inkml:brushProperty name="height" value="0.05292" units="cm"/>
      <inkml:brushProperty name="color" value="#FF0000"/>
    </inkml:brush>
  </inkml:definitions>
  <inkml:trace contextRef="#ctx0" brushRef="#br0">9084 7743 0,'0'18'47,"18"-18"-47,-1 0 31,-17 18-31,0-1 16,0 1 62,0 0-78,18-1 0,-18 1 16,0 0-16,0-1 0,0 1 0,18 17 15,-18 0-15,0 1 0,0-1 16,0-17-16,0-1 0,17 1 16</inkml:trace>
  <inkml:trace contextRef="#ctx0" brushRef="#br0" timeOffset="897.72">10583 7814 0,'18'0'31,"0"0"-31,-1 0 0,1 0 0,0 0 16,17 0-16,-18 18 15,19-18-15,-1 17 0,0-17 16,-17 0-16,0 0 16,-1 0-16,1 18 15,-1-18 16,-17 18-31,0-1 16,18-17-16,-18 18 0,0-1 16,0 19-16,0-19 0,0 19 15,-18-19-15,18 1 0,-17-18 16,17 18-16,-18-1 0,18 1 0,-17-18 0,17 18 0,-36-1 16,19 1-16,17-1 0,-36 1 15,19 0 1,-1-1-16,0-17 15,1 0-15,-1 0 16,36 0 78,-1 0-94,1 0 0,17 0 15,-17 0-15,17 0 0,1 0 0,-1 0 0,-18 0 0,36 0 16,-35 0-16,17 0 0,-17 0 0,35 0 0,0 0 16,-36 0-16,19 0 15,-19 0-15</inkml:trace>
  <inkml:trace contextRef="#ctx0" brushRef="#br0" timeOffset="1897.85">13070 7620 0,'0'0'0,"18"0"15,0 0 1,-1 0-16,1 0 0,0 0 16,-1 0-16,1 0 0,0 0 15,-1 0-15,1 0 0,-1 0 16,1 0-16,0 0 0,-1 0 15,1 0-15,0 0 16,-18 18 0,17-18-16,1 0 15,-18 17 1,18-17 0,-18 18-16,0 0 15,0-1-15,0 1 16,-18 35-1,-17-53-15,17 35 0,0-17 16,1-18-16,-19 17 16,36 1-16,-17-18 0,-1 0 15,36 0 79,-1 0-94,1 0 16,0 18-16,17-18 0,18 0 0,-18 17 15,0 1-15,-17-18 16,0 0-16,-1 17 16,1 1 30,-18 0-46,0-1 16,0 1-16,0 0 16,-18-1-16,1-17 0,-1 18 0,0-18 0,-17 35 15,0-17-15,0 0 0,-1 17 16,1-18-16,0-17 16,17 0-16,1 18 0,-1-18 15</inkml:trace>
  <inkml:trace contextRef="#ctx0" brushRef="#br0" timeOffset="2827.97">15028 7602 0,'0'18'31,"0"0"-31,0-1 15,0 1-15,-17 17 0,-1 0 16,0-17-16,18 0 16,0-1-16,0 1 0,-17-18 15,17 18-15,-18-1 0,18 1 16,-18 0-16,18-1 16,0 1-16,0-1 0,0 1 62,18-18-62,0 18 0,-1-18 16,19 17-16,34-17 15,-52 0-15,17 18 0,36 0 0,-36-18 16,0 17-16,18-17 0,-35 0 16,35 0-16,-18 0 15,-17 0 1,-1 0-16</inkml:trace>
  <inkml:trace contextRef="#ctx0" brushRef="#br0" timeOffset="3259.66">15205 7796 0,'17'0'0,"-17"18"16,0 0-16,0-1 0,0 1 15,0 17-15,0 18 0,0 0 16,0 18-16,0-1 15,-17 1-15,-1-1 0,0 1 16,18-54-16,-17 19 0,-1-19 0,1 19 16,-1-1-16,18-17 15,0-36 17,0 0-32,18 1 15,-18-1-15,17 0 0</inkml:trace>
  <inkml:trace contextRef="#ctx0" brushRef="#br0" timeOffset="4071.65">16792 7461 0,'0'0'0,"18"0"0,17 18 0,-17 0 16,17 17-16,-35 0 0,18 0 15,-18 1-15,17-1 16,-17 18-16,0 0 0,-17 0 16,-1 0-16,0-18 15,1 0-15,17-17 0,17-18 94,1 0-78,0 0-16,-1 0 0,19 0 0,-1-18 15,-17 18-15,17 0 0,-18 0 16,1 0 15,-18 18-15,18-1-16,-18 1 0,0 0 0,0-1 15,0 1-15,0 17 16,0-17-16,0 0 0,-18-18 0,0 35 16,1-35-16,-1 17 0,-17-17 0,17 18 15,-17 0-15,0-18 16,17 17-16,0-17 15,1 0 1,-1 0-16,0 0 0,1 0 16,-1 0-16</inkml:trace>
  <inkml:trace contextRef="#ctx0" brushRef="#br0" timeOffset="4375.85">17022 7743 0,'0'0'0,"17"0"16,18 0-16,1 0 0,-1 0 15,-17 0-15,-1 0 0,1 0 16,17 0-16,-17 0 63,-1 0-48</inkml:trace>
  <inkml:trace contextRef="#ctx0" brushRef="#br0" timeOffset="5217.64">19367 7708 0,'-17'0'16,"-1"0"-16,1 18 15,-19 17-15,-17-17 0,18-1 16,0 36-16,0-17 16,17-1-16,-35 0 0,35 0 15,1 18-15,-19 0 0,19-35 16,17 35-16,0-36 15,0 1-15,0 0 32,17-18-32,1 17 0,0-17 15,-1 0-15,-17 18 0,53-18 16,-17 18-16,-1-1 0,18-17 16,-36 0-16,19 0 0,-19 0 0,19 0 15,-1 0-15,-18 0 0,19 0 0,-19 0 47,-17-17-31,0-1-16,0 0 15,0 1-15,0-1 0,0 0 0,0 1 16,-17-1-16,-1 18 16,18-17-16,-18 17 0,1-18 15,-1 18-15,18-18 0,-17 18 16,-1 0-16,0 0 15,1 0-15,-1 0 16,0 0-16,1 0 0,-1 0 16,0 0-16,1 0 0,-1 0 15,1 0-15</inkml:trace>
  <inkml:trace contextRef="#ctx0" brushRef="#br0" timeOffset="5998.84">20426 7761 0,'0'0'0,"17"0"0,19 0 0,17 0 15,17 0-15,1 0 0,17 0 16,35 0-16,1 0 16,-1 0-16,18 0 0,-17 0 15,-89 0-15,53 0 0,-70 0 0,53 0 0,-36 0 16,-17 0-16,-1 18 78,-17-1-62,-17-17-16,17 18 0,-18 0 15,18-1-15,-18 1 0,1 0 16,17 17-16,-36 0 0,36-17 16,-17-1-16,17 1 15,-18-18-15,18 18 0,-18-1 16,18 1-16,-17-18 15,17 18-15,0-1 16,-18-17 15,18 18-31,0 0 0,-17-1 16,-1 18 0,18-17-16,-18-18 78,18 18-78,-17-1 15,-1 1-15,0 0 16,1 17-16,17-17 0,0-1 16,0 1-16,0-1 0</inkml:trace>
  <inkml:trace contextRef="#ctx0" brushRef="#br0" timeOffset="7087.76">22895 7814 0,'0'0'0,"36"0"0,-19 0 0,18 0 16,18 0-16,0 0 16,0 0-16,18 0 0,-18 0 15,-18 0-15,18 0 16,-35-18-16,17 18 0,0 0 16,-17 0-16,17-17 15,-17-1-15,-1 18 0,1 0 16,-18-18-16,0 1 31,18 17-31,-18-18 16,17 18-16,-17-17 0,0-1 15,0 0-15,0 1 0,0-1 16,0-53 0,0 54-16,0-1 15,-17 18-15,17-17 0,-18 17 16,0-36-16,1 36 15,-19-17-15,19 17 0,-1-18 16,0 0-16,1 18 16,-1 0-16,1 0 0,17-17 15,-18 17-15,0 0 16,1 0 0,-1 0-16,0 0 15,1 0-15,-1 0 16,0 17-16,1 1 15,17 0-15,0-1 16,0 1-16,0 17 0,0 0 16,0 18-16,0-17 0,0 17 15,0-1-15,0-16 16,0 17-16,0 0 0,17-1 16,-17-16-16,0-1 15,0 0-15,0-17 0,0 17 16,0-17-16,0 0 15,0-1-15,0 18 0,-17-17 32,17 0-17,-18-18 1,0 0 0,1 0-1,-1 0 1,18-18-16,-17 18 0,17-18 15,-18 18-15,0-17 0,18-1 16,0 1-16,0-1 16,0 0-16,0 1 0,18-19 0,0 19 15,17-19-15,0 1 16,-35 17-16,35-17 0,1 18 0,-1-1 16,-17 0-16,-1 18 0,1 0 15,-18-17-15</inkml:trace>
  <inkml:trace contextRef="#ctx0" brushRef="#br0" timeOffset="8241.89">24906 7532 0,'0'-18'16,"-18"18"-1,18-17 1,-17 17 0,-1 0-16,1 0 0,17-18 15,-18 18 1,0 0 0,1 0-1,-1 0-15,0 0 0,1 0 0,-19 0 16,1 18-16,18-1 15,-1-17-15,0 18 0,18-1 0,-17-17 0,-1 0 0,18 36 16,-18-36-16,18 17 16,0 1-16,0 0 15,0-1 1,0 1-16,18-18 16,0 0-16,-1 0 0,-17 18 15,18-18-15,0 0 0,-18 17 0,35-17 16,-18 0-16,19 0 15,-19 0-15,1 0 0,0 0 16,-1 0-16,1 0 16,0 0-1,-18 18 79,0-1-78,-18 1-16,0 17 0,-17 1 15,17-1-15,-17 0 0,17 18 16,-17 18-16,18-18 0,-1 0 16,0-18-16,18 0 15,0-17-15,0-1 0</inkml:trace>
  <inkml:trace contextRef="#ctx0" brushRef="#br0" timeOffset="8999.12">26829 7779 0,'0'17'62,"0"1"-62,0 0 0,0-1 0,0 1 16,-18 0-16,0 17 0,1 0 15,-18 0-15,35 1 0,-36-1 16,19 0-16,17 1 16,0-19-16,-18 1 0,0-1 15,36-17 79,-18-17-94,18 17 0,17-18 0,-17-17 16,-1 35-16,-17-18 0,18 18 0</inkml:trace>
  <inkml:trace contextRef="#ctx0" brushRef="#br0" timeOffset="9685.7">26987 7955 0,'18'0'15,"-18"18"1,18-18-16,-18 17 16,0 1-16,17-18 0,-17 18 15,18-18-15,0 17 16,-18 1-16,17-18 15,1 0 1,0 0 15,-1 0-15,1 0-16,0 0 16,-1 0-16,-17-18 0,18 18 15,-1-17-15,-17-1 16,18 18-1,-18-18 1,0 1 0,0-1-16,0 0 15,0 1-15,0-1 0,0 1 16,0-1-16,0 0 16,-18 18 15,18-17-31,-17 17 0,-1 0 15,18-18-15,-17 18 0,-1 0 16,0 0-16,1 0 0,-1 0 16,0 0-16,1 0 15,-1 0-15,0 0 0,1 0 0,-1 0 16,0 0-16,1 0 16,17 18-16,-18-18 0,18 17 15</inkml:trace>
  <inkml:trace contextRef="#ctx0" brushRef="#br0" timeOffset="16222.77">14217 7708 0,'18'0'47,"-18"18"-32,17-18-15,-17 17 0,18 19 0,-18 17 16,0 0-16,0-1 16,17 19-16,-17-18 0,0 18 15,0-19-15,0 1 16,0-17-16,0 17 0,0-1 16,0-34-16,0 17 0,0-17 0,0 17 15,0 18-15,0-35 0,0-1 0,0 19 16,0-1-16,0 0 0,0-17 15,0 17-15,0 1 16,0-1-16,0-18 0,0 36 16,0-35-16,0 17 15,0 1-15,0-1 0,18 0 16,-18-17 15,0-1-15,0 1 62</inkml:trace>
  <inkml:trace contextRef="#ctx0" brushRef="#br0" timeOffset="18738.08">20479 7567 0,'0'18'94,"17"-1"-79,-17 1-15,0 0 0,18-18 0,-18 17 16,18 1-16,-18 0 0,0 17 16,0-18-16,0 1 15,0 17-15,17-17 0,-17 17 16,0-17-16,0 0 15,0-1-15,0 18 0,18-17 16,-18 0-16,0 17 16,0-17-16,0-1 0,0 1 0,0 0 15,0-1-15,0 1 0,0 17 16,0 0-16,0-17 16,0 17-16,0 1 0,0-19 15,0 19-15,0-1 16,0-18-16,0 1 0,0 0 15,0-1 1,0 1-16,0 0 0,0-1 16,0 1-16,0 0 0,0-1 15,0 1-15,0 17 16,-18-17-16,18-1 0,0 36 16,0-35-16,0 0 15,0-1-15,0 1 0,0 0 0,0-1 16,-17-17-16,17 18 0,0-1 31,0 1-31,0 0 16,0-1-1,0 1-15,0 0 16,0-1-16,0 1 0,0 0 16,0-1-1,0 1 1,-18-18-16,18 17 15,0 1-15,0 0 16,0-1 0,0 1-1,0 0 1,0-1 0,0 1-16,0 0 15</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09:10:02.383"/>
    </inkml:context>
    <inkml:brush xml:id="br0">
      <inkml:brushProperty name="width" value="0.05292" units="cm"/>
      <inkml:brushProperty name="height" value="0.05292" units="cm"/>
      <inkml:brushProperty name="color" value="#FF0000"/>
    </inkml:brush>
  </inkml:definitions>
  <inkml:trace contextRef="#ctx0" brushRef="#br0">20302 9878 0,'0'-18'0,"18"18"16,17 0-16,18-18 0,0 1 15,18-1-15,17 1 0,18 17 16,0-18-16,-1 18 15,1 0-15,0 0 0,0 0 16,-36 0-16,36 0 0,-70 0 16,16 0-16,-16 0 0,-1 0 0,0 0 0,1 0 15,-19 0-15,18 0 0,-17 0 16,17 18-16,-17-18 0,0 0 16,-1 0-16,1 0 15,0 0-15,-1 0 16,18 0-16,1 0 0,-1 0 15,18 0-15,0 0 16,-18 0-16,18 0 0,0 0 16,-18 0-16,18 17 0,0-17 15,-18 0-15,18 0 16,0 0-16,-18 18 0,18-18 16,0 0-16,0 0 15,-35 0-15,35 0 0,17 17 0,-34-17 0,34 0 16,-35 0-16,1 0 0,34 18 15,18 0-15,1-1 0,-1 1 16,0 0-16,0-18 0,-17 0 16,-1 17-16,-17-17 15,0 0-15,0 18 0,0-18 16,-18 0-16,1 0 16,-1 0-16,0 18 0,0-18 15,1 0-15,-19 0 16,19 0-16,-19 0 15,1 0-15,35 0 0,-36 0 16,19 0-16,-1 0 16,0 0-16,18 0 0,-18 0 15,-17 0-15,17 0 0,18 0 16,-17 0-16,-19 0 0,19 0 0,16 0 16,1 0-16,-17 0 15,17-18-15,-18 18 0,0 0 16,0 0-16,-17 0 15</inkml:trace>
  <inkml:trace contextRef="#ctx0" brushRef="#br0" timeOffset="964.58">16510 9966 0,'18'0'47,"-1"0"-47,19 0 0,-19-18 0,36 18 0,-35 0 15,70-17-15,0 17 0,0 0 16,-17 0-16,17 0 0,-17 0 16,-1 0-16,18 0 15,-17 0-15,-18 0 0,17 0 16,1-18-16,0 18 16,-1 0-16,1 0 0,-18 0 15,-1 0-15,1 0 16,-17 0-16,17 0 0,-18 0 15,0 0-15,0 0 0,1 0 16,-1 0-16,-17 0 16,-1 0-16,1 0 0,0 0 15</inkml:trace>
  <inkml:trace contextRef="#ctx0" brushRef="#br0" timeOffset="2172.23">15716 6667 0,'18'0'0,"0"-35"0,17 35 16,18-17-16,0-1 16,-36 18-16,1-18 0,35 18 0,17 0 15,1-17-15,-1 17 16,1 0-16,-53 0 0,70 0 0,-35 0 16,-36 0-16,72 0 0,-1 0 0,-18 0 15,19 0-15,-1 0 16,18 0-16,-18 0 0,0 0 15,18 0-15,-18-18 16,18 18-16,-18-18 0,36 18 16,-36 0-16,35 0 15,-35-17-15,-17 17 0,17 0 16,18 0-16,-18 0 0,-70 0 16,17 0-16,-17 0 15</inkml:trace>
  <inkml:trace contextRef="#ctx0" brushRef="#br0" timeOffset="4335.6">7056 8819 0,'17'0'16,"1"0"-16,17 0 16,0 0-16,1-17 0,140-1 15,-88 1-15,0-1 16,18 18-16,18-18 16,-1 18-16,1 0 0,17-17 15,-18-1-15,1 18 0,-1-18 16,1 1-16,17-1 15,0 0-15,-18 1 0,-17 17 16,18-18-16,-18 18 16,-89-18-16,54 18 0,17 0 0,0 0 15,0 0-15,0 0 16,18 0-16,-35 0 0,-53 0 0,17 0 16,0 0-16,53-17 0,0 17 0,1 0 15,-19 0-15,18 0 16,18 0-16,18 0 0,-18 0 15,17 0-15,18 17 16,0-17-16,-17 0 0,-1 0 16,1 0-16,-19 0 15,-34 0-15,17 18 0,0-18 16,1 18-16,-19-18 0,18 0 16,-17 17-16,-1-17 15,1 0-15,17 0 0,0 18 16,18-18-16,0 18 15,35-1-15,-123-17 0,70 0 0,-53 0 0,54 0 16,16 18-16,-52-18 0,-17 0 0,52 18 16,-18-18-16,1 17 15,-18 1-15,0-18 0,17 18 16,1-18-16,17 0 16,-17 17-16,17 1 0,0-18 15,0 0-15,-17 17 16,17-17-16,0 18 0,0-18 15,0 18-15,1-18 16,-1 17-16,-18-17 0,19 0 16,-1 0-16,-35 0 0,17 0 15,-34 0-15,-19 0 16,1 0-16</inkml:trace>
  <inkml:trace contextRef="#ctx0" brushRef="#br0" timeOffset="5509.09">9596 8802 0,'0'0'0,"-124"0"15,71 0 1,-17 0-16,-1 0 15,-52 17-15,-19-17 0,-34 18 16,0 0-16,105-18 0,-52 0 16,52 0-16,-35 0 0,-52 0 0,-1 0 15,18 0-15,0 0 16,88 0-16,-36 0 0,54 0 0,-88 0 0,52 0 16,18 0-16,-70 0 0,17 0 0,18 0 15,-18-18-15,35 18 16,1-18-16,-1 18 0,18-17 15,0 17-15,0-18 16,1 18-16,16-17 0,-17-1 16,18 18-16,17-18 15,1 18 1,17-17-16,-18-1 16,18 0-16,-17 1 0,17-19 15,0 1-15,0-18 0,0 0 16,0 18-16,0 0 15,0-1-15,0 19 0,17-18 16,-17 17-16,35-17 0,-17-1 16,0 36-16,17-53 0,36 18 0,17-18 15,18 0-15,52-17 0,1 34 16,35-16-16,-18-1 16,19 35-16,-37 0 0,1 1 15,0-1-15,-18 0 16,0 18-16,0 0 0,-35 0 15,-36 0-15,1 0 0,-36 0 16,1 0-16,-19 0 16,1 0-16,17 0 0,-17 0 31,-1 18-31,1-18 0,0 18 16,17-1-16,36 19 15,-71-19-15,35-17 0,18 53 0,0-18 16,-18-17-16,18 17 0,-18 18 15,0-35-15,1 0 16,-1 17-16,-35-17 0,0-1 16,0 1-1,0-1 1,0 1-16,0 0 16,0-1-16,-18 19 0,1-1 15,-19 0-15,19 18 0,-19-18 16,1 1-16,18-19 15,-1 1-15,0 0 0,1-18 0</inkml:trace>
  <inkml:trace contextRef="#ctx0" brushRef="#br0" timeOffset="6425.79">13794 8643 0,'0'0'0,"35"0"0,35 0 16,54 0-16,-1 0 0,1 0 15,17 0-15,0 0 16,0 0-16,0 0 0,0 0 15,1 0-15,-1 0 16,0 18-16,17-18 0,-16 17 16,-37-17-16,19 0 15,-36 18-15,0-18 0,-17 0 16,-36 18-16,0-18 0,1 0 16,-1 0-16,18 0 15,-18 0-15,36 0 0,-18 0 16,17 0-16,-17 0 15,18 0-15,-54 0 0,54 0 0,-36 0 16,0 0-16,18 0 0,-35 0 0,53 0 0,-54 0 0,54 0 16,17 0-16,-18 0 15,19 0-15,-1-18 0,-18 18 16,19 0-16,-1 0 16,18 0-16,-18-18 0,-18 18 15,19 0-15,-1-17 16,0 17-16,0 0 0,0 0 15,-17 0-15,17 0 0,0 0 16,0 0-16,1 0 16,-19 0-16,18 0 0,1 0 15,-1 0-15,0 0 16,-17 0-16,17 0 0,-53 0 0,36 0 16,-18 0-16,17 0 0,-35 0 0,71 0 15,-53 0-15,-35 0 0,88 0 0,-18 0 16,-18 0-16,1 0 0,-1 0 15,-17 0-15,-17 0 16,-1 0-16,-17 0 0,-1 0 16</inkml:trace>
  <inkml:trace contextRef="#ctx0" brushRef="#br0" timeOffset="-139468.18">20743 6509 0,'18'0'47,"0"0"-47,-1 0 15,1 0-15,0 0 0,-1 0 16,1 0-16,-1 0 0,1 0 16,0 0-16,-1 0 0,1 0 15,35 0-15,-18 0 0,-17 0 0,35 0 16,17 0-16,18 0 15,1 0-15,-1 0 0,-18-18 16,19 18-16,34 0 16,-17 0-16,-18 0 0,0 0 15,-17 0-15,17 0 0,0 0 16,-17 0-16,-1 0 16,1 0-16,-1 0 0,1 0 15,0 0-15,-1 0 16,1 0-16,-1 0 0,1 0 15,17 18-15,0-18 0,0 0 16,18 17-16,0-17 16,18 18-16,-107-18 0,71 0 0,-70 0 0,53 0 15,34 0-15,-52 18 0,53-18 16,0 0-16,-18 0 0,-17 0 16,-18 0-16,-18 17 0,18-17 15,-18 0-15,-17 0 16,17 0-16,-17 0 15,-1 0-15</inkml:trace>
  <inkml:trace contextRef="#ctx0" brushRef="#br0" timeOffset="-116229.71">15910 8590 0,'0'18'32,"-17"-18"-32,17 17 15,-18-17-15,-17 0 0,-1 18 16,-16 0-16,16-1 0,-17-17 16,0 18-16,18 0 15,-35-18-15,17 0 0,0 0 16,-18 17-16,18-17 0,0 18 15,0-18-15,1 18 16,34-18-16,-17 0 0,17 0 16,0 0-16,-17 0 15,0 0-15,-18 0 0,0 0 16,18 0-16,-18 0 16,17 0-16,1 0 0,18 0 15,-1 0-15,0-18 16,1 18-16,-1 0 15,0 0-15,1-18 0,-1 18 0,0-35 16,-17 35-16,18-35 16,-19 17-16,19-17 0,-1 17 15,-17 0-15,35-17 0,-18 18 16,0-1-16,18-17 16,-35-1-16,17 1 0,-17-18 15,18 36-15,-19-19 16,19 1-16,-1 17 0,0 1 15,1-19-15,-1 19 16,18-1-16,-18 1 0,1-1 16,17 0-16,0 1 0,0-19 15,0 19-15,-18-1 16,18 0-16,0 1 0,0-1 16,0 0-1,0 1-15,0-1 16,0 1-16,0-1 0,35-17 15,-17 17-15,17-17 16,1-1-16,17-16 0,-1 34 16,1-17-16,-17-1 15,17 36-15,0-17 0,-1-1 16,-16 0-16,17 18 16,17 0-16,-17 0 0,18 0 15,-1 0-15,18 0 0,-17 0 16,0 0-16,17 0 15,-53 0-15,18 18 0,17 17 0,-34-35 0,17 18 16,-36-18-16,36 35 0,-35-17 0,52 17 16,-17 0-16,18 18 0,-36-17 15,0-1-15,1-17 16,-19 17-16,1-18 0,0 19 16,-1-1-16,-17 0 0,18 1 15,-18-1-15,0 0 16,0 18-16,0-18 0,0 36 15,0-18-15,0-18 16,0 18-16,-18-18 0,1 1 16,-19 16-16,1 1 0,0-17 15,-18-1-15,18-17 16,-18 35-16,-18-36 0,1 18 16,17-35-16,17 18 0,-17 0 15,36-18-15,-36 17 0,35-17 0,-52 18 0,-1-18 16,1 0-16,-1 18 15,0-18-15,1 0 0,17 0 16,-35 0-16,0 0 16,-1-18-16,-16 0 0,-19-17 15,1 0-15,17 0 0,0 35 16,0-53-16,18 35 16,17-17-16,18 35 0,18-36 15,18 36-15,17-17 16,-18 17-1,0-18-15,18 0 16,0 1-16,0-1 0,-17 1 16,-1-1-16,18 0 0,0 1 0,0-1 0,0 0 0,-18-17 15,18-35-15,0 17 16,0-36-16,36 19 0,-1-1 16,18 1-16,-18-1 15,0 1-15,1 17 0,34 0 16,1 18-16,-18-1 0,0 1 15,0-18-15,17 35 16,-17 1-16,0-1 0,17 1 16,1-1-16,17 0 15,18 18-15,-18 0 0,36 0 16,17 0-16,0 0 0,-18 18 16,1 17-16,-36 0 15,0-17-15,-35 17 0,-18-35 16,-17 18-16,17 0 0,-35-1 0,36-17 15,-36 18-15,35 0 0,-17 17 0,17-18 16,0 19-16,-17 17 16,17 0-16,-17-18 0,17 18 15,-17-18-15,-1 18 0,-17-18 16,0 18-16,0-18 16,0 1-16,0-1 0,0 0 15,-17 1-15,-1 16 16,0-52-16,1 36 0,-1-36 15,0 17-15,1-17 16</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09:10:23.520"/>
    </inkml:context>
    <inkml:brush xml:id="br0">
      <inkml:brushProperty name="width" value="0.05292" units="cm"/>
      <inkml:brushProperty name="height" value="0.05292" units="cm"/>
      <inkml:brushProperty name="color" value="#FF0000"/>
    </inkml:brush>
  </inkml:definitions>
  <inkml:trace contextRef="#ctx0" brushRef="#br0">24500 7708 0</inkml:trace>
  <inkml:trace contextRef="#ctx0" brushRef="#br0">9384 11783 0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09:14:36.289"/>
    </inkml:context>
    <inkml:brush xml:id="br0">
      <inkml:brushProperty name="width" value="0.05292" units="cm"/>
      <inkml:brushProperty name="height" value="0.05292" units="cm"/>
      <inkml:brushProperty name="color" value="#FF0000"/>
    </inkml:brush>
  </inkml:definitions>
  <inkml:trace contextRef="#ctx0" brushRef="#br0">20673 14676 0,'17'0'32,"-17"17"-32,18-17 15,0 0-15,-1 18 0,19-18 16,-19 0-16,1 0 0,0 0 16,17 0-16,-18 0 0,1 0 15,35 0-15,-18 0 16,1 0-16,-1 0 0,0 0 15,18 0-15,-18 0 16,1 0-16,-1 0 0,-18 0 16,19 0-16,-1 0 0,-17 0 15,17 0-15,0 0 16,1 0-16,-1 0 0,-18 0 16,1 0-16,17 0 0,-17 0 15,0 0-15,-1 0 0,1 0 16,0 0-16,-1 0 31,1 0-31,-1 0 16,1 0-16,0 0 0,17 0 15,0 0-15,-17 0 0,17 0 16,-17 0-16</inkml:trace>
  <inkml:trace contextRef="#ctx0" brushRef="#br0" timeOffset="63958.3">24959 9948 0,'-18'0'93,"1"0"-93,-1 0 16,18 18-16,-35 0 0,0-1 16,17 1-16,0 0 0,1-1 0,17 1 15,-36-1-15,19 1 16,17 0-16,-18-18 16,0 0-16,18 17 15,0 1-15,-17 0 0,-1-18 16,18 17-16,0 1 15,-17-18-15,17 18 16,-18-1-16,0 1 0,18-1 16,-17-17-16,-1 18 15,18 0-15,-18-1 0,1 1 16,-1 0-16,18-1 16,-18-17-16,18 18 0,-17 0 0,17-1 15,-18-17-15,18 18 16,0-1-16,-18-17 15,1 0-15,17 36 0,-35-19 0,17 19 16,-17-19-16,-1 19 16,19-1-16,-19 0 0,1-17 15,18 17-15,-19-17 16,1-1-16,17 19 0,1-19 16,-19 19-16,19-36 0,-18 17 15,35 18-15,-36-17 16,1 0-16,17-1 0,-17 1 15,17 17-15,1-17 16,-1 0-16,18-1 0,-18-17 16,-17 18-16,35-1 15,-35 1-15,17-18 0,1 18 0,-1-1 16,-17 1-16,35 0 0,-36-1 0,19 1 16,-18 0-16,17-18 15,18 17-15,-18 1 0,18 0 16,-17-18-16,-1 0 15,0 17-15,1 1 16,-1-18-16,0 17 0,-17 1 16,35 0-16,-17-18 15,-1 0-15,18 17 16,0 1 0,-18-18-16,1 0 15,17 18-15,-18-18 16,18 17 93,-18-17-78,18 18-31,-17-18 0,-19 35 16,1-17-16,-53 35 0,17-18 16,-17 0-16,18 18 15,52-53-15,-17 18 0,-1 17 0,1-17 16,-18-1-16,18 1 0,17 0 16,1-18-16,-1 0 15,18 17-15,-35 1 0,-1 0 16,19-1-16,-1-17 15,1 18-15,-1-18 16,18 18-16,-18-18 16,18 17-1,-17-17-15,17 18 0,-36-1 16,36 1-16,-35 0 16,0-1-16,17 1 0,1 0 15,-1-1-15,18 1 16,0 0 218,0-1-234,0 1 0,0-1 31,0 1-31,0 0 16,-18-18 0,18 17-1,0 1 1,0 0-16,0-1 16,0 1-16,0 0 0,0-1 0,0 1 15,0-1-15,0 1 16,0 0-16,0-1 78,0 1-62,0 0-16,0-1 0,0 1 15,0 0-15,18 17 0,-18-17 16,18-1-1,-18 1-15,0-1 16,0 1-16,0 0 0,17-1 16,-17 1-16,0 17 15,0-17-15,18 0 0,-18-1 16,0 1-16,0-1 16,0 1-1,0 0-15,17-18 16,-17 17-16,0 19 0,0-1 15,18-35-15,-18 35 0,18 18 0,-18-35 16,0-1-16,0 19 0,0-19 16,0 19-16,0-19 0,0 19 15,0-1-15,0-18 16,0 19-16,0-1 0,0 0 16,0 18-16,-18-18 15,18 18-15,0 18 0,-35-18 16,35 0-16,-18 17 0,18 1 15,-17-36-15,17 0 16,0 1-16,-18 17 0,18-36 16,-18 19-16,18-1 15,0 0-15,0 0 0,-17 18 16,17-17-16,0 16 0,0-34 16,-18 35-16,18 0 15,0-18-15,-18 18 0,18-18 16,0 1-16,0-19 15,-17 19-15,17-19 16,0 1-16,0 0 16,-18-18-16,18 17 15,0 1-15,0-1 16,-18 1-16,1 17 16,-1-17-16,1 17 0,-1 1 15,18-19-15,-35 18 16,35-17-16,-18 17 0,0-35 15,1 36-15,17-19 16,-18-17-16,18 36 0,-18-19 16,18 1-16,-35 0 0,17 17 0,1-35 0,-1 35 15,-17 0-15,17-35 0,-17 36 16,0-19-16,17 1 0,-17 17 16,0-17-16,-1-1 15,1-17-15,17 0 0,-17 18 16,17 0-16,-17-18 0,18 0 15,-1 17-15,-17-17 16,17 0-16,-35 0 0,18 0 16,-36-17-16,1-19 15,-1 19-15,-17-18 0,-36-1 16,1 1-16,17 0 16,18-18-16,53 35 0,-18 18 0,-53-53 15,71 36-15,-18-19 0,17 1 0,-16 17 16,34 1-16,0-1 0,1 18 0,-1-35 15,0 0-15,-35-18 0,53-18 16,-35-17-16,-18 0 16,36-18-16,-19 0 0,1-17 15,0-1-15,17 1 16,0-1-16,1 1 0,-1 17 16,18-18-16,-17-17 15,17 0-15,0 0 0,0 18 16,0-19-16,0 19 0,0 0 15,0-1-15,0 18 16,0 0-16,17 1 0,18-19 16,-35 71-16,36-17 0,-19 17 0,19-18 15,17-88-15,17 18 0,-52 88 0,17-35 16,-17 35-16,17-17 0,-35 34 0,53-52 0,0 0 16,-18 0-16,-17 35 15,35 0-15,-36 18 0,19-18 16,-1 0-16,0 0 15,0 0-15,18-18 0,18-34 16,-1 16-16,19 19 16,-1-18-16,-18 0 0,-17 35 15,0 17-15,0 1 0,-18 0 16,18-1-16,0 1 16,-18 0-16,18 17 0,18-17 15,-18 0-15,35-18 16,0 18-16,0-18 0,-52 35 0,34-17 15,-17 35-15,18-53 0,-36 35 0,36-17 0,-36 17 0,53 1 16,-70 17-16,70-36 0,-18 1 16,-17 35-16,-17-18 0,17 18 15,-18-17-15,0-1 16,18 18-16,-18-18 0,1 1 16,17 17-16,17-18 15,1-17-15,-1 17 0,-17 1 16,0-1-16,0 0 0,0 18 15,-18 0-15,18 0 16,-53-17-16,35 17 0,1-18 16,-19 18-16,19-18 15,-1 18-15,-18 0 0,19 0 16,-1 0-16,0 0 0,18 0 16,-35 0-16,-1 0 15,1 0-15,0 0 0,-1 0 0,1 0 16,17 0-16,1 0 15,-1 0-15,18 0 0,17 0 16,-17 18-16,18 0 16,-18-1-16,17 1 0,-17 0 15,0 17-15,0-17 0,-18-1 16,1 1-16,16 17 16,-16-35-16,-1 35 0,0-35 15,18 36-15,0-19 16,-18 1-16,-17 0 0,0-1 15,-1 1-15,1 0 16,0-18-16,-18 17 0,17-17 16,-17 18-16,18-1 0,0 1 15,-18 0-15,17-18 0,1 17 0,-1 1 16,1 0-16,17 17 0,-17-17 16,0-1-16,-1 36 15,19-35-15,-19 17 0,18 0 16,1 1-16,-19 16 0,1-16 15,0-1-15,-1 0 16,1 1-16,0-1 0,-18 0 16,17-17-1,-17-1-15,0 1 16,0 0 0,18-18-16,-18 17 0,0 1 15,0 0-15,0-1 0,0 1 16,0 0-16,0-1 15,0 1-15,0-1 0,0 1 16,0 0-16,0-1 16,-18-17-16,18 18 0,0 0 15,0-1-15,0 1 16,-17-18-16,17 18 0,-18-1 16,0 1-16,18 17 0,-17-17 15,-1-1-15,18 1 16,0 0-16,-18-1 0,1 1 15,17 0-15,-18-18 16,18 17-16,-18-17 219,1 0-219</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09:18:17.980"/>
    </inkml:context>
    <inkml:brush xml:id="br0">
      <inkml:brushProperty name="width" value="0.05292" units="cm"/>
      <inkml:brushProperty name="height" value="0.05292" units="cm"/>
      <inkml:brushProperty name="color" value="#FF0000"/>
    </inkml:brush>
  </inkml:definitions>
  <inkml:trace contextRef="#ctx0" brushRef="#br0">3316 12806 0,'-18'0'31,"1"0"-15,-1 17-16,1-17 16,-1 18-16,0-18 15,18 18-15,-17-18 0,-1 17 16,18 1-16,-18-18 0,1 18 16,-1-18-16,18 17 0,0 1 15,-18-18-15,18 18 31,0-1-15,0 1 15,18-18-15,0 0-16,-18 17 0,17-17 16,-17 18-1,18-18 16,0 0 1,-1 0-32,1 0 15,0 0-15,-1 0 16,1 0 0,-1 0-1,1 0-15,-18-18 0,18 18 16,-1 0-1,1 0-15,-18-17 16,0-1 15,0 1 376,0-1-392,0 0-15,0 1 16,0-1-1,0 0 1,0 1 15</inkml:trace>
  <inkml:trace contextRef="#ctx0" brushRef="#br0" timeOffset="2485.23">4480 11183 0,'0'18'110,"18"-1"-110,-18 1 15,18 0-15,-18-1 16,0 1-16,0 0 15,0-1-15,0 1 16,0-1-16,0 1 16,0 0-16,0-1 15,0 1-15,0 0 32,0-1-17,0 1-15,0 0 16,0-1-16,0 1 31</inkml:trace>
  <inkml:trace contextRef="#ctx0" brushRef="#br0" timeOffset="8786.12">6050 9384 0,'-18'0'62,"18"18"-46,0-1-16,-17-17 0,17 35 15,0-17-15,0 17 0,-18-17 16,18 0-16,0-1 16,0 1-16,0 0 0,0-1 15,0 1-15,-17 17 16,17-17-16,0 17 0,0-17 15,0 17-15,0-17 16,0-1-16,-18-17 0,18 18 0,0-1 16,0 1-16,0 0 15,0-1-15,0 1 16</inkml:trace>
  <inkml:trace contextRef="#ctx0" brushRef="#br0" timeOffset="13137.78">7320 8114 0,'18'0'125,"-1"0"-125,-17-18 15,18 18-15,0 0 0,-1 0 16,1 0-16,0 0 0,-1 0 15,1 0-15,0 0 16,-1 0-16,1 0 16,-1 0 15,-17 18 16,0 0-32,18-18-15,-18 17 16,0 1 0,0-1-16,0 1 15,-18-18 1,18 18-16,-17-18 0,-1 17 16,18 1-1,-17-18-15,17 18 0,-18-18 16,18 17-1,-18-17-15,18 18 16,-17-18-16,-1 0 16,18 18 46,-18-1-46,1-17-16,17 18 0,-18-18 15,18 17 32,-18-17-47,1 0 16,17 18-16,-18-18 16,18 18-16,-18-18 31,36 0 78,0 0-109,-1 0 0,1 0 16,0 0-16,-1 0 0,-17 17 15,18-17-15,0 0 0,-1 0 16,1 0 0,0 0-16,-1 0 0,18 0 15,1 0-15,-19 18 16,1-18-16,0 0 0,-1 0 16,1 0 46,-18 18-31,18-18-31,-1 0 16</inkml:trace>
  <inkml:trace contextRef="#ctx0" brushRef="#br0" timeOffset="18392.41">8061 9084 0,'0'18'172,"0"-1"-156,0 1-16,0 0 0,0-1 15,0 1-15,0-1 16,0 1 0,0 0-16,-18-18 15,18 17 1,0 1-16,0 0 15,0-1-15,0 1 0,-17-18 16,-1 18-16,18-1 0,0 1 16,-18 0-16,18-1 0,0 1 15,-17-1-15,-1-17 16,18 18-16,0 0 0,0-1 0,-18 1 16,18 0-1,-17-1-15,17 1 0,-18 0 16,1-1-16,-1 1 15,18-1-15,0 1 0,-18 0 16,1-1-16,17 1 0,-18-18 16,18 18-16,-18-1 15,1 19-15,17-19 0,-36 18 16,1-17-16,18 0 16,17-1-16,-18 1 0,0 0 15,18-1-15,-17-17 0,17 18 16,-18 0-16,0-1 0,18 1 15,-17-18-15,17 18 16,0-1-16,-18 1 0,0-18 16,18 17-16,-17 1 15,-1-18-15,18 18 16,-17-1-16,-1 1 0,0 0 16,-17-1-16,17 19 0,1-19 15,-19 18-15,19-35 16,-19 36-16,36-19 0,-35 1 15,18 0-15,-1-1 16,0-17-16,1 18 0,-1 0 16,18-1-16,-18-17 0,1 18 15,-1-18-15,18 17 0,-18-17 0,1 18 0,-18-18 16,17 35-16,0-17 0,1-18 16,-19 18-16,19-1 15,-1 1-15,0-18 0,18 18 16,-17-18-16,-1 17 15,1 1-15,-1-18 0,0 18 16,1-18-16,-1 17 0,-17 1 16,17-1-16,18 1 15,-35 0-15,17-1 0,0 1 16,-17 0-16,18-1 16,-1 1-16,-17 0 0,17-1 15,0 1-15,-17-1 16,17 1-16,1-18 0,-1 18 0,1-1 15,-19-17-15,36 18 0,-35 0 16,17-1-16,-17-17 0,35 18 16,-18 0-16,1-18 0,-18 17 15,17 1-15,0-1 16,1-17-16,-1 36 0,-17-36 16,17 35-16,-17-17 15,17-1-15,-17 1 0,17 0 16,-17 17-16,0-17 0,17-1 15,-17 1-15,35-1 16,-18-17-16,0 0 0,1 18 16,-1 0-16,1-1 15,-19 19-15,19-36 16,17 17-16,-18-17 0,18 18 0,-18-18 16,1 18-16,-1-18 0,18 17 0,-18 1 0,-17-18 15,18 17-15,-1 19 0,0-36 16,1 17-1,-1-17-15,18 18 0,-18-18 16,1 18 0,17-1-16,-18 1 0,0-18 15,1 18-15,-1-1 0,0-17 16,1 18-16,17 17 16,-35-35-16,17 18 0,0-1 15,1-17-15,-1 18 16,0 17-16,1-17 15,-1 0-15,0-1 0,18 1 16,-17-18-16,-1 0 0,18 18 0,-17-1 0,-1-17 16,18 18-16,-18-1 15,1 1-15,-1-18 16,0 35-16,1-17 16,-1 0-16,0-1 15,18 1-15,-17-18 0,-1 18 16,1-1-16,17 1 15,-18-18-15,0 17 0,1-17 16,-1 0-16,18 18 0,-18-18 16,18 18-16,-17-1 15,-1-17-15,-17 18 0,17-18 16,0 18-16,-17-18 16,18 17-16,-1-17 0,0 0 15,1 0-15,-1 18 0,-17-18 16,-1 0-16,1 0 15,0 0-15,17 0 0,1 0 0,-1 18 16,-17-18-16,17 0 16,0 0-16,1 0 0,-1 0 15,-17 0-15,17 0 16,-17 0-16,0 0 0,-18 0 16,-18 0-16,1 0 15,-1 0-15,1 0 0,34 0 16,1 0-16,0-18 0,17 18 15,0-18 48,18 1-63,0-1 0,-17 0 0,17 1 16,0-1-16,0-35 0,-18 0 15,18 0-15,0-17 0,0-18 16,0-1-16,0 1 15,0 0-15,0 35 0,18-17 16,-18 17-16,17-36 16,1 37-16,0-19 0,-1 0 15,19 1-15,-19-18 0,36-18 16,0 18-16,-18-18 16,18 18-16,-17 17 0,16 0 15,-16 1-15,-1 17 16,0 0-16,1 0 0,-19 36 0,1-19 15,-18 19-15,18-1 0,-1 0 0,18-17 16,1-18-16,-1 18 0,0-18 16,1 0-16,16 0 0,19-17 15,17 17-15,-35 0 16,-18 0-16,1 18 0,-1-18 16,18 35-16,-18 0 15,-35-17-15,35 17 0,-17-17 16,17 18-16,1-19 0,-1 1 15,0 0-15,36-1 16,-18 1-16,17 0 0,-35 17 16,1-17-16,-19 35 15,19-18-15,-36 1 0,17 17 0,1 0 16,0-18-16,-1 18 16,1-18-16,-18 1 0,18 17 0,17-18 0,18 0 15,-18 1-15,18-18 0,0 17 16,0 0-16,-18 1 15,18-19-15,-18 36 0,-17-17 16,17-1-16,-35 0 16,35 1-16,-17 17 0,17-18 15,1 18-15,-1-35 16,0 17-16,0 1 0,1-1 16,34 18-16,-34-35 0,-1 17 15,-18 18-15,19-18 16,17 1-16,-18-1 0,0 0 15,-35 1-15,53 17 16,-18-18-16,1 18 0,-19-17 0,1-1 16,0 18-16,17-18 0,35 1 0,-17-1 15,0 0-15,0 1 16,0 17-16,-18-18 0,18 18 16,-35-18-16,17 18 15,-17 0-15,-1 0 16,1 0-16,0 0 15,-1 0-15,1 0 0,53 0 16,-54 0-16,19 0 0,-1 0 16,0 0-16,0 0 15,-17 0-15,17 0 0,-17 0 16,0 0-16,-1 0 16,1 0-16,17 0 0,-17 0 15,-1 0-15,36 0 0,-35 0 16,0 0-16,-1 0 15,1 18-15,-1-18 32,1 0-17,-18 18-15,18-18 0,-18 17 16,35 1-16,-17 0 0,-1-18 16,-17 17-16,18-17 0,-18 18 15,18 0-15,-1-18 16,-17 17-16,0 1 0,0-1 15,18-17-15,-18 36 16,18-19-16,-1-17 0,-17 36 0,18-1 16,-1-17-16,-17 17 15,0 0-15,0-17 16,0-1-16,0 1 0,18 0 16,-18-1-16,0 1 15,0 0-15,18-1 16,-18 1-16,0 0 15,0-1-15,0 1 0,0-1 16,0 1-16,0 0 16,0-1-16,0 1 0,0 0 15,0-1-15,0 1 0,0 0 16,-18 17-16,18-18 16,-18-17-1,18 18-15,-17-18 31,17 18-15,0-1 62,-18-17-78,1 18 0,-19 17 16,-34 1-16</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09:20:51.358"/>
    </inkml:context>
    <inkml:brush xml:id="br0">
      <inkml:brushProperty name="width" value="0.05292" units="cm"/>
      <inkml:brushProperty name="height" value="0.05292" units="cm"/>
      <inkml:brushProperty name="color" value="#FF0000"/>
    </inkml:brush>
  </inkml:definitions>
  <inkml:trace contextRef="#ctx0" brushRef="#br0">22737 7567 0,'-18'-18'0,"36"36"0,-54-36 0,19 18 16,-19-17-16,-17-1 0,0 18 15,18-17-15,-35-19 0,17 36 16,-18-17-16,18-1 16,-35 0-16,0 1 0,17-1 15,1 0-15,-1 1 16,18 17-16,18-18 0,0 18 16,-1-18-16,1 18 0,18 0 15,-19-17-15,1 17 16,17 0-16,-17 0 0,0 0 15,17 0-15,1 0 16,-1 0-16,0 0 16,1 0-1,-1 0 1,0 0-16,1 0 0,-1 0 0,0 17 16,-17 1-16,17 0 15,1-1-15,-1-17 0,-17 36 16,17-19-16,1 1 15,-1 17-15,0-17 0,1 17 16,-1-17-16,0 17 0,18 0 16,-17-17-16,17 17 15,-18 1-15,1-1 0,17 0 16,0 0-16,0 18 16,0-35-16,0 0 0,0 17 0,0-18 15,0 1-15,0 17 0,0 1 16,-18-1-16,18 0 0,0 18 15,0-18-15,0-17 0,0 17 16,0 1-16,0-1 16,18 0-16,-18 0 0,0 1 15,17-1-15,-17 0 16,0 1-16,0-19 0,0 18 16,18 1-16,-1-19 15,-17 19-15,18-19 0,0 19 16,-1-1-16,-17 0 0,36-17 15,-36 17-15,35 0 16,-17 1-16,-18-19 0,17 1 0,1 0 16,-18-1-16,35 18 0,-17-35 0,-18 36 15,17-19-15,1 19 0,35 17 0,-18-18 16,-17 0-16,0 0 16,-1-17-16,1 17 0,-1-17 15,1 17-15,17-17 0,1 17 16,-19 0-16,19 1 15,-1 17-15,18-18 0,-18 0 16,0 0-16,1 1 16,-1-1-16,0 0 0,18 18 15,-18-18-15,18 1 0,0-1 16,0 0-16,18 18 16,-1 0-16,18 0 0,-17 18 15,-1-18-15,1-1 16,-53-34-16,35 17 0,-18-17 0,0 17 0,0-17 0,-17 0 15,17-1-15,18 18 0,-17 1 16,-1-1-16,35 0 0,-17 1 16,-17-1-16,-1-17 0,0-1 15,-17 1-15,17-1 16,0 1-16,1 0 0,-1-18 16,0 35-16,18-17 15,0-1-15,35 19 0,-17-19 16,17 18-16,0 1 15,18-19-15,0 19 0,-18-1 16,-17-17-16,-36-18 0,18 17 16,0 1-16,0-1 15,-53 1-15,17-18 0,1 0 0,17 18 16,-17-18-16,-1 0 16,1 0-16,-18 17 0,35-17 0,-17 18 15,17 0-15,-17-18 0,0 0 16,17 17-16,-18-17 15,19 0-15,-1 18 0,0-18 16,-17 0-16,35 0 16,-18 0-16,0 0 0,-17 0 15,17 0-15,1 0 16,-19 0-16,18 0 0,1 0 16,-19 0-16,1 0 15,0 0-15,17 0 16,-17-18-16,-1 18 0,1 0 0,0-17 15,-1-19-15,18 19 16,-35-1-16,18 18 0,-18-18 0,0-17 0,18 0 16,-18 0-16,17-1 0,-17 1 15,0-18-15,0 0 16,0-17-16,0 17 0,0 0 16,0 0-16,0 18 15,0-18-15,0 0 0,0 18 16,0-18-16,-17 0 15,17 17-15,0 1 0,-36 0 16,19 0-16,-1-1 16,1 1-16,-1 0 0,-17 0 15,-1-1-15,19-17 0,-19 18 16,-17-18-16,18 18 16,0-36-16,17 54 0,-35-36 15,53 17-15,-35 1 0,17 18 0,-34-54 16,-19 18-16,0-53 0,-34 36 15,-1-19-15,0 1 0,-18 0 16,19 0-16,-1 0 16,-18 0-16,18-1 0,1 19 15,16-1-15,-16-17 16,-1 17-16,18 1 0,-36-18 16,36 17-16,0 1 0,0 17 15,17 0-15,0 17 16,19-16-16,-1 16 0,0-17 15,17 18-15,-17 17 16,18-17-16,0 18 0,17-1 0,-17 0 16,0 1-16,17-1 0,-17 0 15,17-17-15,-17 35 0,17-18 16,1 1-16,-19 17 0,19-18 16,17 1-16,-18 17 15,0 0-15,18-18 94,-17 0-78,17 1-1,-18 17 95</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09:21:54.586"/>
    </inkml:context>
    <inkml:brush xml:id="br0">
      <inkml:brushProperty name="width" value="0.05292" units="cm"/>
      <inkml:brushProperty name="height" value="0.05292" units="cm"/>
      <inkml:brushProperty name="color" value="#FF0000"/>
    </inkml:brush>
  </inkml:definitions>
  <inkml:trace contextRef="#ctx0" brushRef="#br0">13300 12347 0,'0'18'78,"-18"-18"-63,18 17-15,0 1 16,0 0-16,0-1 16,0 1-16,0 0 15,0-1-15,0 1 0,0 0 16,0-1-16,0 1 0,0 0 16,18-1-1,-1-17 1,-17 18-16,18-18 0,0 17 15,-18 1-15,17-18 0,1 18 16,0-1-16,17-17 0,-35 18 16,35-18-16,-17 0 15,-1 0-15,1 0 16,0 0 15,-1 0-31,1 0 16,0 0-16,-1 0 15,1 0-15,-1-18 0,-17 1 16,18 17-16,0-36 16,-18 19-16,0-1 15,17 1-15,-17-1 16,0 0-16,0 1 16,0-1-16,0 0 15,0 1 1,0-1-1,-17 18 1,-1-18-16,0 18 31,18-17-31,-17 17 0,-1-18 16,1 18-16,-1 0 0,0 0 16,1 0-1,-1 0-15,18-18 0,-18 18 16,1 0-16,-1 0 15,0 0-15,1 0 16,17-17-16,-18 17 16,1-18-16,-1 18 78</inkml:trace>
  <inkml:trace contextRef="#ctx0" brushRef="#br0" timeOffset="1900.72">12153 10813 0,'18'0'47,"-1"0"-31,1 0-16,0 0 0,-1 0 15,19 0-15,-19 0 0,19 0 16,-19 0-16,1 17 0,17-17 15,-17 0-15,-1 0 16</inkml:trace>
  <inkml:trace contextRef="#ctx0" brushRef="#br0" timeOffset="2339.29">12559 10724 0,'0'18'47,"0"0"-47,0-1 0,0 1 16,0 17-16,0 1 0,0 16 15,-18-34-15,18 17 0,-17 36 0,17-36 16,-18 18-16,18-18 16,0-17-16,-18 17 0,18-17 15</inkml:trace>
  <inkml:trace contextRef="#ctx0" brushRef="#br0" timeOffset="4549.38">11007 9331 0,'17'0'47,"1"0"-47,0 0 0,-1 0 15,18 0-15,1 0 16,-19 0-16,1 0 0,0 0 15,-1 0-15,1 0 63,0 0-16</inkml:trace>
  <inkml:trace contextRef="#ctx0" brushRef="#br0" timeOffset="4965.42">11412 9225 0,'0'18'31,"0"-1"-31,0 1 16,0 0-16,0-1 0,0 19 0,0-1 16,0 0-16,0 0 15,0 1-15,-17-1 0,17 0 16,0 1-16,0-19 16,-18 18-16,18-17 0</inkml:trace>
  <inkml:trace contextRef="#ctx0" brushRef="#br0" timeOffset="8265.18">9313 7937 0,'18'0'16,"0"0"-16,-1-17 0,1-1 0,17 18 15,0-17-15,18 17 0,-35 0 16,17-18-16,1 18 15,-19 0-15,1-18 0,-1 18 16,1 0 31</inkml:trace>
  <inkml:trace contextRef="#ctx0" brushRef="#br0" timeOffset="8971.24">9807 7691 0,'53'0'15,"-35"0"-15,-1 0 0,36 0 16,-35 17-16,0 1 16,17-1-16,-17-17 0,-1 0 15,1 18-15,-18 0 0,0-1 16,0 1 0,17-18-16,-17 18 0,0-1 15,0 1-15,0 0 16,-17-1-16,-1-17 0,18 18 0,-17 17 15,-19 0-15,1-17 16,17 17-16,-17-17 0,17 0 16,1-18-16,-1 0 0,0 0 15,36 0 63,0 0-78,-1 0 16,19 0-16,-1 0 0,18 0 16,0 0-16,0 0 15,-36 0-15,1 17 0,0-17 0,-1 0 16,1 0-16</inkml:trace>
  <inkml:trace contextRef="#ctx0" brushRef="#br0" timeOffset="17198.41">9013 8819 0,'0'18'171,"0"0"-171,0-1 16,18 1-16,-18 0 0,0-1 16,0 1-16,18 0 0,-1-1 15,1 18-15,-18-17 16,18 0-16,-18 17 0,17-17 16,-17-1-16,18 1 15,-18 0-15,18-1 0,-18 1 16,17-18-16,-17 35 0,0-17 15,18 17-15,-1-17 16,-17-1-16,0 36 0,36-17 16,-36-19-16,17 1 15,-17-1-15,18 19 0,0-36 0,-18 17 0,0 1 0,0 0 16,17 17-16,1 0 16,0 0-16,-18-17 0,35 0 15,-35-1-15,0 1 16,18 17-16,-18-17 0,17 0 15,1 17-15,-1 0 0,1-17 16,0 35-16,-1-53 16,1 35-16,0-35 0,-1 18 15,-17-1-15,0 1 16,18 0-16,0-1 0,-18 18 16,35-35-16,-18 36 0,1-19 15,0 19-15,-1-19 16,19 19-16,-19-19 0,1 18 15,17 1-15,0-1 16,-17-35-16,17 35 0,1 1 0,-19-19 16,1 18-16,0-17 15,-1-18-15,1 35 0,0-35 16,-1 18-16,-17 0 0,18-18 16,-18 35-16,35-17 15,-17 17-15,17-17 0,0 17 16,-17-18-16,17 1 15,-17 17-15,17-17 0,-17 17 16,-1-35-16,19 18 0,-36 0 16,35-1-16,-17 1 15,-1-1-15,1-17 0,-1 18 16,1 0-16,0-1 16,17-17-16,-35 18 0,18 0 15,-1-18-15,1 17 16,-18 19-16,18-36 0,-18 17 15,17 1-15,1-1 0,0 1 16,-1 0-16,1 17 16,-1-35-16,1 35 0,17-17 15,-35 17-15,36-17 16,-19 0-16,1-1 0,0 1 16,-18-1-16,17-17 15,1 18-15,-18 0 0,35 17 16,-17-17-16,-1-18 15,-17 17-15,18 1 0,0-18 16,-1 18-16,-17-1 0,18 1 0,0-18 16,-1 17-16,-17 1 15,18-18 1,-1 0-16,-17 18 0,18-18 0,17 35 16,-17-35-16,0 18 15,-1-1-15,19 1 0,-19 0 16,1-1-16,0 1 15,17-18-15,-35 17 0,17-17 16,1 18-16,0-18 16,17 18-16,-17-18 0,17 17 15,-17 1-15,34 0 0,-16-18 16,-19 17-16,36 1 16,-17-18-16,-1 0 0,-18 18 15,1-1-15,0-17 0,-1 0 0,1 0 16,17 18-16,-17-18 0,0 0 0,17 0 15,0 0-15,0 0 16,-17 0-16,17 18 0,-17-18 16,0 0-16,-1 0 15,1 0 1,0 0-16,17 17 0,-18-17 16,1 0-16,17 0 15,1 0-15,-19 0 0,36 0 16,-18-17-16,-17 17 0,17 0 15,-17-18-15,0 18 16,-18-18-16,17 18 0,19-17 0,-1 17 16,-17-18-16,-1 0 15,18 18-15,-17 0 0,-18-17 0,18 17 0,-1-18 16,-17 0-16,18 18 0,0 0 16,-1-17-16,19-1 0,-36 0 15,17-17-15,1 0 0,-1 0 16,1-18-16,0 0 15,-18 18-15,0-18 0,0 17 16,0-17-16,0 1 16,0 34-16,0-35 0,-18 0 15,0 0-15,1-17 16,-1 17-16,-17 0 0,17 17 16,-17 1-16,17-18 15,1 18-15,-1 17 0,-17-35 16,17 18-16,1 35 0,-1-17 0,18-1 0,-35 0 15,17-17-15,0 35 0,1-35 16,17 17-16,-36 0 0,36 1 0,-17-19 0,-19-16 16,1 16-16,18 1 15,-19 0-15,19-1 0,-19 1 16,36-18-16,-35 0 0,17 18 16,1 0-16,17 0 15,-35-1-15,17 1 0,0 0 16,1-1-16,-36-69 15,35 52-15,-17 0 16,35-18-16,-53 18 16,53-17-16,-35-1 0,17 1 15,-17 17-15,17 0 0,0 0 16,1 18-16,-1-1 16,18 19-16,-35-19 0,35 19 0,0-1 0,0 0 0,-18-17 15,18-18-15,-17 36 16,-1-1-16,18-35 0,-18 18 0,1-18 15,-19 0-15,19 0 0,-1 18 16,-17-36-16,17 18 16,-17 18-16,0 0 0,17-18 15,0 18-15,-35-1 16,36-17-16,-1 18 0,-35 0 16,36 0-16,-1 17 15,-35-17-15,35-1 0,-17 1 16,0 0-16,0-1 0,-18 1 15,17 18-15,-17-1 16,18 0-16,0 1 0,17-1 0,1 18 16,-1 0-16,0-18 0,1 18 15,-1-17-15,18-1 0,-18 18 0,1 0 0,-1-18 16,1 18-16,-1-17 0,-17 17 16,-1-18-1,1-17-15,0 35 0,-1-18 16,1 1-16,0 17 15,17 0-15,-17-18 0,0 0 16,17 1-16,0 17 16,-17 0-16,18 0 0,-1 0 15,0 0-15,1 0 0,-1 0 16,-17 0-16,-1 0 16,19 0-16,-1 0 0,-35 0 15,36 0-15,-1 0 16,0 0-16,-17 0 0,17 0 15,1 0-15,-19 17 0,19-17 16,-18 0-16,17 18 0,-17-18 16,17 0-16,0 0 15,1 0 1,17 18 0,-18-18-16,0 0 0,1 0 15,17 17-15,-18-17 0,1 0 16,-1 0-16,18 18 15,-18-18-15,1 0 16,17 18-16,-18-18 0,18 17 16,-18-17-1,1 0-15,17 18 0,0-1 16,-18-17-16,0 0 16,18 18-16,-17-18 0,17 18 15,-18-18-15,18 17 0,-17-17 16,-1 36-16,0-36 0,1 35 15,17-17-15,-18-1 0,0 1 16,-17 17-16,17 0 16,18-17-16,-17 0 15,-1-1-15,18 1 16,0 0-16,0-1 0,-18-17 16,1 0-16,17 36 0,-18-36 15,18 17-15,0 1 16,-17-18-16,17 17 0,-18 1 15,18 0-15,-18-18 16,18 17-16,0 1 0,0 0 0,-17-18 16,-1 35-16,18-17 15,0 17-15,0 0 0,0-17 16,0 17-16,-18 0 0,18 1 16,-17-19-16,17 18 15,0 18-15,0-35 0,0 0 16,0-1-16,0 19 15,-18-36-15,0 35 0,18 0 16,0-17-16</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09:25:21.579"/>
    </inkml:context>
    <inkml:brush xml:id="br0">
      <inkml:brushProperty name="width" value="0.05292" units="cm"/>
      <inkml:brushProperty name="height" value="0.05292" units="cm"/>
      <inkml:brushProperty name="color" value="#FF0000"/>
    </inkml:brush>
  </inkml:definitions>
  <inkml:trace contextRef="#ctx0" brushRef="#br0">4868 15998 0,'-17'0'32,"-1"0"-17,0 0-15,1 0 16,-1 0-16,-17 0 0,0 0 15,-18 0-15,0 0 0,0 0 16,18 0-16,-36 0 16,36 0-16,-1 0 0,-16 0 15,16 0-15,1 0 16,0 0-16,-1 0 0,1 0 16,17 0-16,1 0 0,-1 0 0,-17-17 15,0 17-15,35-18 0,-36 1 0,1-1 16,17 18-16,1-18 0,-1 1 15,1-1-15,-19-17 16,1-1-16,17 19 0,-17-18 16,0-1-16,17 1 15,-17 0-15,17-18 0,1 0 16,-19-18-16,1-17 16,17 0-16,18 17 0,0-17 15,0 0-15,0 0 0,-17 0 16,17-1-16,0 19 15,-18-18-15,18-1 0,-18 19 16,18-18-16,-17 35 16,17 0-16,0 35 0,0-17 0,0 17 0,0-17 15,0 17-15,0 1 0,0-1 0,0-17 0,0 17 0,0-35 16,0 0-16,17 0 16,-17 1-16,0-19 0,18 18 15,-18 18-15,0-18 16,18 0-16,-1 18 0,-17-18 15,18 0-15,0 18 16,-1-18-16,19 0 0,17 17 16,-18-34-16,18 17 0,-18 18 15,0-18-15,1 17 16,-1 1-16,0 0 0,-17 0 16,-1-1-16,19 19 15,-36-1-15,17 0 0,1 1 16,-18-1-16,18 1 15,-1 17-15,1 0 0,-1-18 0,1 0 0,17 1 16,18-1-16,-17-17 0,-1 17 16,0 18-16,-17-18 15,17 18-15,-17-17 0,-1 17 16,1 0-16,0 0 16,17 0-16,-17 0 0,-1 0 15,36 0-15,0 0 0,0 17 16,-18 1-16,0 0 15,18-1-15,0 1 0,-17 17 16,-1 1-16,0-1 16,-17 18-16,35-18 0,-36 18 15,19 0-15,17 17 16,-53-34-16,35 34 0,-18-70 0,19 71 0,-36-54 0,53 72 16,0 16-16,-18 1 0,18 18 15,-36-18-15,19-1 16,-19 1-16,1 0 0,0-18 15,-1 18-15,1 0 16,-18-18-16,0 0 0,18-35 16,-18 18-16,0-18 15,0 17-15,0-17 0,0 0 16,0 0-16,0 0 0,0 0 16,0 0-16,0-18 15,0 18-15,0-18 0,-18 1 16,18-1-16,0 0 15,-18 36-15,18-36 0,-17-17 0,-1-1 16,18 18-16,-18 1 0,18-19 0,-17 19 16,-1-19-16,0 36 0,1 0 0,-1 0 15,0-18-15,18 1 0,-17-1 16,-1-17-16,18-1 16,0 18-16,-17-17 15,-1 0-15,0-18 0,18 35 0,-35-17 16,17 17-16,1-17 15,-1-1-15,0 1 0,1-1 16,-1-17 15,18-17-15,-17-1-16,17 1 0</inkml:trace>
  <inkml:trace contextRef="#ctx0" brushRef="#br0" timeOffset="1685.29">4445 12929 0,'0'-17'16,"0"-1"-16,0 0 16,0 1-16,0-19 0,0 1 15,0-18-15,-18 18 0,18-18 16,0 18-16,-17 0 15,-1-1-15,18 1 0,-18 0 16,1-18-16,-1 17 16,18 1-16,0 18 0,-17-19 15,17 1-15,0 0 0,0 17 16,0 0-16,-18 1 0,18-18 16,0 17-16,0 0 0,-18 1 0,18-19 15,0 19-15,0-19 16,-17 36-16,17-35 0,0 0 15,0 17-15,-18 1 16,18-1-16,0 0 0,0 1 16,-18-1-16,18 0 15,0 1-15,-17-1 0,17 0 16,0-17-16,0 18 0,0-1 16,0-17-16,0 17 15,0 0 1,0 1-1,0-1 1,0 0-16,0 1 0,0-1 0,0 1 16,0-19-16,0 19 15,0-1-15,0 0 16,0 1 15,17 17-15,-17 17 93,-17-17-109,17 18 16,0 0-16,0-1 0,-18 19 0,0-19 15,1 1-15,17-1 16,-18 1-16,18 0 0,-18-1 16,18 1-1,0 0 17,-17-18 77,17-18-93,0 0-16,-18 18 15,18-17 1,0-1-16,0 0 15,0 1 1,0-1 0,0 1 77,18 17-77,-18-18-16,0 0 0,17 18 31,1 0 32,0 0-48,-1 0-15,1 0 0,17 0 0,1 36 16,-19-36-16,19 17 16,-1 1-16,-18-18 0,1 17 15,0-17-15,-18 18 78,0 0-78</inkml:trace>
  <inkml:trace contextRef="#ctx0" brushRef="#br0" timeOffset="3300.66">6720 12665 0,'-70'0'15,"35"0"-15,17 0 16,0 0-16,18 17 16,-17-17-16,-1 0 0,0 0 0,18 18 15,-17-18-15,-1 18 16,18-1-16,-53 1 0,18 17 15,17 0-15,-17 1 16,0-1-16,17 0 0,-17 1 16,17-1-16,1 0 0,17 18 15,-18-35-15,0 17 16,1-17-16,17-1 0,0 19 16,-18-19-16,18 18 15,-18 1-15,18-19 0,0 1 0,-17 17 16,17-17-16,0 0 0,0-1 0,0 18 15,-18 1-15,18 17 0,-18-18 16,18 0-16,0 18 0,0 0 16,0-18-16,0 18 15,0-17-15,0-1 0,-17 0 16,17 0-16,0 1 16,0-1-16,0 18 0,0-18 15,0 0-15,0 1 16,0-1-16,0 0 0,17 18 15,-17 18-15,36-1 0,-19 18 16,19 1-16,17-19 16,-18 18-16,0-17 0,18-1 15,-18 1-15,1-18 16,-1-18-16,18 1 0,-53-19 0,35 18 16,-35-17-16,35 0 0,-17-1 0,0 1 0,17 35 15,0-18-15,-17-35 16,-1 0-16,-17 18 0,36 17 0,-19-35 0,19 18 15,17-1-15,-18 1 16,0-18-16,0 35 0,18-35 16,-17 18-16,34 0 15,-17-18-15,0 0 0,0 0 16,-18 0-16,-17 0 0,17 0 16,0 0-16,1 0 15,17 0-15,-18 0 0,0 0 16,18-18-16,0-17 15,17 17-15,-52 0 0,17 1 16,18-19-16,-35 36 0,0-17 0,-1-1 16,1 1-16,-1 17 0,1-53 15,0 17-15,17 1 0,-17 0 16,-1-36-16,1 1 16,-18 17-16,0-18 0,0-17 15,0 0-15,0 0 16,-18-1-16,18 19 0,-17-1 15,-1 1-15,-17-1 0,17 18 16,0 18-16,1-18 16,-1 0-16,-17 0 0,0 0 15,17 0-15,-17 18 16,17 0-16,-17 0 0,17-1 16,18 19-16,-17-1 0,17 0 0,-18 18 15,-17-35-15,35 17 0,0 1 0,-18 17 0,0-18 16,1-17-16,-1 17 0,0-17 0,-17 0 15,0-1-15,-18 1 16,0 0-16,0-18 0,0 18 16,18-1-16,0 1 15,-1 18-15,1-19 0,0 19 16,35-19-16,-35 36 16,35-17-16,-36-1 0,19 0 15,-1 18-15,0-35 0,1 35 16,-1-18-16,18 1 15,-35-1-15,17 1 0,1-1 16,-1 18-16,0-18 16,1 1-16,-1 17 15</inkml:trace>
  <inkml:trace contextRef="#ctx0" brushRef="#br0" timeOffset="4815">6756 12753 0,'0'-18'32,"0"1"-32,0-1 0,-36 0 0,19-17 15,-1 0-15,0 17 0,18-17 16,-17 17-16,-18-17 0,-1-36 16,1 1-16,-36-18 0,19-18 15,-1 18-15,0-1 16,0 1-16,18 0 0,-18 0 15,17 17-15,-17 1 16,36-1-16,-1 18 0,0 0 16,-17 0-16,18 18 15,-1-18-15,0 18 0,1 0 16,-1-1-16,18 19 0,0-19 16,-18 19-16,18-1 15,-17 1-15,17-19 0,-18 19 16,18-19-16,0 1 15,0 17-15,0 1 0,-18-1 0,18 1 16,0-1-16,0-17 0,0 17 0,-17-17 0,-1-1 16,18 1-16,0 0 15,0 0-15,0-1 0,0 19 16,0-1-16,0-17 16,0 17-16,0-17 0,0 17 15,0-17-15,0 0 16,0-18-16,0 17 0,0-16 15,0 16-15,0-17 16,0 18-16,0 17 0,0-17 16,0 0-16,18 0 0,-18 17 15,0 0 1,0 1-16,0-1 0,0 0 16,0 1-16,0-1 15,0 0-15,0 1 16,0-1-1,0 1-15,0 34 110,0 1-95,0-1-15,0 1 0,-18-18 0,18 35 16,0-17-16,-17 17 16,-1-17-16,18 0 0,-18-1 0,18 19 15,-17-19-15,17 1 0,0-1 16,-18 1-16,0-18 16,18 18-16,0-36 125,0 0-125,0 1 15,0-1-15,0 1 16,0-1-16,0 0 0,0 1 15,0-1 1,0 0 0,0 1-1,0-1 1,18 18 31,-18-18-32,18 18-15,-1-17 16,1 17-16,0 0 16,17 0-16,-18 0 0,1 0 15,0 0 1,-1 0-16,1 0 16,0 0-16,-1 0 0,1 0 0,17 17 15,0 19-15,1-19 16,-1 19-16,0-36 0,18 35 15,-17-17-15,-19-18 16,-17 17-16,18-17 31,-18 18 32</inkml:trace>
  <inkml:trace contextRef="#ctx0" brushRef="#br0" timeOffset="8134.79">25823 15557 0,'18'0'47,"0"0"-47,-1 0 0,1 18 15,35-18-15,17 18 0,-17-18 16,-35 0-16,35 0 0,-18 17 0,18 1 0,-18-18 0,1 18 16,-1-18-16,-18 17 0,1-17 15,0 0-15,-1 0 47,1 0-31,0 0 31,-1 0-32,1 0 32,0 0-47,-1 0 16,1 0 62,-18 18-62,18-18-16,-18 18 0,17-18 31,-34 0 78,-1 0-109,0 17 0,1-17 0,-1 0 0,0 18 16,18 35-16,0 17 0,18 89 15,-36-141-15,18-1 266,0-34-266,0-1 0,18 0 16,88-70-16,17 35 0,-17-17 15,-35 35-15,-36-18 16,-17 35-16,-1 0 0,1 1 16,-1-19-16,1 36 0,-18-17 15,18-1-15,-1 18 0,-17-35 16,36 17-16,-1-17 0,0 17 15,1 1-15,-1-19 16,0 19-16,18-19 0,-35 19 16,17-18-16,-17 35 15,-1-36-15,-17 19 0,18-19 16,-18 1-16,17 35 16,-17-18-16,0 1 15,0-1-15,18 18 0,0-17 16,-1-1-16,-17 0 47,18 18-32,-18-17-15,18 17 16,-18-18-16,17 18 0,19 0 16,-19 0-16,1-18 0,17 1 15,-17 17-15,17 0 16,-17 0-16,17 0 0,0 0 15,1 0-15,-1 0 0,-18 0 16,19 0-16,17 0 16,-18 0-16,-17 0 0,17 0 15,-18 0-15,1 0 16,0 0-16,-1 0 0,1 0 16,0 0-16,-1 0 78,-17-18-31,-17 18-47</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09:25:50.536"/>
    </inkml:context>
    <inkml:brush xml:id="br0">
      <inkml:brushProperty name="width" value="0.05292" units="cm"/>
      <inkml:brushProperty name="height" value="0.05292" units="cm"/>
      <inkml:brushProperty name="color" value="#FF0000"/>
    </inkml:brush>
  </inkml:definitions>
  <inkml:trace contextRef="#ctx0" brushRef="#br0">8837 7549 0,'-18'0'63,"1"0"-63,-1 0 0,1 0 15,-36 0-15,0 0 0,0 0 16,0 18-16,-18 0 16,-17-18-16,18 17 0,17-17 15,0 18-15,-18 17 0,18-35 16,36 0-16,-1 18 0,-17-18 0,-18 18 16,35-18-16,0 17 0,-34-17 0,16 35 15,1-35-15,0 18 16,-1 17-16,-16-35 0,34 18 15,-17 0-15,-1-1 16,1 19-16,17-36 0,-17 17 16,0 1-16,0 35 15,-18-36-15,-18 19 0,18 17 16,-17-18-16,17 0 0,0 0 16,18-17-16,-1 17 15,19-17-15,-19 0 0,19 17 16,-19-35-16,19 53 15,-1-53-15,-35 35 0,18 18 16,0-35-16,17-1 0,0 1 0,18 0 0,-35-1 16,35 1-16,-35 17 0,0 0 15,17-35-15,-17 36 0,17-1 0,0-17 16,1-1-16,17 1 16,0 17-16,-36-17 0,19 17 15,17-17 1,-18 17-16,1 0 0,17-17 15,-18 17-15,0 0 0,18 1 16,0 17-16,0 0 16,0-18-16,-17 0 0,17 0 15,0-17-15,0 35 16,0-18-16,0 1 0,0-1 16,0-18-16,17 19 0,-17-19 0,18 19 15,0 17-15,-1-36 0,18 18 0,-35 1 16,18-19-16,0 19 0,-1-19 0,1 1 0,0 0 15,-1 34-15,1-16 16,0-1-16,17 0 0,-35 18 16,35 0-16,0 0 15,1 35-15,17-17 0,-18 17 16,35 0-16,-17-17 0,18 17 16,-36-35-16,0 0 15,1-18-15,-1 0 0,0 1 16,1-1-16,-19 0 15,18 0-15,1 1 0,-19-1 16,19-17-16,-1 35 16,0-36-16,1 1 0,-19 17 15,1-35-15,-1 18 0,19-1 16,-19 1-16,19 17 16,-19-35-16,1 18 0,17 0 0,0-1 15,1 19-15,-1-19 16,-17 1-16,17-1 0,0-17 15,18 18-15,0-18 16,-18 18-16,18-1 0,0-17 16,0 0-16,0 0 0,0 0 15,17 0-15,-17 0 16,0 0-16,0 0 0,-18 0 16,18 0-16,0-17 15,-17-1-15,17-17 0,-18 0 16,35-18-16,-17 17 15,-35 19-15,0-1 0,-1-17 0,1 35 0,35-36 16,-18-34-16,18 17 0,-18-18 16,0 19-16,1-1 15,17 0-15,-36 0 0,19-18 16,-19 1-16,1-1 16,0 1-16,17 17 0,0-36 15,-17 1-15,-1 18 0,19-18 16,-19-1-16,1 19 15,0-18-15,17 17 0,-18 0 16,1 1-16,17-1 16,-17 1-16,0-1 0,17 1 15,-35 17-15,35-18 16,-17 1-16,-18-1 0,0 1 16,17-1-16,-17 53 0,18-17 0,-18 17 0,0-34 15,18-1-15,-18 0 16,0 0-16,17 0 0,-17 18 15,0-18-15,0 0 16,0 17-16,0-16 0,0 16 16,0 1-16,0 0 15,0-18-15,0 35 0,0 1 16,-17-19-16,17 19 0,-18 17 16,0-36-16,1 19 15,-18-19-15,-1 1 0,-34 0 16,-18-18-16,-1 18 15,1-18-15,53 35 0,-18 0 0,-53-34 16,18 34-16,17-35 0,71 35 16,-53 18-16,1-17 0,-1-1 15,35 0-15,0 18 0,-17 0 0,0 0 16,0-17-16,-1 17 16,19-18-16,-1 18 0,0 0 15,1 0 32</inkml:trace>
  <inkml:trace contextRef="#ctx0" brushRef="#br0" timeOffset="35403.53">20408 15275 0,'18'0'0,"-1"0"16,1 0-16,53 0 0,-1 0 15,71 0-15,53 0 0,-17 0 16,-1 18-16,1-18 16,-19 18-16,-34-1 0,-18-17 15,-71 0-15,0 18 0,-17-18 0,17 0 0,-17 0 16,35 0-16,-36 0 0,1 0 16,0 0-16</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09:26:36.409"/>
    </inkml:context>
    <inkml:brush xml:id="br0">
      <inkml:brushProperty name="width" value="0.05292" units="cm"/>
      <inkml:brushProperty name="height" value="0.05292" units="cm"/>
      <inkml:brushProperty name="color" value="#FF0000"/>
    </inkml:brush>
  </inkml:definitions>
  <inkml:trace contextRef="#ctx0" brushRef="#br0">6121 900 0,'-18'0'63,"0"0"-63,1 0 16,-1 0-16,-35 0 0,-35 0 15,17 0-15,1 0 0,-1-18 16,18 18-16,18-18 15,0 18-15,-18-17 0,18 17 16,-18 0-16,17-18 0</inkml:trace>
  <inkml:trace contextRef="#ctx0" brushRef="#br0" timeOffset="617.51">212 0 0,'35'0'0,"-70"0"0,88 0 15,-1 0-15,37 0 0,-1 0 16,0 0-16,18 0 0,53 0 16,-54 0-16,37 0 15,-37 0-15,1 0 0,-18 0 16,18 0-16,-18 0 0,-17 0 15,-18 0-15,-18 0 16,18 0-16</inkml:trace>
  <inkml:trace contextRef="#ctx0" brushRef="#br0" timeOffset="17678.81">8061 13264 0,'0'18'109,"0"0"-93,0-1-16,0 1 15,0 0-15,0-1 16,-18 1 0,18 0-16,0-1 15,0 1 1,0-1-16,0 1 15,0 0-15,0-1 0,18-17 16,-18 18-16,0 0 0,18-18 16,-18 17-16,17 1 0,1-18 62,-18 18-46,18-18-1,-1 0-15,1 0 16,-1 0-16,1 0 16,0 0-16,-1 0 15,1 0-15,-18-18 16,18 18-16,-1 0 0,-17-18 16,0 1-1,0-1 1,18 0-16,-18 1 15,0-1 1,0 0-16,0 1 16,0-1 15,0 1-31,0-1 16,-18 0-16,1 1 0,17-1 15,-18 18-15,18-18 16,0 1-16,-18 17 0,18-18 15,-17 18-15,-1 0 47,18-18-47,-18 18 0,1 0 16,-1 0 46,1 0-30</inkml:trace>
  <inkml:trace contextRef="#ctx0" brushRef="#br0" timeOffset="20017.2">8431 10954 0,'0'17'62,"0"1"-62,0 0 16,0-1-16,0 1 0,0 0 16,0-1-16,0 1 0,0 17 15,0 0-15,-17-17 16,17 0-16,0-1 0,0 1 16,0 0-16</inkml:trace>
  <inkml:trace contextRef="#ctx0" brushRef="#br0" timeOffset="21961.65">10125 9296 0,'0'17'78,"0"1"-78,0 0 0,0 17 16,0 0-16,0 0 0,0-17 15,0 0-15,0-1 0,0 19 16,0-19-16,0 19 0,0-1 15,0-18-15,0 1 16,0 0 0</inkml:trace>
  <inkml:trace contextRef="#ctx0" brushRef="#br0" timeOffset="24872.61">5556 10654 0,'0'18'31,"0"-1"-31,0 1 16,0-1 0,0 1-16,0 0 31,18-18-31,-18 17 0,18-17 16,-18 18-16,0 0 15,17-18 1,1 0-1,-1 0 17,1 0-17,0 0-15,-1 0 16,1 0-16,0 0 16,-1 0-16,1 0 0,0 0 0,-18-18 15,17 18-15,-17-18 0,0 1 16,18 17-16,-1 0 0,1-18 15,-18 0-15,18 1 16,-1-1-16,-17 1 16,18-19-16,-18 19 15,0-1-15,0 0 0,18 18 16,-36 0 31,18-17-47,-18-1 0,1 18 15,-1 0-15,0 0 0,1 0 16,17-18-16,-35 18 0,35-17 16,-18 17-16,0 0 15,1 0-15,-1 0 63,0 0-63,18 17 15,-17-17 1,17 18 62,-18-18-78,18 18 31,-18-18-31,18 17 16,-17-17-16,-1 18 0</inkml:trace>
  <inkml:trace contextRef="#ctx0" brushRef="#br0" timeOffset="25581.51">6632 9349 0,'0'17'62,"0"1"-62,0 0 0,0-1 16,0 1-16,0-1 0,0 36 16,0-35-16,0 0 0,0-1 15,0 1-15,0 0 16,0-1-1,0 1 1,0-1-16,0 1 16</inkml:trace>
  <inkml:trace contextRef="#ctx0" brushRef="#br0" timeOffset="28569.17">8061 7937 0,'18'0'31,"-1"0"-15,1-17-16,0 17 0,-18-18 0,17 18 0,1 0 15,17 0-15,-17 0 16,-1 0-16,19-17 0,-19 17 15</inkml:trace>
  <inkml:trace contextRef="#ctx0" brushRef="#br0" timeOffset="29056.85">8414 7691 0,'0'17'0,"0"1"0,0 17 0,0-17 15,0 17-15,-18 0 16,18 1-16,-18 16 0,1-16 16,-1 17-16,1 0 15,17-18-15,-18-17 0,18 17 16,0-18-1</inkml:trace>
  <inkml:trace contextRef="#ctx0" brushRef="#br0" timeOffset="34808.91">10724 6121 0,'0'0'0,"18"0"0,0 0 15,-18 17 16,0 1 32,17-18-47,-17 18-16,0-1 15,0 1-15,0 0 0,0-1 0,0 18 16,0-17-16,0 17 0,-35-17 15,35 17-15,0-17 16,-18-18-16,1 18 0,17-1 16,-18-17-1,18 18-15,-17-18 0,17 17 16,-18-17-16,0 0 16,18 18-1,18-18 79,0 0-94,-1 0 0,18 0 16,1 0-16,-1 0 0,-17 0 15,-1 0-15,1 0 0</inkml:trace>
  <inkml:trace contextRef="#ctx0" brushRef="#br0" timeOffset="36022.65">10636 6138 0,'-17'0'125,"17"-17"-46,17 17-79,-17-18 15,18 18 1</inkml:trace>
  <inkml:trace contextRef="#ctx0" brushRef="#br0" timeOffset="38724.62">11942 7920 0,'17'0'15,"1"0"-15,-1 0 0,19 0 16,-19 0-16,1-18 0,0 18 16,-1 0 15,1 0 0,0 0 0</inkml:trace>
  <inkml:trace contextRef="#ctx0" brushRef="#br0" timeOffset="39162.74">12294 7849 0,'18'18'62,"-18"0"-46,0-1-16,0 1 0,0-1 0,18 1 16,-18 0-16,0 35 0,0-18 0,0 18 15,0 0-15,0-18 16,0 0-16,0-17 62,0 0-62,0-1 0,0 1 16</inkml:trace>
  <inkml:trace contextRef="#ctx0" brushRef="#br0" timeOffset="40127.08">13159 9137 0,'0'18'62,"0"-1"-62,0 1 0,0-1 0,0 1 16,0 0-16,0-1 15,-18-17-15,18 18 0,0 17 0,-18 1 16,18-19-16,0 19 16,0-19-16,0 1 0,0-1 15,0 1-15,0 0 31,18-18-31,0 0 16,-1 0 0,1 0-1,0 0-15,-1 0 16,1 0-16,-1 0 16,1 0-16,-18-18 0,18 18 0,-1-18 15,-17 1-15,0-1 16,18 18-16,-18-17 15,0-1-15,0 0 0,0 1 16,0-1-16,0 0 16,0 1-16,0-19 0,0 19 15,0-19-15,0 19 16,0-1-16,0 1 16,0-1 15,0 0-16,-18 1 1,18-1-16,-17 18 16,-1 0-16,0-18 0,1 18 15,-1 0-15,18-17 0,-17 17 16</inkml:trace>
  <inkml:trace contextRef="#ctx0" brushRef="#br0" timeOffset="41288.92">12259 7708 0,'0'18'31,"0"-1"-15,0 1 0,18 0-16,-18-1 15,0 1 1,0 0-16,17-18 15,-17 17-15,0 1 0,0 0 16,0-1-16,0 1 16,0-1-16,0 1 15,0 0 17,0-1-32,0 1 93</inkml:trace>
  <inkml:trace contextRef="#ctx0" brushRef="#br0" timeOffset="50234.95">10213 7814 0,'0'-18'63</inkml:trace>
  <inkml:trace contextRef="#ctx0" brushRef="#br0" timeOffset="56684.83">11165 7214 0,'-17'0'125,"-1"0"-78,0 0-31,1 0-16,17 18 16,-18-18-16,1 0 0,17 18 15,-18-18-15,0 0 16,1 0-16,17 17 0,0 1 15,-18-18-15,0 0 16,18 17 15,-17-17-31,-1 0 16,18 18-16,-18 0 0,1-18 16,-1 17-16,1 1 0,-1-18 15,18 18-15,-18-1 0,1 1 16,-1-18-16,18 18 15,-18-18-15,18 17 0,-17-17 16,-1 18 0,18 0-1,-18-18-15,1 0 0,-1 0 0,1 17 16,17 1-16,0-1 0,-36-17 16,19 0-16,-1 18 0,18 0 15,-18-18-15,1 0 16,-1 17-16,0-17 15,18 18-15,-17 0 16,-1-18-16,18 17 0,-18-17 16,-17 18-16,35 0 15,-35-1-15,35 1 16,-18-18 0,1 0-16,17 17 15,-18-17-15,18 18 0,-18-18 16,18 18-16,-17-18 0,17 17 15,-18-17-15,18 18 16,-18-18-16,1 18 0,17-1 16,-18-17-1,1 18-15,17 0 0,-18-18 16,18 17-16,-18-17 16,18 18-16,-17-18 15,17 17 1,-18-17 62,0 0-78,1 18 16,-1-18-16,18 18 15,0-1-15,-18-17 16,1 0-16,-1 0 0,1 0 78,-1 0-62,18 18-16,-18-18 15,1 0-15,17 18 16,-18-18-16,0 0 15,1 0 1,17 17 15,-18-17-15,0 0-16,18 18 16,-17-18-16,-1 0 93,0 0-93,18 18 0,-17-18 16,-1 0-16,1 0 0,-1 17 16,0 1-16,1-18 0,-19 0 15,36 18-15,-17-18 31,-1 0-15,0 0 31,18 17-47,-17-17 0,-1 0 31,18 18-31,-17-18 16,-1 0-16,18 17 0,0 1 15,-18-18-15,1 0 0,17 18 16,-18-18-16,0 17 0,1-17 16,-1 0-16,18 18 15,-18 0-15,18-1 16,-17-17-16,-1 0 31,18 18-15,-17-18-16,17 18 15,-18-18 1,18 17 0,-18-17-1,18 18-15,0-1 16,-17-17 46,17 18 1,-18-18-63,18 18 344,-18-18-235,18 17 125,18-17-234,-18 18 16,0 0 0,18-18-1,-18 17 1,17-17-16,-17 18 0,18-18 16,-18 18-16,18-18 0,-1 0 15,1 17-15,-18 1 16,17-18-16,1 0 0,0 0 15,-18 17-15,17-17 16,1 18-16,0-18 16,-1 0-16,1 18 15,0-18-15,-1 0 0,-17 17 16,18-17 0,-1 0-16,1 0 15,-18 18-15,18-18 16,-18 18-16,17-18 15,1 0-15,0 17 0,-1-17 16,1 0 0,-18 18-1,18-18-15,-18 18 16,17-18 0,1 0-1,-1 0 1,1 0-1,-18 17 1,18-17 0,-1 18-16,1 0 15,0-18 17,-1 0-17,-17 17-15,0 1 16,18-18-16,0 0 15,-18 17 1,17-17-16,-17 18 0,0 0 16,18-18-16,-18 17 0,18-17 0,-18 18 15,17 0-15,1-1 16,-1-17-16,-17 18 0,18-18 31,-18 18-31,18-18 0,-18 17 16,0 1-1,17-18-15,-17 17 0,0 1 0,18-18 16,-18 18-16,18-18 0,-18 17 16,17 1-1,-17 0-15,18-18 16,-18 17-16,0 1 16,18-18-16,-18 18 0,17-18 15,-17 17 1,0 1-16,18-18 15,-1 17-15,-17 1 16,0 0-16,18-18 16,-18 17-16,0 1 15,18-18-15,-18 18 16,0-1-16,17 1 16,-17 0-1,0-1-15,18-17 16,-18 18-16,0 0 15,0-1-15,18-17 16,-18 18-16,0-1 0,17 1 16,-17 0-16,0-1 0,0 1 15,0 0-15,18-18 0,0 17 16,-18 1-16,0 0 16,0-1-1,0 1-15,0-1 16,0 1-16,0 0 0,17-18 15,-17 17-15,0 1 16,18-18-16,-18 18 16,0-1-1,0 1 1,17 0 0,-17-1-16,0 1 15,0-1 1,18-17-16,-18 18 0,0 0 15,18-18-15,-18 17 16,0 1 0,0 0-1,0-1 17,0 1-32,0 0 15,0-1-15,0 1 16,0 0-16,0-1 15,0 1-15,0-1 0,0 1 16,0 0-16,0-1 0,0 1 0,0 0 16,0-1-16,0 1 15,0 0-15,0-1 0,-18 1 16,18-1-16,0 1 16,-18 0-16,1-1 0,-1 19 15,18-19-15,0 1 0,-17-18 16,-1 18-16,18 17 15,0-18-15,-18 1 0,1-18 16,-1 35-16,0-17 0,18 0 16,-17-1-16,17 1 15,-18-18-15,18 35 0,-35-35 16,35 18-16,0 0 16,-18-18-16,1 0 0,17 17 15,-18 1-15,0-1 16,1-17-16,-1 0 0,0 0 0,1 18 15,-1 0-15,0-18 16,1 0 0,-1 17-16,1 1 0,-1-18 15,-35 18-15,35-18 16,1 0-16,-1 0 0,-17 0 16,17 0-16,0 0 15,-17 0-15,18 0 0,-1 0 16,0 0-16,1 0 15,-1 0-15,0 0 0,1 0 16,-1 0-16,0 0 0,1 0 0,-18 0 16,17 0-16,0 0 15,1 0-15,-1 0 16,-17 0-16,35-18 16,-36 18-16,19-18 0,-18 18 15,-1-17-15,19 17 0,-1-18 16,0 18-16,1 0 15,-1-18-15,0 18 0,1-17 16,-1-1-16,0 18 16,1-17-16,-1-1 0,-17 0 15,35-17-15,-35 17 0,17 1 16,0-19-16,-17 19 16,17-1-16,1 0 0,-1 18 15,18-17-15,0-1 0,-17 1 0,-1-1 16,0 0-16,-17 1 0,17-19 15,-17 19-15,0-1 16,17 0-16,-17-17 0,17 18 16,1-1-16,-1-17 15,-17 17-15,17 0 0,0 1 16,1-19-16,-1 19 0,0-18 16,1 17-16,-1 0 15,-17-17-15,35 17 0,-35-17 16,17 35-16,18-35 15,-18 17-15,1 0 0,-1 1 16,0-1-16,1-17 16,-1 0-16,1 17 0,17 0 15,-18 18-15,-17-17 0,35-19 0,-18 36 16,0-17-16,18-1 16,-17 1-16,-1-1 15,0 0-15,18 1 16,-35-1-16,35 0 0,-17-17 15,-19 35-15,19-35 0,-1 35 16,0-18-16,-17-17 16,35 17-16,-18 1 0,1 17 15,17-18-15,-18 0 16,0 1-16,1-1 0,-1 18 16,1-18-16,-1 1 0,0-19 15,1 19 1,-1 17-16,0-18 0,18 1 0,-17-1 15,-1 18-15,18-18 0,-18 1 16,1-1-16,-1 0 0,18 1 16,-17-1-16,-1-17 15,0 35-15,1-35 0,-1 35 16,0-53-16,1 35 0,17 0 16,-18-17-16,0 17 15,1 1-15,17-1 0,0 1 16,-18-19-16,1 1 15,17 17-15,0-17 0,0 17 16,0-17-16,-18 17 16,18-17-16,-18 18 0,18-19 15,0 19-15,0-19 0,0 19 16,0-1-16,0 0 0,0-17 0,0 0 16,0-18-16,0 18 0,0-1 15,18 1-15,-18 18 16,0-36-16,0 35 0,18-17 15,-1 17-15,-17-17 16,0 17-16,18-17 0,-18 17 16,17-17-16,1 0 0,0 17 15,-1-17-15,1-18 16,17 18-16,-17-1 0,0 1 16,17 17-16,-18-17 15,1 35-15,0-35 0,-18 17 16,17 18-16,1 0 0,0-17 15,17-1-15,-35 0 16,35 1-16,-17-1 0,17 18 16,0-35-16,1 35 15,-19 0-15,1-18 0,0 0 16,17 1-16,-17 17 16,-1 0-16,1 0 0,-1-18 15,19 18-15,-1-18 0,0 18 16,1 0-16,-19-17 15,36-1-15,-18 1 0,1 17 16,-1 0-16,0-18 16,0 0-16,1 18 0,-1 0 15,-17-17-15,17-1 16,0 18-16,-17-18 0,17 18 16,0-17-16,-17-1 0,0 18 0,-1 0 15,1 0-15,17-35 0,18 17 16,-18 1-16,18-1 0,0 18 15,-17-35-15,-1 17 16,18 18-16,-18-18 0,-17 1 16,17-1-16,0 0 15,-17 1-15,17-1 0,0 1 16,1 17-16,-1-36 0,-17 36 16,17-17-16,0-1 15,-17 0-15,-1 1 0,1-1 16,17 18-16,-17 0 15,0-18-15,-1 1 16,1 17 15,-18-18-31,18 18 0,-1 0 16,1-18-16,-1 1 16,1 17-1,0 0-15,-1 0 0,1-18 16,0 18-16,-1-17 0,1 17 15,17-18-15,-17 18 0,17 0 16,0 0-16,-17-18 16,17 18-16,36-17 0,-1 17 15,-34 0-15,17 0 16,17 0-16,-17 0 0,0-18 16,0 18-16,0 0 15,-18 0-15,18 0 0,-35 0 16,-1 0-16,19 0 0,-19 0 15,1 0 17,0 0-32,-1 0 15,1 0-15,-1 0 0,1 0 16,0 0-16,-1 0 16,1 0-16,0 0 15,-1 0 1,1 0-1,0 18-15,-1-18 16,1 0-16,-18 17 16,17-17-16,1 0 0,-18 18 15,18 0-15,-1-18 0,1 17 16,-18 1-16,35-1 16,-35 1-16,0 0 0,18-1 0,0 1 15,-18 0-15,0-1 16,17 1-16,1 0 0,-18 17 15,0-17-15,0-1 16,0 18-16,0-17 0,0 17 16,0 1-16,0-1 0,0-17 15,0 17-15,0-18 16,0 19-16,0-19 0,-18 1 16,18 0-16,0 17 15,-17-35-15,-1 18 0,18-1 16,-18 1-16,1 17 15,17-17-15,0-1 47,-18-17-31,0 0-16,1 36 16,-1-19-16,0 1 0</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09:29:05.348"/>
    </inkml:context>
    <inkml:brush xml:id="br0">
      <inkml:brushProperty name="width" value="0.05292" units="cm"/>
      <inkml:brushProperty name="height" value="0.05292" units="cm"/>
      <inkml:brushProperty name="color" value="#FF0000"/>
    </inkml:brush>
  </inkml:definitions>
  <inkml:trace contextRef="#ctx0" brushRef="#br0">4251 10460 0,'18'0'109,"-1"0"-93,1 0-1,0 0-15,-1 0 16,1 0-16,-1 0 0,1 0 15,0 0-15,-1 0 0,1 0 16,0 0-16,-18 17 0,17-17 16,1 0-16,-18 18 15,18-18 1,-1 0 0,1 0-1,-1 0-15,1 0 16,-18 18-16,18-18 0,-1 0 0,-17 17 15,18-17-15,0 0 0,-1 0 16,-17 18-16,36-18 0,-19 0 16,1 0-1,-1 18-15,1-18 0,-18 17 16,18-17-16,-1 0 16,1 0-16,0 0 15,-1 0 1,1 18-16,0-18 0,-1 18 15,1-18-15,0 0 0,-1 0 16,-17 17-16,18-17 0,-1 18 16,1-18-16,0 0 0,-1 0 0,1 0 15,-18 18-15,18-18 16,-1 0-16,1 0 0,-18 17 16,18-17-16,-1 0 15,1 18-15,-1-18 16,-17 17-1,18-17-15,0 0 16,-18 18 0,17-18-1,-17 18-15,18-18 16,0 0 0,-18 17-1,17-17-15,-17 18 0,18-18 0,0 0 31,-1 0-31,-17 18 16,0-1 0,18-17-1,-18 18 1,17-18 0,1 0-1,-18 18 1,0-1-1,0 1 1,0-1 0,18 1-16,-1-18 31,-17 18-31,0-1 0,0 1 16,0 0-16,0-1 31</inkml:trace>
  <inkml:trace contextRef="#ctx0" brushRef="#br0" timeOffset="4419.85">5503 11007 0,'0'17'93,"0"1"-77,0 0-16,0-1 0,0 1 16,0-1-16,0 1 0,0 0 15,0-1-15,0 1 0,0 0 16,0-1-16,0 1 0,-17 0 16,17-1-1,-18-17-15,18 18 0,-18-18 16,1 18-16,-1-1 15,0-17-15,1 18 0,-1-18 16,18 17-16,-17-17 16,-1 0-16,18 18 0,-18-18 15,-17 18-15,35-1 0,-18-17 0,1 0 16,-1 18-16,0-18 16,1 18-16,-1-1 15,1-17-15,-1 0 31,0 0-15,18 18-16,-17-18 16,17 18-16,-18-18 0,0 0 15,1 0-15,17 17 16,-18 1-16,0-1 0,1-17 16,-1 0-16,18 18 15,0 0-15,-17-18 0,-1 0 0,18 17 16,-18-17-1,18 18-15,-17-18 0,-1 18 16,18-1-16,0 1 0,-18-18 0,1 18 16,17-1-16,-18 1 15,0-1-15,1 1 0,17 0 16,-18-1-16,0-17 0,18 36 16,0-19-16,-17-17 15,17 18-15,0 0 0,-35-1 16,35 1-16,0 0 15,0-1-15,0 1 16,0-1-16,0 1 16,-18-18-16,18 18 0,0-1 15,0 1-15,0 0 16,0-1-16,0 1 0,0 0 16,0-1-16,0 1 15,-18-1-15,18 19 16,0-19-16,0 19 0,0-19 15,0 19-15,0-19 16,0 1-16,0-1 0,0 1 16,0 0-16,18-18 0,-18 17 31,0 1-15,0 0-16,0-1 15,0 1-15,18-18 0,-18 18 16,17-18-16,-17 17 0,18-17 15,-1 18-15,1 0 0,-18-1 0,35-17 16,-17 18-16,17-1 0,-17 1 16,17 17-16,1-17 15,-19 0-15,18-1 0,1 1 16,-1-18-16,0 35 16,-17-35-16,17 18 0,-17-18 15,17 17-15,0 1 16,18-18-16,18 18 0,-1-18 15,-17 0-15,18 17 0,-18 1 16,-36-18-16,19 0 16,-19 0-16,1 0 0,17 0 0,18 0 15,-18 0-15,18 0 16,0 0-16,0 0 0,0 0 16,0-18-16,0 1 0,0-1 15,0 0-15,17 1 16,-17-18-16,-17 17 0,16 0 15,-16 1-15,17-19 16,-18 19-16,18-19 0,0 1 16,-18 18-16,18-19 15,0 1-15,-18 0 0,0-1 16,18 1-16,-17 0 0,-1 0 16,0 35-16,0-53 15,18 35-15,-35-17 0,17-1 16,1 1-16,-1-18 15,0 36-15,-35-1 0,35 0 0,-17 1 0,0-1 16,-1 0-16,19-17 0,-1 0 16,0 0-16,0-1 0,1 1 15,-19 0-15,19 17 16,-36-17-16,35 17 0,-17 1 16,-18-1-16,17 18 0,1-18 15,-18 1-15,0-1 16,0 0-16,17 1 0,-17-1 15,18 0-15,-18 1 16,0-1-16,0 1 0,0-1 16,0-17-16,0 17 0,0 0 15,0-17-15,0 17 16,0-17-16,0 0 0,0 0 16,0 17-16,0 0 0,0 1 15,0-1-15,-18-17 0,18-1 0,0 19 16,-17-18-16,-1-1 0,18 19 15,-17-19-15,17 1 16,-18 0-16,18 17 0,-18-17 16,18 17-16,-17-17 15,-1 0-15,0-1 0,1-16 16,-1 34-16,0-35 16,1 18-16,-1-1 0,-17 1 15,17-18-15,-17 18 0,17 0 16,1-1-16,-19-17 15,19 18-15,-36 0 0,18-18 16,35 35-16,-36-17 0,19 17 0,-1 1 16,-53-54-16,19 36 0,16 0 15,-17-36-15,18 36 16,0 0-16,-18-18 0,18 17 16,-1 19-16,1-36 0,0 18 15,-1 17-15,1-17 16,0-1-16,-18 1 0,18 17 15,-1-17-15,-16 18 16,16-19-16,19 19 0,-36-1 16,17-17-16,-16 17 0,16-17 15,1 17-15,0 0 16,-1 1-16,1-1 0,0 1 16,-18 17-16,35-18 15,1 18-15,-36-18 0,17 18 16,36-17-16,-17 17 0,-1 0 15,1 0-15,-19 0 0,1 0 16,0 0-16,17 0 16,-35 0-16,36 0 0,-1 0 15,-17 0-15,17 0 0,-17 0 16,-1 0-16,19 0 16,-36 0-16,35 17 0,-17 1 15,-18-18-15,0 18 16,18-1-16,-18 1 0,0-1 15,18 1-15,-18-18 0,0 0 16,18 18-16,-1-1 16,-17 1-16,18-18 0,17 18 15,-17-1-15,18-17 0,-19 0 16,36 18-16,-35 0 0,0-1 0,-1-17 16,1 36-16,0-36 15,0 17-15,17 1 0,-17-1 16,-1 1-16,-16 0 0,34-18 15,0 17-15,1 1 16,-1 0-16,0-18 0,1 17 16,17 1-16,-18-18 15,0 0-15,18 18 16,-35-18-16,35 17 0,-18 1 16,1-18-16,17 17 15,0 1-15,-18-18 0,18 18 16,-17-18-16,17 17 15,0 1 32,0 0-47,0-1 16,17-17-16,-17 36 0,35-1 16,18 0-16,-17 0 0,17 1 15,0-1-15,-1 0 16,-16 1-16,-1-19 0,-17 1 15,35 17-15,-36-17 0,1 17 16,17-35-16,0 35 16,1-17-16,-1 17 0,0-17 15,0-1-15,18 1 16,-53 0-16,18-1 0,0-17 0,-1 18 16,1-18-16,0 18 0,17-1 15,-35 1-15,18-18 0,-1 0 16,-17 18-16,18-18 0</inkml:trace>
  <inkml:trace contextRef="#ctx0" brushRef="#br0" timeOffset="43998.18">25735 16157 0,'0'-17'62,"18"17"-62,-1 0 0,19 0 16,34 0-16,1 0 16,52 0-16,18 0 0,-17 0 15,17 17-15,-35 1 0,0-1 16,-1-17-16,19 18 15,-36-18-15,18 0 0,17 0 16,-17 0-16,18 0 16,-18 0-16,-36 0 0,18 0 15,-35 0-15,-35 0 0,17 0 16,0 0-16,-17 0 0,0 0 16,-1 0-1,1 0-15,0 0 0,-1 0 16,1 0-16,0 0 0,-1 0 0,18 0 15,-17 0-15,0 0 16</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09:30:08.279"/>
    </inkml:context>
    <inkml:brush xml:id="br0">
      <inkml:brushProperty name="width" value="0.05292" units="cm"/>
      <inkml:brushProperty name="height" value="0.05292" units="cm"/>
      <inkml:brushProperty name="color" value="#FF0000"/>
    </inkml:brush>
  </inkml:definitions>
  <inkml:trace contextRef="#ctx0" brushRef="#br0">10760 12823 0,'17'0'0,"1"0"15,-18 18 1,18-18-16,-18 18 16,0-1-16,0 1 0,17-18 15,-17 18-15,0-1 16,0 1-16,0 0 16,0-1-16,0 1 15,0-1-15,18-17 16,0 18-16,-18 0 0,0-1 15,17-17-15,1 0 0,-1 0 32,-17 18-17,18-18-15,0 0 16,-1 0 0,1 0-16,0 0 15,-18-18-15,17 1 16,1-1-16,-18 0 0,18 1 15,17-1-15,-35-17 16,17 0-16,-17 17 0,18-17 16,-18 17-16,0 0 0,18 1 15,-18-18-15,0 17 16,17 18-16,-17-18 0,0 1 16,0-1-1,18 18-15,-18-18 16,0 1 46,-18 17-62,1 0 16,17-18-16,-18 18 0,-17 0 16,0 0-16,-1 0 0,1 0 15,0 0-15,17 0 0,0 0 16,1 0-16,-1 0 15,1 18 17,-1-18-17,18 17-15,-18-17 16</inkml:trace>
  <inkml:trace contextRef="#ctx0" brushRef="#br0" timeOffset="3015.6">9578 11148 0,'18'0'78,"-1"0"-62,1 0-16,-1 0 0,1 0 16,17 0-16,-17 0 0,0 0 15,-1 0-15,1 0 16,0-18-16,-1 18 0,1 0 16,-1 0-16,1 0 0,0 0 15</inkml:trace>
  <inkml:trace contextRef="#ctx0" brushRef="#br0" timeOffset="3489.77">10054 10954 0,'0'17'47,"0"1"-32,0 0-15,0-1 0,0 1 0,0 17 16,-17 18-16,17 0 0,-18-18 15,18 18-15,-18 0 16,18-18-16,0-17 0,0 0 16,0-1-16,-17 1 15,17 0 63</inkml:trace>
  <inkml:trace contextRef="#ctx0" brushRef="#br0" timeOffset="8485.58">8008 9490 0,'18'0'47,"-1"0"-32,1 0-15,0 0 0,-1 0 16,1 0-16,0 0 16,-1 0-1,1 0-15,-1 0 16,1 0-16,-18-18 0,18 18 0,-1 0 16,1 0-16,-18-18 15,18 18-15,-1 0 0</inkml:trace>
  <inkml:trace contextRef="#ctx0" brushRef="#br0" timeOffset="8905.87">8361 9278 0,'0'18'16,"0"-1"-16,0 1 0,0 0 0,0-1 16,0 1-16,0 17 0,0 0 15,0 1-15,-18 17 0,18 0 16,-17-1-16,-1-16 16,18 34-16,0-52 0,-18 17 15,18-17-15,0-1 16,0 1-16</inkml:trace>
  <inkml:trace contextRef="#ctx0" brushRef="#br0" timeOffset="10395.62">6756 11024 0,'0'18'46,"0"0"-30,0-1-16,0 1 0,0-1 0,0 1 16,0 0-16,0-1 0,0 1 15,0 0-15,0-1 16,17-17-16,-17 18 0,18-18 16,-18 18-16,0-1 15,18-17-15,-1 18 0,1 0 16,0-18-16,-1 0 0,-17 17 15,18 1-15,-1-18 16,1 0-16,0 0 0,-1 0 16,1 0-16,0 0 15,17 0-15,-17-18 0,-1 18 16,1-17-16,-1-1 0,1 0 16,0 1-16,-1-1 15,-17-17-15,18 17 0,-18-17 16,18 17-16,-18 0 15,0 1-15,0-1 0,0 1 16,0-1-16,0 0 16,0 1 15,0-1-15,-18 18-16,0 0 0,18-18 15,-17 18-15,-19 0 16,19 0-16,-1 0 15,1 0-15,-1 0 0,0 0 16,1 0-16,-1 0 16,0 0-16,1 0 0,-1 0 15,0 0 1,1 0-16,-1 0 16,1 18-1</inkml:trace>
  <inkml:trace contextRef="#ctx0" brushRef="#br0" timeOffset="12095.9">11871 10830 0,'0'18'62,"0"0"-46,0-1-16,18-17 15,-18 18-15,0-1 0,0 1 16,0 0-16,0-1 16,0 1-16,17 0 15,1-18 1,-18 17 0,18-17-16,-1 18 0,1-18 15,-18 18-15,17-18 0,1 0 16,0 0-16,-1 0 15,1 0-15,0 0 0,-1 0 16,1 0-16,0 0 16,-1 0-1,-17-36-15,0 19 16,0-1 0,18 18-16,-1 0 15,-17-35 1,0 17-16,0 0 15,0 1 1,-17 17-16,17-18 16,-18 18-16,1-17 0,-1-1 15,0 18 1,18-18-16,-17 18 0,17-17 0,-18 17 16,0 0-16,18-18 0,0 0 15,-35 18-15,17 0 16,1 0-1,-1 0 1</inkml:trace>
  <inkml:trace contextRef="#ctx0" brushRef="#br0" timeOffset="13143.1">10954 9454 0,'0'-17'16,"17"17"31,1 0-32,-18-18-15,18 18 78,-1 0-78,1 0 0,0 0 16,-1 0-16,1 0 0,-1 0 16,1 0-16</inkml:trace>
  <inkml:trace contextRef="#ctx0" brushRef="#br0" timeOffset="13688.55">11289 9313 0,'0'18'47,"0"0"-47,0-1 0,0 1 0,0 0 16,0-1-16,0 18 0,-18 1 16,18-19-16,0 19 0,0-19 15,0 1-15,0 0 16,0-1-16,0 1 15,0-1-15,-17 1 16,17 0 0,0-1-16,0 1 31,0 0-31,0-1 0,0 1 16,0 0-16</inkml:trace>
  <inkml:trace contextRef="#ctx0" brushRef="#br0" timeOffset="16599.83">9878 7990 0,'0'18'78,"17"-18"-78,-17 18 16,0-1-16,0 1 15,0 0 1,0-1 0,0 1-16,18-18 15,-18 18-15,0-1 16,18-17-16,-18 18 15,0-1-15,0 1 47,0 0-47,0-1 0,17-17 16,-17 18 0,0 0-16</inkml:trace>
  <inkml:trace contextRef="#ctx0" brushRef="#br0" timeOffset="18165.68">4463 9349 0,'0'17'46,"0"1"-30,17 0-16,-17-1 0,0 1 0,0-1 16,0 1-16,18-18 0,0 18 15,-18-1-15,17-17 16,-17 18-16,18-18 31,-1 0-15,1 0-16,0 0 0,-1 0 15,1 0-15,0 0 16,-1-18 0,1 1-16,0 17 15,-18-18-15,17 0 0,1 18 16,-18-17-16,17 17 0,-17-35 16,36 35-16,-36-18 0,0 0 15,17 1-15,1-19 0,-18 19 16,0-1-16,0 0 15,0 1-15,0-1 0,0 0 16,0 1 0,-18 17 31,18-18-47,-17 18 0,-1 0 15,0 0-15,1 0 0,-1 0 16,-17 0-16,0 0 0,17 0 15,-17 0-15,-1 0 16,19 0-16,-1 0 0,1 0 16,-1 0-16,0 0 31,18 18-15,-17-1-16,-1-17 15,0 0 1,18 18-16</inkml:trace>
  <inkml:trace contextRef="#ctx0" brushRef="#br0" timeOffset="22191.51">5715 7691 0,'0'17'125,"0"1"-125,0-1 15,0 1-15,0 0 0,18 17 16,-18 0-16,0-17 0,0 0 16,0 17-16,0-18 0,0 1 15,0 0-15,0-1 16,0 1-16,0 0 16,0-1-16,0 1 0,0 0 15,0-1-15,0 1 0,0 0 16,0-1-16,0 1 78</inkml:trace>
  <inkml:trace contextRef="#ctx0" brushRef="#br0" timeOffset="25845.64">7091 6297 0,'17'0'31,"1"0"-15,0 0-16,-1 0 0,1 0 0,0-18 0,35 18 16,-36 0-16,1 0 15,-1 0 1,1 0 0</inkml:trace>
  <inkml:trace contextRef="#ctx0" brushRef="#br0" timeOffset="26712.75">7514 6015 0,'18'0'0,"-1"0"15,1 0-15,0 0 0,-1 0 16,1 0-16,0 0 0,17 0 16,-17 0-16,17 0 0,-18 0 15,1 0-15,-18 17 31,0 1 1,0 0-32,0-1 0,0 19 0,0-1 15,0 0-15,0 18 16,-35-18-16,35 1 0,-35-1 16,-1 0-16,19 1 15,-19-19-15,36 1 0,0-1 0,-35-17 16,35 18-16,-18-18 0,18 18 15,-17-1-15,-1-17 16,36 0 125,-1 0-141,1 0 0,17 0 15,1 0-15,-1 0 0,-17 0 0,17 0 16,-18 0-16,36 0 0,0 0 0,-17 0 16,-19 0-16,1 0 15,-1 0 16,1 0-31,0 0 0,-1 0 16,1 0-16</inkml:trace>
  <inkml:trace contextRef="#ctx0" brushRef="#br0" timeOffset="43025.63">10813 12718 0,'-18'17'63,"18"1"-63,-18-18 15,18 18 63,0-1-62,0 1 15,0-1 0,0 1-31</inkml:trace>
  <inkml:trace contextRef="#ctx0" brushRef="#br0" timeOffset="50573.23">7056 7179 0,'17'0'94,"-17"18"-94,18-18 0,-1 17 16,1-17-16,0 18 0,-1 0 15,1-18-15,0 17 0,35 18 16,-18-35-16,-18 36 0,1-36 15,0 17-15,-1 1 16,1-18-16,-18 18 0,18-18 16,-1 17-16,1 1 15,-18 0-15,35-1 0,-17 19 16,17-19-16,-17 1 0,-1-1 16,1 1-16,0 0 15,-1-18-15,1 17 0,0-17 16,-18 18-16,0 0 15,17-18-15,1 0 0,-18 17 0,18 1 16,17 0-16,-18 17 0,1-18 16,35 19-16,-18-1 15,-17-35-15,-18 18 16,18-1-16,-1-17 16,-17 18-16,18-18 0,-1 18 15,-17-1-15,18-17 0,0 35 16,-1-17-16,1-18 15,0 18-15,-18-1 0,17-17 16,1 18-16,0-18 16,-18 18-16,0-1 15,17 1-15,1-18 16,-18 18-16,18-1 0,-18 1 16,0 0-16,0-1 15,0 1-15,0-1 16,0 1-16,0 0 15,0-1-15,-18 1 16,0 0-16,-17 17 0,17 0 16,-17 0-16,0 1 0,-1-19 15,19 19-15,-1-36 16,-17 35-16,35-17 0,-18-18 16,1 0-16,-1 17 15,0 1-15,1-18 0,-1 17 16,0 1-16,18 0 15,-17 17-15,-18-35 0,35 18 16,-18-18-16,0 17 0,1-17 16,17 18-16,-18 0 0,18-1 0,-18-17 15,1 18-15,17 0 0,-18 17 16,18-18-16,-18 19 16,1-36-16,17 35 0,0-17 15,0-1 1,0 1-16,0 0 15,-18-18-15,18 17 0,0 18 16,-17-17-16,17 0 16,0 17-16,0-17 0,0-1 15,0 1-15,0 0 16,-18-1-16,18 1 16,0-1-16,0 1 15,0 0-15,0-1 16,0 1-16,0 0 15,0-1-15,0 1 16,0 0-16,-18-18 16,18 17-16,0 1 0,0 17 15,0-17-15,0 17 0,0-17 16,0-1-16,0 36 0,0-17 16,0-1-16,0 0 15,0-17-15,0 17 0,0-17 16,0 17-16,0-17 15,0-1-15,0 1 0,0-1 16,0 1-16,0 0 16,0-1-16,0 1 0,0 0 15,0-1-15,0 1 16,0 0-16,0-1 16,0 1-16,0 0 15,0-1 1,0 1-16,0-1 15,0 1-15,0 0 0,18-18 16,-18 17 0,0 1-16,0 0 15,18-18-15,-1 17 0,-17 1 16,0 0-16,0-1 0,0 1 16,0-1-16,18 1 15,-1 0-15,-17-1 0,0 19 16,0-19-1,18-17-15,-18 18 0,18 0 0,-1-18 16,-17 17-16,0 1 16,18-18-16,-18 17 15,18-17-15,-18 18 0,0 0 16,17-18 0,1 0-1,0 0 1,-18 17-16,17-17 0,1 0 0,-1 18 15,1-18-15,17 18 0,-17-1 16,0 1-16,-1-18 16,1 0-16,0 0 0,-1 0 15,18 0-15,-17 0 16,0 0-16,-1 0 0,1 0 0,0 0 0,-1 0 0,19-18 16,-19 18-16,1-17 0,17 17 0,0 0 15,-17 0-15,35-18 16,-18 0-16,18 1 0,0-19 15,0 19-15,0-18 16,0 17-16,17 0 0,-17 1 16,0-19-16,0 19 15,-18-1-15,1 0 0,-1-17 16,0 18-16,18-19 0,-35 19 16,17-19-16,0 1 15,18 0-15,18-18 0,-18 18 16,17-1-16,1-17 15,-18 18-15,17 0 0,-17 0 16,-17-18-16,-1 53 0,0-53 16,-17 35-16,-1 0 0,19 1 0,-1-1 15,0-35-15,0 53 0,-17-35 16,17 0-16,18-1 16,-35 1-16,17 0 0,1 0 15,-1-18-15,18 0 16,-36 17-16,1 1 0,17 0 15,-17 0-15,17-1 0,-35 1 16,18 0-16,17-18 16,0 18-16,-35-1 0,36 1 15,-19 0-15,-17 0 16,0-1-16,18 1 0,0 17 16,-18 1-16,0-1 15,0-17-15,0 17 0,0 0 16,0 1-16,0-18 0,0 17 15,0-17-15,0 17 16,0 0-16,-18-35 0,18 18 16,0 18-1,0-19-15,-18 19 0,18-1 16,-17-17-16,-1 17 0,18 0 16,0-17-16,0 0 15,-35 17-15,35 1 0,0-19 16,0 19-16,-18-1 15,0 0-15,1-17 0,-1 17 16,18 1-16,0-1 0,-17 18 16,-1-17-16,18-19 0,-35 1 15,17 17-15,18 1 0,-18-1 0,-17-17 16,17 0-16,18 17 16,-35-17-16,18-1 0,-1 1 15,-17 0-15,17 17 16,0-17-16,1 17 0,17-17 15,-18 35-15,-17-18 16,35 1-16,-36-19 0,19 19 16,-18-19-16,-1 1 15,1 0-15,0 0 0,-1-1 16,-16 1-16,-1-18 0,-18 36 16,36-19-16,0 1 15,-1 17-15,-17 1 0,18-1 16,35 0-16,-35-17 15,17 35-15,0 0 0,1-35 0,-18 17 16,-18 1-16,17-19 0,19 19 16,-19-1-16,1 0 15,-18-17-15,36 17 16,-1 18-16,0-17 16,-17-1-16,17 1 0,1-19 15,-36 36-15,35-35 0,1 17 16,-19 1-16,19-1 15,-19 0-15,1 1 0,17 17 16,-17-18-16,18 18 16,-1-17-16,0-1 0,-17 0 15,0 1-15,17 17 16,0 0-16,1-18 0,-18 0 0,17 1 0,-17 17 16,-1-18-16,1 0 15,17 18-15,-17 0 0,18-17 16,-19-1-16,19 18 15,-1 0-15,18-17 16,-35 17-16,17 0 0,0 0 16,1 0-16,-19-18 0,1 18 15,0-18-15,17 18 16,-17 0-16,0 0 0,17 0 16,-17 0-16,17 0 15,1 0-15,-1 0 0,0 0 16,1 0-1,-1 0-15,0 0 16,1 0-16,-1 0 16,0 0-16,1 0 0,-1 0 15,1 0-15,17 18 0,-18 0 16,0-18-16,1 0 16,-19 17-16,19 1 0,-1-1 15,-17 1-15,17-18 16,-17 35-16,17-17 0,-17 0 15,35-1-15,-35 1 0,35 0 16,-36-1-16,19 1 16,17-1-16,-36 19 0,36-19 15,-35 1-15,18 0 16,-1 35-16,18-36 0,-18 1 16,18 35-16,-17-53 0,17 17 15,-18 1-15,18 17 0,0-17 16,0 0-16,0-1 0,0 1 15,0 0-15,18-1 16,-18 1-16,0-1 0,0 19 16,17-19-16,1 19 15,0-1-15,-18 0 0,17-17 16,1-1-16,-18 1 0,0 0 16,17 17-16,1-35 15,-18 18-15,0-1 16,0 1-1,18-18-15,-18 18 16,17-18-16,-17 17 0,18-17 16</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10:26:09.526"/>
    </inkml:context>
    <inkml:brush xml:id="br0">
      <inkml:brushProperty name="width" value="0.05292" units="cm"/>
      <inkml:brushProperty name="height" value="0.05292" units="cm"/>
      <inkml:brushProperty name="color" value="#FF0000"/>
    </inkml:brush>
  </inkml:definitions>
  <inkml:trace contextRef="#ctx0" brushRef="#br0">10760 8872 0,'0'18'78,"0"0"-78,0 17 0,0 35 0,0 19 16,-18-1-16,18-18 0,-18 19 16,18-19-16,0-35 15,0 1-15,0-1 0,0-17 16</inkml:trace>
  <inkml:trace contextRef="#ctx0" brushRef="#br0" timeOffset="678.16">11395 8749 0,'0'18'62,"0"-1"-46,0 1-16,0-1 0,0 1 0,0 0 15,0 17-15,0-17 16,17 17-16,1-17 0,35-1 16,-35 1-16,17 17 15,0-35-15,0 35 0,18-17 16,-17-18-16,-19 18 0,18-18 0,-17 17 16,0-17-16,35 18 0,-18 0 0,18-18 15,-18 0-15,0 0 0,1 17 16,17-17-16,-36 0 15</inkml:trace>
  <inkml:trace contextRef="#ctx0" brushRef="#br0" timeOffset="1064.83">11889 8837 0,'0'18'15,"-18"-1"1,18 1-16,-18 0 0,1 17 16,17 0-16,-36 18 0,19 0 15,-1 0-15,0-53 0,18 53 0,-35 0 16,18-18-16,17 0 15,-18-17-15,0 17 0,18-17 16,0 0-16,-17-18 16,17 17-16,0 1 31,0-1-15,-18-17-16</inkml:trace>
  <inkml:trace contextRef="#ctx0" brushRef="#br0" timeOffset="4354.05">15240 7373 0,'18'0'0,"-1"0"0,36-18 16,-18 1-16,18-1 16,0 0-16,18 1 0,-1-18 15,-17 17-15,0 0 16,0-17-16,-18 17 0,1 1 15,-19-1-15,1 0 16,-18 1-16,18 17 0,-18-18 0,17 18 0,-17-17 16,18 17-16,-18-18 0,18 18 0,-18-18 15,0 1-15,0-1 0,0 0 16,0 1-16,0-1 0,17 0 16,-17 1-16,0-1 15,0 1-15,0-1 16,0 0-16,-17 18 15,17-17 1,-18 17-16,0 0 0,1-18 16,-1 18-16,0-18 15,1 18-15,-1 0 0,-17 0 16,0 0-16,17 0 16,0 0-16,1 0 0,-1 0 0,0 0 15,1 18-15,17 0 16,-36-18-16,36 53 0,-35-36 15,17 18-15,1 1 0,-1 17 16,18 0-16,-17-1 16,17 1-16,0-35 0,0 0 15,0 17-15,0 0 16,0 0-16,17 1 0,1-1 16,-18 0-16,17 18 15,-17-17-15,0-19 0,0 18 16,0 1-16,0-19 15,0 19-15,0-19 16,-17 1 0,-1-18-16,1 0 15,-1 0-15,0 0 0,1 0 16,-1 0-16,18-18 16,-18 18-16,1 0 0,17-17 15,-18-1-15,18 0 0,0-17 16,0 17-16,0-17 15,0 0-15,35 0 0,1-1 16,17-17-16,-18 18 0,-18 0 16,19 17-16,-19 1 15,1-19-15,-18 19 0,18 17 78</inkml:trace>
  <inkml:trace contextRef="#ctx0" brushRef="#br0" timeOffset="4736.91">16581 7602 0,'0'18'47,"0"0"-47,17-18 31,1 0-15,-1 0-16,1 0 0,0 0 0,-1-36 16,36 19-16,-53-19 0,36 1 15,-1 0-15,-18 0 16,19-1-16,-36 1 0,35 0 15,-35 17-15,18 0 0</inkml:trace>
  <inkml:trace contextRef="#ctx0" brushRef="#br0" timeOffset="5288.68">17180 6844 0,'0'0'0,"18"0"0,0 0 0,17 0 16,-18 0-16,1 0 0,17 0 0,1 18 15,-19-18-15,1 0 0,0 17 0,-1-17 16,1 0-16,-1 18 15,-17-1-15,0 1 16,0 0-16,0-1 0,-17 19 16,-18-19-16,17 19 0,-17-19 15,-1 1-15,1 17 16,17-35-16,-17 18 0,53-18 47,-1 0-47,1 0 15,0 0-15,-1 0 0,19 0 16,-1 17-16,-35 1 16,0 0-16,0-1 15,0 1-15,0 0 0,0-1 0,0 1 0,0 35 16,-18-18-16,-17 0 0,17 1 16,1-19-16,-1 1 15,18-36 32,0 1-47,0-1 0,18 18 0,-18-18 0,0-17 16,35 0-16,-17 17 15,-1-17-15</inkml:trace>
  <inkml:trace contextRef="#ctx0" brushRef="#br0" timeOffset="5773.96">17657 6826 0,'0'18'16,"-18"-18"-16,18 18 15,-18-1-15,18 1 0,-17 35 0,-1 17 16,0-52-16,1 52 0,17-17 16,0 0-16,0-35 0,0 17 0,0 0 15,0 1-15,0-19 0,0 19 16,17-36-16,1 0 15,17 17-15,-17-17 0,17 0 16,0 0-16,-17 0 16,0 0-16,-1 0 0,-17-17 15,0-1-15,18 0 16,-18-17-16,0 17 0,0 1 16,0-18-16,0-1 0,0 19 15,-18-1 1,1 18-16,17-18 0,-18 18 15,0 0-15,1 0 16,-1 0-16,1 0 16,-1 0-1</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1-10T10:31:54.607"/>
    </inkml:context>
    <inkml:brush xml:id="br0">
      <inkml:brushProperty name="width" value="0.05292" units="cm"/>
      <inkml:brushProperty name="height" value="0.05292" units="cm"/>
      <inkml:brushProperty name="color" value="#FF0000"/>
    </inkml:brush>
  </inkml:definitions>
  <inkml:trace contextRef="#ctx0" brushRef="#br0">17127 2046 0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8788"/>
          </a:xfrm>
          <a:prstGeom prst="rect">
            <a:avLst/>
          </a:prstGeom>
          <a:noFill/>
          <a:ln w="9525">
            <a:noFill/>
            <a:miter lim="800000"/>
          </a:ln>
        </p:spPr>
        <p:txBody>
          <a:bodyPr vert="horz" wrap="square" lIns="91440" tIns="45720" rIns="91440" bIns="45720" numCol="1" anchor="t" anchorCtr="0" compatLnSpc="1"/>
          <a:lstStyle>
            <a:lvl1pPr>
              <a:defRPr sz="1200"/>
            </a:lvl1pPr>
          </a:lstStyle>
          <a:p>
            <a:endParaRPr lang="zh-CN" altLang="zh-CN"/>
          </a:p>
        </p:txBody>
      </p:sp>
      <p:sp>
        <p:nvSpPr>
          <p:cNvPr id="2051" name="日期占位符 2"/>
          <p:cNvSpPr>
            <a:spLocks noGrp="1" noChangeArrowheads="1"/>
          </p:cNvSpPr>
          <p:nvPr>
            <p:ph type="dt" idx="1"/>
          </p:nvPr>
        </p:nvSpPr>
        <p:spPr bwMode="auto">
          <a:xfrm>
            <a:off x="3884613" y="0"/>
            <a:ext cx="2971800" cy="458788"/>
          </a:xfrm>
          <a:prstGeom prst="rect">
            <a:avLst/>
          </a:prstGeom>
          <a:noFill/>
          <a:ln w="9525">
            <a:noFill/>
            <a:miter lim="800000"/>
          </a:ln>
        </p:spPr>
        <p:txBody>
          <a:bodyPr vert="horz" wrap="square" lIns="91440" tIns="45720" rIns="91440" bIns="45720" numCol="1" anchor="t" anchorCtr="0" compatLnSpc="1"/>
          <a:lstStyle>
            <a:lvl1pPr algn="r">
              <a:defRPr/>
            </a:lvl1pPr>
          </a:lstStyle>
          <a:p>
            <a:fld id="{9DD59B10-E385-4D3C-A0B0-F174EA9AA91B}" type="datetime1">
              <a:rPr lang="zh-CN" altLang="en-US"/>
              <a:t>2024/1/10</a:t>
            </a:fld>
            <a:endParaRPr lang="zh-CN" altLang="en-US" sz="1200"/>
          </a:p>
        </p:txBody>
      </p:sp>
      <p:sp>
        <p:nvSpPr>
          <p:cNvPr id="2052" name="幻灯片图像占位符 3"/>
          <p:cNvSpPr>
            <a:spLocks noGrp="1" noRot="1" noChangeAspect="1" noChangeArrowheads="1"/>
          </p:cNvSpPr>
          <p:nvPr>
            <p:ph type="sldImg" idx="2"/>
          </p:nvPr>
        </p:nvSpPr>
        <p:spPr bwMode="auto">
          <a:xfrm>
            <a:off x="685800" y="1143000"/>
            <a:ext cx="5486400" cy="3086100"/>
          </a:xfrm>
          <a:prstGeom prst="rect">
            <a:avLst/>
          </a:prstGeom>
          <a:noFill/>
          <a:ln w="12700" cmpd="sng">
            <a:noFill/>
            <a:bevel/>
          </a:ln>
        </p:spPr>
      </p:sp>
      <p:sp>
        <p:nvSpPr>
          <p:cNvPr id="2053" name="备注占位符 4"/>
          <p:cNvSpPr>
            <a:spLocks noGrp="1" noRot="1" noChangeAspect="1" noChangeArrowheads="1"/>
          </p:cNvSpPr>
          <p:nvPr/>
        </p:nvSpPr>
        <p:spPr bwMode="auto">
          <a:xfrm>
            <a:off x="685800" y="4400550"/>
            <a:ext cx="5486400" cy="3600450"/>
          </a:xfrm>
          <a:prstGeom prst="rect">
            <a:avLst/>
          </a:prstGeom>
          <a:noFill/>
          <a:ln w="12700" cmpd="sng">
            <a:noFill/>
            <a:bevel/>
          </a:ln>
        </p:spPr>
        <p:txBody>
          <a:bodyPr anchor="ctr"/>
          <a:lstStyle/>
          <a:p>
            <a:pPr defTabSz="0" eaLnBrk="0" hangingPunct="0">
              <a:spcBef>
                <a:spcPct val="30000"/>
              </a:spcBef>
              <a:buFontTx/>
              <a:buNone/>
            </a:pPr>
            <a:r>
              <a:rPr lang="zh-CN" altLang="en-US" sz="1200"/>
              <a:t>单击此处编辑母版文本样式</a:t>
            </a:r>
          </a:p>
          <a:p>
            <a:pPr defTabSz="0" eaLnBrk="0" hangingPunct="0">
              <a:spcBef>
                <a:spcPct val="30000"/>
              </a:spcBef>
              <a:buFontTx/>
              <a:buNone/>
            </a:pPr>
            <a:r>
              <a:rPr lang="zh-CN" altLang="en-US" sz="1200"/>
              <a:t>第二级</a:t>
            </a:r>
          </a:p>
          <a:p>
            <a:pPr defTabSz="0" eaLnBrk="0" hangingPunct="0">
              <a:spcBef>
                <a:spcPct val="30000"/>
              </a:spcBef>
              <a:buFontTx/>
              <a:buNone/>
            </a:pPr>
            <a:r>
              <a:rPr lang="zh-CN" altLang="en-US" sz="1200"/>
              <a:t>第三级</a:t>
            </a:r>
          </a:p>
          <a:p>
            <a:pPr defTabSz="0" eaLnBrk="0" hangingPunct="0">
              <a:spcBef>
                <a:spcPct val="30000"/>
              </a:spcBef>
              <a:buFontTx/>
              <a:buNone/>
            </a:pPr>
            <a:r>
              <a:rPr lang="zh-CN" altLang="en-US" sz="1200"/>
              <a:t>第四级</a:t>
            </a:r>
          </a:p>
          <a:p>
            <a:pPr defTabSz="0" eaLnBrk="0" hangingPunct="0">
              <a:spcBef>
                <a:spcPct val="30000"/>
              </a:spcBef>
              <a:buFontTx/>
              <a:buNone/>
            </a:pPr>
            <a:r>
              <a:rPr lang="zh-CN" altLang="en-US" sz="1200"/>
              <a:t>第五级</a:t>
            </a:r>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w="9525">
            <a:noFill/>
            <a:miter lim="800000"/>
          </a:ln>
        </p:spPr>
        <p:txBody>
          <a:bodyPr vert="horz" wrap="square" lIns="91440" tIns="45720" rIns="91440" bIns="45720" numCol="1" anchor="b" anchorCtr="0" compatLnSpc="1"/>
          <a:lstStyle>
            <a:lvl1pPr>
              <a:defRPr sz="1200"/>
            </a:lvl1pPr>
          </a:lstStyle>
          <a:p>
            <a:endParaRPr lang="zh-CN" altLang="zh-CN"/>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w="9525">
            <a:noFill/>
            <a:miter lim="800000"/>
          </a:ln>
        </p:spPr>
        <p:txBody>
          <a:bodyPr vert="horz" wrap="square" lIns="91440" tIns="45720" rIns="91440" bIns="45720" numCol="1" anchor="b" anchorCtr="0" compatLnSpc="1"/>
          <a:lstStyle>
            <a:lvl1pPr algn="r">
              <a:defRPr/>
            </a:lvl1pPr>
          </a:lstStyle>
          <a:p>
            <a:fld id="{79B3A261-A9C9-4EB5-901F-E33BE236AA87}" type="slidenum">
              <a:rPr lang="zh-CN" altLang="en-US"/>
              <a:t>‹#›</a:t>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3085" name="文本框 42"/>
          <p:cNvSpPr>
            <a:spLocks noChangeArrowheads="1"/>
          </p:cNvSpPr>
          <p:nvPr userDrawn="1"/>
        </p:nvSpPr>
        <p:spPr bwMode="auto">
          <a:xfrm>
            <a:off x="5067300" y="6322695"/>
            <a:ext cx="2606675" cy="260350"/>
          </a:xfrm>
          <a:prstGeom prst="rect">
            <a:avLst/>
          </a:prstGeom>
          <a:noFill/>
          <a:ln w="9525">
            <a:noFill/>
            <a:miter lim="800000"/>
          </a:ln>
        </p:spPr>
        <p:txBody>
          <a:bodyPr>
            <a:spAutoFit/>
          </a:bodyPr>
          <a:lstStyle/>
          <a:p>
            <a:pPr algn="dist"/>
            <a:r>
              <a:rPr lang="zh-CN" altLang="en-US" sz="1100" dirty="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p>
        </p:txBody>
      </p:sp>
      <p:sp>
        <p:nvSpPr>
          <p:cNvPr id="15" name="直接连接符 40"/>
          <p:cNvSpPr>
            <a:spLocks noChangeShapeType="1"/>
          </p:cNvSpPr>
          <p:nvPr userDrawn="1"/>
        </p:nvSpPr>
        <p:spPr bwMode="auto">
          <a:xfrm>
            <a:off x="-7302" y="6426835"/>
            <a:ext cx="4319587" cy="12700"/>
          </a:xfrm>
          <a:prstGeom prst="line">
            <a:avLst/>
          </a:prstGeom>
          <a:noFill/>
          <a:ln w="3175" cap="flat" cmpd="sng">
            <a:solidFill>
              <a:srgbClr val="28A9D6"/>
            </a:solidFill>
            <a:bevel/>
          </a:ln>
        </p:spPr>
        <p:txBody>
          <a:bodyPr/>
          <a:lstStyle/>
          <a:p>
            <a:endParaRPr lang="zh-CN" altLang="en-US"/>
          </a:p>
        </p:txBody>
      </p:sp>
      <p:pic>
        <p:nvPicPr>
          <p:cNvPr id="20" name="图片 19" descr="图片1"/>
          <p:cNvPicPr>
            <a:picLocks noChangeAspect="1"/>
          </p:cNvPicPr>
          <p:nvPr userDrawn="1"/>
        </p:nvPicPr>
        <p:blipFill>
          <a:blip r:embed="rId2"/>
          <a:stretch>
            <a:fillRect/>
          </a:stretch>
        </p:blipFill>
        <p:spPr>
          <a:xfrm>
            <a:off x="4240530" y="6153785"/>
            <a:ext cx="869950" cy="582295"/>
          </a:xfrm>
          <a:prstGeom prst="rect">
            <a:avLst/>
          </a:prstGeom>
        </p:spPr>
      </p:pic>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lstStyle/>
          <a:p>
            <a:pPr algn="ctr"/>
            <a:endParaRPr lang="zh-CN" altLang="zh-CN">
              <a:solidFill>
                <a:srgbClr val="FFFFFF"/>
              </a:solidFill>
            </a:endParaRPr>
          </a:p>
        </p:txBody>
      </p:sp>
      <p:sp>
        <p:nvSpPr>
          <p:cNvPr id="1026" name="灯片编号占位符 3"/>
          <p:cNvSpPr>
            <a:spLocks noGrp="1" noChangeArrowheads="1"/>
          </p:cNvSpPr>
          <p:nvPr>
            <p:ph type="sldNum" sz="quarter" idx="4"/>
          </p:nvPr>
        </p:nvSpPr>
        <p:spPr bwMode="auto">
          <a:xfrm>
            <a:off x="11376025" y="648366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t>‹#›</a:t>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lstStyle/>
          <a:p>
            <a:pPr algn="ctr"/>
            <a:endParaRPr lang="zh-CN" altLang="zh-CN">
              <a:solidFill>
                <a:srgbClr val="FFFFFF"/>
              </a:solidFill>
            </a:endParaRPr>
          </a:p>
        </p:txBody>
      </p:sp>
      <p:sp>
        <p:nvSpPr>
          <p:cNvPr id="1026" name="灯片编号占位符 3"/>
          <p:cNvSpPr>
            <a:spLocks noGrp="1" noChangeArrowheads="1"/>
          </p:cNvSpPr>
          <p:nvPr>
            <p:ph type="sldNum" sz="quarter" idx="4"/>
          </p:nvPr>
        </p:nvSpPr>
        <p:spPr bwMode="auto">
          <a:xfrm>
            <a:off x="11376025" y="648366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t>‹#›</a:t>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4707255" y="283210"/>
            <a:ext cx="2707640" cy="645160"/>
          </a:xfrm>
          <a:prstGeom prst="rect">
            <a:avLst/>
          </a:prstGeom>
          <a:noFill/>
          <a:ln w="9525">
            <a:noFill/>
            <a:miter lim="800000"/>
          </a:ln>
        </p:spPr>
        <p:txBody>
          <a:bodyPr wrap="square">
            <a:spAutoFit/>
          </a:bodyPr>
          <a:lstStyle/>
          <a:p>
            <a:pPr algn="dist"/>
            <a:r>
              <a:rPr lang="zh-CN" altLang="en-US" sz="3600" b="1" dirty="0">
                <a:solidFill>
                  <a:srgbClr val="3F3F3F"/>
                </a:solidFill>
                <a:latin typeface="宋体" panose="02010600030101010101" pitchFamily="2" charset="-122"/>
                <a:ea typeface="微软雅黑" panose="020B0503020204020204" pitchFamily="34" charset="-122"/>
                <a:sym typeface="宋体" panose="02010600030101010101" pitchFamily="2" charset="-122"/>
              </a:rPr>
              <a:t>上次回顾</a:t>
            </a: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t>‹#›</a:t>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2" name="椭圆 24"/>
          <p:cNvSpPr>
            <a:spLocks noChangeArrowheads="1"/>
          </p:cNvSpPr>
          <p:nvPr userDrawn="1"/>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t>‹#›</a:t>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5044440" y="283210"/>
            <a:ext cx="2038350" cy="645160"/>
          </a:xfrm>
          <a:prstGeom prst="rect">
            <a:avLst/>
          </a:prstGeom>
          <a:noFill/>
          <a:ln w="9525">
            <a:noFill/>
            <a:miter lim="800000"/>
          </a:ln>
        </p:spPr>
        <p:txBody>
          <a:bodyPr wrap="square">
            <a:spAutoFit/>
          </a:bodyPr>
          <a:lstStyle/>
          <a:p>
            <a:pPr algn="dist"/>
            <a:r>
              <a:rPr lang="zh-CN" altLang="en-US" sz="3600" b="1" dirty="0">
                <a:solidFill>
                  <a:srgbClr val="3F3F3F"/>
                </a:solidFill>
                <a:latin typeface="宋体" panose="02010600030101010101" pitchFamily="2" charset="-122"/>
                <a:ea typeface="微软雅黑" panose="020B0503020204020204" pitchFamily="34" charset="-122"/>
                <a:sym typeface="宋体" panose="02010600030101010101" pitchFamily="2" charset="-122"/>
              </a:rPr>
              <a:t>总结</a:t>
            </a: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t>‹#›</a:t>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10" name="图片 9" descr="SZU讲义封面"/>
          <p:cNvPicPr>
            <a:picLocks noChangeAspect="1"/>
          </p:cNvPicPr>
          <p:nvPr userDrawn="1"/>
        </p:nvPicPr>
        <p:blipFill>
          <a:blip r:embed="rId2"/>
          <a:stretch>
            <a:fillRect/>
          </a:stretch>
        </p:blipFill>
        <p:spPr>
          <a:xfrm>
            <a:off x="0" y="1905"/>
            <a:ext cx="12192000" cy="4400550"/>
          </a:xfrm>
          <a:prstGeom prst="rect">
            <a:avLst/>
          </a:prstGeom>
        </p:spPr>
      </p:pic>
      <p:sp>
        <p:nvSpPr>
          <p:cNvPr id="3075" name="矩形 1"/>
          <p:cNvSpPr>
            <a:spLocks noChangeArrowheads="1"/>
          </p:cNvSpPr>
          <p:nvPr userDrawn="1"/>
        </p:nvSpPr>
        <p:spPr bwMode="auto">
          <a:xfrm>
            <a:off x="635" y="4088765"/>
            <a:ext cx="12192000" cy="824865"/>
          </a:xfrm>
          <a:prstGeom prst="rect">
            <a:avLst/>
          </a:prstGeom>
          <a:solidFill>
            <a:srgbClr val="28A9D6"/>
          </a:solidFill>
          <a:ln w="9525" cmpd="sng">
            <a:noFill/>
            <a:bevel/>
          </a:ln>
        </p:spPr>
        <p:txBody>
          <a:bodyPr lIns="121920" tIns="60960" rIns="121920" bIns="60960" anchor="ctr" anchorCtr="0"/>
          <a:lstStyle/>
          <a:p>
            <a:pPr algn="ctr"/>
            <a:endParaRPr lang="en-US" altLang="zh-CN" sz="3600">
              <a:solidFill>
                <a:srgbClr val="FFFF00"/>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3" name="组合 2"/>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a:solidFill>
                    <a:srgbClr val="00B0F0"/>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en-US" altLang="zh-CN" sz="1200" b="1" dirty="0">
                <a:solidFill>
                  <a:srgbClr val="00B0F0"/>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6" name="Picture 3"/>
            <p:cNvPicPr>
              <a:picLocks noChangeAspect="1" noChangeArrowheads="1"/>
            </p:cNvPicPr>
            <p:nvPr userDrawn="1"/>
          </p:nvPicPr>
          <p:blipFill>
            <a:blip r:embed="rId3"/>
            <a:srcRect/>
            <a:stretch>
              <a:fillRect/>
            </a:stretch>
          </p:blipFill>
          <p:spPr bwMode="auto">
            <a:xfrm>
              <a:off x="6934" y="9160"/>
              <a:ext cx="1101" cy="1101"/>
            </a:xfrm>
            <a:prstGeom prst="rect">
              <a:avLst/>
            </a:prstGeom>
            <a:noFill/>
            <a:ln w="9525">
              <a:noFill/>
              <a:miter lim="800000"/>
              <a:headEnd/>
              <a:tailEnd/>
            </a:ln>
            <a:effectLst/>
          </p:spPr>
        </p:pic>
      </p:grpSp>
      <p:grpSp>
        <p:nvGrpSpPr>
          <p:cNvPr id="4" name="组合 3"/>
          <p:cNvGrpSpPr/>
          <p:nvPr userDrawn="1"/>
        </p:nvGrpSpPr>
        <p:grpSpPr>
          <a:xfrm>
            <a:off x="948055" y="5455920"/>
            <a:ext cx="10026650" cy="398780"/>
            <a:chOff x="1493" y="8366"/>
            <a:chExt cx="15790" cy="628"/>
          </a:xfrm>
        </p:grpSpPr>
        <p:sp>
          <p:nvSpPr>
            <p:cNvPr id="7175" name="直接连接符 29"/>
            <p:cNvSpPr/>
            <p:nvPr userDrawn="1"/>
          </p:nvSpPr>
          <p:spPr>
            <a:xfrm>
              <a:off x="1493" y="8671"/>
              <a:ext cx="5983" cy="22"/>
            </a:xfrm>
            <a:prstGeom prst="line">
              <a:avLst/>
            </a:prstGeom>
            <a:ln w="3175" cap="flat" cmpd="sng">
              <a:solidFill>
                <a:srgbClr val="28A9D6"/>
              </a:solidFill>
              <a:prstDash val="solid"/>
              <a:bevel/>
              <a:headEnd type="none" w="med" len="med"/>
              <a:tailEnd type="none" w="med" len="med"/>
            </a:ln>
          </p:spPr>
        </p:sp>
        <p:sp>
          <p:nvSpPr>
            <p:cNvPr id="7178" name="直接连接符 40"/>
            <p:cNvSpPr/>
            <p:nvPr userDrawn="1"/>
          </p:nvSpPr>
          <p:spPr>
            <a:xfrm>
              <a:off x="11671" y="8672"/>
              <a:ext cx="5612" cy="21"/>
            </a:xfrm>
            <a:prstGeom prst="line">
              <a:avLst/>
            </a:prstGeom>
            <a:ln w="3175" cap="flat" cmpd="sng">
              <a:solidFill>
                <a:srgbClr val="28A9D6"/>
              </a:solidFill>
              <a:prstDash val="solid"/>
              <a:bevel/>
              <a:headEnd type="none" w="med" len="med"/>
              <a:tailEnd type="none" w="med" len="med"/>
            </a:ln>
          </p:spPr>
        </p:sp>
        <p:sp>
          <p:nvSpPr>
            <p:cNvPr id="7181" name="TextBox 14"/>
            <p:cNvSpPr txBox="1"/>
            <p:nvPr userDrawn="1"/>
          </p:nvSpPr>
          <p:spPr>
            <a:xfrm>
              <a:off x="8491" y="8366"/>
              <a:ext cx="2479" cy="628"/>
            </a:xfrm>
            <a:prstGeom prst="rect">
              <a:avLst/>
            </a:prstGeom>
            <a:noFill/>
            <a:ln w="9525">
              <a:noFill/>
            </a:ln>
          </p:spPr>
          <p:txBody>
            <a:bodyPr wrap="square" anchor="t">
              <a:spAutoFit/>
            </a:bodyPr>
            <a:lstStyle/>
            <a:p>
              <a:pPr algn="dist"/>
              <a:r>
                <a:rPr lang="zh-CN" altLang="en-US" sz="2000" dirty="0">
                  <a:latin typeface="Tahoma" panose="020B0604030504040204" charset="0"/>
                  <a:ea typeface="宋体" panose="02010600030101010101" pitchFamily="2" charset="-122"/>
                </a:rPr>
                <a:t>主讲白鉴聪</a:t>
              </a:r>
            </a:p>
          </p:txBody>
        </p:sp>
      </p:grpSp>
      <p:grpSp>
        <p:nvGrpSpPr>
          <p:cNvPr id="5" name="组合 4"/>
          <p:cNvGrpSpPr/>
          <p:nvPr userDrawn="1"/>
        </p:nvGrpSpPr>
        <p:grpSpPr>
          <a:xfrm>
            <a:off x="1198245" y="5008880"/>
            <a:ext cx="9531350" cy="398780"/>
            <a:chOff x="1868" y="8366"/>
            <a:chExt cx="15010" cy="628"/>
          </a:xfrm>
        </p:grpSpPr>
        <p:sp>
          <p:nvSpPr>
            <p:cNvPr id="7" name="直接连接符 29"/>
            <p:cNvSpPr/>
            <p:nvPr userDrawn="1"/>
          </p:nvSpPr>
          <p:spPr>
            <a:xfrm>
              <a:off x="1868" y="8671"/>
              <a:ext cx="5159" cy="21"/>
            </a:xfrm>
            <a:prstGeom prst="line">
              <a:avLst/>
            </a:prstGeom>
            <a:ln w="3175" cap="flat" cmpd="sng">
              <a:solidFill>
                <a:srgbClr val="28A9D6"/>
              </a:solidFill>
              <a:prstDash val="solid"/>
              <a:bevel/>
              <a:headEnd type="none" w="med" len="med"/>
              <a:tailEnd type="none" w="med" len="med"/>
            </a:ln>
          </p:spPr>
        </p:sp>
        <p:sp>
          <p:nvSpPr>
            <p:cNvPr id="8" name="直接连接符 40"/>
            <p:cNvSpPr/>
            <p:nvPr userDrawn="1"/>
          </p:nvSpPr>
          <p:spPr>
            <a:xfrm>
              <a:off x="11897" y="8692"/>
              <a:ext cx="4981" cy="2"/>
            </a:xfrm>
            <a:prstGeom prst="line">
              <a:avLst/>
            </a:prstGeom>
            <a:ln w="3175" cap="flat" cmpd="sng">
              <a:solidFill>
                <a:srgbClr val="28A9D6"/>
              </a:solidFill>
              <a:prstDash val="solid"/>
              <a:bevel/>
              <a:headEnd type="none" w="med" len="med"/>
              <a:tailEnd type="none" w="med" len="med"/>
            </a:ln>
          </p:spPr>
        </p:sp>
        <p:sp>
          <p:nvSpPr>
            <p:cNvPr id="9" name="TextBox 14"/>
            <p:cNvSpPr txBox="1"/>
            <p:nvPr userDrawn="1"/>
          </p:nvSpPr>
          <p:spPr>
            <a:xfrm>
              <a:off x="7792" y="8366"/>
              <a:ext cx="3621" cy="628"/>
            </a:xfrm>
            <a:prstGeom prst="rect">
              <a:avLst/>
            </a:prstGeom>
            <a:noFill/>
            <a:ln w="9525">
              <a:noFill/>
            </a:ln>
          </p:spPr>
          <p:txBody>
            <a:bodyPr wrap="square" anchor="t">
              <a:spAutoFit/>
            </a:bodyPr>
            <a:lstStyle/>
            <a:p>
              <a:pPr algn="dist"/>
              <a:r>
                <a:rPr lang="zh-CN" altLang="en-US" sz="2000" dirty="0">
                  <a:latin typeface="Tahoma" panose="020B0604030504040204" charset="0"/>
                  <a:ea typeface="宋体" panose="02010600030101010101" pitchFamily="2" charset="-122"/>
                </a:rPr>
                <a:t>数据结构</a:t>
              </a:r>
            </a:p>
          </p:txBody>
        </p:sp>
      </p:gr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075" name="矩形 1"/>
          <p:cNvSpPr>
            <a:spLocks noChangeArrowheads="1"/>
          </p:cNvSpPr>
          <p:nvPr userDrawn="1"/>
        </p:nvSpPr>
        <p:spPr bwMode="auto">
          <a:xfrm>
            <a:off x="0" y="4728210"/>
            <a:ext cx="12192000" cy="903605"/>
          </a:xfrm>
          <a:prstGeom prst="rect">
            <a:avLst/>
          </a:prstGeom>
          <a:solidFill>
            <a:srgbClr val="28A9D6"/>
          </a:solidFill>
          <a:ln w="9525" cmpd="sng">
            <a:noFill/>
            <a:bevel/>
          </a:ln>
        </p:spPr>
        <p:txBody>
          <a:bodyPr lIns="121920" tIns="60960" rIns="121920" bIns="60960" anchor="ctr" anchorCtr="0"/>
          <a:lstStyle/>
          <a:p>
            <a:pPr algn="ctr"/>
            <a:r>
              <a:rPr lang="zh-CN" altLang="zh-CN" sz="4000">
                <a:solidFill>
                  <a:srgbClr val="FFFF00"/>
                </a:solidFill>
                <a:latin typeface="宋体" panose="02010600030101010101" pitchFamily="2" charset="-122"/>
                <a:ea typeface="微软雅黑" panose="020B0503020204020204" pitchFamily="34" charset="-122"/>
                <a:sym typeface="宋体" panose="02010600030101010101" pitchFamily="2" charset="-122"/>
              </a:rPr>
              <a:t>谢谢观看</a:t>
            </a:r>
          </a:p>
        </p:txBody>
      </p:sp>
      <p:sp>
        <p:nvSpPr>
          <p:cNvPr id="3076" name="直接连接符 24"/>
          <p:cNvSpPr>
            <a:spLocks noChangeShapeType="1"/>
          </p:cNvSpPr>
          <p:nvPr userDrawn="1"/>
        </p:nvSpPr>
        <p:spPr bwMode="auto">
          <a:xfrm>
            <a:off x="0" y="5665153"/>
            <a:ext cx="12192000" cy="1587"/>
          </a:xfrm>
          <a:prstGeom prst="line">
            <a:avLst/>
          </a:prstGeom>
          <a:noFill/>
          <a:ln w="19050" cap="flat" cmpd="sng">
            <a:solidFill>
              <a:srgbClr val="28A9D6"/>
            </a:solidFill>
            <a:bevel/>
          </a:ln>
        </p:spPr>
        <p:txBody>
          <a:bodyPr/>
          <a:lstStyle/>
          <a:p>
            <a:endParaRPr lang="zh-CN" altLang="en-US"/>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4" name="组合 3"/>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a:solidFill>
                    <a:srgbClr val="00B0F0"/>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en-US" altLang="zh-CN" sz="1200" b="1" dirty="0">
                <a:solidFill>
                  <a:srgbClr val="00B0F0"/>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6" name="Picture 3"/>
            <p:cNvPicPr>
              <a:picLocks noChangeAspect="1" noChangeArrowheads="1"/>
            </p:cNvPicPr>
            <p:nvPr userDrawn="1"/>
          </p:nvPicPr>
          <p:blipFill>
            <a:blip r:embed="rId2"/>
            <a:srcRect/>
            <a:stretch>
              <a:fillRect/>
            </a:stretch>
          </p:blipFill>
          <p:spPr bwMode="auto">
            <a:xfrm>
              <a:off x="6934" y="9160"/>
              <a:ext cx="1101" cy="1101"/>
            </a:xfrm>
            <a:prstGeom prst="rect">
              <a:avLst/>
            </a:prstGeom>
            <a:noFill/>
            <a:ln w="9525">
              <a:noFill/>
              <a:miter lim="800000"/>
              <a:headEnd/>
              <a:tailEnd/>
            </a:ln>
            <a:effectLst/>
          </p:spPr>
        </p:pic>
      </p:grpSp>
      <p:pic>
        <p:nvPicPr>
          <p:cNvPr id="2" name="图片 1" descr="SZU讲义尾页"/>
          <p:cNvPicPr>
            <a:picLocks noChangeAspect="1"/>
          </p:cNvPicPr>
          <p:nvPr userDrawn="1"/>
        </p:nvPicPr>
        <p:blipFill>
          <a:blip r:embed="rId3"/>
          <a:stretch>
            <a:fillRect/>
          </a:stretch>
        </p:blipFill>
        <p:spPr>
          <a:xfrm>
            <a:off x="0" y="-35560"/>
            <a:ext cx="12191365" cy="4763770"/>
          </a:xfrm>
          <a:prstGeom prst="rect">
            <a:avLst/>
          </a:prstGeom>
        </p:spPr>
      </p:pic>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5144135"/>
          </a:xfrm>
        </p:spPr>
        <p:txBody>
          <a:bodyPr/>
          <a:lstStyle>
            <a:lvl1pPr>
              <a:buFont typeface="Wingdings" panose="05000000000000000000" charset="0"/>
              <a:buChar char="l"/>
              <a:defRPr sz="2800">
                <a:sym typeface="宋体" panose="02010600030101010101" pitchFamily="2" charset="-122"/>
              </a:defRPr>
            </a:lvl1pPr>
            <a:lvl2pPr>
              <a:defRPr sz="2400">
                <a:sym typeface="宋体" panose="02010600030101010101" pitchFamily="2" charset="-122"/>
              </a:defRPr>
            </a:lvl2pPr>
            <a:lvl3pPr>
              <a:buFont typeface="Arial" panose="020B0604020202020204" pitchFamily="34" charset="0"/>
              <a:buChar char="•"/>
              <a:defRPr sz="2000">
                <a:sym typeface="宋体" panose="02010600030101010101" pitchFamily="2" charset="-122"/>
              </a:defRPr>
            </a:lvl3pPr>
            <a:lvl4pPr>
              <a:defRPr sz="2000">
                <a:sym typeface="宋体" panose="02010600030101010101" pitchFamily="2" charset="-122"/>
              </a:defRPr>
            </a:lvl4pPr>
            <a:lvl5pPr>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endParaRPr lang="en-US" dirty="0"/>
          </a:p>
        </p:txBody>
      </p:sp>
      <p:sp>
        <p:nvSpPr>
          <p:cNvPr id="7" name="标题 6"/>
          <p:cNvSpPr>
            <a:spLocks noGrp="1"/>
          </p:cNvSpPr>
          <p:nvPr>
            <p:ph type="title"/>
          </p:nvPr>
        </p:nvSpPr>
        <p:spPr>
          <a:xfrm>
            <a:off x="752475" y="150813"/>
            <a:ext cx="10972800" cy="796908"/>
          </a:xfrm>
        </p:spPr>
        <p:txBody>
          <a:bodyPr rtlCol="0"/>
          <a:lstStyle>
            <a:lvl1pPr algn="l">
              <a:defRPr sz="3600">
                <a:sym typeface="宋体" panose="02010600030101010101" pitchFamily="2" charset="-122"/>
              </a:defRPr>
            </a:lvl1pPr>
          </a:lstStyle>
          <a:p>
            <a:r>
              <a:rPr lang="zh-CN" altLang="en-US"/>
              <a:t>单击此处编辑母版标题样式</a:t>
            </a:r>
            <a:endParaRPr lang="en-US"/>
          </a:p>
        </p:txBody>
      </p:sp>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lstStyle/>
          <a:p>
            <a:pPr algn="ctr"/>
            <a:endParaRPr lang="zh-CN" altLang="zh-CN">
              <a:solidFill>
                <a:srgbClr val="FFFFFF"/>
              </a:solidFill>
            </a:endParaRPr>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t>‹#›</a:t>
            </a:fld>
            <a:endParaRPr lang="zh-CN" altLang="en-US"/>
          </a:p>
        </p:txBody>
      </p:sp>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34433" y="188913"/>
            <a:ext cx="10972800" cy="792162"/>
          </a:xfrm>
        </p:spPr>
        <p:txBody>
          <a:bodyPr/>
          <a:lstStyle>
            <a:lvl1pPr>
              <a:defRPr>
                <a:sym typeface="宋体" panose="02010600030101010101" pitchFamily="2" charset="-122"/>
              </a:defRPr>
            </a:lvl1p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31800" y="1268413"/>
            <a:ext cx="5611284"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246284" y="1268413"/>
            <a:ext cx="5611283"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a:xfrm>
            <a:off x="334433" y="6237288"/>
            <a:ext cx="3860800" cy="45720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rPr>
              <a:t>OS</a:t>
            </a:r>
          </a:p>
        </p:txBody>
      </p:sp>
      <p:sp>
        <p:nvSpPr>
          <p:cNvPr id="6" name="灯片编号占位符 5"/>
          <p:cNvSpPr>
            <a:spLocks noGrp="1"/>
          </p:cNvSpPr>
          <p:nvPr>
            <p:ph type="sldNum" sz="quarter" idx="11"/>
          </p:nvPr>
        </p:nvSpPr>
        <p:spPr/>
        <p:txBody>
          <a:bodyPr/>
          <a:lstStyle/>
          <a:p>
            <a:pPr lvl="0" algn="r" eaLnBrk="1" fontAlgn="base" hangingPunct="1"/>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t>‹#›</a:t>
            </a:fld>
            <a:endParaRPr lang="en-US" altLang="zh-CN" sz="1200" strike="noStrike" noProof="1">
              <a:latin typeface="Garamond" panose="02020404030301010803"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8" name="Freeform 7"/>
          <p:cNvSpPr>
            <a:spLocks noChangeArrowheads="1"/>
          </p:cNvSpPr>
          <p:nvPr/>
        </p:nvSpPr>
        <p:spPr bwMode="auto">
          <a:xfrm>
            <a:off x="812800" y="1219200"/>
            <a:ext cx="105664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Line 8"/>
          <p:cNvSpPr>
            <a:spLocks noChangeShapeType="1"/>
          </p:cNvSpPr>
          <p:nvPr/>
        </p:nvSpPr>
        <p:spPr bwMode="auto">
          <a:xfrm>
            <a:off x="2641600" y="3962400"/>
            <a:ext cx="8682567" cy="0"/>
          </a:xfrm>
          <a:prstGeom prst="line">
            <a:avLst/>
          </a:prstGeom>
          <a:noFill/>
          <a:ln w="19050">
            <a:solidFill>
              <a:schemeClr val="accent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5586" name="Rectangle 2"/>
          <p:cNvSpPr>
            <a:spLocks noGrp="1" noChangeArrowheads="1"/>
          </p:cNvSpPr>
          <p:nvPr>
            <p:ph type="ctrTitle"/>
          </p:nvPr>
        </p:nvSpPr>
        <p:spPr>
          <a:xfrm>
            <a:off x="1219201" y="1524000"/>
            <a:ext cx="10164233" cy="1752600"/>
          </a:xfrm>
        </p:spPr>
        <p:txBody>
          <a:bodyPr/>
          <a:lstStyle>
            <a:lvl1pPr>
              <a:defRPr sz="5000">
                <a:sym typeface="宋体" panose="02010600030101010101" pitchFamily="2" charset="-122"/>
              </a:defRPr>
            </a:lvl1pPr>
          </a:lstStyle>
          <a:p>
            <a:pPr fontAlgn="base"/>
            <a:r>
              <a:rPr lang="en-US" altLang="zh-CN" strike="noStrike" noProof="1"/>
              <a:t>Click to edit Master title style</a:t>
            </a:r>
          </a:p>
        </p:txBody>
      </p:sp>
      <p:sp>
        <p:nvSpPr>
          <p:cNvPr id="195587" name="Rectangle 3"/>
          <p:cNvSpPr>
            <a:spLocks noGrp="1" noChangeArrowheads="1"/>
          </p:cNvSpPr>
          <p:nvPr>
            <p:ph type="subTitle" idx="1"/>
          </p:nvPr>
        </p:nvSpPr>
        <p:spPr>
          <a:xfrm>
            <a:off x="2641600" y="3962400"/>
            <a:ext cx="8737600" cy="1752600"/>
          </a:xfrm>
        </p:spPr>
        <p:txBody>
          <a:bodyPr/>
          <a:lstStyle>
            <a:lvl1pPr marL="0" indent="0">
              <a:defRPr sz="2600">
                <a:sym typeface="宋体" panose="02010600030101010101" pitchFamily="2" charset="-122"/>
              </a:defRPr>
            </a:lvl1pPr>
          </a:lstStyle>
          <a:p>
            <a:pPr fontAlgn="base"/>
            <a:r>
              <a:rPr lang="en-US" altLang="zh-CN" strike="noStrike" noProof="1"/>
              <a:t>Click to edit Master subtitle style</a:t>
            </a:r>
          </a:p>
        </p:txBody>
      </p:sp>
      <p:sp>
        <p:nvSpPr>
          <p:cNvPr id="10" name="Rectangle 6"/>
          <p:cNvSpPr>
            <a:spLocks noGrp="1" noChangeArrowheads="1"/>
          </p:cNvSpPr>
          <p:nvPr>
            <p:ph type="sldNum" sz="quarter" idx="4"/>
          </p:nvPr>
        </p:nvSpPr>
        <p:spPr bwMode="auto">
          <a:xfrm>
            <a:off x="8737600" y="6243638"/>
            <a:ext cx="2844800" cy="457200"/>
          </a:xfrm>
          <a:prstGeom prst="rect">
            <a:avLst/>
          </a:prstGeom>
          <a:noFill/>
          <a:ln w="9525">
            <a:noFill/>
            <a:miter lim="800000"/>
          </a:ln>
          <a:effectLst/>
        </p:spPr>
        <p:txBody>
          <a:bodyPr vert="horz" wrap="square" lIns="91440" tIns="45720" rIns="91440" bIns="45720" numCol="1" anchor="b" anchorCtr="0" compatLnSpc="1"/>
          <a:lstStyle/>
          <a:p>
            <a:pPr algn="r" fontAlgn="base"/>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t>‹#›</a:t>
            </a:fld>
            <a:endParaRPr lang="en-US" altLang="zh-CN" sz="1200" strike="noStrike" noProof="1">
              <a:latin typeface="Garamond" panose="02020404030301010803"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a:xfrm>
            <a:off x="334433" y="6237288"/>
            <a:ext cx="3860800" cy="45720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rPr>
              <a:t>OS</a:t>
            </a:r>
          </a:p>
        </p:txBody>
      </p:sp>
      <p:sp>
        <p:nvSpPr>
          <p:cNvPr id="3" name="灯片编号占位符 2"/>
          <p:cNvSpPr>
            <a:spLocks noGrp="1"/>
          </p:cNvSpPr>
          <p:nvPr>
            <p:ph type="sldNum" sz="quarter" idx="11"/>
          </p:nvPr>
        </p:nvSpPr>
        <p:spPr/>
        <p:txBody>
          <a:bodyPr/>
          <a:lstStyle/>
          <a:p>
            <a:pPr lvl="0" algn="r" eaLnBrk="1" fontAlgn="base" hangingPunct="1"/>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t>‹#›</a:t>
            </a:fld>
            <a:endParaRPr lang="en-US" altLang="zh-CN" sz="1200" strike="noStrike" noProof="1">
              <a:latin typeface="Garamond" panose="02020404030301010803"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34433" y="188913"/>
            <a:ext cx="10972800" cy="792163"/>
          </a:xfrm>
        </p:spPr>
        <p:txBody>
          <a:bodyPr/>
          <a:lstStyle>
            <a:lvl1pPr>
              <a:defRPr>
                <a:sym typeface="宋体" panose="02010600030101010101" pitchFamily="2" charset="-122"/>
              </a:defRPr>
            </a:lvl1p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31800" y="1268414"/>
            <a:ext cx="5611284"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6246284" y="1268414"/>
            <a:ext cx="5611283" cy="2300287"/>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246284" y="3721100"/>
            <a:ext cx="5611283" cy="2300288"/>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页脚占位符 5"/>
          <p:cNvSpPr>
            <a:spLocks noGrp="1"/>
          </p:cNvSpPr>
          <p:nvPr>
            <p:ph type="ftr" sz="quarter" idx="10"/>
          </p:nvPr>
        </p:nvSpPr>
        <p:spPr>
          <a:xfrm>
            <a:off x="334433" y="6237288"/>
            <a:ext cx="3860800" cy="45720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rPr>
              <a:t>OS</a:t>
            </a:r>
          </a:p>
        </p:txBody>
      </p:sp>
      <p:sp>
        <p:nvSpPr>
          <p:cNvPr id="7" name="灯片编号占位符 6"/>
          <p:cNvSpPr>
            <a:spLocks noGrp="1"/>
          </p:cNvSpPr>
          <p:nvPr>
            <p:ph type="sldNum" sz="quarter" idx="11"/>
          </p:nvPr>
        </p:nvSpPr>
        <p:spPr/>
        <p:txBody>
          <a:bodyPr/>
          <a:lstStyle/>
          <a:p>
            <a:pPr lvl="0" algn="r" eaLnBrk="1" fontAlgn="base" hangingPunct="1"/>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t>‹#›</a:t>
            </a:fld>
            <a:endParaRPr lang="en-US" altLang="zh-CN" sz="1200" strike="noStrike" noProof="1">
              <a:latin typeface="Garamond" panose="02020404030301010803"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F4F8FB"/>
            </a:gs>
            <a:gs pos="63000">
              <a:srgbClr val="F2F2F2"/>
            </a:gs>
            <a:gs pos="100000">
              <a:srgbClr val="D8D8D8"/>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1026" name="灯片编号占位符 3"/>
          <p:cNvSpPr>
            <a:spLocks noGrp="1" noChangeArrowheads="1"/>
          </p:cNvSpPr>
          <p:nvPr>
            <p:ph type="sldNum" sz="quarter" idx="4"/>
          </p:nvPr>
        </p:nvSpPr>
        <p:spPr bwMode="auto">
          <a:xfrm>
            <a:off x="942975" y="633888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1219200" indent="-1219200" algn="ctr" rtl="0" fontAlgn="base">
        <a:spcBef>
          <a:spcPct val="0"/>
        </a:spcBef>
        <a:spcAft>
          <a:spcPct val="0"/>
        </a:spcAft>
        <a:defRPr sz="5800">
          <a:solidFill>
            <a:schemeClr val="tx1"/>
          </a:solidFill>
          <a:latin typeface="+mj-lt"/>
          <a:ea typeface="+mj-ea"/>
          <a:cs typeface="+mj-cs"/>
          <a:sym typeface="Copperplate Gothic Bold" panose="020E0705020206020404" charset="0"/>
        </a:defRPr>
      </a:lvl1pPr>
      <a:lvl2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2pPr>
      <a:lvl3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3pPr>
      <a:lvl4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4pPr>
      <a:lvl5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5pPr>
      <a:lvl6pPr marL="16764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6pPr>
      <a:lvl7pPr marL="21336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7pPr>
      <a:lvl8pPr marL="25908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8pPr>
      <a:lvl9pPr marL="30480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9pPr>
    </p:titleStyle>
    <p:bodyStyle>
      <a:lvl1pPr marL="457200" indent="-457200" algn="l" defTabSz="1219200" rtl="0" fontAlgn="base">
        <a:spcBef>
          <a:spcPct val="20000"/>
        </a:spcBef>
        <a:spcAft>
          <a:spcPct val="0"/>
        </a:spcAft>
        <a:buFont typeface="Arial" panose="020B0604020202020204" pitchFamily="34" charset="0"/>
        <a:buChar char="•"/>
        <a:defRPr sz="4200">
          <a:solidFill>
            <a:schemeClr val="tx1"/>
          </a:solidFill>
          <a:latin typeface="+mn-lt"/>
          <a:ea typeface="+mn-ea"/>
          <a:cs typeface="+mn-cs"/>
          <a:sym typeface="Copperplate Gothic Bold" panose="020E0705020206020404" charset="0"/>
        </a:defRPr>
      </a:lvl1pPr>
      <a:lvl2pPr marL="990600" indent="-381000" algn="l" defTabSz="1219200" rtl="0" fontAlgn="base">
        <a:spcBef>
          <a:spcPct val="20000"/>
        </a:spcBef>
        <a:spcAft>
          <a:spcPct val="0"/>
        </a:spcAft>
        <a:buFont typeface="Arial" panose="020B0604020202020204" pitchFamily="34" charset="0"/>
        <a:buChar char="–"/>
        <a:defRPr sz="3700">
          <a:solidFill>
            <a:schemeClr val="tx1"/>
          </a:solidFill>
          <a:latin typeface="+mn-lt"/>
          <a:ea typeface="+mn-ea"/>
          <a:sym typeface="Copperplate Gothic Bold" panose="020E0705020206020404" charset="0"/>
        </a:defRPr>
      </a:lvl2pPr>
      <a:lvl3pPr marL="1524000" indent="-304800" algn="l" defTabSz="1219200" rtl="0" fontAlgn="base">
        <a:spcBef>
          <a:spcPct val="20000"/>
        </a:spcBef>
        <a:spcAft>
          <a:spcPct val="0"/>
        </a:spcAft>
        <a:buFont typeface="Arial" panose="020B0604020202020204" pitchFamily="34" charset="0"/>
        <a:buChar char="•"/>
        <a:defRPr sz="3200">
          <a:solidFill>
            <a:schemeClr val="tx1"/>
          </a:solidFill>
          <a:latin typeface="+mn-lt"/>
          <a:ea typeface="+mn-ea"/>
          <a:sym typeface="Copperplate Gothic Bold" panose="020E0705020206020404" charset="0"/>
        </a:defRPr>
      </a:lvl3pPr>
      <a:lvl4pPr marL="2133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4pPr>
      <a:lvl5pPr marL="27432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5pPr>
      <a:lvl6pPr marL="32004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6pPr>
      <a:lvl7pPr marL="3657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7pPr>
      <a:lvl8pPr marL="41148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8pPr>
      <a:lvl9pPr marL="45720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8.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2.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3.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4.xm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5.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6.xml"/><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7.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8.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9.xml"/><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10.xml"/><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11.xml"/><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12.xml"/><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9.png"/><Relationship Id="rId4" Type="http://schemas.openxmlformats.org/officeDocument/2006/relationships/image" Target="../media/image2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8.xml"/><Relationship Id="rId1" Type="http://schemas.openxmlformats.org/officeDocument/2006/relationships/vmlDrawing" Target="../drawings/vmlDrawing2.vml"/><Relationship Id="rId4" Type="http://schemas.openxmlformats.org/officeDocument/2006/relationships/image" Target="../media/image31.wm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0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ustomXml" Target="../ink/ink13.xml"/><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36.png"/><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1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8.xml"/><Relationship Id="rId5" Type="http://schemas.openxmlformats.org/officeDocument/2006/relationships/image" Target="../media/image42.png"/><Relationship Id="rId4" Type="http://schemas.openxmlformats.org/officeDocument/2006/relationships/image" Target="../media/image41.png"/></Relationships>
</file>

<file path=ppt/slides/_rels/slide1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1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8.xml"/><Relationship Id="rId5" Type="http://schemas.openxmlformats.org/officeDocument/2006/relationships/image" Target="../media/image49.png"/><Relationship Id="rId4" Type="http://schemas.openxmlformats.org/officeDocument/2006/relationships/image" Target="../media/image48.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159885" y="4126230"/>
            <a:ext cx="4374515" cy="815340"/>
          </a:xfrm>
          <a:prstGeom prst="rect">
            <a:avLst/>
          </a:prstGeom>
        </p:spPr>
        <p:txBody>
          <a:bodyPr vert="horz" lIns="91440" tIns="45720" rIns="91440" bIns="45720" rtlCol="0" anchor="ctr" anchorCtr="0">
            <a:noAutofit/>
          </a:bodyPr>
          <a:lstStyle/>
          <a:p>
            <a:pPr marL="0" lvl="0" indent="0" algn="ctr">
              <a:lnSpc>
                <a:spcPct val="90000"/>
              </a:lnSpc>
              <a:spcBef>
                <a:spcPts val="1000"/>
              </a:spcBef>
              <a:buClr>
                <a:schemeClr val="accent2"/>
              </a:buClr>
              <a:buFont typeface="Wingdings" panose="05000000000000000000" pitchFamily="2" charset="2"/>
              <a:buNone/>
            </a:pPr>
            <a:r>
              <a:rPr lang="en-US" altLang="zh-CN" sz="4400">
                <a:solidFill>
                  <a:srgbClr val="FFFF00"/>
                </a:solidFill>
              </a:rPr>
              <a:t>9 </a:t>
            </a:r>
            <a:r>
              <a:rPr lang="zh-CN" altLang="en-US" sz="4400">
                <a:solidFill>
                  <a:srgbClr val="FFFF00"/>
                </a:solidFill>
              </a:rPr>
              <a:t>查找</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内容占位符 2"/>
          <p:cNvSpPr>
            <a:spLocks noGrp="1"/>
          </p:cNvSpPr>
          <p:nvPr>
            <p:ph idx="1"/>
          </p:nvPr>
        </p:nvSpPr>
        <p:spPr>
          <a:xfrm>
            <a:off x="191770" y="1052830"/>
            <a:ext cx="8229600" cy="4386580"/>
          </a:xfrm>
        </p:spPr>
        <p:txBody>
          <a:bodyPr/>
          <a:lstStyle/>
          <a:p>
            <a:pPr eaLnBrk="1" hangingPunct="1"/>
            <a:r>
              <a:rPr lang="zh-CN" altLang="en-US">
                <a:latin typeface="楷体" panose="02010609060101010101" charset="-122"/>
                <a:ea typeface="楷体" panose="02010609060101010101" charset="-122"/>
                <a:cs typeface="楷体" panose="02010609060101010101" charset="-122"/>
              </a:rPr>
              <a:t>绪论</a:t>
            </a:r>
            <a:endParaRPr lang="en-US" altLang="zh-CN">
              <a:latin typeface="楷体" panose="02010609060101010101" charset="-122"/>
              <a:ea typeface="楷体" panose="02010609060101010101" charset="-122"/>
              <a:cs typeface="楷体" panose="02010609060101010101" charset="-122"/>
            </a:endParaRPr>
          </a:p>
          <a:p>
            <a:pPr eaLnBrk="1" hangingPunct="1"/>
            <a:r>
              <a:rPr lang="zh-CN" altLang="en-US">
                <a:latin typeface="楷体" panose="02010609060101010101" charset="-122"/>
                <a:ea typeface="楷体" panose="02010609060101010101" charset="-122"/>
                <a:cs typeface="楷体" panose="02010609060101010101" charset="-122"/>
              </a:rPr>
              <a:t>线性表</a:t>
            </a:r>
          </a:p>
          <a:p>
            <a:pPr eaLnBrk="1" hangingPunct="1"/>
            <a:r>
              <a:rPr lang="zh-CN" altLang="en-US">
                <a:latin typeface="楷体" panose="02010609060101010101" charset="-122"/>
                <a:ea typeface="楷体" panose="02010609060101010101" charset="-122"/>
                <a:cs typeface="楷体" panose="02010609060101010101" charset="-122"/>
              </a:rPr>
              <a:t>栈和队列</a:t>
            </a:r>
          </a:p>
          <a:p>
            <a:pPr eaLnBrk="1" hangingPunct="1"/>
            <a:r>
              <a:rPr lang="zh-CN" altLang="en-US">
                <a:latin typeface="楷体" panose="02010609060101010101" charset="-122"/>
                <a:ea typeface="楷体" panose="02010609060101010101" charset="-122"/>
                <a:cs typeface="楷体" panose="02010609060101010101" charset="-122"/>
              </a:rPr>
              <a:t>串</a:t>
            </a:r>
          </a:p>
          <a:p>
            <a:pPr eaLnBrk="1" hangingPunct="1"/>
            <a:r>
              <a:rPr lang="zh-CN" altLang="en-US">
                <a:latin typeface="楷体" panose="02010609060101010101" charset="-122"/>
                <a:ea typeface="楷体" panose="02010609060101010101" charset="-122"/>
                <a:cs typeface="楷体" panose="02010609060101010101" charset="-122"/>
              </a:rPr>
              <a:t>数组和广义表</a:t>
            </a:r>
          </a:p>
          <a:p>
            <a:pPr eaLnBrk="1" hangingPunct="1"/>
            <a:r>
              <a:rPr lang="zh-CN" altLang="en-US">
                <a:latin typeface="楷体" panose="02010609060101010101" charset="-122"/>
                <a:ea typeface="楷体" panose="02010609060101010101" charset="-122"/>
                <a:cs typeface="楷体" panose="02010609060101010101" charset="-122"/>
              </a:rPr>
              <a:t>树和二叉树</a:t>
            </a:r>
          </a:p>
          <a:p>
            <a:pPr eaLnBrk="1" hangingPunct="1"/>
            <a:r>
              <a:rPr lang="zh-CN" altLang="en-US">
                <a:latin typeface="楷体" panose="02010609060101010101" charset="-122"/>
                <a:ea typeface="楷体" panose="02010609060101010101" charset="-122"/>
                <a:cs typeface="楷体" panose="02010609060101010101" charset="-122"/>
              </a:rPr>
              <a:t>图</a:t>
            </a:r>
          </a:p>
          <a:p>
            <a:pPr eaLnBrk="1" hangingPunct="1"/>
            <a:r>
              <a:rPr lang="zh-CN" altLang="en-US">
                <a:latin typeface="楷体" panose="02010609060101010101" charset="-122"/>
                <a:ea typeface="楷体" panose="02010609060101010101" charset="-122"/>
                <a:cs typeface="楷体" panose="02010609060101010101" charset="-122"/>
              </a:rPr>
              <a:t>查找</a:t>
            </a:r>
          </a:p>
          <a:p>
            <a:pPr eaLnBrk="1" hangingPunct="1"/>
            <a:r>
              <a:rPr lang="zh-CN" altLang="en-US">
                <a:latin typeface="楷体" panose="02010609060101010101" charset="-122"/>
                <a:ea typeface="楷体" panose="02010609060101010101" charset="-122"/>
                <a:cs typeface="楷体" panose="02010609060101010101" charset="-122"/>
              </a:rPr>
              <a:t>内部排序</a:t>
            </a:r>
          </a:p>
        </p:txBody>
      </p:sp>
      <p:sp>
        <p:nvSpPr>
          <p:cNvPr id="2" name="标题 1"/>
          <p:cNvSpPr>
            <a:spLocks noGrp="1"/>
          </p:cNvSpPr>
          <p:nvPr>
            <p:ph type="title"/>
          </p:nvPr>
        </p:nvSpPr>
        <p:spPr/>
        <p:txBody>
          <a:bodyPr/>
          <a:lstStyle/>
          <a:p>
            <a:pPr eaLnBrk="1" fontAlgn="auto" hangingPunct="1">
              <a:spcAft>
                <a:spcPts val="0"/>
              </a:spcAft>
              <a:defRPr/>
            </a:pPr>
            <a:r>
              <a:rPr lang="zh-CN" altLang="en-US" dirty="0"/>
              <a:t>课程结构（按教材划分）</a:t>
            </a:r>
          </a:p>
        </p:txBody>
      </p:sp>
      <p:sp>
        <p:nvSpPr>
          <p:cNvPr id="4" name="右大括号 3"/>
          <p:cNvSpPr/>
          <p:nvPr/>
        </p:nvSpPr>
        <p:spPr>
          <a:xfrm>
            <a:off x="2999105" y="1628775"/>
            <a:ext cx="504190" cy="166941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sz="2000" b="1">
                <a:solidFill>
                  <a:srgbClr val="FF0000"/>
                </a:solidFill>
                <a:latin typeface="黑体" panose="02010609060101010101" pitchFamily="2" charset="-122"/>
                <a:ea typeface="黑体" panose="02010609060101010101" pitchFamily="2" charset="-122"/>
              </a:rPr>
              <a:t>线性结构</a:t>
            </a:r>
          </a:p>
        </p:txBody>
      </p:sp>
      <p:sp>
        <p:nvSpPr>
          <p:cNvPr id="5" name="右大括号 4"/>
          <p:cNvSpPr/>
          <p:nvPr/>
        </p:nvSpPr>
        <p:spPr>
          <a:xfrm>
            <a:off x="4007485" y="4653280"/>
            <a:ext cx="504190" cy="929640"/>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sz="2000" b="1">
                <a:solidFill>
                  <a:srgbClr val="FF0000"/>
                </a:solidFill>
                <a:latin typeface="黑体" panose="02010609060101010101" pitchFamily="2" charset="-122"/>
                <a:ea typeface="黑体" panose="02010609060101010101" pitchFamily="2" charset="-122"/>
              </a:rPr>
              <a:t>应用</a:t>
            </a:r>
          </a:p>
        </p:txBody>
      </p:sp>
      <p:sp>
        <p:nvSpPr>
          <p:cNvPr id="7" name="右大括号 6"/>
          <p:cNvSpPr/>
          <p:nvPr/>
        </p:nvSpPr>
        <p:spPr>
          <a:xfrm>
            <a:off x="4871720" y="2111375"/>
            <a:ext cx="876935" cy="300672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rPr>
              <a:t>三类结构</a:t>
            </a:r>
            <a:r>
              <a:rPr lang="en-US" altLang="zh-CN" sz="2000" b="1">
                <a:solidFill>
                  <a:srgbClr val="FF0000"/>
                </a:solidFill>
                <a:latin typeface="黑体" panose="02010609060101010101" pitchFamily="2" charset="-122"/>
                <a:ea typeface="黑体" panose="02010609060101010101" pitchFamily="2" charset="-122"/>
                <a:cs typeface="黑体" panose="02010609060101010101" pitchFamily="2" charset="-122"/>
              </a:rPr>
              <a:t>+</a:t>
            </a:r>
            <a:r>
              <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rPr>
              <a:t>两种应用</a:t>
            </a:r>
          </a:p>
        </p:txBody>
      </p:sp>
      <p:sp>
        <p:nvSpPr>
          <p:cNvPr id="8" name="标题 1"/>
          <p:cNvSpPr>
            <a:spLocks noGrp="1"/>
          </p:cNvSpPr>
          <p:nvPr/>
        </p:nvSpPr>
        <p:spPr>
          <a:xfrm>
            <a:off x="4968875" y="5544820"/>
            <a:ext cx="7044055" cy="796925"/>
          </a:xfrm>
          <a:prstGeom prst="rect">
            <a:avLst/>
          </a:prstGeom>
        </p:spPr>
        <p:txBody>
          <a:bodyPr vert="horz" rtlCol="0" anchor="ctr">
            <a:scene3d>
              <a:camera prst="orthographicFront"/>
              <a:lightRig rig="soft" dir="t"/>
            </a:scene3d>
            <a:sp3d prstMaterial="softEdge">
              <a:bevelT w="25400" h="25400"/>
            </a:sp3d>
          </a:bodyPr>
          <a:lstStyle>
            <a:lvl1pPr algn="l" rtl="0" fontAlgn="base">
              <a:spcBef>
                <a:spcPct val="0"/>
              </a:spcBef>
              <a:spcAft>
                <a:spcPct val="0"/>
              </a:spcAft>
              <a:defRPr sz="40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2pPr>
            <a:lvl3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3pPr>
            <a:lvl4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4pPr>
            <a:lvl5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5pPr>
            <a:lvl6pPr marL="4572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6pPr>
            <a:lvl7pPr marL="9144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7pPr>
            <a:lvl8pPr marL="13716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8pPr>
            <a:lvl9pPr marL="18288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9pPr>
          </a:lstStyle>
          <a:p>
            <a:pPr algn="ctr" eaLnBrk="1" fontAlgn="auto" hangingPunct="1">
              <a:spcAft>
                <a:spcPts val="0"/>
              </a:spcAft>
              <a:defRPr/>
            </a:pPr>
            <a:r>
              <a:rPr lang="zh-CN" altLang="en-US" sz="2400" u="sng" dirty="0">
                <a:solidFill>
                  <a:srgbClr val="FF0000"/>
                </a:solidFill>
              </a:rPr>
              <a:t>成绩：实验</a:t>
            </a:r>
            <a:r>
              <a:rPr lang="en-US" altLang="zh-CN" sz="2400" u="sng" dirty="0">
                <a:solidFill>
                  <a:srgbClr val="FF0000"/>
                </a:solidFill>
              </a:rPr>
              <a:t>30%+</a:t>
            </a:r>
            <a:r>
              <a:rPr lang="zh-CN" altLang="en-US" sz="2400" u="sng" dirty="0">
                <a:solidFill>
                  <a:srgbClr val="FF0000"/>
                </a:solidFill>
              </a:rPr>
              <a:t>作业</a:t>
            </a:r>
            <a:r>
              <a:rPr lang="en-US" altLang="zh-CN" sz="2400" u="sng" dirty="0">
                <a:solidFill>
                  <a:srgbClr val="FF0000"/>
                </a:solidFill>
              </a:rPr>
              <a:t>10%+</a:t>
            </a:r>
            <a:r>
              <a:rPr lang="zh-CN" altLang="en-US" sz="2400" u="sng" dirty="0">
                <a:solidFill>
                  <a:srgbClr val="FF0000"/>
                </a:solidFill>
              </a:rPr>
              <a:t>机考</a:t>
            </a:r>
            <a:r>
              <a:rPr lang="en-US" altLang="zh-CN" sz="2400" u="sng" dirty="0">
                <a:solidFill>
                  <a:srgbClr val="FF0000"/>
                </a:solidFill>
              </a:rPr>
              <a:t>20%+</a:t>
            </a:r>
            <a:r>
              <a:rPr lang="zh-CN" altLang="en-US" sz="2400" u="sng" dirty="0">
                <a:solidFill>
                  <a:srgbClr val="FF0000"/>
                </a:solidFill>
              </a:rPr>
              <a:t>笔试</a:t>
            </a:r>
            <a:r>
              <a:rPr lang="en-US" altLang="zh-CN" sz="2400" u="sng" dirty="0">
                <a:solidFill>
                  <a:srgbClr val="FF0000"/>
                </a:solidFill>
              </a:rPr>
              <a:t>40%</a:t>
            </a:r>
          </a:p>
        </p:txBody>
      </p:sp>
      <p:pic>
        <p:nvPicPr>
          <p:cNvPr id="10" name="图片 9"/>
          <p:cNvPicPr>
            <a:picLocks noChangeAspect="1"/>
          </p:cNvPicPr>
          <p:nvPr/>
        </p:nvPicPr>
        <p:blipFill>
          <a:blip r:embed="rId2"/>
          <a:stretch>
            <a:fillRect/>
          </a:stretch>
        </p:blipFill>
        <p:spPr>
          <a:xfrm>
            <a:off x="6096000" y="838200"/>
            <a:ext cx="3651885" cy="4601210"/>
          </a:xfrm>
          <a:prstGeom prst="rect">
            <a:avLst/>
          </a:prstGeom>
        </p:spPr>
      </p:pic>
      <p:sp>
        <p:nvSpPr>
          <p:cNvPr id="11" name="右大括号 10"/>
          <p:cNvSpPr/>
          <p:nvPr/>
        </p:nvSpPr>
        <p:spPr>
          <a:xfrm>
            <a:off x="3279775" y="3425825"/>
            <a:ext cx="583565" cy="59499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sz="2000" b="1">
                <a:solidFill>
                  <a:srgbClr val="FF0000"/>
                </a:solidFill>
                <a:latin typeface="黑体" panose="02010609060101010101" pitchFamily="2" charset="-122"/>
                <a:ea typeface="黑体" panose="02010609060101010101" pitchFamily="2" charset="-122"/>
              </a:rPr>
              <a:t>树</a:t>
            </a:r>
          </a:p>
        </p:txBody>
      </p:sp>
      <p:sp>
        <p:nvSpPr>
          <p:cNvPr id="12" name="右大括号 11"/>
          <p:cNvSpPr/>
          <p:nvPr/>
        </p:nvSpPr>
        <p:spPr>
          <a:xfrm>
            <a:off x="3647440" y="4076700"/>
            <a:ext cx="504190" cy="47307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sz="2000" b="1">
                <a:solidFill>
                  <a:srgbClr val="FF0000"/>
                </a:solidFill>
                <a:latin typeface="黑体" panose="02010609060101010101" pitchFamily="2" charset="-122"/>
                <a:ea typeface="黑体" panose="02010609060101010101" pitchFamily="2" charset="-122"/>
              </a:rPr>
              <a:t>图</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静态查找表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动态查找表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哈希表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zh-CN" altLang="en-US" sz="3200" b="1" i="0" u="none" strike="noStrike" kern="1200" cap="none" spc="0" normalizeH="0" baseline="0" dirty="0">
              <a:solidFill>
                <a:schemeClr val="tx1"/>
              </a:solidFill>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lstStyle/>
          <a:p>
            <a:fld id="{F18B4237-A20D-4DE2-ADD8-75BCC50A7656}" type="slidenum">
              <a:rPr lang="zh-CN" altLang="en-US"/>
              <a:t>2</a:t>
            </a:fld>
            <a:endParaRPr lang="zh-CN" altLang="en-US"/>
          </a:p>
        </p:txBody>
      </p:sp>
      <p:sp>
        <p:nvSpPr>
          <p:cNvPr id="8" name="矩形 7"/>
          <p:cNvSpPr/>
          <p:nvPr/>
        </p:nvSpPr>
        <p:spPr>
          <a:xfrm>
            <a:off x="4088130" y="1252220"/>
            <a:ext cx="2127250"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46" name="Text Box 2"/>
          <p:cNvSpPr txBox="1"/>
          <p:nvPr/>
        </p:nvSpPr>
        <p:spPr>
          <a:xfrm>
            <a:off x="2712085" y="170815"/>
            <a:ext cx="6443980" cy="768350"/>
          </a:xfrm>
          <a:prstGeom prst="rect">
            <a:avLst/>
          </a:prstGeom>
          <a:noFill/>
          <a:ln w="9525">
            <a:noFill/>
          </a:ln>
        </p:spPr>
        <p:txBody>
          <a:bodyPr wrap="square" anchor="t" anchorCtr="0">
            <a:spAutoFit/>
          </a:bodyPr>
          <a:lstStyle/>
          <a:p>
            <a:pPr algn="ctr"/>
            <a:r>
              <a:rPr lang="zh-CN" altLang="en-US" sz="4400" b="1" dirty="0">
                <a:solidFill>
                  <a:srgbClr val="0000CC"/>
                </a:solidFill>
                <a:latin typeface="楷体" panose="02010609060101010101" charset="-122"/>
                <a:ea typeface="楷体" panose="02010609060101010101" charset="-122"/>
              </a:rPr>
              <a:t>第九章	查找</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lnSpc>
                <a:spcPct val="100000"/>
              </a:lnSpc>
              <a:buClrTx/>
              <a:buSzTx/>
              <a:buFont typeface="Wingdings" panose="05000000000000000000" charset="0"/>
              <a:buChar char="l"/>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数据的</a:t>
            </a:r>
            <a:r>
              <a:rPr lang="en-US" altLang="zh-CN"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组织和查找</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是大多数应用程序的核心</a:t>
            </a:r>
          </a:p>
          <a:p>
            <a:pPr marL="457200" lvl="1" indent="-457200" algn="l" eaLnBrk="1" hangingPunct="1">
              <a:lnSpc>
                <a:spcPct val="100000"/>
              </a:lnSpc>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线性表、树、图是</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数据的</a:t>
            </a:r>
            <a:r>
              <a:rPr lang="en-US" altLang="zh-CN"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组织</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结构</a:t>
            </a:r>
            <a:endParaRPr lang="en-US"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lnSpc>
                <a:spcPct val="100000"/>
              </a:lnSpc>
              <a:buClrTx/>
              <a:buSzTx/>
              <a:buFont typeface="Wingdings" panose="05000000000000000000" charset="0"/>
              <a:buChar char="l"/>
            </a:pPr>
            <a:r>
              <a:rPr lang="en-US" altLang="zh-CN"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查找</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是所有数据处理中最基本、最常用的操作。</a:t>
            </a:r>
          </a:p>
          <a:p>
            <a:pPr marL="457200" lvl="1" indent="-457200" algn="l" eaLnBrk="1" hangingPunct="1">
              <a:lnSpc>
                <a:spcPct val="100000"/>
              </a:lnSpc>
              <a:buClrTx/>
              <a:buSzTx/>
              <a:buFont typeface="Wingdings" panose="05000000000000000000" charset="0"/>
              <a:buChar char="l"/>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当</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一个庞大数量的数据集合中</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查找</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时，查找方法和效率就显得格外重要。</a:t>
            </a:r>
            <a:endParaRPr lang="en-US" altLang="zh-CN"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lnSpc>
                <a:spcPct val="100000"/>
              </a:lnSpc>
              <a:buClrTx/>
              <a:buSzTx/>
              <a:buFont typeface="Wingdings" panose="05000000000000000000" charset="0"/>
              <a:buChar char="l"/>
            </a:pPr>
            <a:endParaRPr lang="en-US" altLang="zh-CN"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3</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宋体" panose="02010600030101010101" pitchFamily="2" charset="-122"/>
                <a:cs typeface="+mn-ea"/>
                <a:sym typeface="+mn-ea"/>
              </a:rPr>
              <a:t>海量数据查找的高效算法介绍</a:t>
            </a: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基于布隆过滤器查找，用于判断一个元素是不是在一个集合中</a:t>
            </a: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对于新加入元素通过K个散列函数将它映射为一个位组数中的K个点中。在查找时，</a:t>
            </a:r>
            <a:r>
              <a:rPr lang="en-US" altLang="zh-CN" dirty="0">
                <a:latin typeface="黑体" panose="02010609060101010101" pitchFamily="2" charset="-122"/>
                <a:ea typeface="黑体" panose="02010609060101010101" pitchFamily="2" charset="-122"/>
                <a:cs typeface="+mn-ea"/>
                <a:sym typeface="+mn-ea"/>
              </a:rPr>
              <a:t>K</a:t>
            </a:r>
            <a:r>
              <a:rPr lang="zh-CN" altLang="en-US" dirty="0">
                <a:latin typeface="黑体" panose="02010609060101010101" pitchFamily="2" charset="-122"/>
                <a:ea typeface="黑体" panose="02010609060101010101" pitchFamily="2" charset="-122"/>
                <a:cs typeface="+mn-ea"/>
                <a:sym typeface="+mn-ea"/>
              </a:rPr>
              <a:t>个位</a:t>
            </a:r>
            <a:r>
              <a:rPr lang="zh-CN" altLang="en-US" sz="2400" dirty="0">
                <a:latin typeface="黑体" panose="02010609060101010101" pitchFamily="2" charset="-122"/>
                <a:ea typeface="黑体" panose="02010609060101010101" pitchFamily="2" charset="-122"/>
                <a:cs typeface="+mn-ea"/>
                <a:sym typeface="+mn-ea"/>
              </a:rPr>
              <a:t>如果至少有一个</a:t>
            </a:r>
            <a:r>
              <a:rPr lang="en-US" altLang="zh-CN" sz="2400" dirty="0">
                <a:latin typeface="黑体" panose="02010609060101010101" pitchFamily="2" charset="-122"/>
                <a:ea typeface="黑体" panose="02010609060101010101" pitchFamily="2" charset="-122"/>
                <a:cs typeface="+mn-ea"/>
                <a:sym typeface="+mn-ea"/>
              </a:rPr>
              <a:t>0</a:t>
            </a:r>
            <a:r>
              <a:rPr lang="zh-CN" altLang="en-US" sz="2400" dirty="0">
                <a:latin typeface="黑体" panose="02010609060101010101" pitchFamily="2" charset="-122"/>
                <a:ea typeface="黑体" panose="02010609060101010101" pitchFamily="2" charset="-122"/>
                <a:cs typeface="+mn-ea"/>
                <a:sym typeface="+mn-ea"/>
              </a:rPr>
              <a:t>，则元素不在集合中；如果全为</a:t>
            </a:r>
            <a:r>
              <a:rPr lang="en-US" altLang="zh-CN" sz="2400" dirty="0">
                <a:latin typeface="黑体" panose="02010609060101010101" pitchFamily="2" charset="-122"/>
                <a:ea typeface="黑体" panose="02010609060101010101" pitchFamily="2" charset="-122"/>
                <a:cs typeface="+mn-ea"/>
                <a:sym typeface="+mn-ea"/>
              </a:rPr>
              <a:t>1</a:t>
            </a:r>
            <a:r>
              <a:rPr lang="zh-CN" altLang="en-US" sz="2400" dirty="0">
                <a:latin typeface="黑体" panose="02010609060101010101" pitchFamily="2" charset="-122"/>
                <a:ea typeface="黑体" panose="02010609060101010101" pitchFamily="2" charset="-122"/>
                <a:cs typeface="+mn-ea"/>
                <a:sym typeface="+mn-ea"/>
              </a:rPr>
              <a:t>则很可能在集合中</a:t>
            </a: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325" dirty="0">
              <a:latin typeface="黑体" panose="02010609060101010101" pitchFamily="2" charset="-122"/>
              <a:ea typeface="黑体" panose="02010609060101010101" pitchFamily="2" charset="-122"/>
              <a:cs typeface="+mn-ea"/>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325" dirty="0">
              <a:latin typeface="黑体" panose="02010609060101010101" pitchFamily="2" charset="-122"/>
              <a:ea typeface="黑体" panose="02010609060101010101" pitchFamily="2" charset="-122"/>
              <a:cs typeface="+mn-ea"/>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倒排索引查找，常用于信息检索</a:t>
            </a:r>
          </a:p>
          <a:p>
            <a:pPr marR="0" lvl="1" algn="l" defTabSz="1219200" rtl="0" eaLnBrk="1" fontAlgn="base" latinLnBrk="0" hangingPunct="1">
              <a:lnSpc>
                <a:spcPct val="100000"/>
              </a:lnSpc>
              <a:spcBef>
                <a:spcPct val="20000"/>
              </a:spcBef>
              <a:buClrTx/>
              <a:buSzTx/>
              <a:buChar char="•"/>
            </a:pPr>
            <a:r>
              <a:rPr lang="zh-CN" altLang="en-US" sz="2325" dirty="0">
                <a:latin typeface="黑体" panose="02010609060101010101" pitchFamily="2" charset="-122"/>
                <a:ea typeface="黑体" panose="02010609060101010101" pitchFamily="2" charset="-122"/>
                <a:cs typeface="+mn-ea"/>
                <a:sym typeface="+mn-ea"/>
              </a:rPr>
              <a:t>根据关键词去定位所在文件和单词所在位置</a:t>
            </a:r>
          </a:p>
          <a:p>
            <a:pPr marR="0" lvl="1" algn="l" defTabSz="1219200" rtl="0" eaLnBrk="1" fontAlgn="base" latinLnBrk="0" hangingPunct="1">
              <a:lnSpc>
                <a:spcPct val="100000"/>
              </a:lnSpc>
              <a:spcBef>
                <a:spcPct val="20000"/>
              </a:spcBef>
              <a:buClrTx/>
              <a:buSzTx/>
              <a:buChar char="•"/>
            </a:pPr>
            <a:r>
              <a:rPr lang="zh-CN" altLang="en-US" sz="2330" dirty="0">
                <a:latin typeface="宋体" panose="02010600030101010101" pitchFamily="2" charset="-122"/>
                <a:cs typeface="+mn-ea"/>
                <a:sym typeface="+mn-ea"/>
              </a:rPr>
              <a:t>正向查找是从文件去查找是否包含该单词</a:t>
            </a:r>
          </a:p>
          <a:p>
            <a:pPr marR="0" lvl="1" algn="l" defTabSz="1219200" rtl="0" eaLnBrk="1" fontAlgn="base" latinLnBrk="0" hangingPunct="1">
              <a:lnSpc>
                <a:spcPct val="100000"/>
              </a:lnSpc>
              <a:spcBef>
                <a:spcPct val="20000"/>
              </a:spcBef>
              <a:buClrTx/>
              <a:buSzTx/>
              <a:buChar char="•"/>
            </a:pPr>
            <a:endParaRPr lang="zh-CN" altLang="en-US" sz="2330" dirty="0">
              <a:latin typeface="宋体" panose="0201060003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a:t>
            </a:r>
          </a:p>
        </p:txBody>
      </p:sp>
      <p:sp>
        <p:nvSpPr>
          <p:cNvPr id="2" name="灯片编号占位符 1"/>
          <p:cNvSpPr>
            <a:spLocks noGrp="1"/>
          </p:cNvSpPr>
          <p:nvPr>
            <p:ph type="sldNum" sz="quarter" idx="4"/>
          </p:nvPr>
        </p:nvSpPr>
        <p:spPr/>
        <p:txBody>
          <a:bodyPr/>
          <a:lstStyle/>
          <a:p>
            <a:fld id="{F18B4237-A20D-4DE2-ADD8-75BCC50A7656}" type="slidenum">
              <a:rPr lang="zh-CN" altLang="en-US"/>
              <a:t>4</a:t>
            </a:fld>
            <a:endParaRPr lang="zh-CN" altLang="en-US"/>
          </a:p>
        </p:txBody>
      </p:sp>
      <p:pic>
        <p:nvPicPr>
          <p:cNvPr id="6" name="图片 5"/>
          <p:cNvPicPr>
            <a:picLocks noChangeAspect="1"/>
          </p:cNvPicPr>
          <p:nvPr/>
        </p:nvPicPr>
        <p:blipFill>
          <a:blip r:embed="rId2"/>
          <a:stretch>
            <a:fillRect/>
          </a:stretch>
        </p:blipFill>
        <p:spPr>
          <a:xfrm>
            <a:off x="9048115" y="2853055"/>
            <a:ext cx="2266950" cy="1428750"/>
          </a:xfrm>
          <a:prstGeom prst="rect">
            <a:avLst/>
          </a:prstGeom>
        </p:spPr>
      </p:pic>
      <p:pic>
        <p:nvPicPr>
          <p:cNvPr id="7" name="图片 6"/>
          <p:cNvPicPr>
            <a:picLocks noChangeAspect="1"/>
          </p:cNvPicPr>
          <p:nvPr/>
        </p:nvPicPr>
        <p:blipFill>
          <a:blip r:embed="rId3"/>
          <a:stretch>
            <a:fillRect/>
          </a:stretch>
        </p:blipFill>
        <p:spPr>
          <a:xfrm>
            <a:off x="8400415" y="4371975"/>
            <a:ext cx="3477260" cy="24288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lnSpc>
                <a:spcPct val="100000"/>
              </a:lnSpc>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查找包含四种操作：查询、检索、插入、删除</a:t>
            </a: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查询，元素是否存在</a:t>
            </a: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检索，找到某个元素，访问元素的属性</a:t>
            </a:r>
          </a:p>
          <a:p>
            <a:pPr lvl="1" algn="l" eaLnBrk="1" hangingPunct="1">
              <a:buClrTx/>
              <a:buSzTx/>
              <a:buChar char="•"/>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插入</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，若元素不存在则插入</a:t>
            </a: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删除，若元素存在则删除</a:t>
            </a:r>
            <a:endParaRPr lang="zh-CN" altLang="en-US" dirty="0">
              <a:latin typeface="黑体" panose="02010609060101010101" pitchFamily="2" charset="-122"/>
              <a:ea typeface="黑体" panose="02010609060101010101" pitchFamily="2" charset="-122"/>
              <a:cs typeface="+mn-ea"/>
            </a:endParaRPr>
          </a:p>
          <a:p>
            <a:pPr marL="457200" lvl="1" indent="-457200" algn="l" eaLnBrk="1" hangingPunct="1">
              <a:lnSpc>
                <a:spcPct val="100000"/>
              </a:lnSpc>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查找表分为：</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静态查找表</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、动态查找表</a:t>
            </a:r>
            <a:endParaRPr lang="en-US"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lnSpc>
                <a:spcPct val="100000"/>
              </a:lnSpc>
              <a:buClrTx/>
              <a:buSzTx/>
              <a:buChar char="•"/>
            </a:pPr>
            <a:r>
              <a:rPr lang="zh-CN" altLang="en-US" sz="2400" dirty="0">
                <a:latin typeface="黑体" panose="02010609060101010101" pitchFamily="2" charset="-122"/>
                <a:ea typeface="黑体" panose="02010609060101010101" pitchFamily="2" charset="-122"/>
                <a:cs typeface="+mn-ea"/>
                <a:sym typeface="+mn-ea"/>
              </a:rPr>
              <a:t>静态查找表，前两种查询和检索操作，查找操作不影响原有数据集合</a:t>
            </a:r>
          </a:p>
          <a:p>
            <a:pPr lvl="1" algn="l" eaLnBrk="1" hangingPunct="1">
              <a:lnSpc>
                <a:spcPct val="100000"/>
              </a:lnSpc>
              <a:buClrTx/>
              <a:buSzTx/>
              <a:buChar char="•"/>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动态查找表</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，包含四种操作</a:t>
            </a:r>
            <a:r>
              <a:rPr lang="zh-CN" altLang="en-US" dirty="0">
                <a:latin typeface="黑体" panose="02010609060101010101" pitchFamily="2" charset="-122"/>
                <a:ea typeface="黑体" panose="02010609060101010101" pitchFamily="2" charset="-122"/>
                <a:cs typeface="+mn-ea"/>
                <a:sym typeface="+mn-ea"/>
              </a:rPr>
              <a:t>，查找操作会修改原有数据集合</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lvl="1" algn="l" eaLnBrk="1" hangingPunct="1">
              <a:lnSpc>
                <a:spcPct val="100000"/>
              </a:lnSpc>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5</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查找的术语</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查找表，同一类型元素构成的</a:t>
            </a:r>
            <a:r>
              <a:rPr lang="zh-CN" altLang="en-US" sz="2400" dirty="0">
                <a:solidFill>
                  <a:srgbClr val="FF0000"/>
                </a:solidFill>
                <a:latin typeface="黑体" panose="02010609060101010101" pitchFamily="2" charset="-122"/>
                <a:ea typeface="黑体" panose="02010609060101010101" pitchFamily="2" charset="-122"/>
                <a:cs typeface="+mn-ea"/>
                <a:sym typeface="+mn-ea"/>
              </a:rPr>
              <a:t>集合</a:t>
            </a:r>
            <a:r>
              <a:rPr lang="zh-CN" altLang="en-US" sz="2400" dirty="0">
                <a:latin typeface="黑体" panose="02010609060101010101" pitchFamily="2" charset="-122"/>
                <a:ea typeface="黑体" panose="02010609060101010101" pitchFamily="2" charset="-122"/>
                <a:cs typeface="+mn-ea"/>
                <a:sym typeface="+mn-ea"/>
              </a:rPr>
              <a:t>。集合是一个松散灵活的数据结构</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关键字，是数据元素中某个数据项的值，用以标识一个数据元素，分主关键字（唯一标识），次关键字（部分识别）</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查找，根据给定的某个值，在查找表中确定一个其关键字等于给定值的数据元素（或记录）。</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若查找成功返回位置或记录；查找不成功返回空指针或空记录</a:t>
            </a: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6</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衡量查找算法的标准</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时间复杂度</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空间复杂度</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平均查找长度ASL，为确定记录在表中的位置所进行的和关键字比较的次数的平均值</a:t>
            </a:r>
            <a:endParaRPr lang="zh-CN" altLang="en-US" sz="2400" dirty="0">
              <a:latin typeface="黑体" panose="02010609060101010101" pitchFamily="2" charset="-122"/>
              <a:ea typeface="黑体" panose="02010609060101010101" pitchFamily="2" charset="-122"/>
              <a:cs typeface="+mn-ea"/>
            </a:endParaRPr>
          </a:p>
          <a:p>
            <a:pPr marL="609600" indent="-609600" eaLnBrk="1" hangingPunct="1">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n</a:t>
            </a:r>
            <a:endParaRPr lang="en-US" altLang="zh-CN" sz="2400" b="0" dirty="0">
              <a:latin typeface="黑体" panose="02010609060101010101" pitchFamily="2" charset="-122"/>
              <a:ea typeface="黑体" panose="02010609060101010101" pitchFamily="2" charset="-122"/>
            </a:endParaRPr>
          </a:p>
          <a:p>
            <a:pPr marL="609600" indent="-609600" eaLnBrk="1" hangingPunct="1">
              <a:lnSpc>
                <a:spcPct val="80000"/>
              </a:lnSpc>
              <a:spcBef>
                <a:spcPct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ASL = ∑ P</a:t>
            </a:r>
            <a:r>
              <a:rPr lang="en-US" altLang="zh-CN" sz="2400" baseline="-25000" dirty="0">
                <a:latin typeface="黑体" panose="02010609060101010101" pitchFamily="2" charset="-122"/>
                <a:ea typeface="黑体" panose="02010609060101010101" pitchFamily="2" charset="-122"/>
                <a:sym typeface="+mn-ea"/>
              </a:rPr>
              <a:t>i</a:t>
            </a:r>
            <a:r>
              <a:rPr lang="en-US" altLang="zh-CN" sz="2400" dirty="0">
                <a:latin typeface="黑体" panose="02010609060101010101" pitchFamily="2" charset="-122"/>
                <a:ea typeface="黑体" panose="02010609060101010101" pitchFamily="2" charset="-122"/>
                <a:sym typeface="+mn-ea"/>
              </a:rPr>
              <a:t>C</a:t>
            </a:r>
            <a:r>
              <a:rPr lang="en-US" altLang="zh-CN" sz="2400" baseline="-25000" dirty="0">
                <a:latin typeface="黑体" panose="02010609060101010101" pitchFamily="2" charset="-122"/>
                <a:ea typeface="黑体" panose="02010609060101010101" pitchFamily="2" charset="-122"/>
                <a:sym typeface="+mn-ea"/>
              </a:rPr>
              <a:t>i</a:t>
            </a:r>
            <a:endParaRPr lang="en-US" altLang="zh-CN" sz="2400" b="0" baseline="-25000" dirty="0">
              <a:latin typeface="黑体" panose="02010609060101010101" pitchFamily="2" charset="-122"/>
              <a:ea typeface="黑体" panose="02010609060101010101" pitchFamily="2" charset="-122"/>
            </a:endParaRPr>
          </a:p>
          <a:p>
            <a:pPr marL="609600" indent="-609600" eaLnBrk="1" hangingPunct="1">
              <a:lnSpc>
                <a:spcPct val="60000"/>
              </a:lnSpc>
              <a:spcBef>
                <a:spcPct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i=1</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4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n</a:t>
            </a:r>
            <a:r>
              <a:rPr lang="zh-CN" altLang="en-US" sz="2000" dirty="0">
                <a:latin typeface="黑体" panose="02010609060101010101" pitchFamily="2" charset="-122"/>
                <a:ea typeface="黑体" panose="02010609060101010101" pitchFamily="2" charset="-122"/>
                <a:sym typeface="+mn-ea"/>
              </a:rPr>
              <a:t>为查找表的长度，即表中所含元素的个数</a:t>
            </a:r>
            <a:endParaRPr lang="zh-CN" altLang="en-US" sz="2000" b="0" dirty="0">
              <a:latin typeface="黑体" panose="02010609060101010101" pitchFamily="2" charset="-122"/>
              <a:ea typeface="黑体" panose="02010609060101010101" pitchFamily="2" charset="-122"/>
            </a:endParaRPr>
          </a:p>
          <a:p>
            <a:pPr marL="609600" indent="-609600" eaLnBrk="1" hangingPunct="1">
              <a:spcBef>
                <a:spcPct val="0"/>
              </a:spcBef>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P</a:t>
            </a:r>
            <a:r>
              <a:rPr lang="en-US" altLang="zh-CN" sz="2000" baseline="-25000" dirty="0">
                <a:latin typeface="黑体" panose="02010609060101010101" pitchFamily="2" charset="-122"/>
                <a:ea typeface="黑体" panose="02010609060101010101" pitchFamily="2" charset="-122"/>
                <a:sym typeface="+mn-ea"/>
              </a:rPr>
              <a:t>i</a:t>
            </a:r>
            <a:r>
              <a:rPr lang="zh-CN" altLang="en-US" sz="2000" dirty="0">
                <a:latin typeface="黑体" panose="02010609060101010101" pitchFamily="2" charset="-122"/>
                <a:ea typeface="黑体" panose="02010609060101010101" pitchFamily="2" charset="-122"/>
                <a:sym typeface="+mn-ea"/>
              </a:rPr>
              <a:t>为查找第</a:t>
            </a:r>
            <a:r>
              <a:rPr lang="en-US" altLang="zh-CN" sz="2000" dirty="0">
                <a:latin typeface="黑体" panose="02010609060101010101" pitchFamily="2" charset="-122"/>
                <a:ea typeface="黑体" panose="02010609060101010101" pitchFamily="2" charset="-122"/>
                <a:sym typeface="+mn-ea"/>
              </a:rPr>
              <a:t>i</a:t>
            </a:r>
            <a:r>
              <a:rPr lang="zh-CN" altLang="en-US" sz="2000" dirty="0">
                <a:latin typeface="黑体" panose="02010609060101010101" pitchFamily="2" charset="-122"/>
                <a:ea typeface="黑体" panose="02010609060101010101" pitchFamily="2" charset="-122"/>
                <a:sym typeface="+mn-ea"/>
              </a:rPr>
              <a:t>个元素的概率</a:t>
            </a:r>
            <a:r>
              <a:rPr lang="en-US" altLang="zh-CN" sz="2000" dirty="0">
                <a:latin typeface="黑体" panose="02010609060101010101" pitchFamily="2" charset="-122"/>
                <a:ea typeface="黑体" panose="02010609060101010101" pitchFamily="2" charset="-122"/>
                <a:sym typeface="+mn-ea"/>
              </a:rPr>
              <a:t>(∑P</a:t>
            </a:r>
            <a:r>
              <a:rPr lang="en-US" altLang="zh-CN" sz="2000" baseline="-25000" dirty="0">
                <a:latin typeface="黑体" panose="02010609060101010101" pitchFamily="2" charset="-122"/>
                <a:ea typeface="黑体" panose="02010609060101010101" pitchFamily="2" charset="-122"/>
                <a:sym typeface="+mn-ea"/>
              </a:rPr>
              <a:t>i</a:t>
            </a:r>
            <a:r>
              <a:rPr lang="en-US" altLang="zh-CN" sz="2000" dirty="0">
                <a:latin typeface="黑体" panose="02010609060101010101" pitchFamily="2" charset="-122"/>
                <a:ea typeface="黑体" panose="02010609060101010101" pitchFamily="2" charset="-122"/>
                <a:sym typeface="+mn-ea"/>
              </a:rPr>
              <a:t>=1)</a:t>
            </a:r>
            <a:endParaRPr lang="en-US" altLang="zh-CN" sz="2000" b="0" dirty="0">
              <a:latin typeface="黑体" panose="02010609060101010101" pitchFamily="2" charset="-122"/>
              <a:ea typeface="黑体" panose="0201060906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C</a:t>
            </a:r>
            <a:r>
              <a:rPr lang="en-US" altLang="zh-CN" sz="2000" baseline="-25000" dirty="0">
                <a:latin typeface="黑体" panose="02010609060101010101" pitchFamily="2" charset="-122"/>
                <a:ea typeface="黑体" panose="02010609060101010101" pitchFamily="2" charset="-122"/>
                <a:sym typeface="+mn-ea"/>
              </a:rPr>
              <a:t>i</a:t>
            </a:r>
            <a:r>
              <a:rPr lang="zh-CN" altLang="en-US" sz="2000" dirty="0">
                <a:latin typeface="黑体" panose="02010609060101010101" pitchFamily="2" charset="-122"/>
                <a:ea typeface="黑体" panose="02010609060101010101" pitchFamily="2" charset="-122"/>
                <a:sym typeface="+mn-ea"/>
              </a:rPr>
              <a:t>是查找第</a:t>
            </a:r>
            <a:r>
              <a:rPr lang="en-US" altLang="zh-CN" sz="2000" dirty="0">
                <a:latin typeface="黑体" panose="02010609060101010101" pitchFamily="2" charset="-122"/>
                <a:ea typeface="黑体" panose="02010609060101010101" pitchFamily="2" charset="-122"/>
                <a:sym typeface="+mn-ea"/>
              </a:rPr>
              <a:t>i</a:t>
            </a:r>
            <a:r>
              <a:rPr lang="zh-CN" altLang="en-US" sz="2000" dirty="0">
                <a:latin typeface="黑体" panose="02010609060101010101" pitchFamily="2" charset="-122"/>
                <a:ea typeface="黑体" panose="02010609060101010101" pitchFamily="2" charset="-122"/>
                <a:sym typeface="+mn-ea"/>
              </a:rPr>
              <a:t>个元素时同给定值</a:t>
            </a:r>
            <a:r>
              <a:rPr lang="en-US" altLang="zh-CN" sz="2000" dirty="0">
                <a:latin typeface="黑体" panose="02010609060101010101" pitchFamily="2" charset="-122"/>
                <a:ea typeface="黑体" panose="02010609060101010101" pitchFamily="2" charset="-122"/>
                <a:sym typeface="+mn-ea"/>
              </a:rPr>
              <a:t>K</a:t>
            </a:r>
            <a:r>
              <a:rPr lang="zh-CN" altLang="en-US" sz="2000" dirty="0">
                <a:latin typeface="黑体" panose="02010609060101010101" pitchFamily="2" charset="-122"/>
                <a:ea typeface="黑体" panose="02010609060101010101" pitchFamily="2" charset="-122"/>
                <a:sym typeface="+mn-ea"/>
              </a:rPr>
              <a:t>比较的次数</a:t>
            </a:r>
          </a:p>
          <a:p>
            <a:pPr marL="609600" indent="-609600" eaLnBrk="1" hangingPunct="1">
              <a:spcBef>
                <a:spcPct val="0"/>
              </a:spcBef>
              <a:buClr>
                <a:schemeClr val="accent1"/>
              </a:buClr>
              <a:buSzTx/>
              <a:buFont typeface="Wingdings" panose="05000000000000000000" pitchFamily="2" charset="2"/>
              <a:buNone/>
            </a:pPr>
            <a:endParaRPr lang="zh-CN" altLang="en-US" sz="2000" b="0" dirty="0">
              <a:latin typeface="黑体" panose="02010609060101010101" pitchFamily="2" charset="-122"/>
              <a:ea typeface="黑体" panose="02010609060101010101" pitchFamily="2" charset="-122"/>
              <a:sym typeface="+mn-ea"/>
            </a:endParaRPr>
          </a:p>
          <a:p>
            <a:pPr marL="609600" indent="-609600" eaLnBrk="1" hangingPunct="1">
              <a:spcBef>
                <a:spcPct val="0"/>
              </a:spcBef>
              <a:buClr>
                <a:schemeClr val="accent1"/>
              </a:buClr>
              <a:buSzTx/>
              <a:buFont typeface="Wingdings" panose="05000000000000000000" pitchFamily="2" charset="2"/>
              <a:buNone/>
            </a:pPr>
            <a:r>
              <a:rPr lang="zh-CN" altLang="en-US" sz="2000" b="1" dirty="0">
                <a:solidFill>
                  <a:srgbClr val="FF0000"/>
                </a:solidFill>
                <a:latin typeface="黑体" panose="02010609060101010101" pitchFamily="2" charset="-122"/>
                <a:ea typeface="黑体" panose="02010609060101010101" pitchFamily="2" charset="-122"/>
                <a:sym typeface="+mn-ea"/>
              </a:rPr>
              <a:t>例如可以把查找概率高的记录放在最先查找的区域，减少</a:t>
            </a:r>
            <a:r>
              <a:rPr lang="en-US" altLang="zh-CN" sz="2000" b="1" dirty="0">
                <a:solidFill>
                  <a:srgbClr val="FF0000"/>
                </a:solidFill>
                <a:latin typeface="黑体" panose="02010609060101010101" pitchFamily="2" charset="-122"/>
                <a:ea typeface="黑体" panose="02010609060101010101" pitchFamily="2" charset="-122"/>
                <a:sym typeface="+mn-ea"/>
              </a:rPr>
              <a:t>ASL</a:t>
            </a:r>
            <a:endParaRPr lang="zh-CN" altLang="en-US" sz="2000" b="0" dirty="0">
              <a:latin typeface="黑体" panose="02010609060101010101" pitchFamily="2" charset="-122"/>
              <a:ea typeface="黑体" panose="02010609060101010101" pitchFamily="2" charset="-122"/>
            </a:endParaRPr>
          </a:p>
          <a:p>
            <a:pPr lvl="1" algn="l" eaLnBrk="1" hangingPunct="1">
              <a:buClrTx/>
              <a:buSzTx/>
              <a:buChar char="•"/>
            </a:pPr>
            <a:endParaRPr lang="zh-CN" altLang="en-US" sz="20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7</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静态查找算法</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顺序查找</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b="0" dirty="0">
                <a:latin typeface="黑体" panose="02010609060101010101" pitchFamily="2" charset="-122"/>
                <a:ea typeface="黑体" panose="02010609060101010101" pitchFamily="2" charset="-122"/>
                <a:cs typeface="+mn-ea"/>
              </a:rPr>
              <a:t>折半查找（二分查找）</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rPr>
              <a:t>索引顺序查找（分块查找）</a:t>
            </a:r>
          </a:p>
          <a:p>
            <a:pPr lvl="1" algn="l" eaLnBrk="1" hangingPunct="1">
              <a:buClrTx/>
              <a:buSzTx/>
              <a:buChar char="•"/>
            </a:pPr>
            <a:endParaRPr lang="zh-CN" altLang="en-US" sz="20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8</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顺序查找，是顺序表的查找方法，以顺序表或线性链表表示静态查找表。</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7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1.</a:t>
            </a:r>
            <a:r>
              <a:rPr lang="zh-CN" altLang="en-US" sz="2400" dirty="0">
                <a:latin typeface="黑体" panose="02010609060101010101" pitchFamily="2" charset="-122"/>
                <a:ea typeface="黑体" panose="02010609060101010101" pitchFamily="2" charset="-122"/>
                <a:sym typeface="+mn-ea"/>
              </a:rPr>
              <a:t>从表中</a:t>
            </a:r>
            <a:r>
              <a:rPr lang="zh-CN" altLang="en-US" sz="2400" dirty="0">
                <a:solidFill>
                  <a:srgbClr val="FF0000"/>
                </a:solidFill>
                <a:latin typeface="黑体" panose="02010609060101010101" pitchFamily="2" charset="-122"/>
                <a:ea typeface="黑体" panose="02010609060101010101" pitchFamily="2" charset="-122"/>
                <a:sym typeface="+mn-ea"/>
              </a:rPr>
              <a:t>最后一个记录</a:t>
            </a:r>
            <a:r>
              <a:rPr lang="zh-CN" altLang="en-US" sz="2400" dirty="0">
                <a:latin typeface="黑体" panose="02010609060101010101" pitchFamily="2" charset="-122"/>
                <a:ea typeface="黑体" panose="02010609060101010101" pitchFamily="2" charset="-122"/>
                <a:sym typeface="+mn-ea"/>
              </a:rPr>
              <a:t>开始</a:t>
            </a:r>
            <a:endParaRPr lang="zh-CN" altLang="en-US" sz="2400" b="0" dirty="0">
              <a:latin typeface="黑体" panose="02010609060101010101" pitchFamily="2" charset="-122"/>
              <a:ea typeface="黑体" panose="02010609060101010101" pitchFamily="2" charset="-122"/>
            </a:endParaRPr>
          </a:p>
          <a:p>
            <a:pPr marL="609600" indent="-609600" eaLnBrk="1" hangingPunct="1">
              <a:spcBef>
                <a:spcPct val="7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2.</a:t>
            </a:r>
            <a:r>
              <a:rPr lang="zh-CN" altLang="en-US" sz="2400" dirty="0">
                <a:latin typeface="黑体" panose="02010609060101010101" pitchFamily="2" charset="-122"/>
                <a:ea typeface="黑体" panose="02010609060101010101" pitchFamily="2" charset="-122"/>
                <a:sym typeface="+mn-ea"/>
              </a:rPr>
              <a:t>逐个进行记录的关键字和给定值的比较</a:t>
            </a:r>
            <a:endParaRPr lang="zh-CN" altLang="en-US" sz="2400" b="0" dirty="0">
              <a:latin typeface="黑体" panose="02010609060101010101" pitchFamily="2" charset="-122"/>
              <a:ea typeface="黑体" panose="02010609060101010101" pitchFamily="2" charset="-122"/>
            </a:endParaRPr>
          </a:p>
          <a:p>
            <a:pPr marL="609600" indent="-609600" eaLnBrk="1" hangingPunct="1">
              <a:spcBef>
                <a:spcPct val="7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3.</a:t>
            </a:r>
            <a:r>
              <a:rPr lang="zh-CN" altLang="en-US" sz="2400" dirty="0">
                <a:latin typeface="黑体" panose="02010609060101010101" pitchFamily="2" charset="-122"/>
                <a:ea typeface="黑体" panose="02010609060101010101" pitchFamily="2" charset="-122"/>
                <a:sym typeface="+mn-ea"/>
              </a:rPr>
              <a:t>若某个记录比较相等，则查找成功</a:t>
            </a:r>
            <a:endParaRPr lang="zh-CN" altLang="en-US" sz="2400" b="0" dirty="0">
              <a:latin typeface="黑体" panose="02010609060101010101" pitchFamily="2" charset="-122"/>
              <a:ea typeface="黑体" panose="02010609060101010101" pitchFamily="2" charset="-122"/>
            </a:endParaRPr>
          </a:p>
          <a:p>
            <a:pPr marL="609600" indent="-609600" eaLnBrk="1" hangingPunct="1">
              <a:spcBef>
                <a:spcPct val="7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4.</a:t>
            </a:r>
            <a:r>
              <a:rPr lang="zh-CN" altLang="en-US" sz="2400" dirty="0">
                <a:latin typeface="黑体" panose="02010609060101010101" pitchFamily="2" charset="-122"/>
                <a:ea typeface="黑体" panose="02010609060101010101" pitchFamily="2" charset="-122"/>
                <a:sym typeface="+mn-ea"/>
              </a:rPr>
              <a:t>若直到第</a:t>
            </a:r>
            <a:r>
              <a:rPr lang="en-US" altLang="zh-CN" sz="2400" dirty="0">
                <a:latin typeface="黑体" panose="02010609060101010101" pitchFamily="2" charset="-122"/>
                <a:ea typeface="黑体" panose="02010609060101010101" pitchFamily="2" charset="-122"/>
                <a:sym typeface="+mn-ea"/>
              </a:rPr>
              <a:t>1</a:t>
            </a:r>
            <a:r>
              <a:rPr lang="zh-CN" altLang="en-US" sz="2400" dirty="0">
                <a:latin typeface="黑体" panose="02010609060101010101" pitchFamily="2" charset="-122"/>
                <a:ea typeface="黑体" panose="02010609060101010101" pitchFamily="2" charset="-122"/>
                <a:sym typeface="+mn-ea"/>
              </a:rPr>
              <a:t>个记录都比较不等，则查找不成功</a:t>
            </a:r>
            <a:endParaRPr lang="zh-CN" altLang="en-US" sz="2400" b="0" dirty="0">
              <a:latin typeface="黑体" panose="02010609060101010101" pitchFamily="2" charset="-122"/>
              <a:ea typeface="黑体" panose="02010609060101010101" pitchFamily="2" charset="-122"/>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9</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顺序查找算法实现</a:t>
            </a:r>
          </a:p>
          <a:p>
            <a:pPr marL="609600" indent="-609600" eaLnBrk="1" latinLnBrk="0" hangingPunct="1">
              <a:lnSpc>
                <a:spcPct val="90000"/>
              </a:lnSpc>
              <a:spcBef>
                <a:spcPts val="0"/>
              </a:spcBef>
              <a:buClr>
                <a:schemeClr val="accent1"/>
              </a:buClr>
              <a:buSzTx/>
              <a:buFont typeface="Wingdings" panose="05000000000000000000" pitchFamily="2" charset="2"/>
              <a:buNone/>
            </a:pPr>
            <a:endParaRPr lang="en-US" altLang="zh-CN" sz="2400" dirty="0">
              <a:latin typeface="黑体" panose="02010609060101010101" pitchFamily="2" charset="-122"/>
              <a:ea typeface="黑体" panose="02010609060101010101" pitchFamily="2" charset="-122"/>
              <a:cs typeface="黑体" panose="02010609060101010101" pitchFamily="2" charset="-122"/>
              <a:sym typeface="+mn-ea"/>
            </a:endParaRPr>
          </a:p>
          <a:p>
            <a:pPr marL="609600" indent="-609600" eaLnBrk="1" latinLnBrk="0" hangingPunct="1">
              <a:lnSpc>
                <a:spcPct val="110000"/>
              </a:lnSpc>
              <a:spcBef>
                <a:spcPts val="0"/>
              </a:spcBef>
              <a:spcAft>
                <a:spcPts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int Search_Seq(SSTable ST, KeyType key) {</a:t>
            </a:r>
            <a:endParaRPr lang="en-US" altLang="zh-CN" sz="2400"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10000"/>
              </a:lnSpc>
              <a:spcBef>
                <a:spcPts val="0"/>
              </a:spcBef>
              <a:spcAft>
                <a:spcPts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若查找成功，返回位置</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10000"/>
              </a:lnSpc>
              <a:spcBef>
                <a:spcPts val="0"/>
              </a:spcBef>
              <a:spcAft>
                <a:spcPts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ST.elem[0].key = key;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哨兵”，</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10000"/>
              </a:lnSpc>
              <a:spcBef>
                <a:spcPts val="0"/>
              </a:spcBef>
              <a:spcAft>
                <a:spcPts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for (i=ST.length; ST.elem[i].key!=key; --i);//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从后往前找</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10000"/>
              </a:lnSpc>
              <a:spcBef>
                <a:spcPts val="0"/>
              </a:spcBef>
              <a:spcAft>
                <a:spcPts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return i;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找不到时</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,i=0</a:t>
            </a:r>
            <a:endParaRPr lang="en-US" altLang="zh-CN" sz="2400"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10000"/>
              </a:lnSpc>
              <a:spcBef>
                <a:spcPts val="0"/>
              </a:spcBef>
              <a:spcAft>
                <a:spcPts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 Search_Seq</a:t>
            </a:r>
            <a:endParaRPr lang="en-US" altLang="zh-CN" b="0" dirty="0">
              <a:latin typeface="黑体" panose="02010609060101010101" pitchFamily="2" charset="-122"/>
              <a:ea typeface="黑体" panose="02010609060101010101" pitchFamily="2" charset="-122"/>
            </a:endParaRPr>
          </a:p>
          <a:p>
            <a:pPr marL="0" lvl="1" indent="0" algn="l" eaLnBrk="1" hangingPunct="1">
              <a:buClrTx/>
              <a:buSzTx/>
              <a:buFont typeface="Wingdings" panose="05000000000000000000" charset="0"/>
              <a:buNone/>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10</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顺序查找举例</a:t>
            </a: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11</a:t>
            </a:fld>
            <a:endParaRPr lang="zh-CN" altLang="en-US"/>
          </a:p>
        </p:txBody>
      </p:sp>
      <p:grpSp>
        <p:nvGrpSpPr>
          <p:cNvPr id="15364" name="Group 33"/>
          <p:cNvGrpSpPr/>
          <p:nvPr/>
        </p:nvGrpSpPr>
        <p:grpSpPr>
          <a:xfrm>
            <a:off x="2783523" y="1412558"/>
            <a:ext cx="7162800" cy="4264025"/>
            <a:chOff x="385" y="1029"/>
            <a:chExt cx="4512" cy="2686"/>
          </a:xfrm>
        </p:grpSpPr>
        <p:sp>
          <p:nvSpPr>
            <p:cNvPr id="15365" name="Line 4"/>
            <p:cNvSpPr/>
            <p:nvPr/>
          </p:nvSpPr>
          <p:spPr>
            <a:xfrm flipV="1">
              <a:off x="4516" y="1797"/>
              <a:ext cx="0" cy="222"/>
            </a:xfrm>
            <a:prstGeom prst="line">
              <a:avLst/>
            </a:prstGeom>
            <a:ln w="9525" cap="flat" cmpd="sng">
              <a:solidFill>
                <a:srgbClr val="003366"/>
              </a:solidFill>
              <a:prstDash val="solid"/>
              <a:round/>
              <a:headEnd type="none" w="med" len="med"/>
              <a:tailEnd type="triangle" w="med" len="med"/>
            </a:ln>
          </p:spPr>
        </p:sp>
        <p:sp>
          <p:nvSpPr>
            <p:cNvPr id="15366" name="Text Box 5"/>
            <p:cNvSpPr txBox="1"/>
            <p:nvPr/>
          </p:nvSpPr>
          <p:spPr>
            <a:xfrm>
              <a:off x="4369" y="1989"/>
              <a:ext cx="420" cy="251"/>
            </a:xfrm>
            <a:prstGeom prst="rect">
              <a:avLst/>
            </a:prstGeom>
            <a:noFill/>
            <a:ln w="9525">
              <a:noFill/>
            </a:ln>
          </p:spPr>
          <p:txBody>
            <a:bodyPr anchor="t" anchorCtr="0">
              <a:spAutoFit/>
            </a:bodyPr>
            <a:lstStyle/>
            <a:p>
              <a:r>
                <a:rPr lang="en-US" altLang="zh-CN" sz="2000" b="1" dirty="0">
                  <a:solidFill>
                    <a:srgbClr val="003300"/>
                  </a:solidFill>
                  <a:latin typeface="Times New Roman" panose="02020603050405020304" pitchFamily="18" charset="0"/>
                  <a:ea typeface="宋体" panose="02010600030101010101" pitchFamily="2" charset="-122"/>
                </a:rPr>
                <a:t>i=11</a:t>
              </a:r>
            </a:p>
          </p:txBody>
        </p:sp>
        <p:sp>
          <p:nvSpPr>
            <p:cNvPr id="15367" name="AutoShape 6"/>
            <p:cNvSpPr/>
            <p:nvPr/>
          </p:nvSpPr>
          <p:spPr>
            <a:xfrm>
              <a:off x="2814" y="1029"/>
              <a:ext cx="1022" cy="233"/>
            </a:xfrm>
            <a:prstGeom prst="wedgeEllipseCallout">
              <a:avLst>
                <a:gd name="adj1" fmla="val -43736"/>
                <a:gd name="adj2" fmla="val 70171"/>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zh-CN" altLang="en-US" sz="2000" b="1" dirty="0">
                  <a:solidFill>
                    <a:srgbClr val="FF0000"/>
                  </a:solidFill>
                  <a:latin typeface="Times New Roman" panose="02020603050405020304" pitchFamily="18" charset="0"/>
                  <a:ea typeface="宋体" panose="02010600030101010101" pitchFamily="2" charset="-122"/>
                </a:rPr>
                <a:t>找</a:t>
              </a:r>
              <a:r>
                <a:rPr lang="en-US" altLang="zh-CN" sz="2000" b="1" dirty="0">
                  <a:solidFill>
                    <a:srgbClr val="FF0000"/>
                  </a:solidFill>
                  <a:latin typeface="Times New Roman" panose="02020603050405020304" pitchFamily="18" charset="0"/>
                  <a:ea typeface="宋体" panose="02010600030101010101" pitchFamily="2" charset="-122"/>
                </a:rPr>
                <a:t>64</a:t>
              </a:r>
            </a:p>
          </p:txBody>
        </p:sp>
        <p:sp>
          <p:nvSpPr>
            <p:cNvPr id="15368" name="AutoShape 7"/>
            <p:cNvSpPr/>
            <p:nvPr/>
          </p:nvSpPr>
          <p:spPr>
            <a:xfrm>
              <a:off x="577" y="2181"/>
              <a:ext cx="576" cy="384"/>
            </a:xfrm>
            <a:prstGeom prst="cloudCallout">
              <a:avLst>
                <a:gd name="adj1" fmla="val -57292"/>
                <a:gd name="adj2" fmla="val -152866"/>
              </a:avLst>
            </a:prstGeom>
            <a:solidFill>
              <a:srgbClr val="FFCCFF"/>
            </a:solidFill>
            <a:ln w="9525" cap="flat" cmpd="sng">
              <a:solidFill>
                <a:srgbClr val="003366"/>
              </a:solidFill>
              <a:prstDash val="solid"/>
              <a:round/>
              <a:headEnd type="none" w="med" len="med"/>
              <a:tailEnd type="none" w="med" len="med"/>
            </a:ln>
          </p:spPr>
          <p:txBody>
            <a:bodyPr wrap="none" anchor="ctr" anchorCtr="0"/>
            <a:lstStyle/>
            <a:p>
              <a:pPr algn="ctr"/>
              <a:r>
                <a:rPr lang="zh-CN" altLang="en-US" sz="2000" b="1" dirty="0">
                  <a:solidFill>
                    <a:srgbClr val="3333FF"/>
                  </a:solidFill>
                  <a:latin typeface="Times New Roman" panose="02020603050405020304" pitchFamily="18" charset="0"/>
                  <a:ea typeface="宋体" panose="02010600030101010101" pitchFamily="2" charset="-122"/>
                </a:rPr>
                <a:t>监视哨</a:t>
              </a:r>
            </a:p>
          </p:txBody>
        </p:sp>
        <p:sp>
          <p:nvSpPr>
            <p:cNvPr id="15369" name="Line 8"/>
            <p:cNvSpPr/>
            <p:nvPr/>
          </p:nvSpPr>
          <p:spPr>
            <a:xfrm flipV="1">
              <a:off x="3028" y="1797"/>
              <a:ext cx="0" cy="222"/>
            </a:xfrm>
            <a:prstGeom prst="line">
              <a:avLst/>
            </a:prstGeom>
            <a:ln w="9525" cap="flat" cmpd="sng">
              <a:solidFill>
                <a:srgbClr val="003366"/>
              </a:solidFill>
              <a:prstDash val="solid"/>
              <a:round/>
              <a:headEnd type="none" w="med" len="med"/>
              <a:tailEnd type="triangle" w="med" len="med"/>
            </a:ln>
          </p:spPr>
        </p:sp>
        <p:sp>
          <p:nvSpPr>
            <p:cNvPr id="15370" name="Text Box 9"/>
            <p:cNvSpPr txBox="1"/>
            <p:nvPr/>
          </p:nvSpPr>
          <p:spPr>
            <a:xfrm>
              <a:off x="2833" y="1989"/>
              <a:ext cx="420" cy="251"/>
            </a:xfrm>
            <a:prstGeom prst="rect">
              <a:avLst/>
            </a:prstGeom>
            <a:noFill/>
            <a:ln w="9525">
              <a:noFill/>
            </a:ln>
          </p:spPr>
          <p:txBody>
            <a:bodyPr anchor="t" anchorCtr="0">
              <a:spAutoFit/>
            </a:bodyPr>
            <a:lstStyle/>
            <a:p>
              <a:r>
                <a:rPr lang="en-US" altLang="zh-CN" sz="2000" b="1" dirty="0">
                  <a:latin typeface="Times New Roman" panose="02020603050405020304" pitchFamily="18" charset="0"/>
                  <a:ea typeface="宋体" panose="02010600030101010101" pitchFamily="2" charset="-122"/>
                </a:rPr>
                <a:t>i=7</a:t>
              </a:r>
            </a:p>
          </p:txBody>
        </p:sp>
        <p:sp>
          <p:nvSpPr>
            <p:cNvPr id="15371" name="Line 10"/>
            <p:cNvSpPr/>
            <p:nvPr/>
          </p:nvSpPr>
          <p:spPr>
            <a:xfrm flipV="1">
              <a:off x="3400" y="1797"/>
              <a:ext cx="0" cy="222"/>
            </a:xfrm>
            <a:prstGeom prst="line">
              <a:avLst/>
            </a:prstGeom>
            <a:ln w="9525" cap="flat" cmpd="sng">
              <a:solidFill>
                <a:srgbClr val="003366"/>
              </a:solidFill>
              <a:prstDash val="solid"/>
              <a:round/>
              <a:headEnd type="none" w="med" len="med"/>
              <a:tailEnd type="triangle" w="med" len="med"/>
            </a:ln>
          </p:spPr>
        </p:sp>
        <p:sp>
          <p:nvSpPr>
            <p:cNvPr id="15372" name="Text Box 11"/>
            <p:cNvSpPr txBox="1"/>
            <p:nvPr/>
          </p:nvSpPr>
          <p:spPr>
            <a:xfrm>
              <a:off x="3205" y="1989"/>
              <a:ext cx="420" cy="251"/>
            </a:xfrm>
            <a:prstGeom prst="rect">
              <a:avLst/>
            </a:prstGeom>
            <a:noFill/>
            <a:ln w="9525">
              <a:noFill/>
            </a:ln>
          </p:spPr>
          <p:txBody>
            <a:bodyPr anchor="t" anchorCtr="0">
              <a:spAutoFit/>
            </a:bodyPr>
            <a:lstStyle/>
            <a:p>
              <a:r>
                <a:rPr lang="en-US" altLang="zh-CN" sz="2000" b="1" dirty="0">
                  <a:latin typeface="Times New Roman" panose="02020603050405020304" pitchFamily="18" charset="0"/>
                  <a:ea typeface="宋体" panose="02010600030101010101" pitchFamily="2" charset="-122"/>
                </a:rPr>
                <a:t>i=8</a:t>
              </a:r>
            </a:p>
          </p:txBody>
        </p:sp>
        <p:sp>
          <p:nvSpPr>
            <p:cNvPr id="15373" name="Line 12"/>
            <p:cNvSpPr/>
            <p:nvPr/>
          </p:nvSpPr>
          <p:spPr>
            <a:xfrm flipV="1">
              <a:off x="3772" y="1797"/>
              <a:ext cx="0" cy="222"/>
            </a:xfrm>
            <a:prstGeom prst="line">
              <a:avLst/>
            </a:prstGeom>
            <a:ln w="9525" cap="flat" cmpd="sng">
              <a:solidFill>
                <a:srgbClr val="003366"/>
              </a:solidFill>
              <a:prstDash val="solid"/>
              <a:round/>
              <a:headEnd type="none" w="med" len="med"/>
              <a:tailEnd type="triangle" w="med" len="med"/>
            </a:ln>
          </p:spPr>
        </p:sp>
        <p:sp>
          <p:nvSpPr>
            <p:cNvPr id="15374" name="Text Box 13"/>
            <p:cNvSpPr txBox="1"/>
            <p:nvPr/>
          </p:nvSpPr>
          <p:spPr>
            <a:xfrm>
              <a:off x="3577" y="1989"/>
              <a:ext cx="420" cy="251"/>
            </a:xfrm>
            <a:prstGeom prst="rect">
              <a:avLst/>
            </a:prstGeom>
            <a:noFill/>
            <a:ln w="9525">
              <a:noFill/>
            </a:ln>
          </p:spPr>
          <p:txBody>
            <a:bodyPr anchor="t" anchorCtr="0">
              <a:spAutoFit/>
            </a:bodyPr>
            <a:lstStyle/>
            <a:p>
              <a:r>
                <a:rPr lang="en-US" altLang="zh-CN" sz="2000" b="1" dirty="0">
                  <a:latin typeface="Times New Roman" panose="02020603050405020304" pitchFamily="18" charset="0"/>
                  <a:ea typeface="宋体" panose="02010600030101010101" pitchFamily="2" charset="-122"/>
                </a:rPr>
                <a:t>i=9</a:t>
              </a:r>
            </a:p>
          </p:txBody>
        </p:sp>
        <p:sp>
          <p:nvSpPr>
            <p:cNvPr id="15375" name="Line 14"/>
            <p:cNvSpPr/>
            <p:nvPr/>
          </p:nvSpPr>
          <p:spPr>
            <a:xfrm flipV="1">
              <a:off x="4132" y="1797"/>
              <a:ext cx="0" cy="222"/>
            </a:xfrm>
            <a:prstGeom prst="line">
              <a:avLst/>
            </a:prstGeom>
            <a:ln w="9525" cap="flat" cmpd="sng">
              <a:solidFill>
                <a:srgbClr val="003366"/>
              </a:solidFill>
              <a:prstDash val="solid"/>
              <a:round/>
              <a:headEnd type="none" w="med" len="med"/>
              <a:tailEnd type="triangle" w="med" len="med"/>
            </a:ln>
          </p:spPr>
        </p:sp>
        <p:sp>
          <p:nvSpPr>
            <p:cNvPr id="15376" name="Text Box 15"/>
            <p:cNvSpPr txBox="1"/>
            <p:nvPr/>
          </p:nvSpPr>
          <p:spPr>
            <a:xfrm>
              <a:off x="3937" y="1989"/>
              <a:ext cx="420" cy="251"/>
            </a:xfrm>
            <a:prstGeom prst="rect">
              <a:avLst/>
            </a:prstGeom>
            <a:noFill/>
            <a:ln w="9525">
              <a:noFill/>
            </a:ln>
          </p:spPr>
          <p:txBody>
            <a:bodyPr anchor="t" anchorCtr="0">
              <a:spAutoFit/>
            </a:bodyPr>
            <a:lstStyle/>
            <a:p>
              <a:r>
                <a:rPr lang="en-US" altLang="zh-CN" sz="2000" b="1" dirty="0">
                  <a:latin typeface="Times New Roman" panose="02020603050405020304" pitchFamily="18" charset="0"/>
                  <a:ea typeface="宋体" panose="02010600030101010101" pitchFamily="2" charset="-122"/>
                </a:rPr>
                <a:t>i=10</a:t>
              </a:r>
            </a:p>
          </p:txBody>
        </p:sp>
        <p:sp>
          <p:nvSpPr>
            <p:cNvPr id="15377" name="Text Box 16"/>
            <p:cNvSpPr txBox="1"/>
            <p:nvPr/>
          </p:nvSpPr>
          <p:spPr>
            <a:xfrm>
              <a:off x="3922" y="2258"/>
              <a:ext cx="930" cy="251"/>
            </a:xfrm>
            <a:prstGeom prst="rect">
              <a:avLst/>
            </a:prstGeom>
            <a:solidFill>
              <a:srgbClr val="FFCCFF"/>
            </a:solidFill>
            <a:ln w="9525" cap="flat" cmpd="sng">
              <a:solidFill>
                <a:srgbClr val="003366"/>
              </a:solidFill>
              <a:prstDash val="solid"/>
              <a:miter/>
              <a:headEnd type="none" w="med" len="med"/>
              <a:tailEnd type="none" w="med" len="med"/>
            </a:ln>
          </p:spPr>
          <p:txBody>
            <a:bodyPr wrap="none" anchor="t" anchorCtr="0">
              <a:spAutoFit/>
            </a:bodyPr>
            <a:lstStyle/>
            <a:p>
              <a:r>
                <a:rPr lang="zh-CN" altLang="en-US" sz="2000" b="1" dirty="0">
                  <a:solidFill>
                    <a:srgbClr val="003300"/>
                  </a:solidFill>
                  <a:latin typeface="Times New Roman" panose="02020603050405020304" pitchFamily="18" charset="0"/>
                  <a:ea typeface="宋体" panose="02010600030101010101" pitchFamily="2" charset="-122"/>
                </a:rPr>
                <a:t>比较次数</a:t>
              </a:r>
              <a:r>
                <a:rPr lang="en-US" altLang="zh-CN" sz="2000" b="1" dirty="0">
                  <a:solidFill>
                    <a:srgbClr val="003300"/>
                  </a:solidFill>
                  <a:latin typeface="Times New Roman" panose="02020603050405020304" pitchFamily="18" charset="0"/>
                  <a:ea typeface="宋体" panose="02010600030101010101" pitchFamily="2" charset="-122"/>
                </a:rPr>
                <a:t>=5</a:t>
              </a:r>
            </a:p>
          </p:txBody>
        </p:sp>
        <p:sp>
          <p:nvSpPr>
            <p:cNvPr id="15378" name="Text Box 17"/>
            <p:cNvSpPr txBox="1"/>
            <p:nvPr/>
          </p:nvSpPr>
          <p:spPr>
            <a:xfrm>
              <a:off x="1411" y="2301"/>
              <a:ext cx="1803" cy="1414"/>
            </a:xfrm>
            <a:prstGeom prst="rect">
              <a:avLst/>
            </a:prstGeom>
            <a:solidFill>
              <a:srgbClr val="FFCCFF"/>
            </a:solidFill>
            <a:ln w="9525" cap="flat" cmpd="sng">
              <a:solidFill>
                <a:srgbClr val="003366"/>
              </a:solidFill>
              <a:prstDash val="solid"/>
              <a:miter/>
              <a:headEnd type="none" w="med" len="med"/>
              <a:tailEnd type="none" w="med" len="med"/>
            </a:ln>
          </p:spPr>
          <p:txBody>
            <a:bodyPr wrap="none" anchor="t" anchorCtr="0">
              <a:spAutoFit/>
            </a:bodyPr>
            <a:lstStyle/>
            <a:p>
              <a:r>
                <a:rPr lang="zh-CN" altLang="en-US" sz="2000" b="1" dirty="0">
                  <a:solidFill>
                    <a:srgbClr val="003300"/>
                  </a:solidFill>
                  <a:latin typeface="Times New Roman" panose="02020603050405020304" pitchFamily="18" charset="0"/>
                  <a:ea typeface="宋体" panose="02010600030101010101" pitchFamily="2" charset="-122"/>
                </a:rPr>
                <a:t>比较次数：</a:t>
              </a:r>
            </a:p>
            <a:p>
              <a:r>
                <a:rPr lang="zh-CN" altLang="en-US" sz="2000" b="1" dirty="0">
                  <a:solidFill>
                    <a:srgbClr val="003300"/>
                  </a:solidFill>
                  <a:latin typeface="Times New Roman" panose="02020603050405020304" pitchFamily="18" charset="0"/>
                  <a:ea typeface="宋体" panose="02010600030101010101" pitchFamily="2" charset="-122"/>
                </a:rPr>
                <a:t>查找第</a:t>
              </a:r>
              <a:r>
                <a:rPr lang="en-US" altLang="zh-CN" sz="2000" b="1" dirty="0">
                  <a:solidFill>
                    <a:srgbClr val="003300"/>
                  </a:solidFill>
                  <a:latin typeface="Times New Roman" panose="02020603050405020304" pitchFamily="18" charset="0"/>
                  <a:ea typeface="宋体" panose="02010600030101010101" pitchFamily="2" charset="-122"/>
                </a:rPr>
                <a:t>n</a:t>
              </a:r>
              <a:r>
                <a:rPr lang="zh-CN" altLang="zh-CN" sz="2000" b="1" dirty="0">
                  <a:solidFill>
                    <a:srgbClr val="003300"/>
                  </a:solidFill>
                  <a:latin typeface="Times New Roman" panose="02020603050405020304" pitchFamily="18" charset="0"/>
                  <a:ea typeface="宋体" panose="02010600030101010101" pitchFamily="2" charset="-122"/>
                </a:rPr>
                <a:t>个元素：    1</a:t>
              </a:r>
            </a:p>
            <a:p>
              <a:r>
                <a:rPr lang="zh-CN" altLang="en-US" sz="2000" b="1" dirty="0">
                  <a:solidFill>
                    <a:srgbClr val="003300"/>
                  </a:solidFill>
                  <a:latin typeface="Times New Roman" panose="02020603050405020304" pitchFamily="18" charset="0"/>
                  <a:ea typeface="宋体" panose="02010600030101010101" pitchFamily="2" charset="-122"/>
                </a:rPr>
                <a:t>查找第</a:t>
              </a:r>
              <a:r>
                <a:rPr lang="en-US" altLang="zh-CN" sz="2000" b="1" dirty="0">
                  <a:solidFill>
                    <a:srgbClr val="003300"/>
                  </a:solidFill>
                  <a:latin typeface="Times New Roman" panose="02020603050405020304" pitchFamily="18" charset="0"/>
                  <a:ea typeface="宋体" panose="02010600030101010101" pitchFamily="2" charset="-122"/>
                </a:rPr>
                <a:t>n-1</a:t>
              </a:r>
              <a:r>
                <a:rPr lang="zh-CN" altLang="zh-CN" sz="2000" b="1" dirty="0">
                  <a:solidFill>
                    <a:srgbClr val="003300"/>
                  </a:solidFill>
                  <a:latin typeface="Times New Roman" panose="02020603050405020304" pitchFamily="18" charset="0"/>
                  <a:ea typeface="宋体" panose="02010600030101010101" pitchFamily="2" charset="-122"/>
                </a:rPr>
                <a:t>个元素：2</a:t>
              </a:r>
            </a:p>
            <a:p>
              <a:r>
                <a:rPr lang="en-US" altLang="zh-CN" sz="2000" b="1" dirty="0">
                  <a:solidFill>
                    <a:srgbClr val="003300"/>
                  </a:solidFill>
                  <a:latin typeface="Times New Roman" panose="02020603050405020304" pitchFamily="18" charset="0"/>
                  <a:ea typeface="宋体" panose="02010600030101010101" pitchFamily="2" charset="-122"/>
                </a:rPr>
                <a:t>……….</a:t>
              </a:r>
            </a:p>
            <a:p>
              <a:r>
                <a:rPr lang="zh-CN" altLang="en-US" sz="2000" b="1" dirty="0">
                  <a:solidFill>
                    <a:srgbClr val="003300"/>
                  </a:solidFill>
                  <a:latin typeface="Times New Roman" panose="02020603050405020304" pitchFamily="18" charset="0"/>
                  <a:ea typeface="宋体" panose="02010600030101010101" pitchFamily="2" charset="-122"/>
                </a:rPr>
                <a:t>查找第</a:t>
              </a:r>
              <a:r>
                <a:rPr lang="en-US" altLang="zh-CN" sz="2000" b="1" dirty="0">
                  <a:solidFill>
                    <a:srgbClr val="003300"/>
                  </a:solidFill>
                  <a:latin typeface="Times New Roman" panose="02020603050405020304" pitchFamily="18" charset="0"/>
                  <a:ea typeface="宋体" panose="02010600030101010101" pitchFamily="2" charset="-122"/>
                </a:rPr>
                <a:t>1</a:t>
              </a:r>
              <a:r>
                <a:rPr lang="zh-CN" altLang="zh-CN" sz="2000" b="1" dirty="0">
                  <a:solidFill>
                    <a:srgbClr val="003300"/>
                  </a:solidFill>
                  <a:latin typeface="Times New Roman" panose="02020603050405020304" pitchFamily="18" charset="0"/>
                  <a:ea typeface="宋体" panose="02010600030101010101" pitchFamily="2" charset="-122"/>
                </a:rPr>
                <a:t>个元素：   </a:t>
              </a:r>
              <a:r>
                <a:rPr lang="en-US" altLang="zh-CN" sz="2000" b="1" dirty="0">
                  <a:solidFill>
                    <a:srgbClr val="003300"/>
                  </a:solidFill>
                  <a:latin typeface="Times New Roman" panose="02020603050405020304" pitchFamily="18" charset="0"/>
                  <a:ea typeface="宋体" panose="02010600030101010101" pitchFamily="2" charset="-122"/>
                </a:rPr>
                <a:t>n</a:t>
              </a:r>
            </a:p>
            <a:p>
              <a:r>
                <a:rPr lang="zh-CN" altLang="en-US" sz="2000" b="1" dirty="0">
                  <a:solidFill>
                    <a:srgbClr val="003300"/>
                  </a:solidFill>
                  <a:latin typeface="Times New Roman" panose="02020603050405020304" pitchFamily="18" charset="0"/>
                  <a:ea typeface="宋体" panose="02010600030101010101" pitchFamily="2" charset="-122"/>
                </a:rPr>
                <a:t>查找第</a:t>
              </a:r>
              <a:r>
                <a:rPr lang="en-US" altLang="zh-CN" sz="2000" b="1" dirty="0">
                  <a:solidFill>
                    <a:srgbClr val="003300"/>
                  </a:solidFill>
                  <a:latin typeface="Times New Roman" panose="02020603050405020304" pitchFamily="18" charset="0"/>
                  <a:ea typeface="宋体" panose="02010600030101010101" pitchFamily="2" charset="-122"/>
                </a:rPr>
                <a:t>i</a:t>
              </a:r>
              <a:r>
                <a:rPr lang="zh-CN" altLang="zh-CN" sz="2000" b="1" dirty="0">
                  <a:solidFill>
                    <a:srgbClr val="003300"/>
                  </a:solidFill>
                  <a:latin typeface="Times New Roman" panose="02020603050405020304" pitchFamily="18" charset="0"/>
                  <a:ea typeface="宋体" panose="02010600030101010101" pitchFamily="2" charset="-122"/>
                </a:rPr>
                <a:t>个元素：    </a:t>
              </a:r>
              <a:r>
                <a:rPr lang="en-US" altLang="zh-CN" sz="2000" b="1" dirty="0">
                  <a:solidFill>
                    <a:srgbClr val="003300"/>
                  </a:solidFill>
                  <a:latin typeface="Times New Roman" panose="02020603050405020304" pitchFamily="18" charset="0"/>
                  <a:ea typeface="宋体" panose="02010600030101010101" pitchFamily="2" charset="-122"/>
                </a:rPr>
                <a:t>n+1-i</a:t>
              </a:r>
            </a:p>
            <a:p>
              <a:r>
                <a:rPr lang="zh-CN" altLang="en-US" sz="2000" b="1" dirty="0">
                  <a:solidFill>
                    <a:srgbClr val="003300"/>
                  </a:solidFill>
                  <a:latin typeface="Times New Roman" panose="02020603050405020304" pitchFamily="18" charset="0"/>
                  <a:ea typeface="宋体" panose="02010600030101010101" pitchFamily="2" charset="-122"/>
                </a:rPr>
                <a:t>查找失败</a:t>
              </a:r>
              <a:r>
                <a:rPr lang="zh-CN" altLang="zh-CN" sz="2000" b="1" dirty="0">
                  <a:solidFill>
                    <a:srgbClr val="003300"/>
                  </a:solidFill>
                  <a:latin typeface="Times New Roman" panose="02020603050405020304" pitchFamily="18" charset="0"/>
                  <a:ea typeface="宋体" panose="02010600030101010101" pitchFamily="2" charset="-122"/>
                </a:rPr>
                <a:t>：             </a:t>
              </a:r>
              <a:r>
                <a:rPr lang="en-US" altLang="zh-CN" sz="2000" b="1" dirty="0">
                  <a:solidFill>
                    <a:srgbClr val="003300"/>
                  </a:solidFill>
                  <a:latin typeface="Times New Roman" panose="02020603050405020304" pitchFamily="18" charset="0"/>
                  <a:ea typeface="宋体" panose="02010600030101010101" pitchFamily="2" charset="-122"/>
                </a:rPr>
                <a:t>n+1</a:t>
              </a:r>
            </a:p>
          </p:txBody>
        </p:sp>
        <p:grpSp>
          <p:nvGrpSpPr>
            <p:cNvPr id="15379" name="Group 18"/>
            <p:cNvGrpSpPr/>
            <p:nvPr/>
          </p:nvGrpSpPr>
          <p:grpSpPr>
            <a:xfrm>
              <a:off x="385" y="1298"/>
              <a:ext cx="4512" cy="466"/>
              <a:chOff x="672" y="1805"/>
              <a:chExt cx="4512" cy="466"/>
            </a:xfrm>
          </p:grpSpPr>
          <p:sp>
            <p:nvSpPr>
              <p:cNvPr id="15380" name="Text Box 19"/>
              <p:cNvSpPr txBox="1"/>
              <p:nvPr/>
            </p:nvSpPr>
            <p:spPr>
              <a:xfrm>
                <a:off x="720" y="1805"/>
                <a:ext cx="4464" cy="251"/>
              </a:xfrm>
              <a:prstGeom prst="rect">
                <a:avLst/>
              </a:prstGeom>
              <a:noFill/>
              <a:ln w="9525">
                <a:noFill/>
              </a:ln>
            </p:spPr>
            <p:txBody>
              <a:bodyPr anchor="t" anchorCtr="0">
                <a:spAutoFit/>
              </a:bodyPr>
              <a:lstStyle/>
              <a:p>
                <a:r>
                  <a:rPr lang="en-US" altLang="zh-CN" sz="2000" b="1" dirty="0">
                    <a:solidFill>
                      <a:srgbClr val="003300"/>
                    </a:solidFill>
                    <a:latin typeface="Times New Roman" panose="02020603050405020304" pitchFamily="18" charset="0"/>
                    <a:ea typeface="宋体" panose="02010600030101010101" pitchFamily="2" charset="-122"/>
                  </a:rPr>
                  <a:t> 0      1       2       3       4       5       6        7        8       9      10     11</a:t>
                </a:r>
              </a:p>
            </p:txBody>
          </p:sp>
          <p:grpSp>
            <p:nvGrpSpPr>
              <p:cNvPr id="15381" name="Group 20"/>
              <p:cNvGrpSpPr/>
              <p:nvPr/>
            </p:nvGrpSpPr>
            <p:grpSpPr>
              <a:xfrm>
                <a:off x="672" y="2016"/>
                <a:ext cx="4320" cy="255"/>
                <a:chOff x="672" y="2016"/>
                <a:chExt cx="4032" cy="255"/>
              </a:xfrm>
            </p:grpSpPr>
            <p:sp>
              <p:nvSpPr>
                <p:cNvPr id="15382" name="Rectangle 21"/>
                <p:cNvSpPr/>
                <p:nvPr/>
              </p:nvSpPr>
              <p:spPr>
                <a:xfrm>
                  <a:off x="672" y="2016"/>
                  <a:ext cx="336"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chemeClr val="hlink"/>
                      </a:solidFill>
                      <a:latin typeface="Times New Roman" panose="02020603050405020304" pitchFamily="18" charset="0"/>
                      <a:ea typeface="宋体" panose="02010600030101010101" pitchFamily="2" charset="-122"/>
                    </a:rPr>
                    <a:t>64</a:t>
                  </a:r>
                  <a:endParaRPr lang="en-US" altLang="zh-CN" sz="2000" b="1" dirty="0">
                    <a:solidFill>
                      <a:srgbClr val="003300"/>
                    </a:solidFill>
                    <a:latin typeface="Times New Roman" panose="02020603050405020304" pitchFamily="18" charset="0"/>
                    <a:ea typeface="宋体" panose="02010600030101010101" pitchFamily="2" charset="-122"/>
                  </a:endParaRPr>
                </a:p>
              </p:txBody>
            </p:sp>
            <p:sp>
              <p:nvSpPr>
                <p:cNvPr id="15383" name="Rectangle 22"/>
                <p:cNvSpPr/>
                <p:nvPr/>
              </p:nvSpPr>
              <p:spPr>
                <a:xfrm>
                  <a:off x="1008" y="2016"/>
                  <a:ext cx="336"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5</a:t>
                  </a:r>
                </a:p>
              </p:txBody>
            </p:sp>
            <p:sp>
              <p:nvSpPr>
                <p:cNvPr id="15384" name="Rectangle 23"/>
                <p:cNvSpPr/>
                <p:nvPr/>
              </p:nvSpPr>
              <p:spPr>
                <a:xfrm>
                  <a:off x="1344" y="2016"/>
                  <a:ext cx="336"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13</a:t>
                  </a:r>
                </a:p>
              </p:txBody>
            </p:sp>
            <p:sp>
              <p:nvSpPr>
                <p:cNvPr id="15385" name="Rectangle 24"/>
                <p:cNvSpPr/>
                <p:nvPr/>
              </p:nvSpPr>
              <p:spPr>
                <a:xfrm>
                  <a:off x="1680" y="2016"/>
                  <a:ext cx="336"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19</a:t>
                  </a:r>
                </a:p>
              </p:txBody>
            </p:sp>
            <p:sp>
              <p:nvSpPr>
                <p:cNvPr id="15386" name="Rectangle 25"/>
                <p:cNvSpPr/>
                <p:nvPr/>
              </p:nvSpPr>
              <p:spPr>
                <a:xfrm>
                  <a:off x="2016" y="2016"/>
                  <a:ext cx="336"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21</a:t>
                  </a:r>
                </a:p>
              </p:txBody>
            </p:sp>
            <p:sp>
              <p:nvSpPr>
                <p:cNvPr id="15387" name="Rectangle 26"/>
                <p:cNvSpPr/>
                <p:nvPr/>
              </p:nvSpPr>
              <p:spPr>
                <a:xfrm>
                  <a:off x="2352" y="2016"/>
                  <a:ext cx="336"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37</a:t>
                  </a:r>
                </a:p>
              </p:txBody>
            </p:sp>
            <p:sp>
              <p:nvSpPr>
                <p:cNvPr id="15388" name="Rectangle 27"/>
                <p:cNvSpPr/>
                <p:nvPr/>
              </p:nvSpPr>
              <p:spPr>
                <a:xfrm>
                  <a:off x="2688" y="2016"/>
                  <a:ext cx="336"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56</a:t>
                  </a:r>
                </a:p>
              </p:txBody>
            </p:sp>
            <p:sp>
              <p:nvSpPr>
                <p:cNvPr id="15389" name="Rectangle 28"/>
                <p:cNvSpPr/>
                <p:nvPr/>
              </p:nvSpPr>
              <p:spPr>
                <a:xfrm>
                  <a:off x="3024" y="2016"/>
                  <a:ext cx="336"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64</a:t>
                  </a:r>
                </a:p>
              </p:txBody>
            </p:sp>
            <p:sp>
              <p:nvSpPr>
                <p:cNvPr id="15390" name="Rectangle 29"/>
                <p:cNvSpPr/>
                <p:nvPr/>
              </p:nvSpPr>
              <p:spPr>
                <a:xfrm>
                  <a:off x="3360" y="2016"/>
                  <a:ext cx="336"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75</a:t>
                  </a:r>
                </a:p>
              </p:txBody>
            </p:sp>
            <p:sp>
              <p:nvSpPr>
                <p:cNvPr id="15391" name="Rectangle 30"/>
                <p:cNvSpPr/>
                <p:nvPr/>
              </p:nvSpPr>
              <p:spPr>
                <a:xfrm>
                  <a:off x="3696" y="2016"/>
                  <a:ext cx="336"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80</a:t>
                  </a:r>
                </a:p>
              </p:txBody>
            </p:sp>
            <p:sp>
              <p:nvSpPr>
                <p:cNvPr id="15392" name="Rectangle 31"/>
                <p:cNvSpPr/>
                <p:nvPr/>
              </p:nvSpPr>
              <p:spPr>
                <a:xfrm>
                  <a:off x="4032" y="2016"/>
                  <a:ext cx="336"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88</a:t>
                  </a:r>
                </a:p>
              </p:txBody>
            </p:sp>
            <p:sp>
              <p:nvSpPr>
                <p:cNvPr id="15393" name="Rectangle 32"/>
                <p:cNvSpPr/>
                <p:nvPr/>
              </p:nvSpPr>
              <p:spPr>
                <a:xfrm>
                  <a:off x="4368" y="2016"/>
                  <a:ext cx="336"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92</a:t>
                  </a:r>
                </a:p>
              </p:txBody>
            </p:sp>
          </p:gr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顺序查找算法性能</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对顺序表而言，</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C</a:t>
            </a:r>
            <a:r>
              <a:rPr lang="en-US" altLang="zh-CN" sz="2400" baseline="-25000" dirty="0">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=n-i+1</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在等概率查找的情况下，</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P</a:t>
            </a:r>
            <a:r>
              <a:rPr lang="en-US" altLang="zh-CN" sz="2400" baseline="-25000" dirty="0">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=1/n</a:t>
            </a: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ASL=n*P</a:t>
            </a:r>
            <a:r>
              <a:rPr lang="en-US" altLang="zh-CN" sz="2400" baseline="-25000" dirty="0">
                <a:latin typeface="黑体" panose="02010609060101010101" pitchFamily="2" charset="-122"/>
                <a:ea typeface="黑体" panose="02010609060101010101" pitchFamily="2" charset="-122"/>
                <a:cs typeface="黑体" panose="02010609060101010101" pitchFamily="2" charset="-122"/>
                <a:sym typeface="+mn-ea"/>
              </a:rPr>
              <a:t>1</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+(n-1)P</a:t>
            </a:r>
            <a:r>
              <a:rPr lang="en-US" altLang="zh-CN" sz="2400" baseline="-25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+…+ 2P</a:t>
            </a:r>
            <a:r>
              <a:rPr lang="en-US" altLang="zh-CN" sz="2400" baseline="-25000" dirty="0">
                <a:latin typeface="黑体" panose="02010609060101010101" pitchFamily="2" charset="-122"/>
                <a:ea typeface="黑体" panose="02010609060101010101" pitchFamily="2" charset="-122"/>
                <a:cs typeface="黑体" panose="02010609060101010101" pitchFamily="2" charset="-122"/>
                <a:sym typeface="+mn-ea"/>
              </a:rPr>
              <a:t>n-1</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P</a:t>
            </a:r>
            <a:r>
              <a:rPr lang="en-US" altLang="zh-CN" sz="2400" baseline="-25000" dirty="0">
                <a:latin typeface="黑体" panose="02010609060101010101" pitchFamily="2" charset="-122"/>
                <a:ea typeface="黑体" panose="02010609060101010101" pitchFamily="2" charset="-122"/>
                <a:cs typeface="黑体" panose="02010609060101010101" pitchFamily="2" charset="-122"/>
                <a:sym typeface="+mn-ea"/>
              </a:rPr>
              <a:t>n</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 (n+1)/2</a:t>
            </a:r>
            <a:endParaRPr lang="en-US" altLang="zh-CN" sz="2400"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40000"/>
              </a:spcBef>
              <a:buClr>
                <a:schemeClr val="accent1"/>
              </a:buClr>
              <a:buSzTx/>
              <a:buFont typeface="Wingdings" panose="05000000000000000000" pitchFamily="2" charset="2"/>
              <a:buNone/>
            </a:pPr>
            <a:endParaRPr lang="zh-CN" altLang="en-US" sz="2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12</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顺序查找算法优化</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如果被查找的记录概率不等时，设</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Clr>
                <a:schemeClr val="accent2"/>
              </a:buClr>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P</a:t>
            </a:r>
            <a:r>
              <a:rPr lang="en-US" altLang="zh-CN" baseline="-25000" dirty="0">
                <a:latin typeface="黑体" panose="02010609060101010101" pitchFamily="2" charset="-122"/>
                <a:ea typeface="黑体" panose="02010609060101010101" pitchFamily="2" charset="-122"/>
                <a:cs typeface="黑体" panose="02010609060101010101" pitchFamily="2" charset="-122"/>
                <a:sym typeface="+mn-ea"/>
              </a:rPr>
              <a:t>n</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≥P</a:t>
            </a:r>
            <a:r>
              <a:rPr lang="en-US" altLang="zh-CN" baseline="-25000" dirty="0">
                <a:latin typeface="黑体" panose="02010609060101010101" pitchFamily="2" charset="-122"/>
                <a:ea typeface="黑体" panose="02010609060101010101" pitchFamily="2" charset="-122"/>
                <a:cs typeface="黑体" panose="02010609060101010101" pitchFamily="2" charset="-122"/>
                <a:sym typeface="+mn-ea"/>
              </a:rPr>
              <a:t>n-1</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≥···≥P</a:t>
            </a:r>
            <a:r>
              <a:rPr lang="en-US" altLang="zh-CN" baseline="-25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≥P</a:t>
            </a:r>
            <a:r>
              <a:rPr lang="en-US" altLang="zh-CN" baseline="-25000" dirty="0">
                <a:latin typeface="黑体" panose="02010609060101010101" pitchFamily="2" charset="-122"/>
                <a:ea typeface="黑体" panose="02010609060101010101" pitchFamily="2" charset="-122"/>
                <a:cs typeface="黑体" panose="02010609060101010101" pitchFamily="2" charset="-122"/>
                <a:sym typeface="+mn-ea"/>
              </a:rPr>
              <a:t>1</a:t>
            </a:r>
            <a:endParaRPr lang="en-US" altLang="zh-CN" b="0" baseline="-2500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Clr>
                <a:schemeClr val="accent2"/>
              </a:buClr>
              <a:buFont typeface="Wingdings" panose="05000000000000000000" pitchFamily="2" charset="2"/>
              <a:buNone/>
            </a:pPr>
            <a:r>
              <a:rPr lang="en-US" altLang="zh-CN" baseline="-25000"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记录按照概率来排列，这样使得</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ASL</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可以达到极小值</a:t>
            </a:r>
            <a:endParaRPr lang="zh-CN" altLang="en-US" b="0" baseline="-250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若查找概率无法事先测定，增加一个访问频度域存储访问频率，然后记录按照访问频率来排序</a:t>
            </a: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在每次查找之后，将刚刚查找到的记录直接移至表尾的位置上。</a:t>
            </a: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13</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顺序查找算法优点：简单、适应面广(对表的结构无任何要求)</a:t>
            </a:r>
            <a:endParaRPr lang="zh-CN" altLang="en-US" sz="2800" b="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顺序查找算法缺点：平均查找长度较大</a:t>
            </a:r>
            <a:endParaRPr lang="zh-CN" altLang="en-US" sz="2800" b="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特别是当n很大时，顺序查找效率很低</a:t>
            </a:r>
            <a:endParaRPr lang="zh-CN" altLang="en-US" sz="2800" b="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8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14</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609600" lvl="0" indent="-609600" algn="l">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已知初始数列为33、66、22、88、11、27、44、55，采用带哨兵的顺序查找法，请写出数据22、11、99的查找次数</a:t>
            </a:r>
          </a:p>
          <a:p>
            <a:pPr marL="609600" lvl="0" indent="-609600"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lstStyle/>
          <a:p>
            <a:pPr algn="l">
              <a:buClrTx/>
              <a:buSzTx/>
              <a:buFontTx/>
            </a:pPr>
            <a:r>
              <a:rPr lang="zh-CN" altLang="en-US" sz="4000">
                <a:solidFill>
                  <a:srgbClr val="FF0000"/>
                </a:solidFill>
                <a:latin typeface="楷体" panose="02010609060101010101" charset="-122"/>
                <a:ea typeface="楷体" panose="02010609060101010101" charset="-122"/>
              </a:rPr>
              <a:t>练习</a:t>
            </a:r>
          </a:p>
        </p:txBody>
      </p:sp>
      <p:sp>
        <p:nvSpPr>
          <p:cNvPr id="4" name="灯片编号占位符 3"/>
          <p:cNvSpPr>
            <a:spLocks noGrp="1"/>
          </p:cNvSpPr>
          <p:nvPr>
            <p:ph type="sldNum" sz="quarter" idx="4"/>
          </p:nvPr>
        </p:nvSpPr>
        <p:spPr/>
        <p:txBody>
          <a:bodyPr/>
          <a:lstStyle/>
          <a:p>
            <a:fld id="{F18B4237-A20D-4DE2-ADD8-75BCC50A7656}" type="slidenum">
              <a:rPr lang="zh-CN" altLang="en-US"/>
              <a:t>15</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折半查找算法是</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有序表</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的查找方法</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在折半查找算法中，静态查找表按关键字大小的次序，有序地存放在顺序表中</a:t>
            </a:r>
            <a:endParaRPr lang="zh-CN" altLang="en-US" sz="2400" b="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折半查找的原理是：</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先确定待查记录所在的范围(前部分或后部分)</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逐步缩小(一半)范围直到找(不)到该记录为止</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0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16</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折半查找算法设计</a:t>
            </a:r>
            <a:endParaRPr lang="zh-CN" altLang="en-US" sz="2400" b="0" dirty="0">
              <a:latin typeface="黑体" panose="02010609060101010101" pitchFamily="2" charset="-122"/>
              <a:ea typeface="黑体" panose="02010609060101010101" pitchFamily="2" charset="-122"/>
              <a:cs typeface="+mn-ea"/>
            </a:endParaRPr>
          </a:p>
          <a:p>
            <a:pPr marL="609600" indent="-609600" eaLnBrk="1" hangingPunct="1">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1.n</a:t>
            </a:r>
            <a:r>
              <a:rPr lang="zh-CN" altLang="en-US" sz="2400" dirty="0">
                <a:latin typeface="黑体" panose="02010609060101010101" pitchFamily="2" charset="-122"/>
                <a:ea typeface="黑体" panose="02010609060101010101" pitchFamily="2" charset="-122"/>
                <a:sym typeface="+mn-ea"/>
              </a:rPr>
              <a:t>个对象从小到大存放在有序顺序表</a:t>
            </a:r>
            <a:r>
              <a:rPr lang="en-US" altLang="zh-CN" sz="2400" dirty="0">
                <a:latin typeface="黑体" panose="02010609060101010101" pitchFamily="2" charset="-122"/>
                <a:ea typeface="黑体" panose="02010609060101010101" pitchFamily="2" charset="-122"/>
                <a:sym typeface="+mn-ea"/>
              </a:rPr>
              <a:t>ST</a:t>
            </a:r>
            <a:r>
              <a:rPr lang="zh-CN" altLang="en-US" sz="2400" dirty="0">
                <a:latin typeface="黑体" panose="02010609060101010101" pitchFamily="2" charset="-122"/>
                <a:ea typeface="黑体" panose="02010609060101010101" pitchFamily="2" charset="-122"/>
                <a:sym typeface="+mn-ea"/>
              </a:rPr>
              <a:t>中，</a:t>
            </a:r>
            <a:r>
              <a:rPr lang="en-US" altLang="zh-CN" sz="2400" dirty="0">
                <a:latin typeface="黑体" panose="02010609060101010101" pitchFamily="2" charset="-122"/>
                <a:ea typeface="黑体" panose="02010609060101010101" pitchFamily="2" charset="-122"/>
                <a:sym typeface="+mn-ea"/>
              </a:rPr>
              <a:t>k</a:t>
            </a:r>
            <a:r>
              <a:rPr lang="zh-CN" altLang="en-US" sz="2400" dirty="0">
                <a:latin typeface="黑体" panose="02010609060101010101" pitchFamily="2" charset="-122"/>
                <a:ea typeface="黑体" panose="02010609060101010101" pitchFamily="2" charset="-122"/>
                <a:sym typeface="+mn-ea"/>
              </a:rPr>
              <a:t>为给定值</a:t>
            </a:r>
            <a:endParaRPr lang="zh-CN" altLang="en-US" sz="2400" b="0" dirty="0">
              <a:latin typeface="黑体" panose="02010609060101010101" pitchFamily="2" charset="-122"/>
              <a:ea typeface="黑体" panose="02010609060101010101" pitchFamily="2" charset="-122"/>
            </a:endParaRPr>
          </a:p>
          <a:p>
            <a:pPr marL="609600" indent="-609600" eaLnBrk="1" hangingPunct="1">
              <a:spcBef>
                <a:spcPct val="3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2.</a:t>
            </a:r>
            <a:r>
              <a:rPr lang="zh-CN" altLang="en-US" sz="2400" dirty="0">
                <a:latin typeface="黑体" panose="02010609060101010101" pitchFamily="2" charset="-122"/>
                <a:ea typeface="黑体" panose="02010609060101010101" pitchFamily="2" charset="-122"/>
                <a:sym typeface="+mn-ea"/>
              </a:rPr>
              <a:t>设</a:t>
            </a:r>
            <a:r>
              <a:rPr lang="en-US" altLang="zh-CN" sz="2400" dirty="0">
                <a:latin typeface="黑体" panose="02010609060101010101" pitchFamily="2" charset="-122"/>
                <a:ea typeface="黑体" panose="02010609060101010101" pitchFamily="2" charset="-122"/>
                <a:sym typeface="+mn-ea"/>
              </a:rPr>
              <a:t>low</a:t>
            </a:r>
            <a:r>
              <a:rPr lang="zh-CN" altLang="en-US" sz="2400" dirty="0">
                <a:latin typeface="黑体" panose="02010609060101010101" pitchFamily="2" charset="-122"/>
                <a:ea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sym typeface="+mn-ea"/>
              </a:rPr>
              <a:t>high</a:t>
            </a:r>
            <a:r>
              <a:rPr lang="zh-CN" altLang="en-US" sz="2400" dirty="0">
                <a:latin typeface="黑体" panose="02010609060101010101" pitchFamily="2" charset="-122"/>
                <a:ea typeface="黑体" panose="02010609060101010101" pitchFamily="2" charset="-122"/>
                <a:sym typeface="+mn-ea"/>
              </a:rPr>
              <a:t>指向待查元素所在区间的下界、上界，即</a:t>
            </a:r>
            <a:r>
              <a:rPr lang="en-US" altLang="zh-CN" sz="2400" dirty="0">
                <a:latin typeface="黑体" panose="02010609060101010101" pitchFamily="2" charset="-122"/>
                <a:ea typeface="黑体" panose="02010609060101010101" pitchFamily="2" charset="-122"/>
                <a:sym typeface="+mn-ea"/>
              </a:rPr>
              <a:t>low=1, high=n</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3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3.</a:t>
            </a:r>
            <a:r>
              <a:rPr lang="zh-CN" altLang="en-US" sz="2400" dirty="0">
                <a:latin typeface="黑体" panose="02010609060101010101" pitchFamily="2" charset="-122"/>
                <a:ea typeface="黑体" panose="02010609060101010101" pitchFamily="2" charset="-122"/>
                <a:sym typeface="+mn-ea"/>
              </a:rPr>
              <a:t>设</a:t>
            </a:r>
            <a:r>
              <a:rPr lang="en-US" altLang="zh-CN" sz="2400" dirty="0">
                <a:latin typeface="黑体" panose="02010609060101010101" pitchFamily="2" charset="-122"/>
                <a:ea typeface="黑体" panose="02010609060101010101" pitchFamily="2" charset="-122"/>
                <a:sym typeface="+mn-ea"/>
              </a:rPr>
              <a:t>mid</a:t>
            </a:r>
            <a:r>
              <a:rPr lang="zh-CN" altLang="en-US" sz="2400" dirty="0">
                <a:latin typeface="黑体" panose="02010609060101010101" pitchFamily="2" charset="-122"/>
                <a:ea typeface="黑体" panose="02010609060101010101" pitchFamily="2" charset="-122"/>
                <a:sym typeface="+mn-ea"/>
              </a:rPr>
              <a:t>指向待查区间的中点，即</a:t>
            </a:r>
            <a:r>
              <a:rPr lang="en-US" altLang="zh-CN" sz="2400" dirty="0">
                <a:latin typeface="黑体" panose="02010609060101010101" pitchFamily="2" charset="-122"/>
                <a:ea typeface="黑体" panose="02010609060101010101" pitchFamily="2" charset="-122"/>
                <a:sym typeface="+mn-ea"/>
              </a:rPr>
              <a:t>mid=(low+high)/2</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3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4.</a:t>
            </a:r>
            <a:r>
              <a:rPr lang="zh-CN" altLang="en-US" sz="2400" dirty="0">
                <a:latin typeface="黑体" panose="02010609060101010101" pitchFamily="2" charset="-122"/>
                <a:ea typeface="黑体" panose="02010609060101010101" pitchFamily="2" charset="-122"/>
                <a:sym typeface="+mn-ea"/>
              </a:rPr>
              <a:t>让</a:t>
            </a:r>
            <a:r>
              <a:rPr lang="en-US" altLang="zh-CN" sz="2400" dirty="0">
                <a:latin typeface="黑体" panose="02010609060101010101" pitchFamily="2" charset="-122"/>
                <a:ea typeface="黑体" panose="02010609060101010101" pitchFamily="2" charset="-122"/>
                <a:sym typeface="+mn-ea"/>
              </a:rPr>
              <a:t>k</a:t>
            </a:r>
            <a:r>
              <a:rPr lang="zh-CN" altLang="en-US" sz="2400" dirty="0">
                <a:latin typeface="黑体" panose="02010609060101010101" pitchFamily="2" charset="-122"/>
                <a:ea typeface="黑体" panose="02010609060101010101" pitchFamily="2" charset="-122"/>
                <a:sym typeface="+mn-ea"/>
              </a:rPr>
              <a:t>与</a:t>
            </a:r>
            <a:r>
              <a:rPr lang="en-US" altLang="zh-CN" sz="2400" dirty="0">
                <a:latin typeface="黑体" panose="02010609060101010101" pitchFamily="2" charset="-122"/>
                <a:ea typeface="黑体" panose="02010609060101010101" pitchFamily="2" charset="-122"/>
                <a:sym typeface="+mn-ea"/>
              </a:rPr>
              <a:t>mid</a:t>
            </a:r>
            <a:r>
              <a:rPr lang="zh-CN" altLang="en-US" sz="2400" dirty="0">
                <a:latin typeface="黑体" panose="02010609060101010101" pitchFamily="2" charset="-122"/>
                <a:ea typeface="黑体" panose="02010609060101010101" pitchFamily="2" charset="-122"/>
                <a:sym typeface="+mn-ea"/>
              </a:rPr>
              <a:t>指向的记录比较</a:t>
            </a:r>
            <a:endParaRPr lang="zh-CN" altLang="en-US" sz="2400" b="0" dirty="0">
              <a:latin typeface="黑体" panose="02010609060101010101" pitchFamily="2" charset="-122"/>
              <a:ea typeface="黑体" panose="02010609060101010101" pitchFamily="2" charset="-122"/>
            </a:endParaRPr>
          </a:p>
          <a:p>
            <a:pPr marL="609600" indent="-609600" eaLnBrk="1" hangingPunct="1">
              <a:spcBef>
                <a:spcPct val="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若</a:t>
            </a:r>
            <a:r>
              <a:rPr lang="en-US" altLang="zh-CN" sz="2400" dirty="0">
                <a:latin typeface="黑体" panose="02010609060101010101" pitchFamily="2" charset="-122"/>
                <a:ea typeface="黑体" panose="02010609060101010101" pitchFamily="2" charset="-122"/>
                <a:sym typeface="+mn-ea"/>
              </a:rPr>
              <a:t>k=ST[mid].key</a:t>
            </a:r>
            <a:r>
              <a:rPr lang="zh-CN" altLang="en-US" sz="2400" dirty="0">
                <a:latin typeface="黑体" panose="02010609060101010101" pitchFamily="2" charset="-122"/>
                <a:ea typeface="黑体" panose="02010609060101010101" pitchFamily="2" charset="-122"/>
                <a:sym typeface="+mn-ea"/>
              </a:rPr>
              <a:t>，查找成功</a:t>
            </a:r>
            <a:endParaRPr lang="zh-CN" altLang="en-US" sz="2400" b="0" dirty="0">
              <a:latin typeface="黑体" panose="02010609060101010101" pitchFamily="2" charset="-122"/>
              <a:ea typeface="黑体" panose="02010609060101010101" pitchFamily="2" charset="-122"/>
            </a:endParaRPr>
          </a:p>
          <a:p>
            <a:pPr marL="609600" indent="-609600" eaLnBrk="1" hangingPunct="1">
              <a:spcBef>
                <a:spcPct val="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若</a:t>
            </a:r>
            <a:r>
              <a:rPr lang="en-US" altLang="zh-CN" sz="2400" dirty="0">
                <a:latin typeface="黑体" panose="02010609060101010101" pitchFamily="2" charset="-122"/>
                <a:ea typeface="黑体" panose="02010609060101010101" pitchFamily="2" charset="-122"/>
                <a:sym typeface="+mn-ea"/>
              </a:rPr>
              <a:t>k&lt;ST[mid].key</a:t>
            </a:r>
            <a:r>
              <a:rPr lang="zh-CN" altLang="en-US" sz="2400" dirty="0">
                <a:latin typeface="黑体" panose="02010609060101010101" pitchFamily="2" charset="-122"/>
                <a:ea typeface="黑体" panose="02010609060101010101" pitchFamily="2" charset="-122"/>
                <a:sym typeface="+mn-ea"/>
              </a:rPr>
              <a:t>，则</a:t>
            </a:r>
            <a:r>
              <a:rPr lang="en-US" altLang="zh-CN" sz="2400" dirty="0">
                <a:latin typeface="黑体" panose="02010609060101010101" pitchFamily="2" charset="-122"/>
                <a:ea typeface="黑体" panose="02010609060101010101" pitchFamily="2" charset="-122"/>
                <a:sym typeface="+mn-ea"/>
              </a:rPr>
              <a:t>high=mid-1	[</a:t>
            </a:r>
            <a:r>
              <a:rPr lang="zh-CN" altLang="en-US" sz="2400" dirty="0">
                <a:latin typeface="黑体" panose="02010609060101010101" pitchFamily="2" charset="-122"/>
                <a:ea typeface="黑体" panose="02010609060101010101" pitchFamily="2" charset="-122"/>
                <a:sym typeface="+mn-ea"/>
              </a:rPr>
              <a:t>上半区间</a:t>
            </a:r>
            <a:r>
              <a:rPr lang="en-US" altLang="zh-CN" sz="2400" dirty="0">
                <a:latin typeface="黑体" panose="02010609060101010101" pitchFamily="2" charset="-122"/>
                <a:ea typeface="黑体" panose="02010609060101010101" pitchFamily="2" charset="-122"/>
                <a:sym typeface="+mn-ea"/>
              </a:rPr>
              <a:t>]</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sym typeface="+mn-ea"/>
              </a:rPr>
              <a:t>若</a:t>
            </a:r>
            <a:r>
              <a:rPr lang="en-US" altLang="zh-CN" sz="2400" dirty="0">
                <a:latin typeface="黑体" panose="02010609060101010101" pitchFamily="2" charset="-122"/>
                <a:ea typeface="黑体" panose="02010609060101010101" pitchFamily="2" charset="-122"/>
                <a:sym typeface="+mn-ea"/>
              </a:rPr>
              <a:t>k&gt;ST[mid].key</a:t>
            </a:r>
            <a:r>
              <a:rPr lang="zh-CN" altLang="en-US" sz="2400" dirty="0">
                <a:latin typeface="黑体" panose="02010609060101010101" pitchFamily="2" charset="-122"/>
                <a:ea typeface="黑体" panose="02010609060101010101" pitchFamily="2" charset="-122"/>
                <a:sym typeface="+mn-ea"/>
              </a:rPr>
              <a:t>，则</a:t>
            </a:r>
            <a:r>
              <a:rPr lang="en-US" altLang="zh-CN" sz="2400" dirty="0">
                <a:latin typeface="黑体" panose="02010609060101010101" pitchFamily="2" charset="-122"/>
                <a:ea typeface="黑体" panose="02010609060101010101" pitchFamily="2" charset="-122"/>
                <a:sym typeface="+mn-ea"/>
              </a:rPr>
              <a:t>low=mid+1	[</a:t>
            </a:r>
            <a:r>
              <a:rPr lang="zh-CN" altLang="en-US" sz="2400" dirty="0">
                <a:latin typeface="黑体" panose="02010609060101010101" pitchFamily="2" charset="-122"/>
                <a:ea typeface="黑体" panose="02010609060101010101" pitchFamily="2" charset="-122"/>
                <a:sym typeface="+mn-ea"/>
              </a:rPr>
              <a:t>下半区间</a:t>
            </a:r>
            <a:r>
              <a:rPr lang="en-US" altLang="zh-CN" sz="2400" dirty="0">
                <a:latin typeface="黑体" panose="02010609060101010101" pitchFamily="2" charset="-122"/>
                <a:ea typeface="黑体" panose="02010609060101010101" pitchFamily="2" charset="-122"/>
                <a:sym typeface="+mn-ea"/>
              </a:rPr>
              <a:t>]</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3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5.</a:t>
            </a:r>
            <a:r>
              <a:rPr lang="zh-CN" altLang="en-US" sz="2400" dirty="0">
                <a:latin typeface="黑体" panose="02010609060101010101" pitchFamily="2" charset="-122"/>
                <a:ea typeface="黑体" panose="02010609060101010101" pitchFamily="2" charset="-122"/>
                <a:sym typeface="+mn-ea"/>
              </a:rPr>
              <a:t>重复</a:t>
            </a:r>
            <a:r>
              <a:rPr lang="en-US" altLang="zh-CN" sz="2400" dirty="0">
                <a:latin typeface="黑体" panose="02010609060101010101" pitchFamily="2" charset="-122"/>
                <a:ea typeface="黑体" panose="02010609060101010101" pitchFamily="2" charset="-122"/>
                <a:sym typeface="+mn-ea"/>
              </a:rPr>
              <a:t>3,4</a:t>
            </a:r>
            <a:r>
              <a:rPr lang="zh-CN" altLang="en-US" sz="2400" dirty="0">
                <a:latin typeface="黑体" panose="02010609060101010101" pitchFamily="2" charset="-122"/>
                <a:ea typeface="黑体" panose="02010609060101010101" pitchFamily="2" charset="-122"/>
                <a:sym typeface="+mn-ea"/>
              </a:rPr>
              <a:t>操作，直至</a:t>
            </a:r>
            <a:r>
              <a:rPr lang="en-US" altLang="zh-CN" sz="2400" dirty="0">
                <a:latin typeface="黑体" panose="02010609060101010101" pitchFamily="2" charset="-122"/>
                <a:ea typeface="黑体" panose="02010609060101010101" pitchFamily="2" charset="-122"/>
                <a:sym typeface="+mn-ea"/>
              </a:rPr>
              <a:t>low&gt;high</a:t>
            </a:r>
            <a:r>
              <a:rPr lang="zh-CN" altLang="en-US" sz="2400" dirty="0">
                <a:latin typeface="黑体" panose="02010609060101010101" pitchFamily="2" charset="-122"/>
                <a:ea typeface="黑体" panose="02010609060101010101" pitchFamily="2" charset="-122"/>
                <a:sym typeface="+mn-ea"/>
              </a:rPr>
              <a:t>时，查找失败。</a:t>
            </a:r>
            <a:endParaRPr lang="zh-CN" altLang="en-US" sz="2400" b="0" dirty="0">
              <a:latin typeface="黑体" panose="02010609060101010101" pitchFamily="2" charset="-122"/>
              <a:ea typeface="黑体" panose="02010609060101010101" pitchFamily="2" charset="-122"/>
            </a:endParaRPr>
          </a:p>
          <a:p>
            <a:pPr lvl="1" algn="l" eaLnBrk="1" hangingPunct="1">
              <a:buClrTx/>
              <a:buSzTx/>
              <a:buChar char="•"/>
            </a:pPr>
            <a:endParaRPr lang="zh-CN" altLang="en-US" sz="20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17</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折半查找算法实现</a:t>
            </a:r>
          </a:p>
          <a:p>
            <a:pPr marL="609600" indent="-609600" eaLnBrk="1" hangingPunct="1">
              <a:lnSpc>
                <a:spcPct val="9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int Search_Bin ( SSTable ST, KeyType key ) {  </a:t>
            </a:r>
            <a:endParaRPr lang="en-US" altLang="zh-CN" sz="20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a:t>
            </a:r>
            <a:r>
              <a:rPr lang="zh-CN" altLang="en-US" sz="2000" dirty="0">
                <a:latin typeface="黑体" panose="02010609060101010101" pitchFamily="2" charset="-122"/>
                <a:ea typeface="黑体" panose="02010609060101010101" pitchFamily="2" charset="-122"/>
                <a:sym typeface="+mn-ea"/>
              </a:rPr>
              <a:t>若找到，则函数值为该元素在表中的位置，否则为</a:t>
            </a:r>
            <a:r>
              <a:rPr lang="en-US" altLang="zh-CN" sz="2000" dirty="0">
                <a:latin typeface="黑体" panose="02010609060101010101" pitchFamily="2" charset="-122"/>
                <a:ea typeface="黑体" panose="02010609060101010101" pitchFamily="2" charset="-122"/>
                <a:sym typeface="+mn-ea"/>
              </a:rPr>
              <a:t>0</a:t>
            </a:r>
            <a:r>
              <a:rPr lang="zh-CN" altLang="en-US" sz="2000" dirty="0">
                <a:latin typeface="黑体" panose="02010609060101010101" pitchFamily="2" charset="-122"/>
                <a:ea typeface="黑体" panose="02010609060101010101" pitchFamily="2" charset="-122"/>
                <a:sym typeface="+mn-ea"/>
              </a:rPr>
              <a:t>。</a:t>
            </a:r>
            <a:endParaRPr lang="zh-CN" altLang="en-US" sz="20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int low, high, mid;</a:t>
            </a:r>
            <a:endParaRPr lang="en-US" altLang="zh-CN" sz="20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low = 1;  high = ST.length;    // </a:t>
            </a:r>
            <a:r>
              <a:rPr lang="zh-CN" altLang="en-US" sz="2000" dirty="0">
                <a:latin typeface="黑体" panose="02010609060101010101" pitchFamily="2" charset="-122"/>
                <a:ea typeface="黑体" panose="02010609060101010101" pitchFamily="2" charset="-122"/>
                <a:sym typeface="+mn-ea"/>
              </a:rPr>
              <a:t>置区间初值</a:t>
            </a:r>
            <a:endParaRPr lang="zh-CN" altLang="en-US" sz="20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while (low &lt;= high) {</a:t>
            </a:r>
            <a:endParaRPr lang="en-US" altLang="zh-CN" sz="20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mid = (low + high) / 2;</a:t>
            </a:r>
            <a:endParaRPr lang="en-US" altLang="zh-CN" sz="20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if (EQ(key , ST.elem[mid].key)) return mid;  // </a:t>
            </a:r>
            <a:r>
              <a:rPr lang="zh-CN" altLang="en-US" sz="2000" dirty="0">
                <a:latin typeface="黑体" panose="02010609060101010101" pitchFamily="2" charset="-122"/>
                <a:ea typeface="黑体" panose="02010609060101010101" pitchFamily="2" charset="-122"/>
                <a:sym typeface="+mn-ea"/>
              </a:rPr>
              <a:t>找到待查元素</a:t>
            </a:r>
            <a:endParaRPr lang="zh-CN" altLang="en-US" sz="20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else if (LT(key, ST.elem[mid].key)) high = mid - 1; </a:t>
            </a:r>
            <a:endParaRPr lang="en-US" altLang="zh-CN" sz="20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 </a:t>
            </a:r>
            <a:r>
              <a:rPr lang="zh-CN" altLang="en-US" sz="2000" dirty="0">
                <a:latin typeface="黑体" panose="02010609060101010101" pitchFamily="2" charset="-122"/>
                <a:ea typeface="黑体" panose="02010609060101010101" pitchFamily="2" charset="-122"/>
                <a:sym typeface="+mn-ea"/>
              </a:rPr>
              <a:t>继续在前半区间进行查找</a:t>
            </a:r>
            <a:endParaRPr lang="zh-CN" altLang="en-US" sz="20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else low = mid + 1;    // </a:t>
            </a:r>
            <a:r>
              <a:rPr lang="zh-CN" altLang="en-US" sz="2000" dirty="0">
                <a:latin typeface="黑体" panose="02010609060101010101" pitchFamily="2" charset="-122"/>
                <a:ea typeface="黑体" panose="02010609060101010101" pitchFamily="2" charset="-122"/>
                <a:sym typeface="+mn-ea"/>
              </a:rPr>
              <a:t>继续在后半区间进行查找</a:t>
            </a:r>
            <a:endParaRPr lang="zh-CN" altLang="en-US" sz="20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a:t>
            </a:r>
            <a:endParaRPr lang="en-US" altLang="zh-CN" sz="20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return 0;                 // </a:t>
            </a:r>
            <a:r>
              <a:rPr lang="zh-CN" altLang="en-US" sz="2000" dirty="0">
                <a:latin typeface="黑体" panose="02010609060101010101" pitchFamily="2" charset="-122"/>
                <a:ea typeface="黑体" panose="02010609060101010101" pitchFamily="2" charset="-122"/>
                <a:sym typeface="+mn-ea"/>
              </a:rPr>
              <a:t>顺序表中不存在待查元素</a:t>
            </a:r>
            <a:endParaRPr lang="zh-CN" altLang="en-US" sz="20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 Search_Bin</a:t>
            </a:r>
            <a:endParaRPr lang="en-US" altLang="zh-CN" sz="2000" dirty="0">
              <a:latin typeface="黑体" panose="02010609060101010101" pitchFamily="2" charset="-122"/>
              <a:ea typeface="黑体" panose="02010609060101010101" pitchFamily="2" charset="-122"/>
            </a:endParaRPr>
          </a:p>
          <a:p>
            <a:pPr marL="0" lvl="1" indent="0" algn="l" eaLnBrk="1" hangingPunct="1">
              <a:buClrTx/>
              <a:buSzTx/>
              <a:buFont typeface="Wingdings" panose="05000000000000000000" charset="0"/>
              <a:buNone/>
            </a:pPr>
            <a:endParaRPr lang="zh-CN" altLang="en-US" sz="20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18</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折半查找算法举例</a:t>
            </a:r>
          </a:p>
          <a:p>
            <a:pPr marL="0" lvl="1" indent="0" algn="l" eaLnBrk="1" hangingPunct="1">
              <a:buClrTx/>
              <a:buSzTx/>
              <a:buFont typeface="Wingdings" panose="05000000000000000000" charset="0"/>
              <a:buNone/>
            </a:pPr>
            <a:endParaRPr lang="zh-CN" altLang="en-US" sz="20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19</a:t>
            </a:fld>
            <a:endParaRPr lang="zh-CN" altLang="en-US"/>
          </a:p>
        </p:txBody>
      </p:sp>
      <p:grpSp>
        <p:nvGrpSpPr>
          <p:cNvPr id="23556" name="Group 67"/>
          <p:cNvGrpSpPr/>
          <p:nvPr/>
        </p:nvGrpSpPr>
        <p:grpSpPr>
          <a:xfrm>
            <a:off x="2208213" y="1531620"/>
            <a:ext cx="6934200" cy="4497388"/>
            <a:chOff x="431" y="1010"/>
            <a:chExt cx="4368" cy="2833"/>
          </a:xfrm>
        </p:grpSpPr>
        <p:sp>
          <p:nvSpPr>
            <p:cNvPr id="23557" name="AutoShape 4"/>
            <p:cNvSpPr/>
            <p:nvPr/>
          </p:nvSpPr>
          <p:spPr>
            <a:xfrm>
              <a:off x="2735" y="1010"/>
              <a:ext cx="1022" cy="233"/>
            </a:xfrm>
            <a:prstGeom prst="wedgeEllipseCallout">
              <a:avLst>
                <a:gd name="adj1" fmla="val -31407"/>
                <a:gd name="adj2" fmla="val 90773"/>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zh-CN" altLang="en-US" sz="2000" b="1" dirty="0">
                  <a:solidFill>
                    <a:srgbClr val="FF0000"/>
                  </a:solidFill>
                  <a:latin typeface="Times New Roman" panose="02020603050405020304" pitchFamily="18" charset="0"/>
                  <a:ea typeface="宋体" panose="02010600030101010101" pitchFamily="2" charset="-122"/>
                </a:rPr>
                <a:t>找</a:t>
              </a:r>
              <a:r>
                <a:rPr lang="en-US" altLang="zh-CN" sz="2000" b="1" dirty="0">
                  <a:solidFill>
                    <a:srgbClr val="FF0000"/>
                  </a:solidFill>
                  <a:latin typeface="Times New Roman" panose="02020603050405020304" pitchFamily="18" charset="0"/>
                  <a:ea typeface="宋体" panose="02010600030101010101" pitchFamily="2" charset="-122"/>
                </a:rPr>
                <a:t>64</a:t>
              </a:r>
            </a:p>
          </p:txBody>
        </p:sp>
        <p:grpSp>
          <p:nvGrpSpPr>
            <p:cNvPr id="23558" name="Group 5"/>
            <p:cNvGrpSpPr/>
            <p:nvPr/>
          </p:nvGrpSpPr>
          <p:grpSpPr>
            <a:xfrm>
              <a:off x="431" y="1298"/>
              <a:ext cx="4368" cy="831"/>
              <a:chOff x="624" y="1776"/>
              <a:chExt cx="4368" cy="831"/>
            </a:xfrm>
          </p:grpSpPr>
          <p:grpSp>
            <p:nvGrpSpPr>
              <p:cNvPr id="23559" name="Group 6"/>
              <p:cNvGrpSpPr/>
              <p:nvPr/>
            </p:nvGrpSpPr>
            <p:grpSpPr>
              <a:xfrm>
                <a:off x="768" y="1776"/>
                <a:ext cx="4152" cy="466"/>
                <a:chOff x="1032" y="1805"/>
                <a:chExt cx="4152" cy="466"/>
              </a:xfrm>
            </p:grpSpPr>
            <p:sp>
              <p:nvSpPr>
                <p:cNvPr id="23560" name="Text Box 7"/>
                <p:cNvSpPr txBox="1"/>
                <p:nvPr/>
              </p:nvSpPr>
              <p:spPr>
                <a:xfrm>
                  <a:off x="1104" y="1805"/>
                  <a:ext cx="4080" cy="251"/>
                </a:xfrm>
                <a:prstGeom prst="rect">
                  <a:avLst/>
                </a:prstGeom>
                <a:noFill/>
                <a:ln w="9525">
                  <a:noFill/>
                </a:ln>
              </p:spPr>
              <p:txBody>
                <a:bodyPr anchor="t" anchorCtr="0">
                  <a:spAutoFit/>
                </a:bodyPr>
                <a:lstStyle/>
                <a:p>
                  <a:r>
                    <a:rPr lang="en-US" altLang="zh-CN" sz="2000" b="1" dirty="0">
                      <a:solidFill>
                        <a:srgbClr val="003300"/>
                      </a:solidFill>
                      <a:latin typeface="Times New Roman" panose="02020603050405020304" pitchFamily="18" charset="0"/>
                      <a:ea typeface="宋体" panose="02010600030101010101" pitchFamily="2" charset="-122"/>
                    </a:rPr>
                    <a:t>1       2       3       4       5       6       7        8       9      10     11</a:t>
                  </a:r>
                </a:p>
              </p:txBody>
            </p:sp>
            <p:grpSp>
              <p:nvGrpSpPr>
                <p:cNvPr id="23561" name="Group 8"/>
                <p:cNvGrpSpPr/>
                <p:nvPr/>
              </p:nvGrpSpPr>
              <p:grpSpPr>
                <a:xfrm>
                  <a:off x="1032" y="2016"/>
                  <a:ext cx="3960" cy="255"/>
                  <a:chOff x="1032" y="2016"/>
                  <a:chExt cx="3960" cy="255"/>
                </a:xfrm>
              </p:grpSpPr>
              <p:sp>
                <p:nvSpPr>
                  <p:cNvPr id="23562" name="Rectangle 9"/>
                  <p:cNvSpPr/>
                  <p:nvPr/>
                </p:nvSpPr>
                <p:spPr>
                  <a:xfrm>
                    <a:off x="103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5</a:t>
                    </a:r>
                  </a:p>
                </p:txBody>
              </p:sp>
              <p:sp>
                <p:nvSpPr>
                  <p:cNvPr id="23563" name="Rectangle 10"/>
                  <p:cNvSpPr/>
                  <p:nvPr/>
                </p:nvSpPr>
                <p:spPr>
                  <a:xfrm>
                    <a:off x="139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13</a:t>
                    </a:r>
                  </a:p>
                </p:txBody>
              </p:sp>
              <p:sp>
                <p:nvSpPr>
                  <p:cNvPr id="23564" name="Rectangle 11"/>
                  <p:cNvSpPr/>
                  <p:nvPr/>
                </p:nvSpPr>
                <p:spPr>
                  <a:xfrm>
                    <a:off x="175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19</a:t>
                    </a:r>
                  </a:p>
                </p:txBody>
              </p:sp>
              <p:sp>
                <p:nvSpPr>
                  <p:cNvPr id="23565" name="Rectangle 12"/>
                  <p:cNvSpPr/>
                  <p:nvPr/>
                </p:nvSpPr>
                <p:spPr>
                  <a:xfrm>
                    <a:off x="211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21</a:t>
                    </a:r>
                  </a:p>
                </p:txBody>
              </p:sp>
              <p:sp>
                <p:nvSpPr>
                  <p:cNvPr id="23566" name="Rectangle 13"/>
                  <p:cNvSpPr/>
                  <p:nvPr/>
                </p:nvSpPr>
                <p:spPr>
                  <a:xfrm>
                    <a:off x="247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37</a:t>
                    </a:r>
                  </a:p>
                </p:txBody>
              </p:sp>
              <p:sp>
                <p:nvSpPr>
                  <p:cNvPr id="23567" name="Rectangle 14"/>
                  <p:cNvSpPr/>
                  <p:nvPr/>
                </p:nvSpPr>
                <p:spPr>
                  <a:xfrm>
                    <a:off x="283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56</a:t>
                    </a:r>
                  </a:p>
                </p:txBody>
              </p:sp>
              <p:sp>
                <p:nvSpPr>
                  <p:cNvPr id="23568" name="Rectangle 15"/>
                  <p:cNvSpPr/>
                  <p:nvPr/>
                </p:nvSpPr>
                <p:spPr>
                  <a:xfrm>
                    <a:off x="319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chemeClr val="hlink"/>
                        </a:solidFill>
                        <a:latin typeface="Times New Roman" panose="02020603050405020304" pitchFamily="18" charset="0"/>
                        <a:ea typeface="宋体" panose="02010600030101010101" pitchFamily="2" charset="-122"/>
                      </a:rPr>
                      <a:t>64</a:t>
                    </a:r>
                  </a:p>
                </p:txBody>
              </p:sp>
              <p:sp>
                <p:nvSpPr>
                  <p:cNvPr id="23569" name="Rectangle 16"/>
                  <p:cNvSpPr/>
                  <p:nvPr/>
                </p:nvSpPr>
                <p:spPr>
                  <a:xfrm>
                    <a:off x="355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75</a:t>
                    </a:r>
                  </a:p>
                </p:txBody>
              </p:sp>
              <p:sp>
                <p:nvSpPr>
                  <p:cNvPr id="23570" name="Rectangle 17"/>
                  <p:cNvSpPr/>
                  <p:nvPr/>
                </p:nvSpPr>
                <p:spPr>
                  <a:xfrm>
                    <a:off x="391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80</a:t>
                    </a:r>
                  </a:p>
                </p:txBody>
              </p:sp>
              <p:sp>
                <p:nvSpPr>
                  <p:cNvPr id="23571" name="Rectangle 18"/>
                  <p:cNvSpPr/>
                  <p:nvPr/>
                </p:nvSpPr>
                <p:spPr>
                  <a:xfrm>
                    <a:off x="427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88</a:t>
                    </a:r>
                  </a:p>
                </p:txBody>
              </p:sp>
              <p:sp>
                <p:nvSpPr>
                  <p:cNvPr id="23572" name="Rectangle 19"/>
                  <p:cNvSpPr/>
                  <p:nvPr/>
                </p:nvSpPr>
                <p:spPr>
                  <a:xfrm>
                    <a:off x="463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92</a:t>
                    </a:r>
                  </a:p>
                </p:txBody>
              </p:sp>
            </p:grpSp>
          </p:grpSp>
          <p:sp>
            <p:nvSpPr>
              <p:cNvPr id="23573" name="Line 20"/>
              <p:cNvSpPr/>
              <p:nvPr/>
            </p:nvSpPr>
            <p:spPr>
              <a:xfrm flipH="1" flipV="1">
                <a:off x="961" y="2244"/>
                <a:ext cx="1" cy="237"/>
              </a:xfrm>
              <a:prstGeom prst="line">
                <a:avLst/>
              </a:prstGeom>
              <a:ln w="12700" cap="flat" cmpd="sng">
                <a:solidFill>
                  <a:schemeClr val="hlink"/>
                </a:solidFill>
                <a:prstDash val="solid"/>
                <a:round/>
                <a:headEnd type="none" w="med" len="med"/>
                <a:tailEnd type="triangle" w="med" len="med"/>
              </a:ln>
            </p:spPr>
          </p:sp>
          <p:sp>
            <p:nvSpPr>
              <p:cNvPr id="23574" name="Text Box 21"/>
              <p:cNvSpPr txBox="1"/>
              <p:nvPr/>
            </p:nvSpPr>
            <p:spPr>
              <a:xfrm>
                <a:off x="624" y="2356"/>
                <a:ext cx="596" cy="251"/>
              </a:xfrm>
              <a:prstGeom prst="rect">
                <a:avLst/>
              </a:prstGeom>
              <a:noFill/>
              <a:ln w="9525">
                <a:noFill/>
              </a:ln>
            </p:spPr>
            <p:txBody>
              <a:bodyPr lIns="0" rIns="0" anchor="t" anchorCtr="0">
                <a:spAutoFit/>
              </a:bodyPr>
              <a:lstStyle/>
              <a:p>
                <a:pPr algn="ctr"/>
                <a:r>
                  <a:rPr lang="en-US" altLang="zh-CN" sz="2000" b="1" dirty="0">
                    <a:solidFill>
                      <a:srgbClr val="0CDD07"/>
                    </a:solidFill>
                    <a:latin typeface="Times New Roman" panose="02020603050405020304" pitchFamily="18" charset="0"/>
                    <a:ea typeface="宋体" panose="02010600030101010101" pitchFamily="2" charset="-122"/>
                  </a:rPr>
                  <a:t>Low=1</a:t>
                </a:r>
              </a:p>
            </p:txBody>
          </p:sp>
          <p:sp>
            <p:nvSpPr>
              <p:cNvPr id="23575" name="Line 22"/>
              <p:cNvSpPr/>
              <p:nvPr/>
            </p:nvSpPr>
            <p:spPr>
              <a:xfrm flipV="1">
                <a:off x="4598" y="2257"/>
                <a:ext cx="0" cy="220"/>
              </a:xfrm>
              <a:prstGeom prst="line">
                <a:avLst/>
              </a:prstGeom>
              <a:ln w="12700" cap="flat" cmpd="sng">
                <a:solidFill>
                  <a:schemeClr val="hlink"/>
                </a:solidFill>
                <a:prstDash val="solid"/>
                <a:round/>
                <a:headEnd type="none" w="med" len="med"/>
                <a:tailEnd type="triangle" w="med" len="med"/>
              </a:ln>
            </p:spPr>
          </p:sp>
          <p:sp>
            <p:nvSpPr>
              <p:cNvPr id="23576" name="Text Box 23"/>
              <p:cNvSpPr txBox="1"/>
              <p:nvPr/>
            </p:nvSpPr>
            <p:spPr>
              <a:xfrm>
                <a:off x="4272" y="2352"/>
                <a:ext cx="720" cy="252"/>
              </a:xfrm>
              <a:prstGeom prst="rect">
                <a:avLst/>
              </a:prstGeom>
              <a:noFill/>
              <a:ln w="9525">
                <a:noFill/>
              </a:ln>
            </p:spPr>
            <p:txBody>
              <a:bodyPr lIns="0" rIns="0" anchor="t" anchorCtr="0">
                <a:spAutoFit/>
              </a:bodyPr>
              <a:lstStyle/>
              <a:p>
                <a:r>
                  <a:rPr lang="en-US" altLang="zh-CN" sz="2000" b="1" dirty="0">
                    <a:solidFill>
                      <a:srgbClr val="0CDD07"/>
                    </a:solidFill>
                    <a:latin typeface="Times New Roman" panose="02020603050405020304" pitchFamily="18" charset="0"/>
                    <a:ea typeface="宋体" panose="02010600030101010101" pitchFamily="2" charset="-122"/>
                  </a:rPr>
                  <a:t>High=11</a:t>
                </a:r>
              </a:p>
            </p:txBody>
          </p:sp>
          <p:sp>
            <p:nvSpPr>
              <p:cNvPr id="23577" name="Line 24"/>
              <p:cNvSpPr/>
              <p:nvPr/>
            </p:nvSpPr>
            <p:spPr>
              <a:xfrm flipV="1">
                <a:off x="2739" y="2244"/>
                <a:ext cx="0" cy="219"/>
              </a:xfrm>
              <a:prstGeom prst="line">
                <a:avLst/>
              </a:prstGeom>
              <a:ln w="12700" cap="flat" cmpd="sng">
                <a:solidFill>
                  <a:schemeClr val="hlink"/>
                </a:solidFill>
                <a:prstDash val="solid"/>
                <a:round/>
                <a:headEnd type="none" w="med" len="med"/>
                <a:tailEnd type="triangle" w="med" len="med"/>
              </a:ln>
            </p:spPr>
          </p:sp>
          <p:sp>
            <p:nvSpPr>
              <p:cNvPr id="23578" name="Text Box 25"/>
              <p:cNvSpPr txBox="1"/>
              <p:nvPr/>
            </p:nvSpPr>
            <p:spPr>
              <a:xfrm>
                <a:off x="2448" y="2338"/>
                <a:ext cx="576" cy="252"/>
              </a:xfrm>
              <a:prstGeom prst="rect">
                <a:avLst/>
              </a:prstGeom>
              <a:noFill/>
              <a:ln w="9525">
                <a:noFill/>
              </a:ln>
            </p:spPr>
            <p:txBody>
              <a:bodyPr lIns="0" rIns="0" anchor="t" anchorCtr="0">
                <a:spAutoFit/>
              </a:bodyPr>
              <a:lstStyle/>
              <a:p>
                <a:r>
                  <a:rPr lang="en-US" altLang="zh-CN" sz="2000" b="1" dirty="0">
                    <a:solidFill>
                      <a:srgbClr val="0CDD07"/>
                    </a:solidFill>
                    <a:latin typeface="Times New Roman" panose="02020603050405020304" pitchFamily="18" charset="0"/>
                    <a:ea typeface="宋体" panose="02010600030101010101" pitchFamily="2" charset="-122"/>
                  </a:rPr>
                  <a:t>mid=6</a:t>
                </a:r>
              </a:p>
            </p:txBody>
          </p:sp>
        </p:grpSp>
        <p:grpSp>
          <p:nvGrpSpPr>
            <p:cNvPr id="23579" name="Group 26"/>
            <p:cNvGrpSpPr/>
            <p:nvPr/>
          </p:nvGrpSpPr>
          <p:grpSpPr>
            <a:xfrm>
              <a:off x="575" y="2066"/>
              <a:ext cx="4224" cy="828"/>
              <a:chOff x="768" y="2544"/>
              <a:chExt cx="4224" cy="828"/>
            </a:xfrm>
          </p:grpSpPr>
          <p:grpSp>
            <p:nvGrpSpPr>
              <p:cNvPr id="23580" name="Group 27"/>
              <p:cNvGrpSpPr/>
              <p:nvPr/>
            </p:nvGrpSpPr>
            <p:grpSpPr>
              <a:xfrm>
                <a:off x="768" y="2544"/>
                <a:ext cx="4152" cy="466"/>
                <a:chOff x="1032" y="1805"/>
                <a:chExt cx="4152" cy="466"/>
              </a:xfrm>
            </p:grpSpPr>
            <p:sp>
              <p:nvSpPr>
                <p:cNvPr id="23581" name="Text Box 28"/>
                <p:cNvSpPr txBox="1"/>
                <p:nvPr/>
              </p:nvSpPr>
              <p:spPr>
                <a:xfrm>
                  <a:off x="1104" y="1805"/>
                  <a:ext cx="4080" cy="251"/>
                </a:xfrm>
                <a:prstGeom prst="rect">
                  <a:avLst/>
                </a:prstGeom>
                <a:noFill/>
                <a:ln w="9525">
                  <a:noFill/>
                </a:ln>
              </p:spPr>
              <p:txBody>
                <a:bodyPr anchor="t" anchorCtr="0">
                  <a:spAutoFit/>
                </a:bodyPr>
                <a:lstStyle/>
                <a:p>
                  <a:r>
                    <a:rPr lang="en-US" altLang="zh-CN" sz="2000" b="1" dirty="0">
                      <a:solidFill>
                        <a:srgbClr val="003300"/>
                      </a:solidFill>
                      <a:latin typeface="Times New Roman" panose="02020603050405020304" pitchFamily="18" charset="0"/>
                      <a:ea typeface="宋体" panose="02010600030101010101" pitchFamily="2" charset="-122"/>
                    </a:rPr>
                    <a:t>1       2       3       4       5       6       7        8       9      10     11</a:t>
                  </a:r>
                </a:p>
              </p:txBody>
            </p:sp>
            <p:grpSp>
              <p:nvGrpSpPr>
                <p:cNvPr id="23582" name="Group 29"/>
                <p:cNvGrpSpPr/>
                <p:nvPr/>
              </p:nvGrpSpPr>
              <p:grpSpPr>
                <a:xfrm>
                  <a:off x="1032" y="2016"/>
                  <a:ext cx="3960" cy="255"/>
                  <a:chOff x="1032" y="2016"/>
                  <a:chExt cx="3960" cy="255"/>
                </a:xfrm>
              </p:grpSpPr>
              <p:sp>
                <p:nvSpPr>
                  <p:cNvPr id="23583" name="Rectangle 30"/>
                  <p:cNvSpPr/>
                  <p:nvPr/>
                </p:nvSpPr>
                <p:spPr>
                  <a:xfrm>
                    <a:off x="103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5</a:t>
                    </a:r>
                  </a:p>
                </p:txBody>
              </p:sp>
              <p:sp>
                <p:nvSpPr>
                  <p:cNvPr id="23584" name="Rectangle 31"/>
                  <p:cNvSpPr/>
                  <p:nvPr/>
                </p:nvSpPr>
                <p:spPr>
                  <a:xfrm>
                    <a:off x="139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13</a:t>
                    </a:r>
                  </a:p>
                </p:txBody>
              </p:sp>
              <p:sp>
                <p:nvSpPr>
                  <p:cNvPr id="23585" name="Rectangle 32"/>
                  <p:cNvSpPr/>
                  <p:nvPr/>
                </p:nvSpPr>
                <p:spPr>
                  <a:xfrm>
                    <a:off x="175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19</a:t>
                    </a:r>
                  </a:p>
                </p:txBody>
              </p:sp>
              <p:sp>
                <p:nvSpPr>
                  <p:cNvPr id="23586" name="Rectangle 33"/>
                  <p:cNvSpPr/>
                  <p:nvPr/>
                </p:nvSpPr>
                <p:spPr>
                  <a:xfrm>
                    <a:off x="211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21</a:t>
                    </a:r>
                  </a:p>
                </p:txBody>
              </p:sp>
              <p:sp>
                <p:nvSpPr>
                  <p:cNvPr id="23587" name="Rectangle 34"/>
                  <p:cNvSpPr/>
                  <p:nvPr/>
                </p:nvSpPr>
                <p:spPr>
                  <a:xfrm>
                    <a:off x="247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37</a:t>
                    </a:r>
                  </a:p>
                </p:txBody>
              </p:sp>
              <p:sp>
                <p:nvSpPr>
                  <p:cNvPr id="23588" name="Rectangle 35"/>
                  <p:cNvSpPr/>
                  <p:nvPr/>
                </p:nvSpPr>
                <p:spPr>
                  <a:xfrm>
                    <a:off x="283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56</a:t>
                    </a:r>
                  </a:p>
                </p:txBody>
              </p:sp>
              <p:sp>
                <p:nvSpPr>
                  <p:cNvPr id="23589" name="Rectangle 36"/>
                  <p:cNvSpPr/>
                  <p:nvPr/>
                </p:nvSpPr>
                <p:spPr>
                  <a:xfrm>
                    <a:off x="319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chemeClr val="hlink"/>
                        </a:solidFill>
                        <a:latin typeface="Times New Roman" panose="02020603050405020304" pitchFamily="18" charset="0"/>
                        <a:ea typeface="宋体" panose="02010600030101010101" pitchFamily="2" charset="-122"/>
                      </a:rPr>
                      <a:t>64</a:t>
                    </a:r>
                  </a:p>
                </p:txBody>
              </p:sp>
              <p:sp>
                <p:nvSpPr>
                  <p:cNvPr id="23590" name="Rectangle 37"/>
                  <p:cNvSpPr/>
                  <p:nvPr/>
                </p:nvSpPr>
                <p:spPr>
                  <a:xfrm>
                    <a:off x="355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75</a:t>
                    </a:r>
                  </a:p>
                </p:txBody>
              </p:sp>
              <p:sp>
                <p:nvSpPr>
                  <p:cNvPr id="23591" name="Rectangle 38"/>
                  <p:cNvSpPr/>
                  <p:nvPr/>
                </p:nvSpPr>
                <p:spPr>
                  <a:xfrm>
                    <a:off x="391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80</a:t>
                    </a:r>
                  </a:p>
                </p:txBody>
              </p:sp>
              <p:sp>
                <p:nvSpPr>
                  <p:cNvPr id="23592" name="Rectangle 39"/>
                  <p:cNvSpPr/>
                  <p:nvPr/>
                </p:nvSpPr>
                <p:spPr>
                  <a:xfrm>
                    <a:off x="427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88</a:t>
                    </a:r>
                  </a:p>
                </p:txBody>
              </p:sp>
              <p:sp>
                <p:nvSpPr>
                  <p:cNvPr id="23593" name="Rectangle 40"/>
                  <p:cNvSpPr/>
                  <p:nvPr/>
                </p:nvSpPr>
                <p:spPr>
                  <a:xfrm>
                    <a:off x="463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92</a:t>
                    </a:r>
                  </a:p>
                </p:txBody>
              </p:sp>
            </p:grpSp>
          </p:grpSp>
          <p:sp>
            <p:nvSpPr>
              <p:cNvPr id="23594" name="Line 41"/>
              <p:cNvSpPr/>
              <p:nvPr/>
            </p:nvSpPr>
            <p:spPr>
              <a:xfrm flipH="1" flipV="1">
                <a:off x="3120" y="3024"/>
                <a:ext cx="0" cy="240"/>
              </a:xfrm>
              <a:prstGeom prst="line">
                <a:avLst/>
              </a:prstGeom>
              <a:ln w="12700" cap="flat" cmpd="sng">
                <a:solidFill>
                  <a:schemeClr val="hlink"/>
                </a:solidFill>
                <a:prstDash val="solid"/>
                <a:round/>
                <a:headEnd type="none" w="med" len="med"/>
                <a:tailEnd type="triangle" w="med" len="med"/>
              </a:ln>
            </p:spPr>
          </p:sp>
          <p:sp>
            <p:nvSpPr>
              <p:cNvPr id="23595" name="Text Box 42"/>
              <p:cNvSpPr txBox="1"/>
              <p:nvPr/>
            </p:nvSpPr>
            <p:spPr>
              <a:xfrm>
                <a:off x="2832" y="3120"/>
                <a:ext cx="596" cy="251"/>
              </a:xfrm>
              <a:prstGeom prst="rect">
                <a:avLst/>
              </a:prstGeom>
              <a:noFill/>
              <a:ln w="9525">
                <a:noFill/>
              </a:ln>
            </p:spPr>
            <p:txBody>
              <a:bodyPr lIns="0" rIns="0" anchor="t" anchorCtr="0">
                <a:spAutoFit/>
              </a:bodyPr>
              <a:lstStyle/>
              <a:p>
                <a:pPr algn="ctr"/>
                <a:r>
                  <a:rPr lang="en-US" altLang="zh-CN" sz="2000" b="1" dirty="0">
                    <a:solidFill>
                      <a:srgbClr val="0CDD07"/>
                    </a:solidFill>
                    <a:latin typeface="Times New Roman" panose="02020603050405020304" pitchFamily="18" charset="0"/>
                    <a:ea typeface="宋体" panose="02010600030101010101" pitchFamily="2" charset="-122"/>
                  </a:rPr>
                  <a:t>Low=7</a:t>
                </a:r>
              </a:p>
            </p:txBody>
          </p:sp>
          <p:sp>
            <p:nvSpPr>
              <p:cNvPr id="23596" name="Line 43"/>
              <p:cNvSpPr/>
              <p:nvPr/>
            </p:nvSpPr>
            <p:spPr>
              <a:xfrm flipV="1">
                <a:off x="4598" y="3025"/>
                <a:ext cx="0" cy="220"/>
              </a:xfrm>
              <a:prstGeom prst="line">
                <a:avLst/>
              </a:prstGeom>
              <a:ln w="12700" cap="flat" cmpd="sng">
                <a:solidFill>
                  <a:schemeClr val="hlink"/>
                </a:solidFill>
                <a:prstDash val="solid"/>
                <a:round/>
                <a:headEnd type="none" w="med" len="med"/>
                <a:tailEnd type="triangle" w="med" len="med"/>
              </a:ln>
            </p:spPr>
          </p:sp>
          <p:sp>
            <p:nvSpPr>
              <p:cNvPr id="23597" name="Text Box 44"/>
              <p:cNvSpPr txBox="1"/>
              <p:nvPr/>
            </p:nvSpPr>
            <p:spPr>
              <a:xfrm>
                <a:off x="4272" y="3116"/>
                <a:ext cx="720" cy="252"/>
              </a:xfrm>
              <a:prstGeom prst="rect">
                <a:avLst/>
              </a:prstGeom>
              <a:noFill/>
              <a:ln w="9525">
                <a:noFill/>
              </a:ln>
            </p:spPr>
            <p:txBody>
              <a:bodyPr lIns="0" rIns="0" anchor="t" anchorCtr="0">
                <a:spAutoFit/>
              </a:bodyPr>
              <a:lstStyle/>
              <a:p>
                <a:r>
                  <a:rPr lang="en-US" altLang="zh-CN" sz="2000" b="1" dirty="0">
                    <a:solidFill>
                      <a:srgbClr val="0CDD07"/>
                    </a:solidFill>
                    <a:latin typeface="Times New Roman" panose="02020603050405020304" pitchFamily="18" charset="0"/>
                    <a:ea typeface="宋体" panose="02010600030101010101" pitchFamily="2" charset="-122"/>
                  </a:rPr>
                  <a:t>High=11</a:t>
                </a:r>
              </a:p>
            </p:txBody>
          </p:sp>
          <p:sp>
            <p:nvSpPr>
              <p:cNvPr id="23598" name="Line 45"/>
              <p:cNvSpPr/>
              <p:nvPr/>
            </p:nvSpPr>
            <p:spPr>
              <a:xfrm flipV="1">
                <a:off x="3840" y="3024"/>
                <a:ext cx="0" cy="219"/>
              </a:xfrm>
              <a:prstGeom prst="line">
                <a:avLst/>
              </a:prstGeom>
              <a:ln w="12700" cap="flat" cmpd="sng">
                <a:solidFill>
                  <a:schemeClr val="hlink"/>
                </a:solidFill>
                <a:prstDash val="solid"/>
                <a:round/>
                <a:headEnd type="none" w="med" len="med"/>
                <a:tailEnd type="triangle" w="med" len="med"/>
              </a:ln>
            </p:spPr>
          </p:sp>
          <p:sp>
            <p:nvSpPr>
              <p:cNvPr id="23599" name="Text Box 46"/>
              <p:cNvSpPr txBox="1"/>
              <p:nvPr/>
            </p:nvSpPr>
            <p:spPr>
              <a:xfrm>
                <a:off x="3600" y="3120"/>
                <a:ext cx="576" cy="252"/>
              </a:xfrm>
              <a:prstGeom prst="rect">
                <a:avLst/>
              </a:prstGeom>
              <a:noFill/>
              <a:ln w="9525">
                <a:noFill/>
              </a:ln>
            </p:spPr>
            <p:txBody>
              <a:bodyPr lIns="0" rIns="0" anchor="t" anchorCtr="0">
                <a:spAutoFit/>
              </a:bodyPr>
              <a:lstStyle/>
              <a:p>
                <a:r>
                  <a:rPr lang="en-US" altLang="zh-CN" sz="2000" b="1" dirty="0">
                    <a:solidFill>
                      <a:srgbClr val="0CDD07"/>
                    </a:solidFill>
                    <a:latin typeface="Times New Roman" panose="02020603050405020304" pitchFamily="18" charset="0"/>
                    <a:ea typeface="宋体" panose="02010600030101010101" pitchFamily="2" charset="-122"/>
                  </a:rPr>
                  <a:t>mid=9</a:t>
                </a:r>
              </a:p>
            </p:txBody>
          </p:sp>
        </p:grpSp>
        <p:grpSp>
          <p:nvGrpSpPr>
            <p:cNvPr id="23600" name="Group 47"/>
            <p:cNvGrpSpPr/>
            <p:nvPr/>
          </p:nvGrpSpPr>
          <p:grpSpPr>
            <a:xfrm>
              <a:off x="575" y="2930"/>
              <a:ext cx="4152" cy="913"/>
              <a:chOff x="768" y="3408"/>
              <a:chExt cx="4152" cy="913"/>
            </a:xfrm>
          </p:grpSpPr>
          <p:grpSp>
            <p:nvGrpSpPr>
              <p:cNvPr id="23601" name="Group 48"/>
              <p:cNvGrpSpPr/>
              <p:nvPr/>
            </p:nvGrpSpPr>
            <p:grpSpPr>
              <a:xfrm>
                <a:off x="768" y="3408"/>
                <a:ext cx="4152" cy="466"/>
                <a:chOff x="1032" y="1805"/>
                <a:chExt cx="4152" cy="466"/>
              </a:xfrm>
            </p:grpSpPr>
            <p:sp>
              <p:nvSpPr>
                <p:cNvPr id="23602" name="Text Box 49"/>
                <p:cNvSpPr txBox="1"/>
                <p:nvPr/>
              </p:nvSpPr>
              <p:spPr>
                <a:xfrm>
                  <a:off x="1104" y="1805"/>
                  <a:ext cx="4080" cy="251"/>
                </a:xfrm>
                <a:prstGeom prst="rect">
                  <a:avLst/>
                </a:prstGeom>
                <a:noFill/>
                <a:ln w="9525">
                  <a:noFill/>
                </a:ln>
              </p:spPr>
              <p:txBody>
                <a:bodyPr anchor="t" anchorCtr="0">
                  <a:spAutoFit/>
                </a:bodyPr>
                <a:lstStyle/>
                <a:p>
                  <a:r>
                    <a:rPr lang="en-US" altLang="zh-CN" sz="2000" b="1" dirty="0">
                      <a:solidFill>
                        <a:srgbClr val="003300"/>
                      </a:solidFill>
                      <a:latin typeface="Times New Roman" panose="02020603050405020304" pitchFamily="18" charset="0"/>
                      <a:ea typeface="宋体" panose="02010600030101010101" pitchFamily="2" charset="-122"/>
                    </a:rPr>
                    <a:t>1       2       3       4       5       6       7        8       9      10     11</a:t>
                  </a:r>
                </a:p>
              </p:txBody>
            </p:sp>
            <p:grpSp>
              <p:nvGrpSpPr>
                <p:cNvPr id="23603" name="Group 50"/>
                <p:cNvGrpSpPr/>
                <p:nvPr/>
              </p:nvGrpSpPr>
              <p:grpSpPr>
                <a:xfrm>
                  <a:off x="1032" y="2016"/>
                  <a:ext cx="3960" cy="255"/>
                  <a:chOff x="1032" y="2016"/>
                  <a:chExt cx="3960" cy="255"/>
                </a:xfrm>
              </p:grpSpPr>
              <p:sp>
                <p:nvSpPr>
                  <p:cNvPr id="23604" name="Rectangle 51"/>
                  <p:cNvSpPr/>
                  <p:nvPr/>
                </p:nvSpPr>
                <p:spPr>
                  <a:xfrm>
                    <a:off x="103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5</a:t>
                    </a:r>
                  </a:p>
                </p:txBody>
              </p:sp>
              <p:sp>
                <p:nvSpPr>
                  <p:cNvPr id="23605" name="Rectangle 52"/>
                  <p:cNvSpPr/>
                  <p:nvPr/>
                </p:nvSpPr>
                <p:spPr>
                  <a:xfrm>
                    <a:off x="139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13</a:t>
                    </a:r>
                  </a:p>
                </p:txBody>
              </p:sp>
              <p:sp>
                <p:nvSpPr>
                  <p:cNvPr id="23606" name="Rectangle 53"/>
                  <p:cNvSpPr/>
                  <p:nvPr/>
                </p:nvSpPr>
                <p:spPr>
                  <a:xfrm>
                    <a:off x="175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19</a:t>
                    </a:r>
                  </a:p>
                </p:txBody>
              </p:sp>
              <p:sp>
                <p:nvSpPr>
                  <p:cNvPr id="23607" name="Rectangle 54"/>
                  <p:cNvSpPr/>
                  <p:nvPr/>
                </p:nvSpPr>
                <p:spPr>
                  <a:xfrm>
                    <a:off x="211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21</a:t>
                    </a:r>
                  </a:p>
                </p:txBody>
              </p:sp>
              <p:sp>
                <p:nvSpPr>
                  <p:cNvPr id="23608" name="Rectangle 55"/>
                  <p:cNvSpPr/>
                  <p:nvPr/>
                </p:nvSpPr>
                <p:spPr>
                  <a:xfrm>
                    <a:off x="247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37</a:t>
                    </a:r>
                  </a:p>
                </p:txBody>
              </p:sp>
              <p:sp>
                <p:nvSpPr>
                  <p:cNvPr id="23609" name="Rectangle 56"/>
                  <p:cNvSpPr/>
                  <p:nvPr/>
                </p:nvSpPr>
                <p:spPr>
                  <a:xfrm>
                    <a:off x="283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56</a:t>
                    </a:r>
                  </a:p>
                </p:txBody>
              </p:sp>
              <p:sp>
                <p:nvSpPr>
                  <p:cNvPr id="23610" name="Rectangle 57"/>
                  <p:cNvSpPr/>
                  <p:nvPr/>
                </p:nvSpPr>
                <p:spPr>
                  <a:xfrm>
                    <a:off x="319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chemeClr val="hlink"/>
                        </a:solidFill>
                        <a:latin typeface="Times New Roman" panose="02020603050405020304" pitchFamily="18" charset="0"/>
                        <a:ea typeface="宋体" panose="02010600030101010101" pitchFamily="2" charset="-122"/>
                      </a:rPr>
                      <a:t>64</a:t>
                    </a:r>
                  </a:p>
                </p:txBody>
              </p:sp>
              <p:sp>
                <p:nvSpPr>
                  <p:cNvPr id="23611" name="Rectangle 58"/>
                  <p:cNvSpPr/>
                  <p:nvPr/>
                </p:nvSpPr>
                <p:spPr>
                  <a:xfrm>
                    <a:off x="355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75</a:t>
                    </a:r>
                  </a:p>
                </p:txBody>
              </p:sp>
              <p:sp>
                <p:nvSpPr>
                  <p:cNvPr id="23612" name="Rectangle 59"/>
                  <p:cNvSpPr/>
                  <p:nvPr/>
                </p:nvSpPr>
                <p:spPr>
                  <a:xfrm>
                    <a:off x="391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80</a:t>
                    </a:r>
                  </a:p>
                </p:txBody>
              </p:sp>
              <p:sp>
                <p:nvSpPr>
                  <p:cNvPr id="23613" name="Rectangle 60"/>
                  <p:cNvSpPr/>
                  <p:nvPr/>
                </p:nvSpPr>
                <p:spPr>
                  <a:xfrm>
                    <a:off x="427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88</a:t>
                    </a:r>
                  </a:p>
                </p:txBody>
              </p:sp>
              <p:sp>
                <p:nvSpPr>
                  <p:cNvPr id="23614" name="Rectangle 61"/>
                  <p:cNvSpPr/>
                  <p:nvPr/>
                </p:nvSpPr>
                <p:spPr>
                  <a:xfrm>
                    <a:off x="463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92</a:t>
                    </a:r>
                  </a:p>
                </p:txBody>
              </p:sp>
            </p:grpSp>
          </p:grpSp>
          <p:sp>
            <p:nvSpPr>
              <p:cNvPr id="23615" name="Line 62"/>
              <p:cNvSpPr/>
              <p:nvPr/>
            </p:nvSpPr>
            <p:spPr>
              <a:xfrm flipH="1" flipV="1">
                <a:off x="3120" y="3888"/>
                <a:ext cx="0" cy="240"/>
              </a:xfrm>
              <a:prstGeom prst="line">
                <a:avLst/>
              </a:prstGeom>
              <a:ln w="12700" cap="flat" cmpd="sng">
                <a:solidFill>
                  <a:schemeClr val="hlink"/>
                </a:solidFill>
                <a:prstDash val="solid"/>
                <a:round/>
                <a:headEnd type="none" w="med" len="med"/>
                <a:tailEnd type="triangle" w="med" len="med"/>
              </a:ln>
            </p:spPr>
          </p:sp>
          <p:sp>
            <p:nvSpPr>
              <p:cNvPr id="23616" name="Text Box 63"/>
              <p:cNvSpPr txBox="1"/>
              <p:nvPr/>
            </p:nvSpPr>
            <p:spPr>
              <a:xfrm>
                <a:off x="2784" y="4070"/>
                <a:ext cx="596" cy="232"/>
              </a:xfrm>
              <a:prstGeom prst="rect">
                <a:avLst/>
              </a:prstGeom>
              <a:noFill/>
              <a:ln w="9525">
                <a:noFill/>
              </a:ln>
            </p:spPr>
            <p:txBody>
              <a:bodyPr lIns="0" tIns="0" rIns="0" bIns="0" anchor="t" anchorCtr="0">
                <a:spAutoFit/>
              </a:bodyPr>
              <a:lstStyle/>
              <a:p>
                <a:pPr algn="ctr">
                  <a:lnSpc>
                    <a:spcPct val="60000"/>
                  </a:lnSpc>
                </a:pPr>
                <a:r>
                  <a:rPr lang="en-US" altLang="zh-CN" sz="2000" b="1" dirty="0">
                    <a:solidFill>
                      <a:srgbClr val="0CDD07"/>
                    </a:solidFill>
                    <a:latin typeface="Times New Roman" panose="02020603050405020304" pitchFamily="18" charset="0"/>
                    <a:ea typeface="宋体" panose="02010600030101010101" pitchFamily="2" charset="-122"/>
                  </a:rPr>
                  <a:t>Low=7</a:t>
                </a:r>
              </a:p>
              <a:p>
                <a:pPr algn="ctr">
                  <a:lnSpc>
                    <a:spcPct val="60000"/>
                  </a:lnSpc>
                </a:pPr>
                <a:r>
                  <a:rPr lang="en-US" altLang="zh-CN" sz="2000" b="1" dirty="0">
                    <a:solidFill>
                      <a:srgbClr val="0CDD07"/>
                    </a:solidFill>
                    <a:latin typeface="Times New Roman" panose="02020603050405020304" pitchFamily="18" charset="0"/>
                    <a:ea typeface="宋体" panose="02010600030101010101" pitchFamily="2" charset="-122"/>
                  </a:rPr>
                  <a:t>mid=7</a:t>
                </a:r>
              </a:p>
            </p:txBody>
          </p:sp>
          <p:sp>
            <p:nvSpPr>
              <p:cNvPr id="23617" name="Line 64"/>
              <p:cNvSpPr/>
              <p:nvPr/>
            </p:nvSpPr>
            <p:spPr>
              <a:xfrm flipV="1">
                <a:off x="3504" y="3888"/>
                <a:ext cx="0" cy="220"/>
              </a:xfrm>
              <a:prstGeom prst="line">
                <a:avLst/>
              </a:prstGeom>
              <a:ln w="12700" cap="flat" cmpd="sng">
                <a:solidFill>
                  <a:schemeClr val="hlink"/>
                </a:solidFill>
                <a:prstDash val="solid"/>
                <a:round/>
                <a:headEnd type="none" w="med" len="med"/>
                <a:tailEnd type="triangle" w="med" len="med"/>
              </a:ln>
            </p:spPr>
          </p:sp>
          <p:sp>
            <p:nvSpPr>
              <p:cNvPr id="23618" name="Text Box 65"/>
              <p:cNvSpPr txBox="1"/>
              <p:nvPr/>
            </p:nvSpPr>
            <p:spPr>
              <a:xfrm>
                <a:off x="3408" y="4070"/>
                <a:ext cx="720" cy="251"/>
              </a:xfrm>
              <a:prstGeom prst="rect">
                <a:avLst/>
              </a:prstGeom>
              <a:noFill/>
              <a:ln w="9525">
                <a:noFill/>
              </a:ln>
            </p:spPr>
            <p:txBody>
              <a:bodyPr lIns="0" rIns="0" anchor="t" anchorCtr="0">
                <a:spAutoFit/>
              </a:bodyPr>
              <a:lstStyle/>
              <a:p>
                <a:r>
                  <a:rPr lang="en-US" altLang="zh-CN" sz="2000" b="1" dirty="0">
                    <a:solidFill>
                      <a:srgbClr val="0CDD07"/>
                    </a:solidFill>
                    <a:latin typeface="Times New Roman" panose="02020603050405020304" pitchFamily="18" charset="0"/>
                    <a:ea typeface="宋体" panose="02010600030101010101" pitchFamily="2" charset="-122"/>
                  </a:rPr>
                  <a:t>High=8</a:t>
                </a:r>
              </a:p>
            </p:txBody>
          </p:sp>
          <p:sp>
            <p:nvSpPr>
              <p:cNvPr id="23619" name="Line 66"/>
              <p:cNvSpPr/>
              <p:nvPr/>
            </p:nvSpPr>
            <p:spPr>
              <a:xfrm flipV="1">
                <a:off x="3216" y="3888"/>
                <a:ext cx="0" cy="219"/>
              </a:xfrm>
              <a:prstGeom prst="line">
                <a:avLst/>
              </a:prstGeom>
              <a:ln w="12700" cap="flat" cmpd="sng">
                <a:solidFill>
                  <a:schemeClr val="hlink"/>
                </a:solidFill>
                <a:prstDash val="solid"/>
                <a:round/>
                <a:headEnd type="none" w="med" len="med"/>
                <a:tailEnd type="triangle" w="med" len="med"/>
              </a:ln>
            </p:spPr>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308673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折半查找算法举例</a:t>
            </a:r>
          </a:p>
          <a:p>
            <a:pPr marL="0" lvl="1" indent="0" algn="l" eaLnBrk="1" hangingPunct="1">
              <a:buClrTx/>
              <a:buSzTx/>
              <a:buFont typeface="Wingdings" panose="05000000000000000000" charset="0"/>
              <a:buNone/>
            </a:pPr>
            <a:endParaRPr lang="zh-CN" altLang="en-US" sz="20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20</a:t>
            </a:fld>
            <a:endParaRPr lang="zh-CN" altLang="en-US"/>
          </a:p>
        </p:txBody>
      </p:sp>
      <p:grpSp>
        <p:nvGrpSpPr>
          <p:cNvPr id="24580" name="Group 87"/>
          <p:cNvGrpSpPr/>
          <p:nvPr/>
        </p:nvGrpSpPr>
        <p:grpSpPr>
          <a:xfrm>
            <a:off x="2351088" y="2133600"/>
            <a:ext cx="6591300" cy="1693863"/>
            <a:chOff x="904" y="2056"/>
            <a:chExt cx="4152" cy="1067"/>
          </a:xfrm>
        </p:grpSpPr>
        <p:grpSp>
          <p:nvGrpSpPr>
            <p:cNvPr id="24581" name="Group 68"/>
            <p:cNvGrpSpPr/>
            <p:nvPr/>
          </p:nvGrpSpPr>
          <p:grpSpPr>
            <a:xfrm>
              <a:off x="904" y="2296"/>
              <a:ext cx="4152" cy="466"/>
              <a:chOff x="1032" y="1805"/>
              <a:chExt cx="4152" cy="466"/>
            </a:xfrm>
          </p:grpSpPr>
          <p:sp>
            <p:nvSpPr>
              <p:cNvPr id="24582" name="Text Box 69"/>
              <p:cNvSpPr txBox="1"/>
              <p:nvPr/>
            </p:nvSpPr>
            <p:spPr>
              <a:xfrm>
                <a:off x="1104" y="1805"/>
                <a:ext cx="4080" cy="251"/>
              </a:xfrm>
              <a:prstGeom prst="rect">
                <a:avLst/>
              </a:prstGeom>
              <a:noFill/>
              <a:ln w="9525">
                <a:noFill/>
              </a:ln>
            </p:spPr>
            <p:txBody>
              <a:bodyPr anchor="t" anchorCtr="0">
                <a:spAutoFit/>
              </a:bodyPr>
              <a:lstStyle/>
              <a:p>
                <a:r>
                  <a:rPr lang="en-US" altLang="zh-CN" sz="2000" b="1" dirty="0">
                    <a:solidFill>
                      <a:srgbClr val="003300"/>
                    </a:solidFill>
                    <a:latin typeface="Times New Roman" panose="02020603050405020304" pitchFamily="18" charset="0"/>
                    <a:ea typeface="宋体" panose="02010600030101010101" pitchFamily="2" charset="-122"/>
                  </a:rPr>
                  <a:t>1       2       3       4       5       6       7        8       9      10     11</a:t>
                </a:r>
              </a:p>
            </p:txBody>
          </p:sp>
          <p:grpSp>
            <p:nvGrpSpPr>
              <p:cNvPr id="24583" name="Group 70"/>
              <p:cNvGrpSpPr/>
              <p:nvPr/>
            </p:nvGrpSpPr>
            <p:grpSpPr>
              <a:xfrm>
                <a:off x="1032" y="2016"/>
                <a:ext cx="3960" cy="255"/>
                <a:chOff x="1032" y="2016"/>
                <a:chExt cx="3960" cy="255"/>
              </a:xfrm>
            </p:grpSpPr>
            <p:sp>
              <p:nvSpPr>
                <p:cNvPr id="24584" name="Rectangle 71"/>
                <p:cNvSpPr/>
                <p:nvPr/>
              </p:nvSpPr>
              <p:spPr>
                <a:xfrm>
                  <a:off x="103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5</a:t>
                  </a:r>
                </a:p>
              </p:txBody>
            </p:sp>
            <p:sp>
              <p:nvSpPr>
                <p:cNvPr id="24585" name="Rectangle 72"/>
                <p:cNvSpPr/>
                <p:nvPr/>
              </p:nvSpPr>
              <p:spPr>
                <a:xfrm>
                  <a:off x="139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13</a:t>
                  </a:r>
                </a:p>
              </p:txBody>
            </p:sp>
            <p:sp>
              <p:nvSpPr>
                <p:cNvPr id="24586" name="Rectangle 73"/>
                <p:cNvSpPr/>
                <p:nvPr/>
              </p:nvSpPr>
              <p:spPr>
                <a:xfrm>
                  <a:off x="175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19</a:t>
                  </a:r>
                </a:p>
              </p:txBody>
            </p:sp>
            <p:sp>
              <p:nvSpPr>
                <p:cNvPr id="24587" name="Rectangle 74"/>
                <p:cNvSpPr/>
                <p:nvPr/>
              </p:nvSpPr>
              <p:spPr>
                <a:xfrm>
                  <a:off x="211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21</a:t>
                  </a:r>
                </a:p>
              </p:txBody>
            </p:sp>
            <p:sp>
              <p:nvSpPr>
                <p:cNvPr id="24588" name="Rectangle 75"/>
                <p:cNvSpPr/>
                <p:nvPr/>
              </p:nvSpPr>
              <p:spPr>
                <a:xfrm>
                  <a:off x="247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37</a:t>
                  </a:r>
                </a:p>
              </p:txBody>
            </p:sp>
            <p:sp>
              <p:nvSpPr>
                <p:cNvPr id="24589" name="Rectangle 76"/>
                <p:cNvSpPr/>
                <p:nvPr/>
              </p:nvSpPr>
              <p:spPr>
                <a:xfrm>
                  <a:off x="283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56</a:t>
                  </a:r>
                </a:p>
              </p:txBody>
            </p:sp>
            <p:sp>
              <p:nvSpPr>
                <p:cNvPr id="24590" name="Rectangle 77"/>
                <p:cNvSpPr/>
                <p:nvPr/>
              </p:nvSpPr>
              <p:spPr>
                <a:xfrm>
                  <a:off x="319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chemeClr val="bg2"/>
                      </a:solidFill>
                      <a:latin typeface="Times New Roman" panose="02020603050405020304" pitchFamily="18" charset="0"/>
                      <a:ea typeface="宋体" panose="02010600030101010101" pitchFamily="2" charset="-122"/>
                    </a:rPr>
                    <a:t>64</a:t>
                  </a:r>
                </a:p>
              </p:txBody>
            </p:sp>
            <p:sp>
              <p:nvSpPr>
                <p:cNvPr id="24591" name="Rectangle 78"/>
                <p:cNvSpPr/>
                <p:nvPr/>
              </p:nvSpPr>
              <p:spPr>
                <a:xfrm>
                  <a:off x="355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75</a:t>
                  </a:r>
                </a:p>
              </p:txBody>
            </p:sp>
            <p:sp>
              <p:nvSpPr>
                <p:cNvPr id="24592" name="Rectangle 79"/>
                <p:cNvSpPr/>
                <p:nvPr/>
              </p:nvSpPr>
              <p:spPr>
                <a:xfrm>
                  <a:off x="391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80</a:t>
                  </a:r>
                </a:p>
              </p:txBody>
            </p:sp>
            <p:sp>
              <p:nvSpPr>
                <p:cNvPr id="24593" name="Rectangle 80"/>
                <p:cNvSpPr/>
                <p:nvPr/>
              </p:nvSpPr>
              <p:spPr>
                <a:xfrm>
                  <a:off x="427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88</a:t>
                  </a:r>
                </a:p>
              </p:txBody>
            </p:sp>
            <p:sp>
              <p:nvSpPr>
                <p:cNvPr id="24594" name="Rectangle 81"/>
                <p:cNvSpPr/>
                <p:nvPr/>
              </p:nvSpPr>
              <p:spPr>
                <a:xfrm>
                  <a:off x="4632" y="2016"/>
                  <a:ext cx="360" cy="255"/>
                </a:xfrm>
                <a:prstGeom prst="rect">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en-US" altLang="zh-CN" sz="2000" b="1" dirty="0">
                      <a:solidFill>
                        <a:srgbClr val="003300"/>
                      </a:solidFill>
                      <a:latin typeface="Times New Roman" panose="02020603050405020304" pitchFamily="18" charset="0"/>
                      <a:ea typeface="宋体" panose="02010600030101010101" pitchFamily="2" charset="-122"/>
                    </a:rPr>
                    <a:t>92</a:t>
                  </a:r>
                </a:p>
              </p:txBody>
            </p:sp>
          </p:grpSp>
        </p:grpSp>
        <p:sp>
          <p:nvSpPr>
            <p:cNvPr id="24595" name="Line 82"/>
            <p:cNvSpPr/>
            <p:nvPr/>
          </p:nvSpPr>
          <p:spPr>
            <a:xfrm flipV="1">
              <a:off x="2872" y="2728"/>
              <a:ext cx="0" cy="220"/>
            </a:xfrm>
            <a:prstGeom prst="line">
              <a:avLst/>
            </a:prstGeom>
            <a:ln w="12700" cap="flat" cmpd="sng">
              <a:solidFill>
                <a:schemeClr val="hlink"/>
              </a:solidFill>
              <a:prstDash val="solid"/>
              <a:round/>
              <a:headEnd type="none" w="med" len="med"/>
              <a:tailEnd type="triangle" w="med" len="med"/>
            </a:ln>
          </p:spPr>
        </p:sp>
        <p:sp>
          <p:nvSpPr>
            <p:cNvPr id="24596" name="Text Box 83"/>
            <p:cNvSpPr txBox="1"/>
            <p:nvPr/>
          </p:nvSpPr>
          <p:spPr>
            <a:xfrm>
              <a:off x="2488" y="2872"/>
              <a:ext cx="720" cy="251"/>
            </a:xfrm>
            <a:prstGeom prst="rect">
              <a:avLst/>
            </a:prstGeom>
            <a:noFill/>
            <a:ln w="9525">
              <a:noFill/>
            </a:ln>
          </p:spPr>
          <p:txBody>
            <a:bodyPr lIns="0" rIns="0" anchor="t" anchorCtr="0">
              <a:spAutoFit/>
            </a:bodyPr>
            <a:lstStyle/>
            <a:p>
              <a:r>
                <a:rPr lang="en-US" altLang="zh-CN" sz="2000" b="1" dirty="0">
                  <a:solidFill>
                    <a:srgbClr val="0CDD07"/>
                  </a:solidFill>
                  <a:latin typeface="Times New Roman" panose="02020603050405020304" pitchFamily="18" charset="0"/>
                  <a:ea typeface="宋体" panose="02010600030101010101" pitchFamily="2" charset="-122"/>
                </a:rPr>
                <a:t>High=6</a:t>
              </a:r>
            </a:p>
          </p:txBody>
        </p:sp>
        <p:sp>
          <p:nvSpPr>
            <p:cNvPr id="24597" name="Line 84"/>
            <p:cNvSpPr/>
            <p:nvPr/>
          </p:nvSpPr>
          <p:spPr>
            <a:xfrm flipV="1">
              <a:off x="3256" y="2728"/>
              <a:ext cx="0" cy="219"/>
            </a:xfrm>
            <a:prstGeom prst="line">
              <a:avLst/>
            </a:prstGeom>
            <a:ln w="12700" cap="flat" cmpd="sng">
              <a:solidFill>
                <a:schemeClr val="hlink"/>
              </a:solidFill>
              <a:prstDash val="solid"/>
              <a:round/>
              <a:headEnd type="none" w="med" len="med"/>
              <a:tailEnd type="triangle" w="med" len="med"/>
            </a:ln>
          </p:spPr>
        </p:sp>
        <p:sp>
          <p:nvSpPr>
            <p:cNvPr id="24598" name="Text Box 85"/>
            <p:cNvSpPr txBox="1"/>
            <p:nvPr/>
          </p:nvSpPr>
          <p:spPr>
            <a:xfrm>
              <a:off x="3064" y="2872"/>
              <a:ext cx="576" cy="251"/>
            </a:xfrm>
            <a:prstGeom prst="rect">
              <a:avLst/>
            </a:prstGeom>
            <a:noFill/>
            <a:ln w="9525">
              <a:noFill/>
            </a:ln>
          </p:spPr>
          <p:txBody>
            <a:bodyPr lIns="0" rIns="0" anchor="t" anchorCtr="0">
              <a:spAutoFit/>
            </a:bodyPr>
            <a:lstStyle/>
            <a:p>
              <a:r>
                <a:rPr lang="en-US" altLang="zh-CN" sz="2000" b="1" dirty="0">
                  <a:solidFill>
                    <a:srgbClr val="0CDD07"/>
                  </a:solidFill>
                  <a:latin typeface="Times New Roman" panose="02020603050405020304" pitchFamily="18" charset="0"/>
                  <a:ea typeface="宋体" panose="02010600030101010101" pitchFamily="2" charset="-122"/>
                </a:rPr>
                <a:t>Low=7</a:t>
              </a:r>
            </a:p>
          </p:txBody>
        </p:sp>
        <p:sp>
          <p:nvSpPr>
            <p:cNvPr id="24599" name="AutoShape 86"/>
            <p:cNvSpPr/>
            <p:nvPr/>
          </p:nvSpPr>
          <p:spPr>
            <a:xfrm>
              <a:off x="2824" y="2056"/>
              <a:ext cx="1022" cy="233"/>
            </a:xfrm>
            <a:prstGeom prst="wedgeEllipseCallout">
              <a:avLst>
                <a:gd name="adj1" fmla="val -28278"/>
                <a:gd name="adj2" fmla="val 144421"/>
              </a:avLst>
            </a:prstGeom>
            <a:solidFill>
              <a:srgbClr val="FFCCFF"/>
            </a:solidFill>
            <a:ln w="9525" cap="flat" cmpd="sng">
              <a:solidFill>
                <a:srgbClr val="003366"/>
              </a:solidFill>
              <a:prstDash val="solid"/>
              <a:miter/>
              <a:headEnd type="none" w="med" len="med"/>
              <a:tailEnd type="none" w="med" len="med"/>
            </a:ln>
          </p:spPr>
          <p:txBody>
            <a:bodyPr wrap="none" anchor="ctr" anchorCtr="0"/>
            <a:lstStyle/>
            <a:p>
              <a:pPr algn="ctr"/>
              <a:r>
                <a:rPr lang="zh-CN" altLang="en-US" sz="2000" b="1" dirty="0">
                  <a:solidFill>
                    <a:srgbClr val="FF0000"/>
                  </a:solidFill>
                  <a:latin typeface="Times New Roman" panose="02020603050405020304" pitchFamily="18" charset="0"/>
                  <a:ea typeface="宋体" panose="02010600030101010101" pitchFamily="2" charset="-122"/>
                </a:rPr>
                <a:t>找</a:t>
              </a:r>
              <a:r>
                <a:rPr lang="en-US" altLang="zh-CN" sz="2000" b="1" dirty="0">
                  <a:solidFill>
                    <a:srgbClr val="FF0000"/>
                  </a:solidFill>
                  <a:latin typeface="Times New Roman" panose="02020603050405020304" pitchFamily="18" charset="0"/>
                  <a:ea typeface="宋体" panose="02010600030101010101" pitchFamily="2" charset="-122"/>
                </a:rPr>
                <a:t>59</a:t>
              </a:r>
            </a:p>
          </p:txBody>
        </p:sp>
      </p:grpSp>
      <p:sp>
        <p:nvSpPr>
          <p:cNvPr id="5" name="文本框 4"/>
          <p:cNvSpPr txBox="1"/>
          <p:nvPr/>
        </p:nvSpPr>
        <p:spPr>
          <a:xfrm>
            <a:off x="3368675" y="3860800"/>
            <a:ext cx="5209540" cy="368300"/>
          </a:xfrm>
          <a:prstGeom prst="rect">
            <a:avLst/>
          </a:prstGeom>
        </p:spPr>
        <p:txBody>
          <a:bodyPr vert="horz" wrap="square" lIns="91440" tIns="45720" rIns="91440" bIns="45720" rtlCol="0" anchor="t">
            <a:spAutoFit/>
          </a:bodyPr>
          <a:lstStyle/>
          <a:p>
            <a:pPr marL="0" lvl="0" indent="0">
              <a:lnSpc>
                <a:spcPct val="90000"/>
              </a:lnSpc>
              <a:spcBef>
                <a:spcPts val="1000"/>
              </a:spcBef>
              <a:buClr>
                <a:schemeClr val="accent2"/>
              </a:buClr>
              <a:buFont typeface="Wingdings" panose="05000000000000000000" pitchFamily="2" charset="2"/>
              <a:buNone/>
            </a:pPr>
            <a:r>
              <a:rPr lang="zh-CN" altLang="en-US" sz="2000" b="1" dirty="0">
                <a:solidFill>
                  <a:srgbClr val="FF0000"/>
                </a:solidFill>
                <a:latin typeface="宋体" panose="02010600030101010101" pitchFamily="2" charset="-122"/>
                <a:sym typeface="+mn-ea"/>
              </a:rPr>
              <a:t>当下界</a:t>
            </a:r>
            <a:r>
              <a:rPr lang="en-US" altLang="zh-CN" sz="2000" b="1" dirty="0">
                <a:solidFill>
                  <a:srgbClr val="FF0000"/>
                </a:solidFill>
                <a:latin typeface="宋体" panose="02010600030101010101" pitchFamily="2" charset="-122"/>
                <a:sym typeface="+mn-ea"/>
              </a:rPr>
              <a:t>low</a:t>
            </a:r>
            <a:r>
              <a:rPr lang="zh-CN" altLang="en-US" sz="2000" b="1" dirty="0">
                <a:solidFill>
                  <a:srgbClr val="FF0000"/>
                </a:solidFill>
                <a:latin typeface="宋体" panose="02010600030101010101" pitchFamily="2" charset="-122"/>
                <a:sym typeface="+mn-ea"/>
              </a:rPr>
              <a:t>大于上界</a:t>
            </a:r>
            <a:r>
              <a:rPr lang="en-US" altLang="zh-CN" sz="2000" b="1" dirty="0">
                <a:solidFill>
                  <a:srgbClr val="FF0000"/>
                </a:solidFill>
                <a:latin typeface="宋体" panose="02010600030101010101" pitchFamily="2" charset="-122"/>
                <a:sym typeface="+mn-ea"/>
              </a:rPr>
              <a:t>high</a:t>
            </a:r>
            <a:r>
              <a:rPr lang="zh-CN" altLang="en-US" sz="2000" b="1" dirty="0">
                <a:solidFill>
                  <a:srgbClr val="FF0000"/>
                </a:solidFill>
                <a:latin typeface="宋体" panose="02010600030101010101" pitchFamily="2" charset="-122"/>
                <a:sym typeface="+mn-ea"/>
              </a:rPr>
              <a:t>时，说明查找不成功</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折半查找时每经过一次比较，查找范围就缩小一半，该过程可用一棵二叉树表示：</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根结点就是第一次进行比较的中间位置的记录；</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排在中间位置前面的作为左子树的结点；</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排在中间位置后面的作为右子树的结点； </a:t>
            </a:r>
            <a:endParaRPr lang="zh-CN" altLang="en-US" sz="240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这样得到的二叉树称为判定树(Decision Tree)。</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Clr>
                <a:schemeClr val="accent2"/>
              </a:buClr>
              <a:buFont typeface="Wingdings" panose="05000000000000000000" pitchFamily="2" charset="2"/>
              <a:buChar char="q"/>
            </a:pPr>
            <a:endParaRPr lang="zh-CN" altLang="en-US" sz="2000" b="0" dirty="0">
              <a:latin typeface="黑体" panose="02010609060101010101" pitchFamily="2" charset="-122"/>
              <a:ea typeface="黑体" panose="02010609060101010101" pitchFamily="2" charset="-122"/>
            </a:endParaRPr>
          </a:p>
          <a:p>
            <a:pPr lvl="1" algn="l" eaLnBrk="1" hangingPunct="1">
              <a:buClrTx/>
              <a:buSzTx/>
              <a:buChar char="•"/>
            </a:pPr>
            <a:endParaRPr lang="zh-CN" altLang="en-US" sz="20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21</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判定树，描述查找过程的二叉树。</a:t>
            </a:r>
            <a:endParaRPr lang="zh-CN" altLang="en-US" sz="28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个结点的判定树的深度为</a:t>
            </a:r>
            <a:r>
              <a:rPr lang="zh-CN" altLang="zh-CN"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log</a:t>
            </a:r>
            <a:r>
              <a:rPr lang="en-US" altLang="zh-CN" baseline="-25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en-US" altLang="zh-CN"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，即折半查找法在查找过程中进行的比较次数最多不超过</a:t>
            </a:r>
            <a:r>
              <a:rPr lang="zh-CN" altLang="zh-CN"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log</a:t>
            </a:r>
            <a:r>
              <a:rPr lang="en-US" altLang="zh-CN" baseline="-25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en-US" altLang="zh-CN"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a:t>
            </a:r>
            <a:endParaRPr lang="en-US" altLang="zh-CN"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en-US" altLang="zh-CN"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22</a:t>
            </a:fld>
            <a:endParaRPr lang="zh-CN" altLang="en-US"/>
          </a:p>
        </p:txBody>
      </p:sp>
      <p:grpSp>
        <p:nvGrpSpPr>
          <p:cNvPr id="26669" name="Group 112"/>
          <p:cNvGrpSpPr/>
          <p:nvPr/>
        </p:nvGrpSpPr>
        <p:grpSpPr>
          <a:xfrm>
            <a:off x="3791268" y="2420620"/>
            <a:ext cx="3276600" cy="2303463"/>
            <a:chOff x="912" y="2784"/>
            <a:chExt cx="3312" cy="1344"/>
          </a:xfrm>
        </p:grpSpPr>
        <p:sp>
          <p:nvSpPr>
            <p:cNvPr id="26670" name="Oval 113"/>
            <p:cNvSpPr/>
            <p:nvPr/>
          </p:nvSpPr>
          <p:spPr>
            <a:xfrm>
              <a:off x="2465" y="2784"/>
              <a:ext cx="235" cy="235"/>
            </a:xfrm>
            <a:prstGeom prst="ellipse">
              <a:avLst/>
            </a:prstGeom>
            <a:solidFill>
              <a:srgbClr val="CCFFCC"/>
            </a:solidFill>
            <a:ln w="38100">
              <a:noFill/>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a:t>
              </a:r>
            </a:p>
          </p:txBody>
        </p:sp>
        <p:sp>
          <p:nvSpPr>
            <p:cNvPr id="26671" name="Oval 114"/>
            <p:cNvSpPr/>
            <p:nvPr/>
          </p:nvSpPr>
          <p:spPr>
            <a:xfrm>
              <a:off x="1322" y="2986"/>
              <a:ext cx="235" cy="235"/>
            </a:xfrm>
            <a:prstGeom prst="ellipse">
              <a:avLst/>
            </a:prstGeom>
            <a:solidFill>
              <a:schemeClr val="hlink"/>
            </a:solidFill>
            <a:ln w="38100">
              <a:noFill/>
            </a:ln>
          </p:spPr>
          <p:txBody>
            <a:bodyPr wrap="none" anchor="ctr" anchorCtr="0"/>
            <a:lstStyle/>
            <a:p>
              <a:pPr algn="ctr"/>
              <a:r>
                <a:rPr lang="en-US" altLang="zh-CN" sz="1600" b="1" dirty="0">
                  <a:solidFill>
                    <a:srgbClr val="FFFF00"/>
                  </a:solidFill>
                  <a:latin typeface="Times New Roman" panose="02020603050405020304" pitchFamily="18" charset="0"/>
                  <a:ea typeface="宋体" panose="02010600030101010101" pitchFamily="2" charset="-122"/>
                </a:rPr>
                <a:t>3</a:t>
              </a:r>
            </a:p>
          </p:txBody>
        </p:sp>
        <p:sp>
          <p:nvSpPr>
            <p:cNvPr id="26672" name="Oval 115"/>
            <p:cNvSpPr/>
            <p:nvPr/>
          </p:nvSpPr>
          <p:spPr>
            <a:xfrm>
              <a:off x="3286" y="2986"/>
              <a:ext cx="235" cy="235"/>
            </a:xfrm>
            <a:prstGeom prst="ellipse">
              <a:avLst/>
            </a:prstGeom>
            <a:solidFill>
              <a:schemeClr val="hlink"/>
            </a:solidFill>
            <a:ln w="38100">
              <a:noFill/>
            </a:ln>
          </p:spPr>
          <p:txBody>
            <a:bodyPr wrap="none" anchor="ctr" anchorCtr="0"/>
            <a:lstStyle/>
            <a:p>
              <a:pPr algn="ctr"/>
              <a:r>
                <a:rPr lang="en-US" altLang="zh-CN" sz="1600" b="1" dirty="0">
                  <a:solidFill>
                    <a:srgbClr val="FFFF00"/>
                  </a:solidFill>
                  <a:latin typeface="Times New Roman" panose="02020603050405020304" pitchFamily="18" charset="0"/>
                  <a:ea typeface="宋体" panose="02010600030101010101" pitchFamily="2" charset="-122"/>
                </a:rPr>
                <a:t>9</a:t>
              </a:r>
            </a:p>
          </p:txBody>
        </p:sp>
        <p:sp>
          <p:nvSpPr>
            <p:cNvPr id="26673" name="Oval 116"/>
            <p:cNvSpPr/>
            <p:nvPr/>
          </p:nvSpPr>
          <p:spPr>
            <a:xfrm>
              <a:off x="971" y="3254"/>
              <a:ext cx="234" cy="236"/>
            </a:xfrm>
            <a:prstGeom prst="ellipse">
              <a:avLst/>
            </a:prstGeom>
            <a:solidFill>
              <a:srgbClr val="FF99FF"/>
            </a:solidFill>
            <a:ln w="38100">
              <a:noFill/>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a:t>
              </a:r>
            </a:p>
          </p:txBody>
        </p:sp>
        <p:sp>
          <p:nvSpPr>
            <p:cNvPr id="26674" name="Oval 117"/>
            <p:cNvSpPr/>
            <p:nvPr/>
          </p:nvSpPr>
          <p:spPr>
            <a:xfrm>
              <a:off x="1703" y="3221"/>
              <a:ext cx="235" cy="235"/>
            </a:xfrm>
            <a:prstGeom prst="ellipse">
              <a:avLst/>
            </a:prstGeom>
            <a:solidFill>
              <a:srgbClr val="FF99FF"/>
            </a:solidFill>
            <a:ln w="38100">
              <a:noFill/>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4</a:t>
              </a:r>
            </a:p>
          </p:txBody>
        </p:sp>
        <p:sp>
          <p:nvSpPr>
            <p:cNvPr id="26675" name="Rectangle 118"/>
            <p:cNvSpPr/>
            <p:nvPr/>
          </p:nvSpPr>
          <p:spPr>
            <a:xfrm>
              <a:off x="912" y="3725"/>
              <a:ext cx="117" cy="201"/>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676" name="Rectangle 119"/>
            <p:cNvSpPr/>
            <p:nvPr/>
          </p:nvSpPr>
          <p:spPr>
            <a:xfrm>
              <a:off x="1234" y="3926"/>
              <a:ext cx="118" cy="202"/>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677" name="Rectangle 120"/>
            <p:cNvSpPr/>
            <p:nvPr/>
          </p:nvSpPr>
          <p:spPr>
            <a:xfrm>
              <a:off x="1528" y="3926"/>
              <a:ext cx="117" cy="202"/>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678" name="Rectangle 121"/>
            <p:cNvSpPr/>
            <p:nvPr/>
          </p:nvSpPr>
          <p:spPr>
            <a:xfrm>
              <a:off x="1733" y="3624"/>
              <a:ext cx="117" cy="202"/>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679" name="Rectangle 122"/>
            <p:cNvSpPr/>
            <p:nvPr/>
          </p:nvSpPr>
          <p:spPr>
            <a:xfrm>
              <a:off x="2026" y="3926"/>
              <a:ext cx="117" cy="202"/>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680" name="Rectangle 123"/>
            <p:cNvSpPr/>
            <p:nvPr/>
          </p:nvSpPr>
          <p:spPr>
            <a:xfrm>
              <a:off x="2319" y="3926"/>
              <a:ext cx="117" cy="202"/>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681" name="Rectangle 124"/>
            <p:cNvSpPr/>
            <p:nvPr/>
          </p:nvSpPr>
          <p:spPr>
            <a:xfrm>
              <a:off x="2583" y="3624"/>
              <a:ext cx="117" cy="202"/>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682" name="Rectangle 125"/>
            <p:cNvSpPr/>
            <p:nvPr/>
          </p:nvSpPr>
          <p:spPr>
            <a:xfrm>
              <a:off x="2905" y="3926"/>
              <a:ext cx="117" cy="202"/>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683" name="Rectangle 126"/>
            <p:cNvSpPr/>
            <p:nvPr/>
          </p:nvSpPr>
          <p:spPr>
            <a:xfrm>
              <a:off x="3198" y="3926"/>
              <a:ext cx="117" cy="202"/>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684" name="Rectangle 127"/>
            <p:cNvSpPr/>
            <p:nvPr/>
          </p:nvSpPr>
          <p:spPr>
            <a:xfrm>
              <a:off x="3491" y="3624"/>
              <a:ext cx="117" cy="202"/>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685" name="Rectangle 128"/>
            <p:cNvSpPr/>
            <p:nvPr/>
          </p:nvSpPr>
          <p:spPr>
            <a:xfrm>
              <a:off x="3843" y="3926"/>
              <a:ext cx="117" cy="202"/>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686" name="Rectangle 129"/>
            <p:cNvSpPr/>
            <p:nvPr/>
          </p:nvSpPr>
          <p:spPr>
            <a:xfrm>
              <a:off x="4107" y="3926"/>
              <a:ext cx="117" cy="202"/>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687" name="Oval 130"/>
            <p:cNvSpPr/>
            <p:nvPr/>
          </p:nvSpPr>
          <p:spPr>
            <a:xfrm>
              <a:off x="1322" y="3557"/>
              <a:ext cx="235" cy="235"/>
            </a:xfrm>
            <a:prstGeom prst="ellipse">
              <a:avLst/>
            </a:prstGeom>
            <a:solidFill>
              <a:srgbClr val="9D9DFF"/>
            </a:solidFill>
            <a:ln w="38100">
              <a:noFill/>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a:t>
              </a:r>
            </a:p>
          </p:txBody>
        </p:sp>
        <p:sp>
          <p:nvSpPr>
            <p:cNvPr id="26688" name="Oval 131"/>
            <p:cNvSpPr/>
            <p:nvPr/>
          </p:nvSpPr>
          <p:spPr>
            <a:xfrm>
              <a:off x="2114" y="3523"/>
              <a:ext cx="234" cy="235"/>
            </a:xfrm>
            <a:prstGeom prst="ellipse">
              <a:avLst/>
            </a:prstGeom>
            <a:solidFill>
              <a:srgbClr val="9D9DFF"/>
            </a:solidFill>
            <a:ln w="38100">
              <a:noFill/>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26689" name="Oval 132"/>
            <p:cNvSpPr/>
            <p:nvPr/>
          </p:nvSpPr>
          <p:spPr>
            <a:xfrm>
              <a:off x="2729" y="3221"/>
              <a:ext cx="235" cy="235"/>
            </a:xfrm>
            <a:prstGeom prst="ellipse">
              <a:avLst/>
            </a:prstGeom>
            <a:solidFill>
              <a:srgbClr val="FF99FF"/>
            </a:solidFill>
            <a:ln w="38100">
              <a:noFill/>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a:t>
              </a:r>
            </a:p>
          </p:txBody>
        </p:sp>
        <p:sp>
          <p:nvSpPr>
            <p:cNvPr id="26690" name="Oval 133"/>
            <p:cNvSpPr/>
            <p:nvPr/>
          </p:nvSpPr>
          <p:spPr>
            <a:xfrm>
              <a:off x="2993" y="3523"/>
              <a:ext cx="234" cy="235"/>
            </a:xfrm>
            <a:prstGeom prst="ellipse">
              <a:avLst/>
            </a:prstGeom>
            <a:solidFill>
              <a:srgbClr val="9D9DFF"/>
            </a:solidFill>
            <a:ln w="38100">
              <a:noFill/>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a:t>
              </a:r>
            </a:p>
          </p:txBody>
        </p:sp>
        <p:sp>
          <p:nvSpPr>
            <p:cNvPr id="26691" name="Oval 134"/>
            <p:cNvSpPr/>
            <p:nvPr/>
          </p:nvSpPr>
          <p:spPr>
            <a:xfrm>
              <a:off x="3638" y="3254"/>
              <a:ext cx="234" cy="236"/>
            </a:xfrm>
            <a:prstGeom prst="ellipse">
              <a:avLst/>
            </a:prstGeom>
            <a:solidFill>
              <a:srgbClr val="FF99FF"/>
            </a:solidFill>
            <a:ln w="38100">
              <a:noFill/>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10</a:t>
              </a:r>
            </a:p>
          </p:txBody>
        </p:sp>
        <p:sp>
          <p:nvSpPr>
            <p:cNvPr id="26692" name="Oval 135"/>
            <p:cNvSpPr/>
            <p:nvPr/>
          </p:nvSpPr>
          <p:spPr>
            <a:xfrm>
              <a:off x="3902" y="3557"/>
              <a:ext cx="234" cy="235"/>
            </a:xfrm>
            <a:prstGeom prst="ellipse">
              <a:avLst/>
            </a:prstGeom>
            <a:solidFill>
              <a:srgbClr val="9D9DFF"/>
            </a:solidFill>
            <a:ln w="38100">
              <a:noFill/>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11</a:t>
              </a:r>
            </a:p>
          </p:txBody>
        </p:sp>
        <p:sp>
          <p:nvSpPr>
            <p:cNvPr id="26693" name="Line 136"/>
            <p:cNvSpPr/>
            <p:nvPr/>
          </p:nvSpPr>
          <p:spPr>
            <a:xfrm flipH="1">
              <a:off x="1557" y="2918"/>
              <a:ext cx="879" cy="168"/>
            </a:xfrm>
            <a:prstGeom prst="line">
              <a:avLst/>
            </a:prstGeom>
            <a:ln w="38100" cap="flat" cmpd="sng">
              <a:solidFill>
                <a:schemeClr val="accent2"/>
              </a:solidFill>
              <a:prstDash val="solid"/>
              <a:round/>
              <a:headEnd type="none" w="med" len="med"/>
              <a:tailEnd type="none" w="med" len="med"/>
            </a:ln>
          </p:spPr>
        </p:sp>
        <p:sp>
          <p:nvSpPr>
            <p:cNvPr id="26694" name="Line 137"/>
            <p:cNvSpPr/>
            <p:nvPr/>
          </p:nvSpPr>
          <p:spPr>
            <a:xfrm>
              <a:off x="2729" y="2918"/>
              <a:ext cx="586" cy="101"/>
            </a:xfrm>
            <a:prstGeom prst="line">
              <a:avLst/>
            </a:prstGeom>
            <a:ln w="28575" cap="flat" cmpd="sng">
              <a:solidFill>
                <a:schemeClr val="accent2"/>
              </a:solidFill>
              <a:prstDash val="solid"/>
              <a:round/>
              <a:headEnd type="none" w="med" len="med"/>
              <a:tailEnd type="none" w="med" len="med"/>
            </a:ln>
          </p:spPr>
        </p:sp>
        <p:sp>
          <p:nvSpPr>
            <p:cNvPr id="26695" name="Line 138"/>
            <p:cNvSpPr/>
            <p:nvPr/>
          </p:nvSpPr>
          <p:spPr>
            <a:xfrm flipH="1">
              <a:off x="1176" y="3187"/>
              <a:ext cx="146" cy="101"/>
            </a:xfrm>
            <a:prstGeom prst="line">
              <a:avLst/>
            </a:prstGeom>
            <a:ln w="38100" cap="flat" cmpd="sng">
              <a:solidFill>
                <a:schemeClr val="accent2"/>
              </a:solidFill>
              <a:prstDash val="solid"/>
              <a:round/>
              <a:headEnd type="none" w="med" len="med"/>
              <a:tailEnd type="none" w="med" len="med"/>
            </a:ln>
          </p:spPr>
        </p:sp>
        <p:sp>
          <p:nvSpPr>
            <p:cNvPr id="26696" name="Line 139"/>
            <p:cNvSpPr/>
            <p:nvPr/>
          </p:nvSpPr>
          <p:spPr>
            <a:xfrm flipH="1">
              <a:off x="971" y="3490"/>
              <a:ext cx="58" cy="235"/>
            </a:xfrm>
            <a:prstGeom prst="line">
              <a:avLst/>
            </a:prstGeom>
            <a:ln w="38100" cap="flat" cmpd="sng">
              <a:solidFill>
                <a:schemeClr val="accent2"/>
              </a:solidFill>
              <a:prstDash val="solid"/>
              <a:round/>
              <a:headEnd type="none" w="med" len="med"/>
              <a:tailEnd type="none" w="med" len="med"/>
            </a:ln>
          </p:spPr>
        </p:sp>
        <p:sp>
          <p:nvSpPr>
            <p:cNvPr id="26697" name="Line 140"/>
            <p:cNvSpPr/>
            <p:nvPr/>
          </p:nvSpPr>
          <p:spPr>
            <a:xfrm>
              <a:off x="1205" y="3422"/>
              <a:ext cx="147" cy="168"/>
            </a:xfrm>
            <a:prstGeom prst="line">
              <a:avLst/>
            </a:prstGeom>
            <a:ln w="38100" cap="flat" cmpd="sng">
              <a:solidFill>
                <a:schemeClr val="accent2"/>
              </a:solidFill>
              <a:prstDash val="solid"/>
              <a:round/>
              <a:headEnd type="none" w="med" len="med"/>
              <a:tailEnd type="none" w="med" len="med"/>
            </a:ln>
          </p:spPr>
        </p:sp>
        <p:sp>
          <p:nvSpPr>
            <p:cNvPr id="26698" name="Line 141"/>
            <p:cNvSpPr/>
            <p:nvPr/>
          </p:nvSpPr>
          <p:spPr>
            <a:xfrm flipH="1">
              <a:off x="1293" y="3758"/>
              <a:ext cx="59" cy="168"/>
            </a:xfrm>
            <a:prstGeom prst="line">
              <a:avLst/>
            </a:prstGeom>
            <a:ln w="38100" cap="flat" cmpd="sng">
              <a:solidFill>
                <a:schemeClr val="accent2"/>
              </a:solidFill>
              <a:prstDash val="solid"/>
              <a:round/>
              <a:headEnd type="none" w="med" len="med"/>
              <a:tailEnd type="none" w="med" len="med"/>
            </a:ln>
          </p:spPr>
        </p:sp>
        <p:sp>
          <p:nvSpPr>
            <p:cNvPr id="26699" name="Line 142"/>
            <p:cNvSpPr/>
            <p:nvPr/>
          </p:nvSpPr>
          <p:spPr>
            <a:xfrm>
              <a:off x="1528" y="3758"/>
              <a:ext cx="58" cy="168"/>
            </a:xfrm>
            <a:prstGeom prst="line">
              <a:avLst/>
            </a:prstGeom>
            <a:ln w="38100" cap="flat" cmpd="sng">
              <a:solidFill>
                <a:schemeClr val="accent2"/>
              </a:solidFill>
              <a:prstDash val="solid"/>
              <a:round/>
              <a:headEnd type="none" w="med" len="med"/>
              <a:tailEnd type="none" w="med" len="med"/>
            </a:ln>
          </p:spPr>
        </p:sp>
        <p:sp>
          <p:nvSpPr>
            <p:cNvPr id="26700" name="Line 143"/>
            <p:cNvSpPr/>
            <p:nvPr/>
          </p:nvSpPr>
          <p:spPr>
            <a:xfrm>
              <a:off x="1528" y="3187"/>
              <a:ext cx="175" cy="67"/>
            </a:xfrm>
            <a:prstGeom prst="line">
              <a:avLst/>
            </a:prstGeom>
            <a:ln w="38100" cap="flat" cmpd="sng">
              <a:solidFill>
                <a:schemeClr val="accent2"/>
              </a:solidFill>
              <a:prstDash val="solid"/>
              <a:round/>
              <a:headEnd type="none" w="med" len="med"/>
              <a:tailEnd type="none" w="med" len="med"/>
            </a:ln>
          </p:spPr>
        </p:sp>
        <p:sp>
          <p:nvSpPr>
            <p:cNvPr id="26701" name="Line 144"/>
            <p:cNvSpPr/>
            <p:nvPr/>
          </p:nvSpPr>
          <p:spPr>
            <a:xfrm>
              <a:off x="1791" y="3456"/>
              <a:ext cx="0" cy="168"/>
            </a:xfrm>
            <a:prstGeom prst="line">
              <a:avLst/>
            </a:prstGeom>
            <a:ln w="38100" cap="flat" cmpd="sng">
              <a:solidFill>
                <a:schemeClr val="accent2"/>
              </a:solidFill>
              <a:prstDash val="solid"/>
              <a:round/>
              <a:headEnd type="none" w="med" len="med"/>
              <a:tailEnd type="none" w="med" len="med"/>
            </a:ln>
          </p:spPr>
        </p:sp>
        <p:sp>
          <p:nvSpPr>
            <p:cNvPr id="26702" name="Line 145"/>
            <p:cNvSpPr/>
            <p:nvPr/>
          </p:nvSpPr>
          <p:spPr>
            <a:xfrm>
              <a:off x="2290" y="3725"/>
              <a:ext cx="87" cy="201"/>
            </a:xfrm>
            <a:prstGeom prst="line">
              <a:avLst/>
            </a:prstGeom>
            <a:ln w="38100" cap="flat" cmpd="sng">
              <a:solidFill>
                <a:schemeClr val="accent2"/>
              </a:solidFill>
              <a:prstDash val="solid"/>
              <a:round/>
              <a:headEnd type="none" w="med" len="med"/>
              <a:tailEnd type="none" w="med" len="med"/>
            </a:ln>
          </p:spPr>
        </p:sp>
        <p:sp>
          <p:nvSpPr>
            <p:cNvPr id="26703" name="Line 146"/>
            <p:cNvSpPr/>
            <p:nvPr/>
          </p:nvSpPr>
          <p:spPr>
            <a:xfrm>
              <a:off x="1938" y="3389"/>
              <a:ext cx="205" cy="168"/>
            </a:xfrm>
            <a:prstGeom prst="line">
              <a:avLst/>
            </a:prstGeom>
            <a:ln w="38100" cap="flat" cmpd="sng">
              <a:solidFill>
                <a:schemeClr val="accent2"/>
              </a:solidFill>
              <a:prstDash val="solid"/>
              <a:round/>
              <a:headEnd type="none" w="med" len="med"/>
              <a:tailEnd type="none" w="med" len="med"/>
            </a:ln>
          </p:spPr>
        </p:sp>
        <p:sp>
          <p:nvSpPr>
            <p:cNvPr id="26704" name="Line 147"/>
            <p:cNvSpPr/>
            <p:nvPr/>
          </p:nvSpPr>
          <p:spPr>
            <a:xfrm flipH="1">
              <a:off x="2084" y="3725"/>
              <a:ext cx="59" cy="201"/>
            </a:xfrm>
            <a:prstGeom prst="line">
              <a:avLst/>
            </a:prstGeom>
            <a:ln w="38100" cap="flat" cmpd="sng">
              <a:solidFill>
                <a:schemeClr val="accent2"/>
              </a:solidFill>
              <a:prstDash val="solid"/>
              <a:round/>
              <a:headEnd type="none" w="med" len="med"/>
              <a:tailEnd type="none" w="med" len="med"/>
            </a:ln>
          </p:spPr>
        </p:sp>
        <p:sp>
          <p:nvSpPr>
            <p:cNvPr id="26705" name="Line 148"/>
            <p:cNvSpPr/>
            <p:nvPr/>
          </p:nvSpPr>
          <p:spPr>
            <a:xfrm flipH="1">
              <a:off x="2934" y="3086"/>
              <a:ext cx="352" cy="202"/>
            </a:xfrm>
            <a:prstGeom prst="line">
              <a:avLst/>
            </a:prstGeom>
            <a:ln w="38100" cap="flat" cmpd="sng">
              <a:solidFill>
                <a:schemeClr val="accent2"/>
              </a:solidFill>
              <a:prstDash val="solid"/>
              <a:round/>
              <a:headEnd type="none" w="med" len="med"/>
              <a:tailEnd type="none" w="med" len="med"/>
            </a:ln>
          </p:spPr>
        </p:sp>
        <p:sp>
          <p:nvSpPr>
            <p:cNvPr id="26706" name="Line 149"/>
            <p:cNvSpPr/>
            <p:nvPr/>
          </p:nvSpPr>
          <p:spPr>
            <a:xfrm flipH="1">
              <a:off x="2641" y="3422"/>
              <a:ext cx="118" cy="202"/>
            </a:xfrm>
            <a:prstGeom prst="line">
              <a:avLst/>
            </a:prstGeom>
            <a:ln w="38100" cap="flat" cmpd="sng">
              <a:solidFill>
                <a:schemeClr val="accent2"/>
              </a:solidFill>
              <a:prstDash val="solid"/>
              <a:round/>
              <a:headEnd type="none" w="med" len="med"/>
              <a:tailEnd type="none" w="med" len="med"/>
            </a:ln>
          </p:spPr>
        </p:sp>
        <p:sp>
          <p:nvSpPr>
            <p:cNvPr id="26707" name="Line 150"/>
            <p:cNvSpPr/>
            <p:nvPr/>
          </p:nvSpPr>
          <p:spPr>
            <a:xfrm>
              <a:off x="2934" y="3422"/>
              <a:ext cx="118" cy="101"/>
            </a:xfrm>
            <a:prstGeom prst="line">
              <a:avLst/>
            </a:prstGeom>
            <a:ln w="38100" cap="flat" cmpd="sng">
              <a:solidFill>
                <a:schemeClr val="accent2"/>
              </a:solidFill>
              <a:prstDash val="solid"/>
              <a:round/>
              <a:headEnd type="none" w="med" len="med"/>
              <a:tailEnd type="none" w="med" len="med"/>
            </a:ln>
          </p:spPr>
        </p:sp>
        <p:sp>
          <p:nvSpPr>
            <p:cNvPr id="26708" name="Line 151"/>
            <p:cNvSpPr/>
            <p:nvPr/>
          </p:nvSpPr>
          <p:spPr>
            <a:xfrm flipH="1">
              <a:off x="2993" y="3758"/>
              <a:ext cx="59" cy="168"/>
            </a:xfrm>
            <a:prstGeom prst="line">
              <a:avLst/>
            </a:prstGeom>
            <a:ln w="38100" cap="flat" cmpd="sng">
              <a:solidFill>
                <a:schemeClr val="accent2"/>
              </a:solidFill>
              <a:prstDash val="solid"/>
              <a:round/>
              <a:headEnd type="none" w="med" len="med"/>
              <a:tailEnd type="none" w="med" len="med"/>
            </a:ln>
          </p:spPr>
        </p:sp>
        <p:sp>
          <p:nvSpPr>
            <p:cNvPr id="26709" name="Line 152"/>
            <p:cNvSpPr/>
            <p:nvPr/>
          </p:nvSpPr>
          <p:spPr>
            <a:xfrm>
              <a:off x="3169" y="3758"/>
              <a:ext cx="88" cy="168"/>
            </a:xfrm>
            <a:prstGeom prst="line">
              <a:avLst/>
            </a:prstGeom>
            <a:ln w="38100" cap="flat" cmpd="sng">
              <a:solidFill>
                <a:schemeClr val="accent2"/>
              </a:solidFill>
              <a:prstDash val="solid"/>
              <a:round/>
              <a:headEnd type="none" w="med" len="med"/>
              <a:tailEnd type="none" w="med" len="med"/>
            </a:ln>
          </p:spPr>
        </p:sp>
        <p:sp>
          <p:nvSpPr>
            <p:cNvPr id="26710" name="Line 153"/>
            <p:cNvSpPr/>
            <p:nvPr/>
          </p:nvSpPr>
          <p:spPr>
            <a:xfrm>
              <a:off x="3521" y="3120"/>
              <a:ext cx="205" cy="134"/>
            </a:xfrm>
            <a:prstGeom prst="line">
              <a:avLst/>
            </a:prstGeom>
            <a:ln w="38100" cap="flat" cmpd="sng">
              <a:solidFill>
                <a:schemeClr val="accent2"/>
              </a:solidFill>
              <a:prstDash val="solid"/>
              <a:round/>
              <a:headEnd type="none" w="med" len="med"/>
              <a:tailEnd type="none" w="med" len="med"/>
            </a:ln>
          </p:spPr>
        </p:sp>
        <p:sp>
          <p:nvSpPr>
            <p:cNvPr id="26711" name="Line 154"/>
            <p:cNvSpPr/>
            <p:nvPr/>
          </p:nvSpPr>
          <p:spPr>
            <a:xfrm flipH="1">
              <a:off x="3550" y="3456"/>
              <a:ext cx="117" cy="168"/>
            </a:xfrm>
            <a:prstGeom prst="line">
              <a:avLst/>
            </a:prstGeom>
            <a:ln w="38100" cap="flat" cmpd="sng">
              <a:solidFill>
                <a:schemeClr val="accent2"/>
              </a:solidFill>
              <a:prstDash val="solid"/>
              <a:round/>
              <a:headEnd type="none" w="med" len="med"/>
              <a:tailEnd type="none" w="med" len="med"/>
            </a:ln>
          </p:spPr>
        </p:sp>
        <p:sp>
          <p:nvSpPr>
            <p:cNvPr id="26712" name="Line 155"/>
            <p:cNvSpPr/>
            <p:nvPr/>
          </p:nvSpPr>
          <p:spPr>
            <a:xfrm>
              <a:off x="3872" y="3422"/>
              <a:ext cx="118" cy="135"/>
            </a:xfrm>
            <a:prstGeom prst="line">
              <a:avLst/>
            </a:prstGeom>
            <a:ln w="38100" cap="flat" cmpd="sng">
              <a:solidFill>
                <a:schemeClr val="accent2"/>
              </a:solidFill>
              <a:prstDash val="solid"/>
              <a:round/>
              <a:headEnd type="none" w="med" len="med"/>
              <a:tailEnd type="none" w="med" len="med"/>
            </a:ln>
          </p:spPr>
        </p:sp>
        <p:sp>
          <p:nvSpPr>
            <p:cNvPr id="26713" name="Line 156"/>
            <p:cNvSpPr/>
            <p:nvPr/>
          </p:nvSpPr>
          <p:spPr>
            <a:xfrm flipH="1">
              <a:off x="3902" y="3792"/>
              <a:ext cx="58" cy="134"/>
            </a:xfrm>
            <a:prstGeom prst="line">
              <a:avLst/>
            </a:prstGeom>
            <a:ln w="28575" cap="flat" cmpd="sng">
              <a:solidFill>
                <a:schemeClr val="accent2"/>
              </a:solidFill>
              <a:prstDash val="solid"/>
              <a:round/>
              <a:headEnd type="none" w="med" len="med"/>
              <a:tailEnd type="none" w="med" len="med"/>
            </a:ln>
          </p:spPr>
        </p:sp>
        <p:sp>
          <p:nvSpPr>
            <p:cNvPr id="26714" name="Line 157"/>
            <p:cNvSpPr/>
            <p:nvPr/>
          </p:nvSpPr>
          <p:spPr>
            <a:xfrm>
              <a:off x="4077" y="3792"/>
              <a:ext cx="59" cy="134"/>
            </a:xfrm>
            <a:prstGeom prst="line">
              <a:avLst/>
            </a:prstGeom>
            <a:ln w="38100" cap="flat" cmpd="sng">
              <a:solidFill>
                <a:schemeClr val="accent2"/>
              </a:solidFill>
              <a:prstDash val="solid"/>
              <a:round/>
              <a:headEnd type="none" w="med" len="med"/>
              <a:tailEnd type="none" w="med" len="med"/>
            </a:ln>
          </p:spPr>
        </p:sp>
      </p:grpSp>
      <p:graphicFrame>
        <p:nvGraphicFramePr>
          <p:cNvPr id="23557" name="表格 23556"/>
          <p:cNvGraphicFramePr/>
          <p:nvPr>
            <p:custDataLst>
              <p:tags r:id="rId1"/>
            </p:custDataLst>
          </p:nvPr>
        </p:nvGraphicFramePr>
        <p:xfrm>
          <a:off x="2495550" y="5229225"/>
          <a:ext cx="6697345" cy="795020"/>
        </p:xfrm>
        <a:graphic>
          <a:graphicData uri="http://schemas.openxmlformats.org/drawingml/2006/table">
            <a:tbl>
              <a:tblPr/>
              <a:tblGrid>
                <a:gridCol w="557530">
                  <a:extLst>
                    <a:ext uri="{9D8B030D-6E8A-4147-A177-3AD203B41FA5}">
                      <a16:colId xmlns:a16="http://schemas.microsoft.com/office/drawing/2014/main" val="20000"/>
                    </a:ext>
                  </a:extLst>
                </a:gridCol>
                <a:gridCol w="560070">
                  <a:extLst>
                    <a:ext uri="{9D8B030D-6E8A-4147-A177-3AD203B41FA5}">
                      <a16:colId xmlns:a16="http://schemas.microsoft.com/office/drawing/2014/main" val="20001"/>
                    </a:ext>
                  </a:extLst>
                </a:gridCol>
                <a:gridCol w="55753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6895">
                  <a:extLst>
                    <a:ext uri="{9D8B030D-6E8A-4147-A177-3AD203B41FA5}">
                      <a16:colId xmlns:a16="http://schemas.microsoft.com/office/drawing/2014/main" val="20004"/>
                    </a:ext>
                  </a:extLst>
                </a:gridCol>
                <a:gridCol w="558165">
                  <a:extLst>
                    <a:ext uri="{9D8B030D-6E8A-4147-A177-3AD203B41FA5}">
                      <a16:colId xmlns:a16="http://schemas.microsoft.com/office/drawing/2014/main" val="20005"/>
                    </a:ext>
                  </a:extLst>
                </a:gridCol>
                <a:gridCol w="557530">
                  <a:extLst>
                    <a:ext uri="{9D8B030D-6E8A-4147-A177-3AD203B41FA5}">
                      <a16:colId xmlns:a16="http://schemas.microsoft.com/office/drawing/2014/main" val="20006"/>
                    </a:ext>
                  </a:extLst>
                </a:gridCol>
                <a:gridCol w="556895">
                  <a:extLst>
                    <a:ext uri="{9D8B030D-6E8A-4147-A177-3AD203B41FA5}">
                      <a16:colId xmlns:a16="http://schemas.microsoft.com/office/drawing/2014/main" val="20007"/>
                    </a:ext>
                  </a:extLst>
                </a:gridCol>
                <a:gridCol w="558800">
                  <a:extLst>
                    <a:ext uri="{9D8B030D-6E8A-4147-A177-3AD203B41FA5}">
                      <a16:colId xmlns:a16="http://schemas.microsoft.com/office/drawing/2014/main" val="20008"/>
                    </a:ext>
                  </a:extLst>
                </a:gridCol>
                <a:gridCol w="557530">
                  <a:extLst>
                    <a:ext uri="{9D8B030D-6E8A-4147-A177-3AD203B41FA5}">
                      <a16:colId xmlns:a16="http://schemas.microsoft.com/office/drawing/2014/main" val="20009"/>
                    </a:ext>
                  </a:extLst>
                </a:gridCol>
                <a:gridCol w="560070">
                  <a:extLst>
                    <a:ext uri="{9D8B030D-6E8A-4147-A177-3AD203B41FA5}">
                      <a16:colId xmlns:a16="http://schemas.microsoft.com/office/drawing/2014/main" val="20010"/>
                    </a:ext>
                  </a:extLst>
                </a:gridCol>
                <a:gridCol w="557530">
                  <a:extLst>
                    <a:ext uri="{9D8B030D-6E8A-4147-A177-3AD203B41FA5}">
                      <a16:colId xmlns:a16="http://schemas.microsoft.com/office/drawing/2014/main" val="20011"/>
                    </a:ext>
                  </a:extLst>
                </a:gridCol>
              </a:tblGrid>
              <a:tr h="397510">
                <a:tc>
                  <a:txBody>
                    <a:bodyPr/>
                    <a:lstStyle/>
                    <a:p>
                      <a:pPr algn="ctr">
                        <a:spcBef>
                          <a:spcPct val="20000"/>
                        </a:spcBef>
                        <a:buClr>
                          <a:schemeClr val="accent1"/>
                        </a:buClr>
                        <a:buFont typeface="Wingdings" panose="05000000000000000000" pitchFamily="2" charset="2"/>
                        <a:buNone/>
                      </a:pPr>
                      <a:r>
                        <a:rPr lang="zh-CN" altLang="en-US" sz="2000" b="1" dirty="0">
                          <a:latin typeface="Arial" panose="020B0604020202020204" pitchFamily="34" charset="0"/>
                          <a:ea typeface="宋体" panose="02010600030101010101" pitchFamily="2" charset="-122"/>
                        </a:rPr>
                        <a:t>位置</a:t>
                      </a:r>
                    </a:p>
                  </a:txBody>
                  <a:tcPr marL="0" marR="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1</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2</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3</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4</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5</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6</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7</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8</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9</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10</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11</a:t>
                      </a:r>
                    </a:p>
                  </a:txBody>
                  <a:tcPr marL="0" marR="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7510">
                <a:tc>
                  <a:txBody>
                    <a:bodyPr/>
                    <a:lstStyle/>
                    <a:p>
                      <a:pPr algn="ctr">
                        <a:spcBef>
                          <a:spcPct val="20000"/>
                        </a:spcBef>
                        <a:buClr>
                          <a:schemeClr val="accent1"/>
                        </a:buClr>
                        <a:buFont typeface="Wingdings" panose="05000000000000000000" pitchFamily="2" charset="2"/>
                        <a:buNone/>
                      </a:pPr>
                      <a:r>
                        <a:rPr lang="zh-CN" altLang="en-US" sz="2000" b="1" dirty="0">
                          <a:latin typeface="Arial" panose="020B0604020202020204" pitchFamily="34" charset="0"/>
                          <a:ea typeface="宋体" panose="02010600030101010101" pitchFamily="2" charset="-122"/>
                        </a:rPr>
                        <a:t>次数</a:t>
                      </a:r>
                      <a:endParaRPr lang="zh-CN" altLang="en-US" sz="2000" b="1" baseline="-25000" dirty="0">
                        <a:latin typeface="Arial" panose="020B0604020202020204" pitchFamily="34" charset="0"/>
                        <a:ea typeface="宋体" panose="02010600030101010101" pitchFamily="2" charset="-122"/>
                      </a:endParaRPr>
                    </a:p>
                  </a:txBody>
                  <a:tcPr marL="0" marR="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3</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4</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2</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3</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4</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1</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3</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4</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2</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3</a:t>
                      </a: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4</a:t>
                      </a:r>
                    </a:p>
                  </a:txBody>
                  <a:tcPr marL="0" marR="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折半查找算法性能分析</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设有序表的长度</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n=2</a:t>
            </a:r>
            <a:r>
              <a:rPr lang="en-US" altLang="zh-CN" baseline="30000" dirty="0">
                <a:latin typeface="黑体" panose="02010609060101010101" pitchFamily="2" charset="-122"/>
                <a:ea typeface="黑体" panose="02010609060101010101" pitchFamily="2" charset="-122"/>
                <a:cs typeface="黑体" panose="02010609060101010101" pitchFamily="2" charset="-122"/>
                <a:sym typeface="+mn-ea"/>
              </a:rPr>
              <a:t>h</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（即</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h=</a:t>
            </a:r>
            <a:r>
              <a:rPr lang="en-US" altLang="zh-CN"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log</a:t>
            </a:r>
            <a:r>
              <a:rPr lang="en-US" altLang="zh-CN"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2</a:t>
            </a:r>
            <a:r>
              <a:rPr lang="en-US" altLang="zh-CN" baseline="30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(n+1)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则描述折半查找的判定树是深度为</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h</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的满二叉树</a:t>
            </a: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树中层次为</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的结点有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个，层次为</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的结点有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个，层次为</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h</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的结点有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baseline="30000" dirty="0">
                <a:latin typeface="黑体" panose="02010609060101010101" pitchFamily="2" charset="-122"/>
                <a:ea typeface="黑体" panose="02010609060101010101" pitchFamily="2" charset="-122"/>
                <a:cs typeface="黑体" panose="02010609060101010101" pitchFamily="2" charset="-122"/>
                <a:sym typeface="+mn-ea"/>
              </a:rPr>
              <a:t>h-1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a:t>
            </a: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假设表中每个记录的查找概率相等，则查找成功时折半查找的平均查找长度</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Clr>
                <a:schemeClr val="accent2"/>
              </a:buClr>
              <a:buFont typeface="Wingdings" panose="05000000000000000000" pitchFamily="2" charset="2"/>
              <a:buChar char="q"/>
            </a:pP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buClr>
                <a:schemeClr val="accent1"/>
              </a:buClr>
              <a:buSzTx/>
              <a:buFont typeface="Wingdings" panose="05000000000000000000" pitchFamily="2" charset="2"/>
              <a:buNone/>
            </a:pP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Clr>
                <a:schemeClr val="accent2"/>
              </a:buClr>
              <a:buFont typeface="Wingdings" panose="05000000000000000000" pitchFamily="2" charset="2"/>
              <a:buChar char="q"/>
            </a:pP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23</a:t>
            </a:fld>
            <a:endParaRPr lang="zh-CN" altLang="en-US"/>
          </a:p>
        </p:txBody>
      </p:sp>
      <p:graphicFrame>
        <p:nvGraphicFramePr>
          <p:cNvPr id="891996" name="Object 92"/>
          <p:cNvGraphicFramePr>
            <a:graphicFrameLocks noGrp="1"/>
          </p:cNvGraphicFramePr>
          <p:nvPr/>
        </p:nvGraphicFramePr>
        <p:xfrm>
          <a:off x="2135188" y="3789045"/>
          <a:ext cx="7273925" cy="1058863"/>
        </p:xfrm>
        <a:graphic>
          <a:graphicData uri="http://schemas.openxmlformats.org/presentationml/2006/ole">
            <mc:AlternateContent xmlns:mc="http://schemas.openxmlformats.org/markup-compatibility/2006">
              <mc:Choice xmlns:v="urn:schemas-microsoft-com:vml" Requires="v">
                <p:oleObj spid="_x0000_s3080" r:id="rId3" imgW="3313430" imgH="482600" progId="Equation.3">
                  <p:embed/>
                </p:oleObj>
              </mc:Choice>
              <mc:Fallback>
                <p:oleObj r:id="rId3" imgW="3313430" imgH="482600" progId="Equation.3">
                  <p:embed/>
                  <p:pic>
                    <p:nvPicPr>
                      <p:cNvPr id="0" name="图片 3075"/>
                      <p:cNvPicPr/>
                      <p:nvPr/>
                    </p:nvPicPr>
                    <p:blipFill>
                      <a:blip r:embed="rId4"/>
                      <a:stretch>
                        <a:fillRect/>
                      </a:stretch>
                    </p:blipFill>
                    <p:spPr>
                      <a:xfrm>
                        <a:off x="2135188" y="3789045"/>
                        <a:ext cx="7273925" cy="1058863"/>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91996"/>
                                        </p:tgtEl>
                                        <p:attrNameLst>
                                          <p:attrName>style.visibility</p:attrName>
                                        </p:attrNameLst>
                                      </p:cBhvr>
                                      <p:to>
                                        <p:strVal val="visible"/>
                                      </p:to>
                                    </p:set>
                                    <p:animEffect transition="in" filter="wipe(left)">
                                      <p:cBhvr>
                                        <p:cTn id="7" dur="500"/>
                                        <p:tgtEl>
                                          <p:spTgt spid="891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折半查找算法优缺点</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折半查找的效率比顺序查找高(特别是在静态查找表的长度很长时)</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折半查找只能适用于有序表，并且以顺序存储结构存储。</a:t>
            </a:r>
          </a:p>
          <a:p>
            <a:pPr lvl="1" algn="l" eaLnBrk="1" hangingPunct="1">
              <a:buClrTx/>
              <a:buSzTx/>
              <a:buChar char="•"/>
            </a:pPr>
            <a:r>
              <a:rPr lang="zh-CN" altLang="en-US" b="1"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折半查找前要先排序</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24</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609600" indent="-60960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已知初始数列为11、22、27、33、44、55、66、88，对数列进行从小到大的排序，然后采用折半查找法，请写出数据11、66、99的查找过程和查找次数</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indent="-60960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一个有序表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含有20个元素，下标从1开始，用折半查找法，则查找长度为5的数据元素为？</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indent="-609600" algn="l" eaLnBrk="1" hangingPunct="1">
              <a:buClrTx/>
              <a:buSzTx/>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Clr>
                <a:schemeClr val="accent2"/>
              </a:buClr>
              <a:buFont typeface="Wingdings" panose="05000000000000000000" pitchFamily="2" charset="2"/>
              <a:buAutoNum type="ea1JpnChsDbPeriod"/>
            </a:pPr>
            <a:endParaRPr lang="en-US" altLang="zh-CN" sz="2800" b="0" dirty="0">
              <a:latin typeface="黑体" panose="02010609060101010101" pitchFamily="2" charset="-122"/>
              <a:ea typeface="黑体" panose="02010609060101010101" pitchFamily="2" charset="-122"/>
            </a:endParaRPr>
          </a:p>
          <a:p>
            <a:pPr marL="609600" lvl="0" indent="-609600"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609600" lvl="0" indent="-609600"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lstStyle/>
          <a:p>
            <a:pPr algn="l">
              <a:buClrTx/>
              <a:buSzTx/>
              <a:buFontTx/>
            </a:pPr>
            <a:r>
              <a:rPr lang="zh-CN" altLang="en-US" sz="4000">
                <a:solidFill>
                  <a:srgbClr val="FF0000"/>
                </a:solidFill>
                <a:latin typeface="楷体" panose="02010609060101010101" charset="-122"/>
                <a:ea typeface="楷体" panose="02010609060101010101" charset="-122"/>
              </a:rPr>
              <a:t>练习</a:t>
            </a:r>
          </a:p>
        </p:txBody>
      </p:sp>
      <p:sp>
        <p:nvSpPr>
          <p:cNvPr id="4" name="灯片编号占位符 3"/>
          <p:cNvSpPr>
            <a:spLocks noGrp="1"/>
          </p:cNvSpPr>
          <p:nvPr>
            <p:ph type="sldNum" sz="quarter" idx="4"/>
          </p:nvPr>
        </p:nvSpPr>
        <p:spPr/>
        <p:txBody>
          <a:bodyPr/>
          <a:lstStyle/>
          <a:p>
            <a:fld id="{F18B4237-A20D-4DE2-ADD8-75BCC50A7656}" type="slidenum">
              <a:rPr lang="zh-CN" altLang="en-US"/>
              <a:t>25</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折半查找算法优缺点</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折半查找的效率比顺序查找高(特别是在静态查找表的长度很长时)</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折半查找只能适用于有序表，并且以顺序存储结构存储。</a:t>
            </a:r>
          </a:p>
          <a:p>
            <a:pPr lvl="1" algn="l" eaLnBrk="1" hangingPunct="1">
              <a:buClrTx/>
              <a:buSzTx/>
              <a:buChar char="•"/>
            </a:pPr>
            <a:r>
              <a:rPr lang="zh-CN" altLang="en-US" b="1"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折半查找前要先排序</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26</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折半查找算法是基于各个元素查找相等的情况</a:t>
            </a: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当各元素的查找概率不等时，在只考虑查找成功的情况下，查找性能最优的是最优二叉树，即树内带权路径长度和</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(PH)</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最小的二叉树。又称为静态最优查找二叉树</a:t>
            </a: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由于构建静态最优查找二叉树的时间代价较高，实际应用中往往构建</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PH</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近似最小的二叉树，称为次优查找树</a:t>
            </a:r>
          </a:p>
          <a:p>
            <a:pPr marL="457200" lvl="1" indent="-457200" algn="l" eaLnBrk="1" hangingPunct="1">
              <a:buClrTx/>
              <a:buSzTx/>
              <a:buFont typeface="Wingdings" panose="05000000000000000000" charset="0"/>
              <a:buChar char="l"/>
            </a:pPr>
            <a:r>
              <a:rPr lang="zh-CN" altLang="en-US" sz="2800" b="1"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次优查找树及改进算法自行学习。</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27</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rPr>
              <a:t>次优查找树的思想：根结点元素</a:t>
            </a:r>
            <a:r>
              <a:rPr lang="en-US" altLang="zh-CN" sz="2800" dirty="0">
                <a:latin typeface="黑体" panose="02010609060101010101" pitchFamily="2" charset="-122"/>
                <a:ea typeface="黑体" panose="02010609060101010101" pitchFamily="2" charset="-122"/>
                <a:cs typeface="黑体" panose="02010609060101010101" pitchFamily="2" charset="-122"/>
              </a:rPr>
              <a:t>i</a:t>
            </a:r>
            <a:r>
              <a:rPr lang="zh-CN" altLang="en-US" sz="2800" dirty="0">
                <a:latin typeface="黑体" panose="02010609060101010101" pitchFamily="2" charset="-122"/>
                <a:ea typeface="黑体" panose="02010609060101010101" pitchFamily="2" charset="-122"/>
                <a:cs typeface="黑体" panose="02010609060101010101" pitchFamily="2" charset="-122"/>
              </a:rPr>
              <a:t>满足</a:t>
            </a: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rPr>
              <a:t>确定根结点后，递归构建</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次优查找树</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28</a:t>
            </a:fld>
            <a:endParaRPr lang="zh-CN" altLang="en-US"/>
          </a:p>
        </p:txBody>
      </p:sp>
      <p:pic>
        <p:nvPicPr>
          <p:cNvPr id="5" name="图片 4"/>
          <p:cNvPicPr>
            <a:picLocks noChangeAspect="1"/>
          </p:cNvPicPr>
          <p:nvPr/>
        </p:nvPicPr>
        <p:blipFill>
          <a:blip r:embed="rId2"/>
          <a:stretch>
            <a:fillRect/>
          </a:stretch>
        </p:blipFill>
        <p:spPr>
          <a:xfrm>
            <a:off x="752475" y="2564765"/>
            <a:ext cx="8411210" cy="1522730"/>
          </a:xfrm>
          <a:prstGeom prst="rect">
            <a:avLst/>
          </a:prstGeom>
        </p:spPr>
      </p:pic>
      <p:grpSp>
        <p:nvGrpSpPr>
          <p:cNvPr id="8" name="组合 7"/>
          <p:cNvGrpSpPr/>
          <p:nvPr/>
        </p:nvGrpSpPr>
        <p:grpSpPr>
          <a:xfrm>
            <a:off x="7247890" y="404495"/>
            <a:ext cx="4170680" cy="2026285"/>
            <a:chOff x="10507" y="1370"/>
            <a:chExt cx="6568" cy="3191"/>
          </a:xfrm>
        </p:grpSpPr>
        <p:pic>
          <p:nvPicPr>
            <p:cNvPr id="6" name="图片 5"/>
            <p:cNvPicPr>
              <a:picLocks noChangeAspect="1"/>
            </p:cNvPicPr>
            <p:nvPr/>
          </p:nvPicPr>
          <p:blipFill>
            <a:blip r:embed="rId3"/>
            <a:stretch>
              <a:fillRect/>
            </a:stretch>
          </p:blipFill>
          <p:spPr>
            <a:xfrm>
              <a:off x="10507" y="1370"/>
              <a:ext cx="6569" cy="1826"/>
            </a:xfrm>
            <a:prstGeom prst="rect">
              <a:avLst/>
            </a:prstGeom>
          </p:spPr>
        </p:pic>
        <p:pic>
          <p:nvPicPr>
            <p:cNvPr id="7" name="图片 6"/>
            <p:cNvPicPr>
              <a:picLocks noChangeAspect="1"/>
            </p:cNvPicPr>
            <p:nvPr/>
          </p:nvPicPr>
          <p:blipFill>
            <a:blip r:embed="rId4"/>
            <a:stretch>
              <a:fillRect/>
            </a:stretch>
          </p:blipFill>
          <p:spPr>
            <a:xfrm>
              <a:off x="10507" y="3359"/>
              <a:ext cx="6442" cy="1202"/>
            </a:xfrm>
            <a:prstGeom prst="rect">
              <a:avLst/>
            </a:prstGeom>
          </p:spPr>
        </p:pic>
      </p:grpSp>
      <p:pic>
        <p:nvPicPr>
          <p:cNvPr id="9" name="图片 8"/>
          <p:cNvPicPr>
            <a:picLocks noChangeAspect="1"/>
          </p:cNvPicPr>
          <p:nvPr/>
        </p:nvPicPr>
        <p:blipFill>
          <a:blip r:embed="rId5"/>
          <a:stretch>
            <a:fillRect/>
          </a:stretch>
        </p:blipFill>
        <p:spPr>
          <a:xfrm>
            <a:off x="5160010" y="4293235"/>
            <a:ext cx="3659505" cy="186309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索引顺序查找，又称分块查找，是一种索引顺序表(分块有序表)查找方法，是折半查找和顺序查找的简单结合</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要求顺序表是分块有序表，将整个表分成几块，块内无序，块间有序</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所谓块间有序是指后一块表中所有记录的关键字均大于前一块表中的最大关键字</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索引顺序查找包含主表和索引表</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主表：用数组存放待查记录,每个数据元素都含有关键字域</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索引表：索引表是按关键字有序的，每个结点含有最大关键字域和指向本块第一个结点的指针</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29</a:t>
            </a:fld>
            <a:endParaRPr lang="zh-CN" altLang="en-US"/>
          </a:p>
        </p:txBody>
      </p:sp>
      <p:grpSp>
        <p:nvGrpSpPr>
          <p:cNvPr id="31748" name="Group 4"/>
          <p:cNvGrpSpPr/>
          <p:nvPr/>
        </p:nvGrpSpPr>
        <p:grpSpPr>
          <a:xfrm>
            <a:off x="4367213" y="5013008"/>
            <a:ext cx="1619250" cy="863600"/>
            <a:chOff x="0" y="0"/>
            <a:chExt cx="1020" cy="544"/>
          </a:xfrm>
        </p:grpSpPr>
        <p:sp>
          <p:nvSpPr>
            <p:cNvPr id="31749" name="Rectangle 5"/>
            <p:cNvSpPr/>
            <p:nvPr/>
          </p:nvSpPr>
          <p:spPr>
            <a:xfrm>
              <a:off x="0" y="0"/>
              <a:ext cx="1020" cy="544"/>
            </a:xfrm>
            <a:prstGeom prst="rect">
              <a:avLst/>
            </a:prstGeom>
            <a:noFill/>
            <a:ln w="28575" cap="flat" cmpd="sng">
              <a:solidFill>
                <a:schemeClr val="tx1"/>
              </a:solidFill>
              <a:prstDash val="solid"/>
              <a:miter/>
              <a:headEnd type="none" w="med" len="med"/>
              <a:tailEnd type="none" w="med" len="med"/>
            </a:ln>
          </p:spPr>
          <p:txBody>
            <a:bodyPr wrap="none" anchor="ctr" anchorCtr="0"/>
            <a:lstStyle/>
            <a:p>
              <a:r>
                <a:rPr lang="zh-CN" altLang="en-US" sz="2400" b="1" dirty="0">
                  <a:latin typeface="Times New Roman" panose="02020603050405020304" pitchFamily="18" charset="0"/>
                  <a:ea typeface="宋体" panose="02010600030101010101" pitchFamily="2" charset="-122"/>
                </a:rPr>
                <a:t>最大关键字</a:t>
              </a:r>
            </a:p>
            <a:p>
              <a:r>
                <a:rPr lang="zh-CN" altLang="en-US" sz="2400" b="1" dirty="0">
                  <a:latin typeface="Times New Roman" panose="02020603050405020304" pitchFamily="18" charset="0"/>
                  <a:ea typeface="宋体" panose="02010600030101010101" pitchFamily="2" charset="-122"/>
                </a:rPr>
                <a:t>起始指针</a:t>
              </a:r>
            </a:p>
          </p:txBody>
        </p:sp>
        <p:sp>
          <p:nvSpPr>
            <p:cNvPr id="31750" name="Line 6"/>
            <p:cNvSpPr/>
            <p:nvPr/>
          </p:nvSpPr>
          <p:spPr>
            <a:xfrm>
              <a:off x="0" y="288"/>
              <a:ext cx="1020" cy="0"/>
            </a:xfrm>
            <a:prstGeom prst="line">
              <a:avLst/>
            </a:prstGeom>
            <a:ln w="28575" cap="flat" cmpd="sng">
              <a:solidFill>
                <a:schemeClr val="tx1"/>
              </a:solidFill>
              <a:prstDash val="solid"/>
              <a:round/>
              <a:headEnd type="none" w="med" len="med"/>
              <a:tailEnd type="none" w="med" len="med"/>
            </a:ln>
          </p:spPr>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索引顺序查找算法设计</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用折半或顺序查找方法，在索引表中找到块</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用顺序查找方法，在主表对应块中找到记录</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30</a:t>
            </a:fld>
            <a:endParaRPr lang="zh-CN" altLang="en-US"/>
          </a:p>
        </p:txBody>
      </p:sp>
      <p:grpSp>
        <p:nvGrpSpPr>
          <p:cNvPr id="32772" name="Group 45"/>
          <p:cNvGrpSpPr/>
          <p:nvPr/>
        </p:nvGrpSpPr>
        <p:grpSpPr>
          <a:xfrm>
            <a:off x="1271270" y="2708910"/>
            <a:ext cx="8132763" cy="2725738"/>
            <a:chOff x="0" y="0"/>
            <a:chExt cx="5123" cy="1717"/>
          </a:xfrm>
        </p:grpSpPr>
        <p:sp>
          <p:nvSpPr>
            <p:cNvPr id="32773" name="Line 46"/>
            <p:cNvSpPr/>
            <p:nvPr/>
          </p:nvSpPr>
          <p:spPr>
            <a:xfrm>
              <a:off x="2808" y="1460"/>
              <a:ext cx="0" cy="249"/>
            </a:xfrm>
            <a:prstGeom prst="line">
              <a:avLst/>
            </a:prstGeom>
            <a:ln w="28575" cap="flat" cmpd="sng">
              <a:solidFill>
                <a:schemeClr val="tx1"/>
              </a:solidFill>
              <a:prstDash val="solid"/>
              <a:round/>
              <a:headEnd type="none" w="med" len="med"/>
              <a:tailEnd type="none" w="med" len="med"/>
            </a:ln>
          </p:spPr>
        </p:sp>
        <p:grpSp>
          <p:nvGrpSpPr>
            <p:cNvPr id="32774" name="Group 47"/>
            <p:cNvGrpSpPr/>
            <p:nvPr/>
          </p:nvGrpSpPr>
          <p:grpSpPr>
            <a:xfrm>
              <a:off x="0" y="0"/>
              <a:ext cx="5123" cy="1717"/>
              <a:chOff x="0" y="0"/>
              <a:chExt cx="5123" cy="1717"/>
            </a:xfrm>
          </p:grpSpPr>
          <p:sp>
            <p:nvSpPr>
              <p:cNvPr id="32775" name="Text Box 48"/>
              <p:cNvSpPr txBox="1"/>
              <p:nvPr/>
            </p:nvSpPr>
            <p:spPr>
              <a:xfrm>
                <a:off x="1720" y="0"/>
                <a:ext cx="598" cy="251"/>
              </a:xfrm>
              <a:prstGeom prst="rect">
                <a:avLst/>
              </a:prstGeom>
              <a:noFill/>
              <a:ln w="9525">
                <a:noFill/>
              </a:ln>
            </p:spPr>
            <p:txBody>
              <a:bodyPr wrap="none" anchor="t" anchorCtr="0">
                <a:spAutoFit/>
              </a:bodyPr>
              <a:lstStyle/>
              <a:p>
                <a:r>
                  <a:rPr lang="zh-CN" altLang="en-US" sz="2000" b="1" dirty="0">
                    <a:latin typeface="Times New Roman" panose="02020603050405020304" pitchFamily="18" charset="0"/>
                    <a:ea typeface="宋体" panose="02010600030101010101" pitchFamily="2" charset="-122"/>
                  </a:rPr>
                  <a:t>索引表</a:t>
                </a:r>
              </a:p>
            </p:txBody>
          </p:sp>
          <p:sp>
            <p:nvSpPr>
              <p:cNvPr id="32776" name="Text Box 49"/>
              <p:cNvSpPr txBox="1"/>
              <p:nvPr/>
            </p:nvSpPr>
            <p:spPr>
              <a:xfrm>
                <a:off x="57" y="1192"/>
                <a:ext cx="5048" cy="290"/>
              </a:xfrm>
              <a:prstGeom prst="rect">
                <a:avLst/>
              </a:prstGeom>
              <a:noFill/>
              <a:ln w="9525">
                <a:noFill/>
              </a:ln>
            </p:spPr>
            <p:txBody>
              <a:bodyPr wrap="none" anchor="t" anchorCtr="0">
                <a:spAutoFit/>
              </a:bodyPr>
              <a:lstStyle/>
              <a:p>
                <a:r>
                  <a:rPr lang="en-US" altLang="zh-CN" sz="2400" b="1" dirty="0">
                    <a:latin typeface="Times New Roman" panose="02020603050405020304" pitchFamily="18" charset="0"/>
                    <a:ea typeface="宋体" panose="02010600030101010101" pitchFamily="2" charset="-122"/>
                  </a:rPr>
                  <a:t>1    2    3    4   5    6    7    8    9  10  11  12  13  14  15  16  17  18</a:t>
                </a:r>
              </a:p>
            </p:txBody>
          </p:sp>
          <p:sp>
            <p:nvSpPr>
              <p:cNvPr id="32777" name="Rectangle 50"/>
              <p:cNvSpPr/>
              <p:nvPr/>
            </p:nvSpPr>
            <p:spPr>
              <a:xfrm>
                <a:off x="0" y="1466"/>
                <a:ext cx="5123" cy="249"/>
              </a:xfrm>
              <a:prstGeom prst="rect">
                <a:avLst/>
              </a:prstGeom>
              <a:noFill/>
              <a:ln w="28575"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22  12  13   8   9   20  33  42  44 38  24  48  60  58  74  57   86  53</a:t>
                </a:r>
              </a:p>
            </p:txBody>
          </p:sp>
          <p:sp>
            <p:nvSpPr>
              <p:cNvPr id="32778" name="Line 51"/>
              <p:cNvSpPr/>
              <p:nvPr/>
            </p:nvSpPr>
            <p:spPr>
              <a:xfrm>
                <a:off x="288" y="1466"/>
                <a:ext cx="0" cy="249"/>
              </a:xfrm>
              <a:prstGeom prst="line">
                <a:avLst/>
              </a:prstGeom>
              <a:ln w="28575" cap="flat" cmpd="sng">
                <a:solidFill>
                  <a:schemeClr val="tx1"/>
                </a:solidFill>
                <a:prstDash val="solid"/>
                <a:round/>
                <a:headEnd type="none" w="med" len="med"/>
                <a:tailEnd type="none" w="med" len="med"/>
              </a:ln>
            </p:spPr>
          </p:sp>
          <p:sp>
            <p:nvSpPr>
              <p:cNvPr id="32779" name="Line 52"/>
              <p:cNvSpPr/>
              <p:nvPr/>
            </p:nvSpPr>
            <p:spPr>
              <a:xfrm>
                <a:off x="576" y="1466"/>
                <a:ext cx="0" cy="249"/>
              </a:xfrm>
              <a:prstGeom prst="line">
                <a:avLst/>
              </a:prstGeom>
              <a:ln w="28575" cap="flat" cmpd="sng">
                <a:solidFill>
                  <a:schemeClr val="tx1"/>
                </a:solidFill>
                <a:prstDash val="solid"/>
                <a:round/>
                <a:headEnd type="none" w="med" len="med"/>
                <a:tailEnd type="none" w="med" len="med"/>
              </a:ln>
            </p:spPr>
          </p:sp>
          <p:sp>
            <p:nvSpPr>
              <p:cNvPr id="32780" name="Line 53"/>
              <p:cNvSpPr/>
              <p:nvPr/>
            </p:nvSpPr>
            <p:spPr>
              <a:xfrm>
                <a:off x="912" y="1466"/>
                <a:ext cx="0" cy="249"/>
              </a:xfrm>
              <a:prstGeom prst="line">
                <a:avLst/>
              </a:prstGeom>
              <a:ln w="28575" cap="flat" cmpd="sng">
                <a:solidFill>
                  <a:schemeClr val="tx1"/>
                </a:solidFill>
                <a:prstDash val="solid"/>
                <a:round/>
                <a:headEnd type="none" w="med" len="med"/>
                <a:tailEnd type="none" w="med" len="med"/>
              </a:ln>
            </p:spPr>
          </p:sp>
          <p:sp>
            <p:nvSpPr>
              <p:cNvPr id="32781" name="Line 54"/>
              <p:cNvSpPr/>
              <p:nvPr/>
            </p:nvSpPr>
            <p:spPr>
              <a:xfrm>
                <a:off x="4856" y="1468"/>
                <a:ext cx="0" cy="249"/>
              </a:xfrm>
              <a:prstGeom prst="line">
                <a:avLst/>
              </a:prstGeom>
              <a:ln w="28575" cap="flat" cmpd="sng">
                <a:solidFill>
                  <a:schemeClr val="tx1"/>
                </a:solidFill>
                <a:prstDash val="solid"/>
                <a:round/>
                <a:headEnd type="none" w="med" len="med"/>
                <a:tailEnd type="none" w="med" len="med"/>
              </a:ln>
            </p:spPr>
          </p:sp>
          <p:sp>
            <p:nvSpPr>
              <p:cNvPr id="32782" name="Line 55"/>
              <p:cNvSpPr/>
              <p:nvPr/>
            </p:nvSpPr>
            <p:spPr>
              <a:xfrm>
                <a:off x="1152" y="1466"/>
                <a:ext cx="0" cy="249"/>
              </a:xfrm>
              <a:prstGeom prst="line">
                <a:avLst/>
              </a:prstGeom>
              <a:ln w="28575" cap="flat" cmpd="sng">
                <a:solidFill>
                  <a:schemeClr val="tx1"/>
                </a:solidFill>
                <a:prstDash val="solid"/>
                <a:round/>
                <a:headEnd type="none" w="med" len="med"/>
                <a:tailEnd type="none" w="med" len="med"/>
              </a:ln>
            </p:spPr>
          </p:sp>
          <p:sp>
            <p:nvSpPr>
              <p:cNvPr id="32783" name="Line 56"/>
              <p:cNvSpPr/>
              <p:nvPr/>
            </p:nvSpPr>
            <p:spPr>
              <a:xfrm>
                <a:off x="1392" y="1466"/>
                <a:ext cx="0" cy="249"/>
              </a:xfrm>
              <a:prstGeom prst="line">
                <a:avLst/>
              </a:prstGeom>
              <a:ln w="28575" cap="flat" cmpd="sng">
                <a:solidFill>
                  <a:schemeClr val="tx1"/>
                </a:solidFill>
                <a:prstDash val="solid"/>
                <a:round/>
                <a:headEnd type="none" w="med" len="med"/>
                <a:tailEnd type="none" w="med" len="med"/>
              </a:ln>
            </p:spPr>
          </p:sp>
          <p:sp>
            <p:nvSpPr>
              <p:cNvPr id="32784" name="Line 57"/>
              <p:cNvSpPr/>
              <p:nvPr/>
            </p:nvSpPr>
            <p:spPr>
              <a:xfrm>
                <a:off x="1680" y="1466"/>
                <a:ext cx="0" cy="249"/>
              </a:xfrm>
              <a:prstGeom prst="line">
                <a:avLst/>
              </a:prstGeom>
              <a:ln w="28575" cap="flat" cmpd="sng">
                <a:solidFill>
                  <a:schemeClr val="hlink"/>
                </a:solidFill>
                <a:prstDash val="solid"/>
                <a:round/>
                <a:headEnd type="none" w="med" len="med"/>
                <a:tailEnd type="none" w="med" len="med"/>
              </a:ln>
            </p:spPr>
          </p:sp>
          <p:sp>
            <p:nvSpPr>
              <p:cNvPr id="32785" name="Line 58"/>
              <p:cNvSpPr/>
              <p:nvPr/>
            </p:nvSpPr>
            <p:spPr>
              <a:xfrm>
                <a:off x="1968" y="1466"/>
                <a:ext cx="0" cy="249"/>
              </a:xfrm>
              <a:prstGeom prst="line">
                <a:avLst/>
              </a:prstGeom>
              <a:ln w="28575" cap="flat" cmpd="sng">
                <a:solidFill>
                  <a:schemeClr val="tx1"/>
                </a:solidFill>
                <a:prstDash val="solid"/>
                <a:round/>
                <a:headEnd type="none" w="med" len="med"/>
                <a:tailEnd type="none" w="med" len="med"/>
              </a:ln>
            </p:spPr>
          </p:sp>
          <p:sp>
            <p:nvSpPr>
              <p:cNvPr id="32786" name="Line 59"/>
              <p:cNvSpPr/>
              <p:nvPr/>
            </p:nvSpPr>
            <p:spPr>
              <a:xfrm>
                <a:off x="2256" y="1466"/>
                <a:ext cx="0" cy="249"/>
              </a:xfrm>
              <a:prstGeom prst="line">
                <a:avLst/>
              </a:prstGeom>
              <a:ln w="28575" cap="flat" cmpd="sng">
                <a:solidFill>
                  <a:schemeClr val="tx1"/>
                </a:solidFill>
                <a:prstDash val="solid"/>
                <a:round/>
                <a:headEnd type="none" w="med" len="med"/>
                <a:tailEnd type="none" w="med" len="med"/>
              </a:ln>
            </p:spPr>
          </p:sp>
          <p:sp>
            <p:nvSpPr>
              <p:cNvPr id="32787" name="Line 60"/>
              <p:cNvSpPr/>
              <p:nvPr/>
            </p:nvSpPr>
            <p:spPr>
              <a:xfrm>
                <a:off x="4544" y="1468"/>
                <a:ext cx="0" cy="249"/>
              </a:xfrm>
              <a:prstGeom prst="line">
                <a:avLst/>
              </a:prstGeom>
              <a:ln w="28575" cap="flat" cmpd="sng">
                <a:solidFill>
                  <a:schemeClr val="tx1"/>
                </a:solidFill>
                <a:prstDash val="solid"/>
                <a:round/>
                <a:headEnd type="none" w="med" len="med"/>
                <a:tailEnd type="none" w="med" len="med"/>
              </a:ln>
            </p:spPr>
          </p:sp>
          <p:sp>
            <p:nvSpPr>
              <p:cNvPr id="32788" name="Line 61"/>
              <p:cNvSpPr/>
              <p:nvPr/>
            </p:nvSpPr>
            <p:spPr>
              <a:xfrm>
                <a:off x="2544" y="1466"/>
                <a:ext cx="0" cy="249"/>
              </a:xfrm>
              <a:prstGeom prst="line">
                <a:avLst/>
              </a:prstGeom>
              <a:ln w="28575" cap="flat" cmpd="sng">
                <a:solidFill>
                  <a:schemeClr val="tx1"/>
                </a:solidFill>
                <a:prstDash val="solid"/>
                <a:round/>
                <a:headEnd type="none" w="med" len="med"/>
                <a:tailEnd type="none" w="med" len="med"/>
              </a:ln>
            </p:spPr>
          </p:sp>
          <p:sp>
            <p:nvSpPr>
              <p:cNvPr id="32789" name="Line 62"/>
              <p:cNvSpPr/>
              <p:nvPr/>
            </p:nvSpPr>
            <p:spPr>
              <a:xfrm>
                <a:off x="3088" y="1466"/>
                <a:ext cx="0" cy="249"/>
              </a:xfrm>
              <a:prstGeom prst="line">
                <a:avLst/>
              </a:prstGeom>
              <a:ln w="28575" cap="flat" cmpd="sng">
                <a:solidFill>
                  <a:schemeClr val="tx1"/>
                </a:solidFill>
                <a:prstDash val="solid"/>
                <a:round/>
                <a:headEnd type="none" w="med" len="med"/>
                <a:tailEnd type="none" w="med" len="med"/>
              </a:ln>
            </p:spPr>
          </p:sp>
          <p:sp>
            <p:nvSpPr>
              <p:cNvPr id="32790" name="Line 63"/>
              <p:cNvSpPr/>
              <p:nvPr/>
            </p:nvSpPr>
            <p:spPr>
              <a:xfrm>
                <a:off x="3376" y="1466"/>
                <a:ext cx="0" cy="249"/>
              </a:xfrm>
              <a:prstGeom prst="line">
                <a:avLst/>
              </a:prstGeom>
              <a:ln w="28575" cap="flat" cmpd="sng">
                <a:solidFill>
                  <a:schemeClr val="hlink"/>
                </a:solidFill>
                <a:prstDash val="solid"/>
                <a:round/>
                <a:headEnd type="none" w="med" len="med"/>
                <a:tailEnd type="none" w="med" len="med"/>
              </a:ln>
            </p:spPr>
          </p:sp>
          <p:sp>
            <p:nvSpPr>
              <p:cNvPr id="32791" name="Line 64"/>
              <p:cNvSpPr/>
              <p:nvPr/>
            </p:nvSpPr>
            <p:spPr>
              <a:xfrm>
                <a:off x="4224" y="1466"/>
                <a:ext cx="0" cy="249"/>
              </a:xfrm>
              <a:prstGeom prst="line">
                <a:avLst/>
              </a:prstGeom>
              <a:ln w="28575" cap="flat" cmpd="sng">
                <a:solidFill>
                  <a:schemeClr val="tx1"/>
                </a:solidFill>
                <a:prstDash val="solid"/>
                <a:round/>
                <a:headEnd type="none" w="med" len="med"/>
                <a:tailEnd type="none" w="med" len="med"/>
              </a:ln>
            </p:spPr>
          </p:sp>
          <p:sp>
            <p:nvSpPr>
              <p:cNvPr id="32792" name="Line 65"/>
              <p:cNvSpPr/>
              <p:nvPr/>
            </p:nvSpPr>
            <p:spPr>
              <a:xfrm>
                <a:off x="3664" y="1466"/>
                <a:ext cx="0" cy="249"/>
              </a:xfrm>
              <a:prstGeom prst="line">
                <a:avLst/>
              </a:prstGeom>
              <a:ln w="28575" cap="flat" cmpd="sng">
                <a:solidFill>
                  <a:schemeClr val="tx1"/>
                </a:solidFill>
                <a:prstDash val="solid"/>
                <a:round/>
                <a:headEnd type="none" w="med" len="med"/>
                <a:tailEnd type="none" w="med" len="med"/>
              </a:ln>
            </p:spPr>
          </p:sp>
          <p:sp>
            <p:nvSpPr>
              <p:cNvPr id="32793" name="Line 66"/>
              <p:cNvSpPr/>
              <p:nvPr/>
            </p:nvSpPr>
            <p:spPr>
              <a:xfrm>
                <a:off x="3953" y="1466"/>
                <a:ext cx="0" cy="249"/>
              </a:xfrm>
              <a:prstGeom prst="line">
                <a:avLst/>
              </a:prstGeom>
              <a:ln w="28575" cap="flat" cmpd="sng">
                <a:solidFill>
                  <a:schemeClr val="tx1"/>
                </a:solidFill>
                <a:prstDash val="solid"/>
                <a:round/>
                <a:headEnd type="none" w="med" len="med"/>
                <a:tailEnd type="none" w="med" len="med"/>
              </a:ln>
            </p:spPr>
          </p:sp>
          <p:grpSp>
            <p:nvGrpSpPr>
              <p:cNvPr id="32794" name="Group 67"/>
              <p:cNvGrpSpPr/>
              <p:nvPr/>
            </p:nvGrpSpPr>
            <p:grpSpPr>
              <a:xfrm>
                <a:off x="166" y="747"/>
                <a:ext cx="1412" cy="462"/>
                <a:chOff x="0" y="0"/>
                <a:chExt cx="1412" cy="462"/>
              </a:xfrm>
            </p:grpSpPr>
            <p:sp>
              <p:nvSpPr>
                <p:cNvPr id="32795" name="Line 68"/>
                <p:cNvSpPr/>
                <p:nvPr/>
              </p:nvSpPr>
              <p:spPr>
                <a:xfrm>
                  <a:off x="1412" y="0"/>
                  <a:ext cx="0" cy="167"/>
                </a:xfrm>
                <a:prstGeom prst="line">
                  <a:avLst/>
                </a:prstGeom>
                <a:ln w="28575" cap="flat" cmpd="sng">
                  <a:solidFill>
                    <a:schemeClr val="tx1"/>
                  </a:solidFill>
                  <a:prstDash val="solid"/>
                  <a:round/>
                  <a:headEnd type="none" w="med" len="med"/>
                  <a:tailEnd type="none" w="med" len="med"/>
                </a:ln>
              </p:spPr>
            </p:sp>
            <p:sp>
              <p:nvSpPr>
                <p:cNvPr id="32796" name="Line 69"/>
                <p:cNvSpPr/>
                <p:nvPr/>
              </p:nvSpPr>
              <p:spPr>
                <a:xfrm flipH="1">
                  <a:off x="11" y="167"/>
                  <a:ext cx="1401" cy="0"/>
                </a:xfrm>
                <a:prstGeom prst="line">
                  <a:avLst/>
                </a:prstGeom>
                <a:ln w="28575" cap="flat" cmpd="sng">
                  <a:solidFill>
                    <a:schemeClr val="tx1"/>
                  </a:solidFill>
                  <a:prstDash val="solid"/>
                  <a:round/>
                  <a:headEnd type="none" w="med" len="med"/>
                  <a:tailEnd type="none" w="med" len="med"/>
                </a:ln>
              </p:spPr>
            </p:sp>
            <p:sp>
              <p:nvSpPr>
                <p:cNvPr id="32797" name="Line 70"/>
                <p:cNvSpPr/>
                <p:nvPr/>
              </p:nvSpPr>
              <p:spPr>
                <a:xfrm>
                  <a:off x="0" y="167"/>
                  <a:ext cx="0" cy="295"/>
                </a:xfrm>
                <a:prstGeom prst="line">
                  <a:avLst/>
                </a:prstGeom>
                <a:ln w="28575" cap="flat" cmpd="sng">
                  <a:solidFill>
                    <a:schemeClr val="tx1"/>
                  </a:solidFill>
                  <a:prstDash val="solid"/>
                  <a:round/>
                  <a:headEnd type="none" w="med" len="med"/>
                  <a:tailEnd type="triangle" w="med" len="med"/>
                </a:ln>
              </p:spPr>
            </p:sp>
          </p:grpSp>
          <p:grpSp>
            <p:nvGrpSpPr>
              <p:cNvPr id="32798" name="Group 71"/>
              <p:cNvGrpSpPr/>
              <p:nvPr/>
            </p:nvGrpSpPr>
            <p:grpSpPr>
              <a:xfrm>
                <a:off x="1817" y="747"/>
                <a:ext cx="181" cy="476"/>
                <a:chOff x="0" y="0"/>
                <a:chExt cx="181" cy="476"/>
              </a:xfrm>
            </p:grpSpPr>
            <p:sp>
              <p:nvSpPr>
                <p:cNvPr id="32799" name="Line 72"/>
                <p:cNvSpPr/>
                <p:nvPr/>
              </p:nvSpPr>
              <p:spPr>
                <a:xfrm>
                  <a:off x="180" y="0"/>
                  <a:ext cx="0" cy="249"/>
                </a:xfrm>
                <a:prstGeom prst="line">
                  <a:avLst/>
                </a:prstGeom>
                <a:ln w="28575" cap="flat" cmpd="sng">
                  <a:solidFill>
                    <a:schemeClr val="tx1"/>
                  </a:solidFill>
                  <a:prstDash val="solid"/>
                  <a:round/>
                  <a:headEnd type="none" w="med" len="med"/>
                  <a:tailEnd type="none" w="med" len="med"/>
                </a:ln>
              </p:spPr>
            </p:sp>
            <p:sp>
              <p:nvSpPr>
                <p:cNvPr id="32800" name="Line 73"/>
                <p:cNvSpPr/>
                <p:nvPr/>
              </p:nvSpPr>
              <p:spPr>
                <a:xfrm flipH="1">
                  <a:off x="0" y="249"/>
                  <a:ext cx="181" cy="0"/>
                </a:xfrm>
                <a:prstGeom prst="line">
                  <a:avLst/>
                </a:prstGeom>
                <a:ln w="28575" cap="flat" cmpd="sng">
                  <a:solidFill>
                    <a:schemeClr val="tx1"/>
                  </a:solidFill>
                  <a:prstDash val="solid"/>
                  <a:round/>
                  <a:headEnd type="none" w="med" len="med"/>
                  <a:tailEnd type="none" w="med" len="med"/>
                </a:ln>
              </p:spPr>
            </p:sp>
            <p:sp>
              <p:nvSpPr>
                <p:cNvPr id="32801" name="Line 74"/>
                <p:cNvSpPr/>
                <p:nvPr/>
              </p:nvSpPr>
              <p:spPr>
                <a:xfrm>
                  <a:off x="3" y="249"/>
                  <a:ext cx="0" cy="227"/>
                </a:xfrm>
                <a:prstGeom prst="line">
                  <a:avLst/>
                </a:prstGeom>
                <a:ln w="28575" cap="flat" cmpd="sng">
                  <a:solidFill>
                    <a:schemeClr val="tx1"/>
                  </a:solidFill>
                  <a:prstDash val="solid"/>
                  <a:round/>
                  <a:headEnd type="none" w="med" len="med"/>
                  <a:tailEnd type="triangle" w="med" len="med"/>
                </a:ln>
              </p:spPr>
            </p:sp>
          </p:grpSp>
          <p:grpSp>
            <p:nvGrpSpPr>
              <p:cNvPr id="32802" name="Group 75"/>
              <p:cNvGrpSpPr/>
              <p:nvPr/>
            </p:nvGrpSpPr>
            <p:grpSpPr>
              <a:xfrm>
                <a:off x="2422" y="747"/>
                <a:ext cx="1043" cy="471"/>
                <a:chOff x="0" y="0"/>
                <a:chExt cx="1043" cy="471"/>
              </a:xfrm>
            </p:grpSpPr>
            <p:sp>
              <p:nvSpPr>
                <p:cNvPr id="32803" name="Line 76"/>
                <p:cNvSpPr/>
                <p:nvPr/>
              </p:nvSpPr>
              <p:spPr>
                <a:xfrm>
                  <a:off x="0" y="0"/>
                  <a:ext cx="0" cy="222"/>
                </a:xfrm>
                <a:prstGeom prst="line">
                  <a:avLst/>
                </a:prstGeom>
                <a:ln w="28575" cap="flat" cmpd="sng">
                  <a:solidFill>
                    <a:schemeClr val="tx1"/>
                  </a:solidFill>
                  <a:prstDash val="solid"/>
                  <a:round/>
                  <a:headEnd type="none" w="med" len="med"/>
                  <a:tailEnd type="none" w="med" len="med"/>
                </a:ln>
              </p:spPr>
            </p:sp>
            <p:sp>
              <p:nvSpPr>
                <p:cNvPr id="32804" name="Line 77"/>
                <p:cNvSpPr/>
                <p:nvPr/>
              </p:nvSpPr>
              <p:spPr>
                <a:xfrm>
                  <a:off x="0" y="222"/>
                  <a:ext cx="1043" cy="0"/>
                </a:xfrm>
                <a:prstGeom prst="line">
                  <a:avLst/>
                </a:prstGeom>
                <a:ln w="28575" cap="flat" cmpd="sng">
                  <a:solidFill>
                    <a:schemeClr val="tx1"/>
                  </a:solidFill>
                  <a:prstDash val="solid"/>
                  <a:round/>
                  <a:headEnd type="none" w="med" len="med"/>
                  <a:tailEnd type="none" w="med" len="med"/>
                </a:ln>
              </p:spPr>
            </p:sp>
            <p:sp>
              <p:nvSpPr>
                <p:cNvPr id="32805" name="Line 78"/>
                <p:cNvSpPr/>
                <p:nvPr/>
              </p:nvSpPr>
              <p:spPr>
                <a:xfrm>
                  <a:off x="1041" y="222"/>
                  <a:ext cx="0" cy="249"/>
                </a:xfrm>
                <a:prstGeom prst="line">
                  <a:avLst/>
                </a:prstGeom>
                <a:ln w="28575" cap="flat" cmpd="sng">
                  <a:solidFill>
                    <a:schemeClr val="tx1"/>
                  </a:solidFill>
                  <a:prstDash val="solid"/>
                  <a:round/>
                  <a:headEnd type="none" w="med" len="med"/>
                  <a:tailEnd type="triangle" w="med" len="med"/>
                </a:ln>
              </p:spPr>
            </p:sp>
          </p:grpSp>
          <p:sp>
            <p:nvSpPr>
              <p:cNvPr id="32806" name="AutoShape 79"/>
              <p:cNvSpPr/>
              <p:nvPr/>
            </p:nvSpPr>
            <p:spPr>
              <a:xfrm>
                <a:off x="2880" y="254"/>
                <a:ext cx="989" cy="317"/>
              </a:xfrm>
              <a:prstGeom prst="wedgeEllipseCallout">
                <a:avLst>
                  <a:gd name="adj1" fmla="val -43227"/>
                  <a:gd name="adj2" fmla="val 74481"/>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sz="2400" b="1" dirty="0">
                    <a:latin typeface="Times New Roman" panose="02020603050405020304" pitchFamily="18" charset="0"/>
                    <a:ea typeface="宋体" panose="02010600030101010101" pitchFamily="2" charset="-122"/>
                  </a:rPr>
                  <a:t>查</a:t>
                </a:r>
                <a:r>
                  <a:rPr lang="en-US" altLang="zh-CN" sz="2400" b="1" dirty="0">
                    <a:latin typeface="Times New Roman" panose="02020603050405020304" pitchFamily="18" charset="0"/>
                    <a:ea typeface="宋体" panose="02010600030101010101" pitchFamily="2" charset="-122"/>
                  </a:rPr>
                  <a:t>38</a:t>
                </a:r>
              </a:p>
            </p:txBody>
          </p:sp>
          <p:grpSp>
            <p:nvGrpSpPr>
              <p:cNvPr id="32807" name="Group 80"/>
              <p:cNvGrpSpPr/>
              <p:nvPr/>
            </p:nvGrpSpPr>
            <p:grpSpPr>
              <a:xfrm>
                <a:off x="1410" y="246"/>
                <a:ext cx="1134" cy="496"/>
                <a:chOff x="0" y="0"/>
                <a:chExt cx="1134" cy="496"/>
              </a:xfrm>
            </p:grpSpPr>
            <p:grpSp>
              <p:nvGrpSpPr>
                <p:cNvPr id="32808" name="Group 81"/>
                <p:cNvGrpSpPr/>
                <p:nvPr/>
              </p:nvGrpSpPr>
              <p:grpSpPr>
                <a:xfrm>
                  <a:off x="0" y="0"/>
                  <a:ext cx="1134" cy="249"/>
                  <a:chOff x="0" y="0"/>
                  <a:chExt cx="1134" cy="249"/>
                </a:xfrm>
              </p:grpSpPr>
              <p:sp>
                <p:nvSpPr>
                  <p:cNvPr id="32809" name="Rectangle 82"/>
                  <p:cNvSpPr/>
                  <p:nvPr/>
                </p:nvSpPr>
                <p:spPr>
                  <a:xfrm>
                    <a:off x="0" y="0"/>
                    <a:ext cx="1134" cy="249"/>
                  </a:xfrm>
                  <a:prstGeom prst="rect">
                    <a:avLst/>
                  </a:prstGeom>
                  <a:noFill/>
                  <a:ln w="28575"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22    48     86</a:t>
                    </a:r>
                  </a:p>
                </p:txBody>
              </p:sp>
              <p:sp>
                <p:nvSpPr>
                  <p:cNvPr id="32810" name="Line 83"/>
                  <p:cNvSpPr/>
                  <p:nvPr/>
                </p:nvSpPr>
                <p:spPr>
                  <a:xfrm>
                    <a:off x="384" y="0"/>
                    <a:ext cx="0" cy="249"/>
                  </a:xfrm>
                  <a:prstGeom prst="line">
                    <a:avLst/>
                  </a:prstGeom>
                  <a:ln w="28575" cap="flat" cmpd="sng">
                    <a:solidFill>
                      <a:schemeClr val="tx1"/>
                    </a:solidFill>
                    <a:prstDash val="solid"/>
                    <a:round/>
                    <a:headEnd type="none" w="med" len="med"/>
                    <a:tailEnd type="none" w="med" len="med"/>
                  </a:ln>
                </p:spPr>
              </p:sp>
              <p:sp>
                <p:nvSpPr>
                  <p:cNvPr id="32811" name="Line 84"/>
                  <p:cNvSpPr/>
                  <p:nvPr/>
                </p:nvSpPr>
                <p:spPr>
                  <a:xfrm>
                    <a:off x="768" y="0"/>
                    <a:ext cx="0" cy="249"/>
                  </a:xfrm>
                  <a:prstGeom prst="line">
                    <a:avLst/>
                  </a:prstGeom>
                  <a:ln w="28575" cap="flat" cmpd="sng">
                    <a:solidFill>
                      <a:schemeClr val="tx1"/>
                    </a:solidFill>
                    <a:prstDash val="solid"/>
                    <a:round/>
                    <a:headEnd type="none" w="med" len="med"/>
                    <a:tailEnd type="none" w="med" len="med"/>
                  </a:ln>
                </p:spPr>
              </p:sp>
            </p:grpSp>
            <p:grpSp>
              <p:nvGrpSpPr>
                <p:cNvPr id="32812" name="Group 85"/>
                <p:cNvGrpSpPr/>
                <p:nvPr/>
              </p:nvGrpSpPr>
              <p:grpSpPr>
                <a:xfrm>
                  <a:off x="0" y="247"/>
                  <a:ext cx="1134" cy="249"/>
                  <a:chOff x="0" y="0"/>
                  <a:chExt cx="1134" cy="249"/>
                </a:xfrm>
              </p:grpSpPr>
              <p:sp>
                <p:nvSpPr>
                  <p:cNvPr id="32813" name="Rectangle 86"/>
                  <p:cNvSpPr/>
                  <p:nvPr/>
                </p:nvSpPr>
                <p:spPr>
                  <a:xfrm>
                    <a:off x="0" y="0"/>
                    <a:ext cx="1134" cy="249"/>
                  </a:xfrm>
                  <a:prstGeom prst="rect">
                    <a:avLst/>
                  </a:prstGeom>
                  <a:noFill/>
                  <a:ln w="28575"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 1      7      13</a:t>
                    </a:r>
                  </a:p>
                </p:txBody>
              </p:sp>
              <p:sp>
                <p:nvSpPr>
                  <p:cNvPr id="32814" name="Line 87"/>
                  <p:cNvSpPr/>
                  <p:nvPr/>
                </p:nvSpPr>
                <p:spPr>
                  <a:xfrm>
                    <a:off x="384" y="0"/>
                    <a:ext cx="0" cy="249"/>
                  </a:xfrm>
                  <a:prstGeom prst="line">
                    <a:avLst/>
                  </a:prstGeom>
                  <a:ln w="28575" cap="flat" cmpd="sng">
                    <a:solidFill>
                      <a:schemeClr val="tx1"/>
                    </a:solidFill>
                    <a:prstDash val="solid"/>
                    <a:round/>
                    <a:headEnd type="none" w="med" len="med"/>
                    <a:tailEnd type="none" w="med" len="med"/>
                  </a:ln>
                </p:spPr>
              </p:sp>
              <p:sp>
                <p:nvSpPr>
                  <p:cNvPr id="32815" name="Line 88"/>
                  <p:cNvSpPr/>
                  <p:nvPr/>
                </p:nvSpPr>
                <p:spPr>
                  <a:xfrm>
                    <a:off x="768" y="0"/>
                    <a:ext cx="0" cy="249"/>
                  </a:xfrm>
                  <a:prstGeom prst="line">
                    <a:avLst/>
                  </a:prstGeom>
                  <a:ln w="28575" cap="flat" cmpd="sng">
                    <a:solidFill>
                      <a:schemeClr val="tx1"/>
                    </a:solidFill>
                    <a:prstDash val="solid"/>
                    <a:round/>
                    <a:headEnd type="none" w="med" len="med"/>
                    <a:tailEnd type="none" w="med" len="med"/>
                  </a:ln>
                </p:spPr>
              </p:sp>
            </p:grpSp>
          </p:grpSp>
        </p:gr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索引顺序查找算法实现</a:t>
            </a: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609600" indent="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int Block_search(RecType ST[] , Index ind[] , KeyType key , int n , int b)</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待查记录</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key</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，表长为</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n </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，块数为</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b */</a:t>
            </a:r>
          </a:p>
          <a:p>
            <a:pPr marL="609600" indent="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int i=0 , j , k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1371600" lvl="2" indent="-457200" eaLnBrk="1" latinLnBrk="0" hangingPunct="1">
              <a:lnSpc>
                <a:spcPct val="100000"/>
              </a:lnSpc>
              <a:spcBef>
                <a:spcPts val="0"/>
              </a:spcBef>
              <a:buClr>
                <a:schemeClr val="accent1"/>
              </a:buClr>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while ((i&lt;b)&amp;&amp;LT(ind[i].maxkey, key) )  i++  ;</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1778000" lvl="3" indent="-406400" eaLnBrk="1" latinLnBrk="0" hangingPunct="1">
              <a:lnSpc>
                <a:spcPct val="100000"/>
              </a:lnSpc>
              <a:spcBef>
                <a:spcPts val="0"/>
              </a:spcBef>
              <a:buClr>
                <a:schemeClr val="accent2"/>
              </a:buClr>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if (i&gt;b) {  printf("\nNot found");   return(0);  }</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1371600" lvl="2" indent="-457200" eaLnBrk="1" latinLnBrk="0" hangingPunct="1">
              <a:lnSpc>
                <a:spcPct val="100000"/>
              </a:lnSpc>
              <a:spcBef>
                <a:spcPts val="0"/>
              </a:spcBef>
              <a:buClr>
                <a:schemeClr val="accent1"/>
              </a:buClr>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j=ind[i].startpos ;</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1371600" lvl="2" indent="-457200" eaLnBrk="1" latinLnBrk="0" hangingPunct="1">
              <a:lnSpc>
                <a:spcPct val="100000"/>
              </a:lnSpc>
              <a:spcBef>
                <a:spcPts val="0"/>
              </a:spcBef>
              <a:buClr>
                <a:schemeClr val="accent1"/>
              </a:buClr>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while ((j&lt;n)&amp;&amp;LQ(ST[j].key, ind[i].maxkey) )</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1778000" lvl="3" indent="-406400" eaLnBrk="1" latinLnBrk="0" hangingPunct="1">
              <a:lnSpc>
                <a:spcPct val="100000"/>
              </a:lnSpc>
              <a:spcBef>
                <a:spcPts val="0"/>
              </a:spcBef>
              <a:buClr>
                <a:schemeClr val="accent2"/>
              </a:buClr>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   if ( EQ(ST[j].key, key) )  break ;</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2209800" lvl="4" indent="-381000" eaLnBrk="1" latinLnBrk="0" hangingPunct="1">
              <a:lnSpc>
                <a:spcPct val="100000"/>
              </a:lnSpc>
              <a:spcBef>
                <a:spcPts val="0"/>
              </a:spcBef>
              <a:buClr>
                <a:schemeClr val="accent1"/>
              </a:buClr>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j++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1778000" lvl="3" indent="-406400" eaLnBrk="1" latinLnBrk="0" hangingPunct="1">
              <a:lnSpc>
                <a:spcPct val="100000"/>
              </a:lnSpc>
              <a:spcBef>
                <a:spcPts val="0"/>
              </a:spcBef>
              <a:buClr>
                <a:schemeClr val="accent2"/>
              </a:buClr>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     /*  </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在块内查找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1371600" lvl="2" indent="-457200" eaLnBrk="1" latinLnBrk="0" hangingPunct="1">
              <a:lnSpc>
                <a:spcPct val="100000"/>
              </a:lnSpc>
              <a:spcBef>
                <a:spcPts val="0"/>
              </a:spcBef>
              <a:buClr>
                <a:schemeClr val="accent1"/>
              </a:buClr>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if (j&gt;n||!EQ(ST[j].key, key) )</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1778000" lvl="3" indent="-406400" eaLnBrk="1" latinLnBrk="0" hangingPunct="1">
              <a:lnSpc>
                <a:spcPct val="100000"/>
              </a:lnSpc>
              <a:spcBef>
                <a:spcPts val="0"/>
              </a:spcBef>
              <a:buClr>
                <a:schemeClr val="accent2"/>
              </a:buClr>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  j=0; printf("\nNot found");  }</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1371600" lvl="2" indent="-457200" eaLnBrk="1" latinLnBrk="0" hangingPunct="1">
              <a:lnSpc>
                <a:spcPct val="100000"/>
              </a:lnSpc>
              <a:spcBef>
                <a:spcPts val="0"/>
              </a:spcBef>
              <a:buClr>
                <a:schemeClr val="accent1"/>
              </a:buClr>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return(j); </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latinLnBrk="0" hangingPunct="1">
              <a:lnSpc>
                <a:spcPct val="100000"/>
              </a:lnSpc>
              <a:spcBef>
                <a:spcPts val="0"/>
              </a:spcBef>
              <a:buClr>
                <a:schemeClr val="accent2"/>
              </a:buClr>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0" lvl="1" indent="0" algn="l" eaLnBrk="1" latinLnBrk="0" hangingPunct="1">
              <a:lnSpc>
                <a:spcPct val="100000"/>
              </a:lnSpc>
              <a:spcBef>
                <a:spcPts val="0"/>
              </a:spcBef>
              <a:buClrTx/>
              <a:buSzTx/>
              <a:buFont typeface="Wingdings" panose="05000000000000000000" charset="0"/>
              <a:buNone/>
            </a:pP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lvl="1" algn="l" eaLnBrk="1" latinLnBrk="0" hangingPunct="1">
              <a:lnSpc>
                <a:spcPct val="100000"/>
              </a:lnSpc>
              <a:spcBef>
                <a:spcPts val="0"/>
              </a:spcBef>
              <a:buClrTx/>
              <a:buSzTx/>
              <a:buChar char="•"/>
            </a:pPr>
            <a:endParaRPr lang="zh-CN" altLang="en-US" sz="2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31</a:t>
            </a:fld>
            <a:endParaRPr lang="zh-CN" altLang="en-US"/>
          </a:p>
        </p:txBody>
      </p:sp>
      <p:sp>
        <p:nvSpPr>
          <p:cNvPr id="5" name="文本框 4"/>
          <p:cNvSpPr txBox="1"/>
          <p:nvPr/>
        </p:nvSpPr>
        <p:spPr>
          <a:xfrm>
            <a:off x="5591810" y="260350"/>
            <a:ext cx="5945505" cy="1614805"/>
          </a:xfrm>
          <a:prstGeom prst="rect">
            <a:avLst/>
          </a:prstGeom>
        </p:spPr>
        <p:txBody>
          <a:bodyPr vert="horz" wrap="square" lIns="91440" tIns="45720" rIns="91440" bIns="45720" rtlCol="0" anchor="t">
            <a:noAutofit/>
          </a:bodyPr>
          <a:lstStyle/>
          <a:p>
            <a:pPr marL="609600" indent="0" eaLnBrk="1" hangingPunct="1">
              <a:lnSpc>
                <a:spcPct val="10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索引表结点的定义</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609600" indent="0" eaLnBrk="1" hangingPunct="1">
              <a:lnSpc>
                <a:spcPct val="10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typedef struct IndexType</a:t>
            </a:r>
          </a:p>
          <a:p>
            <a:pPr marL="609600" indent="0" eaLnBrk="1" hangingPunct="1">
              <a:lnSpc>
                <a:spcPct val="10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keyType  maxkey ; //</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块中最大的关键字</a:t>
            </a:r>
          </a:p>
          <a:p>
            <a:pPr marL="609600" indent="0" eaLnBrk="1" hangingPunct="1">
              <a:lnSpc>
                <a:spcPct val="10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int startpos ;    //</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块的起始位置指针</a:t>
            </a:r>
            <a:endParaRPr lang="en-US" altLang="zh-CN" sz="2000" dirty="0">
              <a:latin typeface="黑体" panose="02010609060101010101" pitchFamily="2" charset="-122"/>
              <a:ea typeface="黑体" panose="02010609060101010101" pitchFamily="2" charset="-122"/>
              <a:cs typeface="黑体" panose="02010609060101010101" pitchFamily="2" charset="-122"/>
              <a:sym typeface="+mn-ea"/>
            </a:endParaRPr>
          </a:p>
          <a:p>
            <a:pPr marL="609600" indent="0" eaLnBrk="1" hangingPunct="1">
              <a:lnSpc>
                <a:spcPct val="100000"/>
              </a:lnSpc>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Index;</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索引顺序查找算法性能</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若将长度为n的表分成b块，每块含s个记录，表中每个记录查找概率相等</a:t>
            </a:r>
          </a:p>
          <a:p>
            <a:pPr lvl="1" algn="l" eaLnBrk="1" hangingPunct="1">
              <a:buClrTx/>
              <a:buSzTx/>
              <a:buChar char="•"/>
            </a:pPr>
            <a:r>
              <a:rPr lang="zh-CN" altLang="en-US" sz="2400" dirty="0">
                <a:latin typeface="黑体" panose="02010609060101010101" pitchFamily="2" charset="-122"/>
                <a:ea typeface="黑体" panose="02010609060101010101" pitchFamily="2" charset="-122"/>
                <a:sym typeface="+mn-ea"/>
              </a:rPr>
              <a:t>用折半查找方法在索引表中查找索引块</a:t>
            </a:r>
            <a:endParaRPr lang="zh-CN" altLang="en-US" sz="2400" b="0" dirty="0">
              <a:latin typeface="黑体" panose="02010609060101010101" pitchFamily="2" charset="-122"/>
              <a:ea typeface="黑体" panose="02010609060101010101" pitchFamily="2" charset="-122"/>
            </a:endParaRPr>
          </a:p>
          <a:p>
            <a:pPr marL="965200" lvl="1" indent="-508000" eaLnBrk="1" hangingPunct="1">
              <a:buClr>
                <a:schemeClr val="accent2"/>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ASL</a:t>
            </a:r>
            <a:r>
              <a:rPr lang="zh-CN" altLang="en-US" sz="2400" baseline="-25000" dirty="0">
                <a:latin typeface="黑体" panose="02010609060101010101" pitchFamily="2" charset="-122"/>
                <a:ea typeface="黑体" panose="02010609060101010101" pitchFamily="2" charset="-122"/>
                <a:sym typeface="+mn-ea"/>
              </a:rPr>
              <a:t>块间</a:t>
            </a:r>
            <a:r>
              <a:rPr lang="zh-CN" altLang="en-US" sz="2400" dirty="0">
                <a:latin typeface="黑体" panose="02010609060101010101" pitchFamily="2" charset="-122"/>
                <a:ea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sym typeface="+mn-ea"/>
              </a:rPr>
              <a:t>log</a:t>
            </a:r>
            <a:r>
              <a:rPr lang="en-US" altLang="zh-CN" sz="2400" baseline="-25000" dirty="0">
                <a:latin typeface="黑体" panose="02010609060101010101" pitchFamily="2" charset="-122"/>
                <a:ea typeface="黑体" panose="02010609060101010101" pitchFamily="2" charset="-122"/>
                <a:sym typeface="+mn-ea"/>
              </a:rPr>
              <a:t>2</a:t>
            </a:r>
            <a:r>
              <a:rPr lang="en-US" altLang="zh-CN" sz="2400" dirty="0">
                <a:latin typeface="黑体" panose="02010609060101010101" pitchFamily="2" charset="-122"/>
                <a:ea typeface="黑体" panose="02010609060101010101" pitchFamily="2" charset="-122"/>
                <a:sym typeface="+mn-ea"/>
              </a:rPr>
              <a:t>(n/s+1)</a:t>
            </a:r>
            <a:endParaRPr lang="en-US" altLang="zh-CN" sz="2400" b="0" dirty="0">
              <a:latin typeface="黑体" panose="02010609060101010101" pitchFamily="2" charset="-122"/>
              <a:ea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sym typeface="+mn-ea"/>
              </a:rPr>
              <a:t>用顺序查找方法在主表对应块中查找记录，</a:t>
            </a:r>
          </a:p>
          <a:p>
            <a:pPr marL="609600" lvl="1" indent="0" algn="l" eaLnBrk="1" hangingPunct="1">
              <a:buClrTx/>
              <a:buSzTx/>
              <a:buNone/>
            </a:pPr>
            <a:r>
              <a:rPr lang="zh-CN" altLang="en-US" dirty="0">
                <a:latin typeface="黑体" panose="02010609060101010101" pitchFamily="2" charset="-122"/>
                <a:ea typeface="黑体" panose="02010609060101010101" pitchFamily="2" charset="-122"/>
                <a:sym typeface="+mn-ea"/>
              </a:rPr>
              <a:t>	</a:t>
            </a:r>
            <a:r>
              <a:rPr lang="en-US" altLang="zh-CN" dirty="0">
                <a:latin typeface="黑体" panose="02010609060101010101" pitchFamily="2" charset="-122"/>
                <a:ea typeface="黑体" panose="02010609060101010101" pitchFamily="2" charset="-122"/>
                <a:sym typeface="+mn-ea"/>
              </a:rPr>
              <a:t>ASL</a:t>
            </a:r>
            <a:r>
              <a:rPr lang="zh-CN" altLang="en-US" baseline="-25000" dirty="0">
                <a:latin typeface="黑体" panose="02010609060101010101" pitchFamily="2" charset="-122"/>
                <a:ea typeface="黑体" panose="02010609060101010101" pitchFamily="2" charset="-122"/>
                <a:sym typeface="+mn-ea"/>
              </a:rPr>
              <a:t>块内</a:t>
            </a:r>
            <a:r>
              <a:rPr lang="en-US" altLang="zh-CN" dirty="0">
                <a:latin typeface="黑体" panose="02010609060101010101" pitchFamily="2" charset="-122"/>
                <a:ea typeface="黑体" panose="02010609060101010101" pitchFamily="2" charset="-122"/>
                <a:sym typeface="+mn-ea"/>
              </a:rPr>
              <a:t>=(s+1)/2</a:t>
            </a:r>
            <a:endParaRPr lang="zh-CN" altLang="en-US" sz="2400" b="0" dirty="0">
              <a:latin typeface="黑体" panose="02010609060101010101" pitchFamily="2" charset="-122"/>
              <a:ea typeface="黑体" panose="02010609060101010101" pitchFamily="2" charset="-122"/>
            </a:endParaRPr>
          </a:p>
          <a:p>
            <a:pPr lvl="1" algn="l" eaLnBrk="1" hangingPunct="1">
              <a:buClrTx/>
              <a:buSzTx/>
              <a:buChar char="•"/>
            </a:pPr>
            <a:endParaRPr lang="en-US" altLang="zh-CN" dirty="0">
              <a:latin typeface="黑体" panose="02010609060101010101" pitchFamily="2" charset="-122"/>
              <a:ea typeface="黑体" panose="02010609060101010101" pitchFamily="2" charset="-122"/>
              <a:sym typeface="+mn-ea"/>
            </a:endParaRPr>
          </a:p>
          <a:p>
            <a:pPr marL="609600" lvl="1" indent="0" algn="l" eaLnBrk="1" hangingPunct="1">
              <a:buClrTx/>
              <a:buSzTx/>
              <a:buNone/>
            </a:pPr>
            <a:r>
              <a:rPr lang="en-US" altLang="zh-CN" dirty="0">
                <a:latin typeface="黑体" panose="02010609060101010101" pitchFamily="2" charset="-122"/>
                <a:ea typeface="黑体" panose="02010609060101010101" pitchFamily="2" charset="-122"/>
                <a:sym typeface="+mn-ea"/>
              </a:rPr>
              <a:t>ASL</a:t>
            </a:r>
            <a:r>
              <a:rPr lang="zh-CN" altLang="en-US" baseline="-25000" dirty="0">
                <a:latin typeface="黑体" panose="02010609060101010101" pitchFamily="2" charset="-122"/>
                <a:ea typeface="黑体" panose="02010609060101010101" pitchFamily="2" charset="-122"/>
                <a:sym typeface="+mn-ea"/>
              </a:rPr>
              <a:t>分块查找</a:t>
            </a:r>
            <a:r>
              <a:rPr lang="en-US" altLang="zh-CN" b="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sym typeface="+mn-ea"/>
              </a:rPr>
              <a:t>log</a:t>
            </a:r>
            <a:r>
              <a:rPr lang="en-US" altLang="zh-CN" baseline="-25000" dirty="0">
                <a:latin typeface="黑体" panose="02010609060101010101" pitchFamily="2" charset="-122"/>
                <a:ea typeface="黑体" panose="02010609060101010101" pitchFamily="2" charset="-122"/>
                <a:sym typeface="+mn-ea"/>
              </a:rPr>
              <a:t>2</a:t>
            </a:r>
            <a:r>
              <a:rPr lang="en-US" altLang="zh-CN" dirty="0">
                <a:latin typeface="黑体" panose="02010609060101010101" pitchFamily="2" charset="-122"/>
                <a:ea typeface="黑体" panose="02010609060101010101" pitchFamily="2" charset="-122"/>
                <a:sym typeface="+mn-ea"/>
              </a:rPr>
              <a:t>(n/s+1)+(s+1)/2</a:t>
            </a:r>
          </a:p>
          <a:p>
            <a:pPr marL="609600" lvl="1" indent="0" algn="l" eaLnBrk="1" hangingPunct="1">
              <a:buClrTx/>
              <a:buSzTx/>
              <a:buNone/>
            </a:pPr>
            <a:endParaRPr lang="en-US" altLang="zh-CN" b="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索引顺序查找应用的隐含条件：</a:t>
            </a:r>
            <a:r>
              <a:rPr lang="zh-CN" altLang="en-US" sz="2800" dirty="0">
                <a:latin typeface="黑体" panose="02010609060101010101" pitchFamily="2" charset="-122"/>
                <a:ea typeface="黑体" panose="02010609060101010101" pitchFamily="2" charset="-122"/>
                <a:sym typeface="+mn-ea"/>
              </a:rPr>
              <a:t>主表数据要块间有序。如果主表完全无序，还是要用顺序查找。</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lvl="1" indent="0" algn="l" eaLnBrk="1" hangingPunct="1">
              <a:buClrTx/>
              <a:buSzTx/>
              <a:buNone/>
            </a:pPr>
            <a:endParaRPr lang="zh-CN" altLang="en-US" sz="28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32</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静态查找三种算法比较</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若将长度为n的表分成b块，每块含s个记录，表中每个记录查找概率相等</a:t>
            </a:r>
          </a:p>
          <a:p>
            <a:pPr marL="609600" lvl="1" indent="0" algn="l" eaLnBrk="1" hangingPunct="1">
              <a:buClrTx/>
              <a:buSzTx/>
              <a:buNone/>
            </a:pPr>
            <a:endParaRPr lang="zh-CN" altLang="en-US" sz="28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9.1 </a:t>
            </a:r>
            <a:r>
              <a:rPr lang="zh-CN" altLang="en-US">
                <a:latin typeface="楷体" panose="02010609060101010101" charset="-122"/>
                <a:ea typeface="楷体" panose="02010609060101010101" charset="-122"/>
                <a:cs typeface="楷体" panose="02010609060101010101" charset="-122"/>
                <a:sym typeface="+mn-ea"/>
              </a:rPr>
              <a:t>静态查找表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33</a:t>
            </a:fld>
            <a:endParaRPr lang="zh-CN" altLang="en-US"/>
          </a:p>
        </p:txBody>
      </p:sp>
      <p:graphicFrame>
        <p:nvGraphicFramePr>
          <p:cNvPr id="923693" name="Group 45"/>
          <p:cNvGraphicFramePr>
            <a:graphicFrameLocks noGrp="1"/>
          </p:cNvGraphicFramePr>
          <p:nvPr>
            <p:custDataLst>
              <p:tags r:id="rId1"/>
            </p:custDataLst>
          </p:nvPr>
        </p:nvGraphicFramePr>
        <p:xfrm>
          <a:off x="983298" y="2420620"/>
          <a:ext cx="8191500" cy="2663508"/>
        </p:xfrm>
        <a:graphic>
          <a:graphicData uri="http://schemas.openxmlformats.org/drawingml/2006/table">
            <a:tbl>
              <a:tblPr/>
              <a:tblGrid>
                <a:gridCol w="1308100">
                  <a:extLst>
                    <a:ext uri="{9D8B030D-6E8A-4147-A177-3AD203B41FA5}">
                      <a16:colId xmlns:a16="http://schemas.microsoft.com/office/drawing/2014/main" val="20000"/>
                    </a:ext>
                  </a:extLst>
                </a:gridCol>
                <a:gridCol w="2061210">
                  <a:extLst>
                    <a:ext uri="{9D8B030D-6E8A-4147-A177-3AD203B41FA5}">
                      <a16:colId xmlns:a16="http://schemas.microsoft.com/office/drawing/2014/main" val="20001"/>
                    </a:ext>
                  </a:extLst>
                </a:gridCol>
                <a:gridCol w="2436495">
                  <a:extLst>
                    <a:ext uri="{9D8B030D-6E8A-4147-A177-3AD203B41FA5}">
                      <a16:colId xmlns:a16="http://schemas.microsoft.com/office/drawing/2014/main" val="20002"/>
                    </a:ext>
                  </a:extLst>
                </a:gridCol>
                <a:gridCol w="2385695">
                  <a:extLst>
                    <a:ext uri="{9D8B030D-6E8A-4147-A177-3AD203B41FA5}">
                      <a16:colId xmlns:a16="http://schemas.microsoft.com/office/drawing/2014/main" val="20003"/>
                    </a:ext>
                  </a:extLst>
                </a:gridCol>
              </a:tblGrid>
              <a:tr h="625475">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0" i="0" u="none" strike="noStrike" cap="none" normalizeH="0" baseline="0">
                        <a:ln>
                          <a:noFill/>
                        </a:ln>
                        <a:solidFill>
                          <a:schemeClr val="tx1"/>
                        </a:solidFill>
                        <a:effectLst/>
                        <a:latin typeface="黑体" panose="02010609060101010101" pitchFamily="2" charset="-122"/>
                        <a:ea typeface="黑体" panose="0201060906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顺序查找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折半查找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分块查找</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29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ASL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最大，</a:t>
                      </a:r>
                      <a:r>
                        <a:rPr kumimoji="0" lang="en-US" altLang="zh-CN"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(n+1)/2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最小，</a:t>
                      </a:r>
                      <a:r>
                        <a:rPr kumimoji="0" lang="en-US" altLang="zh-CN"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log</a:t>
                      </a:r>
                      <a:r>
                        <a:rPr kumimoji="0" lang="en-US" altLang="zh-CN" sz="2000" b="0" i="0" u="none" strike="noStrike" cap="none" normalizeH="0" baseline="-25000">
                          <a:ln>
                            <a:noFill/>
                          </a:ln>
                          <a:solidFill>
                            <a:schemeClr val="tx1"/>
                          </a:solidFill>
                          <a:effectLst/>
                          <a:latin typeface="黑体" panose="02010609060101010101" pitchFamily="2" charset="-122"/>
                          <a:ea typeface="黑体" panose="02010609060101010101" pitchFamily="2" charset="-122"/>
                        </a:rPr>
                        <a:t>2</a:t>
                      </a:r>
                      <a:r>
                        <a:rPr kumimoji="0" lang="en-US" altLang="zh-CN"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(n+1)-1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两者之间</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2138">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表结构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有序表、无序表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有序表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分块有序表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0297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存储结构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顺序存储结构</a:t>
                      </a:r>
                    </a:p>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线性链表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顺序存储结构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顺序存储结构</a:t>
                      </a:r>
                    </a:p>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黑体" panose="02010609060101010101" pitchFamily="2" charset="-122"/>
                          <a:ea typeface="黑体" panose="02010609060101010101" pitchFamily="2" charset="-122"/>
                        </a:rPr>
                        <a:t>线性链表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609600" indent="-60960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已知数列如下，建立的索引表如下，数列位置从1开始编号，采用顺序索引查找方法，索引表和块内都用顺序查找，写出数据23、66、98的查找过程和次数</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lvl="1" indent="-6096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buClr>
                <a:srgbClr val="FF0000"/>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数列：</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19 28 23 11 8 33 48 51 35 37 62 66 86 99 72 81 </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buClr>
                <a:srgbClr val="FF0000"/>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索引表：</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Clr>
                <a:schemeClr val="accent2"/>
              </a:buClr>
              <a:buFont typeface="Wingdings" panose="05000000000000000000" pitchFamily="2" charset="2"/>
              <a:buChar char="q"/>
            </a:pPr>
            <a:endParaRPr lang="en-US" altLang="zh-CN" sz="2800" b="0" dirty="0">
              <a:latin typeface="黑体" panose="02010609060101010101" pitchFamily="2" charset="-122"/>
              <a:ea typeface="黑体" panose="02010609060101010101" pitchFamily="2" charset="-122"/>
            </a:endParaRPr>
          </a:p>
          <a:p>
            <a:pPr marL="609600" indent="-609600" algn="l" eaLnBrk="1" hangingPunct="1">
              <a:buClrTx/>
              <a:buSzTx/>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indent="-609600" algn="l" eaLnBrk="1" hangingPunct="1">
              <a:buClrTx/>
              <a:buSzTx/>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Clr>
                <a:schemeClr val="accent2"/>
              </a:buClr>
              <a:buFont typeface="Wingdings" panose="05000000000000000000" pitchFamily="2" charset="2"/>
              <a:buAutoNum type="ea1JpnChsDbPeriod"/>
            </a:pPr>
            <a:endParaRPr lang="en-US" altLang="zh-CN" sz="2800" b="0" dirty="0">
              <a:latin typeface="黑体" panose="02010609060101010101" pitchFamily="2" charset="-122"/>
              <a:ea typeface="黑体" panose="02010609060101010101" pitchFamily="2" charset="-122"/>
            </a:endParaRPr>
          </a:p>
          <a:p>
            <a:pPr marL="609600" lvl="0" indent="-609600"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609600" lvl="0" indent="-609600"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lstStyle/>
          <a:p>
            <a:pPr algn="l">
              <a:buClrTx/>
              <a:buSzTx/>
              <a:buFontTx/>
            </a:pPr>
            <a:r>
              <a:rPr lang="zh-CN" altLang="en-US" sz="4000">
                <a:solidFill>
                  <a:srgbClr val="FF0000"/>
                </a:solidFill>
                <a:latin typeface="楷体" panose="02010609060101010101" charset="-122"/>
                <a:ea typeface="楷体" panose="02010609060101010101" charset="-122"/>
              </a:rPr>
              <a:t>练习</a:t>
            </a:r>
          </a:p>
        </p:txBody>
      </p:sp>
      <p:sp>
        <p:nvSpPr>
          <p:cNvPr id="4" name="灯片编号占位符 3"/>
          <p:cNvSpPr>
            <a:spLocks noGrp="1"/>
          </p:cNvSpPr>
          <p:nvPr>
            <p:ph type="sldNum" sz="quarter" idx="4"/>
          </p:nvPr>
        </p:nvSpPr>
        <p:spPr/>
        <p:txBody>
          <a:bodyPr/>
          <a:lstStyle/>
          <a:p>
            <a:fld id="{F18B4237-A20D-4DE2-ADD8-75BCC50A7656}" type="slidenum">
              <a:rPr lang="zh-CN" altLang="en-US"/>
              <a:t>34</a:t>
            </a:fld>
            <a:endParaRPr lang="zh-CN" altLang="en-US"/>
          </a:p>
        </p:txBody>
      </p:sp>
      <p:graphicFrame>
        <p:nvGraphicFramePr>
          <p:cNvPr id="33797" name="表格 33796"/>
          <p:cNvGraphicFramePr/>
          <p:nvPr>
            <p:custDataLst>
              <p:tags r:id="rId1"/>
            </p:custDataLst>
          </p:nvPr>
        </p:nvGraphicFramePr>
        <p:xfrm>
          <a:off x="1703705" y="3428683"/>
          <a:ext cx="1584325" cy="1832927"/>
        </p:xfrm>
        <a:graphic>
          <a:graphicData uri="http://schemas.openxmlformats.org/drawingml/2006/table">
            <a:tbl>
              <a:tblPr/>
              <a:tblGrid>
                <a:gridCol w="793750">
                  <a:extLst>
                    <a:ext uri="{9D8B030D-6E8A-4147-A177-3AD203B41FA5}">
                      <a16:colId xmlns:a16="http://schemas.microsoft.com/office/drawing/2014/main" val="20000"/>
                    </a:ext>
                  </a:extLst>
                </a:gridCol>
                <a:gridCol w="790575">
                  <a:extLst>
                    <a:ext uri="{9D8B030D-6E8A-4147-A177-3AD203B41FA5}">
                      <a16:colId xmlns:a16="http://schemas.microsoft.com/office/drawing/2014/main" val="20001"/>
                    </a:ext>
                  </a:extLst>
                </a:gridCol>
              </a:tblGrid>
              <a:tr h="415290">
                <a:tc>
                  <a:txBody>
                    <a:bodyPr/>
                    <a:lstStyle/>
                    <a:p>
                      <a:pPr>
                        <a:spcBef>
                          <a:spcPct val="20000"/>
                        </a:spcBef>
                        <a:buClr>
                          <a:schemeClr val="accent1"/>
                        </a:buClr>
                        <a:buFont typeface="Wingdings" panose="05000000000000000000" pitchFamily="2" charset="2"/>
                        <a:buNone/>
                      </a:pPr>
                      <a:r>
                        <a:rPr lang="zh-CN" altLang="en-US" b="1" dirty="0">
                          <a:latin typeface="Arial" panose="020B0604020202020204" pitchFamily="34" charset="0"/>
                          <a:ea typeface="宋体" panose="02010600030101010101" pitchFamily="2" charset="-122"/>
                        </a:rPr>
                        <a:t>位置</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spcBef>
                          <a:spcPct val="20000"/>
                        </a:spcBef>
                        <a:buClr>
                          <a:schemeClr val="accent1"/>
                        </a:buClr>
                        <a:buFont typeface="Wingdings" panose="05000000000000000000" pitchFamily="2" charset="2"/>
                        <a:buNone/>
                      </a:pPr>
                      <a:r>
                        <a:rPr lang="zh-CN" altLang="en-US" b="1" dirty="0">
                          <a:latin typeface="Arial" panose="020B0604020202020204" pitchFamily="34" charset="0"/>
                          <a:ea typeface="宋体" panose="02010600030101010101" pitchFamily="2" charset="-122"/>
                        </a:rPr>
                        <a:t>数值</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1487">
                <a:tc>
                  <a:txBody>
                    <a:bodyPr/>
                    <a:lstStyle/>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33</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3075">
                <a:tc>
                  <a:txBody>
                    <a:bodyPr/>
                    <a:lstStyle/>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7</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66</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3075">
                <a:tc>
                  <a:txBody>
                    <a:bodyPr/>
                    <a:lstStyle/>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13</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99</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lvl="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查找的概念</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包含四种操作：查询、检索、插入、删除</a:t>
            </a:r>
          </a:p>
          <a:p>
            <a:pPr marL="914400" lvl="2" indent="-457200" algn="l" eaLnBrk="1" hangingPunct="1">
              <a:lnSpc>
                <a:spcPct val="100000"/>
              </a:lnSpc>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包含前两种操作的是静态查找，包含四种操作的是动态查找</a:t>
            </a:r>
          </a:p>
          <a:p>
            <a:pPr marL="914400" lvl="2" indent="-457200" algn="l" eaLnBrk="1" hangingPunct="1">
              <a:lnSpc>
                <a:spcPct val="100000"/>
              </a:lnSpc>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评价查找算法的指标平均查找长度</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ASL</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algn="l" eaLnBrk="1" hangingPunct="1">
              <a:lnSpc>
                <a:spcPct val="100000"/>
              </a:lnSpc>
              <a:buClrTx/>
              <a:buSzTx/>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静态查找表：顺序查找、折半查找、顺序索引查找，位置从</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开始</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algn="l" eaLnBrk="1" hangingPunct="1">
              <a:lnSpc>
                <a:spcPct val="100000"/>
              </a:lnSpc>
              <a:buClrTx/>
              <a:buSzTx/>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顺序查找：带哨兵的查找，从末尾往前找；可以是顺序表或链表</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ASL</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，时间复杂度O(n)，</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algn="l" eaLnBrk="1" hangingPunct="1">
              <a:lnSpc>
                <a:spcPct val="100000"/>
              </a:lnSpc>
              <a:buClrTx/>
              <a:buSzTx/>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折半查找：又称二分查找，要求表有序且必须是顺序表</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每次找中点比较，查找范围缩小一半</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ASL</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L</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o</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g</a:t>
            </a:r>
            <a:r>
              <a:rPr lang="en-US" altLang="zh-CN" baseline="-25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n</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，时间复杂度</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O(log</a:t>
            </a:r>
            <a:r>
              <a:rPr lang="en-US" altLang="zh-CN" baseline="-25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endParaRPr lang="zh-CN" altLang="en-US" sz="2400" dirty="0">
              <a:latin typeface="宋体" panose="02010600030101010101" pitchFamily="2" charset="-122"/>
            </a:endParaRPr>
          </a:p>
          <a:p>
            <a:pPr algn="l" eaLnBrk="1" hangingPunct="1">
              <a:lnSpc>
                <a:spcPct val="100000"/>
              </a:lnSpc>
              <a:buClrTx/>
              <a:buSzTx/>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顺序索引查找：又称分块查找，要求块间有序块内无序；可以是顺序表或链表</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要求有索引表，对主表进行分块并建立索引</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先用折半查找搜索索引表，再用顺序查找搜索块内</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914400" lvl="2" indent="-457200"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 name="标题 2"/>
          <p:cNvSpPr>
            <a:spLocks noGrp="1"/>
          </p:cNvSpPr>
          <p:nvPr>
            <p:ph type="title"/>
          </p:nvPr>
        </p:nvSpPr>
        <p:spPr/>
        <p:txBody>
          <a:bodyPr/>
          <a:lstStyle/>
          <a:p>
            <a:pPr algn="l">
              <a:buClrTx/>
              <a:buSzTx/>
              <a:buFontTx/>
            </a:pPr>
            <a:r>
              <a:rPr lang="zh-CN" altLang="en-US" sz="4000">
                <a:solidFill>
                  <a:srgbClr val="FF0000"/>
                </a:solidFill>
                <a:latin typeface="楷体" panose="02010609060101010101" charset="-122"/>
                <a:ea typeface="楷体" panose="02010609060101010101" charset="-122"/>
                <a:sym typeface="+mn-ea"/>
              </a:rPr>
              <a:t>上节课</a:t>
            </a:r>
            <a:r>
              <a:rPr lang="zh-CN" altLang="en-US" sz="4000">
                <a:solidFill>
                  <a:srgbClr val="FF0000"/>
                </a:solidFill>
                <a:latin typeface="楷体" panose="02010609060101010101" charset="-122"/>
                <a:ea typeface="楷体" panose="02010609060101010101" charset="-122"/>
              </a:rPr>
              <a:t>复习</a:t>
            </a:r>
          </a:p>
        </p:txBody>
      </p:sp>
      <p:sp>
        <p:nvSpPr>
          <p:cNvPr id="4" name="灯片编号占位符 3"/>
          <p:cNvSpPr>
            <a:spLocks noGrp="1"/>
          </p:cNvSpPr>
          <p:nvPr>
            <p:ph type="sldNum" sz="quarter" idx="4"/>
          </p:nvPr>
        </p:nvSpPr>
        <p:spPr/>
        <p:txBody>
          <a:bodyPr/>
          <a:lstStyle/>
          <a:p>
            <a:fld id="{F18B4237-A20D-4DE2-ADD8-75BCC50A7656}" type="slidenum">
              <a:rPr lang="zh-CN" altLang="en-US"/>
              <a:t>35</a:t>
            </a:fld>
            <a:endParaRPr lang="zh-CN" altLang="en-US"/>
          </a:p>
        </p:txBody>
      </p:sp>
      <p:sp>
        <p:nvSpPr>
          <p:cNvPr id="5" name="矩形 4">
            <a:extLst>
              <a:ext uri="{FF2B5EF4-FFF2-40B4-BE49-F238E27FC236}">
                <a16:creationId xmlns:a16="http://schemas.microsoft.com/office/drawing/2014/main" id="{4158331C-67DE-4848-AA06-F06619677191}"/>
              </a:ext>
            </a:extLst>
          </p:cNvPr>
          <p:cNvSpPr/>
          <p:nvPr/>
        </p:nvSpPr>
        <p:spPr bwMode="auto">
          <a:xfrm>
            <a:off x="5807968" y="-214403"/>
            <a:ext cx="1728192" cy="1008112"/>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一个有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100</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个元素的线性表，若采用带哨兵的顺序查找某个元素，最少</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_____</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次比较，最多</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次比较</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已知顺序表｛</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2,4,5,8,12,14,24</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,36,98</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｝，若采用二分查找，比较次数最多的元素是</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；若查找元素</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24</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，经过比较的元素是</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已知顺序表｛</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10</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4,</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10</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5,</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8,</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20</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4</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3</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318,306,384,352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｝，如果按数据的百位数进行分块，采用索引顺序查找，则查找元素</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384</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，经过比较的元素是</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__________</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0" indent="0" algn="l" eaLnBrk="1" hangingPunct="1">
              <a:buClrTx/>
              <a:buSzTx/>
              <a:buNone/>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lstStyle/>
          <a:p>
            <a:pPr algn="l">
              <a:buClrTx/>
              <a:buSzTx/>
              <a:buFontTx/>
            </a:pPr>
            <a:r>
              <a:rPr lang="zh-CN" altLang="en-US" sz="4000">
                <a:solidFill>
                  <a:srgbClr val="FF0000"/>
                </a:solidFill>
                <a:latin typeface="楷体" panose="02010609060101010101" charset="-122"/>
                <a:ea typeface="楷体" panose="02010609060101010101" charset="-122"/>
              </a:rPr>
              <a:t>复习练习</a:t>
            </a:r>
          </a:p>
        </p:txBody>
      </p:sp>
      <p:sp>
        <p:nvSpPr>
          <p:cNvPr id="4" name="灯片编号占位符 3"/>
          <p:cNvSpPr>
            <a:spLocks noGrp="1"/>
          </p:cNvSpPr>
          <p:nvPr>
            <p:ph type="sldNum" sz="quarter" idx="4"/>
          </p:nvPr>
        </p:nvSpPr>
        <p:spPr/>
        <p:txBody>
          <a:bodyPr/>
          <a:lstStyle/>
          <a:p>
            <a:fld id="{F18B4237-A20D-4DE2-ADD8-75BCC50A7656}" type="slidenum">
              <a:rPr lang="zh-CN" altLang="en-US"/>
              <a:t>36</a:t>
            </a:fld>
            <a:endParaRPr lang="zh-CN" altLang="en-US"/>
          </a:p>
        </p:txBody>
      </p:sp>
      <mc:AlternateContent xmlns:mc="http://schemas.openxmlformats.org/markup-compatibility/2006">
        <mc:Choice xmlns:p14="http://schemas.microsoft.com/office/powerpoint/2010/main" Requires="p14">
          <p:contentPart p14:bwMode="auto" r:id="rId2">
            <p14:nvContentPartPr>
              <p14:cNvPr id="5" name="墨迹 4">
                <a:extLst>
                  <a:ext uri="{FF2B5EF4-FFF2-40B4-BE49-F238E27FC236}">
                    <a16:creationId xmlns:a16="http://schemas.microsoft.com/office/drawing/2014/main" id="{6BDDF269-B376-4E75-A8EB-81CDF9835518}"/>
                  </a:ext>
                </a:extLst>
              </p14:cNvPr>
              <p14:cNvContentPartPr/>
              <p14:nvPr/>
            </p14:nvContentPartPr>
            <p14:xfrm>
              <a:off x="3270240" y="2660760"/>
              <a:ext cx="6540840" cy="635400"/>
            </p14:xfrm>
          </p:contentPart>
        </mc:Choice>
        <mc:Fallback>
          <p:pic>
            <p:nvPicPr>
              <p:cNvPr id="5" name="墨迹 4">
                <a:extLst>
                  <a:ext uri="{FF2B5EF4-FFF2-40B4-BE49-F238E27FC236}">
                    <a16:creationId xmlns:a16="http://schemas.microsoft.com/office/drawing/2014/main" id="{6BDDF269-B376-4E75-A8EB-81CDF9835518}"/>
                  </a:ext>
                </a:extLst>
              </p:cNvPr>
              <p:cNvPicPr/>
              <p:nvPr/>
            </p:nvPicPr>
            <p:blipFill>
              <a:blip r:embed="rId3"/>
              <a:stretch>
                <a:fillRect/>
              </a:stretch>
            </p:blipFill>
            <p:spPr>
              <a:xfrm>
                <a:off x="3260880" y="2651400"/>
                <a:ext cx="6559560" cy="654120"/>
              </a:xfrm>
              <a:prstGeom prst="rect">
                <a:avLst/>
              </a:prstGeom>
            </p:spPr>
          </p:pic>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静态查找表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动态查找表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哈希表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zh-CN" altLang="en-US" sz="3200" b="1" i="0" u="none" strike="noStrike" kern="1200" cap="none" spc="0" normalizeH="0" baseline="0" dirty="0">
              <a:solidFill>
                <a:schemeClr val="tx1"/>
              </a:solidFill>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lstStyle/>
          <a:p>
            <a:fld id="{F18B4237-A20D-4DE2-ADD8-75BCC50A7656}" type="slidenum">
              <a:rPr lang="zh-CN" altLang="en-US"/>
              <a:t>37</a:t>
            </a:fld>
            <a:endParaRPr lang="zh-CN" altLang="en-US"/>
          </a:p>
        </p:txBody>
      </p:sp>
      <p:sp>
        <p:nvSpPr>
          <p:cNvPr id="8" name="矩形 7"/>
          <p:cNvSpPr/>
          <p:nvPr/>
        </p:nvSpPr>
        <p:spPr>
          <a:xfrm>
            <a:off x="4088130" y="1809750"/>
            <a:ext cx="2127250"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46" name="Text Box 2"/>
          <p:cNvSpPr txBox="1"/>
          <p:nvPr/>
        </p:nvSpPr>
        <p:spPr>
          <a:xfrm>
            <a:off x="2712085" y="170815"/>
            <a:ext cx="6443980" cy="768350"/>
          </a:xfrm>
          <a:prstGeom prst="rect">
            <a:avLst/>
          </a:prstGeom>
          <a:noFill/>
          <a:ln w="9525">
            <a:noFill/>
          </a:ln>
        </p:spPr>
        <p:txBody>
          <a:bodyPr wrap="square" anchor="t" anchorCtr="0">
            <a:spAutoFit/>
          </a:bodyPr>
          <a:lstStyle/>
          <a:p>
            <a:pPr algn="ctr"/>
            <a:r>
              <a:rPr lang="zh-CN" altLang="en-US" sz="4400" b="1" dirty="0">
                <a:solidFill>
                  <a:srgbClr val="0000CC"/>
                </a:solidFill>
                <a:latin typeface="楷体" panose="02010609060101010101" charset="-122"/>
                <a:ea typeface="楷体" panose="02010609060101010101" charset="-122"/>
              </a:rPr>
              <a:t>第九章	查找</a:t>
            </a:r>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动态查找的引入：当查找表以线性表的形式组织时，若对查找表进行插入、删除或排序操作，就必须移动大量的记录，当记录数很多时，这种移动的代价很大。</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动态查找表的设计思想：表结构本身是在查找过程中动态生成的</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若表中存在其关键字等于给定值key的记录,表明查找成功；否则插入关键字等于key的记录。</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利用树的形式组织查找表，可以对查找表进行动态高效的查找。</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38</a:t>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动态查找表的典型数据结构是二叉排序树，又称二叉查找树</a:t>
            </a: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二叉排序树是空树或者是具有如下特性的二叉树：</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若它的左子树不空，则左子树上所有结点的值均小于根结点的值</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若它的右子树不空，则右子树上所有结点的值均大于根结点的值</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它的左、右子树也都分别是二叉排序树。</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39</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二叉排序树示例</a:t>
            </a: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40</a:t>
            </a:fld>
            <a:endParaRPr lang="zh-CN" altLang="en-US"/>
          </a:p>
        </p:txBody>
      </p:sp>
      <p:grpSp>
        <p:nvGrpSpPr>
          <p:cNvPr id="44036" name="Group 52"/>
          <p:cNvGrpSpPr/>
          <p:nvPr/>
        </p:nvGrpSpPr>
        <p:grpSpPr>
          <a:xfrm>
            <a:off x="1847850" y="2133600"/>
            <a:ext cx="3679825" cy="3355975"/>
            <a:chOff x="204" y="1344"/>
            <a:chExt cx="2318" cy="2114"/>
          </a:xfrm>
        </p:grpSpPr>
        <p:sp>
          <p:nvSpPr>
            <p:cNvPr id="44037" name="Text Box 4"/>
            <p:cNvSpPr txBox="1"/>
            <p:nvPr/>
          </p:nvSpPr>
          <p:spPr>
            <a:xfrm>
              <a:off x="732" y="3168"/>
              <a:ext cx="1344" cy="29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charset="0"/>
                  <a:ea typeface="宋体" panose="02010600030101010101" pitchFamily="2" charset="-122"/>
                </a:rPr>
                <a:t>二叉排序树</a:t>
              </a:r>
            </a:p>
          </p:txBody>
        </p:sp>
        <p:grpSp>
          <p:nvGrpSpPr>
            <p:cNvPr id="44038" name="Group 6"/>
            <p:cNvGrpSpPr/>
            <p:nvPr/>
          </p:nvGrpSpPr>
          <p:grpSpPr>
            <a:xfrm>
              <a:off x="204" y="1344"/>
              <a:ext cx="2318" cy="1745"/>
              <a:chOff x="240" y="2112"/>
              <a:chExt cx="2318" cy="1745"/>
            </a:xfrm>
          </p:grpSpPr>
          <p:sp>
            <p:nvSpPr>
              <p:cNvPr id="44039" name="Oval 7"/>
              <p:cNvSpPr/>
              <p:nvPr/>
            </p:nvSpPr>
            <p:spPr>
              <a:xfrm>
                <a:off x="1203" y="2112"/>
                <a:ext cx="256"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44040" name="Oval 8"/>
              <p:cNvSpPr/>
              <p:nvPr/>
            </p:nvSpPr>
            <p:spPr>
              <a:xfrm>
                <a:off x="1742" y="2384"/>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44041" name="Oval 9"/>
              <p:cNvSpPr/>
              <p:nvPr/>
            </p:nvSpPr>
            <p:spPr>
              <a:xfrm>
                <a:off x="240" y="2733"/>
                <a:ext cx="254"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44042" name="Oval 10"/>
              <p:cNvSpPr/>
              <p:nvPr/>
            </p:nvSpPr>
            <p:spPr>
              <a:xfrm>
                <a:off x="2167" y="2733"/>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44043" name="Oval 11"/>
              <p:cNvSpPr/>
              <p:nvPr/>
            </p:nvSpPr>
            <p:spPr>
              <a:xfrm>
                <a:off x="1090" y="2733"/>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44044" name="Oval 12"/>
              <p:cNvSpPr/>
              <p:nvPr/>
            </p:nvSpPr>
            <p:spPr>
              <a:xfrm>
                <a:off x="2304" y="3552"/>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44045" name="Line 13"/>
              <p:cNvSpPr/>
              <p:nvPr/>
            </p:nvSpPr>
            <p:spPr>
              <a:xfrm flipH="1">
                <a:off x="893" y="2267"/>
                <a:ext cx="310" cy="194"/>
              </a:xfrm>
              <a:prstGeom prst="line">
                <a:avLst/>
              </a:prstGeom>
              <a:ln w="38100" cap="flat" cmpd="sng">
                <a:solidFill>
                  <a:srgbClr val="336699"/>
                </a:solidFill>
                <a:prstDash val="solid"/>
                <a:round/>
                <a:headEnd type="none" w="med" len="med"/>
                <a:tailEnd type="none" w="med" len="med"/>
              </a:ln>
            </p:spPr>
          </p:sp>
          <p:sp>
            <p:nvSpPr>
              <p:cNvPr id="44046" name="Line 14"/>
              <p:cNvSpPr/>
              <p:nvPr/>
            </p:nvSpPr>
            <p:spPr>
              <a:xfrm flipH="1">
                <a:off x="466" y="2609"/>
                <a:ext cx="224" cy="163"/>
              </a:xfrm>
              <a:prstGeom prst="line">
                <a:avLst/>
              </a:prstGeom>
              <a:ln w="38100" cap="flat" cmpd="sng">
                <a:solidFill>
                  <a:srgbClr val="666699"/>
                </a:solidFill>
                <a:prstDash val="solid"/>
                <a:round/>
                <a:headEnd type="none" w="med" len="med"/>
                <a:tailEnd type="none" w="med" len="med"/>
              </a:ln>
            </p:spPr>
          </p:sp>
          <p:sp>
            <p:nvSpPr>
              <p:cNvPr id="44047" name="Line 15"/>
              <p:cNvSpPr/>
              <p:nvPr/>
            </p:nvSpPr>
            <p:spPr>
              <a:xfrm>
                <a:off x="1459" y="2267"/>
                <a:ext cx="283" cy="194"/>
              </a:xfrm>
              <a:prstGeom prst="line">
                <a:avLst/>
              </a:prstGeom>
              <a:ln w="38100" cap="flat" cmpd="sng">
                <a:solidFill>
                  <a:srgbClr val="336699"/>
                </a:solidFill>
                <a:prstDash val="solid"/>
                <a:round/>
                <a:headEnd type="none" w="med" len="med"/>
                <a:tailEnd type="none" w="med" len="med"/>
              </a:ln>
            </p:spPr>
          </p:sp>
          <p:sp>
            <p:nvSpPr>
              <p:cNvPr id="44048" name="Line 16"/>
              <p:cNvSpPr/>
              <p:nvPr/>
            </p:nvSpPr>
            <p:spPr>
              <a:xfrm>
                <a:off x="893" y="2578"/>
                <a:ext cx="226" cy="194"/>
              </a:xfrm>
              <a:prstGeom prst="line">
                <a:avLst/>
              </a:prstGeom>
              <a:ln w="38100" cap="flat" cmpd="sng">
                <a:solidFill>
                  <a:srgbClr val="336699"/>
                </a:solidFill>
                <a:prstDash val="solid"/>
                <a:round/>
                <a:headEnd type="none" w="med" len="med"/>
                <a:tailEnd type="none" w="med" len="med"/>
              </a:ln>
            </p:spPr>
          </p:sp>
          <p:sp>
            <p:nvSpPr>
              <p:cNvPr id="44049" name="Line 17"/>
              <p:cNvSpPr/>
              <p:nvPr/>
            </p:nvSpPr>
            <p:spPr>
              <a:xfrm flipH="1">
                <a:off x="841" y="2966"/>
                <a:ext cx="278" cy="267"/>
              </a:xfrm>
              <a:prstGeom prst="line">
                <a:avLst/>
              </a:prstGeom>
              <a:ln w="38100" cap="flat" cmpd="sng">
                <a:solidFill>
                  <a:srgbClr val="336699"/>
                </a:solidFill>
                <a:prstDash val="solid"/>
                <a:round/>
                <a:headEnd type="none" w="med" len="med"/>
                <a:tailEnd type="none" w="med" len="med"/>
              </a:ln>
            </p:spPr>
          </p:sp>
          <p:sp>
            <p:nvSpPr>
              <p:cNvPr id="44050" name="Line 18"/>
              <p:cNvSpPr/>
              <p:nvPr/>
            </p:nvSpPr>
            <p:spPr>
              <a:xfrm>
                <a:off x="1969" y="2616"/>
                <a:ext cx="227" cy="156"/>
              </a:xfrm>
              <a:prstGeom prst="line">
                <a:avLst/>
              </a:prstGeom>
              <a:ln w="38100" cap="flat" cmpd="sng">
                <a:solidFill>
                  <a:srgbClr val="336699"/>
                </a:solidFill>
                <a:prstDash val="solid"/>
                <a:round/>
                <a:headEnd type="none" w="med" len="med"/>
                <a:tailEnd type="none" w="med" len="med"/>
              </a:ln>
            </p:spPr>
          </p:sp>
          <p:sp>
            <p:nvSpPr>
              <p:cNvPr id="44051" name="Line 19"/>
              <p:cNvSpPr/>
              <p:nvPr/>
            </p:nvSpPr>
            <p:spPr>
              <a:xfrm flipH="1">
                <a:off x="2026" y="2993"/>
                <a:ext cx="216" cy="205"/>
              </a:xfrm>
              <a:prstGeom prst="line">
                <a:avLst/>
              </a:prstGeom>
              <a:ln w="38100" cap="flat" cmpd="sng">
                <a:solidFill>
                  <a:srgbClr val="336699"/>
                </a:solidFill>
                <a:prstDash val="solid"/>
                <a:round/>
                <a:headEnd type="none" w="med" len="med"/>
                <a:tailEnd type="none" w="med" len="med"/>
              </a:ln>
            </p:spPr>
          </p:sp>
          <p:sp>
            <p:nvSpPr>
              <p:cNvPr id="44052" name="Line 20"/>
              <p:cNvSpPr/>
              <p:nvPr/>
            </p:nvSpPr>
            <p:spPr>
              <a:xfrm>
                <a:off x="2081" y="3391"/>
                <a:ext cx="271" cy="209"/>
              </a:xfrm>
              <a:prstGeom prst="line">
                <a:avLst/>
              </a:prstGeom>
              <a:ln w="38100" cap="flat" cmpd="sng">
                <a:solidFill>
                  <a:srgbClr val="336699"/>
                </a:solidFill>
                <a:prstDash val="solid"/>
                <a:round/>
                <a:headEnd type="none" w="med" len="med"/>
                <a:tailEnd type="none" w="med" len="med"/>
              </a:ln>
            </p:spPr>
          </p:sp>
          <p:sp>
            <p:nvSpPr>
              <p:cNvPr id="44053" name="Oval 21"/>
              <p:cNvSpPr/>
              <p:nvPr/>
            </p:nvSpPr>
            <p:spPr>
              <a:xfrm>
                <a:off x="382" y="3585"/>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44054" name="Line 22"/>
              <p:cNvSpPr/>
              <p:nvPr/>
            </p:nvSpPr>
            <p:spPr>
              <a:xfrm flipH="1">
                <a:off x="552" y="3353"/>
                <a:ext cx="226" cy="232"/>
              </a:xfrm>
              <a:prstGeom prst="line">
                <a:avLst/>
              </a:prstGeom>
              <a:ln w="38100" cap="flat" cmpd="sng">
                <a:solidFill>
                  <a:srgbClr val="336699"/>
                </a:solidFill>
                <a:prstDash val="solid"/>
                <a:round/>
                <a:headEnd type="none" w="med" len="med"/>
                <a:tailEnd type="none" w="med" len="med"/>
              </a:ln>
            </p:spPr>
          </p:sp>
          <p:sp>
            <p:nvSpPr>
              <p:cNvPr id="44055" name="Oval 23"/>
              <p:cNvSpPr/>
              <p:nvPr/>
            </p:nvSpPr>
            <p:spPr>
              <a:xfrm>
                <a:off x="1855" y="3160"/>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44056" name="Oval 24"/>
              <p:cNvSpPr/>
              <p:nvPr/>
            </p:nvSpPr>
            <p:spPr>
              <a:xfrm>
                <a:off x="690" y="3137"/>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44057" name="Oval 25"/>
              <p:cNvSpPr/>
              <p:nvPr/>
            </p:nvSpPr>
            <p:spPr>
              <a:xfrm>
                <a:off x="665" y="2384"/>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44058" name="Line 26"/>
              <p:cNvSpPr/>
              <p:nvPr/>
            </p:nvSpPr>
            <p:spPr>
              <a:xfrm flipH="1">
                <a:off x="1680" y="3408"/>
                <a:ext cx="216" cy="205"/>
              </a:xfrm>
              <a:prstGeom prst="line">
                <a:avLst/>
              </a:prstGeom>
              <a:ln w="38100" cap="flat" cmpd="sng">
                <a:solidFill>
                  <a:srgbClr val="336699"/>
                </a:solidFill>
                <a:prstDash val="solid"/>
                <a:round/>
                <a:headEnd type="none" w="med" len="med"/>
                <a:tailEnd type="none" w="med" len="med"/>
              </a:ln>
            </p:spPr>
          </p:sp>
          <p:sp>
            <p:nvSpPr>
              <p:cNvPr id="44059" name="Oval 27"/>
              <p:cNvSpPr/>
              <p:nvPr/>
            </p:nvSpPr>
            <p:spPr>
              <a:xfrm>
                <a:off x="1509" y="3575"/>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75</a:t>
                </a:r>
              </a:p>
            </p:txBody>
          </p:sp>
        </p:grpSp>
      </p:grpSp>
      <p:grpSp>
        <p:nvGrpSpPr>
          <p:cNvPr id="44060" name="Group 53"/>
          <p:cNvGrpSpPr/>
          <p:nvPr/>
        </p:nvGrpSpPr>
        <p:grpSpPr>
          <a:xfrm>
            <a:off x="6572250" y="2133600"/>
            <a:ext cx="3679825" cy="3355975"/>
            <a:chOff x="3180" y="1344"/>
            <a:chExt cx="2318" cy="2114"/>
          </a:xfrm>
        </p:grpSpPr>
        <p:sp>
          <p:nvSpPr>
            <p:cNvPr id="44061" name="Text Box 5"/>
            <p:cNvSpPr txBox="1"/>
            <p:nvPr/>
          </p:nvSpPr>
          <p:spPr>
            <a:xfrm>
              <a:off x="3756" y="3168"/>
              <a:ext cx="1344" cy="29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charset="0"/>
                  <a:ea typeface="宋体" panose="02010600030101010101" pitchFamily="2" charset="-122"/>
                </a:rPr>
                <a:t>非二叉排序树</a:t>
              </a:r>
            </a:p>
          </p:txBody>
        </p:sp>
        <p:grpSp>
          <p:nvGrpSpPr>
            <p:cNvPr id="44062" name="Group 28"/>
            <p:cNvGrpSpPr/>
            <p:nvPr/>
          </p:nvGrpSpPr>
          <p:grpSpPr>
            <a:xfrm>
              <a:off x="3180" y="1344"/>
              <a:ext cx="2318" cy="1745"/>
              <a:chOff x="3216" y="2064"/>
              <a:chExt cx="2318" cy="1745"/>
            </a:xfrm>
          </p:grpSpPr>
          <p:sp>
            <p:nvSpPr>
              <p:cNvPr id="44063" name="Oval 29"/>
              <p:cNvSpPr/>
              <p:nvPr/>
            </p:nvSpPr>
            <p:spPr>
              <a:xfrm>
                <a:off x="4179" y="2064"/>
                <a:ext cx="256"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44064" name="Oval 30"/>
              <p:cNvSpPr/>
              <p:nvPr/>
            </p:nvSpPr>
            <p:spPr>
              <a:xfrm>
                <a:off x="4718" y="2336"/>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44065" name="Oval 31"/>
              <p:cNvSpPr/>
              <p:nvPr/>
            </p:nvSpPr>
            <p:spPr>
              <a:xfrm>
                <a:off x="3216" y="2685"/>
                <a:ext cx="254"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44066" name="Oval 32"/>
              <p:cNvSpPr/>
              <p:nvPr/>
            </p:nvSpPr>
            <p:spPr>
              <a:xfrm>
                <a:off x="5143" y="2685"/>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44067" name="Oval 33"/>
              <p:cNvSpPr/>
              <p:nvPr/>
            </p:nvSpPr>
            <p:spPr>
              <a:xfrm>
                <a:off x="4066" y="2685"/>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44068" name="Oval 34"/>
              <p:cNvSpPr/>
              <p:nvPr/>
            </p:nvSpPr>
            <p:spPr>
              <a:xfrm>
                <a:off x="5280" y="3504"/>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44069" name="Line 35"/>
              <p:cNvSpPr/>
              <p:nvPr/>
            </p:nvSpPr>
            <p:spPr>
              <a:xfrm flipH="1">
                <a:off x="3869" y="2219"/>
                <a:ext cx="310" cy="194"/>
              </a:xfrm>
              <a:prstGeom prst="line">
                <a:avLst/>
              </a:prstGeom>
              <a:ln w="38100" cap="flat" cmpd="sng">
                <a:solidFill>
                  <a:srgbClr val="336699"/>
                </a:solidFill>
                <a:prstDash val="solid"/>
                <a:round/>
                <a:headEnd type="none" w="med" len="med"/>
                <a:tailEnd type="none" w="med" len="med"/>
              </a:ln>
            </p:spPr>
          </p:sp>
          <p:sp>
            <p:nvSpPr>
              <p:cNvPr id="44070" name="Line 36"/>
              <p:cNvSpPr/>
              <p:nvPr/>
            </p:nvSpPr>
            <p:spPr>
              <a:xfrm flipH="1">
                <a:off x="3442" y="2561"/>
                <a:ext cx="224" cy="163"/>
              </a:xfrm>
              <a:prstGeom prst="line">
                <a:avLst/>
              </a:prstGeom>
              <a:ln w="38100" cap="flat" cmpd="sng">
                <a:solidFill>
                  <a:srgbClr val="666699"/>
                </a:solidFill>
                <a:prstDash val="solid"/>
                <a:round/>
                <a:headEnd type="none" w="med" len="med"/>
                <a:tailEnd type="none" w="med" len="med"/>
              </a:ln>
            </p:spPr>
          </p:sp>
          <p:sp>
            <p:nvSpPr>
              <p:cNvPr id="44071" name="Line 37"/>
              <p:cNvSpPr/>
              <p:nvPr/>
            </p:nvSpPr>
            <p:spPr>
              <a:xfrm>
                <a:off x="4435" y="2219"/>
                <a:ext cx="283" cy="194"/>
              </a:xfrm>
              <a:prstGeom prst="line">
                <a:avLst/>
              </a:prstGeom>
              <a:ln w="38100" cap="flat" cmpd="sng">
                <a:solidFill>
                  <a:srgbClr val="336699"/>
                </a:solidFill>
                <a:prstDash val="solid"/>
                <a:round/>
                <a:headEnd type="none" w="med" len="med"/>
                <a:tailEnd type="none" w="med" len="med"/>
              </a:ln>
            </p:spPr>
          </p:sp>
          <p:sp>
            <p:nvSpPr>
              <p:cNvPr id="44072" name="Line 38"/>
              <p:cNvSpPr/>
              <p:nvPr/>
            </p:nvSpPr>
            <p:spPr>
              <a:xfrm>
                <a:off x="3869" y="2530"/>
                <a:ext cx="226" cy="194"/>
              </a:xfrm>
              <a:prstGeom prst="line">
                <a:avLst/>
              </a:prstGeom>
              <a:ln w="38100" cap="flat" cmpd="sng">
                <a:solidFill>
                  <a:srgbClr val="336699"/>
                </a:solidFill>
                <a:prstDash val="solid"/>
                <a:round/>
                <a:headEnd type="none" w="med" len="med"/>
                <a:tailEnd type="none" w="med" len="med"/>
              </a:ln>
            </p:spPr>
          </p:sp>
          <p:sp>
            <p:nvSpPr>
              <p:cNvPr id="44073" name="Line 39"/>
              <p:cNvSpPr/>
              <p:nvPr/>
            </p:nvSpPr>
            <p:spPr>
              <a:xfrm flipH="1">
                <a:off x="3817" y="2918"/>
                <a:ext cx="278" cy="267"/>
              </a:xfrm>
              <a:prstGeom prst="line">
                <a:avLst/>
              </a:prstGeom>
              <a:ln w="38100" cap="flat" cmpd="sng">
                <a:solidFill>
                  <a:srgbClr val="336699"/>
                </a:solidFill>
                <a:prstDash val="solid"/>
                <a:round/>
                <a:headEnd type="none" w="med" len="med"/>
                <a:tailEnd type="none" w="med" len="med"/>
              </a:ln>
            </p:spPr>
          </p:sp>
          <p:sp>
            <p:nvSpPr>
              <p:cNvPr id="44074" name="Line 40"/>
              <p:cNvSpPr/>
              <p:nvPr/>
            </p:nvSpPr>
            <p:spPr>
              <a:xfrm>
                <a:off x="4945" y="2568"/>
                <a:ext cx="227" cy="156"/>
              </a:xfrm>
              <a:prstGeom prst="line">
                <a:avLst/>
              </a:prstGeom>
              <a:ln w="38100" cap="flat" cmpd="sng">
                <a:solidFill>
                  <a:srgbClr val="336699"/>
                </a:solidFill>
                <a:prstDash val="solid"/>
                <a:round/>
                <a:headEnd type="none" w="med" len="med"/>
                <a:tailEnd type="none" w="med" len="med"/>
              </a:ln>
            </p:spPr>
          </p:sp>
          <p:sp>
            <p:nvSpPr>
              <p:cNvPr id="44075" name="Line 41"/>
              <p:cNvSpPr/>
              <p:nvPr/>
            </p:nvSpPr>
            <p:spPr>
              <a:xfrm flipH="1">
                <a:off x="5002" y="2945"/>
                <a:ext cx="216" cy="205"/>
              </a:xfrm>
              <a:prstGeom prst="line">
                <a:avLst/>
              </a:prstGeom>
              <a:ln w="38100" cap="flat" cmpd="sng">
                <a:solidFill>
                  <a:srgbClr val="336699"/>
                </a:solidFill>
                <a:prstDash val="solid"/>
                <a:round/>
                <a:headEnd type="none" w="med" len="med"/>
                <a:tailEnd type="none" w="med" len="med"/>
              </a:ln>
            </p:spPr>
          </p:sp>
          <p:sp>
            <p:nvSpPr>
              <p:cNvPr id="44076" name="Line 42"/>
              <p:cNvSpPr/>
              <p:nvPr/>
            </p:nvSpPr>
            <p:spPr>
              <a:xfrm>
                <a:off x="5057" y="3343"/>
                <a:ext cx="271" cy="209"/>
              </a:xfrm>
              <a:prstGeom prst="line">
                <a:avLst/>
              </a:prstGeom>
              <a:ln w="38100" cap="flat" cmpd="sng">
                <a:solidFill>
                  <a:srgbClr val="336699"/>
                </a:solidFill>
                <a:prstDash val="solid"/>
                <a:round/>
                <a:headEnd type="none" w="med" len="med"/>
                <a:tailEnd type="none" w="med" len="med"/>
              </a:ln>
            </p:spPr>
          </p:sp>
          <p:sp>
            <p:nvSpPr>
              <p:cNvPr id="44077" name="Oval 43"/>
              <p:cNvSpPr/>
              <p:nvPr/>
            </p:nvSpPr>
            <p:spPr>
              <a:xfrm>
                <a:off x="3358" y="3537"/>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44078" name="Line 44"/>
              <p:cNvSpPr/>
              <p:nvPr/>
            </p:nvSpPr>
            <p:spPr>
              <a:xfrm flipH="1">
                <a:off x="3528" y="3305"/>
                <a:ext cx="226" cy="232"/>
              </a:xfrm>
              <a:prstGeom prst="line">
                <a:avLst/>
              </a:prstGeom>
              <a:ln w="38100" cap="flat" cmpd="sng">
                <a:solidFill>
                  <a:srgbClr val="336699"/>
                </a:solidFill>
                <a:prstDash val="solid"/>
                <a:round/>
                <a:headEnd type="none" w="med" len="med"/>
                <a:tailEnd type="none" w="med" len="med"/>
              </a:ln>
            </p:spPr>
          </p:sp>
          <p:sp>
            <p:nvSpPr>
              <p:cNvPr id="44079" name="Oval 45"/>
              <p:cNvSpPr/>
              <p:nvPr/>
            </p:nvSpPr>
            <p:spPr>
              <a:xfrm>
                <a:off x="4831" y="3112"/>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44080" name="Oval 46"/>
              <p:cNvSpPr/>
              <p:nvPr/>
            </p:nvSpPr>
            <p:spPr>
              <a:xfrm>
                <a:off x="3666" y="3089"/>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44081" name="Oval 47"/>
              <p:cNvSpPr/>
              <p:nvPr/>
            </p:nvSpPr>
            <p:spPr>
              <a:xfrm>
                <a:off x="3641" y="2336"/>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44082" name="Line 48"/>
              <p:cNvSpPr/>
              <p:nvPr/>
            </p:nvSpPr>
            <p:spPr>
              <a:xfrm flipH="1">
                <a:off x="4656" y="3360"/>
                <a:ext cx="216" cy="205"/>
              </a:xfrm>
              <a:prstGeom prst="line">
                <a:avLst/>
              </a:prstGeom>
              <a:ln w="38100" cap="flat" cmpd="sng">
                <a:solidFill>
                  <a:srgbClr val="336699"/>
                </a:solidFill>
                <a:prstDash val="solid"/>
                <a:round/>
                <a:headEnd type="none" w="med" len="med"/>
                <a:tailEnd type="none" w="med" len="med"/>
              </a:ln>
            </p:spPr>
          </p:sp>
          <p:sp>
            <p:nvSpPr>
              <p:cNvPr id="44083" name="Oval 49"/>
              <p:cNvSpPr/>
              <p:nvPr/>
            </p:nvSpPr>
            <p:spPr>
              <a:xfrm>
                <a:off x="4485" y="3527"/>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75</a:t>
                </a:r>
              </a:p>
            </p:txBody>
          </p:sp>
          <p:sp>
            <p:nvSpPr>
              <p:cNvPr id="44084" name="Oval 50"/>
              <p:cNvSpPr/>
              <p:nvPr/>
            </p:nvSpPr>
            <p:spPr>
              <a:xfrm>
                <a:off x="4464" y="3072"/>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FF0000"/>
                    </a:solidFill>
                    <a:latin typeface="Times New Roman" panose="02020603050405020304" pitchFamily="18" charset="0"/>
                    <a:ea typeface="宋体" panose="02010600030101010101" pitchFamily="2" charset="-122"/>
                  </a:rPr>
                  <a:t>60</a:t>
                </a:r>
              </a:p>
            </p:txBody>
          </p:sp>
          <p:sp>
            <p:nvSpPr>
              <p:cNvPr id="44085" name="Line 51"/>
              <p:cNvSpPr/>
              <p:nvPr/>
            </p:nvSpPr>
            <p:spPr>
              <a:xfrm>
                <a:off x="4267" y="2917"/>
                <a:ext cx="226" cy="194"/>
              </a:xfrm>
              <a:prstGeom prst="line">
                <a:avLst/>
              </a:prstGeom>
              <a:ln w="38100" cap="flat" cmpd="sng">
                <a:solidFill>
                  <a:srgbClr val="336699"/>
                </a:solidFill>
                <a:prstDash val="solid"/>
                <a:round/>
                <a:headEnd type="none" w="med" len="med"/>
                <a:tailEnd type="none" w="med" len="med"/>
              </a:ln>
            </p:spPr>
          </p:sp>
        </p:gr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二叉排序树的查找</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sym typeface="+mn-ea"/>
              </a:rPr>
              <a:t>给定值与根结点比较：</a:t>
            </a:r>
            <a:endParaRPr lang="zh-CN" altLang="en-US" sz="2400" b="0" dirty="0">
              <a:latin typeface="黑体" panose="02010609060101010101" pitchFamily="2" charset="-122"/>
              <a:ea typeface="黑体" panose="02010609060101010101" pitchFamily="2" charset="-122"/>
            </a:endParaRPr>
          </a:p>
          <a:p>
            <a:pPr marL="965200" lvl="1" indent="-508000" eaLnBrk="1" hangingPunct="1">
              <a:buClr>
                <a:schemeClr val="accent2"/>
              </a:buClr>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1.</a:t>
            </a:r>
            <a:r>
              <a:rPr lang="zh-CN" altLang="en-US" sz="2400" dirty="0">
                <a:latin typeface="黑体" panose="02010609060101010101" pitchFamily="2" charset="-122"/>
                <a:ea typeface="黑体" panose="02010609060101010101" pitchFamily="2" charset="-122"/>
                <a:sym typeface="+mn-ea"/>
              </a:rPr>
              <a:t>若相等，查找成功</a:t>
            </a:r>
            <a:endParaRPr lang="zh-CN" altLang="en-US" sz="2400" b="0" dirty="0">
              <a:latin typeface="黑体" panose="02010609060101010101" pitchFamily="2" charset="-122"/>
              <a:ea typeface="黑体" panose="02010609060101010101" pitchFamily="2" charset="-122"/>
            </a:endParaRPr>
          </a:p>
          <a:p>
            <a:pPr marL="965200" lvl="1" indent="-508000" eaLnBrk="1" hangingPunct="1">
              <a:buClr>
                <a:schemeClr val="accent2"/>
              </a:buClr>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2.</a:t>
            </a:r>
            <a:r>
              <a:rPr lang="zh-CN" altLang="en-US" sz="2400" dirty="0">
                <a:latin typeface="黑体" panose="02010609060101010101" pitchFamily="2" charset="-122"/>
                <a:ea typeface="黑体" panose="02010609060101010101" pitchFamily="2" charset="-122"/>
                <a:sym typeface="+mn-ea"/>
              </a:rPr>
              <a:t>若小于，查找左子树</a:t>
            </a:r>
            <a:endParaRPr lang="zh-CN" altLang="en-US" sz="2400" b="0" dirty="0">
              <a:latin typeface="黑体" panose="02010609060101010101" pitchFamily="2" charset="-122"/>
              <a:ea typeface="黑体" panose="02010609060101010101" pitchFamily="2" charset="-122"/>
            </a:endParaRPr>
          </a:p>
          <a:p>
            <a:pPr marL="965200" lvl="1" indent="-508000" eaLnBrk="1" hangingPunct="1">
              <a:buClr>
                <a:schemeClr val="accent2"/>
              </a:buClr>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3.</a:t>
            </a:r>
            <a:r>
              <a:rPr lang="zh-CN" altLang="en-US" sz="2400" dirty="0">
                <a:latin typeface="黑体" panose="02010609060101010101" pitchFamily="2" charset="-122"/>
                <a:ea typeface="黑体" panose="02010609060101010101" pitchFamily="2" charset="-122"/>
                <a:sym typeface="+mn-ea"/>
              </a:rPr>
              <a:t>若大于，查找右子树</a:t>
            </a:r>
            <a:endParaRPr lang="zh-CN" altLang="en-US" sz="2400"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41</a:t>
            </a:fld>
            <a:endParaRPr lang="zh-CN" altLang="en-US"/>
          </a:p>
        </p:txBody>
      </p:sp>
      <p:grpSp>
        <p:nvGrpSpPr>
          <p:cNvPr id="45060" name="Group 108"/>
          <p:cNvGrpSpPr/>
          <p:nvPr/>
        </p:nvGrpSpPr>
        <p:grpSpPr>
          <a:xfrm>
            <a:off x="7363778" y="1958658"/>
            <a:ext cx="3733800" cy="2770187"/>
            <a:chOff x="3061" y="1162"/>
            <a:chExt cx="2352" cy="1745"/>
          </a:xfrm>
        </p:grpSpPr>
        <p:grpSp>
          <p:nvGrpSpPr>
            <p:cNvPr id="45061" name="Group 77"/>
            <p:cNvGrpSpPr/>
            <p:nvPr/>
          </p:nvGrpSpPr>
          <p:grpSpPr>
            <a:xfrm>
              <a:off x="3061" y="1162"/>
              <a:ext cx="2318" cy="1745"/>
              <a:chOff x="240" y="2112"/>
              <a:chExt cx="2318" cy="1745"/>
            </a:xfrm>
          </p:grpSpPr>
          <p:sp>
            <p:nvSpPr>
              <p:cNvPr id="45062" name="Oval 78"/>
              <p:cNvSpPr/>
              <p:nvPr/>
            </p:nvSpPr>
            <p:spPr>
              <a:xfrm>
                <a:off x="1203" y="2112"/>
                <a:ext cx="256"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45063" name="Oval 79"/>
              <p:cNvSpPr/>
              <p:nvPr/>
            </p:nvSpPr>
            <p:spPr>
              <a:xfrm>
                <a:off x="1742" y="2384"/>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45064" name="Oval 80"/>
              <p:cNvSpPr/>
              <p:nvPr/>
            </p:nvSpPr>
            <p:spPr>
              <a:xfrm>
                <a:off x="240" y="2733"/>
                <a:ext cx="254"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45065" name="Oval 81"/>
              <p:cNvSpPr/>
              <p:nvPr/>
            </p:nvSpPr>
            <p:spPr>
              <a:xfrm>
                <a:off x="2167" y="2733"/>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45066" name="Oval 82"/>
              <p:cNvSpPr/>
              <p:nvPr/>
            </p:nvSpPr>
            <p:spPr>
              <a:xfrm>
                <a:off x="1090" y="2733"/>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45067" name="Oval 83"/>
              <p:cNvSpPr/>
              <p:nvPr/>
            </p:nvSpPr>
            <p:spPr>
              <a:xfrm>
                <a:off x="2304" y="3552"/>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45068" name="Line 84"/>
              <p:cNvSpPr/>
              <p:nvPr/>
            </p:nvSpPr>
            <p:spPr>
              <a:xfrm flipH="1">
                <a:off x="893" y="2267"/>
                <a:ext cx="310" cy="194"/>
              </a:xfrm>
              <a:prstGeom prst="line">
                <a:avLst/>
              </a:prstGeom>
              <a:ln w="38100" cap="flat" cmpd="sng">
                <a:solidFill>
                  <a:srgbClr val="336699"/>
                </a:solidFill>
                <a:prstDash val="solid"/>
                <a:round/>
                <a:headEnd type="none" w="med" len="med"/>
                <a:tailEnd type="none" w="med" len="med"/>
              </a:ln>
            </p:spPr>
          </p:sp>
          <p:sp>
            <p:nvSpPr>
              <p:cNvPr id="45069" name="Line 85"/>
              <p:cNvSpPr/>
              <p:nvPr/>
            </p:nvSpPr>
            <p:spPr>
              <a:xfrm flipH="1">
                <a:off x="466" y="2609"/>
                <a:ext cx="224" cy="163"/>
              </a:xfrm>
              <a:prstGeom prst="line">
                <a:avLst/>
              </a:prstGeom>
              <a:ln w="38100" cap="flat" cmpd="sng">
                <a:solidFill>
                  <a:srgbClr val="666699"/>
                </a:solidFill>
                <a:prstDash val="solid"/>
                <a:round/>
                <a:headEnd type="none" w="med" len="med"/>
                <a:tailEnd type="none" w="med" len="med"/>
              </a:ln>
            </p:spPr>
          </p:sp>
          <p:sp>
            <p:nvSpPr>
              <p:cNvPr id="45070" name="Line 86"/>
              <p:cNvSpPr/>
              <p:nvPr/>
            </p:nvSpPr>
            <p:spPr>
              <a:xfrm>
                <a:off x="1459" y="2267"/>
                <a:ext cx="283" cy="194"/>
              </a:xfrm>
              <a:prstGeom prst="line">
                <a:avLst/>
              </a:prstGeom>
              <a:ln w="38100" cap="flat" cmpd="sng">
                <a:solidFill>
                  <a:srgbClr val="336699"/>
                </a:solidFill>
                <a:prstDash val="solid"/>
                <a:round/>
                <a:headEnd type="none" w="med" len="med"/>
                <a:tailEnd type="none" w="med" len="med"/>
              </a:ln>
            </p:spPr>
          </p:sp>
          <p:sp>
            <p:nvSpPr>
              <p:cNvPr id="45071" name="Line 87"/>
              <p:cNvSpPr/>
              <p:nvPr/>
            </p:nvSpPr>
            <p:spPr>
              <a:xfrm>
                <a:off x="893" y="2578"/>
                <a:ext cx="226" cy="194"/>
              </a:xfrm>
              <a:prstGeom prst="line">
                <a:avLst/>
              </a:prstGeom>
              <a:ln w="38100" cap="flat" cmpd="sng">
                <a:solidFill>
                  <a:srgbClr val="336699"/>
                </a:solidFill>
                <a:prstDash val="solid"/>
                <a:round/>
                <a:headEnd type="none" w="med" len="med"/>
                <a:tailEnd type="none" w="med" len="med"/>
              </a:ln>
            </p:spPr>
          </p:sp>
          <p:sp>
            <p:nvSpPr>
              <p:cNvPr id="45072" name="Line 88"/>
              <p:cNvSpPr/>
              <p:nvPr/>
            </p:nvSpPr>
            <p:spPr>
              <a:xfrm flipH="1">
                <a:off x="841" y="2966"/>
                <a:ext cx="278" cy="267"/>
              </a:xfrm>
              <a:prstGeom prst="line">
                <a:avLst/>
              </a:prstGeom>
              <a:ln w="38100" cap="flat" cmpd="sng">
                <a:solidFill>
                  <a:srgbClr val="336699"/>
                </a:solidFill>
                <a:prstDash val="solid"/>
                <a:round/>
                <a:headEnd type="none" w="med" len="med"/>
                <a:tailEnd type="none" w="med" len="med"/>
              </a:ln>
            </p:spPr>
          </p:sp>
          <p:sp>
            <p:nvSpPr>
              <p:cNvPr id="45073" name="Line 89"/>
              <p:cNvSpPr/>
              <p:nvPr/>
            </p:nvSpPr>
            <p:spPr>
              <a:xfrm>
                <a:off x="1969" y="2616"/>
                <a:ext cx="227" cy="156"/>
              </a:xfrm>
              <a:prstGeom prst="line">
                <a:avLst/>
              </a:prstGeom>
              <a:ln w="38100" cap="flat" cmpd="sng">
                <a:solidFill>
                  <a:srgbClr val="336699"/>
                </a:solidFill>
                <a:prstDash val="solid"/>
                <a:round/>
                <a:headEnd type="none" w="med" len="med"/>
                <a:tailEnd type="none" w="med" len="med"/>
              </a:ln>
            </p:spPr>
          </p:sp>
          <p:sp>
            <p:nvSpPr>
              <p:cNvPr id="45074" name="Line 90"/>
              <p:cNvSpPr/>
              <p:nvPr/>
            </p:nvSpPr>
            <p:spPr>
              <a:xfrm flipH="1">
                <a:off x="2026" y="2993"/>
                <a:ext cx="216" cy="205"/>
              </a:xfrm>
              <a:prstGeom prst="line">
                <a:avLst/>
              </a:prstGeom>
              <a:ln w="38100" cap="flat" cmpd="sng">
                <a:solidFill>
                  <a:srgbClr val="336699"/>
                </a:solidFill>
                <a:prstDash val="solid"/>
                <a:round/>
                <a:headEnd type="none" w="med" len="med"/>
                <a:tailEnd type="none" w="med" len="med"/>
              </a:ln>
            </p:spPr>
          </p:sp>
          <p:sp>
            <p:nvSpPr>
              <p:cNvPr id="45075" name="Line 91"/>
              <p:cNvSpPr/>
              <p:nvPr/>
            </p:nvSpPr>
            <p:spPr>
              <a:xfrm>
                <a:off x="2081" y="3391"/>
                <a:ext cx="271" cy="209"/>
              </a:xfrm>
              <a:prstGeom prst="line">
                <a:avLst/>
              </a:prstGeom>
              <a:ln w="38100" cap="flat" cmpd="sng">
                <a:solidFill>
                  <a:srgbClr val="336699"/>
                </a:solidFill>
                <a:prstDash val="solid"/>
                <a:round/>
                <a:headEnd type="none" w="med" len="med"/>
                <a:tailEnd type="none" w="med" len="med"/>
              </a:ln>
            </p:spPr>
          </p:sp>
          <p:sp>
            <p:nvSpPr>
              <p:cNvPr id="45076" name="Oval 92"/>
              <p:cNvSpPr/>
              <p:nvPr/>
            </p:nvSpPr>
            <p:spPr>
              <a:xfrm>
                <a:off x="382" y="3585"/>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45077" name="Line 93"/>
              <p:cNvSpPr/>
              <p:nvPr/>
            </p:nvSpPr>
            <p:spPr>
              <a:xfrm flipH="1">
                <a:off x="552" y="3353"/>
                <a:ext cx="226" cy="232"/>
              </a:xfrm>
              <a:prstGeom prst="line">
                <a:avLst/>
              </a:prstGeom>
              <a:ln w="38100" cap="flat" cmpd="sng">
                <a:solidFill>
                  <a:srgbClr val="336699"/>
                </a:solidFill>
                <a:prstDash val="solid"/>
                <a:round/>
                <a:headEnd type="none" w="med" len="med"/>
                <a:tailEnd type="none" w="med" len="med"/>
              </a:ln>
            </p:spPr>
          </p:sp>
          <p:sp>
            <p:nvSpPr>
              <p:cNvPr id="45078" name="Oval 94"/>
              <p:cNvSpPr/>
              <p:nvPr/>
            </p:nvSpPr>
            <p:spPr>
              <a:xfrm>
                <a:off x="1855" y="3160"/>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45079" name="Oval 95"/>
              <p:cNvSpPr/>
              <p:nvPr/>
            </p:nvSpPr>
            <p:spPr>
              <a:xfrm>
                <a:off x="690" y="3137"/>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45080" name="Oval 96"/>
              <p:cNvSpPr/>
              <p:nvPr/>
            </p:nvSpPr>
            <p:spPr>
              <a:xfrm>
                <a:off x="665" y="2384"/>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45081" name="Line 97"/>
              <p:cNvSpPr/>
              <p:nvPr/>
            </p:nvSpPr>
            <p:spPr>
              <a:xfrm flipH="1">
                <a:off x="1680" y="3408"/>
                <a:ext cx="216" cy="205"/>
              </a:xfrm>
              <a:prstGeom prst="line">
                <a:avLst/>
              </a:prstGeom>
              <a:ln w="38100" cap="flat" cmpd="sng">
                <a:solidFill>
                  <a:srgbClr val="336699"/>
                </a:solidFill>
                <a:prstDash val="solid"/>
                <a:round/>
                <a:headEnd type="none" w="med" len="med"/>
                <a:tailEnd type="none" w="med" len="med"/>
              </a:ln>
            </p:spPr>
          </p:sp>
          <p:sp>
            <p:nvSpPr>
              <p:cNvPr id="45082" name="Oval 98"/>
              <p:cNvSpPr/>
              <p:nvPr/>
            </p:nvSpPr>
            <p:spPr>
              <a:xfrm>
                <a:off x="1509" y="3575"/>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75</a:t>
                </a:r>
              </a:p>
            </p:txBody>
          </p:sp>
        </p:grpSp>
        <p:sp>
          <p:nvSpPr>
            <p:cNvPr id="45083" name="Line 99"/>
            <p:cNvSpPr/>
            <p:nvPr/>
          </p:nvSpPr>
          <p:spPr>
            <a:xfrm flipH="1">
              <a:off x="3733" y="1258"/>
              <a:ext cx="240" cy="144"/>
            </a:xfrm>
            <a:prstGeom prst="line">
              <a:avLst/>
            </a:prstGeom>
            <a:ln w="9525" cap="flat" cmpd="sng">
              <a:solidFill>
                <a:schemeClr val="tx1"/>
              </a:solidFill>
              <a:prstDash val="solid"/>
              <a:miter/>
              <a:headEnd type="none" w="med" len="med"/>
              <a:tailEnd type="triangle" w="med" len="med"/>
            </a:ln>
          </p:spPr>
        </p:sp>
        <p:sp>
          <p:nvSpPr>
            <p:cNvPr id="45084" name="Line 100"/>
            <p:cNvSpPr/>
            <p:nvPr/>
          </p:nvSpPr>
          <p:spPr>
            <a:xfrm>
              <a:off x="3781" y="1594"/>
              <a:ext cx="192" cy="144"/>
            </a:xfrm>
            <a:prstGeom prst="line">
              <a:avLst/>
            </a:prstGeom>
            <a:ln w="9525" cap="flat" cmpd="sng">
              <a:solidFill>
                <a:schemeClr val="tx1"/>
              </a:solidFill>
              <a:prstDash val="solid"/>
              <a:miter/>
              <a:headEnd type="none" w="med" len="med"/>
              <a:tailEnd type="triangle" w="med" len="med"/>
            </a:ln>
          </p:spPr>
        </p:sp>
        <p:sp>
          <p:nvSpPr>
            <p:cNvPr id="45085" name="Line 101"/>
            <p:cNvSpPr/>
            <p:nvPr/>
          </p:nvSpPr>
          <p:spPr>
            <a:xfrm>
              <a:off x="4357" y="1258"/>
              <a:ext cx="240" cy="192"/>
            </a:xfrm>
            <a:prstGeom prst="line">
              <a:avLst/>
            </a:prstGeom>
            <a:ln w="9525" cap="flat" cmpd="sng">
              <a:solidFill>
                <a:schemeClr val="hlink"/>
              </a:solidFill>
              <a:prstDash val="solid"/>
              <a:miter/>
              <a:headEnd type="none" w="med" len="med"/>
              <a:tailEnd type="triangle" w="med" len="med"/>
            </a:ln>
          </p:spPr>
        </p:sp>
        <p:sp>
          <p:nvSpPr>
            <p:cNvPr id="45086" name="Line 102"/>
            <p:cNvSpPr/>
            <p:nvPr/>
          </p:nvSpPr>
          <p:spPr>
            <a:xfrm>
              <a:off x="4837" y="1594"/>
              <a:ext cx="240" cy="192"/>
            </a:xfrm>
            <a:prstGeom prst="line">
              <a:avLst/>
            </a:prstGeom>
            <a:ln w="9525" cap="flat" cmpd="sng">
              <a:solidFill>
                <a:schemeClr val="hlink"/>
              </a:solidFill>
              <a:prstDash val="solid"/>
              <a:miter/>
              <a:headEnd type="none" w="med" len="med"/>
              <a:tailEnd type="triangle" w="med" len="med"/>
            </a:ln>
          </p:spPr>
        </p:sp>
        <p:sp>
          <p:nvSpPr>
            <p:cNvPr id="45087" name="Line 103"/>
            <p:cNvSpPr/>
            <p:nvPr/>
          </p:nvSpPr>
          <p:spPr>
            <a:xfrm>
              <a:off x="4981" y="2410"/>
              <a:ext cx="240" cy="192"/>
            </a:xfrm>
            <a:prstGeom prst="line">
              <a:avLst/>
            </a:prstGeom>
            <a:ln w="9525" cap="flat" cmpd="sng">
              <a:solidFill>
                <a:schemeClr val="hlink"/>
              </a:solidFill>
              <a:prstDash val="solid"/>
              <a:miter/>
              <a:headEnd type="none" w="med" len="med"/>
              <a:tailEnd type="triangle" w="med" len="med"/>
            </a:ln>
          </p:spPr>
        </p:sp>
        <p:sp>
          <p:nvSpPr>
            <p:cNvPr id="45088" name="Line 104"/>
            <p:cNvSpPr/>
            <p:nvPr/>
          </p:nvSpPr>
          <p:spPr>
            <a:xfrm flipH="1">
              <a:off x="4789" y="2026"/>
              <a:ext cx="192" cy="144"/>
            </a:xfrm>
            <a:prstGeom prst="line">
              <a:avLst/>
            </a:prstGeom>
            <a:ln w="9525" cap="flat" cmpd="sng">
              <a:solidFill>
                <a:schemeClr val="hlink"/>
              </a:solidFill>
              <a:prstDash val="solid"/>
              <a:miter/>
              <a:headEnd type="none" w="med" len="med"/>
              <a:tailEnd type="triangle" w="med" len="med"/>
            </a:ln>
          </p:spPr>
        </p:sp>
        <p:sp>
          <p:nvSpPr>
            <p:cNvPr id="45089" name="Line 105"/>
            <p:cNvSpPr/>
            <p:nvPr/>
          </p:nvSpPr>
          <p:spPr>
            <a:xfrm>
              <a:off x="4405" y="1210"/>
              <a:ext cx="240" cy="192"/>
            </a:xfrm>
            <a:prstGeom prst="line">
              <a:avLst/>
            </a:prstGeom>
            <a:ln w="9525" cap="flat" cmpd="sng">
              <a:solidFill>
                <a:srgbClr val="0CDD07"/>
              </a:solidFill>
              <a:prstDash val="solid"/>
              <a:miter/>
              <a:headEnd type="none" w="med" len="med"/>
              <a:tailEnd type="triangle" w="med" len="med"/>
            </a:ln>
          </p:spPr>
        </p:sp>
        <p:sp>
          <p:nvSpPr>
            <p:cNvPr id="45090" name="Line 106"/>
            <p:cNvSpPr/>
            <p:nvPr/>
          </p:nvSpPr>
          <p:spPr>
            <a:xfrm>
              <a:off x="4885" y="1546"/>
              <a:ext cx="240" cy="192"/>
            </a:xfrm>
            <a:prstGeom prst="line">
              <a:avLst/>
            </a:prstGeom>
            <a:ln w="9525" cap="flat" cmpd="sng">
              <a:solidFill>
                <a:srgbClr val="0CDD07"/>
              </a:solidFill>
              <a:prstDash val="solid"/>
              <a:miter/>
              <a:headEnd type="none" w="med" len="med"/>
              <a:tailEnd type="triangle" w="med" len="med"/>
            </a:ln>
          </p:spPr>
        </p:sp>
        <p:sp>
          <p:nvSpPr>
            <p:cNvPr id="45091" name="Line 107"/>
            <p:cNvSpPr/>
            <p:nvPr/>
          </p:nvSpPr>
          <p:spPr>
            <a:xfrm>
              <a:off x="5269" y="1930"/>
              <a:ext cx="144" cy="144"/>
            </a:xfrm>
            <a:prstGeom prst="line">
              <a:avLst/>
            </a:prstGeom>
            <a:ln w="9525" cap="flat" cmpd="sng">
              <a:solidFill>
                <a:srgbClr val="0CDD07"/>
              </a:solidFill>
              <a:prstDash val="solid"/>
              <a:miter/>
              <a:headEnd type="none" w="med" len="med"/>
              <a:tailEnd type="triangle" w="med" len="med"/>
            </a:ln>
          </p:spPr>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二叉排序树的查找算法递归实现</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sym typeface="+mn-ea"/>
              </a:rPr>
              <a:t>使用二叉链表</a:t>
            </a:r>
          </a:p>
          <a:p>
            <a:pPr marL="609600" indent="-609600" eaLnBrk="1" latinLnBrk="0" hangingPunct="1">
              <a:spcBef>
                <a:spcPts val="0"/>
              </a:spcBef>
              <a:buClr>
                <a:schemeClr val="accent1"/>
              </a:buClr>
              <a:buSzTx/>
              <a:buFont typeface="Wingdings" panose="05000000000000000000" pitchFamily="2" charset="2"/>
              <a:buNone/>
            </a:pPr>
            <a:endParaRPr lang="en-US" altLang="zh-CN" sz="2000" dirty="0">
              <a:latin typeface="黑体" panose="02010609060101010101" pitchFamily="2" charset="-122"/>
              <a:ea typeface="黑体" panose="02010609060101010101" pitchFamily="2" charset="-122"/>
              <a:sym typeface="+mn-ea"/>
            </a:endParaRPr>
          </a:p>
          <a:p>
            <a:pPr marL="609600" indent="-609600" eaLnBrk="1" latinLnBrk="0" hangingPunct="1">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BSTNode *BST_Serach(BSTNode *T , KeyType key)</a:t>
            </a:r>
            <a:endParaRPr lang="en-US" altLang="zh-CN" sz="20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if (T==NULL)  return(NULL) ;</a:t>
            </a:r>
            <a:endParaRPr lang="en-US" altLang="zh-CN" sz="20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else </a:t>
            </a:r>
            <a:endParaRPr lang="en-US" altLang="zh-CN" sz="20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  if  (EQ(T-&gt;key, key) ) </a:t>
            </a:r>
            <a:endParaRPr lang="en-US" altLang="zh-CN" sz="20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return(T) ;</a:t>
            </a:r>
            <a:endParaRPr lang="en-US" altLang="zh-CN" sz="20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else if ( LT(key, T-&gt;key) )</a:t>
            </a:r>
            <a:endParaRPr lang="en-US" altLang="zh-CN" sz="20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return(BST_Serach(T-&gt;Lchild, key)) ;</a:t>
            </a:r>
            <a:endParaRPr lang="en-US" altLang="zh-CN" sz="20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else  </a:t>
            </a:r>
            <a:endParaRPr lang="en-US" altLang="zh-CN" sz="20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return(BST_Serach(T-&gt;Rchild, key)) ;</a:t>
            </a:r>
            <a:endParaRPr lang="en-US" altLang="zh-CN" sz="20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    }</a:t>
            </a:r>
            <a:endParaRPr lang="en-US" altLang="zh-CN" sz="20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sym typeface="+mn-ea"/>
              </a:rPr>
              <a:t>}</a:t>
            </a:r>
            <a:endParaRPr lang="en-US" altLang="zh-CN" sz="2000" dirty="0">
              <a:latin typeface="黑体" panose="02010609060101010101" pitchFamily="2" charset="-122"/>
              <a:ea typeface="黑体" panose="02010609060101010101" pitchFamily="2" charset="-122"/>
            </a:endParaRPr>
          </a:p>
          <a:p>
            <a:pPr lvl="1" algn="l" eaLnBrk="1" hangingPunct="1">
              <a:buClrTx/>
              <a:buSzTx/>
              <a:buChar char="•"/>
            </a:pPr>
            <a:endParaRPr lang="en-US" altLang="zh-CN" sz="2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42</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6511925" cy="487934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二叉排序树的插入</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二叉排序树是一种动态树表</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当树中不存在查找的结点时，作插入操作</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新插入的结点一定是叶子结点，只需改动一个结点的指针</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该叶子结点是查找不成功时路径上访问的最后一个结点左孩子或右孩子(新结点值小于或大于该结点值)</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sym typeface="+mn-ea"/>
            </a:endParaRPr>
          </a:p>
          <a:p>
            <a:pPr lvl="1" algn="l" eaLnBrk="1" hangingPunct="1">
              <a:buClrTx/>
              <a:buSzTx/>
              <a:buChar char="•"/>
            </a:pPr>
            <a:endParaRPr lang="en-US" altLang="zh-CN" sz="2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43</a:t>
            </a:fld>
            <a:endParaRPr lang="zh-CN" altLang="en-US"/>
          </a:p>
        </p:txBody>
      </p:sp>
      <p:grpSp>
        <p:nvGrpSpPr>
          <p:cNvPr id="48132" name="Group 36"/>
          <p:cNvGrpSpPr/>
          <p:nvPr/>
        </p:nvGrpSpPr>
        <p:grpSpPr>
          <a:xfrm>
            <a:off x="7536180" y="1913255"/>
            <a:ext cx="4128135" cy="2948305"/>
            <a:chOff x="1536" y="2208"/>
            <a:chExt cx="2607" cy="1745"/>
          </a:xfrm>
        </p:grpSpPr>
        <p:sp>
          <p:nvSpPr>
            <p:cNvPr id="48133" name="Oval 37"/>
            <p:cNvSpPr/>
            <p:nvPr/>
          </p:nvSpPr>
          <p:spPr>
            <a:xfrm>
              <a:off x="2499" y="2208"/>
              <a:ext cx="256"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48134" name="Oval 38"/>
            <p:cNvSpPr/>
            <p:nvPr/>
          </p:nvSpPr>
          <p:spPr>
            <a:xfrm>
              <a:off x="3038" y="2480"/>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48135" name="Oval 39"/>
            <p:cNvSpPr/>
            <p:nvPr/>
          </p:nvSpPr>
          <p:spPr>
            <a:xfrm>
              <a:off x="1536" y="2829"/>
              <a:ext cx="254"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48136" name="Oval 40"/>
            <p:cNvSpPr/>
            <p:nvPr/>
          </p:nvSpPr>
          <p:spPr>
            <a:xfrm>
              <a:off x="3463" y="2829"/>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48137" name="Oval 41"/>
            <p:cNvSpPr/>
            <p:nvPr/>
          </p:nvSpPr>
          <p:spPr>
            <a:xfrm>
              <a:off x="2386" y="2829"/>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48138" name="Oval 42"/>
            <p:cNvSpPr/>
            <p:nvPr/>
          </p:nvSpPr>
          <p:spPr>
            <a:xfrm>
              <a:off x="3600" y="3648"/>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48139" name="Line 43"/>
            <p:cNvSpPr/>
            <p:nvPr/>
          </p:nvSpPr>
          <p:spPr>
            <a:xfrm flipH="1">
              <a:off x="2189" y="2363"/>
              <a:ext cx="310" cy="194"/>
            </a:xfrm>
            <a:prstGeom prst="line">
              <a:avLst/>
            </a:prstGeom>
            <a:ln w="38100" cap="flat" cmpd="sng">
              <a:solidFill>
                <a:srgbClr val="336699"/>
              </a:solidFill>
              <a:prstDash val="solid"/>
              <a:round/>
              <a:headEnd type="none" w="med" len="med"/>
              <a:tailEnd type="none" w="med" len="med"/>
            </a:ln>
          </p:spPr>
        </p:sp>
        <p:sp>
          <p:nvSpPr>
            <p:cNvPr id="48140" name="Line 44"/>
            <p:cNvSpPr/>
            <p:nvPr/>
          </p:nvSpPr>
          <p:spPr>
            <a:xfrm flipH="1">
              <a:off x="1762" y="2705"/>
              <a:ext cx="224" cy="163"/>
            </a:xfrm>
            <a:prstGeom prst="line">
              <a:avLst/>
            </a:prstGeom>
            <a:ln w="38100" cap="flat" cmpd="sng">
              <a:solidFill>
                <a:srgbClr val="666699"/>
              </a:solidFill>
              <a:prstDash val="solid"/>
              <a:round/>
              <a:headEnd type="none" w="med" len="med"/>
              <a:tailEnd type="none" w="med" len="med"/>
            </a:ln>
          </p:spPr>
        </p:sp>
        <p:sp>
          <p:nvSpPr>
            <p:cNvPr id="48141" name="Line 45"/>
            <p:cNvSpPr/>
            <p:nvPr/>
          </p:nvSpPr>
          <p:spPr>
            <a:xfrm>
              <a:off x="2755" y="2363"/>
              <a:ext cx="283" cy="194"/>
            </a:xfrm>
            <a:prstGeom prst="line">
              <a:avLst/>
            </a:prstGeom>
            <a:ln w="38100" cap="flat" cmpd="sng">
              <a:solidFill>
                <a:srgbClr val="336699"/>
              </a:solidFill>
              <a:prstDash val="solid"/>
              <a:round/>
              <a:headEnd type="none" w="med" len="med"/>
              <a:tailEnd type="none" w="med" len="med"/>
            </a:ln>
          </p:spPr>
        </p:sp>
        <p:sp>
          <p:nvSpPr>
            <p:cNvPr id="48142" name="Line 46"/>
            <p:cNvSpPr/>
            <p:nvPr/>
          </p:nvSpPr>
          <p:spPr>
            <a:xfrm>
              <a:off x="2189" y="2674"/>
              <a:ext cx="226" cy="194"/>
            </a:xfrm>
            <a:prstGeom prst="line">
              <a:avLst/>
            </a:prstGeom>
            <a:ln w="38100" cap="flat" cmpd="sng">
              <a:solidFill>
                <a:srgbClr val="336699"/>
              </a:solidFill>
              <a:prstDash val="solid"/>
              <a:round/>
              <a:headEnd type="none" w="med" len="med"/>
              <a:tailEnd type="none" w="med" len="med"/>
            </a:ln>
          </p:spPr>
        </p:sp>
        <p:sp>
          <p:nvSpPr>
            <p:cNvPr id="48143" name="Line 47"/>
            <p:cNvSpPr/>
            <p:nvPr/>
          </p:nvSpPr>
          <p:spPr>
            <a:xfrm flipH="1">
              <a:off x="2137" y="3062"/>
              <a:ext cx="278" cy="267"/>
            </a:xfrm>
            <a:prstGeom prst="line">
              <a:avLst/>
            </a:prstGeom>
            <a:ln w="38100" cap="flat" cmpd="sng">
              <a:solidFill>
                <a:srgbClr val="336699"/>
              </a:solidFill>
              <a:prstDash val="solid"/>
              <a:round/>
              <a:headEnd type="none" w="med" len="med"/>
              <a:tailEnd type="none" w="med" len="med"/>
            </a:ln>
          </p:spPr>
        </p:sp>
        <p:sp>
          <p:nvSpPr>
            <p:cNvPr id="48144" name="Line 48"/>
            <p:cNvSpPr/>
            <p:nvPr/>
          </p:nvSpPr>
          <p:spPr>
            <a:xfrm>
              <a:off x="3265" y="2712"/>
              <a:ext cx="227" cy="156"/>
            </a:xfrm>
            <a:prstGeom prst="line">
              <a:avLst/>
            </a:prstGeom>
            <a:ln w="38100" cap="flat" cmpd="sng">
              <a:solidFill>
                <a:srgbClr val="336699"/>
              </a:solidFill>
              <a:prstDash val="solid"/>
              <a:round/>
              <a:headEnd type="none" w="med" len="med"/>
              <a:tailEnd type="none" w="med" len="med"/>
            </a:ln>
          </p:spPr>
        </p:sp>
        <p:sp>
          <p:nvSpPr>
            <p:cNvPr id="48145" name="Line 49"/>
            <p:cNvSpPr/>
            <p:nvPr/>
          </p:nvSpPr>
          <p:spPr>
            <a:xfrm flipH="1">
              <a:off x="3322" y="3089"/>
              <a:ext cx="216" cy="205"/>
            </a:xfrm>
            <a:prstGeom prst="line">
              <a:avLst/>
            </a:prstGeom>
            <a:ln w="38100" cap="flat" cmpd="sng">
              <a:solidFill>
                <a:srgbClr val="336699"/>
              </a:solidFill>
              <a:prstDash val="solid"/>
              <a:round/>
              <a:headEnd type="none" w="med" len="med"/>
              <a:tailEnd type="none" w="med" len="med"/>
            </a:ln>
          </p:spPr>
        </p:sp>
        <p:sp>
          <p:nvSpPr>
            <p:cNvPr id="48146" name="Line 50"/>
            <p:cNvSpPr/>
            <p:nvPr/>
          </p:nvSpPr>
          <p:spPr>
            <a:xfrm>
              <a:off x="3377" y="3487"/>
              <a:ext cx="271" cy="209"/>
            </a:xfrm>
            <a:prstGeom prst="line">
              <a:avLst/>
            </a:prstGeom>
            <a:ln w="38100" cap="flat" cmpd="sng">
              <a:solidFill>
                <a:srgbClr val="336699"/>
              </a:solidFill>
              <a:prstDash val="solid"/>
              <a:round/>
              <a:headEnd type="none" w="med" len="med"/>
              <a:tailEnd type="none" w="med" len="med"/>
            </a:ln>
          </p:spPr>
        </p:sp>
        <p:sp>
          <p:nvSpPr>
            <p:cNvPr id="48147" name="Oval 51"/>
            <p:cNvSpPr/>
            <p:nvPr/>
          </p:nvSpPr>
          <p:spPr>
            <a:xfrm>
              <a:off x="1678" y="3681"/>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48148" name="Line 52"/>
            <p:cNvSpPr/>
            <p:nvPr/>
          </p:nvSpPr>
          <p:spPr>
            <a:xfrm flipH="1">
              <a:off x="1848" y="3449"/>
              <a:ext cx="226" cy="232"/>
            </a:xfrm>
            <a:prstGeom prst="line">
              <a:avLst/>
            </a:prstGeom>
            <a:ln w="38100" cap="flat" cmpd="sng">
              <a:solidFill>
                <a:srgbClr val="336699"/>
              </a:solidFill>
              <a:prstDash val="solid"/>
              <a:round/>
              <a:headEnd type="none" w="med" len="med"/>
              <a:tailEnd type="none" w="med" len="med"/>
            </a:ln>
          </p:spPr>
        </p:sp>
        <p:sp>
          <p:nvSpPr>
            <p:cNvPr id="48149" name="Oval 53"/>
            <p:cNvSpPr/>
            <p:nvPr/>
          </p:nvSpPr>
          <p:spPr>
            <a:xfrm>
              <a:off x="3151" y="3256"/>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48150" name="Oval 54"/>
            <p:cNvSpPr/>
            <p:nvPr/>
          </p:nvSpPr>
          <p:spPr>
            <a:xfrm>
              <a:off x="1986" y="3233"/>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48151" name="Oval 55"/>
            <p:cNvSpPr/>
            <p:nvPr/>
          </p:nvSpPr>
          <p:spPr>
            <a:xfrm>
              <a:off x="1961" y="2480"/>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48152" name="Line 56"/>
            <p:cNvSpPr/>
            <p:nvPr/>
          </p:nvSpPr>
          <p:spPr>
            <a:xfrm flipH="1">
              <a:off x="2976" y="3504"/>
              <a:ext cx="216" cy="205"/>
            </a:xfrm>
            <a:prstGeom prst="line">
              <a:avLst/>
            </a:prstGeom>
            <a:ln w="38100" cap="flat" cmpd="sng">
              <a:solidFill>
                <a:srgbClr val="336699"/>
              </a:solidFill>
              <a:prstDash val="solid"/>
              <a:round/>
              <a:headEnd type="none" w="med" len="med"/>
              <a:tailEnd type="none" w="med" len="med"/>
            </a:ln>
          </p:spPr>
        </p:sp>
        <p:sp>
          <p:nvSpPr>
            <p:cNvPr id="48153" name="Oval 57"/>
            <p:cNvSpPr/>
            <p:nvPr/>
          </p:nvSpPr>
          <p:spPr>
            <a:xfrm>
              <a:off x="2805" y="3671"/>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75</a:t>
              </a:r>
            </a:p>
          </p:txBody>
        </p:sp>
        <p:sp>
          <p:nvSpPr>
            <p:cNvPr id="48154" name="Oval 58"/>
            <p:cNvSpPr/>
            <p:nvPr/>
          </p:nvSpPr>
          <p:spPr>
            <a:xfrm>
              <a:off x="3888" y="3168"/>
              <a:ext cx="255" cy="271"/>
            </a:xfrm>
            <a:prstGeom prst="ellipse">
              <a:avLst/>
            </a:prstGeom>
            <a:solidFill>
              <a:schemeClr val="hlink"/>
            </a:solidFill>
            <a:ln w="25400" cap="sq" cmpd="sng">
              <a:solidFill>
                <a:schemeClr val="hlink"/>
              </a:solidFill>
              <a:prstDash val="solid"/>
              <a:round/>
              <a:headEnd type="none" w="sm" len="sm"/>
              <a:tailEnd type="none" w="sm" len="sm"/>
            </a:ln>
          </p:spPr>
          <p:txBody>
            <a:bodyPr wrap="none" anchor="ctr" anchorCtr="0"/>
            <a:lstStyle/>
            <a:p>
              <a:r>
                <a:rPr lang="en-US" altLang="zh-CN" sz="1600" b="1" dirty="0">
                  <a:solidFill>
                    <a:schemeClr val="bg1"/>
                  </a:solidFill>
                  <a:latin typeface="Times New Roman" panose="02020603050405020304" pitchFamily="18" charset="0"/>
                  <a:ea typeface="宋体" panose="02010600030101010101" pitchFamily="2" charset="-122"/>
                </a:rPr>
                <a:t>94</a:t>
              </a:r>
            </a:p>
          </p:txBody>
        </p:sp>
        <p:sp>
          <p:nvSpPr>
            <p:cNvPr id="48155" name="Line 59"/>
            <p:cNvSpPr/>
            <p:nvPr/>
          </p:nvSpPr>
          <p:spPr>
            <a:xfrm>
              <a:off x="3690" y="3051"/>
              <a:ext cx="227" cy="156"/>
            </a:xfrm>
            <a:prstGeom prst="line">
              <a:avLst/>
            </a:prstGeom>
            <a:ln w="38100" cap="flat" cmpd="sng">
              <a:solidFill>
                <a:schemeClr val="hlink"/>
              </a:solidFill>
              <a:prstDash val="solid"/>
              <a:round/>
              <a:headEnd type="none" w="med" len="med"/>
              <a:tailEnd type="none" w="med" len="med"/>
            </a:ln>
          </p:spPr>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296015" cy="363410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二叉排序树的插入算法实现</a:t>
            </a:r>
          </a:p>
          <a:p>
            <a:pPr marL="609600" indent="-609600" eaLnBrk="1" latinLnBrk="0" hangingPunct="1">
              <a:lnSpc>
                <a:spcPct val="8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void  Insert_BST (BSTNode *T , KeyType  key)</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BSTNode *x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x=(BSTNode *)malloc(sizeof(BSTNode))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x-&gt;key=key;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x-&gt;Lchild=x-&gt;Rchild=NULL ;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if (T==NULL)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T=x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else</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  if (EQ(T-&gt;key, x-&gt;key) )     return  ;/*  </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已有结点  *</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else if (LT(x-&gt;key, T-&gt;key)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Insert_BST(T-&gt;Lchild, key)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else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Insert_BST(T-&gt;Rchild, key) ;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0" lvl="1" indent="0" algn="l" eaLnBrk="1" latinLnBrk="0" hangingPunct="1">
              <a:spcBef>
                <a:spcPts val="0"/>
              </a:spcBef>
              <a:buClrTx/>
              <a:buSzTx/>
              <a:buFont typeface="Wingdings" panose="05000000000000000000" charset="0"/>
              <a:buNone/>
            </a:pP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44</a:t>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二叉排序树的生成</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sym typeface="+mn-ea"/>
              </a:rPr>
              <a:t>基于二叉树排序树查找和插入操作，生成二叉排序树</a:t>
            </a:r>
          </a:p>
          <a:p>
            <a:pPr marL="0" lvl="1" indent="0" algn="l" eaLnBrk="1" hangingPunct="1">
              <a:buClrTx/>
              <a:buSzTx/>
              <a:buNone/>
            </a:pPr>
            <a:r>
              <a:rPr lang="zh-CN" altLang="en-US" dirty="0">
                <a:latin typeface="黑体" panose="02010609060101010101" pitchFamily="2" charset="-122"/>
                <a:ea typeface="黑体" panose="02010609060101010101" pitchFamily="2" charset="-122"/>
                <a:sym typeface="+mn-ea"/>
              </a:rPr>
              <a:t>例如在初始为空的二叉排序树中依次插入</a:t>
            </a:r>
            <a:r>
              <a:rPr lang="en-US" altLang="zh-CN" dirty="0">
                <a:latin typeface="黑体" panose="02010609060101010101" pitchFamily="2" charset="-122"/>
                <a:ea typeface="黑体" panose="02010609060101010101" pitchFamily="2" charset="-122"/>
                <a:sym typeface="+mn-ea"/>
              </a:rPr>
              <a:t>56,64,92,80,88,75</a:t>
            </a:r>
            <a:r>
              <a:rPr lang="zh-CN" altLang="en-US" dirty="0">
                <a:latin typeface="黑体" panose="02010609060101010101" pitchFamily="2" charset="-122"/>
                <a:ea typeface="黑体" panose="02010609060101010101" pitchFamily="2" charset="-122"/>
                <a:sym typeface="+mn-ea"/>
              </a:rPr>
              <a:t>，以下是生成过程</a:t>
            </a:r>
            <a:endParaRPr lang="zh-CN" altLang="en-US" b="0" dirty="0">
              <a:latin typeface="黑体" panose="02010609060101010101" pitchFamily="2" charset="-122"/>
              <a:ea typeface="黑体" panose="02010609060101010101" pitchFamily="2" charset="-122"/>
            </a:endParaRPr>
          </a:p>
          <a:p>
            <a:pPr marL="609600" lvl="1" indent="0" algn="l" eaLnBrk="1" hangingPunct="1">
              <a:buClrTx/>
              <a:buSzTx/>
              <a:buNone/>
            </a:pPr>
            <a:endParaRPr lang="zh-CN" altLang="en-US" sz="2400" dirty="0">
              <a:latin typeface="黑体" panose="02010609060101010101" pitchFamily="2" charset="-122"/>
              <a:ea typeface="黑体" panose="02010609060101010101" pitchFamily="2" charset="-122"/>
              <a:sym typeface="+mn-ea"/>
            </a:endParaRPr>
          </a:p>
          <a:p>
            <a:pPr marL="609600" indent="-609600" eaLnBrk="1" latinLnBrk="0" hangingPunct="1">
              <a:spcBef>
                <a:spcPts val="0"/>
              </a:spcBef>
              <a:buClr>
                <a:schemeClr val="accent1"/>
              </a:buClr>
              <a:buSzTx/>
              <a:buFont typeface="Wingdings" panose="05000000000000000000" pitchFamily="2" charset="2"/>
              <a:buNone/>
            </a:pPr>
            <a:endParaRPr lang="en-US" altLang="zh-CN" sz="2000" dirty="0">
              <a:latin typeface="黑体" panose="02010609060101010101" pitchFamily="2" charset="-122"/>
              <a:ea typeface="黑体" panose="02010609060101010101" pitchFamily="2" charset="-122"/>
              <a:sym typeface="+mn-ea"/>
            </a:endParaRPr>
          </a:p>
          <a:p>
            <a:pPr marL="609600" indent="-609600" eaLnBrk="1" latinLnBrk="0" hangingPunct="1">
              <a:spcBef>
                <a:spcPts val="0"/>
              </a:spcBef>
              <a:buClr>
                <a:schemeClr val="accent1"/>
              </a:buClr>
              <a:buSzTx/>
              <a:buFont typeface="Wingdings" panose="05000000000000000000" pitchFamily="2" charset="2"/>
              <a:buNone/>
            </a:pPr>
            <a:endParaRPr lang="en-US" altLang="zh-CN" sz="2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45</a:t>
            </a:fld>
            <a:endParaRPr lang="zh-CN" altLang="en-US"/>
          </a:p>
        </p:txBody>
      </p:sp>
      <p:grpSp>
        <p:nvGrpSpPr>
          <p:cNvPr id="49156" name="Group 69"/>
          <p:cNvGrpSpPr/>
          <p:nvPr/>
        </p:nvGrpSpPr>
        <p:grpSpPr>
          <a:xfrm>
            <a:off x="1559243" y="2780348"/>
            <a:ext cx="8686800" cy="2438400"/>
            <a:chOff x="140" y="2069"/>
            <a:chExt cx="5472" cy="1536"/>
          </a:xfrm>
        </p:grpSpPr>
        <p:grpSp>
          <p:nvGrpSpPr>
            <p:cNvPr id="49157" name="Group 28"/>
            <p:cNvGrpSpPr/>
            <p:nvPr/>
          </p:nvGrpSpPr>
          <p:grpSpPr>
            <a:xfrm>
              <a:off x="3164" y="2069"/>
              <a:ext cx="1296" cy="1536"/>
              <a:chOff x="2787" y="2448"/>
              <a:chExt cx="1389" cy="1745"/>
            </a:xfrm>
          </p:grpSpPr>
          <p:sp>
            <p:nvSpPr>
              <p:cNvPr id="49158" name="Oval 29"/>
              <p:cNvSpPr/>
              <p:nvPr/>
            </p:nvSpPr>
            <p:spPr>
              <a:xfrm>
                <a:off x="2787" y="2448"/>
                <a:ext cx="256"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49159" name="Oval 30"/>
              <p:cNvSpPr/>
              <p:nvPr/>
            </p:nvSpPr>
            <p:spPr>
              <a:xfrm>
                <a:off x="3326" y="2720"/>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49160" name="Oval 31"/>
              <p:cNvSpPr/>
              <p:nvPr/>
            </p:nvSpPr>
            <p:spPr>
              <a:xfrm>
                <a:off x="3751" y="3069"/>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49161" name="Oval 32"/>
              <p:cNvSpPr/>
              <p:nvPr/>
            </p:nvSpPr>
            <p:spPr>
              <a:xfrm>
                <a:off x="3922" y="3921"/>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49162" name="Line 33"/>
              <p:cNvSpPr/>
              <p:nvPr/>
            </p:nvSpPr>
            <p:spPr>
              <a:xfrm>
                <a:off x="3043" y="2603"/>
                <a:ext cx="283" cy="194"/>
              </a:xfrm>
              <a:prstGeom prst="line">
                <a:avLst/>
              </a:prstGeom>
              <a:ln w="38100" cap="flat" cmpd="sng">
                <a:solidFill>
                  <a:srgbClr val="336699"/>
                </a:solidFill>
                <a:prstDash val="solid"/>
                <a:round/>
                <a:headEnd type="none" w="med" len="med"/>
                <a:tailEnd type="none" w="med" len="med"/>
              </a:ln>
            </p:spPr>
          </p:sp>
          <p:sp>
            <p:nvSpPr>
              <p:cNvPr id="49163" name="Line 34"/>
              <p:cNvSpPr/>
              <p:nvPr/>
            </p:nvSpPr>
            <p:spPr>
              <a:xfrm>
                <a:off x="3553" y="2952"/>
                <a:ext cx="227" cy="156"/>
              </a:xfrm>
              <a:prstGeom prst="line">
                <a:avLst/>
              </a:prstGeom>
              <a:ln w="38100" cap="flat" cmpd="sng">
                <a:solidFill>
                  <a:srgbClr val="336699"/>
                </a:solidFill>
                <a:prstDash val="solid"/>
                <a:round/>
                <a:headEnd type="none" w="med" len="med"/>
                <a:tailEnd type="none" w="med" len="med"/>
              </a:ln>
            </p:spPr>
          </p:sp>
          <p:sp>
            <p:nvSpPr>
              <p:cNvPr id="49164" name="Line 35"/>
              <p:cNvSpPr/>
              <p:nvPr/>
            </p:nvSpPr>
            <p:spPr>
              <a:xfrm flipH="1">
                <a:off x="3610" y="3329"/>
                <a:ext cx="216" cy="205"/>
              </a:xfrm>
              <a:prstGeom prst="line">
                <a:avLst/>
              </a:prstGeom>
              <a:ln w="38100" cap="flat" cmpd="sng">
                <a:solidFill>
                  <a:srgbClr val="336699"/>
                </a:solidFill>
                <a:prstDash val="solid"/>
                <a:round/>
                <a:headEnd type="none" w="med" len="med"/>
                <a:tailEnd type="none" w="med" len="med"/>
              </a:ln>
            </p:spPr>
          </p:sp>
          <p:sp>
            <p:nvSpPr>
              <p:cNvPr id="49165" name="Line 36"/>
              <p:cNvSpPr/>
              <p:nvPr/>
            </p:nvSpPr>
            <p:spPr>
              <a:xfrm>
                <a:off x="3665" y="3727"/>
                <a:ext cx="285" cy="233"/>
              </a:xfrm>
              <a:prstGeom prst="line">
                <a:avLst/>
              </a:prstGeom>
              <a:ln w="38100" cap="flat" cmpd="sng">
                <a:solidFill>
                  <a:srgbClr val="336699"/>
                </a:solidFill>
                <a:prstDash val="solid"/>
                <a:round/>
                <a:headEnd type="none" w="med" len="med"/>
                <a:tailEnd type="none" w="med" len="med"/>
              </a:ln>
            </p:spPr>
          </p:sp>
          <p:sp>
            <p:nvSpPr>
              <p:cNvPr id="49166" name="Oval 37"/>
              <p:cNvSpPr/>
              <p:nvPr/>
            </p:nvSpPr>
            <p:spPr>
              <a:xfrm>
                <a:off x="3439" y="3496"/>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80</a:t>
                </a:r>
              </a:p>
            </p:txBody>
          </p:sp>
        </p:grpSp>
        <p:grpSp>
          <p:nvGrpSpPr>
            <p:cNvPr id="49167" name="Group 38"/>
            <p:cNvGrpSpPr/>
            <p:nvPr/>
          </p:nvGrpSpPr>
          <p:grpSpPr>
            <a:xfrm>
              <a:off x="2156" y="2069"/>
              <a:ext cx="1137" cy="1160"/>
              <a:chOff x="3456" y="2784"/>
              <a:chExt cx="1137" cy="1160"/>
            </a:xfrm>
          </p:grpSpPr>
          <p:sp>
            <p:nvSpPr>
              <p:cNvPr id="49168" name="Oval 39"/>
              <p:cNvSpPr/>
              <p:nvPr/>
            </p:nvSpPr>
            <p:spPr>
              <a:xfrm>
                <a:off x="3456" y="2784"/>
                <a:ext cx="239"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49169" name="Oval 40"/>
              <p:cNvSpPr/>
              <p:nvPr/>
            </p:nvSpPr>
            <p:spPr>
              <a:xfrm>
                <a:off x="3959" y="3023"/>
                <a:ext cx="238"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49170" name="Oval 41"/>
              <p:cNvSpPr/>
              <p:nvPr/>
            </p:nvSpPr>
            <p:spPr>
              <a:xfrm>
                <a:off x="4355" y="3331"/>
                <a:ext cx="238" cy="23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49171" name="Line 42"/>
              <p:cNvSpPr/>
              <p:nvPr/>
            </p:nvSpPr>
            <p:spPr>
              <a:xfrm>
                <a:off x="3695" y="2920"/>
                <a:ext cx="264" cy="171"/>
              </a:xfrm>
              <a:prstGeom prst="line">
                <a:avLst/>
              </a:prstGeom>
              <a:ln w="38100" cap="flat" cmpd="sng">
                <a:solidFill>
                  <a:srgbClr val="336699"/>
                </a:solidFill>
                <a:prstDash val="solid"/>
                <a:round/>
                <a:headEnd type="none" w="med" len="med"/>
                <a:tailEnd type="none" w="med" len="med"/>
              </a:ln>
            </p:spPr>
          </p:sp>
          <p:sp>
            <p:nvSpPr>
              <p:cNvPr id="49172" name="Line 43"/>
              <p:cNvSpPr/>
              <p:nvPr/>
            </p:nvSpPr>
            <p:spPr>
              <a:xfrm>
                <a:off x="4171" y="3228"/>
                <a:ext cx="212" cy="137"/>
              </a:xfrm>
              <a:prstGeom prst="line">
                <a:avLst/>
              </a:prstGeom>
              <a:ln w="38100" cap="flat" cmpd="sng">
                <a:solidFill>
                  <a:srgbClr val="336699"/>
                </a:solidFill>
                <a:prstDash val="solid"/>
                <a:round/>
                <a:headEnd type="none" w="med" len="med"/>
                <a:tailEnd type="none" w="med" len="med"/>
              </a:ln>
            </p:spPr>
          </p:sp>
          <p:sp>
            <p:nvSpPr>
              <p:cNvPr id="49173" name="Line 44"/>
              <p:cNvSpPr/>
              <p:nvPr/>
            </p:nvSpPr>
            <p:spPr>
              <a:xfrm flipH="1">
                <a:off x="4224" y="3559"/>
                <a:ext cx="201" cy="181"/>
              </a:xfrm>
              <a:prstGeom prst="line">
                <a:avLst/>
              </a:prstGeom>
              <a:ln w="38100" cap="flat" cmpd="sng">
                <a:solidFill>
                  <a:srgbClr val="336699"/>
                </a:solidFill>
                <a:prstDash val="solid"/>
                <a:round/>
                <a:headEnd type="none" w="med" len="med"/>
                <a:tailEnd type="none" w="med" len="med"/>
              </a:ln>
            </p:spPr>
          </p:sp>
          <p:sp>
            <p:nvSpPr>
              <p:cNvPr id="49174" name="Oval 45"/>
              <p:cNvSpPr/>
              <p:nvPr/>
            </p:nvSpPr>
            <p:spPr>
              <a:xfrm>
                <a:off x="4064" y="3706"/>
                <a:ext cx="238" cy="23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80</a:t>
                </a:r>
              </a:p>
            </p:txBody>
          </p:sp>
        </p:grpSp>
        <p:grpSp>
          <p:nvGrpSpPr>
            <p:cNvPr id="49175" name="Group 46"/>
            <p:cNvGrpSpPr/>
            <p:nvPr/>
          </p:nvGrpSpPr>
          <p:grpSpPr>
            <a:xfrm>
              <a:off x="1292" y="2069"/>
              <a:ext cx="1137" cy="785"/>
              <a:chOff x="2544" y="2832"/>
              <a:chExt cx="1137" cy="785"/>
            </a:xfrm>
          </p:grpSpPr>
          <p:sp>
            <p:nvSpPr>
              <p:cNvPr id="49176" name="Oval 47"/>
              <p:cNvSpPr/>
              <p:nvPr/>
            </p:nvSpPr>
            <p:spPr>
              <a:xfrm>
                <a:off x="2544" y="2832"/>
                <a:ext cx="239"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49177" name="Oval 48"/>
              <p:cNvSpPr/>
              <p:nvPr/>
            </p:nvSpPr>
            <p:spPr>
              <a:xfrm>
                <a:off x="3047" y="3071"/>
                <a:ext cx="238"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49178" name="Oval 49"/>
              <p:cNvSpPr/>
              <p:nvPr/>
            </p:nvSpPr>
            <p:spPr>
              <a:xfrm>
                <a:off x="3443" y="3379"/>
                <a:ext cx="238" cy="23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49179" name="Line 50"/>
              <p:cNvSpPr/>
              <p:nvPr/>
            </p:nvSpPr>
            <p:spPr>
              <a:xfrm>
                <a:off x="2783" y="2968"/>
                <a:ext cx="264" cy="171"/>
              </a:xfrm>
              <a:prstGeom prst="line">
                <a:avLst/>
              </a:prstGeom>
              <a:ln w="38100" cap="flat" cmpd="sng">
                <a:solidFill>
                  <a:srgbClr val="336699"/>
                </a:solidFill>
                <a:prstDash val="solid"/>
                <a:round/>
                <a:headEnd type="none" w="med" len="med"/>
                <a:tailEnd type="none" w="med" len="med"/>
              </a:ln>
            </p:spPr>
          </p:sp>
          <p:sp>
            <p:nvSpPr>
              <p:cNvPr id="49180" name="Line 51"/>
              <p:cNvSpPr/>
              <p:nvPr/>
            </p:nvSpPr>
            <p:spPr>
              <a:xfrm>
                <a:off x="3259" y="3276"/>
                <a:ext cx="212" cy="137"/>
              </a:xfrm>
              <a:prstGeom prst="line">
                <a:avLst/>
              </a:prstGeom>
              <a:ln w="38100" cap="flat" cmpd="sng">
                <a:solidFill>
                  <a:srgbClr val="336699"/>
                </a:solidFill>
                <a:prstDash val="solid"/>
                <a:round/>
                <a:headEnd type="none" w="med" len="med"/>
                <a:tailEnd type="none" w="med" len="med"/>
              </a:ln>
            </p:spPr>
          </p:sp>
        </p:grpSp>
        <p:grpSp>
          <p:nvGrpSpPr>
            <p:cNvPr id="49181" name="Group 52"/>
            <p:cNvGrpSpPr/>
            <p:nvPr/>
          </p:nvGrpSpPr>
          <p:grpSpPr>
            <a:xfrm>
              <a:off x="572" y="2069"/>
              <a:ext cx="741" cy="478"/>
              <a:chOff x="1776" y="2928"/>
              <a:chExt cx="741" cy="478"/>
            </a:xfrm>
          </p:grpSpPr>
          <p:sp>
            <p:nvSpPr>
              <p:cNvPr id="49182" name="Oval 53"/>
              <p:cNvSpPr/>
              <p:nvPr/>
            </p:nvSpPr>
            <p:spPr>
              <a:xfrm>
                <a:off x="1776" y="2928"/>
                <a:ext cx="239"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49183" name="Oval 54"/>
              <p:cNvSpPr/>
              <p:nvPr/>
            </p:nvSpPr>
            <p:spPr>
              <a:xfrm>
                <a:off x="2279" y="3167"/>
                <a:ext cx="238"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49184" name="Line 55"/>
              <p:cNvSpPr/>
              <p:nvPr/>
            </p:nvSpPr>
            <p:spPr>
              <a:xfrm>
                <a:off x="2015" y="3064"/>
                <a:ext cx="264" cy="171"/>
              </a:xfrm>
              <a:prstGeom prst="line">
                <a:avLst/>
              </a:prstGeom>
              <a:ln w="38100" cap="flat" cmpd="sng">
                <a:solidFill>
                  <a:srgbClr val="336699"/>
                </a:solidFill>
                <a:prstDash val="solid"/>
                <a:round/>
                <a:headEnd type="none" w="med" len="med"/>
                <a:tailEnd type="none" w="med" len="med"/>
              </a:ln>
            </p:spPr>
          </p:sp>
        </p:grpSp>
        <p:sp>
          <p:nvSpPr>
            <p:cNvPr id="49185" name="Oval 56"/>
            <p:cNvSpPr/>
            <p:nvPr/>
          </p:nvSpPr>
          <p:spPr>
            <a:xfrm>
              <a:off x="140" y="2069"/>
              <a:ext cx="239"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grpSp>
          <p:nvGrpSpPr>
            <p:cNvPr id="49186" name="Group 57"/>
            <p:cNvGrpSpPr/>
            <p:nvPr/>
          </p:nvGrpSpPr>
          <p:grpSpPr>
            <a:xfrm>
              <a:off x="4316" y="2069"/>
              <a:ext cx="1296" cy="1536"/>
              <a:chOff x="4464" y="2592"/>
              <a:chExt cx="1296" cy="1536"/>
            </a:xfrm>
          </p:grpSpPr>
          <p:sp>
            <p:nvSpPr>
              <p:cNvPr id="49187" name="Oval 58"/>
              <p:cNvSpPr/>
              <p:nvPr/>
            </p:nvSpPr>
            <p:spPr>
              <a:xfrm>
                <a:off x="4464" y="2592"/>
                <a:ext cx="239"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49188" name="Oval 59"/>
              <p:cNvSpPr/>
              <p:nvPr/>
            </p:nvSpPr>
            <p:spPr>
              <a:xfrm>
                <a:off x="4967" y="2831"/>
                <a:ext cx="238"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49189" name="Oval 60"/>
              <p:cNvSpPr/>
              <p:nvPr/>
            </p:nvSpPr>
            <p:spPr>
              <a:xfrm>
                <a:off x="5363" y="3139"/>
                <a:ext cx="238" cy="23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49190" name="Oval 61"/>
              <p:cNvSpPr/>
              <p:nvPr/>
            </p:nvSpPr>
            <p:spPr>
              <a:xfrm>
                <a:off x="5523" y="3889"/>
                <a:ext cx="237"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49191" name="Line 62"/>
              <p:cNvSpPr/>
              <p:nvPr/>
            </p:nvSpPr>
            <p:spPr>
              <a:xfrm>
                <a:off x="4703" y="2728"/>
                <a:ext cx="264" cy="171"/>
              </a:xfrm>
              <a:prstGeom prst="line">
                <a:avLst/>
              </a:prstGeom>
              <a:ln w="38100" cap="flat" cmpd="sng">
                <a:solidFill>
                  <a:srgbClr val="336699"/>
                </a:solidFill>
                <a:prstDash val="solid"/>
                <a:round/>
                <a:headEnd type="none" w="med" len="med"/>
                <a:tailEnd type="none" w="med" len="med"/>
              </a:ln>
            </p:spPr>
          </p:sp>
          <p:sp>
            <p:nvSpPr>
              <p:cNvPr id="49192" name="Line 63"/>
              <p:cNvSpPr/>
              <p:nvPr/>
            </p:nvSpPr>
            <p:spPr>
              <a:xfrm>
                <a:off x="5179" y="3036"/>
                <a:ext cx="212" cy="137"/>
              </a:xfrm>
              <a:prstGeom prst="line">
                <a:avLst/>
              </a:prstGeom>
              <a:ln w="38100" cap="flat" cmpd="sng">
                <a:solidFill>
                  <a:srgbClr val="336699"/>
                </a:solidFill>
                <a:prstDash val="solid"/>
                <a:round/>
                <a:headEnd type="none" w="med" len="med"/>
                <a:tailEnd type="none" w="med" len="med"/>
              </a:ln>
            </p:spPr>
          </p:sp>
          <p:sp>
            <p:nvSpPr>
              <p:cNvPr id="49193" name="Line 64"/>
              <p:cNvSpPr/>
              <p:nvPr/>
            </p:nvSpPr>
            <p:spPr>
              <a:xfrm flipH="1">
                <a:off x="5232" y="3367"/>
                <a:ext cx="201" cy="181"/>
              </a:xfrm>
              <a:prstGeom prst="line">
                <a:avLst/>
              </a:prstGeom>
              <a:ln w="38100" cap="flat" cmpd="sng">
                <a:solidFill>
                  <a:srgbClr val="336699"/>
                </a:solidFill>
                <a:prstDash val="solid"/>
                <a:round/>
                <a:headEnd type="none" w="med" len="med"/>
                <a:tailEnd type="none" w="med" len="med"/>
              </a:ln>
            </p:spPr>
          </p:sp>
          <p:sp>
            <p:nvSpPr>
              <p:cNvPr id="49194" name="Line 65"/>
              <p:cNvSpPr/>
              <p:nvPr/>
            </p:nvSpPr>
            <p:spPr>
              <a:xfrm>
                <a:off x="5283" y="3718"/>
                <a:ext cx="266" cy="205"/>
              </a:xfrm>
              <a:prstGeom prst="line">
                <a:avLst/>
              </a:prstGeom>
              <a:ln w="38100" cap="flat" cmpd="sng">
                <a:solidFill>
                  <a:srgbClr val="336699"/>
                </a:solidFill>
                <a:prstDash val="solid"/>
                <a:round/>
                <a:headEnd type="none" w="med" len="med"/>
                <a:tailEnd type="none" w="med" len="med"/>
              </a:ln>
            </p:spPr>
          </p:sp>
          <p:sp>
            <p:nvSpPr>
              <p:cNvPr id="49195" name="Oval 66"/>
              <p:cNvSpPr/>
              <p:nvPr/>
            </p:nvSpPr>
            <p:spPr>
              <a:xfrm>
                <a:off x="5072" y="3514"/>
                <a:ext cx="238" cy="23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49196" name="Line 67"/>
              <p:cNvSpPr/>
              <p:nvPr/>
            </p:nvSpPr>
            <p:spPr>
              <a:xfrm flipH="1">
                <a:off x="4896" y="3696"/>
                <a:ext cx="201" cy="181"/>
              </a:xfrm>
              <a:prstGeom prst="line">
                <a:avLst/>
              </a:prstGeom>
              <a:ln w="38100" cap="flat" cmpd="sng">
                <a:solidFill>
                  <a:srgbClr val="336699"/>
                </a:solidFill>
                <a:prstDash val="solid"/>
                <a:round/>
                <a:headEnd type="none" w="med" len="med"/>
                <a:tailEnd type="none" w="med" len="med"/>
              </a:ln>
            </p:spPr>
          </p:sp>
          <p:sp>
            <p:nvSpPr>
              <p:cNvPr id="49197" name="Oval 68"/>
              <p:cNvSpPr/>
              <p:nvPr/>
            </p:nvSpPr>
            <p:spPr>
              <a:xfrm>
                <a:off x="4736" y="3843"/>
                <a:ext cx="238" cy="23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75</a:t>
                </a:r>
              </a:p>
            </p:txBody>
          </p:sp>
        </p:gr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二叉排序树的生成算法实现</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sym typeface="+mn-ea"/>
              </a:rPr>
              <a:t>使用前面的二叉排序树插入算法</a:t>
            </a:r>
          </a:p>
          <a:p>
            <a:pPr marL="609600" indent="-609600" eaLnBrk="1" latinLnBrk="0" hangingPunct="1">
              <a:spcBef>
                <a:spcPts val="0"/>
              </a:spcBef>
              <a:buClr>
                <a:schemeClr val="accent1"/>
              </a:buClr>
              <a:buSzTx/>
              <a:buFont typeface="Wingdings" panose="05000000000000000000" pitchFamily="2" charset="2"/>
              <a:buNone/>
            </a:pPr>
            <a:endParaRPr lang="en-US" altLang="zh-CN" sz="2000" dirty="0">
              <a:latin typeface="黑体" panose="02010609060101010101" pitchFamily="2" charset="-122"/>
              <a:ea typeface="黑体" panose="02010609060101010101" pitchFamily="2" charset="-122"/>
              <a:sym typeface="+mn-ea"/>
            </a:endParaRPr>
          </a:p>
          <a:p>
            <a:pPr marL="609600" indent="-609600" eaLnBrk="1" latinLnBrk="0" hangingPunct="1">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#define ENDKEY  65535</a:t>
            </a:r>
            <a:endParaRPr lang="en-US" altLang="zh-CN" sz="24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BSTNode *create_BST()</a:t>
            </a:r>
            <a:endParaRPr lang="en-US" altLang="zh-CN" sz="24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KeyType  key ; </a:t>
            </a:r>
            <a:endParaRPr lang="en-US" altLang="zh-CN" sz="24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BSTNode *T=NULL ;</a:t>
            </a:r>
            <a:endParaRPr lang="en-US" altLang="zh-CN" sz="24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scanf(“%d”, &amp;key) ;</a:t>
            </a:r>
            <a:endParaRPr lang="en-US" altLang="zh-CN" sz="24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while (key!=ENDKEY)</a:t>
            </a:r>
            <a:endParaRPr lang="en-US" altLang="zh-CN" sz="24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  Insert_BST(T, key) ; </a:t>
            </a:r>
            <a:endParaRPr lang="en-US" altLang="zh-CN" sz="24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scanf(“%d”, &amp;key) ;</a:t>
            </a:r>
            <a:endParaRPr lang="en-US" altLang="zh-CN" sz="24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endParaRPr lang="en-US" altLang="zh-CN" sz="24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return(T) ;</a:t>
            </a:r>
            <a:endParaRPr lang="en-US" altLang="zh-CN" sz="2400" dirty="0">
              <a:latin typeface="黑体" panose="02010609060101010101" pitchFamily="2" charset="-122"/>
              <a:ea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a:t>
            </a:r>
            <a:endParaRPr lang="en-US" altLang="zh-CN" sz="2400" dirty="0">
              <a:latin typeface="黑体" panose="02010609060101010101" pitchFamily="2" charset="-122"/>
              <a:ea typeface="黑体" panose="02010609060101010101" pitchFamily="2" charset="-122"/>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46</a:t>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二叉树的关键特性：中序遍历</a:t>
            </a:r>
            <a:r>
              <a:rPr lang="zh-CN" altLang="en-US" sz="2800" dirty="0">
                <a:latin typeface="黑体" panose="02010609060101010101" pitchFamily="2" charset="-122"/>
                <a:ea typeface="黑体" panose="02010609060101010101" pitchFamily="2" charset="-122"/>
                <a:cs typeface="+mn-ea"/>
                <a:sym typeface="+mn-ea"/>
              </a:rPr>
              <a:t>输出为有序序列</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二叉树排序树的删除</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删除二叉排序树中的一个结点后，必须保持二叉排序树的特性（左子树的所有结点值小于根结点，右子树的所有结点值大于根结点）。即中序遍历仍是有序序列</a:t>
            </a:r>
            <a:endParaRPr lang="zh-CN" altLang="en-US" sz="240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被删除结点有三种情况：</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叶子结点</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只有左子树或右子树</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同时有左、右子树</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47</a:t>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被删除结点是叶子，设其双亲结点对应指针为空</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48</a:t>
            </a:fld>
            <a:endParaRPr lang="zh-CN" altLang="en-US"/>
          </a:p>
        </p:txBody>
      </p:sp>
      <p:grpSp>
        <p:nvGrpSpPr>
          <p:cNvPr id="53252" name="Group 27"/>
          <p:cNvGrpSpPr/>
          <p:nvPr/>
        </p:nvGrpSpPr>
        <p:grpSpPr>
          <a:xfrm>
            <a:off x="3071178" y="1916430"/>
            <a:ext cx="5889625" cy="2770188"/>
            <a:chOff x="1443" y="1570"/>
            <a:chExt cx="3710" cy="1745"/>
          </a:xfrm>
        </p:grpSpPr>
        <p:grpSp>
          <p:nvGrpSpPr>
            <p:cNvPr id="53253" name="Group 4"/>
            <p:cNvGrpSpPr/>
            <p:nvPr/>
          </p:nvGrpSpPr>
          <p:grpSpPr>
            <a:xfrm>
              <a:off x="2835" y="1570"/>
              <a:ext cx="2318" cy="1745"/>
              <a:chOff x="3072" y="2575"/>
              <a:chExt cx="2318" cy="1745"/>
            </a:xfrm>
          </p:grpSpPr>
          <p:sp>
            <p:nvSpPr>
              <p:cNvPr id="53254" name="Oval 5"/>
              <p:cNvSpPr/>
              <p:nvPr/>
            </p:nvSpPr>
            <p:spPr>
              <a:xfrm>
                <a:off x="4035" y="2575"/>
                <a:ext cx="256"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53255" name="Oval 6"/>
              <p:cNvSpPr/>
              <p:nvPr/>
            </p:nvSpPr>
            <p:spPr>
              <a:xfrm>
                <a:off x="4574" y="2847"/>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53256" name="Oval 7"/>
              <p:cNvSpPr/>
              <p:nvPr/>
            </p:nvSpPr>
            <p:spPr>
              <a:xfrm>
                <a:off x="3072" y="3196"/>
                <a:ext cx="254"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53257" name="Oval 8"/>
              <p:cNvSpPr/>
              <p:nvPr/>
            </p:nvSpPr>
            <p:spPr>
              <a:xfrm>
                <a:off x="4999" y="3196"/>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53258" name="Oval 9"/>
              <p:cNvSpPr/>
              <p:nvPr/>
            </p:nvSpPr>
            <p:spPr>
              <a:xfrm>
                <a:off x="3922" y="3196"/>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53259" name="Oval 10"/>
              <p:cNvSpPr/>
              <p:nvPr/>
            </p:nvSpPr>
            <p:spPr>
              <a:xfrm>
                <a:off x="5136" y="4015"/>
                <a:ext cx="254" cy="272"/>
              </a:xfrm>
              <a:prstGeom prst="ellipse">
                <a:avLst/>
              </a:prstGeom>
              <a:solidFill>
                <a:srgbClr val="FFFFFF"/>
              </a:solidFill>
              <a:ln w="25400" cap="rnd" cmpd="sng">
                <a:solidFill>
                  <a:srgbClr val="C0C0C0"/>
                </a:solidFill>
                <a:prstDash val="sysDot"/>
                <a:round/>
                <a:headEnd type="none" w="sm" len="sm"/>
                <a:tailEnd type="none" w="sm" len="sm"/>
              </a:ln>
            </p:spPr>
            <p:txBody>
              <a:bodyPr wrap="none" anchor="ctr" anchorCtr="0"/>
              <a:lstStyle/>
              <a:p>
                <a:r>
                  <a:rPr lang="en-US" altLang="zh-CN" sz="1600" b="1" dirty="0">
                    <a:solidFill>
                      <a:srgbClr val="DDDDDD"/>
                    </a:solidFill>
                    <a:latin typeface="Times New Roman" panose="02020603050405020304" pitchFamily="18" charset="0"/>
                    <a:ea typeface="宋体" panose="02010600030101010101" pitchFamily="2" charset="-122"/>
                  </a:rPr>
                  <a:t>88</a:t>
                </a:r>
              </a:p>
            </p:txBody>
          </p:sp>
          <p:sp>
            <p:nvSpPr>
              <p:cNvPr id="53260" name="Line 11"/>
              <p:cNvSpPr/>
              <p:nvPr/>
            </p:nvSpPr>
            <p:spPr>
              <a:xfrm flipH="1">
                <a:off x="3725" y="2730"/>
                <a:ext cx="310" cy="194"/>
              </a:xfrm>
              <a:prstGeom prst="line">
                <a:avLst/>
              </a:prstGeom>
              <a:ln w="38100" cap="flat" cmpd="sng">
                <a:solidFill>
                  <a:srgbClr val="336699"/>
                </a:solidFill>
                <a:prstDash val="solid"/>
                <a:round/>
                <a:headEnd type="none" w="med" len="med"/>
                <a:tailEnd type="none" w="med" len="med"/>
              </a:ln>
            </p:spPr>
          </p:sp>
          <p:sp>
            <p:nvSpPr>
              <p:cNvPr id="53261" name="Line 12"/>
              <p:cNvSpPr/>
              <p:nvPr/>
            </p:nvSpPr>
            <p:spPr>
              <a:xfrm flipH="1">
                <a:off x="3298" y="3072"/>
                <a:ext cx="224" cy="163"/>
              </a:xfrm>
              <a:prstGeom prst="line">
                <a:avLst/>
              </a:prstGeom>
              <a:ln w="38100" cap="flat" cmpd="sng">
                <a:solidFill>
                  <a:srgbClr val="666699"/>
                </a:solidFill>
                <a:prstDash val="solid"/>
                <a:round/>
                <a:headEnd type="none" w="med" len="med"/>
                <a:tailEnd type="none" w="med" len="med"/>
              </a:ln>
            </p:spPr>
          </p:sp>
          <p:sp>
            <p:nvSpPr>
              <p:cNvPr id="53262" name="Line 13"/>
              <p:cNvSpPr/>
              <p:nvPr/>
            </p:nvSpPr>
            <p:spPr>
              <a:xfrm>
                <a:off x="4291" y="2730"/>
                <a:ext cx="283" cy="194"/>
              </a:xfrm>
              <a:prstGeom prst="line">
                <a:avLst/>
              </a:prstGeom>
              <a:ln w="38100" cap="flat" cmpd="sng">
                <a:solidFill>
                  <a:srgbClr val="336699"/>
                </a:solidFill>
                <a:prstDash val="solid"/>
                <a:round/>
                <a:headEnd type="none" w="med" len="med"/>
                <a:tailEnd type="none" w="med" len="med"/>
              </a:ln>
            </p:spPr>
          </p:sp>
          <p:sp>
            <p:nvSpPr>
              <p:cNvPr id="53263" name="Line 14"/>
              <p:cNvSpPr/>
              <p:nvPr/>
            </p:nvSpPr>
            <p:spPr>
              <a:xfrm>
                <a:off x="3725" y="3041"/>
                <a:ext cx="226" cy="194"/>
              </a:xfrm>
              <a:prstGeom prst="line">
                <a:avLst/>
              </a:prstGeom>
              <a:ln w="38100" cap="flat" cmpd="sng">
                <a:solidFill>
                  <a:srgbClr val="336699"/>
                </a:solidFill>
                <a:prstDash val="solid"/>
                <a:round/>
                <a:headEnd type="none" w="med" len="med"/>
                <a:tailEnd type="none" w="med" len="med"/>
              </a:ln>
            </p:spPr>
          </p:sp>
          <p:sp>
            <p:nvSpPr>
              <p:cNvPr id="53264" name="Line 15"/>
              <p:cNvSpPr/>
              <p:nvPr/>
            </p:nvSpPr>
            <p:spPr>
              <a:xfrm flipH="1">
                <a:off x="3673" y="3429"/>
                <a:ext cx="278" cy="267"/>
              </a:xfrm>
              <a:prstGeom prst="line">
                <a:avLst/>
              </a:prstGeom>
              <a:ln w="38100" cap="flat" cmpd="sng">
                <a:solidFill>
                  <a:srgbClr val="336699"/>
                </a:solidFill>
                <a:prstDash val="solid"/>
                <a:round/>
                <a:headEnd type="none" w="med" len="med"/>
                <a:tailEnd type="none" w="med" len="med"/>
              </a:ln>
            </p:spPr>
          </p:sp>
          <p:sp>
            <p:nvSpPr>
              <p:cNvPr id="53265" name="Line 16"/>
              <p:cNvSpPr/>
              <p:nvPr/>
            </p:nvSpPr>
            <p:spPr>
              <a:xfrm>
                <a:off x="4801" y="3079"/>
                <a:ext cx="227" cy="156"/>
              </a:xfrm>
              <a:prstGeom prst="line">
                <a:avLst/>
              </a:prstGeom>
              <a:ln w="38100" cap="flat" cmpd="sng">
                <a:solidFill>
                  <a:srgbClr val="336699"/>
                </a:solidFill>
                <a:prstDash val="solid"/>
                <a:round/>
                <a:headEnd type="none" w="med" len="med"/>
                <a:tailEnd type="none" w="med" len="med"/>
              </a:ln>
            </p:spPr>
          </p:sp>
          <p:sp>
            <p:nvSpPr>
              <p:cNvPr id="53266" name="Line 17"/>
              <p:cNvSpPr/>
              <p:nvPr/>
            </p:nvSpPr>
            <p:spPr>
              <a:xfrm flipH="1">
                <a:off x="4858" y="3456"/>
                <a:ext cx="216" cy="205"/>
              </a:xfrm>
              <a:prstGeom prst="line">
                <a:avLst/>
              </a:prstGeom>
              <a:ln w="38100" cap="flat" cmpd="sng">
                <a:solidFill>
                  <a:srgbClr val="336699"/>
                </a:solidFill>
                <a:prstDash val="solid"/>
                <a:round/>
                <a:headEnd type="none" w="med" len="med"/>
                <a:tailEnd type="none" w="med" len="med"/>
              </a:ln>
            </p:spPr>
          </p:sp>
          <p:sp>
            <p:nvSpPr>
              <p:cNvPr id="53267" name="Line 18"/>
              <p:cNvSpPr/>
              <p:nvPr/>
            </p:nvSpPr>
            <p:spPr>
              <a:xfrm>
                <a:off x="4913" y="3854"/>
                <a:ext cx="271" cy="209"/>
              </a:xfrm>
              <a:prstGeom prst="line">
                <a:avLst/>
              </a:prstGeom>
              <a:ln w="38100" cap="rnd" cmpd="sng">
                <a:solidFill>
                  <a:srgbClr val="C0C0C0"/>
                </a:solidFill>
                <a:prstDash val="sysDot"/>
                <a:round/>
                <a:headEnd type="none" w="med" len="med"/>
                <a:tailEnd type="none" w="med" len="med"/>
              </a:ln>
            </p:spPr>
          </p:sp>
          <p:sp>
            <p:nvSpPr>
              <p:cNvPr id="53268" name="Oval 19"/>
              <p:cNvSpPr/>
              <p:nvPr/>
            </p:nvSpPr>
            <p:spPr>
              <a:xfrm>
                <a:off x="3214" y="4048"/>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53269" name="Line 20"/>
              <p:cNvSpPr/>
              <p:nvPr/>
            </p:nvSpPr>
            <p:spPr>
              <a:xfrm flipH="1">
                <a:off x="3384" y="3816"/>
                <a:ext cx="226" cy="232"/>
              </a:xfrm>
              <a:prstGeom prst="line">
                <a:avLst/>
              </a:prstGeom>
              <a:ln w="38100" cap="flat" cmpd="sng">
                <a:solidFill>
                  <a:srgbClr val="336699"/>
                </a:solidFill>
                <a:prstDash val="solid"/>
                <a:round/>
                <a:headEnd type="none" w="med" len="med"/>
                <a:tailEnd type="none" w="med" len="med"/>
              </a:ln>
            </p:spPr>
          </p:sp>
          <p:sp>
            <p:nvSpPr>
              <p:cNvPr id="53270" name="Oval 21"/>
              <p:cNvSpPr/>
              <p:nvPr/>
            </p:nvSpPr>
            <p:spPr>
              <a:xfrm>
                <a:off x="4687" y="3623"/>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53271" name="Oval 22"/>
              <p:cNvSpPr/>
              <p:nvPr/>
            </p:nvSpPr>
            <p:spPr>
              <a:xfrm>
                <a:off x="3522" y="3600"/>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53272" name="Oval 23"/>
              <p:cNvSpPr/>
              <p:nvPr/>
            </p:nvSpPr>
            <p:spPr>
              <a:xfrm>
                <a:off x="3497" y="2847"/>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53273" name="Line 24"/>
              <p:cNvSpPr/>
              <p:nvPr/>
            </p:nvSpPr>
            <p:spPr>
              <a:xfrm flipH="1">
                <a:off x="4512" y="3871"/>
                <a:ext cx="216" cy="205"/>
              </a:xfrm>
              <a:prstGeom prst="line">
                <a:avLst/>
              </a:prstGeom>
              <a:ln w="38100" cap="flat" cmpd="sng">
                <a:solidFill>
                  <a:srgbClr val="336699"/>
                </a:solidFill>
                <a:prstDash val="solid"/>
                <a:round/>
                <a:headEnd type="none" w="med" len="med"/>
                <a:tailEnd type="none" w="med" len="med"/>
              </a:ln>
            </p:spPr>
          </p:sp>
          <p:sp>
            <p:nvSpPr>
              <p:cNvPr id="53274" name="Oval 25"/>
              <p:cNvSpPr/>
              <p:nvPr/>
            </p:nvSpPr>
            <p:spPr>
              <a:xfrm>
                <a:off x="4341" y="4038"/>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75</a:t>
                </a:r>
              </a:p>
            </p:txBody>
          </p:sp>
        </p:grpSp>
        <p:sp>
          <p:nvSpPr>
            <p:cNvPr id="53275" name="Text Box 26"/>
            <p:cNvSpPr txBox="1"/>
            <p:nvPr/>
          </p:nvSpPr>
          <p:spPr>
            <a:xfrm>
              <a:off x="1443" y="2835"/>
              <a:ext cx="1200" cy="290"/>
            </a:xfrm>
            <a:prstGeom prst="rect">
              <a:avLst/>
            </a:prstGeom>
            <a:noFill/>
            <a:ln w="9525">
              <a:noFill/>
            </a:ln>
          </p:spPr>
          <p:txBody>
            <a:bodyPr anchor="t" anchorCtr="0">
              <a:spAutoFit/>
            </a:bodyPr>
            <a:lstStyle/>
            <a:p>
              <a:pPr>
                <a:spcBef>
                  <a:spcPct val="50000"/>
                </a:spcBef>
              </a:pPr>
              <a:r>
                <a:rPr lang="zh-CN" altLang="en-US" sz="2400" b="1" dirty="0">
                  <a:latin typeface="Tahoma" panose="020B0604030504040204" charset="0"/>
                  <a:ea typeface="宋体" panose="02010600030101010101" pitchFamily="2" charset="-122"/>
                </a:rPr>
                <a:t>删除结点</a:t>
              </a:r>
              <a:r>
                <a:rPr lang="en-US" altLang="zh-CN" sz="2400" b="1" dirty="0">
                  <a:latin typeface="Tahoma" panose="020B0604030504040204" charset="0"/>
                  <a:ea typeface="宋体" panose="02010600030101010101" pitchFamily="2" charset="-122"/>
                </a:rPr>
                <a:t>88</a:t>
              </a: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被删除结点是只包含一棵子树，让其双亲结点对应指针指向子树根结点</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49</a:t>
            </a:fld>
            <a:endParaRPr lang="zh-CN" altLang="en-US"/>
          </a:p>
        </p:txBody>
      </p:sp>
      <p:grpSp>
        <p:nvGrpSpPr>
          <p:cNvPr id="54298" name="Group 94"/>
          <p:cNvGrpSpPr/>
          <p:nvPr/>
        </p:nvGrpSpPr>
        <p:grpSpPr>
          <a:xfrm>
            <a:off x="5231765" y="2276475"/>
            <a:ext cx="2679700" cy="2968625"/>
            <a:chOff x="2200" y="2024"/>
            <a:chExt cx="1688" cy="1870"/>
          </a:xfrm>
        </p:grpSpPr>
        <p:grpSp>
          <p:nvGrpSpPr>
            <p:cNvPr id="54299" name="Group 28"/>
            <p:cNvGrpSpPr/>
            <p:nvPr/>
          </p:nvGrpSpPr>
          <p:grpSpPr>
            <a:xfrm>
              <a:off x="2200" y="2024"/>
              <a:ext cx="1668" cy="1406"/>
              <a:chOff x="1980" y="2640"/>
              <a:chExt cx="1668" cy="1406"/>
            </a:xfrm>
          </p:grpSpPr>
          <p:sp>
            <p:nvSpPr>
              <p:cNvPr id="54300" name="Oval 29"/>
              <p:cNvSpPr/>
              <p:nvPr/>
            </p:nvSpPr>
            <p:spPr>
              <a:xfrm>
                <a:off x="2673" y="2640"/>
                <a:ext cx="184" cy="22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54301" name="Oval 30"/>
              <p:cNvSpPr/>
              <p:nvPr/>
            </p:nvSpPr>
            <p:spPr>
              <a:xfrm>
                <a:off x="3061" y="2861"/>
                <a:ext cx="183" cy="22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54302" name="Oval 31"/>
              <p:cNvSpPr/>
              <p:nvPr/>
            </p:nvSpPr>
            <p:spPr>
              <a:xfrm>
                <a:off x="1980" y="3144"/>
                <a:ext cx="183" cy="22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54303" name="Oval 32"/>
              <p:cNvSpPr/>
              <p:nvPr/>
            </p:nvSpPr>
            <p:spPr>
              <a:xfrm>
                <a:off x="3366" y="3144"/>
                <a:ext cx="184" cy="22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54304" name="Oval 33"/>
              <p:cNvSpPr/>
              <p:nvPr/>
            </p:nvSpPr>
            <p:spPr>
              <a:xfrm>
                <a:off x="3465" y="3809"/>
                <a:ext cx="183" cy="22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54305" name="Line 34"/>
              <p:cNvSpPr/>
              <p:nvPr/>
            </p:nvSpPr>
            <p:spPr>
              <a:xfrm flipH="1">
                <a:off x="2450" y="2766"/>
                <a:ext cx="223" cy="157"/>
              </a:xfrm>
              <a:prstGeom prst="line">
                <a:avLst/>
              </a:prstGeom>
              <a:ln w="38100" cap="flat" cmpd="sng">
                <a:solidFill>
                  <a:srgbClr val="336699"/>
                </a:solidFill>
                <a:prstDash val="solid"/>
                <a:round/>
                <a:headEnd type="none" w="med" len="med"/>
                <a:tailEnd type="none" w="med" len="med"/>
              </a:ln>
            </p:spPr>
          </p:sp>
          <p:sp>
            <p:nvSpPr>
              <p:cNvPr id="54306" name="Line 35"/>
              <p:cNvSpPr/>
              <p:nvPr/>
            </p:nvSpPr>
            <p:spPr>
              <a:xfrm flipH="1">
                <a:off x="2143" y="3043"/>
                <a:ext cx="161" cy="133"/>
              </a:xfrm>
              <a:prstGeom prst="line">
                <a:avLst/>
              </a:prstGeom>
              <a:ln w="38100" cap="flat" cmpd="sng">
                <a:solidFill>
                  <a:srgbClr val="666699"/>
                </a:solidFill>
                <a:prstDash val="solid"/>
                <a:round/>
                <a:headEnd type="none" w="med" len="med"/>
                <a:tailEnd type="none" w="med" len="med"/>
              </a:ln>
            </p:spPr>
          </p:sp>
          <p:sp>
            <p:nvSpPr>
              <p:cNvPr id="54307" name="Line 36"/>
              <p:cNvSpPr/>
              <p:nvPr/>
            </p:nvSpPr>
            <p:spPr>
              <a:xfrm>
                <a:off x="2857" y="2766"/>
                <a:ext cx="204" cy="157"/>
              </a:xfrm>
              <a:prstGeom prst="line">
                <a:avLst/>
              </a:prstGeom>
              <a:ln w="38100" cap="flat" cmpd="sng">
                <a:solidFill>
                  <a:srgbClr val="336699"/>
                </a:solidFill>
                <a:prstDash val="solid"/>
                <a:round/>
                <a:headEnd type="none" w="med" len="med"/>
                <a:tailEnd type="none" w="med" len="med"/>
              </a:ln>
            </p:spPr>
          </p:sp>
          <p:sp>
            <p:nvSpPr>
              <p:cNvPr id="54308" name="Line 37"/>
              <p:cNvSpPr/>
              <p:nvPr/>
            </p:nvSpPr>
            <p:spPr>
              <a:xfrm>
                <a:off x="2437" y="3024"/>
                <a:ext cx="185" cy="192"/>
              </a:xfrm>
              <a:prstGeom prst="line">
                <a:avLst/>
              </a:prstGeom>
              <a:ln w="38100" cap="flat" cmpd="sng">
                <a:solidFill>
                  <a:srgbClr val="336699"/>
                </a:solidFill>
                <a:prstDash val="solid"/>
                <a:round/>
                <a:headEnd type="none" w="med" len="med"/>
                <a:tailEnd type="none" w="med" len="med"/>
              </a:ln>
            </p:spPr>
          </p:sp>
          <p:sp>
            <p:nvSpPr>
              <p:cNvPr id="54309" name="Line 38"/>
              <p:cNvSpPr/>
              <p:nvPr/>
            </p:nvSpPr>
            <p:spPr>
              <a:xfrm>
                <a:off x="3224" y="3049"/>
                <a:ext cx="164" cy="127"/>
              </a:xfrm>
              <a:prstGeom prst="line">
                <a:avLst/>
              </a:prstGeom>
              <a:ln w="38100" cap="flat" cmpd="sng">
                <a:solidFill>
                  <a:srgbClr val="336699"/>
                </a:solidFill>
                <a:prstDash val="solid"/>
                <a:round/>
                <a:headEnd type="none" w="med" len="med"/>
                <a:tailEnd type="none" w="med" len="med"/>
              </a:ln>
            </p:spPr>
          </p:sp>
          <p:sp>
            <p:nvSpPr>
              <p:cNvPr id="54310" name="Line 39"/>
              <p:cNvSpPr/>
              <p:nvPr/>
            </p:nvSpPr>
            <p:spPr>
              <a:xfrm flipH="1">
                <a:off x="3265" y="3355"/>
                <a:ext cx="156" cy="166"/>
              </a:xfrm>
              <a:prstGeom prst="line">
                <a:avLst/>
              </a:prstGeom>
              <a:ln w="38100" cap="flat" cmpd="sng">
                <a:solidFill>
                  <a:srgbClr val="336699"/>
                </a:solidFill>
                <a:prstDash val="solid"/>
                <a:round/>
                <a:headEnd type="none" w="med" len="med"/>
                <a:tailEnd type="none" w="med" len="med"/>
              </a:ln>
            </p:spPr>
          </p:sp>
          <p:sp>
            <p:nvSpPr>
              <p:cNvPr id="54311" name="Line 40"/>
              <p:cNvSpPr/>
              <p:nvPr/>
            </p:nvSpPr>
            <p:spPr>
              <a:xfrm>
                <a:off x="3305" y="3678"/>
                <a:ext cx="195" cy="169"/>
              </a:xfrm>
              <a:prstGeom prst="line">
                <a:avLst/>
              </a:prstGeom>
              <a:ln w="38100" cap="flat" cmpd="sng">
                <a:solidFill>
                  <a:srgbClr val="336699"/>
                </a:solidFill>
                <a:prstDash val="solid"/>
                <a:round/>
                <a:headEnd type="none" w="med" len="med"/>
                <a:tailEnd type="none" w="med" len="med"/>
              </a:ln>
            </p:spPr>
          </p:sp>
          <p:sp>
            <p:nvSpPr>
              <p:cNvPr id="54312" name="Oval 41"/>
              <p:cNvSpPr/>
              <p:nvPr/>
            </p:nvSpPr>
            <p:spPr>
              <a:xfrm>
                <a:off x="2358" y="3579"/>
                <a:ext cx="183" cy="22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54313" name="Line 42"/>
              <p:cNvSpPr/>
              <p:nvPr/>
            </p:nvSpPr>
            <p:spPr>
              <a:xfrm flipH="1">
                <a:off x="2480" y="3391"/>
                <a:ext cx="162" cy="188"/>
              </a:xfrm>
              <a:prstGeom prst="line">
                <a:avLst/>
              </a:prstGeom>
              <a:ln w="38100" cap="flat" cmpd="sng">
                <a:solidFill>
                  <a:srgbClr val="336699"/>
                </a:solidFill>
                <a:prstDash val="solid"/>
                <a:round/>
                <a:headEnd type="none" w="med" len="med"/>
                <a:tailEnd type="none" w="med" len="med"/>
              </a:ln>
            </p:spPr>
          </p:sp>
          <p:sp>
            <p:nvSpPr>
              <p:cNvPr id="54314" name="Oval 43"/>
              <p:cNvSpPr/>
              <p:nvPr/>
            </p:nvSpPr>
            <p:spPr>
              <a:xfrm>
                <a:off x="3142" y="3490"/>
                <a:ext cx="183" cy="22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54315" name="Oval 44"/>
              <p:cNvSpPr/>
              <p:nvPr/>
            </p:nvSpPr>
            <p:spPr>
              <a:xfrm>
                <a:off x="2579" y="3216"/>
                <a:ext cx="183" cy="21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54316" name="Oval 45"/>
              <p:cNvSpPr/>
              <p:nvPr/>
            </p:nvSpPr>
            <p:spPr>
              <a:xfrm>
                <a:off x="2286" y="2861"/>
                <a:ext cx="183" cy="22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54317" name="Line 46"/>
              <p:cNvSpPr/>
              <p:nvPr/>
            </p:nvSpPr>
            <p:spPr>
              <a:xfrm flipH="1">
                <a:off x="3016" y="3692"/>
                <a:ext cx="155" cy="166"/>
              </a:xfrm>
              <a:prstGeom prst="line">
                <a:avLst/>
              </a:prstGeom>
              <a:ln w="38100" cap="flat" cmpd="sng">
                <a:solidFill>
                  <a:srgbClr val="336699"/>
                </a:solidFill>
                <a:prstDash val="solid"/>
                <a:round/>
                <a:headEnd type="none" w="med" len="med"/>
                <a:tailEnd type="none" w="med" len="med"/>
              </a:ln>
            </p:spPr>
          </p:sp>
          <p:sp>
            <p:nvSpPr>
              <p:cNvPr id="54318" name="Oval 47"/>
              <p:cNvSpPr/>
              <p:nvPr/>
            </p:nvSpPr>
            <p:spPr>
              <a:xfrm>
                <a:off x="2893" y="3827"/>
                <a:ext cx="184" cy="21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75</a:t>
                </a:r>
              </a:p>
            </p:txBody>
          </p:sp>
        </p:grpSp>
        <p:sp>
          <p:nvSpPr>
            <p:cNvPr id="54319" name="Text Box 91"/>
            <p:cNvSpPr txBox="1"/>
            <p:nvPr/>
          </p:nvSpPr>
          <p:spPr>
            <a:xfrm>
              <a:off x="2426" y="3430"/>
              <a:ext cx="1462" cy="464"/>
            </a:xfrm>
            <a:prstGeom prst="rect">
              <a:avLst/>
            </a:prstGeom>
            <a:noFill/>
            <a:ln w="9525">
              <a:noFill/>
            </a:ln>
          </p:spPr>
          <p:txBody>
            <a:bodyPr anchor="t" anchorCtr="0">
              <a:spAutoFit/>
            </a:bodyPr>
            <a:lstStyle/>
            <a:p>
              <a:pPr algn="ctr">
                <a:lnSpc>
                  <a:spcPct val="80000"/>
                </a:lnSpc>
                <a:spcBef>
                  <a:spcPct val="50000"/>
                </a:spcBef>
              </a:pPr>
              <a:r>
                <a:rPr lang="zh-CN" altLang="en-US" sz="2000" b="1" dirty="0">
                  <a:latin typeface="Tahoma" panose="020B0604030504040204" charset="0"/>
                  <a:ea typeface="宋体" panose="02010600030101010101" pitchFamily="2" charset="-122"/>
                </a:rPr>
                <a:t>删除结点</a:t>
              </a:r>
              <a:r>
                <a:rPr lang="en-US" altLang="zh-CN" sz="2000" b="1" dirty="0">
                  <a:latin typeface="Tahoma" panose="020B0604030504040204" charset="0"/>
                  <a:ea typeface="宋体" panose="02010600030101010101" pitchFamily="2" charset="-122"/>
                </a:rPr>
                <a:t>37</a:t>
              </a:r>
            </a:p>
            <a:p>
              <a:pPr algn="ctr">
                <a:lnSpc>
                  <a:spcPct val="80000"/>
                </a:lnSpc>
                <a:spcBef>
                  <a:spcPct val="50000"/>
                </a:spcBef>
              </a:pPr>
              <a:r>
                <a:rPr lang="en-US" altLang="zh-CN" sz="2000" b="1" dirty="0">
                  <a:latin typeface="Tahoma" panose="020B0604030504040204" charset="0"/>
                  <a:ea typeface="宋体" panose="02010600030101010101" pitchFamily="2" charset="-122"/>
                </a:rPr>
                <a:t>(</a:t>
              </a:r>
              <a:r>
                <a:rPr lang="zh-CN" altLang="en-US" sz="2000" b="1" dirty="0">
                  <a:latin typeface="Tahoma" panose="020B0604030504040204" charset="0"/>
                  <a:ea typeface="宋体" panose="02010600030101010101" pitchFamily="2" charset="-122"/>
                </a:rPr>
                <a:t>只有左子树</a:t>
              </a:r>
              <a:r>
                <a:rPr lang="en-US" altLang="zh-CN" sz="2000" b="1" dirty="0">
                  <a:latin typeface="Tahoma" panose="020B0604030504040204" charset="0"/>
                  <a:ea typeface="宋体" panose="02010600030101010101" pitchFamily="2" charset="-122"/>
                </a:rPr>
                <a:t>)</a:t>
              </a:r>
            </a:p>
          </p:txBody>
        </p:sp>
      </p:grpSp>
      <p:grpSp>
        <p:nvGrpSpPr>
          <p:cNvPr id="54320" name="Group 93"/>
          <p:cNvGrpSpPr/>
          <p:nvPr/>
        </p:nvGrpSpPr>
        <p:grpSpPr>
          <a:xfrm>
            <a:off x="1967865" y="2352675"/>
            <a:ext cx="2730500" cy="2698751"/>
            <a:chOff x="144" y="2072"/>
            <a:chExt cx="1720" cy="1700"/>
          </a:xfrm>
        </p:grpSpPr>
        <p:grpSp>
          <p:nvGrpSpPr>
            <p:cNvPr id="54321" name="Group 68"/>
            <p:cNvGrpSpPr/>
            <p:nvPr/>
          </p:nvGrpSpPr>
          <p:grpSpPr>
            <a:xfrm>
              <a:off x="184" y="2072"/>
              <a:ext cx="1680" cy="1296"/>
              <a:chOff x="240" y="2112"/>
              <a:chExt cx="2318" cy="1745"/>
            </a:xfrm>
          </p:grpSpPr>
          <p:sp>
            <p:nvSpPr>
              <p:cNvPr id="54322" name="Oval 69"/>
              <p:cNvSpPr/>
              <p:nvPr/>
            </p:nvSpPr>
            <p:spPr>
              <a:xfrm>
                <a:off x="1203" y="2112"/>
                <a:ext cx="256"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54323" name="Oval 70"/>
              <p:cNvSpPr/>
              <p:nvPr/>
            </p:nvSpPr>
            <p:spPr>
              <a:xfrm>
                <a:off x="1742" y="2384"/>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highlight>
                      <a:srgbClr val="FFFF00"/>
                    </a:highlight>
                    <a:latin typeface="Times New Roman" panose="02020603050405020304" pitchFamily="18" charset="0"/>
                    <a:ea typeface="宋体" panose="02010600030101010101" pitchFamily="2" charset="-122"/>
                  </a:rPr>
                  <a:t>64</a:t>
                </a:r>
              </a:p>
            </p:txBody>
          </p:sp>
          <p:sp>
            <p:nvSpPr>
              <p:cNvPr id="54324" name="Oval 71"/>
              <p:cNvSpPr/>
              <p:nvPr/>
            </p:nvSpPr>
            <p:spPr>
              <a:xfrm>
                <a:off x="240" y="2733"/>
                <a:ext cx="254"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54325" name="Oval 72"/>
              <p:cNvSpPr/>
              <p:nvPr/>
            </p:nvSpPr>
            <p:spPr>
              <a:xfrm>
                <a:off x="2167" y="2733"/>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54326" name="Oval 73"/>
              <p:cNvSpPr/>
              <p:nvPr/>
            </p:nvSpPr>
            <p:spPr>
              <a:xfrm>
                <a:off x="1090" y="2733"/>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highlight>
                      <a:srgbClr val="FFFF00"/>
                    </a:highlight>
                    <a:latin typeface="Times New Roman" panose="02020603050405020304" pitchFamily="18" charset="0"/>
                    <a:ea typeface="宋体" panose="02010600030101010101" pitchFamily="2" charset="-122"/>
                  </a:rPr>
                  <a:t>37</a:t>
                </a:r>
              </a:p>
            </p:txBody>
          </p:sp>
          <p:sp>
            <p:nvSpPr>
              <p:cNvPr id="54327" name="Oval 74"/>
              <p:cNvSpPr/>
              <p:nvPr/>
            </p:nvSpPr>
            <p:spPr>
              <a:xfrm>
                <a:off x="2304" y="3552"/>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54328" name="Line 75"/>
              <p:cNvSpPr/>
              <p:nvPr/>
            </p:nvSpPr>
            <p:spPr>
              <a:xfrm flipH="1">
                <a:off x="893" y="2267"/>
                <a:ext cx="310" cy="194"/>
              </a:xfrm>
              <a:prstGeom prst="line">
                <a:avLst/>
              </a:prstGeom>
              <a:ln w="38100" cap="flat" cmpd="sng">
                <a:solidFill>
                  <a:srgbClr val="336699"/>
                </a:solidFill>
                <a:prstDash val="solid"/>
                <a:round/>
                <a:headEnd type="none" w="med" len="med"/>
                <a:tailEnd type="none" w="med" len="med"/>
              </a:ln>
            </p:spPr>
          </p:sp>
          <p:sp>
            <p:nvSpPr>
              <p:cNvPr id="54329" name="Line 76"/>
              <p:cNvSpPr/>
              <p:nvPr/>
            </p:nvSpPr>
            <p:spPr>
              <a:xfrm flipH="1">
                <a:off x="466" y="2609"/>
                <a:ext cx="224" cy="163"/>
              </a:xfrm>
              <a:prstGeom prst="line">
                <a:avLst/>
              </a:prstGeom>
              <a:ln w="38100" cap="flat" cmpd="sng">
                <a:solidFill>
                  <a:srgbClr val="666699"/>
                </a:solidFill>
                <a:prstDash val="solid"/>
                <a:round/>
                <a:headEnd type="none" w="med" len="med"/>
                <a:tailEnd type="none" w="med" len="med"/>
              </a:ln>
            </p:spPr>
          </p:sp>
          <p:sp>
            <p:nvSpPr>
              <p:cNvPr id="54330" name="Line 77"/>
              <p:cNvSpPr/>
              <p:nvPr/>
            </p:nvSpPr>
            <p:spPr>
              <a:xfrm>
                <a:off x="1459" y="2267"/>
                <a:ext cx="283" cy="194"/>
              </a:xfrm>
              <a:prstGeom prst="line">
                <a:avLst/>
              </a:prstGeom>
              <a:ln w="38100" cap="flat" cmpd="sng">
                <a:solidFill>
                  <a:srgbClr val="336699"/>
                </a:solidFill>
                <a:prstDash val="solid"/>
                <a:round/>
                <a:headEnd type="none" w="med" len="med"/>
                <a:tailEnd type="none" w="med" len="med"/>
              </a:ln>
            </p:spPr>
          </p:sp>
          <p:sp>
            <p:nvSpPr>
              <p:cNvPr id="54331" name="Line 78"/>
              <p:cNvSpPr/>
              <p:nvPr/>
            </p:nvSpPr>
            <p:spPr>
              <a:xfrm>
                <a:off x="893" y="2578"/>
                <a:ext cx="226" cy="194"/>
              </a:xfrm>
              <a:prstGeom prst="line">
                <a:avLst/>
              </a:prstGeom>
              <a:ln w="38100" cap="flat" cmpd="sng">
                <a:solidFill>
                  <a:srgbClr val="336699"/>
                </a:solidFill>
                <a:prstDash val="solid"/>
                <a:round/>
                <a:headEnd type="none" w="med" len="med"/>
                <a:tailEnd type="none" w="med" len="med"/>
              </a:ln>
            </p:spPr>
          </p:sp>
          <p:sp>
            <p:nvSpPr>
              <p:cNvPr id="54332" name="Line 79"/>
              <p:cNvSpPr/>
              <p:nvPr/>
            </p:nvSpPr>
            <p:spPr>
              <a:xfrm flipH="1">
                <a:off x="841" y="2966"/>
                <a:ext cx="278" cy="267"/>
              </a:xfrm>
              <a:prstGeom prst="line">
                <a:avLst/>
              </a:prstGeom>
              <a:ln w="38100" cap="flat" cmpd="sng">
                <a:solidFill>
                  <a:srgbClr val="336699"/>
                </a:solidFill>
                <a:prstDash val="solid"/>
                <a:round/>
                <a:headEnd type="none" w="med" len="med"/>
                <a:tailEnd type="none" w="med" len="med"/>
              </a:ln>
            </p:spPr>
          </p:sp>
          <p:sp>
            <p:nvSpPr>
              <p:cNvPr id="54333" name="Line 80"/>
              <p:cNvSpPr/>
              <p:nvPr/>
            </p:nvSpPr>
            <p:spPr>
              <a:xfrm>
                <a:off x="1969" y="2616"/>
                <a:ext cx="227" cy="156"/>
              </a:xfrm>
              <a:prstGeom prst="line">
                <a:avLst/>
              </a:prstGeom>
              <a:ln w="38100" cap="flat" cmpd="sng">
                <a:solidFill>
                  <a:srgbClr val="336699"/>
                </a:solidFill>
                <a:prstDash val="solid"/>
                <a:round/>
                <a:headEnd type="none" w="med" len="med"/>
                <a:tailEnd type="none" w="med" len="med"/>
              </a:ln>
            </p:spPr>
          </p:sp>
          <p:sp>
            <p:nvSpPr>
              <p:cNvPr id="54334" name="Line 81"/>
              <p:cNvSpPr/>
              <p:nvPr/>
            </p:nvSpPr>
            <p:spPr>
              <a:xfrm flipH="1">
                <a:off x="2026" y="2993"/>
                <a:ext cx="216" cy="205"/>
              </a:xfrm>
              <a:prstGeom prst="line">
                <a:avLst/>
              </a:prstGeom>
              <a:ln w="38100" cap="flat" cmpd="sng">
                <a:solidFill>
                  <a:srgbClr val="336699"/>
                </a:solidFill>
                <a:prstDash val="solid"/>
                <a:round/>
                <a:headEnd type="none" w="med" len="med"/>
                <a:tailEnd type="none" w="med" len="med"/>
              </a:ln>
            </p:spPr>
          </p:sp>
          <p:sp>
            <p:nvSpPr>
              <p:cNvPr id="54335" name="Line 82"/>
              <p:cNvSpPr/>
              <p:nvPr/>
            </p:nvSpPr>
            <p:spPr>
              <a:xfrm>
                <a:off x="2081" y="3391"/>
                <a:ext cx="271" cy="209"/>
              </a:xfrm>
              <a:prstGeom prst="line">
                <a:avLst/>
              </a:prstGeom>
              <a:ln w="38100" cap="flat" cmpd="sng">
                <a:solidFill>
                  <a:srgbClr val="336699"/>
                </a:solidFill>
                <a:prstDash val="solid"/>
                <a:round/>
                <a:headEnd type="none" w="med" len="med"/>
                <a:tailEnd type="none" w="med" len="med"/>
              </a:ln>
            </p:spPr>
          </p:sp>
          <p:sp>
            <p:nvSpPr>
              <p:cNvPr id="54336" name="Oval 83"/>
              <p:cNvSpPr/>
              <p:nvPr/>
            </p:nvSpPr>
            <p:spPr>
              <a:xfrm>
                <a:off x="382" y="3585"/>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54337" name="Line 84"/>
              <p:cNvSpPr/>
              <p:nvPr/>
            </p:nvSpPr>
            <p:spPr>
              <a:xfrm flipH="1">
                <a:off x="552" y="3353"/>
                <a:ext cx="226" cy="232"/>
              </a:xfrm>
              <a:prstGeom prst="line">
                <a:avLst/>
              </a:prstGeom>
              <a:ln w="38100" cap="flat" cmpd="sng">
                <a:solidFill>
                  <a:srgbClr val="336699"/>
                </a:solidFill>
                <a:prstDash val="solid"/>
                <a:round/>
                <a:headEnd type="none" w="med" len="med"/>
                <a:tailEnd type="none" w="med" len="med"/>
              </a:ln>
            </p:spPr>
          </p:sp>
          <p:sp>
            <p:nvSpPr>
              <p:cNvPr id="54338" name="Oval 85"/>
              <p:cNvSpPr/>
              <p:nvPr/>
            </p:nvSpPr>
            <p:spPr>
              <a:xfrm>
                <a:off x="1855" y="3160"/>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54339" name="Oval 86"/>
              <p:cNvSpPr/>
              <p:nvPr/>
            </p:nvSpPr>
            <p:spPr>
              <a:xfrm>
                <a:off x="690" y="3137"/>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54340" name="Oval 87"/>
              <p:cNvSpPr/>
              <p:nvPr/>
            </p:nvSpPr>
            <p:spPr>
              <a:xfrm>
                <a:off x="665" y="2384"/>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54341" name="Line 88"/>
              <p:cNvSpPr/>
              <p:nvPr/>
            </p:nvSpPr>
            <p:spPr>
              <a:xfrm flipH="1">
                <a:off x="1680" y="3408"/>
                <a:ext cx="216" cy="205"/>
              </a:xfrm>
              <a:prstGeom prst="line">
                <a:avLst/>
              </a:prstGeom>
              <a:ln w="38100" cap="flat" cmpd="sng">
                <a:solidFill>
                  <a:srgbClr val="336699"/>
                </a:solidFill>
                <a:prstDash val="solid"/>
                <a:round/>
                <a:headEnd type="none" w="med" len="med"/>
                <a:tailEnd type="none" w="med" len="med"/>
              </a:ln>
            </p:spPr>
          </p:sp>
          <p:sp>
            <p:nvSpPr>
              <p:cNvPr id="54342" name="Oval 89"/>
              <p:cNvSpPr/>
              <p:nvPr/>
            </p:nvSpPr>
            <p:spPr>
              <a:xfrm>
                <a:off x="1509" y="3575"/>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75</a:t>
                </a:r>
              </a:p>
            </p:txBody>
          </p:sp>
        </p:grpSp>
        <p:sp>
          <p:nvSpPr>
            <p:cNvPr id="54343" name="Text Box 92"/>
            <p:cNvSpPr txBox="1"/>
            <p:nvPr/>
          </p:nvSpPr>
          <p:spPr>
            <a:xfrm>
              <a:off x="144" y="3521"/>
              <a:ext cx="1392" cy="251"/>
            </a:xfrm>
            <a:prstGeom prst="rect">
              <a:avLst/>
            </a:prstGeom>
            <a:noFill/>
            <a:ln w="9525">
              <a:noFill/>
            </a:ln>
          </p:spPr>
          <p:txBody>
            <a:bodyPr anchor="t" anchorCtr="0">
              <a:spAutoFit/>
            </a:bodyPr>
            <a:lstStyle/>
            <a:p>
              <a:pPr algn="ctr">
                <a:spcBef>
                  <a:spcPct val="50000"/>
                </a:spcBef>
              </a:pPr>
              <a:r>
                <a:rPr lang="zh-CN" altLang="en-US" sz="2000" b="1" dirty="0">
                  <a:latin typeface="Tahoma" panose="020B0604030504040204" charset="0"/>
                  <a:ea typeface="宋体" panose="02010600030101010101" pitchFamily="2" charset="-122"/>
                </a:rPr>
                <a:t>原图</a:t>
              </a:r>
            </a:p>
          </p:txBody>
        </p:sp>
      </p:grpSp>
      <p:grpSp>
        <p:nvGrpSpPr>
          <p:cNvPr id="54276" name="Group 95"/>
          <p:cNvGrpSpPr/>
          <p:nvPr/>
        </p:nvGrpSpPr>
        <p:grpSpPr>
          <a:xfrm>
            <a:off x="8903970" y="2230120"/>
            <a:ext cx="2374900" cy="2820988"/>
            <a:chOff x="4264" y="2072"/>
            <a:chExt cx="1496" cy="1777"/>
          </a:xfrm>
        </p:grpSpPr>
        <p:grpSp>
          <p:nvGrpSpPr>
            <p:cNvPr id="54277" name="Group 48"/>
            <p:cNvGrpSpPr/>
            <p:nvPr/>
          </p:nvGrpSpPr>
          <p:grpSpPr>
            <a:xfrm>
              <a:off x="4264" y="2072"/>
              <a:ext cx="1394" cy="1416"/>
              <a:chOff x="3936" y="2688"/>
              <a:chExt cx="1394" cy="1416"/>
            </a:xfrm>
          </p:grpSpPr>
          <p:sp>
            <p:nvSpPr>
              <p:cNvPr id="54278" name="Oval 49"/>
              <p:cNvSpPr/>
              <p:nvPr/>
            </p:nvSpPr>
            <p:spPr>
              <a:xfrm>
                <a:off x="4698" y="2688"/>
                <a:ext cx="182" cy="22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54279" name="Oval 50"/>
              <p:cNvSpPr/>
              <p:nvPr/>
            </p:nvSpPr>
            <p:spPr>
              <a:xfrm>
                <a:off x="3936" y="3192"/>
                <a:ext cx="181" cy="22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54280" name="Oval 51"/>
              <p:cNvSpPr/>
              <p:nvPr/>
            </p:nvSpPr>
            <p:spPr>
              <a:xfrm>
                <a:off x="5051" y="2975"/>
                <a:ext cx="182" cy="22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54281" name="Oval 52"/>
              <p:cNvSpPr/>
              <p:nvPr/>
            </p:nvSpPr>
            <p:spPr>
              <a:xfrm>
                <a:off x="4541" y="3192"/>
                <a:ext cx="182" cy="22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54282" name="Oval 53"/>
              <p:cNvSpPr/>
              <p:nvPr/>
            </p:nvSpPr>
            <p:spPr>
              <a:xfrm>
                <a:off x="5149" y="3640"/>
                <a:ext cx="181" cy="22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54283" name="Line 54"/>
              <p:cNvSpPr/>
              <p:nvPr/>
            </p:nvSpPr>
            <p:spPr>
              <a:xfrm flipH="1">
                <a:off x="4401" y="2832"/>
                <a:ext cx="297" cy="139"/>
              </a:xfrm>
              <a:prstGeom prst="line">
                <a:avLst/>
              </a:prstGeom>
              <a:ln w="38100" cap="flat" cmpd="sng">
                <a:solidFill>
                  <a:srgbClr val="336699"/>
                </a:solidFill>
                <a:prstDash val="solid"/>
                <a:round/>
                <a:headEnd type="none" w="med" len="med"/>
                <a:tailEnd type="none" w="med" len="med"/>
              </a:ln>
            </p:spPr>
          </p:sp>
          <p:sp>
            <p:nvSpPr>
              <p:cNvPr id="54284" name="Line 55"/>
              <p:cNvSpPr/>
              <p:nvPr/>
            </p:nvSpPr>
            <p:spPr>
              <a:xfrm flipH="1">
                <a:off x="4097" y="3091"/>
                <a:ext cx="159" cy="133"/>
              </a:xfrm>
              <a:prstGeom prst="line">
                <a:avLst/>
              </a:prstGeom>
              <a:ln w="38100" cap="flat" cmpd="sng">
                <a:solidFill>
                  <a:srgbClr val="666699"/>
                </a:solidFill>
                <a:prstDash val="solid"/>
                <a:round/>
                <a:headEnd type="none" w="med" len="med"/>
                <a:tailEnd type="none" w="med" len="med"/>
              </a:ln>
            </p:spPr>
          </p:sp>
          <p:sp>
            <p:nvSpPr>
              <p:cNvPr id="54285" name="Line 56"/>
              <p:cNvSpPr/>
              <p:nvPr/>
            </p:nvSpPr>
            <p:spPr>
              <a:xfrm>
                <a:off x="4401" y="3066"/>
                <a:ext cx="162" cy="158"/>
              </a:xfrm>
              <a:prstGeom prst="line">
                <a:avLst/>
              </a:prstGeom>
              <a:ln w="38100" cap="flat" cmpd="sng">
                <a:solidFill>
                  <a:srgbClr val="336699"/>
                </a:solidFill>
                <a:prstDash val="solid"/>
                <a:round/>
                <a:headEnd type="none" w="med" len="med"/>
                <a:tailEnd type="none" w="med" len="med"/>
              </a:ln>
            </p:spPr>
          </p:sp>
          <p:sp>
            <p:nvSpPr>
              <p:cNvPr id="54286" name="Line 57"/>
              <p:cNvSpPr/>
              <p:nvPr/>
            </p:nvSpPr>
            <p:spPr>
              <a:xfrm flipH="1">
                <a:off x="4364" y="3381"/>
                <a:ext cx="199" cy="217"/>
              </a:xfrm>
              <a:prstGeom prst="line">
                <a:avLst/>
              </a:prstGeom>
              <a:ln w="38100" cap="flat" cmpd="sng">
                <a:solidFill>
                  <a:srgbClr val="336699"/>
                </a:solidFill>
                <a:prstDash val="solid"/>
                <a:round/>
                <a:headEnd type="none" w="med" len="med"/>
                <a:tailEnd type="none" w="med" len="med"/>
              </a:ln>
            </p:spPr>
          </p:sp>
          <p:sp>
            <p:nvSpPr>
              <p:cNvPr id="54287" name="Line 58"/>
              <p:cNvSpPr/>
              <p:nvPr/>
            </p:nvSpPr>
            <p:spPr>
              <a:xfrm>
                <a:off x="4868" y="2880"/>
                <a:ext cx="205" cy="127"/>
              </a:xfrm>
              <a:prstGeom prst="line">
                <a:avLst/>
              </a:prstGeom>
              <a:ln w="38100" cap="flat" cmpd="sng">
                <a:solidFill>
                  <a:srgbClr val="336699"/>
                </a:solidFill>
                <a:prstDash val="solid"/>
                <a:round/>
                <a:headEnd type="none" w="med" len="med"/>
                <a:tailEnd type="none" w="med" len="med"/>
              </a:ln>
            </p:spPr>
          </p:sp>
          <p:sp>
            <p:nvSpPr>
              <p:cNvPr id="54288" name="Line 59"/>
              <p:cNvSpPr/>
              <p:nvPr/>
            </p:nvSpPr>
            <p:spPr>
              <a:xfrm flipH="1">
                <a:off x="4951" y="3186"/>
                <a:ext cx="154" cy="166"/>
              </a:xfrm>
              <a:prstGeom prst="line">
                <a:avLst/>
              </a:prstGeom>
              <a:ln w="38100" cap="flat" cmpd="sng">
                <a:solidFill>
                  <a:srgbClr val="336699"/>
                </a:solidFill>
                <a:prstDash val="solid"/>
                <a:round/>
                <a:headEnd type="none" w="med" len="med"/>
                <a:tailEnd type="none" w="med" len="med"/>
              </a:ln>
            </p:spPr>
          </p:sp>
          <p:sp>
            <p:nvSpPr>
              <p:cNvPr id="54289" name="Line 60"/>
              <p:cNvSpPr/>
              <p:nvPr/>
            </p:nvSpPr>
            <p:spPr>
              <a:xfrm>
                <a:off x="4991" y="3509"/>
                <a:ext cx="193" cy="169"/>
              </a:xfrm>
              <a:prstGeom prst="line">
                <a:avLst/>
              </a:prstGeom>
              <a:ln w="38100" cap="flat" cmpd="sng">
                <a:solidFill>
                  <a:srgbClr val="336699"/>
                </a:solidFill>
                <a:prstDash val="solid"/>
                <a:round/>
                <a:headEnd type="none" w="med" len="med"/>
                <a:tailEnd type="none" w="med" len="med"/>
              </a:ln>
            </p:spPr>
          </p:sp>
          <p:sp>
            <p:nvSpPr>
              <p:cNvPr id="54290" name="Oval 61"/>
              <p:cNvSpPr/>
              <p:nvPr/>
            </p:nvSpPr>
            <p:spPr>
              <a:xfrm>
                <a:off x="4037" y="3883"/>
                <a:ext cx="181" cy="22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54291" name="Line 62"/>
              <p:cNvSpPr/>
              <p:nvPr/>
            </p:nvSpPr>
            <p:spPr>
              <a:xfrm flipH="1">
                <a:off x="4158" y="3695"/>
                <a:ext cx="161" cy="188"/>
              </a:xfrm>
              <a:prstGeom prst="line">
                <a:avLst/>
              </a:prstGeom>
              <a:ln w="38100" cap="flat" cmpd="sng">
                <a:solidFill>
                  <a:srgbClr val="336699"/>
                </a:solidFill>
                <a:prstDash val="solid"/>
                <a:round/>
                <a:headEnd type="none" w="med" len="med"/>
                <a:tailEnd type="none" w="med" len="med"/>
              </a:ln>
            </p:spPr>
          </p:sp>
          <p:sp>
            <p:nvSpPr>
              <p:cNvPr id="54292" name="Oval 63"/>
              <p:cNvSpPr/>
              <p:nvPr/>
            </p:nvSpPr>
            <p:spPr>
              <a:xfrm>
                <a:off x="4829" y="3321"/>
                <a:ext cx="182" cy="22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54293" name="Oval 64"/>
              <p:cNvSpPr/>
              <p:nvPr/>
            </p:nvSpPr>
            <p:spPr>
              <a:xfrm>
                <a:off x="4256" y="3520"/>
                <a:ext cx="182" cy="21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54294" name="Oval 65"/>
              <p:cNvSpPr/>
              <p:nvPr/>
            </p:nvSpPr>
            <p:spPr>
              <a:xfrm>
                <a:off x="4239" y="2909"/>
                <a:ext cx="181" cy="22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54295" name="Line 66"/>
              <p:cNvSpPr/>
              <p:nvPr/>
            </p:nvSpPr>
            <p:spPr>
              <a:xfrm flipH="1">
                <a:off x="4705" y="3523"/>
                <a:ext cx="153" cy="166"/>
              </a:xfrm>
              <a:prstGeom prst="line">
                <a:avLst/>
              </a:prstGeom>
              <a:ln w="38100" cap="flat" cmpd="sng">
                <a:solidFill>
                  <a:srgbClr val="336699"/>
                </a:solidFill>
                <a:prstDash val="solid"/>
                <a:round/>
                <a:headEnd type="none" w="med" len="med"/>
                <a:tailEnd type="none" w="med" len="med"/>
              </a:ln>
            </p:spPr>
          </p:sp>
          <p:sp>
            <p:nvSpPr>
              <p:cNvPr id="54296" name="Oval 67"/>
              <p:cNvSpPr/>
              <p:nvPr/>
            </p:nvSpPr>
            <p:spPr>
              <a:xfrm>
                <a:off x="4583" y="3658"/>
                <a:ext cx="182" cy="21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75</a:t>
                </a:r>
              </a:p>
            </p:txBody>
          </p:sp>
        </p:grpSp>
        <p:sp>
          <p:nvSpPr>
            <p:cNvPr id="54297" name="Text Box 90"/>
            <p:cNvSpPr txBox="1"/>
            <p:nvPr/>
          </p:nvSpPr>
          <p:spPr>
            <a:xfrm>
              <a:off x="4408" y="3385"/>
              <a:ext cx="1352" cy="464"/>
            </a:xfrm>
            <a:prstGeom prst="rect">
              <a:avLst/>
            </a:prstGeom>
            <a:noFill/>
            <a:ln w="9525">
              <a:noFill/>
            </a:ln>
          </p:spPr>
          <p:txBody>
            <a:bodyPr anchor="t" anchorCtr="0">
              <a:spAutoFit/>
            </a:bodyPr>
            <a:lstStyle/>
            <a:p>
              <a:pPr algn="ctr">
                <a:lnSpc>
                  <a:spcPct val="80000"/>
                </a:lnSpc>
                <a:spcBef>
                  <a:spcPct val="50000"/>
                </a:spcBef>
              </a:pPr>
              <a:r>
                <a:rPr lang="zh-CN" altLang="en-US" sz="2000" b="1" dirty="0">
                  <a:latin typeface="Tahoma" panose="020B0604030504040204" charset="0"/>
                  <a:ea typeface="宋体" panose="02010600030101010101" pitchFamily="2" charset="-122"/>
                </a:rPr>
                <a:t>删除结点</a:t>
              </a:r>
              <a:r>
                <a:rPr lang="en-US" altLang="zh-CN" sz="2000" b="1" dirty="0">
                  <a:latin typeface="Tahoma" panose="020B0604030504040204" charset="0"/>
                  <a:ea typeface="宋体" panose="02010600030101010101" pitchFamily="2" charset="-122"/>
                </a:rPr>
                <a:t>64</a:t>
              </a:r>
            </a:p>
            <a:p>
              <a:pPr algn="ctr">
                <a:lnSpc>
                  <a:spcPct val="80000"/>
                </a:lnSpc>
                <a:spcBef>
                  <a:spcPct val="50000"/>
                </a:spcBef>
              </a:pPr>
              <a:r>
                <a:rPr lang="en-US" altLang="zh-CN" sz="2000" b="1" dirty="0">
                  <a:latin typeface="Tahoma" panose="020B0604030504040204" charset="0"/>
                  <a:ea typeface="宋体" panose="02010600030101010101" pitchFamily="2" charset="-122"/>
                </a:rPr>
                <a:t>(</a:t>
              </a:r>
              <a:r>
                <a:rPr lang="zh-CN" altLang="en-US" sz="2000" b="1" dirty="0">
                  <a:latin typeface="Tahoma" panose="020B0604030504040204" charset="0"/>
                  <a:ea typeface="宋体" panose="02010600030101010101" pitchFamily="2" charset="-122"/>
                </a:rPr>
                <a:t>只有右子树</a:t>
              </a:r>
              <a:r>
                <a:rPr lang="en-US" altLang="zh-CN" sz="2000" b="1" dirty="0">
                  <a:latin typeface="Tahoma" panose="020B0604030504040204" charset="0"/>
                  <a:ea typeface="宋体" panose="02010600030101010101" pitchFamily="2" charset="-122"/>
                </a:rPr>
                <a:t>)</a:t>
              </a: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被删除结点包含两棵子树，先替换后删除</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sym typeface="+mn-ea"/>
              </a:rPr>
              <a:t>方法一：找到左子树的最大值结点，用该结点的值替换被删除结点的值，然后删除</a:t>
            </a:r>
            <a:r>
              <a:rPr lang="zh-CN" altLang="en-US" dirty="0">
                <a:latin typeface="黑体" panose="02010609060101010101" pitchFamily="2" charset="-122"/>
                <a:ea typeface="黑体" panose="02010609060101010101" pitchFamily="2" charset="-122"/>
                <a:sym typeface="+mn-ea"/>
              </a:rPr>
              <a:t>最大值结点（删除方法看前两种情况）</a:t>
            </a: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方法二：找到右子树的最小值结点，用该结点的值替换被删除结点的值，然后删除最小值结点（删除方法看前两种情况）</a:t>
            </a: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注意：实际上被删除结点没有删除，它只做值替换，要删除的是左子树的最大值结点（最大右孩子），或右子树的最小值结点（最小左孩子）</a:t>
            </a:r>
          </a:p>
          <a:p>
            <a:pPr lvl="1" algn="l" eaLnBrk="1" hangingPunct="1">
              <a:buClrTx/>
              <a:buSzTx/>
              <a:buChar char="•"/>
            </a:pPr>
            <a:endParaRPr lang="zh-CN" altLang="en-US" sz="2400" dirty="0">
              <a:latin typeface="黑体" panose="02010609060101010101" pitchFamily="2" charset="-122"/>
              <a:ea typeface="黑体" panose="02010609060101010101" pitchFamily="2" charset="-122"/>
              <a:sym typeface="+mn-ea"/>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50</a:t>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被删除结点包含两棵子树，先替换后删除</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实质就是用当前结点</a:t>
            </a:r>
            <a:r>
              <a:rPr lang="en-US" altLang="zh-CN" dirty="0">
                <a:latin typeface="黑体" panose="02010609060101010101" pitchFamily="2" charset="-122"/>
                <a:ea typeface="黑体" panose="02010609060101010101" pitchFamily="2" charset="-122"/>
                <a:sym typeface="+mn-ea"/>
              </a:rPr>
              <a:t>P</a:t>
            </a:r>
            <a:r>
              <a:rPr lang="zh-CN" altLang="en-US" dirty="0">
                <a:latin typeface="黑体" panose="02010609060101010101" pitchFamily="2" charset="-122"/>
                <a:ea typeface="黑体" panose="02010609060101010101" pitchFamily="2" charset="-122"/>
                <a:sym typeface="+mn-ea"/>
              </a:rPr>
              <a:t>的</a:t>
            </a:r>
            <a:r>
              <a:rPr lang="zh-CN" altLang="en-US" dirty="0">
                <a:solidFill>
                  <a:srgbClr val="FF0000"/>
                </a:solidFill>
                <a:latin typeface="黑体" panose="02010609060101010101" pitchFamily="2" charset="-122"/>
                <a:ea typeface="黑体" panose="02010609060101010101" pitchFamily="2" charset="-122"/>
                <a:sym typeface="+mn-ea"/>
              </a:rPr>
              <a:t>左子树的最大右孩子</a:t>
            </a:r>
            <a:r>
              <a:rPr lang="en-US" altLang="zh-CN" dirty="0">
                <a:solidFill>
                  <a:srgbClr val="FF0000"/>
                </a:solidFill>
                <a:latin typeface="黑体" panose="02010609060101010101" pitchFamily="2" charset="-122"/>
                <a:ea typeface="黑体" panose="02010609060101010101" pitchFamily="2" charset="-122"/>
                <a:sym typeface="+mn-ea"/>
              </a:rPr>
              <a:t>S</a:t>
            </a:r>
            <a:r>
              <a:rPr lang="zh-CN" altLang="en-US" dirty="0">
                <a:solidFill>
                  <a:srgbClr val="FF0000"/>
                </a:solidFill>
                <a:latin typeface="黑体" panose="02010609060101010101" pitchFamily="2" charset="-122"/>
                <a:ea typeface="黑体" panose="02010609060101010101" pitchFamily="2" charset="-122"/>
                <a:sym typeface="+mn-ea"/>
              </a:rPr>
              <a:t>替换</a:t>
            </a:r>
            <a:r>
              <a:rPr lang="en-US" altLang="zh-CN" dirty="0">
                <a:latin typeface="黑体" panose="02010609060101010101" pitchFamily="2" charset="-122"/>
                <a:ea typeface="黑体" panose="02010609060101010101" pitchFamily="2" charset="-122"/>
                <a:sym typeface="+mn-ea"/>
              </a:rPr>
              <a:t>P</a:t>
            </a:r>
            <a:r>
              <a:rPr lang="zh-CN" altLang="en-US" dirty="0">
                <a:latin typeface="黑体" panose="02010609060101010101" pitchFamily="2" charset="-122"/>
                <a:ea typeface="黑体" panose="02010609060101010101" pitchFamily="2" charset="-122"/>
                <a:sym typeface="+mn-ea"/>
              </a:rPr>
              <a:t>，然后再删除</a:t>
            </a:r>
            <a:r>
              <a:rPr lang="en-US" altLang="zh-CN" dirty="0">
                <a:latin typeface="黑体" panose="02010609060101010101" pitchFamily="2" charset="-122"/>
                <a:ea typeface="黑体" panose="02010609060101010101" pitchFamily="2" charset="-122"/>
                <a:sym typeface="+mn-ea"/>
              </a:rPr>
              <a:t>S</a:t>
            </a:r>
            <a:endParaRPr lang="en-US" altLang="zh-CN"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51</a:t>
            </a:fld>
            <a:endParaRPr lang="zh-CN" altLang="en-US"/>
          </a:p>
        </p:txBody>
      </p:sp>
      <p:grpSp>
        <p:nvGrpSpPr>
          <p:cNvPr id="55300" name="Group 72"/>
          <p:cNvGrpSpPr/>
          <p:nvPr/>
        </p:nvGrpSpPr>
        <p:grpSpPr>
          <a:xfrm>
            <a:off x="4801235" y="1988820"/>
            <a:ext cx="2874963" cy="3886200"/>
            <a:chOff x="624" y="0"/>
            <a:chExt cx="1811" cy="2448"/>
          </a:xfrm>
        </p:grpSpPr>
        <p:sp>
          <p:nvSpPr>
            <p:cNvPr id="55301" name="Oval 73"/>
            <p:cNvSpPr/>
            <p:nvPr/>
          </p:nvSpPr>
          <p:spPr>
            <a:xfrm>
              <a:off x="1393" y="830"/>
              <a:ext cx="292" cy="217"/>
            </a:xfrm>
            <a:prstGeom prst="ellipse">
              <a:avLst/>
            </a:prstGeom>
            <a:noFill/>
            <a:ln w="38100" cap="flat" cmpd="sng">
              <a:solidFill>
                <a:schemeClr val="tx1"/>
              </a:solidFill>
              <a:prstDash val="solid"/>
              <a:round/>
              <a:headEnd type="none" w="med" len="med"/>
              <a:tailEnd type="none" w="med" len="med"/>
            </a:ln>
          </p:spPr>
          <p:txBody>
            <a:bodyPr wrap="none" anchor="ctr" anchorCtr="0"/>
            <a:lstStyle/>
            <a:p>
              <a:pPr algn="ctr"/>
              <a:r>
                <a:rPr lang="en-US" altLang="zh-CN" sz="1800" b="1" dirty="0">
                  <a:solidFill>
                    <a:srgbClr val="00FF00"/>
                  </a:solidFill>
                  <a:latin typeface="Times New Roman" panose="02020603050405020304" pitchFamily="18" charset="0"/>
                  <a:ea typeface="宋体" panose="02010600030101010101" pitchFamily="2" charset="-122"/>
                </a:rPr>
                <a:t>P</a:t>
              </a:r>
            </a:p>
          </p:txBody>
        </p:sp>
        <p:sp>
          <p:nvSpPr>
            <p:cNvPr id="55302" name="Oval 74"/>
            <p:cNvSpPr/>
            <p:nvPr/>
          </p:nvSpPr>
          <p:spPr>
            <a:xfrm>
              <a:off x="976" y="1138"/>
              <a:ext cx="291" cy="217"/>
            </a:xfrm>
            <a:prstGeom prst="ellipse">
              <a:avLst/>
            </a:prstGeom>
            <a:noFill/>
            <a:ln w="38100" cap="flat" cmpd="sng">
              <a:solidFill>
                <a:srgbClr val="0000FF"/>
              </a:solidFill>
              <a:prstDash val="solid"/>
              <a:round/>
              <a:headEnd type="none" w="med" len="med"/>
              <a:tailEnd type="none" w="med" len="med"/>
            </a:ln>
          </p:spPr>
          <p:txBody>
            <a:bodyPr wrap="none" anchor="ctr" anchorCtr="0"/>
            <a:lstStyle/>
            <a:p>
              <a:pPr algn="ctr"/>
              <a:r>
                <a:rPr lang="en-US" altLang="zh-CN" sz="1800" b="1" dirty="0">
                  <a:solidFill>
                    <a:srgbClr val="003366"/>
                  </a:solidFill>
                  <a:latin typeface="Times New Roman" panose="02020603050405020304" pitchFamily="18" charset="0"/>
                  <a:ea typeface="宋体" panose="02010600030101010101" pitchFamily="2" charset="-122"/>
                </a:rPr>
                <a:t>C</a:t>
              </a:r>
            </a:p>
          </p:txBody>
        </p:sp>
        <p:sp>
          <p:nvSpPr>
            <p:cNvPr id="55303" name="Line 75"/>
            <p:cNvSpPr/>
            <p:nvPr/>
          </p:nvSpPr>
          <p:spPr>
            <a:xfrm flipH="1">
              <a:off x="850" y="1324"/>
              <a:ext cx="167" cy="185"/>
            </a:xfrm>
            <a:prstGeom prst="line">
              <a:avLst/>
            </a:prstGeom>
            <a:ln w="28575" cap="flat" cmpd="sng">
              <a:solidFill>
                <a:srgbClr val="6600CC"/>
              </a:solidFill>
              <a:prstDash val="solid"/>
              <a:round/>
              <a:headEnd type="none" w="med" len="med"/>
              <a:tailEnd type="none" w="med" len="med"/>
            </a:ln>
          </p:spPr>
        </p:sp>
        <p:sp>
          <p:nvSpPr>
            <p:cNvPr id="55304" name="Line 76"/>
            <p:cNvSpPr/>
            <p:nvPr/>
          </p:nvSpPr>
          <p:spPr>
            <a:xfrm>
              <a:off x="1226" y="1324"/>
              <a:ext cx="167" cy="215"/>
            </a:xfrm>
            <a:prstGeom prst="line">
              <a:avLst/>
            </a:prstGeom>
            <a:ln w="28575" cap="flat" cmpd="sng">
              <a:solidFill>
                <a:srgbClr val="6600CC"/>
              </a:solidFill>
              <a:prstDash val="solid"/>
              <a:round/>
              <a:headEnd type="none" w="med" len="med"/>
              <a:tailEnd type="none" w="med" len="med"/>
            </a:ln>
          </p:spPr>
        </p:sp>
        <p:sp>
          <p:nvSpPr>
            <p:cNvPr id="55305" name="Line 77"/>
            <p:cNvSpPr/>
            <p:nvPr/>
          </p:nvSpPr>
          <p:spPr>
            <a:xfrm flipH="1">
              <a:off x="1226" y="1016"/>
              <a:ext cx="208" cy="154"/>
            </a:xfrm>
            <a:prstGeom prst="line">
              <a:avLst/>
            </a:prstGeom>
            <a:ln w="31750" cap="flat" cmpd="sng">
              <a:solidFill>
                <a:srgbClr val="006600"/>
              </a:solidFill>
              <a:prstDash val="solid"/>
              <a:round/>
              <a:headEnd type="none" w="med" len="med"/>
              <a:tailEnd type="none" w="med" len="med"/>
            </a:ln>
          </p:spPr>
        </p:sp>
        <p:sp>
          <p:nvSpPr>
            <p:cNvPr id="55306" name="Line 78"/>
            <p:cNvSpPr/>
            <p:nvPr/>
          </p:nvSpPr>
          <p:spPr>
            <a:xfrm flipH="1">
              <a:off x="1600" y="646"/>
              <a:ext cx="293" cy="216"/>
            </a:xfrm>
            <a:prstGeom prst="line">
              <a:avLst/>
            </a:prstGeom>
            <a:ln w="31750" cap="flat" cmpd="sng">
              <a:solidFill>
                <a:srgbClr val="006600"/>
              </a:solidFill>
              <a:prstDash val="solid"/>
              <a:round/>
              <a:headEnd type="none" w="med" len="med"/>
              <a:tailEnd type="none" w="med" len="med"/>
            </a:ln>
          </p:spPr>
        </p:sp>
        <p:sp>
          <p:nvSpPr>
            <p:cNvPr id="55307" name="Text Box 79"/>
            <p:cNvSpPr txBox="1"/>
            <p:nvPr/>
          </p:nvSpPr>
          <p:spPr>
            <a:xfrm>
              <a:off x="1100" y="324"/>
              <a:ext cx="195" cy="232"/>
            </a:xfrm>
            <a:prstGeom prst="rect">
              <a:avLst/>
            </a:prstGeom>
            <a:noFill/>
            <a:ln w="9525">
              <a:noFill/>
            </a:ln>
          </p:spPr>
          <p:txBody>
            <a:bodyPr wrap="none" anchor="t" anchorCtr="0">
              <a:spAutoFit/>
            </a:bodyPr>
            <a:lstStyle/>
            <a:p>
              <a:r>
                <a:rPr lang="en-US" altLang="zh-CN" sz="1800" b="1" dirty="0">
                  <a:solidFill>
                    <a:srgbClr val="003366"/>
                  </a:solidFill>
                  <a:latin typeface="Times New Roman" panose="02020603050405020304" pitchFamily="18" charset="0"/>
                  <a:ea typeface="宋体" panose="02010600030101010101" pitchFamily="2" charset="-122"/>
                </a:rPr>
                <a:t>p</a:t>
              </a:r>
            </a:p>
          </p:txBody>
        </p:sp>
        <p:sp>
          <p:nvSpPr>
            <p:cNvPr id="55308" name="Oval 80"/>
            <p:cNvSpPr/>
            <p:nvPr/>
          </p:nvSpPr>
          <p:spPr>
            <a:xfrm>
              <a:off x="1851" y="462"/>
              <a:ext cx="292" cy="215"/>
            </a:xfrm>
            <a:prstGeom prst="ellipse">
              <a:avLst/>
            </a:prstGeom>
            <a:noFill/>
            <a:ln w="38100" cap="flat" cmpd="sng">
              <a:solidFill>
                <a:srgbClr val="808000"/>
              </a:solidFill>
              <a:prstDash val="solid"/>
              <a:round/>
              <a:headEnd type="none" w="med" len="med"/>
              <a:tailEnd type="none" w="med" len="med"/>
            </a:ln>
          </p:spPr>
          <p:txBody>
            <a:bodyPr wrap="none" anchor="ctr" anchorCtr="0"/>
            <a:lstStyle/>
            <a:p>
              <a:pPr algn="ctr"/>
              <a:r>
                <a:rPr lang="en-US" altLang="zh-CN" sz="1800" b="1" dirty="0">
                  <a:solidFill>
                    <a:srgbClr val="003366"/>
                  </a:solidFill>
                  <a:latin typeface="Times New Roman" panose="02020603050405020304" pitchFamily="18" charset="0"/>
                  <a:ea typeface="宋体" panose="02010600030101010101" pitchFamily="2" charset="-122"/>
                </a:rPr>
                <a:t>F</a:t>
              </a:r>
            </a:p>
          </p:txBody>
        </p:sp>
        <p:sp>
          <p:nvSpPr>
            <p:cNvPr id="55309" name="Line 81"/>
            <p:cNvSpPr/>
            <p:nvPr/>
          </p:nvSpPr>
          <p:spPr>
            <a:xfrm>
              <a:off x="1226" y="492"/>
              <a:ext cx="250" cy="338"/>
            </a:xfrm>
            <a:prstGeom prst="line">
              <a:avLst/>
            </a:prstGeom>
            <a:ln w="38100" cap="flat" cmpd="sng">
              <a:solidFill>
                <a:srgbClr val="800000"/>
              </a:solidFill>
              <a:prstDash val="solid"/>
              <a:round/>
              <a:headEnd type="none" w="med" len="med"/>
              <a:tailEnd type="triangle" w="med" len="lg"/>
            </a:ln>
          </p:spPr>
        </p:sp>
        <p:sp>
          <p:nvSpPr>
            <p:cNvPr id="55310" name="Line 82"/>
            <p:cNvSpPr/>
            <p:nvPr/>
          </p:nvSpPr>
          <p:spPr>
            <a:xfrm>
              <a:off x="2102" y="646"/>
              <a:ext cx="333" cy="247"/>
            </a:xfrm>
            <a:prstGeom prst="line">
              <a:avLst/>
            </a:prstGeom>
            <a:ln w="31750" cap="flat" cmpd="sng">
              <a:solidFill>
                <a:srgbClr val="006600"/>
              </a:solidFill>
              <a:prstDash val="solid"/>
              <a:round/>
              <a:headEnd type="none" w="med" len="med"/>
              <a:tailEnd type="none" w="med" len="med"/>
            </a:ln>
          </p:spPr>
        </p:sp>
        <p:sp>
          <p:nvSpPr>
            <p:cNvPr id="55311" name="Oval 83"/>
            <p:cNvSpPr/>
            <p:nvPr/>
          </p:nvSpPr>
          <p:spPr>
            <a:xfrm>
              <a:off x="1666" y="1163"/>
              <a:ext cx="293" cy="216"/>
            </a:xfrm>
            <a:prstGeom prst="ellipse">
              <a:avLst/>
            </a:prstGeom>
            <a:noFill/>
            <a:ln w="38100" cap="flat" cmpd="sng">
              <a:solidFill>
                <a:srgbClr val="0000FF"/>
              </a:solidFill>
              <a:prstDash val="solid"/>
              <a:round/>
              <a:headEnd type="none" w="med" len="med"/>
              <a:tailEnd type="none" w="med" len="med"/>
            </a:ln>
          </p:spPr>
          <p:txBody>
            <a:bodyPr wrap="none" anchor="ctr" anchorCtr="0"/>
            <a:lstStyle/>
            <a:p>
              <a:pPr algn="ctr"/>
              <a:r>
                <a:rPr lang="en-US" altLang="zh-CN" sz="1800" b="1" dirty="0">
                  <a:solidFill>
                    <a:srgbClr val="003366"/>
                  </a:solidFill>
                  <a:latin typeface="Times New Roman" panose="02020603050405020304" pitchFamily="18" charset="0"/>
                  <a:ea typeface="宋体" panose="02010600030101010101" pitchFamily="2" charset="-122"/>
                </a:rPr>
                <a:t>P</a:t>
              </a:r>
              <a:r>
                <a:rPr lang="en-US" altLang="zh-CN" sz="1800" b="1" baseline="-25000" dirty="0">
                  <a:solidFill>
                    <a:srgbClr val="003366"/>
                  </a:solidFill>
                  <a:latin typeface="Times New Roman" panose="02020603050405020304" pitchFamily="18" charset="0"/>
                  <a:ea typeface="宋体" panose="02010600030101010101" pitchFamily="2" charset="-122"/>
                </a:rPr>
                <a:t>R</a:t>
              </a:r>
            </a:p>
          </p:txBody>
        </p:sp>
        <p:sp>
          <p:nvSpPr>
            <p:cNvPr id="55312" name="Text Box 84"/>
            <p:cNvSpPr txBox="1"/>
            <p:nvPr/>
          </p:nvSpPr>
          <p:spPr>
            <a:xfrm>
              <a:off x="1476" y="0"/>
              <a:ext cx="184" cy="232"/>
            </a:xfrm>
            <a:prstGeom prst="rect">
              <a:avLst/>
            </a:prstGeom>
            <a:noFill/>
            <a:ln w="9525">
              <a:noFill/>
            </a:ln>
          </p:spPr>
          <p:txBody>
            <a:bodyPr anchor="t" anchorCtr="0">
              <a:spAutoFit/>
            </a:bodyPr>
            <a:lstStyle/>
            <a:p>
              <a:r>
                <a:rPr lang="en-US" altLang="zh-CN" sz="1800" b="1" dirty="0">
                  <a:solidFill>
                    <a:srgbClr val="003366"/>
                  </a:solidFill>
                  <a:latin typeface="Times New Roman" panose="02020603050405020304" pitchFamily="18" charset="0"/>
                  <a:ea typeface="宋体" panose="02010600030101010101" pitchFamily="2" charset="-122"/>
                </a:rPr>
                <a:t>f</a:t>
              </a:r>
            </a:p>
          </p:txBody>
        </p:sp>
        <p:sp>
          <p:nvSpPr>
            <p:cNvPr id="55313" name="Line 85"/>
            <p:cNvSpPr/>
            <p:nvPr/>
          </p:nvSpPr>
          <p:spPr>
            <a:xfrm>
              <a:off x="1643" y="184"/>
              <a:ext cx="250" cy="278"/>
            </a:xfrm>
            <a:prstGeom prst="line">
              <a:avLst/>
            </a:prstGeom>
            <a:ln w="38100" cap="flat" cmpd="sng">
              <a:solidFill>
                <a:srgbClr val="800000"/>
              </a:solidFill>
              <a:prstDash val="solid"/>
              <a:round/>
              <a:headEnd type="none" w="med" len="med"/>
              <a:tailEnd type="triangle" w="med" len="lg"/>
            </a:ln>
          </p:spPr>
        </p:sp>
        <p:sp>
          <p:nvSpPr>
            <p:cNvPr id="55314" name="Line 86"/>
            <p:cNvSpPr/>
            <p:nvPr/>
          </p:nvSpPr>
          <p:spPr>
            <a:xfrm>
              <a:off x="1666" y="992"/>
              <a:ext cx="96" cy="171"/>
            </a:xfrm>
            <a:prstGeom prst="line">
              <a:avLst/>
            </a:prstGeom>
            <a:ln w="31750" cap="flat" cmpd="sng">
              <a:solidFill>
                <a:srgbClr val="006600"/>
              </a:solidFill>
              <a:prstDash val="solid"/>
              <a:round/>
              <a:headEnd type="none" w="med" len="med"/>
              <a:tailEnd type="none" w="med" len="med"/>
            </a:ln>
          </p:spPr>
        </p:sp>
        <p:sp>
          <p:nvSpPr>
            <p:cNvPr id="55315" name="Oval 87"/>
            <p:cNvSpPr/>
            <p:nvPr/>
          </p:nvSpPr>
          <p:spPr>
            <a:xfrm>
              <a:off x="624" y="1501"/>
              <a:ext cx="291" cy="216"/>
            </a:xfrm>
            <a:prstGeom prst="ellipse">
              <a:avLst/>
            </a:prstGeom>
            <a:noFill/>
            <a:ln w="38100" cap="flat" cmpd="sng">
              <a:solidFill>
                <a:srgbClr val="0000FF"/>
              </a:solidFill>
              <a:prstDash val="solid"/>
              <a:round/>
              <a:headEnd type="none" w="med" len="med"/>
              <a:tailEnd type="none" w="med" len="med"/>
            </a:ln>
          </p:spPr>
          <p:txBody>
            <a:bodyPr wrap="none" anchor="ctr" anchorCtr="0"/>
            <a:lstStyle/>
            <a:p>
              <a:pPr algn="ctr"/>
              <a:r>
                <a:rPr lang="en-US" altLang="zh-CN" sz="1800" b="1" dirty="0">
                  <a:solidFill>
                    <a:srgbClr val="003366"/>
                  </a:solidFill>
                  <a:latin typeface="Times New Roman" panose="02020603050405020304" pitchFamily="18" charset="0"/>
                  <a:ea typeface="宋体" panose="02010600030101010101" pitchFamily="2" charset="-122"/>
                </a:rPr>
                <a:t>C</a:t>
              </a:r>
              <a:r>
                <a:rPr lang="en-US" altLang="zh-CN" sz="1800" b="1" baseline="-25000" dirty="0">
                  <a:solidFill>
                    <a:srgbClr val="003366"/>
                  </a:solidFill>
                  <a:latin typeface="Times New Roman" panose="02020603050405020304" pitchFamily="18" charset="0"/>
                  <a:ea typeface="宋体" panose="02010600030101010101" pitchFamily="2" charset="-122"/>
                </a:rPr>
                <a:t>L</a:t>
              </a:r>
            </a:p>
          </p:txBody>
        </p:sp>
        <p:sp>
          <p:nvSpPr>
            <p:cNvPr id="55316" name="Oval 88"/>
            <p:cNvSpPr/>
            <p:nvPr/>
          </p:nvSpPr>
          <p:spPr>
            <a:xfrm>
              <a:off x="1303" y="1501"/>
              <a:ext cx="292" cy="216"/>
            </a:xfrm>
            <a:prstGeom prst="ellipse">
              <a:avLst/>
            </a:prstGeom>
            <a:noFill/>
            <a:ln w="38100" cap="flat" cmpd="sng">
              <a:solidFill>
                <a:srgbClr val="0000FF"/>
              </a:solidFill>
              <a:prstDash val="solid"/>
              <a:round/>
              <a:headEnd type="none" w="med" len="med"/>
              <a:tailEnd type="none" w="med" len="med"/>
            </a:ln>
          </p:spPr>
          <p:txBody>
            <a:bodyPr wrap="none" anchor="ctr" anchorCtr="0"/>
            <a:lstStyle/>
            <a:p>
              <a:pPr algn="ctr"/>
              <a:r>
                <a:rPr lang="en-US" altLang="zh-CN" sz="1800" b="1" dirty="0">
                  <a:solidFill>
                    <a:srgbClr val="003366"/>
                  </a:solidFill>
                  <a:latin typeface="Times New Roman" panose="02020603050405020304" pitchFamily="18" charset="0"/>
                  <a:ea typeface="宋体" panose="02010600030101010101" pitchFamily="2" charset="-122"/>
                </a:rPr>
                <a:t>Q</a:t>
              </a:r>
            </a:p>
          </p:txBody>
        </p:sp>
        <p:sp>
          <p:nvSpPr>
            <p:cNvPr id="55317" name="Oval 89"/>
            <p:cNvSpPr/>
            <p:nvPr/>
          </p:nvSpPr>
          <p:spPr>
            <a:xfrm>
              <a:off x="1213" y="2232"/>
              <a:ext cx="291" cy="216"/>
            </a:xfrm>
            <a:prstGeom prst="ellipse">
              <a:avLst/>
            </a:prstGeom>
            <a:noFill/>
            <a:ln w="38100" cap="flat" cmpd="sng">
              <a:solidFill>
                <a:srgbClr val="0000FF"/>
              </a:solidFill>
              <a:prstDash val="solid"/>
              <a:round/>
              <a:headEnd type="none" w="med" len="med"/>
              <a:tailEnd type="none" w="med" len="med"/>
            </a:ln>
          </p:spPr>
          <p:txBody>
            <a:bodyPr wrap="none" anchor="ctr" anchorCtr="0"/>
            <a:lstStyle/>
            <a:p>
              <a:pPr algn="ctr"/>
              <a:r>
                <a:rPr lang="en-US" altLang="zh-CN" sz="1800" b="1" dirty="0">
                  <a:solidFill>
                    <a:srgbClr val="003366"/>
                  </a:solidFill>
                  <a:latin typeface="Times New Roman" panose="02020603050405020304" pitchFamily="18" charset="0"/>
                  <a:ea typeface="宋体" panose="02010600030101010101" pitchFamily="2" charset="-122"/>
                </a:rPr>
                <a:t>S</a:t>
              </a:r>
              <a:r>
                <a:rPr lang="en-US" altLang="zh-CN" sz="1800" b="1" baseline="-25000" dirty="0">
                  <a:solidFill>
                    <a:srgbClr val="003366"/>
                  </a:solidFill>
                  <a:latin typeface="Times New Roman" panose="02020603050405020304" pitchFamily="18" charset="0"/>
                  <a:ea typeface="宋体" panose="02010600030101010101" pitchFamily="2" charset="-122"/>
                </a:rPr>
                <a:t>L</a:t>
              </a:r>
            </a:p>
          </p:txBody>
        </p:sp>
        <p:sp>
          <p:nvSpPr>
            <p:cNvPr id="55318" name="Oval 90"/>
            <p:cNvSpPr/>
            <p:nvPr/>
          </p:nvSpPr>
          <p:spPr>
            <a:xfrm>
              <a:off x="1031" y="1885"/>
              <a:ext cx="292" cy="217"/>
            </a:xfrm>
            <a:prstGeom prst="ellipse">
              <a:avLst/>
            </a:prstGeom>
            <a:noFill/>
            <a:ln w="38100" cap="flat" cmpd="sng">
              <a:solidFill>
                <a:srgbClr val="0000FF"/>
              </a:solidFill>
              <a:prstDash val="solid"/>
              <a:round/>
              <a:headEnd type="none" w="med" len="med"/>
              <a:tailEnd type="none" w="med" len="med"/>
            </a:ln>
          </p:spPr>
          <p:txBody>
            <a:bodyPr wrap="none" anchor="ctr" anchorCtr="0"/>
            <a:lstStyle/>
            <a:p>
              <a:pPr algn="ctr"/>
              <a:r>
                <a:rPr lang="en-US" altLang="zh-CN" sz="1800" b="1" dirty="0">
                  <a:solidFill>
                    <a:srgbClr val="003366"/>
                  </a:solidFill>
                  <a:latin typeface="Times New Roman" panose="02020603050405020304" pitchFamily="18" charset="0"/>
                  <a:ea typeface="宋体" panose="02010600030101010101" pitchFamily="2" charset="-122"/>
                </a:rPr>
                <a:t>Q</a:t>
              </a:r>
              <a:r>
                <a:rPr lang="en-US" altLang="zh-CN" sz="1800" b="1" baseline="-25000" dirty="0">
                  <a:solidFill>
                    <a:srgbClr val="003366"/>
                  </a:solidFill>
                  <a:latin typeface="Times New Roman" panose="02020603050405020304" pitchFamily="18" charset="0"/>
                  <a:ea typeface="宋体" panose="02010600030101010101" pitchFamily="2" charset="-122"/>
                </a:rPr>
                <a:t>L</a:t>
              </a:r>
            </a:p>
          </p:txBody>
        </p:sp>
        <p:sp>
          <p:nvSpPr>
            <p:cNvPr id="55319" name="Oval 91"/>
            <p:cNvSpPr/>
            <p:nvPr/>
          </p:nvSpPr>
          <p:spPr>
            <a:xfrm>
              <a:off x="1529" y="1885"/>
              <a:ext cx="292" cy="217"/>
            </a:xfrm>
            <a:prstGeom prst="ellipse">
              <a:avLst/>
            </a:prstGeom>
            <a:noFill/>
            <a:ln w="38100" cap="flat" cmpd="sng">
              <a:solidFill>
                <a:srgbClr val="0000FF"/>
              </a:solidFill>
              <a:prstDash val="solid"/>
              <a:round/>
              <a:headEnd type="none" w="med" len="med"/>
              <a:tailEnd type="none" w="med" len="med"/>
            </a:ln>
          </p:spPr>
          <p:txBody>
            <a:bodyPr wrap="none" anchor="ctr" anchorCtr="0"/>
            <a:lstStyle/>
            <a:p>
              <a:pPr algn="ctr"/>
              <a:r>
                <a:rPr lang="en-US" altLang="zh-CN" sz="1800" b="1" dirty="0">
                  <a:solidFill>
                    <a:schemeClr val="hlink"/>
                  </a:solidFill>
                  <a:latin typeface="Times New Roman" panose="02020603050405020304" pitchFamily="18" charset="0"/>
                  <a:ea typeface="宋体" panose="02010600030101010101" pitchFamily="2" charset="-122"/>
                </a:rPr>
                <a:t>S</a:t>
              </a:r>
            </a:p>
          </p:txBody>
        </p:sp>
        <p:sp>
          <p:nvSpPr>
            <p:cNvPr id="55320" name="Line 92"/>
            <p:cNvSpPr/>
            <p:nvPr/>
          </p:nvSpPr>
          <p:spPr>
            <a:xfrm flipH="1">
              <a:off x="1213" y="1693"/>
              <a:ext cx="167" cy="184"/>
            </a:xfrm>
            <a:prstGeom prst="line">
              <a:avLst/>
            </a:prstGeom>
            <a:ln w="28575" cap="flat" cmpd="sng">
              <a:solidFill>
                <a:srgbClr val="6600CC"/>
              </a:solidFill>
              <a:prstDash val="solid"/>
              <a:round/>
              <a:headEnd type="none" w="med" len="med"/>
              <a:tailEnd type="none" w="med" len="med"/>
            </a:ln>
          </p:spPr>
        </p:sp>
        <p:sp>
          <p:nvSpPr>
            <p:cNvPr id="55321" name="Line 93"/>
            <p:cNvSpPr/>
            <p:nvPr/>
          </p:nvSpPr>
          <p:spPr>
            <a:xfrm>
              <a:off x="1484" y="1693"/>
              <a:ext cx="150" cy="192"/>
            </a:xfrm>
            <a:prstGeom prst="line">
              <a:avLst/>
            </a:prstGeom>
            <a:ln w="28575" cap="flat" cmpd="sng">
              <a:solidFill>
                <a:srgbClr val="6600CC"/>
              </a:solidFill>
              <a:prstDash val="solid"/>
              <a:round/>
              <a:headEnd type="none" w="med" len="med"/>
              <a:tailEnd type="none" w="med" len="med"/>
            </a:ln>
          </p:spPr>
        </p:sp>
        <p:sp>
          <p:nvSpPr>
            <p:cNvPr id="55322" name="Line 94"/>
            <p:cNvSpPr/>
            <p:nvPr/>
          </p:nvSpPr>
          <p:spPr>
            <a:xfrm flipH="1">
              <a:off x="1439" y="2078"/>
              <a:ext cx="167" cy="184"/>
            </a:xfrm>
            <a:prstGeom prst="line">
              <a:avLst/>
            </a:prstGeom>
            <a:ln w="28575" cap="flat" cmpd="sng">
              <a:solidFill>
                <a:srgbClr val="6600CC"/>
              </a:solidFill>
              <a:prstDash val="solid"/>
              <a:round/>
              <a:headEnd type="none" w="med" len="med"/>
              <a:tailEnd type="none" w="med" len="med"/>
            </a:ln>
          </p:spPr>
        </p:sp>
        <p:sp>
          <p:nvSpPr>
            <p:cNvPr id="55323" name="Text Box 95"/>
            <p:cNvSpPr txBox="1"/>
            <p:nvPr/>
          </p:nvSpPr>
          <p:spPr>
            <a:xfrm>
              <a:off x="1937" y="1410"/>
              <a:ext cx="195" cy="232"/>
            </a:xfrm>
            <a:prstGeom prst="rect">
              <a:avLst/>
            </a:prstGeom>
            <a:noFill/>
            <a:ln w="9525">
              <a:noFill/>
            </a:ln>
          </p:spPr>
          <p:txBody>
            <a:bodyPr wrap="none" anchor="t" anchorCtr="0">
              <a:spAutoFit/>
            </a:bodyPr>
            <a:lstStyle/>
            <a:p>
              <a:r>
                <a:rPr lang="en-US" altLang="zh-CN" sz="1800" b="1" dirty="0">
                  <a:solidFill>
                    <a:srgbClr val="003366"/>
                  </a:solidFill>
                  <a:latin typeface="Times New Roman" panose="02020603050405020304" pitchFamily="18" charset="0"/>
                  <a:ea typeface="宋体" panose="02010600030101010101" pitchFamily="2" charset="-122"/>
                </a:rPr>
                <a:t>q</a:t>
              </a:r>
            </a:p>
          </p:txBody>
        </p:sp>
        <p:sp>
          <p:nvSpPr>
            <p:cNvPr id="55324" name="Text Box 96"/>
            <p:cNvSpPr txBox="1"/>
            <p:nvPr/>
          </p:nvSpPr>
          <p:spPr>
            <a:xfrm>
              <a:off x="2163" y="1717"/>
              <a:ext cx="171" cy="232"/>
            </a:xfrm>
            <a:prstGeom prst="rect">
              <a:avLst/>
            </a:prstGeom>
            <a:noFill/>
            <a:ln w="9525">
              <a:noFill/>
            </a:ln>
          </p:spPr>
          <p:txBody>
            <a:bodyPr wrap="none" anchor="t" anchorCtr="0">
              <a:spAutoFit/>
            </a:bodyPr>
            <a:lstStyle/>
            <a:p>
              <a:r>
                <a:rPr lang="en-US" altLang="zh-CN" sz="1800" b="1" dirty="0">
                  <a:solidFill>
                    <a:srgbClr val="003366"/>
                  </a:solidFill>
                  <a:latin typeface="Times New Roman" panose="02020603050405020304" pitchFamily="18" charset="0"/>
                  <a:ea typeface="宋体" panose="02010600030101010101" pitchFamily="2" charset="-122"/>
                </a:rPr>
                <a:t>s</a:t>
              </a:r>
            </a:p>
          </p:txBody>
        </p:sp>
        <p:sp>
          <p:nvSpPr>
            <p:cNvPr id="55325" name="Line 97"/>
            <p:cNvSpPr/>
            <p:nvPr/>
          </p:nvSpPr>
          <p:spPr>
            <a:xfrm flipH="1">
              <a:off x="1575" y="1501"/>
              <a:ext cx="407" cy="76"/>
            </a:xfrm>
            <a:prstGeom prst="line">
              <a:avLst/>
            </a:prstGeom>
            <a:ln w="38100" cap="flat" cmpd="sng">
              <a:solidFill>
                <a:srgbClr val="800000"/>
              </a:solidFill>
              <a:prstDash val="solid"/>
              <a:round/>
              <a:headEnd type="none" w="med" len="med"/>
              <a:tailEnd type="triangle" w="med" len="lg"/>
            </a:ln>
          </p:spPr>
        </p:sp>
        <p:sp>
          <p:nvSpPr>
            <p:cNvPr id="55326" name="Line 98"/>
            <p:cNvSpPr/>
            <p:nvPr/>
          </p:nvSpPr>
          <p:spPr>
            <a:xfrm flipH="1">
              <a:off x="1801" y="1808"/>
              <a:ext cx="408" cy="116"/>
            </a:xfrm>
            <a:prstGeom prst="line">
              <a:avLst/>
            </a:prstGeom>
            <a:ln w="38100" cap="flat" cmpd="sng">
              <a:solidFill>
                <a:srgbClr val="800000"/>
              </a:solidFill>
              <a:prstDash val="solid"/>
              <a:round/>
              <a:headEnd type="none" w="med" len="med"/>
              <a:tailEnd type="triangle" w="med" len="lg"/>
            </a:ln>
          </p:spPr>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被删除结点包含两棵子树，先替换后删除</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52</a:t>
            </a:fld>
            <a:endParaRPr lang="zh-CN" altLang="en-US"/>
          </a:p>
        </p:txBody>
      </p:sp>
      <p:grpSp>
        <p:nvGrpSpPr>
          <p:cNvPr id="56324" name="Group 96"/>
          <p:cNvGrpSpPr/>
          <p:nvPr/>
        </p:nvGrpSpPr>
        <p:grpSpPr>
          <a:xfrm>
            <a:off x="1343660" y="2276475"/>
            <a:ext cx="2819400" cy="2746375"/>
            <a:chOff x="96" y="1842"/>
            <a:chExt cx="1776" cy="1730"/>
          </a:xfrm>
        </p:grpSpPr>
        <p:grpSp>
          <p:nvGrpSpPr>
            <p:cNvPr id="56325" name="Group 31"/>
            <p:cNvGrpSpPr/>
            <p:nvPr/>
          </p:nvGrpSpPr>
          <p:grpSpPr>
            <a:xfrm>
              <a:off x="96" y="1842"/>
              <a:ext cx="1776" cy="1344"/>
              <a:chOff x="240" y="2112"/>
              <a:chExt cx="2318" cy="1745"/>
            </a:xfrm>
          </p:grpSpPr>
          <p:sp>
            <p:nvSpPr>
              <p:cNvPr id="56326" name="Oval 32"/>
              <p:cNvSpPr/>
              <p:nvPr/>
            </p:nvSpPr>
            <p:spPr>
              <a:xfrm>
                <a:off x="1203" y="2112"/>
                <a:ext cx="256"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highlight>
                      <a:srgbClr val="FFFF00"/>
                    </a:highlight>
                    <a:latin typeface="Times New Roman" panose="02020603050405020304" pitchFamily="18" charset="0"/>
                    <a:ea typeface="宋体" panose="02010600030101010101" pitchFamily="2" charset="-122"/>
                  </a:rPr>
                  <a:t>56</a:t>
                </a:r>
              </a:p>
            </p:txBody>
          </p:sp>
          <p:sp>
            <p:nvSpPr>
              <p:cNvPr id="56327" name="Oval 33"/>
              <p:cNvSpPr/>
              <p:nvPr/>
            </p:nvSpPr>
            <p:spPr>
              <a:xfrm>
                <a:off x="1742" y="2384"/>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56328" name="Oval 34"/>
              <p:cNvSpPr/>
              <p:nvPr/>
            </p:nvSpPr>
            <p:spPr>
              <a:xfrm>
                <a:off x="240" y="2733"/>
                <a:ext cx="254"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56329" name="Oval 35"/>
              <p:cNvSpPr/>
              <p:nvPr/>
            </p:nvSpPr>
            <p:spPr>
              <a:xfrm>
                <a:off x="2167" y="2733"/>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56330" name="Oval 36"/>
              <p:cNvSpPr/>
              <p:nvPr/>
            </p:nvSpPr>
            <p:spPr>
              <a:xfrm>
                <a:off x="1090" y="2733"/>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56331" name="Oval 37"/>
              <p:cNvSpPr/>
              <p:nvPr/>
            </p:nvSpPr>
            <p:spPr>
              <a:xfrm>
                <a:off x="2304" y="3552"/>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56332" name="Line 38"/>
              <p:cNvSpPr/>
              <p:nvPr/>
            </p:nvSpPr>
            <p:spPr>
              <a:xfrm flipH="1">
                <a:off x="893" y="2267"/>
                <a:ext cx="310" cy="194"/>
              </a:xfrm>
              <a:prstGeom prst="line">
                <a:avLst/>
              </a:prstGeom>
              <a:ln w="38100" cap="flat" cmpd="sng">
                <a:solidFill>
                  <a:srgbClr val="336699"/>
                </a:solidFill>
                <a:prstDash val="solid"/>
                <a:round/>
                <a:headEnd type="none" w="med" len="med"/>
                <a:tailEnd type="none" w="med" len="med"/>
              </a:ln>
            </p:spPr>
          </p:sp>
          <p:sp>
            <p:nvSpPr>
              <p:cNvPr id="56333" name="Line 39"/>
              <p:cNvSpPr/>
              <p:nvPr/>
            </p:nvSpPr>
            <p:spPr>
              <a:xfrm flipH="1">
                <a:off x="466" y="2609"/>
                <a:ext cx="224" cy="163"/>
              </a:xfrm>
              <a:prstGeom prst="line">
                <a:avLst/>
              </a:prstGeom>
              <a:ln w="38100" cap="flat" cmpd="sng">
                <a:solidFill>
                  <a:srgbClr val="666699"/>
                </a:solidFill>
                <a:prstDash val="solid"/>
                <a:round/>
                <a:headEnd type="none" w="med" len="med"/>
                <a:tailEnd type="none" w="med" len="med"/>
              </a:ln>
            </p:spPr>
          </p:sp>
          <p:sp>
            <p:nvSpPr>
              <p:cNvPr id="56334" name="Line 40"/>
              <p:cNvSpPr/>
              <p:nvPr/>
            </p:nvSpPr>
            <p:spPr>
              <a:xfrm>
                <a:off x="1459" y="2267"/>
                <a:ext cx="283" cy="194"/>
              </a:xfrm>
              <a:prstGeom prst="line">
                <a:avLst/>
              </a:prstGeom>
              <a:ln w="38100" cap="flat" cmpd="sng">
                <a:solidFill>
                  <a:srgbClr val="336699"/>
                </a:solidFill>
                <a:prstDash val="solid"/>
                <a:round/>
                <a:headEnd type="none" w="med" len="med"/>
                <a:tailEnd type="none" w="med" len="med"/>
              </a:ln>
            </p:spPr>
          </p:sp>
          <p:sp>
            <p:nvSpPr>
              <p:cNvPr id="56335" name="Line 41"/>
              <p:cNvSpPr/>
              <p:nvPr/>
            </p:nvSpPr>
            <p:spPr>
              <a:xfrm>
                <a:off x="893" y="2578"/>
                <a:ext cx="226" cy="194"/>
              </a:xfrm>
              <a:prstGeom prst="line">
                <a:avLst/>
              </a:prstGeom>
              <a:ln w="38100" cap="flat" cmpd="sng">
                <a:solidFill>
                  <a:srgbClr val="336699"/>
                </a:solidFill>
                <a:prstDash val="solid"/>
                <a:round/>
                <a:headEnd type="none" w="med" len="med"/>
                <a:tailEnd type="none" w="med" len="med"/>
              </a:ln>
            </p:spPr>
          </p:sp>
          <p:sp>
            <p:nvSpPr>
              <p:cNvPr id="56336" name="Line 42"/>
              <p:cNvSpPr/>
              <p:nvPr/>
            </p:nvSpPr>
            <p:spPr>
              <a:xfrm flipH="1">
                <a:off x="841" y="2966"/>
                <a:ext cx="278" cy="267"/>
              </a:xfrm>
              <a:prstGeom prst="line">
                <a:avLst/>
              </a:prstGeom>
              <a:ln w="38100" cap="flat" cmpd="sng">
                <a:solidFill>
                  <a:srgbClr val="336699"/>
                </a:solidFill>
                <a:prstDash val="solid"/>
                <a:round/>
                <a:headEnd type="none" w="med" len="med"/>
                <a:tailEnd type="none" w="med" len="med"/>
              </a:ln>
            </p:spPr>
          </p:sp>
          <p:sp>
            <p:nvSpPr>
              <p:cNvPr id="56337" name="Line 43"/>
              <p:cNvSpPr/>
              <p:nvPr/>
            </p:nvSpPr>
            <p:spPr>
              <a:xfrm>
                <a:off x="1969" y="2616"/>
                <a:ext cx="227" cy="156"/>
              </a:xfrm>
              <a:prstGeom prst="line">
                <a:avLst/>
              </a:prstGeom>
              <a:ln w="38100" cap="flat" cmpd="sng">
                <a:solidFill>
                  <a:srgbClr val="336699"/>
                </a:solidFill>
                <a:prstDash val="solid"/>
                <a:round/>
                <a:headEnd type="none" w="med" len="med"/>
                <a:tailEnd type="none" w="med" len="med"/>
              </a:ln>
            </p:spPr>
          </p:sp>
          <p:sp>
            <p:nvSpPr>
              <p:cNvPr id="56338" name="Line 44"/>
              <p:cNvSpPr/>
              <p:nvPr/>
            </p:nvSpPr>
            <p:spPr>
              <a:xfrm flipH="1">
                <a:off x="2026" y="2993"/>
                <a:ext cx="216" cy="205"/>
              </a:xfrm>
              <a:prstGeom prst="line">
                <a:avLst/>
              </a:prstGeom>
              <a:ln w="38100" cap="flat" cmpd="sng">
                <a:solidFill>
                  <a:srgbClr val="336699"/>
                </a:solidFill>
                <a:prstDash val="solid"/>
                <a:round/>
                <a:headEnd type="none" w="med" len="med"/>
                <a:tailEnd type="none" w="med" len="med"/>
              </a:ln>
            </p:spPr>
          </p:sp>
          <p:sp>
            <p:nvSpPr>
              <p:cNvPr id="56339" name="Line 45"/>
              <p:cNvSpPr/>
              <p:nvPr/>
            </p:nvSpPr>
            <p:spPr>
              <a:xfrm>
                <a:off x="2081" y="3391"/>
                <a:ext cx="271" cy="209"/>
              </a:xfrm>
              <a:prstGeom prst="line">
                <a:avLst/>
              </a:prstGeom>
              <a:ln w="38100" cap="flat" cmpd="sng">
                <a:solidFill>
                  <a:srgbClr val="336699"/>
                </a:solidFill>
                <a:prstDash val="solid"/>
                <a:round/>
                <a:headEnd type="none" w="med" len="med"/>
                <a:tailEnd type="none" w="med" len="med"/>
              </a:ln>
            </p:spPr>
          </p:sp>
          <p:sp>
            <p:nvSpPr>
              <p:cNvPr id="56340" name="Oval 46"/>
              <p:cNvSpPr/>
              <p:nvPr/>
            </p:nvSpPr>
            <p:spPr>
              <a:xfrm>
                <a:off x="382" y="3585"/>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56341" name="Line 47"/>
              <p:cNvSpPr/>
              <p:nvPr/>
            </p:nvSpPr>
            <p:spPr>
              <a:xfrm flipH="1">
                <a:off x="552" y="3353"/>
                <a:ext cx="226" cy="232"/>
              </a:xfrm>
              <a:prstGeom prst="line">
                <a:avLst/>
              </a:prstGeom>
              <a:ln w="38100" cap="flat" cmpd="sng">
                <a:solidFill>
                  <a:srgbClr val="336699"/>
                </a:solidFill>
                <a:prstDash val="solid"/>
                <a:round/>
                <a:headEnd type="none" w="med" len="med"/>
                <a:tailEnd type="none" w="med" len="med"/>
              </a:ln>
            </p:spPr>
          </p:sp>
          <p:sp>
            <p:nvSpPr>
              <p:cNvPr id="56342" name="Oval 48"/>
              <p:cNvSpPr/>
              <p:nvPr/>
            </p:nvSpPr>
            <p:spPr>
              <a:xfrm>
                <a:off x="1855" y="3160"/>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56343" name="Oval 49"/>
              <p:cNvSpPr/>
              <p:nvPr/>
            </p:nvSpPr>
            <p:spPr>
              <a:xfrm>
                <a:off x="690" y="3137"/>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56344" name="Oval 50"/>
              <p:cNvSpPr/>
              <p:nvPr/>
            </p:nvSpPr>
            <p:spPr>
              <a:xfrm>
                <a:off x="665" y="2384"/>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highlight>
                      <a:srgbClr val="FFFF00"/>
                    </a:highlight>
                    <a:latin typeface="Times New Roman" panose="02020603050405020304" pitchFamily="18" charset="0"/>
                    <a:ea typeface="宋体" panose="02010600030101010101" pitchFamily="2" charset="-122"/>
                  </a:rPr>
                  <a:t>13</a:t>
                </a:r>
              </a:p>
            </p:txBody>
          </p:sp>
          <p:sp>
            <p:nvSpPr>
              <p:cNvPr id="56345" name="Line 51"/>
              <p:cNvSpPr/>
              <p:nvPr/>
            </p:nvSpPr>
            <p:spPr>
              <a:xfrm flipH="1">
                <a:off x="1680" y="3408"/>
                <a:ext cx="216" cy="205"/>
              </a:xfrm>
              <a:prstGeom prst="line">
                <a:avLst/>
              </a:prstGeom>
              <a:ln w="38100" cap="flat" cmpd="sng">
                <a:solidFill>
                  <a:srgbClr val="336699"/>
                </a:solidFill>
                <a:prstDash val="solid"/>
                <a:round/>
                <a:headEnd type="none" w="med" len="med"/>
                <a:tailEnd type="none" w="med" len="med"/>
              </a:ln>
            </p:spPr>
          </p:sp>
          <p:sp>
            <p:nvSpPr>
              <p:cNvPr id="56346" name="Oval 52"/>
              <p:cNvSpPr/>
              <p:nvPr/>
            </p:nvSpPr>
            <p:spPr>
              <a:xfrm>
                <a:off x="1509" y="3575"/>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75</a:t>
                </a:r>
              </a:p>
            </p:txBody>
          </p:sp>
        </p:grpSp>
        <p:sp>
          <p:nvSpPr>
            <p:cNvPr id="56347" name="Text Box 93"/>
            <p:cNvSpPr txBox="1"/>
            <p:nvPr/>
          </p:nvSpPr>
          <p:spPr>
            <a:xfrm>
              <a:off x="528" y="3282"/>
              <a:ext cx="816" cy="290"/>
            </a:xfrm>
            <a:prstGeom prst="rect">
              <a:avLst/>
            </a:prstGeom>
            <a:noFill/>
            <a:ln w="9525">
              <a:noFill/>
            </a:ln>
          </p:spPr>
          <p:txBody>
            <a:bodyPr anchor="t" anchorCtr="0">
              <a:spAutoFit/>
            </a:bodyPr>
            <a:lstStyle/>
            <a:p>
              <a:pPr algn="ctr">
                <a:spcBef>
                  <a:spcPct val="50000"/>
                </a:spcBef>
              </a:pPr>
              <a:r>
                <a:rPr lang="zh-CN" altLang="en-US" sz="2400" b="1" dirty="0">
                  <a:latin typeface="Tahoma" panose="020B0604030504040204" charset="0"/>
                  <a:ea typeface="宋体" panose="02010600030101010101" pitchFamily="2" charset="-122"/>
                </a:rPr>
                <a:t>原图</a:t>
              </a:r>
            </a:p>
          </p:txBody>
        </p:sp>
      </p:grpSp>
      <p:grpSp>
        <p:nvGrpSpPr>
          <p:cNvPr id="56348" name="Group 97"/>
          <p:cNvGrpSpPr/>
          <p:nvPr/>
        </p:nvGrpSpPr>
        <p:grpSpPr>
          <a:xfrm>
            <a:off x="4564698" y="2276475"/>
            <a:ext cx="2646362" cy="2746375"/>
            <a:chOff x="2125" y="1842"/>
            <a:chExt cx="1667" cy="1730"/>
          </a:xfrm>
        </p:grpSpPr>
        <p:grpSp>
          <p:nvGrpSpPr>
            <p:cNvPr id="56349" name="Group 53"/>
            <p:cNvGrpSpPr/>
            <p:nvPr/>
          </p:nvGrpSpPr>
          <p:grpSpPr>
            <a:xfrm>
              <a:off x="2125" y="1842"/>
              <a:ext cx="1667" cy="1344"/>
              <a:chOff x="2125" y="2448"/>
              <a:chExt cx="1667" cy="1344"/>
            </a:xfrm>
          </p:grpSpPr>
          <p:sp>
            <p:nvSpPr>
              <p:cNvPr id="56350" name="Oval 54"/>
              <p:cNvSpPr/>
              <p:nvPr/>
            </p:nvSpPr>
            <p:spPr>
              <a:xfrm>
                <a:off x="2754" y="2448"/>
                <a:ext cx="196" cy="20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56351" name="Oval 55"/>
              <p:cNvSpPr/>
              <p:nvPr/>
            </p:nvSpPr>
            <p:spPr>
              <a:xfrm>
                <a:off x="3167" y="2657"/>
                <a:ext cx="195" cy="20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56352" name="Oval 56"/>
              <p:cNvSpPr/>
              <p:nvPr/>
            </p:nvSpPr>
            <p:spPr>
              <a:xfrm>
                <a:off x="3492" y="2926"/>
                <a:ext cx="196" cy="20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56353" name="Oval 57"/>
              <p:cNvSpPr/>
              <p:nvPr/>
            </p:nvSpPr>
            <p:spPr>
              <a:xfrm>
                <a:off x="2667" y="2926"/>
                <a:ext cx="196" cy="20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56354" name="Oval 58"/>
              <p:cNvSpPr/>
              <p:nvPr/>
            </p:nvSpPr>
            <p:spPr>
              <a:xfrm>
                <a:off x="3597" y="3557"/>
                <a:ext cx="195" cy="21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56355" name="Line 59"/>
              <p:cNvSpPr/>
              <p:nvPr/>
            </p:nvSpPr>
            <p:spPr>
              <a:xfrm flipH="1">
                <a:off x="2516" y="2567"/>
                <a:ext cx="238" cy="150"/>
              </a:xfrm>
              <a:prstGeom prst="line">
                <a:avLst/>
              </a:prstGeom>
              <a:ln w="38100" cap="flat" cmpd="sng">
                <a:solidFill>
                  <a:srgbClr val="336699"/>
                </a:solidFill>
                <a:prstDash val="solid"/>
                <a:round/>
                <a:headEnd type="none" w="med" len="med"/>
                <a:tailEnd type="none" w="med" len="med"/>
              </a:ln>
            </p:spPr>
          </p:sp>
          <p:sp>
            <p:nvSpPr>
              <p:cNvPr id="56356" name="Line 60"/>
              <p:cNvSpPr/>
              <p:nvPr/>
            </p:nvSpPr>
            <p:spPr>
              <a:xfrm>
                <a:off x="2950" y="2567"/>
                <a:ext cx="217" cy="150"/>
              </a:xfrm>
              <a:prstGeom prst="line">
                <a:avLst/>
              </a:prstGeom>
              <a:ln w="38100" cap="flat" cmpd="sng">
                <a:solidFill>
                  <a:srgbClr val="336699"/>
                </a:solidFill>
                <a:prstDash val="solid"/>
                <a:round/>
                <a:headEnd type="none" w="med" len="med"/>
                <a:tailEnd type="none" w="med" len="med"/>
              </a:ln>
            </p:spPr>
          </p:sp>
          <p:sp>
            <p:nvSpPr>
              <p:cNvPr id="56357" name="Line 61"/>
              <p:cNvSpPr/>
              <p:nvPr/>
            </p:nvSpPr>
            <p:spPr>
              <a:xfrm>
                <a:off x="2516" y="2807"/>
                <a:ext cx="173" cy="149"/>
              </a:xfrm>
              <a:prstGeom prst="line">
                <a:avLst/>
              </a:prstGeom>
              <a:ln w="38100" cap="flat" cmpd="sng">
                <a:solidFill>
                  <a:srgbClr val="336699"/>
                </a:solidFill>
                <a:prstDash val="solid"/>
                <a:round/>
                <a:headEnd type="none" w="med" len="med"/>
                <a:tailEnd type="none" w="med" len="med"/>
              </a:ln>
            </p:spPr>
          </p:sp>
          <p:sp>
            <p:nvSpPr>
              <p:cNvPr id="56358" name="Line 62"/>
              <p:cNvSpPr/>
              <p:nvPr/>
            </p:nvSpPr>
            <p:spPr>
              <a:xfrm flipH="1">
                <a:off x="2476" y="3106"/>
                <a:ext cx="213" cy="205"/>
              </a:xfrm>
              <a:prstGeom prst="line">
                <a:avLst/>
              </a:prstGeom>
              <a:ln w="38100" cap="flat" cmpd="sng">
                <a:solidFill>
                  <a:srgbClr val="336699"/>
                </a:solidFill>
                <a:prstDash val="solid"/>
                <a:round/>
                <a:headEnd type="none" w="med" len="med"/>
                <a:tailEnd type="none" w="med" len="med"/>
              </a:ln>
            </p:spPr>
          </p:sp>
          <p:sp>
            <p:nvSpPr>
              <p:cNvPr id="56359" name="Line 63"/>
              <p:cNvSpPr/>
              <p:nvPr/>
            </p:nvSpPr>
            <p:spPr>
              <a:xfrm>
                <a:off x="3341" y="2836"/>
                <a:ext cx="174" cy="120"/>
              </a:xfrm>
              <a:prstGeom prst="line">
                <a:avLst/>
              </a:prstGeom>
              <a:ln w="38100" cap="flat" cmpd="sng">
                <a:solidFill>
                  <a:srgbClr val="336699"/>
                </a:solidFill>
                <a:prstDash val="solid"/>
                <a:round/>
                <a:headEnd type="none" w="med" len="med"/>
                <a:tailEnd type="none" w="med" len="med"/>
              </a:ln>
            </p:spPr>
          </p:sp>
          <p:sp>
            <p:nvSpPr>
              <p:cNvPr id="56360" name="Line 64"/>
              <p:cNvSpPr/>
              <p:nvPr/>
            </p:nvSpPr>
            <p:spPr>
              <a:xfrm flipH="1">
                <a:off x="3384" y="3127"/>
                <a:ext cx="166" cy="157"/>
              </a:xfrm>
              <a:prstGeom prst="line">
                <a:avLst/>
              </a:prstGeom>
              <a:ln w="38100" cap="flat" cmpd="sng">
                <a:solidFill>
                  <a:srgbClr val="336699"/>
                </a:solidFill>
                <a:prstDash val="solid"/>
                <a:round/>
                <a:headEnd type="none" w="med" len="med"/>
                <a:tailEnd type="none" w="med" len="med"/>
              </a:ln>
            </p:spPr>
          </p:sp>
          <p:sp>
            <p:nvSpPr>
              <p:cNvPr id="56361" name="Line 65"/>
              <p:cNvSpPr/>
              <p:nvPr/>
            </p:nvSpPr>
            <p:spPr>
              <a:xfrm>
                <a:off x="3427" y="3433"/>
                <a:ext cx="207" cy="161"/>
              </a:xfrm>
              <a:prstGeom prst="line">
                <a:avLst/>
              </a:prstGeom>
              <a:ln w="38100" cap="flat" cmpd="sng">
                <a:solidFill>
                  <a:srgbClr val="336699"/>
                </a:solidFill>
                <a:prstDash val="solid"/>
                <a:round/>
                <a:headEnd type="none" w="med" len="med"/>
                <a:tailEnd type="none" w="med" len="med"/>
              </a:ln>
            </p:spPr>
          </p:sp>
          <p:sp>
            <p:nvSpPr>
              <p:cNvPr id="56362" name="Oval 66"/>
              <p:cNvSpPr/>
              <p:nvPr/>
            </p:nvSpPr>
            <p:spPr>
              <a:xfrm>
                <a:off x="2125" y="3583"/>
                <a:ext cx="194" cy="20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56363" name="Line 67"/>
              <p:cNvSpPr/>
              <p:nvPr/>
            </p:nvSpPr>
            <p:spPr>
              <a:xfrm flipH="1">
                <a:off x="2255" y="3404"/>
                <a:ext cx="173" cy="179"/>
              </a:xfrm>
              <a:prstGeom prst="line">
                <a:avLst/>
              </a:prstGeom>
              <a:ln w="38100" cap="flat" cmpd="sng">
                <a:solidFill>
                  <a:srgbClr val="336699"/>
                </a:solidFill>
                <a:prstDash val="solid"/>
                <a:round/>
                <a:headEnd type="none" w="med" len="med"/>
                <a:tailEnd type="none" w="med" len="med"/>
              </a:ln>
            </p:spPr>
          </p:sp>
          <p:sp>
            <p:nvSpPr>
              <p:cNvPr id="56364" name="Oval 68"/>
              <p:cNvSpPr/>
              <p:nvPr/>
            </p:nvSpPr>
            <p:spPr>
              <a:xfrm>
                <a:off x="3253" y="3255"/>
                <a:ext cx="196" cy="20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56365" name="Oval 69"/>
              <p:cNvSpPr/>
              <p:nvPr/>
            </p:nvSpPr>
            <p:spPr>
              <a:xfrm>
                <a:off x="2361" y="3237"/>
                <a:ext cx="195" cy="20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56366" name="Oval 70"/>
              <p:cNvSpPr/>
              <p:nvPr/>
            </p:nvSpPr>
            <p:spPr>
              <a:xfrm>
                <a:off x="2342" y="2657"/>
                <a:ext cx="195" cy="20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56367" name="Line 71"/>
              <p:cNvSpPr/>
              <p:nvPr/>
            </p:nvSpPr>
            <p:spPr>
              <a:xfrm flipH="1">
                <a:off x="3119" y="3446"/>
                <a:ext cx="166" cy="158"/>
              </a:xfrm>
              <a:prstGeom prst="line">
                <a:avLst/>
              </a:prstGeom>
              <a:ln w="38100" cap="flat" cmpd="sng">
                <a:solidFill>
                  <a:srgbClr val="336699"/>
                </a:solidFill>
                <a:prstDash val="solid"/>
                <a:round/>
                <a:headEnd type="none" w="med" len="med"/>
                <a:tailEnd type="none" w="med" len="med"/>
              </a:ln>
            </p:spPr>
          </p:sp>
          <p:sp>
            <p:nvSpPr>
              <p:cNvPr id="56368" name="Oval 72"/>
              <p:cNvSpPr/>
              <p:nvPr/>
            </p:nvSpPr>
            <p:spPr>
              <a:xfrm>
                <a:off x="2988" y="3575"/>
                <a:ext cx="196" cy="20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75</a:t>
                </a:r>
              </a:p>
            </p:txBody>
          </p:sp>
        </p:grpSp>
        <p:sp>
          <p:nvSpPr>
            <p:cNvPr id="56369" name="Text Box 94"/>
            <p:cNvSpPr txBox="1"/>
            <p:nvPr/>
          </p:nvSpPr>
          <p:spPr>
            <a:xfrm>
              <a:off x="2256" y="3282"/>
              <a:ext cx="1200" cy="290"/>
            </a:xfrm>
            <a:prstGeom prst="rect">
              <a:avLst/>
            </a:prstGeom>
            <a:noFill/>
            <a:ln w="9525">
              <a:noFill/>
            </a:ln>
          </p:spPr>
          <p:txBody>
            <a:bodyPr anchor="t" anchorCtr="0">
              <a:spAutoFit/>
            </a:bodyPr>
            <a:lstStyle/>
            <a:p>
              <a:pPr>
                <a:spcBef>
                  <a:spcPct val="50000"/>
                </a:spcBef>
              </a:pPr>
              <a:r>
                <a:rPr lang="zh-CN" altLang="en-US" sz="2400" b="1" dirty="0">
                  <a:latin typeface="Tahoma" panose="020B0604030504040204" charset="0"/>
                  <a:ea typeface="宋体" panose="02010600030101010101" pitchFamily="2" charset="-122"/>
                </a:rPr>
                <a:t>删除结点</a:t>
              </a:r>
              <a:r>
                <a:rPr lang="en-US" altLang="zh-CN" sz="2400" b="1" dirty="0">
                  <a:latin typeface="Tahoma" panose="020B0604030504040204" charset="0"/>
                  <a:ea typeface="宋体" panose="02010600030101010101" pitchFamily="2" charset="-122"/>
                </a:rPr>
                <a:t>13</a:t>
              </a:r>
            </a:p>
          </p:txBody>
        </p:sp>
      </p:grpSp>
      <p:grpSp>
        <p:nvGrpSpPr>
          <p:cNvPr id="56370" name="Group 98"/>
          <p:cNvGrpSpPr/>
          <p:nvPr/>
        </p:nvGrpSpPr>
        <p:grpSpPr>
          <a:xfrm>
            <a:off x="7515860" y="2276475"/>
            <a:ext cx="2819400" cy="2746375"/>
            <a:chOff x="3984" y="1842"/>
            <a:chExt cx="1776" cy="1730"/>
          </a:xfrm>
        </p:grpSpPr>
        <p:grpSp>
          <p:nvGrpSpPr>
            <p:cNvPr id="56371" name="Group 73"/>
            <p:cNvGrpSpPr/>
            <p:nvPr/>
          </p:nvGrpSpPr>
          <p:grpSpPr>
            <a:xfrm>
              <a:off x="3984" y="1842"/>
              <a:ext cx="1776" cy="1335"/>
              <a:chOff x="3984" y="2448"/>
              <a:chExt cx="1776" cy="1335"/>
            </a:xfrm>
          </p:grpSpPr>
          <p:sp>
            <p:nvSpPr>
              <p:cNvPr id="56372" name="Oval 74"/>
              <p:cNvSpPr/>
              <p:nvPr/>
            </p:nvSpPr>
            <p:spPr>
              <a:xfrm>
                <a:off x="4722" y="2448"/>
                <a:ext cx="196" cy="20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56373" name="Oval 75"/>
              <p:cNvSpPr/>
              <p:nvPr/>
            </p:nvSpPr>
            <p:spPr>
              <a:xfrm>
                <a:off x="5135" y="2657"/>
                <a:ext cx="195" cy="20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56374" name="Oval 76"/>
              <p:cNvSpPr/>
              <p:nvPr/>
            </p:nvSpPr>
            <p:spPr>
              <a:xfrm>
                <a:off x="3984" y="2926"/>
                <a:ext cx="195" cy="20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56375" name="Oval 77"/>
              <p:cNvSpPr/>
              <p:nvPr/>
            </p:nvSpPr>
            <p:spPr>
              <a:xfrm>
                <a:off x="5460" y="2926"/>
                <a:ext cx="196" cy="20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56376" name="Oval 78"/>
              <p:cNvSpPr/>
              <p:nvPr/>
            </p:nvSpPr>
            <p:spPr>
              <a:xfrm>
                <a:off x="4635" y="2926"/>
                <a:ext cx="196" cy="20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56377" name="Oval 79"/>
              <p:cNvSpPr/>
              <p:nvPr/>
            </p:nvSpPr>
            <p:spPr>
              <a:xfrm>
                <a:off x="5565" y="3557"/>
                <a:ext cx="195" cy="21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56378" name="Line 80"/>
              <p:cNvSpPr/>
              <p:nvPr/>
            </p:nvSpPr>
            <p:spPr>
              <a:xfrm flipH="1">
                <a:off x="4484" y="2567"/>
                <a:ext cx="238" cy="150"/>
              </a:xfrm>
              <a:prstGeom prst="line">
                <a:avLst/>
              </a:prstGeom>
              <a:ln w="38100" cap="flat" cmpd="sng">
                <a:solidFill>
                  <a:srgbClr val="336699"/>
                </a:solidFill>
                <a:prstDash val="solid"/>
                <a:round/>
                <a:headEnd type="none" w="med" len="med"/>
                <a:tailEnd type="none" w="med" len="med"/>
              </a:ln>
            </p:spPr>
          </p:sp>
          <p:sp>
            <p:nvSpPr>
              <p:cNvPr id="56379" name="Line 81"/>
              <p:cNvSpPr/>
              <p:nvPr/>
            </p:nvSpPr>
            <p:spPr>
              <a:xfrm flipH="1">
                <a:off x="4157" y="2831"/>
                <a:ext cx="172" cy="125"/>
              </a:xfrm>
              <a:prstGeom prst="line">
                <a:avLst/>
              </a:prstGeom>
              <a:ln w="38100" cap="flat" cmpd="sng">
                <a:solidFill>
                  <a:srgbClr val="666699"/>
                </a:solidFill>
                <a:prstDash val="solid"/>
                <a:round/>
                <a:headEnd type="none" w="med" len="med"/>
                <a:tailEnd type="none" w="med" len="med"/>
              </a:ln>
            </p:spPr>
          </p:sp>
          <p:sp>
            <p:nvSpPr>
              <p:cNvPr id="56380" name="Line 82"/>
              <p:cNvSpPr/>
              <p:nvPr/>
            </p:nvSpPr>
            <p:spPr>
              <a:xfrm>
                <a:off x="4918" y="2567"/>
                <a:ext cx="217" cy="150"/>
              </a:xfrm>
              <a:prstGeom prst="line">
                <a:avLst/>
              </a:prstGeom>
              <a:ln w="38100" cap="flat" cmpd="sng">
                <a:solidFill>
                  <a:srgbClr val="336699"/>
                </a:solidFill>
                <a:prstDash val="solid"/>
                <a:round/>
                <a:headEnd type="none" w="med" len="med"/>
                <a:tailEnd type="none" w="med" len="med"/>
              </a:ln>
            </p:spPr>
          </p:sp>
          <p:sp>
            <p:nvSpPr>
              <p:cNvPr id="56381" name="Line 83"/>
              <p:cNvSpPr/>
              <p:nvPr/>
            </p:nvSpPr>
            <p:spPr>
              <a:xfrm>
                <a:off x="4484" y="2807"/>
                <a:ext cx="173" cy="149"/>
              </a:xfrm>
              <a:prstGeom prst="line">
                <a:avLst/>
              </a:prstGeom>
              <a:ln w="38100" cap="flat" cmpd="sng">
                <a:solidFill>
                  <a:srgbClr val="336699"/>
                </a:solidFill>
                <a:prstDash val="solid"/>
                <a:round/>
                <a:headEnd type="none" w="med" len="med"/>
                <a:tailEnd type="none" w="med" len="med"/>
              </a:ln>
            </p:spPr>
          </p:sp>
          <p:sp>
            <p:nvSpPr>
              <p:cNvPr id="56382" name="Line 84"/>
              <p:cNvSpPr/>
              <p:nvPr/>
            </p:nvSpPr>
            <p:spPr>
              <a:xfrm flipH="1">
                <a:off x="4444" y="3106"/>
                <a:ext cx="213" cy="205"/>
              </a:xfrm>
              <a:prstGeom prst="line">
                <a:avLst/>
              </a:prstGeom>
              <a:ln w="38100" cap="flat" cmpd="sng">
                <a:solidFill>
                  <a:srgbClr val="336699"/>
                </a:solidFill>
                <a:prstDash val="solid"/>
                <a:round/>
                <a:headEnd type="none" w="med" len="med"/>
                <a:tailEnd type="none" w="med" len="med"/>
              </a:ln>
            </p:spPr>
          </p:sp>
          <p:sp>
            <p:nvSpPr>
              <p:cNvPr id="56383" name="Line 85"/>
              <p:cNvSpPr/>
              <p:nvPr/>
            </p:nvSpPr>
            <p:spPr>
              <a:xfrm>
                <a:off x="5309" y="2836"/>
                <a:ext cx="174" cy="120"/>
              </a:xfrm>
              <a:prstGeom prst="line">
                <a:avLst/>
              </a:prstGeom>
              <a:ln w="38100" cap="flat" cmpd="sng">
                <a:solidFill>
                  <a:srgbClr val="336699"/>
                </a:solidFill>
                <a:prstDash val="solid"/>
                <a:round/>
                <a:headEnd type="none" w="med" len="med"/>
                <a:tailEnd type="none" w="med" len="med"/>
              </a:ln>
            </p:spPr>
          </p:sp>
          <p:sp>
            <p:nvSpPr>
              <p:cNvPr id="56384" name="Line 86"/>
              <p:cNvSpPr/>
              <p:nvPr/>
            </p:nvSpPr>
            <p:spPr>
              <a:xfrm flipH="1">
                <a:off x="5352" y="3127"/>
                <a:ext cx="166" cy="157"/>
              </a:xfrm>
              <a:prstGeom prst="line">
                <a:avLst/>
              </a:prstGeom>
              <a:ln w="38100" cap="flat" cmpd="sng">
                <a:solidFill>
                  <a:srgbClr val="336699"/>
                </a:solidFill>
                <a:prstDash val="solid"/>
                <a:round/>
                <a:headEnd type="none" w="med" len="med"/>
                <a:tailEnd type="none" w="med" len="med"/>
              </a:ln>
            </p:spPr>
          </p:sp>
          <p:sp>
            <p:nvSpPr>
              <p:cNvPr id="56385" name="Line 87"/>
              <p:cNvSpPr/>
              <p:nvPr/>
            </p:nvSpPr>
            <p:spPr>
              <a:xfrm>
                <a:off x="5395" y="3433"/>
                <a:ext cx="207" cy="161"/>
              </a:xfrm>
              <a:prstGeom prst="line">
                <a:avLst/>
              </a:prstGeom>
              <a:ln w="38100" cap="flat" cmpd="sng">
                <a:solidFill>
                  <a:srgbClr val="336699"/>
                </a:solidFill>
                <a:prstDash val="solid"/>
                <a:round/>
                <a:headEnd type="none" w="med" len="med"/>
                <a:tailEnd type="none" w="med" len="med"/>
              </a:ln>
            </p:spPr>
          </p:sp>
          <p:sp>
            <p:nvSpPr>
              <p:cNvPr id="56386" name="Oval 88"/>
              <p:cNvSpPr/>
              <p:nvPr/>
            </p:nvSpPr>
            <p:spPr>
              <a:xfrm>
                <a:off x="5221" y="3255"/>
                <a:ext cx="196" cy="20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56387" name="Oval 89"/>
              <p:cNvSpPr/>
              <p:nvPr/>
            </p:nvSpPr>
            <p:spPr>
              <a:xfrm>
                <a:off x="4329" y="3237"/>
                <a:ext cx="195" cy="20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56388" name="Oval 90"/>
              <p:cNvSpPr/>
              <p:nvPr/>
            </p:nvSpPr>
            <p:spPr>
              <a:xfrm>
                <a:off x="4310" y="2657"/>
                <a:ext cx="195" cy="20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56389" name="Line 91"/>
              <p:cNvSpPr/>
              <p:nvPr/>
            </p:nvSpPr>
            <p:spPr>
              <a:xfrm flipH="1">
                <a:off x="5087" y="3446"/>
                <a:ext cx="166" cy="158"/>
              </a:xfrm>
              <a:prstGeom prst="line">
                <a:avLst/>
              </a:prstGeom>
              <a:ln w="38100" cap="flat" cmpd="sng">
                <a:solidFill>
                  <a:srgbClr val="336699"/>
                </a:solidFill>
                <a:prstDash val="solid"/>
                <a:round/>
                <a:headEnd type="none" w="med" len="med"/>
                <a:tailEnd type="none" w="med" len="med"/>
              </a:ln>
            </p:spPr>
          </p:sp>
          <p:sp>
            <p:nvSpPr>
              <p:cNvPr id="56390" name="Oval 92"/>
              <p:cNvSpPr/>
              <p:nvPr/>
            </p:nvSpPr>
            <p:spPr>
              <a:xfrm>
                <a:off x="4956" y="3575"/>
                <a:ext cx="196" cy="20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75</a:t>
                </a:r>
              </a:p>
            </p:txBody>
          </p:sp>
        </p:grpSp>
        <p:sp>
          <p:nvSpPr>
            <p:cNvPr id="56391" name="Text Box 95"/>
            <p:cNvSpPr txBox="1"/>
            <p:nvPr/>
          </p:nvSpPr>
          <p:spPr>
            <a:xfrm>
              <a:off x="4320" y="3282"/>
              <a:ext cx="1152" cy="290"/>
            </a:xfrm>
            <a:prstGeom prst="rect">
              <a:avLst/>
            </a:prstGeom>
            <a:noFill/>
            <a:ln w="9525">
              <a:noFill/>
            </a:ln>
          </p:spPr>
          <p:txBody>
            <a:bodyPr anchor="t" anchorCtr="0">
              <a:spAutoFit/>
            </a:bodyPr>
            <a:lstStyle/>
            <a:p>
              <a:pPr>
                <a:spcBef>
                  <a:spcPct val="50000"/>
                </a:spcBef>
              </a:pPr>
              <a:r>
                <a:rPr lang="zh-CN" altLang="en-US" sz="2400" b="1" dirty="0">
                  <a:latin typeface="Tahoma" panose="020B0604030504040204" charset="0"/>
                  <a:ea typeface="宋体" panose="02010600030101010101" pitchFamily="2" charset="-122"/>
                </a:rPr>
                <a:t>删除结点</a:t>
              </a:r>
              <a:r>
                <a:rPr lang="en-US" altLang="zh-CN" sz="2400" b="1" dirty="0">
                  <a:latin typeface="Tahoma" panose="020B0604030504040204" charset="0"/>
                  <a:ea typeface="宋体" panose="02010600030101010101" pitchFamily="2" charset="-122"/>
                </a:rPr>
                <a:t>56</a:t>
              </a: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二叉排序树删除的递归算法实现</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tatus DeleteBST(BiTree &amp;T,  KeyType key) {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算法</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9.7 </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若二叉排序树</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中存在关键字等于</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key</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的数据元素时，</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则删除该数据元素结点</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p</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，并返回</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TRUE</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；否则返回</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FALSE</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if (!T) return FALSE;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不存在关键字等于</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key</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的数据元素</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else {</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if (EQ(key, T-&gt;data.key))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找到关键字等于</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key</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的数据元素</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return Delete(T); </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else if (LT(key, T-&gt;data.key)) </a:t>
            </a:r>
          </a:p>
          <a:p>
            <a:pPr marL="609600" indent="4572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return DeleteBST(T-&gt;lchild, key);</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else </a:t>
            </a:r>
          </a:p>
          <a:p>
            <a:pPr marL="609600" indent="4572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return DeleteBST(T-&gt;rchild, key);</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 DeleteBST</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lvl="1" indent="0" algn="l" eaLnBrk="1" hangingPunct="1">
              <a:buClrTx/>
              <a:buSzTx/>
              <a:buNone/>
            </a:pPr>
            <a:endParaRPr lang="en-US" altLang="zh-CN"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53</a:t>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400939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二叉排序树删除的递归算法实现</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单个结点删除</a:t>
            </a: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Status Delete(BiTree &amp;p) {// </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删除结点</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p</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，并重接它的左或右子树</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BiTree q, s;</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if (!p-&gt;rchild)   // </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右子树空则只需重接它的左子树</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q = p;  p = p-&gt;lchild;  free(q);   }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else if (!p-&gt;lchild)   // </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只需重接它的右子树</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q = p;  p = p-&gt;rchild;  free(q);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else {  // </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左右子树均不空</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q = p;  s = p-&gt;lchild; //</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转左</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while (s-&gt;rchild)   // </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然后向右到尽头</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q = s;  s = s-&gt;rchild;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p-&gt;data = s-&gt;data;                  // s</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指向被删结点的替换结点</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if (q != p)	q-&gt;rchild = s-&gt;lchild; //p</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的左子树有右孩子，重接最大右孩子的左子树</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else 	 q-&gt;lchild = s-&gt;lchild;         //p</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的左子树无右孩子，所以重接左孩子的左子树</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free(s);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return TRUE;</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 // Delete</a:t>
            </a:r>
            <a:endParaRPr lang="en-US" altLang="zh-CN" sz="2000" dirty="0">
              <a:latin typeface="黑体" panose="02010609060101010101" pitchFamily="2" charset="-122"/>
              <a:ea typeface="黑体" panose="02010609060101010101" pitchFamily="2" charset="-122"/>
              <a:cs typeface="黑体" panose="02010609060101010101" pitchFamily="2" charset="-122"/>
            </a:endParaRPr>
          </a:p>
          <a:p>
            <a:pPr marL="0" lvl="1" indent="0" algn="l" eaLnBrk="1" latinLnBrk="0" hangingPunct="1">
              <a:lnSpc>
                <a:spcPct val="100000"/>
              </a:lnSpc>
              <a:spcBef>
                <a:spcPts val="0"/>
              </a:spcBef>
              <a:buClrTx/>
              <a:buSzTx/>
              <a:buFont typeface="Wingdings" panose="05000000000000000000" charset="0"/>
              <a:buNone/>
            </a:pPr>
            <a:endParaRPr lang="en-US" altLang="zh-CN" sz="2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54</a:t>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二叉排序树的查找算法性能</a:t>
            </a: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在最好的情况下，二叉排序树为一近似完全二叉树时，其查找深度为log</a:t>
            </a:r>
            <a:r>
              <a:rPr lang="zh-CN" altLang="en-US" baseline="-25000" dirty="0">
                <a:latin typeface="黑体" panose="02010609060101010101" pitchFamily="2" charset="-122"/>
                <a:ea typeface="黑体" panose="02010609060101010101" pitchFamily="2" charset="-122"/>
                <a:cs typeface="+mn-ea"/>
                <a:sym typeface="+mn-ea"/>
              </a:rPr>
              <a:t>2</a:t>
            </a:r>
            <a:r>
              <a:rPr lang="zh-CN" altLang="en-US" dirty="0">
                <a:latin typeface="黑体" panose="02010609060101010101" pitchFamily="2" charset="-122"/>
                <a:ea typeface="黑体" panose="02010609060101010101" pitchFamily="2" charset="-122"/>
                <a:cs typeface="+mn-ea"/>
                <a:sym typeface="+mn-ea"/>
              </a:rPr>
              <a:t>n量级，即其时间复杂性为O(log</a:t>
            </a:r>
            <a:r>
              <a:rPr lang="zh-CN" altLang="en-US" baseline="-25000" dirty="0">
                <a:latin typeface="黑体" panose="02010609060101010101" pitchFamily="2" charset="-122"/>
                <a:ea typeface="黑体" panose="02010609060101010101" pitchFamily="2" charset="-122"/>
                <a:cs typeface="+mn-ea"/>
                <a:sym typeface="+mn-ea"/>
              </a:rPr>
              <a:t>2</a:t>
            </a:r>
            <a:r>
              <a:rPr lang="zh-CN" altLang="en-US" dirty="0">
                <a:latin typeface="黑体" panose="02010609060101010101" pitchFamily="2" charset="-122"/>
                <a:ea typeface="黑体" panose="02010609060101010101" pitchFamily="2" charset="-122"/>
                <a:cs typeface="+mn-ea"/>
                <a:sym typeface="+mn-ea"/>
              </a:rPr>
              <a:t>n)</a:t>
            </a:r>
            <a:endParaRPr lang="zh-CN" altLang="en-US" b="0" dirty="0">
              <a:latin typeface="黑体" panose="02010609060101010101" pitchFamily="2" charset="-122"/>
              <a:ea typeface="黑体" panose="02010609060101010101" pitchFamily="2" charset="-122"/>
              <a:cs typeface="+mn-ea"/>
            </a:endParaRPr>
          </a:p>
          <a:p>
            <a:pPr marL="609600" indent="-609600" eaLnBrk="1" latinLnBrk="0" hangingPunct="1">
              <a:lnSpc>
                <a:spcPct val="100000"/>
              </a:lnSpc>
              <a:spcBef>
                <a:spcPts val="0"/>
              </a:spcBef>
              <a:buClr>
                <a:schemeClr val="accent1"/>
              </a:buClr>
              <a:buSzTx/>
              <a:buFont typeface="Wingdings" panose="05000000000000000000" pitchFamily="2" charset="2"/>
              <a:buNone/>
            </a:pPr>
            <a:endParaRPr lang="zh-CN" altLang="en-US"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55</a:t>
            </a:fld>
            <a:endParaRPr lang="zh-CN" altLang="en-US"/>
          </a:p>
        </p:txBody>
      </p:sp>
      <p:grpSp>
        <p:nvGrpSpPr>
          <p:cNvPr id="59396" name="Group 72"/>
          <p:cNvGrpSpPr/>
          <p:nvPr/>
        </p:nvGrpSpPr>
        <p:grpSpPr>
          <a:xfrm>
            <a:off x="3719830" y="2780348"/>
            <a:ext cx="4138613" cy="2112962"/>
            <a:chOff x="1200" y="2688"/>
            <a:chExt cx="2607" cy="1331"/>
          </a:xfrm>
        </p:grpSpPr>
        <p:sp>
          <p:nvSpPr>
            <p:cNvPr id="59397" name="Oval 73"/>
            <p:cNvSpPr/>
            <p:nvPr/>
          </p:nvSpPr>
          <p:spPr>
            <a:xfrm>
              <a:off x="2592" y="2688"/>
              <a:ext cx="256"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75</a:t>
              </a:r>
            </a:p>
          </p:txBody>
        </p:sp>
        <p:sp>
          <p:nvSpPr>
            <p:cNvPr id="59398" name="Oval 74"/>
            <p:cNvSpPr/>
            <p:nvPr/>
          </p:nvSpPr>
          <p:spPr>
            <a:xfrm>
              <a:off x="2352" y="3360"/>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59399" name="Oval 75"/>
            <p:cNvSpPr/>
            <p:nvPr/>
          </p:nvSpPr>
          <p:spPr>
            <a:xfrm>
              <a:off x="1728" y="3744"/>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59400" name="Line 76"/>
            <p:cNvSpPr/>
            <p:nvPr/>
          </p:nvSpPr>
          <p:spPr>
            <a:xfrm flipH="1">
              <a:off x="2064" y="2832"/>
              <a:ext cx="528" cy="240"/>
            </a:xfrm>
            <a:prstGeom prst="line">
              <a:avLst/>
            </a:prstGeom>
            <a:ln w="38100" cap="flat" cmpd="sng">
              <a:solidFill>
                <a:srgbClr val="336699"/>
              </a:solidFill>
              <a:prstDash val="solid"/>
              <a:round/>
              <a:headEnd type="none" w="med" len="med"/>
              <a:tailEnd type="none" w="med" len="med"/>
            </a:ln>
          </p:spPr>
        </p:sp>
        <p:sp>
          <p:nvSpPr>
            <p:cNvPr id="59401" name="Line 77"/>
            <p:cNvSpPr/>
            <p:nvPr/>
          </p:nvSpPr>
          <p:spPr>
            <a:xfrm flipH="1">
              <a:off x="1632" y="3216"/>
              <a:ext cx="240" cy="240"/>
            </a:xfrm>
            <a:prstGeom prst="line">
              <a:avLst/>
            </a:prstGeom>
            <a:ln w="38100" cap="flat" cmpd="sng">
              <a:solidFill>
                <a:srgbClr val="666699"/>
              </a:solidFill>
              <a:prstDash val="solid"/>
              <a:round/>
              <a:headEnd type="none" w="med" len="med"/>
              <a:tailEnd type="none" w="med" len="med"/>
            </a:ln>
          </p:spPr>
        </p:sp>
        <p:sp>
          <p:nvSpPr>
            <p:cNvPr id="59402" name="Line 78"/>
            <p:cNvSpPr/>
            <p:nvPr/>
          </p:nvSpPr>
          <p:spPr>
            <a:xfrm>
              <a:off x="2832" y="2832"/>
              <a:ext cx="480" cy="240"/>
            </a:xfrm>
            <a:prstGeom prst="line">
              <a:avLst/>
            </a:prstGeom>
            <a:ln w="38100" cap="flat" cmpd="sng">
              <a:solidFill>
                <a:srgbClr val="336699"/>
              </a:solidFill>
              <a:prstDash val="solid"/>
              <a:round/>
              <a:headEnd type="none" w="med" len="med"/>
              <a:tailEnd type="none" w="med" len="med"/>
            </a:ln>
          </p:spPr>
        </p:sp>
        <p:sp>
          <p:nvSpPr>
            <p:cNvPr id="59403" name="Line 79"/>
            <p:cNvSpPr/>
            <p:nvPr/>
          </p:nvSpPr>
          <p:spPr>
            <a:xfrm>
              <a:off x="2112" y="3216"/>
              <a:ext cx="269" cy="183"/>
            </a:xfrm>
            <a:prstGeom prst="line">
              <a:avLst/>
            </a:prstGeom>
            <a:ln w="38100" cap="flat" cmpd="sng">
              <a:solidFill>
                <a:srgbClr val="336699"/>
              </a:solidFill>
              <a:prstDash val="solid"/>
              <a:round/>
              <a:headEnd type="none" w="med" len="med"/>
              <a:tailEnd type="none" w="med" len="med"/>
            </a:ln>
          </p:spPr>
        </p:sp>
        <p:sp>
          <p:nvSpPr>
            <p:cNvPr id="59404" name="Line 80"/>
            <p:cNvSpPr/>
            <p:nvPr/>
          </p:nvSpPr>
          <p:spPr>
            <a:xfrm flipH="1">
              <a:off x="2270" y="3593"/>
              <a:ext cx="111" cy="202"/>
            </a:xfrm>
            <a:prstGeom prst="line">
              <a:avLst/>
            </a:prstGeom>
            <a:ln w="38100" cap="flat" cmpd="sng">
              <a:solidFill>
                <a:srgbClr val="336699"/>
              </a:solidFill>
              <a:prstDash val="solid"/>
              <a:round/>
              <a:headEnd type="none" w="med" len="med"/>
              <a:tailEnd type="none" w="med" len="med"/>
            </a:ln>
          </p:spPr>
        </p:sp>
        <p:sp>
          <p:nvSpPr>
            <p:cNvPr id="59405" name="Line 81"/>
            <p:cNvSpPr/>
            <p:nvPr/>
          </p:nvSpPr>
          <p:spPr>
            <a:xfrm>
              <a:off x="3408" y="3168"/>
              <a:ext cx="240" cy="240"/>
            </a:xfrm>
            <a:prstGeom prst="line">
              <a:avLst/>
            </a:prstGeom>
            <a:ln w="38100" cap="flat" cmpd="sng">
              <a:solidFill>
                <a:srgbClr val="336699"/>
              </a:solidFill>
              <a:prstDash val="solid"/>
              <a:round/>
              <a:headEnd type="none" w="med" len="med"/>
              <a:tailEnd type="none" w="med" len="med"/>
            </a:ln>
          </p:spPr>
        </p:sp>
        <p:sp>
          <p:nvSpPr>
            <p:cNvPr id="59406" name="Line 82"/>
            <p:cNvSpPr/>
            <p:nvPr/>
          </p:nvSpPr>
          <p:spPr>
            <a:xfrm flipH="1">
              <a:off x="1344" y="3600"/>
              <a:ext cx="120" cy="240"/>
            </a:xfrm>
            <a:prstGeom prst="line">
              <a:avLst/>
            </a:prstGeom>
            <a:ln w="38100" cap="flat" cmpd="sng">
              <a:solidFill>
                <a:srgbClr val="336699"/>
              </a:solidFill>
              <a:prstDash val="solid"/>
              <a:round/>
              <a:headEnd type="none" w="med" len="med"/>
              <a:tailEnd type="none" w="med" len="med"/>
            </a:ln>
          </p:spPr>
        </p:sp>
        <p:sp>
          <p:nvSpPr>
            <p:cNvPr id="59407" name="Line 83"/>
            <p:cNvSpPr/>
            <p:nvPr/>
          </p:nvSpPr>
          <p:spPr>
            <a:xfrm>
              <a:off x="1632" y="3600"/>
              <a:ext cx="192" cy="192"/>
            </a:xfrm>
            <a:prstGeom prst="line">
              <a:avLst/>
            </a:prstGeom>
            <a:ln w="38100" cap="flat" cmpd="sng">
              <a:solidFill>
                <a:srgbClr val="336699"/>
              </a:solidFill>
              <a:prstDash val="solid"/>
              <a:round/>
              <a:headEnd type="none" w="med" len="med"/>
              <a:tailEnd type="none" w="med" len="med"/>
            </a:ln>
          </p:spPr>
        </p:sp>
        <p:sp>
          <p:nvSpPr>
            <p:cNvPr id="59408" name="Oval 84"/>
            <p:cNvSpPr/>
            <p:nvPr/>
          </p:nvSpPr>
          <p:spPr>
            <a:xfrm>
              <a:off x="2606" y="3747"/>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59409" name="Line 85"/>
            <p:cNvSpPr/>
            <p:nvPr/>
          </p:nvSpPr>
          <p:spPr>
            <a:xfrm>
              <a:off x="2558" y="3603"/>
              <a:ext cx="144" cy="144"/>
            </a:xfrm>
            <a:prstGeom prst="line">
              <a:avLst/>
            </a:prstGeom>
            <a:ln w="38100" cap="flat" cmpd="sng">
              <a:solidFill>
                <a:srgbClr val="336699"/>
              </a:solidFill>
              <a:prstDash val="solid"/>
              <a:round/>
              <a:headEnd type="none" w="med" len="med"/>
              <a:tailEnd type="none" w="med" len="med"/>
            </a:ln>
          </p:spPr>
        </p:sp>
        <p:sp>
          <p:nvSpPr>
            <p:cNvPr id="59410" name="Oval 86"/>
            <p:cNvSpPr/>
            <p:nvPr/>
          </p:nvSpPr>
          <p:spPr>
            <a:xfrm>
              <a:off x="1200" y="3744"/>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59411" name="Oval 87"/>
            <p:cNvSpPr/>
            <p:nvPr/>
          </p:nvSpPr>
          <p:spPr>
            <a:xfrm>
              <a:off x="2078" y="3747"/>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59412" name="Oval 88"/>
            <p:cNvSpPr/>
            <p:nvPr/>
          </p:nvSpPr>
          <p:spPr>
            <a:xfrm>
              <a:off x="1872" y="3024"/>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59413" name="Line 89"/>
            <p:cNvSpPr/>
            <p:nvPr/>
          </p:nvSpPr>
          <p:spPr>
            <a:xfrm flipH="1">
              <a:off x="3120" y="3216"/>
              <a:ext cx="144" cy="205"/>
            </a:xfrm>
            <a:prstGeom prst="line">
              <a:avLst/>
            </a:prstGeom>
            <a:ln w="38100" cap="flat" cmpd="sng">
              <a:solidFill>
                <a:srgbClr val="336699"/>
              </a:solidFill>
              <a:prstDash val="solid"/>
              <a:round/>
              <a:headEnd type="none" w="med" len="med"/>
              <a:tailEnd type="none" w="med" len="med"/>
            </a:ln>
          </p:spPr>
        </p:sp>
        <p:sp>
          <p:nvSpPr>
            <p:cNvPr id="59414" name="Oval 90"/>
            <p:cNvSpPr/>
            <p:nvPr/>
          </p:nvSpPr>
          <p:spPr>
            <a:xfrm>
              <a:off x="2928" y="3360"/>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59415" name="Oval 91"/>
            <p:cNvSpPr/>
            <p:nvPr/>
          </p:nvSpPr>
          <p:spPr>
            <a:xfrm>
              <a:off x="1440" y="3360"/>
              <a:ext cx="254"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59416" name="Oval 92"/>
            <p:cNvSpPr/>
            <p:nvPr/>
          </p:nvSpPr>
          <p:spPr>
            <a:xfrm>
              <a:off x="3216" y="2976"/>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59417" name="Oval 93"/>
            <p:cNvSpPr/>
            <p:nvPr/>
          </p:nvSpPr>
          <p:spPr>
            <a:xfrm>
              <a:off x="3552" y="3360"/>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r>
                <a:rPr lang="en-US" altLang="zh-CN" sz="1600" b="1" dirty="0">
                  <a:solidFill>
                    <a:srgbClr val="003366"/>
                  </a:solidFill>
                  <a:latin typeface="Times New Roman" panose="02020603050405020304" pitchFamily="18" charset="0"/>
                  <a:ea typeface="宋体" panose="02010600030101010101" pitchFamily="2" charset="-122"/>
                </a:rPr>
                <a:t>92</a:t>
              </a: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二叉排序树的查找算法性能</a:t>
            </a: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在最坏的情况下，二叉排序树为近似线性表时</a:t>
            </a:r>
            <a:r>
              <a:rPr lang="en-US" altLang="zh-CN" dirty="0">
                <a:latin typeface="黑体" panose="02010609060101010101" pitchFamily="2" charset="-122"/>
                <a:ea typeface="黑体" panose="02010609060101010101" pitchFamily="2" charset="-122"/>
                <a:sym typeface="+mn-ea"/>
              </a:rPr>
              <a:t>(</a:t>
            </a:r>
            <a:r>
              <a:rPr lang="zh-CN" altLang="en-US" dirty="0">
                <a:latin typeface="黑体" panose="02010609060101010101" pitchFamily="2" charset="-122"/>
                <a:ea typeface="黑体" panose="02010609060101010101" pitchFamily="2" charset="-122"/>
                <a:sym typeface="+mn-ea"/>
              </a:rPr>
              <a:t>如以升序或降序输入结点时</a:t>
            </a:r>
            <a:r>
              <a:rPr lang="en-US" altLang="zh-CN" dirty="0">
                <a:latin typeface="黑体" panose="02010609060101010101" pitchFamily="2" charset="-122"/>
                <a:ea typeface="黑体" panose="02010609060101010101" pitchFamily="2" charset="-122"/>
                <a:sym typeface="+mn-ea"/>
              </a:rPr>
              <a:t>)</a:t>
            </a:r>
            <a:r>
              <a:rPr lang="zh-CN" altLang="en-US" dirty="0">
                <a:latin typeface="黑体" panose="02010609060101010101" pitchFamily="2" charset="-122"/>
                <a:ea typeface="黑体" panose="02010609060101010101" pitchFamily="2" charset="-122"/>
                <a:sym typeface="+mn-ea"/>
              </a:rPr>
              <a:t>，其查找深度为</a:t>
            </a:r>
            <a:r>
              <a:rPr lang="en-US" altLang="zh-CN" dirty="0">
                <a:latin typeface="黑体" panose="02010609060101010101" pitchFamily="2" charset="-122"/>
                <a:ea typeface="黑体" panose="02010609060101010101" pitchFamily="2" charset="-122"/>
                <a:sym typeface="+mn-ea"/>
              </a:rPr>
              <a:t>n</a:t>
            </a:r>
            <a:r>
              <a:rPr lang="zh-CN" altLang="en-US" dirty="0">
                <a:latin typeface="黑体" panose="02010609060101010101" pitchFamily="2" charset="-122"/>
                <a:ea typeface="黑体" panose="02010609060101010101" pitchFamily="2" charset="-122"/>
                <a:sym typeface="+mn-ea"/>
              </a:rPr>
              <a:t>量级，即其时间复杂性为</a:t>
            </a:r>
            <a:r>
              <a:rPr lang="en-US" altLang="zh-CN" dirty="0">
                <a:latin typeface="黑体" panose="02010609060101010101" pitchFamily="2" charset="-122"/>
                <a:ea typeface="黑体" panose="02010609060101010101" pitchFamily="2" charset="-122"/>
                <a:sym typeface="+mn-ea"/>
              </a:rPr>
              <a:t>O(n)</a:t>
            </a:r>
            <a:endParaRPr lang="zh-CN" altLang="en-US" b="0" dirty="0">
              <a:latin typeface="黑体" panose="02010609060101010101" pitchFamily="2" charset="-122"/>
              <a:ea typeface="黑体" panose="02010609060101010101" pitchFamily="2" charset="-122"/>
              <a:cs typeface="+mn-ea"/>
            </a:endParaRPr>
          </a:p>
          <a:p>
            <a:pPr marL="609600" indent="-609600" eaLnBrk="1" latinLnBrk="0" hangingPunct="1">
              <a:lnSpc>
                <a:spcPct val="100000"/>
              </a:lnSpc>
              <a:spcBef>
                <a:spcPts val="0"/>
              </a:spcBef>
              <a:buClr>
                <a:schemeClr val="accent1"/>
              </a:buClr>
              <a:buSzTx/>
              <a:buFont typeface="Wingdings" panose="05000000000000000000" pitchFamily="2" charset="2"/>
              <a:buNone/>
            </a:pPr>
            <a:endParaRPr lang="zh-CN" altLang="en-US"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56</a:t>
            </a:fld>
            <a:endParaRPr lang="zh-CN" altLang="en-US"/>
          </a:p>
        </p:txBody>
      </p:sp>
      <p:grpSp>
        <p:nvGrpSpPr>
          <p:cNvPr id="60420" name="Group 26"/>
          <p:cNvGrpSpPr/>
          <p:nvPr/>
        </p:nvGrpSpPr>
        <p:grpSpPr>
          <a:xfrm>
            <a:off x="8112125" y="2132965"/>
            <a:ext cx="2203450" cy="4267200"/>
            <a:chOff x="4132" y="1440"/>
            <a:chExt cx="1388" cy="2688"/>
          </a:xfrm>
        </p:grpSpPr>
        <p:sp>
          <p:nvSpPr>
            <p:cNvPr id="60421" name="Line 27"/>
            <p:cNvSpPr/>
            <p:nvPr/>
          </p:nvSpPr>
          <p:spPr>
            <a:xfrm flipH="1">
              <a:off x="4176" y="1589"/>
              <a:ext cx="1109" cy="1195"/>
            </a:xfrm>
            <a:prstGeom prst="line">
              <a:avLst/>
            </a:prstGeom>
            <a:ln w="28575" cap="flat" cmpd="sng">
              <a:solidFill>
                <a:schemeClr val="accent1"/>
              </a:solidFill>
              <a:prstDash val="solid"/>
              <a:round/>
              <a:headEnd type="none" w="med" len="med"/>
              <a:tailEnd type="none" w="med" len="med"/>
            </a:ln>
          </p:spPr>
        </p:sp>
        <p:sp>
          <p:nvSpPr>
            <p:cNvPr id="60422" name="Oval 28"/>
            <p:cNvSpPr/>
            <p:nvPr/>
          </p:nvSpPr>
          <p:spPr>
            <a:xfrm flipH="1">
              <a:off x="4778" y="1938"/>
              <a:ext cx="184" cy="193"/>
            </a:xfrm>
            <a:prstGeom prst="ellipse">
              <a:avLst/>
            </a:prstGeom>
            <a:solidFill>
              <a:srgbClr val="FFFFFF"/>
            </a:solidFill>
            <a:ln w="28575" cap="sq" cmpd="sng">
              <a:solidFill>
                <a:schemeClr val="accent1"/>
              </a:solidFill>
              <a:prstDash val="solid"/>
              <a:round/>
              <a:headEnd type="none" w="sm" len="sm"/>
              <a:tailEnd type="none" w="sm" len="sm"/>
            </a:ln>
          </p:spPr>
          <p:txBody>
            <a:bodyPr wrap="none" anchor="ctr" anchorCtr="0"/>
            <a:lstStyle/>
            <a:p>
              <a:pPr algn="ctr"/>
              <a:r>
                <a:rPr lang="en-US" altLang="zh-CN" sz="1400" dirty="0">
                  <a:solidFill>
                    <a:schemeClr val="hlink"/>
                  </a:solidFill>
                  <a:latin typeface="Times New Roman" panose="02020603050405020304" pitchFamily="18" charset="0"/>
                  <a:ea typeface="宋体" panose="02010600030101010101" pitchFamily="2" charset="-122"/>
                </a:rPr>
                <a:t>80</a:t>
              </a:r>
            </a:p>
          </p:txBody>
        </p:sp>
        <p:sp>
          <p:nvSpPr>
            <p:cNvPr id="60423" name="Oval 29"/>
            <p:cNvSpPr/>
            <p:nvPr/>
          </p:nvSpPr>
          <p:spPr>
            <a:xfrm flipH="1">
              <a:off x="5009" y="1689"/>
              <a:ext cx="184" cy="193"/>
            </a:xfrm>
            <a:prstGeom prst="ellipse">
              <a:avLst/>
            </a:prstGeom>
            <a:solidFill>
              <a:srgbClr val="FFFFFF"/>
            </a:solidFill>
            <a:ln w="28575" cap="sq" cmpd="sng">
              <a:solidFill>
                <a:schemeClr val="accent1"/>
              </a:solidFill>
              <a:prstDash val="solid"/>
              <a:round/>
              <a:headEnd type="none" w="sm" len="sm"/>
              <a:tailEnd type="none" w="sm" len="sm"/>
            </a:ln>
          </p:spPr>
          <p:txBody>
            <a:bodyPr wrap="none" anchor="ctr" anchorCtr="0"/>
            <a:lstStyle/>
            <a:p>
              <a:pPr algn="ctr"/>
              <a:r>
                <a:rPr lang="en-US" altLang="zh-CN" sz="1400" dirty="0">
                  <a:solidFill>
                    <a:schemeClr val="hlink"/>
                  </a:solidFill>
                  <a:latin typeface="Times New Roman" panose="02020603050405020304" pitchFamily="18" charset="0"/>
                  <a:ea typeface="宋体" panose="02010600030101010101" pitchFamily="2" charset="-122"/>
                </a:rPr>
                <a:t>88</a:t>
              </a:r>
            </a:p>
          </p:txBody>
        </p:sp>
        <p:sp>
          <p:nvSpPr>
            <p:cNvPr id="60424" name="Oval 30"/>
            <p:cNvSpPr/>
            <p:nvPr/>
          </p:nvSpPr>
          <p:spPr>
            <a:xfrm flipH="1">
              <a:off x="5239" y="1440"/>
              <a:ext cx="185" cy="195"/>
            </a:xfrm>
            <a:prstGeom prst="ellipse">
              <a:avLst/>
            </a:prstGeom>
            <a:solidFill>
              <a:srgbClr val="FFFFFF"/>
            </a:solidFill>
            <a:ln w="28575" cap="sq" cmpd="sng">
              <a:solidFill>
                <a:schemeClr val="accent1"/>
              </a:solidFill>
              <a:prstDash val="solid"/>
              <a:round/>
              <a:headEnd type="none" w="sm" len="sm"/>
              <a:tailEnd type="none" w="sm" len="sm"/>
            </a:ln>
          </p:spPr>
          <p:txBody>
            <a:bodyPr wrap="none" anchor="ctr" anchorCtr="0"/>
            <a:lstStyle/>
            <a:p>
              <a:pPr algn="ctr"/>
              <a:r>
                <a:rPr lang="en-US" altLang="zh-CN" sz="1400" dirty="0">
                  <a:solidFill>
                    <a:schemeClr val="hlink"/>
                  </a:solidFill>
                  <a:latin typeface="Times New Roman" panose="02020603050405020304" pitchFamily="18" charset="0"/>
                  <a:ea typeface="宋体" panose="02010600030101010101" pitchFamily="2" charset="-122"/>
                </a:rPr>
                <a:t>92</a:t>
              </a:r>
            </a:p>
          </p:txBody>
        </p:sp>
        <p:sp>
          <p:nvSpPr>
            <p:cNvPr id="60425" name="Oval 31"/>
            <p:cNvSpPr/>
            <p:nvPr/>
          </p:nvSpPr>
          <p:spPr>
            <a:xfrm flipH="1">
              <a:off x="4363" y="2435"/>
              <a:ext cx="183" cy="193"/>
            </a:xfrm>
            <a:prstGeom prst="ellipse">
              <a:avLst/>
            </a:prstGeom>
            <a:solidFill>
              <a:srgbClr val="FFFFFF"/>
            </a:solidFill>
            <a:ln w="28575" cap="sq" cmpd="sng">
              <a:solidFill>
                <a:schemeClr val="accent1"/>
              </a:solidFill>
              <a:prstDash val="solid"/>
              <a:round/>
              <a:headEnd type="none" w="sm" len="sm"/>
              <a:tailEnd type="none" w="sm" len="sm"/>
            </a:ln>
          </p:spPr>
          <p:txBody>
            <a:bodyPr wrap="none" anchor="ctr" anchorCtr="0"/>
            <a:lstStyle/>
            <a:p>
              <a:pPr algn="ctr"/>
              <a:r>
                <a:rPr lang="en-US" altLang="zh-CN" sz="1400" dirty="0">
                  <a:solidFill>
                    <a:schemeClr val="hlink"/>
                  </a:solidFill>
                  <a:latin typeface="Times New Roman" panose="02020603050405020304" pitchFamily="18" charset="0"/>
                  <a:ea typeface="宋体" panose="02010600030101010101" pitchFamily="2" charset="-122"/>
                </a:rPr>
                <a:t>64</a:t>
              </a:r>
            </a:p>
          </p:txBody>
        </p:sp>
        <p:sp>
          <p:nvSpPr>
            <p:cNvPr id="60426" name="Oval 32"/>
            <p:cNvSpPr/>
            <p:nvPr/>
          </p:nvSpPr>
          <p:spPr>
            <a:xfrm flipH="1">
              <a:off x="4593" y="2187"/>
              <a:ext cx="184" cy="194"/>
            </a:xfrm>
            <a:prstGeom prst="ellipse">
              <a:avLst/>
            </a:prstGeom>
            <a:solidFill>
              <a:srgbClr val="FFFFFF"/>
            </a:solidFill>
            <a:ln w="28575" cap="sq" cmpd="sng">
              <a:solidFill>
                <a:schemeClr val="accent1"/>
              </a:solidFill>
              <a:prstDash val="solid"/>
              <a:round/>
              <a:headEnd type="none" w="sm" len="sm"/>
              <a:tailEnd type="none" w="sm" len="sm"/>
            </a:ln>
          </p:spPr>
          <p:txBody>
            <a:bodyPr wrap="none" anchor="ctr" anchorCtr="0"/>
            <a:lstStyle/>
            <a:p>
              <a:pPr algn="ctr"/>
              <a:r>
                <a:rPr lang="en-US" altLang="zh-CN" sz="1400" dirty="0">
                  <a:solidFill>
                    <a:schemeClr val="hlink"/>
                  </a:solidFill>
                  <a:latin typeface="Times New Roman" panose="02020603050405020304" pitchFamily="18" charset="0"/>
                  <a:ea typeface="宋体" panose="02010600030101010101" pitchFamily="2" charset="-122"/>
                </a:rPr>
                <a:t>75</a:t>
              </a:r>
            </a:p>
          </p:txBody>
        </p:sp>
        <p:sp>
          <p:nvSpPr>
            <p:cNvPr id="60427" name="Line 33"/>
            <p:cNvSpPr/>
            <p:nvPr/>
          </p:nvSpPr>
          <p:spPr>
            <a:xfrm>
              <a:off x="4272" y="2832"/>
              <a:ext cx="1098" cy="1136"/>
            </a:xfrm>
            <a:prstGeom prst="line">
              <a:avLst/>
            </a:prstGeom>
            <a:ln w="28575" cap="flat" cmpd="sng">
              <a:solidFill>
                <a:schemeClr val="accent1"/>
              </a:solidFill>
              <a:prstDash val="solid"/>
              <a:round/>
              <a:headEnd type="none" w="med" len="med"/>
              <a:tailEnd type="none" w="med" len="med"/>
            </a:ln>
          </p:spPr>
        </p:sp>
        <p:sp>
          <p:nvSpPr>
            <p:cNvPr id="60428" name="Oval 34"/>
            <p:cNvSpPr/>
            <p:nvPr/>
          </p:nvSpPr>
          <p:spPr>
            <a:xfrm>
              <a:off x="4848" y="3423"/>
              <a:ext cx="191" cy="192"/>
            </a:xfrm>
            <a:prstGeom prst="ellipse">
              <a:avLst/>
            </a:prstGeom>
            <a:solidFill>
              <a:srgbClr val="FFFFFF"/>
            </a:solidFill>
            <a:ln w="28575" cap="sq" cmpd="sng">
              <a:solidFill>
                <a:schemeClr val="accent1"/>
              </a:solidFill>
              <a:prstDash val="solid"/>
              <a:round/>
              <a:headEnd type="none" w="sm" len="sm"/>
              <a:tailEnd type="none" w="sm" len="sm"/>
            </a:ln>
          </p:spPr>
          <p:txBody>
            <a:bodyPr wrap="none" anchor="ctr" anchorCtr="0"/>
            <a:lstStyle/>
            <a:p>
              <a:pPr algn="ctr"/>
              <a:r>
                <a:rPr lang="en-US" altLang="zh-CN" sz="1400" dirty="0">
                  <a:solidFill>
                    <a:schemeClr val="hlink"/>
                  </a:solidFill>
                  <a:latin typeface="Times New Roman" panose="02020603050405020304" pitchFamily="18" charset="0"/>
                  <a:ea typeface="宋体" panose="02010600030101010101" pitchFamily="2" charset="-122"/>
                </a:rPr>
                <a:t>21</a:t>
              </a:r>
            </a:p>
          </p:txBody>
        </p:sp>
        <p:sp>
          <p:nvSpPr>
            <p:cNvPr id="60429" name="Oval 35"/>
            <p:cNvSpPr/>
            <p:nvPr/>
          </p:nvSpPr>
          <p:spPr>
            <a:xfrm>
              <a:off x="4608" y="3176"/>
              <a:ext cx="191" cy="191"/>
            </a:xfrm>
            <a:prstGeom prst="ellipse">
              <a:avLst/>
            </a:prstGeom>
            <a:solidFill>
              <a:srgbClr val="FFFFFF"/>
            </a:solidFill>
            <a:ln w="28575" cap="sq" cmpd="sng">
              <a:solidFill>
                <a:schemeClr val="accent1"/>
              </a:solidFill>
              <a:prstDash val="solid"/>
              <a:round/>
              <a:headEnd type="none" w="sm" len="sm"/>
              <a:tailEnd type="none" w="sm" len="sm"/>
            </a:ln>
          </p:spPr>
          <p:txBody>
            <a:bodyPr wrap="none" anchor="ctr" anchorCtr="0"/>
            <a:lstStyle/>
            <a:p>
              <a:pPr algn="ctr"/>
              <a:r>
                <a:rPr lang="en-US" altLang="zh-CN" sz="1400" dirty="0">
                  <a:solidFill>
                    <a:schemeClr val="hlink"/>
                  </a:solidFill>
                  <a:latin typeface="Times New Roman" panose="02020603050405020304" pitchFamily="18" charset="0"/>
                  <a:ea typeface="宋体" panose="02010600030101010101" pitchFamily="2" charset="-122"/>
                </a:rPr>
                <a:t>19</a:t>
              </a:r>
            </a:p>
          </p:txBody>
        </p:sp>
        <p:sp>
          <p:nvSpPr>
            <p:cNvPr id="60430" name="Oval 36"/>
            <p:cNvSpPr/>
            <p:nvPr/>
          </p:nvSpPr>
          <p:spPr>
            <a:xfrm>
              <a:off x="4368" y="2928"/>
              <a:ext cx="192" cy="194"/>
            </a:xfrm>
            <a:prstGeom prst="ellipse">
              <a:avLst/>
            </a:prstGeom>
            <a:solidFill>
              <a:srgbClr val="FFFFFF"/>
            </a:solidFill>
            <a:ln w="28575" cap="sq" cmpd="sng">
              <a:solidFill>
                <a:schemeClr val="accent1"/>
              </a:solidFill>
              <a:prstDash val="solid"/>
              <a:round/>
              <a:headEnd type="none" w="sm" len="sm"/>
              <a:tailEnd type="none" w="sm" len="sm"/>
            </a:ln>
          </p:spPr>
          <p:txBody>
            <a:bodyPr wrap="none" anchor="ctr" anchorCtr="0"/>
            <a:lstStyle/>
            <a:p>
              <a:pPr algn="ctr"/>
              <a:r>
                <a:rPr lang="en-US" altLang="zh-CN" sz="1400" dirty="0">
                  <a:solidFill>
                    <a:schemeClr val="hlink"/>
                  </a:solidFill>
                  <a:latin typeface="Times New Roman" panose="02020603050405020304" pitchFamily="18" charset="0"/>
                  <a:ea typeface="宋体" panose="02010600030101010101" pitchFamily="2" charset="-122"/>
                </a:rPr>
                <a:t>13</a:t>
              </a:r>
            </a:p>
          </p:txBody>
        </p:sp>
        <p:sp>
          <p:nvSpPr>
            <p:cNvPr id="60431" name="Oval 37"/>
            <p:cNvSpPr/>
            <p:nvPr/>
          </p:nvSpPr>
          <p:spPr>
            <a:xfrm>
              <a:off x="5329" y="3936"/>
              <a:ext cx="191" cy="192"/>
            </a:xfrm>
            <a:prstGeom prst="ellipse">
              <a:avLst/>
            </a:prstGeom>
            <a:solidFill>
              <a:srgbClr val="FFFFFF"/>
            </a:solidFill>
            <a:ln w="28575" cap="sq" cmpd="sng">
              <a:solidFill>
                <a:schemeClr val="accent1"/>
              </a:solidFill>
              <a:prstDash val="solid"/>
              <a:round/>
              <a:headEnd type="none" w="sm" len="sm"/>
              <a:tailEnd type="none" w="sm" len="sm"/>
            </a:ln>
          </p:spPr>
          <p:txBody>
            <a:bodyPr wrap="none" anchor="ctr" anchorCtr="0"/>
            <a:lstStyle/>
            <a:p>
              <a:pPr algn="ctr"/>
              <a:r>
                <a:rPr lang="en-US" altLang="zh-CN" sz="1400" dirty="0">
                  <a:solidFill>
                    <a:schemeClr val="hlink"/>
                  </a:solidFill>
                  <a:latin typeface="Times New Roman" panose="02020603050405020304" pitchFamily="18" charset="0"/>
                  <a:ea typeface="宋体" panose="02010600030101010101" pitchFamily="2" charset="-122"/>
                </a:rPr>
                <a:t>56</a:t>
              </a:r>
            </a:p>
          </p:txBody>
        </p:sp>
        <p:sp>
          <p:nvSpPr>
            <p:cNvPr id="60432" name="Oval 38"/>
            <p:cNvSpPr/>
            <p:nvPr/>
          </p:nvSpPr>
          <p:spPr>
            <a:xfrm>
              <a:off x="5088" y="3671"/>
              <a:ext cx="192" cy="194"/>
            </a:xfrm>
            <a:prstGeom prst="ellipse">
              <a:avLst/>
            </a:prstGeom>
            <a:solidFill>
              <a:srgbClr val="FFFFFF"/>
            </a:solidFill>
            <a:ln w="28575" cap="sq" cmpd="sng">
              <a:solidFill>
                <a:schemeClr val="accent1"/>
              </a:solidFill>
              <a:prstDash val="solid"/>
              <a:round/>
              <a:headEnd type="none" w="sm" len="sm"/>
              <a:tailEnd type="none" w="sm" len="sm"/>
            </a:ln>
          </p:spPr>
          <p:txBody>
            <a:bodyPr wrap="none" anchor="ctr" anchorCtr="0"/>
            <a:lstStyle/>
            <a:p>
              <a:pPr algn="ctr"/>
              <a:r>
                <a:rPr lang="en-US" altLang="zh-CN" sz="1400" dirty="0">
                  <a:solidFill>
                    <a:schemeClr val="hlink"/>
                  </a:solidFill>
                  <a:latin typeface="Times New Roman" panose="02020603050405020304" pitchFamily="18" charset="0"/>
                  <a:ea typeface="宋体" panose="02010600030101010101" pitchFamily="2" charset="-122"/>
                </a:rPr>
                <a:t>37</a:t>
              </a:r>
            </a:p>
          </p:txBody>
        </p:sp>
        <p:sp>
          <p:nvSpPr>
            <p:cNvPr id="60433" name="Oval 39"/>
            <p:cNvSpPr/>
            <p:nvPr/>
          </p:nvSpPr>
          <p:spPr>
            <a:xfrm flipH="1">
              <a:off x="4132" y="2684"/>
              <a:ext cx="183" cy="193"/>
            </a:xfrm>
            <a:prstGeom prst="ellipse">
              <a:avLst/>
            </a:prstGeom>
            <a:solidFill>
              <a:srgbClr val="FFFFFF"/>
            </a:solidFill>
            <a:ln w="28575" cap="sq" cmpd="sng">
              <a:solidFill>
                <a:schemeClr val="accent1"/>
              </a:solidFill>
              <a:prstDash val="solid"/>
              <a:round/>
              <a:headEnd type="none" w="sm" len="sm"/>
              <a:tailEnd type="none" w="sm" len="sm"/>
            </a:ln>
          </p:spPr>
          <p:txBody>
            <a:bodyPr wrap="none" anchor="ctr" anchorCtr="0"/>
            <a:lstStyle/>
            <a:p>
              <a:pPr algn="ctr"/>
              <a:r>
                <a:rPr lang="en-US" altLang="zh-CN" sz="1400" dirty="0">
                  <a:solidFill>
                    <a:schemeClr val="hlink"/>
                  </a:solidFill>
                  <a:latin typeface="Times New Roman" panose="02020603050405020304" pitchFamily="18" charset="0"/>
                  <a:ea typeface="宋体" panose="02010600030101010101" pitchFamily="2" charset="-122"/>
                </a:rPr>
                <a:t>5</a:t>
              </a: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二叉排序树的总结</a:t>
            </a: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一个无序序列可以通过构造一棵二叉排序树而变成一个有序序列（通过中序遍历）</a:t>
            </a:r>
            <a:endParaRPr lang="zh-CN" altLang="en-US"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插入新记录时，只需改变一个结点的指针，相当于在有序序列中插入一个记录而不需要移动其它记录</a:t>
            </a:r>
            <a:endParaRPr lang="zh-CN" altLang="en-US"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二叉排序树既拥有类似于折半查找的特性O(log</a:t>
            </a:r>
            <a:r>
              <a:rPr lang="zh-CN" altLang="en-US" baseline="-25000" dirty="0">
                <a:latin typeface="黑体" panose="02010609060101010101" pitchFamily="2" charset="-122"/>
                <a:ea typeface="黑体" panose="02010609060101010101" pitchFamily="2" charset="-122"/>
                <a:cs typeface="+mn-ea"/>
                <a:sym typeface="+mn-ea"/>
              </a:rPr>
              <a:t>2</a:t>
            </a:r>
            <a:r>
              <a:rPr lang="zh-CN" altLang="en-US" dirty="0">
                <a:latin typeface="黑体" panose="02010609060101010101" pitchFamily="2" charset="-122"/>
                <a:ea typeface="黑体" panose="02010609060101010101" pitchFamily="2" charset="-122"/>
                <a:cs typeface="+mn-ea"/>
                <a:sym typeface="+mn-ea"/>
              </a:rPr>
              <a:t>n)，又采用了链表作存储结构</a:t>
            </a:r>
            <a:endParaRPr lang="zh-CN" altLang="en-US"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当插入记录的次序不当时(如升序或降序)，则二叉排序树深度很深O(n)，增加了查找的时间</a:t>
            </a:r>
            <a:endParaRPr lang="zh-CN" altLang="en-US" b="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endParaRPr>
          </a:p>
          <a:p>
            <a:pPr marL="965200" lvl="1" indent="-508000" eaLnBrk="1" hangingPunct="1">
              <a:buClr>
                <a:schemeClr val="accent2"/>
              </a:buClr>
              <a:buFont typeface="Wingdings" panose="05000000000000000000" pitchFamily="2" charset="2"/>
              <a:buChar char="q"/>
            </a:pPr>
            <a:endParaRPr lang="en-US" altLang="zh-CN"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endParaRPr>
          </a:p>
          <a:p>
            <a:pPr marL="609600" indent="-609600" eaLnBrk="1" latinLnBrk="0" hangingPunct="1">
              <a:lnSpc>
                <a:spcPct val="100000"/>
              </a:lnSpc>
              <a:spcBef>
                <a:spcPts val="0"/>
              </a:spcBef>
              <a:buClr>
                <a:schemeClr val="accent1"/>
              </a:buClr>
              <a:buSzTx/>
              <a:buFont typeface="Wingdings" panose="05000000000000000000" pitchFamily="2" charset="2"/>
              <a:buNone/>
            </a:pPr>
            <a:endParaRPr lang="zh-CN" altLang="en-US"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57</a:t>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为解决二叉排序树的</a:t>
            </a:r>
            <a:r>
              <a:rPr lang="zh-CN" altLang="en-US" sz="2800" dirty="0">
                <a:latin typeface="黑体" panose="02010609060101010101" pitchFamily="2" charset="-122"/>
                <a:ea typeface="黑体" panose="02010609060101010101" pitchFamily="2" charset="-122"/>
                <a:cs typeface="+mn-ea"/>
                <a:sym typeface="+mn-ea"/>
              </a:rPr>
              <a:t>插入记录次序不当问题，引入了平衡二叉树。</a:t>
            </a:r>
            <a:endParaRPr lang="zh-CN" altLang="en-US" b="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平衡二叉树是二叉排序(查找)树的另一种形式</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平衡二叉树又称AVL树(Adelsen-Velskii and Landis)</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其特点为：树中每个结点的左、右子树深度之差的绝对值不大于1</a:t>
            </a:r>
          </a:p>
          <a:p>
            <a:pPr marL="609600" lvl="1" indent="45720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|h</a:t>
            </a:r>
            <a:r>
              <a:rPr lang="zh-CN" altLang="en-US" sz="2400" baseline="-25000" dirty="0">
                <a:latin typeface="黑体" panose="02010609060101010101" pitchFamily="2" charset="-122"/>
                <a:ea typeface="黑体" panose="02010609060101010101" pitchFamily="2" charset="-122"/>
                <a:cs typeface="+mn-ea"/>
                <a:sym typeface="+mn-ea"/>
              </a:rPr>
              <a:t>L</a:t>
            </a:r>
            <a:r>
              <a:rPr lang="zh-CN" altLang="en-US" sz="2400" dirty="0">
                <a:latin typeface="黑体" panose="02010609060101010101" pitchFamily="2" charset="-122"/>
                <a:ea typeface="黑体" panose="02010609060101010101" pitchFamily="2" charset="-122"/>
                <a:cs typeface="+mn-ea"/>
                <a:sym typeface="+mn-ea"/>
              </a:rPr>
              <a:t>-h</a:t>
            </a:r>
            <a:r>
              <a:rPr lang="zh-CN" altLang="en-US" sz="2400" baseline="-25000" dirty="0">
                <a:latin typeface="黑体" panose="02010609060101010101" pitchFamily="2" charset="-122"/>
                <a:ea typeface="黑体" panose="02010609060101010101" pitchFamily="2" charset="-122"/>
                <a:cs typeface="+mn-ea"/>
                <a:sym typeface="+mn-ea"/>
              </a:rPr>
              <a:t>R</a:t>
            </a:r>
            <a:r>
              <a:rPr lang="zh-CN" altLang="en-US" sz="2400" dirty="0">
                <a:latin typeface="黑体" panose="02010609060101010101" pitchFamily="2" charset="-122"/>
                <a:ea typeface="黑体" panose="02010609060101010101" pitchFamily="2" charset="-122"/>
                <a:cs typeface="+mn-ea"/>
                <a:sym typeface="+mn-ea"/>
              </a:rPr>
              <a:t>|≤1</a:t>
            </a:r>
            <a:endParaRPr lang="zh-CN" altLang="en-US" sz="2400" dirty="0">
              <a:latin typeface="黑体" panose="02010609060101010101" pitchFamily="2" charset="-122"/>
              <a:ea typeface="黑体" panose="02010609060101010101" pitchFamily="2" charset="-122"/>
              <a:cs typeface="+mn-ea"/>
            </a:endParaRPr>
          </a:p>
          <a:p>
            <a:pPr marL="609600" indent="-609600" eaLnBrk="1" latinLnBrk="0" hangingPunct="1">
              <a:lnSpc>
                <a:spcPct val="100000"/>
              </a:lnSpc>
              <a:spcBef>
                <a:spcPts val="0"/>
              </a:spcBef>
              <a:buClr>
                <a:schemeClr val="accent1"/>
              </a:buClr>
              <a:buSzTx/>
              <a:buFont typeface="Wingdings" panose="05000000000000000000" pitchFamily="2" charset="2"/>
              <a:buNone/>
            </a:pPr>
            <a:endParaRPr lang="zh-CN" altLang="en-US"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58</a:t>
            </a:fld>
            <a:endParaRPr lang="zh-CN" altLang="en-US"/>
          </a:p>
        </p:txBody>
      </p:sp>
      <p:grpSp>
        <p:nvGrpSpPr>
          <p:cNvPr id="62468" name="Group 4"/>
          <p:cNvGrpSpPr/>
          <p:nvPr/>
        </p:nvGrpSpPr>
        <p:grpSpPr>
          <a:xfrm>
            <a:off x="2566988" y="3500438"/>
            <a:ext cx="2978150" cy="2414588"/>
            <a:chOff x="657" y="2205"/>
            <a:chExt cx="1876" cy="1521"/>
          </a:xfrm>
        </p:grpSpPr>
        <p:grpSp>
          <p:nvGrpSpPr>
            <p:cNvPr id="62469" name="Group 5"/>
            <p:cNvGrpSpPr/>
            <p:nvPr/>
          </p:nvGrpSpPr>
          <p:grpSpPr>
            <a:xfrm>
              <a:off x="657" y="2205"/>
              <a:ext cx="1876" cy="911"/>
              <a:chOff x="720" y="3072"/>
              <a:chExt cx="1876" cy="911"/>
            </a:xfrm>
          </p:grpSpPr>
          <p:sp>
            <p:nvSpPr>
              <p:cNvPr id="62470" name="Oval 6"/>
              <p:cNvSpPr/>
              <p:nvPr/>
            </p:nvSpPr>
            <p:spPr>
              <a:xfrm>
                <a:off x="1584" y="3072"/>
                <a:ext cx="196"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62471" name="Oval 7"/>
              <p:cNvSpPr/>
              <p:nvPr/>
            </p:nvSpPr>
            <p:spPr>
              <a:xfrm>
                <a:off x="720" y="3508"/>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62472" name="Line 8"/>
              <p:cNvSpPr/>
              <p:nvPr/>
            </p:nvSpPr>
            <p:spPr>
              <a:xfrm flipH="1">
                <a:off x="1220" y="3168"/>
                <a:ext cx="364" cy="149"/>
              </a:xfrm>
              <a:prstGeom prst="line">
                <a:avLst/>
              </a:prstGeom>
              <a:ln w="38100" cap="flat" cmpd="sng">
                <a:solidFill>
                  <a:srgbClr val="336699"/>
                </a:solidFill>
                <a:prstDash val="solid"/>
                <a:round/>
                <a:headEnd type="none" w="med" len="med"/>
                <a:tailEnd type="none" w="med" len="med"/>
              </a:ln>
            </p:spPr>
          </p:sp>
          <p:sp>
            <p:nvSpPr>
              <p:cNvPr id="62473" name="Line 9"/>
              <p:cNvSpPr/>
              <p:nvPr/>
            </p:nvSpPr>
            <p:spPr>
              <a:xfrm flipH="1">
                <a:off x="893" y="3421"/>
                <a:ext cx="172" cy="114"/>
              </a:xfrm>
              <a:prstGeom prst="line">
                <a:avLst/>
              </a:prstGeom>
              <a:ln w="38100" cap="flat" cmpd="sng">
                <a:solidFill>
                  <a:srgbClr val="666699"/>
                </a:solidFill>
                <a:prstDash val="solid"/>
                <a:round/>
                <a:headEnd type="none" w="med" len="med"/>
                <a:tailEnd type="none" w="med" len="med"/>
              </a:ln>
            </p:spPr>
          </p:sp>
          <p:sp>
            <p:nvSpPr>
              <p:cNvPr id="62474" name="Line 10"/>
              <p:cNvSpPr/>
              <p:nvPr/>
            </p:nvSpPr>
            <p:spPr>
              <a:xfrm>
                <a:off x="1776" y="3168"/>
                <a:ext cx="288" cy="150"/>
              </a:xfrm>
              <a:prstGeom prst="line">
                <a:avLst/>
              </a:prstGeom>
              <a:ln w="38100" cap="flat" cmpd="sng">
                <a:solidFill>
                  <a:srgbClr val="336699"/>
                </a:solidFill>
                <a:prstDash val="solid"/>
                <a:round/>
                <a:headEnd type="none" w="med" len="med"/>
                <a:tailEnd type="none" w="med" len="med"/>
              </a:ln>
            </p:spPr>
          </p:sp>
          <p:sp>
            <p:nvSpPr>
              <p:cNvPr id="62475" name="Line 11"/>
              <p:cNvSpPr/>
              <p:nvPr/>
            </p:nvSpPr>
            <p:spPr>
              <a:xfrm>
                <a:off x="1220" y="3399"/>
                <a:ext cx="173" cy="136"/>
              </a:xfrm>
              <a:prstGeom prst="line">
                <a:avLst/>
              </a:prstGeom>
              <a:ln w="38100" cap="flat" cmpd="sng">
                <a:solidFill>
                  <a:srgbClr val="336699"/>
                </a:solidFill>
                <a:prstDash val="solid"/>
                <a:round/>
                <a:headEnd type="none" w="med" len="med"/>
                <a:tailEnd type="none" w="med" len="med"/>
              </a:ln>
            </p:spPr>
          </p:sp>
          <p:sp>
            <p:nvSpPr>
              <p:cNvPr id="62476" name="Line 12"/>
              <p:cNvSpPr/>
              <p:nvPr/>
            </p:nvSpPr>
            <p:spPr>
              <a:xfrm flipH="1">
                <a:off x="1180" y="3671"/>
                <a:ext cx="213" cy="187"/>
              </a:xfrm>
              <a:prstGeom prst="line">
                <a:avLst/>
              </a:prstGeom>
              <a:ln w="38100" cap="flat" cmpd="sng">
                <a:solidFill>
                  <a:srgbClr val="336699"/>
                </a:solidFill>
                <a:prstDash val="solid"/>
                <a:round/>
                <a:headEnd type="none" w="med" len="med"/>
                <a:tailEnd type="none" w="med" len="med"/>
              </a:ln>
            </p:spPr>
          </p:sp>
          <p:sp>
            <p:nvSpPr>
              <p:cNvPr id="62477" name="Line 13"/>
              <p:cNvSpPr/>
              <p:nvPr/>
            </p:nvSpPr>
            <p:spPr>
              <a:xfrm>
                <a:off x="2238" y="3427"/>
                <a:ext cx="174" cy="109"/>
              </a:xfrm>
              <a:prstGeom prst="line">
                <a:avLst/>
              </a:prstGeom>
              <a:ln w="38100" cap="flat" cmpd="sng">
                <a:solidFill>
                  <a:srgbClr val="336699"/>
                </a:solidFill>
                <a:prstDash val="solid"/>
                <a:round/>
                <a:headEnd type="none" w="med" len="med"/>
                <a:tailEnd type="none" w="med" len="med"/>
              </a:ln>
            </p:spPr>
          </p:sp>
          <p:sp>
            <p:nvSpPr>
              <p:cNvPr id="62478" name="Line 14"/>
              <p:cNvSpPr/>
              <p:nvPr/>
            </p:nvSpPr>
            <p:spPr>
              <a:xfrm flipH="1">
                <a:off x="1920" y="3409"/>
                <a:ext cx="215" cy="143"/>
              </a:xfrm>
              <a:prstGeom prst="line">
                <a:avLst/>
              </a:prstGeom>
              <a:ln w="38100" cap="flat" cmpd="sng">
                <a:solidFill>
                  <a:srgbClr val="336699"/>
                </a:solidFill>
                <a:prstDash val="solid"/>
                <a:round/>
                <a:headEnd type="none" w="med" len="med"/>
                <a:tailEnd type="none" w="med" len="med"/>
              </a:ln>
            </p:spPr>
          </p:sp>
          <p:sp>
            <p:nvSpPr>
              <p:cNvPr id="62479" name="Line 15"/>
              <p:cNvSpPr/>
              <p:nvPr/>
            </p:nvSpPr>
            <p:spPr>
              <a:xfrm>
                <a:off x="1872" y="3648"/>
                <a:ext cx="192" cy="192"/>
              </a:xfrm>
              <a:prstGeom prst="line">
                <a:avLst/>
              </a:prstGeom>
              <a:ln w="38100" cap="flat" cmpd="sng">
                <a:solidFill>
                  <a:srgbClr val="336699"/>
                </a:solidFill>
                <a:prstDash val="solid"/>
                <a:round/>
                <a:headEnd type="none" w="med" len="med"/>
                <a:tailEnd type="none" w="med" len="med"/>
              </a:ln>
            </p:spPr>
          </p:sp>
          <p:sp>
            <p:nvSpPr>
              <p:cNvPr id="62480" name="Oval 16"/>
              <p:cNvSpPr/>
              <p:nvPr/>
            </p:nvSpPr>
            <p:spPr>
              <a:xfrm>
                <a:off x="1776" y="3504"/>
                <a:ext cx="196" cy="18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62481" name="Oval 17"/>
              <p:cNvSpPr/>
              <p:nvPr/>
            </p:nvSpPr>
            <p:spPr>
              <a:xfrm>
                <a:off x="1065" y="3791"/>
                <a:ext cx="195" cy="18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62482" name="Oval 18"/>
              <p:cNvSpPr/>
              <p:nvPr/>
            </p:nvSpPr>
            <p:spPr>
              <a:xfrm>
                <a:off x="1046" y="3263"/>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62483" name="Line 19"/>
              <p:cNvSpPr/>
              <p:nvPr/>
            </p:nvSpPr>
            <p:spPr>
              <a:xfrm flipH="1">
                <a:off x="2352" y="3600"/>
                <a:ext cx="144" cy="240"/>
              </a:xfrm>
              <a:prstGeom prst="line">
                <a:avLst/>
              </a:prstGeom>
              <a:ln w="38100" cap="flat" cmpd="sng">
                <a:solidFill>
                  <a:srgbClr val="336699"/>
                </a:solidFill>
                <a:prstDash val="solid"/>
                <a:round/>
                <a:headEnd type="none" w="med" len="med"/>
                <a:tailEnd type="none" w="med" len="med"/>
              </a:ln>
            </p:spPr>
          </p:sp>
          <p:sp>
            <p:nvSpPr>
              <p:cNvPr id="62484" name="Oval 20"/>
              <p:cNvSpPr/>
              <p:nvPr/>
            </p:nvSpPr>
            <p:spPr>
              <a:xfrm>
                <a:off x="1968" y="3792"/>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75</a:t>
                </a:r>
              </a:p>
            </p:txBody>
          </p:sp>
          <p:sp>
            <p:nvSpPr>
              <p:cNvPr id="62485" name="Oval 21"/>
              <p:cNvSpPr/>
              <p:nvPr/>
            </p:nvSpPr>
            <p:spPr>
              <a:xfrm>
                <a:off x="1632" y="3792"/>
                <a:ext cx="194"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62486" name="Line 22"/>
              <p:cNvSpPr/>
              <p:nvPr/>
            </p:nvSpPr>
            <p:spPr>
              <a:xfrm>
                <a:off x="1536" y="3648"/>
                <a:ext cx="144" cy="144"/>
              </a:xfrm>
              <a:prstGeom prst="line">
                <a:avLst/>
              </a:prstGeom>
              <a:ln w="38100" cap="flat" cmpd="sng">
                <a:solidFill>
                  <a:srgbClr val="336699"/>
                </a:solidFill>
                <a:prstDash val="solid"/>
                <a:round/>
                <a:headEnd type="none" w="med" len="med"/>
                <a:tailEnd type="none" w="med" len="med"/>
              </a:ln>
            </p:spPr>
          </p:sp>
          <p:sp>
            <p:nvSpPr>
              <p:cNvPr id="62487" name="Oval 23"/>
              <p:cNvSpPr/>
              <p:nvPr/>
            </p:nvSpPr>
            <p:spPr>
              <a:xfrm>
                <a:off x="2064" y="3264"/>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62488" name="Oval 24"/>
              <p:cNvSpPr/>
              <p:nvPr/>
            </p:nvSpPr>
            <p:spPr>
              <a:xfrm>
                <a:off x="2400" y="3504"/>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62489" name="Oval 25"/>
              <p:cNvSpPr/>
              <p:nvPr/>
            </p:nvSpPr>
            <p:spPr>
              <a:xfrm>
                <a:off x="2208" y="3792"/>
                <a:ext cx="195"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62490" name="Oval 26"/>
              <p:cNvSpPr/>
              <p:nvPr/>
            </p:nvSpPr>
            <p:spPr>
              <a:xfrm>
                <a:off x="1371" y="3508"/>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21</a:t>
                </a:r>
              </a:p>
            </p:txBody>
          </p:sp>
        </p:grpSp>
        <p:sp>
          <p:nvSpPr>
            <p:cNvPr id="62491" name="Text Box 27"/>
            <p:cNvSpPr txBox="1"/>
            <p:nvPr/>
          </p:nvSpPr>
          <p:spPr>
            <a:xfrm>
              <a:off x="1156" y="3475"/>
              <a:ext cx="720" cy="251"/>
            </a:xfrm>
            <a:prstGeom prst="rect">
              <a:avLst/>
            </a:prstGeom>
            <a:noFill/>
            <a:ln w="9525">
              <a:noFill/>
            </a:ln>
          </p:spPr>
          <p:txBody>
            <a:bodyPr anchor="t" anchorCtr="0">
              <a:spAutoFit/>
            </a:bodyPr>
            <a:lstStyle/>
            <a:p>
              <a:pPr algn="ctr">
                <a:spcBef>
                  <a:spcPct val="50000"/>
                </a:spcBef>
              </a:pPr>
              <a:r>
                <a:rPr lang="en-US" altLang="zh-CN" sz="2000" b="1" dirty="0">
                  <a:latin typeface="Tahoma" panose="020B0604030504040204" charset="0"/>
                  <a:ea typeface="宋体" panose="02010600030101010101" pitchFamily="2" charset="-122"/>
                </a:rPr>
                <a:t>AVL</a:t>
              </a:r>
              <a:r>
                <a:rPr lang="zh-CN" altLang="en-US" sz="2000" b="1" dirty="0">
                  <a:latin typeface="Tahoma" panose="020B0604030504040204" charset="0"/>
                  <a:ea typeface="宋体" panose="02010600030101010101" pitchFamily="2" charset="-122"/>
                </a:rPr>
                <a:t>树</a:t>
              </a:r>
            </a:p>
          </p:txBody>
        </p:sp>
      </p:grpSp>
      <p:grpSp>
        <p:nvGrpSpPr>
          <p:cNvPr id="62492" name="Group 28"/>
          <p:cNvGrpSpPr/>
          <p:nvPr/>
        </p:nvGrpSpPr>
        <p:grpSpPr>
          <a:xfrm>
            <a:off x="7062788" y="3424238"/>
            <a:ext cx="2819400" cy="2635249"/>
            <a:chOff x="3489" y="2157"/>
            <a:chExt cx="1776" cy="1660"/>
          </a:xfrm>
        </p:grpSpPr>
        <p:grpSp>
          <p:nvGrpSpPr>
            <p:cNvPr id="62493" name="Group 29"/>
            <p:cNvGrpSpPr/>
            <p:nvPr/>
          </p:nvGrpSpPr>
          <p:grpSpPr>
            <a:xfrm>
              <a:off x="3489" y="2157"/>
              <a:ext cx="1776" cy="1224"/>
              <a:chOff x="240" y="2112"/>
              <a:chExt cx="2318" cy="1745"/>
            </a:xfrm>
          </p:grpSpPr>
          <p:sp>
            <p:nvSpPr>
              <p:cNvPr id="62494" name="Oval 30"/>
              <p:cNvSpPr/>
              <p:nvPr/>
            </p:nvSpPr>
            <p:spPr>
              <a:xfrm>
                <a:off x="1203" y="2112"/>
                <a:ext cx="256"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62495" name="Oval 31"/>
              <p:cNvSpPr/>
              <p:nvPr/>
            </p:nvSpPr>
            <p:spPr>
              <a:xfrm>
                <a:off x="1742" y="2384"/>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62496" name="Oval 32"/>
              <p:cNvSpPr/>
              <p:nvPr/>
            </p:nvSpPr>
            <p:spPr>
              <a:xfrm>
                <a:off x="240" y="2733"/>
                <a:ext cx="254"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62497" name="Oval 33"/>
              <p:cNvSpPr/>
              <p:nvPr/>
            </p:nvSpPr>
            <p:spPr>
              <a:xfrm>
                <a:off x="2167" y="2733"/>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62498" name="Oval 34"/>
              <p:cNvSpPr/>
              <p:nvPr/>
            </p:nvSpPr>
            <p:spPr>
              <a:xfrm>
                <a:off x="1090" y="2733"/>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62499" name="Oval 35"/>
              <p:cNvSpPr/>
              <p:nvPr/>
            </p:nvSpPr>
            <p:spPr>
              <a:xfrm>
                <a:off x="2304" y="3552"/>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62500" name="Line 36"/>
              <p:cNvSpPr/>
              <p:nvPr/>
            </p:nvSpPr>
            <p:spPr>
              <a:xfrm flipH="1">
                <a:off x="893" y="2267"/>
                <a:ext cx="310" cy="194"/>
              </a:xfrm>
              <a:prstGeom prst="line">
                <a:avLst/>
              </a:prstGeom>
              <a:ln w="38100" cap="flat" cmpd="sng">
                <a:solidFill>
                  <a:srgbClr val="336699"/>
                </a:solidFill>
                <a:prstDash val="solid"/>
                <a:round/>
                <a:headEnd type="none" w="med" len="med"/>
                <a:tailEnd type="none" w="med" len="med"/>
              </a:ln>
            </p:spPr>
          </p:sp>
          <p:sp>
            <p:nvSpPr>
              <p:cNvPr id="62501" name="Line 37"/>
              <p:cNvSpPr/>
              <p:nvPr/>
            </p:nvSpPr>
            <p:spPr>
              <a:xfrm flipH="1">
                <a:off x="466" y="2609"/>
                <a:ext cx="224" cy="163"/>
              </a:xfrm>
              <a:prstGeom prst="line">
                <a:avLst/>
              </a:prstGeom>
              <a:ln w="38100" cap="flat" cmpd="sng">
                <a:solidFill>
                  <a:srgbClr val="666699"/>
                </a:solidFill>
                <a:prstDash val="solid"/>
                <a:round/>
                <a:headEnd type="none" w="med" len="med"/>
                <a:tailEnd type="none" w="med" len="med"/>
              </a:ln>
            </p:spPr>
          </p:sp>
          <p:sp>
            <p:nvSpPr>
              <p:cNvPr id="62502" name="Line 38"/>
              <p:cNvSpPr/>
              <p:nvPr/>
            </p:nvSpPr>
            <p:spPr>
              <a:xfrm>
                <a:off x="1459" y="2267"/>
                <a:ext cx="283" cy="194"/>
              </a:xfrm>
              <a:prstGeom prst="line">
                <a:avLst/>
              </a:prstGeom>
              <a:ln w="38100" cap="flat" cmpd="sng">
                <a:solidFill>
                  <a:srgbClr val="336699"/>
                </a:solidFill>
                <a:prstDash val="solid"/>
                <a:round/>
                <a:headEnd type="none" w="med" len="med"/>
                <a:tailEnd type="none" w="med" len="med"/>
              </a:ln>
            </p:spPr>
          </p:sp>
          <p:sp>
            <p:nvSpPr>
              <p:cNvPr id="62503" name="Line 39"/>
              <p:cNvSpPr/>
              <p:nvPr/>
            </p:nvSpPr>
            <p:spPr>
              <a:xfrm>
                <a:off x="893" y="2578"/>
                <a:ext cx="226" cy="194"/>
              </a:xfrm>
              <a:prstGeom prst="line">
                <a:avLst/>
              </a:prstGeom>
              <a:ln w="38100" cap="flat" cmpd="sng">
                <a:solidFill>
                  <a:srgbClr val="336699"/>
                </a:solidFill>
                <a:prstDash val="solid"/>
                <a:round/>
                <a:headEnd type="none" w="med" len="med"/>
                <a:tailEnd type="none" w="med" len="med"/>
              </a:ln>
            </p:spPr>
          </p:sp>
          <p:sp>
            <p:nvSpPr>
              <p:cNvPr id="62504" name="Line 40"/>
              <p:cNvSpPr/>
              <p:nvPr/>
            </p:nvSpPr>
            <p:spPr>
              <a:xfrm flipH="1">
                <a:off x="841" y="2966"/>
                <a:ext cx="278" cy="267"/>
              </a:xfrm>
              <a:prstGeom prst="line">
                <a:avLst/>
              </a:prstGeom>
              <a:ln w="38100" cap="flat" cmpd="sng">
                <a:solidFill>
                  <a:srgbClr val="336699"/>
                </a:solidFill>
                <a:prstDash val="solid"/>
                <a:round/>
                <a:headEnd type="none" w="med" len="med"/>
                <a:tailEnd type="none" w="med" len="med"/>
              </a:ln>
            </p:spPr>
          </p:sp>
          <p:sp>
            <p:nvSpPr>
              <p:cNvPr id="62505" name="Line 41"/>
              <p:cNvSpPr/>
              <p:nvPr/>
            </p:nvSpPr>
            <p:spPr>
              <a:xfrm>
                <a:off x="1969" y="2616"/>
                <a:ext cx="227" cy="156"/>
              </a:xfrm>
              <a:prstGeom prst="line">
                <a:avLst/>
              </a:prstGeom>
              <a:ln w="38100" cap="flat" cmpd="sng">
                <a:solidFill>
                  <a:srgbClr val="336699"/>
                </a:solidFill>
                <a:prstDash val="solid"/>
                <a:round/>
                <a:headEnd type="none" w="med" len="med"/>
                <a:tailEnd type="none" w="med" len="med"/>
              </a:ln>
            </p:spPr>
          </p:sp>
          <p:sp>
            <p:nvSpPr>
              <p:cNvPr id="62506" name="Line 42"/>
              <p:cNvSpPr/>
              <p:nvPr/>
            </p:nvSpPr>
            <p:spPr>
              <a:xfrm flipH="1">
                <a:off x="2026" y="2993"/>
                <a:ext cx="216" cy="205"/>
              </a:xfrm>
              <a:prstGeom prst="line">
                <a:avLst/>
              </a:prstGeom>
              <a:ln w="38100" cap="flat" cmpd="sng">
                <a:solidFill>
                  <a:srgbClr val="336699"/>
                </a:solidFill>
                <a:prstDash val="solid"/>
                <a:round/>
                <a:headEnd type="none" w="med" len="med"/>
                <a:tailEnd type="none" w="med" len="med"/>
              </a:ln>
            </p:spPr>
          </p:sp>
          <p:sp>
            <p:nvSpPr>
              <p:cNvPr id="62507" name="Line 43"/>
              <p:cNvSpPr/>
              <p:nvPr/>
            </p:nvSpPr>
            <p:spPr>
              <a:xfrm>
                <a:off x="2081" y="3391"/>
                <a:ext cx="271" cy="209"/>
              </a:xfrm>
              <a:prstGeom prst="line">
                <a:avLst/>
              </a:prstGeom>
              <a:ln w="38100" cap="flat" cmpd="sng">
                <a:solidFill>
                  <a:srgbClr val="336699"/>
                </a:solidFill>
                <a:prstDash val="solid"/>
                <a:round/>
                <a:headEnd type="none" w="med" len="med"/>
                <a:tailEnd type="none" w="med" len="med"/>
              </a:ln>
            </p:spPr>
          </p:sp>
          <p:sp>
            <p:nvSpPr>
              <p:cNvPr id="62508" name="Oval 44"/>
              <p:cNvSpPr/>
              <p:nvPr/>
            </p:nvSpPr>
            <p:spPr>
              <a:xfrm>
                <a:off x="382" y="3585"/>
                <a:ext cx="254" cy="272"/>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62509" name="Line 45"/>
              <p:cNvSpPr/>
              <p:nvPr/>
            </p:nvSpPr>
            <p:spPr>
              <a:xfrm flipH="1">
                <a:off x="552" y="3353"/>
                <a:ext cx="226" cy="232"/>
              </a:xfrm>
              <a:prstGeom prst="line">
                <a:avLst/>
              </a:prstGeom>
              <a:ln w="38100" cap="flat" cmpd="sng">
                <a:solidFill>
                  <a:srgbClr val="336699"/>
                </a:solidFill>
                <a:prstDash val="solid"/>
                <a:round/>
                <a:headEnd type="none" w="med" len="med"/>
                <a:tailEnd type="none" w="med" len="med"/>
              </a:ln>
            </p:spPr>
          </p:sp>
          <p:sp>
            <p:nvSpPr>
              <p:cNvPr id="62510" name="Oval 46"/>
              <p:cNvSpPr/>
              <p:nvPr/>
            </p:nvSpPr>
            <p:spPr>
              <a:xfrm>
                <a:off x="1855" y="3160"/>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62511" name="Oval 47"/>
              <p:cNvSpPr/>
              <p:nvPr/>
            </p:nvSpPr>
            <p:spPr>
              <a:xfrm>
                <a:off x="690" y="3137"/>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21</a:t>
                </a:r>
              </a:p>
            </p:txBody>
          </p:sp>
          <p:sp>
            <p:nvSpPr>
              <p:cNvPr id="62512" name="Oval 48"/>
              <p:cNvSpPr/>
              <p:nvPr/>
            </p:nvSpPr>
            <p:spPr>
              <a:xfrm>
                <a:off x="665" y="2384"/>
                <a:ext cx="255" cy="27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62513" name="Line 49"/>
              <p:cNvSpPr/>
              <p:nvPr/>
            </p:nvSpPr>
            <p:spPr>
              <a:xfrm flipH="1">
                <a:off x="1680" y="3408"/>
                <a:ext cx="216" cy="205"/>
              </a:xfrm>
              <a:prstGeom prst="line">
                <a:avLst/>
              </a:prstGeom>
              <a:ln w="38100" cap="flat" cmpd="sng">
                <a:solidFill>
                  <a:srgbClr val="336699"/>
                </a:solidFill>
                <a:prstDash val="solid"/>
                <a:round/>
                <a:headEnd type="none" w="med" len="med"/>
                <a:tailEnd type="none" w="med" len="med"/>
              </a:ln>
            </p:spPr>
          </p:sp>
          <p:sp>
            <p:nvSpPr>
              <p:cNvPr id="62514" name="Oval 50"/>
              <p:cNvSpPr/>
              <p:nvPr/>
            </p:nvSpPr>
            <p:spPr>
              <a:xfrm>
                <a:off x="1509" y="3575"/>
                <a:ext cx="255" cy="27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75</a:t>
                </a:r>
              </a:p>
            </p:txBody>
          </p:sp>
        </p:grpSp>
        <p:sp>
          <p:nvSpPr>
            <p:cNvPr id="62515" name="Text Box 51"/>
            <p:cNvSpPr txBox="1"/>
            <p:nvPr/>
          </p:nvSpPr>
          <p:spPr>
            <a:xfrm>
              <a:off x="3969" y="3566"/>
              <a:ext cx="952" cy="251"/>
            </a:xfrm>
            <a:prstGeom prst="rect">
              <a:avLst/>
            </a:prstGeom>
            <a:noFill/>
            <a:ln w="9525">
              <a:noFill/>
            </a:ln>
          </p:spPr>
          <p:txBody>
            <a:bodyPr anchor="t" anchorCtr="0">
              <a:spAutoFit/>
            </a:bodyPr>
            <a:lstStyle/>
            <a:p>
              <a:pPr algn="ctr">
                <a:spcBef>
                  <a:spcPct val="50000"/>
                </a:spcBef>
              </a:pPr>
              <a:r>
                <a:rPr lang="zh-CN" altLang="en-US" sz="2000" b="1" dirty="0">
                  <a:latin typeface="Tahoma" panose="020B0604030504040204" charset="0"/>
                  <a:ea typeface="宋体" panose="02010600030101010101" pitchFamily="2" charset="-122"/>
                </a:rPr>
                <a:t>非</a:t>
              </a:r>
              <a:r>
                <a:rPr lang="en-US" altLang="zh-CN" sz="2000" b="1" dirty="0">
                  <a:latin typeface="Tahoma" panose="020B0604030504040204" charset="0"/>
                  <a:ea typeface="宋体" panose="02010600030101010101" pitchFamily="2" charset="-122"/>
                </a:rPr>
                <a:t>AVL</a:t>
              </a:r>
              <a:r>
                <a:rPr lang="zh-CN" altLang="en-US" sz="2000" b="1" dirty="0">
                  <a:latin typeface="Tahoma" panose="020B0604030504040204" charset="0"/>
                  <a:ea typeface="宋体" panose="02010600030101010101" pitchFamily="2" charset="-122"/>
                </a:rPr>
                <a:t>树</a:t>
              </a: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平衡因子</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每个结点附加一个数字, 给出该结点左子树的高度减去右子树的高度所得的高度差,这个数字即为结点的平衡因子balance</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AVL树任一结点平衡因子只能取 -1, 0, 1</a:t>
            </a:r>
            <a:endParaRPr lang="zh-CN" altLang="en-US" sz="2400"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59</a:t>
            </a:fld>
            <a:endParaRPr lang="zh-CN" altLang="en-US"/>
          </a:p>
        </p:txBody>
      </p:sp>
      <p:grpSp>
        <p:nvGrpSpPr>
          <p:cNvPr id="63492" name="Group 4"/>
          <p:cNvGrpSpPr/>
          <p:nvPr/>
        </p:nvGrpSpPr>
        <p:grpSpPr>
          <a:xfrm>
            <a:off x="2206943" y="3140393"/>
            <a:ext cx="3241675" cy="1728787"/>
            <a:chOff x="720" y="3072"/>
            <a:chExt cx="1876" cy="911"/>
          </a:xfrm>
        </p:grpSpPr>
        <p:sp>
          <p:nvSpPr>
            <p:cNvPr id="63493" name="Oval 5"/>
            <p:cNvSpPr/>
            <p:nvPr/>
          </p:nvSpPr>
          <p:spPr>
            <a:xfrm>
              <a:off x="1584" y="3072"/>
              <a:ext cx="196"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63494" name="Oval 6"/>
            <p:cNvSpPr/>
            <p:nvPr/>
          </p:nvSpPr>
          <p:spPr>
            <a:xfrm>
              <a:off x="720" y="3508"/>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63495" name="Line 7"/>
            <p:cNvSpPr/>
            <p:nvPr/>
          </p:nvSpPr>
          <p:spPr>
            <a:xfrm flipH="1">
              <a:off x="1220" y="3168"/>
              <a:ext cx="364" cy="149"/>
            </a:xfrm>
            <a:prstGeom prst="line">
              <a:avLst/>
            </a:prstGeom>
            <a:ln w="38100" cap="flat" cmpd="sng">
              <a:solidFill>
                <a:srgbClr val="336699"/>
              </a:solidFill>
              <a:prstDash val="solid"/>
              <a:round/>
              <a:headEnd type="none" w="med" len="med"/>
              <a:tailEnd type="none" w="med" len="med"/>
            </a:ln>
          </p:spPr>
        </p:sp>
        <p:sp>
          <p:nvSpPr>
            <p:cNvPr id="63496" name="Line 8"/>
            <p:cNvSpPr/>
            <p:nvPr/>
          </p:nvSpPr>
          <p:spPr>
            <a:xfrm flipH="1">
              <a:off x="893" y="3421"/>
              <a:ext cx="172" cy="114"/>
            </a:xfrm>
            <a:prstGeom prst="line">
              <a:avLst/>
            </a:prstGeom>
            <a:ln w="38100" cap="flat" cmpd="sng">
              <a:solidFill>
                <a:srgbClr val="666699"/>
              </a:solidFill>
              <a:prstDash val="solid"/>
              <a:round/>
              <a:headEnd type="none" w="med" len="med"/>
              <a:tailEnd type="none" w="med" len="med"/>
            </a:ln>
          </p:spPr>
        </p:sp>
        <p:sp>
          <p:nvSpPr>
            <p:cNvPr id="63497" name="Line 9"/>
            <p:cNvSpPr/>
            <p:nvPr/>
          </p:nvSpPr>
          <p:spPr>
            <a:xfrm>
              <a:off x="1776" y="3168"/>
              <a:ext cx="288" cy="150"/>
            </a:xfrm>
            <a:prstGeom prst="line">
              <a:avLst/>
            </a:prstGeom>
            <a:ln w="38100" cap="flat" cmpd="sng">
              <a:solidFill>
                <a:srgbClr val="336699"/>
              </a:solidFill>
              <a:prstDash val="solid"/>
              <a:round/>
              <a:headEnd type="none" w="med" len="med"/>
              <a:tailEnd type="none" w="med" len="med"/>
            </a:ln>
          </p:spPr>
        </p:sp>
        <p:sp>
          <p:nvSpPr>
            <p:cNvPr id="63498" name="Line 10"/>
            <p:cNvSpPr/>
            <p:nvPr/>
          </p:nvSpPr>
          <p:spPr>
            <a:xfrm>
              <a:off x="1220" y="3399"/>
              <a:ext cx="173" cy="136"/>
            </a:xfrm>
            <a:prstGeom prst="line">
              <a:avLst/>
            </a:prstGeom>
            <a:ln w="38100" cap="flat" cmpd="sng">
              <a:solidFill>
                <a:srgbClr val="336699"/>
              </a:solidFill>
              <a:prstDash val="solid"/>
              <a:round/>
              <a:headEnd type="none" w="med" len="med"/>
              <a:tailEnd type="none" w="med" len="med"/>
            </a:ln>
          </p:spPr>
        </p:sp>
        <p:sp>
          <p:nvSpPr>
            <p:cNvPr id="63499" name="Line 11"/>
            <p:cNvSpPr/>
            <p:nvPr/>
          </p:nvSpPr>
          <p:spPr>
            <a:xfrm flipH="1">
              <a:off x="1180" y="3671"/>
              <a:ext cx="213" cy="187"/>
            </a:xfrm>
            <a:prstGeom prst="line">
              <a:avLst/>
            </a:prstGeom>
            <a:ln w="38100" cap="flat" cmpd="sng">
              <a:solidFill>
                <a:srgbClr val="336699"/>
              </a:solidFill>
              <a:prstDash val="solid"/>
              <a:round/>
              <a:headEnd type="none" w="med" len="med"/>
              <a:tailEnd type="none" w="med" len="med"/>
            </a:ln>
          </p:spPr>
        </p:sp>
        <p:sp>
          <p:nvSpPr>
            <p:cNvPr id="63500" name="Line 12"/>
            <p:cNvSpPr/>
            <p:nvPr/>
          </p:nvSpPr>
          <p:spPr>
            <a:xfrm>
              <a:off x="2238" y="3427"/>
              <a:ext cx="174" cy="109"/>
            </a:xfrm>
            <a:prstGeom prst="line">
              <a:avLst/>
            </a:prstGeom>
            <a:ln w="38100" cap="flat" cmpd="sng">
              <a:solidFill>
                <a:srgbClr val="336699"/>
              </a:solidFill>
              <a:prstDash val="solid"/>
              <a:round/>
              <a:headEnd type="none" w="med" len="med"/>
              <a:tailEnd type="none" w="med" len="med"/>
            </a:ln>
          </p:spPr>
        </p:sp>
        <p:sp>
          <p:nvSpPr>
            <p:cNvPr id="63501" name="Line 13"/>
            <p:cNvSpPr/>
            <p:nvPr/>
          </p:nvSpPr>
          <p:spPr>
            <a:xfrm flipH="1">
              <a:off x="1920" y="3409"/>
              <a:ext cx="215" cy="143"/>
            </a:xfrm>
            <a:prstGeom prst="line">
              <a:avLst/>
            </a:prstGeom>
            <a:ln w="38100" cap="flat" cmpd="sng">
              <a:solidFill>
                <a:srgbClr val="336699"/>
              </a:solidFill>
              <a:prstDash val="solid"/>
              <a:round/>
              <a:headEnd type="none" w="med" len="med"/>
              <a:tailEnd type="none" w="med" len="med"/>
            </a:ln>
          </p:spPr>
        </p:sp>
        <p:sp>
          <p:nvSpPr>
            <p:cNvPr id="63502" name="Line 14"/>
            <p:cNvSpPr/>
            <p:nvPr/>
          </p:nvSpPr>
          <p:spPr>
            <a:xfrm>
              <a:off x="1872" y="3648"/>
              <a:ext cx="192" cy="192"/>
            </a:xfrm>
            <a:prstGeom prst="line">
              <a:avLst/>
            </a:prstGeom>
            <a:ln w="38100" cap="flat" cmpd="sng">
              <a:solidFill>
                <a:srgbClr val="336699"/>
              </a:solidFill>
              <a:prstDash val="solid"/>
              <a:round/>
              <a:headEnd type="none" w="med" len="med"/>
              <a:tailEnd type="none" w="med" len="med"/>
            </a:ln>
          </p:spPr>
        </p:sp>
        <p:sp>
          <p:nvSpPr>
            <p:cNvPr id="63503" name="Oval 15"/>
            <p:cNvSpPr/>
            <p:nvPr/>
          </p:nvSpPr>
          <p:spPr>
            <a:xfrm>
              <a:off x="1776" y="3504"/>
              <a:ext cx="196" cy="18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63504" name="Oval 16"/>
            <p:cNvSpPr/>
            <p:nvPr/>
          </p:nvSpPr>
          <p:spPr>
            <a:xfrm>
              <a:off x="1065" y="3791"/>
              <a:ext cx="195" cy="18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19</a:t>
              </a:r>
            </a:p>
          </p:txBody>
        </p:sp>
        <p:sp>
          <p:nvSpPr>
            <p:cNvPr id="63505" name="Oval 17"/>
            <p:cNvSpPr/>
            <p:nvPr/>
          </p:nvSpPr>
          <p:spPr>
            <a:xfrm>
              <a:off x="1046" y="3263"/>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63506" name="Line 18"/>
            <p:cNvSpPr/>
            <p:nvPr/>
          </p:nvSpPr>
          <p:spPr>
            <a:xfrm flipH="1">
              <a:off x="2352" y="3600"/>
              <a:ext cx="144" cy="240"/>
            </a:xfrm>
            <a:prstGeom prst="line">
              <a:avLst/>
            </a:prstGeom>
            <a:ln w="38100" cap="flat" cmpd="sng">
              <a:solidFill>
                <a:srgbClr val="336699"/>
              </a:solidFill>
              <a:prstDash val="solid"/>
              <a:round/>
              <a:headEnd type="none" w="med" len="med"/>
              <a:tailEnd type="none" w="med" len="med"/>
            </a:ln>
          </p:spPr>
        </p:sp>
        <p:sp>
          <p:nvSpPr>
            <p:cNvPr id="63507" name="Oval 19"/>
            <p:cNvSpPr/>
            <p:nvPr/>
          </p:nvSpPr>
          <p:spPr>
            <a:xfrm>
              <a:off x="1968" y="3792"/>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75</a:t>
              </a:r>
            </a:p>
          </p:txBody>
        </p:sp>
        <p:sp>
          <p:nvSpPr>
            <p:cNvPr id="63508" name="Oval 20"/>
            <p:cNvSpPr/>
            <p:nvPr/>
          </p:nvSpPr>
          <p:spPr>
            <a:xfrm>
              <a:off x="1632" y="3792"/>
              <a:ext cx="194"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63509" name="Line 21"/>
            <p:cNvSpPr/>
            <p:nvPr/>
          </p:nvSpPr>
          <p:spPr>
            <a:xfrm>
              <a:off x="1536" y="3648"/>
              <a:ext cx="144" cy="144"/>
            </a:xfrm>
            <a:prstGeom prst="line">
              <a:avLst/>
            </a:prstGeom>
            <a:ln w="38100" cap="flat" cmpd="sng">
              <a:solidFill>
                <a:srgbClr val="336699"/>
              </a:solidFill>
              <a:prstDash val="solid"/>
              <a:round/>
              <a:headEnd type="none" w="med" len="med"/>
              <a:tailEnd type="none" w="med" len="med"/>
            </a:ln>
          </p:spPr>
        </p:sp>
        <p:sp>
          <p:nvSpPr>
            <p:cNvPr id="63510" name="Oval 22"/>
            <p:cNvSpPr/>
            <p:nvPr/>
          </p:nvSpPr>
          <p:spPr>
            <a:xfrm>
              <a:off x="2064" y="3264"/>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80</a:t>
              </a:r>
            </a:p>
          </p:txBody>
        </p:sp>
        <p:sp>
          <p:nvSpPr>
            <p:cNvPr id="63511" name="Oval 23"/>
            <p:cNvSpPr/>
            <p:nvPr/>
          </p:nvSpPr>
          <p:spPr>
            <a:xfrm>
              <a:off x="2400" y="3504"/>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63512" name="Oval 24"/>
            <p:cNvSpPr/>
            <p:nvPr/>
          </p:nvSpPr>
          <p:spPr>
            <a:xfrm>
              <a:off x="2208" y="3792"/>
              <a:ext cx="195"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63513" name="Oval 25"/>
            <p:cNvSpPr/>
            <p:nvPr/>
          </p:nvSpPr>
          <p:spPr>
            <a:xfrm>
              <a:off x="1371" y="3508"/>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21</a:t>
              </a:r>
            </a:p>
          </p:txBody>
        </p:sp>
      </p:grpSp>
      <p:grpSp>
        <p:nvGrpSpPr>
          <p:cNvPr id="63514" name="Group 26"/>
          <p:cNvGrpSpPr/>
          <p:nvPr/>
        </p:nvGrpSpPr>
        <p:grpSpPr>
          <a:xfrm>
            <a:off x="6023293" y="3140393"/>
            <a:ext cx="3429000" cy="1752600"/>
            <a:chOff x="720" y="3072"/>
            <a:chExt cx="1876" cy="911"/>
          </a:xfrm>
        </p:grpSpPr>
        <p:sp>
          <p:nvSpPr>
            <p:cNvPr id="63515" name="Oval 27"/>
            <p:cNvSpPr/>
            <p:nvPr/>
          </p:nvSpPr>
          <p:spPr>
            <a:xfrm>
              <a:off x="1584" y="3072"/>
              <a:ext cx="196"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0</a:t>
              </a:r>
            </a:p>
          </p:txBody>
        </p:sp>
        <p:sp>
          <p:nvSpPr>
            <p:cNvPr id="63516" name="Oval 28"/>
            <p:cNvSpPr/>
            <p:nvPr/>
          </p:nvSpPr>
          <p:spPr>
            <a:xfrm>
              <a:off x="720" y="3508"/>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0</a:t>
              </a:r>
            </a:p>
          </p:txBody>
        </p:sp>
        <p:sp>
          <p:nvSpPr>
            <p:cNvPr id="63517" name="Line 29"/>
            <p:cNvSpPr/>
            <p:nvPr/>
          </p:nvSpPr>
          <p:spPr>
            <a:xfrm flipH="1">
              <a:off x="1220" y="3168"/>
              <a:ext cx="364" cy="149"/>
            </a:xfrm>
            <a:prstGeom prst="line">
              <a:avLst/>
            </a:prstGeom>
            <a:ln w="38100" cap="flat" cmpd="sng">
              <a:solidFill>
                <a:srgbClr val="336699"/>
              </a:solidFill>
              <a:prstDash val="solid"/>
              <a:round/>
              <a:headEnd type="none" w="med" len="med"/>
              <a:tailEnd type="none" w="med" len="med"/>
            </a:ln>
          </p:spPr>
        </p:sp>
        <p:sp>
          <p:nvSpPr>
            <p:cNvPr id="63518" name="Line 30"/>
            <p:cNvSpPr/>
            <p:nvPr/>
          </p:nvSpPr>
          <p:spPr>
            <a:xfrm flipH="1">
              <a:off x="893" y="3421"/>
              <a:ext cx="172" cy="114"/>
            </a:xfrm>
            <a:prstGeom prst="line">
              <a:avLst/>
            </a:prstGeom>
            <a:ln w="38100" cap="flat" cmpd="sng">
              <a:solidFill>
                <a:srgbClr val="666699"/>
              </a:solidFill>
              <a:prstDash val="solid"/>
              <a:round/>
              <a:headEnd type="none" w="med" len="med"/>
              <a:tailEnd type="none" w="med" len="med"/>
            </a:ln>
          </p:spPr>
        </p:sp>
        <p:sp>
          <p:nvSpPr>
            <p:cNvPr id="63519" name="Line 31"/>
            <p:cNvSpPr/>
            <p:nvPr/>
          </p:nvSpPr>
          <p:spPr>
            <a:xfrm>
              <a:off x="1776" y="3168"/>
              <a:ext cx="288" cy="150"/>
            </a:xfrm>
            <a:prstGeom prst="line">
              <a:avLst/>
            </a:prstGeom>
            <a:ln w="38100" cap="flat" cmpd="sng">
              <a:solidFill>
                <a:srgbClr val="336699"/>
              </a:solidFill>
              <a:prstDash val="solid"/>
              <a:round/>
              <a:headEnd type="none" w="med" len="med"/>
              <a:tailEnd type="none" w="med" len="med"/>
            </a:ln>
          </p:spPr>
        </p:sp>
        <p:sp>
          <p:nvSpPr>
            <p:cNvPr id="63520" name="Line 32"/>
            <p:cNvSpPr/>
            <p:nvPr/>
          </p:nvSpPr>
          <p:spPr>
            <a:xfrm>
              <a:off x="1220" y="3399"/>
              <a:ext cx="173" cy="136"/>
            </a:xfrm>
            <a:prstGeom prst="line">
              <a:avLst/>
            </a:prstGeom>
            <a:ln w="38100" cap="flat" cmpd="sng">
              <a:solidFill>
                <a:srgbClr val="336699"/>
              </a:solidFill>
              <a:prstDash val="solid"/>
              <a:round/>
              <a:headEnd type="none" w="med" len="med"/>
              <a:tailEnd type="none" w="med" len="med"/>
            </a:ln>
          </p:spPr>
        </p:sp>
        <p:sp>
          <p:nvSpPr>
            <p:cNvPr id="63521" name="Line 33"/>
            <p:cNvSpPr/>
            <p:nvPr/>
          </p:nvSpPr>
          <p:spPr>
            <a:xfrm flipH="1">
              <a:off x="1180" y="3671"/>
              <a:ext cx="213" cy="187"/>
            </a:xfrm>
            <a:prstGeom prst="line">
              <a:avLst/>
            </a:prstGeom>
            <a:ln w="38100" cap="flat" cmpd="sng">
              <a:solidFill>
                <a:srgbClr val="336699"/>
              </a:solidFill>
              <a:prstDash val="solid"/>
              <a:round/>
              <a:headEnd type="none" w="med" len="med"/>
              <a:tailEnd type="none" w="med" len="med"/>
            </a:ln>
          </p:spPr>
        </p:sp>
        <p:sp>
          <p:nvSpPr>
            <p:cNvPr id="63522" name="Line 34"/>
            <p:cNvSpPr/>
            <p:nvPr/>
          </p:nvSpPr>
          <p:spPr>
            <a:xfrm>
              <a:off x="2238" y="3427"/>
              <a:ext cx="174" cy="109"/>
            </a:xfrm>
            <a:prstGeom prst="line">
              <a:avLst/>
            </a:prstGeom>
            <a:ln w="38100" cap="flat" cmpd="sng">
              <a:solidFill>
                <a:srgbClr val="336699"/>
              </a:solidFill>
              <a:prstDash val="solid"/>
              <a:round/>
              <a:headEnd type="none" w="med" len="med"/>
              <a:tailEnd type="none" w="med" len="med"/>
            </a:ln>
          </p:spPr>
        </p:sp>
        <p:sp>
          <p:nvSpPr>
            <p:cNvPr id="63523" name="Line 35"/>
            <p:cNvSpPr/>
            <p:nvPr/>
          </p:nvSpPr>
          <p:spPr>
            <a:xfrm flipH="1">
              <a:off x="1920" y="3409"/>
              <a:ext cx="215" cy="143"/>
            </a:xfrm>
            <a:prstGeom prst="line">
              <a:avLst/>
            </a:prstGeom>
            <a:ln w="38100" cap="flat" cmpd="sng">
              <a:solidFill>
                <a:srgbClr val="336699"/>
              </a:solidFill>
              <a:prstDash val="solid"/>
              <a:round/>
              <a:headEnd type="none" w="med" len="med"/>
              <a:tailEnd type="none" w="med" len="med"/>
            </a:ln>
          </p:spPr>
        </p:sp>
        <p:sp>
          <p:nvSpPr>
            <p:cNvPr id="63524" name="Line 36"/>
            <p:cNvSpPr/>
            <p:nvPr/>
          </p:nvSpPr>
          <p:spPr>
            <a:xfrm>
              <a:off x="1872" y="3648"/>
              <a:ext cx="192" cy="192"/>
            </a:xfrm>
            <a:prstGeom prst="line">
              <a:avLst/>
            </a:prstGeom>
            <a:ln w="38100" cap="flat" cmpd="sng">
              <a:solidFill>
                <a:srgbClr val="336699"/>
              </a:solidFill>
              <a:prstDash val="solid"/>
              <a:round/>
              <a:headEnd type="none" w="med" len="med"/>
              <a:tailEnd type="none" w="med" len="med"/>
            </a:ln>
          </p:spPr>
        </p:sp>
        <p:sp>
          <p:nvSpPr>
            <p:cNvPr id="63525" name="Oval 37"/>
            <p:cNvSpPr/>
            <p:nvPr/>
          </p:nvSpPr>
          <p:spPr>
            <a:xfrm>
              <a:off x="1776" y="3504"/>
              <a:ext cx="196" cy="18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-1</a:t>
              </a:r>
            </a:p>
          </p:txBody>
        </p:sp>
        <p:sp>
          <p:nvSpPr>
            <p:cNvPr id="63526" name="Oval 38"/>
            <p:cNvSpPr/>
            <p:nvPr/>
          </p:nvSpPr>
          <p:spPr>
            <a:xfrm>
              <a:off x="1065" y="3791"/>
              <a:ext cx="195" cy="18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0</a:t>
              </a:r>
            </a:p>
          </p:txBody>
        </p:sp>
        <p:sp>
          <p:nvSpPr>
            <p:cNvPr id="63527" name="Oval 39"/>
            <p:cNvSpPr/>
            <p:nvPr/>
          </p:nvSpPr>
          <p:spPr>
            <a:xfrm>
              <a:off x="1046" y="3263"/>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-1</a:t>
              </a:r>
            </a:p>
          </p:txBody>
        </p:sp>
        <p:sp>
          <p:nvSpPr>
            <p:cNvPr id="63528" name="Line 40"/>
            <p:cNvSpPr/>
            <p:nvPr/>
          </p:nvSpPr>
          <p:spPr>
            <a:xfrm flipH="1">
              <a:off x="2352" y="3600"/>
              <a:ext cx="144" cy="240"/>
            </a:xfrm>
            <a:prstGeom prst="line">
              <a:avLst/>
            </a:prstGeom>
            <a:ln w="38100" cap="flat" cmpd="sng">
              <a:solidFill>
                <a:srgbClr val="336699"/>
              </a:solidFill>
              <a:prstDash val="solid"/>
              <a:round/>
              <a:headEnd type="none" w="med" len="med"/>
              <a:tailEnd type="none" w="med" len="med"/>
            </a:ln>
          </p:spPr>
        </p:sp>
        <p:sp>
          <p:nvSpPr>
            <p:cNvPr id="63529" name="Oval 41"/>
            <p:cNvSpPr/>
            <p:nvPr/>
          </p:nvSpPr>
          <p:spPr>
            <a:xfrm>
              <a:off x="1968" y="3792"/>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0</a:t>
              </a:r>
            </a:p>
          </p:txBody>
        </p:sp>
        <p:sp>
          <p:nvSpPr>
            <p:cNvPr id="63530" name="Oval 42"/>
            <p:cNvSpPr/>
            <p:nvPr/>
          </p:nvSpPr>
          <p:spPr>
            <a:xfrm>
              <a:off x="1632" y="3792"/>
              <a:ext cx="194"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0</a:t>
              </a:r>
            </a:p>
          </p:txBody>
        </p:sp>
        <p:sp>
          <p:nvSpPr>
            <p:cNvPr id="63531" name="Line 43"/>
            <p:cNvSpPr/>
            <p:nvPr/>
          </p:nvSpPr>
          <p:spPr>
            <a:xfrm>
              <a:off x="1536" y="3648"/>
              <a:ext cx="144" cy="144"/>
            </a:xfrm>
            <a:prstGeom prst="line">
              <a:avLst/>
            </a:prstGeom>
            <a:ln w="38100" cap="flat" cmpd="sng">
              <a:solidFill>
                <a:srgbClr val="336699"/>
              </a:solidFill>
              <a:prstDash val="solid"/>
              <a:round/>
              <a:headEnd type="none" w="med" len="med"/>
              <a:tailEnd type="none" w="med" len="med"/>
            </a:ln>
          </p:spPr>
        </p:sp>
        <p:sp>
          <p:nvSpPr>
            <p:cNvPr id="63532" name="Oval 44"/>
            <p:cNvSpPr/>
            <p:nvPr/>
          </p:nvSpPr>
          <p:spPr>
            <a:xfrm>
              <a:off x="2064" y="3264"/>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0</a:t>
              </a:r>
            </a:p>
          </p:txBody>
        </p:sp>
        <p:sp>
          <p:nvSpPr>
            <p:cNvPr id="63533" name="Oval 45"/>
            <p:cNvSpPr/>
            <p:nvPr/>
          </p:nvSpPr>
          <p:spPr>
            <a:xfrm>
              <a:off x="2400" y="3504"/>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1</a:t>
              </a:r>
            </a:p>
          </p:txBody>
        </p:sp>
        <p:sp>
          <p:nvSpPr>
            <p:cNvPr id="63534" name="Oval 46"/>
            <p:cNvSpPr/>
            <p:nvPr/>
          </p:nvSpPr>
          <p:spPr>
            <a:xfrm>
              <a:off x="2208" y="3792"/>
              <a:ext cx="195"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0</a:t>
              </a:r>
            </a:p>
          </p:txBody>
        </p:sp>
        <p:sp>
          <p:nvSpPr>
            <p:cNvPr id="63535" name="Oval 47"/>
            <p:cNvSpPr/>
            <p:nvPr/>
          </p:nvSpPr>
          <p:spPr>
            <a:xfrm>
              <a:off x="1371" y="3508"/>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0</a:t>
              </a: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平衡化旋转，又称为平衡化处理，</a:t>
            </a:r>
            <a:r>
              <a:rPr lang="zh-CN" altLang="en-US" sz="2800" dirty="0">
                <a:latin typeface="黑体" panose="02010609060101010101" pitchFamily="2" charset="-122"/>
                <a:ea typeface="黑体" panose="02010609060101010101" pitchFamily="2" charset="-122"/>
                <a:cs typeface="+mn-ea"/>
                <a:sym typeface="+mn-ea"/>
              </a:rPr>
              <a:t>如果在一棵平衡的二叉查找树中插入一个新结点或者删除一个旧结点，造成了不平衡，此时必须调整树的结构，使之平衡化。</a:t>
            </a:r>
            <a:endParaRPr lang="zh-CN" altLang="en-US" sz="2400" b="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平衡化旋转(处理)有两类四种旋转：</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单向旋转 (单向右旋和单向左旋)</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双向旋转 (先左后右旋转和先右后左旋转)</a:t>
            </a:r>
            <a:endParaRPr lang="zh-CN" altLang="en-US" sz="2400" b="0" dirty="0">
              <a:latin typeface="黑体" panose="02010609060101010101" pitchFamily="2" charset="-122"/>
              <a:ea typeface="黑体" panose="02010609060101010101" pitchFamily="2" charset="-122"/>
              <a:cs typeface="+mn-ea"/>
            </a:endParaRPr>
          </a:p>
          <a:p>
            <a:pPr marL="609600" indent="-609600" eaLnBrk="1" latinLnBrk="0" hangingPunct="1">
              <a:lnSpc>
                <a:spcPct val="100000"/>
              </a:lnSpc>
              <a:spcBef>
                <a:spcPts val="0"/>
              </a:spcBef>
              <a:buClr>
                <a:schemeClr val="accent1"/>
              </a:buClr>
              <a:buSzTx/>
              <a:buFont typeface="Wingdings" panose="05000000000000000000" pitchFamily="2" charset="2"/>
              <a:buNone/>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60</a:t>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平衡化旋转的操作：</a:t>
            </a: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每插入一个新结点时, AVL树中相关结点的平衡状态会发生改变</a:t>
            </a:r>
            <a:endParaRPr lang="zh-CN" altLang="en-US"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在插入一个新结点后，需要从插入位置沿通向根的路径回溯，检查各结点的平衡因子</a:t>
            </a:r>
            <a:endParaRPr lang="zh-CN" altLang="en-US"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如果在某一结点发现高度不平衡，停止回溯。</a:t>
            </a:r>
            <a:endParaRPr lang="zh-CN" altLang="en-US"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从发生不平衡的结点起，沿刚才回溯的路径取下两层的结点。对这三个结点进行平衡化处理</a:t>
            </a:r>
            <a:endParaRPr lang="zh-CN" altLang="en-US" b="0" dirty="0">
              <a:latin typeface="黑体" panose="02010609060101010101" pitchFamily="2" charset="-122"/>
              <a:ea typeface="黑体" panose="02010609060101010101" pitchFamily="2" charset="-122"/>
              <a:cs typeface="+mn-ea"/>
            </a:endParaRPr>
          </a:p>
          <a:p>
            <a:pPr marL="609600" indent="-609600" eaLnBrk="1" latinLnBrk="0" hangingPunct="1">
              <a:lnSpc>
                <a:spcPct val="100000"/>
              </a:lnSpc>
              <a:spcBef>
                <a:spcPts val="0"/>
              </a:spcBef>
              <a:buClr>
                <a:schemeClr val="accent1"/>
              </a:buClr>
              <a:buSzTx/>
              <a:buFont typeface="Wingdings" panose="05000000000000000000" pitchFamily="2" charset="2"/>
              <a:buNone/>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61</a:t>
            </a:fld>
            <a:endParaRPr lang="zh-CN" altLang="en-US"/>
          </a:p>
        </p:txBody>
      </p:sp>
      <mc:AlternateContent xmlns:mc="http://schemas.openxmlformats.org/markup-compatibility/2006">
        <mc:Choice xmlns:p14="http://schemas.microsoft.com/office/powerpoint/2010/main" Requires="p14">
          <p:contentPart p14:bwMode="auto" r:id="rId2">
            <p14:nvContentPartPr>
              <p14:cNvPr id="5" name="墨迹 4">
                <a:extLst>
                  <a:ext uri="{FF2B5EF4-FFF2-40B4-BE49-F238E27FC236}">
                    <a16:creationId xmlns:a16="http://schemas.microsoft.com/office/drawing/2014/main" id="{6758BB28-7826-475F-B8D2-466A637C0660}"/>
                  </a:ext>
                </a:extLst>
              </p14:cNvPr>
              <p14:cNvContentPartPr/>
              <p14:nvPr/>
            </p14:nvContentPartPr>
            <p14:xfrm>
              <a:off x="2241720" y="2336760"/>
              <a:ext cx="6743880" cy="1257840"/>
            </p14:xfrm>
          </p:contentPart>
        </mc:Choice>
        <mc:Fallback>
          <p:pic>
            <p:nvPicPr>
              <p:cNvPr id="5" name="墨迹 4">
                <a:extLst>
                  <a:ext uri="{FF2B5EF4-FFF2-40B4-BE49-F238E27FC236}">
                    <a16:creationId xmlns:a16="http://schemas.microsoft.com/office/drawing/2014/main" id="{6758BB28-7826-475F-B8D2-466A637C0660}"/>
                  </a:ext>
                </a:extLst>
              </p:cNvPr>
              <p:cNvPicPr/>
              <p:nvPr/>
            </p:nvPicPr>
            <p:blipFill>
              <a:blip r:embed="rId3"/>
              <a:stretch>
                <a:fillRect/>
              </a:stretch>
            </p:blipFill>
            <p:spPr>
              <a:xfrm>
                <a:off x="2232360" y="2327400"/>
                <a:ext cx="6762600" cy="1276560"/>
              </a:xfrm>
              <a:prstGeom prst="rect">
                <a:avLst/>
              </a:prstGeom>
            </p:spPr>
          </p:pic>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平衡化旋转有四种：</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单向</a:t>
            </a:r>
            <a:r>
              <a:rPr lang="zh-CN" altLang="en-US" dirty="0">
                <a:latin typeface="黑体" panose="02010609060101010101" pitchFamily="2" charset="-122"/>
                <a:ea typeface="黑体" panose="02010609060101010101" pitchFamily="2" charset="-122"/>
                <a:cs typeface="+mn-ea"/>
                <a:sym typeface="+mn-ea"/>
              </a:rPr>
              <a:t>右</a:t>
            </a:r>
            <a:r>
              <a:rPr lang="zh-CN" altLang="en-US" sz="2400" dirty="0">
                <a:latin typeface="黑体" panose="02010609060101010101" pitchFamily="2" charset="-122"/>
                <a:ea typeface="黑体" panose="02010609060101010101" pitchFamily="2" charset="-122"/>
                <a:cs typeface="+mn-ea"/>
                <a:sym typeface="+mn-ea"/>
              </a:rPr>
              <a:t>旋</a:t>
            </a:r>
            <a:r>
              <a:rPr lang="zh-CN" altLang="en-US" dirty="0">
                <a:latin typeface="黑体" panose="02010609060101010101" pitchFamily="2" charset="-122"/>
                <a:ea typeface="黑体" panose="02010609060101010101" pitchFamily="2" charset="-122"/>
                <a:cs typeface="+mn-ea"/>
                <a:sym typeface="+mn-ea"/>
              </a:rPr>
              <a:t>，</a:t>
            </a:r>
            <a:r>
              <a:rPr lang="en-US" altLang="zh-CN" dirty="0">
                <a:latin typeface="黑体" panose="02010609060101010101" pitchFamily="2" charset="-122"/>
                <a:ea typeface="黑体" panose="02010609060101010101" pitchFamily="2" charset="-122"/>
                <a:cs typeface="+mn-ea"/>
                <a:sym typeface="+mn-ea"/>
              </a:rPr>
              <a:t>LL</a:t>
            </a:r>
            <a:r>
              <a:rPr lang="zh-CN" altLang="en-US" dirty="0">
                <a:latin typeface="黑体" panose="02010609060101010101" pitchFamily="2" charset="-122"/>
                <a:ea typeface="黑体" panose="02010609060101010101" pitchFamily="2" charset="-122"/>
                <a:cs typeface="+mn-ea"/>
                <a:sym typeface="+mn-ea"/>
              </a:rPr>
              <a:t>型，</a:t>
            </a:r>
            <a:r>
              <a:rPr lang="en-US" altLang="zh-CN" dirty="0">
                <a:latin typeface="黑体" panose="02010609060101010101" pitchFamily="2" charset="-122"/>
                <a:ea typeface="黑体" panose="02010609060101010101" pitchFamily="2" charset="-122"/>
                <a:cs typeface="+mn-ea"/>
                <a:sym typeface="+mn-ea"/>
              </a:rPr>
              <a:t>LL</a:t>
            </a:r>
            <a:r>
              <a:rPr lang="zh-CN" altLang="en-US" dirty="0">
                <a:latin typeface="黑体" panose="02010609060101010101" pitchFamily="2" charset="-122"/>
                <a:ea typeface="黑体" panose="02010609060101010101" pitchFamily="2" charset="-122"/>
                <a:cs typeface="+mn-ea"/>
                <a:sym typeface="+mn-ea"/>
              </a:rPr>
              <a:t>是指不平衡的三结点是双亲</a:t>
            </a:r>
            <a:r>
              <a:rPr lang="en-US" altLang="zh-CN" dirty="0">
                <a:latin typeface="黑体" panose="02010609060101010101" pitchFamily="2" charset="-122"/>
                <a:ea typeface="黑体" panose="02010609060101010101" pitchFamily="2" charset="-122"/>
                <a:cs typeface="+mn-ea"/>
                <a:sym typeface="+mn-ea"/>
              </a:rPr>
              <a:t>-</a:t>
            </a:r>
            <a:r>
              <a:rPr lang="zh-CN" altLang="en-US" dirty="0">
                <a:latin typeface="黑体" panose="02010609060101010101" pitchFamily="2" charset="-122"/>
                <a:ea typeface="黑体" panose="02010609060101010101" pitchFamily="2" charset="-122"/>
                <a:cs typeface="+mn-ea"/>
                <a:sym typeface="+mn-ea"/>
              </a:rPr>
              <a:t>左孩子</a:t>
            </a:r>
            <a:r>
              <a:rPr lang="en-US" altLang="zh-CN" dirty="0">
                <a:latin typeface="黑体" panose="02010609060101010101" pitchFamily="2" charset="-122"/>
                <a:ea typeface="黑体" panose="02010609060101010101" pitchFamily="2" charset="-122"/>
                <a:cs typeface="+mn-ea"/>
                <a:sym typeface="+mn-ea"/>
              </a:rPr>
              <a:t>-</a:t>
            </a:r>
            <a:r>
              <a:rPr lang="zh-CN" altLang="en-US" dirty="0">
                <a:latin typeface="黑体" panose="02010609060101010101" pitchFamily="2" charset="-122"/>
                <a:ea typeface="黑体" panose="02010609060101010101" pitchFamily="2" charset="-122"/>
                <a:cs typeface="+mn-ea"/>
                <a:sym typeface="+mn-ea"/>
              </a:rPr>
              <a:t>左孩子</a:t>
            </a: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单向左旋，</a:t>
            </a:r>
            <a:r>
              <a:rPr lang="en-US" altLang="zh-CN" dirty="0">
                <a:latin typeface="黑体" panose="02010609060101010101" pitchFamily="2" charset="-122"/>
                <a:ea typeface="黑体" panose="02010609060101010101" pitchFamily="2" charset="-122"/>
                <a:cs typeface="+mn-ea"/>
                <a:sym typeface="+mn-ea"/>
              </a:rPr>
              <a:t>RR</a:t>
            </a:r>
            <a:r>
              <a:rPr lang="zh-CN" altLang="en-US" dirty="0">
                <a:latin typeface="黑体" panose="02010609060101010101" pitchFamily="2" charset="-122"/>
                <a:ea typeface="黑体" panose="02010609060101010101" pitchFamily="2" charset="-122"/>
                <a:cs typeface="+mn-ea"/>
                <a:sym typeface="+mn-ea"/>
              </a:rPr>
              <a:t>型，</a:t>
            </a:r>
            <a:r>
              <a:rPr lang="en-US" altLang="zh-CN" dirty="0">
                <a:latin typeface="黑体" panose="02010609060101010101" pitchFamily="2" charset="-122"/>
                <a:ea typeface="黑体" panose="02010609060101010101" pitchFamily="2" charset="-122"/>
                <a:cs typeface="+mn-ea"/>
                <a:sym typeface="+mn-ea"/>
              </a:rPr>
              <a:t>RR</a:t>
            </a:r>
            <a:r>
              <a:rPr lang="zh-CN" altLang="en-US" dirty="0">
                <a:latin typeface="黑体" panose="02010609060101010101" pitchFamily="2" charset="-122"/>
                <a:ea typeface="黑体" panose="02010609060101010101" pitchFamily="2" charset="-122"/>
                <a:cs typeface="+mn-ea"/>
                <a:sym typeface="+mn-ea"/>
              </a:rPr>
              <a:t>是指不平衡的三结点是双亲</a:t>
            </a:r>
            <a:r>
              <a:rPr lang="en-US" altLang="zh-CN" dirty="0">
                <a:latin typeface="黑体" panose="02010609060101010101" pitchFamily="2" charset="-122"/>
                <a:ea typeface="黑体" panose="02010609060101010101" pitchFamily="2" charset="-122"/>
                <a:cs typeface="+mn-ea"/>
                <a:sym typeface="+mn-ea"/>
              </a:rPr>
              <a:t>-</a:t>
            </a:r>
            <a:r>
              <a:rPr lang="zh-CN" altLang="en-US" dirty="0">
                <a:latin typeface="黑体" panose="02010609060101010101" pitchFamily="2" charset="-122"/>
                <a:ea typeface="黑体" panose="02010609060101010101" pitchFamily="2" charset="-122"/>
                <a:cs typeface="+mn-ea"/>
                <a:sym typeface="+mn-ea"/>
              </a:rPr>
              <a:t>右孩子</a:t>
            </a:r>
            <a:r>
              <a:rPr lang="en-US" altLang="zh-CN" dirty="0">
                <a:latin typeface="黑体" panose="02010609060101010101" pitchFamily="2" charset="-122"/>
                <a:ea typeface="黑体" panose="02010609060101010101" pitchFamily="2" charset="-122"/>
                <a:cs typeface="+mn-ea"/>
                <a:sym typeface="+mn-ea"/>
              </a:rPr>
              <a:t>-</a:t>
            </a:r>
            <a:r>
              <a:rPr lang="zh-CN" altLang="en-US" dirty="0">
                <a:latin typeface="黑体" panose="02010609060101010101" pitchFamily="2" charset="-122"/>
                <a:ea typeface="黑体" panose="02010609060101010101" pitchFamily="2" charset="-122"/>
                <a:cs typeface="+mn-ea"/>
                <a:sym typeface="+mn-ea"/>
              </a:rPr>
              <a:t>右孩子</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先左后右双向旋转，</a:t>
            </a:r>
            <a:r>
              <a:rPr lang="en-US" altLang="zh-CN" dirty="0">
                <a:latin typeface="黑体" panose="02010609060101010101" pitchFamily="2" charset="-122"/>
                <a:ea typeface="黑体" panose="02010609060101010101" pitchFamily="2" charset="-122"/>
                <a:cs typeface="+mn-ea"/>
                <a:sym typeface="+mn-ea"/>
              </a:rPr>
              <a:t>LR</a:t>
            </a:r>
            <a:r>
              <a:rPr lang="zh-CN" altLang="en-US" dirty="0">
                <a:latin typeface="黑体" panose="02010609060101010101" pitchFamily="2" charset="-122"/>
                <a:ea typeface="黑体" panose="02010609060101010101" pitchFamily="2" charset="-122"/>
                <a:cs typeface="+mn-ea"/>
                <a:sym typeface="+mn-ea"/>
              </a:rPr>
              <a:t>型，</a:t>
            </a:r>
            <a:r>
              <a:rPr lang="en-US" altLang="zh-CN" dirty="0">
                <a:latin typeface="黑体" panose="02010609060101010101" pitchFamily="2" charset="-122"/>
                <a:ea typeface="黑体" panose="02010609060101010101" pitchFamily="2" charset="-122"/>
                <a:cs typeface="+mn-ea"/>
                <a:sym typeface="+mn-ea"/>
              </a:rPr>
              <a:t>LR</a:t>
            </a:r>
            <a:r>
              <a:rPr lang="zh-CN" altLang="en-US" dirty="0">
                <a:latin typeface="黑体" panose="02010609060101010101" pitchFamily="2" charset="-122"/>
                <a:ea typeface="黑体" panose="02010609060101010101" pitchFamily="2" charset="-122"/>
                <a:cs typeface="+mn-ea"/>
                <a:sym typeface="+mn-ea"/>
              </a:rPr>
              <a:t>是指不平衡的三结点是双亲</a:t>
            </a:r>
            <a:r>
              <a:rPr lang="en-US" altLang="zh-CN" dirty="0">
                <a:latin typeface="黑体" panose="02010609060101010101" pitchFamily="2" charset="-122"/>
                <a:ea typeface="黑体" panose="02010609060101010101" pitchFamily="2" charset="-122"/>
                <a:cs typeface="+mn-ea"/>
                <a:sym typeface="+mn-ea"/>
              </a:rPr>
              <a:t>-</a:t>
            </a:r>
            <a:r>
              <a:rPr lang="zh-CN" altLang="en-US" dirty="0">
                <a:latin typeface="黑体" panose="02010609060101010101" pitchFamily="2" charset="-122"/>
                <a:ea typeface="黑体" panose="02010609060101010101" pitchFamily="2" charset="-122"/>
                <a:cs typeface="+mn-ea"/>
                <a:sym typeface="+mn-ea"/>
              </a:rPr>
              <a:t>左孩子</a:t>
            </a:r>
            <a:r>
              <a:rPr lang="en-US" altLang="zh-CN" dirty="0">
                <a:latin typeface="黑体" panose="02010609060101010101" pitchFamily="2" charset="-122"/>
                <a:ea typeface="黑体" panose="02010609060101010101" pitchFamily="2" charset="-122"/>
                <a:cs typeface="+mn-ea"/>
                <a:sym typeface="+mn-ea"/>
              </a:rPr>
              <a:t>-</a:t>
            </a:r>
            <a:r>
              <a:rPr lang="zh-CN" altLang="en-US" dirty="0">
                <a:latin typeface="黑体" panose="02010609060101010101" pitchFamily="2" charset="-122"/>
                <a:ea typeface="黑体" panose="02010609060101010101" pitchFamily="2" charset="-122"/>
                <a:cs typeface="+mn-ea"/>
                <a:sym typeface="+mn-ea"/>
              </a:rPr>
              <a:t>右孩子</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先右后左</a:t>
            </a:r>
            <a:r>
              <a:rPr lang="zh-CN" altLang="en-US" dirty="0">
                <a:latin typeface="黑体" panose="02010609060101010101" pitchFamily="2" charset="-122"/>
                <a:ea typeface="黑体" panose="02010609060101010101" pitchFamily="2" charset="-122"/>
                <a:cs typeface="+mn-ea"/>
                <a:sym typeface="+mn-ea"/>
              </a:rPr>
              <a:t>双向</a:t>
            </a:r>
            <a:r>
              <a:rPr lang="zh-CN" altLang="en-US" sz="2400" dirty="0">
                <a:latin typeface="黑体" panose="02010609060101010101" pitchFamily="2" charset="-122"/>
                <a:ea typeface="黑体" panose="02010609060101010101" pitchFamily="2" charset="-122"/>
                <a:cs typeface="+mn-ea"/>
                <a:sym typeface="+mn-ea"/>
              </a:rPr>
              <a:t>旋转</a:t>
            </a:r>
            <a:r>
              <a:rPr lang="zh-CN" altLang="en-US" dirty="0">
                <a:latin typeface="黑体" panose="02010609060101010101" pitchFamily="2" charset="-122"/>
                <a:ea typeface="黑体" panose="02010609060101010101" pitchFamily="2" charset="-122"/>
                <a:cs typeface="+mn-ea"/>
                <a:sym typeface="+mn-ea"/>
              </a:rPr>
              <a:t>，</a:t>
            </a:r>
            <a:r>
              <a:rPr lang="en-US" altLang="zh-CN" dirty="0">
                <a:latin typeface="黑体" panose="02010609060101010101" pitchFamily="2" charset="-122"/>
                <a:ea typeface="黑体" panose="02010609060101010101" pitchFamily="2" charset="-122"/>
                <a:cs typeface="+mn-ea"/>
                <a:sym typeface="+mn-ea"/>
              </a:rPr>
              <a:t>RL</a:t>
            </a:r>
            <a:r>
              <a:rPr lang="zh-CN" altLang="en-US" dirty="0">
                <a:latin typeface="黑体" panose="02010609060101010101" pitchFamily="2" charset="-122"/>
                <a:ea typeface="黑体" panose="02010609060101010101" pitchFamily="2" charset="-122"/>
                <a:cs typeface="+mn-ea"/>
                <a:sym typeface="+mn-ea"/>
              </a:rPr>
              <a:t>型，</a:t>
            </a:r>
            <a:r>
              <a:rPr lang="en-US" altLang="zh-CN" dirty="0">
                <a:latin typeface="黑体" panose="02010609060101010101" pitchFamily="2" charset="-122"/>
                <a:ea typeface="黑体" panose="02010609060101010101" pitchFamily="2" charset="-122"/>
                <a:cs typeface="+mn-ea"/>
                <a:sym typeface="+mn-ea"/>
              </a:rPr>
              <a:t>RL</a:t>
            </a:r>
            <a:r>
              <a:rPr lang="zh-CN" altLang="en-US" dirty="0">
                <a:latin typeface="黑体" panose="02010609060101010101" pitchFamily="2" charset="-122"/>
                <a:ea typeface="黑体" panose="02010609060101010101" pitchFamily="2" charset="-122"/>
                <a:cs typeface="+mn-ea"/>
                <a:sym typeface="+mn-ea"/>
              </a:rPr>
              <a:t>是指不平衡的三结点是双亲</a:t>
            </a:r>
            <a:r>
              <a:rPr lang="en-US" altLang="zh-CN" dirty="0">
                <a:latin typeface="黑体" panose="02010609060101010101" pitchFamily="2" charset="-122"/>
                <a:ea typeface="黑体" panose="02010609060101010101" pitchFamily="2" charset="-122"/>
                <a:cs typeface="+mn-ea"/>
                <a:sym typeface="+mn-ea"/>
              </a:rPr>
              <a:t>-</a:t>
            </a:r>
            <a:r>
              <a:rPr lang="zh-CN" altLang="en-US" dirty="0">
                <a:latin typeface="黑体" panose="02010609060101010101" pitchFamily="2" charset="-122"/>
                <a:ea typeface="黑体" panose="02010609060101010101" pitchFamily="2" charset="-122"/>
                <a:cs typeface="+mn-ea"/>
                <a:sym typeface="+mn-ea"/>
              </a:rPr>
              <a:t>右孩子</a:t>
            </a:r>
            <a:r>
              <a:rPr lang="en-US" altLang="zh-CN" dirty="0">
                <a:latin typeface="黑体" panose="02010609060101010101" pitchFamily="2" charset="-122"/>
                <a:ea typeface="黑体" panose="02010609060101010101" pitchFamily="2" charset="-122"/>
                <a:cs typeface="+mn-ea"/>
                <a:sym typeface="+mn-ea"/>
              </a:rPr>
              <a:t>-</a:t>
            </a:r>
            <a:r>
              <a:rPr lang="zh-CN" altLang="en-US" dirty="0">
                <a:latin typeface="黑体" panose="02010609060101010101" pitchFamily="2" charset="-122"/>
                <a:ea typeface="黑体" panose="02010609060101010101" pitchFamily="2" charset="-122"/>
                <a:cs typeface="+mn-ea"/>
                <a:sym typeface="+mn-ea"/>
              </a:rPr>
              <a:t>左孩子</a:t>
            </a: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注意：英文类型简称是指不平衡状态，不是指旋转方向</a:t>
            </a: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注意：中文旋转名称是指旋转方向</a:t>
            </a:r>
          </a:p>
          <a:p>
            <a:pPr marL="609600" lvl="1" indent="0" algn="l" eaLnBrk="1" hangingPunct="1">
              <a:buClrTx/>
              <a:buSzTx/>
              <a:buNone/>
            </a:pP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62</a:t>
            </a:fld>
            <a:endParaRPr lang="zh-CN" altLang="en-US"/>
          </a:p>
        </p:txBody>
      </p:sp>
      <mc:AlternateContent xmlns:mc="http://schemas.openxmlformats.org/markup-compatibility/2006">
        <mc:Choice xmlns:p14="http://schemas.microsoft.com/office/powerpoint/2010/main" Requires="p14">
          <p:contentPart p14:bwMode="auto" r:id="rId2">
            <p14:nvContentPartPr>
              <p14:cNvPr id="5" name="墨迹 4">
                <a:extLst>
                  <a:ext uri="{FF2B5EF4-FFF2-40B4-BE49-F238E27FC236}">
                    <a16:creationId xmlns:a16="http://schemas.microsoft.com/office/drawing/2014/main" id="{5293755E-2081-4431-915C-F2CA2AD08D59}"/>
                  </a:ext>
                </a:extLst>
              </p14:cNvPr>
              <p14:cNvContentPartPr/>
              <p14:nvPr/>
            </p14:nvContentPartPr>
            <p14:xfrm>
              <a:off x="3378240" y="2774880"/>
              <a:ext cx="5442120" cy="1467360"/>
            </p14:xfrm>
          </p:contentPart>
        </mc:Choice>
        <mc:Fallback>
          <p:pic>
            <p:nvPicPr>
              <p:cNvPr id="5" name="墨迹 4">
                <a:extLst>
                  <a:ext uri="{FF2B5EF4-FFF2-40B4-BE49-F238E27FC236}">
                    <a16:creationId xmlns:a16="http://schemas.microsoft.com/office/drawing/2014/main" id="{5293755E-2081-4431-915C-F2CA2AD08D59}"/>
                  </a:ext>
                </a:extLst>
              </p:cNvPr>
              <p:cNvPicPr/>
              <p:nvPr/>
            </p:nvPicPr>
            <p:blipFill>
              <a:blip r:embed="rId3"/>
              <a:stretch>
                <a:fillRect/>
              </a:stretch>
            </p:blipFill>
            <p:spPr>
              <a:xfrm>
                <a:off x="3368880" y="2765520"/>
                <a:ext cx="5460840" cy="1486080"/>
              </a:xfrm>
              <a:prstGeom prst="rect">
                <a:avLst/>
              </a:prstGeom>
            </p:spPr>
          </p:pic>
        </mc:Fallback>
      </mc:AlternateContent>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平衡化单向旋转：</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如果这三个结点处于一条直线上(“/”型或“\”型)，则采用单向旋转进行平衡化[A&gt;B&gt;C]</a:t>
            </a:r>
            <a:endParaRPr lang="zh-CN" altLang="en-US"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单向旋转分为单向右旋(“/”型)和单向左旋(“\”型)</a:t>
            </a:r>
            <a:endParaRPr lang="zh-CN" altLang="en-US"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63</a:t>
            </a:fld>
            <a:endParaRPr lang="zh-CN" altLang="en-US"/>
          </a:p>
        </p:txBody>
      </p:sp>
      <p:grpSp>
        <p:nvGrpSpPr>
          <p:cNvPr id="70660" name="Group 4"/>
          <p:cNvGrpSpPr/>
          <p:nvPr/>
        </p:nvGrpSpPr>
        <p:grpSpPr>
          <a:xfrm>
            <a:off x="6166803" y="3357563"/>
            <a:ext cx="3957637" cy="2354263"/>
            <a:chOff x="3072" y="2880"/>
            <a:chExt cx="2493" cy="1483"/>
          </a:xfrm>
        </p:grpSpPr>
        <p:grpSp>
          <p:nvGrpSpPr>
            <p:cNvPr id="70661" name="Group 5"/>
            <p:cNvGrpSpPr/>
            <p:nvPr/>
          </p:nvGrpSpPr>
          <p:grpSpPr>
            <a:xfrm>
              <a:off x="3072" y="2880"/>
              <a:ext cx="1010" cy="863"/>
              <a:chOff x="1046" y="3263"/>
              <a:chExt cx="828" cy="720"/>
            </a:xfrm>
          </p:grpSpPr>
          <p:sp>
            <p:nvSpPr>
              <p:cNvPr id="70662" name="Line 6"/>
              <p:cNvSpPr/>
              <p:nvPr/>
            </p:nvSpPr>
            <p:spPr>
              <a:xfrm>
                <a:off x="1220" y="3399"/>
                <a:ext cx="508" cy="441"/>
              </a:xfrm>
              <a:prstGeom prst="line">
                <a:avLst/>
              </a:prstGeom>
              <a:ln w="38100" cap="flat" cmpd="sng">
                <a:solidFill>
                  <a:srgbClr val="336699"/>
                </a:solidFill>
                <a:prstDash val="solid"/>
                <a:round/>
                <a:headEnd type="none" w="med" len="med"/>
                <a:tailEnd type="none" w="med" len="med"/>
              </a:ln>
            </p:spPr>
          </p:sp>
          <p:sp>
            <p:nvSpPr>
              <p:cNvPr id="70663" name="Oval 7"/>
              <p:cNvSpPr/>
              <p:nvPr/>
            </p:nvSpPr>
            <p:spPr>
              <a:xfrm>
                <a:off x="1046" y="3263"/>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C</a:t>
                </a:r>
              </a:p>
            </p:txBody>
          </p:sp>
          <p:sp>
            <p:nvSpPr>
              <p:cNvPr id="70664" name="Oval 8"/>
              <p:cNvSpPr/>
              <p:nvPr/>
            </p:nvSpPr>
            <p:spPr>
              <a:xfrm>
                <a:off x="1680" y="3792"/>
                <a:ext cx="194"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A</a:t>
                </a:r>
              </a:p>
            </p:txBody>
          </p:sp>
          <p:sp>
            <p:nvSpPr>
              <p:cNvPr id="70665" name="Oval 9"/>
              <p:cNvSpPr/>
              <p:nvPr/>
            </p:nvSpPr>
            <p:spPr>
              <a:xfrm>
                <a:off x="1371" y="3508"/>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B</a:t>
                </a:r>
              </a:p>
            </p:txBody>
          </p:sp>
        </p:grpSp>
        <p:grpSp>
          <p:nvGrpSpPr>
            <p:cNvPr id="70666" name="Group 10"/>
            <p:cNvGrpSpPr/>
            <p:nvPr/>
          </p:nvGrpSpPr>
          <p:grpSpPr>
            <a:xfrm>
              <a:off x="4560" y="3222"/>
              <a:ext cx="1005" cy="559"/>
              <a:chOff x="1632" y="3270"/>
              <a:chExt cx="1005" cy="559"/>
            </a:xfrm>
          </p:grpSpPr>
          <p:sp>
            <p:nvSpPr>
              <p:cNvPr id="70667" name="Line 11"/>
              <p:cNvSpPr/>
              <p:nvPr/>
            </p:nvSpPr>
            <p:spPr>
              <a:xfrm>
                <a:off x="2208" y="3456"/>
                <a:ext cx="256" cy="212"/>
              </a:xfrm>
              <a:prstGeom prst="line">
                <a:avLst/>
              </a:prstGeom>
              <a:ln w="38100" cap="flat" cmpd="sng">
                <a:solidFill>
                  <a:srgbClr val="336699"/>
                </a:solidFill>
                <a:prstDash val="solid"/>
                <a:round/>
                <a:headEnd type="none" w="med" len="med"/>
                <a:tailEnd type="none" w="med" len="med"/>
              </a:ln>
            </p:spPr>
          </p:sp>
          <p:sp>
            <p:nvSpPr>
              <p:cNvPr id="70668" name="Oval 12"/>
              <p:cNvSpPr/>
              <p:nvPr/>
            </p:nvSpPr>
            <p:spPr>
              <a:xfrm>
                <a:off x="2400" y="3600"/>
                <a:ext cx="237" cy="22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A</a:t>
                </a:r>
              </a:p>
            </p:txBody>
          </p:sp>
          <p:sp>
            <p:nvSpPr>
              <p:cNvPr id="70669" name="Oval 13"/>
              <p:cNvSpPr/>
              <p:nvPr/>
            </p:nvSpPr>
            <p:spPr>
              <a:xfrm>
                <a:off x="2028" y="3270"/>
                <a:ext cx="240" cy="227"/>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B</a:t>
                </a:r>
              </a:p>
            </p:txBody>
          </p:sp>
          <p:sp>
            <p:nvSpPr>
              <p:cNvPr id="70670" name="Line 14"/>
              <p:cNvSpPr/>
              <p:nvPr/>
            </p:nvSpPr>
            <p:spPr>
              <a:xfrm flipH="1">
                <a:off x="1776" y="3456"/>
                <a:ext cx="288" cy="240"/>
              </a:xfrm>
              <a:prstGeom prst="line">
                <a:avLst/>
              </a:prstGeom>
              <a:ln w="38100" cap="flat" cmpd="sng">
                <a:solidFill>
                  <a:srgbClr val="336699"/>
                </a:solidFill>
                <a:prstDash val="solid"/>
                <a:round/>
                <a:headEnd type="none" w="med" len="med"/>
                <a:tailEnd type="none" w="med" len="med"/>
              </a:ln>
            </p:spPr>
          </p:sp>
          <p:sp>
            <p:nvSpPr>
              <p:cNvPr id="70671" name="Oval 15"/>
              <p:cNvSpPr/>
              <p:nvPr/>
            </p:nvSpPr>
            <p:spPr>
              <a:xfrm>
                <a:off x="1632" y="3600"/>
                <a:ext cx="238" cy="22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C</a:t>
                </a:r>
              </a:p>
            </p:txBody>
          </p:sp>
        </p:grpSp>
        <p:sp>
          <p:nvSpPr>
            <p:cNvPr id="70672" name="AutoShape 16"/>
            <p:cNvSpPr/>
            <p:nvPr/>
          </p:nvSpPr>
          <p:spPr>
            <a:xfrm>
              <a:off x="4128" y="3312"/>
              <a:ext cx="432" cy="192"/>
            </a:xfrm>
            <a:prstGeom prst="rightArrow">
              <a:avLst>
                <a:gd name="adj1" fmla="val 50000"/>
                <a:gd name="adj2" fmla="val 56250"/>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0673" name="Text Box 17"/>
            <p:cNvSpPr txBox="1"/>
            <p:nvPr/>
          </p:nvSpPr>
          <p:spPr>
            <a:xfrm>
              <a:off x="3840" y="3840"/>
              <a:ext cx="912" cy="523"/>
            </a:xfrm>
            <a:prstGeom prst="rect">
              <a:avLst/>
            </a:prstGeom>
            <a:noFill/>
            <a:ln w="9525">
              <a:noFill/>
            </a:ln>
          </p:spPr>
          <p:txBody>
            <a:bodyPr anchor="t" anchorCtr="0">
              <a:spAutoFit/>
            </a:bodyPr>
            <a:lstStyle/>
            <a:p>
              <a:pPr algn="ctr">
                <a:lnSpc>
                  <a:spcPct val="100000"/>
                </a:lnSpc>
                <a:spcBef>
                  <a:spcPts val="0"/>
                </a:spcBef>
                <a:spcAft>
                  <a:spcPts val="0"/>
                </a:spcAft>
              </a:pPr>
              <a:r>
                <a:rPr lang="zh-CN" altLang="en-US" sz="2400" b="1" dirty="0">
                  <a:latin typeface="Tahoma" panose="020B0604030504040204" charset="0"/>
                  <a:ea typeface="宋体" panose="02010600030101010101" pitchFamily="2" charset="-122"/>
                </a:rPr>
                <a:t>单向左旋</a:t>
              </a:r>
            </a:p>
            <a:p>
              <a:pPr algn="ctr">
                <a:lnSpc>
                  <a:spcPct val="100000"/>
                </a:lnSpc>
                <a:spcBef>
                  <a:spcPts val="0"/>
                </a:spcBef>
                <a:spcAft>
                  <a:spcPts val="0"/>
                </a:spcAft>
              </a:pPr>
              <a:r>
                <a:rPr lang="en-US" altLang="zh-CN" sz="2400" b="1" dirty="0">
                  <a:latin typeface="Tahoma" panose="020B0604030504040204" charset="0"/>
                  <a:ea typeface="宋体" panose="02010600030101010101" pitchFamily="2" charset="-122"/>
                </a:rPr>
                <a:t>RR</a:t>
              </a:r>
              <a:r>
                <a:rPr lang="zh-CN" altLang="en-US" sz="2400" b="1" dirty="0">
                  <a:latin typeface="Tahoma" panose="020B0604030504040204" charset="0"/>
                  <a:ea typeface="宋体" panose="02010600030101010101" pitchFamily="2" charset="-122"/>
                </a:rPr>
                <a:t>型</a:t>
              </a:r>
            </a:p>
          </p:txBody>
        </p:sp>
      </p:grpSp>
      <p:grpSp>
        <p:nvGrpSpPr>
          <p:cNvPr id="70674" name="Group 18"/>
          <p:cNvGrpSpPr/>
          <p:nvPr/>
        </p:nvGrpSpPr>
        <p:grpSpPr>
          <a:xfrm>
            <a:off x="1847215" y="3213100"/>
            <a:ext cx="3652838" cy="2430463"/>
            <a:chOff x="3312" y="2928"/>
            <a:chExt cx="2301" cy="1531"/>
          </a:xfrm>
        </p:grpSpPr>
        <p:grpSp>
          <p:nvGrpSpPr>
            <p:cNvPr id="70675" name="Group 19"/>
            <p:cNvGrpSpPr/>
            <p:nvPr/>
          </p:nvGrpSpPr>
          <p:grpSpPr>
            <a:xfrm flipH="1">
              <a:off x="3312" y="2928"/>
              <a:ext cx="1104" cy="959"/>
              <a:chOff x="1046" y="3263"/>
              <a:chExt cx="828" cy="720"/>
            </a:xfrm>
          </p:grpSpPr>
          <p:sp>
            <p:nvSpPr>
              <p:cNvPr id="70676" name="Line 20"/>
              <p:cNvSpPr/>
              <p:nvPr/>
            </p:nvSpPr>
            <p:spPr>
              <a:xfrm>
                <a:off x="1220" y="3399"/>
                <a:ext cx="508" cy="441"/>
              </a:xfrm>
              <a:prstGeom prst="line">
                <a:avLst/>
              </a:prstGeom>
              <a:ln w="38100" cap="flat" cmpd="sng">
                <a:solidFill>
                  <a:srgbClr val="336699"/>
                </a:solidFill>
                <a:prstDash val="solid"/>
                <a:round/>
                <a:headEnd type="none" w="med" len="med"/>
                <a:tailEnd type="none" w="med" len="med"/>
              </a:ln>
            </p:spPr>
          </p:sp>
          <p:sp>
            <p:nvSpPr>
              <p:cNvPr id="70677" name="Oval 21"/>
              <p:cNvSpPr/>
              <p:nvPr/>
            </p:nvSpPr>
            <p:spPr>
              <a:xfrm>
                <a:off x="1046" y="3263"/>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A</a:t>
                </a:r>
              </a:p>
            </p:txBody>
          </p:sp>
          <p:sp>
            <p:nvSpPr>
              <p:cNvPr id="70678" name="Oval 22"/>
              <p:cNvSpPr/>
              <p:nvPr/>
            </p:nvSpPr>
            <p:spPr>
              <a:xfrm>
                <a:off x="1680" y="3792"/>
                <a:ext cx="194"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C</a:t>
                </a:r>
              </a:p>
            </p:txBody>
          </p:sp>
          <p:sp>
            <p:nvSpPr>
              <p:cNvPr id="70679" name="Oval 23"/>
              <p:cNvSpPr/>
              <p:nvPr/>
            </p:nvSpPr>
            <p:spPr>
              <a:xfrm>
                <a:off x="1371" y="3508"/>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B</a:t>
                </a:r>
              </a:p>
            </p:txBody>
          </p:sp>
        </p:grpSp>
        <p:grpSp>
          <p:nvGrpSpPr>
            <p:cNvPr id="70680" name="Group 24"/>
            <p:cNvGrpSpPr/>
            <p:nvPr/>
          </p:nvGrpSpPr>
          <p:grpSpPr>
            <a:xfrm>
              <a:off x="4608" y="3312"/>
              <a:ext cx="1005" cy="559"/>
              <a:chOff x="1632" y="3270"/>
              <a:chExt cx="1005" cy="559"/>
            </a:xfrm>
          </p:grpSpPr>
          <p:sp>
            <p:nvSpPr>
              <p:cNvPr id="70681" name="Line 25"/>
              <p:cNvSpPr/>
              <p:nvPr/>
            </p:nvSpPr>
            <p:spPr>
              <a:xfrm>
                <a:off x="2208" y="3456"/>
                <a:ext cx="256" cy="212"/>
              </a:xfrm>
              <a:prstGeom prst="line">
                <a:avLst/>
              </a:prstGeom>
              <a:ln w="38100" cap="flat" cmpd="sng">
                <a:solidFill>
                  <a:srgbClr val="336699"/>
                </a:solidFill>
                <a:prstDash val="solid"/>
                <a:round/>
                <a:headEnd type="none" w="med" len="med"/>
                <a:tailEnd type="none" w="med" len="med"/>
              </a:ln>
            </p:spPr>
          </p:sp>
          <p:sp>
            <p:nvSpPr>
              <p:cNvPr id="70682" name="Oval 26"/>
              <p:cNvSpPr/>
              <p:nvPr/>
            </p:nvSpPr>
            <p:spPr>
              <a:xfrm>
                <a:off x="2400" y="3600"/>
                <a:ext cx="237" cy="22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A</a:t>
                </a:r>
              </a:p>
            </p:txBody>
          </p:sp>
          <p:sp>
            <p:nvSpPr>
              <p:cNvPr id="70683" name="Oval 27"/>
              <p:cNvSpPr/>
              <p:nvPr/>
            </p:nvSpPr>
            <p:spPr>
              <a:xfrm>
                <a:off x="2028" y="3270"/>
                <a:ext cx="240" cy="227"/>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B</a:t>
                </a:r>
              </a:p>
            </p:txBody>
          </p:sp>
          <p:sp>
            <p:nvSpPr>
              <p:cNvPr id="70684" name="Line 28"/>
              <p:cNvSpPr/>
              <p:nvPr/>
            </p:nvSpPr>
            <p:spPr>
              <a:xfrm flipH="1">
                <a:off x="1776" y="3456"/>
                <a:ext cx="288" cy="240"/>
              </a:xfrm>
              <a:prstGeom prst="line">
                <a:avLst/>
              </a:prstGeom>
              <a:ln w="38100" cap="flat" cmpd="sng">
                <a:solidFill>
                  <a:srgbClr val="336699"/>
                </a:solidFill>
                <a:prstDash val="solid"/>
                <a:round/>
                <a:headEnd type="none" w="med" len="med"/>
                <a:tailEnd type="none" w="med" len="med"/>
              </a:ln>
            </p:spPr>
          </p:sp>
          <p:sp>
            <p:nvSpPr>
              <p:cNvPr id="70685" name="Oval 29"/>
              <p:cNvSpPr/>
              <p:nvPr/>
            </p:nvSpPr>
            <p:spPr>
              <a:xfrm>
                <a:off x="1632" y="3600"/>
                <a:ext cx="238" cy="22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C</a:t>
                </a:r>
              </a:p>
            </p:txBody>
          </p:sp>
        </p:grpSp>
        <p:sp>
          <p:nvSpPr>
            <p:cNvPr id="70686" name="AutoShape 30"/>
            <p:cNvSpPr/>
            <p:nvPr/>
          </p:nvSpPr>
          <p:spPr>
            <a:xfrm>
              <a:off x="4176" y="3408"/>
              <a:ext cx="432" cy="192"/>
            </a:xfrm>
            <a:prstGeom prst="rightArrow">
              <a:avLst>
                <a:gd name="adj1" fmla="val 50000"/>
                <a:gd name="adj2" fmla="val 56250"/>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0687" name="Text Box 31"/>
            <p:cNvSpPr txBox="1"/>
            <p:nvPr/>
          </p:nvSpPr>
          <p:spPr>
            <a:xfrm>
              <a:off x="3721" y="3936"/>
              <a:ext cx="1478" cy="523"/>
            </a:xfrm>
            <a:prstGeom prst="rect">
              <a:avLst/>
            </a:prstGeom>
            <a:noFill/>
            <a:ln w="9525">
              <a:noFill/>
            </a:ln>
          </p:spPr>
          <p:txBody>
            <a:bodyPr wrap="square" anchor="t" anchorCtr="0">
              <a:spAutoFit/>
            </a:bodyPr>
            <a:lstStyle/>
            <a:p>
              <a:pPr algn="ctr">
                <a:lnSpc>
                  <a:spcPct val="100000"/>
                </a:lnSpc>
                <a:spcBef>
                  <a:spcPts val="0"/>
                </a:spcBef>
                <a:spcAft>
                  <a:spcPts val="0"/>
                </a:spcAft>
              </a:pPr>
              <a:r>
                <a:rPr lang="zh-CN" altLang="en-US" sz="2400" b="1" dirty="0">
                  <a:latin typeface="Tahoma" panose="020B0604030504040204" charset="0"/>
                  <a:ea typeface="宋体" panose="02010600030101010101" pitchFamily="2" charset="-122"/>
                </a:rPr>
                <a:t>单向右旋</a:t>
              </a:r>
            </a:p>
            <a:p>
              <a:pPr algn="ctr">
                <a:lnSpc>
                  <a:spcPct val="100000"/>
                </a:lnSpc>
                <a:spcBef>
                  <a:spcPts val="0"/>
                </a:spcBef>
                <a:spcAft>
                  <a:spcPts val="0"/>
                </a:spcAft>
              </a:pPr>
              <a:r>
                <a:rPr lang="en-US" altLang="zh-CN" sz="2400" b="1" dirty="0">
                  <a:latin typeface="Tahoma" panose="020B0604030504040204" charset="0"/>
                  <a:ea typeface="宋体" panose="02010600030101010101" pitchFamily="2" charset="-122"/>
                </a:rPr>
                <a:t>LL</a:t>
              </a:r>
              <a:r>
                <a:rPr lang="zh-CN" altLang="en-US" sz="2400" b="1" dirty="0">
                  <a:latin typeface="Tahoma" panose="020B0604030504040204" charset="0"/>
                  <a:ea typeface="宋体" panose="02010600030101010101" pitchFamily="2" charset="-122"/>
                </a:rPr>
                <a:t>型</a:t>
              </a: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平衡化双向旋转：</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如果这三个结点处于一条折线上(“&lt;”型或“&gt;”型)，则采用双向旋转进行平衡化[A&gt;B&gt;C]</a:t>
            </a:r>
            <a:endParaRPr lang="zh-CN" altLang="en-US"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双旋转分为先左后右(“&lt;”型)和先右后左(“&gt;”型)</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64</a:t>
            </a:fld>
            <a:endParaRPr lang="zh-CN" altLang="en-US"/>
          </a:p>
        </p:txBody>
      </p:sp>
      <p:grpSp>
        <p:nvGrpSpPr>
          <p:cNvPr id="5" name="组合 4"/>
          <p:cNvGrpSpPr/>
          <p:nvPr/>
        </p:nvGrpSpPr>
        <p:grpSpPr>
          <a:xfrm>
            <a:off x="1630998" y="3356293"/>
            <a:ext cx="3962400" cy="2201862"/>
            <a:chOff x="2733" y="5808"/>
            <a:chExt cx="6240" cy="3467"/>
          </a:xfrm>
        </p:grpSpPr>
        <p:grpSp>
          <p:nvGrpSpPr>
            <p:cNvPr id="71684" name="Group 4"/>
            <p:cNvGrpSpPr/>
            <p:nvPr/>
          </p:nvGrpSpPr>
          <p:grpSpPr>
            <a:xfrm>
              <a:off x="7053" y="6048"/>
              <a:ext cx="1920" cy="1200"/>
              <a:chOff x="1632" y="3270"/>
              <a:chExt cx="1005" cy="559"/>
            </a:xfrm>
          </p:grpSpPr>
          <p:sp>
            <p:nvSpPr>
              <p:cNvPr id="71685" name="Line 5"/>
              <p:cNvSpPr/>
              <p:nvPr/>
            </p:nvSpPr>
            <p:spPr>
              <a:xfrm>
                <a:off x="2208" y="3456"/>
                <a:ext cx="256" cy="212"/>
              </a:xfrm>
              <a:prstGeom prst="line">
                <a:avLst/>
              </a:prstGeom>
              <a:ln w="38100" cap="flat" cmpd="sng">
                <a:solidFill>
                  <a:srgbClr val="336699"/>
                </a:solidFill>
                <a:prstDash val="solid"/>
                <a:round/>
                <a:headEnd type="none" w="med" len="med"/>
                <a:tailEnd type="none" w="med" len="med"/>
              </a:ln>
            </p:spPr>
          </p:sp>
          <p:sp>
            <p:nvSpPr>
              <p:cNvPr id="71686" name="Oval 6"/>
              <p:cNvSpPr/>
              <p:nvPr/>
            </p:nvSpPr>
            <p:spPr>
              <a:xfrm>
                <a:off x="2400" y="3600"/>
                <a:ext cx="237" cy="22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A</a:t>
                </a:r>
              </a:p>
            </p:txBody>
          </p:sp>
          <p:sp>
            <p:nvSpPr>
              <p:cNvPr id="71687" name="Oval 7"/>
              <p:cNvSpPr/>
              <p:nvPr/>
            </p:nvSpPr>
            <p:spPr>
              <a:xfrm>
                <a:off x="2028" y="3270"/>
                <a:ext cx="240" cy="227"/>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B</a:t>
                </a:r>
              </a:p>
            </p:txBody>
          </p:sp>
          <p:sp>
            <p:nvSpPr>
              <p:cNvPr id="71688" name="Line 8"/>
              <p:cNvSpPr/>
              <p:nvPr/>
            </p:nvSpPr>
            <p:spPr>
              <a:xfrm flipH="1">
                <a:off x="1776" y="3456"/>
                <a:ext cx="288" cy="240"/>
              </a:xfrm>
              <a:prstGeom prst="line">
                <a:avLst/>
              </a:prstGeom>
              <a:ln w="38100" cap="flat" cmpd="sng">
                <a:solidFill>
                  <a:srgbClr val="336699"/>
                </a:solidFill>
                <a:prstDash val="solid"/>
                <a:round/>
                <a:headEnd type="none" w="med" len="med"/>
                <a:tailEnd type="none" w="med" len="med"/>
              </a:ln>
            </p:spPr>
          </p:sp>
          <p:sp>
            <p:nvSpPr>
              <p:cNvPr id="71689" name="Oval 9"/>
              <p:cNvSpPr/>
              <p:nvPr/>
            </p:nvSpPr>
            <p:spPr>
              <a:xfrm>
                <a:off x="1632" y="3600"/>
                <a:ext cx="238" cy="22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C</a:t>
                </a:r>
              </a:p>
            </p:txBody>
          </p:sp>
        </p:grpSp>
        <p:sp>
          <p:nvSpPr>
            <p:cNvPr id="71690" name="AutoShape 10"/>
            <p:cNvSpPr/>
            <p:nvPr/>
          </p:nvSpPr>
          <p:spPr>
            <a:xfrm>
              <a:off x="3813" y="6648"/>
              <a:ext cx="825" cy="412"/>
            </a:xfrm>
            <a:prstGeom prst="rightArrow">
              <a:avLst>
                <a:gd name="adj1" fmla="val 50000"/>
                <a:gd name="adj2" fmla="val 49972"/>
              </a:avLst>
            </a:prstGeom>
            <a:noFill/>
            <a:ln w="9525" cap="flat" cmpd="sng">
              <a:solidFill>
                <a:schemeClr val="tx1"/>
              </a:solidFill>
              <a:prstDash val="solid"/>
              <a:miter/>
              <a:headEnd type="none" w="med" len="med"/>
              <a:tailEnd type="none" w="med" len="med"/>
            </a:ln>
          </p:spPr>
          <p:txBody>
            <a:bodyPr wrap="none" anchor="ctr" anchorCtr="0"/>
            <a:lstStyle/>
            <a:p>
              <a:pPr algn="ctr"/>
              <a:endParaRPr lang="zh-CN" altLang="zh-CN" sz="2400" b="1" dirty="0">
                <a:latin typeface="Tahoma" panose="020B0604030504040204" charset="0"/>
                <a:ea typeface="宋体" panose="02010600030101010101" pitchFamily="2" charset="-122"/>
              </a:endParaRPr>
            </a:p>
          </p:txBody>
        </p:sp>
        <p:sp>
          <p:nvSpPr>
            <p:cNvPr id="71691" name="Text Box 11"/>
            <p:cNvSpPr txBox="1"/>
            <p:nvPr/>
          </p:nvSpPr>
          <p:spPr>
            <a:xfrm>
              <a:off x="4173" y="7968"/>
              <a:ext cx="3600" cy="1307"/>
            </a:xfrm>
            <a:prstGeom prst="rect">
              <a:avLst/>
            </a:prstGeom>
            <a:noFill/>
            <a:ln w="9525">
              <a:noFill/>
            </a:ln>
          </p:spPr>
          <p:txBody>
            <a:bodyPr anchor="t" anchorCtr="0">
              <a:spAutoFit/>
            </a:bodyPr>
            <a:lstStyle/>
            <a:p>
              <a:pPr algn="ctr">
                <a:lnSpc>
                  <a:spcPct val="100000"/>
                </a:lnSpc>
                <a:spcBef>
                  <a:spcPts val="0"/>
                </a:spcBef>
                <a:spcAft>
                  <a:spcPts val="0"/>
                </a:spcAft>
              </a:pPr>
              <a:r>
                <a:rPr lang="zh-CN" altLang="en-US" sz="2400" b="1" dirty="0">
                  <a:latin typeface="Tahoma" panose="020B0604030504040204" charset="0"/>
                  <a:ea typeface="宋体" panose="02010600030101010101" pitchFamily="2" charset="-122"/>
                </a:rPr>
                <a:t>先左后右旋转</a:t>
              </a:r>
            </a:p>
            <a:p>
              <a:pPr algn="ctr">
                <a:lnSpc>
                  <a:spcPct val="100000"/>
                </a:lnSpc>
                <a:spcBef>
                  <a:spcPts val="0"/>
                </a:spcBef>
                <a:spcAft>
                  <a:spcPts val="0"/>
                </a:spcAft>
              </a:pPr>
              <a:r>
                <a:rPr lang="en-US" altLang="zh-CN" sz="2400" b="1" dirty="0">
                  <a:latin typeface="Tahoma" panose="020B0604030504040204" charset="0"/>
                  <a:ea typeface="宋体" panose="02010600030101010101" pitchFamily="2" charset="-122"/>
                </a:rPr>
                <a:t>LR</a:t>
              </a:r>
              <a:r>
                <a:rPr lang="zh-CN" altLang="en-US" sz="2400" b="1" dirty="0">
                  <a:latin typeface="Tahoma" panose="020B0604030504040204" charset="0"/>
                  <a:ea typeface="宋体" panose="02010600030101010101" pitchFamily="2" charset="-122"/>
                </a:rPr>
                <a:t>型</a:t>
              </a:r>
            </a:p>
          </p:txBody>
        </p:sp>
        <p:grpSp>
          <p:nvGrpSpPr>
            <p:cNvPr id="71700" name="Group 20"/>
            <p:cNvGrpSpPr/>
            <p:nvPr/>
          </p:nvGrpSpPr>
          <p:grpSpPr>
            <a:xfrm>
              <a:off x="2733" y="5808"/>
              <a:ext cx="1175" cy="1955"/>
              <a:chOff x="540" y="2880"/>
              <a:chExt cx="614" cy="911"/>
            </a:xfrm>
          </p:grpSpPr>
          <p:sp>
            <p:nvSpPr>
              <p:cNvPr id="71701" name="Line 21"/>
              <p:cNvSpPr/>
              <p:nvPr/>
            </p:nvSpPr>
            <p:spPr>
              <a:xfrm>
                <a:off x="720" y="3408"/>
                <a:ext cx="256" cy="212"/>
              </a:xfrm>
              <a:prstGeom prst="line">
                <a:avLst/>
              </a:prstGeom>
              <a:ln w="38100" cap="flat" cmpd="sng">
                <a:solidFill>
                  <a:srgbClr val="336699"/>
                </a:solidFill>
                <a:prstDash val="solid"/>
                <a:round/>
                <a:headEnd type="none" w="med" len="med"/>
                <a:tailEnd type="none" w="med" len="med"/>
              </a:ln>
            </p:spPr>
          </p:sp>
          <p:sp>
            <p:nvSpPr>
              <p:cNvPr id="71702" name="Oval 22"/>
              <p:cNvSpPr/>
              <p:nvPr/>
            </p:nvSpPr>
            <p:spPr>
              <a:xfrm>
                <a:off x="912" y="2880"/>
                <a:ext cx="238" cy="22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A</a:t>
                </a:r>
              </a:p>
            </p:txBody>
          </p:sp>
          <p:sp>
            <p:nvSpPr>
              <p:cNvPr id="71703" name="Oval 23"/>
              <p:cNvSpPr/>
              <p:nvPr/>
            </p:nvSpPr>
            <p:spPr>
              <a:xfrm>
                <a:off x="917" y="3562"/>
                <a:ext cx="237" cy="22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B</a:t>
                </a:r>
              </a:p>
            </p:txBody>
          </p:sp>
          <p:sp>
            <p:nvSpPr>
              <p:cNvPr id="71704" name="Line 24"/>
              <p:cNvSpPr/>
              <p:nvPr/>
            </p:nvSpPr>
            <p:spPr>
              <a:xfrm flipV="1">
                <a:off x="720" y="3072"/>
                <a:ext cx="240" cy="192"/>
              </a:xfrm>
              <a:prstGeom prst="line">
                <a:avLst/>
              </a:prstGeom>
              <a:ln w="38100" cap="flat" cmpd="sng">
                <a:solidFill>
                  <a:srgbClr val="336699"/>
                </a:solidFill>
                <a:prstDash val="solid"/>
                <a:round/>
                <a:headEnd type="none" w="med" len="med"/>
                <a:tailEnd type="none" w="med" len="med"/>
              </a:ln>
            </p:spPr>
          </p:sp>
          <p:sp>
            <p:nvSpPr>
              <p:cNvPr id="71705" name="Oval 25"/>
              <p:cNvSpPr/>
              <p:nvPr/>
            </p:nvSpPr>
            <p:spPr>
              <a:xfrm>
                <a:off x="540" y="3222"/>
                <a:ext cx="240" cy="227"/>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C</a:t>
                </a:r>
              </a:p>
            </p:txBody>
          </p:sp>
        </p:grpSp>
        <p:grpSp>
          <p:nvGrpSpPr>
            <p:cNvPr id="71712" name="Group 32"/>
            <p:cNvGrpSpPr/>
            <p:nvPr/>
          </p:nvGrpSpPr>
          <p:grpSpPr>
            <a:xfrm flipH="1">
              <a:off x="4293" y="5928"/>
              <a:ext cx="2107" cy="1817"/>
              <a:chOff x="1046" y="3263"/>
              <a:chExt cx="828" cy="720"/>
            </a:xfrm>
          </p:grpSpPr>
          <p:sp>
            <p:nvSpPr>
              <p:cNvPr id="71713" name="Line 33"/>
              <p:cNvSpPr/>
              <p:nvPr/>
            </p:nvSpPr>
            <p:spPr>
              <a:xfrm>
                <a:off x="1220" y="3399"/>
                <a:ext cx="508" cy="441"/>
              </a:xfrm>
              <a:prstGeom prst="line">
                <a:avLst/>
              </a:prstGeom>
              <a:ln w="38100" cap="flat" cmpd="sng">
                <a:solidFill>
                  <a:srgbClr val="336699"/>
                </a:solidFill>
                <a:prstDash val="solid"/>
                <a:round/>
                <a:headEnd type="none" w="med" len="med"/>
                <a:tailEnd type="none" w="med" len="med"/>
              </a:ln>
            </p:spPr>
          </p:sp>
          <p:sp>
            <p:nvSpPr>
              <p:cNvPr id="71714" name="Oval 34"/>
              <p:cNvSpPr/>
              <p:nvPr/>
            </p:nvSpPr>
            <p:spPr>
              <a:xfrm>
                <a:off x="1046" y="3263"/>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A</a:t>
                </a:r>
              </a:p>
            </p:txBody>
          </p:sp>
          <p:sp>
            <p:nvSpPr>
              <p:cNvPr id="71715" name="Oval 35"/>
              <p:cNvSpPr/>
              <p:nvPr/>
            </p:nvSpPr>
            <p:spPr>
              <a:xfrm>
                <a:off x="1680" y="3792"/>
                <a:ext cx="194"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C</a:t>
                </a:r>
              </a:p>
            </p:txBody>
          </p:sp>
          <p:sp>
            <p:nvSpPr>
              <p:cNvPr id="71716" name="Oval 36"/>
              <p:cNvSpPr/>
              <p:nvPr/>
            </p:nvSpPr>
            <p:spPr>
              <a:xfrm>
                <a:off x="1371" y="3508"/>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B</a:t>
                </a:r>
              </a:p>
            </p:txBody>
          </p:sp>
        </p:grpSp>
        <p:sp>
          <p:nvSpPr>
            <p:cNvPr id="71722" name="AutoShape 42"/>
            <p:cNvSpPr/>
            <p:nvPr/>
          </p:nvSpPr>
          <p:spPr>
            <a:xfrm>
              <a:off x="5973" y="6648"/>
              <a:ext cx="825" cy="412"/>
            </a:xfrm>
            <a:prstGeom prst="rightArrow">
              <a:avLst>
                <a:gd name="adj1" fmla="val 50000"/>
                <a:gd name="adj2" fmla="val 49972"/>
              </a:avLst>
            </a:prstGeom>
            <a:noFill/>
            <a:ln w="9525" cap="flat" cmpd="sng">
              <a:solidFill>
                <a:schemeClr val="tx1"/>
              </a:solidFill>
              <a:prstDash val="solid"/>
              <a:miter/>
              <a:headEnd type="none" w="med" len="med"/>
              <a:tailEnd type="none" w="med" len="med"/>
            </a:ln>
          </p:spPr>
          <p:txBody>
            <a:bodyPr wrap="none" anchor="ctr" anchorCtr="0"/>
            <a:lstStyle/>
            <a:p>
              <a:pPr algn="ctr"/>
              <a:endParaRPr lang="zh-CN" altLang="zh-CN" sz="2400" b="1" dirty="0">
                <a:latin typeface="Tahoma" panose="020B0604030504040204" charset="0"/>
                <a:ea typeface="宋体" panose="02010600030101010101" pitchFamily="2" charset="-122"/>
              </a:endParaRPr>
            </a:p>
          </p:txBody>
        </p:sp>
      </p:grpSp>
      <p:grpSp>
        <p:nvGrpSpPr>
          <p:cNvPr id="6" name="组合 5"/>
          <p:cNvGrpSpPr/>
          <p:nvPr/>
        </p:nvGrpSpPr>
        <p:grpSpPr>
          <a:xfrm>
            <a:off x="6431915" y="3356610"/>
            <a:ext cx="3886200" cy="2200910"/>
            <a:chOff x="10293" y="5808"/>
            <a:chExt cx="6120" cy="3466"/>
          </a:xfrm>
        </p:grpSpPr>
        <p:grpSp>
          <p:nvGrpSpPr>
            <p:cNvPr id="71692" name="Group 12"/>
            <p:cNvGrpSpPr/>
            <p:nvPr/>
          </p:nvGrpSpPr>
          <p:grpSpPr>
            <a:xfrm>
              <a:off x="14493" y="5928"/>
              <a:ext cx="1920" cy="1200"/>
              <a:chOff x="1632" y="3270"/>
              <a:chExt cx="1005" cy="559"/>
            </a:xfrm>
          </p:grpSpPr>
          <p:sp>
            <p:nvSpPr>
              <p:cNvPr id="71693" name="Line 13"/>
              <p:cNvSpPr/>
              <p:nvPr/>
            </p:nvSpPr>
            <p:spPr>
              <a:xfrm>
                <a:off x="2208" y="3456"/>
                <a:ext cx="256" cy="212"/>
              </a:xfrm>
              <a:prstGeom prst="line">
                <a:avLst/>
              </a:prstGeom>
              <a:ln w="38100" cap="flat" cmpd="sng">
                <a:solidFill>
                  <a:srgbClr val="336699"/>
                </a:solidFill>
                <a:prstDash val="solid"/>
                <a:round/>
                <a:headEnd type="none" w="med" len="med"/>
                <a:tailEnd type="none" w="med" len="med"/>
              </a:ln>
            </p:spPr>
          </p:sp>
          <p:sp>
            <p:nvSpPr>
              <p:cNvPr id="71694" name="Oval 14"/>
              <p:cNvSpPr/>
              <p:nvPr/>
            </p:nvSpPr>
            <p:spPr>
              <a:xfrm>
                <a:off x="2400" y="3600"/>
                <a:ext cx="237" cy="22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A</a:t>
                </a:r>
              </a:p>
            </p:txBody>
          </p:sp>
          <p:sp>
            <p:nvSpPr>
              <p:cNvPr id="71695" name="Oval 15"/>
              <p:cNvSpPr/>
              <p:nvPr/>
            </p:nvSpPr>
            <p:spPr>
              <a:xfrm>
                <a:off x="2028" y="3270"/>
                <a:ext cx="240" cy="227"/>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B</a:t>
                </a:r>
              </a:p>
            </p:txBody>
          </p:sp>
          <p:sp>
            <p:nvSpPr>
              <p:cNvPr id="71696" name="Line 16"/>
              <p:cNvSpPr/>
              <p:nvPr/>
            </p:nvSpPr>
            <p:spPr>
              <a:xfrm flipH="1">
                <a:off x="1776" y="3456"/>
                <a:ext cx="288" cy="240"/>
              </a:xfrm>
              <a:prstGeom prst="line">
                <a:avLst/>
              </a:prstGeom>
              <a:ln w="38100" cap="flat" cmpd="sng">
                <a:solidFill>
                  <a:srgbClr val="336699"/>
                </a:solidFill>
                <a:prstDash val="solid"/>
                <a:round/>
                <a:headEnd type="none" w="med" len="med"/>
                <a:tailEnd type="none" w="med" len="med"/>
              </a:ln>
            </p:spPr>
          </p:sp>
          <p:sp>
            <p:nvSpPr>
              <p:cNvPr id="71697" name="Oval 17"/>
              <p:cNvSpPr/>
              <p:nvPr/>
            </p:nvSpPr>
            <p:spPr>
              <a:xfrm>
                <a:off x="1632" y="3600"/>
                <a:ext cx="238" cy="22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C</a:t>
                </a:r>
              </a:p>
            </p:txBody>
          </p:sp>
        </p:grpSp>
        <p:sp>
          <p:nvSpPr>
            <p:cNvPr id="71698" name="AutoShape 18"/>
            <p:cNvSpPr/>
            <p:nvPr/>
          </p:nvSpPr>
          <p:spPr>
            <a:xfrm>
              <a:off x="11733" y="6648"/>
              <a:ext cx="825" cy="412"/>
            </a:xfrm>
            <a:prstGeom prst="rightArrow">
              <a:avLst>
                <a:gd name="adj1" fmla="val 50000"/>
                <a:gd name="adj2" fmla="val 49972"/>
              </a:avLst>
            </a:prstGeom>
            <a:noFill/>
            <a:ln w="9525" cap="flat" cmpd="sng">
              <a:solidFill>
                <a:schemeClr val="tx1"/>
              </a:solidFill>
              <a:prstDash val="solid"/>
              <a:miter/>
              <a:headEnd type="none" w="med" len="med"/>
              <a:tailEnd type="none" w="med" len="med"/>
            </a:ln>
          </p:spPr>
          <p:txBody>
            <a:bodyPr wrap="none" anchor="ctr" anchorCtr="0"/>
            <a:lstStyle/>
            <a:p>
              <a:pPr algn="ctr"/>
              <a:endParaRPr lang="zh-CN" altLang="zh-CN" sz="2400" b="1" dirty="0">
                <a:latin typeface="Tahoma" panose="020B0604030504040204" charset="0"/>
                <a:ea typeface="宋体" panose="02010600030101010101" pitchFamily="2" charset="-122"/>
              </a:endParaRPr>
            </a:p>
          </p:txBody>
        </p:sp>
        <p:sp>
          <p:nvSpPr>
            <p:cNvPr id="71699" name="Text Box 19"/>
            <p:cNvSpPr txBox="1"/>
            <p:nvPr/>
          </p:nvSpPr>
          <p:spPr>
            <a:xfrm>
              <a:off x="11733" y="7968"/>
              <a:ext cx="3360" cy="1307"/>
            </a:xfrm>
            <a:prstGeom prst="rect">
              <a:avLst/>
            </a:prstGeom>
            <a:noFill/>
            <a:ln w="9525">
              <a:noFill/>
            </a:ln>
          </p:spPr>
          <p:txBody>
            <a:bodyPr anchor="t" anchorCtr="0">
              <a:spAutoFit/>
            </a:bodyPr>
            <a:lstStyle/>
            <a:p>
              <a:pPr algn="ctr">
                <a:lnSpc>
                  <a:spcPct val="100000"/>
                </a:lnSpc>
                <a:spcBef>
                  <a:spcPts val="0"/>
                </a:spcBef>
                <a:spcAft>
                  <a:spcPts val="0"/>
                </a:spcAft>
              </a:pPr>
              <a:r>
                <a:rPr lang="zh-CN" altLang="en-US" sz="2400" b="1" dirty="0">
                  <a:latin typeface="Tahoma" panose="020B0604030504040204" charset="0"/>
                  <a:ea typeface="宋体" panose="02010600030101010101" pitchFamily="2" charset="-122"/>
                </a:rPr>
                <a:t>先右后左旋转</a:t>
              </a:r>
            </a:p>
            <a:p>
              <a:pPr algn="ctr">
                <a:lnSpc>
                  <a:spcPct val="100000"/>
                </a:lnSpc>
                <a:spcBef>
                  <a:spcPts val="0"/>
                </a:spcBef>
                <a:spcAft>
                  <a:spcPts val="0"/>
                </a:spcAft>
              </a:pPr>
              <a:r>
                <a:rPr lang="en-US" altLang="zh-CN" sz="2400" b="1" dirty="0">
                  <a:latin typeface="Tahoma" panose="020B0604030504040204" charset="0"/>
                  <a:ea typeface="宋体" panose="02010600030101010101" pitchFamily="2" charset="-122"/>
                </a:rPr>
                <a:t>RL</a:t>
              </a:r>
              <a:r>
                <a:rPr lang="zh-CN" altLang="en-US" sz="2400" b="1" dirty="0">
                  <a:latin typeface="Tahoma" panose="020B0604030504040204" charset="0"/>
                  <a:ea typeface="宋体" panose="02010600030101010101" pitchFamily="2" charset="-122"/>
                </a:rPr>
                <a:t>型</a:t>
              </a:r>
            </a:p>
          </p:txBody>
        </p:sp>
        <p:grpSp>
          <p:nvGrpSpPr>
            <p:cNvPr id="71706" name="Group 26"/>
            <p:cNvGrpSpPr/>
            <p:nvPr/>
          </p:nvGrpSpPr>
          <p:grpSpPr>
            <a:xfrm flipH="1">
              <a:off x="10293" y="5808"/>
              <a:ext cx="1192" cy="1955"/>
              <a:chOff x="540" y="2880"/>
              <a:chExt cx="614" cy="911"/>
            </a:xfrm>
          </p:grpSpPr>
          <p:sp>
            <p:nvSpPr>
              <p:cNvPr id="71707" name="Line 27"/>
              <p:cNvSpPr/>
              <p:nvPr/>
            </p:nvSpPr>
            <p:spPr>
              <a:xfrm>
                <a:off x="720" y="3408"/>
                <a:ext cx="256" cy="212"/>
              </a:xfrm>
              <a:prstGeom prst="line">
                <a:avLst/>
              </a:prstGeom>
              <a:ln w="38100" cap="flat" cmpd="sng">
                <a:solidFill>
                  <a:srgbClr val="336699"/>
                </a:solidFill>
                <a:prstDash val="solid"/>
                <a:round/>
                <a:headEnd type="none" w="med" len="med"/>
                <a:tailEnd type="none" w="med" len="med"/>
              </a:ln>
            </p:spPr>
          </p:sp>
          <p:sp>
            <p:nvSpPr>
              <p:cNvPr id="71708" name="Oval 28"/>
              <p:cNvSpPr/>
              <p:nvPr/>
            </p:nvSpPr>
            <p:spPr>
              <a:xfrm>
                <a:off x="912" y="2880"/>
                <a:ext cx="238" cy="22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C</a:t>
                </a:r>
              </a:p>
            </p:txBody>
          </p:sp>
          <p:sp>
            <p:nvSpPr>
              <p:cNvPr id="71709" name="Oval 29"/>
              <p:cNvSpPr/>
              <p:nvPr/>
            </p:nvSpPr>
            <p:spPr>
              <a:xfrm>
                <a:off x="917" y="3562"/>
                <a:ext cx="237" cy="22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B</a:t>
                </a:r>
              </a:p>
            </p:txBody>
          </p:sp>
          <p:sp>
            <p:nvSpPr>
              <p:cNvPr id="71710" name="Line 30"/>
              <p:cNvSpPr/>
              <p:nvPr/>
            </p:nvSpPr>
            <p:spPr>
              <a:xfrm flipV="1">
                <a:off x="720" y="3072"/>
                <a:ext cx="240" cy="192"/>
              </a:xfrm>
              <a:prstGeom prst="line">
                <a:avLst/>
              </a:prstGeom>
              <a:ln w="38100" cap="flat" cmpd="sng">
                <a:solidFill>
                  <a:srgbClr val="336699"/>
                </a:solidFill>
                <a:prstDash val="solid"/>
                <a:round/>
                <a:headEnd type="none" w="med" len="med"/>
                <a:tailEnd type="none" w="med" len="med"/>
              </a:ln>
            </p:spPr>
          </p:sp>
          <p:sp>
            <p:nvSpPr>
              <p:cNvPr id="71711" name="Oval 31"/>
              <p:cNvSpPr/>
              <p:nvPr/>
            </p:nvSpPr>
            <p:spPr>
              <a:xfrm>
                <a:off x="540" y="3222"/>
                <a:ext cx="240" cy="227"/>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A</a:t>
                </a:r>
              </a:p>
            </p:txBody>
          </p:sp>
        </p:grpSp>
        <p:grpSp>
          <p:nvGrpSpPr>
            <p:cNvPr id="71717" name="Group 37"/>
            <p:cNvGrpSpPr/>
            <p:nvPr/>
          </p:nvGrpSpPr>
          <p:grpSpPr>
            <a:xfrm>
              <a:off x="11973" y="5928"/>
              <a:ext cx="1927" cy="1852"/>
              <a:chOff x="1046" y="3263"/>
              <a:chExt cx="828" cy="720"/>
            </a:xfrm>
          </p:grpSpPr>
          <p:sp>
            <p:nvSpPr>
              <p:cNvPr id="71718" name="Line 38"/>
              <p:cNvSpPr/>
              <p:nvPr/>
            </p:nvSpPr>
            <p:spPr>
              <a:xfrm>
                <a:off x="1220" y="3399"/>
                <a:ext cx="508" cy="441"/>
              </a:xfrm>
              <a:prstGeom prst="line">
                <a:avLst/>
              </a:prstGeom>
              <a:ln w="38100" cap="flat" cmpd="sng">
                <a:solidFill>
                  <a:srgbClr val="336699"/>
                </a:solidFill>
                <a:prstDash val="solid"/>
                <a:round/>
                <a:headEnd type="none" w="med" len="med"/>
                <a:tailEnd type="none" w="med" len="med"/>
              </a:ln>
            </p:spPr>
          </p:sp>
          <p:sp>
            <p:nvSpPr>
              <p:cNvPr id="71719" name="Oval 39"/>
              <p:cNvSpPr/>
              <p:nvPr/>
            </p:nvSpPr>
            <p:spPr>
              <a:xfrm>
                <a:off x="1046" y="3263"/>
                <a:ext cx="195"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C</a:t>
                </a:r>
              </a:p>
            </p:txBody>
          </p:sp>
          <p:sp>
            <p:nvSpPr>
              <p:cNvPr id="71720" name="Oval 40"/>
              <p:cNvSpPr/>
              <p:nvPr/>
            </p:nvSpPr>
            <p:spPr>
              <a:xfrm>
                <a:off x="1680" y="3792"/>
                <a:ext cx="194" cy="191"/>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A</a:t>
                </a:r>
              </a:p>
            </p:txBody>
          </p:sp>
          <p:sp>
            <p:nvSpPr>
              <p:cNvPr id="71721" name="Oval 41"/>
              <p:cNvSpPr/>
              <p:nvPr/>
            </p:nvSpPr>
            <p:spPr>
              <a:xfrm>
                <a:off x="1371" y="3508"/>
                <a:ext cx="196" cy="19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chemeClr val="hlink"/>
                    </a:solidFill>
                    <a:latin typeface="Times New Roman" panose="02020603050405020304" pitchFamily="18" charset="0"/>
                    <a:ea typeface="宋体" panose="02010600030101010101" pitchFamily="2" charset="-122"/>
                  </a:rPr>
                  <a:t>B</a:t>
                </a:r>
              </a:p>
            </p:txBody>
          </p:sp>
        </p:grpSp>
        <p:sp>
          <p:nvSpPr>
            <p:cNvPr id="71723" name="AutoShape 43"/>
            <p:cNvSpPr/>
            <p:nvPr/>
          </p:nvSpPr>
          <p:spPr>
            <a:xfrm>
              <a:off x="13533" y="6648"/>
              <a:ext cx="825" cy="412"/>
            </a:xfrm>
            <a:prstGeom prst="rightArrow">
              <a:avLst>
                <a:gd name="adj1" fmla="val 50000"/>
                <a:gd name="adj2" fmla="val 49972"/>
              </a:avLst>
            </a:prstGeom>
            <a:noFill/>
            <a:ln w="9525" cap="flat" cmpd="sng">
              <a:solidFill>
                <a:schemeClr val="tx1"/>
              </a:solidFill>
              <a:prstDash val="solid"/>
              <a:miter/>
              <a:headEnd type="none" w="med" len="med"/>
              <a:tailEnd type="none" w="med" len="med"/>
            </a:ln>
          </p:spPr>
          <p:txBody>
            <a:bodyPr wrap="none" anchor="ctr" anchorCtr="0"/>
            <a:lstStyle/>
            <a:p>
              <a:pPr algn="ctr"/>
              <a:endParaRPr lang="zh-CN" altLang="zh-CN" sz="2400" b="1" dirty="0">
                <a:latin typeface="Tahoma" panose="020B0604030504040204" charset="0"/>
                <a:ea typeface="宋体" panose="02010600030101010101" pitchFamily="2" charset="-122"/>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引发单向右旋的</a:t>
            </a:r>
            <a:r>
              <a:rPr lang="zh-CN" altLang="en-US" sz="2800" dirty="0">
                <a:latin typeface="黑体" panose="02010609060101010101" pitchFamily="2" charset="-122"/>
                <a:ea typeface="黑体" panose="02010609060101010101" pitchFamily="2" charset="-122"/>
                <a:sym typeface="+mn-ea"/>
              </a:rPr>
              <a:t>不平衡状态</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在</a:t>
            </a:r>
            <a:r>
              <a:rPr lang="en-US" altLang="zh-CN" dirty="0">
                <a:latin typeface="黑体" panose="02010609060101010101" pitchFamily="2" charset="-122"/>
                <a:ea typeface="黑体" panose="02010609060101010101" pitchFamily="2" charset="-122"/>
                <a:sym typeface="+mn-ea"/>
              </a:rPr>
              <a:t>B</a:t>
            </a:r>
            <a:r>
              <a:rPr lang="zh-CN" altLang="en-US" dirty="0">
                <a:latin typeface="黑体" panose="02010609060101010101" pitchFamily="2" charset="-122"/>
                <a:ea typeface="黑体" panose="02010609060101010101" pitchFamily="2" charset="-122"/>
                <a:sym typeface="+mn-ea"/>
              </a:rPr>
              <a:t>左子树</a:t>
            </a:r>
            <a:r>
              <a:rPr lang="en-US" altLang="zh-CN" dirty="0">
                <a:latin typeface="黑体" panose="02010609060101010101" pitchFamily="2" charset="-122"/>
                <a:ea typeface="黑体" panose="02010609060101010101" pitchFamily="2" charset="-122"/>
                <a:sym typeface="+mn-ea"/>
              </a:rPr>
              <a:t>B</a:t>
            </a:r>
            <a:r>
              <a:rPr lang="en-US" altLang="zh-CN" baseline="-25000" dirty="0">
                <a:latin typeface="黑体" panose="02010609060101010101" pitchFamily="2" charset="-122"/>
                <a:ea typeface="黑体" panose="02010609060101010101" pitchFamily="2" charset="-122"/>
                <a:sym typeface="+mn-ea"/>
              </a:rPr>
              <a:t>L</a:t>
            </a:r>
            <a:r>
              <a:rPr lang="zh-CN" altLang="en-US" dirty="0">
                <a:latin typeface="黑体" panose="02010609060101010101" pitchFamily="2" charset="-122"/>
                <a:ea typeface="黑体" panose="02010609060101010101" pitchFamily="2" charset="-122"/>
                <a:sym typeface="+mn-ea"/>
              </a:rPr>
              <a:t>上插入新结点使其高度增</a:t>
            </a:r>
            <a:r>
              <a:rPr lang="en-US" altLang="zh-CN" dirty="0">
                <a:latin typeface="黑体" panose="02010609060101010101" pitchFamily="2" charset="-122"/>
                <a:ea typeface="黑体" panose="02010609060101010101" pitchFamily="2" charset="-122"/>
                <a:sym typeface="+mn-ea"/>
              </a:rPr>
              <a:t>1</a:t>
            </a:r>
            <a:r>
              <a:rPr lang="zh-CN" altLang="en-US" dirty="0">
                <a:latin typeface="黑体" panose="02010609060101010101" pitchFamily="2" charset="-122"/>
                <a:ea typeface="黑体" panose="02010609060101010101" pitchFamily="2" charset="-122"/>
                <a:sym typeface="+mn-ea"/>
              </a:rPr>
              <a:t>，导致结点</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的平衡因子增到</a:t>
            </a:r>
            <a:r>
              <a:rPr lang="en-US" altLang="zh-CN" dirty="0">
                <a:latin typeface="黑体" panose="02010609060101010101" pitchFamily="2" charset="-122"/>
                <a:ea typeface="黑体" panose="02010609060101010101" pitchFamily="2" charset="-122"/>
                <a:sym typeface="+mn-ea"/>
              </a:rPr>
              <a:t>+2</a:t>
            </a:r>
            <a:r>
              <a:rPr lang="zh-CN" altLang="en-US" dirty="0">
                <a:latin typeface="黑体" panose="02010609060101010101" pitchFamily="2" charset="-122"/>
                <a:ea typeface="黑体" panose="02010609060101010101" pitchFamily="2" charset="-122"/>
                <a:sym typeface="+mn-ea"/>
              </a:rPr>
              <a:t>，造成不平衡进行平衡化</a:t>
            </a:r>
            <a:r>
              <a:rPr lang="en-US" altLang="zh-CN" dirty="0">
                <a:solidFill>
                  <a:schemeClr val="hlink"/>
                </a:solidFill>
                <a:latin typeface="黑体" panose="02010609060101010101" pitchFamily="2" charset="-122"/>
                <a:ea typeface="黑体" panose="02010609060101010101" pitchFamily="2" charset="-122"/>
                <a:sym typeface="+mn-ea"/>
              </a:rPr>
              <a:t>[A&gt;B&gt;C]</a:t>
            </a:r>
            <a:endParaRPr lang="zh-CN" altLang="en-US"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65</a:t>
            </a:fld>
            <a:endParaRPr lang="zh-CN" altLang="en-US"/>
          </a:p>
        </p:txBody>
      </p:sp>
      <p:sp>
        <p:nvSpPr>
          <p:cNvPr id="7" name="文本框 6"/>
          <p:cNvSpPr txBox="1"/>
          <p:nvPr/>
        </p:nvSpPr>
        <p:spPr>
          <a:xfrm>
            <a:off x="7972425" y="3772535"/>
            <a:ext cx="4064000" cy="914400"/>
          </a:xfrm>
          <a:prstGeom prst="rect">
            <a:avLst/>
          </a:prstGeom>
        </p:spPr>
        <p:txBody>
          <a:bodyPr vert="horz" wrap="square" lIns="91440" tIns="45720" rIns="91440" bIns="45720" rtlCol="0">
            <a:noAutofit/>
          </a:bodyPr>
          <a:lstStyle/>
          <a:p>
            <a:pPr marL="571500" lvl="0" indent="-571500">
              <a:lnSpc>
                <a:spcPct val="90000"/>
              </a:lnSpc>
              <a:spcBef>
                <a:spcPts val="1000"/>
              </a:spcBef>
              <a:buClr>
                <a:schemeClr val="accent2"/>
              </a:buClr>
              <a:buFont typeface="Wingdings" panose="05000000000000000000" pitchFamily="2" charset="2"/>
              <a:buChar char="n"/>
            </a:pPr>
            <a:endParaRPr lang="zh-CN" altLang="en-US"/>
          </a:p>
        </p:txBody>
      </p:sp>
      <p:grpSp>
        <p:nvGrpSpPr>
          <p:cNvPr id="72708" name="Group 4"/>
          <p:cNvGrpSpPr/>
          <p:nvPr/>
        </p:nvGrpSpPr>
        <p:grpSpPr>
          <a:xfrm>
            <a:off x="2135188" y="2997200"/>
            <a:ext cx="7597775" cy="2493963"/>
            <a:chOff x="388" y="2593"/>
            <a:chExt cx="4786" cy="1571"/>
          </a:xfrm>
        </p:grpSpPr>
        <p:sp>
          <p:nvSpPr>
            <p:cNvPr id="72709" name="Line 5"/>
            <p:cNvSpPr/>
            <p:nvPr/>
          </p:nvSpPr>
          <p:spPr>
            <a:xfrm>
              <a:off x="4610" y="2995"/>
              <a:ext cx="280" cy="250"/>
            </a:xfrm>
            <a:prstGeom prst="line">
              <a:avLst/>
            </a:prstGeom>
            <a:ln w="28575" cap="flat" cmpd="sng">
              <a:solidFill>
                <a:srgbClr val="008000"/>
              </a:solidFill>
              <a:prstDash val="solid"/>
              <a:round/>
              <a:headEnd type="none" w="med" len="med"/>
              <a:tailEnd type="none" w="med" len="med"/>
            </a:ln>
          </p:spPr>
        </p:sp>
        <p:sp>
          <p:nvSpPr>
            <p:cNvPr id="72710" name="Line 6"/>
            <p:cNvSpPr/>
            <p:nvPr/>
          </p:nvSpPr>
          <p:spPr>
            <a:xfrm flipH="1">
              <a:off x="3864" y="3287"/>
              <a:ext cx="233" cy="209"/>
            </a:xfrm>
            <a:prstGeom prst="line">
              <a:avLst/>
            </a:prstGeom>
            <a:ln w="28575" cap="flat" cmpd="sng">
              <a:solidFill>
                <a:schemeClr val="hlink"/>
              </a:solidFill>
              <a:prstDash val="solid"/>
              <a:round/>
              <a:headEnd type="none" w="med" len="med"/>
              <a:tailEnd type="none" w="med" len="med"/>
            </a:ln>
          </p:spPr>
        </p:sp>
        <p:sp>
          <p:nvSpPr>
            <p:cNvPr id="72711" name="Line 7"/>
            <p:cNvSpPr/>
            <p:nvPr/>
          </p:nvSpPr>
          <p:spPr>
            <a:xfrm>
              <a:off x="1062" y="3280"/>
              <a:ext cx="280" cy="251"/>
            </a:xfrm>
            <a:prstGeom prst="line">
              <a:avLst/>
            </a:prstGeom>
            <a:ln w="28575" cap="flat" cmpd="sng">
              <a:solidFill>
                <a:srgbClr val="008000"/>
              </a:solidFill>
              <a:prstDash val="solid"/>
              <a:round/>
              <a:headEnd type="none" w="med" len="med"/>
              <a:tailEnd type="none" w="med" len="med"/>
            </a:ln>
          </p:spPr>
        </p:sp>
        <p:sp>
          <p:nvSpPr>
            <p:cNvPr id="72712" name="Line 8"/>
            <p:cNvSpPr/>
            <p:nvPr/>
          </p:nvSpPr>
          <p:spPr>
            <a:xfrm>
              <a:off x="1342" y="2946"/>
              <a:ext cx="279" cy="251"/>
            </a:xfrm>
            <a:prstGeom prst="line">
              <a:avLst/>
            </a:prstGeom>
            <a:ln w="28575" cap="flat" cmpd="sng">
              <a:solidFill>
                <a:srgbClr val="008000"/>
              </a:solidFill>
              <a:prstDash val="solid"/>
              <a:round/>
              <a:headEnd type="none" w="med" len="med"/>
              <a:tailEnd type="none" w="med" len="med"/>
            </a:ln>
          </p:spPr>
        </p:sp>
        <p:sp>
          <p:nvSpPr>
            <p:cNvPr id="72713" name="Line 9"/>
            <p:cNvSpPr/>
            <p:nvPr/>
          </p:nvSpPr>
          <p:spPr>
            <a:xfrm flipH="1">
              <a:off x="1062" y="2946"/>
              <a:ext cx="233" cy="209"/>
            </a:xfrm>
            <a:prstGeom prst="line">
              <a:avLst/>
            </a:prstGeom>
            <a:ln w="28575" cap="flat" cmpd="sng">
              <a:solidFill>
                <a:srgbClr val="008000"/>
              </a:solidFill>
              <a:prstDash val="solid"/>
              <a:round/>
              <a:headEnd type="none" w="med" len="med"/>
              <a:tailEnd type="none" w="med" len="med"/>
            </a:ln>
          </p:spPr>
        </p:sp>
        <p:sp>
          <p:nvSpPr>
            <p:cNvPr id="72714" name="Rectangle 10"/>
            <p:cNvSpPr/>
            <p:nvPr/>
          </p:nvSpPr>
          <p:spPr>
            <a:xfrm>
              <a:off x="1528" y="3155"/>
              <a:ext cx="233" cy="459"/>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accent1">
                      <a:lumMod val="75000"/>
                    </a:schemeClr>
                  </a:solidFill>
                  <a:latin typeface="Times New Roman" panose="02020603050405020304" pitchFamily="18" charset="0"/>
                  <a:ea typeface="宋体" panose="02010600030101010101" pitchFamily="2" charset="-122"/>
                </a:rPr>
                <a:t>h</a:t>
              </a:r>
            </a:p>
          </p:txBody>
        </p:sp>
        <p:sp>
          <p:nvSpPr>
            <p:cNvPr id="72715" name="Oval 11"/>
            <p:cNvSpPr/>
            <p:nvPr/>
          </p:nvSpPr>
          <p:spPr>
            <a:xfrm>
              <a:off x="1202" y="2821"/>
              <a:ext cx="233"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accent1">
                    <a:lumMod val="75000"/>
                  </a:schemeClr>
                </a:solidFill>
                <a:latin typeface="Arial" panose="020B0604020202020204" pitchFamily="34" charset="0"/>
                <a:ea typeface="宋体" panose="02010600030101010101" pitchFamily="2" charset="-122"/>
              </a:endParaRPr>
            </a:p>
          </p:txBody>
        </p:sp>
        <p:sp>
          <p:nvSpPr>
            <p:cNvPr id="72716" name="Line 12"/>
            <p:cNvSpPr/>
            <p:nvPr/>
          </p:nvSpPr>
          <p:spPr>
            <a:xfrm flipH="1">
              <a:off x="723" y="3280"/>
              <a:ext cx="233" cy="209"/>
            </a:xfrm>
            <a:prstGeom prst="line">
              <a:avLst/>
            </a:prstGeom>
            <a:ln w="28575" cap="flat" cmpd="sng">
              <a:solidFill>
                <a:srgbClr val="008000"/>
              </a:solidFill>
              <a:prstDash val="solid"/>
              <a:round/>
              <a:headEnd type="none" w="med" len="med"/>
              <a:tailEnd type="none" w="med" len="med"/>
            </a:ln>
          </p:spPr>
        </p:sp>
        <p:sp>
          <p:nvSpPr>
            <p:cNvPr id="72717" name="Oval 13"/>
            <p:cNvSpPr/>
            <p:nvPr/>
          </p:nvSpPr>
          <p:spPr>
            <a:xfrm>
              <a:off x="875" y="3113"/>
              <a:ext cx="233"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accent1">
                    <a:lumMod val="75000"/>
                  </a:schemeClr>
                </a:solidFill>
                <a:latin typeface="Arial" panose="020B0604020202020204" pitchFamily="34" charset="0"/>
                <a:ea typeface="宋体" panose="02010600030101010101" pitchFamily="2" charset="-122"/>
              </a:endParaRPr>
            </a:p>
          </p:txBody>
        </p:sp>
        <p:sp>
          <p:nvSpPr>
            <p:cNvPr id="72718" name="Rectangle 14"/>
            <p:cNvSpPr/>
            <p:nvPr/>
          </p:nvSpPr>
          <p:spPr>
            <a:xfrm>
              <a:off x="549" y="3447"/>
              <a:ext cx="233" cy="46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accent1">
                      <a:lumMod val="75000"/>
                    </a:schemeClr>
                  </a:solidFill>
                  <a:latin typeface="Times New Roman" panose="02020603050405020304" pitchFamily="18" charset="0"/>
                  <a:ea typeface="宋体" panose="02010600030101010101" pitchFamily="2" charset="-122"/>
                </a:rPr>
                <a:t>h</a:t>
              </a:r>
            </a:p>
          </p:txBody>
        </p:sp>
        <p:sp>
          <p:nvSpPr>
            <p:cNvPr id="72719" name="Rectangle 15"/>
            <p:cNvSpPr/>
            <p:nvPr/>
          </p:nvSpPr>
          <p:spPr>
            <a:xfrm>
              <a:off x="1155" y="3447"/>
              <a:ext cx="233" cy="46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accent1">
                      <a:lumMod val="75000"/>
                    </a:schemeClr>
                  </a:solidFill>
                  <a:latin typeface="Times New Roman" panose="02020603050405020304" pitchFamily="18" charset="0"/>
                  <a:ea typeface="宋体" panose="02010600030101010101" pitchFamily="2" charset="-122"/>
                </a:rPr>
                <a:t>h</a:t>
              </a:r>
            </a:p>
          </p:txBody>
        </p:sp>
        <p:sp>
          <p:nvSpPr>
            <p:cNvPr id="72720" name="Text Box 16"/>
            <p:cNvSpPr txBox="1"/>
            <p:nvPr/>
          </p:nvSpPr>
          <p:spPr>
            <a:xfrm>
              <a:off x="922" y="2692"/>
              <a:ext cx="254" cy="290"/>
            </a:xfrm>
            <a:prstGeom prst="rect">
              <a:avLst/>
            </a:prstGeom>
            <a:noFill/>
            <a:ln w="9525">
              <a:noFill/>
            </a:ln>
          </p:spPr>
          <p:txBody>
            <a:bodyPr wrap="none" anchor="t" anchorCtr="0">
              <a:spAutoFit/>
            </a:bodyPr>
            <a:lstStyle/>
            <a:p>
              <a:r>
                <a:rPr lang="en-US" altLang="zh-CN" sz="2400" b="1" dirty="0">
                  <a:solidFill>
                    <a:schemeClr val="accent1">
                      <a:lumMod val="75000"/>
                    </a:schemeClr>
                  </a:solidFill>
                  <a:latin typeface="Times New Roman" panose="02020603050405020304" pitchFamily="18" charset="0"/>
                  <a:ea typeface="宋体" panose="02010600030101010101" pitchFamily="2" charset="-122"/>
                </a:rPr>
                <a:t>A</a:t>
              </a:r>
            </a:p>
          </p:txBody>
        </p:sp>
        <p:sp>
          <p:nvSpPr>
            <p:cNvPr id="72721" name="Text Box 17"/>
            <p:cNvSpPr txBox="1"/>
            <p:nvPr/>
          </p:nvSpPr>
          <p:spPr>
            <a:xfrm>
              <a:off x="1578" y="2910"/>
              <a:ext cx="344" cy="290"/>
            </a:xfrm>
            <a:prstGeom prst="rect">
              <a:avLst/>
            </a:prstGeom>
            <a:noFill/>
            <a:ln w="9525">
              <a:noFill/>
            </a:ln>
          </p:spPr>
          <p:txBody>
            <a:bodyPr wrap="none" anchor="t" anchorCtr="0">
              <a:spAutoFit/>
            </a:bodyPr>
            <a:lstStyle/>
            <a:p>
              <a:r>
                <a:rPr lang="en-US" altLang="zh-CN" sz="2400" b="1" dirty="0">
                  <a:solidFill>
                    <a:schemeClr val="accent1">
                      <a:lumMod val="75000"/>
                    </a:schemeClr>
                  </a:solidFill>
                  <a:latin typeface="Times New Roman" panose="02020603050405020304" pitchFamily="18" charset="0"/>
                  <a:ea typeface="宋体" panose="02010600030101010101" pitchFamily="2" charset="-122"/>
                </a:rPr>
                <a:t>A</a:t>
              </a:r>
              <a:r>
                <a:rPr lang="en-US" altLang="zh-CN" sz="2400" b="1" baseline="-25000" dirty="0">
                  <a:solidFill>
                    <a:schemeClr val="accent1">
                      <a:lumMod val="75000"/>
                    </a:schemeClr>
                  </a:solidFill>
                  <a:latin typeface="Times New Roman" panose="02020603050405020304" pitchFamily="18" charset="0"/>
                  <a:ea typeface="宋体" panose="02010600030101010101" pitchFamily="2" charset="-122"/>
                </a:rPr>
                <a:t>R</a:t>
              </a:r>
            </a:p>
          </p:txBody>
        </p:sp>
        <p:sp>
          <p:nvSpPr>
            <p:cNvPr id="72722" name="Text Box 18"/>
            <p:cNvSpPr txBox="1"/>
            <p:nvPr/>
          </p:nvSpPr>
          <p:spPr>
            <a:xfrm>
              <a:off x="1197" y="3225"/>
              <a:ext cx="333" cy="290"/>
            </a:xfrm>
            <a:prstGeom prst="rect">
              <a:avLst/>
            </a:prstGeom>
            <a:noFill/>
            <a:ln w="9525">
              <a:noFill/>
            </a:ln>
          </p:spPr>
          <p:txBody>
            <a:bodyPr wrap="none" anchor="t" anchorCtr="0">
              <a:spAutoFit/>
            </a:bodyPr>
            <a:lstStyle/>
            <a:p>
              <a:r>
                <a:rPr lang="en-US" altLang="zh-CN" sz="2400" b="1" dirty="0">
                  <a:solidFill>
                    <a:schemeClr val="accent1">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accent1">
                      <a:lumMod val="75000"/>
                    </a:schemeClr>
                  </a:solidFill>
                  <a:latin typeface="Times New Roman" panose="02020603050405020304" pitchFamily="18" charset="0"/>
                  <a:ea typeface="宋体" panose="02010600030101010101" pitchFamily="2" charset="-122"/>
                </a:rPr>
                <a:t>R</a:t>
              </a:r>
            </a:p>
          </p:txBody>
        </p:sp>
        <p:sp>
          <p:nvSpPr>
            <p:cNvPr id="72723" name="Text Box 19"/>
            <p:cNvSpPr txBox="1"/>
            <p:nvPr/>
          </p:nvSpPr>
          <p:spPr>
            <a:xfrm>
              <a:off x="642" y="2977"/>
              <a:ext cx="243" cy="290"/>
            </a:xfrm>
            <a:prstGeom prst="rect">
              <a:avLst/>
            </a:prstGeom>
            <a:noFill/>
            <a:ln w="9525">
              <a:noFill/>
            </a:ln>
          </p:spPr>
          <p:txBody>
            <a:bodyPr wrap="none" anchor="t" anchorCtr="0">
              <a:spAutoFit/>
            </a:bodyPr>
            <a:lstStyle/>
            <a:p>
              <a:r>
                <a:rPr lang="en-US" altLang="zh-CN" sz="2400" b="1" dirty="0">
                  <a:solidFill>
                    <a:schemeClr val="accent1">
                      <a:lumMod val="75000"/>
                    </a:schemeClr>
                  </a:solidFill>
                  <a:latin typeface="Times New Roman" panose="02020603050405020304" pitchFamily="18" charset="0"/>
                  <a:ea typeface="宋体" panose="02010600030101010101" pitchFamily="2" charset="-122"/>
                </a:rPr>
                <a:t>B</a:t>
              </a:r>
            </a:p>
          </p:txBody>
        </p:sp>
        <p:sp>
          <p:nvSpPr>
            <p:cNvPr id="72724" name="Text Box 20"/>
            <p:cNvSpPr txBox="1"/>
            <p:nvPr/>
          </p:nvSpPr>
          <p:spPr>
            <a:xfrm>
              <a:off x="388" y="3183"/>
              <a:ext cx="326" cy="290"/>
            </a:xfrm>
            <a:prstGeom prst="rect">
              <a:avLst/>
            </a:prstGeom>
            <a:noFill/>
            <a:ln w="9525">
              <a:noFill/>
            </a:ln>
          </p:spPr>
          <p:txBody>
            <a:bodyPr wrap="none" anchor="t" anchorCtr="0">
              <a:spAutoFit/>
            </a:bodyPr>
            <a:lstStyle/>
            <a:p>
              <a:r>
                <a:rPr lang="en-US" altLang="zh-CN" sz="2400" b="1" dirty="0">
                  <a:solidFill>
                    <a:schemeClr val="accent1">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accent1">
                      <a:lumMod val="75000"/>
                    </a:schemeClr>
                  </a:solidFill>
                  <a:latin typeface="Times New Roman" panose="02020603050405020304" pitchFamily="18" charset="0"/>
                  <a:ea typeface="宋体" panose="02010600030101010101" pitchFamily="2" charset="-122"/>
                </a:rPr>
                <a:t>L</a:t>
              </a:r>
            </a:p>
          </p:txBody>
        </p:sp>
        <p:sp>
          <p:nvSpPr>
            <p:cNvPr id="72725" name="Line 21"/>
            <p:cNvSpPr/>
            <p:nvPr/>
          </p:nvSpPr>
          <p:spPr>
            <a:xfrm flipH="1">
              <a:off x="4237" y="2972"/>
              <a:ext cx="233" cy="209"/>
            </a:xfrm>
            <a:prstGeom prst="line">
              <a:avLst/>
            </a:prstGeom>
            <a:ln w="28575" cap="flat" cmpd="sng">
              <a:solidFill>
                <a:schemeClr val="hlink"/>
              </a:solidFill>
              <a:prstDash val="solid"/>
              <a:round/>
              <a:headEnd type="none" w="med" len="med"/>
              <a:tailEnd type="none" w="med" len="med"/>
            </a:ln>
          </p:spPr>
        </p:sp>
        <p:sp>
          <p:nvSpPr>
            <p:cNvPr id="72726" name="Rectangle 22"/>
            <p:cNvSpPr/>
            <p:nvPr/>
          </p:nvSpPr>
          <p:spPr>
            <a:xfrm>
              <a:off x="4750" y="3162"/>
              <a:ext cx="233" cy="459"/>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accent1">
                      <a:lumMod val="75000"/>
                    </a:schemeClr>
                  </a:solidFill>
                  <a:latin typeface="Times New Roman" panose="02020603050405020304" pitchFamily="18" charset="0"/>
                  <a:ea typeface="宋体" panose="02010600030101010101" pitchFamily="2" charset="-122"/>
                </a:rPr>
                <a:t>h</a:t>
              </a:r>
            </a:p>
          </p:txBody>
        </p:sp>
        <p:sp>
          <p:nvSpPr>
            <p:cNvPr id="72727" name="Line 23"/>
            <p:cNvSpPr/>
            <p:nvPr/>
          </p:nvSpPr>
          <p:spPr>
            <a:xfrm>
              <a:off x="4283" y="3287"/>
              <a:ext cx="280" cy="251"/>
            </a:xfrm>
            <a:prstGeom prst="line">
              <a:avLst/>
            </a:prstGeom>
            <a:ln w="28575" cap="flat" cmpd="sng">
              <a:solidFill>
                <a:srgbClr val="008000"/>
              </a:solidFill>
              <a:prstDash val="solid"/>
              <a:round/>
              <a:headEnd type="none" w="med" len="med"/>
              <a:tailEnd type="none" w="med" len="med"/>
            </a:ln>
          </p:spPr>
        </p:sp>
        <p:sp>
          <p:nvSpPr>
            <p:cNvPr id="72728" name="Oval 24"/>
            <p:cNvSpPr/>
            <p:nvPr/>
          </p:nvSpPr>
          <p:spPr>
            <a:xfrm>
              <a:off x="4097" y="3120"/>
              <a:ext cx="233"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accent1">
                    <a:lumMod val="75000"/>
                  </a:schemeClr>
                </a:solidFill>
                <a:latin typeface="Arial" panose="020B0604020202020204" pitchFamily="34" charset="0"/>
                <a:ea typeface="宋体" panose="02010600030101010101" pitchFamily="2" charset="-122"/>
              </a:endParaRPr>
            </a:p>
          </p:txBody>
        </p:sp>
        <p:sp>
          <p:nvSpPr>
            <p:cNvPr id="72729" name="Oval 25"/>
            <p:cNvSpPr/>
            <p:nvPr/>
          </p:nvSpPr>
          <p:spPr>
            <a:xfrm>
              <a:off x="4423" y="2828"/>
              <a:ext cx="233" cy="208"/>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accent1">
                    <a:lumMod val="75000"/>
                  </a:schemeClr>
                </a:solidFill>
                <a:latin typeface="Arial" panose="020B0604020202020204" pitchFamily="34" charset="0"/>
                <a:ea typeface="宋体" panose="02010600030101010101" pitchFamily="2" charset="-122"/>
              </a:endParaRPr>
            </a:p>
          </p:txBody>
        </p:sp>
        <p:sp>
          <p:nvSpPr>
            <p:cNvPr id="72730" name="Rectangle 26"/>
            <p:cNvSpPr/>
            <p:nvPr/>
          </p:nvSpPr>
          <p:spPr>
            <a:xfrm>
              <a:off x="3770" y="3454"/>
              <a:ext cx="234" cy="710"/>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r>
                <a:rPr lang="en-US" altLang="zh-CN" sz="2400" b="1" i="1" dirty="0">
                  <a:solidFill>
                    <a:srgbClr val="FFFF00"/>
                  </a:solidFill>
                  <a:latin typeface="Times New Roman" panose="02020603050405020304" pitchFamily="18" charset="0"/>
                  <a:ea typeface="宋体" panose="02010600030101010101" pitchFamily="2" charset="-122"/>
                </a:rPr>
                <a:t>h</a:t>
              </a:r>
            </a:p>
            <a:p>
              <a:pPr algn="ctr">
                <a:lnSpc>
                  <a:spcPct val="60000"/>
                </a:lnSpc>
              </a:pPr>
              <a:r>
                <a:rPr lang="en-US" altLang="zh-CN" sz="2400" b="1" i="1" dirty="0">
                  <a:solidFill>
                    <a:srgbClr val="FFFF00"/>
                  </a:solidFill>
                  <a:latin typeface="Times New Roman" panose="02020603050405020304" pitchFamily="18" charset="0"/>
                  <a:ea typeface="宋体" panose="02010600030101010101" pitchFamily="2" charset="-122"/>
                </a:rPr>
                <a:t>+</a:t>
              </a:r>
            </a:p>
            <a:p>
              <a:pPr algn="ctr">
                <a:lnSpc>
                  <a:spcPct val="60000"/>
                </a:lnSpc>
              </a:pPr>
              <a:r>
                <a:rPr lang="en-US" altLang="zh-CN" sz="2400" b="1" dirty="0">
                  <a:solidFill>
                    <a:srgbClr val="FFFF00"/>
                  </a:solidFill>
                  <a:latin typeface="Times New Roman" panose="02020603050405020304" pitchFamily="18" charset="0"/>
                  <a:ea typeface="宋体" panose="02010600030101010101" pitchFamily="2" charset="-122"/>
                </a:rPr>
                <a:t>1</a:t>
              </a:r>
              <a:endParaRPr lang="en-US" altLang="zh-CN" sz="2400" b="1" i="1" dirty="0">
                <a:solidFill>
                  <a:srgbClr val="FFFF00"/>
                </a:solidFill>
                <a:latin typeface="Times New Roman" panose="02020603050405020304" pitchFamily="18" charset="0"/>
                <a:ea typeface="宋体" panose="02010600030101010101" pitchFamily="2" charset="-122"/>
              </a:endParaRPr>
            </a:p>
          </p:txBody>
        </p:sp>
        <p:sp>
          <p:nvSpPr>
            <p:cNvPr id="72731" name="Text Box 27"/>
            <p:cNvSpPr txBox="1"/>
            <p:nvPr/>
          </p:nvSpPr>
          <p:spPr>
            <a:xfrm>
              <a:off x="3864" y="2973"/>
              <a:ext cx="243" cy="290"/>
            </a:xfrm>
            <a:prstGeom prst="rect">
              <a:avLst/>
            </a:prstGeom>
            <a:noFill/>
            <a:ln w="9525">
              <a:noFill/>
            </a:ln>
          </p:spPr>
          <p:txBody>
            <a:bodyPr wrap="none" anchor="t" anchorCtr="0">
              <a:spAutoFit/>
            </a:bodyPr>
            <a:lstStyle/>
            <a:p>
              <a:r>
                <a:rPr lang="en-US" altLang="zh-CN" sz="2400" b="1" dirty="0">
                  <a:solidFill>
                    <a:schemeClr val="accent1">
                      <a:lumMod val="75000"/>
                    </a:schemeClr>
                  </a:solidFill>
                  <a:latin typeface="Times New Roman" panose="02020603050405020304" pitchFamily="18" charset="0"/>
                  <a:ea typeface="宋体" panose="02010600030101010101" pitchFamily="2" charset="-122"/>
                </a:rPr>
                <a:t>B</a:t>
              </a:r>
            </a:p>
          </p:txBody>
        </p:sp>
        <p:sp>
          <p:nvSpPr>
            <p:cNvPr id="72732" name="Text Box 28"/>
            <p:cNvSpPr txBox="1"/>
            <p:nvPr/>
          </p:nvSpPr>
          <p:spPr>
            <a:xfrm>
              <a:off x="4178" y="2681"/>
              <a:ext cx="254" cy="290"/>
            </a:xfrm>
            <a:prstGeom prst="rect">
              <a:avLst/>
            </a:prstGeom>
            <a:noFill/>
            <a:ln w="9525">
              <a:noFill/>
            </a:ln>
          </p:spPr>
          <p:txBody>
            <a:bodyPr wrap="none" anchor="t" anchorCtr="0">
              <a:spAutoFit/>
            </a:bodyPr>
            <a:lstStyle/>
            <a:p>
              <a:r>
                <a:rPr lang="en-US" altLang="zh-CN" sz="2400" b="1" dirty="0">
                  <a:solidFill>
                    <a:schemeClr val="accent1">
                      <a:lumMod val="75000"/>
                    </a:schemeClr>
                  </a:solidFill>
                  <a:latin typeface="Times New Roman" panose="02020603050405020304" pitchFamily="18" charset="0"/>
                  <a:ea typeface="宋体" panose="02010600030101010101" pitchFamily="2" charset="-122"/>
                </a:rPr>
                <a:t>A</a:t>
              </a:r>
            </a:p>
          </p:txBody>
        </p:sp>
        <p:sp>
          <p:nvSpPr>
            <p:cNvPr id="72733" name="Text Box 29"/>
            <p:cNvSpPr txBox="1"/>
            <p:nvPr/>
          </p:nvSpPr>
          <p:spPr>
            <a:xfrm>
              <a:off x="4830" y="2931"/>
              <a:ext cx="344" cy="290"/>
            </a:xfrm>
            <a:prstGeom prst="rect">
              <a:avLst/>
            </a:prstGeom>
            <a:noFill/>
            <a:ln w="9525">
              <a:noFill/>
            </a:ln>
          </p:spPr>
          <p:txBody>
            <a:bodyPr wrap="none" anchor="t" anchorCtr="0">
              <a:spAutoFit/>
            </a:bodyPr>
            <a:lstStyle/>
            <a:p>
              <a:r>
                <a:rPr lang="en-US" altLang="zh-CN" sz="2400" b="1" dirty="0">
                  <a:solidFill>
                    <a:schemeClr val="accent1">
                      <a:lumMod val="75000"/>
                    </a:schemeClr>
                  </a:solidFill>
                  <a:latin typeface="Times New Roman" panose="02020603050405020304" pitchFamily="18" charset="0"/>
                  <a:ea typeface="宋体" panose="02010600030101010101" pitchFamily="2" charset="-122"/>
                </a:rPr>
                <a:t>A</a:t>
              </a:r>
              <a:r>
                <a:rPr lang="en-US" altLang="zh-CN" sz="2400" b="1" baseline="-25000" dirty="0">
                  <a:solidFill>
                    <a:schemeClr val="accent1">
                      <a:lumMod val="75000"/>
                    </a:schemeClr>
                  </a:solidFill>
                  <a:latin typeface="Times New Roman" panose="02020603050405020304" pitchFamily="18" charset="0"/>
                  <a:ea typeface="宋体" panose="02010600030101010101" pitchFamily="2" charset="-122"/>
                </a:rPr>
                <a:t>R</a:t>
              </a:r>
            </a:p>
          </p:txBody>
        </p:sp>
        <p:sp>
          <p:nvSpPr>
            <p:cNvPr id="72734" name="Text Box 30"/>
            <p:cNvSpPr txBox="1"/>
            <p:nvPr/>
          </p:nvSpPr>
          <p:spPr>
            <a:xfrm>
              <a:off x="4423" y="3224"/>
              <a:ext cx="333" cy="290"/>
            </a:xfrm>
            <a:prstGeom prst="rect">
              <a:avLst/>
            </a:prstGeom>
            <a:noFill/>
            <a:ln w="9525">
              <a:noFill/>
            </a:ln>
          </p:spPr>
          <p:txBody>
            <a:bodyPr wrap="none" anchor="t" anchorCtr="0">
              <a:spAutoFit/>
            </a:bodyPr>
            <a:lstStyle/>
            <a:p>
              <a:r>
                <a:rPr lang="en-US" altLang="zh-CN" sz="2400" b="1" dirty="0">
                  <a:solidFill>
                    <a:schemeClr val="accent1">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accent1">
                      <a:lumMod val="75000"/>
                    </a:schemeClr>
                  </a:solidFill>
                  <a:latin typeface="Times New Roman" panose="02020603050405020304" pitchFamily="18" charset="0"/>
                  <a:ea typeface="宋体" panose="02010600030101010101" pitchFamily="2" charset="-122"/>
                </a:rPr>
                <a:t>R</a:t>
              </a:r>
            </a:p>
          </p:txBody>
        </p:sp>
        <p:sp>
          <p:nvSpPr>
            <p:cNvPr id="72735" name="Text Box 31"/>
            <p:cNvSpPr txBox="1"/>
            <p:nvPr/>
          </p:nvSpPr>
          <p:spPr>
            <a:xfrm>
              <a:off x="3574" y="3151"/>
              <a:ext cx="326" cy="290"/>
            </a:xfrm>
            <a:prstGeom prst="rect">
              <a:avLst/>
            </a:prstGeom>
            <a:noFill/>
            <a:ln w="9525">
              <a:noFill/>
            </a:ln>
          </p:spPr>
          <p:txBody>
            <a:bodyPr wrap="none" anchor="t" anchorCtr="0">
              <a:spAutoFit/>
            </a:bodyPr>
            <a:lstStyle/>
            <a:p>
              <a:r>
                <a:rPr lang="en-US" altLang="zh-CN" sz="2400" b="1" dirty="0">
                  <a:solidFill>
                    <a:schemeClr val="accent1">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accent1">
                      <a:lumMod val="75000"/>
                    </a:schemeClr>
                  </a:solidFill>
                  <a:latin typeface="Times New Roman" panose="02020603050405020304" pitchFamily="18" charset="0"/>
                  <a:ea typeface="宋体" panose="02010600030101010101" pitchFamily="2" charset="-122"/>
                </a:rPr>
                <a:t>L</a:t>
              </a:r>
            </a:p>
          </p:txBody>
        </p:sp>
        <p:sp>
          <p:nvSpPr>
            <p:cNvPr id="72736" name="Rectangle 32"/>
            <p:cNvSpPr/>
            <p:nvPr/>
          </p:nvSpPr>
          <p:spPr>
            <a:xfrm>
              <a:off x="4330" y="3454"/>
              <a:ext cx="233" cy="459"/>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accent1">
                      <a:lumMod val="75000"/>
                    </a:schemeClr>
                  </a:solidFill>
                  <a:latin typeface="Times New Roman" panose="02020603050405020304" pitchFamily="18" charset="0"/>
                  <a:ea typeface="宋体" panose="02010600030101010101" pitchFamily="2" charset="-122"/>
                </a:rPr>
                <a:t>h</a:t>
              </a:r>
            </a:p>
          </p:txBody>
        </p:sp>
        <p:sp>
          <p:nvSpPr>
            <p:cNvPr id="934945" name="Text Box 33"/>
            <p:cNvSpPr txBox="1">
              <a:spLocks noChangeArrowheads="1"/>
            </p:cNvSpPr>
            <p:nvPr/>
          </p:nvSpPr>
          <p:spPr bwMode="auto">
            <a:xfrm>
              <a:off x="912" y="2885"/>
              <a:ext cx="211" cy="290"/>
            </a:xfrm>
            <a:prstGeom prst="rect">
              <a:avLst/>
            </a:prstGeom>
            <a:noFill/>
            <a:ln w="9525">
              <a:noFill/>
              <a:miter lim="800000"/>
            </a:ln>
            <a:effectLst/>
          </p:spPr>
          <p:txBody>
            <a:bodyPr wrap="none">
              <a:spAutoFit/>
            </a:bodyPr>
            <a:lstStyle/>
            <a:p>
              <a:r>
                <a:rPr lang="en-US" altLang="zh-CN" sz="2400" b="1" noProof="1">
                  <a:solidFill>
                    <a:schemeClr val="accent1">
                      <a:lumMod val="75000"/>
                    </a:schemeClr>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p>
          </p:txBody>
        </p:sp>
        <p:sp>
          <p:nvSpPr>
            <p:cNvPr id="934946" name="Text Box 34"/>
            <p:cNvSpPr txBox="1">
              <a:spLocks noChangeArrowheads="1"/>
            </p:cNvSpPr>
            <p:nvPr/>
          </p:nvSpPr>
          <p:spPr bwMode="auto">
            <a:xfrm>
              <a:off x="1192" y="2593"/>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accent1">
                      <a:lumMod val="75000"/>
                    </a:schemeClr>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chemeClr val="accent1">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34947" name="Text Box 35"/>
            <p:cNvSpPr txBox="1">
              <a:spLocks noChangeArrowheads="1"/>
            </p:cNvSpPr>
            <p:nvPr/>
          </p:nvSpPr>
          <p:spPr bwMode="auto">
            <a:xfrm>
              <a:off x="4050" y="2869"/>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accent1">
                      <a:lumMod val="75000"/>
                    </a:schemeClr>
                  </a:solidFill>
                  <a:effectLst>
                    <a:outerShdw blurRad="38100" dist="38100" dir="2700000" algn="tl">
                      <a:srgbClr val="C0C0C0"/>
                    </a:outerShdw>
                  </a:effectLst>
                  <a:latin typeface="隶书" panose="02010509060101010101" pitchFamily="49" charset="-122"/>
                  <a:ea typeface="隶书" panose="02010509060101010101" pitchFamily="49" charset="-122"/>
                  <a:cs typeface="+mn-cs"/>
                </a:rPr>
                <a:t>+</a:t>
              </a:r>
              <a:r>
                <a:rPr kumimoji="0" lang="en-US" altLang="zh-CN" sz="2400" b="1" kern="1200" cap="none" spc="0" normalizeH="0" baseline="0" noProof="0">
                  <a:solidFill>
                    <a:schemeClr val="accent1">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34948" name="Text Box 36"/>
            <p:cNvSpPr txBox="1">
              <a:spLocks noChangeArrowheads="1"/>
            </p:cNvSpPr>
            <p:nvPr/>
          </p:nvSpPr>
          <p:spPr bwMode="auto">
            <a:xfrm>
              <a:off x="4460" y="2619"/>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accent1">
                      <a:lumMod val="75000"/>
                    </a:schemeClr>
                  </a:solidFill>
                  <a:effectLst>
                    <a:outerShdw blurRad="38100" dist="38100" dir="2700000" algn="tl">
                      <a:srgbClr val="C0C0C0"/>
                    </a:outerShdw>
                  </a:effectLst>
                  <a:latin typeface="隶书" panose="02010509060101010101" pitchFamily="49" charset="-122"/>
                  <a:ea typeface="隶书" panose="02010509060101010101" pitchFamily="49" charset="-122"/>
                  <a:cs typeface="+mn-cs"/>
                </a:rPr>
                <a:t>+</a:t>
              </a:r>
              <a:r>
                <a:rPr kumimoji="0" lang="en-US" altLang="zh-CN" sz="2400" b="1" kern="1200" cap="none" spc="0" normalizeH="0" baseline="0" noProof="0">
                  <a:solidFill>
                    <a:schemeClr val="accent1">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grpSp>
      <mc:AlternateContent xmlns:mc="http://schemas.openxmlformats.org/markup-compatibility/2006">
        <mc:Choice xmlns:p14="http://schemas.microsoft.com/office/powerpoint/2010/main" Requires="p14">
          <p:contentPart p14:bwMode="auto" r:id="rId2">
            <p14:nvContentPartPr>
              <p14:cNvPr id="5" name="墨迹 4">
                <a:extLst>
                  <a:ext uri="{FF2B5EF4-FFF2-40B4-BE49-F238E27FC236}">
                    <a16:creationId xmlns:a16="http://schemas.microsoft.com/office/drawing/2014/main" id="{8148E0BB-FD05-4FA9-87CB-EED4733BC8EC}"/>
                  </a:ext>
                </a:extLst>
              </p14:cNvPr>
              <p14:cNvContentPartPr/>
              <p14:nvPr/>
            </p14:nvContentPartPr>
            <p14:xfrm>
              <a:off x="7112160" y="3244680"/>
              <a:ext cx="1981440" cy="2305440"/>
            </p14:xfrm>
          </p:contentPart>
        </mc:Choice>
        <mc:Fallback>
          <p:pic>
            <p:nvPicPr>
              <p:cNvPr id="5" name="墨迹 4">
                <a:extLst>
                  <a:ext uri="{FF2B5EF4-FFF2-40B4-BE49-F238E27FC236}">
                    <a16:creationId xmlns:a16="http://schemas.microsoft.com/office/drawing/2014/main" id="{8148E0BB-FD05-4FA9-87CB-EED4733BC8EC}"/>
                  </a:ext>
                </a:extLst>
              </p:cNvPr>
              <p:cNvPicPr/>
              <p:nvPr/>
            </p:nvPicPr>
            <p:blipFill>
              <a:blip r:embed="rId3"/>
              <a:stretch>
                <a:fillRect/>
              </a:stretch>
            </p:blipFill>
            <p:spPr>
              <a:xfrm>
                <a:off x="7102800" y="3235320"/>
                <a:ext cx="2000160" cy="2324160"/>
              </a:xfrm>
              <a:prstGeom prst="rect">
                <a:avLst/>
              </a:prstGeom>
            </p:spPr>
          </p:pic>
        </mc:Fallback>
      </mc:AlternateContent>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单向右旋具体操作：</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为使树恢复平衡，从</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沿插入路径连续取</a:t>
            </a:r>
            <a:r>
              <a:rPr lang="en-US" altLang="zh-CN" dirty="0">
                <a:latin typeface="黑体" panose="02010609060101010101" pitchFamily="2" charset="-122"/>
                <a:ea typeface="黑体" panose="02010609060101010101" pitchFamily="2" charset="-122"/>
                <a:sym typeface="+mn-ea"/>
              </a:rPr>
              <a:t>3</a:t>
            </a:r>
            <a:r>
              <a:rPr lang="zh-CN" altLang="en-US" dirty="0">
                <a:latin typeface="黑体" panose="02010609060101010101" pitchFamily="2" charset="-122"/>
                <a:ea typeface="黑体" panose="02010609060101010101" pitchFamily="2" charset="-122"/>
                <a:sym typeface="+mn-ea"/>
              </a:rPr>
              <a:t>个结点</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a:t>
            </a:r>
            <a:r>
              <a:rPr lang="en-US" altLang="zh-CN" dirty="0">
                <a:latin typeface="黑体" panose="02010609060101010101" pitchFamily="2" charset="-122"/>
                <a:ea typeface="黑体" panose="02010609060101010101" pitchFamily="2" charset="-122"/>
                <a:sym typeface="+mn-ea"/>
              </a:rPr>
              <a:t>B</a:t>
            </a:r>
            <a:r>
              <a:rPr lang="zh-CN" altLang="en-US" dirty="0">
                <a:latin typeface="黑体" panose="02010609060101010101" pitchFamily="2" charset="-122"/>
                <a:ea typeface="黑体" panose="02010609060101010101" pitchFamily="2" charset="-122"/>
                <a:sym typeface="+mn-ea"/>
              </a:rPr>
              <a:t>和</a:t>
            </a:r>
            <a:r>
              <a:rPr lang="en-US" altLang="zh-CN" dirty="0">
                <a:latin typeface="黑体" panose="02010609060101010101" pitchFamily="2" charset="-122"/>
                <a:ea typeface="黑体" panose="02010609060101010101" pitchFamily="2" charset="-122"/>
                <a:sym typeface="+mn-ea"/>
              </a:rPr>
              <a:t>B</a:t>
            </a:r>
            <a:r>
              <a:rPr lang="en-US" altLang="zh-CN" baseline="-25000" dirty="0">
                <a:latin typeface="黑体" panose="02010609060101010101" pitchFamily="2" charset="-122"/>
                <a:ea typeface="黑体" panose="02010609060101010101" pitchFamily="2" charset="-122"/>
                <a:sym typeface="+mn-ea"/>
              </a:rPr>
              <a:t>L</a:t>
            </a:r>
            <a:r>
              <a:rPr lang="en-US" altLang="zh-CN" dirty="0">
                <a:solidFill>
                  <a:schemeClr val="hlink"/>
                </a:solidFill>
                <a:latin typeface="黑体" panose="02010609060101010101" pitchFamily="2" charset="-122"/>
                <a:ea typeface="黑体" panose="02010609060101010101" pitchFamily="2" charset="-122"/>
                <a:sym typeface="+mn-ea"/>
              </a:rPr>
              <a:t>(</a:t>
            </a:r>
            <a:r>
              <a:rPr lang="en-US" altLang="zh-CN" dirty="0">
                <a:solidFill>
                  <a:schemeClr val="hlink"/>
                </a:solidFill>
                <a:ea typeface="黑体" panose="02010609060101010101" pitchFamily="2" charset="-122"/>
                <a:sym typeface="+mn-ea"/>
              </a:rPr>
              <a:t>“</a:t>
            </a:r>
            <a:r>
              <a:rPr lang="en-US" altLang="zh-CN" dirty="0">
                <a:solidFill>
                  <a:schemeClr val="hlink"/>
                </a:solidFill>
                <a:latin typeface="黑体" panose="02010609060101010101" pitchFamily="2" charset="-122"/>
                <a:ea typeface="黑体" panose="02010609060101010101" pitchFamily="2" charset="-122"/>
                <a:sym typeface="+mn-ea"/>
              </a:rPr>
              <a:t>/</a:t>
            </a:r>
            <a:r>
              <a:rPr lang="en-US" altLang="zh-CN" dirty="0">
                <a:solidFill>
                  <a:schemeClr val="hlink"/>
                </a:solidFill>
                <a:ea typeface="黑体" panose="02010609060101010101" pitchFamily="2" charset="-122"/>
                <a:sym typeface="+mn-ea"/>
              </a:rPr>
              <a:t>”</a:t>
            </a:r>
            <a:r>
              <a:rPr lang="zh-CN" altLang="en-US" dirty="0">
                <a:solidFill>
                  <a:schemeClr val="hlink"/>
                </a:solidFill>
                <a:latin typeface="黑体" panose="02010609060101010101" pitchFamily="2" charset="-122"/>
                <a:ea typeface="黑体" panose="02010609060101010101" pitchFamily="2" charset="-122"/>
                <a:sym typeface="+mn-ea"/>
              </a:rPr>
              <a:t>型</a:t>
            </a:r>
            <a:r>
              <a:rPr lang="en-US" altLang="zh-CN" dirty="0">
                <a:solidFill>
                  <a:schemeClr val="hlink"/>
                </a:solidFill>
                <a:latin typeface="黑体" panose="02010609060101010101" pitchFamily="2" charset="-122"/>
                <a:ea typeface="黑体" panose="02010609060101010101" pitchFamily="2" charset="-122"/>
                <a:sym typeface="+mn-ea"/>
              </a:rPr>
              <a:t>)</a:t>
            </a: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以结点</a:t>
            </a:r>
            <a:r>
              <a:rPr lang="en-US" altLang="zh-CN" dirty="0">
                <a:latin typeface="黑体" panose="02010609060101010101" pitchFamily="2" charset="-122"/>
                <a:ea typeface="黑体" panose="02010609060101010101" pitchFamily="2" charset="-122"/>
                <a:sym typeface="+mn-ea"/>
              </a:rPr>
              <a:t>B</a:t>
            </a:r>
            <a:r>
              <a:rPr lang="zh-CN" altLang="en-US" dirty="0">
                <a:latin typeface="黑体" panose="02010609060101010101" pitchFamily="2" charset="-122"/>
                <a:ea typeface="黑体" panose="02010609060101010101" pitchFamily="2" charset="-122"/>
                <a:sym typeface="+mn-ea"/>
              </a:rPr>
              <a:t>为旋转轴，将结点</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顺时针</a:t>
            </a:r>
            <a:r>
              <a:rPr lang="en-US" altLang="zh-CN" dirty="0">
                <a:latin typeface="黑体" panose="02010609060101010101" pitchFamily="2" charset="-122"/>
                <a:ea typeface="黑体" panose="02010609060101010101" pitchFamily="2" charset="-122"/>
                <a:sym typeface="+mn-ea"/>
              </a:rPr>
              <a:t>(</a:t>
            </a:r>
            <a:r>
              <a:rPr lang="zh-CN" altLang="en-US" dirty="0">
                <a:latin typeface="黑体" panose="02010609060101010101" pitchFamily="2" charset="-122"/>
                <a:ea typeface="黑体" panose="02010609060101010101" pitchFamily="2" charset="-122"/>
                <a:sym typeface="+mn-ea"/>
              </a:rPr>
              <a:t>右</a:t>
            </a:r>
            <a:r>
              <a:rPr lang="en-US" altLang="zh-CN" dirty="0">
                <a:latin typeface="黑体" panose="02010609060101010101" pitchFamily="2" charset="-122"/>
                <a:ea typeface="黑体" panose="02010609060101010101" pitchFamily="2" charset="-122"/>
                <a:sym typeface="+mn-ea"/>
              </a:rPr>
              <a:t>)</a:t>
            </a:r>
            <a:r>
              <a:rPr lang="zh-CN" altLang="en-US" dirty="0">
                <a:latin typeface="黑体" panose="02010609060101010101" pitchFamily="2" charset="-122"/>
                <a:ea typeface="黑体" panose="02010609060101010101" pitchFamily="2" charset="-122"/>
                <a:sym typeface="+mn-ea"/>
              </a:rPr>
              <a:t>旋转。</a:t>
            </a: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66</a:t>
            </a:fld>
            <a:endParaRPr lang="zh-CN" altLang="en-US"/>
          </a:p>
        </p:txBody>
      </p:sp>
      <p:sp>
        <p:nvSpPr>
          <p:cNvPr id="7" name="文本框 6"/>
          <p:cNvSpPr txBox="1"/>
          <p:nvPr/>
        </p:nvSpPr>
        <p:spPr>
          <a:xfrm>
            <a:off x="7972425" y="3772535"/>
            <a:ext cx="4064000" cy="914400"/>
          </a:xfrm>
          <a:prstGeom prst="rect">
            <a:avLst/>
          </a:prstGeom>
        </p:spPr>
        <p:txBody>
          <a:bodyPr vert="horz" wrap="square" lIns="91440" tIns="45720" rIns="91440" bIns="45720" rtlCol="0">
            <a:noAutofit/>
          </a:bodyPr>
          <a:lstStyle/>
          <a:p>
            <a:pPr marL="571500" lvl="0" indent="-571500">
              <a:lnSpc>
                <a:spcPct val="90000"/>
              </a:lnSpc>
              <a:spcBef>
                <a:spcPts val="1000"/>
              </a:spcBef>
              <a:buClr>
                <a:schemeClr val="accent2"/>
              </a:buClr>
              <a:buFont typeface="Wingdings" panose="05000000000000000000" pitchFamily="2" charset="2"/>
              <a:buChar char="n"/>
            </a:pPr>
            <a:endParaRPr lang="zh-CN" altLang="en-US"/>
          </a:p>
        </p:txBody>
      </p:sp>
      <p:grpSp>
        <p:nvGrpSpPr>
          <p:cNvPr id="73732" name="Group 4"/>
          <p:cNvGrpSpPr/>
          <p:nvPr/>
        </p:nvGrpSpPr>
        <p:grpSpPr>
          <a:xfrm>
            <a:off x="1630998" y="2420303"/>
            <a:ext cx="8235950" cy="2547937"/>
            <a:chOff x="388" y="2593"/>
            <a:chExt cx="5188" cy="1605"/>
          </a:xfrm>
        </p:grpSpPr>
        <p:sp>
          <p:nvSpPr>
            <p:cNvPr id="73733" name="Line 5"/>
            <p:cNvSpPr/>
            <p:nvPr/>
          </p:nvSpPr>
          <p:spPr>
            <a:xfrm>
              <a:off x="3196" y="3029"/>
              <a:ext cx="280" cy="250"/>
            </a:xfrm>
            <a:prstGeom prst="line">
              <a:avLst/>
            </a:prstGeom>
            <a:ln w="28575" cap="flat" cmpd="sng">
              <a:solidFill>
                <a:srgbClr val="008000"/>
              </a:solidFill>
              <a:prstDash val="solid"/>
              <a:round/>
              <a:headEnd type="none" w="med" len="med"/>
              <a:tailEnd type="none" w="med" len="med"/>
            </a:ln>
          </p:spPr>
        </p:sp>
        <p:sp>
          <p:nvSpPr>
            <p:cNvPr id="73734" name="Line 6"/>
            <p:cNvSpPr/>
            <p:nvPr/>
          </p:nvSpPr>
          <p:spPr>
            <a:xfrm flipH="1">
              <a:off x="2450" y="3321"/>
              <a:ext cx="233" cy="209"/>
            </a:xfrm>
            <a:prstGeom prst="line">
              <a:avLst/>
            </a:prstGeom>
            <a:ln w="28575" cap="flat" cmpd="sng">
              <a:solidFill>
                <a:schemeClr val="hlink"/>
              </a:solidFill>
              <a:prstDash val="solid"/>
              <a:round/>
              <a:headEnd type="none" w="med" len="med"/>
              <a:tailEnd type="none" w="med" len="med"/>
            </a:ln>
          </p:spPr>
        </p:sp>
        <p:sp>
          <p:nvSpPr>
            <p:cNvPr id="73735" name="Line 7"/>
            <p:cNvSpPr/>
            <p:nvPr/>
          </p:nvSpPr>
          <p:spPr>
            <a:xfrm>
              <a:off x="1062" y="3280"/>
              <a:ext cx="280" cy="251"/>
            </a:xfrm>
            <a:prstGeom prst="line">
              <a:avLst/>
            </a:prstGeom>
            <a:ln w="28575" cap="flat" cmpd="sng">
              <a:solidFill>
                <a:srgbClr val="008000"/>
              </a:solidFill>
              <a:prstDash val="solid"/>
              <a:round/>
              <a:headEnd type="none" w="med" len="med"/>
              <a:tailEnd type="none" w="med" len="med"/>
            </a:ln>
          </p:spPr>
        </p:sp>
        <p:sp>
          <p:nvSpPr>
            <p:cNvPr id="73736" name="Line 8"/>
            <p:cNvSpPr/>
            <p:nvPr/>
          </p:nvSpPr>
          <p:spPr>
            <a:xfrm>
              <a:off x="1342" y="2946"/>
              <a:ext cx="279" cy="251"/>
            </a:xfrm>
            <a:prstGeom prst="line">
              <a:avLst/>
            </a:prstGeom>
            <a:ln w="28575" cap="flat" cmpd="sng">
              <a:solidFill>
                <a:srgbClr val="008000"/>
              </a:solidFill>
              <a:prstDash val="solid"/>
              <a:round/>
              <a:headEnd type="none" w="med" len="med"/>
              <a:tailEnd type="none" w="med" len="med"/>
            </a:ln>
          </p:spPr>
        </p:sp>
        <p:sp>
          <p:nvSpPr>
            <p:cNvPr id="73737" name="Line 9"/>
            <p:cNvSpPr/>
            <p:nvPr/>
          </p:nvSpPr>
          <p:spPr>
            <a:xfrm flipH="1">
              <a:off x="1062" y="2946"/>
              <a:ext cx="233" cy="209"/>
            </a:xfrm>
            <a:prstGeom prst="line">
              <a:avLst/>
            </a:prstGeom>
            <a:ln w="28575" cap="flat" cmpd="sng">
              <a:solidFill>
                <a:srgbClr val="008000"/>
              </a:solidFill>
              <a:prstDash val="solid"/>
              <a:round/>
              <a:headEnd type="none" w="med" len="med"/>
              <a:tailEnd type="none" w="med" len="med"/>
            </a:ln>
          </p:spPr>
        </p:sp>
        <p:sp>
          <p:nvSpPr>
            <p:cNvPr id="73738" name="Rectangle 10"/>
            <p:cNvSpPr/>
            <p:nvPr/>
          </p:nvSpPr>
          <p:spPr>
            <a:xfrm>
              <a:off x="1528" y="3155"/>
              <a:ext cx="233" cy="459"/>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3739" name="Oval 11"/>
            <p:cNvSpPr/>
            <p:nvPr/>
          </p:nvSpPr>
          <p:spPr>
            <a:xfrm>
              <a:off x="1202" y="2821"/>
              <a:ext cx="233"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3740" name="Line 12"/>
            <p:cNvSpPr/>
            <p:nvPr/>
          </p:nvSpPr>
          <p:spPr>
            <a:xfrm flipH="1">
              <a:off x="723" y="3280"/>
              <a:ext cx="233" cy="209"/>
            </a:xfrm>
            <a:prstGeom prst="line">
              <a:avLst/>
            </a:prstGeom>
            <a:ln w="28575" cap="flat" cmpd="sng">
              <a:solidFill>
                <a:srgbClr val="008000"/>
              </a:solidFill>
              <a:prstDash val="solid"/>
              <a:round/>
              <a:headEnd type="none" w="med" len="med"/>
              <a:tailEnd type="none" w="med" len="med"/>
            </a:ln>
          </p:spPr>
        </p:sp>
        <p:sp>
          <p:nvSpPr>
            <p:cNvPr id="73741" name="Oval 13"/>
            <p:cNvSpPr/>
            <p:nvPr/>
          </p:nvSpPr>
          <p:spPr>
            <a:xfrm>
              <a:off x="875" y="3113"/>
              <a:ext cx="233"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3742" name="Rectangle 14"/>
            <p:cNvSpPr/>
            <p:nvPr/>
          </p:nvSpPr>
          <p:spPr>
            <a:xfrm>
              <a:off x="549" y="3447"/>
              <a:ext cx="233" cy="46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3743" name="Rectangle 15"/>
            <p:cNvSpPr/>
            <p:nvPr/>
          </p:nvSpPr>
          <p:spPr>
            <a:xfrm>
              <a:off x="1155" y="3447"/>
              <a:ext cx="233" cy="46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3744" name="Text Box 16"/>
            <p:cNvSpPr txBox="1"/>
            <p:nvPr/>
          </p:nvSpPr>
          <p:spPr>
            <a:xfrm>
              <a:off x="922" y="2692"/>
              <a:ext cx="254"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p>
          </p:txBody>
        </p:sp>
        <p:sp>
          <p:nvSpPr>
            <p:cNvPr id="73745" name="Text Box 17"/>
            <p:cNvSpPr txBox="1"/>
            <p:nvPr/>
          </p:nvSpPr>
          <p:spPr>
            <a:xfrm>
              <a:off x="1797" y="2925"/>
              <a:ext cx="344"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R</a:t>
              </a:r>
            </a:p>
          </p:txBody>
        </p:sp>
        <p:sp>
          <p:nvSpPr>
            <p:cNvPr id="73746" name="Text Box 18"/>
            <p:cNvSpPr txBox="1"/>
            <p:nvPr/>
          </p:nvSpPr>
          <p:spPr>
            <a:xfrm>
              <a:off x="1248" y="3216"/>
              <a:ext cx="33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R</a:t>
              </a:r>
            </a:p>
          </p:txBody>
        </p:sp>
        <p:sp>
          <p:nvSpPr>
            <p:cNvPr id="73747" name="Text Box 19"/>
            <p:cNvSpPr txBox="1"/>
            <p:nvPr/>
          </p:nvSpPr>
          <p:spPr>
            <a:xfrm>
              <a:off x="642" y="2977"/>
              <a:ext cx="24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p>
          </p:txBody>
        </p:sp>
        <p:sp>
          <p:nvSpPr>
            <p:cNvPr id="73748" name="Text Box 20"/>
            <p:cNvSpPr txBox="1"/>
            <p:nvPr/>
          </p:nvSpPr>
          <p:spPr>
            <a:xfrm>
              <a:off x="388" y="3183"/>
              <a:ext cx="326"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73749" name="Line 21"/>
            <p:cNvSpPr/>
            <p:nvPr/>
          </p:nvSpPr>
          <p:spPr>
            <a:xfrm flipH="1">
              <a:off x="2823" y="3006"/>
              <a:ext cx="233" cy="209"/>
            </a:xfrm>
            <a:prstGeom prst="line">
              <a:avLst/>
            </a:prstGeom>
            <a:ln w="28575" cap="flat" cmpd="sng">
              <a:solidFill>
                <a:schemeClr val="hlink"/>
              </a:solidFill>
              <a:prstDash val="solid"/>
              <a:round/>
              <a:headEnd type="none" w="med" len="med"/>
              <a:tailEnd type="none" w="med" len="med"/>
            </a:ln>
          </p:spPr>
        </p:sp>
        <p:sp>
          <p:nvSpPr>
            <p:cNvPr id="73750" name="Rectangle 22"/>
            <p:cNvSpPr/>
            <p:nvPr/>
          </p:nvSpPr>
          <p:spPr>
            <a:xfrm>
              <a:off x="3336" y="3196"/>
              <a:ext cx="233" cy="459"/>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3751" name="Line 23"/>
            <p:cNvSpPr/>
            <p:nvPr/>
          </p:nvSpPr>
          <p:spPr>
            <a:xfrm>
              <a:off x="2869" y="3321"/>
              <a:ext cx="280" cy="251"/>
            </a:xfrm>
            <a:prstGeom prst="line">
              <a:avLst/>
            </a:prstGeom>
            <a:ln w="28575" cap="flat" cmpd="sng">
              <a:solidFill>
                <a:srgbClr val="008000"/>
              </a:solidFill>
              <a:prstDash val="solid"/>
              <a:round/>
              <a:headEnd type="none" w="med" len="med"/>
              <a:tailEnd type="none" w="med" len="med"/>
            </a:ln>
          </p:spPr>
        </p:sp>
        <p:sp>
          <p:nvSpPr>
            <p:cNvPr id="73752" name="Oval 24"/>
            <p:cNvSpPr/>
            <p:nvPr/>
          </p:nvSpPr>
          <p:spPr>
            <a:xfrm>
              <a:off x="2683" y="3154"/>
              <a:ext cx="233"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3753" name="Oval 25"/>
            <p:cNvSpPr/>
            <p:nvPr/>
          </p:nvSpPr>
          <p:spPr>
            <a:xfrm>
              <a:off x="3009" y="2862"/>
              <a:ext cx="233" cy="208"/>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3754" name="Rectangle 26"/>
            <p:cNvSpPr/>
            <p:nvPr/>
          </p:nvSpPr>
          <p:spPr>
            <a:xfrm>
              <a:off x="2356" y="3488"/>
              <a:ext cx="234" cy="710"/>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r>
                <a:rPr lang="en-US" altLang="zh-CN" sz="2400" b="1" i="1" dirty="0">
                  <a:solidFill>
                    <a:srgbClr val="FFFF00"/>
                  </a:solidFill>
                  <a:latin typeface="Times New Roman" panose="02020603050405020304" pitchFamily="18" charset="0"/>
                  <a:ea typeface="宋体" panose="02010600030101010101" pitchFamily="2" charset="-122"/>
                </a:rPr>
                <a:t>h</a:t>
              </a:r>
            </a:p>
            <a:p>
              <a:pPr algn="ctr">
                <a:lnSpc>
                  <a:spcPct val="60000"/>
                </a:lnSpc>
              </a:pPr>
              <a:r>
                <a:rPr lang="en-US" altLang="zh-CN" sz="2400" b="1" i="1" dirty="0">
                  <a:solidFill>
                    <a:srgbClr val="FFFF00"/>
                  </a:solidFill>
                  <a:latin typeface="Times New Roman" panose="02020603050405020304" pitchFamily="18" charset="0"/>
                  <a:ea typeface="宋体" panose="02010600030101010101" pitchFamily="2" charset="-122"/>
                </a:rPr>
                <a:t>+</a:t>
              </a:r>
            </a:p>
            <a:p>
              <a:pPr algn="ctr">
                <a:lnSpc>
                  <a:spcPct val="60000"/>
                </a:lnSpc>
              </a:pPr>
              <a:r>
                <a:rPr lang="en-US" altLang="zh-CN" sz="2400" b="1" dirty="0">
                  <a:solidFill>
                    <a:srgbClr val="FFFF00"/>
                  </a:solidFill>
                  <a:latin typeface="Times New Roman" panose="02020603050405020304" pitchFamily="18" charset="0"/>
                  <a:ea typeface="宋体" panose="02010600030101010101" pitchFamily="2" charset="-122"/>
                </a:rPr>
                <a:t>1</a:t>
              </a:r>
              <a:endParaRPr lang="en-US" altLang="zh-CN" sz="2400" b="1" i="1" dirty="0">
                <a:solidFill>
                  <a:srgbClr val="FFFF00"/>
                </a:solidFill>
                <a:latin typeface="Times New Roman" panose="02020603050405020304" pitchFamily="18" charset="0"/>
                <a:ea typeface="宋体" panose="02010600030101010101" pitchFamily="2" charset="-122"/>
              </a:endParaRPr>
            </a:p>
          </p:txBody>
        </p:sp>
        <p:sp>
          <p:nvSpPr>
            <p:cNvPr id="73755" name="Text Box 27"/>
            <p:cNvSpPr txBox="1"/>
            <p:nvPr/>
          </p:nvSpPr>
          <p:spPr>
            <a:xfrm>
              <a:off x="2450" y="3007"/>
              <a:ext cx="24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p>
          </p:txBody>
        </p:sp>
        <p:sp>
          <p:nvSpPr>
            <p:cNvPr id="73756" name="Text Box 28"/>
            <p:cNvSpPr txBox="1"/>
            <p:nvPr/>
          </p:nvSpPr>
          <p:spPr>
            <a:xfrm>
              <a:off x="2764" y="2715"/>
              <a:ext cx="254"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p>
          </p:txBody>
        </p:sp>
        <p:sp>
          <p:nvSpPr>
            <p:cNvPr id="73757" name="Text Box 29"/>
            <p:cNvSpPr txBox="1"/>
            <p:nvPr/>
          </p:nvSpPr>
          <p:spPr>
            <a:xfrm>
              <a:off x="3416" y="2965"/>
              <a:ext cx="344"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R</a:t>
              </a:r>
            </a:p>
          </p:txBody>
        </p:sp>
        <p:sp>
          <p:nvSpPr>
            <p:cNvPr id="73758" name="Text Box 30"/>
            <p:cNvSpPr txBox="1"/>
            <p:nvPr/>
          </p:nvSpPr>
          <p:spPr>
            <a:xfrm>
              <a:off x="3009" y="3258"/>
              <a:ext cx="33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R</a:t>
              </a:r>
            </a:p>
          </p:txBody>
        </p:sp>
        <p:sp>
          <p:nvSpPr>
            <p:cNvPr id="73759" name="Text Box 31"/>
            <p:cNvSpPr txBox="1"/>
            <p:nvPr/>
          </p:nvSpPr>
          <p:spPr>
            <a:xfrm>
              <a:off x="2160" y="3230"/>
              <a:ext cx="326"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73760" name="Line 32"/>
            <p:cNvSpPr/>
            <p:nvPr/>
          </p:nvSpPr>
          <p:spPr>
            <a:xfrm>
              <a:off x="4646" y="2964"/>
              <a:ext cx="279" cy="251"/>
            </a:xfrm>
            <a:prstGeom prst="line">
              <a:avLst/>
            </a:prstGeom>
            <a:ln w="28575" cap="flat" cmpd="sng">
              <a:solidFill>
                <a:srgbClr val="008000"/>
              </a:solidFill>
              <a:prstDash val="solid"/>
              <a:round/>
              <a:headEnd type="none" w="med" len="med"/>
              <a:tailEnd type="none" w="med" len="med"/>
            </a:ln>
          </p:spPr>
        </p:sp>
        <p:sp>
          <p:nvSpPr>
            <p:cNvPr id="73761" name="Line 33"/>
            <p:cNvSpPr/>
            <p:nvPr/>
          </p:nvSpPr>
          <p:spPr>
            <a:xfrm flipH="1">
              <a:off x="4319" y="2964"/>
              <a:ext cx="280" cy="251"/>
            </a:xfrm>
            <a:prstGeom prst="line">
              <a:avLst/>
            </a:prstGeom>
            <a:ln w="28575" cap="flat" cmpd="sng">
              <a:solidFill>
                <a:srgbClr val="008000"/>
              </a:solidFill>
              <a:prstDash val="solid"/>
              <a:round/>
              <a:headEnd type="none" w="med" len="med"/>
              <a:tailEnd type="none" w="med" len="med"/>
            </a:ln>
          </p:spPr>
        </p:sp>
        <p:sp>
          <p:nvSpPr>
            <p:cNvPr id="73762" name="Oval 34"/>
            <p:cNvSpPr/>
            <p:nvPr/>
          </p:nvSpPr>
          <p:spPr>
            <a:xfrm>
              <a:off x="4832" y="3131"/>
              <a:ext cx="233"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3763" name="Oval 35"/>
            <p:cNvSpPr/>
            <p:nvPr/>
          </p:nvSpPr>
          <p:spPr>
            <a:xfrm>
              <a:off x="4506" y="2839"/>
              <a:ext cx="233"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3764" name="Line 36"/>
            <p:cNvSpPr/>
            <p:nvPr/>
          </p:nvSpPr>
          <p:spPr>
            <a:xfrm flipH="1">
              <a:off x="4646" y="3298"/>
              <a:ext cx="233" cy="209"/>
            </a:xfrm>
            <a:prstGeom prst="line">
              <a:avLst/>
            </a:prstGeom>
            <a:ln w="28575" cap="flat" cmpd="sng">
              <a:solidFill>
                <a:srgbClr val="008000"/>
              </a:solidFill>
              <a:prstDash val="solid"/>
              <a:round/>
              <a:headEnd type="none" w="med" len="med"/>
              <a:tailEnd type="none" w="med" len="med"/>
            </a:ln>
          </p:spPr>
        </p:sp>
        <p:sp>
          <p:nvSpPr>
            <p:cNvPr id="73765" name="Rectangle 37"/>
            <p:cNvSpPr/>
            <p:nvPr/>
          </p:nvSpPr>
          <p:spPr>
            <a:xfrm>
              <a:off x="4560" y="3456"/>
              <a:ext cx="233" cy="46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3766" name="Line 38"/>
            <p:cNvSpPr/>
            <p:nvPr/>
          </p:nvSpPr>
          <p:spPr>
            <a:xfrm>
              <a:off x="5019" y="3298"/>
              <a:ext cx="279" cy="251"/>
            </a:xfrm>
            <a:prstGeom prst="line">
              <a:avLst/>
            </a:prstGeom>
            <a:ln w="28575" cap="flat" cmpd="sng">
              <a:solidFill>
                <a:srgbClr val="008000"/>
              </a:solidFill>
              <a:prstDash val="solid"/>
              <a:round/>
              <a:headEnd type="none" w="med" len="med"/>
              <a:tailEnd type="none" w="med" len="med"/>
            </a:ln>
          </p:spPr>
        </p:sp>
        <p:sp>
          <p:nvSpPr>
            <p:cNvPr id="73767" name="Rectangle 39"/>
            <p:cNvSpPr/>
            <p:nvPr/>
          </p:nvSpPr>
          <p:spPr>
            <a:xfrm>
              <a:off x="5159" y="3465"/>
              <a:ext cx="233" cy="46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3768" name="Rectangle 40"/>
            <p:cNvSpPr/>
            <p:nvPr/>
          </p:nvSpPr>
          <p:spPr>
            <a:xfrm>
              <a:off x="4179" y="3215"/>
              <a:ext cx="233" cy="710"/>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r>
                <a:rPr lang="en-US" altLang="zh-CN" sz="2400" b="1" i="1" dirty="0">
                  <a:solidFill>
                    <a:srgbClr val="FFFF00"/>
                  </a:solidFill>
                  <a:latin typeface="Times New Roman" panose="02020603050405020304" pitchFamily="18" charset="0"/>
                  <a:ea typeface="宋体" panose="02010600030101010101" pitchFamily="2" charset="-122"/>
                </a:rPr>
                <a:t>h</a:t>
              </a:r>
            </a:p>
            <a:p>
              <a:pPr algn="ctr">
                <a:lnSpc>
                  <a:spcPct val="60000"/>
                </a:lnSpc>
              </a:pPr>
              <a:r>
                <a:rPr lang="en-US" altLang="zh-CN" sz="2400" b="1" i="1" dirty="0">
                  <a:solidFill>
                    <a:srgbClr val="FFFF00"/>
                  </a:solidFill>
                  <a:latin typeface="Times New Roman" panose="02020603050405020304" pitchFamily="18" charset="0"/>
                  <a:ea typeface="宋体" panose="02010600030101010101" pitchFamily="2" charset="-122"/>
                </a:rPr>
                <a:t>+</a:t>
              </a:r>
            </a:p>
            <a:p>
              <a:pPr algn="ctr">
                <a:lnSpc>
                  <a:spcPct val="60000"/>
                </a:lnSpc>
              </a:pPr>
              <a:r>
                <a:rPr lang="en-US" altLang="zh-CN" sz="2400" b="1" dirty="0">
                  <a:solidFill>
                    <a:srgbClr val="FFFF00"/>
                  </a:solidFill>
                  <a:latin typeface="Times New Roman" panose="02020603050405020304" pitchFamily="18" charset="0"/>
                  <a:ea typeface="宋体" panose="02010600030101010101" pitchFamily="2" charset="-122"/>
                </a:rPr>
                <a:t>1</a:t>
              </a:r>
              <a:endParaRPr lang="en-US" altLang="zh-CN" sz="2400" b="1" i="1" dirty="0">
                <a:solidFill>
                  <a:srgbClr val="FFFF00"/>
                </a:solidFill>
                <a:latin typeface="Times New Roman" panose="02020603050405020304" pitchFamily="18" charset="0"/>
                <a:ea typeface="宋体" panose="02010600030101010101" pitchFamily="2" charset="-122"/>
              </a:endParaRPr>
            </a:p>
          </p:txBody>
        </p:sp>
        <p:sp>
          <p:nvSpPr>
            <p:cNvPr id="73769" name="Text Box 41"/>
            <p:cNvSpPr txBox="1"/>
            <p:nvPr/>
          </p:nvSpPr>
          <p:spPr>
            <a:xfrm>
              <a:off x="5232" y="3216"/>
              <a:ext cx="344"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R</a:t>
              </a:r>
            </a:p>
          </p:txBody>
        </p:sp>
        <p:sp>
          <p:nvSpPr>
            <p:cNvPr id="73770" name="Text Box 42"/>
            <p:cNvSpPr txBox="1"/>
            <p:nvPr/>
          </p:nvSpPr>
          <p:spPr>
            <a:xfrm>
              <a:off x="4464" y="3216"/>
              <a:ext cx="33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R</a:t>
              </a:r>
            </a:p>
          </p:txBody>
        </p:sp>
        <p:sp>
          <p:nvSpPr>
            <p:cNvPr id="73771" name="Text Box 43"/>
            <p:cNvSpPr txBox="1"/>
            <p:nvPr/>
          </p:nvSpPr>
          <p:spPr>
            <a:xfrm>
              <a:off x="5053" y="3001"/>
              <a:ext cx="254"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p>
          </p:txBody>
        </p:sp>
        <p:sp>
          <p:nvSpPr>
            <p:cNvPr id="73772" name="Text Box 44"/>
            <p:cNvSpPr txBox="1"/>
            <p:nvPr/>
          </p:nvSpPr>
          <p:spPr>
            <a:xfrm>
              <a:off x="4740" y="2734"/>
              <a:ext cx="24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p>
          </p:txBody>
        </p:sp>
        <p:sp>
          <p:nvSpPr>
            <p:cNvPr id="73773" name="Text Box 45"/>
            <p:cNvSpPr txBox="1"/>
            <p:nvPr/>
          </p:nvSpPr>
          <p:spPr>
            <a:xfrm>
              <a:off x="4032" y="2942"/>
              <a:ext cx="326"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73774" name="Rectangle 46"/>
            <p:cNvSpPr/>
            <p:nvPr/>
          </p:nvSpPr>
          <p:spPr>
            <a:xfrm>
              <a:off x="2916" y="3488"/>
              <a:ext cx="233" cy="459"/>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935983" name="Text Box 47"/>
            <p:cNvSpPr txBox="1">
              <a:spLocks noChangeArrowheads="1"/>
            </p:cNvSpPr>
            <p:nvPr/>
          </p:nvSpPr>
          <p:spPr bwMode="auto">
            <a:xfrm>
              <a:off x="4869" y="2903"/>
              <a:ext cx="211" cy="290"/>
            </a:xfrm>
            <a:prstGeom prst="rect">
              <a:avLst/>
            </a:prstGeom>
            <a:noFill/>
            <a:ln w="9525">
              <a:noFill/>
              <a:miter lim="800000"/>
            </a:ln>
            <a:effectLst/>
          </p:spPr>
          <p:txBody>
            <a:bodyPr wrap="none">
              <a:spAutoFit/>
            </a:bodyPr>
            <a:lstStyle/>
            <a:p>
              <a:r>
                <a:rPr lang="en-US" altLang="zh-CN" sz="2400" b="1" noProof="1">
                  <a:solidFill>
                    <a:schemeClr val="tx2">
                      <a:lumMod val="75000"/>
                    </a:schemeClr>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p>
          </p:txBody>
        </p:sp>
        <p:sp>
          <p:nvSpPr>
            <p:cNvPr id="935984" name="Text Box 48"/>
            <p:cNvSpPr txBox="1">
              <a:spLocks noChangeArrowheads="1"/>
            </p:cNvSpPr>
            <p:nvPr/>
          </p:nvSpPr>
          <p:spPr bwMode="auto">
            <a:xfrm>
              <a:off x="4346" y="2653"/>
              <a:ext cx="211" cy="290"/>
            </a:xfrm>
            <a:prstGeom prst="rect">
              <a:avLst/>
            </a:prstGeom>
            <a:noFill/>
            <a:ln w="9525">
              <a:noFill/>
              <a:miter lim="800000"/>
            </a:ln>
            <a:effectLst/>
          </p:spPr>
          <p:txBody>
            <a:bodyPr wrap="none">
              <a:spAutoFit/>
            </a:bodyPr>
            <a:lstStyle/>
            <a:p>
              <a:r>
                <a:rPr lang="en-US" altLang="zh-CN" sz="2400" b="1" noProof="1">
                  <a:solidFill>
                    <a:schemeClr val="tx2">
                      <a:lumMod val="75000"/>
                    </a:schemeClr>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p>
          </p:txBody>
        </p:sp>
        <p:sp>
          <p:nvSpPr>
            <p:cNvPr id="935985" name="Text Box 49"/>
            <p:cNvSpPr txBox="1">
              <a:spLocks noChangeArrowheads="1"/>
            </p:cNvSpPr>
            <p:nvPr/>
          </p:nvSpPr>
          <p:spPr bwMode="auto">
            <a:xfrm>
              <a:off x="912" y="2885"/>
              <a:ext cx="211" cy="290"/>
            </a:xfrm>
            <a:prstGeom prst="rect">
              <a:avLst/>
            </a:prstGeom>
            <a:noFill/>
            <a:ln w="9525">
              <a:noFill/>
              <a:miter lim="800000"/>
            </a:ln>
            <a:effectLst/>
          </p:spPr>
          <p:txBody>
            <a:bodyPr wrap="none">
              <a:spAutoFit/>
            </a:bodyPr>
            <a:lstStyle/>
            <a:p>
              <a:r>
                <a:rPr lang="en-US" altLang="zh-CN" sz="2400" b="1" noProof="1">
                  <a:solidFill>
                    <a:schemeClr val="tx2">
                      <a:lumMod val="75000"/>
                    </a:schemeClr>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p>
          </p:txBody>
        </p:sp>
        <p:sp>
          <p:nvSpPr>
            <p:cNvPr id="935986" name="Text Box 50"/>
            <p:cNvSpPr txBox="1">
              <a:spLocks noChangeArrowheads="1"/>
            </p:cNvSpPr>
            <p:nvPr/>
          </p:nvSpPr>
          <p:spPr bwMode="auto">
            <a:xfrm>
              <a:off x="1192" y="2593"/>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35987" name="Text Box 51"/>
            <p:cNvSpPr txBox="1">
              <a:spLocks noChangeArrowheads="1"/>
            </p:cNvSpPr>
            <p:nvPr/>
          </p:nvSpPr>
          <p:spPr bwMode="auto">
            <a:xfrm>
              <a:off x="2636" y="2903"/>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隶书" panose="02010509060101010101" pitchFamily="49" charset="-122"/>
                  <a:ea typeface="隶书" panose="02010509060101010101" pitchFamily="49" charset="-122"/>
                  <a:cs typeface="+mn-cs"/>
                </a:rPr>
                <a:t>+</a:t>
              </a: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35988" name="Text Box 52"/>
            <p:cNvSpPr txBox="1">
              <a:spLocks noChangeArrowheads="1"/>
            </p:cNvSpPr>
            <p:nvPr/>
          </p:nvSpPr>
          <p:spPr bwMode="auto">
            <a:xfrm>
              <a:off x="3046" y="2653"/>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隶书" panose="02010509060101010101" pitchFamily="49" charset="-122"/>
                  <a:ea typeface="隶书" panose="02010509060101010101" pitchFamily="49" charset="-122"/>
                  <a:cs typeface="+mn-cs"/>
                </a:rPr>
                <a:t>+</a:t>
              </a: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grpSp>
      <p:sp>
        <p:nvSpPr>
          <p:cNvPr id="5" name="文本框 4"/>
          <p:cNvSpPr txBox="1"/>
          <p:nvPr/>
        </p:nvSpPr>
        <p:spPr>
          <a:xfrm>
            <a:off x="834390" y="5229225"/>
            <a:ext cx="8740775" cy="829945"/>
          </a:xfrm>
          <a:prstGeom prst="rect">
            <a:avLst/>
          </a:prstGeom>
        </p:spPr>
        <p:txBody>
          <a:bodyPr vert="horz" wrap="square" lIns="91440" tIns="45720" rIns="91440" bIns="45720" rtlCol="0" anchor="t">
            <a:spAutoFit/>
          </a:bodyPr>
          <a:lstStyle/>
          <a:p>
            <a:pPr lvl="1" indent="0" eaLnBrk="1" hangingPunct="1">
              <a:buClr>
                <a:schemeClr val="accent2"/>
              </a:buClr>
              <a:buFont typeface="Wingdings" panose="05000000000000000000" pitchFamily="2" charset="2"/>
              <a:buNone/>
            </a:pPr>
            <a:r>
              <a:rPr lang="zh-CN" altLang="en-US" sz="2400" u="sng" dirty="0">
                <a:solidFill>
                  <a:srgbClr val="FF0000"/>
                </a:solidFill>
                <a:latin typeface="黑体" panose="02010609060101010101" pitchFamily="2" charset="-122"/>
                <a:ea typeface="黑体" panose="02010609060101010101" pitchFamily="2" charset="-122"/>
                <a:sym typeface="+mn-ea"/>
              </a:rPr>
              <a:t>实际操作，</a:t>
            </a:r>
            <a:r>
              <a:rPr lang="en-US" altLang="zh-CN" sz="2400" u="sng" dirty="0">
                <a:solidFill>
                  <a:srgbClr val="FF0000"/>
                </a:solidFill>
                <a:latin typeface="黑体" panose="02010609060101010101" pitchFamily="2" charset="-122"/>
                <a:ea typeface="黑体" panose="02010609060101010101" pitchFamily="2" charset="-122"/>
                <a:sym typeface="+mn-ea"/>
              </a:rPr>
              <a:t>A</a:t>
            </a:r>
            <a:r>
              <a:rPr lang="zh-CN" altLang="en-US" sz="2400" u="sng" dirty="0">
                <a:solidFill>
                  <a:srgbClr val="FF0000"/>
                </a:solidFill>
                <a:latin typeface="黑体" panose="02010609060101010101" pitchFamily="2" charset="-122"/>
                <a:ea typeface="黑体" panose="02010609060101010101" pitchFamily="2" charset="-122"/>
                <a:sym typeface="+mn-ea"/>
              </a:rPr>
              <a:t>变为</a:t>
            </a:r>
            <a:r>
              <a:rPr lang="en-US" altLang="zh-CN" sz="2400" u="sng" dirty="0">
                <a:solidFill>
                  <a:srgbClr val="FF0000"/>
                </a:solidFill>
                <a:latin typeface="黑体" panose="02010609060101010101" pitchFamily="2" charset="-122"/>
                <a:ea typeface="黑体" panose="02010609060101010101" pitchFamily="2" charset="-122"/>
                <a:sym typeface="+mn-ea"/>
              </a:rPr>
              <a:t>B</a:t>
            </a:r>
            <a:r>
              <a:rPr lang="zh-CN" altLang="en-US" sz="2400" u="sng" dirty="0">
                <a:solidFill>
                  <a:srgbClr val="FF0000"/>
                </a:solidFill>
                <a:latin typeface="黑体" panose="02010609060101010101" pitchFamily="2" charset="-122"/>
                <a:ea typeface="黑体" panose="02010609060101010101" pitchFamily="2" charset="-122"/>
                <a:sym typeface="+mn-ea"/>
              </a:rPr>
              <a:t>的右孩子，原</a:t>
            </a:r>
            <a:r>
              <a:rPr lang="en-US" altLang="zh-CN" sz="2400" u="sng" dirty="0">
                <a:solidFill>
                  <a:srgbClr val="FF0000"/>
                </a:solidFill>
                <a:latin typeface="黑体" panose="02010609060101010101" pitchFamily="2" charset="-122"/>
                <a:ea typeface="黑体" panose="02010609060101010101" pitchFamily="2" charset="-122"/>
                <a:sym typeface="+mn-ea"/>
              </a:rPr>
              <a:t>B</a:t>
            </a:r>
            <a:r>
              <a:rPr lang="zh-CN" altLang="en-US" sz="2400" u="sng" dirty="0">
                <a:solidFill>
                  <a:srgbClr val="FF0000"/>
                </a:solidFill>
                <a:latin typeface="黑体" panose="02010609060101010101" pitchFamily="2" charset="-122"/>
                <a:ea typeface="黑体" panose="02010609060101010101" pitchFamily="2" charset="-122"/>
                <a:sym typeface="+mn-ea"/>
              </a:rPr>
              <a:t>右孩子变为</a:t>
            </a:r>
            <a:r>
              <a:rPr lang="en-US" altLang="zh-CN" sz="2400" u="sng" dirty="0">
                <a:solidFill>
                  <a:srgbClr val="FF0000"/>
                </a:solidFill>
                <a:latin typeface="黑体" panose="02010609060101010101" pitchFamily="2" charset="-122"/>
                <a:ea typeface="黑体" panose="02010609060101010101" pitchFamily="2" charset="-122"/>
                <a:sym typeface="+mn-ea"/>
              </a:rPr>
              <a:t>A</a:t>
            </a:r>
            <a:r>
              <a:rPr lang="zh-CN" altLang="en-US" sz="2400" u="sng" dirty="0">
                <a:solidFill>
                  <a:srgbClr val="FF0000"/>
                </a:solidFill>
                <a:latin typeface="黑体" panose="02010609060101010101" pitchFamily="2" charset="-122"/>
                <a:ea typeface="黑体" panose="02010609060101010101" pitchFamily="2" charset="-122"/>
                <a:sym typeface="+mn-ea"/>
              </a:rPr>
              <a:t>左孩子</a:t>
            </a:r>
          </a:p>
          <a:p>
            <a:pPr lvl="1" indent="0" eaLnBrk="1" hangingPunct="1">
              <a:buClr>
                <a:schemeClr val="accent2"/>
              </a:buClr>
              <a:buFont typeface="Wingdings" panose="05000000000000000000" pitchFamily="2" charset="2"/>
              <a:buNone/>
            </a:pPr>
            <a:r>
              <a:rPr lang="zh-CN" altLang="en-US" sz="2400" u="sng" dirty="0">
                <a:solidFill>
                  <a:srgbClr val="FF0000"/>
                </a:solidFill>
                <a:latin typeface="黑体" panose="02010609060101010101" pitchFamily="2" charset="-122"/>
                <a:ea typeface="黑体" panose="02010609060101010101" pitchFamily="2" charset="-122"/>
                <a:sym typeface="+mn-ea"/>
              </a:rPr>
              <a:t>若已知</a:t>
            </a:r>
            <a:r>
              <a:rPr lang="en-US" altLang="zh-CN" sz="2400" u="sng" dirty="0">
                <a:solidFill>
                  <a:srgbClr val="FF0000"/>
                </a:solidFill>
                <a:latin typeface="黑体" panose="02010609060101010101" pitchFamily="2" charset="-122"/>
                <a:ea typeface="黑体" panose="02010609060101010101" pitchFamily="2" charset="-122"/>
                <a:sym typeface="+mn-ea"/>
              </a:rPr>
              <a:t>A\B\C</a:t>
            </a:r>
            <a:r>
              <a:rPr lang="zh-CN" altLang="en-US" sz="2400" u="sng" dirty="0">
                <a:solidFill>
                  <a:srgbClr val="FF0000"/>
                </a:solidFill>
                <a:latin typeface="黑体" panose="02010609060101010101" pitchFamily="2" charset="-122"/>
                <a:ea typeface="黑体" panose="02010609060101010101" pitchFamily="2" charset="-122"/>
                <a:sym typeface="+mn-ea"/>
              </a:rPr>
              <a:t>三个结点指针，代码如何写？？</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单向右旋举例：</a:t>
            </a:r>
          </a:p>
          <a:p>
            <a:pPr marL="0" lvl="1" indent="0" algn="l" eaLnBrk="1" hangingPunct="1">
              <a:buClrTx/>
              <a:buSzTx/>
              <a:buFont typeface="Wingdings" panose="05000000000000000000" charset="0"/>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AVL</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树如下图，插入新数据</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6</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，求插入后的树</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67</a:t>
            </a:fld>
            <a:endParaRPr lang="zh-CN" altLang="en-US"/>
          </a:p>
        </p:txBody>
      </p:sp>
      <p:sp>
        <p:nvSpPr>
          <p:cNvPr id="7" name="文本框 6"/>
          <p:cNvSpPr txBox="1"/>
          <p:nvPr/>
        </p:nvSpPr>
        <p:spPr>
          <a:xfrm>
            <a:off x="7972425" y="3772535"/>
            <a:ext cx="4064000" cy="914400"/>
          </a:xfrm>
          <a:prstGeom prst="rect">
            <a:avLst/>
          </a:prstGeom>
        </p:spPr>
        <p:txBody>
          <a:bodyPr vert="horz" wrap="square" lIns="91440" tIns="45720" rIns="91440" bIns="45720" rtlCol="0">
            <a:noAutofit/>
          </a:bodyPr>
          <a:lstStyle/>
          <a:p>
            <a:pPr marL="571500" lvl="0" indent="-571500">
              <a:lnSpc>
                <a:spcPct val="90000"/>
              </a:lnSpc>
              <a:spcBef>
                <a:spcPts val="1000"/>
              </a:spcBef>
              <a:buClr>
                <a:schemeClr val="accent2"/>
              </a:buClr>
              <a:buFont typeface="Wingdings" panose="05000000000000000000" pitchFamily="2" charset="2"/>
              <a:buChar char="n"/>
            </a:pPr>
            <a:endParaRPr lang="zh-CN" altLang="en-US"/>
          </a:p>
        </p:txBody>
      </p:sp>
      <p:grpSp>
        <p:nvGrpSpPr>
          <p:cNvPr id="74756" name="Group 83"/>
          <p:cNvGrpSpPr/>
          <p:nvPr/>
        </p:nvGrpSpPr>
        <p:grpSpPr>
          <a:xfrm>
            <a:off x="1057910" y="2488248"/>
            <a:ext cx="3524250" cy="2668587"/>
            <a:chOff x="204" y="1253"/>
            <a:chExt cx="2220" cy="1681"/>
          </a:xfrm>
        </p:grpSpPr>
        <p:grpSp>
          <p:nvGrpSpPr>
            <p:cNvPr id="74757" name="Group 81"/>
            <p:cNvGrpSpPr/>
            <p:nvPr/>
          </p:nvGrpSpPr>
          <p:grpSpPr>
            <a:xfrm>
              <a:off x="204" y="1253"/>
              <a:ext cx="2220" cy="1681"/>
              <a:chOff x="204" y="1253"/>
              <a:chExt cx="2220" cy="1681"/>
            </a:xfrm>
          </p:grpSpPr>
          <p:sp>
            <p:nvSpPr>
              <p:cNvPr id="74758" name="Oval 54"/>
              <p:cNvSpPr/>
              <p:nvPr/>
            </p:nvSpPr>
            <p:spPr>
              <a:xfrm>
                <a:off x="1565" y="1253"/>
                <a:ext cx="225" cy="24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74759" name="Oval 55"/>
              <p:cNvSpPr/>
              <p:nvPr/>
            </p:nvSpPr>
            <p:spPr>
              <a:xfrm>
                <a:off x="1882" y="1616"/>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74760" name="Oval 56"/>
              <p:cNvSpPr/>
              <p:nvPr/>
            </p:nvSpPr>
            <p:spPr>
              <a:xfrm>
                <a:off x="748" y="1933"/>
                <a:ext cx="223"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10</a:t>
                </a:r>
              </a:p>
            </p:txBody>
          </p:sp>
          <p:sp>
            <p:nvSpPr>
              <p:cNvPr id="74761" name="Oval 57"/>
              <p:cNvSpPr/>
              <p:nvPr/>
            </p:nvSpPr>
            <p:spPr>
              <a:xfrm>
                <a:off x="2200" y="1933"/>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74762" name="Oval 58"/>
              <p:cNvSpPr/>
              <p:nvPr/>
            </p:nvSpPr>
            <p:spPr>
              <a:xfrm>
                <a:off x="1424" y="1959"/>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74763" name="Line 60"/>
              <p:cNvSpPr/>
              <p:nvPr/>
            </p:nvSpPr>
            <p:spPr>
              <a:xfrm flipH="1">
                <a:off x="1292" y="1434"/>
                <a:ext cx="272" cy="182"/>
              </a:xfrm>
              <a:prstGeom prst="line">
                <a:avLst/>
              </a:prstGeom>
              <a:ln w="38100" cap="flat" cmpd="sng">
                <a:solidFill>
                  <a:srgbClr val="336699"/>
                </a:solidFill>
                <a:prstDash val="solid"/>
                <a:round/>
                <a:headEnd type="none" w="med" len="med"/>
                <a:tailEnd type="none" w="med" len="med"/>
              </a:ln>
            </p:spPr>
          </p:sp>
          <p:sp>
            <p:nvSpPr>
              <p:cNvPr id="74764" name="Line 61"/>
              <p:cNvSpPr/>
              <p:nvPr/>
            </p:nvSpPr>
            <p:spPr>
              <a:xfrm flipH="1">
                <a:off x="925" y="1822"/>
                <a:ext cx="196" cy="144"/>
              </a:xfrm>
              <a:prstGeom prst="line">
                <a:avLst/>
              </a:prstGeom>
              <a:ln w="38100" cap="flat" cmpd="sng">
                <a:solidFill>
                  <a:srgbClr val="666699"/>
                </a:solidFill>
                <a:prstDash val="solid"/>
                <a:round/>
                <a:headEnd type="none" w="med" len="med"/>
                <a:tailEnd type="none" w="med" len="med"/>
              </a:ln>
            </p:spPr>
          </p:sp>
          <p:sp>
            <p:nvSpPr>
              <p:cNvPr id="74765" name="Line 62"/>
              <p:cNvSpPr/>
              <p:nvPr/>
            </p:nvSpPr>
            <p:spPr>
              <a:xfrm>
                <a:off x="1790" y="1452"/>
                <a:ext cx="183" cy="164"/>
              </a:xfrm>
              <a:prstGeom prst="line">
                <a:avLst/>
              </a:prstGeom>
              <a:ln w="38100" cap="flat" cmpd="sng">
                <a:solidFill>
                  <a:srgbClr val="336699"/>
                </a:solidFill>
                <a:prstDash val="solid"/>
                <a:round/>
                <a:headEnd type="none" w="med" len="med"/>
                <a:tailEnd type="none" w="med" len="med"/>
              </a:ln>
            </p:spPr>
          </p:sp>
          <p:sp>
            <p:nvSpPr>
              <p:cNvPr id="74766" name="Line 63"/>
              <p:cNvSpPr/>
              <p:nvPr/>
            </p:nvSpPr>
            <p:spPr>
              <a:xfrm>
                <a:off x="1298" y="1797"/>
                <a:ext cx="198" cy="171"/>
              </a:xfrm>
              <a:prstGeom prst="line">
                <a:avLst/>
              </a:prstGeom>
              <a:ln w="38100" cap="flat" cmpd="sng">
                <a:solidFill>
                  <a:srgbClr val="336699"/>
                </a:solidFill>
                <a:prstDash val="solid"/>
                <a:round/>
                <a:headEnd type="none" w="med" len="med"/>
                <a:tailEnd type="none" w="med" len="med"/>
              </a:ln>
            </p:spPr>
          </p:sp>
          <p:sp>
            <p:nvSpPr>
              <p:cNvPr id="74767" name="Line 64"/>
              <p:cNvSpPr/>
              <p:nvPr/>
            </p:nvSpPr>
            <p:spPr>
              <a:xfrm flipH="1">
                <a:off x="622" y="2140"/>
                <a:ext cx="153" cy="181"/>
              </a:xfrm>
              <a:prstGeom prst="line">
                <a:avLst/>
              </a:prstGeom>
              <a:ln w="38100" cap="flat" cmpd="sng">
                <a:solidFill>
                  <a:srgbClr val="336699"/>
                </a:solidFill>
                <a:prstDash val="solid"/>
                <a:round/>
                <a:headEnd type="none" w="med" len="med"/>
                <a:tailEnd type="none" w="med" len="med"/>
              </a:ln>
            </p:spPr>
          </p:sp>
          <p:sp>
            <p:nvSpPr>
              <p:cNvPr id="74768" name="Line 65"/>
              <p:cNvSpPr/>
              <p:nvPr/>
            </p:nvSpPr>
            <p:spPr>
              <a:xfrm>
                <a:off x="2109" y="1797"/>
                <a:ext cx="181" cy="136"/>
              </a:xfrm>
              <a:prstGeom prst="line">
                <a:avLst/>
              </a:prstGeom>
              <a:ln w="38100" cap="flat" cmpd="sng">
                <a:solidFill>
                  <a:srgbClr val="336699"/>
                </a:solidFill>
                <a:prstDash val="solid"/>
                <a:round/>
                <a:headEnd type="none" w="med" len="med"/>
                <a:tailEnd type="none" w="med" len="med"/>
              </a:ln>
            </p:spPr>
          </p:sp>
          <p:sp>
            <p:nvSpPr>
              <p:cNvPr id="74769" name="Oval 68"/>
              <p:cNvSpPr/>
              <p:nvPr/>
            </p:nvSpPr>
            <p:spPr>
              <a:xfrm>
                <a:off x="204" y="2694"/>
                <a:ext cx="223" cy="240"/>
              </a:xfrm>
              <a:prstGeom prst="ellipse">
                <a:avLst/>
              </a:prstGeom>
              <a:solidFill>
                <a:srgbClr val="FFFF99"/>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a:t>
                </a:r>
              </a:p>
            </p:txBody>
          </p:sp>
          <p:sp>
            <p:nvSpPr>
              <p:cNvPr id="74770" name="Line 69"/>
              <p:cNvSpPr/>
              <p:nvPr/>
            </p:nvSpPr>
            <p:spPr>
              <a:xfrm flipH="1">
                <a:off x="340" y="2523"/>
                <a:ext cx="154" cy="181"/>
              </a:xfrm>
              <a:prstGeom prst="line">
                <a:avLst/>
              </a:prstGeom>
              <a:ln w="38100" cap="flat" cmpd="sng">
                <a:solidFill>
                  <a:srgbClr val="336699"/>
                </a:solidFill>
                <a:prstDash val="solid"/>
                <a:round/>
                <a:headEnd type="none" w="med" len="med"/>
                <a:tailEnd type="none" w="med" len="med"/>
              </a:ln>
            </p:spPr>
          </p:sp>
          <p:sp>
            <p:nvSpPr>
              <p:cNvPr id="74771" name="Oval 71"/>
              <p:cNvSpPr/>
              <p:nvPr/>
            </p:nvSpPr>
            <p:spPr>
              <a:xfrm>
                <a:off x="431" y="2296"/>
                <a:ext cx="224" cy="238"/>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a:t>
                </a:r>
              </a:p>
            </p:txBody>
          </p:sp>
          <p:sp>
            <p:nvSpPr>
              <p:cNvPr id="74772" name="Oval 72"/>
              <p:cNvSpPr/>
              <p:nvPr/>
            </p:nvSpPr>
            <p:spPr>
              <a:xfrm>
                <a:off x="1111" y="1616"/>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74773" name="Oval 79"/>
              <p:cNvSpPr/>
              <p:nvPr/>
            </p:nvSpPr>
            <p:spPr>
              <a:xfrm>
                <a:off x="1020" y="2296"/>
                <a:ext cx="224" cy="238"/>
              </a:xfrm>
              <a:prstGeom prst="ellipse">
                <a:avLst/>
              </a:prstGeom>
              <a:solidFill>
                <a:srgbClr val="99CCFF"/>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11</a:t>
                </a:r>
              </a:p>
            </p:txBody>
          </p:sp>
          <p:sp>
            <p:nvSpPr>
              <p:cNvPr id="74774" name="Line 80"/>
              <p:cNvSpPr/>
              <p:nvPr/>
            </p:nvSpPr>
            <p:spPr>
              <a:xfrm>
                <a:off x="930" y="2115"/>
                <a:ext cx="136" cy="181"/>
              </a:xfrm>
              <a:prstGeom prst="line">
                <a:avLst/>
              </a:prstGeom>
              <a:ln w="38100" cap="flat" cmpd="sng">
                <a:solidFill>
                  <a:srgbClr val="336699"/>
                </a:solidFill>
                <a:prstDash val="solid"/>
                <a:round/>
                <a:headEnd type="none" w="med" len="med"/>
                <a:tailEnd type="none" w="med" len="med"/>
              </a:ln>
            </p:spPr>
          </p:sp>
        </p:grpSp>
        <p:sp>
          <p:nvSpPr>
            <p:cNvPr id="74775" name="Line 82"/>
            <p:cNvSpPr/>
            <p:nvPr/>
          </p:nvSpPr>
          <p:spPr>
            <a:xfrm flipH="1">
              <a:off x="622" y="2140"/>
              <a:ext cx="153" cy="181"/>
            </a:xfrm>
            <a:prstGeom prst="line">
              <a:avLst/>
            </a:prstGeom>
            <a:ln w="38100" cap="flat" cmpd="sng">
              <a:solidFill>
                <a:srgbClr val="336699"/>
              </a:solidFill>
              <a:prstDash val="solid"/>
              <a:round/>
              <a:headEnd type="none" w="med" len="med"/>
              <a:tailEnd type="none" w="med" len="med"/>
            </a:ln>
          </p:spPr>
        </p:sp>
      </p:grpSp>
      <p:grpSp>
        <p:nvGrpSpPr>
          <p:cNvPr id="6" name="Group 105"/>
          <p:cNvGrpSpPr/>
          <p:nvPr/>
        </p:nvGrpSpPr>
        <p:grpSpPr>
          <a:xfrm>
            <a:off x="5088890" y="2487930"/>
            <a:ext cx="3163888" cy="2106613"/>
            <a:chOff x="3016" y="1298"/>
            <a:chExt cx="1993" cy="1327"/>
          </a:xfrm>
        </p:grpSpPr>
        <p:sp>
          <p:nvSpPr>
            <p:cNvPr id="74777" name="Oval 86"/>
            <p:cNvSpPr/>
            <p:nvPr/>
          </p:nvSpPr>
          <p:spPr>
            <a:xfrm>
              <a:off x="4150" y="1298"/>
              <a:ext cx="225" cy="24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74778" name="Oval 87"/>
            <p:cNvSpPr/>
            <p:nvPr/>
          </p:nvSpPr>
          <p:spPr>
            <a:xfrm>
              <a:off x="4467" y="1661"/>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74779" name="Oval 88"/>
            <p:cNvSpPr/>
            <p:nvPr/>
          </p:nvSpPr>
          <p:spPr>
            <a:xfrm>
              <a:off x="3333" y="1978"/>
              <a:ext cx="223"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a:t>
              </a:r>
            </a:p>
          </p:txBody>
        </p:sp>
        <p:sp>
          <p:nvSpPr>
            <p:cNvPr id="74780" name="Oval 89"/>
            <p:cNvSpPr/>
            <p:nvPr/>
          </p:nvSpPr>
          <p:spPr>
            <a:xfrm>
              <a:off x="4785" y="1978"/>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74781" name="Oval 90"/>
            <p:cNvSpPr/>
            <p:nvPr/>
          </p:nvSpPr>
          <p:spPr>
            <a:xfrm>
              <a:off x="4009" y="2004"/>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74782" name="Line 91"/>
            <p:cNvSpPr/>
            <p:nvPr/>
          </p:nvSpPr>
          <p:spPr>
            <a:xfrm flipH="1">
              <a:off x="3877" y="1479"/>
              <a:ext cx="272" cy="182"/>
            </a:xfrm>
            <a:prstGeom prst="line">
              <a:avLst/>
            </a:prstGeom>
            <a:ln w="38100" cap="flat" cmpd="sng">
              <a:solidFill>
                <a:srgbClr val="336699"/>
              </a:solidFill>
              <a:prstDash val="solid"/>
              <a:round/>
              <a:headEnd type="none" w="med" len="med"/>
              <a:tailEnd type="none" w="med" len="med"/>
            </a:ln>
          </p:spPr>
        </p:sp>
        <p:sp>
          <p:nvSpPr>
            <p:cNvPr id="74783" name="Line 92"/>
            <p:cNvSpPr/>
            <p:nvPr/>
          </p:nvSpPr>
          <p:spPr>
            <a:xfrm flipH="1">
              <a:off x="3510" y="1867"/>
              <a:ext cx="196" cy="144"/>
            </a:xfrm>
            <a:prstGeom prst="line">
              <a:avLst/>
            </a:prstGeom>
            <a:ln w="38100" cap="flat" cmpd="sng">
              <a:solidFill>
                <a:srgbClr val="666699"/>
              </a:solidFill>
              <a:prstDash val="solid"/>
              <a:round/>
              <a:headEnd type="none" w="med" len="med"/>
              <a:tailEnd type="none" w="med" len="med"/>
            </a:ln>
          </p:spPr>
        </p:sp>
        <p:sp>
          <p:nvSpPr>
            <p:cNvPr id="74784" name="Line 93"/>
            <p:cNvSpPr/>
            <p:nvPr/>
          </p:nvSpPr>
          <p:spPr>
            <a:xfrm>
              <a:off x="4375" y="1497"/>
              <a:ext cx="183" cy="164"/>
            </a:xfrm>
            <a:prstGeom prst="line">
              <a:avLst/>
            </a:prstGeom>
            <a:ln w="38100" cap="flat" cmpd="sng">
              <a:solidFill>
                <a:srgbClr val="336699"/>
              </a:solidFill>
              <a:prstDash val="solid"/>
              <a:round/>
              <a:headEnd type="none" w="med" len="med"/>
              <a:tailEnd type="none" w="med" len="med"/>
            </a:ln>
          </p:spPr>
        </p:sp>
        <p:sp>
          <p:nvSpPr>
            <p:cNvPr id="74785" name="Line 94"/>
            <p:cNvSpPr/>
            <p:nvPr/>
          </p:nvSpPr>
          <p:spPr>
            <a:xfrm>
              <a:off x="3883" y="1842"/>
              <a:ext cx="198" cy="171"/>
            </a:xfrm>
            <a:prstGeom prst="line">
              <a:avLst/>
            </a:prstGeom>
            <a:ln w="38100" cap="flat" cmpd="sng">
              <a:solidFill>
                <a:srgbClr val="336699"/>
              </a:solidFill>
              <a:prstDash val="solid"/>
              <a:round/>
              <a:headEnd type="none" w="med" len="med"/>
              <a:tailEnd type="none" w="med" len="med"/>
            </a:ln>
          </p:spPr>
        </p:sp>
        <p:sp>
          <p:nvSpPr>
            <p:cNvPr id="74786" name="Line 95"/>
            <p:cNvSpPr/>
            <p:nvPr/>
          </p:nvSpPr>
          <p:spPr>
            <a:xfrm flipH="1">
              <a:off x="3207" y="2185"/>
              <a:ext cx="153" cy="181"/>
            </a:xfrm>
            <a:prstGeom prst="line">
              <a:avLst/>
            </a:prstGeom>
            <a:ln w="38100" cap="flat" cmpd="sng">
              <a:solidFill>
                <a:srgbClr val="336699"/>
              </a:solidFill>
              <a:prstDash val="solid"/>
              <a:round/>
              <a:headEnd type="none" w="med" len="med"/>
              <a:tailEnd type="none" w="med" len="med"/>
            </a:ln>
          </p:spPr>
        </p:sp>
        <p:sp>
          <p:nvSpPr>
            <p:cNvPr id="74787" name="Line 96"/>
            <p:cNvSpPr/>
            <p:nvPr/>
          </p:nvSpPr>
          <p:spPr>
            <a:xfrm>
              <a:off x="4694" y="1842"/>
              <a:ext cx="181" cy="136"/>
            </a:xfrm>
            <a:prstGeom prst="line">
              <a:avLst/>
            </a:prstGeom>
            <a:ln w="38100" cap="flat" cmpd="sng">
              <a:solidFill>
                <a:srgbClr val="336699"/>
              </a:solidFill>
              <a:prstDash val="solid"/>
              <a:round/>
              <a:headEnd type="none" w="med" len="med"/>
              <a:tailEnd type="none" w="med" len="med"/>
            </a:ln>
          </p:spPr>
        </p:sp>
        <p:sp>
          <p:nvSpPr>
            <p:cNvPr id="74788" name="Oval 97"/>
            <p:cNvSpPr/>
            <p:nvPr/>
          </p:nvSpPr>
          <p:spPr>
            <a:xfrm>
              <a:off x="3016" y="2341"/>
              <a:ext cx="223" cy="240"/>
            </a:xfrm>
            <a:prstGeom prst="ellipse">
              <a:avLst/>
            </a:prstGeom>
            <a:solidFill>
              <a:srgbClr val="FFFF99"/>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a:t>
              </a:r>
            </a:p>
          </p:txBody>
        </p:sp>
        <p:sp>
          <p:nvSpPr>
            <p:cNvPr id="74789" name="Oval 99"/>
            <p:cNvSpPr/>
            <p:nvPr/>
          </p:nvSpPr>
          <p:spPr>
            <a:xfrm>
              <a:off x="3696" y="2387"/>
              <a:ext cx="224" cy="238"/>
            </a:xfrm>
            <a:prstGeom prst="ellipse">
              <a:avLst/>
            </a:prstGeom>
            <a:solidFill>
              <a:srgbClr val="99CCFF"/>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11</a:t>
              </a:r>
            </a:p>
          </p:txBody>
        </p:sp>
        <p:sp>
          <p:nvSpPr>
            <p:cNvPr id="74790" name="Oval 100"/>
            <p:cNvSpPr/>
            <p:nvPr/>
          </p:nvSpPr>
          <p:spPr>
            <a:xfrm>
              <a:off x="3696" y="1661"/>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10</a:t>
              </a:r>
            </a:p>
          </p:txBody>
        </p:sp>
        <p:sp>
          <p:nvSpPr>
            <p:cNvPr id="74791" name="Oval 101"/>
            <p:cNvSpPr/>
            <p:nvPr/>
          </p:nvSpPr>
          <p:spPr>
            <a:xfrm>
              <a:off x="4286" y="2387"/>
              <a:ext cx="224" cy="23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37</a:t>
              </a:r>
            </a:p>
          </p:txBody>
        </p:sp>
        <p:sp>
          <p:nvSpPr>
            <p:cNvPr id="74792" name="Line 102"/>
            <p:cNvSpPr/>
            <p:nvPr/>
          </p:nvSpPr>
          <p:spPr>
            <a:xfrm>
              <a:off x="4196" y="2206"/>
              <a:ext cx="136" cy="181"/>
            </a:xfrm>
            <a:prstGeom prst="line">
              <a:avLst/>
            </a:prstGeom>
            <a:ln w="38100" cap="flat" cmpd="sng">
              <a:solidFill>
                <a:srgbClr val="336699"/>
              </a:solidFill>
              <a:prstDash val="solid"/>
              <a:round/>
              <a:headEnd type="none" w="med" len="med"/>
              <a:tailEnd type="none" w="med" len="med"/>
            </a:ln>
          </p:spPr>
        </p:sp>
        <p:sp>
          <p:nvSpPr>
            <p:cNvPr id="74793" name="Line 103"/>
            <p:cNvSpPr/>
            <p:nvPr/>
          </p:nvSpPr>
          <p:spPr>
            <a:xfrm flipH="1">
              <a:off x="3878" y="2205"/>
              <a:ext cx="153" cy="181"/>
            </a:xfrm>
            <a:prstGeom prst="line">
              <a:avLst/>
            </a:prstGeom>
            <a:ln w="38100" cap="flat" cmpd="sng">
              <a:solidFill>
                <a:srgbClr val="336699"/>
              </a:solidFill>
              <a:prstDash val="solid"/>
              <a:round/>
              <a:headEnd type="none" w="med" len="med"/>
              <a:tailEnd type="none" w="med" len="med"/>
            </a:ln>
          </p:spPr>
        </p:sp>
      </p:grpSp>
      <mc:AlternateContent xmlns:mc="http://schemas.openxmlformats.org/markup-compatibility/2006">
        <mc:Choice xmlns:p14="http://schemas.microsoft.com/office/powerpoint/2010/main" Requires="p14">
          <p:contentPart p14:bwMode="auto" r:id="rId2">
            <p14:nvContentPartPr>
              <p14:cNvPr id="5" name="墨迹 4">
                <a:extLst>
                  <a:ext uri="{FF2B5EF4-FFF2-40B4-BE49-F238E27FC236}">
                    <a16:creationId xmlns:a16="http://schemas.microsoft.com/office/drawing/2014/main" id="{18306474-B04E-4F6C-952E-C0A1A45F9778}"/>
                  </a:ext>
                </a:extLst>
              </p14:cNvPr>
              <p14:cNvContentPartPr/>
              <p14:nvPr/>
            </p14:nvContentPartPr>
            <p14:xfrm>
              <a:off x="1117440" y="2914560"/>
              <a:ext cx="1842120" cy="1778400"/>
            </p14:xfrm>
          </p:contentPart>
        </mc:Choice>
        <mc:Fallback>
          <p:pic>
            <p:nvPicPr>
              <p:cNvPr id="5" name="墨迹 4">
                <a:extLst>
                  <a:ext uri="{FF2B5EF4-FFF2-40B4-BE49-F238E27FC236}">
                    <a16:creationId xmlns:a16="http://schemas.microsoft.com/office/drawing/2014/main" id="{18306474-B04E-4F6C-952E-C0A1A45F9778}"/>
                  </a:ext>
                </a:extLst>
              </p:cNvPr>
              <p:cNvPicPr/>
              <p:nvPr/>
            </p:nvPicPr>
            <p:blipFill>
              <a:blip r:embed="rId3"/>
              <a:stretch>
                <a:fillRect/>
              </a:stretch>
            </p:blipFill>
            <p:spPr>
              <a:xfrm>
                <a:off x="1108080" y="2905200"/>
                <a:ext cx="1860840" cy="17971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in)">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引发单向左旋的</a:t>
            </a:r>
            <a:r>
              <a:rPr lang="zh-CN" altLang="en-US" sz="2800" dirty="0">
                <a:latin typeface="黑体" panose="02010609060101010101" pitchFamily="2" charset="-122"/>
                <a:ea typeface="黑体" panose="02010609060101010101" pitchFamily="2" charset="-122"/>
                <a:sym typeface="+mn-ea"/>
              </a:rPr>
              <a:t>不平衡状态</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在</a:t>
            </a:r>
            <a:r>
              <a:rPr lang="en-US" altLang="zh-CN" dirty="0">
                <a:latin typeface="黑体" panose="02010609060101010101" pitchFamily="2" charset="-122"/>
                <a:ea typeface="黑体" panose="02010609060101010101" pitchFamily="2" charset="-122"/>
                <a:sym typeface="+mn-ea"/>
              </a:rPr>
              <a:t>B</a:t>
            </a:r>
            <a:r>
              <a:rPr lang="zh-CN" altLang="en-US" dirty="0">
                <a:latin typeface="黑体" panose="02010609060101010101" pitchFamily="2" charset="-122"/>
                <a:ea typeface="黑体" panose="02010609060101010101" pitchFamily="2" charset="-122"/>
                <a:sym typeface="+mn-ea"/>
              </a:rPr>
              <a:t>右子树</a:t>
            </a:r>
            <a:r>
              <a:rPr lang="en-US" altLang="zh-CN" dirty="0">
                <a:latin typeface="黑体" panose="02010609060101010101" pitchFamily="2" charset="-122"/>
                <a:ea typeface="黑体" panose="02010609060101010101" pitchFamily="2" charset="-122"/>
                <a:sym typeface="+mn-ea"/>
              </a:rPr>
              <a:t>B</a:t>
            </a:r>
            <a:r>
              <a:rPr lang="en-US" altLang="zh-CN" baseline="-25000" dirty="0">
                <a:latin typeface="黑体" panose="02010609060101010101" pitchFamily="2" charset="-122"/>
                <a:ea typeface="黑体" panose="02010609060101010101" pitchFamily="2" charset="-122"/>
                <a:sym typeface="+mn-ea"/>
              </a:rPr>
              <a:t>R</a:t>
            </a:r>
            <a:r>
              <a:rPr lang="zh-CN" altLang="en-US" dirty="0">
                <a:latin typeface="黑体" panose="02010609060101010101" pitchFamily="2" charset="-122"/>
                <a:ea typeface="黑体" panose="02010609060101010101" pitchFamily="2" charset="-122"/>
                <a:sym typeface="+mn-ea"/>
              </a:rPr>
              <a:t>中插入新结点，该子树高度增</a:t>
            </a:r>
            <a:r>
              <a:rPr lang="en-US" altLang="zh-CN" dirty="0">
                <a:latin typeface="黑体" panose="02010609060101010101" pitchFamily="2" charset="-122"/>
                <a:ea typeface="黑体" panose="02010609060101010101" pitchFamily="2" charset="-122"/>
                <a:sym typeface="+mn-ea"/>
              </a:rPr>
              <a:t>1</a:t>
            </a:r>
            <a:r>
              <a:rPr lang="zh-CN" altLang="en-US" dirty="0">
                <a:latin typeface="黑体" panose="02010609060101010101" pitchFamily="2" charset="-122"/>
                <a:ea typeface="黑体" panose="02010609060101010101" pitchFamily="2" charset="-122"/>
                <a:sym typeface="+mn-ea"/>
              </a:rPr>
              <a:t>导致结点</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的平衡因子变成</a:t>
            </a:r>
            <a:r>
              <a:rPr lang="en-US" altLang="zh-CN" dirty="0">
                <a:latin typeface="黑体" panose="02010609060101010101" pitchFamily="2" charset="-122"/>
                <a:ea typeface="黑体" panose="02010609060101010101" pitchFamily="2" charset="-122"/>
                <a:sym typeface="+mn-ea"/>
              </a:rPr>
              <a:t>-2</a:t>
            </a:r>
            <a:r>
              <a:rPr lang="zh-CN" altLang="en-US" dirty="0">
                <a:latin typeface="黑体" panose="02010609060101010101" pitchFamily="2" charset="-122"/>
                <a:ea typeface="黑体" panose="02010609060101010101" pitchFamily="2" charset="-122"/>
                <a:sym typeface="+mn-ea"/>
              </a:rPr>
              <a:t>，出现不平衡</a:t>
            </a: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68</a:t>
            </a:fld>
            <a:endParaRPr lang="zh-CN" altLang="en-US"/>
          </a:p>
        </p:txBody>
      </p:sp>
      <p:sp>
        <p:nvSpPr>
          <p:cNvPr id="7" name="文本框 6"/>
          <p:cNvSpPr txBox="1"/>
          <p:nvPr/>
        </p:nvSpPr>
        <p:spPr>
          <a:xfrm>
            <a:off x="7972425" y="3772535"/>
            <a:ext cx="4064000" cy="914400"/>
          </a:xfrm>
          <a:prstGeom prst="rect">
            <a:avLst/>
          </a:prstGeom>
        </p:spPr>
        <p:txBody>
          <a:bodyPr vert="horz" wrap="square" lIns="91440" tIns="45720" rIns="91440" bIns="45720" rtlCol="0">
            <a:noAutofit/>
          </a:bodyPr>
          <a:lstStyle/>
          <a:p>
            <a:pPr marL="571500" lvl="0" indent="-571500">
              <a:lnSpc>
                <a:spcPct val="90000"/>
              </a:lnSpc>
              <a:spcBef>
                <a:spcPts val="1000"/>
              </a:spcBef>
              <a:buClr>
                <a:schemeClr val="accent2"/>
              </a:buClr>
              <a:buFont typeface="Wingdings" panose="05000000000000000000" pitchFamily="2" charset="2"/>
              <a:buChar char="n"/>
            </a:pPr>
            <a:endParaRPr lang="zh-CN" altLang="en-US"/>
          </a:p>
        </p:txBody>
      </p:sp>
      <p:grpSp>
        <p:nvGrpSpPr>
          <p:cNvPr id="75780" name="Group 4"/>
          <p:cNvGrpSpPr/>
          <p:nvPr/>
        </p:nvGrpSpPr>
        <p:grpSpPr>
          <a:xfrm>
            <a:off x="2455545" y="2492693"/>
            <a:ext cx="7035800" cy="2743200"/>
            <a:chOff x="278" y="2498"/>
            <a:chExt cx="4432" cy="1728"/>
          </a:xfrm>
        </p:grpSpPr>
        <p:sp>
          <p:nvSpPr>
            <p:cNvPr id="75781" name="Line 5"/>
            <p:cNvSpPr/>
            <p:nvPr/>
          </p:nvSpPr>
          <p:spPr>
            <a:xfrm>
              <a:off x="3992" y="3170"/>
              <a:ext cx="288" cy="288"/>
            </a:xfrm>
            <a:prstGeom prst="line">
              <a:avLst/>
            </a:prstGeom>
            <a:ln w="28575" cap="flat" cmpd="sng">
              <a:solidFill>
                <a:schemeClr val="hlink"/>
              </a:solidFill>
              <a:prstDash val="solid"/>
              <a:round/>
              <a:headEnd type="none" w="med" len="med"/>
              <a:tailEnd type="none" w="med" len="med"/>
            </a:ln>
          </p:spPr>
        </p:sp>
        <p:sp>
          <p:nvSpPr>
            <p:cNvPr id="75782" name="Line 6"/>
            <p:cNvSpPr/>
            <p:nvPr/>
          </p:nvSpPr>
          <p:spPr>
            <a:xfrm flipH="1">
              <a:off x="3752" y="3170"/>
              <a:ext cx="240" cy="240"/>
            </a:xfrm>
            <a:prstGeom prst="line">
              <a:avLst/>
            </a:prstGeom>
            <a:ln w="28575" cap="flat" cmpd="sng">
              <a:solidFill>
                <a:srgbClr val="008000"/>
              </a:solidFill>
              <a:prstDash val="solid"/>
              <a:round/>
              <a:headEnd type="none" w="med" len="med"/>
              <a:tailEnd type="none" w="med" len="med"/>
            </a:ln>
          </p:spPr>
        </p:sp>
        <p:sp>
          <p:nvSpPr>
            <p:cNvPr id="75783" name="Line 7"/>
            <p:cNvSpPr/>
            <p:nvPr/>
          </p:nvSpPr>
          <p:spPr>
            <a:xfrm>
              <a:off x="1008" y="2931"/>
              <a:ext cx="288" cy="288"/>
            </a:xfrm>
            <a:prstGeom prst="line">
              <a:avLst/>
            </a:prstGeom>
            <a:ln w="28575" cap="flat" cmpd="sng">
              <a:solidFill>
                <a:srgbClr val="008000"/>
              </a:solidFill>
              <a:prstDash val="solid"/>
              <a:round/>
              <a:headEnd type="none" w="med" len="med"/>
              <a:tailEnd type="none" w="med" len="med"/>
            </a:ln>
          </p:spPr>
        </p:sp>
        <p:sp>
          <p:nvSpPr>
            <p:cNvPr id="75784" name="Line 8"/>
            <p:cNvSpPr/>
            <p:nvPr/>
          </p:nvSpPr>
          <p:spPr>
            <a:xfrm>
              <a:off x="1344" y="3267"/>
              <a:ext cx="288" cy="288"/>
            </a:xfrm>
            <a:prstGeom prst="line">
              <a:avLst/>
            </a:prstGeom>
            <a:ln w="28575" cap="flat" cmpd="sng">
              <a:solidFill>
                <a:srgbClr val="008000"/>
              </a:solidFill>
              <a:prstDash val="solid"/>
              <a:round/>
              <a:headEnd type="none" w="med" len="med"/>
              <a:tailEnd type="none" w="med" len="med"/>
            </a:ln>
          </p:spPr>
        </p:sp>
        <p:sp>
          <p:nvSpPr>
            <p:cNvPr id="75785" name="Line 9"/>
            <p:cNvSpPr/>
            <p:nvPr/>
          </p:nvSpPr>
          <p:spPr>
            <a:xfrm flipH="1">
              <a:off x="624" y="2931"/>
              <a:ext cx="240" cy="240"/>
            </a:xfrm>
            <a:prstGeom prst="line">
              <a:avLst/>
            </a:prstGeom>
            <a:ln w="28575" cap="flat" cmpd="sng">
              <a:solidFill>
                <a:srgbClr val="008000"/>
              </a:solidFill>
              <a:prstDash val="solid"/>
              <a:round/>
              <a:headEnd type="none" w="med" len="med"/>
              <a:tailEnd type="none" w="med" len="med"/>
            </a:ln>
          </p:spPr>
        </p:sp>
        <p:sp>
          <p:nvSpPr>
            <p:cNvPr id="75786" name="Rectangle 10"/>
            <p:cNvSpPr/>
            <p:nvPr/>
          </p:nvSpPr>
          <p:spPr>
            <a:xfrm>
              <a:off x="528" y="3123"/>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5787" name="Oval 11"/>
            <p:cNvSpPr/>
            <p:nvPr/>
          </p:nvSpPr>
          <p:spPr>
            <a:xfrm>
              <a:off x="816" y="2739"/>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5788" name="Line 12"/>
            <p:cNvSpPr/>
            <p:nvPr/>
          </p:nvSpPr>
          <p:spPr>
            <a:xfrm flipH="1">
              <a:off x="960" y="3267"/>
              <a:ext cx="240" cy="240"/>
            </a:xfrm>
            <a:prstGeom prst="line">
              <a:avLst/>
            </a:prstGeom>
            <a:ln w="28575" cap="flat" cmpd="sng">
              <a:solidFill>
                <a:srgbClr val="008000"/>
              </a:solidFill>
              <a:prstDash val="solid"/>
              <a:round/>
              <a:headEnd type="none" w="med" len="med"/>
              <a:tailEnd type="none" w="med" len="med"/>
            </a:ln>
          </p:spPr>
        </p:sp>
        <p:sp>
          <p:nvSpPr>
            <p:cNvPr id="75789" name="Oval 13"/>
            <p:cNvSpPr/>
            <p:nvPr/>
          </p:nvSpPr>
          <p:spPr>
            <a:xfrm>
              <a:off x="1152" y="3075"/>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5790" name="Rectangle 14"/>
            <p:cNvSpPr/>
            <p:nvPr/>
          </p:nvSpPr>
          <p:spPr>
            <a:xfrm>
              <a:off x="912" y="3459"/>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5791" name="Rectangle 15"/>
            <p:cNvSpPr/>
            <p:nvPr/>
          </p:nvSpPr>
          <p:spPr>
            <a:xfrm>
              <a:off x="1440" y="3459"/>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5792" name="Text Box 16"/>
            <p:cNvSpPr txBox="1"/>
            <p:nvPr/>
          </p:nvSpPr>
          <p:spPr>
            <a:xfrm>
              <a:off x="1046" y="2580"/>
              <a:ext cx="254"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p>
          </p:txBody>
        </p:sp>
        <p:sp>
          <p:nvSpPr>
            <p:cNvPr id="75793" name="Text Box 17"/>
            <p:cNvSpPr txBox="1"/>
            <p:nvPr/>
          </p:nvSpPr>
          <p:spPr>
            <a:xfrm>
              <a:off x="1382" y="2909"/>
              <a:ext cx="24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p>
          </p:txBody>
        </p:sp>
        <p:sp>
          <p:nvSpPr>
            <p:cNvPr id="75794" name="Text Box 18"/>
            <p:cNvSpPr txBox="1"/>
            <p:nvPr/>
          </p:nvSpPr>
          <p:spPr>
            <a:xfrm>
              <a:off x="1646" y="3518"/>
              <a:ext cx="33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R</a:t>
              </a:r>
            </a:p>
          </p:txBody>
        </p:sp>
        <p:sp>
          <p:nvSpPr>
            <p:cNvPr id="75795" name="Text Box 19"/>
            <p:cNvSpPr txBox="1"/>
            <p:nvPr/>
          </p:nvSpPr>
          <p:spPr>
            <a:xfrm>
              <a:off x="278" y="2890"/>
              <a:ext cx="337"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75796" name="Text Box 20"/>
            <p:cNvSpPr txBox="1"/>
            <p:nvPr/>
          </p:nvSpPr>
          <p:spPr>
            <a:xfrm>
              <a:off x="777" y="3266"/>
              <a:ext cx="326"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75797" name="Line 21"/>
            <p:cNvSpPr/>
            <p:nvPr/>
          </p:nvSpPr>
          <p:spPr>
            <a:xfrm flipH="1">
              <a:off x="3320" y="2882"/>
              <a:ext cx="240" cy="240"/>
            </a:xfrm>
            <a:prstGeom prst="line">
              <a:avLst/>
            </a:prstGeom>
            <a:ln w="28575" cap="flat" cmpd="sng">
              <a:solidFill>
                <a:srgbClr val="008000"/>
              </a:solidFill>
              <a:prstDash val="solid"/>
              <a:round/>
              <a:headEnd type="none" w="med" len="med"/>
              <a:tailEnd type="none" w="med" len="med"/>
            </a:ln>
          </p:spPr>
        </p:sp>
        <p:sp>
          <p:nvSpPr>
            <p:cNvPr id="75798" name="Rectangle 22"/>
            <p:cNvSpPr/>
            <p:nvPr/>
          </p:nvSpPr>
          <p:spPr>
            <a:xfrm>
              <a:off x="3656" y="3410"/>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5799" name="Rectangle 23"/>
            <p:cNvSpPr/>
            <p:nvPr/>
          </p:nvSpPr>
          <p:spPr>
            <a:xfrm>
              <a:off x="3224" y="3074"/>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5800" name="Line 24"/>
            <p:cNvSpPr/>
            <p:nvPr/>
          </p:nvSpPr>
          <p:spPr>
            <a:xfrm>
              <a:off x="3656" y="2827"/>
              <a:ext cx="288" cy="288"/>
            </a:xfrm>
            <a:prstGeom prst="line">
              <a:avLst/>
            </a:prstGeom>
            <a:ln w="28575" cap="flat" cmpd="sng">
              <a:solidFill>
                <a:schemeClr val="hlink"/>
              </a:solidFill>
              <a:prstDash val="solid"/>
              <a:round/>
              <a:headEnd type="none" w="med" len="med"/>
              <a:tailEnd type="none" w="med" len="med"/>
            </a:ln>
          </p:spPr>
        </p:sp>
        <p:sp>
          <p:nvSpPr>
            <p:cNvPr id="75801" name="Oval 25"/>
            <p:cNvSpPr/>
            <p:nvPr/>
          </p:nvSpPr>
          <p:spPr>
            <a:xfrm>
              <a:off x="3848" y="3026"/>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5802" name="Oval 26"/>
            <p:cNvSpPr/>
            <p:nvPr/>
          </p:nvSpPr>
          <p:spPr>
            <a:xfrm>
              <a:off x="3512" y="2690"/>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5803" name="Rectangle 27"/>
            <p:cNvSpPr/>
            <p:nvPr/>
          </p:nvSpPr>
          <p:spPr>
            <a:xfrm>
              <a:off x="4136" y="3410"/>
              <a:ext cx="240" cy="816"/>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r>
                <a:rPr lang="en-US" altLang="zh-CN" sz="2400" b="1" i="1" dirty="0">
                  <a:solidFill>
                    <a:srgbClr val="FFFF00"/>
                  </a:solidFill>
                  <a:latin typeface="Times New Roman" panose="02020603050405020304" pitchFamily="18" charset="0"/>
                  <a:ea typeface="宋体" panose="02010600030101010101" pitchFamily="2" charset="-122"/>
                </a:rPr>
                <a:t>h</a:t>
              </a:r>
            </a:p>
            <a:p>
              <a:pPr algn="ctr">
                <a:lnSpc>
                  <a:spcPct val="60000"/>
                </a:lnSpc>
              </a:pPr>
              <a:r>
                <a:rPr lang="en-US" altLang="zh-CN" sz="2400" b="1" i="1" dirty="0">
                  <a:solidFill>
                    <a:srgbClr val="FFFF00"/>
                  </a:solidFill>
                  <a:latin typeface="Times New Roman" panose="02020603050405020304" pitchFamily="18" charset="0"/>
                  <a:ea typeface="宋体" panose="02010600030101010101" pitchFamily="2" charset="-122"/>
                </a:rPr>
                <a:t>+</a:t>
              </a:r>
            </a:p>
            <a:p>
              <a:pPr algn="ctr">
                <a:lnSpc>
                  <a:spcPct val="60000"/>
                </a:lnSpc>
              </a:pPr>
              <a:r>
                <a:rPr lang="en-US" altLang="zh-CN" sz="2400" b="1" dirty="0">
                  <a:solidFill>
                    <a:srgbClr val="FFFF00"/>
                  </a:solidFill>
                  <a:latin typeface="Times New Roman" panose="02020603050405020304" pitchFamily="18" charset="0"/>
                  <a:ea typeface="宋体" panose="02010600030101010101" pitchFamily="2" charset="-122"/>
                </a:rPr>
                <a:t>1</a:t>
              </a:r>
              <a:endParaRPr lang="en-US" altLang="zh-CN" sz="2400" b="1" i="1" dirty="0">
                <a:solidFill>
                  <a:srgbClr val="FFFF00"/>
                </a:solidFill>
                <a:latin typeface="Times New Roman" panose="02020603050405020304" pitchFamily="18" charset="0"/>
                <a:ea typeface="宋体" panose="02010600030101010101" pitchFamily="2" charset="-122"/>
              </a:endParaRPr>
            </a:p>
          </p:txBody>
        </p:sp>
        <p:sp>
          <p:nvSpPr>
            <p:cNvPr id="75804" name="Text Box 28"/>
            <p:cNvSpPr txBox="1"/>
            <p:nvPr/>
          </p:nvSpPr>
          <p:spPr>
            <a:xfrm>
              <a:off x="2974" y="2834"/>
              <a:ext cx="337"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75805" name="Text Box 29"/>
            <p:cNvSpPr txBox="1"/>
            <p:nvPr/>
          </p:nvSpPr>
          <p:spPr>
            <a:xfrm>
              <a:off x="3739" y="2512"/>
              <a:ext cx="254"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p>
          </p:txBody>
        </p:sp>
        <p:sp>
          <p:nvSpPr>
            <p:cNvPr id="75806" name="Text Box 30"/>
            <p:cNvSpPr txBox="1"/>
            <p:nvPr/>
          </p:nvSpPr>
          <p:spPr>
            <a:xfrm>
              <a:off x="4027" y="2867"/>
              <a:ext cx="24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p>
          </p:txBody>
        </p:sp>
        <p:sp>
          <p:nvSpPr>
            <p:cNvPr id="75807" name="Text Box 31"/>
            <p:cNvSpPr txBox="1"/>
            <p:nvPr/>
          </p:nvSpPr>
          <p:spPr>
            <a:xfrm>
              <a:off x="4377" y="3203"/>
              <a:ext cx="33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R</a:t>
              </a:r>
            </a:p>
          </p:txBody>
        </p:sp>
        <p:sp>
          <p:nvSpPr>
            <p:cNvPr id="75808" name="Text Box 32"/>
            <p:cNvSpPr txBox="1"/>
            <p:nvPr/>
          </p:nvSpPr>
          <p:spPr>
            <a:xfrm>
              <a:off x="3499" y="3155"/>
              <a:ext cx="326"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936993" name="Text Box 33"/>
            <p:cNvSpPr txBox="1">
              <a:spLocks noChangeArrowheads="1"/>
            </p:cNvSpPr>
            <p:nvPr/>
          </p:nvSpPr>
          <p:spPr bwMode="auto">
            <a:xfrm>
              <a:off x="576" y="2525"/>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36994" name="Text Box 34"/>
            <p:cNvSpPr txBox="1">
              <a:spLocks noChangeArrowheads="1"/>
            </p:cNvSpPr>
            <p:nvPr/>
          </p:nvSpPr>
          <p:spPr bwMode="auto">
            <a:xfrm>
              <a:off x="3224" y="2498"/>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sp>
          <p:nvSpPr>
            <p:cNvPr id="936995" name="Text Box 35"/>
            <p:cNvSpPr txBox="1">
              <a:spLocks noChangeArrowheads="1"/>
            </p:cNvSpPr>
            <p:nvPr/>
          </p:nvSpPr>
          <p:spPr bwMode="auto">
            <a:xfrm>
              <a:off x="1190" y="2813"/>
              <a:ext cx="211"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0</a:t>
              </a:r>
            </a:p>
          </p:txBody>
        </p:sp>
        <p:sp>
          <p:nvSpPr>
            <p:cNvPr id="936996" name="Text Box 36"/>
            <p:cNvSpPr txBox="1">
              <a:spLocks noChangeArrowheads="1"/>
            </p:cNvSpPr>
            <p:nvPr/>
          </p:nvSpPr>
          <p:spPr bwMode="auto">
            <a:xfrm>
              <a:off x="3800" y="2779"/>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grpSp>
      <mc:AlternateContent xmlns:mc="http://schemas.openxmlformats.org/markup-compatibility/2006">
        <mc:Choice xmlns:p14="http://schemas.microsoft.com/office/powerpoint/2010/main" Requires="p14">
          <p:contentPart p14:bwMode="auto" r:id="rId2">
            <p14:nvContentPartPr>
              <p14:cNvPr id="5" name="墨迹 4">
                <a:extLst>
                  <a:ext uri="{FF2B5EF4-FFF2-40B4-BE49-F238E27FC236}">
                    <a16:creationId xmlns:a16="http://schemas.microsoft.com/office/drawing/2014/main" id="{FC86A795-4D40-40F0-B0C7-1AAF52FBF4A1}"/>
                  </a:ext>
                </a:extLst>
              </p14:cNvPr>
              <p14:cNvContentPartPr/>
              <p14:nvPr/>
            </p14:nvContentPartPr>
            <p14:xfrm>
              <a:off x="7562880" y="2622600"/>
              <a:ext cx="1575000" cy="1422720"/>
            </p14:xfrm>
          </p:contentPart>
        </mc:Choice>
        <mc:Fallback>
          <p:pic>
            <p:nvPicPr>
              <p:cNvPr id="5" name="墨迹 4">
                <a:extLst>
                  <a:ext uri="{FF2B5EF4-FFF2-40B4-BE49-F238E27FC236}">
                    <a16:creationId xmlns:a16="http://schemas.microsoft.com/office/drawing/2014/main" id="{FC86A795-4D40-40F0-B0C7-1AAF52FBF4A1}"/>
                  </a:ext>
                </a:extLst>
              </p:cNvPr>
              <p:cNvPicPr/>
              <p:nvPr/>
            </p:nvPicPr>
            <p:blipFill>
              <a:blip r:embed="rId3"/>
              <a:stretch>
                <a:fillRect/>
              </a:stretch>
            </p:blipFill>
            <p:spPr>
              <a:xfrm>
                <a:off x="7553520" y="2613240"/>
                <a:ext cx="1593720" cy="1441440"/>
              </a:xfrm>
              <a:prstGeom prst="rect">
                <a:avLst/>
              </a:prstGeom>
            </p:spPr>
          </p:pic>
        </mc:Fallback>
      </mc:AlternateContent>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单向左旋具体操作：</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沿插入路径检查三个结点</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a:t>
            </a:r>
            <a:r>
              <a:rPr lang="en-US" altLang="zh-CN" dirty="0">
                <a:latin typeface="黑体" panose="02010609060101010101" pitchFamily="2" charset="-122"/>
                <a:ea typeface="黑体" panose="02010609060101010101" pitchFamily="2" charset="-122"/>
                <a:sym typeface="+mn-ea"/>
              </a:rPr>
              <a:t>B</a:t>
            </a:r>
            <a:r>
              <a:rPr lang="zh-CN" altLang="en-US" dirty="0">
                <a:latin typeface="黑体" panose="02010609060101010101" pitchFamily="2" charset="-122"/>
                <a:ea typeface="黑体" panose="02010609060101010101" pitchFamily="2" charset="-122"/>
                <a:sym typeface="+mn-ea"/>
              </a:rPr>
              <a:t>和</a:t>
            </a:r>
            <a:r>
              <a:rPr lang="en-US" altLang="zh-CN" dirty="0">
                <a:latin typeface="黑体" panose="02010609060101010101" pitchFamily="2" charset="-122"/>
                <a:ea typeface="黑体" panose="02010609060101010101" pitchFamily="2" charset="-122"/>
                <a:sym typeface="+mn-ea"/>
              </a:rPr>
              <a:t>B</a:t>
            </a:r>
            <a:r>
              <a:rPr lang="en-US" altLang="zh-CN" baseline="-25000" dirty="0">
                <a:latin typeface="黑体" panose="02010609060101010101" pitchFamily="2" charset="-122"/>
                <a:ea typeface="黑体" panose="02010609060101010101" pitchFamily="2" charset="-122"/>
                <a:sym typeface="+mn-ea"/>
              </a:rPr>
              <a:t>R</a:t>
            </a:r>
            <a:r>
              <a:rPr lang="en-US" altLang="zh-CN" dirty="0">
                <a:solidFill>
                  <a:schemeClr val="hlink"/>
                </a:solidFill>
                <a:latin typeface="黑体" panose="02010609060101010101" pitchFamily="2" charset="-122"/>
                <a:ea typeface="黑体" panose="02010609060101010101" pitchFamily="2" charset="-122"/>
                <a:sym typeface="+mn-ea"/>
              </a:rPr>
              <a:t>(</a:t>
            </a:r>
            <a:r>
              <a:rPr lang="en-US" altLang="zh-CN" dirty="0">
                <a:solidFill>
                  <a:schemeClr val="hlink"/>
                </a:solidFill>
                <a:ea typeface="黑体" panose="02010609060101010101" pitchFamily="2" charset="-122"/>
                <a:sym typeface="+mn-ea"/>
              </a:rPr>
              <a:t>“</a:t>
            </a:r>
            <a:r>
              <a:rPr lang="en-US" altLang="zh-CN" dirty="0">
                <a:solidFill>
                  <a:schemeClr val="hlink"/>
                </a:solidFill>
                <a:latin typeface="黑体" panose="02010609060101010101" pitchFamily="2" charset="-122"/>
                <a:ea typeface="黑体" panose="02010609060101010101" pitchFamily="2" charset="-122"/>
                <a:sym typeface="+mn-ea"/>
              </a:rPr>
              <a:t>\</a:t>
            </a:r>
            <a:r>
              <a:rPr lang="en-US" altLang="zh-CN" dirty="0">
                <a:solidFill>
                  <a:schemeClr val="hlink"/>
                </a:solidFill>
                <a:ea typeface="黑体" panose="02010609060101010101" pitchFamily="2" charset="-122"/>
                <a:sym typeface="+mn-ea"/>
              </a:rPr>
              <a:t>”</a:t>
            </a:r>
            <a:r>
              <a:rPr lang="zh-CN" altLang="en-US" dirty="0">
                <a:solidFill>
                  <a:schemeClr val="hlink"/>
                </a:solidFill>
                <a:latin typeface="黑体" panose="02010609060101010101" pitchFamily="2" charset="-122"/>
                <a:ea typeface="黑体" panose="02010609060101010101" pitchFamily="2" charset="-122"/>
                <a:sym typeface="+mn-ea"/>
              </a:rPr>
              <a:t>型</a:t>
            </a:r>
            <a:r>
              <a:rPr lang="en-US" altLang="zh-CN" dirty="0">
                <a:solidFill>
                  <a:schemeClr val="hlink"/>
                </a:solidFill>
                <a:latin typeface="黑体" panose="02010609060101010101" pitchFamily="2" charset="-122"/>
                <a:ea typeface="黑体" panose="02010609060101010101" pitchFamily="2" charset="-122"/>
                <a:sym typeface="+mn-ea"/>
              </a:rPr>
              <a:t>)</a:t>
            </a: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以结点</a:t>
            </a:r>
            <a:r>
              <a:rPr lang="en-US" altLang="zh-CN" dirty="0">
                <a:latin typeface="黑体" panose="02010609060101010101" pitchFamily="2" charset="-122"/>
                <a:ea typeface="黑体" panose="02010609060101010101" pitchFamily="2" charset="-122"/>
                <a:sym typeface="+mn-ea"/>
              </a:rPr>
              <a:t>B</a:t>
            </a:r>
            <a:r>
              <a:rPr lang="zh-CN" altLang="en-US" dirty="0">
                <a:latin typeface="黑体" panose="02010609060101010101" pitchFamily="2" charset="-122"/>
                <a:ea typeface="黑体" panose="02010609060101010101" pitchFamily="2" charset="-122"/>
                <a:sym typeface="+mn-ea"/>
              </a:rPr>
              <a:t>为旋转轴，让结点</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反时针</a:t>
            </a:r>
            <a:r>
              <a:rPr lang="en-US" altLang="zh-CN" dirty="0">
                <a:latin typeface="黑体" panose="02010609060101010101" pitchFamily="2" charset="-122"/>
                <a:ea typeface="黑体" panose="02010609060101010101" pitchFamily="2" charset="-122"/>
                <a:sym typeface="+mn-ea"/>
              </a:rPr>
              <a:t>(</a:t>
            </a:r>
            <a:r>
              <a:rPr lang="zh-CN" altLang="en-US" dirty="0">
                <a:latin typeface="黑体" panose="02010609060101010101" pitchFamily="2" charset="-122"/>
                <a:ea typeface="黑体" panose="02010609060101010101" pitchFamily="2" charset="-122"/>
                <a:sym typeface="+mn-ea"/>
              </a:rPr>
              <a:t>左</a:t>
            </a:r>
            <a:r>
              <a:rPr lang="en-US" altLang="zh-CN" dirty="0">
                <a:latin typeface="黑体" panose="02010609060101010101" pitchFamily="2" charset="-122"/>
                <a:ea typeface="黑体" panose="02010609060101010101" pitchFamily="2" charset="-122"/>
                <a:sym typeface="+mn-ea"/>
              </a:rPr>
              <a:t>)</a:t>
            </a:r>
            <a:r>
              <a:rPr lang="zh-CN" altLang="en-US" dirty="0">
                <a:latin typeface="黑体" panose="02010609060101010101" pitchFamily="2" charset="-122"/>
                <a:ea typeface="黑体" panose="02010609060101010101" pitchFamily="2" charset="-122"/>
                <a:sym typeface="+mn-ea"/>
              </a:rPr>
              <a:t>旋转</a:t>
            </a: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69</a:t>
            </a:fld>
            <a:endParaRPr lang="zh-CN" altLang="en-US"/>
          </a:p>
        </p:txBody>
      </p:sp>
      <p:sp>
        <p:nvSpPr>
          <p:cNvPr id="7" name="文本框 6"/>
          <p:cNvSpPr txBox="1"/>
          <p:nvPr/>
        </p:nvSpPr>
        <p:spPr>
          <a:xfrm>
            <a:off x="7972425" y="3772535"/>
            <a:ext cx="4064000" cy="914400"/>
          </a:xfrm>
          <a:prstGeom prst="rect">
            <a:avLst/>
          </a:prstGeom>
        </p:spPr>
        <p:txBody>
          <a:bodyPr vert="horz" wrap="square" lIns="91440" tIns="45720" rIns="91440" bIns="45720" rtlCol="0">
            <a:noAutofit/>
          </a:bodyPr>
          <a:lstStyle/>
          <a:p>
            <a:pPr marL="571500" lvl="0" indent="-571500">
              <a:lnSpc>
                <a:spcPct val="90000"/>
              </a:lnSpc>
              <a:spcBef>
                <a:spcPts val="1000"/>
              </a:spcBef>
              <a:buClr>
                <a:schemeClr val="accent2"/>
              </a:buClr>
              <a:buFont typeface="Wingdings" panose="05000000000000000000" pitchFamily="2" charset="2"/>
              <a:buChar char="n"/>
            </a:pPr>
            <a:endParaRPr lang="zh-CN" altLang="en-US"/>
          </a:p>
        </p:txBody>
      </p:sp>
      <p:grpSp>
        <p:nvGrpSpPr>
          <p:cNvPr id="76804" name="Group 4"/>
          <p:cNvGrpSpPr/>
          <p:nvPr/>
        </p:nvGrpSpPr>
        <p:grpSpPr>
          <a:xfrm>
            <a:off x="1630998" y="2420620"/>
            <a:ext cx="8621713" cy="2778125"/>
            <a:chOff x="278" y="2525"/>
            <a:chExt cx="5431" cy="1750"/>
          </a:xfrm>
        </p:grpSpPr>
        <p:sp>
          <p:nvSpPr>
            <p:cNvPr id="76805" name="Line 5"/>
            <p:cNvSpPr/>
            <p:nvPr/>
          </p:nvSpPr>
          <p:spPr>
            <a:xfrm>
              <a:off x="3130" y="3219"/>
              <a:ext cx="288" cy="288"/>
            </a:xfrm>
            <a:prstGeom prst="line">
              <a:avLst/>
            </a:prstGeom>
            <a:ln w="28575" cap="flat" cmpd="sng">
              <a:solidFill>
                <a:schemeClr val="hlink"/>
              </a:solidFill>
              <a:prstDash val="solid"/>
              <a:round/>
              <a:headEnd type="none" w="med" len="med"/>
              <a:tailEnd type="none" w="med" len="med"/>
            </a:ln>
          </p:spPr>
        </p:sp>
        <p:sp>
          <p:nvSpPr>
            <p:cNvPr id="76806" name="Line 6"/>
            <p:cNvSpPr/>
            <p:nvPr/>
          </p:nvSpPr>
          <p:spPr>
            <a:xfrm flipH="1">
              <a:off x="2890" y="3219"/>
              <a:ext cx="240" cy="240"/>
            </a:xfrm>
            <a:prstGeom prst="line">
              <a:avLst/>
            </a:prstGeom>
            <a:ln w="28575" cap="flat" cmpd="sng">
              <a:solidFill>
                <a:srgbClr val="008000"/>
              </a:solidFill>
              <a:prstDash val="solid"/>
              <a:round/>
              <a:headEnd type="none" w="med" len="med"/>
              <a:tailEnd type="none" w="med" len="med"/>
            </a:ln>
          </p:spPr>
        </p:sp>
        <p:sp>
          <p:nvSpPr>
            <p:cNvPr id="76807" name="Line 7"/>
            <p:cNvSpPr/>
            <p:nvPr/>
          </p:nvSpPr>
          <p:spPr>
            <a:xfrm>
              <a:off x="1008" y="2931"/>
              <a:ext cx="288" cy="288"/>
            </a:xfrm>
            <a:prstGeom prst="line">
              <a:avLst/>
            </a:prstGeom>
            <a:ln w="28575" cap="flat" cmpd="sng">
              <a:solidFill>
                <a:srgbClr val="008000"/>
              </a:solidFill>
              <a:prstDash val="solid"/>
              <a:round/>
              <a:headEnd type="none" w="med" len="med"/>
              <a:tailEnd type="none" w="med" len="med"/>
            </a:ln>
          </p:spPr>
        </p:sp>
        <p:sp>
          <p:nvSpPr>
            <p:cNvPr id="76808" name="Line 8"/>
            <p:cNvSpPr/>
            <p:nvPr/>
          </p:nvSpPr>
          <p:spPr>
            <a:xfrm>
              <a:off x="1344" y="3267"/>
              <a:ext cx="288" cy="288"/>
            </a:xfrm>
            <a:prstGeom prst="line">
              <a:avLst/>
            </a:prstGeom>
            <a:ln w="28575" cap="flat" cmpd="sng">
              <a:solidFill>
                <a:srgbClr val="008000"/>
              </a:solidFill>
              <a:prstDash val="solid"/>
              <a:round/>
              <a:headEnd type="none" w="med" len="med"/>
              <a:tailEnd type="none" w="med" len="med"/>
            </a:ln>
          </p:spPr>
        </p:sp>
        <p:sp>
          <p:nvSpPr>
            <p:cNvPr id="76809" name="Line 9"/>
            <p:cNvSpPr/>
            <p:nvPr/>
          </p:nvSpPr>
          <p:spPr>
            <a:xfrm flipH="1">
              <a:off x="624" y="2931"/>
              <a:ext cx="240" cy="240"/>
            </a:xfrm>
            <a:prstGeom prst="line">
              <a:avLst/>
            </a:prstGeom>
            <a:ln w="28575" cap="flat" cmpd="sng">
              <a:solidFill>
                <a:srgbClr val="008000"/>
              </a:solidFill>
              <a:prstDash val="solid"/>
              <a:round/>
              <a:headEnd type="none" w="med" len="med"/>
              <a:tailEnd type="none" w="med" len="med"/>
            </a:ln>
          </p:spPr>
        </p:sp>
        <p:sp>
          <p:nvSpPr>
            <p:cNvPr id="76810" name="Rectangle 10"/>
            <p:cNvSpPr/>
            <p:nvPr/>
          </p:nvSpPr>
          <p:spPr>
            <a:xfrm>
              <a:off x="528" y="3123"/>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6811" name="Oval 11"/>
            <p:cNvSpPr/>
            <p:nvPr/>
          </p:nvSpPr>
          <p:spPr>
            <a:xfrm>
              <a:off x="816" y="2739"/>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6812" name="Line 12"/>
            <p:cNvSpPr/>
            <p:nvPr/>
          </p:nvSpPr>
          <p:spPr>
            <a:xfrm flipH="1">
              <a:off x="960" y="3267"/>
              <a:ext cx="240" cy="240"/>
            </a:xfrm>
            <a:prstGeom prst="line">
              <a:avLst/>
            </a:prstGeom>
            <a:ln w="28575" cap="flat" cmpd="sng">
              <a:solidFill>
                <a:srgbClr val="008000"/>
              </a:solidFill>
              <a:prstDash val="solid"/>
              <a:round/>
              <a:headEnd type="none" w="med" len="med"/>
              <a:tailEnd type="none" w="med" len="med"/>
            </a:ln>
          </p:spPr>
        </p:sp>
        <p:sp>
          <p:nvSpPr>
            <p:cNvPr id="76813" name="Oval 13"/>
            <p:cNvSpPr/>
            <p:nvPr/>
          </p:nvSpPr>
          <p:spPr>
            <a:xfrm>
              <a:off x="1152" y="3075"/>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6814" name="Rectangle 14"/>
            <p:cNvSpPr/>
            <p:nvPr/>
          </p:nvSpPr>
          <p:spPr>
            <a:xfrm>
              <a:off x="912" y="3459"/>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6815" name="Rectangle 15"/>
            <p:cNvSpPr/>
            <p:nvPr/>
          </p:nvSpPr>
          <p:spPr>
            <a:xfrm>
              <a:off x="1440" y="3459"/>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6816" name="Text Box 16"/>
            <p:cNvSpPr txBox="1"/>
            <p:nvPr/>
          </p:nvSpPr>
          <p:spPr>
            <a:xfrm>
              <a:off x="1046" y="2580"/>
              <a:ext cx="254"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p>
          </p:txBody>
        </p:sp>
        <p:sp>
          <p:nvSpPr>
            <p:cNvPr id="76817" name="Text Box 17"/>
            <p:cNvSpPr txBox="1"/>
            <p:nvPr/>
          </p:nvSpPr>
          <p:spPr>
            <a:xfrm>
              <a:off x="1382" y="2909"/>
              <a:ext cx="24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p>
          </p:txBody>
        </p:sp>
        <p:sp>
          <p:nvSpPr>
            <p:cNvPr id="76818" name="Text Box 18"/>
            <p:cNvSpPr txBox="1"/>
            <p:nvPr/>
          </p:nvSpPr>
          <p:spPr>
            <a:xfrm>
              <a:off x="1681" y="3252"/>
              <a:ext cx="33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R</a:t>
              </a:r>
            </a:p>
          </p:txBody>
        </p:sp>
        <p:sp>
          <p:nvSpPr>
            <p:cNvPr id="76819" name="Text Box 19"/>
            <p:cNvSpPr txBox="1"/>
            <p:nvPr/>
          </p:nvSpPr>
          <p:spPr>
            <a:xfrm>
              <a:off x="278" y="2890"/>
              <a:ext cx="337"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76820" name="Text Box 20"/>
            <p:cNvSpPr txBox="1"/>
            <p:nvPr/>
          </p:nvSpPr>
          <p:spPr>
            <a:xfrm>
              <a:off x="768" y="3204"/>
              <a:ext cx="326"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76821" name="Line 21"/>
            <p:cNvSpPr/>
            <p:nvPr/>
          </p:nvSpPr>
          <p:spPr>
            <a:xfrm flipH="1">
              <a:off x="2458" y="2931"/>
              <a:ext cx="240" cy="240"/>
            </a:xfrm>
            <a:prstGeom prst="line">
              <a:avLst/>
            </a:prstGeom>
            <a:ln w="28575" cap="flat" cmpd="sng">
              <a:solidFill>
                <a:srgbClr val="008000"/>
              </a:solidFill>
              <a:prstDash val="solid"/>
              <a:round/>
              <a:headEnd type="none" w="med" len="med"/>
              <a:tailEnd type="none" w="med" len="med"/>
            </a:ln>
          </p:spPr>
        </p:sp>
        <p:sp>
          <p:nvSpPr>
            <p:cNvPr id="76822" name="Rectangle 22"/>
            <p:cNvSpPr/>
            <p:nvPr/>
          </p:nvSpPr>
          <p:spPr>
            <a:xfrm>
              <a:off x="2794" y="3459"/>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6823" name="Rectangle 23"/>
            <p:cNvSpPr/>
            <p:nvPr/>
          </p:nvSpPr>
          <p:spPr>
            <a:xfrm>
              <a:off x="2362" y="3123"/>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6824" name="Line 24"/>
            <p:cNvSpPr/>
            <p:nvPr/>
          </p:nvSpPr>
          <p:spPr>
            <a:xfrm>
              <a:off x="2794" y="2876"/>
              <a:ext cx="288" cy="288"/>
            </a:xfrm>
            <a:prstGeom prst="line">
              <a:avLst/>
            </a:prstGeom>
            <a:ln w="28575" cap="flat" cmpd="sng">
              <a:solidFill>
                <a:schemeClr val="hlink"/>
              </a:solidFill>
              <a:prstDash val="solid"/>
              <a:round/>
              <a:headEnd type="none" w="med" len="med"/>
              <a:tailEnd type="none" w="med" len="med"/>
            </a:ln>
          </p:spPr>
        </p:sp>
        <p:sp>
          <p:nvSpPr>
            <p:cNvPr id="76825" name="Oval 25"/>
            <p:cNvSpPr/>
            <p:nvPr/>
          </p:nvSpPr>
          <p:spPr>
            <a:xfrm>
              <a:off x="2986" y="3075"/>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6826" name="Oval 26"/>
            <p:cNvSpPr/>
            <p:nvPr/>
          </p:nvSpPr>
          <p:spPr>
            <a:xfrm>
              <a:off x="2650" y="2739"/>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6827" name="Rectangle 27"/>
            <p:cNvSpPr/>
            <p:nvPr/>
          </p:nvSpPr>
          <p:spPr>
            <a:xfrm>
              <a:off x="3274" y="3459"/>
              <a:ext cx="240" cy="816"/>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r>
                <a:rPr lang="en-US" altLang="zh-CN" sz="2400" b="1" i="1" dirty="0">
                  <a:solidFill>
                    <a:srgbClr val="FFFF00"/>
                  </a:solidFill>
                  <a:latin typeface="Times New Roman" panose="02020603050405020304" pitchFamily="18" charset="0"/>
                  <a:ea typeface="宋体" panose="02010600030101010101" pitchFamily="2" charset="-122"/>
                </a:rPr>
                <a:t>h</a:t>
              </a:r>
            </a:p>
            <a:p>
              <a:pPr algn="ctr">
                <a:lnSpc>
                  <a:spcPct val="60000"/>
                </a:lnSpc>
              </a:pPr>
              <a:r>
                <a:rPr lang="en-US" altLang="zh-CN" sz="2400" b="1" i="1" dirty="0">
                  <a:solidFill>
                    <a:srgbClr val="FFFF00"/>
                  </a:solidFill>
                  <a:latin typeface="Times New Roman" panose="02020603050405020304" pitchFamily="18" charset="0"/>
                  <a:ea typeface="宋体" panose="02010600030101010101" pitchFamily="2" charset="-122"/>
                </a:rPr>
                <a:t>+</a:t>
              </a:r>
            </a:p>
            <a:p>
              <a:pPr algn="ctr">
                <a:lnSpc>
                  <a:spcPct val="60000"/>
                </a:lnSpc>
              </a:pPr>
              <a:r>
                <a:rPr lang="en-US" altLang="zh-CN" sz="2400" b="1" dirty="0">
                  <a:solidFill>
                    <a:srgbClr val="FFFF00"/>
                  </a:solidFill>
                  <a:latin typeface="Times New Roman" panose="02020603050405020304" pitchFamily="18" charset="0"/>
                  <a:ea typeface="宋体" panose="02010600030101010101" pitchFamily="2" charset="-122"/>
                </a:rPr>
                <a:t>1</a:t>
              </a:r>
              <a:endParaRPr lang="en-US" altLang="zh-CN" sz="2400" b="1" i="1" dirty="0">
                <a:solidFill>
                  <a:srgbClr val="FFFF00"/>
                </a:solidFill>
                <a:latin typeface="Times New Roman" panose="02020603050405020304" pitchFamily="18" charset="0"/>
                <a:ea typeface="宋体" panose="02010600030101010101" pitchFamily="2" charset="-122"/>
              </a:endParaRPr>
            </a:p>
          </p:txBody>
        </p:sp>
        <p:sp>
          <p:nvSpPr>
            <p:cNvPr id="76828" name="Text Box 28"/>
            <p:cNvSpPr txBox="1"/>
            <p:nvPr/>
          </p:nvSpPr>
          <p:spPr>
            <a:xfrm>
              <a:off x="2112" y="2883"/>
              <a:ext cx="337"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76829" name="Text Box 29"/>
            <p:cNvSpPr txBox="1"/>
            <p:nvPr/>
          </p:nvSpPr>
          <p:spPr>
            <a:xfrm>
              <a:off x="2877" y="2561"/>
              <a:ext cx="254"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p>
          </p:txBody>
        </p:sp>
        <p:sp>
          <p:nvSpPr>
            <p:cNvPr id="76830" name="Text Box 30"/>
            <p:cNvSpPr txBox="1"/>
            <p:nvPr/>
          </p:nvSpPr>
          <p:spPr>
            <a:xfrm>
              <a:off x="3165" y="2916"/>
              <a:ext cx="24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p>
          </p:txBody>
        </p:sp>
        <p:sp>
          <p:nvSpPr>
            <p:cNvPr id="76831" name="Text Box 31"/>
            <p:cNvSpPr txBox="1"/>
            <p:nvPr/>
          </p:nvSpPr>
          <p:spPr>
            <a:xfrm>
              <a:off x="3515" y="3252"/>
              <a:ext cx="33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R</a:t>
              </a:r>
            </a:p>
          </p:txBody>
        </p:sp>
        <p:sp>
          <p:nvSpPr>
            <p:cNvPr id="76832" name="Text Box 32"/>
            <p:cNvSpPr txBox="1"/>
            <p:nvPr/>
          </p:nvSpPr>
          <p:spPr>
            <a:xfrm>
              <a:off x="2637" y="3204"/>
              <a:ext cx="326"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76833" name="Line 33"/>
            <p:cNvSpPr/>
            <p:nvPr/>
          </p:nvSpPr>
          <p:spPr>
            <a:xfrm>
              <a:off x="4992" y="2883"/>
              <a:ext cx="288" cy="288"/>
            </a:xfrm>
            <a:prstGeom prst="line">
              <a:avLst/>
            </a:prstGeom>
            <a:ln w="28575" cap="flat" cmpd="sng">
              <a:solidFill>
                <a:srgbClr val="008000"/>
              </a:solidFill>
              <a:prstDash val="solid"/>
              <a:round/>
              <a:headEnd type="none" w="med" len="med"/>
              <a:tailEnd type="none" w="med" len="med"/>
            </a:ln>
          </p:spPr>
        </p:sp>
        <p:sp>
          <p:nvSpPr>
            <p:cNvPr id="76834" name="Line 34"/>
            <p:cNvSpPr/>
            <p:nvPr/>
          </p:nvSpPr>
          <p:spPr>
            <a:xfrm flipH="1">
              <a:off x="4656" y="2931"/>
              <a:ext cx="240" cy="240"/>
            </a:xfrm>
            <a:prstGeom prst="line">
              <a:avLst/>
            </a:prstGeom>
            <a:ln w="28575" cap="flat" cmpd="sng">
              <a:solidFill>
                <a:srgbClr val="008000"/>
              </a:solidFill>
              <a:prstDash val="solid"/>
              <a:round/>
              <a:headEnd type="none" w="med" len="med"/>
              <a:tailEnd type="none" w="med" len="med"/>
            </a:ln>
          </p:spPr>
        </p:sp>
        <p:sp>
          <p:nvSpPr>
            <p:cNvPr id="76835" name="Oval 35"/>
            <p:cNvSpPr/>
            <p:nvPr/>
          </p:nvSpPr>
          <p:spPr>
            <a:xfrm>
              <a:off x="4512" y="3075"/>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6836" name="Oval 36"/>
            <p:cNvSpPr/>
            <p:nvPr/>
          </p:nvSpPr>
          <p:spPr>
            <a:xfrm>
              <a:off x="4848" y="2739"/>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solidFill>
                  <a:schemeClr val="tx2">
                    <a:lumMod val="75000"/>
                  </a:schemeClr>
                </a:solidFill>
                <a:latin typeface="Arial" panose="020B0604020202020204" pitchFamily="34" charset="0"/>
                <a:ea typeface="宋体" panose="02010600030101010101" pitchFamily="2" charset="-122"/>
              </a:endParaRPr>
            </a:p>
          </p:txBody>
        </p:sp>
        <p:sp>
          <p:nvSpPr>
            <p:cNvPr id="76837" name="Line 37"/>
            <p:cNvSpPr/>
            <p:nvPr/>
          </p:nvSpPr>
          <p:spPr>
            <a:xfrm flipH="1">
              <a:off x="4320" y="3267"/>
              <a:ext cx="240" cy="240"/>
            </a:xfrm>
            <a:prstGeom prst="line">
              <a:avLst/>
            </a:prstGeom>
            <a:ln w="28575" cap="flat" cmpd="sng">
              <a:solidFill>
                <a:srgbClr val="008000"/>
              </a:solidFill>
              <a:prstDash val="solid"/>
              <a:round/>
              <a:headEnd type="none" w="med" len="med"/>
              <a:tailEnd type="none" w="med" len="med"/>
            </a:ln>
          </p:spPr>
        </p:sp>
        <p:sp>
          <p:nvSpPr>
            <p:cNvPr id="76838" name="Rectangle 38"/>
            <p:cNvSpPr/>
            <p:nvPr/>
          </p:nvSpPr>
          <p:spPr>
            <a:xfrm>
              <a:off x="4224" y="3459"/>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6839" name="Line 39"/>
            <p:cNvSpPr/>
            <p:nvPr/>
          </p:nvSpPr>
          <p:spPr>
            <a:xfrm>
              <a:off x="4704" y="3267"/>
              <a:ext cx="288" cy="288"/>
            </a:xfrm>
            <a:prstGeom prst="line">
              <a:avLst/>
            </a:prstGeom>
            <a:ln w="28575" cap="flat" cmpd="sng">
              <a:solidFill>
                <a:srgbClr val="008000"/>
              </a:solidFill>
              <a:prstDash val="solid"/>
              <a:round/>
              <a:headEnd type="none" w="med" len="med"/>
              <a:tailEnd type="none" w="med" len="med"/>
            </a:ln>
          </p:spPr>
        </p:sp>
        <p:sp>
          <p:nvSpPr>
            <p:cNvPr id="76840" name="Rectangle 40"/>
            <p:cNvSpPr/>
            <p:nvPr/>
          </p:nvSpPr>
          <p:spPr>
            <a:xfrm>
              <a:off x="4752" y="3459"/>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tx2">
                      <a:lumMod val="75000"/>
                    </a:schemeClr>
                  </a:solidFill>
                  <a:latin typeface="Times New Roman" panose="02020603050405020304" pitchFamily="18" charset="0"/>
                  <a:ea typeface="宋体" panose="02010600030101010101" pitchFamily="2" charset="-122"/>
                </a:rPr>
                <a:t>h</a:t>
              </a:r>
            </a:p>
          </p:txBody>
        </p:sp>
        <p:sp>
          <p:nvSpPr>
            <p:cNvPr id="76841" name="Rectangle 41"/>
            <p:cNvSpPr/>
            <p:nvPr/>
          </p:nvSpPr>
          <p:spPr>
            <a:xfrm>
              <a:off x="5232" y="3171"/>
              <a:ext cx="240" cy="816"/>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r>
                <a:rPr lang="en-US" altLang="zh-CN" sz="2400" b="1" i="1" dirty="0">
                  <a:solidFill>
                    <a:srgbClr val="FFFF00"/>
                  </a:solidFill>
                  <a:latin typeface="Times New Roman" panose="02020603050405020304" pitchFamily="18" charset="0"/>
                  <a:ea typeface="宋体" panose="02010600030101010101" pitchFamily="2" charset="-122"/>
                </a:rPr>
                <a:t>h</a:t>
              </a:r>
            </a:p>
            <a:p>
              <a:pPr algn="ctr">
                <a:lnSpc>
                  <a:spcPct val="60000"/>
                </a:lnSpc>
              </a:pPr>
              <a:r>
                <a:rPr lang="en-US" altLang="zh-CN" sz="2400" b="1" i="1" dirty="0">
                  <a:solidFill>
                    <a:srgbClr val="FFFF00"/>
                  </a:solidFill>
                  <a:latin typeface="Times New Roman" panose="02020603050405020304" pitchFamily="18" charset="0"/>
                  <a:ea typeface="宋体" panose="02010600030101010101" pitchFamily="2" charset="-122"/>
                </a:rPr>
                <a:t>+</a:t>
              </a:r>
            </a:p>
            <a:p>
              <a:pPr algn="ctr">
                <a:lnSpc>
                  <a:spcPct val="60000"/>
                </a:lnSpc>
              </a:pPr>
              <a:r>
                <a:rPr lang="en-US" altLang="zh-CN" sz="2400" b="1" dirty="0">
                  <a:solidFill>
                    <a:srgbClr val="FFFF00"/>
                  </a:solidFill>
                  <a:latin typeface="Times New Roman" panose="02020603050405020304" pitchFamily="18" charset="0"/>
                  <a:ea typeface="宋体" panose="02010600030101010101" pitchFamily="2" charset="-122"/>
                </a:rPr>
                <a:t>1</a:t>
              </a:r>
              <a:endParaRPr lang="en-US" altLang="zh-CN" sz="2400" b="1" i="1" dirty="0">
                <a:solidFill>
                  <a:srgbClr val="FFFF00"/>
                </a:solidFill>
                <a:latin typeface="Times New Roman" panose="02020603050405020304" pitchFamily="18" charset="0"/>
                <a:ea typeface="宋体" panose="02010600030101010101" pitchFamily="2" charset="-122"/>
              </a:endParaRPr>
            </a:p>
          </p:txBody>
        </p:sp>
        <p:sp>
          <p:nvSpPr>
            <p:cNvPr id="76842" name="Text Box 42"/>
            <p:cNvSpPr txBox="1"/>
            <p:nvPr/>
          </p:nvSpPr>
          <p:spPr>
            <a:xfrm>
              <a:off x="4608" y="2561"/>
              <a:ext cx="24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p>
          </p:txBody>
        </p:sp>
        <p:sp>
          <p:nvSpPr>
            <p:cNvPr id="76843" name="Text Box 43"/>
            <p:cNvSpPr txBox="1"/>
            <p:nvPr/>
          </p:nvSpPr>
          <p:spPr>
            <a:xfrm>
              <a:off x="5376" y="2897"/>
              <a:ext cx="333"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R</a:t>
              </a:r>
            </a:p>
          </p:txBody>
        </p:sp>
        <p:sp>
          <p:nvSpPr>
            <p:cNvPr id="76844" name="Text Box 44"/>
            <p:cNvSpPr txBox="1"/>
            <p:nvPr/>
          </p:nvSpPr>
          <p:spPr>
            <a:xfrm>
              <a:off x="4224" y="2916"/>
              <a:ext cx="254"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p>
          </p:txBody>
        </p:sp>
        <p:sp>
          <p:nvSpPr>
            <p:cNvPr id="76845" name="Text Box 45"/>
            <p:cNvSpPr txBox="1"/>
            <p:nvPr/>
          </p:nvSpPr>
          <p:spPr>
            <a:xfrm>
              <a:off x="4023" y="3204"/>
              <a:ext cx="337"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A</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76846" name="Text Box 46"/>
            <p:cNvSpPr txBox="1"/>
            <p:nvPr/>
          </p:nvSpPr>
          <p:spPr>
            <a:xfrm>
              <a:off x="4931" y="3204"/>
              <a:ext cx="326" cy="290"/>
            </a:xfrm>
            <a:prstGeom prst="rect">
              <a:avLst/>
            </a:prstGeom>
            <a:noFill/>
            <a:ln w="9525">
              <a:noFill/>
            </a:ln>
          </p:spPr>
          <p:txBody>
            <a:bodyPr wrap="none" anchor="t" anchorCtr="0">
              <a:spAutoFit/>
            </a:bodyPr>
            <a:lstStyle/>
            <a:p>
              <a:r>
                <a:rPr lang="en-US" altLang="zh-CN" sz="2400" b="1" dirty="0">
                  <a:solidFill>
                    <a:schemeClr val="tx2">
                      <a:lumMod val="75000"/>
                    </a:schemeClr>
                  </a:solidFill>
                  <a:latin typeface="Times New Roman" panose="02020603050405020304" pitchFamily="18" charset="0"/>
                  <a:ea typeface="宋体" panose="02010600030101010101" pitchFamily="2" charset="-122"/>
                </a:rPr>
                <a:t>B</a:t>
              </a:r>
              <a:r>
                <a:rPr lang="en-US" altLang="zh-CN" sz="2400" b="1" baseline="-25000" dirty="0">
                  <a:solidFill>
                    <a:schemeClr val="tx2">
                      <a:lumMod val="75000"/>
                    </a:schemeClr>
                  </a:solidFill>
                  <a:latin typeface="Times New Roman" panose="02020603050405020304" pitchFamily="18" charset="0"/>
                  <a:ea typeface="宋体" panose="02010600030101010101" pitchFamily="2" charset="-122"/>
                </a:rPr>
                <a:t>L</a:t>
              </a:r>
            </a:p>
          </p:txBody>
        </p:sp>
        <p:sp>
          <p:nvSpPr>
            <p:cNvPr id="938031" name="Text Box 47"/>
            <p:cNvSpPr txBox="1">
              <a:spLocks noChangeArrowheads="1"/>
            </p:cNvSpPr>
            <p:nvPr/>
          </p:nvSpPr>
          <p:spPr bwMode="auto">
            <a:xfrm>
              <a:off x="576" y="2525"/>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38032" name="Text Box 48"/>
            <p:cNvSpPr txBox="1">
              <a:spLocks noChangeArrowheads="1"/>
            </p:cNvSpPr>
            <p:nvPr/>
          </p:nvSpPr>
          <p:spPr bwMode="auto">
            <a:xfrm>
              <a:off x="2362" y="2547"/>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sp>
          <p:nvSpPr>
            <p:cNvPr id="938033" name="Text Box 49"/>
            <p:cNvSpPr txBox="1">
              <a:spLocks noChangeArrowheads="1"/>
            </p:cNvSpPr>
            <p:nvPr/>
          </p:nvSpPr>
          <p:spPr bwMode="auto">
            <a:xfrm>
              <a:off x="1190" y="2813"/>
              <a:ext cx="211"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0</a:t>
              </a:r>
            </a:p>
          </p:txBody>
        </p:sp>
        <p:sp>
          <p:nvSpPr>
            <p:cNvPr id="938034" name="Text Box 50"/>
            <p:cNvSpPr txBox="1">
              <a:spLocks noChangeArrowheads="1"/>
            </p:cNvSpPr>
            <p:nvPr/>
          </p:nvSpPr>
          <p:spPr bwMode="auto">
            <a:xfrm>
              <a:off x="2938" y="2828"/>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38035" name="Text Box 51"/>
            <p:cNvSpPr txBox="1">
              <a:spLocks noChangeArrowheads="1"/>
            </p:cNvSpPr>
            <p:nvPr/>
          </p:nvSpPr>
          <p:spPr bwMode="auto">
            <a:xfrm>
              <a:off x="4502" y="2813"/>
              <a:ext cx="211"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chemeClr val="tx2">
                      <a:lumMod val="7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0</a:t>
              </a:r>
            </a:p>
          </p:txBody>
        </p:sp>
        <p:sp>
          <p:nvSpPr>
            <p:cNvPr id="938036" name="Text Box 52"/>
            <p:cNvSpPr txBox="1">
              <a:spLocks noChangeArrowheads="1"/>
            </p:cNvSpPr>
            <p:nvPr/>
          </p:nvSpPr>
          <p:spPr bwMode="auto">
            <a:xfrm>
              <a:off x="5021" y="2525"/>
              <a:ext cx="211" cy="290"/>
            </a:xfrm>
            <a:prstGeom prst="rect">
              <a:avLst/>
            </a:prstGeom>
            <a:noFill/>
            <a:ln w="9525">
              <a:noFill/>
              <a:miter lim="800000"/>
            </a:ln>
            <a:effectLst/>
          </p:spPr>
          <p:txBody>
            <a:bodyPr wrap="none">
              <a:spAutoFit/>
            </a:bodyPr>
            <a:lstStyle/>
            <a:p>
              <a:r>
                <a:rPr lang="en-US" altLang="zh-CN" sz="2400" b="1" noProof="1">
                  <a:solidFill>
                    <a:schemeClr val="tx2">
                      <a:lumMod val="75000"/>
                    </a:schemeClr>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p>
          </p:txBody>
        </p:sp>
      </p:grpSp>
      <p:sp>
        <p:nvSpPr>
          <p:cNvPr id="5" name="文本框 4"/>
          <p:cNvSpPr txBox="1"/>
          <p:nvPr/>
        </p:nvSpPr>
        <p:spPr>
          <a:xfrm>
            <a:off x="834390" y="5229225"/>
            <a:ext cx="8740775" cy="829945"/>
          </a:xfrm>
          <a:prstGeom prst="rect">
            <a:avLst/>
          </a:prstGeom>
        </p:spPr>
        <p:txBody>
          <a:bodyPr vert="horz" wrap="square" lIns="91440" tIns="45720" rIns="91440" bIns="45720" rtlCol="0" anchor="t">
            <a:spAutoFit/>
          </a:bodyPr>
          <a:lstStyle/>
          <a:p>
            <a:pPr lvl="1" indent="0" eaLnBrk="1" hangingPunct="1">
              <a:buClr>
                <a:schemeClr val="accent2"/>
              </a:buClr>
              <a:buFont typeface="Wingdings" panose="05000000000000000000" pitchFamily="2" charset="2"/>
              <a:buNone/>
            </a:pPr>
            <a:r>
              <a:rPr lang="zh-CN" altLang="en-US" sz="2400" u="sng" dirty="0">
                <a:solidFill>
                  <a:srgbClr val="FF0000"/>
                </a:solidFill>
                <a:latin typeface="黑体" panose="02010609060101010101" pitchFamily="2" charset="-122"/>
                <a:ea typeface="黑体" panose="02010609060101010101" pitchFamily="2" charset="-122"/>
                <a:sym typeface="+mn-ea"/>
              </a:rPr>
              <a:t>实际操作，</a:t>
            </a:r>
            <a:r>
              <a:rPr lang="en-US" altLang="zh-CN" sz="2400" u="sng" dirty="0">
                <a:solidFill>
                  <a:srgbClr val="FF0000"/>
                </a:solidFill>
                <a:latin typeface="黑体" panose="02010609060101010101" pitchFamily="2" charset="-122"/>
                <a:ea typeface="黑体" panose="02010609060101010101" pitchFamily="2" charset="-122"/>
                <a:sym typeface="+mn-ea"/>
              </a:rPr>
              <a:t>A</a:t>
            </a:r>
            <a:r>
              <a:rPr lang="zh-CN" altLang="en-US" sz="2400" u="sng" dirty="0">
                <a:solidFill>
                  <a:srgbClr val="FF0000"/>
                </a:solidFill>
                <a:latin typeface="黑体" panose="02010609060101010101" pitchFamily="2" charset="-122"/>
                <a:ea typeface="黑体" panose="02010609060101010101" pitchFamily="2" charset="-122"/>
                <a:sym typeface="+mn-ea"/>
              </a:rPr>
              <a:t>变为</a:t>
            </a:r>
            <a:r>
              <a:rPr lang="en-US" altLang="zh-CN" sz="2400" u="sng" dirty="0">
                <a:solidFill>
                  <a:srgbClr val="FF0000"/>
                </a:solidFill>
                <a:latin typeface="黑体" panose="02010609060101010101" pitchFamily="2" charset="-122"/>
                <a:ea typeface="黑体" panose="02010609060101010101" pitchFamily="2" charset="-122"/>
                <a:sym typeface="+mn-ea"/>
              </a:rPr>
              <a:t>B</a:t>
            </a:r>
            <a:r>
              <a:rPr lang="zh-CN" altLang="en-US" sz="2400" u="sng" dirty="0">
                <a:solidFill>
                  <a:srgbClr val="FF0000"/>
                </a:solidFill>
                <a:latin typeface="黑体" panose="02010609060101010101" pitchFamily="2" charset="-122"/>
                <a:ea typeface="黑体" panose="02010609060101010101" pitchFamily="2" charset="-122"/>
                <a:sym typeface="+mn-ea"/>
              </a:rPr>
              <a:t>的左孩子，原</a:t>
            </a:r>
            <a:r>
              <a:rPr lang="en-US" altLang="zh-CN" sz="2400" u="sng" dirty="0">
                <a:solidFill>
                  <a:srgbClr val="FF0000"/>
                </a:solidFill>
                <a:latin typeface="黑体" panose="02010609060101010101" pitchFamily="2" charset="-122"/>
                <a:ea typeface="黑体" panose="02010609060101010101" pitchFamily="2" charset="-122"/>
                <a:sym typeface="+mn-ea"/>
              </a:rPr>
              <a:t>B</a:t>
            </a:r>
            <a:r>
              <a:rPr lang="zh-CN" altLang="en-US" sz="2400" u="sng" dirty="0">
                <a:solidFill>
                  <a:srgbClr val="FF0000"/>
                </a:solidFill>
                <a:latin typeface="黑体" panose="02010609060101010101" pitchFamily="2" charset="-122"/>
                <a:ea typeface="黑体" panose="02010609060101010101" pitchFamily="2" charset="-122"/>
                <a:sym typeface="+mn-ea"/>
              </a:rPr>
              <a:t>左孩子变为</a:t>
            </a:r>
            <a:r>
              <a:rPr lang="en-US" altLang="zh-CN" sz="2400" u="sng" dirty="0">
                <a:solidFill>
                  <a:srgbClr val="FF0000"/>
                </a:solidFill>
                <a:latin typeface="黑体" panose="02010609060101010101" pitchFamily="2" charset="-122"/>
                <a:ea typeface="黑体" panose="02010609060101010101" pitchFamily="2" charset="-122"/>
                <a:sym typeface="+mn-ea"/>
              </a:rPr>
              <a:t>A</a:t>
            </a:r>
            <a:r>
              <a:rPr lang="zh-CN" altLang="en-US" sz="2400" u="sng" dirty="0">
                <a:solidFill>
                  <a:srgbClr val="FF0000"/>
                </a:solidFill>
                <a:latin typeface="黑体" panose="02010609060101010101" pitchFamily="2" charset="-122"/>
                <a:ea typeface="黑体" panose="02010609060101010101" pitchFamily="2" charset="-122"/>
                <a:sym typeface="+mn-ea"/>
              </a:rPr>
              <a:t>右孩子</a:t>
            </a:r>
          </a:p>
          <a:p>
            <a:pPr lvl="1" indent="0" eaLnBrk="1" hangingPunct="1">
              <a:buClr>
                <a:schemeClr val="accent2"/>
              </a:buClr>
              <a:buFont typeface="Wingdings" panose="05000000000000000000" pitchFamily="2" charset="2"/>
              <a:buNone/>
            </a:pPr>
            <a:r>
              <a:rPr lang="zh-CN" altLang="en-US" sz="2400" u="sng" dirty="0">
                <a:solidFill>
                  <a:srgbClr val="FF0000"/>
                </a:solidFill>
                <a:latin typeface="黑体" panose="02010609060101010101" pitchFamily="2" charset="-122"/>
                <a:ea typeface="黑体" panose="02010609060101010101" pitchFamily="2" charset="-122"/>
                <a:sym typeface="+mn-ea"/>
              </a:rPr>
              <a:t>若已知</a:t>
            </a:r>
            <a:r>
              <a:rPr lang="en-US" altLang="zh-CN" sz="2400" u="sng" dirty="0">
                <a:solidFill>
                  <a:srgbClr val="FF0000"/>
                </a:solidFill>
                <a:latin typeface="黑体" panose="02010609060101010101" pitchFamily="2" charset="-122"/>
                <a:ea typeface="黑体" panose="02010609060101010101" pitchFamily="2" charset="-122"/>
                <a:sym typeface="+mn-ea"/>
              </a:rPr>
              <a:t>A\B\C</a:t>
            </a:r>
            <a:r>
              <a:rPr lang="zh-CN" altLang="en-US" sz="2400" u="sng" dirty="0">
                <a:solidFill>
                  <a:srgbClr val="FF0000"/>
                </a:solidFill>
                <a:latin typeface="黑体" panose="02010609060101010101" pitchFamily="2" charset="-122"/>
                <a:ea typeface="黑体" panose="02010609060101010101" pitchFamily="2" charset="-122"/>
                <a:sym typeface="+mn-ea"/>
              </a:rPr>
              <a:t>三个结点指针，代码如何写？？</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单向左旋举例：</a:t>
            </a:r>
          </a:p>
          <a:p>
            <a:pPr marL="0" lvl="1" indent="0" algn="l" eaLnBrk="1" hangingPunct="1">
              <a:buClrTx/>
              <a:buSzTx/>
              <a:buFont typeface="Wingdings" panose="05000000000000000000" charset="0"/>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AVL</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树如下图，插入新数据</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96</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，求插入后的树</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70</a:t>
            </a:fld>
            <a:endParaRPr lang="zh-CN" altLang="en-US"/>
          </a:p>
        </p:txBody>
      </p:sp>
      <p:sp>
        <p:nvSpPr>
          <p:cNvPr id="7" name="文本框 6"/>
          <p:cNvSpPr txBox="1"/>
          <p:nvPr/>
        </p:nvSpPr>
        <p:spPr>
          <a:xfrm>
            <a:off x="7972425" y="3772535"/>
            <a:ext cx="4064000" cy="914400"/>
          </a:xfrm>
          <a:prstGeom prst="rect">
            <a:avLst/>
          </a:prstGeom>
        </p:spPr>
        <p:txBody>
          <a:bodyPr vert="horz" wrap="square" lIns="91440" tIns="45720" rIns="91440" bIns="45720" rtlCol="0">
            <a:noAutofit/>
          </a:bodyPr>
          <a:lstStyle/>
          <a:p>
            <a:pPr marL="571500" lvl="0" indent="-571500">
              <a:lnSpc>
                <a:spcPct val="90000"/>
              </a:lnSpc>
              <a:spcBef>
                <a:spcPts val="1000"/>
              </a:spcBef>
              <a:buClr>
                <a:schemeClr val="accent2"/>
              </a:buClr>
              <a:buFont typeface="Wingdings" panose="05000000000000000000" pitchFamily="2" charset="2"/>
              <a:buChar char="n"/>
            </a:pPr>
            <a:endParaRPr lang="zh-CN" altLang="en-US"/>
          </a:p>
        </p:txBody>
      </p:sp>
      <p:grpSp>
        <p:nvGrpSpPr>
          <p:cNvPr id="77828" name="Group 44"/>
          <p:cNvGrpSpPr/>
          <p:nvPr/>
        </p:nvGrpSpPr>
        <p:grpSpPr>
          <a:xfrm>
            <a:off x="1417003" y="2320290"/>
            <a:ext cx="3451225" cy="2613025"/>
            <a:chOff x="249" y="1298"/>
            <a:chExt cx="2174" cy="1646"/>
          </a:xfrm>
        </p:grpSpPr>
        <p:sp>
          <p:nvSpPr>
            <p:cNvPr id="77829" name="Oval 6"/>
            <p:cNvSpPr/>
            <p:nvPr/>
          </p:nvSpPr>
          <p:spPr>
            <a:xfrm>
              <a:off x="1066" y="1298"/>
              <a:ext cx="225" cy="24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77830" name="Oval 7"/>
            <p:cNvSpPr/>
            <p:nvPr/>
          </p:nvSpPr>
          <p:spPr>
            <a:xfrm>
              <a:off x="1383" y="1661"/>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77831" name="Oval 8"/>
            <p:cNvSpPr/>
            <p:nvPr/>
          </p:nvSpPr>
          <p:spPr>
            <a:xfrm>
              <a:off x="249" y="1978"/>
              <a:ext cx="223"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10</a:t>
              </a:r>
            </a:p>
          </p:txBody>
        </p:sp>
        <p:sp>
          <p:nvSpPr>
            <p:cNvPr id="77832" name="Oval 9"/>
            <p:cNvSpPr/>
            <p:nvPr/>
          </p:nvSpPr>
          <p:spPr>
            <a:xfrm>
              <a:off x="1701" y="1978"/>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77833" name="Oval 10"/>
            <p:cNvSpPr/>
            <p:nvPr/>
          </p:nvSpPr>
          <p:spPr>
            <a:xfrm>
              <a:off x="1156" y="2024"/>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60</a:t>
              </a:r>
            </a:p>
          </p:txBody>
        </p:sp>
        <p:sp>
          <p:nvSpPr>
            <p:cNvPr id="77834" name="Line 11"/>
            <p:cNvSpPr/>
            <p:nvPr/>
          </p:nvSpPr>
          <p:spPr>
            <a:xfrm flipH="1">
              <a:off x="793" y="1479"/>
              <a:ext cx="272" cy="182"/>
            </a:xfrm>
            <a:prstGeom prst="line">
              <a:avLst/>
            </a:prstGeom>
            <a:ln w="38100" cap="flat" cmpd="sng">
              <a:solidFill>
                <a:srgbClr val="336699"/>
              </a:solidFill>
              <a:prstDash val="solid"/>
              <a:round/>
              <a:headEnd type="none" w="med" len="med"/>
              <a:tailEnd type="none" w="med" len="med"/>
            </a:ln>
          </p:spPr>
        </p:sp>
        <p:sp>
          <p:nvSpPr>
            <p:cNvPr id="77835" name="Line 12"/>
            <p:cNvSpPr/>
            <p:nvPr/>
          </p:nvSpPr>
          <p:spPr>
            <a:xfrm flipH="1">
              <a:off x="426" y="1867"/>
              <a:ext cx="196" cy="144"/>
            </a:xfrm>
            <a:prstGeom prst="line">
              <a:avLst/>
            </a:prstGeom>
            <a:ln w="38100" cap="flat" cmpd="sng">
              <a:solidFill>
                <a:srgbClr val="666699"/>
              </a:solidFill>
              <a:prstDash val="solid"/>
              <a:round/>
              <a:headEnd type="none" w="med" len="med"/>
              <a:tailEnd type="none" w="med" len="med"/>
            </a:ln>
          </p:spPr>
        </p:sp>
        <p:sp>
          <p:nvSpPr>
            <p:cNvPr id="77836" name="Line 13"/>
            <p:cNvSpPr/>
            <p:nvPr/>
          </p:nvSpPr>
          <p:spPr>
            <a:xfrm>
              <a:off x="1291" y="1497"/>
              <a:ext cx="183" cy="164"/>
            </a:xfrm>
            <a:prstGeom prst="line">
              <a:avLst/>
            </a:prstGeom>
            <a:ln w="38100" cap="flat" cmpd="sng">
              <a:solidFill>
                <a:srgbClr val="336699"/>
              </a:solidFill>
              <a:prstDash val="solid"/>
              <a:round/>
              <a:headEnd type="none" w="med" len="med"/>
              <a:tailEnd type="none" w="med" len="med"/>
            </a:ln>
          </p:spPr>
        </p:sp>
        <p:sp>
          <p:nvSpPr>
            <p:cNvPr id="77837" name="Line 14"/>
            <p:cNvSpPr/>
            <p:nvPr/>
          </p:nvSpPr>
          <p:spPr>
            <a:xfrm flipH="1">
              <a:off x="1292" y="1888"/>
              <a:ext cx="137" cy="136"/>
            </a:xfrm>
            <a:prstGeom prst="line">
              <a:avLst/>
            </a:prstGeom>
            <a:ln w="38100" cap="flat" cmpd="sng">
              <a:solidFill>
                <a:srgbClr val="336699"/>
              </a:solidFill>
              <a:prstDash val="solid"/>
              <a:round/>
              <a:headEnd type="none" w="med" len="med"/>
              <a:tailEnd type="none" w="med" len="med"/>
            </a:ln>
          </p:spPr>
        </p:sp>
        <p:sp>
          <p:nvSpPr>
            <p:cNvPr id="77838" name="Line 16"/>
            <p:cNvSpPr/>
            <p:nvPr/>
          </p:nvSpPr>
          <p:spPr>
            <a:xfrm>
              <a:off x="1610" y="1842"/>
              <a:ext cx="136" cy="137"/>
            </a:xfrm>
            <a:prstGeom prst="line">
              <a:avLst/>
            </a:prstGeom>
            <a:ln w="38100" cap="flat" cmpd="sng">
              <a:solidFill>
                <a:srgbClr val="336699"/>
              </a:solidFill>
              <a:prstDash val="solid"/>
              <a:round/>
              <a:headEnd type="none" w="med" len="med"/>
              <a:tailEnd type="none" w="med" len="med"/>
            </a:ln>
          </p:spPr>
        </p:sp>
        <p:sp>
          <p:nvSpPr>
            <p:cNvPr id="77839" name="Oval 17"/>
            <p:cNvSpPr/>
            <p:nvPr/>
          </p:nvSpPr>
          <p:spPr>
            <a:xfrm>
              <a:off x="2200" y="2704"/>
              <a:ext cx="223" cy="240"/>
            </a:xfrm>
            <a:prstGeom prst="ellipse">
              <a:avLst/>
            </a:prstGeom>
            <a:solidFill>
              <a:srgbClr val="FFFF99"/>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96</a:t>
              </a:r>
            </a:p>
          </p:txBody>
        </p:sp>
        <p:sp>
          <p:nvSpPr>
            <p:cNvPr id="77840" name="Line 18"/>
            <p:cNvSpPr/>
            <p:nvPr/>
          </p:nvSpPr>
          <p:spPr>
            <a:xfrm flipH="1" flipV="1">
              <a:off x="2154" y="2568"/>
              <a:ext cx="91" cy="136"/>
            </a:xfrm>
            <a:prstGeom prst="line">
              <a:avLst/>
            </a:prstGeom>
            <a:ln w="38100" cap="flat" cmpd="sng">
              <a:solidFill>
                <a:srgbClr val="336699"/>
              </a:solidFill>
              <a:prstDash val="solid"/>
              <a:round/>
              <a:headEnd type="none" w="med" len="med"/>
              <a:tailEnd type="none" w="med" len="med"/>
            </a:ln>
          </p:spPr>
        </p:sp>
        <p:sp>
          <p:nvSpPr>
            <p:cNvPr id="77841" name="Oval 19"/>
            <p:cNvSpPr/>
            <p:nvPr/>
          </p:nvSpPr>
          <p:spPr>
            <a:xfrm>
              <a:off x="1428" y="2386"/>
              <a:ext cx="224" cy="238"/>
            </a:xfrm>
            <a:prstGeom prst="ellipse">
              <a:avLst/>
            </a:prstGeom>
            <a:solidFill>
              <a:srgbClr val="99CCFF"/>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77842" name="Oval 20"/>
            <p:cNvSpPr/>
            <p:nvPr/>
          </p:nvSpPr>
          <p:spPr>
            <a:xfrm>
              <a:off x="612" y="1661"/>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77843" name="Oval 21"/>
            <p:cNvSpPr/>
            <p:nvPr/>
          </p:nvSpPr>
          <p:spPr>
            <a:xfrm>
              <a:off x="1973" y="2341"/>
              <a:ext cx="224" cy="238"/>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94</a:t>
              </a:r>
            </a:p>
          </p:txBody>
        </p:sp>
        <p:sp>
          <p:nvSpPr>
            <p:cNvPr id="77844" name="Line 22"/>
            <p:cNvSpPr/>
            <p:nvPr/>
          </p:nvSpPr>
          <p:spPr>
            <a:xfrm>
              <a:off x="1897" y="2195"/>
              <a:ext cx="136" cy="181"/>
            </a:xfrm>
            <a:prstGeom prst="line">
              <a:avLst/>
            </a:prstGeom>
            <a:ln w="38100" cap="flat" cmpd="sng">
              <a:solidFill>
                <a:srgbClr val="336699"/>
              </a:solidFill>
              <a:prstDash val="solid"/>
              <a:round/>
              <a:headEnd type="none" w="med" len="med"/>
              <a:tailEnd type="none" w="med" len="med"/>
            </a:ln>
          </p:spPr>
        </p:sp>
        <p:sp>
          <p:nvSpPr>
            <p:cNvPr id="77845" name="Line 23"/>
            <p:cNvSpPr/>
            <p:nvPr/>
          </p:nvSpPr>
          <p:spPr>
            <a:xfrm flipH="1">
              <a:off x="1565" y="2205"/>
              <a:ext cx="181" cy="181"/>
            </a:xfrm>
            <a:prstGeom prst="line">
              <a:avLst/>
            </a:prstGeom>
            <a:ln w="38100" cap="flat" cmpd="sng">
              <a:solidFill>
                <a:srgbClr val="336699"/>
              </a:solidFill>
              <a:prstDash val="solid"/>
              <a:round/>
              <a:headEnd type="none" w="med" len="med"/>
              <a:tailEnd type="none" w="med" len="med"/>
            </a:ln>
          </p:spPr>
        </p:sp>
      </p:grpSp>
      <p:grpSp>
        <p:nvGrpSpPr>
          <p:cNvPr id="5" name="Group 63"/>
          <p:cNvGrpSpPr/>
          <p:nvPr/>
        </p:nvGrpSpPr>
        <p:grpSpPr>
          <a:xfrm>
            <a:off x="6025198" y="2291715"/>
            <a:ext cx="3017837" cy="2178050"/>
            <a:chOff x="2971" y="1344"/>
            <a:chExt cx="1901" cy="1372"/>
          </a:xfrm>
        </p:grpSpPr>
        <p:sp>
          <p:nvSpPr>
            <p:cNvPr id="77847" name="Oval 46"/>
            <p:cNvSpPr/>
            <p:nvPr/>
          </p:nvSpPr>
          <p:spPr>
            <a:xfrm>
              <a:off x="3788" y="1344"/>
              <a:ext cx="225" cy="240"/>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77848" name="Oval 47"/>
            <p:cNvSpPr/>
            <p:nvPr/>
          </p:nvSpPr>
          <p:spPr>
            <a:xfrm>
              <a:off x="4105" y="1707"/>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77849" name="Oval 48"/>
            <p:cNvSpPr/>
            <p:nvPr/>
          </p:nvSpPr>
          <p:spPr>
            <a:xfrm>
              <a:off x="2971" y="2024"/>
              <a:ext cx="223"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10</a:t>
              </a:r>
            </a:p>
          </p:txBody>
        </p:sp>
        <p:sp>
          <p:nvSpPr>
            <p:cNvPr id="77850" name="Oval 49"/>
            <p:cNvSpPr/>
            <p:nvPr/>
          </p:nvSpPr>
          <p:spPr>
            <a:xfrm>
              <a:off x="4423" y="2024"/>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94</a:t>
              </a:r>
            </a:p>
          </p:txBody>
        </p:sp>
        <p:sp>
          <p:nvSpPr>
            <p:cNvPr id="77851" name="Oval 50"/>
            <p:cNvSpPr/>
            <p:nvPr/>
          </p:nvSpPr>
          <p:spPr>
            <a:xfrm>
              <a:off x="3878" y="2069"/>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77852" name="Line 51"/>
            <p:cNvSpPr/>
            <p:nvPr/>
          </p:nvSpPr>
          <p:spPr>
            <a:xfrm flipH="1">
              <a:off x="3515" y="1525"/>
              <a:ext cx="272" cy="182"/>
            </a:xfrm>
            <a:prstGeom prst="line">
              <a:avLst/>
            </a:prstGeom>
            <a:ln w="38100" cap="flat" cmpd="sng">
              <a:solidFill>
                <a:srgbClr val="336699"/>
              </a:solidFill>
              <a:prstDash val="solid"/>
              <a:round/>
              <a:headEnd type="none" w="med" len="med"/>
              <a:tailEnd type="none" w="med" len="med"/>
            </a:ln>
          </p:spPr>
        </p:sp>
        <p:sp>
          <p:nvSpPr>
            <p:cNvPr id="77853" name="Line 52"/>
            <p:cNvSpPr/>
            <p:nvPr/>
          </p:nvSpPr>
          <p:spPr>
            <a:xfrm flipH="1">
              <a:off x="3148" y="1913"/>
              <a:ext cx="196" cy="144"/>
            </a:xfrm>
            <a:prstGeom prst="line">
              <a:avLst/>
            </a:prstGeom>
            <a:ln w="38100" cap="flat" cmpd="sng">
              <a:solidFill>
                <a:srgbClr val="666699"/>
              </a:solidFill>
              <a:prstDash val="solid"/>
              <a:round/>
              <a:headEnd type="none" w="med" len="med"/>
              <a:tailEnd type="none" w="med" len="med"/>
            </a:ln>
          </p:spPr>
        </p:sp>
        <p:sp>
          <p:nvSpPr>
            <p:cNvPr id="77854" name="Line 53"/>
            <p:cNvSpPr/>
            <p:nvPr/>
          </p:nvSpPr>
          <p:spPr>
            <a:xfrm>
              <a:off x="4013" y="1543"/>
              <a:ext cx="183" cy="164"/>
            </a:xfrm>
            <a:prstGeom prst="line">
              <a:avLst/>
            </a:prstGeom>
            <a:ln w="38100" cap="flat" cmpd="sng">
              <a:solidFill>
                <a:srgbClr val="336699"/>
              </a:solidFill>
              <a:prstDash val="solid"/>
              <a:round/>
              <a:headEnd type="none" w="med" len="med"/>
              <a:tailEnd type="none" w="med" len="med"/>
            </a:ln>
          </p:spPr>
        </p:sp>
        <p:sp>
          <p:nvSpPr>
            <p:cNvPr id="77855" name="Line 54"/>
            <p:cNvSpPr/>
            <p:nvPr/>
          </p:nvSpPr>
          <p:spPr>
            <a:xfrm flipH="1">
              <a:off x="4014" y="1934"/>
              <a:ext cx="137" cy="136"/>
            </a:xfrm>
            <a:prstGeom prst="line">
              <a:avLst/>
            </a:prstGeom>
            <a:ln w="38100" cap="flat" cmpd="sng">
              <a:solidFill>
                <a:srgbClr val="336699"/>
              </a:solidFill>
              <a:prstDash val="solid"/>
              <a:round/>
              <a:headEnd type="none" w="med" len="med"/>
              <a:tailEnd type="none" w="med" len="med"/>
            </a:ln>
          </p:spPr>
        </p:sp>
        <p:sp>
          <p:nvSpPr>
            <p:cNvPr id="77856" name="Line 55"/>
            <p:cNvSpPr/>
            <p:nvPr/>
          </p:nvSpPr>
          <p:spPr>
            <a:xfrm>
              <a:off x="4332" y="1888"/>
              <a:ext cx="136" cy="137"/>
            </a:xfrm>
            <a:prstGeom prst="line">
              <a:avLst/>
            </a:prstGeom>
            <a:ln w="38100" cap="flat" cmpd="sng">
              <a:solidFill>
                <a:srgbClr val="336699"/>
              </a:solidFill>
              <a:prstDash val="solid"/>
              <a:round/>
              <a:headEnd type="none" w="med" len="med"/>
              <a:tailEnd type="none" w="med" len="med"/>
            </a:ln>
          </p:spPr>
        </p:sp>
        <p:sp>
          <p:nvSpPr>
            <p:cNvPr id="77857" name="Oval 56"/>
            <p:cNvSpPr/>
            <p:nvPr/>
          </p:nvSpPr>
          <p:spPr>
            <a:xfrm>
              <a:off x="4649" y="2387"/>
              <a:ext cx="223" cy="240"/>
            </a:xfrm>
            <a:prstGeom prst="ellipse">
              <a:avLst/>
            </a:prstGeom>
            <a:solidFill>
              <a:srgbClr val="FFFF99"/>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96</a:t>
              </a:r>
            </a:p>
          </p:txBody>
        </p:sp>
        <p:sp>
          <p:nvSpPr>
            <p:cNvPr id="77858" name="Line 57"/>
            <p:cNvSpPr/>
            <p:nvPr/>
          </p:nvSpPr>
          <p:spPr>
            <a:xfrm flipH="1" flipV="1">
              <a:off x="4604" y="2205"/>
              <a:ext cx="136" cy="182"/>
            </a:xfrm>
            <a:prstGeom prst="line">
              <a:avLst/>
            </a:prstGeom>
            <a:ln w="38100" cap="flat" cmpd="sng">
              <a:solidFill>
                <a:srgbClr val="336699"/>
              </a:solidFill>
              <a:prstDash val="solid"/>
              <a:round/>
              <a:headEnd type="none" w="med" len="med"/>
              <a:tailEnd type="none" w="med" len="med"/>
            </a:ln>
          </p:spPr>
        </p:sp>
        <p:sp>
          <p:nvSpPr>
            <p:cNvPr id="77859" name="Oval 58"/>
            <p:cNvSpPr/>
            <p:nvPr/>
          </p:nvSpPr>
          <p:spPr>
            <a:xfrm>
              <a:off x="3606" y="2432"/>
              <a:ext cx="224" cy="238"/>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60</a:t>
              </a:r>
            </a:p>
          </p:txBody>
        </p:sp>
        <p:sp>
          <p:nvSpPr>
            <p:cNvPr id="77860" name="Oval 59"/>
            <p:cNvSpPr/>
            <p:nvPr/>
          </p:nvSpPr>
          <p:spPr>
            <a:xfrm>
              <a:off x="3334" y="1707"/>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77861" name="Oval 60"/>
            <p:cNvSpPr/>
            <p:nvPr/>
          </p:nvSpPr>
          <p:spPr>
            <a:xfrm>
              <a:off x="4105" y="2478"/>
              <a:ext cx="224" cy="238"/>
            </a:xfrm>
            <a:prstGeom prst="ellipse">
              <a:avLst/>
            </a:prstGeom>
            <a:solidFill>
              <a:srgbClr val="99CCFF"/>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88</a:t>
              </a:r>
            </a:p>
          </p:txBody>
        </p:sp>
        <p:sp>
          <p:nvSpPr>
            <p:cNvPr id="77862" name="Line 61"/>
            <p:cNvSpPr/>
            <p:nvPr/>
          </p:nvSpPr>
          <p:spPr>
            <a:xfrm>
              <a:off x="4059" y="2296"/>
              <a:ext cx="136" cy="181"/>
            </a:xfrm>
            <a:prstGeom prst="line">
              <a:avLst/>
            </a:prstGeom>
            <a:ln w="38100" cap="flat" cmpd="sng">
              <a:solidFill>
                <a:srgbClr val="336699"/>
              </a:solidFill>
              <a:prstDash val="solid"/>
              <a:round/>
              <a:headEnd type="none" w="med" len="med"/>
              <a:tailEnd type="none" w="med" len="med"/>
            </a:ln>
          </p:spPr>
        </p:sp>
        <p:sp>
          <p:nvSpPr>
            <p:cNvPr id="77863" name="Line 62"/>
            <p:cNvSpPr/>
            <p:nvPr/>
          </p:nvSpPr>
          <p:spPr>
            <a:xfrm flipH="1">
              <a:off x="3742" y="2296"/>
              <a:ext cx="181" cy="181"/>
            </a:xfrm>
            <a:prstGeom prst="line">
              <a:avLst/>
            </a:prstGeom>
            <a:ln w="38100" cap="flat" cmpd="sng">
              <a:solidFill>
                <a:srgbClr val="336699"/>
              </a:solidFill>
              <a:prstDash val="solid"/>
              <a:round/>
              <a:headEnd type="none" w="med" len="med"/>
              <a:tailEnd type="none" w="med" len="med"/>
            </a:ln>
          </p:spPr>
        </p:sp>
      </p:grpSp>
      <mc:AlternateContent xmlns:mc="http://schemas.openxmlformats.org/markup-compatibility/2006">
        <mc:Choice xmlns:p14="http://schemas.microsoft.com/office/powerpoint/2010/main" Requires="p14">
          <p:contentPart p14:bwMode="auto" r:id="rId2">
            <p14:nvContentPartPr>
              <p14:cNvPr id="6" name="墨迹 5">
                <a:extLst>
                  <a:ext uri="{FF2B5EF4-FFF2-40B4-BE49-F238E27FC236}">
                    <a16:creationId xmlns:a16="http://schemas.microsoft.com/office/drawing/2014/main" id="{1D0EBC8F-C9B2-4E5F-9118-477684B0B41C}"/>
                  </a:ext>
                </a:extLst>
              </p14:cNvPr>
              <p14:cNvContentPartPr/>
              <p14:nvPr/>
            </p14:nvContentPartPr>
            <p14:xfrm>
              <a:off x="3244680" y="2730600"/>
              <a:ext cx="1689480" cy="1841760"/>
            </p14:xfrm>
          </p:contentPart>
        </mc:Choice>
        <mc:Fallback>
          <p:pic>
            <p:nvPicPr>
              <p:cNvPr id="6" name="墨迹 5">
                <a:extLst>
                  <a:ext uri="{FF2B5EF4-FFF2-40B4-BE49-F238E27FC236}">
                    <a16:creationId xmlns:a16="http://schemas.microsoft.com/office/drawing/2014/main" id="{1D0EBC8F-C9B2-4E5F-9118-477684B0B41C}"/>
                  </a:ext>
                </a:extLst>
              </p:cNvPr>
              <p:cNvPicPr/>
              <p:nvPr/>
            </p:nvPicPr>
            <p:blipFill>
              <a:blip r:embed="rId3"/>
              <a:stretch>
                <a:fillRect/>
              </a:stretch>
            </p:blipFill>
            <p:spPr>
              <a:xfrm>
                <a:off x="3235320" y="2721240"/>
                <a:ext cx="1708200" cy="18604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4)">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sym typeface="+mn-ea"/>
              </a:rPr>
              <a:t>引发先左后右双向旋转的不平衡状态</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在</a:t>
            </a:r>
            <a:r>
              <a:rPr lang="en-US" altLang="zh-CN" dirty="0">
                <a:latin typeface="黑体" panose="02010609060101010101" pitchFamily="2" charset="-122"/>
                <a:ea typeface="黑体" panose="02010609060101010101" pitchFamily="2" charset="-122"/>
                <a:sym typeface="+mn-ea"/>
              </a:rPr>
              <a:t>C</a:t>
            </a:r>
            <a:r>
              <a:rPr lang="zh-CN" altLang="en-US" dirty="0">
                <a:latin typeface="黑体" panose="02010609060101010101" pitchFamily="2" charset="-122"/>
                <a:ea typeface="黑体" panose="02010609060101010101" pitchFamily="2" charset="-122"/>
                <a:sym typeface="+mn-ea"/>
              </a:rPr>
              <a:t>的子树</a:t>
            </a:r>
            <a:r>
              <a:rPr lang="en-US" altLang="zh-CN" dirty="0">
                <a:latin typeface="黑体" panose="02010609060101010101" pitchFamily="2" charset="-122"/>
                <a:ea typeface="黑体" panose="02010609060101010101" pitchFamily="2" charset="-122"/>
                <a:sym typeface="+mn-ea"/>
              </a:rPr>
              <a:t>C</a:t>
            </a:r>
            <a:r>
              <a:rPr lang="en-US" altLang="zh-CN" baseline="-25000" dirty="0">
                <a:latin typeface="黑体" panose="02010609060101010101" pitchFamily="2" charset="-122"/>
                <a:ea typeface="黑体" panose="02010609060101010101" pitchFamily="2" charset="-122"/>
                <a:sym typeface="+mn-ea"/>
              </a:rPr>
              <a:t>L</a:t>
            </a:r>
            <a:r>
              <a:rPr lang="zh-CN" altLang="en-US" dirty="0">
                <a:latin typeface="黑体" panose="02010609060101010101" pitchFamily="2" charset="-122"/>
                <a:ea typeface="黑体" panose="02010609060101010101" pitchFamily="2" charset="-122"/>
                <a:sym typeface="+mn-ea"/>
              </a:rPr>
              <a:t>或</a:t>
            </a:r>
            <a:r>
              <a:rPr lang="en-US" altLang="zh-CN" dirty="0">
                <a:latin typeface="黑体" panose="02010609060101010101" pitchFamily="2" charset="-122"/>
                <a:ea typeface="黑体" panose="02010609060101010101" pitchFamily="2" charset="-122"/>
                <a:sym typeface="+mn-ea"/>
              </a:rPr>
              <a:t>C</a:t>
            </a:r>
            <a:r>
              <a:rPr lang="en-US" altLang="zh-CN" baseline="-25000" dirty="0">
                <a:latin typeface="黑体" panose="02010609060101010101" pitchFamily="2" charset="-122"/>
                <a:ea typeface="黑体" panose="02010609060101010101" pitchFamily="2" charset="-122"/>
                <a:sym typeface="+mn-ea"/>
              </a:rPr>
              <a:t>R</a:t>
            </a:r>
            <a:r>
              <a:rPr lang="zh-CN" altLang="en-US" dirty="0">
                <a:latin typeface="黑体" panose="02010609060101010101" pitchFamily="2" charset="-122"/>
                <a:ea typeface="黑体" panose="02010609060101010101" pitchFamily="2" charset="-122"/>
                <a:sym typeface="+mn-ea"/>
              </a:rPr>
              <a:t>中插入新结点，该子树的高度增</a:t>
            </a:r>
            <a:r>
              <a:rPr lang="en-US" altLang="zh-CN" dirty="0">
                <a:latin typeface="黑体" panose="02010609060101010101" pitchFamily="2" charset="-122"/>
                <a:ea typeface="黑体" panose="02010609060101010101" pitchFamily="2" charset="-122"/>
                <a:sym typeface="+mn-ea"/>
              </a:rPr>
              <a:t>1</a:t>
            </a:r>
            <a:r>
              <a:rPr lang="zh-CN" altLang="en-US" dirty="0">
                <a:latin typeface="黑体" panose="02010609060101010101" pitchFamily="2" charset="-122"/>
                <a:ea typeface="黑体" panose="02010609060101010101" pitchFamily="2" charset="-122"/>
                <a:sym typeface="+mn-ea"/>
              </a:rPr>
              <a:t>。结点</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的平衡因子变为</a:t>
            </a:r>
            <a:r>
              <a:rPr lang="en-US" altLang="zh-CN" dirty="0">
                <a:latin typeface="黑体" panose="02010609060101010101" pitchFamily="2" charset="-122"/>
                <a:ea typeface="黑体" panose="02010609060101010101" pitchFamily="2" charset="-122"/>
                <a:sym typeface="+mn-ea"/>
              </a:rPr>
              <a:t>+2</a:t>
            </a:r>
            <a:r>
              <a:rPr lang="zh-CN" altLang="en-US" dirty="0">
                <a:latin typeface="黑体" panose="02010609060101010101" pitchFamily="2" charset="-122"/>
                <a:ea typeface="黑体" panose="02010609060101010101" pitchFamily="2" charset="-122"/>
                <a:sym typeface="+mn-ea"/>
              </a:rPr>
              <a:t>，发生了不平衡</a:t>
            </a: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dirty="0">
              <a:latin typeface="黑体" panose="02010609060101010101" pitchFamily="2" charset="-122"/>
              <a:ea typeface="黑体" panose="02010609060101010101" pitchFamily="2" charset="-122"/>
              <a:sym typeface="+mn-ea"/>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71</a:t>
            </a:fld>
            <a:endParaRPr lang="zh-CN" altLang="en-US"/>
          </a:p>
        </p:txBody>
      </p:sp>
      <p:sp>
        <p:nvSpPr>
          <p:cNvPr id="7" name="文本框 6"/>
          <p:cNvSpPr txBox="1"/>
          <p:nvPr/>
        </p:nvSpPr>
        <p:spPr>
          <a:xfrm>
            <a:off x="7972425" y="3772535"/>
            <a:ext cx="4064000" cy="914400"/>
          </a:xfrm>
          <a:prstGeom prst="rect">
            <a:avLst/>
          </a:prstGeom>
        </p:spPr>
        <p:txBody>
          <a:bodyPr vert="horz" wrap="square" lIns="91440" tIns="45720" rIns="91440" bIns="45720" rtlCol="0">
            <a:noAutofit/>
          </a:bodyPr>
          <a:lstStyle/>
          <a:p>
            <a:pPr marL="571500" lvl="0" indent="-571500">
              <a:lnSpc>
                <a:spcPct val="90000"/>
              </a:lnSpc>
              <a:spcBef>
                <a:spcPts val="1000"/>
              </a:spcBef>
              <a:buClr>
                <a:schemeClr val="accent2"/>
              </a:buClr>
              <a:buFont typeface="Wingdings" panose="05000000000000000000" pitchFamily="2" charset="2"/>
              <a:buChar char="n"/>
            </a:pPr>
            <a:endParaRPr lang="zh-CN" altLang="en-US"/>
          </a:p>
        </p:txBody>
      </p:sp>
      <p:grpSp>
        <p:nvGrpSpPr>
          <p:cNvPr id="78852" name="Group 4"/>
          <p:cNvGrpSpPr/>
          <p:nvPr/>
        </p:nvGrpSpPr>
        <p:grpSpPr>
          <a:xfrm>
            <a:off x="2206943" y="2492693"/>
            <a:ext cx="7440613" cy="3119437"/>
            <a:chOff x="385" y="1797"/>
            <a:chExt cx="4687" cy="1965"/>
          </a:xfrm>
        </p:grpSpPr>
        <p:grpSp>
          <p:nvGrpSpPr>
            <p:cNvPr id="78853" name="Group 5"/>
            <p:cNvGrpSpPr/>
            <p:nvPr/>
          </p:nvGrpSpPr>
          <p:grpSpPr>
            <a:xfrm>
              <a:off x="385" y="1797"/>
              <a:ext cx="2085" cy="1689"/>
              <a:chOff x="646" y="2414"/>
              <a:chExt cx="2085" cy="1858"/>
            </a:xfrm>
          </p:grpSpPr>
          <p:sp>
            <p:nvSpPr>
              <p:cNvPr id="78854" name="Line 6"/>
              <p:cNvSpPr/>
              <p:nvPr/>
            </p:nvSpPr>
            <p:spPr>
              <a:xfrm>
                <a:off x="1763" y="3504"/>
                <a:ext cx="192" cy="240"/>
              </a:xfrm>
              <a:prstGeom prst="line">
                <a:avLst/>
              </a:prstGeom>
              <a:ln w="38100" cap="flat" cmpd="sng">
                <a:solidFill>
                  <a:srgbClr val="006666"/>
                </a:solidFill>
                <a:prstDash val="solid"/>
                <a:round/>
                <a:headEnd type="none" w="med" len="med"/>
                <a:tailEnd type="none" w="med" len="med"/>
              </a:ln>
            </p:spPr>
          </p:sp>
          <p:sp>
            <p:nvSpPr>
              <p:cNvPr id="78855" name="Line 7"/>
              <p:cNvSpPr/>
              <p:nvPr/>
            </p:nvSpPr>
            <p:spPr>
              <a:xfrm flipH="1">
                <a:off x="1523" y="3504"/>
                <a:ext cx="192" cy="240"/>
              </a:xfrm>
              <a:prstGeom prst="line">
                <a:avLst/>
              </a:prstGeom>
              <a:ln w="38100" cap="flat" cmpd="sng">
                <a:solidFill>
                  <a:srgbClr val="006666"/>
                </a:solidFill>
                <a:prstDash val="solid"/>
                <a:round/>
                <a:headEnd type="none" w="med" len="med"/>
                <a:tailEnd type="none" w="med" len="med"/>
              </a:ln>
            </p:spPr>
          </p:sp>
          <p:sp>
            <p:nvSpPr>
              <p:cNvPr id="939016" name="Text Box 8"/>
              <p:cNvSpPr txBox="1">
                <a:spLocks noChangeArrowheads="1"/>
              </p:cNvSpPr>
              <p:nvPr/>
            </p:nvSpPr>
            <p:spPr bwMode="auto">
              <a:xfrm>
                <a:off x="2185" y="2769"/>
                <a:ext cx="195" cy="319"/>
              </a:xfrm>
              <a:prstGeom prst="rect">
                <a:avLst/>
              </a:prstGeom>
              <a:noFill/>
              <a:ln w="9525">
                <a:noFill/>
                <a:miter lim="800000"/>
              </a:ln>
              <a:effectLst/>
            </p:spPr>
            <p:txBody>
              <a:bodyPr wrap="none">
                <a:spAutoFit/>
              </a:bodyPr>
              <a:lstStyle/>
              <a:p>
                <a:pPr marR="0" defTabSz="914400">
                  <a:buClrTx/>
                  <a:buSzTx/>
                  <a:buFontTx/>
                  <a:buNone/>
                  <a:defRPr/>
                </a:pPr>
                <a:endParaRPr kumimoji="0" lang="zh-CN"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939017" name="Text Box 9"/>
              <p:cNvSpPr txBox="1">
                <a:spLocks noChangeArrowheads="1"/>
              </p:cNvSpPr>
              <p:nvPr/>
            </p:nvSpPr>
            <p:spPr bwMode="auto">
              <a:xfrm>
                <a:off x="1536" y="3025"/>
                <a:ext cx="211" cy="319"/>
              </a:xfrm>
              <a:prstGeom prst="rect">
                <a:avLst/>
              </a:prstGeom>
              <a:noFill/>
              <a:ln w="9525">
                <a:noFill/>
                <a:miter lim="800000"/>
              </a:ln>
              <a:effectLst/>
            </p:spPr>
            <p:txBody>
              <a:bodyPr wrap="none">
                <a:spAutoFit/>
              </a:bodyPr>
              <a:lstStyle/>
              <a:p>
                <a:r>
                  <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39018" name="Text Box 10"/>
              <p:cNvSpPr txBox="1">
                <a:spLocks noChangeArrowheads="1"/>
              </p:cNvSpPr>
              <p:nvPr/>
            </p:nvSpPr>
            <p:spPr bwMode="auto">
              <a:xfrm>
                <a:off x="1907" y="2448"/>
                <a:ext cx="308" cy="319"/>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78859" name="Line 11"/>
              <p:cNvSpPr/>
              <p:nvPr/>
            </p:nvSpPr>
            <p:spPr>
              <a:xfrm>
                <a:off x="1859" y="2784"/>
                <a:ext cx="432" cy="432"/>
              </a:xfrm>
              <a:prstGeom prst="line">
                <a:avLst/>
              </a:prstGeom>
              <a:ln w="28575" cap="flat" cmpd="sng">
                <a:solidFill>
                  <a:srgbClr val="006666"/>
                </a:solidFill>
                <a:prstDash val="solid"/>
                <a:round/>
                <a:headEnd type="none" w="med" len="med"/>
                <a:tailEnd type="none" w="med" len="med"/>
              </a:ln>
            </p:spPr>
          </p:sp>
          <p:sp>
            <p:nvSpPr>
              <p:cNvPr id="78860" name="Line 12"/>
              <p:cNvSpPr/>
              <p:nvPr/>
            </p:nvSpPr>
            <p:spPr>
              <a:xfrm flipH="1">
                <a:off x="1043" y="2784"/>
                <a:ext cx="672" cy="768"/>
              </a:xfrm>
              <a:prstGeom prst="line">
                <a:avLst/>
              </a:prstGeom>
              <a:ln w="28575" cap="flat" cmpd="sng">
                <a:solidFill>
                  <a:srgbClr val="006666"/>
                </a:solidFill>
                <a:prstDash val="solid"/>
                <a:round/>
                <a:headEnd type="none" w="med" len="med"/>
                <a:tailEnd type="none" w="med" len="med"/>
              </a:ln>
            </p:spPr>
          </p:sp>
          <p:sp>
            <p:nvSpPr>
              <p:cNvPr id="78861" name="Rectangle 13"/>
              <p:cNvSpPr/>
              <p:nvPr/>
            </p:nvSpPr>
            <p:spPr>
              <a:xfrm>
                <a:off x="2243" y="3120"/>
                <a:ext cx="240" cy="386"/>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bg2"/>
                    </a:solidFill>
                    <a:latin typeface="Times New Roman" panose="02020603050405020304" pitchFamily="18" charset="0"/>
                    <a:ea typeface="宋体" panose="02010600030101010101" pitchFamily="2" charset="-122"/>
                  </a:rPr>
                  <a:t>….</a:t>
                </a:r>
              </a:p>
            </p:txBody>
          </p:sp>
          <p:sp>
            <p:nvSpPr>
              <p:cNvPr id="78862" name="Line 14"/>
              <p:cNvSpPr/>
              <p:nvPr/>
            </p:nvSpPr>
            <p:spPr>
              <a:xfrm>
                <a:off x="1475" y="3168"/>
                <a:ext cx="288" cy="288"/>
              </a:xfrm>
              <a:prstGeom prst="line">
                <a:avLst/>
              </a:prstGeom>
              <a:ln w="28575" cap="flat" cmpd="sng">
                <a:solidFill>
                  <a:srgbClr val="006666"/>
                </a:solidFill>
                <a:prstDash val="solid"/>
                <a:round/>
                <a:headEnd type="none" w="med" len="med"/>
                <a:tailEnd type="none" w="med" len="med"/>
              </a:ln>
            </p:spPr>
          </p:sp>
          <p:sp>
            <p:nvSpPr>
              <p:cNvPr id="78863" name="Oval 15"/>
              <p:cNvSpPr/>
              <p:nvPr/>
            </p:nvSpPr>
            <p:spPr>
              <a:xfrm>
                <a:off x="1331" y="2976"/>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8864" name="Oval 16"/>
              <p:cNvSpPr/>
              <p:nvPr/>
            </p:nvSpPr>
            <p:spPr>
              <a:xfrm>
                <a:off x="1667" y="2592"/>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8865" name="Rectangle 17"/>
              <p:cNvSpPr/>
              <p:nvPr/>
            </p:nvSpPr>
            <p:spPr>
              <a:xfrm>
                <a:off x="899" y="3456"/>
                <a:ext cx="240" cy="816"/>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78866" name="Text Box 18"/>
              <p:cNvSpPr txBox="1"/>
              <p:nvPr/>
            </p:nvSpPr>
            <p:spPr>
              <a:xfrm>
                <a:off x="1414" y="2414"/>
                <a:ext cx="254" cy="319"/>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78867" name="Text Box 19"/>
              <p:cNvSpPr txBox="1"/>
              <p:nvPr/>
            </p:nvSpPr>
            <p:spPr>
              <a:xfrm>
                <a:off x="2387" y="2847"/>
                <a:ext cx="344" cy="319"/>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78868" name="Text Box 20"/>
              <p:cNvSpPr txBox="1"/>
              <p:nvPr/>
            </p:nvSpPr>
            <p:spPr>
              <a:xfrm>
                <a:off x="1811" y="3182"/>
                <a:ext cx="254" cy="319"/>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78869" name="Text Box 21"/>
              <p:cNvSpPr txBox="1"/>
              <p:nvPr/>
            </p:nvSpPr>
            <p:spPr>
              <a:xfrm>
                <a:off x="646" y="3201"/>
                <a:ext cx="326" cy="319"/>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78870" name="Rectangle 22"/>
              <p:cNvSpPr/>
              <p:nvPr/>
            </p:nvSpPr>
            <p:spPr>
              <a:xfrm>
                <a:off x="1427" y="3744"/>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939031" name="Text Box 23"/>
              <p:cNvSpPr txBox="1">
                <a:spLocks noChangeArrowheads="1"/>
              </p:cNvSpPr>
              <p:nvPr/>
            </p:nvSpPr>
            <p:spPr bwMode="auto">
              <a:xfrm>
                <a:off x="1283" y="2675"/>
                <a:ext cx="212" cy="319"/>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隶书" panose="02010509060101010101" pitchFamily="49" charset="-122"/>
                    <a:ea typeface="隶书" panose="02010509060101010101" pitchFamily="49" charset="-122"/>
                    <a:cs typeface="+mn-cs"/>
                  </a:rPr>
                  <a:t>0</a:t>
                </a:r>
                <a:endPar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78872" name="Oval 24"/>
              <p:cNvSpPr/>
              <p:nvPr/>
            </p:nvSpPr>
            <p:spPr>
              <a:xfrm>
                <a:off x="1619" y="3312"/>
                <a:ext cx="240" cy="24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8873" name="Rectangle 25"/>
              <p:cNvSpPr/>
              <p:nvPr/>
            </p:nvSpPr>
            <p:spPr>
              <a:xfrm>
                <a:off x="1811" y="3744"/>
                <a:ext cx="240" cy="52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78874" name="Text Box 28"/>
              <p:cNvSpPr txBox="1"/>
              <p:nvPr/>
            </p:nvSpPr>
            <p:spPr>
              <a:xfrm>
                <a:off x="1043" y="2847"/>
                <a:ext cx="243" cy="319"/>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78875" name="Text Box 29"/>
              <p:cNvSpPr txBox="1"/>
              <p:nvPr/>
            </p:nvSpPr>
            <p:spPr>
              <a:xfrm>
                <a:off x="1187" y="3470"/>
                <a:ext cx="337" cy="319"/>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78876" name="Text Box 30"/>
              <p:cNvSpPr txBox="1"/>
              <p:nvPr/>
            </p:nvSpPr>
            <p:spPr>
              <a:xfrm>
                <a:off x="1880" y="3470"/>
                <a:ext cx="344" cy="319"/>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grpSp>
        <p:grpSp>
          <p:nvGrpSpPr>
            <p:cNvPr id="78877" name="Group 31"/>
            <p:cNvGrpSpPr/>
            <p:nvPr/>
          </p:nvGrpSpPr>
          <p:grpSpPr>
            <a:xfrm>
              <a:off x="3061" y="1842"/>
              <a:ext cx="2011" cy="1920"/>
              <a:chOff x="2880" y="2400"/>
              <a:chExt cx="2011" cy="1920"/>
            </a:xfrm>
          </p:grpSpPr>
          <p:sp>
            <p:nvSpPr>
              <p:cNvPr id="78878" name="Line 32"/>
              <p:cNvSpPr/>
              <p:nvPr/>
            </p:nvSpPr>
            <p:spPr>
              <a:xfrm flipH="1">
                <a:off x="3696" y="3404"/>
                <a:ext cx="192" cy="218"/>
              </a:xfrm>
              <a:prstGeom prst="line">
                <a:avLst/>
              </a:prstGeom>
              <a:ln w="38100" cap="flat" cmpd="sng">
                <a:solidFill>
                  <a:srgbClr val="006666"/>
                </a:solidFill>
                <a:prstDash val="solid"/>
                <a:round/>
                <a:headEnd type="none" w="med" len="med"/>
                <a:tailEnd type="none" w="med" len="med"/>
              </a:ln>
            </p:spPr>
          </p:sp>
          <p:sp>
            <p:nvSpPr>
              <p:cNvPr id="939041" name="Text Box 33"/>
              <p:cNvSpPr txBox="1">
                <a:spLocks noChangeArrowheads="1"/>
              </p:cNvSpPr>
              <p:nvPr/>
            </p:nvSpPr>
            <p:spPr bwMode="auto">
              <a:xfrm>
                <a:off x="4032" y="2400"/>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39042" name="Text Box 34"/>
              <p:cNvSpPr txBox="1">
                <a:spLocks noChangeArrowheads="1"/>
              </p:cNvSpPr>
              <p:nvPr/>
            </p:nvSpPr>
            <p:spPr bwMode="auto">
              <a:xfrm>
                <a:off x="3471" y="2662"/>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39043" name="Text Box 35"/>
              <p:cNvSpPr txBox="1">
                <a:spLocks noChangeArrowheads="1"/>
              </p:cNvSpPr>
              <p:nvPr/>
            </p:nvSpPr>
            <p:spPr bwMode="auto">
              <a:xfrm>
                <a:off x="3772" y="2967"/>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78882" name="Line 36"/>
              <p:cNvSpPr/>
              <p:nvPr/>
            </p:nvSpPr>
            <p:spPr>
              <a:xfrm>
                <a:off x="3936" y="3404"/>
                <a:ext cx="192" cy="218"/>
              </a:xfrm>
              <a:prstGeom prst="line">
                <a:avLst/>
              </a:prstGeom>
              <a:ln w="38100" cap="flat" cmpd="sng">
                <a:solidFill>
                  <a:srgbClr val="006666"/>
                </a:solidFill>
                <a:prstDash val="solid"/>
                <a:round/>
                <a:headEnd type="none" w="med" len="med"/>
                <a:tailEnd type="none" w="med" len="med"/>
              </a:ln>
            </p:spPr>
          </p:sp>
          <p:sp>
            <p:nvSpPr>
              <p:cNvPr id="78883" name="Line 37"/>
              <p:cNvSpPr/>
              <p:nvPr/>
            </p:nvSpPr>
            <p:spPr>
              <a:xfrm>
                <a:off x="4032" y="2749"/>
                <a:ext cx="432" cy="393"/>
              </a:xfrm>
              <a:prstGeom prst="line">
                <a:avLst/>
              </a:prstGeom>
              <a:ln w="28575" cap="flat" cmpd="sng">
                <a:solidFill>
                  <a:srgbClr val="006666"/>
                </a:solidFill>
                <a:prstDash val="solid"/>
                <a:round/>
                <a:headEnd type="none" w="med" len="med"/>
                <a:tailEnd type="none" w="med" len="med"/>
              </a:ln>
            </p:spPr>
          </p:sp>
          <p:sp>
            <p:nvSpPr>
              <p:cNvPr id="78884" name="Line 38"/>
              <p:cNvSpPr/>
              <p:nvPr/>
            </p:nvSpPr>
            <p:spPr>
              <a:xfrm flipH="1">
                <a:off x="3216" y="2749"/>
                <a:ext cx="672" cy="698"/>
              </a:xfrm>
              <a:prstGeom prst="line">
                <a:avLst/>
              </a:prstGeom>
              <a:ln w="28575" cap="flat" cmpd="sng">
                <a:solidFill>
                  <a:srgbClr val="006666"/>
                </a:solidFill>
                <a:prstDash val="solid"/>
                <a:round/>
                <a:headEnd type="none" w="med" len="med"/>
                <a:tailEnd type="none" w="med" len="med"/>
              </a:ln>
            </p:spPr>
          </p:sp>
          <p:sp>
            <p:nvSpPr>
              <p:cNvPr id="78885" name="Rectangle 39"/>
              <p:cNvSpPr/>
              <p:nvPr/>
            </p:nvSpPr>
            <p:spPr>
              <a:xfrm>
                <a:off x="4464" y="3055"/>
                <a:ext cx="240" cy="654"/>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bg2"/>
                    </a:solidFill>
                    <a:latin typeface="Times New Roman" panose="02020603050405020304" pitchFamily="18" charset="0"/>
                    <a:ea typeface="宋体" panose="02010600030101010101" pitchFamily="2" charset="-122"/>
                  </a:rPr>
                  <a:t>….</a:t>
                </a:r>
              </a:p>
            </p:txBody>
          </p:sp>
          <p:sp>
            <p:nvSpPr>
              <p:cNvPr id="78886" name="Line 40"/>
              <p:cNvSpPr/>
              <p:nvPr/>
            </p:nvSpPr>
            <p:spPr>
              <a:xfrm>
                <a:off x="3648" y="3098"/>
                <a:ext cx="288" cy="262"/>
              </a:xfrm>
              <a:prstGeom prst="line">
                <a:avLst/>
              </a:prstGeom>
              <a:ln w="28575" cap="flat" cmpd="sng">
                <a:solidFill>
                  <a:srgbClr val="006666"/>
                </a:solidFill>
                <a:prstDash val="solid"/>
                <a:round/>
                <a:headEnd type="none" w="med" len="med"/>
                <a:tailEnd type="none" w="med" len="med"/>
              </a:ln>
            </p:spPr>
          </p:sp>
          <p:sp>
            <p:nvSpPr>
              <p:cNvPr id="78887" name="Oval 41"/>
              <p:cNvSpPr/>
              <p:nvPr/>
            </p:nvSpPr>
            <p:spPr>
              <a:xfrm>
                <a:off x="3504" y="2924"/>
                <a:ext cx="240" cy="218"/>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8888" name="Oval 42"/>
              <p:cNvSpPr/>
              <p:nvPr/>
            </p:nvSpPr>
            <p:spPr>
              <a:xfrm>
                <a:off x="3840" y="2575"/>
                <a:ext cx="240" cy="218"/>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8889" name="Rectangle 43"/>
              <p:cNvSpPr/>
              <p:nvPr/>
            </p:nvSpPr>
            <p:spPr>
              <a:xfrm>
                <a:off x="3072" y="3316"/>
                <a:ext cx="240" cy="742"/>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78890" name="Text Box 44"/>
              <p:cNvSpPr txBox="1"/>
              <p:nvPr/>
            </p:nvSpPr>
            <p:spPr>
              <a:xfrm>
                <a:off x="3587" y="2413"/>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78891" name="Rectangle 45"/>
              <p:cNvSpPr/>
              <p:nvPr/>
            </p:nvSpPr>
            <p:spPr>
              <a:xfrm>
                <a:off x="3552" y="3622"/>
                <a:ext cx="240" cy="698"/>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78892" name="Oval 46"/>
              <p:cNvSpPr/>
              <p:nvPr/>
            </p:nvSpPr>
            <p:spPr>
              <a:xfrm>
                <a:off x="3792" y="3229"/>
                <a:ext cx="240" cy="218"/>
              </a:xfrm>
              <a:prstGeom prst="ellipse">
                <a:avLst/>
              </a:prstGeom>
              <a:solidFill>
                <a:srgbClr val="FF7C80"/>
              </a:solidFill>
              <a:ln w="28575" cap="flat" cmpd="sng">
                <a:solidFill>
                  <a:srgbClr val="FF7C8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8893" name="Rectangle 47"/>
              <p:cNvSpPr/>
              <p:nvPr/>
            </p:nvSpPr>
            <p:spPr>
              <a:xfrm>
                <a:off x="4032" y="3622"/>
                <a:ext cx="240" cy="48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78894" name="Text Box 49"/>
              <p:cNvSpPr txBox="1"/>
              <p:nvPr/>
            </p:nvSpPr>
            <p:spPr>
              <a:xfrm>
                <a:off x="3552" y="3670"/>
                <a:ext cx="225" cy="615"/>
              </a:xfrm>
              <a:prstGeom prst="rect">
                <a:avLst/>
              </a:prstGeom>
              <a:noFill/>
              <a:ln w="9525">
                <a:noFill/>
              </a:ln>
            </p:spPr>
            <p:txBody>
              <a:bodyPr wrap="none" anchor="t" anchorCtr="0">
                <a:spAutoFit/>
              </a:bodyPr>
              <a:lstStyle/>
              <a:p>
                <a:pPr>
                  <a:lnSpc>
                    <a:spcPct val="80000"/>
                  </a:lnSpc>
                  <a:spcBef>
                    <a:spcPts val="0"/>
                  </a:spcBef>
                  <a:spcAft>
                    <a:spcPts val="0"/>
                  </a:spcAft>
                </a:pPr>
                <a:r>
                  <a:rPr lang="en-US" altLang="zh-CN" sz="2400" b="1" i="1" dirty="0">
                    <a:solidFill>
                      <a:srgbClr val="FFFF00"/>
                    </a:solidFill>
                    <a:latin typeface="Times New Roman" panose="02020603050405020304" pitchFamily="18" charset="0"/>
                    <a:ea typeface="宋体" panose="02010600030101010101" pitchFamily="2" charset="-122"/>
                  </a:rPr>
                  <a:t>h</a:t>
                </a:r>
              </a:p>
              <a:p>
                <a:pPr>
                  <a:lnSpc>
                    <a:spcPct val="80000"/>
                  </a:lnSpc>
                  <a:spcBef>
                    <a:spcPts val="0"/>
                  </a:spcBef>
                  <a:spcAft>
                    <a:spcPts val="0"/>
                  </a:spcAft>
                </a:pPr>
                <a:r>
                  <a:rPr lang="en-US" altLang="zh-CN" sz="2400" b="1" i="1" dirty="0">
                    <a:solidFill>
                      <a:srgbClr val="FFFF00"/>
                    </a:solidFill>
                    <a:latin typeface="Times New Roman" panose="02020603050405020304" pitchFamily="18" charset="0"/>
                    <a:ea typeface="宋体" panose="02010600030101010101" pitchFamily="2" charset="-122"/>
                  </a:rPr>
                  <a:t>+</a:t>
                </a:r>
              </a:p>
              <a:p>
                <a:pPr>
                  <a:lnSpc>
                    <a:spcPct val="80000"/>
                  </a:lnSpc>
                  <a:spcBef>
                    <a:spcPts val="0"/>
                  </a:spcBef>
                  <a:spcAft>
                    <a:spcPts val="0"/>
                  </a:spcAft>
                </a:pPr>
                <a:r>
                  <a:rPr lang="en-US" altLang="zh-CN" sz="2400" b="1" i="1" dirty="0">
                    <a:solidFill>
                      <a:srgbClr val="FFFF00"/>
                    </a:solidFill>
                    <a:latin typeface="Times New Roman" panose="02020603050405020304" pitchFamily="18" charset="0"/>
                    <a:ea typeface="宋体" panose="02010600030101010101" pitchFamily="2" charset="-122"/>
                  </a:rPr>
                  <a:t>1</a:t>
                </a:r>
              </a:p>
            </p:txBody>
          </p:sp>
          <p:sp>
            <p:nvSpPr>
              <p:cNvPr id="78895" name="Text Box 50"/>
              <p:cNvSpPr txBox="1"/>
              <p:nvPr/>
            </p:nvSpPr>
            <p:spPr>
              <a:xfrm>
                <a:off x="4547" y="2805"/>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78896" name="Text Box 51"/>
              <p:cNvSpPr txBox="1"/>
              <p:nvPr/>
            </p:nvSpPr>
            <p:spPr>
              <a:xfrm>
                <a:off x="3984" y="3085"/>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78897" name="Text Box 52"/>
              <p:cNvSpPr txBox="1"/>
              <p:nvPr/>
            </p:nvSpPr>
            <p:spPr>
              <a:xfrm>
                <a:off x="2880" y="3024"/>
                <a:ext cx="326"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78898" name="Text Box 53"/>
              <p:cNvSpPr txBox="1"/>
              <p:nvPr/>
            </p:nvSpPr>
            <p:spPr>
              <a:xfrm>
                <a:off x="3203" y="2805"/>
                <a:ext cx="2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78899" name="Text Box 54"/>
              <p:cNvSpPr txBox="1"/>
              <p:nvPr/>
            </p:nvSpPr>
            <p:spPr>
              <a:xfrm>
                <a:off x="3408" y="3360"/>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78900" name="Text Box 55"/>
              <p:cNvSpPr txBox="1"/>
              <p:nvPr/>
            </p:nvSpPr>
            <p:spPr>
              <a:xfrm>
                <a:off x="4080" y="3360"/>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gr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sym typeface="+mn-ea"/>
              </a:rPr>
              <a:t>先左后右双向旋转</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具体操作：</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从结点</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起沿插入路径选取</a:t>
            </a:r>
            <a:r>
              <a:rPr lang="en-US" altLang="zh-CN" dirty="0">
                <a:latin typeface="黑体" panose="02010609060101010101" pitchFamily="2" charset="-122"/>
                <a:ea typeface="黑体" panose="02010609060101010101" pitchFamily="2" charset="-122"/>
                <a:sym typeface="+mn-ea"/>
              </a:rPr>
              <a:t>3</a:t>
            </a:r>
            <a:r>
              <a:rPr lang="zh-CN" altLang="en-US" dirty="0">
                <a:latin typeface="黑体" panose="02010609060101010101" pitchFamily="2" charset="-122"/>
                <a:ea typeface="黑体" panose="02010609060101010101" pitchFamily="2" charset="-122"/>
                <a:sym typeface="+mn-ea"/>
              </a:rPr>
              <a:t>个结点</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a:t>
            </a:r>
            <a:r>
              <a:rPr lang="en-US" altLang="zh-CN" dirty="0">
                <a:latin typeface="黑体" panose="02010609060101010101" pitchFamily="2" charset="-122"/>
                <a:ea typeface="黑体" panose="02010609060101010101" pitchFamily="2" charset="-122"/>
                <a:sym typeface="+mn-ea"/>
              </a:rPr>
              <a:t>B</a:t>
            </a:r>
            <a:r>
              <a:rPr lang="zh-CN" altLang="en-US" dirty="0">
                <a:latin typeface="黑体" panose="02010609060101010101" pitchFamily="2" charset="-122"/>
                <a:ea typeface="黑体" panose="02010609060101010101" pitchFamily="2" charset="-122"/>
                <a:sym typeface="+mn-ea"/>
              </a:rPr>
              <a:t>和</a:t>
            </a:r>
            <a:r>
              <a:rPr lang="en-US" altLang="zh-CN" dirty="0">
                <a:latin typeface="黑体" panose="02010609060101010101" pitchFamily="2" charset="-122"/>
                <a:ea typeface="黑体" panose="02010609060101010101" pitchFamily="2" charset="-122"/>
                <a:sym typeface="+mn-ea"/>
              </a:rPr>
              <a:t>C(</a:t>
            </a:r>
            <a:r>
              <a:rPr lang="en-US" altLang="zh-CN" dirty="0">
                <a:ea typeface="黑体" panose="02010609060101010101" pitchFamily="2" charset="-122"/>
                <a:sym typeface="+mn-ea"/>
              </a:rPr>
              <a:t>“</a:t>
            </a:r>
            <a:r>
              <a:rPr lang="en-US" altLang="zh-CN" dirty="0">
                <a:latin typeface="黑体" panose="02010609060101010101" pitchFamily="2" charset="-122"/>
                <a:ea typeface="黑体" panose="02010609060101010101" pitchFamily="2" charset="-122"/>
                <a:sym typeface="+mn-ea"/>
              </a:rPr>
              <a:t>&lt;</a:t>
            </a:r>
            <a:r>
              <a:rPr lang="en-US" altLang="zh-CN" dirty="0">
                <a:ea typeface="黑体" panose="02010609060101010101" pitchFamily="2" charset="-122"/>
                <a:sym typeface="+mn-ea"/>
              </a:rPr>
              <a:t>”</a:t>
            </a:r>
            <a:r>
              <a:rPr lang="zh-CN" altLang="en-US" dirty="0">
                <a:latin typeface="黑体" panose="02010609060101010101" pitchFamily="2" charset="-122"/>
                <a:ea typeface="黑体" panose="02010609060101010101" pitchFamily="2" charset="-122"/>
                <a:sym typeface="+mn-ea"/>
              </a:rPr>
              <a:t>型</a:t>
            </a:r>
            <a:r>
              <a:rPr lang="en-US" altLang="zh-CN" dirty="0">
                <a:latin typeface="黑体" panose="02010609060101010101" pitchFamily="2" charset="-122"/>
                <a:ea typeface="黑体" panose="02010609060101010101" pitchFamily="2" charset="-122"/>
                <a:sym typeface="+mn-ea"/>
              </a:rPr>
              <a:t>)</a:t>
            </a: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以结点</a:t>
            </a:r>
            <a:r>
              <a:rPr lang="en-US" altLang="zh-CN" dirty="0">
                <a:latin typeface="黑体" panose="02010609060101010101" pitchFamily="2" charset="-122"/>
                <a:ea typeface="黑体" panose="02010609060101010101" pitchFamily="2" charset="-122"/>
                <a:sym typeface="+mn-ea"/>
              </a:rPr>
              <a:t>B</a:t>
            </a:r>
            <a:r>
              <a:rPr lang="zh-CN" altLang="en-US" dirty="0">
                <a:latin typeface="黑体" panose="02010609060101010101" pitchFamily="2" charset="-122"/>
                <a:ea typeface="黑体" panose="02010609060101010101" pitchFamily="2" charset="-122"/>
                <a:sym typeface="+mn-ea"/>
              </a:rPr>
              <a:t>为旋转轴，做单向左旋</a:t>
            </a: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再以结点</a:t>
            </a:r>
            <a:r>
              <a:rPr lang="en-US" altLang="zh-CN" dirty="0">
                <a:latin typeface="黑体" panose="02010609060101010101" pitchFamily="2" charset="-122"/>
                <a:ea typeface="黑体" panose="02010609060101010101" pitchFamily="2" charset="-122"/>
                <a:sym typeface="+mn-ea"/>
              </a:rPr>
              <a:t>C</a:t>
            </a:r>
            <a:r>
              <a:rPr lang="zh-CN" altLang="en-US" dirty="0">
                <a:latin typeface="黑体" panose="02010609060101010101" pitchFamily="2" charset="-122"/>
                <a:ea typeface="黑体" panose="02010609060101010101" pitchFamily="2" charset="-122"/>
                <a:sym typeface="+mn-ea"/>
              </a:rPr>
              <a:t>为旋转轴，做单向右旋</a:t>
            </a: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dirty="0">
              <a:latin typeface="黑体" panose="02010609060101010101" pitchFamily="2" charset="-122"/>
              <a:ea typeface="黑体" panose="02010609060101010101" pitchFamily="2" charset="-122"/>
              <a:sym typeface="+mn-ea"/>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72</a:t>
            </a:fld>
            <a:endParaRPr lang="zh-CN" altLang="en-US"/>
          </a:p>
        </p:txBody>
      </p:sp>
      <p:grpSp>
        <p:nvGrpSpPr>
          <p:cNvPr id="79877" name="Group 5"/>
          <p:cNvGrpSpPr/>
          <p:nvPr/>
        </p:nvGrpSpPr>
        <p:grpSpPr>
          <a:xfrm>
            <a:off x="378460" y="2802890"/>
            <a:ext cx="3192780" cy="3048000"/>
            <a:chOff x="3312" y="2395"/>
            <a:chExt cx="2011" cy="1920"/>
          </a:xfrm>
        </p:grpSpPr>
        <p:sp>
          <p:nvSpPr>
            <p:cNvPr id="79878" name="Line 6"/>
            <p:cNvSpPr/>
            <p:nvPr/>
          </p:nvSpPr>
          <p:spPr>
            <a:xfrm flipH="1">
              <a:off x="4128" y="3399"/>
              <a:ext cx="192" cy="218"/>
            </a:xfrm>
            <a:prstGeom prst="line">
              <a:avLst/>
            </a:prstGeom>
            <a:ln w="38100" cap="flat" cmpd="sng">
              <a:solidFill>
                <a:srgbClr val="006666"/>
              </a:solidFill>
              <a:prstDash val="solid"/>
              <a:round/>
              <a:headEnd type="none" w="med" len="med"/>
              <a:tailEnd type="none" w="med" len="med"/>
            </a:ln>
          </p:spPr>
        </p:sp>
        <p:sp>
          <p:nvSpPr>
            <p:cNvPr id="940039" name="Text Box 7"/>
            <p:cNvSpPr txBox="1">
              <a:spLocks noChangeArrowheads="1"/>
            </p:cNvSpPr>
            <p:nvPr/>
          </p:nvSpPr>
          <p:spPr bwMode="auto">
            <a:xfrm>
              <a:off x="4464" y="2395"/>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40040" name="Text Box 8"/>
            <p:cNvSpPr txBox="1">
              <a:spLocks noChangeArrowheads="1"/>
            </p:cNvSpPr>
            <p:nvPr/>
          </p:nvSpPr>
          <p:spPr bwMode="auto">
            <a:xfrm>
              <a:off x="3903" y="2657"/>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40041" name="Text Box 9"/>
            <p:cNvSpPr txBox="1">
              <a:spLocks noChangeArrowheads="1"/>
            </p:cNvSpPr>
            <p:nvPr/>
          </p:nvSpPr>
          <p:spPr bwMode="auto">
            <a:xfrm>
              <a:off x="4204" y="2962"/>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79882" name="Line 10"/>
            <p:cNvSpPr/>
            <p:nvPr/>
          </p:nvSpPr>
          <p:spPr>
            <a:xfrm>
              <a:off x="4368" y="3399"/>
              <a:ext cx="192" cy="218"/>
            </a:xfrm>
            <a:prstGeom prst="line">
              <a:avLst/>
            </a:prstGeom>
            <a:ln w="38100" cap="flat" cmpd="sng">
              <a:solidFill>
                <a:srgbClr val="006666"/>
              </a:solidFill>
              <a:prstDash val="solid"/>
              <a:round/>
              <a:headEnd type="none" w="med" len="med"/>
              <a:tailEnd type="none" w="med" len="med"/>
            </a:ln>
          </p:spPr>
        </p:sp>
        <p:sp>
          <p:nvSpPr>
            <p:cNvPr id="79883" name="Line 11"/>
            <p:cNvSpPr/>
            <p:nvPr/>
          </p:nvSpPr>
          <p:spPr>
            <a:xfrm>
              <a:off x="4464" y="2744"/>
              <a:ext cx="432" cy="393"/>
            </a:xfrm>
            <a:prstGeom prst="line">
              <a:avLst/>
            </a:prstGeom>
            <a:ln w="28575" cap="flat" cmpd="sng">
              <a:solidFill>
                <a:srgbClr val="006666"/>
              </a:solidFill>
              <a:prstDash val="solid"/>
              <a:round/>
              <a:headEnd type="none" w="med" len="med"/>
              <a:tailEnd type="none" w="med" len="med"/>
            </a:ln>
          </p:spPr>
        </p:sp>
        <p:sp>
          <p:nvSpPr>
            <p:cNvPr id="79884" name="Line 12"/>
            <p:cNvSpPr/>
            <p:nvPr/>
          </p:nvSpPr>
          <p:spPr>
            <a:xfrm flipH="1">
              <a:off x="4032" y="2744"/>
              <a:ext cx="288" cy="280"/>
            </a:xfrm>
            <a:prstGeom prst="line">
              <a:avLst/>
            </a:prstGeom>
            <a:ln w="28575" cap="flat" cmpd="sng">
              <a:solidFill>
                <a:schemeClr val="hlink"/>
              </a:solidFill>
              <a:prstDash val="solid"/>
              <a:round/>
              <a:headEnd type="none" w="med" len="med"/>
              <a:tailEnd type="none" w="med" len="med"/>
            </a:ln>
          </p:spPr>
        </p:sp>
        <p:sp>
          <p:nvSpPr>
            <p:cNvPr id="79885" name="Rectangle 13"/>
            <p:cNvSpPr/>
            <p:nvPr/>
          </p:nvSpPr>
          <p:spPr>
            <a:xfrm>
              <a:off x="4896" y="3050"/>
              <a:ext cx="240" cy="654"/>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rgbClr val="006666"/>
                  </a:solidFill>
                  <a:latin typeface="Times New Roman" panose="02020603050405020304" pitchFamily="18" charset="0"/>
                  <a:ea typeface="宋体" panose="02010600030101010101" pitchFamily="2" charset="-122"/>
                </a:rPr>
                <a:t>….</a:t>
              </a: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79886" name="Line 14"/>
            <p:cNvSpPr/>
            <p:nvPr/>
          </p:nvSpPr>
          <p:spPr>
            <a:xfrm>
              <a:off x="4080" y="3093"/>
              <a:ext cx="288" cy="262"/>
            </a:xfrm>
            <a:prstGeom prst="line">
              <a:avLst/>
            </a:prstGeom>
            <a:ln w="28575" cap="flat" cmpd="sng">
              <a:solidFill>
                <a:schemeClr val="hlink"/>
              </a:solidFill>
              <a:prstDash val="solid"/>
              <a:round/>
              <a:headEnd type="none" w="med" len="med"/>
              <a:tailEnd type="none" w="med" len="med"/>
            </a:ln>
          </p:spPr>
        </p:sp>
        <p:sp>
          <p:nvSpPr>
            <p:cNvPr id="79887" name="Oval 15"/>
            <p:cNvSpPr/>
            <p:nvPr/>
          </p:nvSpPr>
          <p:spPr>
            <a:xfrm>
              <a:off x="4272" y="2570"/>
              <a:ext cx="240" cy="218"/>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9888" name="Rectangle 16"/>
            <p:cNvSpPr/>
            <p:nvPr/>
          </p:nvSpPr>
          <p:spPr>
            <a:xfrm>
              <a:off x="3504" y="3311"/>
              <a:ext cx="240" cy="742"/>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79889" name="Text Box 17"/>
            <p:cNvSpPr txBox="1"/>
            <p:nvPr/>
          </p:nvSpPr>
          <p:spPr>
            <a:xfrm>
              <a:off x="4019" y="2408"/>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79890" name="Rectangle 18"/>
            <p:cNvSpPr/>
            <p:nvPr/>
          </p:nvSpPr>
          <p:spPr>
            <a:xfrm>
              <a:off x="3984" y="3617"/>
              <a:ext cx="240" cy="698"/>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79891" name="Oval 19"/>
            <p:cNvSpPr/>
            <p:nvPr/>
          </p:nvSpPr>
          <p:spPr>
            <a:xfrm>
              <a:off x="4224" y="3224"/>
              <a:ext cx="240" cy="218"/>
            </a:xfrm>
            <a:prstGeom prst="ellipse">
              <a:avLst/>
            </a:prstGeom>
            <a:solidFill>
              <a:srgbClr val="FF7C80"/>
            </a:solidFill>
            <a:ln w="28575" cap="flat" cmpd="sng">
              <a:solidFill>
                <a:srgbClr val="FF7C8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9892" name="Rectangle 20"/>
            <p:cNvSpPr/>
            <p:nvPr/>
          </p:nvSpPr>
          <p:spPr>
            <a:xfrm>
              <a:off x="4464" y="3617"/>
              <a:ext cx="240" cy="48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79893" name="Text Box 21"/>
            <p:cNvSpPr txBox="1"/>
            <p:nvPr/>
          </p:nvSpPr>
          <p:spPr>
            <a:xfrm>
              <a:off x="4416" y="3690"/>
              <a:ext cx="195" cy="290"/>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79894" name="Text Box 22"/>
            <p:cNvSpPr txBox="1"/>
            <p:nvPr/>
          </p:nvSpPr>
          <p:spPr>
            <a:xfrm>
              <a:off x="3999" y="3658"/>
              <a:ext cx="225" cy="615"/>
            </a:xfrm>
            <a:prstGeom prst="rect">
              <a:avLst/>
            </a:prstGeom>
            <a:noFill/>
            <a:ln w="9525">
              <a:noFill/>
            </a:ln>
          </p:spPr>
          <p:txBody>
            <a:bodyPr wrap="none" anchor="t" anchorCtr="0">
              <a:spAutoFit/>
            </a:bodyPr>
            <a:lstStyle/>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h</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1</a:t>
              </a:r>
              <a:endParaRPr lang="en-US" altLang="zh-CN" sz="2400" dirty="0">
                <a:latin typeface="Times New Roman" panose="02020603050405020304" pitchFamily="18" charset="0"/>
                <a:ea typeface="宋体" panose="02010600030101010101" pitchFamily="2" charset="-122"/>
              </a:endParaRPr>
            </a:p>
          </p:txBody>
        </p:sp>
        <p:sp>
          <p:nvSpPr>
            <p:cNvPr id="79895" name="Text Box 23"/>
            <p:cNvSpPr txBox="1"/>
            <p:nvPr/>
          </p:nvSpPr>
          <p:spPr>
            <a:xfrm>
              <a:off x="4979" y="2800"/>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79896" name="Text Box 24"/>
            <p:cNvSpPr txBox="1"/>
            <p:nvPr/>
          </p:nvSpPr>
          <p:spPr>
            <a:xfrm>
              <a:off x="4416" y="3080"/>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79897" name="Text Box 25"/>
            <p:cNvSpPr txBox="1"/>
            <p:nvPr/>
          </p:nvSpPr>
          <p:spPr>
            <a:xfrm>
              <a:off x="3312" y="3019"/>
              <a:ext cx="326"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79898" name="Text Box 26"/>
            <p:cNvSpPr txBox="1"/>
            <p:nvPr/>
          </p:nvSpPr>
          <p:spPr>
            <a:xfrm>
              <a:off x="3635" y="2800"/>
              <a:ext cx="2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79899" name="Text Box 27"/>
            <p:cNvSpPr txBox="1"/>
            <p:nvPr/>
          </p:nvSpPr>
          <p:spPr>
            <a:xfrm>
              <a:off x="3840" y="3355"/>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79900" name="Text Box 28"/>
            <p:cNvSpPr txBox="1"/>
            <p:nvPr/>
          </p:nvSpPr>
          <p:spPr>
            <a:xfrm>
              <a:off x="4512" y="3355"/>
              <a:ext cx="3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79901" name="Line 29"/>
            <p:cNvSpPr/>
            <p:nvPr/>
          </p:nvSpPr>
          <p:spPr>
            <a:xfrm flipH="1">
              <a:off x="3744" y="3072"/>
              <a:ext cx="240" cy="266"/>
            </a:xfrm>
            <a:prstGeom prst="line">
              <a:avLst/>
            </a:prstGeom>
            <a:ln w="38100" cap="flat" cmpd="sng">
              <a:solidFill>
                <a:srgbClr val="006666"/>
              </a:solidFill>
              <a:prstDash val="solid"/>
              <a:round/>
              <a:headEnd type="none" w="med" len="med"/>
              <a:tailEnd type="none" w="med" len="med"/>
            </a:ln>
          </p:spPr>
        </p:sp>
        <p:sp>
          <p:nvSpPr>
            <p:cNvPr id="79902" name="Oval 30"/>
            <p:cNvSpPr/>
            <p:nvPr/>
          </p:nvSpPr>
          <p:spPr>
            <a:xfrm>
              <a:off x="3936" y="2919"/>
              <a:ext cx="240" cy="218"/>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79903" name="Group 31"/>
          <p:cNvGrpSpPr/>
          <p:nvPr/>
        </p:nvGrpSpPr>
        <p:grpSpPr>
          <a:xfrm>
            <a:off x="3954145" y="2772410"/>
            <a:ext cx="3649980" cy="3048000"/>
            <a:chOff x="3264" y="2400"/>
            <a:chExt cx="2299" cy="1920"/>
          </a:xfrm>
        </p:grpSpPr>
        <p:sp>
          <p:nvSpPr>
            <p:cNvPr id="79904" name="Line 32"/>
            <p:cNvSpPr/>
            <p:nvPr/>
          </p:nvSpPr>
          <p:spPr>
            <a:xfrm>
              <a:off x="3984" y="3380"/>
              <a:ext cx="240" cy="246"/>
            </a:xfrm>
            <a:prstGeom prst="line">
              <a:avLst/>
            </a:prstGeom>
            <a:ln w="38100" cap="flat" cmpd="sng">
              <a:solidFill>
                <a:srgbClr val="006666"/>
              </a:solidFill>
              <a:prstDash val="solid"/>
              <a:round/>
              <a:headEnd type="none" w="med" len="med"/>
              <a:tailEnd type="none" w="med" len="med"/>
            </a:ln>
          </p:spPr>
        </p:sp>
        <p:sp>
          <p:nvSpPr>
            <p:cNvPr id="940065" name="Text Box 33"/>
            <p:cNvSpPr txBox="1">
              <a:spLocks noChangeArrowheads="1"/>
            </p:cNvSpPr>
            <p:nvPr/>
          </p:nvSpPr>
          <p:spPr bwMode="auto">
            <a:xfrm>
              <a:off x="5040" y="2796"/>
              <a:ext cx="195" cy="290"/>
            </a:xfrm>
            <a:prstGeom prst="rect">
              <a:avLst/>
            </a:prstGeom>
            <a:noFill/>
            <a:ln w="9525">
              <a:noFill/>
              <a:miter lim="800000"/>
            </a:ln>
            <a:effectLst/>
          </p:spPr>
          <p:txBody>
            <a:bodyPr wrap="none">
              <a:spAutoFit/>
            </a:bodyPr>
            <a:lstStyle/>
            <a:p>
              <a:pPr marR="0" defTabSz="914400">
                <a:buClrTx/>
                <a:buSzTx/>
                <a:buFontTx/>
                <a:buNone/>
                <a:defRPr/>
              </a:pPr>
              <a:endParaRPr kumimoji="0" lang="zh-CN"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940066" name="Text Box 34"/>
            <p:cNvSpPr txBox="1">
              <a:spLocks noChangeArrowheads="1"/>
            </p:cNvSpPr>
            <p:nvPr/>
          </p:nvSpPr>
          <p:spPr bwMode="auto">
            <a:xfrm>
              <a:off x="3820" y="3013"/>
              <a:ext cx="211" cy="290"/>
            </a:xfrm>
            <a:prstGeom prst="rect">
              <a:avLst/>
            </a:prstGeom>
            <a:noFill/>
            <a:ln w="9525">
              <a:noFill/>
              <a:miter lim="800000"/>
            </a:ln>
            <a:effectLst/>
          </p:spPr>
          <p:txBody>
            <a:bodyPr wrap="none">
              <a:spAutoFit/>
            </a:bodyPr>
            <a:lstStyle/>
            <a:p>
              <a:r>
                <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0067" name="Text Box 35"/>
            <p:cNvSpPr txBox="1">
              <a:spLocks noChangeArrowheads="1"/>
            </p:cNvSpPr>
            <p:nvPr/>
          </p:nvSpPr>
          <p:spPr bwMode="auto">
            <a:xfrm>
              <a:off x="4588" y="2400"/>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79908" name="Line 36"/>
            <p:cNvSpPr/>
            <p:nvPr/>
          </p:nvSpPr>
          <p:spPr>
            <a:xfrm>
              <a:off x="4704" y="2768"/>
              <a:ext cx="432" cy="367"/>
            </a:xfrm>
            <a:prstGeom prst="line">
              <a:avLst/>
            </a:prstGeom>
            <a:ln w="28575" cap="flat" cmpd="sng">
              <a:solidFill>
                <a:srgbClr val="006666"/>
              </a:solidFill>
              <a:prstDash val="solid"/>
              <a:round/>
              <a:headEnd type="none" w="med" len="med"/>
              <a:tailEnd type="none" w="med" len="med"/>
            </a:ln>
          </p:spPr>
        </p:sp>
        <p:sp>
          <p:nvSpPr>
            <p:cNvPr id="79909" name="Line 37"/>
            <p:cNvSpPr/>
            <p:nvPr/>
          </p:nvSpPr>
          <p:spPr>
            <a:xfrm flipH="1">
              <a:off x="3648" y="2768"/>
              <a:ext cx="912" cy="858"/>
            </a:xfrm>
            <a:prstGeom prst="line">
              <a:avLst/>
            </a:prstGeom>
            <a:ln w="28575" cap="flat" cmpd="sng">
              <a:solidFill>
                <a:srgbClr val="006666"/>
              </a:solidFill>
              <a:prstDash val="solid"/>
              <a:round/>
              <a:headEnd type="none" w="med" len="med"/>
              <a:tailEnd type="none" w="med" len="med"/>
            </a:ln>
          </p:spPr>
        </p:sp>
        <p:sp>
          <p:nvSpPr>
            <p:cNvPr id="79910" name="Rectangle 38"/>
            <p:cNvSpPr/>
            <p:nvPr/>
          </p:nvSpPr>
          <p:spPr>
            <a:xfrm>
              <a:off x="5088" y="3054"/>
              <a:ext cx="240" cy="612"/>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rgbClr val="006666"/>
                  </a:solidFill>
                  <a:latin typeface="Times New Roman" panose="02020603050405020304" pitchFamily="18" charset="0"/>
                  <a:ea typeface="宋体" panose="02010600030101010101" pitchFamily="2" charset="-122"/>
                </a:rPr>
                <a:t>….</a:t>
              </a: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79911" name="Line 39"/>
            <p:cNvSpPr/>
            <p:nvPr/>
          </p:nvSpPr>
          <p:spPr>
            <a:xfrm>
              <a:off x="4320" y="3094"/>
              <a:ext cx="288" cy="246"/>
            </a:xfrm>
            <a:prstGeom prst="line">
              <a:avLst/>
            </a:prstGeom>
            <a:ln w="28575" cap="flat" cmpd="sng">
              <a:solidFill>
                <a:srgbClr val="006666"/>
              </a:solidFill>
              <a:prstDash val="solid"/>
              <a:round/>
              <a:headEnd type="none" w="med" len="med"/>
              <a:tailEnd type="none" w="med" len="med"/>
            </a:ln>
          </p:spPr>
        </p:sp>
        <p:sp>
          <p:nvSpPr>
            <p:cNvPr id="79912" name="Oval 40"/>
            <p:cNvSpPr/>
            <p:nvPr/>
          </p:nvSpPr>
          <p:spPr>
            <a:xfrm>
              <a:off x="4176" y="2931"/>
              <a:ext cx="240" cy="204"/>
            </a:xfrm>
            <a:prstGeom prst="ellipse">
              <a:avLst/>
            </a:prstGeom>
            <a:solidFill>
              <a:srgbClr val="FF7C80"/>
            </a:solidFill>
            <a:ln w="28575" cap="flat" cmpd="sng">
              <a:solidFill>
                <a:srgbClr val="FF7C8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9913" name="Oval 41"/>
            <p:cNvSpPr/>
            <p:nvPr/>
          </p:nvSpPr>
          <p:spPr>
            <a:xfrm>
              <a:off x="4512" y="2604"/>
              <a:ext cx="240" cy="205"/>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9914" name="Rectangle 42"/>
            <p:cNvSpPr/>
            <p:nvPr/>
          </p:nvSpPr>
          <p:spPr>
            <a:xfrm>
              <a:off x="3504" y="3626"/>
              <a:ext cx="240" cy="694"/>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79915" name="Text Box 43"/>
            <p:cNvSpPr txBox="1"/>
            <p:nvPr/>
          </p:nvSpPr>
          <p:spPr>
            <a:xfrm>
              <a:off x="4224" y="2478"/>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79916" name="Text Box 44"/>
            <p:cNvSpPr txBox="1"/>
            <p:nvPr/>
          </p:nvSpPr>
          <p:spPr>
            <a:xfrm>
              <a:off x="5219" y="2830"/>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R</a:t>
              </a:r>
              <a:endParaRPr lang="en-US" altLang="zh-CN" sz="2400" dirty="0">
                <a:latin typeface="Times New Roman" panose="02020603050405020304" pitchFamily="18" charset="0"/>
                <a:ea typeface="宋体" panose="02010600030101010101" pitchFamily="2" charset="-122"/>
              </a:endParaRPr>
            </a:p>
          </p:txBody>
        </p:sp>
        <p:sp>
          <p:nvSpPr>
            <p:cNvPr id="79917" name="Text Box 45"/>
            <p:cNvSpPr txBox="1"/>
            <p:nvPr/>
          </p:nvSpPr>
          <p:spPr>
            <a:xfrm>
              <a:off x="3888" y="2871"/>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79918" name="Text Box 46"/>
            <p:cNvSpPr txBox="1"/>
            <p:nvPr/>
          </p:nvSpPr>
          <p:spPr>
            <a:xfrm>
              <a:off x="3264" y="3419"/>
              <a:ext cx="326"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L</a:t>
              </a:r>
              <a:endParaRPr lang="en-US" altLang="zh-CN" sz="2400" dirty="0">
                <a:latin typeface="Times New Roman" panose="02020603050405020304" pitchFamily="18" charset="0"/>
                <a:ea typeface="宋体" panose="02010600030101010101" pitchFamily="2" charset="-122"/>
              </a:endParaRPr>
            </a:p>
          </p:txBody>
        </p:sp>
        <p:sp>
          <p:nvSpPr>
            <p:cNvPr id="79919" name="Rectangle 47"/>
            <p:cNvSpPr/>
            <p:nvPr/>
          </p:nvSpPr>
          <p:spPr>
            <a:xfrm>
              <a:off x="4128" y="3626"/>
              <a:ext cx="240" cy="694"/>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940080" name="Text Box 48"/>
            <p:cNvSpPr txBox="1">
              <a:spLocks noChangeArrowheads="1"/>
            </p:cNvSpPr>
            <p:nvPr/>
          </p:nvSpPr>
          <p:spPr bwMode="auto">
            <a:xfrm>
              <a:off x="3936" y="2686"/>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隶书" panose="02010509060101010101" pitchFamily="49" charset="-122"/>
                  <a:ea typeface="隶书" panose="02010509060101010101" pitchFamily="49" charset="-122"/>
                  <a:cs typeface="+mn-cs"/>
                </a:rPr>
                <a:t>+</a:t>
              </a: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sp>
          <p:nvSpPr>
            <p:cNvPr id="79921" name="Oval 49"/>
            <p:cNvSpPr/>
            <p:nvPr/>
          </p:nvSpPr>
          <p:spPr>
            <a:xfrm>
              <a:off x="3840" y="3258"/>
              <a:ext cx="240" cy="204"/>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79922" name="Rectangle 50"/>
            <p:cNvSpPr/>
            <p:nvPr/>
          </p:nvSpPr>
          <p:spPr>
            <a:xfrm>
              <a:off x="4608" y="3217"/>
              <a:ext cx="240" cy="449"/>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79923" name="Text Box 51"/>
            <p:cNvSpPr txBox="1"/>
            <p:nvPr/>
          </p:nvSpPr>
          <p:spPr>
            <a:xfrm>
              <a:off x="4608" y="3320"/>
              <a:ext cx="195" cy="290"/>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79924" name="Text Box 52"/>
            <p:cNvSpPr txBox="1"/>
            <p:nvPr/>
          </p:nvSpPr>
          <p:spPr>
            <a:xfrm>
              <a:off x="4128" y="3692"/>
              <a:ext cx="225" cy="615"/>
            </a:xfrm>
            <a:prstGeom prst="rect">
              <a:avLst/>
            </a:prstGeom>
            <a:noFill/>
            <a:ln w="9525">
              <a:noFill/>
            </a:ln>
          </p:spPr>
          <p:txBody>
            <a:bodyPr wrap="none" anchor="t" anchorCtr="0">
              <a:spAutoFit/>
            </a:bodyPr>
            <a:lstStyle/>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h</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1</a:t>
              </a:r>
              <a:endParaRPr lang="en-US" altLang="zh-CN" sz="2400" dirty="0">
                <a:latin typeface="Times New Roman" panose="02020603050405020304" pitchFamily="18" charset="0"/>
                <a:ea typeface="宋体" panose="02010600030101010101" pitchFamily="2" charset="-122"/>
              </a:endParaRPr>
            </a:p>
          </p:txBody>
        </p:sp>
        <p:sp>
          <p:nvSpPr>
            <p:cNvPr id="79925" name="Text Box 53"/>
            <p:cNvSpPr txBox="1"/>
            <p:nvPr/>
          </p:nvSpPr>
          <p:spPr>
            <a:xfrm>
              <a:off x="3600" y="3132"/>
              <a:ext cx="2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79926" name="Text Box 54"/>
            <p:cNvSpPr txBox="1"/>
            <p:nvPr/>
          </p:nvSpPr>
          <p:spPr>
            <a:xfrm>
              <a:off x="4192" y="3402"/>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endParaRPr lang="en-US" altLang="zh-CN" sz="2400" dirty="0">
                <a:latin typeface="Times New Roman" panose="02020603050405020304" pitchFamily="18" charset="0"/>
                <a:ea typeface="宋体" panose="02010600030101010101" pitchFamily="2" charset="-122"/>
              </a:endParaRPr>
            </a:p>
          </p:txBody>
        </p:sp>
        <p:sp>
          <p:nvSpPr>
            <p:cNvPr id="79927" name="Text Box 55"/>
            <p:cNvSpPr txBox="1"/>
            <p:nvPr/>
          </p:nvSpPr>
          <p:spPr>
            <a:xfrm>
              <a:off x="4677" y="3009"/>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endParaRPr lang="en-US" altLang="zh-CN" sz="2400" dirty="0">
                <a:latin typeface="Times New Roman" panose="02020603050405020304" pitchFamily="18" charset="0"/>
                <a:ea typeface="宋体" panose="02010600030101010101" pitchFamily="2" charset="-122"/>
              </a:endParaRPr>
            </a:p>
          </p:txBody>
        </p:sp>
      </p:grpSp>
      <p:grpSp>
        <p:nvGrpSpPr>
          <p:cNvPr id="80926" name="Group 30"/>
          <p:cNvGrpSpPr/>
          <p:nvPr/>
        </p:nvGrpSpPr>
        <p:grpSpPr>
          <a:xfrm>
            <a:off x="7896225" y="2896235"/>
            <a:ext cx="3711575" cy="2614930"/>
            <a:chOff x="2976" y="2318"/>
            <a:chExt cx="2338" cy="1647"/>
          </a:xfrm>
        </p:grpSpPr>
        <p:sp>
          <p:nvSpPr>
            <p:cNvPr id="80927" name="Line 31"/>
            <p:cNvSpPr/>
            <p:nvPr/>
          </p:nvSpPr>
          <p:spPr>
            <a:xfrm flipH="1">
              <a:off x="4346" y="3000"/>
              <a:ext cx="144" cy="336"/>
            </a:xfrm>
            <a:prstGeom prst="line">
              <a:avLst/>
            </a:prstGeom>
            <a:ln w="38100" cap="flat" cmpd="sng">
              <a:solidFill>
                <a:srgbClr val="006666"/>
              </a:solidFill>
              <a:prstDash val="solid"/>
              <a:round/>
              <a:headEnd type="none" w="med" len="med"/>
              <a:tailEnd type="none" w="med" len="med"/>
            </a:ln>
          </p:spPr>
        </p:sp>
        <p:sp>
          <p:nvSpPr>
            <p:cNvPr id="941088" name="Text Box 32"/>
            <p:cNvSpPr txBox="1">
              <a:spLocks noChangeArrowheads="1"/>
            </p:cNvSpPr>
            <p:nvPr/>
          </p:nvSpPr>
          <p:spPr bwMode="auto">
            <a:xfrm>
              <a:off x="4202" y="2318"/>
              <a:ext cx="212"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0</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41089" name="Text Box 33"/>
            <p:cNvSpPr txBox="1">
              <a:spLocks noChangeArrowheads="1"/>
            </p:cNvSpPr>
            <p:nvPr/>
          </p:nvSpPr>
          <p:spPr bwMode="auto">
            <a:xfrm>
              <a:off x="3641" y="2581"/>
              <a:ext cx="211"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0</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41090" name="Text Box 34"/>
            <p:cNvSpPr txBox="1">
              <a:spLocks noChangeArrowheads="1"/>
            </p:cNvSpPr>
            <p:nvPr/>
          </p:nvSpPr>
          <p:spPr bwMode="auto">
            <a:xfrm>
              <a:off x="4422" y="2581"/>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80931" name="Line 35"/>
            <p:cNvSpPr/>
            <p:nvPr/>
          </p:nvSpPr>
          <p:spPr>
            <a:xfrm>
              <a:off x="4202" y="2665"/>
              <a:ext cx="672" cy="587"/>
            </a:xfrm>
            <a:prstGeom prst="line">
              <a:avLst/>
            </a:prstGeom>
            <a:ln w="28575" cap="flat" cmpd="sng">
              <a:solidFill>
                <a:srgbClr val="006666"/>
              </a:solidFill>
              <a:prstDash val="solid"/>
              <a:round/>
              <a:headEnd type="none" w="med" len="med"/>
              <a:tailEnd type="none" w="med" len="med"/>
            </a:ln>
          </p:spPr>
        </p:sp>
        <p:sp>
          <p:nvSpPr>
            <p:cNvPr id="80932" name="Line 36"/>
            <p:cNvSpPr/>
            <p:nvPr/>
          </p:nvSpPr>
          <p:spPr>
            <a:xfrm flipH="1">
              <a:off x="3386" y="2665"/>
              <a:ext cx="672" cy="671"/>
            </a:xfrm>
            <a:prstGeom prst="line">
              <a:avLst/>
            </a:prstGeom>
            <a:ln w="28575" cap="flat" cmpd="sng">
              <a:solidFill>
                <a:srgbClr val="006666"/>
              </a:solidFill>
              <a:prstDash val="solid"/>
              <a:round/>
              <a:headEnd type="none" w="med" len="med"/>
              <a:tailEnd type="none" w="med" len="med"/>
            </a:ln>
          </p:spPr>
        </p:sp>
        <p:sp>
          <p:nvSpPr>
            <p:cNvPr id="80933" name="Rectangle 37"/>
            <p:cNvSpPr/>
            <p:nvPr/>
          </p:nvSpPr>
          <p:spPr>
            <a:xfrm>
              <a:off x="4826" y="3252"/>
              <a:ext cx="240" cy="629"/>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0934" name="Line 38"/>
            <p:cNvSpPr/>
            <p:nvPr/>
          </p:nvSpPr>
          <p:spPr>
            <a:xfrm>
              <a:off x="3818" y="3000"/>
              <a:ext cx="192" cy="294"/>
            </a:xfrm>
            <a:prstGeom prst="line">
              <a:avLst/>
            </a:prstGeom>
            <a:ln w="38100" cap="flat" cmpd="sng">
              <a:solidFill>
                <a:srgbClr val="006666"/>
              </a:solidFill>
              <a:prstDash val="solid"/>
              <a:round/>
              <a:headEnd type="none" w="med" len="med"/>
              <a:tailEnd type="none" w="med" len="med"/>
            </a:ln>
          </p:spPr>
        </p:sp>
        <p:sp>
          <p:nvSpPr>
            <p:cNvPr id="80935" name="Oval 39"/>
            <p:cNvSpPr/>
            <p:nvPr/>
          </p:nvSpPr>
          <p:spPr>
            <a:xfrm>
              <a:off x="3674" y="2833"/>
              <a:ext cx="240"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0936" name="Oval 40"/>
            <p:cNvSpPr/>
            <p:nvPr/>
          </p:nvSpPr>
          <p:spPr>
            <a:xfrm>
              <a:off x="4010" y="2497"/>
              <a:ext cx="240" cy="21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0937" name="Rectangle 41"/>
            <p:cNvSpPr/>
            <p:nvPr/>
          </p:nvSpPr>
          <p:spPr>
            <a:xfrm>
              <a:off x="3290" y="3252"/>
              <a:ext cx="240" cy="713"/>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0938" name="Text Box 42"/>
            <p:cNvSpPr txBox="1"/>
            <p:nvPr/>
          </p:nvSpPr>
          <p:spPr>
            <a:xfrm>
              <a:off x="4621" y="2727"/>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80939" name="Rectangle 43"/>
            <p:cNvSpPr/>
            <p:nvPr/>
          </p:nvSpPr>
          <p:spPr>
            <a:xfrm>
              <a:off x="3866" y="3252"/>
              <a:ext cx="240" cy="671"/>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0940" name="Oval 44"/>
            <p:cNvSpPr/>
            <p:nvPr/>
          </p:nvSpPr>
          <p:spPr>
            <a:xfrm>
              <a:off x="4394" y="2833"/>
              <a:ext cx="240"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0941" name="Rectangle 45"/>
            <p:cNvSpPr/>
            <p:nvPr/>
          </p:nvSpPr>
          <p:spPr>
            <a:xfrm>
              <a:off x="4250" y="3252"/>
              <a:ext cx="240" cy="461"/>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0942" name="Text Box 46"/>
            <p:cNvSpPr txBox="1"/>
            <p:nvPr/>
          </p:nvSpPr>
          <p:spPr>
            <a:xfrm>
              <a:off x="4259" y="3398"/>
              <a:ext cx="195" cy="290"/>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80943" name="Text Box 47"/>
            <p:cNvSpPr txBox="1"/>
            <p:nvPr/>
          </p:nvSpPr>
          <p:spPr>
            <a:xfrm>
              <a:off x="3866" y="3308"/>
              <a:ext cx="225" cy="615"/>
            </a:xfrm>
            <a:prstGeom prst="rect">
              <a:avLst/>
            </a:prstGeom>
            <a:noFill/>
            <a:ln w="9525">
              <a:noFill/>
            </a:ln>
          </p:spPr>
          <p:txBody>
            <a:bodyPr wrap="none" anchor="t" anchorCtr="0">
              <a:spAutoFit/>
            </a:bodyPr>
            <a:lstStyle/>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h</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1</a:t>
              </a:r>
              <a:endParaRPr lang="en-US" altLang="zh-CN" sz="2400" dirty="0">
                <a:latin typeface="Times New Roman" panose="02020603050405020304" pitchFamily="18" charset="0"/>
                <a:ea typeface="宋体" panose="02010600030101010101" pitchFamily="2" charset="-122"/>
              </a:endParaRPr>
            </a:p>
          </p:txBody>
        </p:sp>
        <p:sp>
          <p:nvSpPr>
            <p:cNvPr id="80944" name="Text Box 48"/>
            <p:cNvSpPr txBox="1"/>
            <p:nvPr/>
          </p:nvSpPr>
          <p:spPr>
            <a:xfrm>
              <a:off x="4970" y="3037"/>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80945" name="Text Box 49"/>
            <p:cNvSpPr txBox="1"/>
            <p:nvPr/>
          </p:nvSpPr>
          <p:spPr>
            <a:xfrm>
              <a:off x="3770" y="2366"/>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0946" name="Text Box 50"/>
            <p:cNvSpPr txBox="1"/>
            <p:nvPr/>
          </p:nvSpPr>
          <p:spPr>
            <a:xfrm>
              <a:off x="2976" y="3037"/>
              <a:ext cx="326"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0947" name="Text Box 51"/>
            <p:cNvSpPr txBox="1"/>
            <p:nvPr/>
          </p:nvSpPr>
          <p:spPr>
            <a:xfrm>
              <a:off x="3373" y="2727"/>
              <a:ext cx="2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0948" name="Text Box 52"/>
            <p:cNvSpPr txBox="1"/>
            <p:nvPr/>
          </p:nvSpPr>
          <p:spPr>
            <a:xfrm>
              <a:off x="3888" y="2976"/>
              <a:ext cx="390" cy="290"/>
            </a:xfrm>
            <a:prstGeom prst="rect">
              <a:avLst/>
            </a:prstGeom>
            <a:noFill/>
            <a:ln w="9525">
              <a:noFill/>
            </a:ln>
          </p:spPr>
          <p:txBody>
            <a:bodyPr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0949" name="Text Box 53"/>
            <p:cNvSpPr txBox="1"/>
            <p:nvPr/>
          </p:nvSpPr>
          <p:spPr>
            <a:xfrm>
              <a:off x="4128" y="2976"/>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grpSp>
      <mc:AlternateContent xmlns:mc="http://schemas.openxmlformats.org/markup-compatibility/2006">
        <mc:Choice xmlns:p14="http://schemas.microsoft.com/office/powerpoint/2010/main" Requires="p14">
          <p:contentPart p14:bwMode="auto" r:id="rId2">
            <p14:nvContentPartPr>
              <p14:cNvPr id="5" name="墨迹 4">
                <a:extLst>
                  <a:ext uri="{FF2B5EF4-FFF2-40B4-BE49-F238E27FC236}">
                    <a16:creationId xmlns:a16="http://schemas.microsoft.com/office/drawing/2014/main" id="{92DCF1E2-E64C-46F8-B3A1-68E82E121F53}"/>
                  </a:ext>
                </a:extLst>
              </p14:cNvPr>
              <p14:cNvContentPartPr/>
              <p14:nvPr/>
            </p14:nvContentPartPr>
            <p14:xfrm>
              <a:off x="1251000" y="3524400"/>
              <a:ext cx="8890200" cy="2305080"/>
            </p14:xfrm>
          </p:contentPart>
        </mc:Choice>
        <mc:Fallback>
          <p:pic>
            <p:nvPicPr>
              <p:cNvPr id="5" name="墨迹 4">
                <a:extLst>
                  <a:ext uri="{FF2B5EF4-FFF2-40B4-BE49-F238E27FC236}">
                    <a16:creationId xmlns:a16="http://schemas.microsoft.com/office/drawing/2014/main" id="{92DCF1E2-E64C-46F8-B3A1-68E82E121F53}"/>
                  </a:ext>
                </a:extLst>
              </p:cNvPr>
              <p:cNvPicPr/>
              <p:nvPr/>
            </p:nvPicPr>
            <p:blipFill>
              <a:blip r:embed="rId3"/>
              <a:stretch>
                <a:fillRect/>
              </a:stretch>
            </p:blipFill>
            <p:spPr>
              <a:xfrm>
                <a:off x="1241640" y="3515040"/>
                <a:ext cx="8908920" cy="2323800"/>
              </a:xfrm>
              <a:prstGeom prst="rect">
                <a:avLst/>
              </a:prstGeom>
            </p:spPr>
          </p:pic>
        </mc:Fallback>
      </mc:AlternateContent>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sym typeface="+mn-ea"/>
              </a:rPr>
              <a:t>先左后右双向旋转</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具体操作：</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B变为C左孩子，A变为C右孩子</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C左孩子变为B右孩子，C右孩子变为A左孩子</a:t>
            </a:r>
            <a:endParaRPr lang="zh-CN" altLang="en-US"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73</a:t>
            </a:fld>
            <a:endParaRPr lang="zh-CN" altLang="en-US"/>
          </a:p>
        </p:txBody>
      </p:sp>
      <p:sp>
        <p:nvSpPr>
          <p:cNvPr id="5" name="文本框 4"/>
          <p:cNvSpPr txBox="1"/>
          <p:nvPr/>
        </p:nvSpPr>
        <p:spPr>
          <a:xfrm>
            <a:off x="1127125" y="5733415"/>
            <a:ext cx="8740775" cy="460375"/>
          </a:xfrm>
          <a:prstGeom prst="rect">
            <a:avLst/>
          </a:prstGeom>
        </p:spPr>
        <p:txBody>
          <a:bodyPr vert="horz" wrap="square" lIns="91440" tIns="45720" rIns="91440" bIns="45720" rtlCol="0" anchor="t">
            <a:spAutoFit/>
          </a:bodyPr>
          <a:lstStyle/>
          <a:p>
            <a:pPr lvl="1" indent="0" eaLnBrk="1" hangingPunct="1">
              <a:buClr>
                <a:schemeClr val="accent2"/>
              </a:buClr>
              <a:buFont typeface="Wingdings" panose="05000000000000000000" pitchFamily="2" charset="2"/>
              <a:buNone/>
            </a:pPr>
            <a:r>
              <a:rPr lang="zh-CN" altLang="en-US" sz="2400" u="sng" dirty="0">
                <a:solidFill>
                  <a:srgbClr val="FF0000"/>
                </a:solidFill>
                <a:latin typeface="黑体" panose="02010609060101010101" pitchFamily="2" charset="-122"/>
                <a:ea typeface="黑体" panose="02010609060101010101" pitchFamily="2" charset="-122"/>
                <a:sym typeface="+mn-ea"/>
              </a:rPr>
              <a:t>若已知</a:t>
            </a:r>
            <a:r>
              <a:rPr lang="en-US" altLang="zh-CN" sz="2400" u="sng" dirty="0">
                <a:solidFill>
                  <a:srgbClr val="FF0000"/>
                </a:solidFill>
                <a:latin typeface="黑体" panose="02010609060101010101" pitchFamily="2" charset="-122"/>
                <a:ea typeface="黑体" panose="02010609060101010101" pitchFamily="2" charset="-122"/>
                <a:sym typeface="+mn-ea"/>
              </a:rPr>
              <a:t>A\B\C</a:t>
            </a:r>
            <a:r>
              <a:rPr lang="zh-CN" altLang="en-US" sz="2400" u="sng" dirty="0">
                <a:solidFill>
                  <a:srgbClr val="FF0000"/>
                </a:solidFill>
                <a:latin typeface="黑体" panose="02010609060101010101" pitchFamily="2" charset="-122"/>
                <a:ea typeface="黑体" panose="02010609060101010101" pitchFamily="2" charset="-122"/>
                <a:sym typeface="+mn-ea"/>
              </a:rPr>
              <a:t>三个结点指针，代码如何写？？</a:t>
            </a:r>
          </a:p>
        </p:txBody>
      </p:sp>
      <p:grpSp>
        <p:nvGrpSpPr>
          <p:cNvPr id="81924" name="Group 4"/>
          <p:cNvGrpSpPr/>
          <p:nvPr/>
        </p:nvGrpSpPr>
        <p:grpSpPr>
          <a:xfrm>
            <a:off x="1337628" y="2493010"/>
            <a:ext cx="8175625" cy="3048000"/>
            <a:chOff x="249" y="1706"/>
            <a:chExt cx="5150" cy="1920"/>
          </a:xfrm>
        </p:grpSpPr>
        <p:grpSp>
          <p:nvGrpSpPr>
            <p:cNvPr id="81925" name="Group 5"/>
            <p:cNvGrpSpPr/>
            <p:nvPr/>
          </p:nvGrpSpPr>
          <p:grpSpPr>
            <a:xfrm>
              <a:off x="249" y="1706"/>
              <a:ext cx="2011" cy="1920"/>
              <a:chOff x="2880" y="2400"/>
              <a:chExt cx="2011" cy="1920"/>
            </a:xfrm>
          </p:grpSpPr>
          <p:sp>
            <p:nvSpPr>
              <p:cNvPr id="81926" name="Line 6"/>
              <p:cNvSpPr/>
              <p:nvPr/>
            </p:nvSpPr>
            <p:spPr>
              <a:xfrm flipH="1">
                <a:off x="3696" y="3404"/>
                <a:ext cx="192" cy="218"/>
              </a:xfrm>
              <a:prstGeom prst="line">
                <a:avLst/>
              </a:prstGeom>
              <a:ln w="38100" cap="flat" cmpd="sng">
                <a:solidFill>
                  <a:srgbClr val="006666"/>
                </a:solidFill>
                <a:prstDash val="solid"/>
                <a:round/>
                <a:headEnd type="none" w="med" len="med"/>
                <a:tailEnd type="none" w="med" len="med"/>
              </a:ln>
            </p:spPr>
          </p:sp>
          <p:sp>
            <p:nvSpPr>
              <p:cNvPr id="942087" name="Text Box 7"/>
              <p:cNvSpPr txBox="1">
                <a:spLocks noChangeArrowheads="1"/>
              </p:cNvSpPr>
              <p:nvPr/>
            </p:nvSpPr>
            <p:spPr bwMode="auto">
              <a:xfrm>
                <a:off x="4032" y="2400"/>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42088" name="Text Box 8"/>
              <p:cNvSpPr txBox="1">
                <a:spLocks noChangeArrowheads="1"/>
              </p:cNvSpPr>
              <p:nvPr/>
            </p:nvSpPr>
            <p:spPr bwMode="auto">
              <a:xfrm>
                <a:off x="3471" y="2662"/>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42089" name="Text Box 9"/>
              <p:cNvSpPr txBox="1">
                <a:spLocks noChangeArrowheads="1"/>
              </p:cNvSpPr>
              <p:nvPr/>
            </p:nvSpPr>
            <p:spPr bwMode="auto">
              <a:xfrm>
                <a:off x="3772" y="2967"/>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81930" name="Line 10"/>
              <p:cNvSpPr/>
              <p:nvPr/>
            </p:nvSpPr>
            <p:spPr>
              <a:xfrm>
                <a:off x="3936" y="3404"/>
                <a:ext cx="192" cy="218"/>
              </a:xfrm>
              <a:prstGeom prst="line">
                <a:avLst/>
              </a:prstGeom>
              <a:ln w="38100" cap="flat" cmpd="sng">
                <a:solidFill>
                  <a:srgbClr val="006666"/>
                </a:solidFill>
                <a:prstDash val="solid"/>
                <a:round/>
                <a:headEnd type="none" w="med" len="med"/>
                <a:tailEnd type="none" w="med" len="med"/>
              </a:ln>
            </p:spPr>
          </p:sp>
          <p:sp>
            <p:nvSpPr>
              <p:cNvPr id="81931" name="Line 11"/>
              <p:cNvSpPr/>
              <p:nvPr/>
            </p:nvSpPr>
            <p:spPr>
              <a:xfrm>
                <a:off x="4032" y="2749"/>
                <a:ext cx="432" cy="393"/>
              </a:xfrm>
              <a:prstGeom prst="line">
                <a:avLst/>
              </a:prstGeom>
              <a:ln w="28575" cap="flat" cmpd="sng">
                <a:solidFill>
                  <a:srgbClr val="006666"/>
                </a:solidFill>
                <a:prstDash val="solid"/>
                <a:round/>
                <a:headEnd type="none" w="med" len="med"/>
                <a:tailEnd type="none" w="med" len="med"/>
              </a:ln>
            </p:spPr>
          </p:sp>
          <p:sp>
            <p:nvSpPr>
              <p:cNvPr id="81932" name="Line 12"/>
              <p:cNvSpPr/>
              <p:nvPr/>
            </p:nvSpPr>
            <p:spPr>
              <a:xfrm flipH="1">
                <a:off x="3216" y="2749"/>
                <a:ext cx="672" cy="698"/>
              </a:xfrm>
              <a:prstGeom prst="line">
                <a:avLst/>
              </a:prstGeom>
              <a:ln w="28575" cap="flat" cmpd="sng">
                <a:solidFill>
                  <a:srgbClr val="006666"/>
                </a:solidFill>
                <a:prstDash val="solid"/>
                <a:round/>
                <a:headEnd type="none" w="med" len="med"/>
                <a:tailEnd type="none" w="med" len="med"/>
              </a:ln>
            </p:spPr>
          </p:sp>
          <p:sp>
            <p:nvSpPr>
              <p:cNvPr id="81933" name="Rectangle 13"/>
              <p:cNvSpPr/>
              <p:nvPr/>
            </p:nvSpPr>
            <p:spPr>
              <a:xfrm>
                <a:off x="4464" y="3055"/>
                <a:ext cx="240" cy="654"/>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bg2"/>
                    </a:solidFill>
                    <a:latin typeface="Times New Roman" panose="02020603050405020304" pitchFamily="18" charset="0"/>
                    <a:ea typeface="宋体" panose="02010600030101010101" pitchFamily="2" charset="-122"/>
                  </a:rPr>
                  <a:t>….</a:t>
                </a:r>
              </a:p>
            </p:txBody>
          </p:sp>
          <p:sp>
            <p:nvSpPr>
              <p:cNvPr id="81934" name="Line 14"/>
              <p:cNvSpPr/>
              <p:nvPr/>
            </p:nvSpPr>
            <p:spPr>
              <a:xfrm>
                <a:off x="3648" y="3098"/>
                <a:ext cx="288" cy="262"/>
              </a:xfrm>
              <a:prstGeom prst="line">
                <a:avLst/>
              </a:prstGeom>
              <a:ln w="28575" cap="flat" cmpd="sng">
                <a:solidFill>
                  <a:srgbClr val="006666"/>
                </a:solidFill>
                <a:prstDash val="solid"/>
                <a:round/>
                <a:headEnd type="none" w="med" len="med"/>
                <a:tailEnd type="none" w="med" len="med"/>
              </a:ln>
            </p:spPr>
          </p:sp>
          <p:sp>
            <p:nvSpPr>
              <p:cNvPr id="81935" name="Oval 15"/>
              <p:cNvSpPr/>
              <p:nvPr/>
            </p:nvSpPr>
            <p:spPr>
              <a:xfrm>
                <a:off x="3504" y="2924"/>
                <a:ext cx="240" cy="218"/>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1936" name="Oval 16"/>
              <p:cNvSpPr/>
              <p:nvPr/>
            </p:nvSpPr>
            <p:spPr>
              <a:xfrm>
                <a:off x="3840" y="2575"/>
                <a:ext cx="240" cy="218"/>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1937" name="Rectangle 17"/>
              <p:cNvSpPr/>
              <p:nvPr/>
            </p:nvSpPr>
            <p:spPr>
              <a:xfrm>
                <a:off x="3072" y="3316"/>
                <a:ext cx="240" cy="742"/>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1938" name="Text Box 18"/>
              <p:cNvSpPr txBox="1"/>
              <p:nvPr/>
            </p:nvSpPr>
            <p:spPr>
              <a:xfrm>
                <a:off x="3587" y="2413"/>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81939" name="Rectangle 19"/>
              <p:cNvSpPr/>
              <p:nvPr/>
            </p:nvSpPr>
            <p:spPr>
              <a:xfrm>
                <a:off x="3552" y="3622"/>
                <a:ext cx="240" cy="698"/>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1940" name="Oval 20"/>
              <p:cNvSpPr/>
              <p:nvPr/>
            </p:nvSpPr>
            <p:spPr>
              <a:xfrm>
                <a:off x="3792" y="3229"/>
                <a:ext cx="240" cy="218"/>
              </a:xfrm>
              <a:prstGeom prst="ellipse">
                <a:avLst/>
              </a:prstGeom>
              <a:solidFill>
                <a:srgbClr val="FF7C80"/>
              </a:solidFill>
              <a:ln w="28575" cap="flat" cmpd="sng">
                <a:solidFill>
                  <a:srgbClr val="FF7C8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1941" name="Rectangle 21"/>
              <p:cNvSpPr/>
              <p:nvPr/>
            </p:nvSpPr>
            <p:spPr>
              <a:xfrm>
                <a:off x="4032" y="3622"/>
                <a:ext cx="240" cy="48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1942" name="Text Box 22"/>
              <p:cNvSpPr txBox="1"/>
              <p:nvPr/>
            </p:nvSpPr>
            <p:spPr>
              <a:xfrm>
                <a:off x="3984" y="3695"/>
                <a:ext cx="195" cy="290"/>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81943" name="Text Box 23"/>
              <p:cNvSpPr txBox="1"/>
              <p:nvPr/>
            </p:nvSpPr>
            <p:spPr>
              <a:xfrm>
                <a:off x="3547" y="3663"/>
                <a:ext cx="225" cy="615"/>
              </a:xfrm>
              <a:prstGeom prst="rect">
                <a:avLst/>
              </a:prstGeom>
              <a:noFill/>
              <a:ln w="9525">
                <a:noFill/>
              </a:ln>
            </p:spPr>
            <p:txBody>
              <a:bodyPr wrap="none" anchor="t" anchorCtr="0">
                <a:spAutoFit/>
              </a:bodyPr>
              <a:lstStyle/>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h</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1</a:t>
                </a:r>
                <a:endParaRPr lang="en-US" altLang="zh-CN" sz="2400" dirty="0">
                  <a:latin typeface="Times New Roman" panose="02020603050405020304" pitchFamily="18" charset="0"/>
                  <a:ea typeface="宋体" panose="02010600030101010101" pitchFamily="2" charset="-122"/>
                </a:endParaRPr>
              </a:p>
            </p:txBody>
          </p:sp>
          <p:sp>
            <p:nvSpPr>
              <p:cNvPr id="81944" name="Text Box 24"/>
              <p:cNvSpPr txBox="1"/>
              <p:nvPr/>
            </p:nvSpPr>
            <p:spPr>
              <a:xfrm>
                <a:off x="4547" y="2805"/>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81945" name="Text Box 25"/>
              <p:cNvSpPr txBox="1"/>
              <p:nvPr/>
            </p:nvSpPr>
            <p:spPr>
              <a:xfrm>
                <a:off x="3984" y="3085"/>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1946" name="Text Box 26"/>
              <p:cNvSpPr txBox="1"/>
              <p:nvPr/>
            </p:nvSpPr>
            <p:spPr>
              <a:xfrm>
                <a:off x="2880" y="3024"/>
                <a:ext cx="326"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1947" name="Text Box 27"/>
              <p:cNvSpPr txBox="1"/>
              <p:nvPr/>
            </p:nvSpPr>
            <p:spPr>
              <a:xfrm>
                <a:off x="3203" y="2805"/>
                <a:ext cx="2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1948" name="Text Box 28"/>
              <p:cNvSpPr txBox="1"/>
              <p:nvPr/>
            </p:nvSpPr>
            <p:spPr>
              <a:xfrm>
                <a:off x="3408" y="3360"/>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1949" name="Text Box 29"/>
              <p:cNvSpPr txBox="1"/>
              <p:nvPr/>
            </p:nvSpPr>
            <p:spPr>
              <a:xfrm>
                <a:off x="4080" y="3360"/>
                <a:ext cx="3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grpSp>
        <p:grpSp>
          <p:nvGrpSpPr>
            <p:cNvPr id="81950" name="Group 30"/>
            <p:cNvGrpSpPr/>
            <p:nvPr/>
          </p:nvGrpSpPr>
          <p:grpSpPr>
            <a:xfrm>
              <a:off x="3061" y="1888"/>
              <a:ext cx="2338" cy="1647"/>
              <a:chOff x="2976" y="2318"/>
              <a:chExt cx="2338" cy="1647"/>
            </a:xfrm>
          </p:grpSpPr>
          <p:sp>
            <p:nvSpPr>
              <p:cNvPr id="81951" name="Line 31"/>
              <p:cNvSpPr/>
              <p:nvPr/>
            </p:nvSpPr>
            <p:spPr>
              <a:xfrm flipH="1">
                <a:off x="4346" y="3000"/>
                <a:ext cx="144" cy="336"/>
              </a:xfrm>
              <a:prstGeom prst="line">
                <a:avLst/>
              </a:prstGeom>
              <a:ln w="38100" cap="flat" cmpd="sng">
                <a:solidFill>
                  <a:srgbClr val="006666"/>
                </a:solidFill>
                <a:prstDash val="solid"/>
                <a:round/>
                <a:headEnd type="none" w="med" len="med"/>
                <a:tailEnd type="none" w="med" len="med"/>
              </a:ln>
            </p:spPr>
          </p:sp>
          <p:sp>
            <p:nvSpPr>
              <p:cNvPr id="942112" name="Text Box 32"/>
              <p:cNvSpPr txBox="1">
                <a:spLocks noChangeArrowheads="1"/>
              </p:cNvSpPr>
              <p:nvPr/>
            </p:nvSpPr>
            <p:spPr bwMode="auto">
              <a:xfrm>
                <a:off x="4202" y="2318"/>
                <a:ext cx="212"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0</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42113" name="Text Box 33"/>
              <p:cNvSpPr txBox="1">
                <a:spLocks noChangeArrowheads="1"/>
              </p:cNvSpPr>
              <p:nvPr/>
            </p:nvSpPr>
            <p:spPr bwMode="auto">
              <a:xfrm>
                <a:off x="3641" y="2581"/>
                <a:ext cx="211"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0</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42114" name="Text Box 34"/>
              <p:cNvSpPr txBox="1">
                <a:spLocks noChangeArrowheads="1"/>
              </p:cNvSpPr>
              <p:nvPr/>
            </p:nvSpPr>
            <p:spPr bwMode="auto">
              <a:xfrm>
                <a:off x="4422" y="2581"/>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81955" name="Line 35"/>
              <p:cNvSpPr/>
              <p:nvPr/>
            </p:nvSpPr>
            <p:spPr>
              <a:xfrm>
                <a:off x="4202" y="2665"/>
                <a:ext cx="672" cy="587"/>
              </a:xfrm>
              <a:prstGeom prst="line">
                <a:avLst/>
              </a:prstGeom>
              <a:ln w="28575" cap="flat" cmpd="sng">
                <a:solidFill>
                  <a:srgbClr val="006666"/>
                </a:solidFill>
                <a:prstDash val="solid"/>
                <a:round/>
                <a:headEnd type="none" w="med" len="med"/>
                <a:tailEnd type="none" w="med" len="med"/>
              </a:ln>
            </p:spPr>
          </p:sp>
          <p:sp>
            <p:nvSpPr>
              <p:cNvPr id="81956" name="Line 36"/>
              <p:cNvSpPr/>
              <p:nvPr/>
            </p:nvSpPr>
            <p:spPr>
              <a:xfrm flipH="1">
                <a:off x="3386" y="2665"/>
                <a:ext cx="672" cy="671"/>
              </a:xfrm>
              <a:prstGeom prst="line">
                <a:avLst/>
              </a:prstGeom>
              <a:ln w="28575" cap="flat" cmpd="sng">
                <a:solidFill>
                  <a:srgbClr val="006666"/>
                </a:solidFill>
                <a:prstDash val="solid"/>
                <a:round/>
                <a:headEnd type="none" w="med" len="med"/>
                <a:tailEnd type="none" w="med" len="med"/>
              </a:ln>
            </p:spPr>
          </p:sp>
          <p:sp>
            <p:nvSpPr>
              <p:cNvPr id="81957" name="Rectangle 37"/>
              <p:cNvSpPr/>
              <p:nvPr/>
            </p:nvSpPr>
            <p:spPr>
              <a:xfrm>
                <a:off x="4826" y="3252"/>
                <a:ext cx="240" cy="629"/>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rgbClr val="006666"/>
                    </a:solidFill>
                    <a:latin typeface="Times New Roman" panose="02020603050405020304" pitchFamily="18" charset="0"/>
                    <a:ea typeface="宋体" panose="02010600030101010101" pitchFamily="2" charset="-122"/>
                  </a:rPr>
                  <a:t>…</a:t>
                </a: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1958" name="Line 38"/>
              <p:cNvSpPr/>
              <p:nvPr/>
            </p:nvSpPr>
            <p:spPr>
              <a:xfrm>
                <a:off x="3818" y="3000"/>
                <a:ext cx="192" cy="294"/>
              </a:xfrm>
              <a:prstGeom prst="line">
                <a:avLst/>
              </a:prstGeom>
              <a:ln w="38100" cap="flat" cmpd="sng">
                <a:solidFill>
                  <a:srgbClr val="006666"/>
                </a:solidFill>
                <a:prstDash val="solid"/>
                <a:round/>
                <a:headEnd type="none" w="med" len="med"/>
                <a:tailEnd type="none" w="med" len="med"/>
              </a:ln>
            </p:spPr>
          </p:sp>
          <p:sp>
            <p:nvSpPr>
              <p:cNvPr id="81959" name="Oval 39"/>
              <p:cNvSpPr/>
              <p:nvPr/>
            </p:nvSpPr>
            <p:spPr>
              <a:xfrm>
                <a:off x="3674" y="2833"/>
                <a:ext cx="240"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1960" name="Oval 40"/>
              <p:cNvSpPr/>
              <p:nvPr/>
            </p:nvSpPr>
            <p:spPr>
              <a:xfrm>
                <a:off x="4010" y="2497"/>
                <a:ext cx="240" cy="210"/>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1961" name="Rectangle 41"/>
              <p:cNvSpPr/>
              <p:nvPr/>
            </p:nvSpPr>
            <p:spPr>
              <a:xfrm>
                <a:off x="3290" y="3252"/>
                <a:ext cx="240" cy="713"/>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1962" name="Text Box 42"/>
              <p:cNvSpPr txBox="1"/>
              <p:nvPr/>
            </p:nvSpPr>
            <p:spPr>
              <a:xfrm>
                <a:off x="4621" y="2727"/>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81963" name="Rectangle 43"/>
              <p:cNvSpPr/>
              <p:nvPr/>
            </p:nvSpPr>
            <p:spPr>
              <a:xfrm>
                <a:off x="3866" y="3252"/>
                <a:ext cx="240" cy="671"/>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1964" name="Oval 44"/>
              <p:cNvSpPr/>
              <p:nvPr/>
            </p:nvSpPr>
            <p:spPr>
              <a:xfrm>
                <a:off x="4394" y="2833"/>
                <a:ext cx="240"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1965" name="Rectangle 45"/>
              <p:cNvSpPr/>
              <p:nvPr/>
            </p:nvSpPr>
            <p:spPr>
              <a:xfrm>
                <a:off x="4250" y="3252"/>
                <a:ext cx="240" cy="461"/>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1966" name="Text Box 46"/>
              <p:cNvSpPr txBox="1"/>
              <p:nvPr/>
            </p:nvSpPr>
            <p:spPr>
              <a:xfrm>
                <a:off x="4259" y="3398"/>
                <a:ext cx="195" cy="290"/>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81967" name="Text Box 47"/>
              <p:cNvSpPr txBox="1"/>
              <p:nvPr/>
            </p:nvSpPr>
            <p:spPr>
              <a:xfrm>
                <a:off x="3873" y="3290"/>
                <a:ext cx="225" cy="615"/>
              </a:xfrm>
              <a:prstGeom prst="rect">
                <a:avLst/>
              </a:prstGeom>
              <a:noFill/>
              <a:ln w="9525">
                <a:noFill/>
              </a:ln>
            </p:spPr>
            <p:txBody>
              <a:bodyPr wrap="none" anchor="t" anchorCtr="0">
                <a:spAutoFit/>
              </a:bodyPr>
              <a:lstStyle/>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h</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1</a:t>
                </a:r>
                <a:endParaRPr lang="en-US" altLang="zh-CN" sz="2400" dirty="0">
                  <a:latin typeface="Times New Roman" panose="02020603050405020304" pitchFamily="18" charset="0"/>
                  <a:ea typeface="宋体" panose="02010600030101010101" pitchFamily="2" charset="-122"/>
                </a:endParaRPr>
              </a:p>
            </p:txBody>
          </p:sp>
          <p:sp>
            <p:nvSpPr>
              <p:cNvPr id="81968" name="Text Box 48"/>
              <p:cNvSpPr txBox="1"/>
              <p:nvPr/>
            </p:nvSpPr>
            <p:spPr>
              <a:xfrm>
                <a:off x="4970" y="3037"/>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81969" name="Text Box 49"/>
              <p:cNvSpPr txBox="1"/>
              <p:nvPr/>
            </p:nvSpPr>
            <p:spPr>
              <a:xfrm>
                <a:off x="3770" y="2366"/>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1970" name="Text Box 50"/>
              <p:cNvSpPr txBox="1"/>
              <p:nvPr/>
            </p:nvSpPr>
            <p:spPr>
              <a:xfrm>
                <a:off x="2976" y="3037"/>
                <a:ext cx="326"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1971" name="Text Box 51"/>
              <p:cNvSpPr txBox="1"/>
              <p:nvPr/>
            </p:nvSpPr>
            <p:spPr>
              <a:xfrm>
                <a:off x="3373" y="2727"/>
                <a:ext cx="2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1972" name="Text Box 52"/>
              <p:cNvSpPr txBox="1"/>
              <p:nvPr/>
            </p:nvSpPr>
            <p:spPr>
              <a:xfrm>
                <a:off x="3888" y="2976"/>
                <a:ext cx="390" cy="290"/>
              </a:xfrm>
              <a:prstGeom prst="rect">
                <a:avLst/>
              </a:prstGeom>
              <a:noFill/>
              <a:ln w="9525">
                <a:noFill/>
              </a:ln>
            </p:spPr>
            <p:txBody>
              <a:bodyPr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1973" name="Text Box 53"/>
              <p:cNvSpPr txBox="1"/>
              <p:nvPr/>
            </p:nvSpPr>
            <p:spPr>
              <a:xfrm>
                <a:off x="4128" y="2976"/>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grpSp>
      </p:grpSp>
      <mc:AlternateContent xmlns:mc="http://schemas.openxmlformats.org/markup-compatibility/2006">
        <mc:Choice xmlns:p14="http://schemas.microsoft.com/office/powerpoint/2010/main" Requires="p14">
          <p:contentPart p14:bwMode="auto" r:id="rId2">
            <p14:nvContentPartPr>
              <p14:cNvPr id="6" name="墨迹 5">
                <a:extLst>
                  <a:ext uri="{FF2B5EF4-FFF2-40B4-BE49-F238E27FC236}">
                    <a16:creationId xmlns:a16="http://schemas.microsoft.com/office/drawing/2014/main" id="{388747AE-03A2-41CC-A10B-73E8B6576F31}"/>
                  </a:ext>
                </a:extLst>
              </p14:cNvPr>
              <p14:cNvContentPartPr/>
              <p14:nvPr/>
            </p14:nvContentPartPr>
            <p14:xfrm>
              <a:off x="2292480" y="2705040"/>
              <a:ext cx="5664600" cy="2819880"/>
            </p14:xfrm>
          </p:contentPart>
        </mc:Choice>
        <mc:Fallback>
          <p:pic>
            <p:nvPicPr>
              <p:cNvPr id="6" name="墨迹 5">
                <a:extLst>
                  <a:ext uri="{FF2B5EF4-FFF2-40B4-BE49-F238E27FC236}">
                    <a16:creationId xmlns:a16="http://schemas.microsoft.com/office/drawing/2014/main" id="{388747AE-03A2-41CC-A10B-73E8B6576F31}"/>
                  </a:ext>
                </a:extLst>
              </p:cNvPr>
              <p:cNvPicPr/>
              <p:nvPr/>
            </p:nvPicPr>
            <p:blipFill>
              <a:blip r:embed="rId3"/>
              <a:stretch>
                <a:fillRect/>
              </a:stretch>
            </p:blipFill>
            <p:spPr>
              <a:xfrm>
                <a:off x="2283120" y="2695680"/>
                <a:ext cx="5683320" cy="2838600"/>
              </a:xfrm>
              <a:prstGeom prst="rect">
                <a:avLst/>
              </a:prstGeom>
            </p:spPr>
          </p:pic>
        </mc:Fallback>
      </mc:AlternateContent>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sym typeface="+mn-ea"/>
              </a:rPr>
              <a:t>先左后右双向旋转举例</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0" algn="l" eaLnBrk="1" hangingPunct="1">
              <a:buClrTx/>
              <a:buSzTx/>
              <a:buFont typeface="Wingdings" panose="05000000000000000000" charset="0"/>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AVL</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树如下图，插入新数据</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，求插入后的树</a:t>
            </a:r>
            <a:endParaRPr lang="zh-CN" altLang="en-US"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74</a:t>
            </a:fld>
            <a:endParaRPr lang="zh-CN" altLang="en-US"/>
          </a:p>
        </p:txBody>
      </p:sp>
      <p:grpSp>
        <p:nvGrpSpPr>
          <p:cNvPr id="82948" name="Group 66"/>
          <p:cNvGrpSpPr/>
          <p:nvPr/>
        </p:nvGrpSpPr>
        <p:grpSpPr>
          <a:xfrm>
            <a:off x="1703705" y="2348548"/>
            <a:ext cx="3221038" cy="2828925"/>
            <a:chOff x="168" y="1253"/>
            <a:chExt cx="2029" cy="1782"/>
          </a:xfrm>
        </p:grpSpPr>
        <p:sp>
          <p:nvSpPr>
            <p:cNvPr id="82949" name="Oval 6"/>
            <p:cNvSpPr/>
            <p:nvPr/>
          </p:nvSpPr>
          <p:spPr>
            <a:xfrm>
              <a:off x="1338" y="1253"/>
              <a:ext cx="225" cy="240"/>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82950" name="Oval 7"/>
            <p:cNvSpPr/>
            <p:nvPr/>
          </p:nvSpPr>
          <p:spPr>
            <a:xfrm>
              <a:off x="1655" y="1616"/>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82951" name="Oval 8"/>
            <p:cNvSpPr/>
            <p:nvPr/>
          </p:nvSpPr>
          <p:spPr>
            <a:xfrm>
              <a:off x="521" y="1933"/>
              <a:ext cx="223"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10</a:t>
              </a:r>
            </a:p>
          </p:txBody>
        </p:sp>
        <p:sp>
          <p:nvSpPr>
            <p:cNvPr id="82952" name="Oval 9"/>
            <p:cNvSpPr/>
            <p:nvPr/>
          </p:nvSpPr>
          <p:spPr>
            <a:xfrm>
              <a:off x="1973" y="1933"/>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82953" name="Oval 10"/>
            <p:cNvSpPr/>
            <p:nvPr/>
          </p:nvSpPr>
          <p:spPr>
            <a:xfrm>
              <a:off x="1197" y="1959"/>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30</a:t>
              </a:r>
            </a:p>
          </p:txBody>
        </p:sp>
        <p:sp>
          <p:nvSpPr>
            <p:cNvPr id="82954" name="Line 11"/>
            <p:cNvSpPr/>
            <p:nvPr/>
          </p:nvSpPr>
          <p:spPr>
            <a:xfrm flipH="1">
              <a:off x="1066" y="1434"/>
              <a:ext cx="271" cy="227"/>
            </a:xfrm>
            <a:prstGeom prst="line">
              <a:avLst/>
            </a:prstGeom>
            <a:ln w="38100" cap="flat" cmpd="sng">
              <a:solidFill>
                <a:srgbClr val="336699"/>
              </a:solidFill>
              <a:prstDash val="solid"/>
              <a:round/>
              <a:headEnd type="none" w="med" len="med"/>
              <a:tailEnd type="none" w="med" len="med"/>
            </a:ln>
          </p:spPr>
        </p:sp>
        <p:sp>
          <p:nvSpPr>
            <p:cNvPr id="82955" name="Line 12"/>
            <p:cNvSpPr/>
            <p:nvPr/>
          </p:nvSpPr>
          <p:spPr>
            <a:xfrm flipH="1">
              <a:off x="698" y="1822"/>
              <a:ext cx="196" cy="144"/>
            </a:xfrm>
            <a:prstGeom prst="line">
              <a:avLst/>
            </a:prstGeom>
            <a:ln w="38100" cap="flat" cmpd="sng">
              <a:solidFill>
                <a:srgbClr val="666699"/>
              </a:solidFill>
              <a:prstDash val="solid"/>
              <a:round/>
              <a:headEnd type="none" w="med" len="med"/>
              <a:tailEnd type="none" w="med" len="med"/>
            </a:ln>
          </p:spPr>
        </p:sp>
        <p:sp>
          <p:nvSpPr>
            <p:cNvPr id="82956" name="Line 13"/>
            <p:cNvSpPr/>
            <p:nvPr/>
          </p:nvSpPr>
          <p:spPr>
            <a:xfrm>
              <a:off x="1563" y="1452"/>
              <a:ext cx="183" cy="164"/>
            </a:xfrm>
            <a:prstGeom prst="line">
              <a:avLst/>
            </a:prstGeom>
            <a:ln w="38100" cap="flat" cmpd="sng">
              <a:solidFill>
                <a:srgbClr val="336699"/>
              </a:solidFill>
              <a:prstDash val="solid"/>
              <a:round/>
              <a:headEnd type="none" w="med" len="med"/>
              <a:tailEnd type="none" w="med" len="med"/>
            </a:ln>
          </p:spPr>
        </p:sp>
        <p:sp>
          <p:nvSpPr>
            <p:cNvPr id="82957" name="Line 14"/>
            <p:cNvSpPr/>
            <p:nvPr/>
          </p:nvSpPr>
          <p:spPr>
            <a:xfrm>
              <a:off x="1071" y="1797"/>
              <a:ext cx="198" cy="171"/>
            </a:xfrm>
            <a:prstGeom prst="line">
              <a:avLst/>
            </a:prstGeom>
            <a:ln w="38100" cap="flat" cmpd="sng">
              <a:solidFill>
                <a:srgbClr val="336699"/>
              </a:solidFill>
              <a:prstDash val="solid"/>
              <a:round/>
              <a:headEnd type="none" w="med" len="med"/>
              <a:tailEnd type="none" w="med" len="med"/>
            </a:ln>
          </p:spPr>
        </p:sp>
        <p:sp>
          <p:nvSpPr>
            <p:cNvPr id="82958" name="Line 16"/>
            <p:cNvSpPr/>
            <p:nvPr/>
          </p:nvSpPr>
          <p:spPr>
            <a:xfrm>
              <a:off x="1882" y="1797"/>
              <a:ext cx="181" cy="136"/>
            </a:xfrm>
            <a:prstGeom prst="line">
              <a:avLst/>
            </a:prstGeom>
            <a:ln w="38100" cap="flat" cmpd="sng">
              <a:solidFill>
                <a:srgbClr val="336699"/>
              </a:solidFill>
              <a:prstDash val="solid"/>
              <a:round/>
              <a:headEnd type="none" w="med" len="med"/>
              <a:tailEnd type="none" w="med" len="med"/>
            </a:ln>
          </p:spPr>
        </p:sp>
        <p:sp>
          <p:nvSpPr>
            <p:cNvPr id="82959" name="Oval 17"/>
            <p:cNvSpPr/>
            <p:nvPr/>
          </p:nvSpPr>
          <p:spPr>
            <a:xfrm>
              <a:off x="723" y="2795"/>
              <a:ext cx="223" cy="240"/>
            </a:xfrm>
            <a:prstGeom prst="ellipse">
              <a:avLst/>
            </a:prstGeom>
            <a:solidFill>
              <a:srgbClr val="FFFF99"/>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22</a:t>
              </a:r>
            </a:p>
          </p:txBody>
        </p:sp>
        <p:sp>
          <p:nvSpPr>
            <p:cNvPr id="82960" name="Line 18"/>
            <p:cNvSpPr/>
            <p:nvPr/>
          </p:nvSpPr>
          <p:spPr>
            <a:xfrm flipH="1">
              <a:off x="839" y="2568"/>
              <a:ext cx="136" cy="227"/>
            </a:xfrm>
            <a:prstGeom prst="line">
              <a:avLst/>
            </a:prstGeom>
            <a:ln w="38100" cap="flat" cmpd="sng">
              <a:solidFill>
                <a:srgbClr val="336699"/>
              </a:solidFill>
              <a:prstDash val="solid"/>
              <a:round/>
              <a:headEnd type="none" w="med" len="med"/>
              <a:tailEnd type="none" w="med" len="med"/>
            </a:ln>
          </p:spPr>
        </p:sp>
        <p:sp>
          <p:nvSpPr>
            <p:cNvPr id="82961" name="Oval 19"/>
            <p:cNvSpPr/>
            <p:nvPr/>
          </p:nvSpPr>
          <p:spPr>
            <a:xfrm>
              <a:off x="930" y="2341"/>
              <a:ext cx="224" cy="238"/>
            </a:xfrm>
            <a:prstGeom prst="ellipse">
              <a:avLst/>
            </a:prstGeom>
            <a:solidFill>
              <a:srgbClr val="99CCFF"/>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25</a:t>
              </a:r>
            </a:p>
          </p:txBody>
        </p:sp>
        <p:sp>
          <p:nvSpPr>
            <p:cNvPr id="82962" name="Oval 20"/>
            <p:cNvSpPr/>
            <p:nvPr/>
          </p:nvSpPr>
          <p:spPr>
            <a:xfrm>
              <a:off x="884" y="1616"/>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20</a:t>
              </a:r>
            </a:p>
          </p:txBody>
        </p:sp>
        <p:sp>
          <p:nvSpPr>
            <p:cNvPr id="82963" name="Oval 21"/>
            <p:cNvSpPr/>
            <p:nvPr/>
          </p:nvSpPr>
          <p:spPr>
            <a:xfrm>
              <a:off x="1459" y="2316"/>
              <a:ext cx="224" cy="238"/>
            </a:xfrm>
            <a:prstGeom prst="ellipse">
              <a:avLst/>
            </a:prstGeom>
            <a:solidFill>
              <a:srgbClr val="99CCFF"/>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40</a:t>
              </a:r>
            </a:p>
          </p:txBody>
        </p:sp>
        <p:sp>
          <p:nvSpPr>
            <p:cNvPr id="82964" name="Line 22"/>
            <p:cNvSpPr/>
            <p:nvPr/>
          </p:nvSpPr>
          <p:spPr>
            <a:xfrm>
              <a:off x="1383" y="2160"/>
              <a:ext cx="136" cy="181"/>
            </a:xfrm>
            <a:prstGeom prst="line">
              <a:avLst/>
            </a:prstGeom>
            <a:ln w="38100" cap="flat" cmpd="sng">
              <a:solidFill>
                <a:srgbClr val="336699"/>
              </a:solidFill>
              <a:prstDash val="solid"/>
              <a:round/>
              <a:headEnd type="none" w="med" len="med"/>
              <a:tailEnd type="none" w="med" len="med"/>
            </a:ln>
          </p:spPr>
        </p:sp>
        <p:sp>
          <p:nvSpPr>
            <p:cNvPr id="82965" name="Line 23"/>
            <p:cNvSpPr/>
            <p:nvPr/>
          </p:nvSpPr>
          <p:spPr>
            <a:xfrm flipH="1">
              <a:off x="1066" y="2160"/>
              <a:ext cx="153" cy="181"/>
            </a:xfrm>
            <a:prstGeom prst="line">
              <a:avLst/>
            </a:prstGeom>
            <a:ln w="38100" cap="flat" cmpd="sng">
              <a:solidFill>
                <a:srgbClr val="336699"/>
              </a:solidFill>
              <a:prstDash val="solid"/>
              <a:round/>
              <a:headEnd type="none" w="med" len="med"/>
              <a:tailEnd type="none" w="med" len="med"/>
            </a:ln>
          </p:spPr>
        </p:sp>
        <p:sp>
          <p:nvSpPr>
            <p:cNvPr id="82966" name="Oval 64"/>
            <p:cNvSpPr/>
            <p:nvPr/>
          </p:nvSpPr>
          <p:spPr>
            <a:xfrm>
              <a:off x="168" y="2266"/>
              <a:ext cx="223"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82967" name="Line 65"/>
            <p:cNvSpPr/>
            <p:nvPr/>
          </p:nvSpPr>
          <p:spPr>
            <a:xfrm flipH="1">
              <a:off x="345" y="2155"/>
              <a:ext cx="196" cy="144"/>
            </a:xfrm>
            <a:prstGeom prst="line">
              <a:avLst/>
            </a:prstGeom>
            <a:ln w="38100" cap="flat" cmpd="sng">
              <a:solidFill>
                <a:srgbClr val="666699"/>
              </a:solidFill>
              <a:prstDash val="solid"/>
              <a:round/>
              <a:headEnd type="none" w="med" len="med"/>
              <a:tailEnd type="none" w="med" len="med"/>
            </a:ln>
          </p:spPr>
        </p:sp>
      </p:grpSp>
      <p:grpSp>
        <p:nvGrpSpPr>
          <p:cNvPr id="82968" name="Group 88"/>
          <p:cNvGrpSpPr/>
          <p:nvPr/>
        </p:nvGrpSpPr>
        <p:grpSpPr>
          <a:xfrm>
            <a:off x="5937568" y="2419985"/>
            <a:ext cx="3883025" cy="2036763"/>
            <a:chOff x="2835" y="1298"/>
            <a:chExt cx="2446" cy="1283"/>
          </a:xfrm>
        </p:grpSpPr>
        <p:sp>
          <p:nvSpPr>
            <p:cNvPr id="82969" name="Oval 68"/>
            <p:cNvSpPr/>
            <p:nvPr/>
          </p:nvSpPr>
          <p:spPr>
            <a:xfrm>
              <a:off x="4332" y="1570"/>
              <a:ext cx="225" cy="240"/>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56</a:t>
              </a:r>
            </a:p>
          </p:txBody>
        </p:sp>
        <p:sp>
          <p:nvSpPr>
            <p:cNvPr id="82970" name="Oval 69"/>
            <p:cNvSpPr/>
            <p:nvPr/>
          </p:nvSpPr>
          <p:spPr>
            <a:xfrm>
              <a:off x="4694" y="1933"/>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64</a:t>
              </a:r>
            </a:p>
          </p:txBody>
        </p:sp>
        <p:sp>
          <p:nvSpPr>
            <p:cNvPr id="82971" name="Oval 70"/>
            <p:cNvSpPr/>
            <p:nvPr/>
          </p:nvSpPr>
          <p:spPr>
            <a:xfrm>
              <a:off x="3188" y="1933"/>
              <a:ext cx="223"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10</a:t>
              </a:r>
            </a:p>
          </p:txBody>
        </p:sp>
        <p:sp>
          <p:nvSpPr>
            <p:cNvPr id="82972" name="Oval 71"/>
            <p:cNvSpPr/>
            <p:nvPr/>
          </p:nvSpPr>
          <p:spPr>
            <a:xfrm>
              <a:off x="5057" y="2296"/>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82973" name="Oval 72"/>
            <p:cNvSpPr/>
            <p:nvPr/>
          </p:nvSpPr>
          <p:spPr>
            <a:xfrm>
              <a:off x="3969" y="1298"/>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30</a:t>
              </a:r>
            </a:p>
          </p:txBody>
        </p:sp>
        <p:sp>
          <p:nvSpPr>
            <p:cNvPr id="82974" name="Line 73"/>
            <p:cNvSpPr/>
            <p:nvPr/>
          </p:nvSpPr>
          <p:spPr>
            <a:xfrm flipH="1">
              <a:off x="3733" y="1434"/>
              <a:ext cx="271" cy="227"/>
            </a:xfrm>
            <a:prstGeom prst="line">
              <a:avLst/>
            </a:prstGeom>
            <a:ln w="38100" cap="flat" cmpd="sng">
              <a:solidFill>
                <a:srgbClr val="336699"/>
              </a:solidFill>
              <a:prstDash val="solid"/>
              <a:round/>
              <a:headEnd type="none" w="med" len="med"/>
              <a:tailEnd type="none" w="med" len="med"/>
            </a:ln>
          </p:spPr>
        </p:sp>
        <p:sp>
          <p:nvSpPr>
            <p:cNvPr id="82975" name="Line 74"/>
            <p:cNvSpPr/>
            <p:nvPr/>
          </p:nvSpPr>
          <p:spPr>
            <a:xfrm flipH="1">
              <a:off x="3365" y="1822"/>
              <a:ext cx="196" cy="144"/>
            </a:xfrm>
            <a:prstGeom prst="line">
              <a:avLst/>
            </a:prstGeom>
            <a:ln w="38100" cap="flat" cmpd="sng">
              <a:solidFill>
                <a:srgbClr val="666699"/>
              </a:solidFill>
              <a:prstDash val="solid"/>
              <a:round/>
              <a:headEnd type="none" w="med" len="med"/>
              <a:tailEnd type="none" w="med" len="med"/>
            </a:ln>
          </p:spPr>
        </p:sp>
        <p:sp>
          <p:nvSpPr>
            <p:cNvPr id="82976" name="Line 75"/>
            <p:cNvSpPr/>
            <p:nvPr/>
          </p:nvSpPr>
          <p:spPr>
            <a:xfrm>
              <a:off x="4150" y="1480"/>
              <a:ext cx="183" cy="164"/>
            </a:xfrm>
            <a:prstGeom prst="line">
              <a:avLst/>
            </a:prstGeom>
            <a:ln w="38100" cap="flat" cmpd="sng">
              <a:solidFill>
                <a:srgbClr val="336699"/>
              </a:solidFill>
              <a:prstDash val="solid"/>
              <a:round/>
              <a:headEnd type="none" w="med" len="med"/>
              <a:tailEnd type="none" w="med" len="med"/>
            </a:ln>
          </p:spPr>
        </p:sp>
        <p:sp>
          <p:nvSpPr>
            <p:cNvPr id="82977" name="Line 76"/>
            <p:cNvSpPr/>
            <p:nvPr/>
          </p:nvSpPr>
          <p:spPr>
            <a:xfrm>
              <a:off x="3738" y="1797"/>
              <a:ext cx="198" cy="171"/>
            </a:xfrm>
            <a:prstGeom prst="line">
              <a:avLst/>
            </a:prstGeom>
            <a:ln w="38100" cap="flat" cmpd="sng">
              <a:solidFill>
                <a:srgbClr val="336699"/>
              </a:solidFill>
              <a:prstDash val="solid"/>
              <a:round/>
              <a:headEnd type="none" w="med" len="med"/>
              <a:tailEnd type="none" w="med" len="med"/>
            </a:ln>
          </p:spPr>
        </p:sp>
        <p:sp>
          <p:nvSpPr>
            <p:cNvPr id="82978" name="Line 77"/>
            <p:cNvSpPr/>
            <p:nvPr/>
          </p:nvSpPr>
          <p:spPr>
            <a:xfrm>
              <a:off x="4921" y="2160"/>
              <a:ext cx="181" cy="136"/>
            </a:xfrm>
            <a:prstGeom prst="line">
              <a:avLst/>
            </a:prstGeom>
            <a:ln w="38100" cap="flat" cmpd="sng">
              <a:solidFill>
                <a:srgbClr val="336699"/>
              </a:solidFill>
              <a:prstDash val="solid"/>
              <a:round/>
              <a:headEnd type="none" w="med" len="med"/>
              <a:tailEnd type="none" w="med" len="med"/>
            </a:ln>
          </p:spPr>
        </p:sp>
        <p:sp>
          <p:nvSpPr>
            <p:cNvPr id="82979" name="Oval 78"/>
            <p:cNvSpPr/>
            <p:nvPr/>
          </p:nvSpPr>
          <p:spPr>
            <a:xfrm>
              <a:off x="3560" y="2341"/>
              <a:ext cx="223" cy="240"/>
            </a:xfrm>
            <a:prstGeom prst="ellipse">
              <a:avLst/>
            </a:prstGeom>
            <a:solidFill>
              <a:srgbClr val="FFFF99"/>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22</a:t>
              </a:r>
            </a:p>
          </p:txBody>
        </p:sp>
        <p:sp>
          <p:nvSpPr>
            <p:cNvPr id="82980" name="Line 79"/>
            <p:cNvSpPr/>
            <p:nvPr/>
          </p:nvSpPr>
          <p:spPr>
            <a:xfrm flipH="1">
              <a:off x="3742" y="2160"/>
              <a:ext cx="136" cy="227"/>
            </a:xfrm>
            <a:prstGeom prst="line">
              <a:avLst/>
            </a:prstGeom>
            <a:ln w="38100" cap="flat" cmpd="sng">
              <a:solidFill>
                <a:srgbClr val="336699"/>
              </a:solidFill>
              <a:prstDash val="solid"/>
              <a:round/>
              <a:headEnd type="none" w="med" len="med"/>
              <a:tailEnd type="none" w="med" len="med"/>
            </a:ln>
          </p:spPr>
        </p:sp>
        <p:sp>
          <p:nvSpPr>
            <p:cNvPr id="82981" name="Oval 80"/>
            <p:cNvSpPr/>
            <p:nvPr/>
          </p:nvSpPr>
          <p:spPr>
            <a:xfrm>
              <a:off x="3833" y="1933"/>
              <a:ext cx="224" cy="238"/>
            </a:xfrm>
            <a:prstGeom prst="ellipse">
              <a:avLst/>
            </a:prstGeom>
            <a:solidFill>
              <a:srgbClr val="99CCFF"/>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25</a:t>
              </a:r>
            </a:p>
          </p:txBody>
        </p:sp>
        <p:sp>
          <p:nvSpPr>
            <p:cNvPr id="82982" name="Oval 81"/>
            <p:cNvSpPr/>
            <p:nvPr/>
          </p:nvSpPr>
          <p:spPr>
            <a:xfrm>
              <a:off x="3551" y="1616"/>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20</a:t>
              </a:r>
            </a:p>
          </p:txBody>
        </p:sp>
        <p:sp>
          <p:nvSpPr>
            <p:cNvPr id="82983" name="Oval 82"/>
            <p:cNvSpPr/>
            <p:nvPr/>
          </p:nvSpPr>
          <p:spPr>
            <a:xfrm>
              <a:off x="4195" y="1933"/>
              <a:ext cx="224" cy="238"/>
            </a:xfrm>
            <a:prstGeom prst="ellipse">
              <a:avLst/>
            </a:prstGeom>
            <a:solidFill>
              <a:srgbClr val="99CCFF"/>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40</a:t>
              </a:r>
            </a:p>
          </p:txBody>
        </p:sp>
        <p:sp>
          <p:nvSpPr>
            <p:cNvPr id="82984" name="Line 83"/>
            <p:cNvSpPr/>
            <p:nvPr/>
          </p:nvSpPr>
          <p:spPr>
            <a:xfrm flipH="1">
              <a:off x="4332" y="1797"/>
              <a:ext cx="90" cy="136"/>
            </a:xfrm>
            <a:prstGeom prst="line">
              <a:avLst/>
            </a:prstGeom>
            <a:ln w="38100" cap="flat" cmpd="sng">
              <a:solidFill>
                <a:srgbClr val="336699"/>
              </a:solidFill>
              <a:prstDash val="solid"/>
              <a:round/>
              <a:headEnd type="none" w="med" len="med"/>
              <a:tailEnd type="none" w="med" len="med"/>
            </a:ln>
          </p:spPr>
        </p:sp>
        <p:sp>
          <p:nvSpPr>
            <p:cNvPr id="82985" name="Line 84"/>
            <p:cNvSpPr/>
            <p:nvPr/>
          </p:nvSpPr>
          <p:spPr>
            <a:xfrm>
              <a:off x="4513" y="1797"/>
              <a:ext cx="227" cy="182"/>
            </a:xfrm>
            <a:prstGeom prst="line">
              <a:avLst/>
            </a:prstGeom>
            <a:ln w="38100" cap="flat" cmpd="sng">
              <a:solidFill>
                <a:srgbClr val="336699"/>
              </a:solidFill>
              <a:prstDash val="solid"/>
              <a:round/>
              <a:headEnd type="none" w="med" len="med"/>
              <a:tailEnd type="none" w="med" len="med"/>
            </a:ln>
          </p:spPr>
        </p:sp>
        <p:sp>
          <p:nvSpPr>
            <p:cNvPr id="82986" name="Oval 85"/>
            <p:cNvSpPr/>
            <p:nvPr/>
          </p:nvSpPr>
          <p:spPr>
            <a:xfrm>
              <a:off x="2835" y="2266"/>
              <a:ext cx="223"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a:t>
              </a:r>
            </a:p>
          </p:txBody>
        </p:sp>
        <p:sp>
          <p:nvSpPr>
            <p:cNvPr id="82987" name="Line 86"/>
            <p:cNvSpPr/>
            <p:nvPr/>
          </p:nvSpPr>
          <p:spPr>
            <a:xfrm flipH="1">
              <a:off x="3016" y="2160"/>
              <a:ext cx="196" cy="144"/>
            </a:xfrm>
            <a:prstGeom prst="line">
              <a:avLst/>
            </a:prstGeom>
            <a:ln w="38100" cap="flat" cmpd="sng">
              <a:solidFill>
                <a:srgbClr val="666699"/>
              </a:solidFill>
              <a:prstDash val="solid"/>
              <a:round/>
              <a:headEnd type="none" w="med" len="med"/>
              <a:tailEnd type="none" w="med" len="med"/>
            </a:ln>
          </p:spPr>
        </p:sp>
      </p:grpSp>
      <mc:AlternateContent xmlns:mc="http://schemas.openxmlformats.org/markup-compatibility/2006">
        <mc:Choice xmlns:p14="http://schemas.microsoft.com/office/powerpoint/2010/main" Requires="p14">
          <p:contentPart p14:bwMode="auto" r:id="rId2">
            <p14:nvContentPartPr>
              <p14:cNvPr id="5" name="墨迹 4">
                <a:extLst>
                  <a:ext uri="{FF2B5EF4-FFF2-40B4-BE49-F238E27FC236}">
                    <a16:creationId xmlns:a16="http://schemas.microsoft.com/office/drawing/2014/main" id="{A3554741-8D12-4775-91FF-A34A44316C1E}"/>
                  </a:ext>
                </a:extLst>
              </p14:cNvPr>
              <p14:cNvContentPartPr/>
              <p14:nvPr/>
            </p14:nvContentPartPr>
            <p14:xfrm>
              <a:off x="76320" y="0"/>
              <a:ext cx="4724640" cy="4896360"/>
            </p14:xfrm>
          </p:contentPart>
        </mc:Choice>
        <mc:Fallback>
          <p:pic>
            <p:nvPicPr>
              <p:cNvPr id="5" name="墨迹 4">
                <a:extLst>
                  <a:ext uri="{FF2B5EF4-FFF2-40B4-BE49-F238E27FC236}">
                    <a16:creationId xmlns:a16="http://schemas.microsoft.com/office/drawing/2014/main" id="{A3554741-8D12-4775-91FF-A34A44316C1E}"/>
                  </a:ext>
                </a:extLst>
              </p:cNvPr>
              <p:cNvPicPr/>
              <p:nvPr/>
            </p:nvPicPr>
            <p:blipFill>
              <a:blip r:embed="rId3"/>
              <a:stretch>
                <a:fillRect/>
              </a:stretch>
            </p:blipFill>
            <p:spPr>
              <a:xfrm>
                <a:off x="66960" y="-9360"/>
                <a:ext cx="4743360" cy="4915080"/>
              </a:xfrm>
              <a:prstGeom prst="rect">
                <a:avLst/>
              </a:prstGeom>
            </p:spPr>
          </p:pic>
        </mc:Fallback>
      </mc:AlternateContent>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sym typeface="+mn-ea"/>
              </a:rPr>
              <a:t>引发先右后左双向旋转的不平衡状态</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在</a:t>
            </a:r>
            <a:r>
              <a:rPr lang="en-US" altLang="zh-CN" dirty="0">
                <a:latin typeface="黑体" panose="02010609060101010101" pitchFamily="2" charset="-122"/>
                <a:ea typeface="黑体" panose="02010609060101010101" pitchFamily="2" charset="-122"/>
                <a:sym typeface="+mn-ea"/>
              </a:rPr>
              <a:t>C</a:t>
            </a:r>
            <a:r>
              <a:rPr lang="zh-CN" altLang="en-US" dirty="0">
                <a:latin typeface="黑体" panose="02010609060101010101" pitchFamily="2" charset="-122"/>
                <a:ea typeface="黑体" panose="02010609060101010101" pitchFamily="2" charset="-122"/>
                <a:sym typeface="+mn-ea"/>
              </a:rPr>
              <a:t>的子树</a:t>
            </a:r>
            <a:r>
              <a:rPr lang="en-US" altLang="zh-CN" dirty="0">
                <a:latin typeface="黑体" panose="02010609060101010101" pitchFamily="2" charset="-122"/>
                <a:ea typeface="黑体" panose="02010609060101010101" pitchFamily="2" charset="-122"/>
                <a:sym typeface="+mn-ea"/>
              </a:rPr>
              <a:t>C</a:t>
            </a:r>
            <a:r>
              <a:rPr lang="en-US" altLang="zh-CN" baseline="-25000" dirty="0">
                <a:latin typeface="黑体" panose="02010609060101010101" pitchFamily="2" charset="-122"/>
                <a:ea typeface="黑体" panose="02010609060101010101" pitchFamily="2" charset="-122"/>
                <a:sym typeface="+mn-ea"/>
              </a:rPr>
              <a:t>L</a:t>
            </a:r>
            <a:r>
              <a:rPr lang="zh-CN" altLang="en-US" dirty="0">
                <a:latin typeface="黑体" panose="02010609060101010101" pitchFamily="2" charset="-122"/>
                <a:ea typeface="黑体" panose="02010609060101010101" pitchFamily="2" charset="-122"/>
                <a:sym typeface="+mn-ea"/>
              </a:rPr>
              <a:t>或</a:t>
            </a:r>
            <a:r>
              <a:rPr lang="en-US" altLang="zh-CN" dirty="0">
                <a:latin typeface="黑体" panose="02010609060101010101" pitchFamily="2" charset="-122"/>
                <a:ea typeface="黑体" panose="02010609060101010101" pitchFamily="2" charset="-122"/>
                <a:sym typeface="+mn-ea"/>
              </a:rPr>
              <a:t>C</a:t>
            </a:r>
            <a:r>
              <a:rPr lang="en-US" altLang="zh-CN" baseline="-25000" dirty="0">
                <a:latin typeface="黑体" panose="02010609060101010101" pitchFamily="2" charset="-122"/>
                <a:ea typeface="黑体" panose="02010609060101010101" pitchFamily="2" charset="-122"/>
                <a:sym typeface="+mn-ea"/>
              </a:rPr>
              <a:t>R</a:t>
            </a:r>
            <a:r>
              <a:rPr lang="zh-CN" altLang="en-US" dirty="0">
                <a:latin typeface="黑体" panose="02010609060101010101" pitchFamily="2" charset="-122"/>
                <a:ea typeface="黑体" panose="02010609060101010101" pitchFamily="2" charset="-122"/>
                <a:sym typeface="+mn-ea"/>
              </a:rPr>
              <a:t>中插入新结点，该子树的高度增</a:t>
            </a:r>
            <a:r>
              <a:rPr lang="en-US" altLang="zh-CN" dirty="0">
                <a:latin typeface="黑体" panose="02010609060101010101" pitchFamily="2" charset="-122"/>
                <a:ea typeface="黑体" panose="02010609060101010101" pitchFamily="2" charset="-122"/>
                <a:sym typeface="+mn-ea"/>
              </a:rPr>
              <a:t>1</a:t>
            </a:r>
            <a:r>
              <a:rPr lang="zh-CN" altLang="en-US" dirty="0">
                <a:latin typeface="黑体" panose="02010609060101010101" pitchFamily="2" charset="-122"/>
                <a:ea typeface="黑体" panose="02010609060101010101" pitchFamily="2" charset="-122"/>
                <a:sym typeface="+mn-ea"/>
              </a:rPr>
              <a:t>。结点</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的平衡因子变为</a:t>
            </a:r>
            <a:r>
              <a:rPr lang="en-US" altLang="zh-CN" dirty="0">
                <a:latin typeface="黑体" panose="02010609060101010101" pitchFamily="2" charset="-122"/>
                <a:ea typeface="黑体" panose="02010609060101010101" pitchFamily="2" charset="-122"/>
                <a:sym typeface="+mn-ea"/>
              </a:rPr>
              <a:t>-2</a:t>
            </a:r>
            <a:r>
              <a:rPr lang="zh-CN" altLang="en-US" dirty="0">
                <a:latin typeface="黑体" panose="02010609060101010101" pitchFamily="2" charset="-122"/>
                <a:ea typeface="黑体" panose="02010609060101010101" pitchFamily="2" charset="-122"/>
                <a:sym typeface="+mn-ea"/>
              </a:rPr>
              <a:t>，发生了不平衡</a:t>
            </a: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dirty="0">
              <a:latin typeface="黑体" panose="02010609060101010101" pitchFamily="2" charset="-122"/>
              <a:ea typeface="黑体" panose="02010609060101010101" pitchFamily="2" charset="-122"/>
              <a:sym typeface="+mn-ea"/>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75</a:t>
            </a:fld>
            <a:endParaRPr lang="zh-CN" altLang="en-US"/>
          </a:p>
        </p:txBody>
      </p:sp>
      <p:sp>
        <p:nvSpPr>
          <p:cNvPr id="7" name="文本框 6"/>
          <p:cNvSpPr txBox="1"/>
          <p:nvPr/>
        </p:nvSpPr>
        <p:spPr>
          <a:xfrm>
            <a:off x="7972425" y="3772535"/>
            <a:ext cx="4064000" cy="914400"/>
          </a:xfrm>
          <a:prstGeom prst="rect">
            <a:avLst/>
          </a:prstGeom>
        </p:spPr>
        <p:txBody>
          <a:bodyPr vert="horz" wrap="square" lIns="91440" tIns="45720" rIns="91440" bIns="45720" rtlCol="0">
            <a:noAutofit/>
          </a:bodyPr>
          <a:lstStyle/>
          <a:p>
            <a:pPr marL="571500" lvl="0" indent="-571500">
              <a:lnSpc>
                <a:spcPct val="90000"/>
              </a:lnSpc>
              <a:spcBef>
                <a:spcPts val="1000"/>
              </a:spcBef>
              <a:buClr>
                <a:schemeClr val="accent2"/>
              </a:buClr>
              <a:buFont typeface="Wingdings" panose="05000000000000000000" pitchFamily="2" charset="2"/>
              <a:buChar char="n"/>
            </a:pPr>
            <a:endParaRPr lang="zh-CN" altLang="en-US"/>
          </a:p>
        </p:txBody>
      </p:sp>
      <p:grpSp>
        <p:nvGrpSpPr>
          <p:cNvPr id="83972" name="Group 4"/>
          <p:cNvGrpSpPr/>
          <p:nvPr/>
        </p:nvGrpSpPr>
        <p:grpSpPr>
          <a:xfrm>
            <a:off x="1199198" y="2493010"/>
            <a:ext cx="8148638" cy="2971800"/>
            <a:chOff x="295" y="1786"/>
            <a:chExt cx="5133" cy="1872"/>
          </a:xfrm>
        </p:grpSpPr>
        <p:grpSp>
          <p:nvGrpSpPr>
            <p:cNvPr id="83973" name="Group 5"/>
            <p:cNvGrpSpPr/>
            <p:nvPr/>
          </p:nvGrpSpPr>
          <p:grpSpPr>
            <a:xfrm>
              <a:off x="295" y="1888"/>
              <a:ext cx="2158" cy="1680"/>
              <a:chOff x="288" y="2448"/>
              <a:chExt cx="2158" cy="1728"/>
            </a:xfrm>
          </p:grpSpPr>
          <p:sp>
            <p:nvSpPr>
              <p:cNvPr id="943110" name="Text Box 6"/>
              <p:cNvSpPr txBox="1">
                <a:spLocks noChangeArrowheads="1"/>
              </p:cNvSpPr>
              <p:nvPr/>
            </p:nvSpPr>
            <p:spPr bwMode="auto">
              <a:xfrm>
                <a:off x="1071" y="2448"/>
                <a:ext cx="275" cy="298"/>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43111" name="Text Box 7"/>
              <p:cNvSpPr txBox="1">
                <a:spLocks noChangeArrowheads="1"/>
              </p:cNvSpPr>
              <p:nvPr/>
            </p:nvSpPr>
            <p:spPr bwMode="auto">
              <a:xfrm>
                <a:off x="1440" y="2785"/>
                <a:ext cx="211" cy="298"/>
              </a:xfrm>
              <a:prstGeom prst="rect">
                <a:avLst/>
              </a:prstGeom>
              <a:noFill/>
              <a:ln w="9525">
                <a:noFill/>
                <a:miter lim="800000"/>
              </a:ln>
              <a:effectLst/>
            </p:spPr>
            <p:txBody>
              <a:bodyPr wrap="none">
                <a:spAutoFit/>
              </a:bodyPr>
              <a:lstStyle/>
              <a:p>
                <a:r>
                  <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3112" name="Text Box 8"/>
              <p:cNvSpPr txBox="1">
                <a:spLocks noChangeArrowheads="1"/>
              </p:cNvSpPr>
              <p:nvPr/>
            </p:nvSpPr>
            <p:spPr bwMode="auto">
              <a:xfrm>
                <a:off x="1132" y="3080"/>
                <a:ext cx="211" cy="298"/>
              </a:xfrm>
              <a:prstGeom prst="rect">
                <a:avLst/>
              </a:prstGeom>
              <a:noFill/>
              <a:ln w="9525">
                <a:noFill/>
                <a:miter lim="800000"/>
              </a:ln>
              <a:effectLst/>
            </p:spPr>
            <p:txBody>
              <a:bodyPr wrap="none">
                <a:spAutoFit/>
              </a:bodyPr>
              <a:lstStyle/>
              <a:p>
                <a:r>
                  <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3113" name="Text Box 9"/>
              <p:cNvSpPr txBox="1">
                <a:spLocks noChangeArrowheads="1"/>
              </p:cNvSpPr>
              <p:nvPr/>
            </p:nvSpPr>
            <p:spPr bwMode="auto">
              <a:xfrm>
                <a:off x="576" y="2899"/>
                <a:ext cx="195" cy="298"/>
              </a:xfrm>
              <a:prstGeom prst="rect">
                <a:avLst/>
              </a:prstGeom>
              <a:noFill/>
              <a:ln w="9525">
                <a:noFill/>
                <a:miter lim="800000"/>
              </a:ln>
              <a:effectLst/>
            </p:spPr>
            <p:txBody>
              <a:bodyPr wrap="none">
                <a:spAutoFit/>
              </a:bodyPr>
              <a:lstStyle/>
              <a:p>
                <a:pPr marR="0" defTabSz="914400">
                  <a:buClrTx/>
                  <a:buSzTx/>
                  <a:buFontTx/>
                  <a:buNone/>
                  <a:defRPr/>
                </a:pPr>
                <a:endParaRPr kumimoji="0" lang="zh-CN"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83978" name="Line 10"/>
              <p:cNvSpPr/>
              <p:nvPr/>
            </p:nvSpPr>
            <p:spPr>
              <a:xfrm flipH="1">
                <a:off x="1056" y="3460"/>
                <a:ext cx="192" cy="252"/>
              </a:xfrm>
              <a:prstGeom prst="line">
                <a:avLst/>
              </a:prstGeom>
              <a:ln w="38100" cap="flat" cmpd="sng">
                <a:solidFill>
                  <a:srgbClr val="006666"/>
                </a:solidFill>
                <a:prstDash val="solid"/>
                <a:round/>
                <a:headEnd type="none" w="med" len="med"/>
                <a:tailEnd type="none" w="med" len="med"/>
              </a:ln>
            </p:spPr>
          </p:sp>
          <p:sp>
            <p:nvSpPr>
              <p:cNvPr id="83979" name="Line 11"/>
              <p:cNvSpPr/>
              <p:nvPr/>
            </p:nvSpPr>
            <p:spPr>
              <a:xfrm>
                <a:off x="1296" y="3502"/>
                <a:ext cx="192" cy="210"/>
              </a:xfrm>
              <a:prstGeom prst="line">
                <a:avLst/>
              </a:prstGeom>
              <a:ln w="38100" cap="flat" cmpd="sng">
                <a:solidFill>
                  <a:srgbClr val="006666"/>
                </a:solidFill>
                <a:prstDash val="solid"/>
                <a:round/>
                <a:headEnd type="none" w="med" len="med"/>
                <a:tailEnd type="none" w="med" len="med"/>
              </a:ln>
            </p:spPr>
          </p:sp>
          <p:sp>
            <p:nvSpPr>
              <p:cNvPr id="943116" name="Text Box 12"/>
              <p:cNvSpPr txBox="1">
                <a:spLocks noChangeArrowheads="1"/>
              </p:cNvSpPr>
              <p:nvPr/>
            </p:nvSpPr>
            <p:spPr bwMode="auto">
              <a:xfrm>
                <a:off x="1875" y="3251"/>
                <a:ext cx="195" cy="298"/>
              </a:xfrm>
              <a:prstGeom prst="rect">
                <a:avLst/>
              </a:prstGeom>
              <a:noFill/>
              <a:ln w="9525">
                <a:noFill/>
                <a:miter lim="800000"/>
              </a:ln>
              <a:effectLst/>
            </p:spPr>
            <p:txBody>
              <a:bodyPr wrap="none">
                <a:spAutoFit/>
              </a:bodyPr>
              <a:lstStyle/>
              <a:p>
                <a:pPr marR="0" defTabSz="914400">
                  <a:buClrTx/>
                  <a:buSzTx/>
                  <a:buFontTx/>
                  <a:buNone/>
                  <a:defRPr/>
                </a:pPr>
                <a:endParaRPr kumimoji="0" lang="zh-CN"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83981" name="Line 13"/>
              <p:cNvSpPr/>
              <p:nvPr/>
            </p:nvSpPr>
            <p:spPr>
              <a:xfrm flipH="1">
                <a:off x="672" y="2869"/>
                <a:ext cx="432" cy="380"/>
              </a:xfrm>
              <a:prstGeom prst="line">
                <a:avLst/>
              </a:prstGeom>
              <a:ln w="28575" cap="flat" cmpd="sng">
                <a:solidFill>
                  <a:srgbClr val="006666"/>
                </a:solidFill>
                <a:prstDash val="solid"/>
                <a:round/>
                <a:headEnd type="none" w="med" len="med"/>
                <a:tailEnd type="none" w="med" len="med"/>
              </a:ln>
            </p:spPr>
          </p:sp>
          <p:sp>
            <p:nvSpPr>
              <p:cNvPr id="83982" name="Line 14"/>
              <p:cNvSpPr/>
              <p:nvPr/>
            </p:nvSpPr>
            <p:spPr>
              <a:xfrm>
                <a:off x="1248" y="2869"/>
                <a:ext cx="672" cy="675"/>
              </a:xfrm>
              <a:prstGeom prst="line">
                <a:avLst/>
              </a:prstGeom>
              <a:ln w="28575" cap="flat" cmpd="sng">
                <a:solidFill>
                  <a:srgbClr val="006666"/>
                </a:solidFill>
                <a:prstDash val="solid"/>
                <a:round/>
                <a:headEnd type="none" w="med" len="med"/>
                <a:tailEnd type="none" w="med" len="med"/>
              </a:ln>
            </p:spPr>
          </p:sp>
          <p:sp>
            <p:nvSpPr>
              <p:cNvPr id="83983" name="Rectangle 15"/>
              <p:cNvSpPr/>
              <p:nvPr/>
            </p:nvSpPr>
            <p:spPr>
              <a:xfrm>
                <a:off x="576" y="3164"/>
                <a:ext cx="240" cy="633"/>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bg2"/>
                    </a:solidFill>
                    <a:latin typeface="Times New Roman" panose="02020603050405020304" pitchFamily="18" charset="0"/>
                    <a:ea typeface="宋体" panose="02010600030101010101" pitchFamily="2" charset="-122"/>
                  </a:rPr>
                  <a:t>….</a:t>
                </a:r>
              </a:p>
            </p:txBody>
          </p:sp>
          <p:sp>
            <p:nvSpPr>
              <p:cNvPr id="83984" name="Line 16"/>
              <p:cNvSpPr/>
              <p:nvPr/>
            </p:nvSpPr>
            <p:spPr>
              <a:xfrm flipH="1">
                <a:off x="1248" y="3207"/>
                <a:ext cx="205" cy="253"/>
              </a:xfrm>
              <a:prstGeom prst="line">
                <a:avLst/>
              </a:prstGeom>
              <a:ln w="28575" cap="flat" cmpd="sng">
                <a:solidFill>
                  <a:srgbClr val="006666"/>
                </a:solidFill>
                <a:prstDash val="solid"/>
                <a:round/>
                <a:headEnd type="none" w="med" len="med"/>
                <a:tailEnd type="none" w="med" len="med"/>
              </a:ln>
            </p:spPr>
          </p:sp>
          <p:sp>
            <p:nvSpPr>
              <p:cNvPr id="83985" name="Oval 17"/>
              <p:cNvSpPr/>
              <p:nvPr/>
            </p:nvSpPr>
            <p:spPr>
              <a:xfrm>
                <a:off x="1392" y="3038"/>
                <a:ext cx="240" cy="211"/>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3986" name="Oval 18"/>
              <p:cNvSpPr/>
              <p:nvPr/>
            </p:nvSpPr>
            <p:spPr>
              <a:xfrm>
                <a:off x="1069" y="2701"/>
                <a:ext cx="240" cy="211"/>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3987" name="Rectangle 19"/>
              <p:cNvSpPr/>
              <p:nvPr/>
            </p:nvSpPr>
            <p:spPr>
              <a:xfrm>
                <a:off x="1920" y="3502"/>
                <a:ext cx="240" cy="651"/>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3988" name="Text Box 20"/>
              <p:cNvSpPr txBox="1"/>
              <p:nvPr/>
            </p:nvSpPr>
            <p:spPr>
              <a:xfrm>
                <a:off x="1283" y="2551"/>
                <a:ext cx="254" cy="298"/>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83989" name="Text Box 21"/>
              <p:cNvSpPr txBox="1"/>
              <p:nvPr/>
            </p:nvSpPr>
            <p:spPr>
              <a:xfrm>
                <a:off x="1619" y="2931"/>
                <a:ext cx="243" cy="298"/>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3990" name="Text Box 22"/>
              <p:cNvSpPr txBox="1"/>
              <p:nvPr/>
            </p:nvSpPr>
            <p:spPr>
              <a:xfrm>
                <a:off x="2113" y="3285"/>
                <a:ext cx="333" cy="298"/>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83991" name="Text Box 23"/>
              <p:cNvSpPr txBox="1"/>
              <p:nvPr/>
            </p:nvSpPr>
            <p:spPr>
              <a:xfrm>
                <a:off x="899" y="3201"/>
                <a:ext cx="254" cy="298"/>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3992" name="Rectangle 24"/>
              <p:cNvSpPr/>
              <p:nvPr/>
            </p:nvSpPr>
            <p:spPr>
              <a:xfrm>
                <a:off x="912" y="3712"/>
                <a:ext cx="240" cy="464"/>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3993" name="Rectangle 25"/>
              <p:cNvSpPr/>
              <p:nvPr/>
            </p:nvSpPr>
            <p:spPr>
              <a:xfrm>
                <a:off x="1392" y="3712"/>
                <a:ext cx="240" cy="464"/>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3994" name="Text Box 26"/>
              <p:cNvSpPr txBox="1"/>
              <p:nvPr/>
            </p:nvSpPr>
            <p:spPr>
              <a:xfrm>
                <a:off x="1401" y="3791"/>
                <a:ext cx="195" cy="298"/>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83995" name="Text Box 27"/>
              <p:cNvSpPr txBox="1"/>
              <p:nvPr/>
            </p:nvSpPr>
            <p:spPr>
              <a:xfrm>
                <a:off x="288" y="2931"/>
                <a:ext cx="337" cy="298"/>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3996" name="Text Box 28"/>
              <p:cNvSpPr txBox="1"/>
              <p:nvPr/>
            </p:nvSpPr>
            <p:spPr>
              <a:xfrm>
                <a:off x="789" y="3429"/>
                <a:ext cx="337" cy="298"/>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3997" name="Text Box 29"/>
              <p:cNvSpPr txBox="1"/>
              <p:nvPr/>
            </p:nvSpPr>
            <p:spPr>
              <a:xfrm>
                <a:off x="1440" y="3479"/>
                <a:ext cx="344" cy="298"/>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83998" name="Text Box 30"/>
              <p:cNvSpPr txBox="1"/>
              <p:nvPr/>
            </p:nvSpPr>
            <p:spPr>
              <a:xfrm>
                <a:off x="864" y="3791"/>
                <a:ext cx="195" cy="298"/>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83999" name="Oval 31"/>
              <p:cNvSpPr/>
              <p:nvPr/>
            </p:nvSpPr>
            <p:spPr>
              <a:xfrm>
                <a:off x="1152" y="3333"/>
                <a:ext cx="240" cy="211"/>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84000" name="Group 32"/>
            <p:cNvGrpSpPr/>
            <p:nvPr/>
          </p:nvGrpSpPr>
          <p:grpSpPr>
            <a:xfrm>
              <a:off x="3367" y="1786"/>
              <a:ext cx="2061" cy="1872"/>
              <a:chOff x="3408" y="2394"/>
              <a:chExt cx="2061" cy="1872"/>
            </a:xfrm>
          </p:grpSpPr>
          <p:sp>
            <p:nvSpPr>
              <p:cNvPr id="84001" name="Line 33"/>
              <p:cNvSpPr/>
              <p:nvPr/>
            </p:nvSpPr>
            <p:spPr>
              <a:xfrm flipH="1">
                <a:off x="4128" y="3371"/>
                <a:ext cx="240" cy="285"/>
              </a:xfrm>
              <a:prstGeom prst="line">
                <a:avLst/>
              </a:prstGeom>
              <a:ln w="38100" cap="flat" cmpd="sng">
                <a:solidFill>
                  <a:srgbClr val="006666"/>
                </a:solidFill>
                <a:prstDash val="solid"/>
                <a:round/>
                <a:headEnd type="none" w="med" len="med"/>
                <a:tailEnd type="none" w="med" len="med"/>
              </a:ln>
            </p:spPr>
          </p:sp>
          <p:sp>
            <p:nvSpPr>
              <p:cNvPr id="943138" name="Text Box 34"/>
              <p:cNvSpPr txBox="1">
                <a:spLocks noChangeArrowheads="1"/>
              </p:cNvSpPr>
              <p:nvPr/>
            </p:nvSpPr>
            <p:spPr bwMode="auto">
              <a:xfrm>
                <a:off x="4512" y="2720"/>
                <a:ext cx="321"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43139" name="Text Box 35"/>
              <p:cNvSpPr txBox="1">
                <a:spLocks noChangeArrowheads="1"/>
              </p:cNvSpPr>
              <p:nvPr/>
            </p:nvSpPr>
            <p:spPr bwMode="auto">
              <a:xfrm>
                <a:off x="4191" y="2394"/>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sp>
            <p:nvSpPr>
              <p:cNvPr id="943140" name="Text Box 36"/>
              <p:cNvSpPr txBox="1">
                <a:spLocks noChangeArrowheads="1"/>
              </p:cNvSpPr>
              <p:nvPr/>
            </p:nvSpPr>
            <p:spPr bwMode="auto">
              <a:xfrm>
                <a:off x="4252" y="3004"/>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43141" name="Text Box 37"/>
              <p:cNvSpPr txBox="1">
                <a:spLocks noChangeArrowheads="1"/>
              </p:cNvSpPr>
              <p:nvPr/>
            </p:nvSpPr>
            <p:spPr bwMode="auto">
              <a:xfrm>
                <a:off x="3696" y="2829"/>
                <a:ext cx="195" cy="290"/>
              </a:xfrm>
              <a:prstGeom prst="rect">
                <a:avLst/>
              </a:prstGeom>
              <a:noFill/>
              <a:ln w="9525">
                <a:noFill/>
                <a:miter lim="800000"/>
              </a:ln>
              <a:effectLst/>
            </p:spPr>
            <p:txBody>
              <a:bodyPr wrap="none">
                <a:spAutoFit/>
              </a:bodyPr>
              <a:lstStyle/>
              <a:p>
                <a:pPr marR="0" defTabSz="914400">
                  <a:buClrTx/>
                  <a:buSzTx/>
                  <a:buFontTx/>
                  <a:buNone/>
                  <a:defRPr/>
                </a:pPr>
                <a:endParaRPr kumimoji="0" lang="zh-CN"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84006" name="Line 38"/>
              <p:cNvSpPr/>
              <p:nvPr/>
            </p:nvSpPr>
            <p:spPr>
              <a:xfrm>
                <a:off x="4416" y="3412"/>
                <a:ext cx="192" cy="203"/>
              </a:xfrm>
              <a:prstGeom prst="line">
                <a:avLst/>
              </a:prstGeom>
              <a:ln w="38100" cap="flat" cmpd="sng">
                <a:solidFill>
                  <a:srgbClr val="006666"/>
                </a:solidFill>
                <a:prstDash val="solid"/>
                <a:round/>
                <a:headEnd type="none" w="med" len="med"/>
                <a:tailEnd type="none" w="med" len="med"/>
              </a:ln>
            </p:spPr>
          </p:sp>
          <p:sp>
            <p:nvSpPr>
              <p:cNvPr id="943143" name="Text Box 39"/>
              <p:cNvSpPr txBox="1">
                <a:spLocks noChangeArrowheads="1"/>
              </p:cNvSpPr>
              <p:nvPr/>
            </p:nvSpPr>
            <p:spPr bwMode="auto">
              <a:xfrm>
                <a:off x="4995" y="3155"/>
                <a:ext cx="195" cy="290"/>
              </a:xfrm>
              <a:prstGeom prst="rect">
                <a:avLst/>
              </a:prstGeom>
              <a:noFill/>
              <a:ln w="9525">
                <a:noFill/>
                <a:miter lim="800000"/>
              </a:ln>
              <a:effectLst/>
            </p:spPr>
            <p:txBody>
              <a:bodyPr wrap="none">
                <a:spAutoFit/>
              </a:bodyPr>
              <a:lstStyle/>
              <a:p>
                <a:pPr marR="0" defTabSz="914400">
                  <a:buClrTx/>
                  <a:buSzTx/>
                  <a:buFontTx/>
                  <a:buNone/>
                  <a:defRPr/>
                </a:pPr>
                <a:endParaRPr kumimoji="0" lang="zh-CN"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84008" name="Line 40"/>
              <p:cNvSpPr/>
              <p:nvPr/>
            </p:nvSpPr>
            <p:spPr>
              <a:xfrm flipH="1">
                <a:off x="3792" y="2801"/>
                <a:ext cx="432" cy="367"/>
              </a:xfrm>
              <a:prstGeom prst="line">
                <a:avLst/>
              </a:prstGeom>
              <a:ln w="28575" cap="flat" cmpd="sng">
                <a:solidFill>
                  <a:srgbClr val="006666"/>
                </a:solidFill>
                <a:prstDash val="solid"/>
                <a:round/>
                <a:headEnd type="none" w="med" len="med"/>
                <a:tailEnd type="none" w="med" len="med"/>
              </a:ln>
            </p:spPr>
          </p:sp>
          <p:sp>
            <p:nvSpPr>
              <p:cNvPr id="84009" name="Line 41"/>
              <p:cNvSpPr/>
              <p:nvPr/>
            </p:nvSpPr>
            <p:spPr>
              <a:xfrm>
                <a:off x="4368" y="2801"/>
                <a:ext cx="672" cy="651"/>
              </a:xfrm>
              <a:prstGeom prst="line">
                <a:avLst/>
              </a:prstGeom>
              <a:ln w="28575" cap="flat" cmpd="sng">
                <a:solidFill>
                  <a:srgbClr val="006666"/>
                </a:solidFill>
                <a:prstDash val="solid"/>
                <a:round/>
                <a:headEnd type="none" w="med" len="med"/>
                <a:tailEnd type="none" w="med" len="med"/>
              </a:ln>
            </p:spPr>
          </p:sp>
          <p:sp>
            <p:nvSpPr>
              <p:cNvPr id="84010" name="Rectangle 42"/>
              <p:cNvSpPr/>
              <p:nvPr/>
            </p:nvSpPr>
            <p:spPr>
              <a:xfrm>
                <a:off x="3696" y="3086"/>
                <a:ext cx="240" cy="61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rgbClr val="006666"/>
                    </a:solidFill>
                    <a:latin typeface="Times New Roman" panose="02020603050405020304" pitchFamily="18" charset="0"/>
                    <a:ea typeface="宋体" panose="02010600030101010101" pitchFamily="2" charset="-122"/>
                  </a:rPr>
                  <a:t>….</a:t>
                </a: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4011" name="Line 43"/>
              <p:cNvSpPr/>
              <p:nvPr/>
            </p:nvSpPr>
            <p:spPr>
              <a:xfrm flipH="1">
                <a:off x="4368" y="3127"/>
                <a:ext cx="205" cy="244"/>
              </a:xfrm>
              <a:prstGeom prst="line">
                <a:avLst/>
              </a:prstGeom>
              <a:ln w="28575" cap="flat" cmpd="sng">
                <a:solidFill>
                  <a:srgbClr val="006666"/>
                </a:solidFill>
                <a:prstDash val="solid"/>
                <a:round/>
                <a:headEnd type="none" w="med" len="med"/>
                <a:tailEnd type="none" w="med" len="med"/>
              </a:ln>
            </p:spPr>
          </p:sp>
          <p:sp>
            <p:nvSpPr>
              <p:cNvPr id="84012" name="Oval 44"/>
              <p:cNvSpPr/>
              <p:nvPr/>
            </p:nvSpPr>
            <p:spPr>
              <a:xfrm>
                <a:off x="4512" y="2964"/>
                <a:ext cx="240" cy="204"/>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4013" name="Oval 45"/>
              <p:cNvSpPr/>
              <p:nvPr/>
            </p:nvSpPr>
            <p:spPr>
              <a:xfrm>
                <a:off x="4189" y="2638"/>
                <a:ext cx="240" cy="204"/>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4014" name="Rectangle 46"/>
              <p:cNvSpPr/>
              <p:nvPr/>
            </p:nvSpPr>
            <p:spPr>
              <a:xfrm>
                <a:off x="5040" y="3419"/>
                <a:ext cx="240" cy="651"/>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4015" name="Text Box 47"/>
              <p:cNvSpPr txBox="1"/>
              <p:nvPr/>
            </p:nvSpPr>
            <p:spPr>
              <a:xfrm>
                <a:off x="4403" y="2492"/>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84016" name="Text Box 48"/>
              <p:cNvSpPr txBox="1"/>
              <p:nvPr/>
            </p:nvSpPr>
            <p:spPr>
              <a:xfrm>
                <a:off x="4739" y="2858"/>
                <a:ext cx="2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4017" name="Rectangle 49"/>
              <p:cNvSpPr/>
              <p:nvPr/>
            </p:nvSpPr>
            <p:spPr>
              <a:xfrm>
                <a:off x="4032" y="3615"/>
                <a:ext cx="240" cy="44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4018" name="Rectangle 50"/>
              <p:cNvSpPr/>
              <p:nvPr/>
            </p:nvSpPr>
            <p:spPr>
              <a:xfrm>
                <a:off x="4512" y="3615"/>
                <a:ext cx="240" cy="651"/>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4019" name="Text Box 51"/>
              <p:cNvSpPr txBox="1"/>
              <p:nvPr/>
            </p:nvSpPr>
            <p:spPr>
              <a:xfrm>
                <a:off x="4520" y="3639"/>
                <a:ext cx="225" cy="615"/>
              </a:xfrm>
              <a:prstGeom prst="rect">
                <a:avLst/>
              </a:prstGeom>
              <a:noFill/>
              <a:ln w="9525">
                <a:noFill/>
              </a:ln>
            </p:spPr>
            <p:txBody>
              <a:bodyPr wrap="none" anchor="t" anchorCtr="0">
                <a:spAutoFit/>
              </a:bodyPr>
              <a:lstStyle/>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h</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1</a:t>
                </a:r>
                <a:endParaRPr lang="en-US" altLang="zh-CN" sz="2400" dirty="0">
                  <a:latin typeface="Times New Roman" panose="02020603050405020304" pitchFamily="18" charset="0"/>
                  <a:ea typeface="宋体" panose="02010600030101010101" pitchFamily="2" charset="-122"/>
                </a:endParaRPr>
              </a:p>
            </p:txBody>
          </p:sp>
          <p:sp>
            <p:nvSpPr>
              <p:cNvPr id="84020" name="Text Box 52"/>
              <p:cNvSpPr txBox="1"/>
              <p:nvPr/>
            </p:nvSpPr>
            <p:spPr>
              <a:xfrm>
                <a:off x="3408" y="2858"/>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4021" name="Text Box 53"/>
              <p:cNvSpPr txBox="1"/>
              <p:nvPr/>
            </p:nvSpPr>
            <p:spPr>
              <a:xfrm>
                <a:off x="3909" y="3358"/>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4022" name="Text Box 54"/>
              <p:cNvSpPr txBox="1"/>
              <p:nvPr/>
            </p:nvSpPr>
            <p:spPr>
              <a:xfrm>
                <a:off x="4560" y="3388"/>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84023" name="Text Box 55"/>
              <p:cNvSpPr txBox="1"/>
              <p:nvPr/>
            </p:nvSpPr>
            <p:spPr>
              <a:xfrm>
                <a:off x="3984" y="3688"/>
                <a:ext cx="195" cy="290"/>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84024" name="Oval 56"/>
              <p:cNvSpPr/>
              <p:nvPr/>
            </p:nvSpPr>
            <p:spPr>
              <a:xfrm>
                <a:off x="4272" y="3248"/>
                <a:ext cx="240" cy="204"/>
              </a:xfrm>
              <a:prstGeom prst="ellipse">
                <a:avLst/>
              </a:prstGeom>
              <a:solidFill>
                <a:srgbClr val="FF7C80"/>
              </a:solidFill>
              <a:ln w="28575" cap="flat" cmpd="sng">
                <a:solidFill>
                  <a:srgbClr val="FF7C80"/>
                </a:solidFill>
                <a:prstDash val="solid"/>
                <a:round/>
                <a:headEnd type="none" w="med" len="med"/>
                <a:tailEnd type="none" w="med" len="med"/>
              </a:ln>
            </p:spPr>
            <p:txBody>
              <a:bodyPr wrap="none" anchor="ctr" anchorCtr="0"/>
              <a:lstStyle/>
              <a:p>
                <a:pPr algn="ctr"/>
                <a:endParaRPr lang="zh-CN" altLang="zh-CN" sz="2400" dirty="0">
                  <a:solidFill>
                    <a:schemeClr val="tx2"/>
                  </a:solidFill>
                  <a:latin typeface="Times New Roman" panose="02020603050405020304" pitchFamily="18" charset="0"/>
                  <a:ea typeface="宋体" panose="02010600030101010101" pitchFamily="2" charset="-122"/>
                </a:endParaRPr>
              </a:p>
            </p:txBody>
          </p:sp>
          <p:sp>
            <p:nvSpPr>
              <p:cNvPr id="84025" name="Text Box 57"/>
              <p:cNvSpPr txBox="1"/>
              <p:nvPr/>
            </p:nvSpPr>
            <p:spPr>
              <a:xfrm>
                <a:off x="4019" y="3103"/>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4026" name="Rectangle 58"/>
              <p:cNvSpPr/>
              <p:nvPr/>
            </p:nvSpPr>
            <p:spPr>
              <a:xfrm>
                <a:off x="5136" y="3168"/>
                <a:ext cx="33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gr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sym typeface="+mn-ea"/>
              </a:rPr>
              <a:t>先右后左双向旋转</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具体操作：</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从结点</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起沿插入路径选取</a:t>
            </a:r>
            <a:r>
              <a:rPr lang="en-US" altLang="zh-CN" dirty="0">
                <a:latin typeface="黑体" panose="02010609060101010101" pitchFamily="2" charset="-122"/>
                <a:ea typeface="黑体" panose="02010609060101010101" pitchFamily="2" charset="-122"/>
                <a:sym typeface="+mn-ea"/>
              </a:rPr>
              <a:t>3</a:t>
            </a:r>
            <a:r>
              <a:rPr lang="zh-CN" altLang="en-US" dirty="0">
                <a:latin typeface="黑体" panose="02010609060101010101" pitchFamily="2" charset="-122"/>
                <a:ea typeface="黑体" panose="02010609060101010101" pitchFamily="2" charset="-122"/>
                <a:sym typeface="+mn-ea"/>
              </a:rPr>
              <a:t>个结点</a:t>
            </a:r>
            <a:r>
              <a:rPr lang="en-US" altLang="zh-CN" dirty="0">
                <a:latin typeface="黑体" panose="02010609060101010101" pitchFamily="2" charset="-122"/>
                <a:ea typeface="黑体" panose="02010609060101010101" pitchFamily="2" charset="-122"/>
                <a:sym typeface="+mn-ea"/>
              </a:rPr>
              <a:t>A</a:t>
            </a:r>
            <a:r>
              <a:rPr lang="zh-CN" altLang="en-US" dirty="0">
                <a:latin typeface="黑体" panose="02010609060101010101" pitchFamily="2" charset="-122"/>
                <a:ea typeface="黑体" panose="02010609060101010101" pitchFamily="2" charset="-122"/>
                <a:sym typeface="+mn-ea"/>
              </a:rPr>
              <a:t>、</a:t>
            </a:r>
            <a:r>
              <a:rPr lang="en-US" altLang="zh-CN" dirty="0">
                <a:latin typeface="黑体" panose="02010609060101010101" pitchFamily="2" charset="-122"/>
                <a:ea typeface="黑体" panose="02010609060101010101" pitchFamily="2" charset="-122"/>
                <a:sym typeface="+mn-ea"/>
              </a:rPr>
              <a:t>C</a:t>
            </a:r>
            <a:r>
              <a:rPr lang="zh-CN" altLang="en-US" dirty="0">
                <a:latin typeface="黑体" panose="02010609060101010101" pitchFamily="2" charset="-122"/>
                <a:ea typeface="黑体" panose="02010609060101010101" pitchFamily="2" charset="-122"/>
                <a:sym typeface="+mn-ea"/>
              </a:rPr>
              <a:t>和</a:t>
            </a:r>
            <a:r>
              <a:rPr lang="en-US" altLang="zh-CN" dirty="0">
                <a:latin typeface="黑体" panose="02010609060101010101" pitchFamily="2" charset="-122"/>
                <a:ea typeface="黑体" panose="02010609060101010101" pitchFamily="2" charset="-122"/>
                <a:sym typeface="+mn-ea"/>
              </a:rPr>
              <a:t>D(</a:t>
            </a:r>
            <a:r>
              <a:rPr lang="en-US" altLang="zh-CN" dirty="0">
                <a:ea typeface="黑体" panose="02010609060101010101" pitchFamily="2" charset="-122"/>
                <a:sym typeface="+mn-ea"/>
              </a:rPr>
              <a:t>“</a:t>
            </a:r>
            <a:r>
              <a:rPr lang="en-US" altLang="zh-CN" dirty="0">
                <a:latin typeface="黑体" panose="02010609060101010101" pitchFamily="2" charset="-122"/>
                <a:ea typeface="黑体" panose="02010609060101010101" pitchFamily="2" charset="-122"/>
                <a:sym typeface="+mn-ea"/>
              </a:rPr>
              <a:t>&gt;</a:t>
            </a:r>
            <a:r>
              <a:rPr lang="en-US" altLang="zh-CN" dirty="0">
                <a:ea typeface="黑体" panose="02010609060101010101" pitchFamily="2" charset="-122"/>
                <a:sym typeface="+mn-ea"/>
              </a:rPr>
              <a:t>”</a:t>
            </a:r>
            <a:r>
              <a:rPr lang="zh-CN" altLang="en-US" dirty="0">
                <a:latin typeface="黑体" panose="02010609060101010101" pitchFamily="2" charset="-122"/>
                <a:ea typeface="黑体" panose="02010609060101010101" pitchFamily="2" charset="-122"/>
                <a:sym typeface="+mn-ea"/>
              </a:rPr>
              <a:t>型</a:t>
            </a:r>
            <a:r>
              <a:rPr lang="en-US" altLang="zh-CN" dirty="0">
                <a:latin typeface="黑体" panose="02010609060101010101" pitchFamily="2" charset="-122"/>
                <a:ea typeface="黑体" panose="02010609060101010101" pitchFamily="2" charset="-122"/>
                <a:sym typeface="+mn-ea"/>
              </a:rPr>
              <a:t>)</a:t>
            </a: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以结点</a:t>
            </a:r>
            <a:r>
              <a:rPr lang="en-US" altLang="zh-CN" dirty="0">
                <a:latin typeface="黑体" panose="02010609060101010101" pitchFamily="2" charset="-122"/>
                <a:ea typeface="黑体" panose="02010609060101010101" pitchFamily="2" charset="-122"/>
                <a:sym typeface="+mn-ea"/>
              </a:rPr>
              <a:t>B</a:t>
            </a:r>
            <a:r>
              <a:rPr lang="zh-CN" altLang="en-US" dirty="0">
                <a:latin typeface="黑体" panose="02010609060101010101" pitchFamily="2" charset="-122"/>
                <a:ea typeface="黑体" panose="02010609060101010101" pitchFamily="2" charset="-122"/>
                <a:sym typeface="+mn-ea"/>
              </a:rPr>
              <a:t>为旋转轴，作单向右旋</a:t>
            </a:r>
          </a:p>
          <a:p>
            <a:pPr lvl="1" algn="l" eaLnBrk="1" hangingPunct="1">
              <a:buClrTx/>
              <a:buSzTx/>
              <a:buChar char="•"/>
            </a:pPr>
            <a:r>
              <a:rPr lang="zh-CN" altLang="en-US" dirty="0">
                <a:latin typeface="黑体" panose="02010609060101010101" pitchFamily="2" charset="-122"/>
                <a:ea typeface="黑体" panose="02010609060101010101" pitchFamily="2" charset="-122"/>
                <a:sym typeface="+mn-ea"/>
              </a:rPr>
              <a:t>再以结点</a:t>
            </a:r>
            <a:r>
              <a:rPr lang="en-US" altLang="zh-CN" dirty="0">
                <a:latin typeface="黑体" panose="02010609060101010101" pitchFamily="2" charset="-122"/>
                <a:ea typeface="黑体" panose="02010609060101010101" pitchFamily="2" charset="-122"/>
                <a:sym typeface="+mn-ea"/>
              </a:rPr>
              <a:t>C</a:t>
            </a:r>
            <a:r>
              <a:rPr lang="zh-CN" altLang="en-US" dirty="0">
                <a:latin typeface="黑体" panose="02010609060101010101" pitchFamily="2" charset="-122"/>
                <a:ea typeface="黑体" panose="02010609060101010101" pitchFamily="2" charset="-122"/>
                <a:sym typeface="+mn-ea"/>
              </a:rPr>
              <a:t>为旋转轴，作单向左旋</a:t>
            </a:r>
            <a:endParaRPr lang="zh-CN" altLang="en-US"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76</a:t>
            </a:fld>
            <a:endParaRPr lang="zh-CN" altLang="en-US"/>
          </a:p>
        </p:txBody>
      </p:sp>
      <p:grpSp>
        <p:nvGrpSpPr>
          <p:cNvPr id="84997" name="Group 5"/>
          <p:cNvGrpSpPr/>
          <p:nvPr/>
        </p:nvGrpSpPr>
        <p:grpSpPr>
          <a:xfrm>
            <a:off x="4224020" y="2985770"/>
            <a:ext cx="3195955" cy="3065780"/>
            <a:chOff x="3152" y="1909"/>
            <a:chExt cx="2013" cy="1931"/>
          </a:xfrm>
        </p:grpSpPr>
        <p:sp>
          <p:nvSpPr>
            <p:cNvPr id="84998" name="Line 6"/>
            <p:cNvSpPr/>
            <p:nvPr/>
          </p:nvSpPr>
          <p:spPr>
            <a:xfrm flipH="1">
              <a:off x="4304" y="2952"/>
              <a:ext cx="192" cy="293"/>
            </a:xfrm>
            <a:prstGeom prst="line">
              <a:avLst/>
            </a:prstGeom>
            <a:ln w="38100" cap="flat" cmpd="sng">
              <a:solidFill>
                <a:srgbClr val="006666"/>
              </a:solidFill>
              <a:prstDash val="solid"/>
              <a:round/>
              <a:headEnd type="none" w="med" len="med"/>
              <a:tailEnd type="none" w="med" len="med"/>
            </a:ln>
          </p:spPr>
        </p:sp>
        <p:sp>
          <p:nvSpPr>
            <p:cNvPr id="944135" name="Text Box 7"/>
            <p:cNvSpPr txBox="1">
              <a:spLocks noChangeArrowheads="1"/>
            </p:cNvSpPr>
            <p:nvPr/>
          </p:nvSpPr>
          <p:spPr bwMode="auto">
            <a:xfrm>
              <a:off x="4448" y="2619"/>
              <a:ext cx="211" cy="290"/>
            </a:xfrm>
            <a:prstGeom prst="rect">
              <a:avLst/>
            </a:prstGeom>
            <a:noFill/>
            <a:ln w="9525">
              <a:noFill/>
              <a:miter lim="800000"/>
            </a:ln>
            <a:effectLst/>
          </p:spPr>
          <p:txBody>
            <a:bodyPr wrap="none">
              <a:spAutoFit/>
            </a:bodyPr>
            <a:lstStyle/>
            <a:p>
              <a:r>
                <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4136" name="Text Box 8"/>
            <p:cNvSpPr txBox="1">
              <a:spLocks noChangeArrowheads="1"/>
            </p:cNvSpPr>
            <p:nvPr/>
          </p:nvSpPr>
          <p:spPr bwMode="auto">
            <a:xfrm>
              <a:off x="3728" y="1909"/>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85001" name="Line 9"/>
            <p:cNvSpPr/>
            <p:nvPr/>
          </p:nvSpPr>
          <p:spPr>
            <a:xfrm flipH="1">
              <a:off x="3392" y="2326"/>
              <a:ext cx="432" cy="376"/>
            </a:xfrm>
            <a:prstGeom prst="line">
              <a:avLst/>
            </a:prstGeom>
            <a:ln w="28575" cap="flat" cmpd="sng">
              <a:solidFill>
                <a:srgbClr val="006666"/>
              </a:solidFill>
              <a:prstDash val="solid"/>
              <a:round/>
              <a:headEnd type="none" w="med" len="med"/>
              <a:tailEnd type="none" w="med" len="med"/>
            </a:ln>
          </p:spPr>
        </p:sp>
        <p:sp>
          <p:nvSpPr>
            <p:cNvPr id="85002" name="Line 10"/>
            <p:cNvSpPr/>
            <p:nvPr/>
          </p:nvSpPr>
          <p:spPr>
            <a:xfrm>
              <a:off x="3920" y="2326"/>
              <a:ext cx="912" cy="877"/>
            </a:xfrm>
            <a:prstGeom prst="line">
              <a:avLst/>
            </a:prstGeom>
            <a:ln w="28575" cap="flat" cmpd="sng">
              <a:solidFill>
                <a:srgbClr val="006666"/>
              </a:solidFill>
              <a:prstDash val="solid"/>
              <a:round/>
              <a:headEnd type="none" w="med" len="med"/>
              <a:tailEnd type="none" w="med" len="med"/>
            </a:ln>
          </p:spPr>
        </p:sp>
        <p:sp>
          <p:nvSpPr>
            <p:cNvPr id="85003" name="Rectangle 11"/>
            <p:cNvSpPr/>
            <p:nvPr/>
          </p:nvSpPr>
          <p:spPr>
            <a:xfrm>
              <a:off x="4784" y="3203"/>
              <a:ext cx="240" cy="626"/>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5004" name="Line 12"/>
            <p:cNvSpPr/>
            <p:nvPr/>
          </p:nvSpPr>
          <p:spPr>
            <a:xfrm flipH="1">
              <a:off x="3920" y="2660"/>
              <a:ext cx="240" cy="292"/>
            </a:xfrm>
            <a:prstGeom prst="line">
              <a:avLst/>
            </a:prstGeom>
            <a:ln w="28575" cap="flat" cmpd="sng">
              <a:solidFill>
                <a:srgbClr val="006666"/>
              </a:solidFill>
              <a:prstDash val="solid"/>
              <a:round/>
              <a:headEnd type="none" w="med" len="med"/>
              <a:tailEnd type="none" w="med" len="med"/>
            </a:ln>
          </p:spPr>
        </p:sp>
        <p:sp>
          <p:nvSpPr>
            <p:cNvPr id="85005" name="Oval 13"/>
            <p:cNvSpPr/>
            <p:nvPr/>
          </p:nvSpPr>
          <p:spPr>
            <a:xfrm>
              <a:off x="4112" y="2493"/>
              <a:ext cx="240" cy="209"/>
            </a:xfrm>
            <a:prstGeom prst="ellipse">
              <a:avLst/>
            </a:prstGeom>
            <a:solidFill>
              <a:srgbClr val="FF7C80"/>
            </a:solidFill>
            <a:ln w="28575" cap="flat" cmpd="sng">
              <a:solidFill>
                <a:srgbClr val="FF7C80"/>
              </a:solidFill>
              <a:prstDash val="solid"/>
              <a:round/>
              <a:headEnd type="none" w="med" len="med"/>
              <a:tailEnd type="none" w="med" len="med"/>
            </a:ln>
          </p:spPr>
          <p:txBody>
            <a:bodyPr wrap="none" anchor="ctr" anchorCtr="0"/>
            <a:lstStyle/>
            <a:p>
              <a:pPr algn="ctr"/>
              <a:endParaRPr lang="zh-CN" altLang="zh-CN" sz="2400" dirty="0">
                <a:latin typeface="Tahoma" panose="020B0604030504040204" charset="0"/>
                <a:ea typeface="宋体" panose="02010600030101010101" pitchFamily="2" charset="-122"/>
              </a:endParaRPr>
            </a:p>
          </p:txBody>
        </p:sp>
        <p:sp>
          <p:nvSpPr>
            <p:cNvPr id="85006" name="Oval 14"/>
            <p:cNvSpPr/>
            <p:nvPr/>
          </p:nvSpPr>
          <p:spPr>
            <a:xfrm>
              <a:off x="3776" y="2159"/>
              <a:ext cx="240"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pPr algn="ctr"/>
              <a:endParaRPr lang="zh-CN" altLang="zh-CN" sz="2400" dirty="0">
                <a:latin typeface="Tahoma" panose="020B0604030504040204" charset="0"/>
                <a:ea typeface="宋体" panose="02010600030101010101" pitchFamily="2" charset="-122"/>
              </a:endParaRPr>
            </a:p>
          </p:txBody>
        </p:sp>
        <p:sp>
          <p:nvSpPr>
            <p:cNvPr id="85007" name="Rectangle 15"/>
            <p:cNvSpPr/>
            <p:nvPr/>
          </p:nvSpPr>
          <p:spPr>
            <a:xfrm>
              <a:off x="3344" y="2619"/>
              <a:ext cx="240" cy="626"/>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5008" name="Text Box 16"/>
            <p:cNvSpPr txBox="1"/>
            <p:nvPr/>
          </p:nvSpPr>
          <p:spPr>
            <a:xfrm>
              <a:off x="4003" y="2029"/>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85009" name="Text Box 17"/>
            <p:cNvSpPr txBox="1"/>
            <p:nvPr/>
          </p:nvSpPr>
          <p:spPr>
            <a:xfrm>
              <a:off x="4579" y="2722"/>
              <a:ext cx="2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5010" name="Text Box 18"/>
            <p:cNvSpPr txBox="1"/>
            <p:nvPr/>
          </p:nvSpPr>
          <p:spPr>
            <a:xfrm>
              <a:off x="4832" y="2917"/>
              <a:ext cx="33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85011" name="Rectangle 19"/>
            <p:cNvSpPr/>
            <p:nvPr/>
          </p:nvSpPr>
          <p:spPr>
            <a:xfrm>
              <a:off x="4208" y="3203"/>
              <a:ext cx="240" cy="626"/>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944148" name="Text Box 20"/>
            <p:cNvSpPr txBox="1">
              <a:spLocks noChangeArrowheads="1"/>
            </p:cNvSpPr>
            <p:nvPr/>
          </p:nvSpPr>
          <p:spPr bwMode="auto">
            <a:xfrm>
              <a:off x="4064" y="2243"/>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t>-</a:t>
              </a: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sp>
          <p:nvSpPr>
            <p:cNvPr id="85013" name="Oval 21"/>
            <p:cNvSpPr/>
            <p:nvPr/>
          </p:nvSpPr>
          <p:spPr>
            <a:xfrm>
              <a:off x="4400" y="2827"/>
              <a:ext cx="240"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pPr algn="ctr"/>
              <a:endParaRPr lang="zh-CN" altLang="zh-CN" sz="2400" dirty="0">
                <a:latin typeface="Tahoma" panose="020B0604030504040204" charset="0"/>
                <a:ea typeface="宋体" panose="02010600030101010101" pitchFamily="2" charset="-122"/>
              </a:endParaRPr>
            </a:p>
          </p:txBody>
        </p:sp>
        <p:sp>
          <p:nvSpPr>
            <p:cNvPr id="85014" name="Rectangle 22"/>
            <p:cNvSpPr/>
            <p:nvPr/>
          </p:nvSpPr>
          <p:spPr>
            <a:xfrm>
              <a:off x="3824" y="2911"/>
              <a:ext cx="240" cy="459"/>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5015" name="Text Box 23"/>
            <p:cNvSpPr txBox="1"/>
            <p:nvPr/>
          </p:nvSpPr>
          <p:spPr>
            <a:xfrm>
              <a:off x="3641" y="3014"/>
              <a:ext cx="195" cy="290"/>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85016" name="Text Box 24"/>
            <p:cNvSpPr txBox="1"/>
            <p:nvPr/>
          </p:nvSpPr>
          <p:spPr>
            <a:xfrm>
              <a:off x="4208" y="3225"/>
              <a:ext cx="225" cy="615"/>
            </a:xfrm>
            <a:prstGeom prst="rect">
              <a:avLst/>
            </a:prstGeom>
            <a:noFill/>
            <a:ln w="9525">
              <a:noFill/>
            </a:ln>
          </p:spPr>
          <p:txBody>
            <a:bodyPr wrap="none" anchor="t" anchorCtr="0">
              <a:spAutoFit/>
            </a:bodyPr>
            <a:lstStyle/>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h</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1</a:t>
              </a:r>
              <a:endParaRPr lang="en-US" altLang="zh-CN" sz="2400" dirty="0">
                <a:latin typeface="Times New Roman" panose="02020603050405020304" pitchFamily="18" charset="0"/>
                <a:ea typeface="宋体" panose="02010600030101010101" pitchFamily="2" charset="-122"/>
              </a:endParaRPr>
            </a:p>
          </p:txBody>
        </p:sp>
        <p:sp>
          <p:nvSpPr>
            <p:cNvPr id="85017" name="Text Box 25"/>
            <p:cNvSpPr txBox="1"/>
            <p:nvPr/>
          </p:nvSpPr>
          <p:spPr>
            <a:xfrm>
              <a:off x="3152" y="2341"/>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5018" name="Text Box 26"/>
            <p:cNvSpPr txBox="1"/>
            <p:nvPr/>
          </p:nvSpPr>
          <p:spPr>
            <a:xfrm>
              <a:off x="3584" y="2581"/>
              <a:ext cx="414" cy="290"/>
            </a:xfrm>
            <a:prstGeom prst="rect">
              <a:avLst/>
            </a:prstGeom>
            <a:noFill/>
            <a:ln w="9525">
              <a:noFill/>
            </a:ln>
          </p:spPr>
          <p:txBody>
            <a:bodyPr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5019" name="Text Box 27"/>
            <p:cNvSpPr txBox="1"/>
            <p:nvPr/>
          </p:nvSpPr>
          <p:spPr>
            <a:xfrm>
              <a:off x="4064" y="2917"/>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85020" name="Text Box 28"/>
            <p:cNvSpPr txBox="1"/>
            <p:nvPr/>
          </p:nvSpPr>
          <p:spPr>
            <a:xfrm>
              <a:off x="4304" y="2388"/>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grpSp>
      <p:grpSp>
        <p:nvGrpSpPr>
          <p:cNvPr id="85021" name="Group 29"/>
          <p:cNvGrpSpPr/>
          <p:nvPr/>
        </p:nvGrpSpPr>
        <p:grpSpPr>
          <a:xfrm>
            <a:off x="304165" y="3001010"/>
            <a:ext cx="3348355" cy="2971800"/>
            <a:chOff x="192" y="2403"/>
            <a:chExt cx="2109" cy="1872"/>
          </a:xfrm>
        </p:grpSpPr>
        <p:sp>
          <p:nvSpPr>
            <p:cNvPr id="85022" name="Line 30"/>
            <p:cNvSpPr/>
            <p:nvPr/>
          </p:nvSpPr>
          <p:spPr>
            <a:xfrm flipH="1">
              <a:off x="912" y="3380"/>
              <a:ext cx="240" cy="285"/>
            </a:xfrm>
            <a:prstGeom prst="line">
              <a:avLst/>
            </a:prstGeom>
            <a:ln w="38100" cap="flat" cmpd="sng">
              <a:solidFill>
                <a:srgbClr val="006666"/>
              </a:solidFill>
              <a:prstDash val="solid"/>
              <a:round/>
              <a:headEnd type="none" w="med" len="med"/>
              <a:tailEnd type="none" w="med" len="med"/>
            </a:ln>
          </p:spPr>
        </p:sp>
        <p:sp>
          <p:nvSpPr>
            <p:cNvPr id="944159" name="Text Box 31"/>
            <p:cNvSpPr txBox="1">
              <a:spLocks noChangeArrowheads="1"/>
            </p:cNvSpPr>
            <p:nvPr/>
          </p:nvSpPr>
          <p:spPr bwMode="auto">
            <a:xfrm>
              <a:off x="1296" y="2729"/>
              <a:ext cx="321"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44160" name="Text Box 32"/>
            <p:cNvSpPr txBox="1">
              <a:spLocks noChangeArrowheads="1"/>
            </p:cNvSpPr>
            <p:nvPr/>
          </p:nvSpPr>
          <p:spPr bwMode="auto">
            <a:xfrm>
              <a:off x="975" y="2403"/>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sp>
          <p:nvSpPr>
            <p:cNvPr id="944161" name="Text Box 33"/>
            <p:cNvSpPr txBox="1">
              <a:spLocks noChangeArrowheads="1"/>
            </p:cNvSpPr>
            <p:nvPr/>
          </p:nvSpPr>
          <p:spPr bwMode="auto">
            <a:xfrm>
              <a:off x="1036" y="3013"/>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44162" name="Text Box 34"/>
            <p:cNvSpPr txBox="1">
              <a:spLocks noChangeArrowheads="1"/>
            </p:cNvSpPr>
            <p:nvPr/>
          </p:nvSpPr>
          <p:spPr bwMode="auto">
            <a:xfrm>
              <a:off x="480" y="2838"/>
              <a:ext cx="195" cy="290"/>
            </a:xfrm>
            <a:prstGeom prst="rect">
              <a:avLst/>
            </a:prstGeom>
            <a:noFill/>
            <a:ln w="9525">
              <a:noFill/>
              <a:miter lim="800000"/>
            </a:ln>
            <a:effectLst/>
          </p:spPr>
          <p:txBody>
            <a:bodyPr wrap="none">
              <a:spAutoFit/>
            </a:bodyPr>
            <a:lstStyle/>
            <a:p>
              <a:pPr marR="0" defTabSz="914400">
                <a:buClrTx/>
                <a:buSzTx/>
                <a:buFontTx/>
                <a:buNone/>
                <a:defRPr/>
              </a:pPr>
              <a:endParaRPr kumimoji="0" lang="zh-CN"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85027" name="Line 35"/>
            <p:cNvSpPr/>
            <p:nvPr/>
          </p:nvSpPr>
          <p:spPr>
            <a:xfrm>
              <a:off x="1200" y="3421"/>
              <a:ext cx="192" cy="203"/>
            </a:xfrm>
            <a:prstGeom prst="line">
              <a:avLst/>
            </a:prstGeom>
            <a:ln w="38100" cap="flat" cmpd="sng">
              <a:solidFill>
                <a:srgbClr val="006666"/>
              </a:solidFill>
              <a:prstDash val="solid"/>
              <a:round/>
              <a:headEnd type="none" w="med" len="med"/>
              <a:tailEnd type="none" w="med" len="med"/>
            </a:ln>
          </p:spPr>
        </p:sp>
        <p:sp>
          <p:nvSpPr>
            <p:cNvPr id="944164" name="Text Box 36"/>
            <p:cNvSpPr txBox="1">
              <a:spLocks noChangeArrowheads="1"/>
            </p:cNvSpPr>
            <p:nvPr/>
          </p:nvSpPr>
          <p:spPr bwMode="auto">
            <a:xfrm>
              <a:off x="1779" y="3164"/>
              <a:ext cx="195" cy="290"/>
            </a:xfrm>
            <a:prstGeom prst="rect">
              <a:avLst/>
            </a:prstGeom>
            <a:noFill/>
            <a:ln w="9525">
              <a:noFill/>
              <a:miter lim="800000"/>
            </a:ln>
            <a:effectLst/>
          </p:spPr>
          <p:txBody>
            <a:bodyPr wrap="none">
              <a:spAutoFit/>
            </a:bodyPr>
            <a:lstStyle/>
            <a:p>
              <a:pPr marR="0" defTabSz="914400">
                <a:buClrTx/>
                <a:buSzTx/>
                <a:buFontTx/>
                <a:buNone/>
                <a:defRPr/>
              </a:pPr>
              <a:endParaRPr kumimoji="0" lang="zh-CN"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85029" name="Line 37"/>
            <p:cNvSpPr/>
            <p:nvPr/>
          </p:nvSpPr>
          <p:spPr>
            <a:xfrm flipH="1">
              <a:off x="576" y="2810"/>
              <a:ext cx="432" cy="367"/>
            </a:xfrm>
            <a:prstGeom prst="line">
              <a:avLst/>
            </a:prstGeom>
            <a:ln w="28575" cap="flat" cmpd="sng">
              <a:solidFill>
                <a:srgbClr val="006666"/>
              </a:solidFill>
              <a:prstDash val="solid"/>
              <a:round/>
              <a:headEnd type="none" w="med" len="med"/>
              <a:tailEnd type="none" w="med" len="med"/>
            </a:ln>
          </p:spPr>
        </p:sp>
        <p:sp>
          <p:nvSpPr>
            <p:cNvPr id="85030" name="Line 38"/>
            <p:cNvSpPr/>
            <p:nvPr/>
          </p:nvSpPr>
          <p:spPr>
            <a:xfrm>
              <a:off x="1488" y="3123"/>
              <a:ext cx="336" cy="338"/>
            </a:xfrm>
            <a:prstGeom prst="line">
              <a:avLst/>
            </a:prstGeom>
            <a:ln w="28575" cap="flat" cmpd="sng">
              <a:solidFill>
                <a:srgbClr val="006666"/>
              </a:solidFill>
              <a:prstDash val="solid"/>
              <a:round/>
              <a:headEnd type="none" w="med" len="med"/>
              <a:tailEnd type="none" w="med" len="med"/>
            </a:ln>
          </p:spPr>
        </p:sp>
        <p:sp>
          <p:nvSpPr>
            <p:cNvPr id="85031" name="Rectangle 39"/>
            <p:cNvSpPr/>
            <p:nvPr/>
          </p:nvSpPr>
          <p:spPr>
            <a:xfrm>
              <a:off x="480" y="3095"/>
              <a:ext cx="240" cy="61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5032" name="Line 40"/>
            <p:cNvSpPr/>
            <p:nvPr/>
          </p:nvSpPr>
          <p:spPr>
            <a:xfrm flipH="1">
              <a:off x="1152" y="3136"/>
              <a:ext cx="205" cy="244"/>
            </a:xfrm>
            <a:prstGeom prst="line">
              <a:avLst/>
            </a:prstGeom>
            <a:ln w="28575" cap="flat" cmpd="sng">
              <a:solidFill>
                <a:schemeClr val="hlink"/>
              </a:solidFill>
              <a:prstDash val="solid"/>
              <a:round/>
              <a:headEnd type="none" w="med" len="med"/>
              <a:tailEnd type="none" w="med" len="med"/>
            </a:ln>
          </p:spPr>
        </p:sp>
        <p:sp>
          <p:nvSpPr>
            <p:cNvPr id="85033" name="Rectangle 41"/>
            <p:cNvSpPr/>
            <p:nvPr/>
          </p:nvSpPr>
          <p:spPr>
            <a:xfrm>
              <a:off x="1824" y="3428"/>
              <a:ext cx="240" cy="651"/>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r>
                <a:rPr lang="en-US" altLang="zh-CN" sz="2400" b="1" i="1" dirty="0">
                  <a:solidFill>
                    <a:srgbClr val="006666"/>
                  </a:solidFill>
                  <a:latin typeface="Times New Roman" panose="02020603050405020304" pitchFamily="18" charset="0"/>
                  <a:ea typeface="宋体" panose="02010600030101010101" pitchFamily="2" charset="-122"/>
                </a:rPr>
                <a:t>h</a:t>
              </a: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5034" name="Text Box 42"/>
            <p:cNvSpPr txBox="1"/>
            <p:nvPr/>
          </p:nvSpPr>
          <p:spPr>
            <a:xfrm>
              <a:off x="1187" y="2501"/>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85035" name="Text Box 43"/>
            <p:cNvSpPr txBox="1"/>
            <p:nvPr/>
          </p:nvSpPr>
          <p:spPr>
            <a:xfrm>
              <a:off x="1523" y="2867"/>
              <a:ext cx="2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5036" name="Rectangle 44"/>
            <p:cNvSpPr/>
            <p:nvPr/>
          </p:nvSpPr>
          <p:spPr>
            <a:xfrm>
              <a:off x="816" y="3624"/>
              <a:ext cx="240" cy="44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5037" name="Rectangle 45"/>
            <p:cNvSpPr/>
            <p:nvPr/>
          </p:nvSpPr>
          <p:spPr>
            <a:xfrm>
              <a:off x="1296" y="3624"/>
              <a:ext cx="240" cy="651"/>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5038" name="Text Box 46"/>
            <p:cNvSpPr txBox="1"/>
            <p:nvPr/>
          </p:nvSpPr>
          <p:spPr>
            <a:xfrm>
              <a:off x="1303" y="3660"/>
              <a:ext cx="225" cy="615"/>
            </a:xfrm>
            <a:prstGeom prst="rect">
              <a:avLst/>
            </a:prstGeom>
            <a:noFill/>
            <a:ln w="9525">
              <a:noFill/>
            </a:ln>
          </p:spPr>
          <p:txBody>
            <a:bodyPr wrap="none" anchor="t" anchorCtr="0">
              <a:spAutoFit/>
            </a:bodyPr>
            <a:lstStyle/>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h</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1</a:t>
              </a:r>
              <a:endParaRPr lang="en-US" altLang="zh-CN" sz="2400" dirty="0">
                <a:latin typeface="Times New Roman" panose="02020603050405020304" pitchFamily="18" charset="0"/>
                <a:ea typeface="宋体" panose="02010600030101010101" pitchFamily="2" charset="-122"/>
              </a:endParaRPr>
            </a:p>
          </p:txBody>
        </p:sp>
        <p:sp>
          <p:nvSpPr>
            <p:cNvPr id="85039" name="Text Box 47"/>
            <p:cNvSpPr txBox="1"/>
            <p:nvPr/>
          </p:nvSpPr>
          <p:spPr>
            <a:xfrm>
              <a:off x="192" y="2867"/>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5040" name="Text Box 48"/>
            <p:cNvSpPr txBox="1"/>
            <p:nvPr/>
          </p:nvSpPr>
          <p:spPr>
            <a:xfrm>
              <a:off x="693" y="3367"/>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5041" name="Text Box 49"/>
            <p:cNvSpPr txBox="1"/>
            <p:nvPr/>
          </p:nvSpPr>
          <p:spPr>
            <a:xfrm>
              <a:off x="1344" y="3397"/>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85042" name="Text Box 50"/>
            <p:cNvSpPr txBox="1"/>
            <p:nvPr/>
          </p:nvSpPr>
          <p:spPr>
            <a:xfrm>
              <a:off x="768" y="3697"/>
              <a:ext cx="195" cy="290"/>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85043" name="Oval 51"/>
            <p:cNvSpPr/>
            <p:nvPr/>
          </p:nvSpPr>
          <p:spPr>
            <a:xfrm>
              <a:off x="1056" y="3257"/>
              <a:ext cx="240" cy="204"/>
            </a:xfrm>
            <a:prstGeom prst="ellipse">
              <a:avLst/>
            </a:prstGeom>
            <a:solidFill>
              <a:srgbClr val="FF7C80"/>
            </a:solidFill>
            <a:ln w="28575" cap="flat" cmpd="sng">
              <a:solidFill>
                <a:srgbClr val="FF7C80"/>
              </a:solidFill>
              <a:prstDash val="solid"/>
              <a:round/>
              <a:headEnd type="none" w="med" len="med"/>
              <a:tailEnd type="none" w="med" len="med"/>
            </a:ln>
          </p:spPr>
          <p:txBody>
            <a:bodyPr wrap="none" anchor="ctr" anchorCtr="0"/>
            <a:lstStyle/>
            <a:p>
              <a:pPr algn="ctr"/>
              <a:endParaRPr lang="zh-CN" altLang="zh-CN" sz="2400" dirty="0">
                <a:solidFill>
                  <a:schemeClr val="tx2"/>
                </a:solidFill>
                <a:latin typeface="Times New Roman" panose="02020603050405020304" pitchFamily="18" charset="0"/>
                <a:ea typeface="宋体" panose="02010600030101010101" pitchFamily="2" charset="-122"/>
              </a:endParaRPr>
            </a:p>
          </p:txBody>
        </p:sp>
        <p:sp>
          <p:nvSpPr>
            <p:cNvPr id="85044" name="Text Box 52"/>
            <p:cNvSpPr txBox="1"/>
            <p:nvPr/>
          </p:nvSpPr>
          <p:spPr>
            <a:xfrm>
              <a:off x="803" y="3112"/>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5045" name="Line 53"/>
            <p:cNvSpPr/>
            <p:nvPr/>
          </p:nvSpPr>
          <p:spPr>
            <a:xfrm>
              <a:off x="1152" y="2832"/>
              <a:ext cx="240" cy="240"/>
            </a:xfrm>
            <a:prstGeom prst="line">
              <a:avLst/>
            </a:prstGeom>
            <a:ln w="28575" cap="flat" cmpd="sng">
              <a:solidFill>
                <a:schemeClr val="hlink"/>
              </a:solidFill>
              <a:prstDash val="solid"/>
              <a:round/>
              <a:headEnd type="none" w="med" len="med"/>
              <a:tailEnd type="none" w="med" len="med"/>
            </a:ln>
          </p:spPr>
        </p:sp>
        <p:sp>
          <p:nvSpPr>
            <p:cNvPr id="85046" name="Oval 54"/>
            <p:cNvSpPr/>
            <p:nvPr/>
          </p:nvSpPr>
          <p:spPr>
            <a:xfrm>
              <a:off x="973" y="2692"/>
              <a:ext cx="240" cy="204"/>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5047" name="Oval 55"/>
            <p:cNvSpPr/>
            <p:nvPr/>
          </p:nvSpPr>
          <p:spPr>
            <a:xfrm>
              <a:off x="1296" y="3018"/>
              <a:ext cx="240" cy="204"/>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5048" name="Text Box 56"/>
            <p:cNvSpPr txBox="1"/>
            <p:nvPr/>
          </p:nvSpPr>
          <p:spPr>
            <a:xfrm>
              <a:off x="1968" y="3168"/>
              <a:ext cx="33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grpSp>
      <p:grpSp>
        <p:nvGrpSpPr>
          <p:cNvPr id="86045" name="Group 29"/>
          <p:cNvGrpSpPr/>
          <p:nvPr/>
        </p:nvGrpSpPr>
        <p:grpSpPr>
          <a:xfrm>
            <a:off x="8040370" y="2985770"/>
            <a:ext cx="3119755" cy="2667000"/>
            <a:chOff x="3168" y="2496"/>
            <a:chExt cx="1965" cy="1680"/>
          </a:xfrm>
        </p:grpSpPr>
        <p:sp>
          <p:nvSpPr>
            <p:cNvPr id="86046" name="Line 30"/>
            <p:cNvSpPr/>
            <p:nvPr/>
          </p:nvSpPr>
          <p:spPr>
            <a:xfrm flipH="1">
              <a:off x="4319" y="3255"/>
              <a:ext cx="144" cy="335"/>
            </a:xfrm>
            <a:prstGeom prst="line">
              <a:avLst/>
            </a:prstGeom>
            <a:ln w="38100" cap="flat" cmpd="sng">
              <a:solidFill>
                <a:srgbClr val="006666"/>
              </a:solidFill>
              <a:prstDash val="solid"/>
              <a:round/>
              <a:headEnd type="none" w="med" len="med"/>
              <a:tailEnd type="none" w="med" len="med"/>
            </a:ln>
          </p:spPr>
        </p:sp>
        <p:sp>
          <p:nvSpPr>
            <p:cNvPr id="945183" name="Text Box 31"/>
            <p:cNvSpPr txBox="1">
              <a:spLocks noChangeArrowheads="1"/>
            </p:cNvSpPr>
            <p:nvPr/>
          </p:nvSpPr>
          <p:spPr bwMode="auto">
            <a:xfrm>
              <a:off x="4175" y="2575"/>
              <a:ext cx="212"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0</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45184" name="Text Box 32"/>
            <p:cNvSpPr txBox="1">
              <a:spLocks noChangeArrowheads="1"/>
            </p:cNvSpPr>
            <p:nvPr/>
          </p:nvSpPr>
          <p:spPr bwMode="auto">
            <a:xfrm>
              <a:off x="3614" y="2837"/>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45185" name="Text Box 33"/>
            <p:cNvSpPr txBox="1">
              <a:spLocks noChangeArrowheads="1"/>
            </p:cNvSpPr>
            <p:nvPr/>
          </p:nvSpPr>
          <p:spPr bwMode="auto">
            <a:xfrm>
              <a:off x="4395" y="2837"/>
              <a:ext cx="211" cy="290"/>
            </a:xfrm>
            <a:prstGeom prst="rect">
              <a:avLst/>
            </a:prstGeom>
            <a:noFill/>
            <a:ln w="9525">
              <a:noFill/>
              <a:miter lim="800000"/>
            </a:ln>
            <a:effectLst/>
          </p:spPr>
          <p:txBody>
            <a:bodyPr wrap="none">
              <a:spAutoFit/>
            </a:bodyPr>
            <a:lstStyle/>
            <a:p>
              <a:r>
                <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86050" name="Line 34"/>
            <p:cNvSpPr/>
            <p:nvPr/>
          </p:nvSpPr>
          <p:spPr>
            <a:xfrm>
              <a:off x="4175" y="2921"/>
              <a:ext cx="672" cy="585"/>
            </a:xfrm>
            <a:prstGeom prst="line">
              <a:avLst/>
            </a:prstGeom>
            <a:ln w="28575" cap="flat" cmpd="sng">
              <a:solidFill>
                <a:srgbClr val="006666"/>
              </a:solidFill>
              <a:prstDash val="solid"/>
              <a:round/>
              <a:headEnd type="none" w="med" len="med"/>
              <a:tailEnd type="none" w="med" len="med"/>
            </a:ln>
          </p:spPr>
        </p:sp>
        <p:sp>
          <p:nvSpPr>
            <p:cNvPr id="86051" name="Line 35"/>
            <p:cNvSpPr/>
            <p:nvPr/>
          </p:nvSpPr>
          <p:spPr>
            <a:xfrm flipH="1">
              <a:off x="3359" y="2921"/>
              <a:ext cx="672" cy="669"/>
            </a:xfrm>
            <a:prstGeom prst="line">
              <a:avLst/>
            </a:prstGeom>
            <a:ln w="28575" cap="flat" cmpd="sng">
              <a:solidFill>
                <a:srgbClr val="006666"/>
              </a:solidFill>
              <a:prstDash val="solid"/>
              <a:round/>
              <a:headEnd type="none" w="med" len="med"/>
              <a:tailEnd type="none" w="med" len="med"/>
            </a:ln>
          </p:spPr>
        </p:sp>
        <p:sp>
          <p:nvSpPr>
            <p:cNvPr id="86052" name="Rectangle 36"/>
            <p:cNvSpPr/>
            <p:nvPr/>
          </p:nvSpPr>
          <p:spPr>
            <a:xfrm>
              <a:off x="4751" y="3506"/>
              <a:ext cx="240" cy="67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86053" name="Line 37"/>
            <p:cNvSpPr/>
            <p:nvPr/>
          </p:nvSpPr>
          <p:spPr>
            <a:xfrm>
              <a:off x="3791" y="3255"/>
              <a:ext cx="192" cy="293"/>
            </a:xfrm>
            <a:prstGeom prst="line">
              <a:avLst/>
            </a:prstGeom>
            <a:ln w="38100" cap="flat" cmpd="sng">
              <a:solidFill>
                <a:srgbClr val="006666"/>
              </a:solidFill>
              <a:prstDash val="solid"/>
              <a:round/>
              <a:headEnd type="none" w="med" len="med"/>
              <a:tailEnd type="none" w="med" len="med"/>
            </a:ln>
          </p:spPr>
        </p:sp>
        <p:sp>
          <p:nvSpPr>
            <p:cNvPr id="86054" name="Oval 38"/>
            <p:cNvSpPr/>
            <p:nvPr/>
          </p:nvSpPr>
          <p:spPr>
            <a:xfrm>
              <a:off x="3647" y="3088"/>
              <a:ext cx="240"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6055" name="Oval 39"/>
            <p:cNvSpPr/>
            <p:nvPr/>
          </p:nvSpPr>
          <p:spPr>
            <a:xfrm>
              <a:off x="3983" y="2753"/>
              <a:ext cx="240" cy="209"/>
            </a:xfrm>
            <a:prstGeom prst="ellipse">
              <a:avLst/>
            </a:prstGeom>
            <a:solidFill>
              <a:srgbClr val="FF7C80"/>
            </a:solidFill>
            <a:ln w="28575" cap="flat" cmpd="sng">
              <a:solidFill>
                <a:srgbClr val="FF7C8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6056" name="Rectangle 40"/>
            <p:cNvSpPr/>
            <p:nvPr/>
          </p:nvSpPr>
          <p:spPr>
            <a:xfrm>
              <a:off x="3263" y="3506"/>
              <a:ext cx="240" cy="67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r>
                <a:rPr lang="en-US" altLang="zh-CN" sz="2400" b="1" i="1" dirty="0">
                  <a:solidFill>
                    <a:schemeClr val="bg2"/>
                  </a:solidFill>
                  <a:latin typeface="Times New Roman" panose="02020603050405020304" pitchFamily="18" charset="0"/>
                  <a:ea typeface="宋体" panose="02010600030101010101" pitchFamily="2" charset="-122"/>
                </a:rPr>
                <a:t>…</a:t>
              </a:r>
            </a:p>
          </p:txBody>
        </p:sp>
        <p:sp>
          <p:nvSpPr>
            <p:cNvPr id="86057" name="Text Box 41"/>
            <p:cNvSpPr txBox="1"/>
            <p:nvPr/>
          </p:nvSpPr>
          <p:spPr>
            <a:xfrm>
              <a:off x="3359" y="2983"/>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86058" name="Rectangle 42"/>
            <p:cNvSpPr/>
            <p:nvPr/>
          </p:nvSpPr>
          <p:spPr>
            <a:xfrm>
              <a:off x="4223" y="3506"/>
              <a:ext cx="240" cy="670"/>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6059" name="Oval 43"/>
            <p:cNvSpPr/>
            <p:nvPr/>
          </p:nvSpPr>
          <p:spPr>
            <a:xfrm>
              <a:off x="4367" y="3088"/>
              <a:ext cx="240"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6060" name="Rectangle 44"/>
            <p:cNvSpPr/>
            <p:nvPr/>
          </p:nvSpPr>
          <p:spPr>
            <a:xfrm>
              <a:off x="3839" y="3506"/>
              <a:ext cx="240" cy="461"/>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86061" name="Text Box 45"/>
            <p:cNvSpPr txBox="1"/>
            <p:nvPr/>
          </p:nvSpPr>
          <p:spPr>
            <a:xfrm>
              <a:off x="3647" y="3652"/>
              <a:ext cx="195" cy="290"/>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86062" name="Text Box 46"/>
            <p:cNvSpPr txBox="1"/>
            <p:nvPr/>
          </p:nvSpPr>
          <p:spPr>
            <a:xfrm>
              <a:off x="4230" y="3549"/>
              <a:ext cx="225" cy="615"/>
            </a:xfrm>
            <a:prstGeom prst="rect">
              <a:avLst/>
            </a:prstGeom>
            <a:noFill/>
            <a:ln w="9525">
              <a:noFill/>
            </a:ln>
          </p:spPr>
          <p:txBody>
            <a:bodyPr wrap="none" anchor="t" anchorCtr="0">
              <a:spAutoFit/>
            </a:bodyPr>
            <a:lstStyle/>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h</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1</a:t>
              </a:r>
              <a:endParaRPr lang="en-US" altLang="zh-CN" sz="2400" dirty="0">
                <a:latin typeface="Times New Roman" panose="02020603050405020304" pitchFamily="18" charset="0"/>
                <a:ea typeface="宋体" panose="02010600030101010101" pitchFamily="2" charset="-122"/>
              </a:endParaRPr>
            </a:p>
          </p:txBody>
        </p:sp>
        <p:sp>
          <p:nvSpPr>
            <p:cNvPr id="86063" name="Text Box 47"/>
            <p:cNvSpPr txBox="1"/>
            <p:nvPr/>
          </p:nvSpPr>
          <p:spPr>
            <a:xfrm>
              <a:off x="4594" y="3025"/>
              <a:ext cx="2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6064" name="Text Box 48"/>
            <p:cNvSpPr txBox="1"/>
            <p:nvPr/>
          </p:nvSpPr>
          <p:spPr>
            <a:xfrm>
              <a:off x="4800" y="3275"/>
              <a:ext cx="33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86065" name="Text Box 49"/>
            <p:cNvSpPr txBox="1"/>
            <p:nvPr/>
          </p:nvSpPr>
          <p:spPr>
            <a:xfrm>
              <a:off x="3936" y="2496"/>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6066" name="Text Box 50"/>
            <p:cNvSpPr txBox="1"/>
            <p:nvPr/>
          </p:nvSpPr>
          <p:spPr>
            <a:xfrm>
              <a:off x="3168" y="3216"/>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6067" name="Text Box 51"/>
            <p:cNvSpPr txBox="1"/>
            <p:nvPr/>
          </p:nvSpPr>
          <p:spPr>
            <a:xfrm>
              <a:off x="3840" y="3216"/>
              <a:ext cx="369" cy="290"/>
            </a:xfrm>
            <a:prstGeom prst="rect">
              <a:avLst/>
            </a:prstGeom>
            <a:noFill/>
            <a:ln w="9525">
              <a:noFill/>
            </a:ln>
          </p:spPr>
          <p:txBody>
            <a:bodyPr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86068" name="Text Box 52"/>
            <p:cNvSpPr txBox="1"/>
            <p:nvPr/>
          </p:nvSpPr>
          <p:spPr>
            <a:xfrm>
              <a:off x="4080" y="3216"/>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endParaRPr lang="en-US" altLang="zh-CN" sz="2400" b="1" dirty="0">
                <a:solidFill>
                  <a:srgbClr val="003399"/>
                </a:solidFill>
                <a:latin typeface="Times New Roman" panose="02020603050405020304" pitchFamily="18" charset="0"/>
                <a:ea typeface="宋体" panose="02010600030101010101" pitchFamily="2" charset="-122"/>
              </a:endParaRPr>
            </a:p>
          </p:txBody>
        </p:sp>
      </p:grpSp>
      <mc:AlternateContent xmlns:mc="http://schemas.openxmlformats.org/markup-compatibility/2006">
        <mc:Choice xmlns:p14="http://schemas.microsoft.com/office/powerpoint/2010/main" Requires="p14">
          <p:contentPart p14:bwMode="auto" r:id="rId2">
            <p14:nvContentPartPr>
              <p14:cNvPr id="5" name="墨迹 4">
                <a:extLst>
                  <a:ext uri="{FF2B5EF4-FFF2-40B4-BE49-F238E27FC236}">
                    <a16:creationId xmlns:a16="http://schemas.microsoft.com/office/drawing/2014/main" id="{92B45205-4867-402B-ACFD-02FAE7EDC876}"/>
                  </a:ext>
                </a:extLst>
              </p14:cNvPr>
              <p14:cNvContentPartPr/>
              <p14:nvPr/>
            </p14:nvContentPartPr>
            <p14:xfrm>
              <a:off x="1467000" y="3276720"/>
              <a:ext cx="8649000" cy="2559240"/>
            </p14:xfrm>
          </p:contentPart>
        </mc:Choice>
        <mc:Fallback>
          <p:pic>
            <p:nvPicPr>
              <p:cNvPr id="5" name="墨迹 4">
                <a:extLst>
                  <a:ext uri="{FF2B5EF4-FFF2-40B4-BE49-F238E27FC236}">
                    <a16:creationId xmlns:a16="http://schemas.microsoft.com/office/drawing/2014/main" id="{92B45205-4867-402B-ACFD-02FAE7EDC876}"/>
                  </a:ext>
                </a:extLst>
              </p:cNvPr>
              <p:cNvPicPr/>
              <p:nvPr/>
            </p:nvPicPr>
            <p:blipFill>
              <a:blip r:embed="rId3"/>
              <a:stretch>
                <a:fillRect/>
              </a:stretch>
            </p:blipFill>
            <p:spPr>
              <a:xfrm>
                <a:off x="1457640" y="3267360"/>
                <a:ext cx="8667720" cy="2577960"/>
              </a:xfrm>
              <a:prstGeom prst="rect">
                <a:avLst/>
              </a:prstGeom>
            </p:spPr>
          </p:pic>
        </mc:Fallback>
      </mc:AlternateContent>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sym typeface="+mn-ea"/>
              </a:rPr>
              <a:t>先右后左双向旋转</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具体操作：</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A变为C左孩子，B变为C右孩子</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C左孩子变为A右孩子，C右孩子变为B左孩子</a:t>
            </a:r>
            <a:endParaRPr lang="zh-CN" altLang="en-US"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77</a:t>
            </a:fld>
            <a:endParaRPr lang="zh-CN" altLang="en-US"/>
          </a:p>
        </p:txBody>
      </p:sp>
      <p:grpSp>
        <p:nvGrpSpPr>
          <p:cNvPr id="5" name="组合 4"/>
          <p:cNvGrpSpPr/>
          <p:nvPr/>
        </p:nvGrpSpPr>
        <p:grpSpPr>
          <a:xfrm>
            <a:off x="1343660" y="2619375"/>
            <a:ext cx="7296150" cy="3030538"/>
            <a:chOff x="3590" y="4153"/>
            <a:chExt cx="11490" cy="4773"/>
          </a:xfrm>
        </p:grpSpPr>
        <p:grpSp>
          <p:nvGrpSpPr>
            <p:cNvPr id="6" name="Group 4"/>
            <p:cNvGrpSpPr/>
            <p:nvPr/>
          </p:nvGrpSpPr>
          <p:grpSpPr>
            <a:xfrm>
              <a:off x="3590" y="4153"/>
              <a:ext cx="11490" cy="4773"/>
              <a:chOff x="476" y="1661"/>
              <a:chExt cx="4596" cy="1909"/>
            </a:xfrm>
          </p:grpSpPr>
          <p:grpSp>
            <p:nvGrpSpPr>
              <p:cNvPr id="7" name="Group 5"/>
              <p:cNvGrpSpPr/>
              <p:nvPr/>
            </p:nvGrpSpPr>
            <p:grpSpPr>
              <a:xfrm>
                <a:off x="3107" y="1706"/>
                <a:ext cx="1965" cy="1680"/>
                <a:chOff x="3168" y="2496"/>
                <a:chExt cx="1965" cy="1680"/>
              </a:xfrm>
            </p:grpSpPr>
            <p:sp>
              <p:nvSpPr>
                <p:cNvPr id="8" name="Line 6"/>
                <p:cNvSpPr/>
                <p:nvPr/>
              </p:nvSpPr>
              <p:spPr>
                <a:xfrm flipH="1">
                  <a:off x="4319" y="3255"/>
                  <a:ext cx="144" cy="335"/>
                </a:xfrm>
                <a:prstGeom prst="line">
                  <a:avLst/>
                </a:prstGeom>
                <a:ln w="38100" cap="flat" cmpd="sng">
                  <a:solidFill>
                    <a:srgbClr val="006666"/>
                  </a:solidFill>
                  <a:prstDash val="solid"/>
                  <a:round/>
                  <a:headEnd type="none" w="med" len="med"/>
                  <a:tailEnd type="none" w="med" len="med"/>
                </a:ln>
              </p:spPr>
            </p:sp>
            <p:sp>
              <p:nvSpPr>
                <p:cNvPr id="9" name="Text Box 7"/>
                <p:cNvSpPr txBox="1">
                  <a:spLocks noChangeArrowheads="1"/>
                </p:cNvSpPr>
                <p:nvPr/>
              </p:nvSpPr>
              <p:spPr bwMode="auto">
                <a:xfrm>
                  <a:off x="4175" y="2575"/>
                  <a:ext cx="212"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0</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10" name="Text Box 8"/>
                <p:cNvSpPr txBox="1">
                  <a:spLocks noChangeArrowheads="1"/>
                </p:cNvSpPr>
                <p:nvPr/>
              </p:nvSpPr>
              <p:spPr bwMode="auto">
                <a:xfrm>
                  <a:off x="3614" y="2837"/>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11" name="Text Box 9"/>
                <p:cNvSpPr txBox="1">
                  <a:spLocks noChangeArrowheads="1"/>
                </p:cNvSpPr>
                <p:nvPr/>
              </p:nvSpPr>
              <p:spPr bwMode="auto">
                <a:xfrm>
                  <a:off x="4395" y="2837"/>
                  <a:ext cx="211" cy="290"/>
                </a:xfrm>
                <a:prstGeom prst="rect">
                  <a:avLst/>
                </a:prstGeom>
                <a:noFill/>
                <a:ln w="9525">
                  <a:noFill/>
                  <a:miter lim="800000"/>
                </a:ln>
                <a:effectLst/>
              </p:spPr>
              <p:txBody>
                <a:bodyPr wrap="none">
                  <a:spAutoFit/>
                </a:bodyPr>
                <a:lstStyle/>
                <a:p>
                  <a:r>
                    <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FF33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12" name="Line 10"/>
                <p:cNvSpPr/>
                <p:nvPr/>
              </p:nvSpPr>
              <p:spPr>
                <a:xfrm>
                  <a:off x="4175" y="2921"/>
                  <a:ext cx="672" cy="585"/>
                </a:xfrm>
                <a:prstGeom prst="line">
                  <a:avLst/>
                </a:prstGeom>
                <a:ln w="28575" cap="flat" cmpd="sng">
                  <a:solidFill>
                    <a:srgbClr val="006666"/>
                  </a:solidFill>
                  <a:prstDash val="solid"/>
                  <a:round/>
                  <a:headEnd type="none" w="med" len="med"/>
                  <a:tailEnd type="none" w="med" len="med"/>
                </a:ln>
              </p:spPr>
            </p:sp>
            <p:sp>
              <p:nvSpPr>
                <p:cNvPr id="13" name="Line 11"/>
                <p:cNvSpPr/>
                <p:nvPr/>
              </p:nvSpPr>
              <p:spPr>
                <a:xfrm flipH="1">
                  <a:off x="3359" y="2921"/>
                  <a:ext cx="672" cy="669"/>
                </a:xfrm>
                <a:prstGeom prst="line">
                  <a:avLst/>
                </a:prstGeom>
                <a:ln w="28575" cap="flat" cmpd="sng">
                  <a:solidFill>
                    <a:srgbClr val="006666"/>
                  </a:solidFill>
                  <a:prstDash val="solid"/>
                  <a:round/>
                  <a:headEnd type="none" w="med" len="med"/>
                  <a:tailEnd type="none" w="med" len="med"/>
                </a:ln>
              </p:spPr>
            </p:sp>
            <p:sp>
              <p:nvSpPr>
                <p:cNvPr id="14" name="Rectangle 12"/>
                <p:cNvSpPr/>
                <p:nvPr/>
              </p:nvSpPr>
              <p:spPr>
                <a:xfrm>
                  <a:off x="4751" y="3506"/>
                  <a:ext cx="240" cy="67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15" name="Line 13"/>
                <p:cNvSpPr/>
                <p:nvPr/>
              </p:nvSpPr>
              <p:spPr>
                <a:xfrm>
                  <a:off x="3791" y="3255"/>
                  <a:ext cx="192" cy="293"/>
                </a:xfrm>
                <a:prstGeom prst="line">
                  <a:avLst/>
                </a:prstGeom>
                <a:ln w="38100" cap="flat" cmpd="sng">
                  <a:solidFill>
                    <a:srgbClr val="006666"/>
                  </a:solidFill>
                  <a:prstDash val="solid"/>
                  <a:round/>
                  <a:headEnd type="none" w="med" len="med"/>
                  <a:tailEnd type="none" w="med" len="med"/>
                </a:ln>
              </p:spPr>
            </p:sp>
            <p:sp>
              <p:nvSpPr>
                <p:cNvPr id="16" name="Oval 14"/>
                <p:cNvSpPr/>
                <p:nvPr/>
              </p:nvSpPr>
              <p:spPr>
                <a:xfrm>
                  <a:off x="3647" y="3088"/>
                  <a:ext cx="240"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 name="Oval 15"/>
                <p:cNvSpPr/>
                <p:nvPr/>
              </p:nvSpPr>
              <p:spPr>
                <a:xfrm>
                  <a:off x="3983" y="2753"/>
                  <a:ext cx="240" cy="209"/>
                </a:xfrm>
                <a:prstGeom prst="ellipse">
                  <a:avLst/>
                </a:prstGeom>
                <a:solidFill>
                  <a:srgbClr val="FF7C80"/>
                </a:solidFill>
                <a:ln w="28575" cap="flat" cmpd="sng">
                  <a:solidFill>
                    <a:srgbClr val="FF7C8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 name="Rectangle 16"/>
                <p:cNvSpPr/>
                <p:nvPr/>
              </p:nvSpPr>
              <p:spPr>
                <a:xfrm>
                  <a:off x="3263" y="3506"/>
                  <a:ext cx="240" cy="67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r>
                    <a:rPr lang="en-US" altLang="zh-CN" sz="2400" b="1" i="1" dirty="0">
                      <a:solidFill>
                        <a:srgbClr val="006666"/>
                      </a:solidFill>
                      <a:latin typeface="Times New Roman" panose="02020603050405020304" pitchFamily="18" charset="0"/>
                      <a:ea typeface="宋体" panose="02010600030101010101" pitchFamily="2" charset="-122"/>
                    </a:rPr>
                    <a:t>….</a:t>
                  </a: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19" name="Text Box 17"/>
                <p:cNvSpPr txBox="1"/>
                <p:nvPr/>
              </p:nvSpPr>
              <p:spPr>
                <a:xfrm>
                  <a:off x="3359" y="2983"/>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20" name="Rectangle 18"/>
                <p:cNvSpPr/>
                <p:nvPr/>
              </p:nvSpPr>
              <p:spPr>
                <a:xfrm>
                  <a:off x="4223" y="3506"/>
                  <a:ext cx="240" cy="670"/>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21" name="Oval 19"/>
                <p:cNvSpPr/>
                <p:nvPr/>
              </p:nvSpPr>
              <p:spPr>
                <a:xfrm>
                  <a:off x="4367" y="3088"/>
                  <a:ext cx="240" cy="209"/>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2" name="Rectangle 20"/>
                <p:cNvSpPr/>
                <p:nvPr/>
              </p:nvSpPr>
              <p:spPr>
                <a:xfrm>
                  <a:off x="3839" y="3506"/>
                  <a:ext cx="240" cy="461"/>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23" name="Text Box 21"/>
                <p:cNvSpPr txBox="1"/>
                <p:nvPr/>
              </p:nvSpPr>
              <p:spPr>
                <a:xfrm>
                  <a:off x="3647" y="3652"/>
                  <a:ext cx="195" cy="290"/>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24" name="Text Box 22"/>
                <p:cNvSpPr txBox="1"/>
                <p:nvPr/>
              </p:nvSpPr>
              <p:spPr>
                <a:xfrm>
                  <a:off x="4231" y="3474"/>
                  <a:ext cx="225" cy="679"/>
                </a:xfrm>
                <a:prstGeom prst="rect">
                  <a:avLst/>
                </a:prstGeom>
                <a:noFill/>
                <a:ln w="9525">
                  <a:noFill/>
                </a:ln>
              </p:spPr>
              <p:txBody>
                <a:bodyPr wrap="none" anchor="t" anchorCtr="0">
                  <a:spAutoFit/>
                </a:bodyPr>
                <a:lstStyle/>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h</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1</a:t>
                  </a:r>
                  <a:endParaRPr lang="en-US" altLang="zh-CN" sz="2400" dirty="0">
                    <a:latin typeface="Times New Roman" panose="02020603050405020304" pitchFamily="18" charset="0"/>
                    <a:ea typeface="宋体" panose="02010600030101010101" pitchFamily="2" charset="-122"/>
                  </a:endParaRPr>
                </a:p>
              </p:txBody>
            </p:sp>
            <p:sp>
              <p:nvSpPr>
                <p:cNvPr id="25" name="Text Box 23"/>
                <p:cNvSpPr txBox="1"/>
                <p:nvPr/>
              </p:nvSpPr>
              <p:spPr>
                <a:xfrm>
                  <a:off x="4594" y="3025"/>
                  <a:ext cx="2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26" name="Text Box 24"/>
                <p:cNvSpPr txBox="1"/>
                <p:nvPr/>
              </p:nvSpPr>
              <p:spPr>
                <a:xfrm>
                  <a:off x="4800" y="3275"/>
                  <a:ext cx="33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27" name="Text Box 25"/>
                <p:cNvSpPr txBox="1"/>
                <p:nvPr/>
              </p:nvSpPr>
              <p:spPr>
                <a:xfrm>
                  <a:off x="3936" y="2496"/>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28" name="Text Box 26"/>
                <p:cNvSpPr txBox="1"/>
                <p:nvPr/>
              </p:nvSpPr>
              <p:spPr>
                <a:xfrm>
                  <a:off x="3168" y="3216"/>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29" name="Text Box 27"/>
                <p:cNvSpPr txBox="1"/>
                <p:nvPr/>
              </p:nvSpPr>
              <p:spPr>
                <a:xfrm>
                  <a:off x="3840" y="3216"/>
                  <a:ext cx="369" cy="290"/>
                </a:xfrm>
                <a:prstGeom prst="rect">
                  <a:avLst/>
                </a:prstGeom>
                <a:noFill/>
                <a:ln w="9525">
                  <a:noFill/>
                </a:ln>
              </p:spPr>
              <p:txBody>
                <a:bodyPr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30" name="Text Box 28"/>
                <p:cNvSpPr txBox="1"/>
                <p:nvPr/>
              </p:nvSpPr>
              <p:spPr>
                <a:xfrm>
                  <a:off x="4080" y="3216"/>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endParaRPr lang="en-US" altLang="zh-CN" sz="2400" b="1" dirty="0">
                    <a:solidFill>
                      <a:srgbClr val="003399"/>
                    </a:solidFill>
                    <a:latin typeface="Times New Roman" panose="02020603050405020304" pitchFamily="18" charset="0"/>
                    <a:ea typeface="宋体" panose="02010600030101010101" pitchFamily="2" charset="-122"/>
                  </a:endParaRPr>
                </a:p>
              </p:txBody>
            </p:sp>
          </p:grpSp>
          <p:grpSp>
            <p:nvGrpSpPr>
              <p:cNvPr id="31" name="Group 29"/>
              <p:cNvGrpSpPr/>
              <p:nvPr/>
            </p:nvGrpSpPr>
            <p:grpSpPr>
              <a:xfrm>
                <a:off x="476" y="1661"/>
                <a:ext cx="2109" cy="1909"/>
                <a:chOff x="192" y="2403"/>
                <a:chExt cx="2109" cy="1909"/>
              </a:xfrm>
            </p:grpSpPr>
            <p:sp>
              <p:nvSpPr>
                <p:cNvPr id="32" name="Line 30"/>
                <p:cNvSpPr/>
                <p:nvPr/>
              </p:nvSpPr>
              <p:spPr>
                <a:xfrm flipH="1">
                  <a:off x="912" y="3380"/>
                  <a:ext cx="240" cy="285"/>
                </a:xfrm>
                <a:prstGeom prst="line">
                  <a:avLst/>
                </a:prstGeom>
                <a:ln w="38100" cap="flat" cmpd="sng">
                  <a:solidFill>
                    <a:srgbClr val="006666"/>
                  </a:solidFill>
                  <a:prstDash val="solid"/>
                  <a:round/>
                  <a:headEnd type="none" w="med" len="med"/>
                  <a:tailEnd type="none" w="med" len="med"/>
                </a:ln>
              </p:spPr>
            </p:sp>
            <p:sp>
              <p:nvSpPr>
                <p:cNvPr id="33" name="Text Box 31"/>
                <p:cNvSpPr txBox="1">
                  <a:spLocks noChangeArrowheads="1"/>
                </p:cNvSpPr>
                <p:nvPr/>
              </p:nvSpPr>
              <p:spPr bwMode="auto">
                <a:xfrm>
                  <a:off x="1296" y="2729"/>
                  <a:ext cx="321"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34" name="Text Box 32"/>
                <p:cNvSpPr txBox="1">
                  <a:spLocks noChangeArrowheads="1"/>
                </p:cNvSpPr>
                <p:nvPr/>
              </p:nvSpPr>
              <p:spPr bwMode="auto">
                <a:xfrm>
                  <a:off x="975" y="2403"/>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sp>
              <p:nvSpPr>
                <p:cNvPr id="35" name="Text Box 33"/>
                <p:cNvSpPr txBox="1">
                  <a:spLocks noChangeArrowheads="1"/>
                </p:cNvSpPr>
                <p:nvPr/>
              </p:nvSpPr>
              <p:spPr bwMode="auto">
                <a:xfrm>
                  <a:off x="1036" y="3013"/>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36" name="Text Box 34"/>
                <p:cNvSpPr txBox="1">
                  <a:spLocks noChangeArrowheads="1"/>
                </p:cNvSpPr>
                <p:nvPr/>
              </p:nvSpPr>
              <p:spPr bwMode="auto">
                <a:xfrm>
                  <a:off x="480" y="2838"/>
                  <a:ext cx="195" cy="290"/>
                </a:xfrm>
                <a:prstGeom prst="rect">
                  <a:avLst/>
                </a:prstGeom>
                <a:noFill/>
                <a:ln w="9525">
                  <a:noFill/>
                  <a:miter lim="800000"/>
                </a:ln>
                <a:effectLst/>
              </p:spPr>
              <p:txBody>
                <a:bodyPr wrap="none">
                  <a:spAutoFit/>
                </a:bodyPr>
                <a:lstStyle/>
                <a:p>
                  <a:pPr marR="0" defTabSz="914400">
                    <a:buClrTx/>
                    <a:buSzTx/>
                    <a:buFontTx/>
                    <a:buNone/>
                    <a:defRPr/>
                  </a:pPr>
                  <a:endParaRPr kumimoji="0" lang="zh-CN"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7" name="Line 35"/>
                <p:cNvSpPr/>
                <p:nvPr/>
              </p:nvSpPr>
              <p:spPr>
                <a:xfrm>
                  <a:off x="1200" y="3421"/>
                  <a:ext cx="192" cy="203"/>
                </a:xfrm>
                <a:prstGeom prst="line">
                  <a:avLst/>
                </a:prstGeom>
                <a:ln w="38100" cap="flat" cmpd="sng">
                  <a:solidFill>
                    <a:srgbClr val="006666"/>
                  </a:solidFill>
                  <a:prstDash val="solid"/>
                  <a:round/>
                  <a:headEnd type="none" w="med" len="med"/>
                  <a:tailEnd type="none" w="med" len="med"/>
                </a:ln>
              </p:spPr>
            </p:sp>
            <p:sp>
              <p:nvSpPr>
                <p:cNvPr id="38" name="Text Box 36"/>
                <p:cNvSpPr txBox="1">
                  <a:spLocks noChangeArrowheads="1"/>
                </p:cNvSpPr>
                <p:nvPr/>
              </p:nvSpPr>
              <p:spPr bwMode="auto">
                <a:xfrm>
                  <a:off x="1779" y="3164"/>
                  <a:ext cx="195" cy="290"/>
                </a:xfrm>
                <a:prstGeom prst="rect">
                  <a:avLst/>
                </a:prstGeom>
                <a:noFill/>
                <a:ln w="9525">
                  <a:noFill/>
                  <a:miter lim="800000"/>
                </a:ln>
                <a:effectLst/>
              </p:spPr>
              <p:txBody>
                <a:bodyPr wrap="none">
                  <a:spAutoFit/>
                </a:bodyPr>
                <a:lstStyle/>
                <a:p>
                  <a:pPr marR="0" defTabSz="914400">
                    <a:buClrTx/>
                    <a:buSzTx/>
                    <a:buFontTx/>
                    <a:buNone/>
                    <a:defRPr/>
                  </a:pPr>
                  <a:endParaRPr kumimoji="0" lang="zh-CN" altLang="zh-CN" sz="2400" b="1" kern="1200" cap="none" spc="0" normalizeH="0" baseline="0" noProof="0">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9" name="Line 37"/>
                <p:cNvSpPr/>
                <p:nvPr/>
              </p:nvSpPr>
              <p:spPr>
                <a:xfrm flipH="1">
                  <a:off x="576" y="2810"/>
                  <a:ext cx="432" cy="367"/>
                </a:xfrm>
                <a:prstGeom prst="line">
                  <a:avLst/>
                </a:prstGeom>
                <a:ln w="28575" cap="flat" cmpd="sng">
                  <a:solidFill>
                    <a:srgbClr val="006666"/>
                  </a:solidFill>
                  <a:prstDash val="solid"/>
                  <a:round/>
                  <a:headEnd type="none" w="med" len="med"/>
                  <a:tailEnd type="none" w="med" len="med"/>
                </a:ln>
              </p:spPr>
            </p:sp>
            <p:sp>
              <p:nvSpPr>
                <p:cNvPr id="40" name="Line 38"/>
                <p:cNvSpPr/>
                <p:nvPr/>
              </p:nvSpPr>
              <p:spPr>
                <a:xfrm>
                  <a:off x="1488" y="3123"/>
                  <a:ext cx="336" cy="338"/>
                </a:xfrm>
                <a:prstGeom prst="line">
                  <a:avLst/>
                </a:prstGeom>
                <a:ln w="28575" cap="flat" cmpd="sng">
                  <a:solidFill>
                    <a:srgbClr val="006666"/>
                  </a:solidFill>
                  <a:prstDash val="solid"/>
                  <a:round/>
                  <a:headEnd type="none" w="med" len="med"/>
                  <a:tailEnd type="none" w="med" len="med"/>
                </a:ln>
              </p:spPr>
            </p:sp>
            <p:sp>
              <p:nvSpPr>
                <p:cNvPr id="41" name="Rectangle 39"/>
                <p:cNvSpPr/>
                <p:nvPr/>
              </p:nvSpPr>
              <p:spPr>
                <a:xfrm>
                  <a:off x="480" y="3095"/>
                  <a:ext cx="240" cy="610"/>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r>
                    <a:rPr lang="en-US" altLang="zh-CN" sz="2400" b="1" i="1" dirty="0">
                      <a:solidFill>
                        <a:schemeClr val="bg2"/>
                      </a:solidFill>
                      <a:latin typeface="Times New Roman" panose="02020603050405020304" pitchFamily="18" charset="0"/>
                      <a:ea typeface="宋体" panose="02010600030101010101" pitchFamily="2" charset="-122"/>
                    </a:rPr>
                    <a:t>….</a:t>
                  </a:r>
                </a:p>
              </p:txBody>
            </p:sp>
            <p:sp>
              <p:nvSpPr>
                <p:cNvPr id="42" name="Line 40"/>
                <p:cNvSpPr/>
                <p:nvPr/>
              </p:nvSpPr>
              <p:spPr>
                <a:xfrm flipH="1">
                  <a:off x="1152" y="3136"/>
                  <a:ext cx="205" cy="244"/>
                </a:xfrm>
                <a:prstGeom prst="line">
                  <a:avLst/>
                </a:prstGeom>
                <a:ln w="28575" cap="flat" cmpd="sng">
                  <a:solidFill>
                    <a:schemeClr val="hlink"/>
                  </a:solidFill>
                  <a:prstDash val="solid"/>
                  <a:round/>
                  <a:headEnd type="none" w="med" len="med"/>
                  <a:tailEnd type="none" w="med" len="med"/>
                </a:ln>
              </p:spPr>
            </p:sp>
            <p:sp>
              <p:nvSpPr>
                <p:cNvPr id="43" name="Rectangle 41"/>
                <p:cNvSpPr/>
                <p:nvPr/>
              </p:nvSpPr>
              <p:spPr>
                <a:xfrm>
                  <a:off x="1824" y="3428"/>
                  <a:ext cx="240" cy="651"/>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lnSpc>
                      <a:spcPct val="60000"/>
                    </a:lnSpc>
                  </a:pPr>
                  <a:r>
                    <a:rPr lang="en-US" altLang="zh-CN" sz="2400" b="1" i="1" dirty="0">
                      <a:solidFill>
                        <a:srgbClr val="006666"/>
                      </a:solidFill>
                      <a:latin typeface="Times New Roman" panose="02020603050405020304" pitchFamily="18" charset="0"/>
                      <a:ea typeface="宋体" panose="02010600030101010101" pitchFamily="2" charset="-122"/>
                    </a:rPr>
                    <a:t>h</a:t>
                  </a:r>
                  <a:endParaRPr lang="en-US" altLang="zh-CN" sz="2400" b="1" i="1" dirty="0">
                    <a:solidFill>
                      <a:schemeClr val="bg2"/>
                    </a:solidFill>
                    <a:latin typeface="Times New Roman" panose="02020603050405020304" pitchFamily="18" charset="0"/>
                    <a:ea typeface="宋体" panose="02010600030101010101" pitchFamily="2" charset="-122"/>
                  </a:endParaRPr>
                </a:p>
              </p:txBody>
            </p:sp>
            <p:sp>
              <p:nvSpPr>
                <p:cNvPr id="44" name="Text Box 42"/>
                <p:cNvSpPr txBox="1"/>
                <p:nvPr/>
              </p:nvSpPr>
              <p:spPr>
                <a:xfrm>
                  <a:off x="1187" y="2501"/>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45" name="Text Box 43"/>
                <p:cNvSpPr txBox="1"/>
                <p:nvPr/>
              </p:nvSpPr>
              <p:spPr>
                <a:xfrm>
                  <a:off x="1523" y="2867"/>
                  <a:ext cx="24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46" name="Rectangle 44"/>
                <p:cNvSpPr/>
                <p:nvPr/>
              </p:nvSpPr>
              <p:spPr>
                <a:xfrm>
                  <a:off x="816" y="3624"/>
                  <a:ext cx="240" cy="448"/>
                </a:xfrm>
                <a:prstGeom prst="rect">
                  <a:avLst/>
                </a:prstGeom>
                <a:solidFill>
                  <a:srgbClr val="99FF99"/>
                </a:solidFill>
                <a:ln w="28575" cap="flat" cmpd="sng">
                  <a:solidFill>
                    <a:srgbClr val="008000"/>
                  </a:solidFill>
                  <a:prstDash val="solid"/>
                  <a:miter/>
                  <a:headEnd type="none" w="med" len="med"/>
                  <a:tailEnd type="none" w="med" len="med"/>
                </a:ln>
              </p:spPr>
              <p:txBody>
                <a:bodyPr wrap="none" anchor="ctr" anchorCtr="0"/>
                <a:lstStyle/>
                <a:p>
                  <a:pPr algn="ct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47" name="Rectangle 45"/>
                <p:cNvSpPr/>
                <p:nvPr/>
              </p:nvSpPr>
              <p:spPr>
                <a:xfrm>
                  <a:off x="1296" y="3624"/>
                  <a:ext cx="240" cy="651"/>
                </a:xfrm>
                <a:prstGeom prst="rect">
                  <a:avLst/>
                </a:prstGeom>
                <a:solidFill>
                  <a:schemeClr val="folHlink"/>
                </a:solidFill>
                <a:ln w="28575" cap="flat" cmpd="sng">
                  <a:solidFill>
                    <a:srgbClr val="008000"/>
                  </a:solidFill>
                  <a:prstDash val="solid"/>
                  <a:miter/>
                  <a:headEnd type="none" w="med" len="med"/>
                  <a:tailEnd type="none" w="med" len="med"/>
                </a:ln>
              </p:spPr>
              <p:txBody>
                <a:bodyPr wrap="none" anchor="ctr" anchorCtr="0"/>
                <a:lstStyle/>
                <a:p>
                  <a:pPr algn="ctr">
                    <a:lnSpc>
                      <a:spcPct val="50000"/>
                    </a:lnSpc>
                  </a:pPr>
                  <a:endParaRPr lang="zh-CN" altLang="zh-CN" sz="2400" b="1" i="1" dirty="0">
                    <a:solidFill>
                      <a:schemeClr val="bg2"/>
                    </a:solidFill>
                    <a:latin typeface="Times New Roman" panose="02020603050405020304" pitchFamily="18" charset="0"/>
                    <a:ea typeface="宋体" panose="02010600030101010101" pitchFamily="2" charset="-122"/>
                  </a:endParaRPr>
                </a:p>
              </p:txBody>
            </p:sp>
            <p:sp>
              <p:nvSpPr>
                <p:cNvPr id="48" name="Text Box 46"/>
                <p:cNvSpPr txBox="1"/>
                <p:nvPr/>
              </p:nvSpPr>
              <p:spPr>
                <a:xfrm>
                  <a:off x="1305" y="3697"/>
                  <a:ext cx="225" cy="615"/>
                </a:xfrm>
                <a:prstGeom prst="rect">
                  <a:avLst/>
                </a:prstGeom>
                <a:noFill/>
                <a:ln w="9525">
                  <a:noFill/>
                </a:ln>
              </p:spPr>
              <p:txBody>
                <a:bodyPr wrap="none" anchor="t" anchorCtr="0">
                  <a:spAutoFit/>
                </a:bodyPr>
                <a:lstStyle/>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h</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a:t>
                  </a:r>
                  <a:endParaRPr lang="en-US" altLang="zh-CN" sz="2400" b="1" i="1" dirty="0">
                    <a:solidFill>
                      <a:srgbClr val="FFFF00"/>
                    </a:solidFill>
                    <a:latin typeface="Times New Roman" panose="02020603050405020304" pitchFamily="18" charset="0"/>
                    <a:ea typeface="宋体" panose="02010600030101010101" pitchFamily="2" charset="-122"/>
                  </a:endParaRPr>
                </a:p>
                <a:p>
                  <a:pPr algn="l">
                    <a:lnSpc>
                      <a:spcPct val="80000"/>
                    </a:lnSpc>
                    <a:spcBef>
                      <a:spcPts val="0"/>
                    </a:spcBef>
                    <a:spcAft>
                      <a:spcPts val="0"/>
                    </a:spcAft>
                  </a:pPr>
                  <a:r>
                    <a:rPr lang="en-US" altLang="zh-CN" sz="2400" b="1" i="1" dirty="0">
                      <a:solidFill>
                        <a:srgbClr val="FFFF00"/>
                      </a:solidFill>
                      <a:latin typeface="Times New Roman" panose="02020603050405020304" pitchFamily="18" charset="0"/>
                      <a:sym typeface="+mn-ea"/>
                    </a:rPr>
                    <a:t>1</a:t>
                  </a:r>
                  <a:endParaRPr lang="en-US" altLang="zh-CN" sz="2400" dirty="0">
                    <a:latin typeface="Times New Roman" panose="02020603050405020304" pitchFamily="18" charset="0"/>
                    <a:ea typeface="宋体" panose="02010600030101010101" pitchFamily="2" charset="-122"/>
                  </a:endParaRPr>
                </a:p>
              </p:txBody>
            </p:sp>
            <p:sp>
              <p:nvSpPr>
                <p:cNvPr id="49" name="Text Box 47"/>
                <p:cNvSpPr txBox="1"/>
                <p:nvPr/>
              </p:nvSpPr>
              <p:spPr>
                <a:xfrm>
                  <a:off x="192" y="2867"/>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A</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50" name="Text Box 48"/>
                <p:cNvSpPr txBox="1"/>
                <p:nvPr/>
              </p:nvSpPr>
              <p:spPr>
                <a:xfrm>
                  <a:off x="693" y="3367"/>
                  <a:ext cx="337"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L</a:t>
                  </a:r>
                </a:p>
              </p:txBody>
            </p:sp>
            <p:sp>
              <p:nvSpPr>
                <p:cNvPr id="51" name="Text Box 49"/>
                <p:cNvSpPr txBox="1"/>
                <p:nvPr/>
              </p:nvSpPr>
              <p:spPr>
                <a:xfrm>
                  <a:off x="1344" y="3397"/>
                  <a:ext cx="34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sp>
              <p:nvSpPr>
                <p:cNvPr id="52" name="Text Box 50"/>
                <p:cNvSpPr txBox="1"/>
                <p:nvPr/>
              </p:nvSpPr>
              <p:spPr>
                <a:xfrm>
                  <a:off x="768" y="3697"/>
                  <a:ext cx="195" cy="290"/>
                </a:xfrm>
                <a:prstGeom prst="rect">
                  <a:avLst/>
                </a:prstGeom>
                <a:noFill/>
                <a:ln w="9525">
                  <a:noFill/>
                </a:ln>
              </p:spPr>
              <p:txBody>
                <a:bodyPr wrap="none" anchor="t" anchorCtr="0">
                  <a:spAutoFit/>
                </a:bodyPr>
                <a:lstStyle/>
                <a:p>
                  <a:endParaRPr lang="en-US" altLang="zh-CN" sz="2400" dirty="0">
                    <a:latin typeface="Times New Roman" panose="02020603050405020304" pitchFamily="18" charset="0"/>
                    <a:ea typeface="宋体" panose="02010600030101010101" pitchFamily="2" charset="-122"/>
                  </a:endParaRPr>
                </a:p>
              </p:txBody>
            </p:sp>
            <p:sp>
              <p:nvSpPr>
                <p:cNvPr id="53" name="Oval 51"/>
                <p:cNvSpPr/>
                <p:nvPr/>
              </p:nvSpPr>
              <p:spPr>
                <a:xfrm>
                  <a:off x="1056" y="3257"/>
                  <a:ext cx="240" cy="204"/>
                </a:xfrm>
                <a:prstGeom prst="ellipse">
                  <a:avLst/>
                </a:prstGeom>
                <a:solidFill>
                  <a:srgbClr val="FF7C80"/>
                </a:solidFill>
                <a:ln w="28575" cap="flat" cmpd="sng">
                  <a:solidFill>
                    <a:srgbClr val="FF7C80"/>
                  </a:solidFill>
                  <a:prstDash val="solid"/>
                  <a:round/>
                  <a:headEnd type="none" w="med" len="med"/>
                  <a:tailEnd type="none" w="med" len="med"/>
                </a:ln>
              </p:spPr>
              <p:txBody>
                <a:bodyPr wrap="none" anchor="ctr" anchorCtr="0"/>
                <a:lstStyle/>
                <a:p>
                  <a:pPr algn="ctr"/>
                  <a:endParaRPr lang="zh-CN" altLang="zh-CN" sz="2400" dirty="0">
                    <a:solidFill>
                      <a:schemeClr val="tx2"/>
                    </a:solidFill>
                    <a:latin typeface="Times New Roman" panose="02020603050405020304" pitchFamily="18" charset="0"/>
                    <a:ea typeface="宋体" panose="02010600030101010101" pitchFamily="2" charset="-122"/>
                  </a:endParaRPr>
                </a:p>
              </p:txBody>
            </p:sp>
            <p:sp>
              <p:nvSpPr>
                <p:cNvPr id="54" name="Text Box 52"/>
                <p:cNvSpPr txBox="1"/>
                <p:nvPr/>
              </p:nvSpPr>
              <p:spPr>
                <a:xfrm>
                  <a:off x="803" y="3112"/>
                  <a:ext cx="254"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55" name="Line 53"/>
                <p:cNvSpPr/>
                <p:nvPr/>
              </p:nvSpPr>
              <p:spPr>
                <a:xfrm>
                  <a:off x="1152" y="2832"/>
                  <a:ext cx="240" cy="240"/>
                </a:xfrm>
                <a:prstGeom prst="line">
                  <a:avLst/>
                </a:prstGeom>
                <a:ln w="28575" cap="flat" cmpd="sng">
                  <a:solidFill>
                    <a:schemeClr val="hlink"/>
                  </a:solidFill>
                  <a:prstDash val="solid"/>
                  <a:round/>
                  <a:headEnd type="none" w="med" len="med"/>
                  <a:tailEnd type="none" w="med" len="med"/>
                </a:ln>
              </p:spPr>
            </p:sp>
            <p:sp>
              <p:nvSpPr>
                <p:cNvPr id="56" name="Oval 54"/>
                <p:cNvSpPr/>
                <p:nvPr/>
              </p:nvSpPr>
              <p:spPr>
                <a:xfrm>
                  <a:off x="973" y="2692"/>
                  <a:ext cx="240" cy="204"/>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57" name="Oval 55"/>
                <p:cNvSpPr/>
                <p:nvPr/>
              </p:nvSpPr>
              <p:spPr>
                <a:xfrm>
                  <a:off x="1296" y="3018"/>
                  <a:ext cx="240" cy="204"/>
                </a:xfrm>
                <a:prstGeom prst="ellipse">
                  <a:avLst/>
                </a:prstGeom>
                <a:solidFill>
                  <a:srgbClr val="99FF99"/>
                </a:solidFill>
                <a:ln w="28575"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58" name="Text Box 56"/>
                <p:cNvSpPr txBox="1"/>
                <p:nvPr/>
              </p:nvSpPr>
              <p:spPr>
                <a:xfrm>
                  <a:off x="1968" y="3168"/>
                  <a:ext cx="333" cy="290"/>
                </a:xfrm>
                <a:prstGeom prst="rect">
                  <a:avLst/>
                </a:prstGeom>
                <a:noFill/>
                <a:ln w="9525">
                  <a:noFill/>
                </a:ln>
              </p:spPr>
              <p:txBody>
                <a:bodyPr wrap="none" anchor="t" anchorCtr="0">
                  <a:spAutoFit/>
                </a:bodyPr>
                <a:lstStyle/>
                <a:p>
                  <a:r>
                    <a:rPr lang="en-US" altLang="zh-CN" sz="2400" b="1" dirty="0">
                      <a:solidFill>
                        <a:srgbClr val="003399"/>
                      </a:solidFill>
                      <a:latin typeface="Times New Roman" panose="02020603050405020304" pitchFamily="18" charset="0"/>
                      <a:ea typeface="宋体" panose="02010600030101010101" pitchFamily="2" charset="-122"/>
                    </a:rPr>
                    <a:t>B</a:t>
                  </a:r>
                  <a:r>
                    <a:rPr lang="en-US" altLang="zh-CN" sz="2400" b="1" baseline="-25000" dirty="0">
                      <a:solidFill>
                        <a:srgbClr val="003399"/>
                      </a:solidFill>
                      <a:latin typeface="Times New Roman" panose="02020603050405020304" pitchFamily="18" charset="0"/>
                      <a:ea typeface="宋体" panose="02010600030101010101" pitchFamily="2" charset="-122"/>
                    </a:rPr>
                    <a:t>R</a:t>
                  </a:r>
                </a:p>
              </p:txBody>
            </p:sp>
          </p:grpSp>
        </p:grpSp>
        <p:sp>
          <p:nvSpPr>
            <p:cNvPr id="87097" name="Oval 57"/>
            <p:cNvSpPr/>
            <p:nvPr/>
          </p:nvSpPr>
          <p:spPr>
            <a:xfrm>
              <a:off x="4838" y="4153"/>
              <a:ext cx="2947" cy="3855"/>
            </a:xfrm>
            <a:prstGeom prst="ellipse">
              <a:avLst/>
            </a:prstGeom>
            <a:noFill/>
            <a:ln w="38100" cap="rnd" cmpd="sng">
              <a:solidFill>
                <a:srgbClr val="FF0000"/>
              </a:solidFill>
              <a:prstDash val="sysDot"/>
              <a:round/>
              <a:headEnd type="none" w="med" len="med"/>
              <a:tailEnd type="none" w="med" len="med"/>
            </a:ln>
          </p:spPr>
          <p:txBody>
            <a:bodyPr wrap="none" anchor="ctr" anchorCtr="0"/>
            <a:lstStyle/>
            <a:p>
              <a:pPr algn="ctr"/>
              <a:endParaRPr lang="zh-CN" altLang="zh-CN" dirty="0">
                <a:latin typeface="Arial" panose="020B0604020202020204" pitchFamily="34" charset="0"/>
                <a:ea typeface="宋体" panose="02010600030101010101" pitchFamily="2" charset="-122"/>
              </a:endParaRPr>
            </a:p>
          </p:txBody>
        </p:sp>
        <p:sp>
          <p:nvSpPr>
            <p:cNvPr id="87098" name="Oval 58"/>
            <p:cNvSpPr/>
            <p:nvPr/>
          </p:nvSpPr>
          <p:spPr>
            <a:xfrm>
              <a:off x="10620" y="4265"/>
              <a:ext cx="3970" cy="3063"/>
            </a:xfrm>
            <a:prstGeom prst="ellipse">
              <a:avLst/>
            </a:prstGeom>
            <a:noFill/>
            <a:ln w="38100" cap="rnd" cmpd="sng">
              <a:solidFill>
                <a:srgbClr val="FF0000"/>
              </a:solidFill>
              <a:prstDash val="sysDot"/>
              <a:round/>
              <a:headEnd type="none" w="med" len="med"/>
              <a:tailEnd type="none" w="med" len="med"/>
            </a:ln>
          </p:spPr>
          <p:txBody>
            <a:bodyPr wrap="none" anchor="ctr" anchorCtr="0"/>
            <a:lstStyle/>
            <a:p>
              <a:pPr algn="ctr"/>
              <a:endParaRPr lang="zh-CN" altLang="zh-CN" dirty="0">
                <a:latin typeface="Arial" panose="020B0604020202020204" pitchFamily="34" charset="0"/>
                <a:ea typeface="宋体" panose="02010600030101010101" pitchFamily="2" charset="-122"/>
              </a:endParaRPr>
            </a:p>
          </p:txBody>
        </p:sp>
      </p:grpSp>
      <p:sp>
        <p:nvSpPr>
          <p:cNvPr id="59" name="文本框 58"/>
          <p:cNvSpPr txBox="1"/>
          <p:nvPr/>
        </p:nvSpPr>
        <p:spPr>
          <a:xfrm>
            <a:off x="8111490" y="1484630"/>
            <a:ext cx="3766820" cy="924560"/>
          </a:xfrm>
          <a:prstGeom prst="rect">
            <a:avLst/>
          </a:prstGeom>
        </p:spPr>
        <p:txBody>
          <a:bodyPr vert="horz" wrap="square" lIns="91440" tIns="45720" rIns="91440" bIns="45720" rtlCol="0" anchor="t">
            <a:noAutofit/>
          </a:bodyPr>
          <a:lstStyle/>
          <a:p>
            <a:pPr lvl="1" indent="0" eaLnBrk="1" hangingPunct="1">
              <a:buClr>
                <a:schemeClr val="accent2"/>
              </a:buClr>
              <a:buFont typeface="Wingdings" panose="05000000000000000000" pitchFamily="2" charset="2"/>
              <a:buNone/>
            </a:pPr>
            <a:r>
              <a:rPr lang="zh-CN" altLang="en-US" sz="2400" u="sng" dirty="0">
                <a:solidFill>
                  <a:srgbClr val="FF0000"/>
                </a:solidFill>
                <a:latin typeface="黑体" panose="02010609060101010101" pitchFamily="2" charset="-122"/>
                <a:ea typeface="黑体" panose="02010609060101010101" pitchFamily="2" charset="-122"/>
                <a:sym typeface="+mn-ea"/>
              </a:rPr>
              <a:t>若已知</a:t>
            </a:r>
            <a:r>
              <a:rPr lang="en-US" altLang="zh-CN" sz="2400" u="sng" dirty="0">
                <a:solidFill>
                  <a:srgbClr val="FF0000"/>
                </a:solidFill>
                <a:latin typeface="黑体" panose="02010609060101010101" pitchFamily="2" charset="-122"/>
                <a:ea typeface="黑体" panose="02010609060101010101" pitchFamily="2" charset="-122"/>
                <a:sym typeface="+mn-ea"/>
              </a:rPr>
              <a:t>A\B\C</a:t>
            </a:r>
            <a:r>
              <a:rPr lang="zh-CN" altLang="en-US" sz="2400" u="sng" dirty="0">
                <a:solidFill>
                  <a:srgbClr val="FF0000"/>
                </a:solidFill>
                <a:latin typeface="黑体" panose="02010609060101010101" pitchFamily="2" charset="-122"/>
                <a:ea typeface="黑体" panose="02010609060101010101" pitchFamily="2" charset="-122"/>
                <a:sym typeface="+mn-ea"/>
              </a:rPr>
              <a:t>三个结点指针，代码如何写？？</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sym typeface="+mn-ea"/>
              </a:rPr>
              <a:t>先右后左双向旋转举例</a:t>
            </a:r>
          </a:p>
          <a:p>
            <a:pPr marL="0" lvl="1" indent="0" algn="l" eaLnBrk="1" hangingPunct="1">
              <a:buClrTx/>
              <a:buSzTx/>
              <a:buFont typeface="Wingdings" panose="05000000000000000000" charset="0"/>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AVL</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树如下图，插入新数据</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66</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，求插入后的树</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marL="0" lvl="1" indent="0" algn="l" eaLnBrk="1" hangingPunct="1">
              <a:buClrTx/>
              <a:buSzTx/>
              <a:buFont typeface="Wingdings" panose="05000000000000000000" charset="0"/>
              <a:buNone/>
            </a:pPr>
            <a:endParaRPr lang="zh-CN" altLang="en-US" sz="2800" dirty="0">
              <a:latin typeface="黑体" panose="02010609060101010101" pitchFamily="2" charset="-122"/>
              <a:ea typeface="黑体" panose="02010609060101010101" pitchFamily="2" charset="-122"/>
              <a:sym typeface="+mn-ea"/>
            </a:endParaRPr>
          </a:p>
          <a:p>
            <a:pPr marL="0" lvl="1" indent="0" algn="l" eaLnBrk="1" hangingPunct="1">
              <a:buClrTx/>
              <a:buSzTx/>
              <a:buFont typeface="Wingdings" panose="05000000000000000000" charset="0"/>
              <a:buNone/>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78</a:t>
            </a:fld>
            <a:endParaRPr lang="zh-CN" altLang="en-US"/>
          </a:p>
        </p:txBody>
      </p:sp>
      <p:grpSp>
        <p:nvGrpSpPr>
          <p:cNvPr id="88068" name="Group 42"/>
          <p:cNvGrpSpPr/>
          <p:nvPr/>
        </p:nvGrpSpPr>
        <p:grpSpPr>
          <a:xfrm>
            <a:off x="1343343" y="2348865"/>
            <a:ext cx="3017837" cy="2686050"/>
            <a:chOff x="249" y="1298"/>
            <a:chExt cx="1901" cy="1692"/>
          </a:xfrm>
        </p:grpSpPr>
        <p:sp>
          <p:nvSpPr>
            <p:cNvPr id="88069" name="Oval 5"/>
            <p:cNvSpPr/>
            <p:nvPr/>
          </p:nvSpPr>
          <p:spPr>
            <a:xfrm>
              <a:off x="1066" y="1298"/>
              <a:ext cx="225" cy="240"/>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40</a:t>
              </a:r>
            </a:p>
          </p:txBody>
        </p:sp>
        <p:sp>
          <p:nvSpPr>
            <p:cNvPr id="88070" name="Oval 6"/>
            <p:cNvSpPr/>
            <p:nvPr/>
          </p:nvSpPr>
          <p:spPr>
            <a:xfrm>
              <a:off x="1383" y="1661"/>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70</a:t>
              </a:r>
            </a:p>
          </p:txBody>
        </p:sp>
        <p:sp>
          <p:nvSpPr>
            <p:cNvPr id="88071" name="Oval 7"/>
            <p:cNvSpPr/>
            <p:nvPr/>
          </p:nvSpPr>
          <p:spPr>
            <a:xfrm>
              <a:off x="249" y="1978"/>
              <a:ext cx="223"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10</a:t>
              </a:r>
            </a:p>
          </p:txBody>
        </p:sp>
        <p:sp>
          <p:nvSpPr>
            <p:cNvPr id="88072" name="Oval 8"/>
            <p:cNvSpPr/>
            <p:nvPr/>
          </p:nvSpPr>
          <p:spPr>
            <a:xfrm>
              <a:off x="1701" y="1978"/>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88073" name="Oval 9"/>
            <p:cNvSpPr/>
            <p:nvPr/>
          </p:nvSpPr>
          <p:spPr>
            <a:xfrm>
              <a:off x="1156" y="2024"/>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60</a:t>
              </a:r>
            </a:p>
          </p:txBody>
        </p:sp>
        <p:sp>
          <p:nvSpPr>
            <p:cNvPr id="88074" name="Line 10"/>
            <p:cNvSpPr/>
            <p:nvPr/>
          </p:nvSpPr>
          <p:spPr>
            <a:xfrm flipH="1">
              <a:off x="793" y="1479"/>
              <a:ext cx="272" cy="182"/>
            </a:xfrm>
            <a:prstGeom prst="line">
              <a:avLst/>
            </a:prstGeom>
            <a:ln w="38100" cap="flat" cmpd="sng">
              <a:solidFill>
                <a:srgbClr val="336699"/>
              </a:solidFill>
              <a:prstDash val="solid"/>
              <a:round/>
              <a:headEnd type="none" w="med" len="med"/>
              <a:tailEnd type="none" w="med" len="med"/>
            </a:ln>
          </p:spPr>
        </p:sp>
        <p:sp>
          <p:nvSpPr>
            <p:cNvPr id="88075" name="Line 11"/>
            <p:cNvSpPr/>
            <p:nvPr/>
          </p:nvSpPr>
          <p:spPr>
            <a:xfrm flipH="1">
              <a:off x="426" y="1867"/>
              <a:ext cx="196" cy="144"/>
            </a:xfrm>
            <a:prstGeom prst="line">
              <a:avLst/>
            </a:prstGeom>
            <a:ln w="38100" cap="flat" cmpd="sng">
              <a:solidFill>
                <a:srgbClr val="666699"/>
              </a:solidFill>
              <a:prstDash val="solid"/>
              <a:round/>
              <a:headEnd type="none" w="med" len="med"/>
              <a:tailEnd type="none" w="med" len="med"/>
            </a:ln>
          </p:spPr>
        </p:sp>
        <p:sp>
          <p:nvSpPr>
            <p:cNvPr id="88076" name="Line 12"/>
            <p:cNvSpPr/>
            <p:nvPr/>
          </p:nvSpPr>
          <p:spPr>
            <a:xfrm>
              <a:off x="1247" y="1497"/>
              <a:ext cx="183" cy="164"/>
            </a:xfrm>
            <a:prstGeom prst="line">
              <a:avLst/>
            </a:prstGeom>
            <a:ln w="38100" cap="flat" cmpd="sng">
              <a:solidFill>
                <a:srgbClr val="336699"/>
              </a:solidFill>
              <a:prstDash val="solid"/>
              <a:round/>
              <a:headEnd type="none" w="med" len="med"/>
              <a:tailEnd type="none" w="med" len="med"/>
            </a:ln>
          </p:spPr>
        </p:sp>
        <p:sp>
          <p:nvSpPr>
            <p:cNvPr id="88077" name="Line 13"/>
            <p:cNvSpPr/>
            <p:nvPr/>
          </p:nvSpPr>
          <p:spPr>
            <a:xfrm flipH="1">
              <a:off x="1292" y="1888"/>
              <a:ext cx="137" cy="136"/>
            </a:xfrm>
            <a:prstGeom prst="line">
              <a:avLst/>
            </a:prstGeom>
            <a:ln w="38100" cap="flat" cmpd="sng">
              <a:solidFill>
                <a:srgbClr val="336699"/>
              </a:solidFill>
              <a:prstDash val="solid"/>
              <a:round/>
              <a:headEnd type="none" w="med" len="med"/>
              <a:tailEnd type="none" w="med" len="med"/>
            </a:ln>
          </p:spPr>
        </p:sp>
        <p:sp>
          <p:nvSpPr>
            <p:cNvPr id="88078" name="Line 14"/>
            <p:cNvSpPr/>
            <p:nvPr/>
          </p:nvSpPr>
          <p:spPr>
            <a:xfrm>
              <a:off x="1610" y="1842"/>
              <a:ext cx="136" cy="137"/>
            </a:xfrm>
            <a:prstGeom prst="line">
              <a:avLst/>
            </a:prstGeom>
            <a:ln w="38100" cap="flat" cmpd="sng">
              <a:solidFill>
                <a:srgbClr val="336699"/>
              </a:solidFill>
              <a:prstDash val="solid"/>
              <a:round/>
              <a:headEnd type="none" w="med" len="med"/>
              <a:tailEnd type="none" w="med" len="med"/>
            </a:ln>
          </p:spPr>
        </p:sp>
        <p:sp>
          <p:nvSpPr>
            <p:cNvPr id="88079" name="Oval 15"/>
            <p:cNvSpPr/>
            <p:nvPr/>
          </p:nvSpPr>
          <p:spPr>
            <a:xfrm>
              <a:off x="1610" y="2750"/>
              <a:ext cx="223" cy="240"/>
            </a:xfrm>
            <a:prstGeom prst="ellipse">
              <a:avLst/>
            </a:prstGeom>
            <a:solidFill>
              <a:srgbClr val="FFFF99"/>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66</a:t>
              </a:r>
            </a:p>
          </p:txBody>
        </p:sp>
        <p:sp>
          <p:nvSpPr>
            <p:cNvPr id="88080" name="Line 16"/>
            <p:cNvSpPr/>
            <p:nvPr/>
          </p:nvSpPr>
          <p:spPr>
            <a:xfrm flipH="1" flipV="1">
              <a:off x="1610" y="2614"/>
              <a:ext cx="91" cy="136"/>
            </a:xfrm>
            <a:prstGeom prst="line">
              <a:avLst/>
            </a:prstGeom>
            <a:ln w="38100" cap="flat" cmpd="sng">
              <a:solidFill>
                <a:srgbClr val="336699"/>
              </a:solidFill>
              <a:prstDash val="solid"/>
              <a:round/>
              <a:headEnd type="none" w="med" len="med"/>
              <a:tailEnd type="none" w="med" len="med"/>
            </a:ln>
          </p:spPr>
        </p:sp>
        <p:sp>
          <p:nvSpPr>
            <p:cNvPr id="88081" name="Oval 17"/>
            <p:cNvSpPr/>
            <p:nvPr/>
          </p:nvSpPr>
          <p:spPr>
            <a:xfrm>
              <a:off x="884" y="2387"/>
              <a:ext cx="224" cy="238"/>
            </a:xfrm>
            <a:prstGeom prst="ellipse">
              <a:avLst/>
            </a:prstGeom>
            <a:solidFill>
              <a:srgbClr val="99CCFF"/>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50</a:t>
              </a:r>
            </a:p>
          </p:txBody>
        </p:sp>
        <p:sp>
          <p:nvSpPr>
            <p:cNvPr id="88082" name="Oval 18"/>
            <p:cNvSpPr/>
            <p:nvPr/>
          </p:nvSpPr>
          <p:spPr>
            <a:xfrm>
              <a:off x="612" y="1661"/>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88083" name="Oval 19"/>
            <p:cNvSpPr/>
            <p:nvPr/>
          </p:nvSpPr>
          <p:spPr>
            <a:xfrm>
              <a:off x="1429" y="2387"/>
              <a:ext cx="224" cy="238"/>
            </a:xfrm>
            <a:prstGeom prst="ellipse">
              <a:avLst/>
            </a:prstGeom>
            <a:solidFill>
              <a:srgbClr val="99CCFF"/>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63</a:t>
              </a:r>
            </a:p>
          </p:txBody>
        </p:sp>
        <p:sp>
          <p:nvSpPr>
            <p:cNvPr id="88084" name="Line 20"/>
            <p:cNvSpPr/>
            <p:nvPr/>
          </p:nvSpPr>
          <p:spPr>
            <a:xfrm>
              <a:off x="1338" y="2251"/>
              <a:ext cx="136" cy="181"/>
            </a:xfrm>
            <a:prstGeom prst="line">
              <a:avLst/>
            </a:prstGeom>
            <a:ln w="38100" cap="flat" cmpd="sng">
              <a:solidFill>
                <a:srgbClr val="336699"/>
              </a:solidFill>
              <a:prstDash val="solid"/>
              <a:round/>
              <a:headEnd type="none" w="med" len="med"/>
              <a:tailEnd type="none" w="med" len="med"/>
            </a:ln>
          </p:spPr>
        </p:sp>
        <p:sp>
          <p:nvSpPr>
            <p:cNvPr id="88085" name="Line 21"/>
            <p:cNvSpPr/>
            <p:nvPr/>
          </p:nvSpPr>
          <p:spPr>
            <a:xfrm flipH="1">
              <a:off x="1020" y="2251"/>
              <a:ext cx="181" cy="181"/>
            </a:xfrm>
            <a:prstGeom prst="line">
              <a:avLst/>
            </a:prstGeom>
            <a:ln w="38100" cap="flat" cmpd="sng">
              <a:solidFill>
                <a:srgbClr val="336699"/>
              </a:solidFill>
              <a:prstDash val="solid"/>
              <a:round/>
              <a:headEnd type="none" w="med" len="med"/>
              <a:tailEnd type="none" w="med" len="med"/>
            </a:ln>
          </p:spPr>
        </p:sp>
        <p:sp>
          <p:nvSpPr>
            <p:cNvPr id="88086" name="Line 40"/>
            <p:cNvSpPr/>
            <p:nvPr/>
          </p:nvSpPr>
          <p:spPr>
            <a:xfrm>
              <a:off x="1882" y="2205"/>
              <a:ext cx="91" cy="136"/>
            </a:xfrm>
            <a:prstGeom prst="line">
              <a:avLst/>
            </a:prstGeom>
            <a:ln w="38100" cap="flat" cmpd="sng">
              <a:solidFill>
                <a:srgbClr val="666699"/>
              </a:solidFill>
              <a:prstDash val="solid"/>
              <a:round/>
              <a:headEnd type="none" w="med" len="med"/>
              <a:tailEnd type="none" w="med" len="med"/>
            </a:ln>
          </p:spPr>
        </p:sp>
        <p:sp>
          <p:nvSpPr>
            <p:cNvPr id="88087" name="Oval 41"/>
            <p:cNvSpPr/>
            <p:nvPr/>
          </p:nvSpPr>
          <p:spPr>
            <a:xfrm>
              <a:off x="1927" y="2341"/>
              <a:ext cx="223"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94</a:t>
              </a:r>
            </a:p>
          </p:txBody>
        </p:sp>
      </p:grpSp>
      <p:grpSp>
        <p:nvGrpSpPr>
          <p:cNvPr id="88088" name="Group 63"/>
          <p:cNvGrpSpPr/>
          <p:nvPr/>
        </p:nvGrpSpPr>
        <p:grpSpPr>
          <a:xfrm>
            <a:off x="5448618" y="2348865"/>
            <a:ext cx="3592512" cy="2036763"/>
            <a:chOff x="2835" y="1298"/>
            <a:chExt cx="2263" cy="1283"/>
          </a:xfrm>
        </p:grpSpPr>
        <p:sp>
          <p:nvSpPr>
            <p:cNvPr id="88089" name="Oval 44"/>
            <p:cNvSpPr/>
            <p:nvPr/>
          </p:nvSpPr>
          <p:spPr>
            <a:xfrm>
              <a:off x="3515" y="1661"/>
              <a:ext cx="225" cy="240"/>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40</a:t>
              </a:r>
            </a:p>
          </p:txBody>
        </p:sp>
        <p:sp>
          <p:nvSpPr>
            <p:cNvPr id="88090" name="Oval 45"/>
            <p:cNvSpPr/>
            <p:nvPr/>
          </p:nvSpPr>
          <p:spPr>
            <a:xfrm>
              <a:off x="4331" y="1662"/>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70</a:t>
              </a:r>
            </a:p>
          </p:txBody>
        </p:sp>
        <p:sp>
          <p:nvSpPr>
            <p:cNvPr id="88091" name="Oval 46"/>
            <p:cNvSpPr/>
            <p:nvPr/>
          </p:nvSpPr>
          <p:spPr>
            <a:xfrm>
              <a:off x="2835" y="2296"/>
              <a:ext cx="223"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10</a:t>
              </a:r>
            </a:p>
          </p:txBody>
        </p:sp>
        <p:sp>
          <p:nvSpPr>
            <p:cNvPr id="88092" name="Oval 47"/>
            <p:cNvSpPr/>
            <p:nvPr/>
          </p:nvSpPr>
          <p:spPr>
            <a:xfrm>
              <a:off x="4649" y="1979"/>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92</a:t>
              </a:r>
            </a:p>
          </p:txBody>
        </p:sp>
        <p:sp>
          <p:nvSpPr>
            <p:cNvPr id="88093" name="Oval 48"/>
            <p:cNvSpPr/>
            <p:nvPr/>
          </p:nvSpPr>
          <p:spPr>
            <a:xfrm>
              <a:off x="3878" y="1298"/>
              <a:ext cx="224" cy="239"/>
            </a:xfrm>
            <a:prstGeom prst="ellipse">
              <a:avLst/>
            </a:prstGeom>
            <a:solidFill>
              <a:srgbClr val="FF99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60</a:t>
              </a:r>
            </a:p>
          </p:txBody>
        </p:sp>
        <p:sp>
          <p:nvSpPr>
            <p:cNvPr id="88094" name="Line 49"/>
            <p:cNvSpPr/>
            <p:nvPr/>
          </p:nvSpPr>
          <p:spPr>
            <a:xfrm flipH="1">
              <a:off x="3696" y="1480"/>
              <a:ext cx="182" cy="181"/>
            </a:xfrm>
            <a:prstGeom prst="line">
              <a:avLst/>
            </a:prstGeom>
            <a:ln w="38100" cap="flat" cmpd="sng">
              <a:solidFill>
                <a:srgbClr val="336699"/>
              </a:solidFill>
              <a:prstDash val="solid"/>
              <a:round/>
              <a:headEnd type="none" w="med" len="med"/>
              <a:tailEnd type="none" w="med" len="med"/>
            </a:ln>
          </p:spPr>
        </p:sp>
        <p:sp>
          <p:nvSpPr>
            <p:cNvPr id="88095" name="Line 50"/>
            <p:cNvSpPr/>
            <p:nvPr/>
          </p:nvSpPr>
          <p:spPr>
            <a:xfrm flipH="1">
              <a:off x="2925" y="2160"/>
              <a:ext cx="196" cy="144"/>
            </a:xfrm>
            <a:prstGeom prst="line">
              <a:avLst/>
            </a:prstGeom>
            <a:ln w="38100" cap="flat" cmpd="sng">
              <a:solidFill>
                <a:srgbClr val="666699"/>
              </a:solidFill>
              <a:prstDash val="solid"/>
              <a:round/>
              <a:headEnd type="none" w="med" len="med"/>
              <a:tailEnd type="none" w="med" len="med"/>
            </a:ln>
          </p:spPr>
        </p:sp>
        <p:sp>
          <p:nvSpPr>
            <p:cNvPr id="88096" name="Line 51"/>
            <p:cNvSpPr/>
            <p:nvPr/>
          </p:nvSpPr>
          <p:spPr>
            <a:xfrm>
              <a:off x="4105" y="1480"/>
              <a:ext cx="273" cy="182"/>
            </a:xfrm>
            <a:prstGeom prst="line">
              <a:avLst/>
            </a:prstGeom>
            <a:ln w="38100" cap="flat" cmpd="sng">
              <a:solidFill>
                <a:srgbClr val="336699"/>
              </a:solidFill>
              <a:prstDash val="solid"/>
              <a:round/>
              <a:headEnd type="none" w="med" len="med"/>
              <a:tailEnd type="none" w="med" len="med"/>
            </a:ln>
          </p:spPr>
        </p:sp>
        <p:sp>
          <p:nvSpPr>
            <p:cNvPr id="88097" name="Line 52"/>
            <p:cNvSpPr/>
            <p:nvPr/>
          </p:nvSpPr>
          <p:spPr>
            <a:xfrm flipH="1">
              <a:off x="3288" y="1842"/>
              <a:ext cx="228" cy="182"/>
            </a:xfrm>
            <a:prstGeom prst="line">
              <a:avLst/>
            </a:prstGeom>
            <a:ln w="38100" cap="flat" cmpd="sng">
              <a:solidFill>
                <a:srgbClr val="336699"/>
              </a:solidFill>
              <a:prstDash val="solid"/>
              <a:round/>
              <a:headEnd type="none" w="med" len="med"/>
              <a:tailEnd type="none" w="med" len="med"/>
            </a:ln>
          </p:spPr>
        </p:sp>
        <p:sp>
          <p:nvSpPr>
            <p:cNvPr id="88098" name="Line 53"/>
            <p:cNvSpPr/>
            <p:nvPr/>
          </p:nvSpPr>
          <p:spPr>
            <a:xfrm>
              <a:off x="4558" y="1843"/>
              <a:ext cx="136" cy="137"/>
            </a:xfrm>
            <a:prstGeom prst="line">
              <a:avLst/>
            </a:prstGeom>
            <a:ln w="38100" cap="flat" cmpd="sng">
              <a:solidFill>
                <a:srgbClr val="336699"/>
              </a:solidFill>
              <a:prstDash val="solid"/>
              <a:round/>
              <a:headEnd type="none" w="med" len="med"/>
              <a:tailEnd type="none" w="med" len="med"/>
            </a:ln>
          </p:spPr>
        </p:sp>
        <p:sp>
          <p:nvSpPr>
            <p:cNvPr id="88099" name="Oval 54"/>
            <p:cNvSpPr/>
            <p:nvPr/>
          </p:nvSpPr>
          <p:spPr>
            <a:xfrm>
              <a:off x="4286" y="2341"/>
              <a:ext cx="223" cy="240"/>
            </a:xfrm>
            <a:prstGeom prst="ellipse">
              <a:avLst/>
            </a:prstGeom>
            <a:solidFill>
              <a:srgbClr val="FFFF99"/>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66</a:t>
              </a:r>
            </a:p>
          </p:txBody>
        </p:sp>
        <p:sp>
          <p:nvSpPr>
            <p:cNvPr id="88100" name="Line 55"/>
            <p:cNvSpPr/>
            <p:nvPr/>
          </p:nvSpPr>
          <p:spPr>
            <a:xfrm flipH="1" flipV="1">
              <a:off x="4286" y="2205"/>
              <a:ext cx="91" cy="136"/>
            </a:xfrm>
            <a:prstGeom prst="line">
              <a:avLst/>
            </a:prstGeom>
            <a:ln w="38100" cap="flat" cmpd="sng">
              <a:solidFill>
                <a:srgbClr val="336699"/>
              </a:solidFill>
              <a:prstDash val="solid"/>
              <a:round/>
              <a:headEnd type="none" w="med" len="med"/>
              <a:tailEnd type="none" w="med" len="med"/>
            </a:ln>
          </p:spPr>
        </p:sp>
        <p:sp>
          <p:nvSpPr>
            <p:cNvPr id="88101" name="Oval 56"/>
            <p:cNvSpPr/>
            <p:nvPr/>
          </p:nvSpPr>
          <p:spPr>
            <a:xfrm>
              <a:off x="3742" y="2024"/>
              <a:ext cx="224" cy="238"/>
            </a:xfrm>
            <a:prstGeom prst="ellipse">
              <a:avLst/>
            </a:prstGeom>
            <a:solidFill>
              <a:srgbClr val="99CCFF"/>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50</a:t>
              </a:r>
            </a:p>
          </p:txBody>
        </p:sp>
        <p:sp>
          <p:nvSpPr>
            <p:cNvPr id="88102" name="Oval 57"/>
            <p:cNvSpPr/>
            <p:nvPr/>
          </p:nvSpPr>
          <p:spPr>
            <a:xfrm>
              <a:off x="3107" y="1979"/>
              <a:ext cx="224"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13</a:t>
              </a:r>
            </a:p>
          </p:txBody>
        </p:sp>
        <p:sp>
          <p:nvSpPr>
            <p:cNvPr id="88103" name="Oval 58"/>
            <p:cNvSpPr/>
            <p:nvPr/>
          </p:nvSpPr>
          <p:spPr>
            <a:xfrm>
              <a:off x="4105" y="2024"/>
              <a:ext cx="224" cy="238"/>
            </a:xfrm>
            <a:prstGeom prst="ellipse">
              <a:avLst/>
            </a:prstGeom>
            <a:solidFill>
              <a:srgbClr val="99CCFF"/>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63</a:t>
              </a:r>
            </a:p>
          </p:txBody>
        </p:sp>
        <p:sp>
          <p:nvSpPr>
            <p:cNvPr id="88104" name="Line 59"/>
            <p:cNvSpPr/>
            <p:nvPr/>
          </p:nvSpPr>
          <p:spPr>
            <a:xfrm flipH="1">
              <a:off x="4241" y="1842"/>
              <a:ext cx="136" cy="182"/>
            </a:xfrm>
            <a:prstGeom prst="line">
              <a:avLst/>
            </a:prstGeom>
            <a:ln w="38100" cap="flat" cmpd="sng">
              <a:solidFill>
                <a:srgbClr val="336699"/>
              </a:solidFill>
              <a:prstDash val="solid"/>
              <a:round/>
              <a:headEnd type="none" w="med" len="med"/>
              <a:tailEnd type="none" w="med" len="med"/>
            </a:ln>
          </p:spPr>
        </p:sp>
        <p:sp>
          <p:nvSpPr>
            <p:cNvPr id="88105" name="Line 60"/>
            <p:cNvSpPr/>
            <p:nvPr/>
          </p:nvSpPr>
          <p:spPr>
            <a:xfrm>
              <a:off x="3696" y="1842"/>
              <a:ext cx="137" cy="182"/>
            </a:xfrm>
            <a:prstGeom prst="line">
              <a:avLst/>
            </a:prstGeom>
            <a:ln w="38100" cap="flat" cmpd="sng">
              <a:solidFill>
                <a:srgbClr val="336699"/>
              </a:solidFill>
              <a:prstDash val="solid"/>
              <a:round/>
              <a:headEnd type="none" w="med" len="med"/>
              <a:tailEnd type="none" w="med" len="med"/>
            </a:ln>
          </p:spPr>
        </p:sp>
        <p:sp>
          <p:nvSpPr>
            <p:cNvPr id="88106" name="Line 61"/>
            <p:cNvSpPr/>
            <p:nvPr/>
          </p:nvSpPr>
          <p:spPr>
            <a:xfrm>
              <a:off x="4830" y="2206"/>
              <a:ext cx="91" cy="136"/>
            </a:xfrm>
            <a:prstGeom prst="line">
              <a:avLst/>
            </a:prstGeom>
            <a:ln w="38100" cap="flat" cmpd="sng">
              <a:solidFill>
                <a:srgbClr val="666699"/>
              </a:solidFill>
              <a:prstDash val="solid"/>
              <a:round/>
              <a:headEnd type="none" w="med" len="med"/>
              <a:tailEnd type="none" w="med" len="med"/>
            </a:ln>
          </p:spPr>
        </p:sp>
        <p:sp>
          <p:nvSpPr>
            <p:cNvPr id="88107" name="Oval 62"/>
            <p:cNvSpPr/>
            <p:nvPr/>
          </p:nvSpPr>
          <p:spPr>
            <a:xfrm>
              <a:off x="4875" y="2342"/>
              <a:ext cx="223" cy="239"/>
            </a:xfrm>
            <a:prstGeom prst="ellipse">
              <a:avLst/>
            </a:prstGeom>
            <a:solidFill>
              <a:srgbClr val="CCFFCC"/>
            </a:solidFill>
            <a:ln w="25400" cap="sq" cmpd="sng">
              <a:solidFill>
                <a:srgbClr val="800000"/>
              </a:solidFill>
              <a:prstDash val="solid"/>
              <a:round/>
              <a:headEnd type="none" w="sm" len="sm"/>
              <a:tailEnd type="none" w="sm" len="sm"/>
            </a:ln>
          </p:spPr>
          <p:txBody>
            <a:bodyPr wrap="none" anchor="ctr" anchorCtr="0"/>
            <a:lstStyle/>
            <a:p>
              <a:pPr algn="ctr"/>
              <a:r>
                <a:rPr lang="en-US" altLang="zh-CN" sz="1600" b="1" dirty="0">
                  <a:solidFill>
                    <a:srgbClr val="003366"/>
                  </a:solidFill>
                  <a:latin typeface="Times New Roman" panose="02020603050405020304" pitchFamily="18" charset="0"/>
                  <a:ea typeface="宋体" panose="02010600030101010101" pitchFamily="2" charset="-122"/>
                </a:rPr>
                <a:t>94</a:t>
              </a:r>
            </a:p>
          </p:txBody>
        </p:sp>
      </p:grpSp>
      <mc:AlternateContent xmlns:mc="http://schemas.openxmlformats.org/markup-compatibility/2006">
        <mc:Choice xmlns:p14="http://schemas.microsoft.com/office/powerpoint/2010/main" Requires="p14">
          <p:contentPart p14:bwMode="auto" r:id="rId2">
            <p14:nvContentPartPr>
              <p14:cNvPr id="5" name="墨迹 4">
                <a:extLst>
                  <a:ext uri="{FF2B5EF4-FFF2-40B4-BE49-F238E27FC236}">
                    <a16:creationId xmlns:a16="http://schemas.microsoft.com/office/drawing/2014/main" id="{8865CE45-76A8-4A3C-BC34-156F95E5A7C1}"/>
                  </a:ext>
                </a:extLst>
              </p14:cNvPr>
              <p14:cNvContentPartPr/>
              <p14:nvPr/>
            </p14:nvContentPartPr>
            <p14:xfrm>
              <a:off x="1593720" y="2165400"/>
              <a:ext cx="2794320" cy="2546640"/>
            </p14:xfrm>
          </p:contentPart>
        </mc:Choice>
        <mc:Fallback>
          <p:pic>
            <p:nvPicPr>
              <p:cNvPr id="5" name="墨迹 4">
                <a:extLst>
                  <a:ext uri="{FF2B5EF4-FFF2-40B4-BE49-F238E27FC236}">
                    <a16:creationId xmlns:a16="http://schemas.microsoft.com/office/drawing/2014/main" id="{8865CE45-76A8-4A3C-BC34-156F95E5A7C1}"/>
                  </a:ext>
                </a:extLst>
              </p:cNvPr>
              <p:cNvPicPr/>
              <p:nvPr/>
            </p:nvPicPr>
            <p:blipFill>
              <a:blip r:embed="rId3"/>
              <a:stretch>
                <a:fillRect/>
              </a:stretch>
            </p:blipFill>
            <p:spPr>
              <a:xfrm>
                <a:off x="1584360" y="2156040"/>
                <a:ext cx="2813040" cy="2565360"/>
              </a:xfrm>
              <a:prstGeom prst="rect">
                <a:avLst/>
              </a:prstGeom>
            </p:spPr>
          </p:pic>
        </mc:Fallback>
      </mc:AlternateContent>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平衡二叉树的删除：和二叉排序树的删除操作一样，只是在删除后增加了平衡化处理</a:t>
            </a:r>
          </a:p>
          <a:p>
            <a:pPr marL="457200" lvl="1" indent="-457200" algn="l" eaLnBrk="1" hangingPunct="1">
              <a:buClrTx/>
              <a:buSzTx/>
              <a:buFont typeface="Wingdings" panose="05000000000000000000" charset="0"/>
              <a:buChar char="l"/>
            </a:pPr>
            <a:r>
              <a:rPr lang="zh-CN" altLang="en-US" sz="2800" b="0" dirty="0">
                <a:latin typeface="黑体" panose="02010609060101010101" pitchFamily="2" charset="-122"/>
                <a:ea typeface="黑体" panose="02010609060101010101" pitchFamily="2" charset="-122"/>
                <a:cs typeface="+mn-ea"/>
              </a:rPr>
              <a:t>具体操作自行搜索资料学习。</a:t>
            </a:r>
          </a:p>
          <a:p>
            <a:pPr lvl="1" algn="l" eaLnBrk="1" latinLnBrk="0" hangingPunct="1">
              <a:lnSpc>
                <a:spcPct val="100000"/>
              </a:lnSpc>
              <a:spcBef>
                <a:spcPct val="20000"/>
              </a:spcBef>
              <a:buClrTx/>
              <a:buSzTx/>
              <a:buChar char="•"/>
            </a:pPr>
            <a:endParaRPr lang="zh-CN" altLang="en-US" sz="28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79</a:t>
            </a:fld>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平衡二叉树的生成举例</a:t>
            </a:r>
          </a:p>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sym typeface="+mn-ea"/>
              </a:rPr>
              <a:t>初始为空的</a:t>
            </a:r>
            <a:r>
              <a:rPr lang="en-US" altLang="zh-CN" sz="2800" dirty="0">
                <a:latin typeface="黑体" panose="02010609060101010101" pitchFamily="2" charset="-122"/>
                <a:ea typeface="黑体" panose="02010609060101010101" pitchFamily="2" charset="-122"/>
                <a:sym typeface="+mn-ea"/>
              </a:rPr>
              <a:t>AVL</a:t>
            </a:r>
            <a:r>
              <a:rPr lang="zh-CN" altLang="en-US" sz="2800" dirty="0">
                <a:latin typeface="黑体" panose="02010609060101010101" pitchFamily="2" charset="-122"/>
                <a:ea typeface="黑体" panose="02010609060101010101" pitchFamily="2" charset="-122"/>
                <a:sym typeface="+mn-ea"/>
              </a:rPr>
              <a:t>树中依次插入</a:t>
            </a:r>
            <a:r>
              <a:rPr lang="en-US" altLang="zh-CN" sz="2800" dirty="0">
                <a:solidFill>
                  <a:srgbClr val="FF0000"/>
                </a:solidFill>
                <a:latin typeface="黑体" panose="02010609060101010101" pitchFamily="2" charset="-122"/>
                <a:ea typeface="黑体" panose="02010609060101010101" pitchFamily="2" charset="-122"/>
                <a:sym typeface="+mn-ea"/>
              </a:rPr>
              <a:t>64,5,13,21,</a:t>
            </a:r>
            <a:r>
              <a:rPr lang="en-US" altLang="zh-CN" sz="2800" dirty="0">
                <a:latin typeface="黑体" panose="02010609060101010101" pitchFamily="2" charset="-122"/>
                <a:ea typeface="黑体" panose="02010609060101010101" pitchFamily="2" charset="-122"/>
                <a:sym typeface="+mn-ea"/>
              </a:rPr>
              <a:t>19,80,75,37,56</a:t>
            </a:r>
            <a:r>
              <a:rPr lang="zh-CN" altLang="en-US" sz="2800" dirty="0">
                <a:latin typeface="黑体" panose="02010609060101010101" pitchFamily="2" charset="-122"/>
                <a:ea typeface="黑体" panose="02010609060101010101" pitchFamily="2" charset="-122"/>
                <a:sym typeface="+mn-ea"/>
              </a:rPr>
              <a:t>，画出</a:t>
            </a:r>
            <a:r>
              <a:rPr lang="en-US" altLang="zh-CN" sz="2800" dirty="0">
                <a:latin typeface="黑体" panose="02010609060101010101" pitchFamily="2" charset="-122"/>
                <a:ea typeface="黑体" panose="02010609060101010101" pitchFamily="2" charset="-122"/>
                <a:sym typeface="+mn-ea"/>
              </a:rPr>
              <a:t>AVL</a:t>
            </a:r>
            <a:r>
              <a:rPr lang="zh-CN" altLang="en-US" sz="2800" dirty="0">
                <a:latin typeface="黑体" panose="02010609060101010101" pitchFamily="2" charset="-122"/>
                <a:ea typeface="黑体" panose="02010609060101010101" pitchFamily="2" charset="-122"/>
                <a:sym typeface="+mn-ea"/>
              </a:rPr>
              <a:t>树的生长过程，并在有旋转时说出旋转的类型。</a:t>
            </a:r>
            <a:endParaRPr lang="zh-CN" altLang="en-US" sz="28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80</a:t>
            </a:fld>
            <a:endParaRPr lang="zh-CN" altLang="en-US"/>
          </a:p>
        </p:txBody>
      </p:sp>
      <p:grpSp>
        <p:nvGrpSpPr>
          <p:cNvPr id="5" name="组合 4"/>
          <p:cNvGrpSpPr/>
          <p:nvPr/>
        </p:nvGrpSpPr>
        <p:grpSpPr>
          <a:xfrm>
            <a:off x="1614170" y="2924810"/>
            <a:ext cx="8717915" cy="2835910"/>
            <a:chOff x="2760" y="5173"/>
            <a:chExt cx="13729" cy="4466"/>
          </a:xfrm>
        </p:grpSpPr>
        <p:grpSp>
          <p:nvGrpSpPr>
            <p:cNvPr id="90116" name="Group 4"/>
            <p:cNvGrpSpPr/>
            <p:nvPr/>
          </p:nvGrpSpPr>
          <p:grpSpPr>
            <a:xfrm>
              <a:off x="3000" y="5173"/>
              <a:ext cx="743" cy="1375"/>
              <a:chOff x="374" y="842"/>
              <a:chExt cx="297" cy="550"/>
            </a:xfrm>
          </p:grpSpPr>
          <p:sp>
            <p:nvSpPr>
              <p:cNvPr id="90117" name="Oval 5"/>
              <p:cNvSpPr/>
              <p:nvPr/>
            </p:nvSpPr>
            <p:spPr>
              <a:xfrm>
                <a:off x="374" y="1104"/>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64</a:t>
                </a:r>
                <a:endParaRPr lang="en-US" altLang="zh-CN" sz="2400" b="1" dirty="0">
                  <a:latin typeface="Times New Roman" panose="02020603050405020304" pitchFamily="18" charset="0"/>
                  <a:ea typeface="宋体" panose="02010600030101010101" pitchFamily="2" charset="-122"/>
                </a:endParaRPr>
              </a:p>
            </p:txBody>
          </p:sp>
          <p:sp>
            <p:nvSpPr>
              <p:cNvPr id="947206" name="Text Box 6"/>
              <p:cNvSpPr txBox="1">
                <a:spLocks noChangeArrowheads="1"/>
              </p:cNvSpPr>
              <p:nvPr/>
            </p:nvSpPr>
            <p:spPr bwMode="auto">
              <a:xfrm>
                <a:off x="460" y="842"/>
                <a:ext cx="211"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0</a:t>
                </a:r>
                <a:endParaRPr kumimoji="0" lang="en-US" altLang="zh-CN" sz="2400" b="1" kern="1200" cap="none" spc="0" normalizeH="0" baseline="0" noProof="0">
                  <a:latin typeface="Times New Roman" panose="02020603050405020304" pitchFamily="18" charset="0"/>
                  <a:ea typeface="宋体" panose="02010600030101010101" pitchFamily="2" charset="-122"/>
                  <a:cs typeface="+mn-cs"/>
                </a:endParaRPr>
              </a:p>
            </p:txBody>
          </p:sp>
        </p:grpSp>
        <p:grpSp>
          <p:nvGrpSpPr>
            <p:cNvPr id="90119" name="Group 7"/>
            <p:cNvGrpSpPr/>
            <p:nvPr/>
          </p:nvGrpSpPr>
          <p:grpSpPr>
            <a:xfrm>
              <a:off x="4080" y="5173"/>
              <a:ext cx="1825" cy="2455"/>
              <a:chOff x="710" y="842"/>
              <a:chExt cx="730" cy="982"/>
            </a:xfrm>
          </p:grpSpPr>
          <p:sp>
            <p:nvSpPr>
              <p:cNvPr id="90120" name="Oval 8"/>
              <p:cNvSpPr/>
              <p:nvPr/>
            </p:nvSpPr>
            <p:spPr>
              <a:xfrm>
                <a:off x="1094" y="1104"/>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64</a:t>
                </a:r>
                <a:endParaRPr lang="en-US" altLang="zh-CN" sz="2400" b="1" dirty="0">
                  <a:latin typeface="Times New Roman" panose="02020603050405020304" pitchFamily="18" charset="0"/>
                  <a:ea typeface="宋体" panose="02010600030101010101" pitchFamily="2" charset="-122"/>
                </a:endParaRPr>
              </a:p>
            </p:txBody>
          </p:sp>
          <p:sp>
            <p:nvSpPr>
              <p:cNvPr id="90121" name="Line 9"/>
              <p:cNvSpPr/>
              <p:nvPr/>
            </p:nvSpPr>
            <p:spPr>
              <a:xfrm flipH="1">
                <a:off x="902" y="1344"/>
                <a:ext cx="240" cy="240"/>
              </a:xfrm>
              <a:prstGeom prst="line">
                <a:avLst/>
              </a:prstGeom>
              <a:ln w="28575" cap="flat" cmpd="sng">
                <a:solidFill>
                  <a:srgbClr val="009900"/>
                </a:solidFill>
                <a:prstDash val="solid"/>
                <a:round/>
                <a:headEnd type="none" w="med" len="med"/>
                <a:tailEnd type="none" w="med" len="med"/>
              </a:ln>
            </p:spPr>
          </p:sp>
          <p:sp>
            <p:nvSpPr>
              <p:cNvPr id="90122" name="Oval 10"/>
              <p:cNvSpPr/>
              <p:nvPr/>
            </p:nvSpPr>
            <p:spPr>
              <a:xfrm>
                <a:off x="710" y="153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a:t>
                </a:r>
                <a:endParaRPr lang="en-US" altLang="zh-CN" sz="2400" b="1" dirty="0">
                  <a:latin typeface="Times New Roman" panose="02020603050405020304" pitchFamily="18" charset="0"/>
                  <a:ea typeface="宋体" panose="02010600030101010101" pitchFamily="2" charset="-122"/>
                </a:endParaRPr>
              </a:p>
            </p:txBody>
          </p:sp>
          <p:sp>
            <p:nvSpPr>
              <p:cNvPr id="947211" name="Text Box 11"/>
              <p:cNvSpPr txBox="1">
                <a:spLocks noChangeArrowheads="1"/>
              </p:cNvSpPr>
              <p:nvPr/>
            </p:nvSpPr>
            <p:spPr bwMode="auto">
              <a:xfrm>
                <a:off x="1132" y="842"/>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endParaRPr kumimoji="0" lang="en-US" altLang="zh-CN" sz="2400" b="1" kern="1200" cap="none" spc="0" normalizeH="0" baseline="0" noProof="0">
                  <a:latin typeface="Times New Roman" panose="02020603050405020304" pitchFamily="18" charset="0"/>
                  <a:ea typeface="宋体" panose="02010600030101010101" pitchFamily="2" charset="-122"/>
                  <a:cs typeface="+mn-cs"/>
                </a:endParaRPr>
              </a:p>
            </p:txBody>
          </p:sp>
          <p:sp>
            <p:nvSpPr>
              <p:cNvPr id="947212" name="Text Box 12"/>
              <p:cNvSpPr txBox="1">
                <a:spLocks noChangeArrowheads="1"/>
              </p:cNvSpPr>
              <p:nvPr/>
            </p:nvSpPr>
            <p:spPr bwMode="auto">
              <a:xfrm>
                <a:off x="786" y="1296"/>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grpSp>
        <p:sp>
          <p:nvSpPr>
            <p:cNvPr id="90125" name="Text Box 13"/>
            <p:cNvSpPr txBox="1"/>
            <p:nvPr/>
          </p:nvSpPr>
          <p:spPr>
            <a:xfrm>
              <a:off x="2760" y="8293"/>
              <a:ext cx="840" cy="725"/>
            </a:xfrm>
            <a:prstGeom prst="rect">
              <a:avLst/>
            </a:prstGeom>
            <a:noFill/>
            <a:ln w="9525">
              <a:noFill/>
            </a:ln>
          </p:spPr>
          <p:txBody>
            <a:bodyPr anchor="t" anchorCtr="0">
              <a:spAutoFit/>
            </a:bodyPr>
            <a:lstStyle/>
            <a:p>
              <a:pPr algn="ctr">
                <a:spcBef>
                  <a:spcPct val="50000"/>
                </a:spcBef>
              </a:pPr>
              <a:r>
                <a:rPr lang="en-US" altLang="zh-CN" sz="2400" b="1" dirty="0">
                  <a:latin typeface="Tahoma" panose="020B0604030504040204" charset="0"/>
                  <a:ea typeface="宋体" panose="02010600030101010101" pitchFamily="2" charset="-122"/>
                </a:rPr>
                <a:t>1</a:t>
              </a:r>
            </a:p>
          </p:txBody>
        </p:sp>
        <p:sp>
          <p:nvSpPr>
            <p:cNvPr id="90126" name="Text Box 14"/>
            <p:cNvSpPr txBox="1"/>
            <p:nvPr/>
          </p:nvSpPr>
          <p:spPr>
            <a:xfrm>
              <a:off x="4440" y="8293"/>
              <a:ext cx="840" cy="725"/>
            </a:xfrm>
            <a:prstGeom prst="rect">
              <a:avLst/>
            </a:prstGeom>
            <a:noFill/>
            <a:ln w="9525">
              <a:noFill/>
            </a:ln>
          </p:spPr>
          <p:txBody>
            <a:bodyPr anchor="t" anchorCtr="0">
              <a:spAutoFit/>
            </a:bodyPr>
            <a:lstStyle/>
            <a:p>
              <a:pPr algn="ctr">
                <a:spcBef>
                  <a:spcPct val="50000"/>
                </a:spcBef>
              </a:pPr>
              <a:r>
                <a:rPr lang="en-US" altLang="zh-CN" sz="2400" b="1" dirty="0">
                  <a:latin typeface="Tahoma" panose="020B0604030504040204" charset="0"/>
                  <a:ea typeface="宋体" panose="02010600030101010101" pitchFamily="2" charset="-122"/>
                </a:rPr>
                <a:t>2</a:t>
              </a:r>
            </a:p>
          </p:txBody>
        </p:sp>
        <p:grpSp>
          <p:nvGrpSpPr>
            <p:cNvPr id="90127" name="Group 15"/>
            <p:cNvGrpSpPr/>
            <p:nvPr/>
          </p:nvGrpSpPr>
          <p:grpSpPr>
            <a:xfrm>
              <a:off x="6240" y="5173"/>
              <a:ext cx="6745" cy="3535"/>
              <a:chOff x="1536" y="2784"/>
              <a:chExt cx="2698" cy="1414"/>
            </a:xfrm>
          </p:grpSpPr>
          <p:sp>
            <p:nvSpPr>
              <p:cNvPr id="90128" name="Oval 16"/>
              <p:cNvSpPr/>
              <p:nvPr/>
            </p:nvSpPr>
            <p:spPr>
              <a:xfrm>
                <a:off x="1920" y="304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gradFill>
                      <a:gsLst>
                        <a:gs pos="0">
                          <a:srgbClr val="7B32B2"/>
                        </a:gs>
                        <a:gs pos="100000">
                          <a:srgbClr val="401A5D"/>
                        </a:gs>
                      </a:gsLst>
                      <a:lin scaled="0"/>
                    </a:gradFill>
                    <a:latin typeface="Times New Roman" panose="02020603050405020304" pitchFamily="18" charset="0"/>
                    <a:ea typeface="宋体" panose="02010600030101010101" pitchFamily="2" charset="-122"/>
                  </a:rPr>
                  <a:t>64</a:t>
                </a:r>
              </a:p>
            </p:txBody>
          </p:sp>
          <p:sp>
            <p:nvSpPr>
              <p:cNvPr id="90129" name="Line 17"/>
              <p:cNvSpPr/>
              <p:nvPr/>
            </p:nvSpPr>
            <p:spPr>
              <a:xfrm flipH="1">
                <a:off x="1728" y="3286"/>
                <a:ext cx="240" cy="240"/>
              </a:xfrm>
              <a:prstGeom prst="line">
                <a:avLst/>
              </a:prstGeom>
              <a:ln w="28575" cap="flat" cmpd="sng">
                <a:solidFill>
                  <a:srgbClr val="009900"/>
                </a:solidFill>
                <a:prstDash val="solid"/>
                <a:round/>
                <a:headEnd type="none" w="med" len="med"/>
                <a:tailEnd type="none" w="med" len="med"/>
              </a:ln>
            </p:spPr>
          </p:sp>
          <p:sp>
            <p:nvSpPr>
              <p:cNvPr id="90130" name="Oval 18"/>
              <p:cNvSpPr/>
              <p:nvPr/>
            </p:nvSpPr>
            <p:spPr>
              <a:xfrm>
                <a:off x="1536" y="3478"/>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5</a:t>
                </a:r>
              </a:p>
            </p:txBody>
          </p:sp>
          <p:sp>
            <p:nvSpPr>
              <p:cNvPr id="90131" name="Line 19"/>
              <p:cNvSpPr/>
              <p:nvPr/>
            </p:nvSpPr>
            <p:spPr>
              <a:xfrm>
                <a:off x="1776" y="3718"/>
                <a:ext cx="240" cy="240"/>
              </a:xfrm>
              <a:prstGeom prst="line">
                <a:avLst/>
              </a:prstGeom>
              <a:ln w="28575" cap="flat" cmpd="sng">
                <a:solidFill>
                  <a:srgbClr val="009900"/>
                </a:solidFill>
                <a:prstDash val="solid"/>
                <a:round/>
                <a:headEnd type="none" w="med" len="med"/>
                <a:tailEnd type="none" w="med" len="med"/>
              </a:ln>
            </p:spPr>
          </p:sp>
          <p:sp>
            <p:nvSpPr>
              <p:cNvPr id="947220" name="Oval 20"/>
              <p:cNvSpPr>
                <a:spLocks noChangeArrowheads="1"/>
              </p:cNvSpPr>
              <p:nvPr/>
            </p:nvSpPr>
            <p:spPr bwMode="auto">
              <a:xfrm>
                <a:off x="1920" y="3910"/>
                <a:ext cx="288" cy="288"/>
              </a:xfrm>
              <a:prstGeom prst="ellipse">
                <a:avLst/>
              </a:prstGeom>
              <a:solidFill>
                <a:srgbClr val="FFFFCC"/>
              </a:solidFill>
              <a:ln w="28575">
                <a:solidFill>
                  <a:srgbClr val="009900"/>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rgbClr val="7030A0"/>
                    </a:solidFill>
                    <a:effectLst/>
                    <a:uLnTx/>
                    <a:uFillTx/>
                    <a:latin typeface="Times New Roman" panose="02020603050405020304" pitchFamily="18" charset="0"/>
                    <a:ea typeface="宋体" panose="02010600030101010101" pitchFamily="2" charset="-122"/>
                    <a:cs typeface="+mn-cs"/>
                  </a:rPr>
                  <a:t>13</a:t>
                </a:r>
              </a:p>
            </p:txBody>
          </p:sp>
          <p:sp>
            <p:nvSpPr>
              <p:cNvPr id="947221" name="Text Box 21"/>
              <p:cNvSpPr txBox="1">
                <a:spLocks noChangeArrowheads="1"/>
              </p:cNvSpPr>
              <p:nvPr/>
            </p:nvSpPr>
            <p:spPr bwMode="auto">
              <a:xfrm>
                <a:off x="2044" y="3670"/>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7222" name="Text Box 22"/>
              <p:cNvSpPr txBox="1">
                <a:spLocks noChangeArrowheads="1"/>
              </p:cNvSpPr>
              <p:nvPr/>
            </p:nvSpPr>
            <p:spPr bwMode="auto">
              <a:xfrm>
                <a:off x="1574" y="3216"/>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endParaRPr kumimoji="0" lang="en-US" altLang="zh-CN" sz="2400" b="1" kern="1200" cap="none" spc="0" normalizeH="0" baseline="0" noProof="0">
                  <a:latin typeface="Times New Roman" panose="02020603050405020304" pitchFamily="18" charset="0"/>
                  <a:ea typeface="宋体" panose="02010600030101010101" pitchFamily="2" charset="-122"/>
                  <a:cs typeface="+mn-cs"/>
                </a:endParaRPr>
              </a:p>
            </p:txBody>
          </p:sp>
          <p:sp>
            <p:nvSpPr>
              <p:cNvPr id="947223" name="Text Box 23"/>
              <p:cNvSpPr txBox="1">
                <a:spLocks noChangeArrowheads="1"/>
              </p:cNvSpPr>
              <p:nvPr/>
            </p:nvSpPr>
            <p:spPr bwMode="auto">
              <a:xfrm>
                <a:off x="2054" y="2784"/>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endParaRPr kumimoji="0" lang="en-US" altLang="zh-CN" sz="2400" b="1" kern="1200" cap="none" spc="0" normalizeH="0" baseline="0" noProof="0">
                  <a:latin typeface="Times New Roman" panose="02020603050405020304" pitchFamily="18" charset="0"/>
                  <a:ea typeface="宋体" panose="02010600030101010101" pitchFamily="2" charset="-122"/>
                  <a:cs typeface="+mn-cs"/>
                </a:endParaRPr>
              </a:p>
            </p:txBody>
          </p:sp>
          <p:sp>
            <p:nvSpPr>
              <p:cNvPr id="90136" name="AutoShape 24"/>
              <p:cNvSpPr/>
              <p:nvPr/>
            </p:nvSpPr>
            <p:spPr>
              <a:xfrm>
                <a:off x="2266" y="3478"/>
                <a:ext cx="768" cy="144"/>
              </a:xfrm>
              <a:prstGeom prst="rightArrow">
                <a:avLst>
                  <a:gd name="adj1" fmla="val 50000"/>
                  <a:gd name="adj2" fmla="val 133259"/>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90137" name="Text Box 25"/>
              <p:cNvSpPr txBox="1"/>
              <p:nvPr/>
            </p:nvSpPr>
            <p:spPr>
              <a:xfrm>
                <a:off x="2361" y="3258"/>
                <a:ext cx="498" cy="251"/>
              </a:xfrm>
              <a:prstGeom prst="rect">
                <a:avLst/>
              </a:prstGeom>
              <a:noFill/>
              <a:ln w="9525">
                <a:noFill/>
              </a:ln>
            </p:spPr>
            <p:txBody>
              <a:bodyPr wrap="none" anchor="t" anchorCtr="0">
                <a:spAutoFit/>
              </a:bodyPr>
              <a:lstStyle/>
              <a:p>
                <a:r>
                  <a:rPr lang="en-US" altLang="zh-CN" sz="2000" b="1" dirty="0">
                    <a:latin typeface="Times New Roman" panose="02020603050405020304" pitchFamily="18" charset="0"/>
                    <a:ea typeface="宋体" panose="02010600030101010101" pitchFamily="2" charset="-122"/>
                  </a:rPr>
                  <a:t>LR</a:t>
                </a:r>
                <a:r>
                  <a:rPr lang="zh-CN" altLang="en-US" sz="2000" b="1" dirty="0">
                    <a:latin typeface="Times New Roman" panose="02020603050405020304" pitchFamily="18" charset="0"/>
                    <a:ea typeface="宋体" panose="02010600030101010101" pitchFamily="2" charset="-122"/>
                  </a:rPr>
                  <a:t>型</a:t>
                </a:r>
              </a:p>
            </p:txBody>
          </p:sp>
          <p:sp>
            <p:nvSpPr>
              <p:cNvPr id="947226" name="Oval 26"/>
              <p:cNvSpPr>
                <a:spLocks noChangeArrowheads="1"/>
              </p:cNvSpPr>
              <p:nvPr/>
            </p:nvSpPr>
            <p:spPr bwMode="auto">
              <a:xfrm>
                <a:off x="3562" y="3046"/>
                <a:ext cx="288" cy="288"/>
              </a:xfrm>
              <a:prstGeom prst="ellipse">
                <a:avLst/>
              </a:prstGeom>
              <a:solidFill>
                <a:srgbClr val="FFFFCC"/>
              </a:solidFill>
              <a:ln w="28575">
                <a:solidFill>
                  <a:srgbClr val="009900"/>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rgbClr val="CC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13</a:t>
                </a:r>
                <a:endPar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39" name="Oval 27"/>
              <p:cNvSpPr/>
              <p:nvPr/>
            </p:nvSpPr>
            <p:spPr>
              <a:xfrm>
                <a:off x="3130" y="3478"/>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a:t>
                </a:r>
                <a:endParaRPr lang="en-US" altLang="zh-CN" sz="2400" b="1" dirty="0">
                  <a:latin typeface="Times New Roman" panose="02020603050405020304" pitchFamily="18" charset="0"/>
                  <a:ea typeface="宋体" panose="02010600030101010101" pitchFamily="2" charset="-122"/>
                </a:endParaRPr>
              </a:p>
            </p:txBody>
          </p:sp>
          <p:sp>
            <p:nvSpPr>
              <p:cNvPr id="90140" name="Line 28"/>
              <p:cNvSpPr/>
              <p:nvPr/>
            </p:nvSpPr>
            <p:spPr>
              <a:xfrm flipH="1">
                <a:off x="3370" y="3286"/>
                <a:ext cx="240" cy="240"/>
              </a:xfrm>
              <a:prstGeom prst="line">
                <a:avLst/>
              </a:prstGeom>
              <a:ln w="28575" cap="flat" cmpd="sng">
                <a:solidFill>
                  <a:srgbClr val="009900"/>
                </a:solidFill>
                <a:prstDash val="solid"/>
                <a:round/>
                <a:headEnd type="none" w="med" len="med"/>
                <a:tailEnd type="none" w="med" len="med"/>
              </a:ln>
            </p:spPr>
          </p:sp>
          <p:sp>
            <p:nvSpPr>
              <p:cNvPr id="90141" name="Line 29"/>
              <p:cNvSpPr/>
              <p:nvPr/>
            </p:nvSpPr>
            <p:spPr>
              <a:xfrm>
                <a:off x="3802" y="3286"/>
                <a:ext cx="240" cy="240"/>
              </a:xfrm>
              <a:prstGeom prst="line">
                <a:avLst/>
              </a:prstGeom>
              <a:ln w="28575" cap="flat" cmpd="sng">
                <a:solidFill>
                  <a:srgbClr val="009900"/>
                </a:solidFill>
                <a:prstDash val="solid"/>
                <a:round/>
                <a:headEnd type="none" w="med" len="med"/>
                <a:tailEnd type="none" w="med" len="med"/>
              </a:ln>
            </p:spPr>
          </p:sp>
          <p:sp>
            <p:nvSpPr>
              <p:cNvPr id="90142" name="Oval 30"/>
              <p:cNvSpPr/>
              <p:nvPr/>
            </p:nvSpPr>
            <p:spPr>
              <a:xfrm>
                <a:off x="3946" y="3478"/>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64</a:t>
                </a:r>
                <a:endParaRPr lang="en-US" altLang="zh-CN" sz="2400" b="1" dirty="0">
                  <a:latin typeface="Times New Roman" panose="02020603050405020304" pitchFamily="18" charset="0"/>
                  <a:ea typeface="宋体" panose="02010600030101010101" pitchFamily="2" charset="-122"/>
                </a:endParaRPr>
              </a:p>
            </p:txBody>
          </p:sp>
          <p:sp>
            <p:nvSpPr>
              <p:cNvPr id="947231" name="Text Box 31"/>
              <p:cNvSpPr txBox="1">
                <a:spLocks noChangeArrowheads="1"/>
              </p:cNvSpPr>
              <p:nvPr/>
            </p:nvSpPr>
            <p:spPr bwMode="auto">
              <a:xfrm>
                <a:off x="3168" y="3216"/>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7232" name="Text Box 32"/>
              <p:cNvSpPr txBox="1">
                <a:spLocks noChangeArrowheads="1"/>
              </p:cNvSpPr>
              <p:nvPr/>
            </p:nvSpPr>
            <p:spPr bwMode="auto">
              <a:xfrm>
                <a:off x="3984" y="3216"/>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7233" name="Text Box 33"/>
              <p:cNvSpPr txBox="1">
                <a:spLocks noChangeArrowheads="1"/>
              </p:cNvSpPr>
              <p:nvPr/>
            </p:nvSpPr>
            <p:spPr bwMode="auto">
              <a:xfrm>
                <a:off x="3648" y="2784"/>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grpSp>
        <p:sp>
          <p:nvSpPr>
            <p:cNvPr id="90146" name="Text Box 34"/>
            <p:cNvSpPr txBox="1"/>
            <p:nvPr/>
          </p:nvSpPr>
          <p:spPr>
            <a:xfrm>
              <a:off x="8580" y="7440"/>
              <a:ext cx="840" cy="725"/>
            </a:xfrm>
            <a:prstGeom prst="rect">
              <a:avLst/>
            </a:prstGeom>
            <a:noFill/>
            <a:ln w="9525">
              <a:noFill/>
            </a:ln>
          </p:spPr>
          <p:txBody>
            <a:bodyPr anchor="t" anchorCtr="0">
              <a:spAutoFit/>
            </a:bodyPr>
            <a:lstStyle/>
            <a:p>
              <a:pPr algn="ctr">
                <a:spcBef>
                  <a:spcPct val="50000"/>
                </a:spcBef>
              </a:pPr>
              <a:r>
                <a:rPr lang="en-US" altLang="zh-CN" sz="2400" b="1" dirty="0">
                  <a:latin typeface="Tahoma" panose="020B0604030504040204" charset="0"/>
                  <a:ea typeface="宋体" panose="02010600030101010101" pitchFamily="2" charset="-122"/>
                </a:rPr>
                <a:t>3</a:t>
              </a:r>
            </a:p>
          </p:txBody>
        </p:sp>
        <p:grpSp>
          <p:nvGrpSpPr>
            <p:cNvPr id="90147" name="Group 35"/>
            <p:cNvGrpSpPr/>
            <p:nvPr/>
          </p:nvGrpSpPr>
          <p:grpSpPr>
            <a:xfrm>
              <a:off x="13345" y="5173"/>
              <a:ext cx="3145" cy="4467"/>
              <a:chOff x="4378" y="2069"/>
              <a:chExt cx="1258" cy="1787"/>
            </a:xfrm>
          </p:grpSpPr>
          <p:grpSp>
            <p:nvGrpSpPr>
              <p:cNvPr id="90148" name="Group 36"/>
              <p:cNvGrpSpPr/>
              <p:nvPr/>
            </p:nvGrpSpPr>
            <p:grpSpPr>
              <a:xfrm>
                <a:off x="4378" y="2069"/>
                <a:ext cx="1258" cy="1414"/>
                <a:chOff x="4272" y="842"/>
                <a:chExt cx="1258" cy="1414"/>
              </a:xfrm>
            </p:grpSpPr>
            <p:sp>
              <p:nvSpPr>
                <p:cNvPr id="947237" name="Oval 37"/>
                <p:cNvSpPr>
                  <a:spLocks noChangeArrowheads="1"/>
                </p:cNvSpPr>
                <p:nvPr/>
              </p:nvSpPr>
              <p:spPr bwMode="auto">
                <a:xfrm>
                  <a:off x="4704" y="1104"/>
                  <a:ext cx="288" cy="288"/>
                </a:xfrm>
                <a:prstGeom prst="ellipse">
                  <a:avLst/>
                </a:prstGeom>
                <a:solidFill>
                  <a:srgbClr val="FFFFCC"/>
                </a:solidFill>
                <a:ln w="28575">
                  <a:solidFill>
                    <a:srgbClr val="009900"/>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rgbClr val="CC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13</a:t>
                  </a:r>
                  <a:endPar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50" name="Line 38"/>
                <p:cNvSpPr/>
                <p:nvPr/>
              </p:nvSpPr>
              <p:spPr>
                <a:xfrm flipH="1">
                  <a:off x="4512" y="1344"/>
                  <a:ext cx="240" cy="240"/>
                </a:xfrm>
                <a:prstGeom prst="line">
                  <a:avLst/>
                </a:prstGeom>
                <a:ln w="28575" cap="flat" cmpd="sng">
                  <a:solidFill>
                    <a:srgbClr val="009900"/>
                  </a:solidFill>
                  <a:prstDash val="solid"/>
                  <a:round/>
                  <a:headEnd type="none" w="med" len="med"/>
                  <a:tailEnd type="none" w="med" len="med"/>
                </a:ln>
              </p:spPr>
            </p:sp>
            <p:sp>
              <p:nvSpPr>
                <p:cNvPr id="90151" name="Oval 39"/>
                <p:cNvSpPr/>
                <p:nvPr/>
              </p:nvSpPr>
              <p:spPr>
                <a:xfrm>
                  <a:off x="4272" y="153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a:t>
                  </a:r>
                  <a:endParaRPr lang="en-US" altLang="zh-CN" sz="2400" b="1" dirty="0">
                    <a:latin typeface="Times New Roman" panose="02020603050405020304" pitchFamily="18" charset="0"/>
                    <a:ea typeface="宋体" panose="02010600030101010101" pitchFamily="2" charset="-122"/>
                  </a:endParaRPr>
                </a:p>
              </p:txBody>
            </p:sp>
            <p:sp>
              <p:nvSpPr>
                <p:cNvPr id="90152" name="Line 40"/>
                <p:cNvSpPr/>
                <p:nvPr/>
              </p:nvSpPr>
              <p:spPr>
                <a:xfrm>
                  <a:off x="4944" y="1344"/>
                  <a:ext cx="240" cy="240"/>
                </a:xfrm>
                <a:prstGeom prst="line">
                  <a:avLst/>
                </a:prstGeom>
                <a:ln w="28575" cap="flat" cmpd="sng">
                  <a:solidFill>
                    <a:srgbClr val="009900"/>
                  </a:solidFill>
                  <a:prstDash val="solid"/>
                  <a:round/>
                  <a:headEnd type="none" w="med" len="med"/>
                  <a:tailEnd type="none" w="med" len="med"/>
                </a:ln>
              </p:spPr>
            </p:sp>
            <p:sp>
              <p:nvSpPr>
                <p:cNvPr id="90153" name="Line 41"/>
                <p:cNvSpPr/>
                <p:nvPr/>
              </p:nvSpPr>
              <p:spPr>
                <a:xfrm flipH="1">
                  <a:off x="4944" y="1776"/>
                  <a:ext cx="240" cy="240"/>
                </a:xfrm>
                <a:prstGeom prst="line">
                  <a:avLst/>
                </a:prstGeom>
                <a:ln w="28575" cap="flat" cmpd="sng">
                  <a:solidFill>
                    <a:srgbClr val="009900"/>
                  </a:solidFill>
                  <a:prstDash val="solid"/>
                  <a:round/>
                  <a:headEnd type="none" w="med" len="med"/>
                  <a:tailEnd type="none" w="med" len="med"/>
                </a:ln>
              </p:spPr>
            </p:sp>
            <p:sp>
              <p:nvSpPr>
                <p:cNvPr id="90154" name="Oval 42"/>
                <p:cNvSpPr/>
                <p:nvPr/>
              </p:nvSpPr>
              <p:spPr>
                <a:xfrm>
                  <a:off x="4704" y="1968"/>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21</a:t>
                  </a:r>
                  <a:endParaRPr lang="en-US" altLang="zh-CN" sz="2400" b="1" dirty="0">
                    <a:latin typeface="Times New Roman" panose="02020603050405020304" pitchFamily="18" charset="0"/>
                    <a:ea typeface="宋体" panose="02010600030101010101" pitchFamily="2" charset="-122"/>
                  </a:endParaRPr>
                </a:p>
              </p:txBody>
            </p:sp>
            <p:sp>
              <p:nvSpPr>
                <p:cNvPr id="947243" name="Text Box 43"/>
                <p:cNvSpPr txBox="1">
                  <a:spLocks noChangeArrowheads="1"/>
                </p:cNvSpPr>
                <p:nvPr/>
              </p:nvSpPr>
              <p:spPr bwMode="auto">
                <a:xfrm>
                  <a:off x="4742" y="1706"/>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7244" name="Text Box 44"/>
                <p:cNvSpPr txBox="1">
                  <a:spLocks noChangeArrowheads="1"/>
                </p:cNvSpPr>
                <p:nvPr/>
              </p:nvSpPr>
              <p:spPr bwMode="auto">
                <a:xfrm>
                  <a:off x="5222" y="1274"/>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47245" name="Text Box 45"/>
                <p:cNvSpPr txBox="1">
                  <a:spLocks noChangeArrowheads="1"/>
                </p:cNvSpPr>
                <p:nvPr/>
              </p:nvSpPr>
              <p:spPr bwMode="auto">
                <a:xfrm>
                  <a:off x="4790" y="842"/>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0158" name="Oval 46"/>
                <p:cNvSpPr/>
                <p:nvPr/>
              </p:nvSpPr>
              <p:spPr>
                <a:xfrm>
                  <a:off x="5088" y="153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64</a:t>
                  </a:r>
                  <a:endParaRPr lang="en-US" altLang="zh-CN" sz="2400" b="1" dirty="0">
                    <a:latin typeface="Times New Roman" panose="02020603050405020304" pitchFamily="18" charset="0"/>
                    <a:ea typeface="宋体" panose="02010600030101010101" pitchFamily="2" charset="-122"/>
                  </a:endParaRPr>
                </a:p>
              </p:txBody>
            </p:sp>
          </p:grpSp>
          <p:sp>
            <p:nvSpPr>
              <p:cNvPr id="90159" name="Text Box 47"/>
              <p:cNvSpPr txBox="1"/>
              <p:nvPr/>
            </p:nvSpPr>
            <p:spPr>
              <a:xfrm>
                <a:off x="4921" y="3566"/>
                <a:ext cx="336" cy="290"/>
              </a:xfrm>
              <a:prstGeom prst="rect">
                <a:avLst/>
              </a:prstGeom>
              <a:noFill/>
              <a:ln w="9525">
                <a:noFill/>
              </a:ln>
            </p:spPr>
            <p:txBody>
              <a:bodyPr anchor="t" anchorCtr="0">
                <a:spAutoFit/>
              </a:bodyPr>
              <a:lstStyle/>
              <a:p>
                <a:pPr algn="ctr">
                  <a:spcBef>
                    <a:spcPct val="50000"/>
                  </a:spcBef>
                </a:pPr>
                <a:r>
                  <a:rPr lang="en-US" altLang="zh-CN" sz="2400" b="1" dirty="0">
                    <a:latin typeface="Tahoma" panose="020B0604030504040204" charset="0"/>
                    <a:ea typeface="宋体" panose="02010600030101010101" pitchFamily="2" charset="-122"/>
                  </a:rPr>
                  <a:t>4</a:t>
                </a:r>
              </a:p>
            </p:txBody>
          </p:sp>
        </p:grpSp>
      </p:grpSp>
      <p:sp>
        <p:nvSpPr>
          <p:cNvPr id="6" name="Text Box 25"/>
          <p:cNvSpPr txBox="1"/>
          <p:nvPr/>
        </p:nvSpPr>
        <p:spPr>
          <a:xfrm>
            <a:off x="5015548" y="3322955"/>
            <a:ext cx="1203960" cy="398780"/>
          </a:xfrm>
          <a:prstGeom prst="rect">
            <a:avLst/>
          </a:prstGeom>
          <a:noFill/>
          <a:ln w="9525">
            <a:noFill/>
          </a:ln>
        </p:spPr>
        <p:txBody>
          <a:bodyPr wrap="none" anchor="t" anchorCtr="0">
            <a:spAutoFit/>
          </a:bodyPr>
          <a:lstStyle/>
          <a:p>
            <a:r>
              <a:rPr lang="zh-CN" altLang="en-US" sz="2000" b="1" dirty="0">
                <a:latin typeface="Times New Roman" panose="02020603050405020304" pitchFamily="18" charset="0"/>
                <a:ea typeface="宋体" panose="02010600030101010101" pitchFamily="2" charset="-122"/>
              </a:rPr>
              <a:t>左右双旋</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平衡二叉树的生成举例</a:t>
            </a:r>
          </a:p>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sym typeface="+mn-ea"/>
              </a:rPr>
              <a:t>在完成</a:t>
            </a:r>
            <a:r>
              <a:rPr lang="en-US" altLang="zh-CN" sz="2800" i="1" u="sng" dirty="0">
                <a:latin typeface="黑体" panose="02010609060101010101" pitchFamily="2" charset="-122"/>
                <a:ea typeface="黑体" panose="02010609060101010101" pitchFamily="2" charset="-122"/>
                <a:sym typeface="+mn-ea"/>
              </a:rPr>
              <a:t>64,5,13,21</a:t>
            </a:r>
            <a:r>
              <a:rPr lang="zh-CN" altLang="en-US" sz="2800" dirty="0">
                <a:latin typeface="黑体" panose="02010609060101010101" pitchFamily="2" charset="-122"/>
                <a:ea typeface="黑体" panose="02010609060101010101" pitchFamily="2" charset="-122"/>
                <a:sym typeface="+mn-ea"/>
              </a:rPr>
              <a:t>后，继续插入</a:t>
            </a:r>
            <a:r>
              <a:rPr lang="en-US" altLang="zh-CN" sz="2800" dirty="0">
                <a:solidFill>
                  <a:srgbClr val="FF0000"/>
                </a:solidFill>
                <a:latin typeface="黑体" panose="02010609060101010101" pitchFamily="2" charset="-122"/>
                <a:ea typeface="黑体" panose="02010609060101010101" pitchFamily="2" charset="-122"/>
                <a:sym typeface="+mn-ea"/>
              </a:rPr>
              <a:t>19,</a:t>
            </a:r>
            <a:r>
              <a:rPr lang="en-US" altLang="zh-CN" sz="2800" dirty="0">
                <a:latin typeface="黑体" panose="02010609060101010101" pitchFamily="2" charset="-122"/>
                <a:ea typeface="黑体" panose="02010609060101010101" pitchFamily="2" charset="-122"/>
                <a:sym typeface="+mn-ea"/>
              </a:rPr>
              <a:t>80,75,37,56</a:t>
            </a:r>
            <a:r>
              <a:rPr lang="zh-CN" altLang="en-US" sz="2800" dirty="0">
                <a:latin typeface="黑体" panose="02010609060101010101" pitchFamily="2" charset="-122"/>
                <a:ea typeface="黑体" panose="02010609060101010101" pitchFamily="2" charset="-122"/>
                <a:sym typeface="+mn-ea"/>
              </a:rPr>
              <a:t>时该树的生长过程</a:t>
            </a:r>
            <a:endParaRPr lang="zh-CN" altLang="en-US" sz="28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81</a:t>
            </a:fld>
            <a:endParaRPr lang="zh-CN" altLang="en-US"/>
          </a:p>
        </p:txBody>
      </p:sp>
      <p:grpSp>
        <p:nvGrpSpPr>
          <p:cNvPr id="8" name="组合 7"/>
          <p:cNvGrpSpPr/>
          <p:nvPr/>
        </p:nvGrpSpPr>
        <p:grpSpPr>
          <a:xfrm>
            <a:off x="3503930" y="2565400"/>
            <a:ext cx="5289550" cy="2853690"/>
            <a:chOff x="5518" y="4040"/>
            <a:chExt cx="8330" cy="4494"/>
          </a:xfrm>
        </p:grpSpPr>
        <p:grpSp>
          <p:nvGrpSpPr>
            <p:cNvPr id="91141" name="Group 5"/>
            <p:cNvGrpSpPr/>
            <p:nvPr/>
          </p:nvGrpSpPr>
          <p:grpSpPr>
            <a:xfrm>
              <a:off x="5518" y="4040"/>
              <a:ext cx="8330" cy="4495"/>
              <a:chOff x="316" y="2208"/>
              <a:chExt cx="3332" cy="1798"/>
            </a:xfrm>
          </p:grpSpPr>
          <p:sp>
            <p:nvSpPr>
              <p:cNvPr id="91142" name="Line 6"/>
              <p:cNvSpPr/>
              <p:nvPr/>
            </p:nvSpPr>
            <p:spPr>
              <a:xfrm flipH="1">
                <a:off x="2400" y="2736"/>
                <a:ext cx="240" cy="240"/>
              </a:xfrm>
              <a:prstGeom prst="line">
                <a:avLst/>
              </a:prstGeom>
              <a:ln w="28575" cap="flat" cmpd="sng">
                <a:solidFill>
                  <a:srgbClr val="009900"/>
                </a:solidFill>
                <a:prstDash val="solid"/>
                <a:round/>
                <a:headEnd type="none" w="med" len="med"/>
                <a:tailEnd type="none" w="med" len="med"/>
              </a:ln>
            </p:spPr>
          </p:sp>
          <p:sp>
            <p:nvSpPr>
              <p:cNvPr id="948231" name="Oval 7"/>
              <p:cNvSpPr>
                <a:spLocks noChangeArrowheads="1"/>
              </p:cNvSpPr>
              <p:nvPr/>
            </p:nvSpPr>
            <p:spPr bwMode="auto">
              <a:xfrm>
                <a:off x="700" y="2470"/>
                <a:ext cx="288" cy="288"/>
              </a:xfrm>
              <a:prstGeom prst="ellipse">
                <a:avLst/>
              </a:prstGeom>
              <a:solidFill>
                <a:srgbClr val="FFFFCC"/>
              </a:solidFill>
              <a:ln w="28575">
                <a:solidFill>
                  <a:srgbClr val="009900"/>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rgbClr val="CC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13</a:t>
                </a: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1144" name="Line 8"/>
              <p:cNvSpPr/>
              <p:nvPr/>
            </p:nvSpPr>
            <p:spPr>
              <a:xfrm flipH="1">
                <a:off x="508" y="2710"/>
                <a:ext cx="240" cy="240"/>
              </a:xfrm>
              <a:prstGeom prst="line">
                <a:avLst/>
              </a:prstGeom>
              <a:ln w="28575" cap="flat" cmpd="sng">
                <a:solidFill>
                  <a:srgbClr val="009900"/>
                </a:solidFill>
                <a:prstDash val="solid"/>
                <a:round/>
                <a:headEnd type="none" w="med" len="med"/>
                <a:tailEnd type="none" w="med" len="med"/>
              </a:ln>
            </p:spPr>
          </p:sp>
          <p:sp>
            <p:nvSpPr>
              <p:cNvPr id="91145" name="Oval 9"/>
              <p:cNvSpPr/>
              <p:nvPr/>
            </p:nvSpPr>
            <p:spPr>
              <a:xfrm>
                <a:off x="316" y="290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91146" name="Line 10"/>
              <p:cNvSpPr/>
              <p:nvPr/>
            </p:nvSpPr>
            <p:spPr>
              <a:xfrm>
                <a:off x="940" y="2710"/>
                <a:ext cx="240" cy="240"/>
              </a:xfrm>
              <a:prstGeom prst="line">
                <a:avLst/>
              </a:prstGeom>
              <a:ln w="28575" cap="flat" cmpd="sng">
                <a:solidFill>
                  <a:srgbClr val="009900"/>
                </a:solidFill>
                <a:prstDash val="solid"/>
                <a:round/>
                <a:headEnd type="none" w="med" len="med"/>
                <a:tailEnd type="none" w="med" len="med"/>
              </a:ln>
            </p:spPr>
          </p:sp>
          <p:sp>
            <p:nvSpPr>
              <p:cNvPr id="91147" name="Oval 11"/>
              <p:cNvSpPr/>
              <p:nvPr/>
            </p:nvSpPr>
            <p:spPr>
              <a:xfrm>
                <a:off x="1132" y="290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64</a:t>
                </a:r>
              </a:p>
            </p:txBody>
          </p:sp>
          <p:sp>
            <p:nvSpPr>
              <p:cNvPr id="91148" name="Line 12"/>
              <p:cNvSpPr/>
              <p:nvPr/>
            </p:nvSpPr>
            <p:spPr>
              <a:xfrm flipH="1">
                <a:off x="892" y="3142"/>
                <a:ext cx="288" cy="288"/>
              </a:xfrm>
              <a:prstGeom prst="line">
                <a:avLst/>
              </a:prstGeom>
              <a:ln w="28575" cap="flat" cmpd="sng">
                <a:solidFill>
                  <a:srgbClr val="009900"/>
                </a:solidFill>
                <a:prstDash val="solid"/>
                <a:round/>
                <a:headEnd type="none" w="med" len="med"/>
                <a:tailEnd type="none" w="med" len="med"/>
              </a:ln>
            </p:spPr>
          </p:sp>
          <p:sp>
            <p:nvSpPr>
              <p:cNvPr id="91149" name="Oval 13"/>
              <p:cNvSpPr/>
              <p:nvPr/>
            </p:nvSpPr>
            <p:spPr>
              <a:xfrm>
                <a:off x="700" y="3334"/>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21</a:t>
                </a:r>
              </a:p>
            </p:txBody>
          </p:sp>
          <p:sp>
            <p:nvSpPr>
              <p:cNvPr id="91150" name="Line 14"/>
              <p:cNvSpPr/>
              <p:nvPr/>
            </p:nvSpPr>
            <p:spPr>
              <a:xfrm flipH="1">
                <a:off x="460" y="3574"/>
                <a:ext cx="288" cy="288"/>
              </a:xfrm>
              <a:prstGeom prst="line">
                <a:avLst/>
              </a:prstGeom>
              <a:ln w="28575" cap="flat" cmpd="sng">
                <a:solidFill>
                  <a:srgbClr val="009900"/>
                </a:solidFill>
                <a:prstDash val="solid"/>
                <a:round/>
                <a:headEnd type="none" w="med" len="med"/>
                <a:tailEnd type="none" w="med" len="med"/>
              </a:ln>
            </p:spPr>
          </p:sp>
          <p:sp>
            <p:nvSpPr>
              <p:cNvPr id="91151" name="Oval 15"/>
              <p:cNvSpPr/>
              <p:nvPr/>
            </p:nvSpPr>
            <p:spPr>
              <a:xfrm>
                <a:off x="316" y="3718"/>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19</a:t>
                </a:r>
              </a:p>
            </p:txBody>
          </p:sp>
          <p:sp>
            <p:nvSpPr>
              <p:cNvPr id="948240" name="Text Box 16"/>
              <p:cNvSpPr txBox="1">
                <a:spLocks noChangeArrowheads="1"/>
              </p:cNvSpPr>
              <p:nvPr/>
            </p:nvSpPr>
            <p:spPr bwMode="auto">
              <a:xfrm>
                <a:off x="354" y="3456"/>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8241" name="Text Box 17"/>
              <p:cNvSpPr txBox="1">
                <a:spLocks noChangeArrowheads="1"/>
              </p:cNvSpPr>
              <p:nvPr/>
            </p:nvSpPr>
            <p:spPr bwMode="auto">
              <a:xfrm>
                <a:off x="738" y="3072"/>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48242" name="Text Box 18"/>
              <p:cNvSpPr txBox="1">
                <a:spLocks noChangeArrowheads="1"/>
              </p:cNvSpPr>
              <p:nvPr/>
            </p:nvSpPr>
            <p:spPr bwMode="auto">
              <a:xfrm>
                <a:off x="1228" y="2640"/>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sp>
            <p:nvSpPr>
              <p:cNvPr id="91155" name="AutoShape 19"/>
              <p:cNvSpPr/>
              <p:nvPr/>
            </p:nvSpPr>
            <p:spPr>
              <a:xfrm>
                <a:off x="1440" y="3312"/>
                <a:ext cx="768" cy="144"/>
              </a:xfrm>
              <a:prstGeom prst="rightArrow">
                <a:avLst>
                  <a:gd name="adj1" fmla="val 50000"/>
                  <a:gd name="adj2" fmla="val 133259"/>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948244" name="Text Box 20"/>
              <p:cNvSpPr txBox="1">
                <a:spLocks noChangeArrowheads="1"/>
              </p:cNvSpPr>
              <p:nvPr/>
            </p:nvSpPr>
            <p:spPr bwMode="auto">
              <a:xfrm>
                <a:off x="1506" y="2979"/>
                <a:ext cx="564" cy="290"/>
              </a:xfrm>
              <a:prstGeom prst="rect">
                <a:avLst/>
              </a:prstGeom>
              <a:noFill/>
              <a:ln w="9525">
                <a:noFill/>
                <a:miter lim="800000"/>
              </a:ln>
              <a:effectLst/>
            </p:spPr>
            <p:txBody>
              <a:bodyPr wrap="none">
                <a:spAutoFit/>
              </a:bodyPr>
              <a:lstStyle/>
              <a:p>
                <a:r>
                  <a:rPr lang="en-US" altLang="zh-CN" sz="2400" b="1" noProof="1">
                    <a:effectLst>
                      <a:outerShdw blurRad="38100" dist="38100" dir="2700000">
                        <a:srgbClr val="C0C0C0"/>
                      </a:outerShdw>
                    </a:effectLst>
                    <a:latin typeface="Times New Roman" panose="02020603050405020304" pitchFamily="18" charset="0"/>
                    <a:ea typeface="仿宋" panose="02010609060101010101" charset="-122"/>
                    <a:cs typeface="+mn-cs"/>
                  </a:rPr>
                  <a:t>LL</a:t>
                </a:r>
                <a:r>
                  <a:rPr lang="zh-CN" altLang="en-US" sz="2400" b="1" noProof="1">
                    <a:effectLst>
                      <a:outerShdw blurRad="38100" dist="38100" dir="2700000">
                        <a:srgbClr val="C0C0C0"/>
                      </a:outerShdw>
                    </a:effectLst>
                    <a:latin typeface="Times New Roman" panose="02020603050405020304" pitchFamily="18" charset="0"/>
                    <a:ea typeface="仿宋" panose="02010609060101010101" charset="-122"/>
                    <a:cs typeface="+mn-cs"/>
                  </a:rPr>
                  <a:t>型</a:t>
                </a:r>
                <a:endParaRPr lang="zh-CN" altLang="en-US" sz="2400" noProof="1">
                  <a:latin typeface="Times New Roman" panose="02020603050405020304" pitchFamily="18" charset="0"/>
                  <a:ea typeface="宋体" panose="02010600030101010101" pitchFamily="2" charset="-122"/>
                </a:endParaRPr>
              </a:p>
            </p:txBody>
          </p:sp>
          <p:sp>
            <p:nvSpPr>
              <p:cNvPr id="91157" name="Oval 21"/>
              <p:cNvSpPr/>
              <p:nvPr/>
            </p:nvSpPr>
            <p:spPr>
              <a:xfrm>
                <a:off x="2208" y="2928"/>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91158" name="Line 22"/>
              <p:cNvSpPr/>
              <p:nvPr/>
            </p:nvSpPr>
            <p:spPr>
              <a:xfrm>
                <a:off x="2784" y="2736"/>
                <a:ext cx="240" cy="240"/>
              </a:xfrm>
              <a:prstGeom prst="line">
                <a:avLst/>
              </a:prstGeom>
              <a:ln w="28575" cap="flat" cmpd="sng">
                <a:solidFill>
                  <a:srgbClr val="009900"/>
                </a:solidFill>
                <a:prstDash val="solid"/>
                <a:round/>
                <a:headEnd type="none" w="med" len="med"/>
                <a:tailEnd type="none" w="med" len="med"/>
              </a:ln>
            </p:spPr>
          </p:sp>
          <p:sp>
            <p:nvSpPr>
              <p:cNvPr id="948247" name="Oval 23"/>
              <p:cNvSpPr>
                <a:spLocks noChangeArrowheads="1"/>
              </p:cNvSpPr>
              <p:nvPr/>
            </p:nvSpPr>
            <p:spPr bwMode="auto">
              <a:xfrm>
                <a:off x="2592" y="2496"/>
                <a:ext cx="288" cy="288"/>
              </a:xfrm>
              <a:prstGeom prst="ellipse">
                <a:avLst/>
              </a:prstGeom>
              <a:solidFill>
                <a:srgbClr val="FFFFCC"/>
              </a:solidFill>
              <a:ln w="28575">
                <a:solidFill>
                  <a:srgbClr val="009900"/>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rgbClr val="CC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13</a:t>
                </a: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1160" name="Line 24"/>
              <p:cNvSpPr/>
              <p:nvPr/>
            </p:nvSpPr>
            <p:spPr>
              <a:xfrm>
                <a:off x="3168" y="3168"/>
                <a:ext cx="288" cy="288"/>
              </a:xfrm>
              <a:prstGeom prst="line">
                <a:avLst/>
              </a:prstGeom>
              <a:ln w="28575" cap="flat" cmpd="sng">
                <a:solidFill>
                  <a:srgbClr val="009900"/>
                </a:solidFill>
                <a:prstDash val="solid"/>
                <a:round/>
                <a:headEnd type="none" w="med" len="med"/>
                <a:tailEnd type="none" w="med" len="med"/>
              </a:ln>
            </p:spPr>
          </p:sp>
          <p:sp>
            <p:nvSpPr>
              <p:cNvPr id="91161" name="Oval 25"/>
              <p:cNvSpPr/>
              <p:nvPr/>
            </p:nvSpPr>
            <p:spPr>
              <a:xfrm>
                <a:off x="3360" y="336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64</a:t>
                </a:r>
                <a:endParaRPr lang="en-US" altLang="zh-CN" sz="2400" dirty="0">
                  <a:latin typeface="Times New Roman" panose="02020603050405020304" pitchFamily="18" charset="0"/>
                  <a:ea typeface="宋体" panose="02010600030101010101" pitchFamily="2" charset="-122"/>
                </a:endParaRPr>
              </a:p>
            </p:txBody>
          </p:sp>
          <p:sp>
            <p:nvSpPr>
              <p:cNvPr id="91162" name="Line 26"/>
              <p:cNvSpPr/>
              <p:nvPr/>
            </p:nvSpPr>
            <p:spPr>
              <a:xfrm flipH="1">
                <a:off x="2736" y="3168"/>
                <a:ext cx="288" cy="288"/>
              </a:xfrm>
              <a:prstGeom prst="line">
                <a:avLst/>
              </a:prstGeom>
              <a:ln w="28575" cap="flat" cmpd="sng">
                <a:solidFill>
                  <a:srgbClr val="009900"/>
                </a:solidFill>
                <a:prstDash val="solid"/>
                <a:round/>
                <a:headEnd type="none" w="med" len="med"/>
                <a:tailEnd type="none" w="med" len="med"/>
              </a:ln>
            </p:spPr>
          </p:sp>
          <p:sp>
            <p:nvSpPr>
              <p:cNvPr id="91163" name="Oval 27"/>
              <p:cNvSpPr/>
              <p:nvPr/>
            </p:nvSpPr>
            <p:spPr>
              <a:xfrm>
                <a:off x="2592" y="336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19</a:t>
                </a:r>
                <a:endParaRPr lang="en-US" altLang="zh-CN" sz="2400" dirty="0">
                  <a:latin typeface="Times New Roman" panose="02020603050405020304" pitchFamily="18" charset="0"/>
                  <a:ea typeface="宋体" panose="02010600030101010101" pitchFamily="2" charset="-122"/>
                </a:endParaRPr>
              </a:p>
            </p:txBody>
          </p:sp>
          <p:sp>
            <p:nvSpPr>
              <p:cNvPr id="948252" name="Text Box 28"/>
              <p:cNvSpPr txBox="1">
                <a:spLocks noChangeArrowheads="1"/>
              </p:cNvSpPr>
              <p:nvPr/>
            </p:nvSpPr>
            <p:spPr bwMode="auto">
              <a:xfrm>
                <a:off x="2630" y="3098"/>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8253" name="Text Box 29"/>
              <p:cNvSpPr txBox="1">
                <a:spLocks noChangeArrowheads="1"/>
              </p:cNvSpPr>
              <p:nvPr/>
            </p:nvSpPr>
            <p:spPr bwMode="auto">
              <a:xfrm>
                <a:off x="3398" y="3098"/>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8254" name="Text Box 30"/>
              <p:cNvSpPr txBox="1">
                <a:spLocks noChangeArrowheads="1"/>
              </p:cNvSpPr>
              <p:nvPr/>
            </p:nvSpPr>
            <p:spPr bwMode="auto">
              <a:xfrm>
                <a:off x="3014" y="2666"/>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8255" name="Text Box 31"/>
              <p:cNvSpPr txBox="1">
                <a:spLocks noChangeArrowheads="1"/>
              </p:cNvSpPr>
              <p:nvPr/>
            </p:nvSpPr>
            <p:spPr bwMode="auto">
              <a:xfrm>
                <a:off x="2678" y="2208"/>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1168" name="Oval 32"/>
              <p:cNvSpPr/>
              <p:nvPr/>
            </p:nvSpPr>
            <p:spPr>
              <a:xfrm>
                <a:off x="2928" y="2928"/>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21</a:t>
                </a:r>
                <a:endParaRPr lang="en-US" altLang="zh-CN" sz="2400" dirty="0">
                  <a:latin typeface="Times New Roman" panose="02020603050405020304" pitchFamily="18" charset="0"/>
                  <a:ea typeface="宋体" panose="02010600030101010101" pitchFamily="2" charset="-122"/>
                </a:endParaRPr>
              </a:p>
            </p:txBody>
          </p:sp>
          <p:sp>
            <p:nvSpPr>
              <p:cNvPr id="948257" name="Text Box 33"/>
              <p:cNvSpPr txBox="1">
                <a:spLocks noChangeArrowheads="1"/>
              </p:cNvSpPr>
              <p:nvPr/>
            </p:nvSpPr>
            <p:spPr bwMode="auto">
              <a:xfrm>
                <a:off x="882" y="2208"/>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grpSp>
        <p:sp>
          <p:nvSpPr>
            <p:cNvPr id="7" name="Text Box 47"/>
            <p:cNvSpPr txBox="1"/>
            <p:nvPr/>
          </p:nvSpPr>
          <p:spPr>
            <a:xfrm>
              <a:off x="8783" y="7554"/>
              <a:ext cx="840" cy="725"/>
            </a:xfrm>
            <a:prstGeom prst="rect">
              <a:avLst/>
            </a:prstGeom>
            <a:noFill/>
            <a:ln w="9525">
              <a:noFill/>
            </a:ln>
          </p:spPr>
          <p:txBody>
            <a:bodyPr anchor="t" anchorCtr="0">
              <a:spAutoFit/>
            </a:bodyPr>
            <a:lstStyle/>
            <a:p>
              <a:pPr algn="ctr">
                <a:spcBef>
                  <a:spcPct val="50000"/>
                </a:spcBef>
              </a:pPr>
              <a:r>
                <a:rPr lang="en-US" altLang="zh-CN" sz="2400" b="1" dirty="0">
                  <a:latin typeface="Tahoma" panose="020B0604030504040204" charset="0"/>
                  <a:ea typeface="宋体" panose="02010600030101010101" pitchFamily="2" charset="-122"/>
                </a:rPr>
                <a:t>5</a:t>
              </a:r>
            </a:p>
          </p:txBody>
        </p:sp>
      </p:grpSp>
      <p:sp>
        <p:nvSpPr>
          <p:cNvPr id="9" name="Text Box 25"/>
          <p:cNvSpPr txBox="1"/>
          <p:nvPr/>
        </p:nvSpPr>
        <p:spPr>
          <a:xfrm>
            <a:off x="5408613" y="3390900"/>
            <a:ext cx="1203960" cy="398780"/>
          </a:xfrm>
          <a:prstGeom prst="rect">
            <a:avLst/>
          </a:prstGeom>
          <a:noFill/>
          <a:ln w="9525">
            <a:noFill/>
          </a:ln>
        </p:spPr>
        <p:txBody>
          <a:bodyPr wrap="none" anchor="t" anchorCtr="0">
            <a:spAutoFit/>
          </a:bodyPr>
          <a:lstStyle/>
          <a:p>
            <a:r>
              <a:rPr lang="zh-CN" altLang="en-US" sz="2000" b="1" dirty="0">
                <a:latin typeface="Times New Roman" panose="02020603050405020304" pitchFamily="18" charset="0"/>
                <a:ea typeface="宋体" panose="02010600030101010101" pitchFamily="2" charset="-122"/>
              </a:rPr>
              <a:t>单向右旋</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平衡二叉树的生成举例</a:t>
            </a:r>
          </a:p>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sym typeface="+mn-ea"/>
              </a:rPr>
              <a:t>在完成</a:t>
            </a:r>
            <a:r>
              <a:rPr lang="en-US" altLang="zh-CN" sz="2800" i="1" u="sng" dirty="0">
                <a:latin typeface="黑体" panose="02010609060101010101" pitchFamily="2" charset="-122"/>
                <a:ea typeface="黑体" panose="02010609060101010101" pitchFamily="2" charset="-122"/>
                <a:sym typeface="+mn-ea"/>
              </a:rPr>
              <a:t>64,5,13,21,19</a:t>
            </a:r>
            <a:r>
              <a:rPr lang="zh-CN" altLang="en-US" sz="2800" dirty="0">
                <a:latin typeface="黑体" panose="02010609060101010101" pitchFamily="2" charset="-122"/>
                <a:ea typeface="黑体" panose="02010609060101010101" pitchFamily="2" charset="-122"/>
                <a:sym typeface="+mn-ea"/>
              </a:rPr>
              <a:t>后，继续插入</a:t>
            </a:r>
            <a:r>
              <a:rPr lang="en-US" altLang="zh-CN" sz="2800" dirty="0">
                <a:solidFill>
                  <a:srgbClr val="FF0000"/>
                </a:solidFill>
                <a:latin typeface="黑体" panose="02010609060101010101" pitchFamily="2" charset="-122"/>
                <a:ea typeface="黑体" panose="02010609060101010101" pitchFamily="2" charset="-122"/>
                <a:sym typeface="+mn-ea"/>
              </a:rPr>
              <a:t>80</a:t>
            </a:r>
            <a:r>
              <a:rPr lang="en-US" altLang="zh-CN" sz="2800" dirty="0">
                <a:latin typeface="黑体" panose="02010609060101010101" pitchFamily="2" charset="-122"/>
                <a:ea typeface="黑体" panose="02010609060101010101" pitchFamily="2" charset="-122"/>
                <a:sym typeface="+mn-ea"/>
              </a:rPr>
              <a:t>,75,37,56</a:t>
            </a:r>
            <a:r>
              <a:rPr lang="zh-CN" altLang="en-US" sz="2800" dirty="0">
                <a:latin typeface="黑体" panose="02010609060101010101" pitchFamily="2" charset="-122"/>
                <a:ea typeface="黑体" panose="02010609060101010101" pitchFamily="2" charset="-122"/>
                <a:sym typeface="+mn-ea"/>
              </a:rPr>
              <a:t>时该树的生长过程</a:t>
            </a:r>
            <a:endParaRPr lang="zh-CN" altLang="en-US" sz="28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82</a:t>
            </a:fld>
            <a:endParaRPr lang="zh-CN" altLang="en-US"/>
          </a:p>
        </p:txBody>
      </p:sp>
      <p:grpSp>
        <p:nvGrpSpPr>
          <p:cNvPr id="6" name="组合 5"/>
          <p:cNvGrpSpPr/>
          <p:nvPr/>
        </p:nvGrpSpPr>
        <p:grpSpPr>
          <a:xfrm>
            <a:off x="2567305" y="2565400"/>
            <a:ext cx="6781800" cy="3126740"/>
            <a:chOff x="4043" y="4040"/>
            <a:chExt cx="10680" cy="4924"/>
          </a:xfrm>
        </p:grpSpPr>
        <p:grpSp>
          <p:nvGrpSpPr>
            <p:cNvPr id="5" name="组合 4"/>
            <p:cNvGrpSpPr/>
            <p:nvPr/>
          </p:nvGrpSpPr>
          <p:grpSpPr>
            <a:xfrm>
              <a:off x="4043" y="4040"/>
              <a:ext cx="10680" cy="4614"/>
              <a:chOff x="4043" y="4040"/>
              <a:chExt cx="10680" cy="4614"/>
            </a:xfrm>
          </p:grpSpPr>
          <p:grpSp>
            <p:nvGrpSpPr>
              <p:cNvPr id="92165" name="Group 5"/>
              <p:cNvGrpSpPr/>
              <p:nvPr/>
            </p:nvGrpSpPr>
            <p:grpSpPr>
              <a:xfrm>
                <a:off x="4043" y="4040"/>
                <a:ext cx="4463" cy="4615"/>
                <a:chOff x="3638" y="2138"/>
                <a:chExt cx="1785" cy="1846"/>
              </a:xfrm>
            </p:grpSpPr>
            <p:sp>
              <p:nvSpPr>
                <p:cNvPr id="92166" name="Line 6"/>
                <p:cNvSpPr/>
                <p:nvPr/>
              </p:nvSpPr>
              <p:spPr>
                <a:xfrm flipH="1">
                  <a:off x="3830" y="2640"/>
                  <a:ext cx="240" cy="240"/>
                </a:xfrm>
                <a:prstGeom prst="line">
                  <a:avLst/>
                </a:prstGeom>
                <a:ln w="28575" cap="flat" cmpd="sng">
                  <a:solidFill>
                    <a:srgbClr val="009900"/>
                  </a:solidFill>
                  <a:prstDash val="solid"/>
                  <a:round/>
                  <a:headEnd type="none" w="med" len="med"/>
                  <a:tailEnd type="none" w="med" len="med"/>
                </a:ln>
              </p:spPr>
            </p:sp>
            <p:sp>
              <p:nvSpPr>
                <p:cNvPr id="92167" name="Oval 7"/>
                <p:cNvSpPr/>
                <p:nvPr/>
              </p:nvSpPr>
              <p:spPr>
                <a:xfrm>
                  <a:off x="3638" y="283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92168" name="Oval 8"/>
                <p:cNvSpPr/>
                <p:nvPr/>
              </p:nvSpPr>
              <p:spPr>
                <a:xfrm>
                  <a:off x="4022" y="240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13</a:t>
                  </a:r>
                </a:p>
              </p:txBody>
            </p:sp>
            <p:sp>
              <p:nvSpPr>
                <p:cNvPr id="92169" name="Line 9"/>
                <p:cNvSpPr/>
                <p:nvPr/>
              </p:nvSpPr>
              <p:spPr>
                <a:xfrm>
                  <a:off x="4262" y="2640"/>
                  <a:ext cx="240" cy="240"/>
                </a:xfrm>
                <a:prstGeom prst="line">
                  <a:avLst/>
                </a:prstGeom>
                <a:ln w="28575" cap="flat" cmpd="sng">
                  <a:solidFill>
                    <a:srgbClr val="009900"/>
                  </a:solidFill>
                  <a:prstDash val="solid"/>
                  <a:round/>
                  <a:headEnd type="none" w="med" len="med"/>
                  <a:tailEnd type="none" w="med" len="med"/>
                </a:ln>
              </p:spPr>
            </p:sp>
            <p:sp>
              <p:nvSpPr>
                <p:cNvPr id="92170" name="Oval 10"/>
                <p:cNvSpPr/>
                <p:nvPr/>
              </p:nvSpPr>
              <p:spPr>
                <a:xfrm>
                  <a:off x="4406" y="283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21</a:t>
                  </a:r>
                </a:p>
              </p:txBody>
            </p:sp>
            <p:sp>
              <p:nvSpPr>
                <p:cNvPr id="92171" name="Line 11"/>
                <p:cNvSpPr/>
                <p:nvPr/>
              </p:nvSpPr>
              <p:spPr>
                <a:xfrm>
                  <a:off x="4646" y="3072"/>
                  <a:ext cx="240" cy="240"/>
                </a:xfrm>
                <a:prstGeom prst="line">
                  <a:avLst/>
                </a:prstGeom>
                <a:ln w="28575" cap="flat" cmpd="sng">
                  <a:solidFill>
                    <a:srgbClr val="009900"/>
                  </a:solidFill>
                  <a:prstDash val="solid"/>
                  <a:round/>
                  <a:headEnd type="none" w="med" len="med"/>
                  <a:tailEnd type="none" w="med" len="med"/>
                </a:ln>
              </p:spPr>
            </p:sp>
            <p:sp>
              <p:nvSpPr>
                <p:cNvPr id="92172" name="Line 12"/>
                <p:cNvSpPr/>
                <p:nvPr/>
              </p:nvSpPr>
              <p:spPr>
                <a:xfrm>
                  <a:off x="4982" y="3504"/>
                  <a:ext cx="288" cy="288"/>
                </a:xfrm>
                <a:prstGeom prst="line">
                  <a:avLst/>
                </a:prstGeom>
                <a:ln w="28575" cap="flat" cmpd="sng">
                  <a:solidFill>
                    <a:srgbClr val="009900"/>
                  </a:solidFill>
                  <a:prstDash val="solid"/>
                  <a:round/>
                  <a:headEnd type="none" w="med" len="med"/>
                  <a:tailEnd type="none" w="med" len="med"/>
                </a:ln>
              </p:spPr>
            </p:sp>
            <p:sp>
              <p:nvSpPr>
                <p:cNvPr id="92173" name="Oval 13"/>
                <p:cNvSpPr/>
                <p:nvPr/>
              </p:nvSpPr>
              <p:spPr>
                <a:xfrm>
                  <a:off x="5126" y="369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80</a:t>
                  </a:r>
                  <a:endParaRPr lang="en-US" altLang="zh-CN" sz="2400" dirty="0">
                    <a:latin typeface="Times New Roman" panose="02020603050405020304" pitchFamily="18" charset="0"/>
                    <a:ea typeface="宋体" panose="02010600030101010101" pitchFamily="2" charset="-122"/>
                  </a:endParaRPr>
                </a:p>
              </p:txBody>
            </p:sp>
            <p:sp>
              <p:nvSpPr>
                <p:cNvPr id="92174" name="Line 14"/>
                <p:cNvSpPr/>
                <p:nvPr/>
              </p:nvSpPr>
              <p:spPr>
                <a:xfrm flipH="1">
                  <a:off x="4166" y="3072"/>
                  <a:ext cx="288" cy="288"/>
                </a:xfrm>
                <a:prstGeom prst="line">
                  <a:avLst/>
                </a:prstGeom>
                <a:ln w="28575" cap="flat" cmpd="sng">
                  <a:solidFill>
                    <a:srgbClr val="009900"/>
                  </a:solidFill>
                  <a:prstDash val="solid"/>
                  <a:round/>
                  <a:headEnd type="none" w="med" len="med"/>
                  <a:tailEnd type="none" w="med" len="med"/>
                </a:ln>
              </p:spPr>
            </p:sp>
            <p:sp>
              <p:nvSpPr>
                <p:cNvPr id="92175" name="Oval 15"/>
                <p:cNvSpPr/>
                <p:nvPr/>
              </p:nvSpPr>
              <p:spPr>
                <a:xfrm>
                  <a:off x="4022" y="3264"/>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19</a:t>
                  </a:r>
                  <a:endParaRPr lang="en-US" altLang="zh-CN" sz="2400" dirty="0">
                    <a:latin typeface="Times New Roman" panose="02020603050405020304" pitchFamily="18" charset="0"/>
                    <a:ea typeface="宋体" panose="02010600030101010101" pitchFamily="2" charset="-122"/>
                  </a:endParaRPr>
                </a:p>
              </p:txBody>
            </p:sp>
            <p:sp>
              <p:nvSpPr>
                <p:cNvPr id="92176" name="Oval 16"/>
                <p:cNvSpPr/>
                <p:nvPr/>
              </p:nvSpPr>
              <p:spPr>
                <a:xfrm>
                  <a:off x="4790" y="3264"/>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64</a:t>
                  </a:r>
                </a:p>
              </p:txBody>
            </p:sp>
            <p:sp>
              <p:nvSpPr>
                <p:cNvPr id="949265" name="Text Box 17"/>
                <p:cNvSpPr txBox="1">
                  <a:spLocks noChangeArrowheads="1"/>
                </p:cNvSpPr>
                <p:nvPr/>
              </p:nvSpPr>
              <p:spPr bwMode="auto">
                <a:xfrm>
                  <a:off x="5212" y="3434"/>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9266" name="Text Box 18"/>
                <p:cNvSpPr txBox="1">
                  <a:spLocks noChangeArrowheads="1"/>
                </p:cNvSpPr>
                <p:nvPr/>
              </p:nvSpPr>
              <p:spPr bwMode="auto">
                <a:xfrm>
                  <a:off x="4876" y="3002"/>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49267" name="Text Box 19"/>
                <p:cNvSpPr txBox="1">
                  <a:spLocks noChangeArrowheads="1"/>
                </p:cNvSpPr>
                <p:nvPr/>
              </p:nvSpPr>
              <p:spPr bwMode="auto">
                <a:xfrm>
                  <a:off x="4492" y="2570"/>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49268" name="Text Box 20"/>
                <p:cNvSpPr txBox="1">
                  <a:spLocks noChangeArrowheads="1"/>
                </p:cNvSpPr>
                <p:nvPr/>
              </p:nvSpPr>
              <p:spPr bwMode="auto">
                <a:xfrm>
                  <a:off x="4108" y="2138"/>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p>
              </p:txBody>
            </p:sp>
          </p:grpSp>
          <p:grpSp>
            <p:nvGrpSpPr>
              <p:cNvPr id="92181" name="Group 21"/>
              <p:cNvGrpSpPr/>
              <p:nvPr/>
            </p:nvGrpSpPr>
            <p:grpSpPr>
              <a:xfrm>
                <a:off x="8843" y="4520"/>
                <a:ext cx="5880" cy="3240"/>
                <a:chOff x="192" y="192"/>
                <a:chExt cx="2352" cy="1296"/>
              </a:xfrm>
            </p:grpSpPr>
            <p:sp>
              <p:nvSpPr>
                <p:cNvPr id="92182" name="Line 22"/>
                <p:cNvSpPr/>
                <p:nvPr/>
              </p:nvSpPr>
              <p:spPr>
                <a:xfrm>
                  <a:off x="1680" y="528"/>
                  <a:ext cx="288" cy="288"/>
                </a:xfrm>
                <a:prstGeom prst="line">
                  <a:avLst/>
                </a:prstGeom>
                <a:ln w="28575" cap="flat" cmpd="sng">
                  <a:solidFill>
                    <a:schemeClr val="tx1"/>
                  </a:solidFill>
                  <a:prstDash val="solid"/>
                  <a:round/>
                  <a:headEnd type="none" w="med" len="med"/>
                  <a:tailEnd type="none" w="med" len="med"/>
                </a:ln>
              </p:spPr>
            </p:sp>
            <p:sp>
              <p:nvSpPr>
                <p:cNvPr id="92183" name="Line 23"/>
                <p:cNvSpPr/>
                <p:nvPr/>
              </p:nvSpPr>
              <p:spPr>
                <a:xfrm>
                  <a:off x="2064" y="960"/>
                  <a:ext cx="288" cy="288"/>
                </a:xfrm>
                <a:prstGeom prst="line">
                  <a:avLst/>
                </a:prstGeom>
                <a:ln w="28575" cap="flat" cmpd="sng">
                  <a:solidFill>
                    <a:schemeClr val="tx1"/>
                  </a:solidFill>
                  <a:prstDash val="solid"/>
                  <a:round/>
                  <a:headEnd type="none" w="med" len="med"/>
                  <a:tailEnd type="none" w="med" len="med"/>
                </a:ln>
              </p:spPr>
            </p:sp>
            <p:sp>
              <p:nvSpPr>
                <p:cNvPr id="949272" name="Text Box 24"/>
                <p:cNvSpPr txBox="1">
                  <a:spLocks noChangeArrowheads="1"/>
                </p:cNvSpPr>
                <p:nvPr/>
              </p:nvSpPr>
              <p:spPr bwMode="auto">
                <a:xfrm>
                  <a:off x="1008" y="528"/>
                  <a:ext cx="211"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0</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2185" name="Line 25"/>
                <p:cNvSpPr/>
                <p:nvPr/>
              </p:nvSpPr>
              <p:spPr>
                <a:xfrm flipH="1">
                  <a:off x="912" y="1008"/>
                  <a:ext cx="240" cy="240"/>
                </a:xfrm>
                <a:prstGeom prst="line">
                  <a:avLst/>
                </a:prstGeom>
                <a:ln w="28575" cap="flat" cmpd="sng">
                  <a:solidFill>
                    <a:schemeClr val="tx1"/>
                  </a:solidFill>
                  <a:prstDash val="solid"/>
                  <a:round/>
                  <a:headEnd type="none" w="med" len="med"/>
                  <a:tailEnd type="none" w="med" len="med"/>
                </a:ln>
              </p:spPr>
            </p:sp>
            <p:sp>
              <p:nvSpPr>
                <p:cNvPr id="92186" name="Oval 26"/>
                <p:cNvSpPr/>
                <p:nvPr/>
              </p:nvSpPr>
              <p:spPr>
                <a:xfrm>
                  <a:off x="672" y="120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92187" name="Oval 27"/>
                <p:cNvSpPr/>
                <p:nvPr/>
              </p:nvSpPr>
              <p:spPr>
                <a:xfrm>
                  <a:off x="1872" y="768"/>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64</a:t>
                  </a:r>
                  <a:endParaRPr lang="en-US" altLang="zh-CN" sz="2400" dirty="0">
                    <a:latin typeface="Times New Roman" panose="02020603050405020304" pitchFamily="18" charset="0"/>
                    <a:ea typeface="宋体" panose="02010600030101010101" pitchFamily="2" charset="-122"/>
                  </a:endParaRPr>
                </a:p>
              </p:txBody>
            </p:sp>
            <p:sp>
              <p:nvSpPr>
                <p:cNvPr id="949276" name="Text Box 28"/>
                <p:cNvSpPr txBox="1">
                  <a:spLocks noChangeArrowheads="1"/>
                </p:cNvSpPr>
                <p:nvPr/>
              </p:nvSpPr>
              <p:spPr bwMode="auto">
                <a:xfrm>
                  <a:off x="1728" y="192"/>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2189" name="Line 29"/>
                <p:cNvSpPr/>
                <p:nvPr/>
              </p:nvSpPr>
              <p:spPr>
                <a:xfrm>
                  <a:off x="1296" y="1008"/>
                  <a:ext cx="288" cy="288"/>
                </a:xfrm>
                <a:prstGeom prst="line">
                  <a:avLst/>
                </a:prstGeom>
                <a:ln w="28575" cap="flat" cmpd="sng">
                  <a:solidFill>
                    <a:schemeClr val="tx1"/>
                  </a:solidFill>
                  <a:prstDash val="solid"/>
                  <a:round/>
                  <a:headEnd type="none" w="med" len="med"/>
                  <a:tailEnd type="none" w="med" len="med"/>
                </a:ln>
              </p:spPr>
            </p:sp>
            <p:sp>
              <p:nvSpPr>
                <p:cNvPr id="92190" name="Oval 30"/>
                <p:cNvSpPr/>
                <p:nvPr/>
              </p:nvSpPr>
              <p:spPr>
                <a:xfrm>
                  <a:off x="1440" y="120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19</a:t>
                  </a:r>
                  <a:endParaRPr lang="en-US" altLang="zh-CN" sz="2400" dirty="0">
                    <a:latin typeface="Times New Roman" panose="02020603050405020304" pitchFamily="18" charset="0"/>
                    <a:ea typeface="宋体" panose="02010600030101010101" pitchFamily="2" charset="-122"/>
                  </a:endParaRPr>
                </a:p>
              </p:txBody>
            </p:sp>
            <p:sp>
              <p:nvSpPr>
                <p:cNvPr id="92191" name="AutoShape 31"/>
                <p:cNvSpPr/>
                <p:nvPr/>
              </p:nvSpPr>
              <p:spPr>
                <a:xfrm>
                  <a:off x="192" y="816"/>
                  <a:ext cx="768" cy="144"/>
                </a:xfrm>
                <a:prstGeom prst="rightArrow">
                  <a:avLst>
                    <a:gd name="adj1" fmla="val 50000"/>
                    <a:gd name="adj2" fmla="val 133259"/>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949280" name="Text Box 32"/>
                <p:cNvSpPr txBox="1">
                  <a:spLocks noChangeArrowheads="1"/>
                </p:cNvSpPr>
                <p:nvPr/>
              </p:nvSpPr>
              <p:spPr bwMode="auto">
                <a:xfrm>
                  <a:off x="192" y="480"/>
                  <a:ext cx="586" cy="290"/>
                </a:xfrm>
                <a:prstGeom prst="rect">
                  <a:avLst/>
                </a:prstGeom>
                <a:noFill/>
                <a:ln w="9525">
                  <a:noFill/>
                  <a:miter lim="800000"/>
                </a:ln>
                <a:effectLst/>
              </p:spPr>
              <p:txBody>
                <a:bodyPr wrap="none">
                  <a:spAutoFit/>
                </a:bodyPr>
                <a:lstStyle/>
                <a:p>
                  <a:r>
                    <a:rPr lang="en-US" altLang="zh-CN" sz="2400" b="1" noProof="1">
                      <a:effectLst>
                        <a:outerShdw blurRad="38100" dist="38100" dir="2700000">
                          <a:srgbClr val="C0C0C0"/>
                        </a:outerShdw>
                      </a:effectLst>
                      <a:latin typeface="Times New Roman" panose="02020603050405020304" pitchFamily="18" charset="0"/>
                      <a:ea typeface="仿宋" panose="02010609060101010101" charset="-122"/>
                      <a:cs typeface="+mn-cs"/>
                    </a:rPr>
                    <a:t>RR</a:t>
                  </a:r>
                  <a:r>
                    <a:rPr lang="zh-CN" altLang="en-US" sz="2400" b="1" noProof="1">
                      <a:effectLst>
                        <a:outerShdw blurRad="38100" dist="38100" dir="2700000">
                          <a:srgbClr val="C0C0C0"/>
                        </a:outerShdw>
                      </a:effectLst>
                      <a:latin typeface="Times New Roman" panose="02020603050405020304" pitchFamily="18" charset="0"/>
                      <a:ea typeface="仿宋" panose="02010609060101010101" charset="-122"/>
                      <a:cs typeface="+mn-cs"/>
                    </a:rPr>
                    <a:t>型</a:t>
                  </a:r>
                </a:p>
              </p:txBody>
            </p:sp>
            <p:sp>
              <p:nvSpPr>
                <p:cNvPr id="949281" name="Text Box 33"/>
                <p:cNvSpPr txBox="1">
                  <a:spLocks noChangeArrowheads="1"/>
                </p:cNvSpPr>
                <p:nvPr/>
              </p:nvSpPr>
              <p:spPr bwMode="auto">
                <a:xfrm>
                  <a:off x="2044" y="528"/>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2194" name="Line 34"/>
                <p:cNvSpPr/>
                <p:nvPr/>
              </p:nvSpPr>
              <p:spPr>
                <a:xfrm flipH="1">
                  <a:off x="1296" y="576"/>
                  <a:ext cx="240" cy="240"/>
                </a:xfrm>
                <a:prstGeom prst="line">
                  <a:avLst/>
                </a:prstGeom>
                <a:ln w="28575" cap="flat" cmpd="sng">
                  <a:solidFill>
                    <a:schemeClr val="tx1"/>
                  </a:solidFill>
                  <a:prstDash val="solid"/>
                  <a:round/>
                  <a:headEnd type="none" w="med" len="med"/>
                  <a:tailEnd type="none" w="med" len="med"/>
                </a:ln>
              </p:spPr>
            </p:sp>
            <p:sp>
              <p:nvSpPr>
                <p:cNvPr id="92195" name="Oval 35"/>
                <p:cNvSpPr/>
                <p:nvPr/>
              </p:nvSpPr>
              <p:spPr>
                <a:xfrm>
                  <a:off x="1104" y="768"/>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13</a:t>
                  </a:r>
                </a:p>
              </p:txBody>
            </p:sp>
            <p:sp>
              <p:nvSpPr>
                <p:cNvPr id="92196" name="Oval 36"/>
                <p:cNvSpPr/>
                <p:nvPr/>
              </p:nvSpPr>
              <p:spPr>
                <a:xfrm>
                  <a:off x="1488" y="33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21</a:t>
                  </a:r>
                  <a:endParaRPr lang="en-US" altLang="zh-CN" sz="2400" dirty="0">
                    <a:latin typeface="Times New Roman" panose="02020603050405020304" pitchFamily="18" charset="0"/>
                    <a:ea typeface="宋体" panose="02010600030101010101" pitchFamily="2" charset="-122"/>
                  </a:endParaRPr>
                </a:p>
              </p:txBody>
            </p:sp>
            <p:sp>
              <p:nvSpPr>
                <p:cNvPr id="92197" name="Oval 37"/>
                <p:cNvSpPr/>
                <p:nvPr/>
              </p:nvSpPr>
              <p:spPr>
                <a:xfrm>
                  <a:off x="2256" y="120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80</a:t>
                  </a:r>
                  <a:endParaRPr lang="en-US" altLang="zh-CN" sz="2400" dirty="0">
                    <a:latin typeface="Times New Roman" panose="02020603050405020304" pitchFamily="18" charset="0"/>
                    <a:ea typeface="宋体" panose="02010600030101010101" pitchFamily="2" charset="-122"/>
                  </a:endParaRPr>
                </a:p>
              </p:txBody>
            </p:sp>
          </p:grpSp>
        </p:grpSp>
        <p:sp>
          <p:nvSpPr>
            <p:cNvPr id="92164" name="Text Box 4"/>
            <p:cNvSpPr txBox="1"/>
            <p:nvPr/>
          </p:nvSpPr>
          <p:spPr>
            <a:xfrm>
              <a:off x="9203" y="8240"/>
              <a:ext cx="840" cy="725"/>
            </a:xfrm>
            <a:prstGeom prst="rect">
              <a:avLst/>
            </a:prstGeom>
            <a:noFill/>
            <a:ln w="9525">
              <a:noFill/>
            </a:ln>
          </p:spPr>
          <p:txBody>
            <a:bodyPr anchor="t" anchorCtr="0">
              <a:spAutoFit/>
            </a:bodyPr>
            <a:lstStyle/>
            <a:p>
              <a:pPr algn="ctr">
                <a:spcBef>
                  <a:spcPct val="50000"/>
                </a:spcBef>
              </a:pPr>
              <a:r>
                <a:rPr lang="en-US" altLang="zh-CN" sz="2400" dirty="0">
                  <a:latin typeface="Tahoma" panose="020B0604030504040204" charset="0"/>
                  <a:ea typeface="宋体" panose="02010600030101010101" pitchFamily="2" charset="-122"/>
                </a:rPr>
                <a:t>6</a:t>
              </a:r>
            </a:p>
          </p:txBody>
        </p:sp>
      </p:grpSp>
      <p:sp>
        <p:nvSpPr>
          <p:cNvPr id="8" name="Text Box 25"/>
          <p:cNvSpPr txBox="1"/>
          <p:nvPr/>
        </p:nvSpPr>
        <p:spPr>
          <a:xfrm>
            <a:off x="5447348" y="2963545"/>
            <a:ext cx="1203960" cy="398780"/>
          </a:xfrm>
          <a:prstGeom prst="rect">
            <a:avLst/>
          </a:prstGeom>
          <a:noFill/>
          <a:ln w="9525">
            <a:noFill/>
          </a:ln>
        </p:spPr>
        <p:txBody>
          <a:bodyPr wrap="none" anchor="t" anchorCtr="0">
            <a:spAutoFit/>
          </a:bodyPr>
          <a:lstStyle/>
          <a:p>
            <a:r>
              <a:rPr lang="zh-CN" altLang="en-US" sz="2000" b="1" dirty="0">
                <a:latin typeface="Times New Roman" panose="02020603050405020304" pitchFamily="18" charset="0"/>
                <a:ea typeface="宋体" panose="02010600030101010101" pitchFamily="2" charset="-122"/>
              </a:rPr>
              <a:t>单向左旋</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平衡二叉树的生成举例</a:t>
            </a:r>
          </a:p>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sym typeface="+mn-ea"/>
              </a:rPr>
              <a:t>在完成</a:t>
            </a:r>
            <a:r>
              <a:rPr lang="en-US" altLang="zh-CN" sz="2800" i="1" u="sng" dirty="0">
                <a:latin typeface="黑体" panose="02010609060101010101" pitchFamily="2" charset="-122"/>
                <a:ea typeface="黑体" panose="02010609060101010101" pitchFamily="2" charset="-122"/>
                <a:sym typeface="+mn-ea"/>
              </a:rPr>
              <a:t>64,5,13,21,19,80</a:t>
            </a:r>
            <a:r>
              <a:rPr lang="zh-CN" altLang="en-US" sz="2800" dirty="0">
                <a:latin typeface="黑体" panose="02010609060101010101" pitchFamily="2" charset="-122"/>
                <a:ea typeface="黑体" panose="02010609060101010101" pitchFamily="2" charset="-122"/>
                <a:sym typeface="+mn-ea"/>
              </a:rPr>
              <a:t>后，继续插入</a:t>
            </a:r>
            <a:r>
              <a:rPr lang="en-US" altLang="zh-CN" sz="2800" dirty="0">
                <a:solidFill>
                  <a:srgbClr val="FF0000"/>
                </a:solidFill>
                <a:latin typeface="黑体" panose="02010609060101010101" pitchFamily="2" charset="-122"/>
                <a:ea typeface="黑体" panose="02010609060101010101" pitchFamily="2" charset="-122"/>
                <a:sym typeface="+mn-ea"/>
              </a:rPr>
              <a:t>75</a:t>
            </a:r>
            <a:r>
              <a:rPr lang="en-US" altLang="zh-CN" sz="2800" dirty="0">
                <a:latin typeface="黑体" panose="02010609060101010101" pitchFamily="2" charset="-122"/>
                <a:ea typeface="黑体" panose="02010609060101010101" pitchFamily="2" charset="-122"/>
                <a:sym typeface="+mn-ea"/>
              </a:rPr>
              <a:t>,</a:t>
            </a:r>
            <a:r>
              <a:rPr lang="en-US" altLang="zh-CN" sz="2800" dirty="0">
                <a:solidFill>
                  <a:srgbClr val="FF0000"/>
                </a:solidFill>
                <a:latin typeface="黑体" panose="02010609060101010101" pitchFamily="2" charset="-122"/>
                <a:ea typeface="黑体" panose="02010609060101010101" pitchFamily="2" charset="-122"/>
                <a:sym typeface="+mn-ea"/>
              </a:rPr>
              <a:t>37</a:t>
            </a:r>
            <a:r>
              <a:rPr lang="en-US" altLang="zh-CN" sz="2800" dirty="0">
                <a:latin typeface="黑体" panose="02010609060101010101" pitchFamily="2" charset="-122"/>
                <a:ea typeface="黑体" panose="02010609060101010101" pitchFamily="2" charset="-122"/>
                <a:sym typeface="+mn-ea"/>
              </a:rPr>
              <a:t>,56</a:t>
            </a:r>
            <a:r>
              <a:rPr lang="zh-CN" altLang="en-US" sz="2800" dirty="0">
                <a:latin typeface="黑体" panose="02010609060101010101" pitchFamily="2" charset="-122"/>
                <a:ea typeface="黑体" panose="02010609060101010101" pitchFamily="2" charset="-122"/>
                <a:sym typeface="+mn-ea"/>
              </a:rPr>
              <a:t>时该树的生长过程</a:t>
            </a:r>
            <a:endParaRPr lang="zh-CN" altLang="en-US" sz="28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83</a:t>
            </a:fld>
            <a:endParaRPr lang="zh-CN" altLang="en-US"/>
          </a:p>
        </p:txBody>
      </p:sp>
      <p:grpSp>
        <p:nvGrpSpPr>
          <p:cNvPr id="10" name="组合 9"/>
          <p:cNvGrpSpPr/>
          <p:nvPr/>
        </p:nvGrpSpPr>
        <p:grpSpPr>
          <a:xfrm>
            <a:off x="335280" y="2348865"/>
            <a:ext cx="7694930" cy="3126740"/>
            <a:chOff x="3128" y="4263"/>
            <a:chExt cx="12118" cy="4924"/>
          </a:xfrm>
        </p:grpSpPr>
        <p:sp>
          <p:nvSpPr>
            <p:cNvPr id="11" name="Text Box 4"/>
            <p:cNvSpPr txBox="1"/>
            <p:nvPr/>
          </p:nvSpPr>
          <p:spPr>
            <a:xfrm>
              <a:off x="9488" y="8463"/>
              <a:ext cx="840" cy="725"/>
            </a:xfrm>
            <a:prstGeom prst="rect">
              <a:avLst/>
            </a:prstGeom>
            <a:noFill/>
            <a:ln w="9525">
              <a:noFill/>
            </a:ln>
          </p:spPr>
          <p:txBody>
            <a:bodyPr anchor="t" anchorCtr="0">
              <a:spAutoFit/>
            </a:bodyPr>
            <a:lstStyle/>
            <a:p>
              <a:pPr algn="ctr">
                <a:spcBef>
                  <a:spcPct val="50000"/>
                </a:spcBef>
              </a:pPr>
              <a:r>
                <a:rPr lang="en-US" altLang="zh-CN" sz="2400" dirty="0">
                  <a:latin typeface="Tahoma" panose="020B0604030504040204" charset="0"/>
                  <a:ea typeface="宋体" panose="02010600030101010101" pitchFamily="2" charset="-122"/>
                </a:rPr>
                <a:t>7</a:t>
              </a:r>
            </a:p>
          </p:txBody>
        </p:sp>
        <p:grpSp>
          <p:nvGrpSpPr>
            <p:cNvPr id="12" name="Group 5"/>
            <p:cNvGrpSpPr/>
            <p:nvPr/>
          </p:nvGrpSpPr>
          <p:grpSpPr>
            <a:xfrm>
              <a:off x="3128" y="4263"/>
              <a:ext cx="6895" cy="4440"/>
              <a:chOff x="2784" y="144"/>
              <a:chExt cx="2758" cy="1776"/>
            </a:xfrm>
          </p:grpSpPr>
          <p:sp>
            <p:nvSpPr>
              <p:cNvPr id="13" name="Line 6"/>
              <p:cNvSpPr/>
              <p:nvPr/>
            </p:nvSpPr>
            <p:spPr>
              <a:xfrm>
                <a:off x="3360" y="1008"/>
                <a:ext cx="240" cy="240"/>
              </a:xfrm>
              <a:prstGeom prst="line">
                <a:avLst/>
              </a:prstGeom>
              <a:ln w="28575" cap="flat" cmpd="sng">
                <a:solidFill>
                  <a:schemeClr val="tx1"/>
                </a:solidFill>
                <a:prstDash val="solid"/>
                <a:round/>
                <a:headEnd type="none" w="med" len="med"/>
                <a:tailEnd type="none" w="med" len="med"/>
              </a:ln>
            </p:spPr>
          </p:sp>
          <p:sp>
            <p:nvSpPr>
              <p:cNvPr id="14" name="Line 7"/>
              <p:cNvSpPr/>
              <p:nvPr/>
            </p:nvSpPr>
            <p:spPr>
              <a:xfrm flipH="1">
                <a:off x="2976" y="960"/>
                <a:ext cx="288" cy="288"/>
              </a:xfrm>
              <a:prstGeom prst="line">
                <a:avLst/>
              </a:prstGeom>
              <a:ln w="28575" cap="flat" cmpd="sng">
                <a:solidFill>
                  <a:schemeClr val="tx1"/>
                </a:solidFill>
                <a:prstDash val="solid"/>
                <a:round/>
                <a:headEnd type="none" w="med" len="med"/>
                <a:tailEnd type="none" w="med" len="med"/>
              </a:ln>
            </p:spPr>
          </p:sp>
          <p:sp>
            <p:nvSpPr>
              <p:cNvPr id="15" name="Text Box 8"/>
              <p:cNvSpPr txBox="1">
                <a:spLocks noChangeArrowheads="1"/>
              </p:cNvSpPr>
              <p:nvPr/>
            </p:nvSpPr>
            <p:spPr bwMode="auto">
              <a:xfrm>
                <a:off x="4204" y="528"/>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16" name="AutoShape 9"/>
              <p:cNvSpPr/>
              <p:nvPr/>
            </p:nvSpPr>
            <p:spPr>
              <a:xfrm>
                <a:off x="4704" y="816"/>
                <a:ext cx="768" cy="144"/>
              </a:xfrm>
              <a:prstGeom prst="rightArrow">
                <a:avLst>
                  <a:gd name="adj1" fmla="val 50000"/>
                  <a:gd name="adj2" fmla="val 133259"/>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 name="Text Box 10"/>
              <p:cNvSpPr txBox="1">
                <a:spLocks noChangeArrowheads="1"/>
              </p:cNvSpPr>
              <p:nvPr/>
            </p:nvSpPr>
            <p:spPr bwMode="auto">
              <a:xfrm>
                <a:off x="4656" y="480"/>
                <a:ext cx="886" cy="290"/>
              </a:xfrm>
              <a:prstGeom prst="rect">
                <a:avLst/>
              </a:prstGeom>
              <a:noFill/>
              <a:ln w="9525">
                <a:noFill/>
                <a:miter lim="800000"/>
              </a:ln>
              <a:effectLst/>
            </p:spPr>
            <p:txBody>
              <a:bodyPr wrap="none">
                <a:spAutoFit/>
              </a:bodyPr>
              <a:lstStyle/>
              <a:p>
                <a:r>
                  <a:rPr lang="zh-CN" altLang="en-US" sz="2400" b="1" noProof="1">
                    <a:effectLst/>
                    <a:latin typeface="黑体" panose="02010609060101010101" pitchFamily="2" charset="-122"/>
                    <a:ea typeface="黑体" panose="02010609060101010101" pitchFamily="2" charset="-122"/>
                    <a:cs typeface="+mn-cs"/>
                  </a:rPr>
                  <a:t>右左双旋</a:t>
                </a:r>
              </a:p>
            </p:txBody>
          </p:sp>
          <p:sp>
            <p:nvSpPr>
              <p:cNvPr id="18" name="Oval 11"/>
              <p:cNvSpPr/>
              <p:nvPr/>
            </p:nvSpPr>
            <p:spPr>
              <a:xfrm>
                <a:off x="3168" y="768"/>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dirty="0">
                    <a:solidFill>
                      <a:srgbClr val="CC3300"/>
                    </a:solidFill>
                    <a:latin typeface="Times New Roman" panose="02020603050405020304" pitchFamily="18" charset="0"/>
                    <a:ea typeface="宋体" panose="02010600030101010101" pitchFamily="2" charset="-122"/>
                  </a:rPr>
                  <a:t>13</a:t>
                </a:r>
                <a:endParaRPr lang="en-US" altLang="zh-CN" sz="2400" dirty="0">
                  <a:latin typeface="Times New Roman" panose="02020603050405020304" pitchFamily="18" charset="0"/>
                  <a:ea typeface="宋体" panose="02010600030101010101" pitchFamily="2" charset="-122"/>
                </a:endParaRPr>
              </a:p>
            </p:txBody>
          </p:sp>
          <p:sp>
            <p:nvSpPr>
              <p:cNvPr id="19" name="Oval 12"/>
              <p:cNvSpPr/>
              <p:nvPr/>
            </p:nvSpPr>
            <p:spPr>
              <a:xfrm>
                <a:off x="2784" y="120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20" name="Oval 13"/>
              <p:cNvSpPr/>
              <p:nvPr/>
            </p:nvSpPr>
            <p:spPr>
              <a:xfrm>
                <a:off x="3504" y="120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19</a:t>
                </a:r>
                <a:endParaRPr lang="en-US" altLang="zh-CN" sz="2400" dirty="0">
                  <a:latin typeface="Times New Roman" panose="02020603050405020304" pitchFamily="18" charset="0"/>
                  <a:ea typeface="宋体" panose="02010600030101010101" pitchFamily="2" charset="-122"/>
                </a:endParaRPr>
              </a:p>
            </p:txBody>
          </p:sp>
          <p:sp>
            <p:nvSpPr>
              <p:cNvPr id="21" name="Text Box 14"/>
              <p:cNvSpPr txBox="1">
                <a:spLocks noChangeArrowheads="1"/>
              </p:cNvSpPr>
              <p:nvPr/>
            </p:nvSpPr>
            <p:spPr bwMode="auto">
              <a:xfrm>
                <a:off x="4108" y="1392"/>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22" name="Oval 15"/>
              <p:cNvSpPr/>
              <p:nvPr/>
            </p:nvSpPr>
            <p:spPr>
              <a:xfrm>
                <a:off x="4032" y="163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75</a:t>
                </a:r>
              </a:p>
            </p:txBody>
          </p:sp>
          <p:sp>
            <p:nvSpPr>
              <p:cNvPr id="23" name="Line 16"/>
              <p:cNvSpPr/>
              <p:nvPr/>
            </p:nvSpPr>
            <p:spPr>
              <a:xfrm flipH="1">
                <a:off x="4272" y="1440"/>
                <a:ext cx="240" cy="240"/>
              </a:xfrm>
              <a:prstGeom prst="line">
                <a:avLst/>
              </a:prstGeom>
              <a:ln w="28575" cap="flat" cmpd="sng">
                <a:solidFill>
                  <a:schemeClr val="tx1"/>
                </a:solidFill>
                <a:prstDash val="solid"/>
                <a:round/>
                <a:headEnd type="none" w="med" len="med"/>
                <a:tailEnd type="none" w="med" len="med"/>
              </a:ln>
            </p:spPr>
          </p:sp>
          <p:sp>
            <p:nvSpPr>
              <p:cNvPr id="24" name="Oval 17"/>
              <p:cNvSpPr/>
              <p:nvPr/>
            </p:nvSpPr>
            <p:spPr>
              <a:xfrm>
                <a:off x="4464" y="120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80</a:t>
                </a:r>
              </a:p>
            </p:txBody>
          </p:sp>
          <p:sp>
            <p:nvSpPr>
              <p:cNvPr id="25" name="Line 18"/>
              <p:cNvSpPr/>
              <p:nvPr/>
            </p:nvSpPr>
            <p:spPr>
              <a:xfrm>
                <a:off x="3840" y="576"/>
                <a:ext cx="240" cy="240"/>
              </a:xfrm>
              <a:prstGeom prst="line">
                <a:avLst/>
              </a:prstGeom>
              <a:ln w="28575" cap="flat" cmpd="sng">
                <a:solidFill>
                  <a:schemeClr val="tx1"/>
                </a:solidFill>
                <a:prstDash val="solid"/>
                <a:round/>
                <a:headEnd type="none" w="med" len="med"/>
                <a:tailEnd type="none" w="med" len="med"/>
              </a:ln>
            </p:spPr>
          </p:sp>
          <p:sp>
            <p:nvSpPr>
              <p:cNvPr id="26" name="Line 19"/>
              <p:cNvSpPr/>
              <p:nvPr/>
            </p:nvSpPr>
            <p:spPr>
              <a:xfrm flipH="1">
                <a:off x="3408" y="576"/>
                <a:ext cx="240" cy="240"/>
              </a:xfrm>
              <a:prstGeom prst="line">
                <a:avLst/>
              </a:prstGeom>
              <a:ln w="28575" cap="flat" cmpd="sng">
                <a:solidFill>
                  <a:schemeClr val="tx1"/>
                </a:solidFill>
                <a:prstDash val="solid"/>
                <a:round/>
                <a:headEnd type="none" w="med" len="med"/>
                <a:tailEnd type="none" w="med" len="med"/>
              </a:ln>
            </p:spPr>
          </p:sp>
          <p:sp>
            <p:nvSpPr>
              <p:cNvPr id="27" name="Oval 20"/>
              <p:cNvSpPr/>
              <p:nvPr/>
            </p:nvSpPr>
            <p:spPr>
              <a:xfrm>
                <a:off x="3600" y="33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21</a:t>
                </a:r>
                <a:endParaRPr lang="en-US" altLang="zh-CN" sz="2400" dirty="0">
                  <a:latin typeface="Times New Roman" panose="02020603050405020304" pitchFamily="18" charset="0"/>
                  <a:ea typeface="宋体" panose="02010600030101010101" pitchFamily="2" charset="-122"/>
                </a:endParaRPr>
              </a:p>
            </p:txBody>
          </p:sp>
          <p:sp>
            <p:nvSpPr>
              <p:cNvPr id="28" name="Text Box 21"/>
              <p:cNvSpPr txBox="1">
                <a:spLocks noChangeArrowheads="1"/>
              </p:cNvSpPr>
              <p:nvPr/>
            </p:nvSpPr>
            <p:spPr bwMode="auto">
              <a:xfrm>
                <a:off x="4560" y="960"/>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29" name="Oval 22"/>
              <p:cNvSpPr/>
              <p:nvPr/>
            </p:nvSpPr>
            <p:spPr>
              <a:xfrm>
                <a:off x="4032" y="768"/>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64</a:t>
                </a:r>
              </a:p>
            </p:txBody>
          </p:sp>
          <p:sp>
            <p:nvSpPr>
              <p:cNvPr id="30" name="Line 23"/>
              <p:cNvSpPr/>
              <p:nvPr/>
            </p:nvSpPr>
            <p:spPr>
              <a:xfrm>
                <a:off x="4272" y="1008"/>
                <a:ext cx="240" cy="240"/>
              </a:xfrm>
              <a:prstGeom prst="line">
                <a:avLst/>
              </a:prstGeom>
              <a:ln w="28575" cap="flat" cmpd="sng">
                <a:solidFill>
                  <a:schemeClr val="tx1"/>
                </a:solidFill>
                <a:prstDash val="solid"/>
                <a:round/>
                <a:headEnd type="none" w="med" len="med"/>
                <a:tailEnd type="none" w="med" len="med"/>
              </a:ln>
            </p:spPr>
          </p:sp>
          <p:sp>
            <p:nvSpPr>
              <p:cNvPr id="31" name="Text Box 24"/>
              <p:cNvSpPr txBox="1">
                <a:spLocks noChangeArrowheads="1"/>
              </p:cNvSpPr>
              <p:nvPr/>
            </p:nvSpPr>
            <p:spPr bwMode="auto">
              <a:xfrm>
                <a:off x="3868" y="144"/>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grpSp>
        <p:grpSp>
          <p:nvGrpSpPr>
            <p:cNvPr id="32" name="Group 25"/>
            <p:cNvGrpSpPr/>
            <p:nvPr/>
          </p:nvGrpSpPr>
          <p:grpSpPr>
            <a:xfrm>
              <a:off x="10088" y="4503"/>
              <a:ext cx="5158" cy="3600"/>
              <a:chOff x="432" y="1920"/>
              <a:chExt cx="2063" cy="1440"/>
            </a:xfrm>
          </p:grpSpPr>
          <p:sp>
            <p:nvSpPr>
              <p:cNvPr id="33" name="Line 26"/>
              <p:cNvSpPr/>
              <p:nvPr/>
            </p:nvSpPr>
            <p:spPr>
              <a:xfrm>
                <a:off x="1056" y="2832"/>
                <a:ext cx="96" cy="240"/>
              </a:xfrm>
              <a:prstGeom prst="line">
                <a:avLst/>
              </a:prstGeom>
              <a:ln w="38100" cap="flat" cmpd="sng">
                <a:solidFill>
                  <a:srgbClr val="009900"/>
                </a:solidFill>
                <a:prstDash val="solid"/>
                <a:round/>
                <a:headEnd type="none" w="med" len="med"/>
                <a:tailEnd type="none" w="med" len="med"/>
              </a:ln>
            </p:spPr>
          </p:sp>
          <p:sp>
            <p:nvSpPr>
              <p:cNvPr id="34" name="Line 27"/>
              <p:cNvSpPr/>
              <p:nvPr/>
            </p:nvSpPr>
            <p:spPr>
              <a:xfrm flipH="1">
                <a:off x="1632" y="2832"/>
                <a:ext cx="144" cy="240"/>
              </a:xfrm>
              <a:prstGeom prst="line">
                <a:avLst/>
              </a:prstGeom>
              <a:ln w="38100" cap="flat" cmpd="sng">
                <a:solidFill>
                  <a:srgbClr val="009900"/>
                </a:solidFill>
                <a:prstDash val="solid"/>
                <a:round/>
                <a:headEnd type="none" w="med" len="med"/>
                <a:tailEnd type="none" w="med" len="med"/>
              </a:ln>
            </p:spPr>
          </p:sp>
          <p:sp>
            <p:nvSpPr>
              <p:cNvPr id="35" name="Line 28"/>
              <p:cNvSpPr/>
              <p:nvPr/>
            </p:nvSpPr>
            <p:spPr>
              <a:xfrm>
                <a:off x="1920" y="2832"/>
                <a:ext cx="336" cy="336"/>
              </a:xfrm>
              <a:prstGeom prst="line">
                <a:avLst/>
              </a:prstGeom>
              <a:ln w="28575" cap="flat" cmpd="sng">
                <a:solidFill>
                  <a:srgbClr val="009900"/>
                </a:solidFill>
                <a:prstDash val="solid"/>
                <a:round/>
                <a:headEnd type="none" w="med" len="med"/>
                <a:tailEnd type="none" w="med" len="med"/>
              </a:ln>
            </p:spPr>
          </p:sp>
          <p:sp>
            <p:nvSpPr>
              <p:cNvPr id="36" name="Line 29"/>
              <p:cNvSpPr/>
              <p:nvPr/>
            </p:nvSpPr>
            <p:spPr>
              <a:xfrm>
                <a:off x="1488" y="2400"/>
                <a:ext cx="288" cy="288"/>
              </a:xfrm>
              <a:prstGeom prst="line">
                <a:avLst/>
              </a:prstGeom>
              <a:ln w="28575" cap="flat" cmpd="sng">
                <a:solidFill>
                  <a:srgbClr val="009900"/>
                </a:solidFill>
                <a:prstDash val="solid"/>
                <a:round/>
                <a:headEnd type="none" w="med" len="med"/>
                <a:tailEnd type="none" w="med" len="med"/>
              </a:ln>
            </p:spPr>
          </p:sp>
          <p:sp>
            <p:nvSpPr>
              <p:cNvPr id="37" name="Oval 30"/>
              <p:cNvSpPr/>
              <p:nvPr/>
            </p:nvSpPr>
            <p:spPr>
              <a:xfrm>
                <a:off x="1680" y="259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400" dirty="0">
                    <a:solidFill>
                      <a:srgbClr val="CC3300"/>
                    </a:solidFill>
                    <a:latin typeface="Times New Roman" panose="02020603050405020304" pitchFamily="18" charset="0"/>
                    <a:ea typeface="宋体" panose="02010600030101010101" pitchFamily="2" charset="-122"/>
                  </a:rPr>
                  <a:t>75</a:t>
                </a:r>
              </a:p>
            </p:txBody>
          </p:sp>
          <p:sp>
            <p:nvSpPr>
              <p:cNvPr id="38" name="Oval 31"/>
              <p:cNvSpPr/>
              <p:nvPr/>
            </p:nvSpPr>
            <p:spPr>
              <a:xfrm>
                <a:off x="1440" y="307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64</a:t>
                </a:r>
                <a:endParaRPr lang="en-US" altLang="zh-CN" sz="2400" dirty="0">
                  <a:solidFill>
                    <a:srgbClr val="CC3300"/>
                  </a:solidFill>
                  <a:latin typeface="Times New Roman" panose="02020603050405020304" pitchFamily="18" charset="0"/>
                  <a:ea typeface="宋体" panose="02010600030101010101" pitchFamily="2" charset="-122"/>
                </a:endParaRPr>
              </a:p>
            </p:txBody>
          </p:sp>
          <p:sp>
            <p:nvSpPr>
              <p:cNvPr id="39" name="Text Box 32"/>
              <p:cNvSpPr txBox="1">
                <a:spLocks noChangeArrowheads="1"/>
              </p:cNvSpPr>
              <p:nvPr/>
            </p:nvSpPr>
            <p:spPr bwMode="auto">
              <a:xfrm>
                <a:off x="1392" y="2832"/>
                <a:ext cx="211" cy="290"/>
              </a:xfrm>
              <a:prstGeom prst="rect">
                <a:avLst/>
              </a:prstGeom>
              <a:noFill/>
              <a:ln w="9525">
                <a:noFill/>
                <a:miter lim="800000"/>
              </a:ln>
              <a:effectLst/>
            </p:spPr>
            <p:txBody>
              <a:bodyPr wrap="none">
                <a:spAutoFit/>
              </a:bodyPr>
              <a:lstStyle/>
              <a:p>
                <a:r>
                  <a:rPr lang="en-US" altLang="zh-CN" sz="2400" b="1" noProof="1">
                    <a:solidFill>
                      <a:srgbClr val="0099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99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40" name="Text Box 33"/>
              <p:cNvSpPr txBox="1">
                <a:spLocks noChangeArrowheads="1"/>
              </p:cNvSpPr>
              <p:nvPr/>
            </p:nvSpPr>
            <p:spPr bwMode="auto">
              <a:xfrm>
                <a:off x="2284" y="2832"/>
                <a:ext cx="211" cy="290"/>
              </a:xfrm>
              <a:prstGeom prst="rect">
                <a:avLst/>
              </a:prstGeom>
              <a:noFill/>
              <a:ln w="9525">
                <a:noFill/>
                <a:miter lim="800000"/>
              </a:ln>
              <a:effectLst/>
            </p:spPr>
            <p:txBody>
              <a:bodyPr wrap="none">
                <a:spAutoFit/>
              </a:bodyPr>
              <a:lstStyle/>
              <a:p>
                <a:r>
                  <a:rPr lang="en-US" altLang="zh-CN" sz="2400" b="1" noProof="1">
                    <a:solidFill>
                      <a:srgbClr val="0099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99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41" name="Text Box 34"/>
              <p:cNvSpPr txBox="1">
                <a:spLocks noChangeArrowheads="1"/>
              </p:cNvSpPr>
              <p:nvPr/>
            </p:nvSpPr>
            <p:spPr bwMode="auto">
              <a:xfrm>
                <a:off x="1872" y="2352"/>
                <a:ext cx="211" cy="290"/>
              </a:xfrm>
              <a:prstGeom prst="rect">
                <a:avLst/>
              </a:prstGeom>
              <a:noFill/>
              <a:ln w="9525">
                <a:noFill/>
                <a:miter lim="800000"/>
              </a:ln>
              <a:effectLst/>
            </p:spPr>
            <p:txBody>
              <a:bodyPr wrap="none">
                <a:spAutoFit/>
              </a:bodyPr>
              <a:lstStyle/>
              <a:p>
                <a:r>
                  <a:rPr lang="en-US" altLang="zh-CN" sz="2400" b="1" noProof="1">
                    <a:solidFill>
                      <a:srgbClr val="0099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99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42" name="Oval 35"/>
              <p:cNvSpPr/>
              <p:nvPr/>
            </p:nvSpPr>
            <p:spPr>
              <a:xfrm>
                <a:off x="864" y="259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dirty="0">
                    <a:solidFill>
                      <a:srgbClr val="CC3300"/>
                    </a:solidFill>
                    <a:latin typeface="Times New Roman" panose="02020603050405020304" pitchFamily="18" charset="0"/>
                    <a:ea typeface="宋体" panose="02010600030101010101" pitchFamily="2" charset="-122"/>
                  </a:rPr>
                  <a:t>13</a:t>
                </a:r>
                <a:endParaRPr lang="en-US" altLang="zh-CN" sz="2400" dirty="0">
                  <a:solidFill>
                    <a:srgbClr val="CC3300"/>
                  </a:solidFill>
                  <a:latin typeface="Times New Roman" panose="02020603050405020304" pitchFamily="18" charset="0"/>
                  <a:ea typeface="宋体" panose="02010600030101010101" pitchFamily="2" charset="-122"/>
                </a:endParaRPr>
              </a:p>
            </p:txBody>
          </p:sp>
          <p:sp>
            <p:nvSpPr>
              <p:cNvPr id="43" name="Line 36"/>
              <p:cNvSpPr/>
              <p:nvPr/>
            </p:nvSpPr>
            <p:spPr>
              <a:xfrm flipH="1">
                <a:off x="624" y="2832"/>
                <a:ext cx="288" cy="288"/>
              </a:xfrm>
              <a:prstGeom prst="line">
                <a:avLst/>
              </a:prstGeom>
              <a:ln w="28575" cap="flat" cmpd="sng">
                <a:solidFill>
                  <a:srgbClr val="009900"/>
                </a:solidFill>
                <a:prstDash val="solid"/>
                <a:round/>
                <a:headEnd type="none" w="med" len="med"/>
                <a:tailEnd type="none" w="med" len="med"/>
              </a:ln>
            </p:spPr>
          </p:sp>
          <p:sp>
            <p:nvSpPr>
              <p:cNvPr id="44" name="Oval 37"/>
              <p:cNvSpPr/>
              <p:nvPr/>
            </p:nvSpPr>
            <p:spPr>
              <a:xfrm>
                <a:off x="432" y="307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a:t>
                </a:r>
                <a:endParaRPr lang="en-US" altLang="zh-CN" sz="2400" dirty="0">
                  <a:solidFill>
                    <a:srgbClr val="CC3300"/>
                  </a:solidFill>
                  <a:latin typeface="Times New Roman" panose="02020603050405020304" pitchFamily="18" charset="0"/>
                  <a:ea typeface="宋体" panose="02010600030101010101" pitchFamily="2" charset="-122"/>
                </a:endParaRPr>
              </a:p>
            </p:txBody>
          </p:sp>
          <p:sp>
            <p:nvSpPr>
              <p:cNvPr id="45" name="Oval 38"/>
              <p:cNvSpPr/>
              <p:nvPr/>
            </p:nvSpPr>
            <p:spPr>
              <a:xfrm>
                <a:off x="2160" y="307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80</a:t>
                </a:r>
                <a:endParaRPr lang="en-US" altLang="zh-CN" sz="2400" dirty="0">
                  <a:solidFill>
                    <a:srgbClr val="CC3300"/>
                  </a:solidFill>
                  <a:latin typeface="Times New Roman" panose="02020603050405020304" pitchFamily="18" charset="0"/>
                  <a:ea typeface="宋体" panose="02010600030101010101" pitchFamily="2" charset="-122"/>
                </a:endParaRPr>
              </a:p>
            </p:txBody>
          </p:sp>
          <p:sp>
            <p:nvSpPr>
              <p:cNvPr id="46" name="Line 39"/>
              <p:cNvSpPr/>
              <p:nvPr/>
            </p:nvSpPr>
            <p:spPr>
              <a:xfrm flipH="1">
                <a:off x="1104" y="2400"/>
                <a:ext cx="240" cy="240"/>
              </a:xfrm>
              <a:prstGeom prst="line">
                <a:avLst/>
              </a:prstGeom>
              <a:ln w="28575" cap="flat" cmpd="sng">
                <a:solidFill>
                  <a:srgbClr val="009900"/>
                </a:solidFill>
                <a:prstDash val="solid"/>
                <a:round/>
                <a:headEnd type="none" w="med" len="med"/>
                <a:tailEnd type="none" w="med" len="med"/>
              </a:ln>
            </p:spPr>
          </p:sp>
          <p:sp>
            <p:nvSpPr>
              <p:cNvPr id="47" name="Oval 40"/>
              <p:cNvSpPr/>
              <p:nvPr/>
            </p:nvSpPr>
            <p:spPr>
              <a:xfrm>
                <a:off x="1296" y="216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21</a:t>
                </a:r>
                <a:endParaRPr lang="en-US" altLang="zh-CN" sz="2400" dirty="0">
                  <a:solidFill>
                    <a:srgbClr val="CC3300"/>
                  </a:solidFill>
                  <a:latin typeface="Times New Roman" panose="02020603050405020304" pitchFamily="18" charset="0"/>
                  <a:ea typeface="宋体" panose="02010600030101010101" pitchFamily="2" charset="-122"/>
                </a:endParaRPr>
              </a:p>
            </p:txBody>
          </p:sp>
          <p:sp>
            <p:nvSpPr>
              <p:cNvPr id="48" name="Oval 41"/>
              <p:cNvSpPr/>
              <p:nvPr/>
            </p:nvSpPr>
            <p:spPr>
              <a:xfrm>
                <a:off x="1056" y="307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19</a:t>
                </a:r>
                <a:endParaRPr lang="en-US" altLang="zh-CN" sz="2400" dirty="0">
                  <a:solidFill>
                    <a:srgbClr val="CC3300"/>
                  </a:solidFill>
                  <a:latin typeface="Times New Roman" panose="02020603050405020304" pitchFamily="18" charset="0"/>
                  <a:ea typeface="宋体" panose="02010600030101010101" pitchFamily="2" charset="-122"/>
                </a:endParaRPr>
              </a:p>
            </p:txBody>
          </p:sp>
          <p:sp>
            <p:nvSpPr>
              <p:cNvPr id="49" name="Text Box 42"/>
              <p:cNvSpPr txBox="1">
                <a:spLocks noChangeArrowheads="1"/>
              </p:cNvSpPr>
              <p:nvPr/>
            </p:nvSpPr>
            <p:spPr bwMode="auto">
              <a:xfrm>
                <a:off x="1440" y="1920"/>
                <a:ext cx="211" cy="290"/>
              </a:xfrm>
              <a:prstGeom prst="rect">
                <a:avLst/>
              </a:prstGeom>
              <a:noFill/>
              <a:ln w="9525">
                <a:noFill/>
                <a:miter lim="800000"/>
              </a:ln>
              <a:effectLst/>
            </p:spPr>
            <p:txBody>
              <a:bodyPr wrap="none">
                <a:spAutoFit/>
              </a:bodyPr>
              <a:lstStyle/>
              <a:p>
                <a:r>
                  <a:rPr lang="en-US" altLang="zh-CN" sz="2400" b="1" noProof="1">
                    <a:solidFill>
                      <a:srgbClr val="0099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99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grpSp>
        <p:sp>
          <p:nvSpPr>
            <p:cNvPr id="50" name="Text Box 25"/>
            <p:cNvSpPr txBox="1"/>
            <p:nvPr/>
          </p:nvSpPr>
          <p:spPr>
            <a:xfrm>
              <a:off x="8537" y="6387"/>
              <a:ext cx="1246" cy="628"/>
            </a:xfrm>
            <a:prstGeom prst="rect">
              <a:avLst/>
            </a:prstGeom>
            <a:noFill/>
            <a:ln w="9525">
              <a:noFill/>
            </a:ln>
          </p:spPr>
          <p:txBody>
            <a:bodyPr wrap="none" anchor="t" anchorCtr="0">
              <a:spAutoFit/>
            </a:bodyPr>
            <a:lstStyle/>
            <a:p>
              <a:r>
                <a:rPr lang="en-US" altLang="zh-CN" sz="2000" b="1" dirty="0">
                  <a:latin typeface="Times New Roman" panose="02020603050405020304" pitchFamily="18" charset="0"/>
                  <a:ea typeface="宋体" panose="02010600030101010101" pitchFamily="2" charset="-122"/>
                </a:rPr>
                <a:t>RL</a:t>
              </a:r>
              <a:r>
                <a:rPr lang="zh-CN" altLang="en-US" sz="2000" b="1" dirty="0">
                  <a:latin typeface="Times New Roman" panose="02020603050405020304" pitchFamily="18" charset="0"/>
                  <a:ea typeface="宋体" panose="02010600030101010101" pitchFamily="2" charset="-122"/>
                </a:rPr>
                <a:t>型</a:t>
              </a:r>
            </a:p>
          </p:txBody>
        </p:sp>
      </p:grpSp>
      <p:grpSp>
        <p:nvGrpSpPr>
          <p:cNvPr id="94212" name="Group 4"/>
          <p:cNvGrpSpPr/>
          <p:nvPr/>
        </p:nvGrpSpPr>
        <p:grpSpPr>
          <a:xfrm>
            <a:off x="8255953" y="2564765"/>
            <a:ext cx="3352800" cy="3556000"/>
            <a:chOff x="1429" y="1480"/>
            <a:chExt cx="2112" cy="2240"/>
          </a:xfrm>
        </p:grpSpPr>
        <p:grpSp>
          <p:nvGrpSpPr>
            <p:cNvPr id="94213" name="Group 5"/>
            <p:cNvGrpSpPr/>
            <p:nvPr/>
          </p:nvGrpSpPr>
          <p:grpSpPr>
            <a:xfrm>
              <a:off x="1429" y="1480"/>
              <a:ext cx="2112" cy="1920"/>
              <a:chOff x="2688" y="1968"/>
              <a:chExt cx="2112" cy="1920"/>
            </a:xfrm>
          </p:grpSpPr>
          <p:sp>
            <p:nvSpPr>
              <p:cNvPr id="94214" name="Line 6"/>
              <p:cNvSpPr/>
              <p:nvPr/>
            </p:nvSpPr>
            <p:spPr>
              <a:xfrm flipH="1">
                <a:off x="3648" y="3312"/>
                <a:ext cx="192" cy="336"/>
              </a:xfrm>
              <a:prstGeom prst="line">
                <a:avLst/>
              </a:prstGeom>
              <a:ln w="38100" cap="flat" cmpd="sng">
                <a:solidFill>
                  <a:srgbClr val="009900"/>
                </a:solidFill>
                <a:prstDash val="solid"/>
                <a:round/>
                <a:headEnd type="none" w="med" len="med"/>
                <a:tailEnd type="none" w="med" len="med"/>
              </a:ln>
            </p:spPr>
          </p:sp>
          <p:sp>
            <p:nvSpPr>
              <p:cNvPr id="94215" name="Line 7"/>
              <p:cNvSpPr/>
              <p:nvPr/>
            </p:nvSpPr>
            <p:spPr>
              <a:xfrm>
                <a:off x="3360" y="2832"/>
                <a:ext cx="96" cy="240"/>
              </a:xfrm>
              <a:prstGeom prst="line">
                <a:avLst/>
              </a:prstGeom>
              <a:ln w="38100" cap="flat" cmpd="sng">
                <a:solidFill>
                  <a:srgbClr val="009900"/>
                </a:solidFill>
                <a:prstDash val="solid"/>
                <a:round/>
                <a:headEnd type="none" w="med" len="med"/>
                <a:tailEnd type="none" w="med" len="med"/>
              </a:ln>
            </p:spPr>
          </p:sp>
          <p:sp>
            <p:nvSpPr>
              <p:cNvPr id="94216" name="Line 8"/>
              <p:cNvSpPr/>
              <p:nvPr/>
            </p:nvSpPr>
            <p:spPr>
              <a:xfrm flipH="1">
                <a:off x="3984" y="2832"/>
                <a:ext cx="144" cy="240"/>
              </a:xfrm>
              <a:prstGeom prst="line">
                <a:avLst/>
              </a:prstGeom>
              <a:ln w="38100" cap="flat" cmpd="sng">
                <a:solidFill>
                  <a:srgbClr val="009900"/>
                </a:solidFill>
                <a:prstDash val="solid"/>
                <a:round/>
                <a:headEnd type="none" w="med" len="med"/>
                <a:tailEnd type="none" w="med" len="med"/>
              </a:ln>
            </p:spPr>
          </p:sp>
          <p:sp>
            <p:nvSpPr>
              <p:cNvPr id="94217" name="Line 9"/>
              <p:cNvSpPr/>
              <p:nvPr/>
            </p:nvSpPr>
            <p:spPr>
              <a:xfrm>
                <a:off x="3840" y="2400"/>
                <a:ext cx="336" cy="336"/>
              </a:xfrm>
              <a:prstGeom prst="line">
                <a:avLst/>
              </a:prstGeom>
              <a:ln w="28575" cap="flat" cmpd="sng">
                <a:solidFill>
                  <a:srgbClr val="009900"/>
                </a:solidFill>
                <a:prstDash val="solid"/>
                <a:round/>
                <a:headEnd type="none" w="med" len="med"/>
                <a:tailEnd type="none" w="med" len="med"/>
              </a:ln>
            </p:spPr>
          </p:sp>
          <p:sp>
            <p:nvSpPr>
              <p:cNvPr id="94218" name="Line 10"/>
              <p:cNvSpPr/>
              <p:nvPr/>
            </p:nvSpPr>
            <p:spPr>
              <a:xfrm flipH="1">
                <a:off x="3360" y="2400"/>
                <a:ext cx="288" cy="288"/>
              </a:xfrm>
              <a:prstGeom prst="line">
                <a:avLst/>
              </a:prstGeom>
              <a:ln w="28575" cap="flat" cmpd="sng">
                <a:solidFill>
                  <a:srgbClr val="009900"/>
                </a:solidFill>
                <a:prstDash val="solid"/>
                <a:round/>
                <a:headEnd type="none" w="med" len="med"/>
                <a:tailEnd type="none" w="med" len="med"/>
              </a:ln>
            </p:spPr>
          </p:sp>
          <p:sp>
            <p:nvSpPr>
              <p:cNvPr id="94219" name="Oval 11"/>
              <p:cNvSpPr/>
              <p:nvPr/>
            </p:nvSpPr>
            <p:spPr>
              <a:xfrm>
                <a:off x="4032" y="259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75</a:t>
                </a:r>
                <a:endParaRPr lang="en-US" altLang="zh-CN" sz="2400" dirty="0">
                  <a:latin typeface="Times New Roman" panose="02020603050405020304" pitchFamily="18" charset="0"/>
                  <a:ea typeface="宋体" panose="02010600030101010101" pitchFamily="2" charset="-122"/>
                </a:endParaRPr>
              </a:p>
            </p:txBody>
          </p:sp>
          <p:sp>
            <p:nvSpPr>
              <p:cNvPr id="94220" name="Line 12"/>
              <p:cNvSpPr/>
              <p:nvPr/>
            </p:nvSpPr>
            <p:spPr>
              <a:xfrm flipH="1">
                <a:off x="2832" y="2784"/>
                <a:ext cx="432" cy="432"/>
              </a:xfrm>
              <a:prstGeom prst="line">
                <a:avLst/>
              </a:prstGeom>
              <a:ln w="28575" cap="flat" cmpd="sng">
                <a:solidFill>
                  <a:srgbClr val="009900"/>
                </a:solidFill>
                <a:prstDash val="solid"/>
                <a:round/>
                <a:headEnd type="none" w="med" len="med"/>
                <a:tailEnd type="none" w="med" len="med"/>
              </a:ln>
            </p:spPr>
          </p:sp>
          <p:sp>
            <p:nvSpPr>
              <p:cNvPr id="94221" name="Oval 13"/>
              <p:cNvSpPr/>
              <p:nvPr/>
            </p:nvSpPr>
            <p:spPr>
              <a:xfrm>
                <a:off x="2688" y="307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951310" name="Text Box 14"/>
              <p:cNvSpPr txBox="1">
                <a:spLocks noChangeArrowheads="1"/>
              </p:cNvSpPr>
              <p:nvPr/>
            </p:nvSpPr>
            <p:spPr bwMode="auto">
              <a:xfrm>
                <a:off x="3648" y="2832"/>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51311" name="Text Box 15"/>
              <p:cNvSpPr txBox="1">
                <a:spLocks noChangeArrowheads="1"/>
              </p:cNvSpPr>
              <p:nvPr/>
            </p:nvSpPr>
            <p:spPr bwMode="auto">
              <a:xfrm>
                <a:off x="4156" y="2352"/>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4224" name="Oval 16"/>
              <p:cNvSpPr/>
              <p:nvPr/>
            </p:nvSpPr>
            <p:spPr>
              <a:xfrm>
                <a:off x="3168" y="259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dirty="0">
                    <a:solidFill>
                      <a:srgbClr val="CC3300"/>
                    </a:solidFill>
                    <a:latin typeface="Times New Roman" panose="02020603050405020304" pitchFamily="18" charset="0"/>
                    <a:ea typeface="宋体" panose="02010600030101010101" pitchFamily="2" charset="-122"/>
                  </a:rPr>
                  <a:t>13</a:t>
                </a:r>
                <a:endParaRPr lang="en-US" altLang="zh-CN" sz="2400" dirty="0">
                  <a:latin typeface="Times New Roman" panose="02020603050405020304" pitchFamily="18" charset="0"/>
                  <a:ea typeface="宋体" panose="02010600030101010101" pitchFamily="2" charset="-122"/>
                </a:endParaRPr>
              </a:p>
            </p:txBody>
          </p:sp>
          <p:sp>
            <p:nvSpPr>
              <p:cNvPr id="94225" name="Oval 17"/>
              <p:cNvSpPr/>
              <p:nvPr/>
            </p:nvSpPr>
            <p:spPr>
              <a:xfrm>
                <a:off x="3792" y="307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64</a:t>
                </a:r>
                <a:endParaRPr lang="en-US" altLang="zh-CN" sz="2400" dirty="0">
                  <a:latin typeface="Times New Roman" panose="02020603050405020304" pitchFamily="18" charset="0"/>
                  <a:ea typeface="宋体" panose="02010600030101010101" pitchFamily="2" charset="-122"/>
                </a:endParaRPr>
              </a:p>
            </p:txBody>
          </p:sp>
          <p:sp>
            <p:nvSpPr>
              <p:cNvPr id="94226" name="Oval 18"/>
              <p:cNvSpPr/>
              <p:nvPr/>
            </p:nvSpPr>
            <p:spPr>
              <a:xfrm>
                <a:off x="3456" y="360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37</a:t>
                </a:r>
                <a:endParaRPr lang="en-US" altLang="zh-CN" sz="2400" dirty="0">
                  <a:latin typeface="Times New Roman" panose="02020603050405020304" pitchFamily="18" charset="0"/>
                  <a:ea typeface="宋体" panose="02010600030101010101" pitchFamily="2" charset="-122"/>
                </a:endParaRPr>
              </a:p>
            </p:txBody>
          </p:sp>
          <p:sp>
            <p:nvSpPr>
              <p:cNvPr id="951315" name="Text Box 19"/>
              <p:cNvSpPr txBox="1">
                <a:spLocks noChangeArrowheads="1"/>
              </p:cNvSpPr>
              <p:nvPr/>
            </p:nvSpPr>
            <p:spPr bwMode="auto">
              <a:xfrm>
                <a:off x="3360" y="3360"/>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4228" name="Line 20"/>
              <p:cNvSpPr/>
              <p:nvPr/>
            </p:nvSpPr>
            <p:spPr>
              <a:xfrm>
                <a:off x="4272" y="2832"/>
                <a:ext cx="336" cy="336"/>
              </a:xfrm>
              <a:prstGeom prst="line">
                <a:avLst/>
              </a:prstGeom>
              <a:ln w="28575" cap="flat" cmpd="sng">
                <a:solidFill>
                  <a:srgbClr val="009900"/>
                </a:solidFill>
                <a:prstDash val="solid"/>
                <a:round/>
                <a:headEnd type="none" w="med" len="med"/>
                <a:tailEnd type="none" w="med" len="med"/>
              </a:ln>
            </p:spPr>
          </p:sp>
          <p:sp>
            <p:nvSpPr>
              <p:cNvPr id="94229" name="Oval 21"/>
              <p:cNvSpPr/>
              <p:nvPr/>
            </p:nvSpPr>
            <p:spPr>
              <a:xfrm>
                <a:off x="4512" y="307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80</a:t>
                </a:r>
                <a:endParaRPr lang="en-US" altLang="zh-CN" sz="2400" dirty="0">
                  <a:latin typeface="Times New Roman" panose="02020603050405020304" pitchFamily="18" charset="0"/>
                  <a:ea typeface="宋体" panose="02010600030101010101" pitchFamily="2" charset="-122"/>
                </a:endParaRPr>
              </a:p>
            </p:txBody>
          </p:sp>
          <p:sp>
            <p:nvSpPr>
              <p:cNvPr id="94230" name="Oval 22"/>
              <p:cNvSpPr/>
              <p:nvPr/>
            </p:nvSpPr>
            <p:spPr>
              <a:xfrm>
                <a:off x="3360" y="307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19</a:t>
                </a:r>
                <a:endParaRPr lang="en-US" altLang="zh-CN" sz="2400" dirty="0">
                  <a:latin typeface="Times New Roman" panose="02020603050405020304" pitchFamily="18" charset="0"/>
                  <a:ea typeface="宋体" panose="02010600030101010101" pitchFamily="2" charset="-122"/>
                </a:endParaRPr>
              </a:p>
            </p:txBody>
          </p:sp>
          <p:sp>
            <p:nvSpPr>
              <p:cNvPr id="951319" name="Text Box 23"/>
              <p:cNvSpPr txBox="1">
                <a:spLocks noChangeArrowheads="1"/>
              </p:cNvSpPr>
              <p:nvPr/>
            </p:nvSpPr>
            <p:spPr bwMode="auto">
              <a:xfrm>
                <a:off x="3840" y="1968"/>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4232" name="Oval 24"/>
              <p:cNvSpPr/>
              <p:nvPr/>
            </p:nvSpPr>
            <p:spPr>
              <a:xfrm>
                <a:off x="3600" y="216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21</a:t>
                </a:r>
                <a:endParaRPr lang="en-US" altLang="zh-CN" sz="2400" dirty="0">
                  <a:latin typeface="Times New Roman" panose="02020603050405020304" pitchFamily="18" charset="0"/>
                  <a:ea typeface="宋体" panose="02010600030101010101" pitchFamily="2" charset="-122"/>
                </a:endParaRPr>
              </a:p>
            </p:txBody>
          </p:sp>
        </p:grpSp>
        <p:sp>
          <p:nvSpPr>
            <p:cNvPr id="94233" name="Text Box 25"/>
            <p:cNvSpPr txBox="1"/>
            <p:nvPr/>
          </p:nvSpPr>
          <p:spPr>
            <a:xfrm>
              <a:off x="2653" y="3430"/>
              <a:ext cx="336" cy="290"/>
            </a:xfrm>
            <a:prstGeom prst="rect">
              <a:avLst/>
            </a:prstGeom>
            <a:noFill/>
            <a:ln w="9525">
              <a:noFill/>
            </a:ln>
          </p:spPr>
          <p:txBody>
            <a:bodyPr anchor="t" anchorCtr="0">
              <a:spAutoFit/>
            </a:bodyPr>
            <a:lstStyle/>
            <a:p>
              <a:pPr algn="ctr">
                <a:spcBef>
                  <a:spcPct val="50000"/>
                </a:spcBef>
              </a:pPr>
              <a:r>
                <a:rPr lang="en-US" altLang="zh-CN" sz="2400" dirty="0">
                  <a:latin typeface="Tahoma" panose="020B0604030504040204" charset="0"/>
                  <a:ea typeface="宋体" panose="02010600030101010101" pitchFamily="2" charset="-122"/>
                </a:rPr>
                <a:t>8</a:t>
              </a:r>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平衡二叉树的生成举例</a:t>
            </a:r>
          </a:p>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sym typeface="+mn-ea"/>
              </a:rPr>
              <a:t>在完成</a:t>
            </a:r>
            <a:r>
              <a:rPr lang="en-US" altLang="zh-CN" sz="2800" i="1" u="sng" dirty="0">
                <a:latin typeface="黑体" panose="02010609060101010101" pitchFamily="2" charset="-122"/>
                <a:ea typeface="黑体" panose="02010609060101010101" pitchFamily="2" charset="-122"/>
                <a:sym typeface="+mn-ea"/>
              </a:rPr>
              <a:t>64,5,13,21,19,80,70,37</a:t>
            </a:r>
            <a:r>
              <a:rPr lang="zh-CN" altLang="en-US" sz="2800" dirty="0">
                <a:latin typeface="黑体" panose="02010609060101010101" pitchFamily="2" charset="-122"/>
                <a:ea typeface="黑体" panose="02010609060101010101" pitchFamily="2" charset="-122"/>
                <a:sym typeface="+mn-ea"/>
              </a:rPr>
              <a:t>后，最后插入</a:t>
            </a:r>
            <a:r>
              <a:rPr lang="en-US" altLang="zh-CN" sz="2800" dirty="0">
                <a:solidFill>
                  <a:srgbClr val="FF0000"/>
                </a:solidFill>
                <a:latin typeface="黑体" panose="02010609060101010101" pitchFamily="2" charset="-122"/>
                <a:ea typeface="黑体" panose="02010609060101010101" pitchFamily="2" charset="-122"/>
                <a:sym typeface="+mn-ea"/>
              </a:rPr>
              <a:t>56</a:t>
            </a:r>
            <a:r>
              <a:rPr lang="zh-CN" altLang="en-US" sz="2800" dirty="0">
                <a:latin typeface="黑体" panose="02010609060101010101" pitchFamily="2" charset="-122"/>
                <a:ea typeface="黑体" panose="02010609060101010101" pitchFamily="2" charset="-122"/>
                <a:sym typeface="+mn-ea"/>
              </a:rPr>
              <a:t>时该树的生长过程，</a:t>
            </a:r>
            <a:endParaRPr lang="zh-CN" altLang="en-US" sz="28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84</a:t>
            </a:fld>
            <a:endParaRPr lang="zh-CN" altLang="en-US"/>
          </a:p>
        </p:txBody>
      </p:sp>
      <p:grpSp>
        <p:nvGrpSpPr>
          <p:cNvPr id="5" name="组合 4"/>
          <p:cNvGrpSpPr/>
          <p:nvPr/>
        </p:nvGrpSpPr>
        <p:grpSpPr>
          <a:xfrm>
            <a:off x="1803400" y="2094865"/>
            <a:ext cx="8166735" cy="3910965"/>
            <a:chOff x="2840" y="3299"/>
            <a:chExt cx="12861" cy="6159"/>
          </a:xfrm>
        </p:grpSpPr>
        <p:sp>
          <p:nvSpPr>
            <p:cNvPr id="95237" name="Text Box 5"/>
            <p:cNvSpPr txBox="1"/>
            <p:nvPr/>
          </p:nvSpPr>
          <p:spPr>
            <a:xfrm>
              <a:off x="8743" y="8025"/>
              <a:ext cx="840" cy="725"/>
            </a:xfrm>
            <a:prstGeom prst="rect">
              <a:avLst/>
            </a:prstGeom>
            <a:noFill/>
            <a:ln w="9525">
              <a:noFill/>
            </a:ln>
          </p:spPr>
          <p:txBody>
            <a:bodyPr anchor="t" anchorCtr="0">
              <a:spAutoFit/>
            </a:bodyPr>
            <a:lstStyle/>
            <a:p>
              <a:pPr algn="ctr">
                <a:spcBef>
                  <a:spcPct val="50000"/>
                </a:spcBef>
              </a:pPr>
              <a:r>
                <a:rPr lang="en-US" altLang="zh-CN" sz="2400" dirty="0">
                  <a:latin typeface="Tahoma" panose="020B0604030504040204" charset="0"/>
                  <a:ea typeface="宋体" panose="02010600030101010101" pitchFamily="2" charset="-122"/>
                </a:rPr>
                <a:t>9</a:t>
              </a:r>
            </a:p>
          </p:txBody>
        </p:sp>
        <p:sp>
          <p:nvSpPr>
            <p:cNvPr id="95238" name="AutoShape 6"/>
            <p:cNvSpPr/>
            <p:nvPr/>
          </p:nvSpPr>
          <p:spPr>
            <a:xfrm>
              <a:off x="8353" y="5853"/>
              <a:ext cx="1920" cy="360"/>
            </a:xfrm>
            <a:prstGeom prst="rightArrow">
              <a:avLst>
                <a:gd name="adj1" fmla="val 50000"/>
                <a:gd name="adj2" fmla="val 133259"/>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endParaRPr lang="zh-CN" altLang="zh-CN" sz="2400" dirty="0">
                <a:latin typeface="Tahoma" panose="020B0604030504040204" charset="0"/>
                <a:ea typeface="宋体" panose="02010600030101010101" pitchFamily="2" charset="-122"/>
              </a:endParaRPr>
            </a:p>
          </p:txBody>
        </p:sp>
        <p:sp>
          <p:nvSpPr>
            <p:cNvPr id="952327" name="Text Box 7"/>
            <p:cNvSpPr txBox="1">
              <a:spLocks noChangeArrowheads="1"/>
            </p:cNvSpPr>
            <p:nvPr/>
          </p:nvSpPr>
          <p:spPr bwMode="auto">
            <a:xfrm>
              <a:off x="8113" y="5133"/>
              <a:ext cx="2215" cy="725"/>
            </a:xfrm>
            <a:prstGeom prst="rect">
              <a:avLst/>
            </a:prstGeom>
            <a:noFill/>
            <a:ln w="9525">
              <a:noFill/>
              <a:miter lim="800000"/>
            </a:ln>
            <a:effectLst/>
          </p:spPr>
          <p:txBody>
            <a:bodyPr wrap="none">
              <a:spAutoFit/>
            </a:bodyPr>
            <a:lstStyle/>
            <a:p>
              <a:r>
                <a:rPr lang="zh-CN" altLang="en-US" sz="2400" b="1" noProof="1">
                  <a:effectLst>
                    <a:outerShdw blurRad="38100" dist="38100" dir="2700000">
                      <a:srgbClr val="C0C0C0"/>
                    </a:outerShdw>
                  </a:effectLst>
                  <a:latin typeface="Times New Roman" panose="02020603050405020304" pitchFamily="18" charset="0"/>
                  <a:ea typeface="仿宋" panose="02010609060101010101" charset="-122"/>
                  <a:cs typeface="+mn-cs"/>
                </a:rPr>
                <a:t>左右双旋</a:t>
              </a:r>
              <a:endParaRPr lang="zh-CN" altLang="en-US" sz="2400" noProof="1">
                <a:latin typeface="Times New Roman" panose="02020603050405020304" pitchFamily="18" charset="0"/>
                <a:ea typeface="宋体" panose="02010600030101010101" pitchFamily="2" charset="-122"/>
              </a:endParaRPr>
            </a:p>
          </p:txBody>
        </p:sp>
        <p:grpSp>
          <p:nvGrpSpPr>
            <p:cNvPr id="95240" name="Group 8"/>
            <p:cNvGrpSpPr/>
            <p:nvPr/>
          </p:nvGrpSpPr>
          <p:grpSpPr>
            <a:xfrm>
              <a:off x="10301" y="3299"/>
              <a:ext cx="5400" cy="4920"/>
              <a:chOff x="2976" y="384"/>
              <a:chExt cx="2160" cy="1968"/>
            </a:xfrm>
          </p:grpSpPr>
          <p:sp>
            <p:nvSpPr>
              <p:cNvPr id="95241" name="Line 9"/>
              <p:cNvSpPr/>
              <p:nvPr/>
            </p:nvSpPr>
            <p:spPr>
              <a:xfrm flipH="1">
                <a:off x="4272" y="1296"/>
                <a:ext cx="192" cy="240"/>
              </a:xfrm>
              <a:prstGeom prst="line">
                <a:avLst/>
              </a:prstGeom>
              <a:ln w="28575" cap="flat" cmpd="sng">
                <a:solidFill>
                  <a:srgbClr val="009900"/>
                </a:solidFill>
                <a:prstDash val="solid"/>
                <a:round/>
                <a:headEnd type="none" w="med" len="med"/>
                <a:tailEnd type="none" w="med" len="med"/>
              </a:ln>
            </p:spPr>
          </p:sp>
          <p:sp>
            <p:nvSpPr>
              <p:cNvPr id="95242" name="Line 10"/>
              <p:cNvSpPr/>
              <p:nvPr/>
            </p:nvSpPr>
            <p:spPr>
              <a:xfrm>
                <a:off x="4176" y="864"/>
                <a:ext cx="288" cy="288"/>
              </a:xfrm>
              <a:prstGeom prst="line">
                <a:avLst/>
              </a:prstGeom>
              <a:ln w="28575" cap="flat" cmpd="sng">
                <a:solidFill>
                  <a:srgbClr val="009900"/>
                </a:solidFill>
                <a:prstDash val="solid"/>
                <a:round/>
                <a:headEnd type="none" w="med" len="med"/>
                <a:tailEnd type="none" w="med" len="med"/>
              </a:ln>
            </p:spPr>
          </p:sp>
          <p:sp>
            <p:nvSpPr>
              <p:cNvPr id="95243" name="Line 11"/>
              <p:cNvSpPr/>
              <p:nvPr/>
            </p:nvSpPr>
            <p:spPr>
              <a:xfrm flipH="1">
                <a:off x="3648" y="816"/>
                <a:ext cx="336" cy="336"/>
              </a:xfrm>
              <a:prstGeom prst="line">
                <a:avLst/>
              </a:prstGeom>
              <a:ln w="28575" cap="flat" cmpd="sng">
                <a:solidFill>
                  <a:srgbClr val="009900"/>
                </a:solidFill>
                <a:prstDash val="solid"/>
                <a:round/>
                <a:headEnd type="none" w="med" len="med"/>
                <a:tailEnd type="none" w="med" len="med"/>
              </a:ln>
            </p:spPr>
          </p:sp>
          <p:sp>
            <p:nvSpPr>
              <p:cNvPr id="95244" name="Line 12"/>
              <p:cNvSpPr/>
              <p:nvPr/>
            </p:nvSpPr>
            <p:spPr>
              <a:xfrm>
                <a:off x="4320" y="1776"/>
                <a:ext cx="240" cy="432"/>
              </a:xfrm>
              <a:prstGeom prst="line">
                <a:avLst/>
              </a:prstGeom>
              <a:ln w="38100" cap="flat" cmpd="sng">
                <a:solidFill>
                  <a:srgbClr val="009900"/>
                </a:solidFill>
                <a:prstDash val="solid"/>
                <a:round/>
                <a:headEnd type="none" w="med" len="med"/>
                <a:tailEnd type="none" w="med" len="med"/>
              </a:ln>
            </p:spPr>
          </p:sp>
          <p:sp>
            <p:nvSpPr>
              <p:cNvPr id="95245" name="Line 13"/>
              <p:cNvSpPr/>
              <p:nvPr/>
            </p:nvSpPr>
            <p:spPr>
              <a:xfrm>
                <a:off x="3648" y="1296"/>
                <a:ext cx="144" cy="240"/>
              </a:xfrm>
              <a:prstGeom prst="line">
                <a:avLst/>
              </a:prstGeom>
              <a:ln w="28575" cap="flat" cmpd="sng">
                <a:solidFill>
                  <a:srgbClr val="009900"/>
                </a:solidFill>
                <a:prstDash val="solid"/>
                <a:round/>
                <a:headEnd type="none" w="med" len="med"/>
                <a:tailEnd type="none" w="med" len="med"/>
              </a:ln>
            </p:spPr>
          </p:sp>
          <p:sp>
            <p:nvSpPr>
              <p:cNvPr id="95246" name="Line 14"/>
              <p:cNvSpPr/>
              <p:nvPr/>
            </p:nvSpPr>
            <p:spPr>
              <a:xfrm flipH="1">
                <a:off x="3936" y="1776"/>
                <a:ext cx="192" cy="384"/>
              </a:xfrm>
              <a:prstGeom prst="line">
                <a:avLst/>
              </a:prstGeom>
              <a:ln w="28575" cap="flat" cmpd="sng">
                <a:solidFill>
                  <a:srgbClr val="009900"/>
                </a:solidFill>
                <a:prstDash val="solid"/>
                <a:round/>
                <a:headEnd type="none" w="med" len="med"/>
                <a:tailEnd type="none" w="med" len="med"/>
              </a:ln>
            </p:spPr>
          </p:sp>
          <p:sp>
            <p:nvSpPr>
              <p:cNvPr id="95247" name="Line 15"/>
              <p:cNvSpPr/>
              <p:nvPr/>
            </p:nvSpPr>
            <p:spPr>
              <a:xfrm flipH="1">
                <a:off x="3216" y="1296"/>
                <a:ext cx="288" cy="288"/>
              </a:xfrm>
              <a:prstGeom prst="line">
                <a:avLst/>
              </a:prstGeom>
              <a:ln w="28575" cap="flat" cmpd="sng">
                <a:solidFill>
                  <a:srgbClr val="009900"/>
                </a:solidFill>
                <a:prstDash val="solid"/>
                <a:round/>
                <a:headEnd type="none" w="med" len="med"/>
                <a:tailEnd type="none" w="med" len="med"/>
              </a:ln>
            </p:spPr>
          </p:sp>
          <p:sp>
            <p:nvSpPr>
              <p:cNvPr id="95248" name="Oval 16"/>
              <p:cNvSpPr/>
              <p:nvPr/>
            </p:nvSpPr>
            <p:spPr>
              <a:xfrm>
                <a:off x="4368" y="105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75</a:t>
                </a:r>
                <a:endParaRPr lang="en-US" altLang="zh-CN" sz="2400" dirty="0">
                  <a:latin typeface="Times New Roman" panose="02020603050405020304" pitchFamily="18" charset="0"/>
                  <a:ea typeface="宋体" panose="02010600030101010101" pitchFamily="2" charset="-122"/>
                </a:endParaRPr>
              </a:p>
            </p:txBody>
          </p:sp>
          <p:sp>
            <p:nvSpPr>
              <p:cNvPr id="95249" name="Oval 17"/>
              <p:cNvSpPr/>
              <p:nvPr/>
            </p:nvSpPr>
            <p:spPr>
              <a:xfrm>
                <a:off x="3456" y="105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dirty="0">
                    <a:solidFill>
                      <a:srgbClr val="CC3300"/>
                    </a:solidFill>
                    <a:latin typeface="Times New Roman" panose="02020603050405020304" pitchFamily="18" charset="0"/>
                    <a:ea typeface="宋体" panose="02010600030101010101" pitchFamily="2" charset="-122"/>
                  </a:rPr>
                  <a:t>13</a:t>
                </a:r>
                <a:endParaRPr lang="en-US" altLang="zh-CN" sz="2400" dirty="0">
                  <a:latin typeface="Times New Roman" panose="02020603050405020304" pitchFamily="18" charset="0"/>
                  <a:ea typeface="宋体" panose="02010600030101010101" pitchFamily="2" charset="-122"/>
                </a:endParaRPr>
              </a:p>
            </p:txBody>
          </p:sp>
          <p:sp>
            <p:nvSpPr>
              <p:cNvPr id="95250" name="Oval 18"/>
              <p:cNvSpPr/>
              <p:nvPr/>
            </p:nvSpPr>
            <p:spPr>
              <a:xfrm>
                <a:off x="2976" y="153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952339" name="Text Box 19"/>
              <p:cNvSpPr txBox="1">
                <a:spLocks noChangeArrowheads="1"/>
              </p:cNvSpPr>
              <p:nvPr/>
            </p:nvSpPr>
            <p:spPr bwMode="auto">
              <a:xfrm>
                <a:off x="3648" y="1824"/>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52340" name="Text Box 20"/>
              <p:cNvSpPr txBox="1">
                <a:spLocks noChangeArrowheads="1"/>
              </p:cNvSpPr>
              <p:nvPr/>
            </p:nvSpPr>
            <p:spPr bwMode="auto">
              <a:xfrm>
                <a:off x="3984" y="1296"/>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5253" name="Oval 21"/>
              <p:cNvSpPr/>
              <p:nvPr/>
            </p:nvSpPr>
            <p:spPr>
              <a:xfrm>
                <a:off x="3936" y="624"/>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21</a:t>
                </a:r>
                <a:endParaRPr lang="en-US" altLang="zh-CN" sz="2400" dirty="0">
                  <a:latin typeface="Times New Roman" panose="02020603050405020304" pitchFamily="18" charset="0"/>
                  <a:ea typeface="宋体" panose="02010600030101010101" pitchFamily="2" charset="-122"/>
                </a:endParaRPr>
              </a:p>
            </p:txBody>
          </p:sp>
          <p:sp>
            <p:nvSpPr>
              <p:cNvPr id="952342" name="Text Box 22"/>
              <p:cNvSpPr txBox="1">
                <a:spLocks noChangeArrowheads="1"/>
              </p:cNvSpPr>
              <p:nvPr/>
            </p:nvSpPr>
            <p:spPr bwMode="auto">
              <a:xfrm>
                <a:off x="4368" y="816"/>
                <a:ext cx="308"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5255" name="Oval 23"/>
              <p:cNvSpPr/>
              <p:nvPr/>
            </p:nvSpPr>
            <p:spPr>
              <a:xfrm>
                <a:off x="4368" y="2064"/>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64</a:t>
                </a:r>
                <a:endParaRPr lang="en-US" altLang="zh-CN" sz="2400" dirty="0">
                  <a:latin typeface="Times New Roman" panose="02020603050405020304" pitchFamily="18" charset="0"/>
                  <a:ea typeface="宋体" panose="02010600030101010101" pitchFamily="2" charset="-122"/>
                </a:endParaRPr>
              </a:p>
            </p:txBody>
          </p:sp>
          <p:sp>
            <p:nvSpPr>
              <p:cNvPr id="95256" name="Oval 24"/>
              <p:cNvSpPr/>
              <p:nvPr/>
            </p:nvSpPr>
            <p:spPr>
              <a:xfrm>
                <a:off x="4080" y="153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56</a:t>
                </a:r>
                <a:endParaRPr lang="en-US" altLang="zh-CN" sz="2400" dirty="0">
                  <a:latin typeface="Times New Roman" panose="02020603050405020304" pitchFamily="18" charset="0"/>
                  <a:ea typeface="宋体" panose="02010600030101010101" pitchFamily="2" charset="-122"/>
                </a:endParaRPr>
              </a:p>
            </p:txBody>
          </p:sp>
          <p:sp>
            <p:nvSpPr>
              <p:cNvPr id="952345" name="Text Box 25"/>
              <p:cNvSpPr txBox="1">
                <a:spLocks noChangeArrowheads="1"/>
              </p:cNvSpPr>
              <p:nvPr/>
            </p:nvSpPr>
            <p:spPr bwMode="auto">
              <a:xfrm>
                <a:off x="4444" y="1824"/>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0</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52346" name="Text Box 26"/>
              <p:cNvSpPr txBox="1">
                <a:spLocks noChangeArrowheads="1"/>
              </p:cNvSpPr>
              <p:nvPr/>
            </p:nvSpPr>
            <p:spPr bwMode="auto">
              <a:xfrm>
                <a:off x="4060" y="384"/>
                <a:ext cx="275"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p>
            </p:txBody>
          </p:sp>
          <p:sp>
            <p:nvSpPr>
              <p:cNvPr id="95259" name="Line 27"/>
              <p:cNvSpPr/>
              <p:nvPr/>
            </p:nvSpPr>
            <p:spPr>
              <a:xfrm>
                <a:off x="4608" y="1296"/>
                <a:ext cx="432" cy="432"/>
              </a:xfrm>
              <a:prstGeom prst="line">
                <a:avLst/>
              </a:prstGeom>
              <a:ln w="28575" cap="flat" cmpd="sng">
                <a:solidFill>
                  <a:srgbClr val="009900"/>
                </a:solidFill>
                <a:prstDash val="solid"/>
                <a:round/>
                <a:headEnd type="none" w="med" len="med"/>
                <a:tailEnd type="none" w="med" len="med"/>
              </a:ln>
            </p:spPr>
          </p:sp>
          <p:sp>
            <p:nvSpPr>
              <p:cNvPr id="95260" name="Oval 28"/>
              <p:cNvSpPr/>
              <p:nvPr/>
            </p:nvSpPr>
            <p:spPr>
              <a:xfrm>
                <a:off x="4848" y="153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80</a:t>
                </a:r>
                <a:endParaRPr lang="en-US" altLang="zh-CN" sz="2400" dirty="0">
                  <a:latin typeface="Times New Roman" panose="02020603050405020304" pitchFamily="18" charset="0"/>
                  <a:ea typeface="宋体" panose="02010600030101010101" pitchFamily="2" charset="-122"/>
                </a:endParaRPr>
              </a:p>
            </p:txBody>
          </p:sp>
          <p:sp>
            <p:nvSpPr>
              <p:cNvPr id="95261" name="Oval 29"/>
              <p:cNvSpPr/>
              <p:nvPr/>
            </p:nvSpPr>
            <p:spPr>
              <a:xfrm>
                <a:off x="3792" y="2064"/>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37</a:t>
                </a:r>
                <a:endParaRPr lang="en-US" altLang="zh-CN" sz="2400" dirty="0">
                  <a:latin typeface="Times New Roman" panose="02020603050405020304" pitchFamily="18" charset="0"/>
                  <a:ea typeface="宋体" panose="02010600030101010101" pitchFamily="2" charset="-122"/>
                </a:endParaRPr>
              </a:p>
            </p:txBody>
          </p:sp>
          <p:sp>
            <p:nvSpPr>
              <p:cNvPr id="95262" name="Oval 30"/>
              <p:cNvSpPr/>
              <p:nvPr/>
            </p:nvSpPr>
            <p:spPr>
              <a:xfrm>
                <a:off x="3696" y="1536"/>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19</a:t>
                </a:r>
                <a:endParaRPr lang="en-US" altLang="zh-CN" sz="2400" dirty="0">
                  <a:latin typeface="Times New Roman" panose="02020603050405020304" pitchFamily="18" charset="0"/>
                  <a:ea typeface="宋体" panose="02010600030101010101" pitchFamily="2" charset="-122"/>
                </a:endParaRPr>
              </a:p>
            </p:txBody>
          </p:sp>
        </p:grpSp>
        <p:sp>
          <p:nvSpPr>
            <p:cNvPr id="6" name="Text Box 7"/>
            <p:cNvSpPr txBox="1">
              <a:spLocks noChangeArrowheads="1"/>
            </p:cNvSpPr>
            <p:nvPr/>
          </p:nvSpPr>
          <p:spPr bwMode="auto">
            <a:xfrm>
              <a:off x="8466" y="6158"/>
              <a:ext cx="1254" cy="725"/>
            </a:xfrm>
            <a:prstGeom prst="rect">
              <a:avLst/>
            </a:prstGeom>
            <a:noFill/>
            <a:ln w="9525">
              <a:noFill/>
              <a:miter lim="800000"/>
            </a:ln>
            <a:effectLst/>
          </p:spPr>
          <p:txBody>
            <a:bodyPr wrap="none">
              <a:spAutoFit/>
            </a:bodyPr>
            <a:lstStyle/>
            <a:p>
              <a:r>
                <a:rPr lang="en-US" altLang="zh-CN" sz="2400" b="1" noProof="1">
                  <a:latin typeface="黑体" panose="02010609060101010101" pitchFamily="2" charset="-122"/>
                  <a:ea typeface="黑体" panose="02010609060101010101" pitchFamily="2" charset="-122"/>
                  <a:cs typeface="黑体" panose="02010609060101010101" pitchFamily="2" charset="-122"/>
                </a:rPr>
                <a:t>LR</a:t>
              </a:r>
              <a:r>
                <a:rPr lang="zh-CN" altLang="en-US" sz="2400" b="1" noProof="1">
                  <a:latin typeface="黑体" panose="02010609060101010101" pitchFamily="2" charset="-122"/>
                  <a:ea typeface="黑体" panose="02010609060101010101" pitchFamily="2" charset="-122"/>
                  <a:cs typeface="黑体" panose="02010609060101010101" pitchFamily="2" charset="-122"/>
                </a:rPr>
                <a:t>型</a:t>
              </a:r>
            </a:p>
          </p:txBody>
        </p:sp>
        <p:grpSp>
          <p:nvGrpSpPr>
            <p:cNvPr id="7" name="组合 6"/>
            <p:cNvGrpSpPr/>
            <p:nvPr/>
          </p:nvGrpSpPr>
          <p:grpSpPr>
            <a:xfrm>
              <a:off x="2840" y="3952"/>
              <a:ext cx="5280" cy="5506"/>
              <a:chOff x="3250" y="4293"/>
              <a:chExt cx="5280" cy="5506"/>
            </a:xfrm>
          </p:grpSpPr>
          <p:grpSp>
            <p:nvGrpSpPr>
              <p:cNvPr id="95264" name="Group 55"/>
              <p:cNvGrpSpPr/>
              <p:nvPr/>
            </p:nvGrpSpPr>
            <p:grpSpPr>
              <a:xfrm>
                <a:off x="3250" y="4293"/>
                <a:ext cx="5280" cy="4320"/>
                <a:chOff x="2688" y="2160"/>
                <a:chExt cx="2112" cy="1728"/>
              </a:xfrm>
            </p:grpSpPr>
            <p:sp>
              <p:nvSpPr>
                <p:cNvPr id="95265" name="Line 56"/>
                <p:cNvSpPr/>
                <p:nvPr/>
              </p:nvSpPr>
              <p:spPr>
                <a:xfrm flipH="1">
                  <a:off x="3648" y="3312"/>
                  <a:ext cx="192" cy="336"/>
                </a:xfrm>
                <a:prstGeom prst="line">
                  <a:avLst/>
                </a:prstGeom>
                <a:ln w="38100" cap="flat" cmpd="sng">
                  <a:solidFill>
                    <a:srgbClr val="009900"/>
                  </a:solidFill>
                  <a:prstDash val="solid"/>
                  <a:round/>
                  <a:headEnd type="none" w="med" len="med"/>
                  <a:tailEnd type="none" w="med" len="med"/>
                </a:ln>
              </p:spPr>
            </p:sp>
            <p:sp>
              <p:nvSpPr>
                <p:cNvPr id="95266" name="Line 57"/>
                <p:cNvSpPr/>
                <p:nvPr/>
              </p:nvSpPr>
              <p:spPr>
                <a:xfrm>
                  <a:off x="3360" y="2832"/>
                  <a:ext cx="96" cy="240"/>
                </a:xfrm>
                <a:prstGeom prst="line">
                  <a:avLst/>
                </a:prstGeom>
                <a:ln w="38100" cap="flat" cmpd="sng">
                  <a:solidFill>
                    <a:srgbClr val="009900"/>
                  </a:solidFill>
                  <a:prstDash val="solid"/>
                  <a:round/>
                  <a:headEnd type="none" w="med" len="med"/>
                  <a:tailEnd type="none" w="med" len="med"/>
                </a:ln>
              </p:spPr>
            </p:sp>
            <p:sp>
              <p:nvSpPr>
                <p:cNvPr id="95267" name="Line 58"/>
                <p:cNvSpPr/>
                <p:nvPr/>
              </p:nvSpPr>
              <p:spPr>
                <a:xfrm flipH="1">
                  <a:off x="3984" y="2832"/>
                  <a:ext cx="144" cy="240"/>
                </a:xfrm>
                <a:prstGeom prst="line">
                  <a:avLst/>
                </a:prstGeom>
                <a:ln w="38100" cap="flat" cmpd="sng">
                  <a:solidFill>
                    <a:srgbClr val="009900"/>
                  </a:solidFill>
                  <a:prstDash val="solid"/>
                  <a:round/>
                  <a:headEnd type="none" w="med" len="med"/>
                  <a:tailEnd type="none" w="med" len="med"/>
                </a:ln>
              </p:spPr>
            </p:sp>
            <p:sp>
              <p:nvSpPr>
                <p:cNvPr id="95268" name="Line 59"/>
                <p:cNvSpPr/>
                <p:nvPr/>
              </p:nvSpPr>
              <p:spPr>
                <a:xfrm>
                  <a:off x="3840" y="2400"/>
                  <a:ext cx="336" cy="336"/>
                </a:xfrm>
                <a:prstGeom prst="line">
                  <a:avLst/>
                </a:prstGeom>
                <a:ln w="28575" cap="flat" cmpd="sng">
                  <a:solidFill>
                    <a:srgbClr val="009900"/>
                  </a:solidFill>
                  <a:prstDash val="solid"/>
                  <a:round/>
                  <a:headEnd type="none" w="med" len="med"/>
                  <a:tailEnd type="none" w="med" len="med"/>
                </a:ln>
              </p:spPr>
            </p:sp>
            <p:sp>
              <p:nvSpPr>
                <p:cNvPr id="95269" name="Line 60"/>
                <p:cNvSpPr/>
                <p:nvPr/>
              </p:nvSpPr>
              <p:spPr>
                <a:xfrm flipH="1">
                  <a:off x="3360" y="2400"/>
                  <a:ext cx="288" cy="288"/>
                </a:xfrm>
                <a:prstGeom prst="line">
                  <a:avLst/>
                </a:prstGeom>
                <a:ln w="28575" cap="flat" cmpd="sng">
                  <a:solidFill>
                    <a:srgbClr val="009900"/>
                  </a:solidFill>
                  <a:prstDash val="solid"/>
                  <a:round/>
                  <a:headEnd type="none" w="med" len="med"/>
                  <a:tailEnd type="none" w="med" len="med"/>
                </a:ln>
              </p:spPr>
            </p:sp>
            <p:sp>
              <p:nvSpPr>
                <p:cNvPr id="95270" name="Oval 61"/>
                <p:cNvSpPr/>
                <p:nvPr/>
              </p:nvSpPr>
              <p:spPr>
                <a:xfrm>
                  <a:off x="4032" y="259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75</a:t>
                  </a:r>
                  <a:endParaRPr lang="en-US" altLang="zh-CN" sz="2400" dirty="0">
                    <a:latin typeface="Times New Roman" panose="02020603050405020304" pitchFamily="18" charset="0"/>
                    <a:ea typeface="宋体" panose="02010600030101010101" pitchFamily="2" charset="-122"/>
                  </a:endParaRPr>
                </a:p>
              </p:txBody>
            </p:sp>
            <p:sp>
              <p:nvSpPr>
                <p:cNvPr id="95271" name="Line 62"/>
                <p:cNvSpPr/>
                <p:nvPr/>
              </p:nvSpPr>
              <p:spPr>
                <a:xfrm flipH="1">
                  <a:off x="2832" y="2784"/>
                  <a:ext cx="432" cy="432"/>
                </a:xfrm>
                <a:prstGeom prst="line">
                  <a:avLst/>
                </a:prstGeom>
                <a:ln w="28575" cap="flat" cmpd="sng">
                  <a:solidFill>
                    <a:srgbClr val="009900"/>
                  </a:solidFill>
                  <a:prstDash val="solid"/>
                  <a:round/>
                  <a:headEnd type="none" w="med" len="med"/>
                  <a:tailEnd type="none" w="med" len="med"/>
                </a:ln>
              </p:spPr>
            </p:sp>
            <p:sp>
              <p:nvSpPr>
                <p:cNvPr id="95272" name="Oval 63"/>
                <p:cNvSpPr/>
                <p:nvPr/>
              </p:nvSpPr>
              <p:spPr>
                <a:xfrm>
                  <a:off x="2688" y="307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952384" name="Text Box 64"/>
                <p:cNvSpPr txBox="1">
                  <a:spLocks noChangeArrowheads="1"/>
                </p:cNvSpPr>
                <p:nvPr/>
              </p:nvSpPr>
              <p:spPr bwMode="auto">
                <a:xfrm>
                  <a:off x="3648" y="2832"/>
                  <a:ext cx="309" cy="290"/>
                </a:xfrm>
                <a:prstGeom prst="rect">
                  <a:avLst/>
                </a:prstGeom>
                <a:noFill/>
                <a:ln w="9525">
                  <a:noFill/>
                  <a:miter lim="800000"/>
                </a:ln>
                <a:effectLst/>
              </p:spPr>
              <p:txBody>
                <a:bodyPr wrap="none">
                  <a:spAutoFit/>
                </a:bodyPr>
                <a:lstStyle/>
                <a:p>
                  <a:pPr marR="0" defTabSz="914400">
                    <a:buClrTx/>
                    <a:buSzTx/>
                    <a:buFontTx/>
                    <a:buNone/>
                    <a:defRPr/>
                  </a:pPr>
                  <a:r>
                    <a:rPr kumimoji="0" lang="en-US" altLang="zh-CN" sz="2400" b="1" kern="1200" cap="none" spc="0" normalizeH="0" baseline="0" noProof="0">
                      <a:solidFill>
                        <a:srgbClr val="008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+2</a:t>
                  </a:r>
                  <a:endParaRPr kumimoji="0" lang="en-US" altLang="zh-CN" sz="2400" kern="1200" cap="none" spc="0" normalizeH="0" baseline="0" noProof="0">
                    <a:latin typeface="Times New Roman" panose="02020603050405020304" pitchFamily="18" charset="0"/>
                    <a:ea typeface="宋体" panose="02010600030101010101" pitchFamily="2" charset="-122"/>
                    <a:cs typeface="+mn-cs"/>
                  </a:endParaRPr>
                </a:p>
              </p:txBody>
            </p:sp>
            <p:sp>
              <p:nvSpPr>
                <p:cNvPr id="95275" name="Oval 66"/>
                <p:cNvSpPr/>
                <p:nvPr/>
              </p:nvSpPr>
              <p:spPr>
                <a:xfrm>
                  <a:off x="3168" y="259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dirty="0">
                      <a:solidFill>
                        <a:srgbClr val="CC3300"/>
                      </a:solidFill>
                      <a:latin typeface="Times New Roman" panose="02020603050405020304" pitchFamily="18" charset="0"/>
                      <a:ea typeface="宋体" panose="02010600030101010101" pitchFamily="2" charset="-122"/>
                    </a:rPr>
                    <a:t>13</a:t>
                  </a:r>
                  <a:endParaRPr lang="en-US" altLang="zh-CN" sz="2400" dirty="0">
                    <a:latin typeface="Times New Roman" panose="02020603050405020304" pitchFamily="18" charset="0"/>
                    <a:ea typeface="宋体" panose="02010600030101010101" pitchFamily="2" charset="-122"/>
                  </a:endParaRPr>
                </a:p>
              </p:txBody>
            </p:sp>
            <p:sp>
              <p:nvSpPr>
                <p:cNvPr id="95276" name="Oval 67"/>
                <p:cNvSpPr/>
                <p:nvPr/>
              </p:nvSpPr>
              <p:spPr>
                <a:xfrm>
                  <a:off x="3792" y="307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64</a:t>
                  </a:r>
                </a:p>
              </p:txBody>
            </p:sp>
            <p:sp>
              <p:nvSpPr>
                <p:cNvPr id="95277" name="Oval 68"/>
                <p:cNvSpPr/>
                <p:nvPr/>
              </p:nvSpPr>
              <p:spPr>
                <a:xfrm>
                  <a:off x="3456" y="360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37</a:t>
                  </a:r>
                </a:p>
              </p:txBody>
            </p:sp>
            <p:sp>
              <p:nvSpPr>
                <p:cNvPr id="952389" name="Text Box 69"/>
                <p:cNvSpPr txBox="1">
                  <a:spLocks noChangeArrowheads="1"/>
                </p:cNvSpPr>
                <p:nvPr/>
              </p:nvSpPr>
              <p:spPr bwMode="auto">
                <a:xfrm>
                  <a:off x="3360" y="3360"/>
                  <a:ext cx="211" cy="290"/>
                </a:xfrm>
                <a:prstGeom prst="rect">
                  <a:avLst/>
                </a:prstGeom>
                <a:noFill/>
                <a:ln w="9525">
                  <a:noFill/>
                  <a:miter lim="800000"/>
                </a:ln>
                <a:effectLst/>
              </p:spPr>
              <p:txBody>
                <a:bodyPr wrap="none">
                  <a:spAutoFit/>
                </a:bodyPr>
                <a:lstStyle/>
                <a:p>
                  <a:r>
                    <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cs typeface="+mn-ea"/>
                    </a:rPr>
                    <a:t>1</a:t>
                  </a:r>
                  <a:endParaRPr lang="en-US" altLang="zh-CN" sz="2400" b="1" noProof="1">
                    <a:solidFill>
                      <a:srgbClr val="008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95279" name="Line 70"/>
                <p:cNvSpPr/>
                <p:nvPr/>
              </p:nvSpPr>
              <p:spPr>
                <a:xfrm>
                  <a:off x="4272" y="2832"/>
                  <a:ext cx="336" cy="336"/>
                </a:xfrm>
                <a:prstGeom prst="line">
                  <a:avLst/>
                </a:prstGeom>
                <a:ln w="28575" cap="flat" cmpd="sng">
                  <a:solidFill>
                    <a:srgbClr val="009900"/>
                  </a:solidFill>
                  <a:prstDash val="solid"/>
                  <a:round/>
                  <a:headEnd type="none" w="med" len="med"/>
                  <a:tailEnd type="none" w="med" len="med"/>
                </a:ln>
              </p:spPr>
            </p:sp>
            <p:sp>
              <p:nvSpPr>
                <p:cNvPr id="95280" name="Oval 71"/>
                <p:cNvSpPr/>
                <p:nvPr/>
              </p:nvSpPr>
              <p:spPr>
                <a:xfrm>
                  <a:off x="4512" y="307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80</a:t>
                  </a:r>
                  <a:endParaRPr lang="en-US" altLang="zh-CN" sz="2400" dirty="0">
                    <a:latin typeface="Times New Roman" panose="02020603050405020304" pitchFamily="18" charset="0"/>
                    <a:ea typeface="宋体" panose="02010600030101010101" pitchFamily="2" charset="-122"/>
                  </a:endParaRPr>
                </a:p>
              </p:txBody>
            </p:sp>
            <p:sp>
              <p:nvSpPr>
                <p:cNvPr id="95281" name="Oval 72"/>
                <p:cNvSpPr/>
                <p:nvPr/>
              </p:nvSpPr>
              <p:spPr>
                <a:xfrm>
                  <a:off x="3360" y="3072"/>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19</a:t>
                  </a:r>
                  <a:endParaRPr lang="en-US" altLang="zh-CN" sz="2400" dirty="0">
                    <a:latin typeface="Times New Roman" panose="02020603050405020304" pitchFamily="18" charset="0"/>
                    <a:ea typeface="宋体" panose="02010600030101010101" pitchFamily="2" charset="-122"/>
                  </a:endParaRPr>
                </a:p>
              </p:txBody>
            </p:sp>
            <p:sp>
              <p:nvSpPr>
                <p:cNvPr id="95283" name="Oval 74"/>
                <p:cNvSpPr/>
                <p:nvPr/>
              </p:nvSpPr>
              <p:spPr>
                <a:xfrm>
                  <a:off x="3600" y="2160"/>
                  <a:ext cx="288" cy="288"/>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CC3300"/>
                      </a:solidFill>
                      <a:latin typeface="Times New Roman" panose="02020603050405020304" pitchFamily="18" charset="0"/>
                      <a:ea typeface="宋体" panose="02010600030101010101" pitchFamily="2" charset="-122"/>
                    </a:rPr>
                    <a:t>21</a:t>
                  </a:r>
                  <a:endParaRPr lang="en-US" altLang="zh-CN" sz="2400" dirty="0">
                    <a:latin typeface="Times New Roman" panose="02020603050405020304" pitchFamily="18" charset="0"/>
                    <a:ea typeface="宋体" panose="02010600030101010101" pitchFamily="2" charset="-122"/>
                  </a:endParaRPr>
                </a:p>
              </p:txBody>
            </p:sp>
          </p:grpSp>
          <p:sp>
            <p:nvSpPr>
              <p:cNvPr id="8" name="Line 26"/>
              <p:cNvSpPr/>
              <p:nvPr/>
            </p:nvSpPr>
            <p:spPr>
              <a:xfrm>
                <a:off x="5735" y="8536"/>
                <a:ext cx="389" cy="543"/>
              </a:xfrm>
              <a:prstGeom prst="line">
                <a:avLst/>
              </a:prstGeom>
              <a:ln w="38100" cap="flat" cmpd="sng">
                <a:solidFill>
                  <a:srgbClr val="009900"/>
                </a:solidFill>
                <a:prstDash val="solid"/>
                <a:round/>
                <a:headEnd type="none" w="med" len="med"/>
                <a:tailEnd type="none" w="med" len="med"/>
              </a:ln>
            </p:spPr>
          </p:sp>
          <p:sp>
            <p:nvSpPr>
              <p:cNvPr id="9" name="Oval 41"/>
              <p:cNvSpPr/>
              <p:nvPr/>
            </p:nvSpPr>
            <p:spPr>
              <a:xfrm>
                <a:off x="5884" y="9079"/>
                <a:ext cx="720" cy="720"/>
              </a:xfrm>
              <a:prstGeom prst="ellipse">
                <a:avLst/>
              </a:prstGeom>
              <a:solidFill>
                <a:srgbClr val="FFFFCC"/>
              </a:solidFill>
              <a:ln w="28575" cap="flat" cmpd="sng">
                <a:solidFill>
                  <a:srgbClr val="009900"/>
                </a:solidFill>
                <a:prstDash val="solid"/>
                <a:round/>
                <a:headEnd type="none" w="med" len="med"/>
                <a:tailEnd type="none" w="med" len="med"/>
              </a:ln>
            </p:spPr>
            <p:txBody>
              <a:bodyPr wrap="none" anchor="ctr" anchorCtr="0"/>
              <a:lstStyle/>
              <a:p>
                <a:pPr algn="ctr"/>
                <a:r>
                  <a:rPr lang="en-US" altLang="zh-CN" sz="2800" b="1" dirty="0">
                    <a:solidFill>
                      <a:srgbClr val="7030A0"/>
                    </a:solidFill>
                    <a:latin typeface="Times New Roman" panose="02020603050405020304" pitchFamily="18" charset="0"/>
                    <a:ea typeface="宋体" panose="02010600030101010101" pitchFamily="2" charset="-122"/>
                  </a:rPr>
                  <a:t>56</a:t>
                </a:r>
              </a:p>
            </p:txBody>
          </p:sp>
        </p:gr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en-US" altLang="zh-CN" sz="2800" dirty="0">
                <a:latin typeface="黑体" panose="02010609060101010101" pitchFamily="2" charset="-122"/>
                <a:ea typeface="黑体" panose="02010609060101010101" pitchFamily="2" charset="-122"/>
                <a:sym typeface="+mn-ea"/>
              </a:rPr>
              <a:t>B</a:t>
            </a:r>
            <a:r>
              <a:rPr lang="zh-CN" altLang="en-US" sz="2800" dirty="0">
                <a:latin typeface="黑体" panose="02010609060101010101" pitchFamily="2" charset="-122"/>
                <a:ea typeface="黑体" panose="02010609060101010101" pitchFamily="2" charset="-122"/>
                <a:sym typeface="+mn-ea"/>
              </a:rPr>
              <a:t>树</a:t>
            </a:r>
            <a:r>
              <a:rPr lang="en-US" altLang="zh-CN" sz="2800" dirty="0">
                <a:latin typeface="黑体" panose="02010609060101010101" pitchFamily="2" charset="-122"/>
                <a:ea typeface="黑体" panose="02010609060101010101" pitchFamily="2" charset="-122"/>
                <a:cs typeface="+mn-ea"/>
                <a:sym typeface="+mn-ea"/>
              </a:rPr>
              <a:t>是一种多路平衡查找树，应用内存和磁盘间的查找</a:t>
            </a:r>
          </a:p>
          <a:p>
            <a:pPr marL="0" lvl="1" indent="-457200" algn="l" eaLnBrk="1" hangingPunct="1">
              <a:buClrTx/>
              <a:buSzTx/>
              <a:buFont typeface="Wingdings" panose="05000000000000000000" charset="0"/>
              <a:buChar char="l"/>
            </a:pPr>
            <a:r>
              <a:rPr lang="en-US" altLang="zh-CN" sz="2800" dirty="0">
                <a:latin typeface="黑体" panose="02010609060101010101" pitchFamily="2" charset="-122"/>
                <a:ea typeface="黑体" panose="02010609060101010101" pitchFamily="2" charset="-122"/>
                <a:sym typeface="+mn-ea"/>
              </a:rPr>
              <a:t>B</a:t>
            </a:r>
            <a:r>
              <a:rPr lang="zh-CN" altLang="en-US" sz="2800" dirty="0">
                <a:latin typeface="黑体" panose="02010609060101010101" pitchFamily="2" charset="-122"/>
                <a:ea typeface="黑体" panose="02010609060101010101" pitchFamily="2" charset="-122"/>
                <a:sym typeface="+mn-ea"/>
              </a:rPr>
              <a:t>树又分</a:t>
            </a:r>
            <a:r>
              <a:rPr lang="en-US" altLang="zh-CN" sz="2800" dirty="0">
                <a:latin typeface="黑体" panose="02010609060101010101" pitchFamily="2" charset="-122"/>
                <a:ea typeface="黑体" panose="02010609060101010101" pitchFamily="2" charset="-122"/>
                <a:sym typeface="+mn-ea"/>
              </a:rPr>
              <a:t>B-</a:t>
            </a:r>
            <a:r>
              <a:rPr lang="zh-CN" altLang="en-US" sz="2800" dirty="0">
                <a:latin typeface="黑体" panose="02010609060101010101" pitchFamily="2" charset="-122"/>
                <a:ea typeface="黑体" panose="02010609060101010101" pitchFamily="2" charset="-122"/>
                <a:sym typeface="+mn-ea"/>
              </a:rPr>
              <a:t>树、</a:t>
            </a:r>
            <a:r>
              <a:rPr lang="en-US" altLang="zh-CN" sz="2800" dirty="0">
                <a:latin typeface="黑体" panose="02010609060101010101" pitchFamily="2" charset="-122"/>
                <a:ea typeface="黑体" panose="02010609060101010101" pitchFamily="2" charset="-122"/>
                <a:sym typeface="+mn-ea"/>
              </a:rPr>
              <a:t>B+</a:t>
            </a:r>
            <a:r>
              <a:rPr lang="zh-CN" altLang="en-US" sz="2800" dirty="0">
                <a:latin typeface="黑体" panose="02010609060101010101" pitchFamily="2" charset="-122"/>
                <a:ea typeface="黑体" panose="02010609060101010101" pitchFamily="2" charset="-122"/>
                <a:sym typeface="+mn-ea"/>
              </a:rPr>
              <a:t>树，一般把</a:t>
            </a:r>
            <a:r>
              <a:rPr lang="en-US" altLang="zh-CN" sz="2800" dirty="0">
                <a:latin typeface="黑体" panose="02010609060101010101" pitchFamily="2" charset="-122"/>
                <a:ea typeface="黑体" panose="02010609060101010101" pitchFamily="2" charset="-122"/>
                <a:sym typeface="+mn-ea"/>
              </a:rPr>
              <a:t>B-</a:t>
            </a:r>
            <a:r>
              <a:rPr lang="zh-CN" altLang="en-US" sz="2800" dirty="0">
                <a:latin typeface="黑体" panose="02010609060101010101" pitchFamily="2" charset="-122"/>
                <a:ea typeface="黑体" panose="02010609060101010101" pitchFamily="2" charset="-122"/>
                <a:sym typeface="+mn-ea"/>
              </a:rPr>
              <a:t>树称为</a:t>
            </a:r>
            <a:r>
              <a:rPr lang="en-US" altLang="zh-CN" sz="2800" dirty="0">
                <a:latin typeface="黑体" panose="02010609060101010101" pitchFamily="2" charset="-122"/>
                <a:ea typeface="黑体" panose="02010609060101010101" pitchFamily="2" charset="-122"/>
                <a:sym typeface="+mn-ea"/>
              </a:rPr>
              <a:t>B</a:t>
            </a:r>
            <a:r>
              <a:rPr lang="zh-CN" altLang="en-US" sz="2800" dirty="0">
                <a:latin typeface="黑体" panose="02010609060101010101" pitchFamily="2" charset="-122"/>
                <a:ea typeface="黑体" panose="02010609060101010101" pitchFamily="2" charset="-122"/>
                <a:sym typeface="+mn-ea"/>
              </a:rPr>
              <a:t>树</a:t>
            </a:r>
            <a:endParaRPr lang="en-US" altLang="zh-CN" sz="280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r>
              <a:rPr lang="en-US" altLang="zh-CN" sz="2800" dirty="0">
                <a:latin typeface="黑体" panose="02010609060101010101" pitchFamily="2" charset="-122"/>
                <a:ea typeface="黑体" panose="02010609060101010101" pitchFamily="2" charset="-122"/>
                <a:cs typeface="+mn-ea"/>
                <a:sym typeface="+mn-ea"/>
              </a:rPr>
              <a:t>m阶B-树规定:</a:t>
            </a:r>
            <a:endParaRPr lang="en-US" altLang="zh-CN" sz="2800" dirty="0">
              <a:latin typeface="黑体" panose="02010609060101010101" pitchFamily="2" charset="-122"/>
              <a:ea typeface="黑体" panose="02010609060101010101" pitchFamily="2" charset="-122"/>
              <a:cs typeface="+mn-ea"/>
            </a:endParaRPr>
          </a:p>
          <a:p>
            <a:pPr marL="965200" lvl="1" indent="-508000" eaLnBrk="1" hangingPunct="1">
              <a:lnSpc>
                <a:spcPct val="110000"/>
              </a:lnSpc>
              <a:buClr>
                <a:schemeClr val="accent2"/>
              </a:buClr>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⑴ 根结点或者是叶子，或者至少有两棵子树，至多有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m</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棵子树；</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lnSpc>
                <a:spcPct val="110000"/>
              </a:lnSpc>
              <a:buClr>
                <a:schemeClr val="accent2"/>
              </a:buClr>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⑵ 除根结点外，所有非终端结点至少有</a:t>
            </a:r>
            <a:r>
              <a:rPr lang="zh-CN" altLang="en-US"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m/2</a:t>
            </a:r>
            <a:r>
              <a:rPr lang="en-US" altLang="zh-CN"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棵子树，至多有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m</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棵子树</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lnSpc>
                <a:spcPct val="110000"/>
              </a:lnSpc>
              <a:buClr>
                <a:schemeClr val="accent2"/>
              </a:buClr>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⑶ 所有叶子结点都在树的同一层上；</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lnSpc>
                <a:spcPct val="110000"/>
              </a:lnSpc>
              <a:buClr>
                <a:schemeClr val="accent2"/>
              </a:buClr>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⑷ 每个结点应包含如下信息：</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lnSpc>
                <a:spcPct val="110000"/>
              </a:lnSpc>
              <a:buClr>
                <a:schemeClr val="accent2"/>
              </a:buClr>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a:t>
            </a:r>
            <a:r>
              <a:rPr lang="en-US" altLang="zh-CN" baseline="-20000" dirty="0">
                <a:latin typeface="黑体" panose="02010609060101010101" pitchFamily="2" charset="-122"/>
                <a:ea typeface="黑体" panose="02010609060101010101" pitchFamily="2" charset="-122"/>
                <a:cs typeface="黑体" panose="02010609060101010101" pitchFamily="2" charset="-122"/>
                <a:sym typeface="+mn-ea"/>
              </a:rPr>
              <a:t>0</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K</a:t>
            </a:r>
            <a:r>
              <a:rPr lang="en-US" altLang="zh-CN" baseline="-20000"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a:t>
            </a:r>
            <a:r>
              <a:rPr lang="en-US" altLang="zh-CN" baseline="-20000"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K</a:t>
            </a:r>
            <a:r>
              <a:rPr lang="en-US" altLang="zh-CN" baseline="-200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a:t>
            </a:r>
            <a:r>
              <a:rPr lang="en-US" altLang="zh-CN" baseline="-200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K</a:t>
            </a:r>
            <a:r>
              <a:rPr lang="en-US" altLang="zh-CN" baseline="-20000"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a:t>
            </a:r>
            <a:r>
              <a:rPr lang="en-US" altLang="zh-CN" baseline="-20000" dirty="0">
                <a:latin typeface="黑体" panose="02010609060101010101" pitchFamily="2" charset="-122"/>
                <a:ea typeface="黑体" panose="02010609060101010101" pitchFamily="2" charset="-122"/>
                <a:cs typeface="黑体" panose="02010609060101010101" pitchFamily="2" charset="-122"/>
                <a:sym typeface="+mn-ea"/>
              </a:rPr>
              <a:t>n</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lnSpc>
                <a:spcPct val="110000"/>
              </a:lnSpc>
              <a:buClr>
                <a:schemeClr val="accent2"/>
              </a:buClr>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	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是</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个关键字，</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是孩子指针，</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K</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是关键字</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lnSpc>
                <a:spcPct val="110000"/>
              </a:lnSpc>
              <a:buClr>
                <a:schemeClr val="accent2"/>
              </a:buClr>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(5) K</a:t>
            </a:r>
            <a:r>
              <a:rPr lang="en-US" altLang="zh-CN" baseline="-20000" dirty="0">
                <a:latin typeface="黑体" panose="02010609060101010101" pitchFamily="2" charset="-122"/>
                <a:ea typeface="黑体" panose="02010609060101010101" pitchFamily="2" charset="-122"/>
                <a:cs typeface="黑体" panose="02010609060101010101" pitchFamily="2" charset="-122"/>
                <a:sym typeface="+mn-ea"/>
              </a:rPr>
              <a:t>i</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&lt;K</a:t>
            </a:r>
            <a:r>
              <a:rPr lang="en-US" altLang="zh-CN" baseline="-20000" dirty="0">
                <a:latin typeface="黑体" panose="02010609060101010101" pitchFamily="2" charset="-122"/>
                <a:ea typeface="黑体" panose="02010609060101010101" pitchFamily="2" charset="-122"/>
                <a:cs typeface="黑体" panose="02010609060101010101" pitchFamily="2" charset="-122"/>
                <a:sym typeface="+mn-ea"/>
              </a:rPr>
              <a:t>i+1</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且</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a:t>
            </a:r>
            <a:r>
              <a:rPr lang="en-US" altLang="zh-CN" baseline="-20000" dirty="0">
                <a:latin typeface="黑体" panose="02010609060101010101" pitchFamily="2" charset="-122"/>
                <a:ea typeface="黑体" panose="02010609060101010101" pitchFamily="2" charset="-122"/>
                <a:cs typeface="黑体" panose="02010609060101010101" pitchFamily="2" charset="-122"/>
                <a:sym typeface="+mn-ea"/>
              </a:rPr>
              <a:t>i</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所指向的子树中所有结点的关键字都在</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K</a:t>
            </a:r>
            <a:r>
              <a:rPr lang="en-US" altLang="zh-CN" baseline="-20000" dirty="0">
                <a:latin typeface="黑体" panose="02010609060101010101" pitchFamily="2" charset="-122"/>
                <a:ea typeface="黑体" panose="02010609060101010101" pitchFamily="2" charset="-122"/>
                <a:cs typeface="黑体" panose="02010609060101010101" pitchFamily="2" charset="-122"/>
                <a:sym typeface="+mn-ea"/>
              </a:rPr>
              <a:t>i</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和</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K</a:t>
            </a:r>
            <a:r>
              <a:rPr lang="en-US" altLang="zh-CN" baseline="-20000" dirty="0">
                <a:latin typeface="黑体" panose="02010609060101010101" pitchFamily="2" charset="-122"/>
                <a:ea typeface="黑体" panose="02010609060101010101" pitchFamily="2" charset="-122"/>
                <a:cs typeface="黑体" panose="02010609060101010101" pitchFamily="2" charset="-122"/>
                <a:sym typeface="+mn-ea"/>
              </a:rPr>
              <a:t>i+1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之间</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a:buChar char="•"/>
            </a:pPr>
            <a:endParaRPr lang="zh-CN" altLang="en-US"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85</a:t>
            </a:fld>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en-US" altLang="zh-CN" sz="2800" dirty="0">
                <a:latin typeface="黑体" panose="02010609060101010101" pitchFamily="2" charset="-122"/>
                <a:ea typeface="黑体" panose="02010609060101010101" pitchFamily="2" charset="-122"/>
                <a:cs typeface="+mn-ea"/>
                <a:sym typeface="+mn-ea"/>
              </a:rPr>
              <a:t>4阶B-树</a:t>
            </a:r>
            <a:r>
              <a:rPr lang="zh-CN" altLang="en-US" sz="2800" dirty="0">
                <a:latin typeface="黑体" panose="02010609060101010101" pitchFamily="2" charset="-122"/>
                <a:ea typeface="黑体" panose="02010609060101010101" pitchFamily="2" charset="-122"/>
                <a:cs typeface="+mn-ea"/>
                <a:sym typeface="+mn-ea"/>
              </a:rPr>
              <a:t>的示例</a:t>
            </a:r>
            <a:r>
              <a:rPr lang="en-US" altLang="zh-CN" sz="2800" dirty="0">
                <a:latin typeface="黑体" panose="02010609060101010101" pitchFamily="2" charset="-122"/>
                <a:ea typeface="黑体" panose="02010609060101010101" pitchFamily="2" charset="-122"/>
                <a:cs typeface="+mn-ea"/>
                <a:sym typeface="+mn-ea"/>
              </a:rPr>
              <a:t>:</a:t>
            </a:r>
            <a:endParaRPr lang="en-US" altLang="zh-CN" sz="280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86</a:t>
            </a:fld>
            <a:endParaRPr lang="zh-CN" altLang="en-US"/>
          </a:p>
        </p:txBody>
      </p:sp>
      <p:pic>
        <p:nvPicPr>
          <p:cNvPr id="5" name="图片 4"/>
          <p:cNvPicPr>
            <a:picLocks noChangeAspect="1"/>
          </p:cNvPicPr>
          <p:nvPr>
            <p:custDataLst>
              <p:tags r:id="rId1"/>
            </p:custDataLst>
          </p:nvPr>
        </p:nvPicPr>
        <p:blipFill>
          <a:blip r:embed="rId3"/>
          <a:stretch>
            <a:fillRect/>
          </a:stretch>
        </p:blipFill>
        <p:spPr>
          <a:xfrm>
            <a:off x="2711450" y="1556385"/>
            <a:ext cx="7006590" cy="432371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en-US" altLang="zh-CN" sz="2800" dirty="0">
                <a:latin typeface="黑体" panose="02010609060101010101" pitchFamily="2" charset="-122"/>
                <a:ea typeface="黑体" panose="02010609060101010101" pitchFamily="2" charset="-122"/>
                <a:sym typeface="+mn-ea"/>
              </a:rPr>
              <a:t>B-</a:t>
            </a:r>
            <a:r>
              <a:rPr lang="zh-CN" altLang="en-US" sz="2800" dirty="0">
                <a:latin typeface="黑体" panose="02010609060101010101" pitchFamily="2" charset="-122"/>
                <a:ea typeface="黑体" panose="02010609060101010101" pitchFamily="2" charset="-122"/>
                <a:sym typeface="+mn-ea"/>
              </a:rPr>
              <a:t>树的特点</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eaLnBrk="1" latinLnBrk="0" hangingPunct="1">
              <a:lnSpc>
                <a:spcPct val="100000"/>
              </a:lnSpc>
              <a:spcBef>
                <a:spcPct val="20000"/>
              </a:spcBef>
              <a:buClrTx/>
              <a:buSzTx/>
              <a:buChar char="•"/>
            </a:pPr>
            <a:r>
              <a:rPr lang="en-US" altLang="zh-CN" sz="2400" b="0" dirty="0">
                <a:latin typeface="黑体" panose="02010609060101010101" pitchFamily="2" charset="-122"/>
                <a:ea typeface="黑体" panose="02010609060101010101" pitchFamily="2" charset="-122"/>
                <a:cs typeface="+mn-ea"/>
                <a:sym typeface="+mn-ea"/>
              </a:rPr>
              <a:t>m</a:t>
            </a:r>
            <a:r>
              <a:rPr lang="zh-CN" altLang="en-US" sz="2400" b="0" dirty="0">
                <a:latin typeface="黑体" panose="02010609060101010101" pitchFamily="2" charset="-122"/>
                <a:ea typeface="黑体" panose="02010609060101010101" pitchFamily="2" charset="-122"/>
                <a:cs typeface="+mn-ea"/>
                <a:sym typeface="+mn-ea"/>
              </a:rPr>
              <a:t>阶</a:t>
            </a:r>
            <a:r>
              <a:rPr lang="en-US" altLang="zh-CN" sz="2400" b="0" dirty="0">
                <a:latin typeface="黑体" panose="02010609060101010101" pitchFamily="2" charset="-122"/>
                <a:ea typeface="黑体" panose="02010609060101010101" pitchFamily="2" charset="-122"/>
                <a:cs typeface="+mn-ea"/>
                <a:sym typeface="+mn-ea"/>
              </a:rPr>
              <a:t>B-</a:t>
            </a:r>
            <a:r>
              <a:rPr lang="zh-CN" altLang="en-US" sz="2400" b="0" dirty="0">
                <a:latin typeface="黑体" panose="02010609060101010101" pitchFamily="2" charset="-122"/>
                <a:ea typeface="黑体" panose="02010609060101010101" pitchFamily="2" charset="-122"/>
                <a:cs typeface="+mn-ea"/>
                <a:sym typeface="+mn-ea"/>
              </a:rPr>
              <a:t>树即</a:t>
            </a:r>
            <a:r>
              <a:rPr lang="en-US" altLang="zh-CN" sz="2400" b="0" dirty="0">
                <a:latin typeface="黑体" panose="02010609060101010101" pitchFamily="2" charset="-122"/>
                <a:ea typeface="黑体" panose="02010609060101010101" pitchFamily="2" charset="-122"/>
                <a:cs typeface="+mn-ea"/>
                <a:sym typeface="+mn-ea"/>
              </a:rPr>
              <a:t>m</a:t>
            </a:r>
            <a:r>
              <a:rPr lang="zh-CN" altLang="en-US" sz="2400" b="0" dirty="0">
                <a:latin typeface="黑体" panose="02010609060101010101" pitchFamily="2" charset="-122"/>
                <a:ea typeface="黑体" panose="02010609060101010101" pitchFamily="2" charset="-122"/>
                <a:cs typeface="+mn-ea"/>
                <a:sym typeface="+mn-ea"/>
              </a:rPr>
              <a:t>叉树，</a:t>
            </a:r>
            <a:r>
              <a:rPr lang="en-US" altLang="zh-CN" sz="2400" b="0" dirty="0">
                <a:latin typeface="黑体" panose="02010609060101010101" pitchFamily="2" charset="-122"/>
                <a:ea typeface="黑体" panose="02010609060101010101" pitchFamily="2" charset="-122"/>
                <a:cs typeface="+mn-ea"/>
                <a:sym typeface="+mn-ea"/>
              </a:rPr>
              <a:t>m</a:t>
            </a:r>
            <a:r>
              <a:rPr lang="zh-CN" altLang="en-US" sz="2400" b="0" dirty="0">
                <a:latin typeface="黑体" panose="02010609060101010101" pitchFamily="2" charset="-122"/>
                <a:ea typeface="黑体" panose="02010609060101010101" pitchFamily="2" charset="-122"/>
                <a:cs typeface="+mn-ea"/>
                <a:sym typeface="+mn-ea"/>
              </a:rPr>
              <a:t>是树的度</a:t>
            </a:r>
          </a:p>
          <a:p>
            <a:pPr lvl="1" algn="l" eaLnBrk="1" latinLnBrk="0" hangingPunct="1">
              <a:lnSpc>
                <a:spcPct val="100000"/>
              </a:lnSpc>
              <a:spcBef>
                <a:spcPct val="20000"/>
              </a:spcBef>
              <a:buClrTx/>
              <a:buSzTx/>
              <a:buChar char="•"/>
            </a:pPr>
            <a:r>
              <a:rPr lang="en-US" altLang="zh-CN" sz="2400" b="0" dirty="0">
                <a:latin typeface="黑体" panose="02010609060101010101" pitchFamily="2" charset="-122"/>
                <a:ea typeface="黑体" panose="02010609060101010101" pitchFamily="2" charset="-122"/>
                <a:cs typeface="+mn-ea"/>
                <a:sym typeface="+mn-ea"/>
              </a:rPr>
              <a:t>m</a:t>
            </a:r>
            <a:r>
              <a:rPr lang="zh-CN" altLang="en-US" sz="2400" b="0" dirty="0">
                <a:latin typeface="黑体" panose="02010609060101010101" pitchFamily="2" charset="-122"/>
                <a:ea typeface="黑体" panose="02010609060101010101" pitchFamily="2" charset="-122"/>
                <a:cs typeface="+mn-ea"/>
                <a:sym typeface="+mn-ea"/>
              </a:rPr>
              <a:t>是指树结点最多包含</a:t>
            </a:r>
            <a:r>
              <a:rPr lang="en-US" altLang="zh-CN" sz="2400" b="0" dirty="0">
                <a:latin typeface="黑体" panose="02010609060101010101" pitchFamily="2" charset="-122"/>
                <a:ea typeface="黑体" panose="02010609060101010101" pitchFamily="2" charset="-122"/>
                <a:cs typeface="+mn-ea"/>
                <a:sym typeface="+mn-ea"/>
              </a:rPr>
              <a:t>m</a:t>
            </a:r>
            <a:r>
              <a:rPr lang="zh-CN" altLang="en-US" sz="2400" b="0" dirty="0">
                <a:latin typeface="黑体" panose="02010609060101010101" pitchFamily="2" charset="-122"/>
                <a:ea typeface="黑体" panose="02010609060101010101" pitchFamily="2" charset="-122"/>
                <a:cs typeface="+mn-ea"/>
                <a:sym typeface="+mn-ea"/>
              </a:rPr>
              <a:t>个孩子指针</a:t>
            </a:r>
          </a:p>
          <a:p>
            <a:pPr lvl="1" algn="l" eaLnBrk="1" latinLnBrk="0" hangingPunct="1">
              <a:lnSpc>
                <a:spcPct val="100000"/>
              </a:lnSpc>
              <a:spcBef>
                <a:spcPct val="20000"/>
              </a:spcBef>
              <a:buClrTx/>
              <a:buSzTx/>
              <a:buChar char="•"/>
            </a:pPr>
            <a:r>
              <a:rPr lang="zh-CN" altLang="en-US" sz="2400" b="0" dirty="0">
                <a:latin typeface="黑体" panose="02010609060101010101" pitchFamily="2" charset="-122"/>
                <a:ea typeface="黑体" panose="02010609060101010101" pitchFamily="2" charset="-122"/>
                <a:cs typeface="+mn-ea"/>
                <a:sym typeface="+mn-ea"/>
              </a:rPr>
              <a:t>每个树结点中，关键字的数量比孩子指针数量少</a:t>
            </a:r>
            <a:r>
              <a:rPr lang="en-US" altLang="zh-CN" sz="2400" b="0" dirty="0">
                <a:latin typeface="黑体" panose="02010609060101010101" pitchFamily="2" charset="-122"/>
                <a:ea typeface="黑体" panose="02010609060101010101" pitchFamily="2" charset="-122"/>
                <a:cs typeface="+mn-ea"/>
                <a:sym typeface="+mn-ea"/>
              </a:rPr>
              <a:t>1</a:t>
            </a:r>
          </a:p>
          <a:p>
            <a:pPr lvl="1" algn="l" eaLnBrk="1" latinLnBrk="0" hangingPunct="1">
              <a:lnSpc>
                <a:spcPct val="100000"/>
              </a:lnSpc>
              <a:spcBef>
                <a:spcPct val="20000"/>
              </a:spcBef>
              <a:buClrTx/>
              <a:buSzTx/>
              <a:buChar char="•"/>
            </a:pPr>
            <a:r>
              <a:rPr lang="zh-CN" altLang="en-US" sz="2400" b="0" dirty="0">
                <a:latin typeface="黑体" panose="02010609060101010101" pitchFamily="2" charset="-122"/>
                <a:ea typeface="黑体" panose="02010609060101010101" pitchFamily="2" charset="-122"/>
                <a:cs typeface="+mn-ea"/>
                <a:sym typeface="+mn-ea"/>
              </a:rPr>
              <a:t>根结点可以有</a:t>
            </a:r>
            <a:r>
              <a:rPr lang="en-US" altLang="zh-CN" sz="2400" b="0" dirty="0">
                <a:latin typeface="黑体" panose="02010609060101010101" pitchFamily="2" charset="-122"/>
                <a:ea typeface="黑体" panose="02010609060101010101" pitchFamily="2" charset="-122"/>
                <a:cs typeface="+mn-ea"/>
                <a:sym typeface="+mn-ea"/>
              </a:rPr>
              <a:t>2</a:t>
            </a:r>
            <a:r>
              <a:rPr lang="zh-CN" altLang="en-US" sz="2400" b="0" dirty="0">
                <a:latin typeface="黑体" panose="02010609060101010101" pitchFamily="2" charset="-122"/>
                <a:ea typeface="黑体" panose="02010609060101010101" pitchFamily="2" charset="-122"/>
                <a:cs typeface="+mn-ea"/>
                <a:sym typeface="+mn-ea"/>
              </a:rPr>
              <a:t>到</a:t>
            </a:r>
            <a:r>
              <a:rPr lang="en-US" altLang="zh-CN" sz="2400" b="0" dirty="0">
                <a:latin typeface="黑体" panose="02010609060101010101" pitchFamily="2" charset="-122"/>
                <a:ea typeface="黑体" panose="02010609060101010101" pitchFamily="2" charset="-122"/>
                <a:cs typeface="+mn-ea"/>
                <a:sym typeface="+mn-ea"/>
              </a:rPr>
              <a:t>m</a:t>
            </a:r>
            <a:r>
              <a:rPr lang="zh-CN" altLang="en-US" sz="2400" b="0" dirty="0">
                <a:latin typeface="黑体" panose="02010609060101010101" pitchFamily="2" charset="-122"/>
                <a:ea typeface="黑体" panose="02010609060101010101" pitchFamily="2" charset="-122"/>
                <a:cs typeface="+mn-ea"/>
                <a:sym typeface="+mn-ea"/>
              </a:rPr>
              <a:t>个孩子指针</a:t>
            </a:r>
          </a:p>
          <a:p>
            <a:pPr lvl="1" algn="l" eaLnBrk="1" latinLnBrk="0" hangingPunct="1">
              <a:lnSpc>
                <a:spcPct val="100000"/>
              </a:lnSpc>
              <a:spcBef>
                <a:spcPct val="20000"/>
              </a:spcBef>
              <a:buClrTx/>
              <a:buSzTx/>
              <a:buChar char="•"/>
            </a:pPr>
            <a:r>
              <a:rPr lang="zh-CN" altLang="en-US" sz="2400" b="0" dirty="0">
                <a:latin typeface="黑体" panose="02010609060101010101" pitchFamily="2" charset="-122"/>
                <a:ea typeface="黑体" panose="02010609060101010101" pitchFamily="2" charset="-122"/>
                <a:cs typeface="+mn-ea"/>
                <a:sym typeface="+mn-ea"/>
              </a:rPr>
              <a:t>叶子结点的关键字数量不受限制，孩子指针都是空指针，数量无意义</a:t>
            </a:r>
          </a:p>
          <a:p>
            <a:pPr lvl="1" algn="l" eaLnBrk="1" latinLnBrk="0" hangingPunct="1">
              <a:lnSpc>
                <a:spcPct val="100000"/>
              </a:lnSpc>
              <a:spcBef>
                <a:spcPct val="20000"/>
              </a:spcBef>
              <a:buClrTx/>
              <a:buSzTx/>
              <a:buChar char="•"/>
            </a:pPr>
            <a:r>
              <a:rPr lang="zh-CN" altLang="en-US" sz="2400" b="0" dirty="0">
                <a:latin typeface="黑体" panose="02010609060101010101" pitchFamily="2" charset="-122"/>
                <a:ea typeface="黑体" panose="02010609060101010101" pitchFamily="2" charset="-122"/>
                <a:cs typeface="+mn-ea"/>
                <a:sym typeface="+mn-ea"/>
              </a:rPr>
              <a:t>中间结点包含</a:t>
            </a:r>
            <a:r>
              <a:rPr lang="zh-CN" altLang="en-US" dirty="0">
                <a:latin typeface="黑体" panose="02010609060101010101" pitchFamily="2" charset="-122"/>
                <a:ea typeface="黑体" panose="02010609060101010101" pitchFamily="2" charset="-122"/>
                <a:cs typeface="+mn-ea"/>
                <a:sym typeface="Symbol" panose="05050102010706020507" pitchFamily="18" charset="2"/>
              </a:rPr>
              <a:t></a:t>
            </a:r>
            <a:r>
              <a:rPr lang="zh-CN" altLang="en-US" dirty="0">
                <a:latin typeface="黑体" panose="02010609060101010101" pitchFamily="2" charset="-122"/>
                <a:ea typeface="黑体" panose="02010609060101010101" pitchFamily="2" charset="-122"/>
                <a:cs typeface="+mn-ea"/>
                <a:sym typeface="+mn-ea"/>
              </a:rPr>
              <a:t>m/2</a:t>
            </a:r>
            <a:r>
              <a:rPr lang="zh-CN" altLang="en-US" dirty="0">
                <a:latin typeface="黑体" panose="02010609060101010101" pitchFamily="2" charset="-122"/>
                <a:ea typeface="黑体" panose="02010609060101010101" pitchFamily="2" charset="-122"/>
                <a:cs typeface="+mn-ea"/>
                <a:sym typeface="Symbol" panose="05050102010706020507" pitchFamily="18" charset="2"/>
              </a:rPr>
              <a:t>到</a:t>
            </a:r>
            <a:r>
              <a:rPr lang="zh-CN" altLang="en-US" dirty="0">
                <a:latin typeface="黑体" panose="02010609060101010101" pitchFamily="2" charset="-122"/>
                <a:ea typeface="黑体" panose="02010609060101010101" pitchFamily="2" charset="-122"/>
                <a:cs typeface="+mn-ea"/>
                <a:sym typeface="+mn-ea"/>
              </a:rPr>
              <a:t>m个孩子指针，即包含</a:t>
            </a:r>
            <a:r>
              <a:rPr lang="zh-CN" altLang="en-US" dirty="0">
                <a:latin typeface="黑体" panose="02010609060101010101" pitchFamily="2" charset="-122"/>
                <a:ea typeface="黑体" panose="02010609060101010101" pitchFamily="2" charset="-122"/>
                <a:cs typeface="+mn-ea"/>
                <a:sym typeface="Symbol" panose="05050102010706020507" pitchFamily="18" charset="2"/>
              </a:rPr>
              <a:t></a:t>
            </a:r>
            <a:r>
              <a:rPr lang="zh-CN" altLang="en-US" dirty="0">
                <a:latin typeface="黑体" panose="02010609060101010101" pitchFamily="2" charset="-122"/>
                <a:ea typeface="黑体" panose="02010609060101010101" pitchFamily="2" charset="-122"/>
                <a:cs typeface="+mn-ea"/>
                <a:sym typeface="+mn-ea"/>
              </a:rPr>
              <a:t>m/2</a:t>
            </a:r>
            <a:r>
              <a:rPr lang="zh-CN" altLang="en-US" dirty="0">
                <a:latin typeface="黑体" panose="02010609060101010101" pitchFamily="2" charset="-122"/>
                <a:ea typeface="黑体" panose="02010609060101010101" pitchFamily="2" charset="-122"/>
                <a:cs typeface="+mn-ea"/>
                <a:sym typeface="Symbol" panose="05050102010706020507" pitchFamily="18" charset="2"/>
              </a:rPr>
              <a:t></a:t>
            </a:r>
            <a:r>
              <a:rPr lang="en-US" altLang="zh-CN" dirty="0">
                <a:latin typeface="黑体" panose="02010609060101010101" pitchFamily="2" charset="-122"/>
                <a:ea typeface="黑体" panose="02010609060101010101" pitchFamily="2" charset="-122"/>
                <a:cs typeface="+mn-ea"/>
                <a:sym typeface="Symbol" panose="05050102010706020507" pitchFamily="18" charset="2"/>
              </a:rPr>
              <a:t>-1</a:t>
            </a:r>
            <a:r>
              <a:rPr lang="zh-CN" altLang="en-US" dirty="0">
                <a:latin typeface="黑体" panose="02010609060101010101" pitchFamily="2" charset="-122"/>
                <a:ea typeface="黑体" panose="02010609060101010101" pitchFamily="2" charset="-122"/>
                <a:cs typeface="+mn-ea"/>
                <a:sym typeface="Symbol" panose="05050102010706020507" pitchFamily="18" charset="2"/>
              </a:rPr>
              <a:t>到</a:t>
            </a:r>
            <a:r>
              <a:rPr lang="en-US" altLang="zh-CN" dirty="0">
                <a:latin typeface="黑体" panose="02010609060101010101" pitchFamily="2" charset="-122"/>
                <a:ea typeface="黑体" panose="02010609060101010101" pitchFamily="2" charset="-122"/>
                <a:cs typeface="+mn-ea"/>
                <a:sym typeface="Symbol" panose="05050102010706020507" pitchFamily="18" charset="2"/>
              </a:rPr>
              <a:t>m-1</a:t>
            </a:r>
            <a:r>
              <a:rPr lang="zh-CN" altLang="en-US" dirty="0">
                <a:latin typeface="黑体" panose="02010609060101010101" pitchFamily="2" charset="-122"/>
                <a:ea typeface="黑体" panose="02010609060101010101" pitchFamily="2" charset="-122"/>
                <a:cs typeface="+mn-ea"/>
                <a:sym typeface="Symbol" panose="05050102010706020507" pitchFamily="18" charset="2"/>
              </a:rPr>
              <a:t>个关键字</a:t>
            </a:r>
            <a:endParaRPr lang="zh-CN" altLang="en-US" sz="2400" b="0" dirty="0">
              <a:latin typeface="黑体" panose="02010609060101010101" pitchFamily="2" charset="-122"/>
              <a:ea typeface="黑体" panose="02010609060101010101" pitchFamily="2" charset="-122"/>
              <a:cs typeface="+mn-ea"/>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sym typeface="+mn-ea"/>
              </a:rPr>
              <a:t>例如</a:t>
            </a:r>
            <a:r>
              <a:rPr lang="en-US" altLang="zh-CN" sz="2800" dirty="0">
                <a:latin typeface="黑体" panose="02010609060101010101" pitchFamily="2" charset="-122"/>
                <a:ea typeface="黑体" panose="02010609060101010101" pitchFamily="2" charset="-122"/>
                <a:sym typeface="+mn-ea"/>
              </a:rPr>
              <a:t>9</a:t>
            </a:r>
            <a:r>
              <a:rPr lang="zh-CN" altLang="en-US" sz="2800" dirty="0">
                <a:latin typeface="黑体" panose="02010609060101010101" pitchFamily="2" charset="-122"/>
                <a:ea typeface="黑体" panose="02010609060101010101" pitchFamily="2" charset="-122"/>
                <a:sym typeface="+mn-ea"/>
              </a:rPr>
              <a:t>阶</a:t>
            </a:r>
            <a:r>
              <a:rPr lang="en-US" altLang="zh-CN" sz="2800" dirty="0">
                <a:latin typeface="黑体" panose="02010609060101010101" pitchFamily="2" charset="-122"/>
                <a:ea typeface="黑体" panose="02010609060101010101" pitchFamily="2" charset="-122"/>
                <a:sym typeface="+mn-ea"/>
              </a:rPr>
              <a:t>B-</a:t>
            </a:r>
            <a:r>
              <a:rPr lang="zh-CN" altLang="en-US" sz="2800" dirty="0">
                <a:latin typeface="黑体" panose="02010609060101010101" pitchFamily="2" charset="-122"/>
                <a:ea typeface="黑体" panose="02010609060101010101" pitchFamily="2" charset="-122"/>
                <a:sym typeface="+mn-ea"/>
              </a:rPr>
              <a:t>树</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根结点包含</a:t>
            </a:r>
            <a:r>
              <a:rPr lang="en-US" altLang="zh-CN" dirty="0">
                <a:latin typeface="黑体" panose="02010609060101010101" pitchFamily="2" charset="-122"/>
                <a:ea typeface="黑体" panose="02010609060101010101" pitchFamily="2" charset="-122"/>
                <a:cs typeface="+mn-ea"/>
                <a:sym typeface="+mn-ea"/>
              </a:rPr>
              <a:t>2</a:t>
            </a:r>
            <a:r>
              <a:rPr lang="zh-CN" altLang="en-US" dirty="0">
                <a:latin typeface="黑体" panose="02010609060101010101" pitchFamily="2" charset="-122"/>
                <a:ea typeface="黑体" panose="02010609060101010101" pitchFamily="2" charset="-122"/>
                <a:cs typeface="+mn-ea"/>
                <a:sym typeface="+mn-ea"/>
              </a:rPr>
              <a:t>到</a:t>
            </a:r>
            <a:r>
              <a:rPr lang="en-US" altLang="zh-CN" dirty="0">
                <a:latin typeface="黑体" panose="02010609060101010101" pitchFamily="2" charset="-122"/>
                <a:ea typeface="黑体" panose="02010609060101010101" pitchFamily="2" charset="-122"/>
                <a:cs typeface="+mn-ea"/>
                <a:sym typeface="+mn-ea"/>
              </a:rPr>
              <a:t>9</a:t>
            </a:r>
            <a:r>
              <a:rPr lang="zh-CN" altLang="en-US" dirty="0">
                <a:latin typeface="黑体" panose="02010609060101010101" pitchFamily="2" charset="-122"/>
                <a:ea typeface="黑体" panose="02010609060101010101" pitchFamily="2" charset="-122"/>
                <a:cs typeface="+mn-ea"/>
                <a:sym typeface="+mn-ea"/>
              </a:rPr>
              <a:t>个孩子指针，即</a:t>
            </a:r>
            <a:r>
              <a:rPr lang="en-US" altLang="zh-CN" dirty="0">
                <a:latin typeface="黑体" panose="02010609060101010101" pitchFamily="2" charset="-122"/>
                <a:ea typeface="黑体" panose="02010609060101010101" pitchFamily="2" charset="-122"/>
                <a:cs typeface="+mn-ea"/>
                <a:sym typeface="+mn-ea"/>
              </a:rPr>
              <a:t>1-8</a:t>
            </a:r>
            <a:r>
              <a:rPr lang="zh-CN" altLang="en-US" dirty="0">
                <a:latin typeface="黑体" panose="02010609060101010101" pitchFamily="2" charset="-122"/>
                <a:ea typeface="黑体" panose="02010609060101010101" pitchFamily="2" charset="-122"/>
                <a:cs typeface="+mn-ea"/>
                <a:sym typeface="+mn-ea"/>
              </a:rPr>
              <a:t>个关键字</a:t>
            </a:r>
          </a:p>
          <a:p>
            <a:pPr lvl="1" algn="l" eaLnBrk="1"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中间结点包含</a:t>
            </a:r>
            <a:r>
              <a:rPr lang="en-US" altLang="zh-CN" dirty="0">
                <a:latin typeface="黑体" panose="02010609060101010101" pitchFamily="2" charset="-122"/>
                <a:ea typeface="黑体" panose="02010609060101010101" pitchFamily="2" charset="-122"/>
                <a:cs typeface="+mn-ea"/>
                <a:sym typeface="+mn-ea"/>
              </a:rPr>
              <a:t>5</a:t>
            </a:r>
            <a:r>
              <a:rPr lang="zh-CN" altLang="en-US" dirty="0">
                <a:latin typeface="黑体" panose="02010609060101010101" pitchFamily="2" charset="-122"/>
                <a:ea typeface="黑体" panose="02010609060101010101" pitchFamily="2" charset="-122"/>
                <a:cs typeface="+mn-ea"/>
                <a:sym typeface="+mn-ea"/>
              </a:rPr>
              <a:t>到</a:t>
            </a:r>
            <a:r>
              <a:rPr lang="en-US" altLang="zh-CN" dirty="0">
                <a:latin typeface="黑体" panose="02010609060101010101" pitchFamily="2" charset="-122"/>
                <a:ea typeface="黑体" panose="02010609060101010101" pitchFamily="2" charset="-122"/>
                <a:cs typeface="+mn-ea"/>
                <a:sym typeface="+mn-ea"/>
              </a:rPr>
              <a:t>9</a:t>
            </a:r>
            <a:r>
              <a:rPr lang="zh-CN" altLang="en-US" dirty="0">
                <a:latin typeface="黑体" panose="02010609060101010101" pitchFamily="2" charset="-122"/>
                <a:ea typeface="黑体" panose="02010609060101010101" pitchFamily="2" charset="-122"/>
                <a:cs typeface="+mn-ea"/>
                <a:sym typeface="+mn-ea"/>
              </a:rPr>
              <a:t>个孩子指针，即</a:t>
            </a:r>
            <a:r>
              <a:rPr lang="en-US" altLang="zh-CN" dirty="0">
                <a:latin typeface="黑体" panose="02010609060101010101" pitchFamily="2" charset="-122"/>
                <a:ea typeface="黑体" panose="02010609060101010101" pitchFamily="2" charset="-122"/>
                <a:cs typeface="+mn-ea"/>
                <a:sym typeface="+mn-ea"/>
              </a:rPr>
              <a:t>4-8</a:t>
            </a:r>
            <a:r>
              <a:rPr lang="zh-CN" altLang="en-US" dirty="0">
                <a:latin typeface="黑体" panose="02010609060101010101" pitchFamily="2" charset="-122"/>
                <a:ea typeface="黑体" panose="02010609060101010101" pitchFamily="2" charset="-122"/>
                <a:cs typeface="+mn-ea"/>
                <a:sym typeface="+mn-ea"/>
              </a:rPr>
              <a:t>个关键字</a:t>
            </a:r>
          </a:p>
          <a:p>
            <a:pPr lvl="1" algn="l" eaLnBrk="1" latinLnBrk="0" hangingPunct="1">
              <a:lnSpc>
                <a:spcPct val="100000"/>
              </a:lnSpc>
              <a:spcBef>
                <a:spcPct val="20000"/>
              </a:spcBef>
              <a:buClrTx/>
              <a:buSzTx/>
              <a:buChar char="•"/>
            </a:pPr>
            <a:endParaRPr lang="zh-CN" altLang="en-US" b="0" dirty="0">
              <a:latin typeface="黑体" panose="02010609060101010101" pitchFamily="2" charset="-122"/>
              <a:ea typeface="黑体" panose="02010609060101010101" pitchFamily="2" charset="-122"/>
              <a:cs typeface="+mn-ea"/>
              <a:sym typeface="+mn-ea"/>
            </a:endParaRPr>
          </a:p>
          <a:p>
            <a:pPr marL="609600" lvl="1" indent="0" algn="l" eaLnBrk="1" latinLnBrk="0" hangingPunct="1">
              <a:lnSpc>
                <a:spcPct val="100000"/>
              </a:lnSpc>
              <a:spcBef>
                <a:spcPct val="20000"/>
              </a:spcBef>
              <a:buClrTx/>
              <a:buSzTx/>
              <a:buNone/>
            </a:pPr>
            <a:endParaRPr lang="zh-CN" altLang="en-US" sz="2400" b="0" dirty="0">
              <a:latin typeface="黑体" panose="02010609060101010101" pitchFamily="2" charset="-122"/>
              <a:ea typeface="黑体" panose="02010609060101010101" pitchFamily="2" charset="-122"/>
              <a:cs typeface="+mn-ea"/>
              <a:sym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87</a:t>
            </a:fld>
            <a:endParaRPr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B-树的查找，查找过程和二叉排序树的查找相似</a:t>
            </a:r>
            <a:endParaRPr lang="zh-CN" altLang="en-US" sz="2800" dirty="0">
              <a:latin typeface="黑体" panose="02010609060101010101" pitchFamily="2" charset="-122"/>
              <a:ea typeface="黑体" panose="02010609060101010101" pitchFamily="2" charset="-122"/>
              <a:cs typeface="+mn-ea"/>
            </a:endParaRPr>
          </a:p>
          <a:p>
            <a:pPr marL="965200" lvl="1" indent="-508000" eaLnBrk="1" hangingPunct="1">
              <a:lnSpc>
                <a:spcPct val="100000"/>
              </a:lnSpc>
              <a:buClr>
                <a:schemeClr val="accent2"/>
              </a:buClr>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从树的根结点</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开始，在</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所指向的结点的关键字向量</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key[1…keynum]</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中查找给定值</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K(</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用折半查找</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lnSpc>
                <a:spcPct val="100000"/>
              </a:lnSpc>
              <a:buClr>
                <a:schemeClr val="accent2"/>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若</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key[i]=K(1≤i≤keynum)</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，则查找成功，返回结点及关键字位置；否则，转 ② ；</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lnSpc>
                <a:spcPct val="100000"/>
              </a:lnSpc>
              <a:buClr>
                <a:schemeClr val="accent2"/>
              </a:buClr>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）将</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K</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与向量</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key[1…keynum]</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中的各个分量的值进行比较，以选定查找的子树：</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1371600" lvl="2" indent="-457200" eaLnBrk="1" hangingPunct="1">
              <a:lnSpc>
                <a:spcPct val="100000"/>
              </a:lnSpc>
              <a:buClr>
                <a:schemeClr val="accent1"/>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K&lt;key[1]</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T=T-&gt;ptr[0]</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1371600" lvl="2" indent="-457200" eaLnBrk="1" hangingPunct="1">
              <a:lnSpc>
                <a:spcPct val="100000"/>
              </a:lnSpc>
              <a:buClr>
                <a:schemeClr val="accent1"/>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key[i]&lt;K&lt;key[i+1](i=1, 2, …keynum-1)</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1371600" lvl="2" indent="-457200" eaLnBrk="1" hangingPunct="1">
              <a:lnSpc>
                <a:spcPct val="100000"/>
              </a:lnSpc>
              <a:buClr>
                <a:schemeClr val="accent1"/>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T=T-&gt;ptr[i]</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1371600" lvl="2" indent="-457200" eaLnBrk="1" hangingPunct="1">
              <a:lnSpc>
                <a:spcPct val="100000"/>
              </a:lnSpc>
              <a:buClr>
                <a:schemeClr val="accent1"/>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K&gt;key[keynum]</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T=T-&gt;ptr[keynum]</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lnSpc>
                <a:spcPct val="100000"/>
              </a:lnSpc>
              <a:buClr>
                <a:schemeClr val="accent2"/>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转步骤</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，直到</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是叶子结点且未找到相等的关键字，则查找失败。</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88</a:t>
            </a:fld>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B-树的查找举例</a:t>
            </a: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mn-ea"/>
                <a:sym typeface="+mn-ea"/>
              </a:rPr>
              <a:t>查找37：a-c-g</a:t>
            </a:r>
            <a:endParaRPr lang="en-US" altLang="zh-CN" sz="2400" dirty="0">
              <a:latin typeface="黑体" panose="02010609060101010101" pitchFamily="2" charset="-122"/>
              <a:ea typeface="黑体" panose="02010609060101010101" pitchFamily="2" charset="-122"/>
              <a:cs typeface="+mn-ea"/>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mn-ea"/>
                <a:sym typeface="+mn-ea"/>
              </a:rPr>
              <a:t>查找22：a-b-e</a:t>
            </a:r>
            <a:endParaRPr lang="en-US" altLang="zh-CN"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en-US" altLang="zh-CN" sz="2400" dirty="0">
              <a:latin typeface="黑体" panose="02010609060101010101" pitchFamily="2" charset="-122"/>
              <a:ea typeface="黑体" panose="02010609060101010101" pitchFamily="2" charset="-122"/>
              <a:cs typeface="+mn-ea"/>
            </a:endParaRPr>
          </a:p>
          <a:p>
            <a:pPr lvl="1" algn="l" eaLnBrk="1" latinLnBrk="0" hangingPunct="1">
              <a:lnSpc>
                <a:spcPct val="100000"/>
              </a:lnSpc>
              <a:spcBef>
                <a:spcPct val="20000"/>
              </a:spcBef>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89</a:t>
            </a:fld>
            <a:endParaRPr lang="zh-CN" altLang="en-US"/>
          </a:p>
        </p:txBody>
      </p:sp>
      <p:grpSp>
        <p:nvGrpSpPr>
          <p:cNvPr id="102404" name="Group 5"/>
          <p:cNvGrpSpPr/>
          <p:nvPr/>
        </p:nvGrpSpPr>
        <p:grpSpPr>
          <a:xfrm>
            <a:off x="1586548" y="2564448"/>
            <a:ext cx="9018587" cy="3130550"/>
            <a:chOff x="0" y="0"/>
            <a:chExt cx="5681" cy="1973"/>
          </a:xfrm>
        </p:grpSpPr>
        <p:sp>
          <p:nvSpPr>
            <p:cNvPr id="102405" name="Rectangle 6"/>
            <p:cNvSpPr/>
            <p:nvPr/>
          </p:nvSpPr>
          <p:spPr>
            <a:xfrm>
              <a:off x="3216" y="1170"/>
              <a:ext cx="227" cy="227"/>
            </a:xfrm>
            <a:prstGeom prst="rect">
              <a:avLst/>
            </a:prstGeom>
            <a:noFill/>
            <a:ln w="9525">
              <a:noFill/>
            </a:ln>
          </p:spPr>
          <p:txBody>
            <a:bodyPr wrap="none" anchor="ctr" anchorCtr="0"/>
            <a:lstStyle/>
            <a:p>
              <a:pPr algn="ctr"/>
              <a:r>
                <a:rPr lang="en-US" altLang="zh-CN" sz="2400" b="1" dirty="0">
                  <a:latin typeface="Times New Roman" panose="02020603050405020304" pitchFamily="18" charset="0"/>
                  <a:ea typeface="宋体" panose="02010600030101010101" pitchFamily="2" charset="-122"/>
                </a:rPr>
                <a:t>g</a:t>
              </a:r>
            </a:p>
          </p:txBody>
        </p:sp>
        <p:sp>
          <p:nvSpPr>
            <p:cNvPr id="102406" name="Rectangle 7"/>
            <p:cNvSpPr/>
            <p:nvPr/>
          </p:nvSpPr>
          <p:spPr>
            <a:xfrm>
              <a:off x="1440" y="1410"/>
              <a:ext cx="227" cy="227"/>
            </a:xfrm>
            <a:prstGeom prst="rect">
              <a:avLst/>
            </a:prstGeom>
            <a:noFill/>
            <a:ln w="9525">
              <a:noFill/>
            </a:ln>
          </p:spPr>
          <p:txBody>
            <a:bodyPr wrap="none" anchor="ctr" anchorCtr="0"/>
            <a:lstStyle/>
            <a:p>
              <a:pPr algn="ctr"/>
              <a:r>
                <a:rPr lang="en-US" altLang="zh-CN" sz="2400" b="1" dirty="0">
                  <a:latin typeface="Times New Roman" panose="02020603050405020304" pitchFamily="18" charset="0"/>
                  <a:ea typeface="宋体" panose="02010600030101010101" pitchFamily="2" charset="-122"/>
                </a:rPr>
                <a:t>f</a:t>
              </a:r>
            </a:p>
          </p:txBody>
        </p:sp>
        <p:sp>
          <p:nvSpPr>
            <p:cNvPr id="102407" name="Rectangle 8"/>
            <p:cNvSpPr/>
            <p:nvPr/>
          </p:nvSpPr>
          <p:spPr>
            <a:xfrm>
              <a:off x="1872" y="858"/>
              <a:ext cx="227" cy="227"/>
            </a:xfrm>
            <a:prstGeom prst="rect">
              <a:avLst/>
            </a:prstGeom>
            <a:noFill/>
            <a:ln w="9525">
              <a:noFill/>
            </a:ln>
          </p:spPr>
          <p:txBody>
            <a:bodyPr wrap="none" anchor="ctr" anchorCtr="0"/>
            <a:lstStyle/>
            <a:p>
              <a:pPr algn="ctr"/>
              <a:r>
                <a:rPr lang="en-US" altLang="zh-CN" sz="2400" b="1" dirty="0">
                  <a:latin typeface="Times New Roman" panose="02020603050405020304" pitchFamily="18" charset="0"/>
                  <a:ea typeface="宋体" panose="02010600030101010101" pitchFamily="2" charset="-122"/>
                </a:rPr>
                <a:t>e</a:t>
              </a:r>
            </a:p>
          </p:txBody>
        </p:sp>
        <p:sp>
          <p:nvSpPr>
            <p:cNvPr id="102408" name="Rectangle 9"/>
            <p:cNvSpPr/>
            <p:nvPr/>
          </p:nvSpPr>
          <p:spPr>
            <a:xfrm>
              <a:off x="192" y="866"/>
              <a:ext cx="227" cy="227"/>
            </a:xfrm>
            <a:prstGeom prst="rect">
              <a:avLst/>
            </a:prstGeom>
            <a:noFill/>
            <a:ln w="9525">
              <a:noFill/>
            </a:ln>
          </p:spPr>
          <p:txBody>
            <a:bodyPr wrap="none" anchor="ctr" anchorCtr="0"/>
            <a:lstStyle/>
            <a:p>
              <a:pPr algn="ctr"/>
              <a:r>
                <a:rPr lang="en-US" altLang="zh-CN" sz="2400" b="1" dirty="0">
                  <a:latin typeface="Times New Roman" panose="02020603050405020304" pitchFamily="18" charset="0"/>
                  <a:ea typeface="宋体" panose="02010600030101010101" pitchFamily="2" charset="-122"/>
                </a:rPr>
                <a:t>d</a:t>
              </a:r>
            </a:p>
          </p:txBody>
        </p:sp>
        <p:sp>
          <p:nvSpPr>
            <p:cNvPr id="102409" name="Rectangle 10"/>
            <p:cNvSpPr/>
            <p:nvPr/>
          </p:nvSpPr>
          <p:spPr>
            <a:xfrm>
              <a:off x="3504" y="410"/>
              <a:ext cx="227" cy="227"/>
            </a:xfrm>
            <a:prstGeom prst="rect">
              <a:avLst/>
            </a:prstGeom>
            <a:noFill/>
            <a:ln w="9525">
              <a:noFill/>
            </a:ln>
          </p:spPr>
          <p:txBody>
            <a:bodyPr wrap="none" anchor="ctr" anchorCtr="0"/>
            <a:lstStyle/>
            <a:p>
              <a:pPr algn="ctr"/>
              <a:r>
                <a:rPr lang="en-US" altLang="zh-CN" sz="2400" b="1" dirty="0">
                  <a:latin typeface="Times New Roman" panose="02020603050405020304" pitchFamily="18" charset="0"/>
                  <a:ea typeface="宋体" panose="02010600030101010101" pitchFamily="2" charset="-122"/>
                </a:rPr>
                <a:t>c</a:t>
              </a:r>
            </a:p>
          </p:txBody>
        </p:sp>
        <p:sp>
          <p:nvSpPr>
            <p:cNvPr id="102410" name="Rectangle 11"/>
            <p:cNvSpPr/>
            <p:nvPr/>
          </p:nvSpPr>
          <p:spPr>
            <a:xfrm>
              <a:off x="816" y="450"/>
              <a:ext cx="227" cy="227"/>
            </a:xfrm>
            <a:prstGeom prst="rect">
              <a:avLst/>
            </a:prstGeom>
            <a:noFill/>
            <a:ln w="9525">
              <a:noFill/>
            </a:ln>
          </p:spPr>
          <p:txBody>
            <a:bodyPr wrap="none" anchor="ctr" anchorCtr="0"/>
            <a:lstStyle/>
            <a:p>
              <a:pPr algn="ctr"/>
              <a:r>
                <a:rPr lang="en-US" altLang="zh-CN" sz="2400" b="1" dirty="0">
                  <a:latin typeface="Times New Roman" panose="02020603050405020304" pitchFamily="18" charset="0"/>
                  <a:ea typeface="宋体" panose="02010600030101010101" pitchFamily="2" charset="-122"/>
                </a:rPr>
                <a:t>b</a:t>
              </a:r>
            </a:p>
          </p:txBody>
        </p:sp>
        <p:sp>
          <p:nvSpPr>
            <p:cNvPr id="102411" name="Rectangle 12"/>
            <p:cNvSpPr/>
            <p:nvPr/>
          </p:nvSpPr>
          <p:spPr>
            <a:xfrm>
              <a:off x="1904" y="0"/>
              <a:ext cx="227" cy="227"/>
            </a:xfrm>
            <a:prstGeom prst="rect">
              <a:avLst/>
            </a:prstGeom>
            <a:noFill/>
            <a:ln w="9525">
              <a:noFill/>
            </a:ln>
          </p:spPr>
          <p:txBody>
            <a:bodyPr wrap="none" anchor="ctr" anchorCtr="0"/>
            <a:lstStyle/>
            <a:p>
              <a:pPr algn="ctr"/>
              <a:r>
                <a:rPr lang="en-US" altLang="zh-CN" sz="2400" b="1" dirty="0">
                  <a:latin typeface="Times New Roman" panose="02020603050405020304" pitchFamily="18" charset="0"/>
                  <a:ea typeface="宋体" panose="02010600030101010101" pitchFamily="2" charset="-122"/>
                </a:rPr>
                <a:t>a</a:t>
              </a:r>
            </a:p>
          </p:txBody>
        </p:sp>
        <p:grpSp>
          <p:nvGrpSpPr>
            <p:cNvPr id="102412" name="Group 13"/>
            <p:cNvGrpSpPr/>
            <p:nvPr/>
          </p:nvGrpSpPr>
          <p:grpSpPr>
            <a:xfrm>
              <a:off x="1792" y="210"/>
              <a:ext cx="929" cy="227"/>
              <a:chOff x="0" y="0"/>
              <a:chExt cx="929" cy="227"/>
            </a:xfrm>
          </p:grpSpPr>
          <p:sp>
            <p:nvSpPr>
              <p:cNvPr id="102413" name="Rectangle 14"/>
              <p:cNvSpPr/>
              <p:nvPr/>
            </p:nvSpPr>
            <p:spPr>
              <a:xfrm>
                <a:off x="0" y="0"/>
                <a:ext cx="929" cy="227"/>
              </a:xfrm>
              <a:prstGeom prst="rect">
                <a:avLst/>
              </a:prstGeom>
              <a:noFill/>
              <a:ln w="19050"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1       24</a:t>
                </a:r>
              </a:p>
            </p:txBody>
          </p:sp>
          <p:sp>
            <p:nvSpPr>
              <p:cNvPr id="102414" name="Line 15"/>
              <p:cNvSpPr/>
              <p:nvPr/>
            </p:nvSpPr>
            <p:spPr>
              <a:xfrm>
                <a:off x="192" y="0"/>
                <a:ext cx="0" cy="227"/>
              </a:xfrm>
              <a:prstGeom prst="line">
                <a:avLst/>
              </a:prstGeom>
              <a:ln w="19050" cap="flat" cmpd="sng">
                <a:solidFill>
                  <a:schemeClr val="tx1"/>
                </a:solidFill>
                <a:prstDash val="solid"/>
                <a:round/>
                <a:headEnd type="none" w="med" len="med"/>
                <a:tailEnd type="none" w="med" len="med"/>
              </a:ln>
            </p:spPr>
          </p:sp>
          <p:sp>
            <p:nvSpPr>
              <p:cNvPr id="102415" name="Line 16"/>
              <p:cNvSpPr/>
              <p:nvPr/>
            </p:nvSpPr>
            <p:spPr>
              <a:xfrm>
                <a:off x="424" y="0"/>
                <a:ext cx="0" cy="227"/>
              </a:xfrm>
              <a:prstGeom prst="line">
                <a:avLst/>
              </a:prstGeom>
              <a:ln w="19050" cap="flat" cmpd="sng">
                <a:solidFill>
                  <a:schemeClr val="tx1"/>
                </a:solidFill>
                <a:prstDash val="solid"/>
                <a:round/>
                <a:headEnd type="none" w="med" len="med"/>
                <a:tailEnd type="none" w="med" len="med"/>
              </a:ln>
            </p:spPr>
          </p:sp>
          <p:sp>
            <p:nvSpPr>
              <p:cNvPr id="102416" name="Line 17"/>
              <p:cNvSpPr/>
              <p:nvPr/>
            </p:nvSpPr>
            <p:spPr>
              <a:xfrm>
                <a:off x="720" y="0"/>
                <a:ext cx="0" cy="227"/>
              </a:xfrm>
              <a:prstGeom prst="line">
                <a:avLst/>
              </a:prstGeom>
              <a:ln w="19050" cap="flat" cmpd="sng">
                <a:solidFill>
                  <a:schemeClr val="tx1"/>
                </a:solidFill>
                <a:prstDash val="solid"/>
                <a:round/>
                <a:headEnd type="none" w="med" len="med"/>
                <a:tailEnd type="none" w="med" len="med"/>
              </a:ln>
            </p:spPr>
          </p:sp>
        </p:grpSp>
        <p:grpSp>
          <p:nvGrpSpPr>
            <p:cNvPr id="102417" name="Group 18"/>
            <p:cNvGrpSpPr/>
            <p:nvPr/>
          </p:nvGrpSpPr>
          <p:grpSpPr>
            <a:xfrm>
              <a:off x="711" y="658"/>
              <a:ext cx="929" cy="227"/>
              <a:chOff x="0" y="0"/>
              <a:chExt cx="929" cy="227"/>
            </a:xfrm>
          </p:grpSpPr>
          <p:sp>
            <p:nvSpPr>
              <p:cNvPr id="102418" name="Rectangle 19"/>
              <p:cNvSpPr/>
              <p:nvPr/>
            </p:nvSpPr>
            <p:spPr>
              <a:xfrm>
                <a:off x="0" y="0"/>
                <a:ext cx="929" cy="227"/>
              </a:xfrm>
              <a:prstGeom prst="rect">
                <a:avLst/>
              </a:prstGeom>
              <a:noFill/>
              <a:ln w="19050"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1       15</a:t>
                </a:r>
              </a:p>
            </p:txBody>
          </p:sp>
          <p:sp>
            <p:nvSpPr>
              <p:cNvPr id="102419" name="Line 20"/>
              <p:cNvSpPr/>
              <p:nvPr/>
            </p:nvSpPr>
            <p:spPr>
              <a:xfrm>
                <a:off x="192" y="0"/>
                <a:ext cx="0" cy="227"/>
              </a:xfrm>
              <a:prstGeom prst="line">
                <a:avLst/>
              </a:prstGeom>
              <a:ln w="19050" cap="flat" cmpd="sng">
                <a:solidFill>
                  <a:schemeClr val="tx1"/>
                </a:solidFill>
                <a:prstDash val="solid"/>
                <a:round/>
                <a:headEnd type="none" w="med" len="med"/>
                <a:tailEnd type="none" w="med" len="med"/>
              </a:ln>
            </p:spPr>
          </p:sp>
          <p:sp>
            <p:nvSpPr>
              <p:cNvPr id="102420" name="Line 21"/>
              <p:cNvSpPr/>
              <p:nvPr/>
            </p:nvSpPr>
            <p:spPr>
              <a:xfrm>
                <a:off x="424" y="0"/>
                <a:ext cx="0" cy="227"/>
              </a:xfrm>
              <a:prstGeom prst="line">
                <a:avLst/>
              </a:prstGeom>
              <a:ln w="19050" cap="flat" cmpd="sng">
                <a:solidFill>
                  <a:schemeClr val="tx1"/>
                </a:solidFill>
                <a:prstDash val="solid"/>
                <a:round/>
                <a:headEnd type="none" w="med" len="med"/>
                <a:tailEnd type="none" w="med" len="med"/>
              </a:ln>
            </p:spPr>
          </p:sp>
          <p:sp>
            <p:nvSpPr>
              <p:cNvPr id="102421" name="Line 22"/>
              <p:cNvSpPr/>
              <p:nvPr/>
            </p:nvSpPr>
            <p:spPr>
              <a:xfrm>
                <a:off x="720" y="0"/>
                <a:ext cx="0" cy="227"/>
              </a:xfrm>
              <a:prstGeom prst="line">
                <a:avLst/>
              </a:prstGeom>
              <a:ln w="19050" cap="flat" cmpd="sng">
                <a:solidFill>
                  <a:schemeClr val="tx1"/>
                </a:solidFill>
                <a:prstDash val="solid"/>
                <a:round/>
                <a:headEnd type="none" w="med" len="med"/>
                <a:tailEnd type="none" w="med" len="med"/>
              </a:ln>
            </p:spPr>
          </p:sp>
        </p:grpSp>
        <p:grpSp>
          <p:nvGrpSpPr>
            <p:cNvPr id="102422" name="Group 23"/>
            <p:cNvGrpSpPr/>
            <p:nvPr/>
          </p:nvGrpSpPr>
          <p:grpSpPr>
            <a:xfrm>
              <a:off x="1559" y="1090"/>
              <a:ext cx="929" cy="227"/>
              <a:chOff x="0" y="0"/>
              <a:chExt cx="929" cy="227"/>
            </a:xfrm>
          </p:grpSpPr>
          <p:sp>
            <p:nvSpPr>
              <p:cNvPr id="102423" name="Rectangle 24"/>
              <p:cNvSpPr/>
              <p:nvPr/>
            </p:nvSpPr>
            <p:spPr>
              <a:xfrm>
                <a:off x="0" y="0"/>
                <a:ext cx="929" cy="227"/>
              </a:xfrm>
              <a:prstGeom prst="rect">
                <a:avLst/>
              </a:prstGeom>
              <a:noFill/>
              <a:ln w="19050"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1 ∧  20 ∧</a:t>
                </a:r>
                <a:endParaRPr lang="en-US" altLang="zh-CN" sz="2400" b="1" dirty="0">
                  <a:latin typeface="Times New Roman" panose="02020603050405020304" pitchFamily="18" charset="0"/>
                  <a:ea typeface="Times New Roman" panose="02020603050405020304" pitchFamily="18" charset="0"/>
                </a:endParaRPr>
              </a:p>
            </p:txBody>
          </p:sp>
          <p:sp>
            <p:nvSpPr>
              <p:cNvPr id="102424" name="Line 25"/>
              <p:cNvSpPr/>
              <p:nvPr/>
            </p:nvSpPr>
            <p:spPr>
              <a:xfrm>
                <a:off x="192" y="0"/>
                <a:ext cx="0" cy="227"/>
              </a:xfrm>
              <a:prstGeom prst="line">
                <a:avLst/>
              </a:prstGeom>
              <a:ln w="19050" cap="flat" cmpd="sng">
                <a:solidFill>
                  <a:schemeClr val="tx1"/>
                </a:solidFill>
                <a:prstDash val="solid"/>
                <a:round/>
                <a:headEnd type="none" w="med" len="med"/>
                <a:tailEnd type="none" w="med" len="med"/>
              </a:ln>
            </p:spPr>
          </p:sp>
          <p:sp>
            <p:nvSpPr>
              <p:cNvPr id="102425" name="Line 26"/>
              <p:cNvSpPr/>
              <p:nvPr/>
            </p:nvSpPr>
            <p:spPr>
              <a:xfrm>
                <a:off x="424" y="0"/>
                <a:ext cx="0" cy="227"/>
              </a:xfrm>
              <a:prstGeom prst="line">
                <a:avLst/>
              </a:prstGeom>
              <a:ln w="19050" cap="flat" cmpd="sng">
                <a:solidFill>
                  <a:schemeClr val="tx1"/>
                </a:solidFill>
                <a:prstDash val="solid"/>
                <a:round/>
                <a:headEnd type="none" w="med" len="med"/>
                <a:tailEnd type="none" w="med" len="med"/>
              </a:ln>
            </p:spPr>
          </p:sp>
          <p:sp>
            <p:nvSpPr>
              <p:cNvPr id="102426" name="Line 27"/>
              <p:cNvSpPr/>
              <p:nvPr/>
            </p:nvSpPr>
            <p:spPr>
              <a:xfrm>
                <a:off x="720" y="0"/>
                <a:ext cx="0" cy="227"/>
              </a:xfrm>
              <a:prstGeom prst="line">
                <a:avLst/>
              </a:prstGeom>
              <a:ln w="19050" cap="flat" cmpd="sng">
                <a:solidFill>
                  <a:schemeClr val="tx1"/>
                </a:solidFill>
                <a:prstDash val="solid"/>
                <a:round/>
                <a:headEnd type="none" w="med" len="med"/>
                <a:tailEnd type="none" w="med" len="med"/>
              </a:ln>
            </p:spPr>
          </p:sp>
        </p:grpSp>
        <p:grpSp>
          <p:nvGrpSpPr>
            <p:cNvPr id="102427" name="Group 28"/>
            <p:cNvGrpSpPr/>
            <p:nvPr/>
          </p:nvGrpSpPr>
          <p:grpSpPr>
            <a:xfrm>
              <a:off x="1632" y="1423"/>
              <a:ext cx="1360" cy="227"/>
              <a:chOff x="0" y="0"/>
              <a:chExt cx="1360" cy="227"/>
            </a:xfrm>
          </p:grpSpPr>
          <p:sp>
            <p:nvSpPr>
              <p:cNvPr id="102428" name="Rectangle 29"/>
              <p:cNvSpPr/>
              <p:nvPr/>
            </p:nvSpPr>
            <p:spPr>
              <a:xfrm>
                <a:off x="0" y="0"/>
                <a:ext cx="1360" cy="227"/>
              </a:xfrm>
              <a:prstGeom prst="rect">
                <a:avLst/>
              </a:prstGeom>
              <a:noFill/>
              <a:ln w="19050"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2 ∧ 28 ∧ 31 ∧</a:t>
                </a:r>
                <a:endParaRPr lang="en-US" altLang="zh-CN" sz="2400" b="1" dirty="0">
                  <a:latin typeface="Times New Roman" panose="02020603050405020304" pitchFamily="18" charset="0"/>
                  <a:ea typeface="Times New Roman" panose="02020603050405020304" pitchFamily="18" charset="0"/>
                </a:endParaRPr>
              </a:p>
            </p:txBody>
          </p:sp>
          <p:sp>
            <p:nvSpPr>
              <p:cNvPr id="102429" name="Line 30"/>
              <p:cNvSpPr/>
              <p:nvPr/>
            </p:nvSpPr>
            <p:spPr>
              <a:xfrm>
                <a:off x="192" y="0"/>
                <a:ext cx="0" cy="227"/>
              </a:xfrm>
              <a:prstGeom prst="line">
                <a:avLst/>
              </a:prstGeom>
              <a:ln w="19050" cap="flat" cmpd="sng">
                <a:solidFill>
                  <a:schemeClr val="tx1"/>
                </a:solidFill>
                <a:prstDash val="solid"/>
                <a:round/>
                <a:headEnd type="none" w="med" len="med"/>
                <a:tailEnd type="none" w="med" len="med"/>
              </a:ln>
            </p:spPr>
          </p:sp>
          <p:sp>
            <p:nvSpPr>
              <p:cNvPr id="102430" name="Line 31"/>
              <p:cNvSpPr/>
              <p:nvPr/>
            </p:nvSpPr>
            <p:spPr>
              <a:xfrm>
                <a:off x="432" y="0"/>
                <a:ext cx="0" cy="227"/>
              </a:xfrm>
              <a:prstGeom prst="line">
                <a:avLst/>
              </a:prstGeom>
              <a:ln w="19050" cap="flat" cmpd="sng">
                <a:solidFill>
                  <a:schemeClr val="tx1"/>
                </a:solidFill>
                <a:prstDash val="solid"/>
                <a:round/>
                <a:headEnd type="none" w="med" len="med"/>
                <a:tailEnd type="none" w="med" len="med"/>
              </a:ln>
            </p:spPr>
          </p:sp>
          <p:sp>
            <p:nvSpPr>
              <p:cNvPr id="102431" name="Line 32"/>
              <p:cNvSpPr/>
              <p:nvPr/>
            </p:nvSpPr>
            <p:spPr>
              <a:xfrm>
                <a:off x="672" y="0"/>
                <a:ext cx="0" cy="227"/>
              </a:xfrm>
              <a:prstGeom prst="line">
                <a:avLst/>
              </a:prstGeom>
              <a:ln w="19050" cap="flat" cmpd="sng">
                <a:solidFill>
                  <a:schemeClr val="tx1"/>
                </a:solidFill>
                <a:prstDash val="solid"/>
                <a:round/>
                <a:headEnd type="none" w="med" len="med"/>
                <a:tailEnd type="none" w="med" len="med"/>
              </a:ln>
            </p:spPr>
          </p:sp>
          <p:sp>
            <p:nvSpPr>
              <p:cNvPr id="102432" name="Line 33"/>
              <p:cNvSpPr/>
              <p:nvPr/>
            </p:nvSpPr>
            <p:spPr>
              <a:xfrm>
                <a:off x="912" y="0"/>
                <a:ext cx="0" cy="227"/>
              </a:xfrm>
              <a:prstGeom prst="line">
                <a:avLst/>
              </a:prstGeom>
              <a:ln w="19050" cap="flat" cmpd="sng">
                <a:solidFill>
                  <a:schemeClr val="tx1"/>
                </a:solidFill>
                <a:prstDash val="solid"/>
                <a:round/>
                <a:headEnd type="none" w="med" len="med"/>
                <a:tailEnd type="none" w="med" len="med"/>
              </a:ln>
            </p:spPr>
          </p:sp>
          <p:sp>
            <p:nvSpPr>
              <p:cNvPr id="102433" name="Line 34"/>
              <p:cNvSpPr/>
              <p:nvPr/>
            </p:nvSpPr>
            <p:spPr>
              <a:xfrm>
                <a:off x="1152" y="0"/>
                <a:ext cx="0" cy="227"/>
              </a:xfrm>
              <a:prstGeom prst="line">
                <a:avLst/>
              </a:prstGeom>
              <a:ln w="19050" cap="flat" cmpd="sng">
                <a:solidFill>
                  <a:schemeClr val="tx1"/>
                </a:solidFill>
                <a:prstDash val="solid"/>
                <a:round/>
                <a:headEnd type="none" w="med" len="med"/>
                <a:tailEnd type="none" w="med" len="med"/>
              </a:ln>
            </p:spPr>
          </p:sp>
        </p:grpSp>
        <p:grpSp>
          <p:nvGrpSpPr>
            <p:cNvPr id="102434" name="Group 35"/>
            <p:cNvGrpSpPr/>
            <p:nvPr/>
          </p:nvGrpSpPr>
          <p:grpSpPr>
            <a:xfrm>
              <a:off x="0" y="1090"/>
              <a:ext cx="1360" cy="227"/>
              <a:chOff x="0" y="0"/>
              <a:chExt cx="1360" cy="227"/>
            </a:xfrm>
          </p:grpSpPr>
          <p:sp>
            <p:nvSpPr>
              <p:cNvPr id="102435" name="Rectangle 36"/>
              <p:cNvSpPr/>
              <p:nvPr/>
            </p:nvSpPr>
            <p:spPr>
              <a:xfrm>
                <a:off x="0" y="0"/>
                <a:ext cx="1360" cy="227"/>
              </a:xfrm>
              <a:prstGeom prst="rect">
                <a:avLst/>
              </a:prstGeom>
              <a:noFill/>
              <a:ln w="19050"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2 ∧ 10 ∧ 12 ∧</a:t>
                </a:r>
                <a:endParaRPr lang="en-US" altLang="zh-CN" sz="2400" b="1" dirty="0">
                  <a:latin typeface="Times New Roman" panose="02020603050405020304" pitchFamily="18" charset="0"/>
                  <a:ea typeface="Times New Roman" panose="02020603050405020304" pitchFamily="18" charset="0"/>
                </a:endParaRPr>
              </a:p>
            </p:txBody>
          </p:sp>
          <p:sp>
            <p:nvSpPr>
              <p:cNvPr id="102436" name="Line 37"/>
              <p:cNvSpPr/>
              <p:nvPr/>
            </p:nvSpPr>
            <p:spPr>
              <a:xfrm>
                <a:off x="192" y="0"/>
                <a:ext cx="0" cy="227"/>
              </a:xfrm>
              <a:prstGeom prst="line">
                <a:avLst/>
              </a:prstGeom>
              <a:ln w="19050" cap="flat" cmpd="sng">
                <a:solidFill>
                  <a:schemeClr val="tx1"/>
                </a:solidFill>
                <a:prstDash val="solid"/>
                <a:round/>
                <a:headEnd type="none" w="med" len="med"/>
                <a:tailEnd type="none" w="med" len="med"/>
              </a:ln>
            </p:spPr>
          </p:sp>
          <p:sp>
            <p:nvSpPr>
              <p:cNvPr id="102437" name="Line 38"/>
              <p:cNvSpPr/>
              <p:nvPr/>
            </p:nvSpPr>
            <p:spPr>
              <a:xfrm>
                <a:off x="432" y="0"/>
                <a:ext cx="0" cy="227"/>
              </a:xfrm>
              <a:prstGeom prst="line">
                <a:avLst/>
              </a:prstGeom>
              <a:ln w="19050" cap="flat" cmpd="sng">
                <a:solidFill>
                  <a:schemeClr val="tx1"/>
                </a:solidFill>
                <a:prstDash val="solid"/>
                <a:round/>
                <a:headEnd type="none" w="med" len="med"/>
                <a:tailEnd type="none" w="med" len="med"/>
              </a:ln>
            </p:spPr>
          </p:sp>
          <p:sp>
            <p:nvSpPr>
              <p:cNvPr id="102438" name="Line 39"/>
              <p:cNvSpPr/>
              <p:nvPr/>
            </p:nvSpPr>
            <p:spPr>
              <a:xfrm>
                <a:off x="672" y="0"/>
                <a:ext cx="0" cy="227"/>
              </a:xfrm>
              <a:prstGeom prst="line">
                <a:avLst/>
              </a:prstGeom>
              <a:ln w="19050" cap="flat" cmpd="sng">
                <a:solidFill>
                  <a:schemeClr val="tx1"/>
                </a:solidFill>
                <a:prstDash val="solid"/>
                <a:round/>
                <a:headEnd type="none" w="med" len="med"/>
                <a:tailEnd type="none" w="med" len="med"/>
              </a:ln>
            </p:spPr>
          </p:sp>
          <p:sp>
            <p:nvSpPr>
              <p:cNvPr id="102439" name="Line 40"/>
              <p:cNvSpPr/>
              <p:nvPr/>
            </p:nvSpPr>
            <p:spPr>
              <a:xfrm>
                <a:off x="912" y="0"/>
                <a:ext cx="0" cy="227"/>
              </a:xfrm>
              <a:prstGeom prst="line">
                <a:avLst/>
              </a:prstGeom>
              <a:ln w="19050" cap="flat" cmpd="sng">
                <a:solidFill>
                  <a:schemeClr val="tx1"/>
                </a:solidFill>
                <a:prstDash val="solid"/>
                <a:round/>
                <a:headEnd type="none" w="med" len="med"/>
                <a:tailEnd type="none" w="med" len="med"/>
              </a:ln>
            </p:spPr>
          </p:sp>
          <p:sp>
            <p:nvSpPr>
              <p:cNvPr id="102440" name="Line 41"/>
              <p:cNvSpPr/>
              <p:nvPr/>
            </p:nvSpPr>
            <p:spPr>
              <a:xfrm>
                <a:off x="1152" y="0"/>
                <a:ext cx="0" cy="227"/>
              </a:xfrm>
              <a:prstGeom prst="line">
                <a:avLst/>
              </a:prstGeom>
              <a:ln w="19050" cap="flat" cmpd="sng">
                <a:solidFill>
                  <a:schemeClr val="tx1"/>
                </a:solidFill>
                <a:prstDash val="solid"/>
                <a:round/>
                <a:headEnd type="none" w="med" len="med"/>
                <a:tailEnd type="none" w="med" len="med"/>
              </a:ln>
            </p:spPr>
          </p:sp>
        </p:grpSp>
        <p:grpSp>
          <p:nvGrpSpPr>
            <p:cNvPr id="102441" name="Group 42"/>
            <p:cNvGrpSpPr/>
            <p:nvPr/>
          </p:nvGrpSpPr>
          <p:grpSpPr>
            <a:xfrm>
              <a:off x="4752" y="1746"/>
              <a:ext cx="929" cy="227"/>
              <a:chOff x="0" y="0"/>
              <a:chExt cx="929" cy="227"/>
            </a:xfrm>
          </p:grpSpPr>
          <p:sp>
            <p:nvSpPr>
              <p:cNvPr id="102442" name="Rectangle 43"/>
              <p:cNvSpPr/>
              <p:nvPr/>
            </p:nvSpPr>
            <p:spPr>
              <a:xfrm>
                <a:off x="0" y="0"/>
                <a:ext cx="929" cy="227"/>
              </a:xfrm>
              <a:prstGeom prst="rect">
                <a:avLst/>
              </a:prstGeom>
              <a:noFill/>
              <a:ln w="19050"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1 ∧  56 ∧</a:t>
                </a:r>
                <a:endParaRPr lang="en-US" altLang="zh-CN" sz="2400" b="1" dirty="0">
                  <a:latin typeface="Times New Roman" panose="02020603050405020304" pitchFamily="18" charset="0"/>
                  <a:ea typeface="Times New Roman" panose="02020603050405020304" pitchFamily="18" charset="0"/>
                </a:endParaRPr>
              </a:p>
            </p:txBody>
          </p:sp>
          <p:sp>
            <p:nvSpPr>
              <p:cNvPr id="102443" name="Line 44"/>
              <p:cNvSpPr/>
              <p:nvPr/>
            </p:nvSpPr>
            <p:spPr>
              <a:xfrm>
                <a:off x="192" y="0"/>
                <a:ext cx="0" cy="227"/>
              </a:xfrm>
              <a:prstGeom prst="line">
                <a:avLst/>
              </a:prstGeom>
              <a:ln w="19050" cap="flat" cmpd="sng">
                <a:solidFill>
                  <a:schemeClr val="tx1"/>
                </a:solidFill>
                <a:prstDash val="solid"/>
                <a:round/>
                <a:headEnd type="none" w="med" len="med"/>
                <a:tailEnd type="none" w="med" len="med"/>
              </a:ln>
            </p:spPr>
          </p:sp>
          <p:sp>
            <p:nvSpPr>
              <p:cNvPr id="102444" name="Line 45"/>
              <p:cNvSpPr/>
              <p:nvPr/>
            </p:nvSpPr>
            <p:spPr>
              <a:xfrm>
                <a:off x="424" y="0"/>
                <a:ext cx="0" cy="227"/>
              </a:xfrm>
              <a:prstGeom prst="line">
                <a:avLst/>
              </a:prstGeom>
              <a:ln w="19050" cap="flat" cmpd="sng">
                <a:solidFill>
                  <a:schemeClr val="tx1"/>
                </a:solidFill>
                <a:prstDash val="solid"/>
                <a:round/>
                <a:headEnd type="none" w="med" len="med"/>
                <a:tailEnd type="none" w="med" len="med"/>
              </a:ln>
            </p:spPr>
          </p:sp>
          <p:sp>
            <p:nvSpPr>
              <p:cNvPr id="102445" name="Line 46"/>
              <p:cNvSpPr/>
              <p:nvPr/>
            </p:nvSpPr>
            <p:spPr>
              <a:xfrm>
                <a:off x="720" y="0"/>
                <a:ext cx="0" cy="227"/>
              </a:xfrm>
              <a:prstGeom prst="line">
                <a:avLst/>
              </a:prstGeom>
              <a:ln w="19050" cap="flat" cmpd="sng">
                <a:solidFill>
                  <a:schemeClr val="tx1"/>
                </a:solidFill>
                <a:prstDash val="solid"/>
                <a:round/>
                <a:headEnd type="none" w="med" len="med"/>
                <a:tailEnd type="none" w="med" len="med"/>
              </a:ln>
            </p:spPr>
          </p:sp>
        </p:grpSp>
        <p:grpSp>
          <p:nvGrpSpPr>
            <p:cNvPr id="102446" name="Group 47"/>
            <p:cNvGrpSpPr/>
            <p:nvPr/>
          </p:nvGrpSpPr>
          <p:grpSpPr>
            <a:xfrm>
              <a:off x="4224" y="1426"/>
              <a:ext cx="929" cy="227"/>
              <a:chOff x="0" y="0"/>
              <a:chExt cx="929" cy="227"/>
            </a:xfrm>
          </p:grpSpPr>
          <p:sp>
            <p:nvSpPr>
              <p:cNvPr id="102447" name="Rectangle 48"/>
              <p:cNvSpPr/>
              <p:nvPr/>
            </p:nvSpPr>
            <p:spPr>
              <a:xfrm>
                <a:off x="0" y="0"/>
                <a:ext cx="929" cy="227"/>
              </a:xfrm>
              <a:prstGeom prst="rect">
                <a:avLst/>
              </a:prstGeom>
              <a:noFill/>
              <a:ln w="19050"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1 ∧  50 ∧</a:t>
                </a:r>
                <a:endParaRPr lang="en-US" altLang="zh-CN" sz="2400" b="1" dirty="0">
                  <a:latin typeface="Times New Roman" panose="02020603050405020304" pitchFamily="18" charset="0"/>
                  <a:ea typeface="Times New Roman" panose="02020603050405020304" pitchFamily="18" charset="0"/>
                </a:endParaRPr>
              </a:p>
            </p:txBody>
          </p:sp>
          <p:sp>
            <p:nvSpPr>
              <p:cNvPr id="102448" name="Line 49"/>
              <p:cNvSpPr/>
              <p:nvPr/>
            </p:nvSpPr>
            <p:spPr>
              <a:xfrm>
                <a:off x="192" y="0"/>
                <a:ext cx="0" cy="227"/>
              </a:xfrm>
              <a:prstGeom prst="line">
                <a:avLst/>
              </a:prstGeom>
              <a:ln w="19050" cap="flat" cmpd="sng">
                <a:solidFill>
                  <a:schemeClr val="tx1"/>
                </a:solidFill>
                <a:prstDash val="solid"/>
                <a:round/>
                <a:headEnd type="none" w="med" len="med"/>
                <a:tailEnd type="none" w="med" len="med"/>
              </a:ln>
            </p:spPr>
          </p:sp>
          <p:sp>
            <p:nvSpPr>
              <p:cNvPr id="102449" name="Line 50"/>
              <p:cNvSpPr/>
              <p:nvPr/>
            </p:nvSpPr>
            <p:spPr>
              <a:xfrm>
                <a:off x="424" y="0"/>
                <a:ext cx="0" cy="227"/>
              </a:xfrm>
              <a:prstGeom prst="line">
                <a:avLst/>
              </a:prstGeom>
              <a:ln w="19050" cap="flat" cmpd="sng">
                <a:solidFill>
                  <a:schemeClr val="tx1"/>
                </a:solidFill>
                <a:prstDash val="solid"/>
                <a:round/>
                <a:headEnd type="none" w="med" len="med"/>
                <a:tailEnd type="none" w="med" len="med"/>
              </a:ln>
            </p:spPr>
          </p:sp>
          <p:sp>
            <p:nvSpPr>
              <p:cNvPr id="102450" name="Line 51"/>
              <p:cNvSpPr/>
              <p:nvPr/>
            </p:nvSpPr>
            <p:spPr>
              <a:xfrm>
                <a:off x="720" y="0"/>
                <a:ext cx="0" cy="227"/>
              </a:xfrm>
              <a:prstGeom prst="line">
                <a:avLst/>
              </a:prstGeom>
              <a:ln w="19050" cap="flat" cmpd="sng">
                <a:solidFill>
                  <a:schemeClr val="tx1"/>
                </a:solidFill>
                <a:prstDash val="solid"/>
                <a:round/>
                <a:headEnd type="none" w="med" len="med"/>
                <a:tailEnd type="none" w="med" len="med"/>
              </a:ln>
            </p:spPr>
          </p:sp>
        </p:grpSp>
        <p:grpSp>
          <p:nvGrpSpPr>
            <p:cNvPr id="102451" name="Group 52"/>
            <p:cNvGrpSpPr/>
            <p:nvPr/>
          </p:nvGrpSpPr>
          <p:grpSpPr>
            <a:xfrm>
              <a:off x="3168" y="1426"/>
              <a:ext cx="929" cy="227"/>
              <a:chOff x="0" y="0"/>
              <a:chExt cx="929" cy="227"/>
            </a:xfrm>
          </p:grpSpPr>
          <p:sp>
            <p:nvSpPr>
              <p:cNvPr id="102452" name="Rectangle 53"/>
              <p:cNvSpPr/>
              <p:nvPr/>
            </p:nvSpPr>
            <p:spPr>
              <a:xfrm>
                <a:off x="0" y="0"/>
                <a:ext cx="929" cy="227"/>
              </a:xfrm>
              <a:prstGeom prst="rect">
                <a:avLst/>
              </a:prstGeom>
              <a:noFill/>
              <a:ln w="19050"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1 ∧  37 ∧</a:t>
                </a:r>
                <a:endParaRPr lang="en-US" altLang="zh-CN" sz="2400" b="1" dirty="0">
                  <a:latin typeface="Times New Roman" panose="02020603050405020304" pitchFamily="18" charset="0"/>
                  <a:ea typeface="Times New Roman" panose="02020603050405020304" pitchFamily="18" charset="0"/>
                </a:endParaRPr>
              </a:p>
            </p:txBody>
          </p:sp>
          <p:sp>
            <p:nvSpPr>
              <p:cNvPr id="102453" name="Line 54"/>
              <p:cNvSpPr/>
              <p:nvPr/>
            </p:nvSpPr>
            <p:spPr>
              <a:xfrm>
                <a:off x="192" y="0"/>
                <a:ext cx="0" cy="227"/>
              </a:xfrm>
              <a:prstGeom prst="line">
                <a:avLst/>
              </a:prstGeom>
              <a:ln w="19050" cap="flat" cmpd="sng">
                <a:solidFill>
                  <a:schemeClr val="tx1"/>
                </a:solidFill>
                <a:prstDash val="solid"/>
                <a:round/>
                <a:headEnd type="none" w="med" len="med"/>
                <a:tailEnd type="none" w="med" len="med"/>
              </a:ln>
            </p:spPr>
          </p:sp>
          <p:sp>
            <p:nvSpPr>
              <p:cNvPr id="102454" name="Line 55"/>
              <p:cNvSpPr/>
              <p:nvPr/>
            </p:nvSpPr>
            <p:spPr>
              <a:xfrm>
                <a:off x="424" y="0"/>
                <a:ext cx="0" cy="227"/>
              </a:xfrm>
              <a:prstGeom prst="line">
                <a:avLst/>
              </a:prstGeom>
              <a:ln w="19050" cap="flat" cmpd="sng">
                <a:solidFill>
                  <a:schemeClr val="tx1"/>
                </a:solidFill>
                <a:prstDash val="solid"/>
                <a:round/>
                <a:headEnd type="none" w="med" len="med"/>
                <a:tailEnd type="none" w="med" len="med"/>
              </a:ln>
            </p:spPr>
          </p:sp>
          <p:sp>
            <p:nvSpPr>
              <p:cNvPr id="102455" name="Line 56"/>
              <p:cNvSpPr/>
              <p:nvPr/>
            </p:nvSpPr>
            <p:spPr>
              <a:xfrm>
                <a:off x="720" y="0"/>
                <a:ext cx="0" cy="227"/>
              </a:xfrm>
              <a:prstGeom prst="line">
                <a:avLst/>
              </a:prstGeom>
              <a:ln w="19050" cap="flat" cmpd="sng">
                <a:solidFill>
                  <a:schemeClr val="tx1"/>
                </a:solidFill>
                <a:prstDash val="solid"/>
                <a:round/>
                <a:headEnd type="none" w="med" len="med"/>
                <a:tailEnd type="none" w="med" len="med"/>
              </a:ln>
            </p:spPr>
          </p:sp>
        </p:grpSp>
        <p:sp>
          <p:nvSpPr>
            <p:cNvPr id="102456" name="Line 57"/>
            <p:cNvSpPr/>
            <p:nvPr/>
          </p:nvSpPr>
          <p:spPr>
            <a:xfrm flipH="1">
              <a:off x="1448" y="370"/>
              <a:ext cx="689" cy="280"/>
            </a:xfrm>
            <a:prstGeom prst="line">
              <a:avLst/>
            </a:prstGeom>
            <a:ln w="19050" cap="flat" cmpd="sng">
              <a:solidFill>
                <a:schemeClr val="tx1"/>
              </a:solidFill>
              <a:prstDash val="solid"/>
              <a:round/>
              <a:headEnd type="none" w="med" len="med"/>
              <a:tailEnd type="triangle" w="med" len="med"/>
            </a:ln>
          </p:spPr>
        </p:sp>
        <p:sp>
          <p:nvSpPr>
            <p:cNvPr id="102457" name="Line 58"/>
            <p:cNvSpPr/>
            <p:nvPr/>
          </p:nvSpPr>
          <p:spPr>
            <a:xfrm flipH="1">
              <a:off x="568" y="810"/>
              <a:ext cx="488" cy="272"/>
            </a:xfrm>
            <a:prstGeom prst="line">
              <a:avLst/>
            </a:prstGeom>
            <a:ln w="19050" cap="flat" cmpd="sng">
              <a:solidFill>
                <a:schemeClr val="tx1"/>
              </a:solidFill>
              <a:prstDash val="solid"/>
              <a:round/>
              <a:headEnd type="none" w="med" len="med"/>
              <a:tailEnd type="triangle" w="med" len="med"/>
            </a:ln>
          </p:spPr>
        </p:sp>
        <p:sp>
          <p:nvSpPr>
            <p:cNvPr id="102458" name="Line 59"/>
            <p:cNvSpPr/>
            <p:nvPr/>
          </p:nvSpPr>
          <p:spPr>
            <a:xfrm>
              <a:off x="2585" y="354"/>
              <a:ext cx="712" cy="288"/>
            </a:xfrm>
            <a:prstGeom prst="line">
              <a:avLst/>
            </a:prstGeom>
            <a:ln w="19050" cap="flat" cmpd="sng">
              <a:solidFill>
                <a:schemeClr val="tx1"/>
              </a:solidFill>
              <a:prstDash val="solid"/>
              <a:round/>
              <a:headEnd type="none" w="med" len="med"/>
              <a:tailEnd type="triangle" w="med" len="med"/>
            </a:ln>
          </p:spPr>
        </p:sp>
        <p:sp>
          <p:nvSpPr>
            <p:cNvPr id="102459" name="Line 60"/>
            <p:cNvSpPr/>
            <p:nvPr/>
          </p:nvSpPr>
          <p:spPr>
            <a:xfrm>
              <a:off x="1480" y="802"/>
              <a:ext cx="288" cy="288"/>
            </a:xfrm>
            <a:prstGeom prst="line">
              <a:avLst/>
            </a:prstGeom>
            <a:ln w="19050" cap="flat" cmpd="sng">
              <a:solidFill>
                <a:schemeClr val="tx1"/>
              </a:solidFill>
              <a:prstDash val="solid"/>
              <a:round/>
              <a:headEnd type="none" w="med" len="med"/>
              <a:tailEnd type="triangle" w="med" len="med"/>
            </a:ln>
          </p:spPr>
        </p:sp>
        <p:sp>
          <p:nvSpPr>
            <p:cNvPr id="102460" name="Line 61"/>
            <p:cNvSpPr/>
            <p:nvPr/>
          </p:nvSpPr>
          <p:spPr>
            <a:xfrm flipH="1">
              <a:off x="2600" y="802"/>
              <a:ext cx="720" cy="624"/>
            </a:xfrm>
            <a:prstGeom prst="line">
              <a:avLst/>
            </a:prstGeom>
            <a:ln w="19050" cap="flat" cmpd="sng">
              <a:solidFill>
                <a:schemeClr val="tx1"/>
              </a:solidFill>
              <a:prstDash val="solid"/>
              <a:round/>
              <a:headEnd type="none" w="med" len="med"/>
              <a:tailEnd type="triangle" w="med" len="med"/>
            </a:ln>
          </p:spPr>
        </p:sp>
        <p:sp>
          <p:nvSpPr>
            <p:cNvPr id="102461" name="Line 62"/>
            <p:cNvSpPr/>
            <p:nvPr/>
          </p:nvSpPr>
          <p:spPr>
            <a:xfrm flipH="1">
              <a:off x="3648" y="794"/>
              <a:ext cx="192" cy="624"/>
            </a:xfrm>
            <a:prstGeom prst="line">
              <a:avLst/>
            </a:prstGeom>
            <a:ln w="19050" cap="flat" cmpd="sng">
              <a:solidFill>
                <a:schemeClr val="tx1"/>
              </a:solidFill>
              <a:prstDash val="solid"/>
              <a:round/>
              <a:headEnd type="none" w="med" len="med"/>
              <a:tailEnd type="triangle" w="med" len="med"/>
            </a:ln>
          </p:spPr>
        </p:sp>
        <p:sp>
          <p:nvSpPr>
            <p:cNvPr id="102462" name="Line 63"/>
            <p:cNvSpPr/>
            <p:nvPr/>
          </p:nvSpPr>
          <p:spPr>
            <a:xfrm>
              <a:off x="4376" y="802"/>
              <a:ext cx="240" cy="624"/>
            </a:xfrm>
            <a:prstGeom prst="line">
              <a:avLst/>
            </a:prstGeom>
            <a:ln w="19050" cap="flat" cmpd="sng">
              <a:solidFill>
                <a:schemeClr val="tx1"/>
              </a:solidFill>
              <a:prstDash val="solid"/>
              <a:round/>
              <a:headEnd type="none" w="med" len="med"/>
              <a:tailEnd type="triangle" w="med" len="med"/>
            </a:ln>
          </p:spPr>
        </p:sp>
        <p:grpSp>
          <p:nvGrpSpPr>
            <p:cNvPr id="102463" name="Group 64"/>
            <p:cNvGrpSpPr/>
            <p:nvPr/>
          </p:nvGrpSpPr>
          <p:grpSpPr>
            <a:xfrm>
              <a:off x="3009" y="650"/>
              <a:ext cx="1995" cy="235"/>
              <a:chOff x="0" y="0"/>
              <a:chExt cx="1995" cy="235"/>
            </a:xfrm>
          </p:grpSpPr>
          <p:sp>
            <p:nvSpPr>
              <p:cNvPr id="102464" name="Rectangle 65"/>
              <p:cNvSpPr/>
              <p:nvPr/>
            </p:nvSpPr>
            <p:spPr>
              <a:xfrm>
                <a:off x="0" y="0"/>
                <a:ext cx="1995" cy="227"/>
              </a:xfrm>
              <a:prstGeom prst="rect">
                <a:avLst/>
              </a:prstGeom>
              <a:noFill/>
              <a:ln w="19050"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3       33       48       53</a:t>
                </a:r>
                <a:endParaRPr lang="en-US" altLang="zh-CN" sz="2400" b="1" dirty="0">
                  <a:latin typeface="Times New Roman" panose="02020603050405020304" pitchFamily="18" charset="0"/>
                  <a:ea typeface="Times New Roman" panose="02020603050405020304" pitchFamily="18" charset="0"/>
                </a:endParaRPr>
              </a:p>
            </p:txBody>
          </p:sp>
          <p:sp>
            <p:nvSpPr>
              <p:cNvPr id="102465" name="Line 66"/>
              <p:cNvSpPr/>
              <p:nvPr/>
            </p:nvSpPr>
            <p:spPr>
              <a:xfrm>
                <a:off x="208" y="0"/>
                <a:ext cx="0" cy="227"/>
              </a:xfrm>
              <a:prstGeom prst="line">
                <a:avLst/>
              </a:prstGeom>
              <a:ln w="19050" cap="flat" cmpd="sng">
                <a:solidFill>
                  <a:schemeClr val="tx1"/>
                </a:solidFill>
                <a:prstDash val="solid"/>
                <a:round/>
                <a:headEnd type="none" w="med" len="med"/>
                <a:tailEnd type="none" w="med" len="med"/>
              </a:ln>
            </p:spPr>
          </p:sp>
          <p:sp>
            <p:nvSpPr>
              <p:cNvPr id="102466" name="Line 67"/>
              <p:cNvSpPr/>
              <p:nvPr/>
            </p:nvSpPr>
            <p:spPr>
              <a:xfrm>
                <a:off x="432" y="0"/>
                <a:ext cx="0" cy="227"/>
              </a:xfrm>
              <a:prstGeom prst="line">
                <a:avLst/>
              </a:prstGeom>
              <a:ln w="19050" cap="flat" cmpd="sng">
                <a:solidFill>
                  <a:schemeClr val="tx1"/>
                </a:solidFill>
                <a:prstDash val="solid"/>
                <a:round/>
                <a:headEnd type="none" w="med" len="med"/>
                <a:tailEnd type="none" w="med" len="med"/>
              </a:ln>
            </p:spPr>
          </p:sp>
          <p:sp>
            <p:nvSpPr>
              <p:cNvPr id="102467" name="Line 68"/>
              <p:cNvSpPr/>
              <p:nvPr/>
            </p:nvSpPr>
            <p:spPr>
              <a:xfrm>
                <a:off x="720" y="0"/>
                <a:ext cx="0" cy="227"/>
              </a:xfrm>
              <a:prstGeom prst="line">
                <a:avLst/>
              </a:prstGeom>
              <a:ln w="19050" cap="flat" cmpd="sng">
                <a:solidFill>
                  <a:schemeClr val="tx1"/>
                </a:solidFill>
                <a:prstDash val="solid"/>
                <a:round/>
                <a:headEnd type="none" w="med" len="med"/>
                <a:tailEnd type="none" w="med" len="med"/>
              </a:ln>
            </p:spPr>
          </p:sp>
          <p:sp>
            <p:nvSpPr>
              <p:cNvPr id="102468" name="Line 69"/>
              <p:cNvSpPr/>
              <p:nvPr/>
            </p:nvSpPr>
            <p:spPr>
              <a:xfrm>
                <a:off x="960" y="0"/>
                <a:ext cx="0" cy="227"/>
              </a:xfrm>
              <a:prstGeom prst="line">
                <a:avLst/>
              </a:prstGeom>
              <a:ln w="19050" cap="flat" cmpd="sng">
                <a:solidFill>
                  <a:schemeClr val="tx1"/>
                </a:solidFill>
                <a:prstDash val="solid"/>
                <a:round/>
                <a:headEnd type="none" w="med" len="med"/>
                <a:tailEnd type="none" w="med" len="med"/>
              </a:ln>
            </p:spPr>
          </p:sp>
          <p:sp>
            <p:nvSpPr>
              <p:cNvPr id="102469" name="Line 70"/>
              <p:cNvSpPr/>
              <p:nvPr/>
            </p:nvSpPr>
            <p:spPr>
              <a:xfrm>
                <a:off x="1248" y="0"/>
                <a:ext cx="0" cy="227"/>
              </a:xfrm>
              <a:prstGeom prst="line">
                <a:avLst/>
              </a:prstGeom>
              <a:ln w="19050" cap="flat" cmpd="sng">
                <a:solidFill>
                  <a:schemeClr val="tx1"/>
                </a:solidFill>
                <a:prstDash val="solid"/>
                <a:round/>
                <a:headEnd type="none" w="med" len="med"/>
                <a:tailEnd type="none" w="med" len="med"/>
              </a:ln>
            </p:spPr>
          </p:sp>
          <p:sp>
            <p:nvSpPr>
              <p:cNvPr id="102470" name="Line 71"/>
              <p:cNvSpPr/>
              <p:nvPr/>
            </p:nvSpPr>
            <p:spPr>
              <a:xfrm>
                <a:off x="1488" y="0"/>
                <a:ext cx="0" cy="227"/>
              </a:xfrm>
              <a:prstGeom prst="line">
                <a:avLst/>
              </a:prstGeom>
              <a:ln w="19050" cap="flat" cmpd="sng">
                <a:solidFill>
                  <a:schemeClr val="tx1"/>
                </a:solidFill>
                <a:prstDash val="solid"/>
                <a:round/>
                <a:headEnd type="none" w="med" len="med"/>
                <a:tailEnd type="none" w="med" len="med"/>
              </a:ln>
            </p:spPr>
          </p:sp>
          <p:sp>
            <p:nvSpPr>
              <p:cNvPr id="102471" name="Line 72"/>
              <p:cNvSpPr/>
              <p:nvPr/>
            </p:nvSpPr>
            <p:spPr>
              <a:xfrm>
                <a:off x="1775" y="8"/>
                <a:ext cx="0" cy="227"/>
              </a:xfrm>
              <a:prstGeom prst="line">
                <a:avLst/>
              </a:prstGeom>
              <a:ln w="19050" cap="flat" cmpd="sng">
                <a:solidFill>
                  <a:schemeClr val="tx1"/>
                </a:solidFill>
                <a:prstDash val="solid"/>
                <a:round/>
                <a:headEnd type="none" w="med" len="med"/>
                <a:tailEnd type="none" w="med" len="med"/>
              </a:ln>
            </p:spPr>
          </p:sp>
        </p:grpSp>
        <p:sp>
          <p:nvSpPr>
            <p:cNvPr id="102472" name="Line 73"/>
            <p:cNvSpPr/>
            <p:nvPr/>
          </p:nvSpPr>
          <p:spPr>
            <a:xfrm>
              <a:off x="4896" y="834"/>
              <a:ext cx="528" cy="912"/>
            </a:xfrm>
            <a:prstGeom prst="line">
              <a:avLst/>
            </a:prstGeom>
            <a:ln w="19050" cap="flat" cmpd="sng">
              <a:solidFill>
                <a:schemeClr val="tx1"/>
              </a:solidFill>
              <a:prstDash val="solid"/>
              <a:round/>
              <a:headEnd type="none" w="med" len="med"/>
              <a:tailEnd type="triangle" w="med" len="med"/>
            </a:ln>
          </p:spPr>
        </p:sp>
        <p:sp>
          <p:nvSpPr>
            <p:cNvPr id="102473" name="Rectangle 74"/>
            <p:cNvSpPr/>
            <p:nvPr/>
          </p:nvSpPr>
          <p:spPr>
            <a:xfrm>
              <a:off x="4512" y="1746"/>
              <a:ext cx="227" cy="227"/>
            </a:xfrm>
            <a:prstGeom prst="rect">
              <a:avLst/>
            </a:prstGeom>
            <a:noFill/>
            <a:ln w="9525">
              <a:noFill/>
            </a:ln>
          </p:spPr>
          <p:txBody>
            <a:bodyPr wrap="none" anchor="ctr" anchorCtr="0"/>
            <a:lstStyle/>
            <a:p>
              <a:pPr algn="ctr"/>
              <a:r>
                <a:rPr lang="en-US" altLang="zh-CN" sz="2400" b="1" dirty="0">
                  <a:latin typeface="Times New Roman" panose="02020603050405020304" pitchFamily="18" charset="0"/>
                  <a:ea typeface="宋体" panose="02010600030101010101" pitchFamily="2" charset="-122"/>
                </a:rPr>
                <a:t>i</a:t>
              </a:r>
            </a:p>
          </p:txBody>
        </p:sp>
        <p:sp>
          <p:nvSpPr>
            <p:cNvPr id="102474" name="Rectangle 75"/>
            <p:cNvSpPr/>
            <p:nvPr/>
          </p:nvSpPr>
          <p:spPr>
            <a:xfrm>
              <a:off x="4224" y="1186"/>
              <a:ext cx="227" cy="227"/>
            </a:xfrm>
            <a:prstGeom prst="rect">
              <a:avLst/>
            </a:prstGeom>
            <a:noFill/>
            <a:ln w="9525">
              <a:noFill/>
            </a:ln>
          </p:spPr>
          <p:txBody>
            <a:bodyPr wrap="none" anchor="ctr" anchorCtr="0"/>
            <a:lstStyle/>
            <a:p>
              <a:pPr algn="ctr"/>
              <a:r>
                <a:rPr lang="en-US" altLang="zh-CN" sz="2400" b="1" dirty="0">
                  <a:latin typeface="Times New Roman" panose="02020603050405020304" pitchFamily="18" charset="0"/>
                  <a:ea typeface="宋体" panose="02010600030101010101" pitchFamily="2" charset="-122"/>
                </a:rPr>
                <a:t>h</a:t>
              </a:r>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B-树在磁盘文件查找的应用，例如查找文件</a:t>
            </a:r>
            <a:r>
              <a:rPr lang="en-US" altLang="zh-CN" sz="2800" dirty="0">
                <a:latin typeface="黑体" panose="02010609060101010101" pitchFamily="2" charset="-122"/>
                <a:ea typeface="黑体" panose="02010609060101010101" pitchFamily="2" charset="-122"/>
                <a:cs typeface="+mn-ea"/>
                <a:sym typeface="+mn-ea"/>
              </a:rPr>
              <a:t>29</a:t>
            </a:r>
            <a:endParaRPr lang="zh-CN" altLang="en-US" sz="2800" dirty="0">
              <a:latin typeface="黑体" panose="02010609060101010101" pitchFamily="2" charset="-122"/>
              <a:ea typeface="黑体" panose="02010609060101010101" pitchFamily="2" charset="-122"/>
              <a:cs typeface="+mn-ea"/>
              <a:sym typeface="+mn-ea"/>
            </a:endParaRPr>
          </a:p>
          <a:p>
            <a:pPr lvl="1" algn="l" eaLnBrk="1" latinLnBrk="0" hangingPunct="1">
              <a:lnSpc>
                <a:spcPct val="100000"/>
              </a:lnSpc>
              <a:spcBef>
                <a:spcPct val="20000"/>
              </a:spcBef>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90</a:t>
            </a:fld>
            <a:endParaRPr lang="zh-CN" altLang="en-US"/>
          </a:p>
        </p:txBody>
      </p:sp>
      <p:pic>
        <p:nvPicPr>
          <p:cNvPr id="103428" name="Picture 75"/>
          <p:cNvPicPr>
            <a:picLocks noChangeAspect="1"/>
          </p:cNvPicPr>
          <p:nvPr/>
        </p:nvPicPr>
        <p:blipFill>
          <a:blip r:embed="rId2"/>
          <a:stretch>
            <a:fillRect/>
          </a:stretch>
        </p:blipFill>
        <p:spPr>
          <a:xfrm>
            <a:off x="1574165" y="1628775"/>
            <a:ext cx="9043035" cy="4347845"/>
          </a:xfrm>
          <a:prstGeom prst="rect">
            <a:avLst/>
          </a:prstGeom>
          <a:noFill/>
          <a:ln w="9525">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B-树在磁盘文件查找的应用，例如查找文件</a:t>
            </a:r>
            <a:r>
              <a:rPr lang="en-US" altLang="zh-CN" sz="2800" dirty="0">
                <a:latin typeface="黑体" panose="02010609060101010101" pitchFamily="2" charset="-122"/>
                <a:ea typeface="黑体" panose="02010609060101010101" pitchFamily="2" charset="-122"/>
                <a:cs typeface="+mn-ea"/>
                <a:sym typeface="+mn-ea"/>
              </a:rPr>
              <a:t>29</a:t>
            </a:r>
            <a:endParaRPr lang="zh-CN" altLang="en-US" sz="2800" dirty="0">
              <a:latin typeface="黑体" panose="02010609060101010101" pitchFamily="2" charset="-122"/>
              <a:ea typeface="黑体" panose="02010609060101010101" pitchFamily="2" charset="-122"/>
              <a:cs typeface="+mn-ea"/>
              <a:sym typeface="+mn-ea"/>
            </a:endParaRPr>
          </a:p>
          <a:p>
            <a:pPr marL="609600" indent="-609600" eaLnBrk="1" hangingPunct="1">
              <a:lnSpc>
                <a:spcPct val="100000"/>
              </a:lnSpc>
              <a:buClr>
                <a:schemeClr val="accent1"/>
              </a:buClr>
              <a:buSzTx/>
              <a:buFont typeface="Wingdings" panose="05000000000000000000" pitchFamily="2" charset="2"/>
              <a:buAutoNum type="arabicParenBoth"/>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根据根结点指针找到文件目录的磁盘块</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，将其中的信息导入内存</a:t>
            </a:r>
            <a:r>
              <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（磁盘</a:t>
            </a:r>
            <a:r>
              <a:rPr lang="en-US" altLang="zh-CN"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IO</a:t>
            </a:r>
            <a:r>
              <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操作</a:t>
            </a:r>
            <a:r>
              <a:rPr lang="en-US" altLang="zh-CN"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1</a:t>
            </a:r>
            <a:r>
              <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次）</a:t>
            </a:r>
            <a:endPar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lnSpc>
                <a:spcPct val="100000"/>
              </a:lnSpc>
              <a:buClr>
                <a:schemeClr val="accent1"/>
              </a:buClr>
              <a:buSzTx/>
              <a:buFont typeface="Wingdings" panose="05000000000000000000" pitchFamily="2" charset="2"/>
              <a:buAutoNum type="arabicParenBoth"/>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此时内存中有两个文件名</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17</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35</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和三个存储其他磁盘页面地址的数据。根据算法我们发现</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17&lt;29&lt;35</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，因此我们找到指针</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p2</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lnSpc>
                <a:spcPct val="100000"/>
              </a:lnSpc>
              <a:buClr>
                <a:schemeClr val="accent1"/>
              </a:buClr>
              <a:buSzTx/>
              <a:buFont typeface="Wingdings" panose="05000000000000000000" pitchFamily="2" charset="2"/>
              <a:buAutoNum type="arabicParenBoth"/>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根据</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p2</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指针，我们定位到磁盘块</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3</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，并将其中的信息导入内存</a:t>
            </a:r>
            <a:r>
              <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（磁盘</a:t>
            </a:r>
            <a:r>
              <a:rPr lang="en-US" altLang="zh-CN"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IO</a:t>
            </a:r>
            <a:r>
              <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操作</a:t>
            </a:r>
            <a:r>
              <a:rPr lang="en-US" altLang="zh-CN"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2</a:t>
            </a:r>
            <a:r>
              <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次）</a:t>
            </a:r>
            <a:endPar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lnSpc>
                <a:spcPct val="100000"/>
              </a:lnSpc>
              <a:buClr>
                <a:schemeClr val="accent1"/>
              </a:buClr>
              <a:buSzTx/>
              <a:buFont typeface="Wingdings" panose="05000000000000000000" pitchFamily="2" charset="2"/>
              <a:buAutoNum type="arabicParenBoth"/>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此时内存中有两个文件名</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26</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30</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和三个存储其他磁盘页面地址的数据。根据算法我们发现</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26&lt;29&lt;30</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，因此我们找到指针</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p2</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lnSpc>
                <a:spcPct val="100000"/>
              </a:lnSpc>
              <a:buClr>
                <a:schemeClr val="accent1"/>
              </a:buClr>
              <a:buSzTx/>
              <a:buFont typeface="Wingdings" panose="05000000000000000000" pitchFamily="2" charset="2"/>
              <a:buAutoNum type="arabicParenBoth"/>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根据</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p2</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指针，我们定位到磁盘块</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8</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，并将其中的信息导入内存</a:t>
            </a:r>
            <a:r>
              <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（磁盘</a:t>
            </a:r>
            <a:r>
              <a:rPr lang="en-US" altLang="zh-CN"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IO</a:t>
            </a:r>
            <a:r>
              <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操作</a:t>
            </a:r>
            <a:r>
              <a:rPr lang="en-US" altLang="zh-CN"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3</a:t>
            </a:r>
            <a:r>
              <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次）</a:t>
            </a:r>
            <a:endPar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lnSpc>
                <a:spcPct val="100000"/>
              </a:lnSpc>
              <a:buClr>
                <a:schemeClr val="accent1"/>
              </a:buClr>
              <a:buSzTx/>
              <a:buFont typeface="Wingdings" panose="05000000000000000000" pitchFamily="2" charset="2"/>
              <a:buAutoNum type="arabicParenBoth"/>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此时内存中有两个文件名</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28</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29</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。根据算法查找到文件</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29</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，并定位该文件的磁盘地址。</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latinLnBrk="0" hangingPunct="1">
              <a:lnSpc>
                <a:spcPct val="100000"/>
              </a:lnSpc>
              <a:spcBef>
                <a:spcPct val="20000"/>
              </a:spcBef>
              <a:buClrTx/>
              <a:buSzTx/>
              <a:buChar char="•"/>
            </a:pPr>
            <a:endParaRPr lang="zh-CN" altLang="en-US"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91</a:t>
            </a:fld>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B-树的查找性能举例</a:t>
            </a: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h≦1+ ㏒</a:t>
            </a:r>
            <a:r>
              <a:rPr lang="en-US" altLang="zh-CN" sz="2400" baseline="-25000" dirty="0">
                <a:latin typeface="黑体" panose="02010609060101010101" pitchFamily="2" charset="-122"/>
                <a:ea typeface="黑体" panose="02010609060101010101" pitchFamily="2" charset="-122"/>
                <a:cs typeface="黑体" panose="02010609060101010101" pitchFamily="2" charset="-122"/>
                <a:sym typeface="+mn-ea"/>
              </a:rPr>
              <a:t>s</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((n+1)/2)=1+㏒ </a:t>
            </a:r>
            <a:r>
              <a:rPr lang="en-US" altLang="zh-CN" sz="24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a:t>
            </a:r>
            <a:r>
              <a:rPr lang="en-US" altLang="zh-CN" sz="2400" baseline="-25000" dirty="0">
                <a:latin typeface="黑体" panose="02010609060101010101" pitchFamily="2" charset="-122"/>
                <a:ea typeface="黑体" panose="02010609060101010101" pitchFamily="2" charset="-122"/>
                <a:cs typeface="黑体" panose="02010609060101010101" pitchFamily="2" charset="-122"/>
                <a:sym typeface="+mn-ea"/>
              </a:rPr>
              <a:t>m/2</a:t>
            </a:r>
            <a:r>
              <a:rPr lang="en-US" altLang="zh-CN" sz="24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((n+1)/2)((n+1)/2)</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即在含有</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个关键字的</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B-</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树上进行查找时，从根结点到待查找记录关键字的结点的路径上所涉及的结点数不超过</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Clr>
                <a:schemeClr val="accent2"/>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b="1" dirty="0">
                <a:latin typeface="黑体" panose="02010609060101010101" pitchFamily="2" charset="-122"/>
                <a:ea typeface="黑体" panose="02010609060101010101" pitchFamily="2" charset="-122"/>
                <a:cs typeface="黑体" panose="02010609060101010101" pitchFamily="2" charset="-122"/>
                <a:sym typeface="+mn-ea"/>
              </a:rPr>
              <a:t>1+ log</a:t>
            </a:r>
            <a:r>
              <a:rPr lang="en-US" altLang="zh-CN" sz="2400" b="1"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a:t>
            </a:r>
            <a:r>
              <a:rPr lang="en-US" altLang="zh-CN" sz="2400" b="1" baseline="-25000" dirty="0">
                <a:latin typeface="黑体" panose="02010609060101010101" pitchFamily="2" charset="-122"/>
                <a:ea typeface="黑体" panose="02010609060101010101" pitchFamily="2" charset="-122"/>
                <a:cs typeface="黑体" panose="02010609060101010101" pitchFamily="2" charset="-122"/>
                <a:sym typeface="+mn-ea"/>
              </a:rPr>
              <a:t>m/2</a:t>
            </a:r>
            <a:r>
              <a:rPr lang="en-US" altLang="zh-CN" sz="2400" b="1"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 </a:t>
            </a:r>
            <a:r>
              <a:rPr lang="en-US" altLang="zh-CN" sz="2400" b="1" dirty="0">
                <a:latin typeface="黑体" panose="02010609060101010101" pitchFamily="2" charset="-122"/>
                <a:ea typeface="黑体" panose="02010609060101010101" pitchFamily="2" charset="-122"/>
                <a:cs typeface="黑体" panose="02010609060101010101" pitchFamily="2" charset="-122"/>
                <a:sym typeface="+mn-ea"/>
              </a:rPr>
              <a:t>((n+1)/2)</a:t>
            </a:r>
            <a:endParaRPr lang="en-US" altLang="zh-CN" sz="2400" b="1"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即查找性能取决于树的度</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m</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和树的结点数</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n</a:t>
            </a:r>
            <a:endParaRPr lang="en-US" altLang="zh-CN" sz="2400" dirty="0"/>
          </a:p>
          <a:p>
            <a:pPr lvl="1" algn="l" eaLnBrk="1" latinLnBrk="0" hangingPunct="1">
              <a:lnSpc>
                <a:spcPct val="100000"/>
              </a:lnSpc>
              <a:spcBef>
                <a:spcPct val="20000"/>
              </a:spcBef>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92</a:t>
            </a:fld>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B-树的操作（自行学习）</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插入，结点分裂</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删除，结点合并</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latinLnBrk="0" hangingPunct="1">
              <a:lnSpc>
                <a:spcPct val="100000"/>
              </a:lnSpc>
              <a:spcBef>
                <a:spcPct val="20000"/>
              </a:spcBef>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93</a:t>
            </a:fld>
            <a:endParaRPr lang="zh-CN"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671320"/>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B+树的概念</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在实际的文件系统中，基本上不使用B-树，而是使用B-树的一种变体，称为m阶B+树。 </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B+树与B-树的主要不同是叶子结点中存储记录。</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在B+树中，所有的非叶子结点可以看成是索引，而其中的关键字是作为“分界关键字”，用来界定某一关键字的记录所在的子树。</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即B+树中，所有结果信息都在叶子，查找结束必定在叶子</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latinLnBrk="0" hangingPunct="1">
              <a:lnSpc>
                <a:spcPct val="100000"/>
              </a:lnSpc>
              <a:spcBef>
                <a:spcPct val="20000"/>
              </a:spcBef>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94</a:t>
            </a:fld>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B+树的示例</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B+树与B-树的主要不同是叶子结点中存储最终结果，所有的非叶子结点可以看成是索引</a:t>
            </a: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95</a:t>
            </a:fld>
            <a:endParaRPr lang="zh-CN" altLang="en-US"/>
          </a:p>
        </p:txBody>
      </p:sp>
      <p:grpSp>
        <p:nvGrpSpPr>
          <p:cNvPr id="130052" name="Group 132"/>
          <p:cNvGrpSpPr/>
          <p:nvPr/>
        </p:nvGrpSpPr>
        <p:grpSpPr>
          <a:xfrm>
            <a:off x="1846898" y="2492693"/>
            <a:ext cx="8521700" cy="2528887"/>
            <a:chOff x="249" y="2432"/>
            <a:chExt cx="5368" cy="1593"/>
          </a:xfrm>
        </p:grpSpPr>
        <p:grpSp>
          <p:nvGrpSpPr>
            <p:cNvPr id="130053" name="Group 69"/>
            <p:cNvGrpSpPr/>
            <p:nvPr/>
          </p:nvGrpSpPr>
          <p:grpSpPr>
            <a:xfrm>
              <a:off x="249" y="2432"/>
              <a:ext cx="5368" cy="1158"/>
              <a:chOff x="0" y="0"/>
              <a:chExt cx="5368" cy="1158"/>
            </a:xfrm>
          </p:grpSpPr>
          <p:sp>
            <p:nvSpPr>
              <p:cNvPr id="130054" name="Rectangle 70"/>
              <p:cNvSpPr/>
              <p:nvPr/>
            </p:nvSpPr>
            <p:spPr>
              <a:xfrm>
                <a:off x="1908" y="0"/>
                <a:ext cx="619" cy="227"/>
              </a:xfrm>
              <a:prstGeom prst="rect">
                <a:avLst/>
              </a:prstGeom>
              <a:noFill/>
              <a:ln w="9525"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35   96</a:t>
                </a:r>
              </a:p>
            </p:txBody>
          </p:sp>
          <p:sp>
            <p:nvSpPr>
              <p:cNvPr id="130055" name="Rectangle 71"/>
              <p:cNvSpPr/>
              <p:nvPr/>
            </p:nvSpPr>
            <p:spPr>
              <a:xfrm>
                <a:off x="906" y="469"/>
                <a:ext cx="620" cy="227"/>
              </a:xfrm>
              <a:prstGeom prst="rect">
                <a:avLst/>
              </a:prstGeom>
              <a:noFill/>
              <a:ln w="9525"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17   35</a:t>
                </a:r>
              </a:p>
            </p:txBody>
          </p:sp>
          <p:sp>
            <p:nvSpPr>
              <p:cNvPr id="130056" name="Rectangle 72"/>
              <p:cNvSpPr/>
              <p:nvPr/>
            </p:nvSpPr>
            <p:spPr>
              <a:xfrm>
                <a:off x="2791" y="437"/>
                <a:ext cx="953" cy="227"/>
              </a:xfrm>
              <a:prstGeom prst="rect">
                <a:avLst/>
              </a:prstGeom>
              <a:noFill/>
              <a:ln w="9525"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58   76   96</a:t>
                </a:r>
              </a:p>
            </p:txBody>
          </p:sp>
          <p:sp>
            <p:nvSpPr>
              <p:cNvPr id="130057" name="Rectangle 73"/>
              <p:cNvSpPr/>
              <p:nvPr/>
            </p:nvSpPr>
            <p:spPr>
              <a:xfrm>
                <a:off x="0" y="931"/>
                <a:ext cx="839" cy="227"/>
              </a:xfrm>
              <a:prstGeom prst="rect">
                <a:avLst/>
              </a:prstGeom>
              <a:noFill/>
              <a:ln w="9525"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5   12   17</a:t>
                </a:r>
              </a:p>
            </p:txBody>
          </p:sp>
          <p:sp>
            <p:nvSpPr>
              <p:cNvPr id="130058" name="Rectangle 74"/>
              <p:cNvSpPr/>
              <p:nvPr/>
            </p:nvSpPr>
            <p:spPr>
              <a:xfrm>
                <a:off x="3601" y="916"/>
                <a:ext cx="612" cy="227"/>
              </a:xfrm>
              <a:prstGeom prst="rect">
                <a:avLst/>
              </a:prstGeom>
              <a:noFill/>
              <a:ln w="9525"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63   76</a:t>
                </a:r>
              </a:p>
            </p:txBody>
          </p:sp>
          <p:sp>
            <p:nvSpPr>
              <p:cNvPr id="130059" name="Rectangle 75"/>
              <p:cNvSpPr/>
              <p:nvPr/>
            </p:nvSpPr>
            <p:spPr>
              <a:xfrm>
                <a:off x="4462" y="915"/>
                <a:ext cx="906" cy="227"/>
              </a:xfrm>
              <a:prstGeom prst="rect">
                <a:avLst/>
              </a:prstGeom>
              <a:noFill/>
              <a:ln w="9525"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79   84  96</a:t>
                </a:r>
              </a:p>
            </p:txBody>
          </p:sp>
          <p:sp>
            <p:nvSpPr>
              <p:cNvPr id="130060" name="Rectangle 76"/>
              <p:cNvSpPr/>
              <p:nvPr/>
            </p:nvSpPr>
            <p:spPr>
              <a:xfrm>
                <a:off x="1129" y="923"/>
                <a:ext cx="953" cy="227"/>
              </a:xfrm>
              <a:prstGeom prst="rect">
                <a:avLst/>
              </a:prstGeom>
              <a:noFill/>
              <a:ln w="9525"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19   23   35</a:t>
                </a:r>
              </a:p>
            </p:txBody>
          </p:sp>
          <p:sp>
            <p:nvSpPr>
              <p:cNvPr id="130061" name="Rectangle 77"/>
              <p:cNvSpPr/>
              <p:nvPr/>
            </p:nvSpPr>
            <p:spPr>
              <a:xfrm>
                <a:off x="2313" y="916"/>
                <a:ext cx="953" cy="227"/>
              </a:xfrm>
              <a:prstGeom prst="rect">
                <a:avLst/>
              </a:prstGeom>
              <a:noFill/>
              <a:ln w="9525" cap="flat" cmpd="sng">
                <a:solidFill>
                  <a:schemeClr val="tx1"/>
                </a:solidFill>
                <a:prstDash val="solid"/>
                <a:miter/>
                <a:headEnd type="none" w="med" len="med"/>
                <a:tailEnd type="none" w="med" len="med"/>
              </a:ln>
            </p:spPr>
            <p:txBody>
              <a:bodyPr wrap="none" anchor="ctr" anchorCtr="0"/>
              <a:lstStyle/>
              <a:p>
                <a:r>
                  <a:rPr lang="en-US" altLang="zh-CN" sz="2400" b="1" dirty="0">
                    <a:latin typeface="Times New Roman" panose="02020603050405020304" pitchFamily="18" charset="0"/>
                    <a:ea typeface="宋体" panose="02010600030101010101" pitchFamily="2" charset="-122"/>
                  </a:rPr>
                  <a:t>41   49   58</a:t>
                </a:r>
              </a:p>
            </p:txBody>
          </p:sp>
          <p:sp>
            <p:nvSpPr>
              <p:cNvPr id="130062" name="Line 78"/>
              <p:cNvSpPr/>
              <p:nvPr/>
            </p:nvSpPr>
            <p:spPr>
              <a:xfrm flipH="1">
                <a:off x="1240" y="235"/>
                <a:ext cx="771" cy="227"/>
              </a:xfrm>
              <a:prstGeom prst="line">
                <a:avLst/>
              </a:prstGeom>
              <a:ln w="19050" cap="flat" cmpd="sng">
                <a:solidFill>
                  <a:schemeClr val="tx1"/>
                </a:solidFill>
                <a:prstDash val="solid"/>
                <a:round/>
                <a:headEnd type="none" w="med" len="med"/>
                <a:tailEnd type="none" w="med" len="med"/>
              </a:ln>
            </p:spPr>
          </p:sp>
          <p:sp>
            <p:nvSpPr>
              <p:cNvPr id="130063" name="Line 79"/>
              <p:cNvSpPr/>
              <p:nvPr/>
            </p:nvSpPr>
            <p:spPr>
              <a:xfrm>
                <a:off x="2400" y="227"/>
                <a:ext cx="771" cy="204"/>
              </a:xfrm>
              <a:prstGeom prst="line">
                <a:avLst/>
              </a:prstGeom>
              <a:ln w="19050" cap="flat" cmpd="sng">
                <a:solidFill>
                  <a:schemeClr val="tx1"/>
                </a:solidFill>
                <a:prstDash val="solid"/>
                <a:round/>
                <a:headEnd type="none" w="med" len="med"/>
                <a:tailEnd type="none" w="med" len="med"/>
              </a:ln>
            </p:spPr>
          </p:sp>
          <p:sp>
            <p:nvSpPr>
              <p:cNvPr id="130064" name="Line 80"/>
              <p:cNvSpPr/>
              <p:nvPr/>
            </p:nvSpPr>
            <p:spPr>
              <a:xfrm flipH="1">
                <a:off x="480" y="701"/>
                <a:ext cx="544" cy="227"/>
              </a:xfrm>
              <a:prstGeom prst="line">
                <a:avLst/>
              </a:prstGeom>
              <a:ln w="19050" cap="flat" cmpd="sng">
                <a:solidFill>
                  <a:schemeClr val="tx1"/>
                </a:solidFill>
                <a:prstDash val="solid"/>
                <a:round/>
                <a:headEnd type="none" w="med" len="med"/>
                <a:tailEnd type="none" w="med" len="med"/>
              </a:ln>
            </p:spPr>
          </p:sp>
          <p:sp>
            <p:nvSpPr>
              <p:cNvPr id="130065" name="Line 81"/>
              <p:cNvSpPr/>
              <p:nvPr/>
            </p:nvSpPr>
            <p:spPr>
              <a:xfrm>
                <a:off x="1431" y="699"/>
                <a:ext cx="317" cy="227"/>
              </a:xfrm>
              <a:prstGeom prst="line">
                <a:avLst/>
              </a:prstGeom>
              <a:ln w="19050" cap="flat" cmpd="sng">
                <a:solidFill>
                  <a:schemeClr val="tx1"/>
                </a:solidFill>
                <a:prstDash val="solid"/>
                <a:round/>
                <a:headEnd type="none" w="med" len="med"/>
                <a:tailEnd type="none" w="med" len="med"/>
              </a:ln>
            </p:spPr>
          </p:sp>
          <p:sp>
            <p:nvSpPr>
              <p:cNvPr id="130066" name="Line 82"/>
              <p:cNvSpPr/>
              <p:nvPr/>
            </p:nvSpPr>
            <p:spPr>
              <a:xfrm flipH="1">
                <a:off x="2552" y="667"/>
                <a:ext cx="401" cy="249"/>
              </a:xfrm>
              <a:prstGeom prst="line">
                <a:avLst/>
              </a:prstGeom>
              <a:ln w="19050" cap="flat" cmpd="sng">
                <a:solidFill>
                  <a:schemeClr val="tx1"/>
                </a:solidFill>
                <a:prstDash val="solid"/>
                <a:round/>
                <a:headEnd type="none" w="med" len="med"/>
                <a:tailEnd type="none" w="med" len="med"/>
              </a:ln>
            </p:spPr>
          </p:sp>
          <p:sp>
            <p:nvSpPr>
              <p:cNvPr id="130067" name="Line 83"/>
              <p:cNvSpPr/>
              <p:nvPr/>
            </p:nvSpPr>
            <p:spPr>
              <a:xfrm>
                <a:off x="3291" y="667"/>
                <a:ext cx="667" cy="249"/>
              </a:xfrm>
              <a:prstGeom prst="line">
                <a:avLst/>
              </a:prstGeom>
              <a:ln w="19050" cap="flat" cmpd="sng">
                <a:solidFill>
                  <a:schemeClr val="tx1"/>
                </a:solidFill>
                <a:prstDash val="solid"/>
                <a:round/>
                <a:headEnd type="none" w="med" len="med"/>
                <a:tailEnd type="none" w="med" len="med"/>
              </a:ln>
            </p:spPr>
          </p:sp>
          <p:sp>
            <p:nvSpPr>
              <p:cNvPr id="130068" name="Line 84"/>
              <p:cNvSpPr/>
              <p:nvPr/>
            </p:nvSpPr>
            <p:spPr>
              <a:xfrm>
                <a:off x="3628" y="667"/>
                <a:ext cx="1191" cy="249"/>
              </a:xfrm>
              <a:prstGeom prst="line">
                <a:avLst/>
              </a:prstGeom>
              <a:ln w="19050" cap="flat" cmpd="sng">
                <a:solidFill>
                  <a:schemeClr val="tx1"/>
                </a:solidFill>
                <a:prstDash val="solid"/>
                <a:round/>
                <a:headEnd type="none" w="med" len="med"/>
                <a:tailEnd type="none" w="med" len="med"/>
              </a:ln>
            </p:spPr>
          </p:sp>
          <p:sp>
            <p:nvSpPr>
              <p:cNvPr id="130069" name="Line 85"/>
              <p:cNvSpPr/>
              <p:nvPr/>
            </p:nvSpPr>
            <p:spPr>
              <a:xfrm>
                <a:off x="848" y="1059"/>
                <a:ext cx="288" cy="0"/>
              </a:xfrm>
              <a:prstGeom prst="line">
                <a:avLst/>
              </a:prstGeom>
              <a:ln w="19050" cap="flat" cmpd="sng">
                <a:solidFill>
                  <a:schemeClr val="tx1"/>
                </a:solidFill>
                <a:prstDash val="solid"/>
                <a:round/>
                <a:headEnd type="none" w="med" len="med"/>
                <a:tailEnd type="triangle" w="med" len="med"/>
              </a:ln>
            </p:spPr>
          </p:sp>
          <p:sp>
            <p:nvSpPr>
              <p:cNvPr id="130070" name="Line 86"/>
              <p:cNvSpPr/>
              <p:nvPr/>
            </p:nvSpPr>
            <p:spPr>
              <a:xfrm>
                <a:off x="2080" y="1035"/>
                <a:ext cx="240" cy="0"/>
              </a:xfrm>
              <a:prstGeom prst="line">
                <a:avLst/>
              </a:prstGeom>
              <a:ln w="19050" cap="flat" cmpd="sng">
                <a:solidFill>
                  <a:schemeClr val="tx1"/>
                </a:solidFill>
                <a:prstDash val="solid"/>
                <a:round/>
                <a:headEnd type="none" w="med" len="med"/>
                <a:tailEnd type="triangle" w="med" len="med"/>
              </a:ln>
            </p:spPr>
          </p:sp>
          <p:sp>
            <p:nvSpPr>
              <p:cNvPr id="130071" name="Line 87"/>
              <p:cNvSpPr/>
              <p:nvPr/>
            </p:nvSpPr>
            <p:spPr>
              <a:xfrm flipV="1">
                <a:off x="3264" y="1011"/>
                <a:ext cx="340" cy="0"/>
              </a:xfrm>
              <a:prstGeom prst="line">
                <a:avLst/>
              </a:prstGeom>
              <a:ln w="19050" cap="flat" cmpd="sng">
                <a:solidFill>
                  <a:schemeClr val="tx1"/>
                </a:solidFill>
                <a:prstDash val="solid"/>
                <a:round/>
                <a:headEnd type="none" w="med" len="med"/>
                <a:tailEnd type="triangle" w="med" len="med"/>
              </a:ln>
            </p:spPr>
          </p:sp>
          <p:sp>
            <p:nvSpPr>
              <p:cNvPr id="130072" name="Line 88"/>
              <p:cNvSpPr/>
              <p:nvPr/>
            </p:nvSpPr>
            <p:spPr>
              <a:xfrm>
                <a:off x="4216" y="1019"/>
                <a:ext cx="240" cy="0"/>
              </a:xfrm>
              <a:prstGeom prst="line">
                <a:avLst/>
              </a:prstGeom>
              <a:ln w="19050" cap="flat" cmpd="sng">
                <a:solidFill>
                  <a:schemeClr val="tx1"/>
                </a:solidFill>
                <a:prstDash val="solid"/>
                <a:round/>
                <a:headEnd type="none" w="med" len="med"/>
                <a:tailEnd type="triangle" w="med" len="med"/>
              </a:ln>
            </p:spPr>
          </p:sp>
        </p:grpSp>
        <p:grpSp>
          <p:nvGrpSpPr>
            <p:cNvPr id="130073" name="Group 89"/>
            <p:cNvGrpSpPr/>
            <p:nvPr/>
          </p:nvGrpSpPr>
          <p:grpSpPr>
            <a:xfrm>
              <a:off x="256" y="3550"/>
              <a:ext cx="5331" cy="475"/>
              <a:chOff x="0" y="0"/>
              <a:chExt cx="5331" cy="475"/>
            </a:xfrm>
          </p:grpSpPr>
          <p:grpSp>
            <p:nvGrpSpPr>
              <p:cNvPr id="130074" name="Group 90"/>
              <p:cNvGrpSpPr/>
              <p:nvPr/>
            </p:nvGrpSpPr>
            <p:grpSpPr>
              <a:xfrm>
                <a:off x="0" y="16"/>
                <a:ext cx="182" cy="459"/>
                <a:chOff x="0" y="0"/>
                <a:chExt cx="182" cy="459"/>
              </a:xfrm>
            </p:grpSpPr>
            <p:sp>
              <p:nvSpPr>
                <p:cNvPr id="130075" name="Line 91"/>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076" name="Rectangle 92"/>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077" name="Group 93"/>
              <p:cNvGrpSpPr/>
              <p:nvPr/>
            </p:nvGrpSpPr>
            <p:grpSpPr>
              <a:xfrm>
                <a:off x="280" y="16"/>
                <a:ext cx="182" cy="459"/>
                <a:chOff x="0" y="0"/>
                <a:chExt cx="182" cy="459"/>
              </a:xfrm>
            </p:grpSpPr>
            <p:sp>
              <p:nvSpPr>
                <p:cNvPr id="130078" name="Line 94"/>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079" name="Rectangle 95"/>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080" name="Group 96"/>
              <p:cNvGrpSpPr/>
              <p:nvPr/>
            </p:nvGrpSpPr>
            <p:grpSpPr>
              <a:xfrm>
                <a:off x="627" y="16"/>
                <a:ext cx="182" cy="459"/>
                <a:chOff x="0" y="0"/>
                <a:chExt cx="182" cy="459"/>
              </a:xfrm>
            </p:grpSpPr>
            <p:sp>
              <p:nvSpPr>
                <p:cNvPr id="130081" name="Line 97"/>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082" name="Rectangle 98"/>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083" name="Group 99"/>
              <p:cNvGrpSpPr/>
              <p:nvPr/>
            </p:nvGrpSpPr>
            <p:grpSpPr>
              <a:xfrm>
                <a:off x="1195" y="0"/>
                <a:ext cx="182" cy="459"/>
                <a:chOff x="0" y="0"/>
                <a:chExt cx="182" cy="459"/>
              </a:xfrm>
            </p:grpSpPr>
            <p:sp>
              <p:nvSpPr>
                <p:cNvPr id="130084" name="Line 100"/>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085" name="Rectangle 101"/>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086" name="Group 102"/>
              <p:cNvGrpSpPr/>
              <p:nvPr/>
            </p:nvGrpSpPr>
            <p:grpSpPr>
              <a:xfrm>
                <a:off x="1504" y="0"/>
                <a:ext cx="182" cy="459"/>
                <a:chOff x="0" y="0"/>
                <a:chExt cx="182" cy="459"/>
              </a:xfrm>
            </p:grpSpPr>
            <p:sp>
              <p:nvSpPr>
                <p:cNvPr id="130087" name="Line 103"/>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088" name="Rectangle 104"/>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089" name="Group 105"/>
              <p:cNvGrpSpPr/>
              <p:nvPr/>
            </p:nvGrpSpPr>
            <p:grpSpPr>
              <a:xfrm>
                <a:off x="1822" y="0"/>
                <a:ext cx="182" cy="459"/>
                <a:chOff x="0" y="0"/>
                <a:chExt cx="182" cy="459"/>
              </a:xfrm>
            </p:grpSpPr>
            <p:sp>
              <p:nvSpPr>
                <p:cNvPr id="130090" name="Line 106"/>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091" name="Rectangle 107"/>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092" name="Group 108"/>
              <p:cNvGrpSpPr/>
              <p:nvPr/>
            </p:nvGrpSpPr>
            <p:grpSpPr>
              <a:xfrm>
                <a:off x="2374" y="3"/>
                <a:ext cx="182" cy="459"/>
                <a:chOff x="0" y="0"/>
                <a:chExt cx="182" cy="459"/>
              </a:xfrm>
            </p:grpSpPr>
            <p:sp>
              <p:nvSpPr>
                <p:cNvPr id="130093" name="Line 109"/>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094" name="Rectangle 110"/>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095" name="Group 111"/>
              <p:cNvGrpSpPr/>
              <p:nvPr/>
            </p:nvGrpSpPr>
            <p:grpSpPr>
              <a:xfrm>
                <a:off x="2707" y="3"/>
                <a:ext cx="182" cy="459"/>
                <a:chOff x="0" y="0"/>
                <a:chExt cx="182" cy="459"/>
              </a:xfrm>
            </p:grpSpPr>
            <p:sp>
              <p:nvSpPr>
                <p:cNvPr id="130096" name="Line 112"/>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097" name="Rectangle 113"/>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098" name="Group 114"/>
              <p:cNvGrpSpPr/>
              <p:nvPr/>
            </p:nvGrpSpPr>
            <p:grpSpPr>
              <a:xfrm>
                <a:off x="3041" y="3"/>
                <a:ext cx="182" cy="459"/>
                <a:chOff x="0" y="0"/>
                <a:chExt cx="182" cy="459"/>
              </a:xfrm>
            </p:grpSpPr>
            <p:sp>
              <p:nvSpPr>
                <p:cNvPr id="130099" name="Line 115"/>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100" name="Rectangle 116"/>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101" name="Group 117"/>
              <p:cNvGrpSpPr/>
              <p:nvPr/>
            </p:nvGrpSpPr>
            <p:grpSpPr>
              <a:xfrm>
                <a:off x="4506" y="0"/>
                <a:ext cx="182" cy="459"/>
                <a:chOff x="0" y="0"/>
                <a:chExt cx="182" cy="459"/>
              </a:xfrm>
            </p:grpSpPr>
            <p:sp>
              <p:nvSpPr>
                <p:cNvPr id="130102" name="Line 118"/>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103" name="Rectangle 119"/>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104" name="Group 120"/>
              <p:cNvGrpSpPr/>
              <p:nvPr/>
            </p:nvGrpSpPr>
            <p:grpSpPr>
              <a:xfrm>
                <a:off x="4847" y="0"/>
                <a:ext cx="182" cy="459"/>
                <a:chOff x="0" y="0"/>
                <a:chExt cx="182" cy="459"/>
              </a:xfrm>
            </p:grpSpPr>
            <p:sp>
              <p:nvSpPr>
                <p:cNvPr id="130105" name="Line 121"/>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106" name="Rectangle 122"/>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107" name="Group 123"/>
              <p:cNvGrpSpPr/>
              <p:nvPr/>
            </p:nvGrpSpPr>
            <p:grpSpPr>
              <a:xfrm>
                <a:off x="5149" y="0"/>
                <a:ext cx="182" cy="459"/>
                <a:chOff x="0" y="0"/>
                <a:chExt cx="182" cy="459"/>
              </a:xfrm>
            </p:grpSpPr>
            <p:sp>
              <p:nvSpPr>
                <p:cNvPr id="130108" name="Line 124"/>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109" name="Rectangle 125"/>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110" name="Group 126"/>
              <p:cNvGrpSpPr/>
              <p:nvPr/>
            </p:nvGrpSpPr>
            <p:grpSpPr>
              <a:xfrm>
                <a:off x="3681" y="0"/>
                <a:ext cx="182" cy="459"/>
                <a:chOff x="0" y="0"/>
                <a:chExt cx="182" cy="459"/>
              </a:xfrm>
            </p:grpSpPr>
            <p:sp>
              <p:nvSpPr>
                <p:cNvPr id="130111" name="Line 127"/>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112" name="Rectangle 128"/>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30113" name="Group 129"/>
              <p:cNvGrpSpPr/>
              <p:nvPr/>
            </p:nvGrpSpPr>
            <p:grpSpPr>
              <a:xfrm>
                <a:off x="3999" y="0"/>
                <a:ext cx="182" cy="459"/>
                <a:chOff x="0" y="0"/>
                <a:chExt cx="182" cy="459"/>
              </a:xfrm>
            </p:grpSpPr>
            <p:sp>
              <p:nvSpPr>
                <p:cNvPr id="130114" name="Line 130"/>
                <p:cNvSpPr/>
                <p:nvPr/>
              </p:nvSpPr>
              <p:spPr>
                <a:xfrm>
                  <a:off x="99" y="0"/>
                  <a:ext cx="0" cy="272"/>
                </a:xfrm>
                <a:prstGeom prst="line">
                  <a:avLst/>
                </a:prstGeom>
                <a:ln w="19050" cap="flat" cmpd="sng">
                  <a:solidFill>
                    <a:schemeClr val="tx1"/>
                  </a:solidFill>
                  <a:prstDash val="solid"/>
                  <a:round/>
                  <a:headEnd type="none" w="med" len="med"/>
                  <a:tailEnd type="none" w="med" len="med"/>
                </a:ln>
              </p:spPr>
            </p:sp>
            <p:sp>
              <p:nvSpPr>
                <p:cNvPr id="130115" name="Rectangle 131"/>
                <p:cNvSpPr/>
                <p:nvPr/>
              </p:nvSpPr>
              <p:spPr>
                <a:xfrm>
                  <a:off x="0" y="278"/>
                  <a:ext cx="182" cy="181"/>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grpSp>
      <p:sp>
        <p:nvSpPr>
          <p:cNvPr id="5" name="文本框 4"/>
          <p:cNvSpPr txBox="1"/>
          <p:nvPr/>
        </p:nvSpPr>
        <p:spPr>
          <a:xfrm>
            <a:off x="916940" y="5372735"/>
            <a:ext cx="10423525" cy="423545"/>
          </a:xfrm>
          <a:prstGeom prst="rect">
            <a:avLst/>
          </a:prstGeom>
        </p:spPr>
        <p:txBody>
          <a:bodyPr vert="horz" wrap="square" lIns="91440" tIns="45720" rIns="91440" bIns="45720" rtlCol="0" anchor="t">
            <a:spAutoFit/>
          </a:bodyPr>
          <a:lstStyle/>
          <a:p>
            <a:pPr marL="0" lvl="0" indent="0">
              <a:lnSpc>
                <a:spcPct val="90000"/>
              </a:lnSpc>
              <a:spcBef>
                <a:spcPts val="1000"/>
              </a:spcBef>
              <a:buClr>
                <a:schemeClr val="accent2"/>
              </a:buClr>
              <a:buFont typeface="Wingdings" panose="05000000000000000000" pitchFamily="2" charset="2"/>
              <a:buNone/>
            </a:pPr>
            <a:r>
              <a:rPr lang="zh-CN" altLang="en-US" sz="2400" kern="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从键值对结构</a:t>
            </a:r>
            <a:r>
              <a:rPr lang="en-US" altLang="zh-CN" sz="2400" kern="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(KV</a:t>
            </a:r>
            <a:r>
              <a:rPr lang="zh-CN" altLang="en-US" sz="2400" kern="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对</a:t>
            </a:r>
            <a:r>
              <a:rPr lang="en-US" altLang="zh-CN" sz="2400" kern="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a:t>
            </a:r>
            <a:r>
              <a:rPr lang="zh-CN" altLang="en-US" sz="2400" kern="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来看，</a:t>
            </a:r>
            <a:r>
              <a:rPr lang="en-US" altLang="zh-CN" sz="2400" kern="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B</a:t>
            </a:r>
            <a:r>
              <a:rPr lang="en-US" altLang="zh-CN" sz="2400" kern="0" baseline="260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a:t>
            </a:r>
            <a:r>
              <a:rPr lang="zh-CN" altLang="en-US" sz="2400" kern="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树只有叶子保存</a:t>
            </a:r>
            <a:r>
              <a:rPr lang="en-US" altLang="zh-CN" sz="2400" kern="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value</a:t>
            </a:r>
            <a:r>
              <a:rPr lang="zh-CN" altLang="en-US" sz="2400" kern="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，分支结点只保存</a:t>
            </a:r>
            <a:r>
              <a:rPr lang="en-US" altLang="zh-CN" sz="2400" kern="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key</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B+树的特点</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与B-树相比，对B+树不仅可以从根结点开始按关键字随机查找，而且可以从最小关键字起，按叶子结点的链接顺序进行顺序查找。</a:t>
            </a: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在B+树上进行随机查找、插入、删除的过程基本上和B-树类似。</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在B+树上进行随机查找时，若非叶子结点的关键字等于给定的K值，并不终止，而是继续向下直到叶子结点(只有叶子结点才存储记录)， 即无论查找成功与否，都走了一条从根结点到叶子结点的路径。</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96</a:t>
            </a:fld>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键树，又称数字查找树，是一棵度&gt;=2的树，每个结点只含有组成关键字的符号</a:t>
            </a:r>
            <a:endParaRPr lang="zh-CN" altLang="en-US" sz="28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97</a:t>
            </a:fld>
            <a:endParaRPr lang="zh-CN" altLang="en-US"/>
          </a:p>
        </p:txBody>
      </p:sp>
      <p:pic>
        <p:nvPicPr>
          <p:cNvPr id="133124" name="Picture 2" descr="http://www.coder4.com/wp-content/uploads/2012/07/jian0.png"/>
          <p:cNvPicPr>
            <a:picLocks noChangeAspect="1"/>
          </p:cNvPicPr>
          <p:nvPr/>
        </p:nvPicPr>
        <p:blipFill>
          <a:blip r:embed="rId2"/>
          <a:stretch>
            <a:fillRect/>
          </a:stretch>
        </p:blipFill>
        <p:spPr>
          <a:xfrm>
            <a:off x="2480310" y="2060575"/>
            <a:ext cx="6561455" cy="3785235"/>
          </a:xfrm>
          <a:prstGeom prst="rect">
            <a:avLst/>
          </a:prstGeom>
          <a:noFill/>
          <a:ln w="9525">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键树存储结构，孩子</a:t>
            </a:r>
            <a:r>
              <a:rPr lang="en-US" altLang="zh-CN" sz="2800" dirty="0">
                <a:latin typeface="黑体" panose="02010609060101010101" pitchFamily="2" charset="-122"/>
                <a:ea typeface="黑体" panose="02010609060101010101" pitchFamily="2" charset="-122"/>
                <a:cs typeface="+mn-ea"/>
                <a:sym typeface="+mn-ea"/>
              </a:rPr>
              <a:t>-</a:t>
            </a:r>
            <a:r>
              <a:rPr lang="zh-CN" altLang="en-US" sz="2800" dirty="0">
                <a:latin typeface="黑体" panose="02010609060101010101" pitchFamily="2" charset="-122"/>
                <a:ea typeface="黑体" panose="02010609060101010101" pitchFamily="2" charset="-122"/>
                <a:cs typeface="+mn-ea"/>
                <a:sym typeface="+mn-ea"/>
              </a:rPr>
              <a:t>兄弟链表法</a:t>
            </a:r>
          </a:p>
          <a:p>
            <a:pPr marL="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ea"/>
              <a:sym typeface="+mn-ea"/>
            </a:endParaRPr>
          </a:p>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键树存储结构，多重链表法</a:t>
            </a:r>
            <a:endParaRPr lang="zh-CN" altLang="en-US" sz="2800" b="0" dirty="0">
              <a:latin typeface="黑体" panose="02010609060101010101" pitchFamily="2" charset="-122"/>
              <a:ea typeface="黑体" panose="02010609060101010101" pitchFamily="2" charset="-122"/>
              <a:cs typeface="+mn-ea"/>
              <a:sym typeface="+mn-ea"/>
            </a:endParaRPr>
          </a:p>
          <a:p>
            <a:pPr marL="457200" lvl="1" indent="-457200" algn="l" eaLnBrk="1" hangingPunct="1">
              <a:buClrTx/>
              <a:buSzTx/>
              <a:buFont typeface="Wingdings" panose="05000000000000000000" charset="0"/>
              <a:buChar char="l"/>
            </a:pPr>
            <a:endParaRPr lang="zh-CN" altLang="en-US" sz="28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98</a:t>
            </a:fld>
            <a:endParaRPr lang="zh-CN" altLang="en-US"/>
          </a:p>
        </p:txBody>
      </p:sp>
      <p:pic>
        <p:nvPicPr>
          <p:cNvPr id="134148" name="Picture 2" descr="http://www.coder4.com/wp-content/uploads/2012/07/jian1.png"/>
          <p:cNvPicPr>
            <a:picLocks noChangeAspect="1"/>
          </p:cNvPicPr>
          <p:nvPr>
            <p:custDataLst>
              <p:tags r:id="rId1"/>
            </p:custDataLst>
          </p:nvPr>
        </p:nvPicPr>
        <p:blipFill>
          <a:blip r:embed="rId4"/>
          <a:stretch>
            <a:fillRect/>
          </a:stretch>
        </p:blipFill>
        <p:spPr>
          <a:xfrm>
            <a:off x="7967980" y="222885"/>
            <a:ext cx="3149600" cy="3331210"/>
          </a:xfrm>
          <a:prstGeom prst="rect">
            <a:avLst/>
          </a:prstGeom>
          <a:noFill/>
          <a:ln w="9525">
            <a:noFill/>
          </a:ln>
        </p:spPr>
      </p:pic>
      <p:pic>
        <p:nvPicPr>
          <p:cNvPr id="135172" name="Picture 2" descr="http://www.coder4.com/wp-content/uploads/2012/07/jian2.png"/>
          <p:cNvPicPr>
            <a:picLocks noChangeAspect="1"/>
          </p:cNvPicPr>
          <p:nvPr>
            <p:custDataLst>
              <p:tags r:id="rId2"/>
            </p:custDataLst>
          </p:nvPr>
        </p:nvPicPr>
        <p:blipFill>
          <a:blip r:embed="rId5"/>
          <a:stretch>
            <a:fillRect/>
          </a:stretch>
        </p:blipFill>
        <p:spPr>
          <a:xfrm>
            <a:off x="479425" y="2564765"/>
            <a:ext cx="6530975" cy="3383915"/>
          </a:xfrm>
          <a:prstGeom prst="rect">
            <a:avLst/>
          </a:prstGeom>
          <a:noFill/>
          <a:ln w="9525">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平衡二叉树</a:t>
            </a:r>
            <a:r>
              <a:rPr lang="en-US" altLang="zh-CN" sz="2800" dirty="0">
                <a:latin typeface="黑体" panose="02010609060101010101" pitchFamily="2" charset="-122"/>
                <a:ea typeface="黑体" panose="02010609060101010101" pitchFamily="2" charset="-122"/>
                <a:cs typeface="+mn-ea"/>
                <a:sym typeface="+mn-ea"/>
              </a:rPr>
              <a:t>AVL-Tree</a:t>
            </a:r>
            <a:r>
              <a:rPr lang="zh-CN" altLang="en-US" sz="2800" dirty="0">
                <a:latin typeface="黑体" panose="02010609060101010101" pitchFamily="2" charset="-122"/>
                <a:ea typeface="黑体" panose="02010609060101010101" pitchFamily="2" charset="-122"/>
                <a:cs typeface="+mn-ea"/>
                <a:sym typeface="+mn-ea"/>
              </a:rPr>
              <a:t>的改进</a:t>
            </a:r>
            <a:r>
              <a:rPr lang="en-US" altLang="zh-CN" sz="2800" dirty="0">
                <a:latin typeface="黑体" panose="02010609060101010101" pitchFamily="2" charset="-122"/>
                <a:ea typeface="黑体" panose="02010609060101010101" pitchFamily="2" charset="-122"/>
                <a:cs typeface="+mn-ea"/>
                <a:sym typeface="+mn-ea"/>
              </a:rPr>
              <a:t>——</a:t>
            </a:r>
            <a:r>
              <a:rPr lang="zh-CN" altLang="en-US" sz="2800" dirty="0">
                <a:latin typeface="黑体" panose="02010609060101010101" pitchFamily="2" charset="-122"/>
                <a:ea typeface="黑体" panose="02010609060101010101" pitchFamily="2" charset="-122"/>
                <a:cs typeface="+mn-ea"/>
                <a:sym typeface="+mn-ea"/>
              </a:rPr>
              <a:t>红黑树</a:t>
            </a:r>
            <a:r>
              <a:rPr lang="en-US" altLang="zh-CN" sz="2800" dirty="0">
                <a:latin typeface="黑体" panose="02010609060101010101" pitchFamily="2" charset="-122"/>
                <a:ea typeface="黑体" panose="02010609060101010101" pitchFamily="2" charset="-122"/>
                <a:cs typeface="+mn-ea"/>
                <a:sym typeface="+mn-ea"/>
              </a:rPr>
              <a:t>RB-Tree</a:t>
            </a:r>
          </a:p>
          <a:p>
            <a:pPr marL="457200" lvl="1" indent="-457200" algn="l">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红黑树是一种不那么严格的平衡二叉树</a:t>
            </a:r>
          </a:p>
          <a:p>
            <a:pPr lvl="1" algn="l">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它允许不平衡达到一倍，即左右子树高度差可以达到一倍</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RBT是用非严格的平衡来换取增删结点时候旋转次数的降低，任何不平衡都会在三次旋转之内解决</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AVL是严格平衡树，因此在增加或者删除结点的时候，根据不同情况，旋转的次数比红黑树要多。所以红黑树的插入效率更高！！</a:t>
            </a:r>
          </a:p>
          <a:p>
            <a:pPr lvl="1" algn="l">
              <a:lnSpc>
                <a:spcPct val="100000"/>
              </a:lnSpc>
              <a:spcBef>
                <a:spcPct val="20000"/>
              </a:spcBef>
              <a:buClrTx/>
              <a:buSzTx/>
              <a:buChar char="•"/>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r>
              <a:rPr lang="zh-CN" altLang="en-US">
                <a:solidFill>
                  <a:srgbClr val="FF0000"/>
                </a:solidFill>
                <a:latin typeface="楷体" panose="02010609060101010101" charset="-122"/>
                <a:ea typeface="楷体" panose="02010609060101010101" charset="-122"/>
                <a:cs typeface="楷体" panose="02010609060101010101" charset="-122"/>
                <a:sym typeface="+mn-ea"/>
              </a:rPr>
              <a:t>（扩展自学）</a:t>
            </a:r>
          </a:p>
        </p:txBody>
      </p:sp>
      <p:sp>
        <p:nvSpPr>
          <p:cNvPr id="2" name="灯片编号占位符 1"/>
          <p:cNvSpPr>
            <a:spLocks noGrp="1"/>
          </p:cNvSpPr>
          <p:nvPr>
            <p:ph type="sldNum" sz="quarter" idx="4"/>
          </p:nvPr>
        </p:nvSpPr>
        <p:spPr/>
        <p:txBody>
          <a:bodyPr/>
          <a:lstStyle/>
          <a:p>
            <a:fld id="{F18B4237-A20D-4DE2-ADD8-75BCC50A7656}" type="slidenum">
              <a:rPr lang="zh-CN" altLang="en-US"/>
              <a:t>99</a:t>
            </a:fld>
            <a:endParaRPr lang="zh-CN"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红黑树的定义</a:t>
            </a:r>
          </a:p>
          <a:p>
            <a:pPr marL="609600" lvl="1" indent="0" algn="l">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1）每个结点要么是红的，要么是黑的。</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lvl="1" indent="0" algn="l">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2）根结点是黑的。</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lvl="1" indent="0" algn="l">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3）每个叶结点（叶结点即指树尾端NIL指针或NULL结点）是黑的。</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lvl="1" indent="0" algn="l">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4）如果一个结点是红的，那么它的两个孩子结点都是黑的。</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lvl="1" indent="0" algn="l">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5）对于任一结点而言，到其子孙结点的每一条路径都包含相同数目的黑结点。</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lvl="1" indent="0" algn="l">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扩展性质1：如果一个结点存在黑子结点，那么该结点肯定有两个子结点</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nSpc>
                <a:spcPts val="2400"/>
              </a:lnSpc>
              <a:spcBef>
                <a:spcPts val="1000"/>
              </a:spcBef>
              <a:buClr>
                <a:schemeClr val="accent2"/>
              </a:buClr>
              <a:defRPr/>
            </a:pPr>
            <a:endParaRPr lang="en-US" altLang="zh-CN" sz="2400" dirty="0">
              <a:latin typeface="黑体" panose="02010609060101010101" pitchFamily="2" charset="-122"/>
              <a:ea typeface="黑体" panose="02010609060101010101" pitchFamily="2" charset="-122"/>
            </a:endParaRPr>
          </a:p>
          <a:p>
            <a:pPr marL="457200" lvl="1" indent="-457200" algn="l">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可见红黑树的约束规则主要是规则4和规则5</a:t>
            </a:r>
          </a:p>
          <a:p>
            <a:pPr marL="457200" lvl="1" indent="-457200" algn="l">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r>
              <a:rPr lang="zh-CN" altLang="en-US">
                <a:solidFill>
                  <a:srgbClr val="FF0000"/>
                </a:solidFill>
                <a:latin typeface="楷体" panose="02010609060101010101" charset="-122"/>
                <a:ea typeface="楷体" panose="02010609060101010101" charset="-122"/>
                <a:cs typeface="楷体" panose="02010609060101010101" charset="-122"/>
                <a:sym typeface="+mn-ea"/>
              </a:rPr>
              <a:t>（扩展自学）</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100</a:t>
            </a:fld>
            <a:endParaRPr lang="zh-CN"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红黑树的示例</a:t>
            </a:r>
          </a:p>
          <a:p>
            <a:pPr marL="457200" lvl="1" indent="-457200" algn="l">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r>
              <a:rPr lang="zh-CN" altLang="en-US">
                <a:solidFill>
                  <a:srgbClr val="FF0000"/>
                </a:solidFill>
                <a:latin typeface="楷体" panose="02010609060101010101" charset="-122"/>
                <a:ea typeface="楷体" panose="02010609060101010101" charset="-122"/>
                <a:cs typeface="楷体" panose="02010609060101010101" charset="-122"/>
                <a:sym typeface="+mn-ea"/>
              </a:rPr>
              <a:t>（扩展自学）</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101</a:t>
            </a:fld>
            <a:endParaRPr lang="zh-CN" altLang="en-US"/>
          </a:p>
        </p:txBody>
      </p:sp>
      <p:pic>
        <p:nvPicPr>
          <p:cNvPr id="5" name="图片 4"/>
          <p:cNvPicPr>
            <a:picLocks noChangeAspect="1"/>
          </p:cNvPicPr>
          <p:nvPr/>
        </p:nvPicPr>
        <p:blipFill>
          <a:blip r:embed="rId2"/>
          <a:stretch>
            <a:fillRect/>
          </a:stretch>
        </p:blipFill>
        <p:spPr>
          <a:xfrm>
            <a:off x="1407795" y="1661795"/>
            <a:ext cx="9192895" cy="431927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红黑树的示例</a:t>
            </a:r>
          </a:p>
          <a:p>
            <a:pPr marL="0" lvl="1" indent="0" algn="l">
              <a:lnSpc>
                <a:spcPct val="100000"/>
              </a:lnSpc>
              <a:spcBef>
                <a:spcPct val="20000"/>
              </a:spcBef>
              <a:buClrTx/>
              <a:buSzTx/>
              <a:buFont typeface="Wingdings" panose="05000000000000000000" charset="0"/>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对于</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AVL</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树来说已经引发不平衡，但对于红黑树来说，仍然是平衡的</a:t>
            </a:r>
          </a:p>
          <a:p>
            <a:pPr marL="457200" lvl="1" indent="-457200" algn="l">
              <a:lnSpc>
                <a:spcPct val="100000"/>
              </a:lnSpc>
              <a:spcBef>
                <a:spcPct val="20000"/>
              </a:spcBef>
              <a:buClrTx/>
              <a:buSzTx/>
              <a:buFont typeface="Wingdings" panose="05000000000000000000" charset="0"/>
              <a:buChar char="l"/>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r>
              <a:rPr lang="zh-CN" altLang="en-US">
                <a:solidFill>
                  <a:srgbClr val="FF0000"/>
                </a:solidFill>
                <a:latin typeface="楷体" panose="02010609060101010101" charset="-122"/>
                <a:ea typeface="楷体" panose="02010609060101010101" charset="-122"/>
                <a:cs typeface="楷体" panose="02010609060101010101" charset="-122"/>
                <a:sym typeface="+mn-ea"/>
              </a:rPr>
              <a:t>（扩展自学）</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102</a:t>
            </a:fld>
            <a:endParaRPr lang="zh-CN" altLang="en-US"/>
          </a:p>
        </p:txBody>
      </p:sp>
      <p:graphicFrame>
        <p:nvGraphicFramePr>
          <p:cNvPr id="6" name="对象 5"/>
          <p:cNvGraphicFramePr/>
          <p:nvPr/>
        </p:nvGraphicFramePr>
        <p:xfrm>
          <a:off x="3791585" y="2132965"/>
          <a:ext cx="4061460" cy="3451225"/>
        </p:xfrm>
        <a:graphic>
          <a:graphicData uri="http://schemas.openxmlformats.org/presentationml/2006/ole">
            <mc:AlternateContent xmlns:mc="http://schemas.openxmlformats.org/markup-compatibility/2006">
              <mc:Choice xmlns:v="urn:schemas-microsoft-com:vml" Requires="v">
                <p:oleObj spid="_x0000_s4099" r:id="rId3" imgW="3876675" imgH="3219450" progId="Paint.Picture">
                  <p:embed/>
                </p:oleObj>
              </mc:Choice>
              <mc:Fallback>
                <p:oleObj r:id="rId3" imgW="3876675" imgH="3219450" progId="Paint.Picture">
                  <p:embed/>
                  <p:pic>
                    <p:nvPicPr>
                      <p:cNvPr id="0" name="图片 4"/>
                      <p:cNvPicPr/>
                      <p:nvPr/>
                    </p:nvPicPr>
                    <p:blipFill>
                      <a:blip r:embed="rId4"/>
                      <a:stretch>
                        <a:fillRect/>
                      </a:stretch>
                    </p:blipFill>
                    <p:spPr>
                      <a:xfrm>
                        <a:off x="3791585" y="2132965"/>
                        <a:ext cx="4061460" cy="3451225"/>
                      </a:xfrm>
                      <a:prstGeom prst="rect">
                        <a:avLst/>
                      </a:prstGeom>
                    </p:spPr>
                  </p:pic>
                </p:oleObj>
              </mc:Fallback>
            </mc:AlternateContent>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红黑树的平衡化处理</a:t>
            </a:r>
          </a:p>
          <a:p>
            <a:pPr lvl="1" algn="l">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左旋</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右旋</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变色</a:t>
            </a:r>
          </a:p>
          <a:p>
            <a:pPr marL="457200" lvl="1" indent="-457200" algn="l">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红黑树的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插入和平衡化处理有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4</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种情景和</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8</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种处理方法</a:t>
            </a:r>
          </a:p>
          <a:p>
            <a:pPr marL="457200" lvl="1" indent="-457200" algn="l">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红黑树的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插入和平衡化处理有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4</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种情景和</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8</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种处理方法</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a:lnSpc>
                <a:spcPct val="100000"/>
              </a:lnSpc>
              <a:spcBef>
                <a:spcPct val="20000"/>
              </a:spcBef>
              <a:buClrTx/>
              <a:buSzTx/>
              <a:buChar char="•"/>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r>
              <a:rPr lang="zh-CN" altLang="en-US">
                <a:solidFill>
                  <a:srgbClr val="FF0000"/>
                </a:solidFill>
                <a:latin typeface="楷体" panose="02010609060101010101" charset="-122"/>
                <a:ea typeface="楷体" panose="02010609060101010101" charset="-122"/>
                <a:cs typeface="楷体" panose="02010609060101010101" charset="-122"/>
                <a:sym typeface="+mn-ea"/>
              </a:rPr>
              <a:t>（扩展自学）</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103</a:t>
            </a:fld>
            <a:endParaRPr lang="zh-CN"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RB-Tree和AVL的性能对比</a:t>
            </a:r>
          </a:p>
          <a:p>
            <a:pPr lvl="1" algn="l">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当插入node引起了树的不平衡，AVL和RB-Tree都是最多只需要2次旋转操作，即两者都是O(1)</a:t>
            </a:r>
          </a:p>
          <a:p>
            <a:pPr lvl="1" algn="l">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当删除node引起树的不平衡时，最坏情况下，AVL需要维护从被删node到root这条路径上所有node的平衡性，因此需要旋转的量级O(logN)，而RB-Tree最多只需3次旋转，只需要O(1)的复杂度。</a:t>
            </a:r>
          </a:p>
          <a:p>
            <a:pPr lvl="1" algn="l">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AVL的结构相较RB-Tree来说更为平衡，在插入和删除node更容易引起Tree的unbalance，因此在大量数据需要插入或者删除时，AVL需要rebalance的频率会更高；RB-Tree在需要大量插入和删除node的场景下，效率更高。</a:t>
            </a:r>
          </a:p>
          <a:p>
            <a:pPr lvl="1" algn="l">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由于AVL高度平衡，因此AVL的search效率更高。</a:t>
            </a:r>
          </a:p>
          <a:p>
            <a:pPr lvl="1" algn="l">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a:lnSpc>
                <a:spcPct val="100000"/>
              </a:lnSpc>
              <a:spcBef>
                <a:spcPct val="20000"/>
              </a:spcBef>
              <a:buClrTx/>
              <a:buSzTx/>
              <a:buFont typeface="Wingdings" panose="05000000000000000000" charset="0"/>
              <a:buChar char="l"/>
            </a:pPr>
            <a:r>
              <a:rPr lang="zh-CN" altLang="en-US" sz="2800" dirty="0">
                <a:solidFill>
                  <a:srgbClr val="FF0000"/>
                </a:solidFill>
                <a:latin typeface="黑体" panose="02010609060101010101" pitchFamily="2" charset="-122"/>
                <a:ea typeface="黑体" panose="02010609060101010101" pitchFamily="2" charset="-122"/>
                <a:cs typeface="+mn-ea"/>
                <a:sym typeface="+mn-ea"/>
              </a:rPr>
              <a:t>结论：若搜索次数远大于插入和删除则选择AVL；否则选择RB-Tree</a:t>
            </a: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r>
              <a:rPr lang="zh-CN" altLang="en-US">
                <a:solidFill>
                  <a:srgbClr val="FF0000"/>
                </a:solidFill>
                <a:latin typeface="楷体" panose="02010609060101010101" charset="-122"/>
                <a:ea typeface="楷体" panose="02010609060101010101" charset="-122"/>
                <a:cs typeface="楷体" panose="02010609060101010101" charset="-122"/>
                <a:sym typeface="+mn-ea"/>
              </a:rPr>
              <a:t>（扩展自学）</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104</a:t>
            </a:fld>
            <a:endParaRPr lang="zh-CN"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红黑树的应用比较广泛，主要用来存储有序的数据，时间复杂度是O(log2n)，效率非常高。</a:t>
            </a:r>
          </a:p>
          <a:p>
            <a:pPr marL="457200" lvl="1" indent="-457200" algn="l">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例如，Java集合中的TreeSet和TreeMap，C++ STL中的set、map，以及Linux虚拟内存的管理，都是通过红黑树去实现的。</a:t>
            </a:r>
            <a:endParaRPr kumimoji="0" lang="zh-CN" altLang="en-US" sz="2800" i="0" strike="noStrike" cap="none" spc="0" normalizeH="0" baseline="0" dirty="0">
              <a:latin typeface="黑体" panose="02010609060101010101" pitchFamily="2" charset="-122"/>
              <a:ea typeface="黑体" panose="02010609060101010101" pitchFamily="2" charset="-122"/>
              <a:cs typeface="+mn-ea"/>
              <a:sym typeface="+mn-ea"/>
            </a:endParaRPr>
          </a:p>
          <a:p>
            <a:pPr marL="457200" lvl="1" indent="-457200" algn="l">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动态查找表</a:t>
            </a:r>
            <a:r>
              <a:rPr lang="zh-CN" altLang="en-US">
                <a:solidFill>
                  <a:srgbClr val="FF0000"/>
                </a:solidFill>
                <a:latin typeface="楷体" panose="02010609060101010101" charset="-122"/>
                <a:ea typeface="楷体" panose="02010609060101010101" charset="-122"/>
                <a:cs typeface="楷体" panose="02010609060101010101" charset="-122"/>
                <a:sym typeface="+mn-ea"/>
              </a:rPr>
              <a:t>（扩展自学）</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105</a:t>
            </a:fld>
            <a:endParaRPr lang="zh-CN"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gn="l" eaLnBrk="1" hangingPunct="1">
              <a:lnSpc>
                <a:spcPct val="100000"/>
              </a:lnSpc>
              <a:buClrTx/>
              <a:buSzTx/>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动态查找：二叉排序树、平衡二叉树、</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B</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树</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lnSpc>
                <a:spcPct val="100000"/>
              </a:lnSpc>
              <a:buClrTx/>
              <a:buSzTx/>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二叉排序树：左子树严格小于双亲，右子树严格大于双亲</a:t>
            </a:r>
          </a:p>
          <a:p>
            <a:pPr marL="914400" lvl="2" indent="-457200" algn="l" eaLnBrk="1" hangingPunct="1">
              <a:lnSpc>
                <a:spcPct val="100000"/>
              </a:lnSpc>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查找、插入、删除</a:t>
            </a:r>
          </a:p>
          <a:p>
            <a:pPr marL="914400" lvl="2" indent="-457200" algn="l" eaLnBrk="1" hangingPunct="1">
              <a:lnSpc>
                <a:spcPct val="100000"/>
              </a:lnSpc>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中序遍历输出有序序列</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lnSpc>
                <a:spcPct val="100000"/>
              </a:lnSpc>
              <a:buClrTx/>
              <a:buSzTx/>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平衡二叉树：根据二叉排序树排序不当的情况进行改进</a:t>
            </a:r>
          </a:p>
          <a:p>
            <a:pPr marL="914400" lvl="2" indent="-457200" algn="l" eaLnBrk="1" hangingPunct="1">
              <a:lnSpc>
                <a:spcPct val="100000"/>
              </a:lnSpc>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平衡因子绝对值不超过</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1</a:t>
            </a:r>
          </a:p>
          <a:p>
            <a:pPr marL="914400" lvl="2" indent="-457200" algn="l" eaLnBrk="1" hangingPunct="1">
              <a:lnSpc>
                <a:spcPct val="100000"/>
              </a:lnSpc>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四种平衡化处理的类型和操作</a:t>
            </a:r>
          </a:p>
          <a:p>
            <a:pPr marL="914400" lvl="2" indent="-457200" algn="l" eaLnBrk="1" hangingPunct="1">
              <a:lnSpc>
                <a:spcPct val="100000"/>
              </a:lnSpc>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平衡二叉树创建的过程</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lnSpc>
                <a:spcPct val="100000"/>
              </a:lnSpc>
              <a:buClrTx/>
              <a:buSzTx/>
              <a:buChar char="l"/>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B</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树，多路平衡查找树</a:t>
            </a:r>
          </a:p>
          <a:p>
            <a:pPr marL="914400" lvl="2" indent="-457200" algn="l" eaLnBrk="1" hangingPunct="1">
              <a:lnSpc>
                <a:spcPct val="100000"/>
              </a:lnSpc>
              <a:buClrTx/>
              <a:buSzTx/>
              <a:buChar char="•"/>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B</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树的概念</a:t>
            </a:r>
          </a:p>
          <a:p>
            <a:pPr marL="914400" lvl="2" indent="-457200" algn="l" eaLnBrk="1" hangingPunct="1">
              <a:lnSpc>
                <a:spcPct val="100000"/>
              </a:lnSpc>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B-树又称为</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B</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树</a:t>
            </a:r>
          </a:p>
          <a:p>
            <a:pPr marL="914400" lvl="2" indent="-457200" algn="l" eaLnBrk="1" hangingPunct="1">
              <a:lnSpc>
                <a:spcPct val="100000"/>
              </a:lnSpc>
              <a:buClrTx/>
              <a:buSzTx/>
              <a:buChar char="•"/>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B+</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树的概念</a:t>
            </a: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buChar char="•"/>
            </a:pP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lvl="0" indent="-457200" algn="l">
              <a:buClrTx/>
              <a:buSzTx/>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 name="标题 2"/>
          <p:cNvSpPr>
            <a:spLocks noGrp="1"/>
          </p:cNvSpPr>
          <p:nvPr>
            <p:ph type="title"/>
          </p:nvPr>
        </p:nvSpPr>
        <p:spPr/>
        <p:txBody>
          <a:bodyPr/>
          <a:lstStyle/>
          <a:p>
            <a:pPr algn="l">
              <a:buClrTx/>
              <a:buSzTx/>
              <a:buFontTx/>
            </a:pPr>
            <a:r>
              <a:rPr lang="zh-CN" altLang="en-US" sz="4000">
                <a:solidFill>
                  <a:srgbClr val="FF0000"/>
                </a:solidFill>
                <a:latin typeface="楷体" panose="02010609060101010101" charset="-122"/>
                <a:ea typeface="楷体" panose="02010609060101010101" charset="-122"/>
                <a:sym typeface="+mn-ea"/>
              </a:rPr>
              <a:t>上节课</a:t>
            </a:r>
            <a:r>
              <a:rPr lang="zh-CN" altLang="en-US" sz="4000">
                <a:solidFill>
                  <a:srgbClr val="FF0000"/>
                </a:solidFill>
                <a:latin typeface="楷体" panose="02010609060101010101" charset="-122"/>
                <a:ea typeface="楷体" panose="02010609060101010101" charset="-122"/>
              </a:rPr>
              <a:t>复习</a:t>
            </a:r>
          </a:p>
        </p:txBody>
      </p:sp>
      <p:sp>
        <p:nvSpPr>
          <p:cNvPr id="4" name="灯片编号占位符 3"/>
          <p:cNvSpPr>
            <a:spLocks noGrp="1"/>
          </p:cNvSpPr>
          <p:nvPr>
            <p:ph type="sldNum" sz="quarter" idx="4"/>
          </p:nvPr>
        </p:nvSpPr>
        <p:spPr/>
        <p:txBody>
          <a:bodyPr/>
          <a:lstStyle/>
          <a:p>
            <a:fld id="{F18B4237-A20D-4DE2-ADD8-75BCC50A7656}" type="slidenum">
              <a:rPr lang="zh-CN" altLang="en-US"/>
              <a:t>106</a:t>
            </a:fld>
            <a:endParaRPr lang="zh-CN" alt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9181465" cy="5144135"/>
          </a:xfrm>
        </p:spPr>
        <p:txBody>
          <a:bodyPr/>
          <a:lstStyle/>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动态查找的数据结构比较：</a:t>
            </a: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mn-ea"/>
                <a:sym typeface="+mn-ea"/>
              </a:rPr>
              <a:t>AVL</a:t>
            </a:r>
            <a:r>
              <a:rPr lang="zh-CN" altLang="en-US" sz="2400" dirty="0">
                <a:latin typeface="黑体" panose="02010609060101010101" pitchFamily="2" charset="-122"/>
                <a:ea typeface="黑体" panose="02010609060101010101" pitchFamily="2" charset="-122"/>
                <a:cs typeface="+mn-ea"/>
                <a:sym typeface="+mn-ea"/>
              </a:rPr>
              <a:t>树，基于二分法策略提高数据查找速度，与树高度成反比，查找效率高但插入更新速度差</a:t>
            </a: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红黑树，比</a:t>
            </a:r>
            <a:r>
              <a:rPr lang="en-US" altLang="zh-CN" sz="2400" dirty="0">
                <a:latin typeface="黑体" panose="02010609060101010101" pitchFamily="2" charset="-122"/>
                <a:ea typeface="黑体" panose="02010609060101010101" pitchFamily="2" charset="-122"/>
                <a:cs typeface="+mn-ea"/>
                <a:sym typeface="+mn-ea"/>
              </a:rPr>
              <a:t>AVL</a:t>
            </a:r>
            <a:r>
              <a:rPr lang="zh-CN" altLang="en-US" sz="2400" dirty="0">
                <a:latin typeface="黑体" panose="02010609060101010101" pitchFamily="2" charset="-122"/>
                <a:ea typeface="黑体" panose="02010609060101010101" pitchFamily="2" charset="-122"/>
                <a:cs typeface="+mn-ea"/>
                <a:sym typeface="+mn-ea"/>
              </a:rPr>
              <a:t>树更能容忍不平衡，插入更新性能比</a:t>
            </a:r>
            <a:r>
              <a:rPr lang="en-US" altLang="zh-CN" sz="2400" dirty="0">
                <a:latin typeface="黑体" panose="02010609060101010101" pitchFamily="2" charset="-122"/>
                <a:ea typeface="黑体" panose="02010609060101010101" pitchFamily="2" charset="-122"/>
                <a:cs typeface="+mn-ea"/>
                <a:sym typeface="+mn-ea"/>
              </a:rPr>
              <a:t>AVL</a:t>
            </a:r>
            <a:r>
              <a:rPr lang="zh-CN" altLang="en-US" sz="2400" dirty="0">
                <a:latin typeface="黑体" panose="02010609060101010101" pitchFamily="2" charset="-122"/>
                <a:ea typeface="黑体" panose="02010609060101010101" pitchFamily="2" charset="-122"/>
                <a:cs typeface="+mn-ea"/>
                <a:sym typeface="+mn-ea"/>
              </a:rPr>
              <a:t>树更好，例如</a:t>
            </a:r>
            <a:r>
              <a:rPr lang="en-US" altLang="zh-CN" sz="2400" dirty="0">
                <a:latin typeface="黑体" panose="02010609060101010101" pitchFamily="2" charset="-122"/>
                <a:ea typeface="黑体" panose="02010609060101010101" pitchFamily="2" charset="-122"/>
                <a:cs typeface="+mn-ea"/>
                <a:sym typeface="+mn-ea"/>
              </a:rPr>
              <a:t>STL</a:t>
            </a:r>
            <a:r>
              <a:rPr lang="zh-CN" altLang="en-US" sz="2400" dirty="0">
                <a:latin typeface="黑体" panose="02010609060101010101" pitchFamily="2" charset="-122"/>
                <a:ea typeface="黑体" panose="02010609060101010101" pitchFamily="2" charset="-122"/>
                <a:cs typeface="+mn-ea"/>
                <a:sym typeface="+mn-ea"/>
              </a:rPr>
              <a:t>容器</a:t>
            </a:r>
            <a:r>
              <a:rPr lang="en-US" altLang="zh-CN" sz="2400" dirty="0">
                <a:latin typeface="黑体" panose="02010609060101010101" pitchFamily="2" charset="-122"/>
                <a:ea typeface="黑体" panose="02010609060101010101" pitchFamily="2" charset="-122"/>
                <a:cs typeface="+mn-ea"/>
                <a:sym typeface="+mn-ea"/>
              </a:rPr>
              <a:t>map</a:t>
            </a:r>
            <a:r>
              <a:rPr lang="zh-CN" altLang="en-US" sz="2400" dirty="0">
                <a:latin typeface="黑体" panose="02010609060101010101" pitchFamily="2" charset="-122"/>
                <a:ea typeface="黑体" panose="02010609060101010101" pitchFamily="2" charset="-122"/>
                <a:cs typeface="+mn-ea"/>
                <a:sym typeface="+mn-ea"/>
              </a:rPr>
              <a:t>和</a:t>
            </a:r>
            <a:r>
              <a:rPr lang="en-US" altLang="zh-CN" sz="2400" dirty="0">
                <a:latin typeface="黑体" panose="02010609060101010101" pitchFamily="2" charset="-122"/>
                <a:ea typeface="黑体" panose="02010609060101010101" pitchFamily="2" charset="-122"/>
                <a:cs typeface="+mn-ea"/>
                <a:sym typeface="+mn-ea"/>
              </a:rPr>
              <a:t>set</a:t>
            </a:r>
            <a:r>
              <a:rPr lang="zh-CN" altLang="en-US" sz="2400" dirty="0">
                <a:latin typeface="黑体" panose="02010609060101010101" pitchFamily="2" charset="-122"/>
                <a:ea typeface="黑体" panose="02010609060101010101" pitchFamily="2" charset="-122"/>
                <a:cs typeface="+mn-ea"/>
                <a:sym typeface="+mn-ea"/>
              </a:rPr>
              <a:t>都是用红黑树结构、</a:t>
            </a:r>
            <a:r>
              <a:rPr lang="en-US" altLang="zh-CN" sz="2400" dirty="0">
                <a:latin typeface="黑体" panose="02010609060101010101" pitchFamily="2" charset="-122"/>
                <a:ea typeface="黑体" panose="02010609060101010101" pitchFamily="2" charset="-122"/>
                <a:cs typeface="+mn-ea"/>
                <a:sym typeface="+mn-ea"/>
              </a:rPr>
              <a:t>Linux</a:t>
            </a:r>
            <a:r>
              <a:rPr lang="zh-CN" altLang="en-US" sz="2400" dirty="0">
                <a:latin typeface="黑体" panose="02010609060101010101" pitchFamily="2" charset="-122"/>
                <a:ea typeface="黑体" panose="02010609060101010101" pitchFamily="2" charset="-122"/>
                <a:cs typeface="+mn-ea"/>
                <a:sym typeface="+mn-ea"/>
              </a:rPr>
              <a:t>内存管理</a:t>
            </a: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mn-ea"/>
                <a:sym typeface="+mn-ea"/>
              </a:rPr>
              <a:t>B</a:t>
            </a:r>
            <a:r>
              <a:rPr lang="zh-CN" altLang="en-US" sz="2400" dirty="0">
                <a:latin typeface="黑体" panose="02010609060101010101" pitchFamily="2" charset="-122"/>
                <a:ea typeface="黑体" panose="02010609060101010101" pitchFamily="2" charset="-122"/>
                <a:cs typeface="+mn-ea"/>
                <a:sym typeface="+mn-ea"/>
              </a:rPr>
              <a:t>树和</a:t>
            </a:r>
            <a:r>
              <a:rPr lang="en-US" altLang="zh-CN" sz="2400" dirty="0">
                <a:latin typeface="黑体" panose="02010609060101010101" pitchFamily="2" charset="-122"/>
                <a:ea typeface="黑体" panose="02010609060101010101" pitchFamily="2" charset="-122"/>
                <a:cs typeface="+mn-ea"/>
                <a:sym typeface="+mn-ea"/>
              </a:rPr>
              <a:t>B+</a:t>
            </a:r>
            <a:r>
              <a:rPr lang="zh-CN" altLang="en-US" sz="2400" dirty="0">
                <a:latin typeface="黑体" panose="02010609060101010101" pitchFamily="2" charset="-122"/>
                <a:ea typeface="黑体" panose="02010609060101010101" pitchFamily="2" charset="-122"/>
                <a:cs typeface="+mn-ea"/>
                <a:sym typeface="+mn-ea"/>
              </a:rPr>
              <a:t>树更适合内存</a:t>
            </a:r>
            <a:r>
              <a:rPr lang="en-US" altLang="zh-CN" sz="2400" dirty="0">
                <a:latin typeface="黑体" panose="02010609060101010101" pitchFamily="2" charset="-122"/>
                <a:ea typeface="黑体" panose="02010609060101010101" pitchFamily="2" charset="-122"/>
                <a:cs typeface="+mn-ea"/>
                <a:sym typeface="+mn-ea"/>
              </a:rPr>
              <a:t>+</a:t>
            </a:r>
            <a:r>
              <a:rPr lang="zh-CN" altLang="en-US" sz="2400" dirty="0">
                <a:latin typeface="黑体" panose="02010609060101010101" pitchFamily="2" charset="-122"/>
                <a:ea typeface="黑体" panose="02010609060101010101" pitchFamily="2" charset="-122"/>
                <a:cs typeface="+mn-ea"/>
                <a:sym typeface="+mn-ea"/>
              </a:rPr>
              <a:t>磁盘查找，有效降低搜索树高度，减少磁盘</a:t>
            </a:r>
            <a:r>
              <a:rPr lang="en-US" altLang="zh-CN" sz="2400" dirty="0">
                <a:latin typeface="黑体" panose="02010609060101010101" pitchFamily="2" charset="-122"/>
                <a:ea typeface="黑体" panose="02010609060101010101" pitchFamily="2" charset="-122"/>
                <a:cs typeface="+mn-ea"/>
                <a:sym typeface="+mn-ea"/>
              </a:rPr>
              <a:t>I/O</a:t>
            </a:r>
            <a:r>
              <a:rPr lang="zh-CN" altLang="en-US" sz="2400" dirty="0">
                <a:latin typeface="黑体" panose="02010609060101010101" pitchFamily="2" charset="-122"/>
                <a:ea typeface="黑体" panose="02010609060101010101" pitchFamily="2" charset="-122"/>
                <a:cs typeface="+mn-ea"/>
                <a:sym typeface="+mn-ea"/>
              </a:rPr>
              <a:t>读取次数</a:t>
            </a: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325"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330" dirty="0">
              <a:latin typeface="宋体" panose="0201060003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9.2 </a:t>
            </a:r>
            <a:r>
              <a:rPr lang="zh-CN" altLang="en-US">
                <a:latin typeface="楷体" panose="02010609060101010101" charset="-122"/>
                <a:ea typeface="楷体" panose="02010609060101010101" charset="-122"/>
                <a:cs typeface="楷体" panose="02010609060101010101" charset="-122"/>
                <a:sym typeface="+mn-ea"/>
              </a:rPr>
              <a:t>动态查找</a:t>
            </a:r>
          </a:p>
        </p:txBody>
      </p:sp>
      <p:sp>
        <p:nvSpPr>
          <p:cNvPr id="2" name="灯片编号占位符 1"/>
          <p:cNvSpPr>
            <a:spLocks noGrp="1"/>
          </p:cNvSpPr>
          <p:nvPr>
            <p:ph type="sldNum" sz="quarter" idx="4"/>
          </p:nvPr>
        </p:nvSpPr>
        <p:spPr/>
        <p:txBody>
          <a:bodyPr/>
          <a:lstStyle/>
          <a:p>
            <a:fld id="{F18B4237-A20D-4DE2-ADD8-75BCC50A7656}" type="slidenum">
              <a:rPr lang="zh-CN" altLang="en-US"/>
              <a:t>107</a:t>
            </a:fld>
            <a:endParaRPr lang="zh-CN" altLang="en-US"/>
          </a:p>
        </p:txBody>
      </p:sp>
      <p:pic>
        <p:nvPicPr>
          <p:cNvPr id="8" name="图片 7"/>
          <p:cNvPicPr>
            <a:picLocks noChangeAspect="1"/>
          </p:cNvPicPr>
          <p:nvPr/>
        </p:nvPicPr>
        <p:blipFill>
          <a:blip r:embed="rId2"/>
          <a:stretch>
            <a:fillRect/>
          </a:stretch>
        </p:blipFill>
        <p:spPr>
          <a:xfrm>
            <a:off x="9768205" y="2636520"/>
            <a:ext cx="1847850" cy="1495425"/>
          </a:xfrm>
          <a:prstGeom prst="rect">
            <a:avLst/>
          </a:prstGeom>
        </p:spPr>
      </p:pic>
      <p:pic>
        <p:nvPicPr>
          <p:cNvPr id="9" name="图片 8"/>
          <p:cNvPicPr>
            <a:picLocks noChangeAspect="1"/>
          </p:cNvPicPr>
          <p:nvPr/>
        </p:nvPicPr>
        <p:blipFill>
          <a:blip r:embed="rId3"/>
          <a:stretch>
            <a:fillRect/>
          </a:stretch>
        </p:blipFill>
        <p:spPr>
          <a:xfrm>
            <a:off x="9555480" y="1412875"/>
            <a:ext cx="2348865" cy="995045"/>
          </a:xfrm>
          <a:prstGeom prst="rect">
            <a:avLst/>
          </a:prstGeom>
        </p:spPr>
      </p:pic>
      <p:pic>
        <p:nvPicPr>
          <p:cNvPr id="10" name="图片 9"/>
          <p:cNvPicPr>
            <a:picLocks noChangeAspect="1"/>
          </p:cNvPicPr>
          <p:nvPr/>
        </p:nvPicPr>
        <p:blipFill>
          <a:blip r:embed="rId4"/>
          <a:stretch>
            <a:fillRect/>
          </a:stretch>
        </p:blipFill>
        <p:spPr>
          <a:xfrm>
            <a:off x="8760460" y="4436745"/>
            <a:ext cx="3091815" cy="163322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动态查找比静态查找多了</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_____</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操作和</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操作</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二叉排序树最好时间复杂度接近</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，最坏时间复杂度接近</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根据序列｛</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12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,4,</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4,5</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,98</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36,8,1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4｝构建二叉排序树，该二叉排序树查找次数最多的元素是</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；若删除元素</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，实际删除二叉排序树的结点是</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（替换优先选择中序遍历待删除元素的直接后驱）</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indent="0" algn="l" eaLnBrk="1" hangingPunct="1">
              <a:buClrTx/>
              <a:buSzTx/>
              <a:buNone/>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lstStyle/>
          <a:p>
            <a:pPr algn="l">
              <a:buClrTx/>
              <a:buSzTx/>
              <a:buFontTx/>
            </a:pPr>
            <a:r>
              <a:rPr lang="zh-CN" altLang="en-US" sz="4000">
                <a:solidFill>
                  <a:srgbClr val="FF0000"/>
                </a:solidFill>
                <a:latin typeface="楷体" panose="02010609060101010101" charset="-122"/>
                <a:ea typeface="楷体" panose="02010609060101010101" charset="-122"/>
              </a:rPr>
              <a:t>复习练习</a:t>
            </a:r>
          </a:p>
        </p:txBody>
      </p:sp>
      <p:sp>
        <p:nvSpPr>
          <p:cNvPr id="4" name="灯片编号占位符 3"/>
          <p:cNvSpPr>
            <a:spLocks noGrp="1"/>
          </p:cNvSpPr>
          <p:nvPr>
            <p:ph type="sldNum" sz="quarter" idx="4"/>
          </p:nvPr>
        </p:nvSpPr>
        <p:spPr/>
        <p:txBody>
          <a:bodyPr/>
          <a:lstStyle/>
          <a:p>
            <a:fld id="{F18B4237-A20D-4DE2-ADD8-75BCC50A7656}" type="slidenum">
              <a:rPr lang="zh-CN" altLang="en-US"/>
              <a:t>108</a:t>
            </a:fld>
            <a:endParaRPr lang="zh-CN" altLang="en-US"/>
          </a:p>
        </p:txBody>
      </p:sp>
      <mc:AlternateContent xmlns:mc="http://schemas.openxmlformats.org/markup-compatibility/2006">
        <mc:Choice xmlns:p14="http://schemas.microsoft.com/office/powerpoint/2010/main" Requires="p14">
          <p:contentPart p14:bwMode="auto" r:id="rId2">
            <p14:nvContentPartPr>
              <p14:cNvPr id="5" name="墨迹 4">
                <a:extLst>
                  <a:ext uri="{FF2B5EF4-FFF2-40B4-BE49-F238E27FC236}">
                    <a16:creationId xmlns:a16="http://schemas.microsoft.com/office/drawing/2014/main" id="{3FE782BE-EEC8-4FE1-89B9-FCB0897B856B}"/>
                  </a:ext>
                </a:extLst>
              </p14:cNvPr>
              <p14:cNvContentPartPr/>
              <p14:nvPr/>
            </p14:nvContentPartPr>
            <p14:xfrm>
              <a:off x="3860640" y="2438280"/>
              <a:ext cx="2540520" cy="997560"/>
            </p14:xfrm>
          </p:contentPart>
        </mc:Choice>
        <mc:Fallback>
          <p:pic>
            <p:nvPicPr>
              <p:cNvPr id="5" name="墨迹 4">
                <a:extLst>
                  <a:ext uri="{FF2B5EF4-FFF2-40B4-BE49-F238E27FC236}">
                    <a16:creationId xmlns:a16="http://schemas.microsoft.com/office/drawing/2014/main" id="{3FE782BE-EEC8-4FE1-89B9-FCB0897B856B}"/>
                  </a:ext>
                </a:extLst>
              </p:cNvPr>
              <p:cNvPicPr/>
              <p:nvPr/>
            </p:nvPicPr>
            <p:blipFill>
              <a:blip r:embed="rId3"/>
              <a:stretch>
                <a:fillRect/>
              </a:stretch>
            </p:blipFill>
            <p:spPr>
              <a:xfrm>
                <a:off x="3851280" y="2428920"/>
                <a:ext cx="2559240" cy="1016280"/>
              </a:xfrm>
              <a:prstGeom prst="rect">
                <a:avLst/>
              </a:prstGeom>
            </p:spPr>
          </p:pic>
        </mc:Fallback>
      </mc:AlternateContent>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609600" indent="-60960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在初始为空的平衡二叉树中依次插入33、88、66、22、11、15、44、40，画出平衡二叉树的生成过程，并说明其中的平衡化类型</a:t>
            </a: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lstStyle/>
          <a:p>
            <a:pPr algn="l">
              <a:buClrTx/>
              <a:buSzTx/>
              <a:buFontTx/>
            </a:pPr>
            <a:r>
              <a:rPr lang="zh-CN" altLang="en-US" sz="4000">
                <a:solidFill>
                  <a:srgbClr val="FF0000"/>
                </a:solidFill>
                <a:latin typeface="楷体" panose="02010609060101010101" charset="-122"/>
                <a:ea typeface="楷体" panose="02010609060101010101" charset="-122"/>
              </a:rPr>
              <a:t>复习练习</a:t>
            </a:r>
          </a:p>
        </p:txBody>
      </p:sp>
      <p:sp>
        <p:nvSpPr>
          <p:cNvPr id="4" name="灯片编号占位符 3"/>
          <p:cNvSpPr>
            <a:spLocks noGrp="1"/>
          </p:cNvSpPr>
          <p:nvPr>
            <p:ph type="sldNum" sz="quarter" idx="4"/>
          </p:nvPr>
        </p:nvSpPr>
        <p:spPr/>
        <p:txBody>
          <a:bodyPr/>
          <a:lstStyle/>
          <a:p>
            <a:fld id="{F18B4237-A20D-4DE2-ADD8-75BCC50A7656}" type="slidenum">
              <a:rPr lang="zh-CN" altLang="en-US"/>
              <a:t>109</a:t>
            </a:fld>
            <a:endParaRPr lang="zh-CN" alt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静态查找表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动态查找表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哈希表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zh-CN" altLang="en-US" sz="3200" b="1" i="0" u="none" strike="noStrike" kern="1200" cap="none" spc="0" normalizeH="0" baseline="0" dirty="0">
              <a:solidFill>
                <a:schemeClr val="tx1"/>
              </a:solidFill>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lstStyle/>
          <a:p>
            <a:fld id="{F18B4237-A20D-4DE2-ADD8-75BCC50A7656}" type="slidenum">
              <a:rPr lang="zh-CN" altLang="en-US"/>
              <a:t>110</a:t>
            </a:fld>
            <a:endParaRPr lang="zh-CN" altLang="en-US"/>
          </a:p>
        </p:txBody>
      </p:sp>
      <p:sp>
        <p:nvSpPr>
          <p:cNvPr id="8" name="矩形 7"/>
          <p:cNvSpPr/>
          <p:nvPr/>
        </p:nvSpPr>
        <p:spPr>
          <a:xfrm>
            <a:off x="4088130" y="2383790"/>
            <a:ext cx="2127250"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46" name="Text Box 2"/>
          <p:cNvSpPr txBox="1"/>
          <p:nvPr/>
        </p:nvSpPr>
        <p:spPr>
          <a:xfrm>
            <a:off x="2712085" y="170815"/>
            <a:ext cx="6443980" cy="768350"/>
          </a:xfrm>
          <a:prstGeom prst="rect">
            <a:avLst/>
          </a:prstGeom>
          <a:noFill/>
          <a:ln w="9525">
            <a:noFill/>
          </a:ln>
        </p:spPr>
        <p:txBody>
          <a:bodyPr wrap="square" anchor="t" anchorCtr="0">
            <a:spAutoFit/>
          </a:bodyPr>
          <a:lstStyle/>
          <a:p>
            <a:pPr algn="ctr"/>
            <a:r>
              <a:rPr lang="zh-CN" altLang="en-US" sz="4400" b="1" dirty="0">
                <a:solidFill>
                  <a:srgbClr val="0000CC"/>
                </a:solidFill>
                <a:latin typeface="楷体" panose="02010609060101010101" charset="-122"/>
                <a:ea typeface="楷体" panose="02010609060101010101" charset="-122"/>
              </a:rPr>
              <a:t>第九章	查找</a:t>
            </a:r>
          </a:p>
        </p:txBody>
      </p:sp>
    </p:spTree>
  </p:cSld>
  <p:clrMapOvr>
    <a:masterClrMapping/>
  </p:clrMapOvr>
  <p:transition spd="med">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哈希查找：</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在记录的存储地址和它的关键字之间建立一个确定的对应关系；不经过比较，一次存取就能得到所查元素的查找方法</a:t>
            </a: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哈希查找的例子，</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30</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个省份，表长</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30</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，有以下三种哈希查找</a:t>
            </a: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rPr>
              <a:t>哈希函数</a:t>
            </a:r>
            <a:r>
              <a:rPr lang="en-US" altLang="zh-CN" dirty="0">
                <a:latin typeface="黑体" panose="02010609060101010101" pitchFamily="2" charset="-122"/>
                <a:ea typeface="黑体" panose="02010609060101010101" pitchFamily="2" charset="-122"/>
                <a:cs typeface="黑体" panose="02010609060101010101" pitchFamily="2" charset="-122"/>
              </a:rPr>
              <a:t>1</a:t>
            </a:r>
            <a:r>
              <a:rPr lang="zh-CN" altLang="en-US" dirty="0">
                <a:latin typeface="黑体" panose="02010609060101010101" pitchFamily="2" charset="-122"/>
                <a:ea typeface="黑体" panose="02010609060101010101" pitchFamily="2" charset="-122"/>
                <a:cs typeface="黑体" panose="02010609060101010101" pitchFamily="2" charset="-122"/>
              </a:rPr>
              <a:t>：拼音首字母的字母序作为</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位置，容易冲突</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rPr>
              <a:t>哈希函数</a:t>
            </a:r>
            <a:r>
              <a:rPr lang="en-US" altLang="zh-CN" dirty="0">
                <a:latin typeface="黑体" panose="02010609060101010101" pitchFamily="2" charset="-122"/>
                <a:ea typeface="黑体" panose="02010609060101010101" pitchFamily="2" charset="-122"/>
                <a:cs typeface="黑体" panose="02010609060101010101" pitchFamily="2" charset="-122"/>
              </a:rPr>
              <a:t>2</a:t>
            </a:r>
            <a:r>
              <a:rPr lang="zh-CN" altLang="en-US" dirty="0">
                <a:latin typeface="黑体" panose="02010609060101010101" pitchFamily="2" charset="-122"/>
                <a:ea typeface="黑体" panose="02010609060101010101" pitchFamily="2" charset="-122"/>
                <a:cs typeface="黑体" panose="02010609060101010101" pitchFamily="2" charset="-122"/>
              </a:rPr>
              <a:t>：首尾字母的序号和，若超过</a:t>
            </a:r>
            <a:r>
              <a:rPr lang="en-US" altLang="zh-CN" dirty="0">
                <a:latin typeface="黑体" panose="02010609060101010101" pitchFamily="2" charset="-122"/>
                <a:ea typeface="黑体" panose="02010609060101010101" pitchFamily="2" charset="-122"/>
                <a:cs typeface="黑体" panose="02010609060101010101" pitchFamily="2" charset="-122"/>
              </a:rPr>
              <a:t>30</a:t>
            </a:r>
            <a:r>
              <a:rPr lang="zh-CN" altLang="en-US" dirty="0">
                <a:latin typeface="黑体" panose="02010609060101010101" pitchFamily="2" charset="-122"/>
                <a:ea typeface="黑体" panose="02010609060101010101" pitchFamily="2" charset="-122"/>
                <a:cs typeface="黑体" panose="02010609060101010101" pitchFamily="2" charset="-122"/>
              </a:rPr>
              <a:t>则减</a:t>
            </a:r>
            <a:r>
              <a:rPr lang="en-US" altLang="zh-CN" dirty="0">
                <a:latin typeface="黑体" panose="02010609060101010101" pitchFamily="2" charset="-122"/>
                <a:ea typeface="黑体" panose="02010609060101010101" pitchFamily="2" charset="-122"/>
                <a:cs typeface="黑体" panose="02010609060101010101" pitchFamily="2" charset="-122"/>
              </a:rPr>
              <a:t>30</a:t>
            </a:r>
            <a:r>
              <a:rPr lang="zh-CN" altLang="en-US" dirty="0">
                <a:latin typeface="黑体" panose="02010609060101010101" pitchFamily="2" charset="-122"/>
                <a:ea typeface="黑体" panose="02010609060101010101" pitchFamily="2" charset="-122"/>
                <a:cs typeface="黑体" panose="02010609060101010101" pitchFamily="2" charset="-122"/>
              </a:rPr>
              <a:t>，得到位置</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rPr>
              <a:t>哈希函数</a:t>
            </a:r>
            <a:r>
              <a:rPr lang="en-US" altLang="zh-CN" dirty="0">
                <a:latin typeface="黑体" panose="02010609060101010101" pitchFamily="2" charset="-122"/>
                <a:ea typeface="黑体" panose="02010609060101010101" pitchFamily="2" charset="-122"/>
                <a:cs typeface="黑体" panose="02010609060101010101" pitchFamily="2" charset="-122"/>
              </a:rPr>
              <a:t>3</a:t>
            </a:r>
            <a:r>
              <a:rPr lang="zh-CN" altLang="en-US" dirty="0">
                <a:latin typeface="黑体" panose="02010609060101010101" pitchFamily="2" charset="-122"/>
                <a:ea typeface="黑体" panose="02010609060101010101" pitchFamily="2" charset="-122"/>
                <a:cs typeface="黑体" panose="02010609060101010101" pitchFamily="2" charset="-122"/>
              </a:rPr>
              <a:t>：每个汉字的拼音首字母的</a:t>
            </a:r>
            <a:r>
              <a:rPr lang="en-US" altLang="zh-CN" dirty="0">
                <a:latin typeface="黑体" panose="02010609060101010101" pitchFamily="2" charset="-122"/>
                <a:ea typeface="黑体" panose="02010609060101010101" pitchFamily="2" charset="-122"/>
                <a:cs typeface="黑体" panose="02010609060101010101" pitchFamily="2" charset="-122"/>
              </a:rPr>
              <a:t>ASCII</a:t>
            </a:r>
            <a:r>
              <a:rPr lang="zh-CN" altLang="en-US" dirty="0">
                <a:latin typeface="黑体" panose="02010609060101010101" pitchFamily="2" charset="-122"/>
                <a:ea typeface="黑体" panose="02010609060101010101" pitchFamily="2" charset="-122"/>
                <a:cs typeface="黑体" panose="02010609060101010101" pitchFamily="2" charset="-122"/>
              </a:rPr>
              <a:t>码求和（结果是八进制），把八进制看成十进制，取模</a:t>
            </a:r>
            <a:r>
              <a:rPr lang="en-US" altLang="zh-CN" dirty="0">
                <a:latin typeface="黑体" panose="02010609060101010101" pitchFamily="2" charset="-122"/>
                <a:ea typeface="黑体" panose="02010609060101010101" pitchFamily="2" charset="-122"/>
                <a:cs typeface="黑体" panose="02010609060101010101" pitchFamily="2" charset="-122"/>
              </a:rPr>
              <a:t>30</a:t>
            </a:r>
            <a:r>
              <a:rPr lang="zh-CN" altLang="en-US" dirty="0">
                <a:latin typeface="黑体" panose="02010609060101010101" pitchFamily="2" charset="-122"/>
                <a:ea typeface="黑体" panose="02010609060101010101" pitchFamily="2" charset="-122"/>
                <a:cs typeface="黑体" panose="02010609060101010101" pitchFamily="2" charset="-122"/>
              </a:rPr>
              <a:t>得到位置</a:t>
            </a: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111</a:t>
            </a:fld>
            <a:endParaRPr lang="zh-CN" altLang="en-US"/>
          </a:p>
        </p:txBody>
      </p:sp>
      <p:pic>
        <p:nvPicPr>
          <p:cNvPr id="6" name="图片 5"/>
          <p:cNvPicPr>
            <a:picLocks noChangeAspect="1"/>
          </p:cNvPicPr>
          <p:nvPr/>
        </p:nvPicPr>
        <p:blipFill>
          <a:blip r:embed="rId2"/>
          <a:stretch>
            <a:fillRect/>
          </a:stretch>
        </p:blipFill>
        <p:spPr>
          <a:xfrm>
            <a:off x="1847215" y="4364990"/>
            <a:ext cx="8459470" cy="2379980"/>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墨迹 4">
                <a:extLst>
                  <a:ext uri="{FF2B5EF4-FFF2-40B4-BE49-F238E27FC236}">
                    <a16:creationId xmlns:a16="http://schemas.microsoft.com/office/drawing/2014/main" id="{4A369D84-F8E7-4465-8738-2EC285CF8C73}"/>
                  </a:ext>
                </a:extLst>
              </p14:cNvPr>
              <p14:cNvContentPartPr/>
              <p14:nvPr/>
            </p14:nvContentPartPr>
            <p14:xfrm>
              <a:off x="6165720" y="736560"/>
              <a:ext cx="360" cy="360"/>
            </p14:xfrm>
          </p:contentPart>
        </mc:Choice>
        <mc:Fallback>
          <p:pic>
            <p:nvPicPr>
              <p:cNvPr id="5" name="墨迹 4">
                <a:extLst>
                  <a:ext uri="{FF2B5EF4-FFF2-40B4-BE49-F238E27FC236}">
                    <a16:creationId xmlns:a16="http://schemas.microsoft.com/office/drawing/2014/main" id="{4A369D84-F8E7-4465-8738-2EC285CF8C73}"/>
                  </a:ext>
                </a:extLst>
              </p:cNvPr>
              <p:cNvPicPr/>
              <p:nvPr/>
            </p:nvPicPr>
            <p:blipFill>
              <a:blip r:embed="rId4"/>
              <a:stretch>
                <a:fillRect/>
              </a:stretch>
            </p:blipFill>
            <p:spPr>
              <a:xfrm>
                <a:off x="6156360" y="727200"/>
                <a:ext cx="19080" cy="19080"/>
              </a:xfrm>
              <a:prstGeom prst="rect">
                <a:avLst/>
              </a:prstGeom>
            </p:spPr>
          </p:pic>
        </mc:Fallback>
      </mc:AlternateContent>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不同的记录映射到同一个哈希地址上，这种现象称为哈希冲突</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对于关键字</a:t>
            </a:r>
            <a:r>
              <a:rPr lang="zh-CN" altLang="en-US" sz="24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k</a:t>
            </a:r>
            <a:r>
              <a:rPr lang="zh-CN" altLang="en-US" sz="24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i</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和</a:t>
            </a:r>
            <a:r>
              <a:rPr lang="zh-CN" altLang="en-US" sz="24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k</a:t>
            </a:r>
            <a:r>
              <a:rPr lang="zh-CN" altLang="en-US" sz="24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j</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若k</a:t>
            </a:r>
            <a:r>
              <a:rPr lang="zh-CN" altLang="en-US" sz="24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i</a:t>
            </a:r>
            <a:r>
              <a:rPr lang="zh-CN" altLang="en-US" sz="24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k</a:t>
            </a:r>
            <a:r>
              <a:rPr lang="zh-CN" altLang="en-US" sz="24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j</a:t>
            </a:r>
            <a:r>
              <a:rPr lang="zh-CN" altLang="en-US" sz="24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但H(k</a:t>
            </a:r>
            <a:r>
              <a:rPr lang="zh-CN" altLang="en-US" sz="24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i</a:t>
            </a:r>
            <a:r>
              <a:rPr lang="zh-CN" altLang="en-US" sz="24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)=H(k</a:t>
            </a:r>
            <a:r>
              <a:rPr lang="zh-CN" altLang="en-US" sz="24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j</a:t>
            </a:r>
            <a:r>
              <a:rPr lang="zh-CN" altLang="en-US" sz="24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的现象叫冲突(collision)</a:t>
            </a: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关键字</a:t>
            </a:r>
            <a:r>
              <a:rPr lang="zh-CN" altLang="en-US"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k</a:t>
            </a:r>
            <a:r>
              <a:rPr lang="zh-CN" altLang="en-US"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i</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和</a:t>
            </a:r>
            <a:r>
              <a:rPr lang="zh-CN" altLang="en-US"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k</a:t>
            </a:r>
            <a:r>
              <a:rPr lang="zh-CN" altLang="en-US"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j</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称为同义词</a:t>
            </a:r>
            <a:endParaRPr lang="zh-CN" altLang="en-US" sz="2800" b="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冲突举例</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我国省名称列表，以名称拼音的首字母为关键字，哈希函数是字母ASCII码之和，取八进制值作为十进制值，模30后的值为地址</a:t>
            </a:r>
            <a:endParaRPr lang="zh-CN" altLang="en-US" sz="20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河北拼音HE BEI，关键字HB的ASCII码和作为十进制的226，模30的值为16，即地址为16</a:t>
            </a:r>
            <a:endParaRPr lang="zh-CN" altLang="en-US" sz="20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河南拼音HE NAN，关键字HN的ASCII码和作为十进制的226，模30的值为16，即地址为16</a:t>
            </a:r>
            <a:endParaRPr lang="zh-CN" altLang="en-US" sz="20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112</a:t>
            </a:fld>
            <a:endParaRPr lang="zh-CN" altLang="en-US"/>
          </a:p>
        </p:txBody>
      </p:sp>
      <p:pic>
        <p:nvPicPr>
          <p:cNvPr id="5" name="图片 4"/>
          <p:cNvPicPr>
            <a:picLocks noChangeAspect="1"/>
          </p:cNvPicPr>
          <p:nvPr/>
        </p:nvPicPr>
        <p:blipFill>
          <a:blip r:embed="rId2"/>
          <a:stretch>
            <a:fillRect/>
          </a:stretch>
        </p:blipFill>
        <p:spPr>
          <a:xfrm>
            <a:off x="1775460" y="4293235"/>
            <a:ext cx="8684895" cy="244348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哈希查找包含三个主要内容</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哈希函数：在记录的关键字与记录的存储地址之间建立的一种对应关系叫哈希函数</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解决哈希冲突方法：出现哈希冲突，寻找记录新的位置</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构建哈希表：应用哈希函数和解决哈希冲突的方法，由关键字确定记录在表中的地址，并将记录放入此地址，这样构成的表叫哈希表</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哈希查找包含操作</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构建哈希表，把输入数据，使用哈希函数和解决冲突方法构建哈希表</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哈希查找，哈希表构建后，使用哈希函数</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和解决冲突方法</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进行查找</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哈希插入，若查找失败，把新元素</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使用哈希函数和解决冲突方法进行插入</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113</a:t>
            </a:fld>
            <a:endParaRPr lang="zh-CN"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哈希函数的功能：从一个大的集合（关键字的取值范围可能很大）到一个小的集合（哈希表空间有限）的映射</a:t>
            </a: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rPr>
              <a:t>哈希函数的均匀性：</a:t>
            </a:r>
            <a:r>
              <a:rPr lang="zh-CN" altLang="en-US" sz="2800" dirty="0">
                <a:latin typeface="黑体" panose="02010609060101010101" pitchFamily="2" charset="-122"/>
                <a:ea typeface="黑体" panose="02010609060101010101" pitchFamily="2" charset="-122"/>
                <a:cs typeface="+mn-ea"/>
                <a:sym typeface="+mn-ea"/>
              </a:rPr>
              <a:t>好的哈希函数对于记录中的任何关键字，将其映射到地址集合中任何一个地址的概率应该是相等的</a:t>
            </a:r>
            <a:endParaRPr lang="zh-CN" altLang="en-US" sz="280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哈希函数的设计要求</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哈希函数应是简单的，能在较短的时间内计算出结果</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哈希函数的定义域必须包括需要存储的全部关键字，如果哈希表允许有 m 个地址时，其值域必须在 0 到 m-1 之间 </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哈希函数计算出来的地址应能均匀分布在整个地址空间中</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114</a:t>
            </a:fld>
            <a:endParaRPr lang="zh-CN" alt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哈希函数设计</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直接定址法，不会出现哈希冲突</a:t>
            </a:r>
          </a:p>
          <a:p>
            <a:pPr lvl="1" algn="l" eaLnBrk="1" hangingPunct="1">
              <a:buClrTx/>
              <a:buSzTx/>
              <a:buChar char="•"/>
            </a:pPr>
            <a:r>
              <a:rPr lang="zh-CN" altLang="en-US" sz="2400" b="0" dirty="0">
                <a:latin typeface="黑体" panose="02010609060101010101" pitchFamily="2" charset="-122"/>
                <a:ea typeface="黑体" panose="02010609060101010101" pitchFamily="2" charset="-122"/>
                <a:cs typeface="黑体" panose="02010609060101010101" pitchFamily="2" charset="-122"/>
              </a:rPr>
              <a:t>数字分析法</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平方取中法</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折叠法</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除留余数法，即取模法</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随机数法</a:t>
            </a: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115</a:t>
            </a:fld>
            <a:endParaRPr lang="zh-CN"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直接定址法，哈希函数取关键字的线性函数</a:t>
            </a:r>
            <a:endParaRPr lang="zh-CN" altLang="en-US" sz="2800" b="0" dirty="0">
              <a:latin typeface="黑体" panose="02010609060101010101" pitchFamily="2" charset="-122"/>
              <a:ea typeface="黑体" panose="02010609060101010101" pitchFamily="2" charset="-122"/>
              <a:cs typeface="+mn-ea"/>
            </a:endParaRPr>
          </a:p>
          <a:p>
            <a:pPr marL="609600" indent="-609600" eaLnBrk="1" hangingPunct="1">
              <a:spcBef>
                <a:spcPct val="5000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H(key) = a</a:t>
            </a:r>
            <a:r>
              <a:rPr lang="en-US" altLang="zh-CN" sz="2400" dirty="0">
                <a:latin typeface="Arial" panose="020B0604020202020204" pitchFamily="34" charset="0"/>
                <a:ea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sym typeface="+mn-ea"/>
              </a:rPr>
              <a:t>key</a:t>
            </a:r>
            <a:r>
              <a:rPr lang="en-US" altLang="zh-CN" sz="2400" dirty="0">
                <a:latin typeface="宋体" panose="02010600030101010101" pitchFamily="2" charset="-122"/>
                <a:ea typeface="宋体" panose="02010600030101010101" pitchFamily="2" charset="-122"/>
                <a:sym typeface="+mn-ea"/>
              </a:rPr>
              <a:t>＋</a:t>
            </a:r>
            <a:r>
              <a:rPr lang="en-US" altLang="zh-CN" sz="2400" dirty="0">
                <a:latin typeface="黑体" panose="02010609060101010101" pitchFamily="2" charset="-122"/>
                <a:ea typeface="黑体" panose="02010609060101010101" pitchFamily="2" charset="-122"/>
                <a:sym typeface="+mn-ea"/>
              </a:rPr>
              <a:t>b</a:t>
            </a:r>
            <a:r>
              <a:rPr lang="zh-CN" altLang="en-US" sz="2400" dirty="0">
                <a:latin typeface="黑体" panose="02010609060101010101" pitchFamily="2" charset="-122"/>
                <a:ea typeface="黑体" panose="02010609060101010101" pitchFamily="2" charset="-122"/>
                <a:sym typeface="+mn-ea"/>
              </a:rPr>
              <a:t>，其中</a:t>
            </a:r>
            <a:r>
              <a:rPr lang="en-US" altLang="zh-CN" sz="2400" dirty="0">
                <a:latin typeface="黑体" panose="02010609060101010101" pitchFamily="2" charset="-122"/>
                <a:ea typeface="黑体" panose="02010609060101010101" pitchFamily="2" charset="-122"/>
                <a:sym typeface="+mn-ea"/>
              </a:rPr>
              <a:t>a</a:t>
            </a:r>
            <a:r>
              <a:rPr lang="zh-CN" altLang="en-US" sz="2400" dirty="0">
                <a:latin typeface="黑体" panose="02010609060101010101" pitchFamily="2" charset="-122"/>
                <a:ea typeface="黑体" panose="02010609060101010101" pitchFamily="2" charset="-122"/>
                <a:sym typeface="+mn-ea"/>
              </a:rPr>
              <a:t>和</a:t>
            </a:r>
            <a:r>
              <a:rPr lang="en-US" altLang="zh-CN" sz="2400" dirty="0">
                <a:latin typeface="黑体" panose="02010609060101010101" pitchFamily="2" charset="-122"/>
                <a:ea typeface="黑体" panose="02010609060101010101" pitchFamily="2" charset="-122"/>
                <a:sym typeface="+mn-ea"/>
              </a:rPr>
              <a:t>b</a:t>
            </a:r>
            <a:r>
              <a:rPr lang="zh-CN" altLang="en-US" sz="2400" dirty="0">
                <a:latin typeface="黑体" panose="02010609060101010101" pitchFamily="2" charset="-122"/>
                <a:ea typeface="黑体" panose="02010609060101010101" pitchFamily="2" charset="-122"/>
                <a:sym typeface="+mn-ea"/>
              </a:rPr>
              <a:t>为常数</a:t>
            </a:r>
          </a:p>
          <a:p>
            <a:pPr marL="609600" indent="-609600" eaLnBrk="1" hangingPunct="1">
              <a:spcBef>
                <a:spcPct val="50000"/>
              </a:spcBef>
              <a:buClr>
                <a:schemeClr val="accent1"/>
              </a:buClr>
              <a:buSzTx/>
              <a:buFont typeface="Wingdings" panose="05000000000000000000" pitchFamily="2" charset="2"/>
              <a:buNone/>
            </a:pPr>
            <a:endParaRPr lang="zh-CN" altLang="en-US" sz="2400" b="0" dirty="0">
              <a:latin typeface="黑体" panose="02010609060101010101" pitchFamily="2" charset="-122"/>
              <a:ea typeface="黑体" panose="02010609060101010101" pitchFamily="2" charset="-122"/>
              <a:sym typeface="+mn-ea"/>
            </a:endParaRPr>
          </a:p>
          <a:p>
            <a:pPr marL="0" lvl="1" indent="-609600" eaLnBrk="1" hangingPunct="1">
              <a:spcBef>
                <a:spcPct val="50000"/>
              </a:spcBef>
              <a:buClr>
                <a:schemeClr val="accent1"/>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sym typeface="+mn-ea"/>
              </a:rPr>
              <a:t>例如下表设计的哈希函数</a:t>
            </a:r>
            <a:r>
              <a:rPr lang="en-US" altLang="zh-CN" dirty="0">
                <a:latin typeface="黑体" panose="02010609060101010101" pitchFamily="2" charset="-122"/>
                <a:ea typeface="黑体" panose="02010609060101010101" pitchFamily="2" charset="-122"/>
                <a:sym typeface="+mn-ea"/>
              </a:rPr>
              <a:t>H(key) = key</a:t>
            </a:r>
            <a:r>
              <a:rPr lang="en-US" altLang="zh-CN" dirty="0">
                <a:latin typeface="宋体" panose="02010600030101010101" pitchFamily="2" charset="-122"/>
                <a:ea typeface="宋体" panose="02010600030101010101" pitchFamily="2" charset="-122"/>
                <a:sym typeface="+mn-ea"/>
              </a:rPr>
              <a:t>－</a:t>
            </a:r>
            <a:r>
              <a:rPr lang="en-US" altLang="zh-CN" dirty="0">
                <a:latin typeface="黑体" panose="02010609060101010101" pitchFamily="2" charset="-122"/>
                <a:ea typeface="黑体" panose="02010609060101010101" pitchFamily="2" charset="-122"/>
                <a:sym typeface="+mn-ea"/>
              </a:rPr>
              <a:t>2005131000</a:t>
            </a:r>
            <a:r>
              <a:rPr lang="zh-CN" altLang="en-US" dirty="0">
                <a:latin typeface="黑体" panose="02010609060101010101" pitchFamily="2" charset="-122"/>
                <a:ea typeface="黑体" panose="02010609060101010101" pitchFamily="2" charset="-122"/>
                <a:sym typeface="+mn-ea"/>
              </a:rPr>
              <a:t>，从表中可以看出数据存储的位置不一定是连续的</a:t>
            </a:r>
            <a:endParaRPr lang="zh-CN" altLang="en-US"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endParaRPr lang="zh-CN" altLang="en-US" sz="2400" b="0" dirty="0">
              <a:latin typeface="黑体" panose="02010609060101010101" pitchFamily="2" charset="-122"/>
              <a:ea typeface="黑体" panose="02010609060101010101" pitchFamily="2" charset="-122"/>
            </a:endParaRPr>
          </a:p>
          <a:p>
            <a:pPr marL="965200" lvl="1" indent="-508000" eaLnBrk="1" hangingPunct="1">
              <a:buClr>
                <a:schemeClr val="accent2"/>
              </a:buClr>
              <a:buFont typeface="Wingdings" panose="05000000000000000000" pitchFamily="2" charset="2"/>
              <a:buChar char="q"/>
            </a:pPr>
            <a:endParaRPr lang="zh-CN" altLang="en-US" sz="2400" b="0" dirty="0">
              <a:latin typeface="黑体" panose="02010609060101010101" pitchFamily="2" charset="-122"/>
              <a:ea typeface="黑体" panose="02010609060101010101" pitchFamily="2" charset="-122"/>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116</a:t>
            </a:fld>
            <a:endParaRPr lang="zh-CN" altLang="en-US"/>
          </a:p>
        </p:txBody>
      </p:sp>
      <p:graphicFrame>
        <p:nvGraphicFramePr>
          <p:cNvPr id="1003524" name="Group 4"/>
          <p:cNvGraphicFramePr>
            <a:graphicFrameLocks noGrp="1"/>
          </p:cNvGraphicFramePr>
          <p:nvPr>
            <p:custDataLst>
              <p:tags r:id="rId1"/>
            </p:custDataLst>
          </p:nvPr>
        </p:nvGraphicFramePr>
        <p:xfrm>
          <a:off x="1559243" y="3572828"/>
          <a:ext cx="7776845" cy="2346960"/>
        </p:xfrm>
        <a:graphic>
          <a:graphicData uri="http://schemas.openxmlformats.org/drawingml/2006/table">
            <a:tbl>
              <a:tblPr/>
              <a:tblGrid>
                <a:gridCol w="810895">
                  <a:extLst>
                    <a:ext uri="{9D8B030D-6E8A-4147-A177-3AD203B41FA5}">
                      <a16:colId xmlns:a16="http://schemas.microsoft.com/office/drawing/2014/main" val="20000"/>
                    </a:ext>
                  </a:extLst>
                </a:gridCol>
                <a:gridCol w="2311400">
                  <a:extLst>
                    <a:ext uri="{9D8B030D-6E8A-4147-A177-3AD203B41FA5}">
                      <a16:colId xmlns:a16="http://schemas.microsoft.com/office/drawing/2014/main" val="20001"/>
                    </a:ext>
                  </a:extLst>
                </a:gridCol>
                <a:gridCol w="1710055">
                  <a:extLst>
                    <a:ext uri="{9D8B030D-6E8A-4147-A177-3AD203B41FA5}">
                      <a16:colId xmlns:a16="http://schemas.microsoft.com/office/drawing/2014/main" val="20002"/>
                    </a:ext>
                  </a:extLst>
                </a:gridCol>
                <a:gridCol w="509270">
                  <a:extLst>
                    <a:ext uri="{9D8B030D-6E8A-4147-A177-3AD203B41FA5}">
                      <a16:colId xmlns:a16="http://schemas.microsoft.com/office/drawing/2014/main" val="20003"/>
                    </a:ext>
                  </a:extLst>
                </a:gridCol>
                <a:gridCol w="2435225">
                  <a:extLst>
                    <a:ext uri="{9D8B030D-6E8A-4147-A177-3AD203B41FA5}">
                      <a16:colId xmlns:a16="http://schemas.microsoft.com/office/drawing/2014/main" val="20004"/>
                    </a:ext>
                  </a:extLst>
                </a:gridCol>
              </a:tblGrid>
              <a:tr h="33528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003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2005131003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朱嘉成</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信息工程学院</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005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2005131005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陈乾</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信息工程学院</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006</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2005131006</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桂许升</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信息工程学院</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007</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2005131007</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罗杨洋</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信息工程学院</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008</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2005131008</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叶建行</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信息工程学院</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28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009</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2005131009</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曹亚仑</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信息工程学院</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28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012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2005131012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欧东</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信息工程学院</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直接定址法的特性</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mn-ea"/>
                <a:sym typeface="+mn-ea"/>
              </a:rPr>
              <a:t>直接定址法仅适合于地址集合的大小与关键字集合的大小相等的情况</a:t>
            </a:r>
          </a:p>
          <a:p>
            <a:pPr lvl="1" algn="l" eaLnBrk="1" hangingPunct="1">
              <a:buClrTx/>
              <a:buSzTx/>
              <a:buChar char="•"/>
            </a:pPr>
            <a:r>
              <a:rPr lang="en-US" altLang="zh-CN" dirty="0">
                <a:latin typeface="黑体" panose="02010609060101010101" pitchFamily="2" charset="-122"/>
                <a:ea typeface="黑体" panose="02010609060101010101" pitchFamily="2" charset="-122"/>
                <a:cs typeface="+mn-ea"/>
                <a:sym typeface="+mn-ea"/>
              </a:rPr>
              <a:t>直接定址法</a:t>
            </a:r>
            <a:r>
              <a:rPr lang="zh-CN" altLang="en-US" dirty="0">
                <a:latin typeface="黑体" panose="02010609060101010101" pitchFamily="2" charset="-122"/>
                <a:ea typeface="黑体" panose="02010609060101010101" pitchFamily="2" charset="-122"/>
                <a:cs typeface="+mn-ea"/>
                <a:sym typeface="+mn-ea"/>
              </a:rPr>
              <a:t>不会发生哈希冲突</a:t>
            </a:r>
            <a:endParaRPr lang="en-US" altLang="zh-CN"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mn-ea"/>
                <a:sym typeface="+mn-ea"/>
              </a:rPr>
              <a:t>当a=1，b=0时，H(key)=key，即用关键字作地址，在实际应用中能使用这种哈希函数的情况很少</a:t>
            </a:r>
          </a:p>
          <a:p>
            <a:pPr lvl="1" algn="l" eaLnBrk="1" hangingPunct="1">
              <a:buClrTx/>
              <a:buSzTx/>
              <a:buChar char="•"/>
            </a:pPr>
            <a:endParaRPr lang="en-US" altLang="zh-CN"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117</a:t>
            </a:fld>
            <a:endParaRPr lang="zh-CN" alt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数字分析法</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mn-ea"/>
                <a:sym typeface="+mn-ea"/>
              </a:rPr>
              <a:t>假设关键字集合中的每个关键字都是由k位数字组成 (u</a:t>
            </a:r>
            <a:r>
              <a:rPr lang="en-US" altLang="zh-CN" sz="2400" baseline="-25000" dirty="0">
                <a:latin typeface="黑体" panose="02010609060101010101" pitchFamily="2" charset="-122"/>
                <a:ea typeface="黑体" panose="02010609060101010101" pitchFamily="2" charset="-122"/>
                <a:cs typeface="+mn-ea"/>
                <a:sym typeface="+mn-ea"/>
              </a:rPr>
              <a:t>1</a:t>
            </a:r>
            <a:r>
              <a:rPr lang="en-US" altLang="zh-CN" sz="2400" dirty="0">
                <a:latin typeface="黑体" panose="02010609060101010101" pitchFamily="2" charset="-122"/>
                <a:ea typeface="黑体" panose="02010609060101010101" pitchFamily="2" charset="-122"/>
                <a:cs typeface="+mn-ea"/>
                <a:sym typeface="+mn-ea"/>
              </a:rPr>
              <a:t>, u</a:t>
            </a:r>
            <a:r>
              <a:rPr lang="en-US" altLang="zh-CN" sz="2400" baseline="-25000" dirty="0">
                <a:latin typeface="黑体" panose="02010609060101010101" pitchFamily="2" charset="-122"/>
                <a:ea typeface="黑体" panose="02010609060101010101" pitchFamily="2" charset="-122"/>
                <a:cs typeface="+mn-ea"/>
                <a:sym typeface="+mn-ea"/>
              </a:rPr>
              <a:t>2</a:t>
            </a:r>
            <a:r>
              <a:rPr lang="en-US" altLang="zh-CN" sz="2400" dirty="0">
                <a:latin typeface="黑体" panose="02010609060101010101" pitchFamily="2" charset="-122"/>
                <a:ea typeface="黑体" panose="02010609060101010101" pitchFamily="2" charset="-122"/>
                <a:cs typeface="+mn-ea"/>
                <a:sym typeface="+mn-ea"/>
              </a:rPr>
              <a:t>, …, u</a:t>
            </a:r>
            <a:r>
              <a:rPr lang="en-US" altLang="zh-CN" sz="2400" baseline="-25000" dirty="0">
                <a:latin typeface="黑体" panose="02010609060101010101" pitchFamily="2" charset="-122"/>
                <a:ea typeface="黑体" panose="02010609060101010101" pitchFamily="2" charset="-122"/>
                <a:cs typeface="+mn-ea"/>
                <a:sym typeface="+mn-ea"/>
              </a:rPr>
              <a:t>k</a:t>
            </a:r>
            <a:r>
              <a:rPr lang="en-US" altLang="zh-CN" sz="2400" dirty="0">
                <a:latin typeface="黑体" panose="02010609060101010101" pitchFamily="2" charset="-122"/>
                <a:ea typeface="黑体" panose="02010609060101010101" pitchFamily="2" charset="-122"/>
                <a:cs typeface="+mn-ea"/>
                <a:sym typeface="+mn-ea"/>
              </a:rPr>
              <a:t>)</a:t>
            </a:r>
            <a:endParaRPr lang="en-US" altLang="zh-CN"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mn-ea"/>
                <a:sym typeface="+mn-ea"/>
              </a:rPr>
              <a:t>分析关键字</a:t>
            </a:r>
            <a:r>
              <a:rPr lang="zh-CN" altLang="en-US" sz="2400" dirty="0">
                <a:latin typeface="黑体" panose="02010609060101010101" pitchFamily="2" charset="-122"/>
                <a:ea typeface="黑体" panose="02010609060101010101" pitchFamily="2" charset="-122"/>
                <a:cs typeface="+mn-ea"/>
                <a:sym typeface="+mn-ea"/>
              </a:rPr>
              <a:t>共同特征</a:t>
            </a:r>
            <a:r>
              <a:rPr lang="en-US" altLang="zh-CN" sz="2400" dirty="0">
                <a:latin typeface="黑体" panose="02010609060101010101" pitchFamily="2" charset="-122"/>
                <a:ea typeface="黑体" panose="02010609060101010101" pitchFamily="2" charset="-122"/>
                <a:cs typeface="+mn-ea"/>
                <a:sym typeface="+mn-ea"/>
              </a:rPr>
              <a:t>，从中提取分布均匀的若干位或它们的组合作为地址</a:t>
            </a:r>
          </a:p>
          <a:p>
            <a:pPr lvl="1" algn="l" eaLnBrk="1" hangingPunct="1">
              <a:buClrTx/>
              <a:buSzTx/>
              <a:buChar char="•"/>
            </a:pPr>
            <a:endParaRPr lang="en-US" altLang="zh-CN"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118</a:t>
            </a:fld>
            <a:endParaRPr lang="zh-CN" altLang="en-US"/>
          </a:p>
        </p:txBody>
      </p:sp>
      <p:grpSp>
        <p:nvGrpSpPr>
          <p:cNvPr id="6" name="组合 5"/>
          <p:cNvGrpSpPr/>
          <p:nvPr/>
        </p:nvGrpSpPr>
        <p:grpSpPr>
          <a:xfrm>
            <a:off x="2063750" y="2420620"/>
            <a:ext cx="8072755" cy="3846830"/>
            <a:chOff x="3250" y="3812"/>
            <a:chExt cx="12713" cy="6058"/>
          </a:xfrm>
        </p:grpSpPr>
        <p:grpSp>
          <p:nvGrpSpPr>
            <p:cNvPr id="143364" name="Group 4"/>
            <p:cNvGrpSpPr/>
            <p:nvPr/>
          </p:nvGrpSpPr>
          <p:grpSpPr>
            <a:xfrm>
              <a:off x="3363" y="3812"/>
              <a:ext cx="12600" cy="6058"/>
              <a:chOff x="475" y="1434"/>
              <a:chExt cx="5040" cy="2423"/>
            </a:xfrm>
          </p:grpSpPr>
          <p:grpSp>
            <p:nvGrpSpPr>
              <p:cNvPr id="143365" name="Group 5"/>
              <p:cNvGrpSpPr/>
              <p:nvPr/>
            </p:nvGrpSpPr>
            <p:grpSpPr>
              <a:xfrm>
                <a:off x="3787" y="1434"/>
                <a:ext cx="1728" cy="2320"/>
                <a:chOff x="3648" y="1792"/>
                <a:chExt cx="1728" cy="2320"/>
              </a:xfrm>
            </p:grpSpPr>
            <p:grpSp>
              <p:nvGrpSpPr>
                <p:cNvPr id="143366" name="Group 6"/>
                <p:cNvGrpSpPr/>
                <p:nvPr/>
              </p:nvGrpSpPr>
              <p:grpSpPr>
                <a:xfrm>
                  <a:off x="3688" y="1958"/>
                  <a:ext cx="1664" cy="2154"/>
                  <a:chOff x="987" y="1782"/>
                  <a:chExt cx="1297" cy="2154"/>
                </a:xfrm>
              </p:grpSpPr>
              <p:sp>
                <p:nvSpPr>
                  <p:cNvPr id="143367" name="Text Box 7"/>
                  <p:cNvSpPr txBox="1"/>
                  <p:nvPr/>
                </p:nvSpPr>
                <p:spPr>
                  <a:xfrm>
                    <a:off x="987" y="2017"/>
                    <a:ext cx="1297" cy="1919"/>
                  </a:xfrm>
                  <a:prstGeom prst="rect">
                    <a:avLst/>
                  </a:prstGeom>
                  <a:noFill/>
                  <a:ln w="9525">
                    <a:noFill/>
                  </a:ln>
                </p:spPr>
                <p:txBody>
                  <a:bodyPr wrap="none" anchor="t" anchorCtr="0">
                    <a:spAutoFit/>
                  </a:bodyPr>
                  <a:lstStyle/>
                  <a:p>
                    <a:r>
                      <a:rPr lang="en-US" altLang="zh-CN" sz="2400" b="1" dirty="0">
                        <a:latin typeface="黑体" panose="02010609060101010101" pitchFamily="2" charset="-122"/>
                        <a:ea typeface="黑体" panose="02010609060101010101" pitchFamily="2" charset="-122"/>
                      </a:rPr>
                      <a:t>8 1 3 4 6 5 3 2</a:t>
                    </a:r>
                  </a:p>
                  <a:p>
                    <a:r>
                      <a:rPr lang="en-US" altLang="zh-CN" sz="2400" b="1" dirty="0">
                        <a:latin typeface="黑体" panose="02010609060101010101" pitchFamily="2" charset="-122"/>
                        <a:ea typeface="黑体" panose="02010609060101010101" pitchFamily="2" charset="-122"/>
                      </a:rPr>
                      <a:t>8 1 3 7 2 2 4 2</a:t>
                    </a:r>
                  </a:p>
                  <a:p>
                    <a:r>
                      <a:rPr lang="en-US" altLang="zh-CN" sz="2400" b="1" dirty="0">
                        <a:latin typeface="黑体" panose="02010609060101010101" pitchFamily="2" charset="-122"/>
                        <a:ea typeface="黑体" panose="02010609060101010101" pitchFamily="2" charset="-122"/>
                      </a:rPr>
                      <a:t>8 1 3 8 7 4 2 2</a:t>
                    </a:r>
                  </a:p>
                  <a:p>
                    <a:r>
                      <a:rPr lang="en-US" altLang="zh-CN" sz="2400" b="1" dirty="0">
                        <a:latin typeface="黑体" panose="02010609060101010101" pitchFamily="2" charset="-122"/>
                        <a:ea typeface="黑体" panose="02010609060101010101" pitchFamily="2" charset="-122"/>
                      </a:rPr>
                      <a:t>8 1 3 0 1 3 6 7</a:t>
                    </a:r>
                  </a:p>
                  <a:p>
                    <a:r>
                      <a:rPr lang="en-US" altLang="zh-CN" sz="2400" b="1" dirty="0">
                        <a:latin typeface="黑体" panose="02010609060101010101" pitchFamily="2" charset="-122"/>
                        <a:ea typeface="黑体" panose="02010609060101010101" pitchFamily="2" charset="-122"/>
                      </a:rPr>
                      <a:t>8 1 3 2 2 8 1 7 </a:t>
                    </a:r>
                  </a:p>
                  <a:p>
                    <a:r>
                      <a:rPr lang="en-US" altLang="zh-CN" sz="2400" b="1" dirty="0">
                        <a:latin typeface="黑体" panose="02010609060101010101" pitchFamily="2" charset="-122"/>
                        <a:ea typeface="黑体" panose="02010609060101010101" pitchFamily="2" charset="-122"/>
                      </a:rPr>
                      <a:t>8 1 3 3 8 9 6 7</a:t>
                    </a:r>
                  </a:p>
                  <a:p>
                    <a:r>
                      <a:rPr lang="en-US" altLang="zh-CN" sz="2400" b="1" dirty="0">
                        <a:latin typeface="黑体" panose="02010609060101010101" pitchFamily="2" charset="-122"/>
                        <a:ea typeface="黑体" panose="02010609060101010101" pitchFamily="2" charset="-122"/>
                      </a:rPr>
                      <a:t>8 1 3 6 8 5 3 7</a:t>
                    </a:r>
                  </a:p>
                  <a:p>
                    <a:r>
                      <a:rPr lang="en-US" altLang="zh-CN" sz="2400" b="1" dirty="0">
                        <a:latin typeface="黑体" panose="02010609060101010101" pitchFamily="2" charset="-122"/>
                        <a:ea typeface="黑体" panose="02010609060101010101" pitchFamily="2" charset="-122"/>
                      </a:rPr>
                      <a:t>8 1 4 1 9 3 5 5</a:t>
                    </a:r>
                  </a:p>
                </p:txBody>
              </p:sp>
              <p:sp>
                <p:nvSpPr>
                  <p:cNvPr id="143368" name="Text Box 8"/>
                  <p:cNvSpPr txBox="1"/>
                  <p:nvPr/>
                </p:nvSpPr>
                <p:spPr>
                  <a:xfrm>
                    <a:off x="1456" y="1782"/>
                    <a:ext cx="270" cy="448"/>
                  </a:xfrm>
                  <a:prstGeom prst="rect">
                    <a:avLst/>
                  </a:prstGeom>
                  <a:noFill/>
                  <a:ln w="9525">
                    <a:noFill/>
                  </a:ln>
                </p:spPr>
                <p:txBody>
                  <a:bodyPr vert="eaVert" wrap="none" anchor="t" anchorCtr="0">
                    <a:spAutoFit/>
                  </a:bodyPr>
                  <a:lstStyle/>
                  <a:p>
                    <a:r>
                      <a:rPr lang="en-US" altLang="zh-CN" sz="2400" b="1" dirty="0">
                        <a:latin typeface="Times New Roman" panose="02020603050405020304" pitchFamily="18" charset="0"/>
                        <a:ea typeface="黑体" panose="02010609060101010101" pitchFamily="2" charset="-122"/>
                      </a:rPr>
                      <a:t>…</a:t>
                    </a:r>
                    <a:r>
                      <a:rPr lang="en-US" altLang="zh-CN" sz="2400" b="1" dirty="0">
                        <a:latin typeface="黑体" panose="02010609060101010101" pitchFamily="2" charset="-122"/>
                        <a:ea typeface="黑体" panose="02010609060101010101" pitchFamily="2" charset="-122"/>
                      </a:rPr>
                      <a:t>..</a:t>
                    </a:r>
                  </a:p>
                </p:txBody>
              </p:sp>
              <p:sp>
                <p:nvSpPr>
                  <p:cNvPr id="143369" name="Text Box 9"/>
                  <p:cNvSpPr txBox="1"/>
                  <p:nvPr/>
                </p:nvSpPr>
                <p:spPr>
                  <a:xfrm>
                    <a:off x="1512" y="3615"/>
                    <a:ext cx="270" cy="139"/>
                  </a:xfrm>
                  <a:prstGeom prst="rect">
                    <a:avLst/>
                  </a:prstGeom>
                  <a:noFill/>
                  <a:ln w="9525">
                    <a:noFill/>
                  </a:ln>
                </p:spPr>
                <p:txBody>
                  <a:bodyPr vert="eaVert" wrap="none" anchor="t" anchorCtr="0">
                    <a:spAutoFit/>
                  </a:bodyPr>
                  <a:lstStyle/>
                  <a:p>
                    <a:endParaRPr lang="zh-CN" altLang="zh-CN" sz="2400" b="1" dirty="0">
                      <a:latin typeface="黑体" panose="02010609060101010101" pitchFamily="2" charset="-122"/>
                      <a:ea typeface="黑体" panose="02010609060101010101" pitchFamily="2" charset="-122"/>
                    </a:endParaRPr>
                  </a:p>
                </p:txBody>
              </p:sp>
            </p:grpSp>
            <p:sp>
              <p:nvSpPr>
                <p:cNvPr id="143370" name="Text Box 10"/>
                <p:cNvSpPr txBox="1"/>
                <p:nvPr/>
              </p:nvSpPr>
              <p:spPr>
                <a:xfrm>
                  <a:off x="3648" y="1792"/>
                  <a:ext cx="1728" cy="332"/>
                </a:xfrm>
                <a:prstGeom prst="rect">
                  <a:avLst/>
                </a:prstGeom>
                <a:noFill/>
                <a:ln w="9525">
                  <a:noFill/>
                </a:ln>
              </p:spPr>
              <p:txBody>
                <a:bodyPr anchor="t" anchorCtr="0">
                  <a:spAutoFit/>
                </a:bodyPr>
                <a:lstStyle/>
                <a:p>
                  <a:r>
                    <a:rPr lang="en-US" altLang="zh-CN" sz="2800" b="1" dirty="0">
                      <a:latin typeface="黑体" panose="02010609060101010101" pitchFamily="2" charset="-122"/>
                      <a:ea typeface="黑体" panose="02010609060101010101" pitchFamily="2" charset="-122"/>
                      <a:sym typeface="Wingdings" panose="05000000000000000000" pitchFamily="2" charset="2"/>
                    </a:rPr>
                    <a:t></a:t>
                  </a:r>
                  <a:endParaRPr lang="en-US" altLang="zh-CN" sz="2800" b="1" dirty="0">
                    <a:latin typeface="黑体" panose="02010609060101010101" pitchFamily="2" charset="-122"/>
                    <a:ea typeface="黑体" panose="02010609060101010101" pitchFamily="2" charset="-122"/>
                  </a:endParaRPr>
                </a:p>
              </p:txBody>
            </p:sp>
            <p:sp>
              <p:nvSpPr>
                <p:cNvPr id="143371" name="Line 11"/>
                <p:cNvSpPr/>
                <p:nvPr/>
              </p:nvSpPr>
              <p:spPr>
                <a:xfrm>
                  <a:off x="4293" y="2256"/>
                  <a:ext cx="0" cy="1824"/>
                </a:xfrm>
                <a:prstGeom prst="line">
                  <a:avLst/>
                </a:prstGeom>
                <a:ln w="9525" cap="flat" cmpd="sng">
                  <a:solidFill>
                    <a:srgbClr val="0066FF"/>
                  </a:solidFill>
                  <a:prstDash val="solid"/>
                  <a:round/>
                  <a:headEnd type="none" w="med" len="med"/>
                  <a:tailEnd type="none" w="med" len="med"/>
                </a:ln>
              </p:spPr>
            </p:sp>
            <p:sp>
              <p:nvSpPr>
                <p:cNvPr id="143372" name="Line 12"/>
                <p:cNvSpPr/>
                <p:nvPr/>
              </p:nvSpPr>
              <p:spPr>
                <a:xfrm>
                  <a:off x="5070" y="2256"/>
                  <a:ext cx="0" cy="1824"/>
                </a:xfrm>
                <a:prstGeom prst="line">
                  <a:avLst/>
                </a:prstGeom>
                <a:ln w="9525" cap="flat" cmpd="sng">
                  <a:solidFill>
                    <a:srgbClr val="0066FF"/>
                  </a:solidFill>
                  <a:prstDash val="solid"/>
                  <a:round/>
                  <a:headEnd type="none" w="med" len="med"/>
                  <a:tailEnd type="none" w="med" len="med"/>
                </a:ln>
              </p:spPr>
            </p:sp>
          </p:grpSp>
          <p:sp>
            <p:nvSpPr>
              <p:cNvPr id="143373" name="AutoShape 13"/>
              <p:cNvSpPr/>
              <p:nvPr/>
            </p:nvSpPr>
            <p:spPr>
              <a:xfrm flipH="1">
                <a:off x="475" y="2443"/>
                <a:ext cx="2640" cy="1414"/>
              </a:xfrm>
              <a:prstGeom prst="wedgeRectCallout">
                <a:avLst>
                  <a:gd name="adj1" fmla="val -77199"/>
                  <a:gd name="adj2" fmla="val -25856"/>
                </a:avLst>
              </a:prstGeom>
              <a:noFill/>
              <a:ln w="9525" cap="flat" cmpd="sng">
                <a:solidFill>
                  <a:schemeClr val="tx2"/>
                </a:solidFill>
                <a:prstDash val="solid"/>
                <a:miter/>
                <a:headEnd type="none" w="med" len="med"/>
                <a:tailEnd type="none" w="med" len="med"/>
              </a:ln>
            </p:spPr>
            <p:txBody>
              <a:bodyPr anchor="ctr" anchorCtr="0">
                <a:spAutoFit/>
              </a:bodyPr>
              <a:lstStyle/>
              <a:p>
                <a:r>
                  <a:rPr lang="zh-CN" altLang="en-US" sz="2000" b="1" dirty="0">
                    <a:latin typeface="Times New Roman" panose="02020603050405020304" pitchFamily="18" charset="0"/>
                    <a:ea typeface="宋体" panose="02010600030101010101" pitchFamily="2" charset="-122"/>
                  </a:rPr>
                  <a:t>分析： </a:t>
                </a:r>
                <a:r>
                  <a:rPr lang="zh-CN" altLang="en-US" sz="2000" b="1" dirty="0">
                    <a:latin typeface="Times New Roman" panose="02020603050405020304" pitchFamily="18" charset="0"/>
                    <a:ea typeface="宋体" panose="02010600030101010101" pitchFamily="2" charset="-122"/>
                    <a:sym typeface="Wingdings" panose="05000000000000000000" pitchFamily="2" charset="2"/>
                  </a:rPr>
                  <a:t>只取</a:t>
                </a:r>
                <a:r>
                  <a:rPr lang="en-US" altLang="zh-CN" sz="2000" b="1" dirty="0">
                    <a:latin typeface="Times New Roman" panose="02020603050405020304" pitchFamily="18" charset="0"/>
                    <a:ea typeface="宋体" panose="02010600030101010101" pitchFamily="2" charset="-122"/>
                    <a:sym typeface="Wingdings" panose="05000000000000000000" pitchFamily="2" charset="2"/>
                  </a:rPr>
                  <a:t>8</a:t>
                </a:r>
              </a:p>
              <a:p>
                <a:r>
                  <a:rPr lang="en-US" altLang="zh-CN" sz="2000" b="1" dirty="0">
                    <a:latin typeface="Times New Roman" panose="02020603050405020304" pitchFamily="18" charset="0"/>
                    <a:ea typeface="宋体" panose="02010600030101010101" pitchFamily="2" charset="-122"/>
                    <a:sym typeface="Wingdings" panose="05000000000000000000" pitchFamily="2" charset="2"/>
                  </a:rPr>
                  <a:t>             </a:t>
                </a:r>
                <a:r>
                  <a:rPr lang="zh-CN" altLang="en-US" sz="2000" b="1" dirty="0">
                    <a:latin typeface="Times New Roman" panose="02020603050405020304" pitchFamily="18" charset="0"/>
                    <a:ea typeface="宋体" panose="02010600030101010101" pitchFamily="2" charset="-122"/>
                    <a:sym typeface="Wingdings" panose="05000000000000000000" pitchFamily="2" charset="2"/>
                  </a:rPr>
                  <a:t>只取</a:t>
                </a:r>
                <a:r>
                  <a:rPr lang="en-US" altLang="zh-CN" sz="2000" b="1" dirty="0">
                    <a:latin typeface="Times New Roman" panose="02020603050405020304" pitchFamily="18" charset="0"/>
                    <a:ea typeface="宋体" panose="02010600030101010101" pitchFamily="2" charset="-122"/>
                    <a:sym typeface="Wingdings" panose="05000000000000000000" pitchFamily="2" charset="2"/>
                  </a:rPr>
                  <a:t>1</a:t>
                </a:r>
              </a:p>
              <a:p>
                <a:r>
                  <a:rPr lang="en-US" altLang="zh-CN" sz="2000" b="1" dirty="0">
                    <a:latin typeface="Times New Roman" panose="02020603050405020304" pitchFamily="18" charset="0"/>
                    <a:ea typeface="宋体" panose="02010600030101010101" pitchFamily="2" charset="-122"/>
                    <a:sym typeface="Wingdings" panose="05000000000000000000" pitchFamily="2" charset="2"/>
                  </a:rPr>
                  <a:t>             </a:t>
                </a:r>
                <a:r>
                  <a:rPr lang="zh-CN" altLang="en-US" sz="2000" b="1" dirty="0">
                    <a:latin typeface="Times New Roman" panose="02020603050405020304" pitchFamily="18" charset="0"/>
                    <a:ea typeface="宋体" panose="02010600030101010101" pitchFamily="2" charset="-122"/>
                    <a:sym typeface="Wingdings" panose="05000000000000000000" pitchFamily="2" charset="2"/>
                  </a:rPr>
                  <a:t>只取</a:t>
                </a:r>
                <a:r>
                  <a:rPr lang="en-US" altLang="zh-CN" sz="2000" b="1" dirty="0">
                    <a:latin typeface="Times New Roman" panose="02020603050405020304" pitchFamily="18" charset="0"/>
                    <a:ea typeface="宋体" panose="02010600030101010101" pitchFamily="2" charset="-122"/>
                    <a:sym typeface="Wingdings" panose="05000000000000000000" pitchFamily="2" charset="2"/>
                  </a:rPr>
                  <a:t>3</a:t>
                </a:r>
                <a:r>
                  <a:rPr lang="zh-CN" altLang="en-US" sz="2000" b="1" dirty="0">
                    <a:latin typeface="Times New Roman" panose="02020603050405020304" pitchFamily="18" charset="0"/>
                    <a:ea typeface="宋体" panose="02010600030101010101" pitchFamily="2" charset="-122"/>
                    <a:sym typeface="Wingdings" panose="05000000000000000000" pitchFamily="2" charset="2"/>
                  </a:rPr>
                  <a:t>、</a:t>
                </a:r>
                <a:r>
                  <a:rPr lang="en-US" altLang="zh-CN" sz="2000" b="1" dirty="0">
                    <a:latin typeface="Times New Roman" panose="02020603050405020304" pitchFamily="18" charset="0"/>
                    <a:ea typeface="宋体" panose="02010600030101010101" pitchFamily="2" charset="-122"/>
                    <a:sym typeface="Wingdings" panose="05000000000000000000" pitchFamily="2" charset="2"/>
                  </a:rPr>
                  <a:t>4</a:t>
                </a:r>
              </a:p>
              <a:p>
                <a:r>
                  <a:rPr lang="en-US" altLang="zh-CN" sz="2000" b="1" dirty="0">
                    <a:latin typeface="Times New Roman" panose="02020603050405020304" pitchFamily="18" charset="0"/>
                    <a:ea typeface="宋体" panose="02010600030101010101" pitchFamily="2" charset="-122"/>
                    <a:sym typeface="Wingdings" panose="05000000000000000000" pitchFamily="2" charset="2"/>
                  </a:rPr>
                  <a:t>             </a:t>
                </a:r>
                <a:r>
                  <a:rPr lang="zh-CN" altLang="en-US" sz="2000" b="1" dirty="0">
                    <a:latin typeface="Times New Roman" panose="02020603050405020304" pitchFamily="18" charset="0"/>
                    <a:ea typeface="宋体" panose="02010600030101010101" pitchFamily="2" charset="-122"/>
                    <a:sym typeface="Wingdings" panose="05000000000000000000" pitchFamily="2" charset="2"/>
                  </a:rPr>
                  <a:t>只取</a:t>
                </a:r>
                <a:r>
                  <a:rPr lang="en-US" altLang="zh-CN" sz="2000" b="1" dirty="0">
                    <a:latin typeface="Times New Roman" panose="02020603050405020304" pitchFamily="18" charset="0"/>
                    <a:ea typeface="宋体" panose="02010600030101010101" pitchFamily="2" charset="-122"/>
                    <a:sym typeface="Wingdings" panose="05000000000000000000" pitchFamily="2" charset="2"/>
                  </a:rPr>
                  <a:t>2</a:t>
                </a:r>
                <a:r>
                  <a:rPr lang="zh-CN" altLang="en-US" sz="2000" b="1" dirty="0">
                    <a:latin typeface="Times New Roman" panose="02020603050405020304" pitchFamily="18" charset="0"/>
                    <a:ea typeface="宋体" panose="02010600030101010101" pitchFamily="2" charset="-122"/>
                    <a:sym typeface="Wingdings" panose="05000000000000000000" pitchFamily="2" charset="2"/>
                  </a:rPr>
                  <a:t>、</a:t>
                </a:r>
                <a:r>
                  <a:rPr lang="en-US" altLang="zh-CN" sz="2000" b="1" dirty="0">
                    <a:latin typeface="Times New Roman" panose="02020603050405020304" pitchFamily="18" charset="0"/>
                    <a:ea typeface="宋体" panose="02010600030101010101" pitchFamily="2" charset="-122"/>
                    <a:sym typeface="Wingdings" panose="05000000000000000000" pitchFamily="2" charset="2"/>
                  </a:rPr>
                  <a:t>7</a:t>
                </a:r>
                <a:r>
                  <a:rPr lang="zh-CN" altLang="en-US" sz="2000" b="1" dirty="0">
                    <a:latin typeface="Times New Roman" panose="02020603050405020304" pitchFamily="18" charset="0"/>
                    <a:ea typeface="宋体" panose="02010600030101010101" pitchFamily="2" charset="-122"/>
                    <a:sym typeface="Wingdings" panose="05000000000000000000" pitchFamily="2" charset="2"/>
                  </a:rPr>
                  <a:t>、</a:t>
                </a:r>
                <a:r>
                  <a:rPr lang="en-US" altLang="zh-CN" sz="2000" b="1" dirty="0">
                    <a:latin typeface="Times New Roman" panose="02020603050405020304" pitchFamily="18" charset="0"/>
                    <a:ea typeface="宋体" panose="02010600030101010101" pitchFamily="2" charset="-122"/>
                    <a:sym typeface="Wingdings" panose="05000000000000000000" pitchFamily="2" charset="2"/>
                  </a:rPr>
                  <a:t>5</a:t>
                </a:r>
              </a:p>
              <a:p>
                <a:r>
                  <a:rPr lang="en-US" altLang="zh-CN" sz="2000" b="1" dirty="0">
                    <a:latin typeface="Times New Roman" panose="02020603050405020304" pitchFamily="18" charset="0"/>
                    <a:ea typeface="宋体" panose="02010600030101010101" pitchFamily="2" charset="-122"/>
                    <a:sym typeface="Wingdings" panose="05000000000000000000" pitchFamily="2" charset="2"/>
                  </a:rPr>
                  <a:t>             </a:t>
                </a:r>
                <a:r>
                  <a:rPr lang="en-US" altLang="zh-CN" sz="2000" b="1" dirty="0">
                    <a:solidFill>
                      <a:schemeClr val="hlink"/>
                    </a:solidFill>
                    <a:latin typeface="Times New Roman" panose="02020603050405020304" pitchFamily="18" charset="0"/>
                    <a:ea typeface="宋体" panose="02010600030101010101" pitchFamily="2" charset="-122"/>
                    <a:sym typeface="Wingdings" panose="05000000000000000000" pitchFamily="2" charset="2"/>
                  </a:rPr>
                  <a:t></a:t>
                </a:r>
                <a:r>
                  <a:rPr lang="zh-CN" altLang="en-US" sz="2000" b="1" dirty="0">
                    <a:solidFill>
                      <a:schemeClr val="hlink"/>
                    </a:solidFill>
                    <a:latin typeface="Times New Roman" panose="02020603050405020304" pitchFamily="18" charset="0"/>
                    <a:ea typeface="宋体" panose="02010600030101010101" pitchFamily="2" charset="-122"/>
                    <a:sym typeface="Wingdings" panose="05000000000000000000" pitchFamily="2" charset="2"/>
                  </a:rPr>
                  <a:t>数字分布近乎随机</a:t>
                </a:r>
              </a:p>
              <a:p>
                <a:r>
                  <a:rPr lang="zh-CN" altLang="en-US" sz="2000" b="1" dirty="0">
                    <a:latin typeface="Times New Roman" panose="02020603050405020304" pitchFamily="18" charset="0"/>
                    <a:ea typeface="宋体" panose="02010600030101010101" pitchFamily="2" charset="-122"/>
                    <a:sym typeface="Wingdings" panose="05000000000000000000" pitchFamily="2" charset="2"/>
                  </a:rPr>
                  <a:t>所以：取任意两位或两位</a:t>
                </a:r>
              </a:p>
              <a:p>
                <a:r>
                  <a:rPr lang="zh-CN" altLang="en-US" sz="2000" b="1" dirty="0">
                    <a:latin typeface="Times New Roman" panose="02020603050405020304" pitchFamily="18" charset="0"/>
                    <a:ea typeface="宋体" panose="02010600030101010101" pitchFamily="2" charset="-122"/>
                    <a:sym typeface="Wingdings" panose="05000000000000000000" pitchFamily="2" charset="2"/>
                  </a:rPr>
                  <a:t>            与另两位的叠加作哈希地址</a:t>
                </a:r>
              </a:p>
            </p:txBody>
          </p:sp>
        </p:grpSp>
        <p:sp>
          <p:nvSpPr>
            <p:cNvPr id="5" name="文本框 4"/>
            <p:cNvSpPr txBox="1"/>
            <p:nvPr/>
          </p:nvSpPr>
          <p:spPr>
            <a:xfrm>
              <a:off x="3250" y="4972"/>
              <a:ext cx="6645" cy="1077"/>
            </a:xfrm>
            <a:prstGeom prst="rect">
              <a:avLst/>
            </a:prstGeom>
          </p:spPr>
          <p:txBody>
            <a:bodyPr vert="horz" wrap="square" lIns="91440" tIns="45720" rIns="91440" bIns="45720" rtlCol="0" anchor="t">
              <a:noAutofit/>
            </a:bodyPr>
            <a:lstStyle/>
            <a:p>
              <a:pPr marL="0" lvl="0" indent="0">
                <a:lnSpc>
                  <a:spcPct val="90000"/>
                </a:lnSpc>
                <a:spcBef>
                  <a:spcPts val="1000"/>
                </a:spcBef>
                <a:buClr>
                  <a:schemeClr val="accent2"/>
                </a:buClr>
                <a:buFont typeface="Wingdings" panose="05000000000000000000" pitchFamily="2" charset="2"/>
                <a:buNone/>
              </a:pPr>
              <a:r>
                <a:rPr lang="zh-CN" altLang="en-US" sz="2000" dirty="0">
                  <a:latin typeface="黑体" panose="02010609060101010101" pitchFamily="2" charset="-122"/>
                  <a:ea typeface="黑体" panose="02010609060101010101" pitchFamily="2" charset="-122"/>
                  <a:sym typeface="+mn-ea"/>
                </a:rPr>
                <a:t>有</a:t>
              </a:r>
              <a:r>
                <a:rPr lang="en-US" altLang="zh-CN" sz="2000" dirty="0">
                  <a:latin typeface="黑体" panose="02010609060101010101" pitchFamily="2" charset="-122"/>
                  <a:ea typeface="黑体" panose="02010609060101010101" pitchFamily="2" charset="-122"/>
                  <a:sym typeface="+mn-ea"/>
                </a:rPr>
                <a:t>80</a:t>
              </a:r>
              <a:r>
                <a:rPr lang="zh-CN" altLang="en-US" sz="2000" dirty="0">
                  <a:latin typeface="黑体" panose="02010609060101010101" pitchFamily="2" charset="-122"/>
                  <a:ea typeface="黑体" panose="02010609060101010101" pitchFamily="2" charset="-122"/>
                  <a:sym typeface="+mn-ea"/>
                </a:rPr>
                <a:t>个记录，关键字为</a:t>
              </a:r>
              <a:r>
                <a:rPr lang="en-US" altLang="zh-CN" sz="2000" dirty="0">
                  <a:latin typeface="黑体" panose="02010609060101010101" pitchFamily="2" charset="-122"/>
                  <a:ea typeface="黑体" panose="02010609060101010101" pitchFamily="2" charset="-122"/>
                  <a:sym typeface="+mn-ea"/>
                </a:rPr>
                <a:t>8</a:t>
              </a:r>
              <a:r>
                <a:rPr lang="zh-CN" altLang="en-US" sz="2000" dirty="0">
                  <a:latin typeface="黑体" panose="02010609060101010101" pitchFamily="2" charset="-122"/>
                  <a:ea typeface="黑体" panose="02010609060101010101" pitchFamily="2" charset="-122"/>
                  <a:sym typeface="+mn-ea"/>
                </a:rPr>
                <a:t>位十进制数，哈希地址为</a:t>
              </a:r>
              <a:r>
                <a:rPr lang="en-US" altLang="zh-CN" sz="2000" dirty="0">
                  <a:latin typeface="黑体" panose="02010609060101010101" pitchFamily="2" charset="-122"/>
                  <a:ea typeface="黑体" panose="02010609060101010101" pitchFamily="2" charset="-122"/>
                  <a:sym typeface="+mn-ea"/>
                </a:rPr>
                <a:t>2</a:t>
              </a:r>
              <a:r>
                <a:rPr lang="zh-CN" altLang="en-US" sz="2000" dirty="0">
                  <a:latin typeface="黑体" panose="02010609060101010101" pitchFamily="2" charset="-122"/>
                  <a:ea typeface="黑体" panose="02010609060101010101" pitchFamily="2" charset="-122"/>
                  <a:sym typeface="+mn-ea"/>
                </a:rPr>
                <a:t>位十进制数</a:t>
              </a:r>
            </a:p>
          </p:txBody>
        </p:sp>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数字分析法的特点</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en-US" altLang="zh-CN" dirty="0">
                <a:latin typeface="黑体" panose="02010609060101010101" pitchFamily="2" charset="-122"/>
                <a:ea typeface="黑体" panose="02010609060101010101" pitchFamily="2" charset="-122"/>
                <a:cs typeface="+mn-ea"/>
                <a:sym typeface="+mn-ea"/>
              </a:rPr>
              <a:t>数字分析法仅适用于事先明确知道表中所有关键码每一位数值的分布情况</a:t>
            </a:r>
            <a:endParaRPr lang="en-US" altLang="zh-CN" b="0" dirty="0">
              <a:latin typeface="黑体" panose="02010609060101010101" pitchFamily="2" charset="-122"/>
              <a:ea typeface="黑体" panose="02010609060101010101" pitchFamily="2" charset="-122"/>
              <a:cs typeface="+mn-ea"/>
            </a:endParaRPr>
          </a:p>
          <a:p>
            <a:pPr lvl="1" algn="l" eaLnBrk="1" hangingPunct="1">
              <a:buClrTx/>
              <a:buSzTx/>
              <a:buChar char="•"/>
            </a:pPr>
            <a:r>
              <a:rPr lang="en-US" altLang="zh-CN" dirty="0">
                <a:latin typeface="黑体" panose="02010609060101010101" pitchFamily="2" charset="-122"/>
                <a:ea typeface="黑体" panose="02010609060101010101" pitchFamily="2" charset="-122"/>
                <a:cs typeface="+mn-ea"/>
                <a:sym typeface="+mn-ea"/>
              </a:rPr>
              <a:t>数字分析法完全依赖于关键码集合，如果换一个关键码集合，选择哪几位要重新决定。</a:t>
            </a:r>
            <a:endParaRPr lang="en-US" altLang="zh-CN"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b="0" dirty="0">
                <a:latin typeface="黑体" panose="02010609060101010101" pitchFamily="2" charset="-122"/>
                <a:ea typeface="黑体" panose="02010609060101010101" pitchFamily="2" charset="-122"/>
                <a:cs typeface="+mn-ea"/>
              </a:rPr>
              <a:t>因此数字分析法没有通用性</a:t>
            </a:r>
            <a:endParaRPr lang="en-US" altLang="zh-CN" b="0" dirty="0">
              <a:latin typeface="黑体" panose="02010609060101010101" pitchFamily="2" charset="-122"/>
              <a:ea typeface="黑体" panose="02010609060101010101" pitchFamily="2" charset="-122"/>
              <a:cs typeface="+mn-ea"/>
            </a:endParaRPr>
          </a:p>
          <a:p>
            <a:pPr lvl="1" algn="l" eaLnBrk="1" hangingPunct="1">
              <a:buClrTx/>
              <a:buSzTx/>
              <a:buChar char="•"/>
            </a:pPr>
            <a:endParaRPr lang="en-US" altLang="zh-CN"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en-US" altLang="zh-CN"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119</a:t>
            </a:fld>
            <a:endParaRPr lang="zh-CN" alt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平方取中法</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mn-ea"/>
                <a:sym typeface="+mn-ea"/>
              </a:rPr>
              <a:t>以关键字的平方值的中间几位作为存储地址。</a:t>
            </a:r>
            <a:endParaRPr lang="en-US" altLang="zh-CN"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mn-ea"/>
                <a:sym typeface="+mn-ea"/>
              </a:rPr>
              <a:t>求“关键字的平方值” 的目的是“扩大差别” </a:t>
            </a:r>
            <a:endParaRPr lang="en-US" altLang="zh-CN"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mn-ea"/>
                <a:sym typeface="+mn-ea"/>
              </a:rPr>
              <a:t>同时平方值的中间各位又能受到整个关键字中各位的影响</a:t>
            </a: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120</a:t>
            </a:fld>
            <a:endParaRPr lang="zh-CN" altLang="en-US"/>
          </a:p>
        </p:txBody>
      </p:sp>
      <p:sp>
        <p:nvSpPr>
          <p:cNvPr id="1009666" name="Rectangle 2"/>
          <p:cNvSpPr>
            <a:spLocks noGrp="1" noChangeArrowheads="1"/>
          </p:cNvSpPr>
          <p:nvPr/>
        </p:nvSpPr>
        <p:spPr>
          <a:xfrm>
            <a:off x="1271270" y="2924810"/>
            <a:ext cx="8569325" cy="3112770"/>
          </a:xfrm>
        </p:spPr>
        <p:txBody>
          <a:bodyPr vert="horz" wrap="square" lIns="91440" tIns="45720" rIns="91440" bIns="45720" numCol="1" anchor="t" anchorCtr="0" compatLnSpc="1"/>
          <a:lstStyle>
            <a:lvl1pPr marL="457200" indent="-457200" algn="l" defTabSz="1219200" rtl="0" fontAlgn="base">
              <a:spcBef>
                <a:spcPct val="20000"/>
              </a:spcBef>
              <a:spcAft>
                <a:spcPct val="0"/>
              </a:spcAft>
              <a:buFont typeface="Arial" panose="020B0604020202020204" pitchFamily="34" charset="0"/>
              <a:buChar char="•"/>
              <a:defRPr sz="4200">
                <a:solidFill>
                  <a:schemeClr val="tx1"/>
                </a:solidFill>
                <a:latin typeface="+mn-lt"/>
                <a:ea typeface="+mn-ea"/>
                <a:cs typeface="+mn-cs"/>
                <a:sym typeface="宋体" panose="02010600030101010101" pitchFamily="2" charset="-122"/>
              </a:defRPr>
            </a:lvl1pPr>
            <a:lvl2pPr marL="990600" indent="-381000" algn="l" defTabSz="1219200" rtl="0" fontAlgn="base">
              <a:spcBef>
                <a:spcPct val="20000"/>
              </a:spcBef>
              <a:spcAft>
                <a:spcPct val="0"/>
              </a:spcAft>
              <a:buFont typeface="Arial" panose="020B0604020202020204" pitchFamily="34" charset="0"/>
              <a:buChar char="–"/>
              <a:defRPr sz="3700">
                <a:solidFill>
                  <a:schemeClr val="tx1"/>
                </a:solidFill>
                <a:latin typeface="+mn-lt"/>
                <a:ea typeface="+mn-ea"/>
                <a:sym typeface="宋体" panose="02010600030101010101" pitchFamily="2" charset="-122"/>
              </a:defRPr>
            </a:lvl2pPr>
            <a:lvl3pPr marL="1524000" indent="-304800" algn="l" defTabSz="1219200" rtl="0" fontAlgn="base">
              <a:spcBef>
                <a:spcPct val="20000"/>
              </a:spcBef>
              <a:spcAft>
                <a:spcPct val="0"/>
              </a:spcAft>
              <a:buFont typeface="Arial" panose="020B0604020202020204" pitchFamily="34" charset="0"/>
              <a:buChar char="•"/>
              <a:defRPr sz="3200">
                <a:solidFill>
                  <a:schemeClr val="tx1"/>
                </a:solidFill>
                <a:latin typeface="+mn-lt"/>
                <a:ea typeface="+mn-ea"/>
                <a:sym typeface="宋体" panose="02010600030101010101" pitchFamily="2" charset="-122"/>
              </a:defRPr>
            </a:lvl3pPr>
            <a:lvl4pPr marL="2133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宋体" panose="02010600030101010101" pitchFamily="2" charset="-122"/>
              </a:defRPr>
            </a:lvl4pPr>
            <a:lvl5pPr marL="27432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宋体" panose="02010600030101010101" pitchFamily="2" charset="-122"/>
              </a:defRPr>
            </a:lvl5pPr>
            <a:lvl6pPr marL="32004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6pPr>
            <a:lvl7pPr marL="3657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7pPr>
            <a:lvl8pPr marL="41148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8pPr>
            <a:lvl9pPr marL="45720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9pPr>
          </a:lstStyle>
          <a:p>
            <a:pPr marL="609600" marR="0" indent="-609600" algn="l" defTabSz="914400" rtl="0" eaLnBrk="1" latinLnBrk="0" hangingPunct="1">
              <a:lnSpc>
                <a:spcPct val="100000"/>
              </a:lnSpc>
              <a:spcBef>
                <a:spcPts val="0"/>
              </a:spcBef>
              <a:spcAft>
                <a:spcPts val="50"/>
              </a:spcAft>
              <a:buClr>
                <a:schemeClr val="accent1"/>
              </a:buClr>
              <a:buSzTx/>
              <a:buFont typeface="Wingdings" panose="05000000000000000000" pitchFamily="2" charset="2"/>
              <a:buNone/>
            </a:pPr>
            <a:r>
              <a:rPr lang="zh-CN" altLang="en-US" sz="2000" i="1" dirty="0">
                <a:latin typeface="黑体" panose="02010609060101010101" pitchFamily="2" charset="-122"/>
                <a:ea typeface="黑体" panose="02010609060101010101" pitchFamily="2" charset="-122"/>
                <a:sym typeface="+mn-ea"/>
              </a:rPr>
              <a:t>标识符的八进制内码表示及其平方值</a:t>
            </a:r>
            <a:endParaRPr kumimoji="0" lang="zh-CN" altLang="en-US" sz="2000" b="0" i="1" u="none" strike="noStrike" kern="0" cap="none" spc="0" normalizeH="0" baseline="0" noProof="1">
              <a:solidFill>
                <a:schemeClr val="tx1"/>
              </a:solidFill>
              <a:effectLst>
                <a:outerShdw blurRad="38100" dist="38100" dir="2700000">
                  <a:srgbClr val="C0C0C0"/>
                </a:outerShdw>
              </a:effectLst>
              <a:latin typeface="+mn-lt"/>
              <a:ea typeface="黑体" panose="02010609060101010101" pitchFamily="2" charset="-122"/>
              <a:cs typeface="+mn-cs"/>
            </a:endParaRPr>
          </a:p>
          <a:p>
            <a:pPr marL="609600" marR="0" indent="-609600" algn="l" defTabSz="914400" rtl="0" eaLnBrk="1" fontAlgn="base" latinLnBrk="0" hangingPunct="1">
              <a:lnSpc>
                <a:spcPct val="100000"/>
              </a:lnSpc>
              <a:spcBef>
                <a:spcPts val="50"/>
              </a:spcBef>
              <a:spcAft>
                <a:spcPts val="0"/>
              </a:spcAft>
              <a:buClr>
                <a:schemeClr val="accent1"/>
              </a:buClr>
              <a:buSzTx/>
              <a:buFont typeface="Wingdings" panose="05000000000000000000" pitchFamily="2" charset="2"/>
              <a:buNone/>
            </a:pPr>
            <a:r>
              <a:rPr kumimoji="0" lang="zh-CN" altLang="en-US" sz="2000" b="0" i="0" u="none" strike="noStrike" kern="0" cap="none" spc="0" normalizeH="0" baseline="0" noProof="1">
                <a:solidFill>
                  <a:schemeClr val="tx1"/>
                </a:solidFill>
                <a:effectLst>
                  <a:outerShdw blurRad="38100" dist="38100" dir="2700000">
                    <a:srgbClr val="C0C0C0"/>
                  </a:outerShdw>
                </a:effectLst>
                <a:latin typeface="+mn-lt"/>
                <a:ea typeface="黑体" panose="02010609060101010101" pitchFamily="2" charset="-122"/>
                <a:cs typeface="+mn-cs"/>
              </a:rPr>
              <a:t>标识符		</a:t>
            </a:r>
            <a:r>
              <a:rPr kumimoji="0" lang="zh-CN" altLang="en-US" sz="2000" b="0" i="0" u="none" strike="noStrike" kern="0" cap="none" spc="0" normalizeH="0" baseline="0" noProof="1">
                <a:solidFill>
                  <a:schemeClr val="tx2"/>
                </a:solidFill>
                <a:effectLst>
                  <a:outerShdw blurRad="38100" dist="38100" dir="2700000">
                    <a:srgbClr val="C0C0C0"/>
                  </a:outerShdw>
                </a:effectLst>
                <a:latin typeface="+mn-lt"/>
                <a:ea typeface="黑体" panose="02010609060101010101" pitchFamily="2" charset="-122"/>
                <a:cs typeface="+mn-cs"/>
              </a:rPr>
              <a:t>内码			</a:t>
            </a:r>
            <a:r>
              <a:rPr kumimoji="0" lang="zh-CN" altLang="en-US" sz="2000" b="0" i="0" u="none" strike="noStrike" kern="0" cap="none" spc="0" normalizeH="0" baseline="0" noProof="1">
                <a:solidFill>
                  <a:srgbClr val="990099"/>
                </a:solidFill>
                <a:effectLst>
                  <a:outerShdw blurRad="38100" dist="38100" dir="2700000">
                    <a:srgbClr val="C0C0C0"/>
                  </a:outerShdw>
                </a:effectLst>
                <a:latin typeface="+mn-lt"/>
                <a:ea typeface="黑体" panose="02010609060101010101" pitchFamily="2" charset="-122"/>
                <a:cs typeface="+mn-cs"/>
              </a:rPr>
              <a:t>内码的平方		</a:t>
            </a:r>
            <a:r>
              <a:rPr kumimoji="0" lang="zh-CN" altLang="en-US" sz="2000" b="0" i="0" u="none" strike="noStrike" kern="0" cap="none" spc="0" normalizeH="0" baseline="0" noProof="1">
                <a:solidFill>
                  <a:schemeClr val="tx1"/>
                </a:solidFill>
                <a:effectLst>
                  <a:outerShdw blurRad="38100" dist="38100" dir="2700000">
                    <a:srgbClr val="C0C0C0"/>
                  </a:outerShdw>
                </a:effectLst>
                <a:latin typeface="+mn-lt"/>
                <a:ea typeface="黑体" panose="02010609060101010101" pitchFamily="2" charset="-122"/>
                <a:cs typeface="+mn-cs"/>
              </a:rPr>
              <a:t>散列地址</a:t>
            </a:r>
            <a:endParaRPr kumimoji="0" lang="zh-CN" altLang="en-US" sz="2000" b="0" i="0"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en-US" altLang="zh-CN" sz="2000" b="0" i="1"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A			</a:t>
            </a:r>
            <a:r>
              <a:rPr kumimoji="0" lang="en-US" altLang="zh-CN" sz="2000" b="0" i="0" u="none" strike="noStrike" kern="0" cap="none" spc="0" normalizeH="0" baseline="0" noProof="1">
                <a:solidFill>
                  <a:schemeClr val="tx2"/>
                </a:solidFill>
                <a:effectLst>
                  <a:outerShdw blurRad="38100" dist="38100" dir="2700000">
                    <a:srgbClr val="C0C0C0"/>
                  </a:outerShdw>
                </a:effectLst>
                <a:latin typeface="+mn-lt"/>
                <a:ea typeface="仿宋" panose="02010609060101010101" charset="-122"/>
                <a:cs typeface="+mn-cs"/>
              </a:rPr>
              <a:t>01			</a:t>
            </a:r>
            <a:r>
              <a:rPr kumimoji="0" lang="en-US" altLang="zh-CN" sz="2000" b="0" i="0" u="sng"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01</a:t>
            </a:r>
            <a:r>
              <a:rPr kumimoji="0" lang="en-US" altLang="zh-CN" sz="2000" b="0" i="0"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	    		001</a:t>
            </a: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en-US" altLang="zh-CN" sz="2000" b="0" i="1"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A</a:t>
            </a:r>
            <a:r>
              <a:rPr kumimoji="0" lang="en-US" altLang="zh-CN" sz="2000" b="0" i="0"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1			</a:t>
            </a:r>
            <a:r>
              <a:rPr kumimoji="0" lang="en-US" altLang="zh-CN" sz="2000" b="0" i="0" u="none" strike="noStrike" kern="0" cap="none" spc="0" normalizeH="0" baseline="0" noProof="1">
                <a:solidFill>
                  <a:schemeClr val="tx2"/>
                </a:solidFill>
                <a:effectLst>
                  <a:outerShdw blurRad="38100" dist="38100" dir="2700000">
                    <a:srgbClr val="C0C0C0"/>
                  </a:outerShdw>
                </a:effectLst>
                <a:latin typeface="+mn-lt"/>
                <a:ea typeface="仿宋" panose="02010609060101010101" charset="-122"/>
                <a:cs typeface="+mn-cs"/>
              </a:rPr>
              <a:t>0134			</a:t>
            </a:r>
            <a:r>
              <a:rPr kumimoji="0" lang="en-US" altLang="zh-CN" sz="2000" b="0" i="0" u="none"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2</a:t>
            </a:r>
            <a:r>
              <a:rPr kumimoji="0" lang="en-US" altLang="zh-CN" sz="2000" b="0" i="0" u="sng"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042</a:t>
            </a:r>
            <a:r>
              <a:rPr kumimoji="0" lang="en-US" altLang="zh-CN" sz="2000" b="0" i="0" u="none"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0</a:t>
            </a:r>
            <a:r>
              <a:rPr kumimoji="0" lang="en-US" altLang="zh-CN" sz="2000" b="0" i="0"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	    		042</a:t>
            </a: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en-US" altLang="zh-CN" sz="2000" b="0" i="1"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B			</a:t>
            </a:r>
            <a:r>
              <a:rPr kumimoji="0" lang="en-US" altLang="zh-CN" sz="2000" b="0" i="0" u="none" strike="noStrike" kern="0" cap="none" spc="0" normalizeH="0" baseline="0" noProof="1">
                <a:solidFill>
                  <a:schemeClr val="tx2"/>
                </a:solidFill>
                <a:effectLst>
                  <a:outerShdw blurRad="38100" dist="38100" dir="2700000">
                    <a:srgbClr val="C0C0C0"/>
                  </a:outerShdw>
                </a:effectLst>
                <a:latin typeface="+mn-lt"/>
                <a:ea typeface="仿宋" panose="02010609060101010101" charset="-122"/>
                <a:cs typeface="+mn-cs"/>
              </a:rPr>
              <a:t>02			</a:t>
            </a:r>
            <a:r>
              <a:rPr kumimoji="0" lang="en-US" altLang="zh-CN" sz="2000" b="0" i="0" u="sng"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4</a:t>
            </a:r>
            <a:r>
              <a:rPr kumimoji="0" lang="en-US" altLang="zh-CN" sz="2000" b="0" i="0"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	    		004 </a:t>
            </a: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en-US" altLang="zh-CN" sz="2000" b="0" i="1"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DMAX			</a:t>
            </a:r>
            <a:r>
              <a:rPr kumimoji="0" lang="en-US" altLang="zh-CN" sz="2000" b="0" i="0" u="none" strike="noStrike" kern="0" cap="none" spc="0" normalizeH="0" baseline="0" noProof="1">
                <a:solidFill>
                  <a:schemeClr val="tx2"/>
                </a:solidFill>
                <a:effectLst>
                  <a:outerShdw blurRad="38100" dist="38100" dir="2700000">
                    <a:srgbClr val="C0C0C0"/>
                  </a:outerShdw>
                </a:effectLst>
                <a:latin typeface="+mn-lt"/>
                <a:ea typeface="仿宋" panose="02010609060101010101" charset="-122"/>
                <a:cs typeface="+mn-cs"/>
              </a:rPr>
              <a:t>04150130		</a:t>
            </a:r>
            <a:r>
              <a:rPr kumimoji="0" lang="en-US" altLang="zh-CN" sz="2000" b="0" i="0" u="none"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21526</a:t>
            </a:r>
            <a:r>
              <a:rPr kumimoji="0" lang="en-US" altLang="zh-CN" sz="2000" b="0" i="0" u="sng"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443</a:t>
            </a:r>
            <a:r>
              <a:rPr kumimoji="0" lang="en-US" altLang="zh-CN" sz="2000" b="0" i="0" u="none"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617100</a:t>
            </a:r>
            <a:r>
              <a:rPr kumimoji="0" lang="en-US" altLang="zh-CN" sz="2000" b="0" i="0"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	443</a:t>
            </a: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en-US" altLang="zh-CN" sz="2000" b="0" i="1"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DMAX</a:t>
            </a:r>
            <a:r>
              <a:rPr kumimoji="0" lang="en-US" altLang="zh-CN" sz="2000" b="0" i="0"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1		</a:t>
            </a:r>
            <a:r>
              <a:rPr kumimoji="0" lang="en-US" altLang="zh-CN" sz="2000" b="0" i="0" u="none" strike="noStrike" kern="0" cap="none" spc="0" normalizeH="0" baseline="0" noProof="1">
                <a:solidFill>
                  <a:schemeClr val="tx2"/>
                </a:solidFill>
                <a:effectLst>
                  <a:outerShdw blurRad="38100" dist="38100" dir="2700000">
                    <a:srgbClr val="C0C0C0"/>
                  </a:outerShdw>
                </a:effectLst>
                <a:latin typeface="+mn-lt"/>
                <a:ea typeface="仿宋" panose="02010609060101010101" charset="-122"/>
                <a:cs typeface="+mn-cs"/>
              </a:rPr>
              <a:t>0415013034		</a:t>
            </a:r>
            <a:r>
              <a:rPr kumimoji="0" lang="en-US" altLang="zh-CN" sz="2000" b="0" i="0" u="none"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526447</a:t>
            </a:r>
            <a:r>
              <a:rPr kumimoji="0" lang="en-US" altLang="zh-CN" sz="2000" b="0" i="0" u="sng"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352</a:t>
            </a:r>
            <a:r>
              <a:rPr kumimoji="0" lang="en-US" altLang="zh-CN" sz="2000" b="0" i="0" u="none"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2151420</a:t>
            </a:r>
            <a:r>
              <a:rPr kumimoji="0" lang="en-US" altLang="zh-CN" sz="2000" b="0" i="0"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	352 </a:t>
            </a: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en-US" altLang="zh-CN" sz="2000" b="0" i="1"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AMAX			</a:t>
            </a:r>
            <a:r>
              <a:rPr kumimoji="0" lang="en-US" altLang="zh-CN" sz="2000" b="0" i="0" u="none" strike="noStrike" kern="0" cap="none" spc="0" normalizeH="0" baseline="0" noProof="1">
                <a:solidFill>
                  <a:schemeClr val="tx2"/>
                </a:solidFill>
                <a:effectLst>
                  <a:outerShdw blurRad="38100" dist="38100" dir="2700000">
                    <a:srgbClr val="C0C0C0"/>
                  </a:outerShdw>
                </a:effectLst>
                <a:latin typeface="+mn-lt"/>
                <a:ea typeface="仿宋" panose="02010609060101010101" charset="-122"/>
                <a:cs typeface="+mn-cs"/>
              </a:rPr>
              <a:t>01150130		</a:t>
            </a:r>
            <a:r>
              <a:rPr kumimoji="0" lang="en-US" altLang="zh-CN" sz="2000" b="0" i="0" u="none"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1354</a:t>
            </a:r>
            <a:r>
              <a:rPr kumimoji="0" lang="en-US" altLang="zh-CN" sz="2000" b="0" i="0" u="sng"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236</a:t>
            </a:r>
            <a:r>
              <a:rPr kumimoji="0" lang="en-US" altLang="zh-CN" sz="2000" b="0" i="0" u="none"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17100</a:t>
            </a:r>
            <a:r>
              <a:rPr kumimoji="0" lang="en-US" altLang="zh-CN" sz="2000" b="0" i="0"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	    	236</a:t>
            </a: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kumimoji="0" lang="en-US" altLang="zh-CN" sz="2000" b="0" i="1"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AMAX</a:t>
            </a:r>
            <a:r>
              <a:rPr kumimoji="0" lang="en-US" altLang="zh-CN" sz="2000" b="0" i="0"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1		</a:t>
            </a:r>
            <a:r>
              <a:rPr kumimoji="0" lang="en-US" altLang="zh-CN" sz="2000" b="0" i="0" u="none" strike="noStrike" kern="0" cap="none" spc="0" normalizeH="0" baseline="0" noProof="1">
                <a:solidFill>
                  <a:schemeClr val="tx2"/>
                </a:solidFill>
                <a:effectLst>
                  <a:outerShdw blurRad="38100" dist="38100" dir="2700000">
                    <a:srgbClr val="C0C0C0"/>
                  </a:outerShdw>
                </a:effectLst>
                <a:latin typeface="+mn-lt"/>
                <a:ea typeface="仿宋" panose="02010609060101010101" charset="-122"/>
                <a:cs typeface="+mn-cs"/>
              </a:rPr>
              <a:t>0115013034		</a:t>
            </a:r>
            <a:r>
              <a:rPr kumimoji="0" lang="en-US" altLang="zh-CN" sz="2000" b="0" i="0" u="none"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345424</a:t>
            </a:r>
            <a:r>
              <a:rPr kumimoji="0" lang="en-US" altLang="zh-CN" sz="2000" b="0" i="0" u="sng"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652</a:t>
            </a:r>
            <a:r>
              <a:rPr kumimoji="0" lang="en-US" altLang="zh-CN" sz="2000" b="0" i="0" u="none" strike="noStrike" kern="0" cap="none" spc="0" normalizeH="0" baseline="0" noProof="1">
                <a:solidFill>
                  <a:srgbClr val="990099"/>
                </a:solidFill>
                <a:effectLst>
                  <a:outerShdw blurRad="38100" dist="38100" dir="2700000">
                    <a:srgbClr val="C0C0C0"/>
                  </a:outerShdw>
                </a:effectLst>
                <a:latin typeface="+mn-lt"/>
                <a:ea typeface="仿宋" panose="02010609060101010101" charset="-122"/>
                <a:cs typeface="+mn-cs"/>
              </a:rPr>
              <a:t>2151420</a:t>
            </a:r>
            <a:r>
              <a:rPr kumimoji="0" lang="en-US" altLang="zh-CN" sz="2000" b="0" i="0" u="none" strike="noStrike" kern="0" cap="none" spc="0" normalizeH="0" baseline="0" noProof="1">
                <a:solidFill>
                  <a:schemeClr val="tx1"/>
                </a:solidFill>
                <a:effectLst>
                  <a:outerShdw blurRad="38100" dist="38100" dir="2700000">
                    <a:srgbClr val="C0C0C0"/>
                  </a:outerShdw>
                </a:effectLst>
                <a:latin typeface="+mn-lt"/>
                <a:ea typeface="仿宋" panose="02010609060101010101" charset="-122"/>
                <a:cs typeface="+mn-cs"/>
              </a:rPr>
              <a:t>	652</a:t>
            </a:r>
            <a:endParaRPr kumimoji="0" lang="en-US" altLang="zh-CN" sz="2000" b="1" i="0" u="none" strike="noStrike" kern="0" cap="none" spc="0" normalizeH="0" baseline="0" noProof="1">
              <a:solidFill>
                <a:schemeClr val="tx1"/>
              </a:solidFill>
              <a:latin typeface="宋体" panose="02010600030101010101" pitchFamily="2" charset="-122"/>
              <a:ea typeface="+mn-ea"/>
              <a:cs typeface="+mn-cs"/>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11442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平方取中法的特性</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cs"/>
                <a:sym typeface="+mn-ea"/>
              </a:rPr>
              <a:t>平方取中法是较常用的构造哈希函数的方法</a:t>
            </a:r>
            <a:endParaRPr lang="zh-CN" altLang="en-US" b="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cs"/>
                <a:sym typeface="+mn-ea"/>
              </a:rPr>
              <a:t>适合于关键字中的每一位都有某些数字重复出现且频度很高的情况</a:t>
            </a:r>
            <a:endParaRPr lang="zh-CN" altLang="en-US" b="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cs"/>
                <a:sym typeface="+mn-ea"/>
              </a:rPr>
              <a:t>中间所取的位数，由哈希表长决定</a:t>
            </a: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ea"/>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平方取中法在词典处理中使用十分广泛</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en-US" altLang="zh-CN" dirty="0">
                <a:latin typeface="黑体" panose="02010609060101010101" pitchFamily="2" charset="-122"/>
                <a:ea typeface="黑体" panose="02010609060101010101" pitchFamily="2" charset="-122"/>
                <a:cs typeface="+mn-ea"/>
                <a:sym typeface="+mn-ea"/>
              </a:rPr>
              <a:t>它先计算构成关键码的标识符的内码的平方, 然后按照哈希表的大小取中间的若干位作为哈希地址。</a:t>
            </a: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121</a:t>
            </a:fld>
            <a:endParaRPr lang="zh-CN" alt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11442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折叠法，</a:t>
            </a:r>
            <a:r>
              <a:rPr lang="zh-CN" altLang="en-US" sz="2800" dirty="0">
                <a:latin typeface="黑体" panose="02010609060101010101" pitchFamily="2" charset="-122"/>
                <a:ea typeface="黑体" panose="02010609060101010101" pitchFamily="2" charset="-122"/>
                <a:cs typeface="+mn-cs"/>
                <a:sym typeface="+mn-ea"/>
              </a:rPr>
              <a:t>将关键字分割成位数相同的若干部分(最后部分的位数可以不同)，然后取它们的叠加和(舍去进位)为哈希地址</a:t>
            </a:r>
            <a:endParaRPr lang="zh-CN" altLang="en-US" sz="2800" b="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移位叠加:将分割后的几部分低位对齐相加</a:t>
            </a:r>
            <a:endParaRPr lang="zh-CN" altLang="en-US" sz="2400" b="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间界叠加:从一端向另一端沿分割界来回折送，然后对齐相加</a:t>
            </a:r>
            <a:endParaRPr lang="zh-CN" altLang="en-US" sz="2400" b="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122</a:t>
            </a:fld>
            <a:endParaRPr lang="zh-CN" altLang="en-US"/>
          </a:p>
        </p:txBody>
      </p:sp>
      <p:grpSp>
        <p:nvGrpSpPr>
          <p:cNvPr id="7" name="组合 6"/>
          <p:cNvGrpSpPr/>
          <p:nvPr/>
        </p:nvGrpSpPr>
        <p:grpSpPr>
          <a:xfrm>
            <a:off x="2423160" y="2851150"/>
            <a:ext cx="6661785" cy="3691579"/>
            <a:chOff x="3816" y="3699"/>
            <a:chExt cx="10491" cy="5814"/>
          </a:xfrm>
        </p:grpSpPr>
        <p:grpSp>
          <p:nvGrpSpPr>
            <p:cNvPr id="149513" name="Group 9"/>
            <p:cNvGrpSpPr/>
            <p:nvPr/>
          </p:nvGrpSpPr>
          <p:grpSpPr>
            <a:xfrm>
              <a:off x="10763" y="4948"/>
              <a:ext cx="3375" cy="4565"/>
              <a:chOff x="3024" y="2352"/>
              <a:chExt cx="1350" cy="1826"/>
            </a:xfrm>
          </p:grpSpPr>
          <p:sp>
            <p:nvSpPr>
              <p:cNvPr id="149514" name="Text Box 10"/>
              <p:cNvSpPr txBox="1"/>
              <p:nvPr/>
            </p:nvSpPr>
            <p:spPr>
              <a:xfrm>
                <a:off x="3217" y="2352"/>
                <a:ext cx="787" cy="1143"/>
              </a:xfrm>
              <a:prstGeom prst="rect">
                <a:avLst/>
              </a:prstGeom>
              <a:noFill/>
              <a:ln w="9525">
                <a:noFill/>
              </a:ln>
            </p:spPr>
            <p:txBody>
              <a:bodyPr wrap="none" anchor="t" anchorCtr="0">
                <a:spAutoFit/>
              </a:bodyPr>
              <a:lstStyle/>
              <a:p>
                <a:pPr algn="r"/>
                <a:r>
                  <a:rPr lang="en-US" altLang="zh-CN" sz="2800" b="1" dirty="0">
                    <a:latin typeface="Times New Roman" panose="02020603050405020304" pitchFamily="18" charset="0"/>
                    <a:ea typeface="宋体" panose="02010600030101010101" pitchFamily="2" charset="-122"/>
                  </a:rPr>
                  <a:t>5 8 6 4</a:t>
                </a:r>
              </a:p>
              <a:p>
                <a:pPr algn="r"/>
                <a:r>
                  <a:rPr lang="en-US" altLang="zh-CN" sz="2800" b="1" dirty="0">
                    <a:latin typeface="Times New Roman" panose="02020603050405020304" pitchFamily="18" charset="0"/>
                    <a:ea typeface="宋体" panose="02010600030101010101" pitchFamily="2" charset="-122"/>
                  </a:rPr>
                  <a:t>0 2 2 4</a:t>
                </a:r>
              </a:p>
              <a:p>
                <a:pPr algn="r"/>
                <a:r>
                  <a:rPr lang="en-US" altLang="zh-CN" sz="2800" b="1" dirty="0">
                    <a:latin typeface="Times New Roman" panose="02020603050405020304" pitchFamily="18" charset="0"/>
                    <a:ea typeface="宋体" panose="02010600030101010101" pitchFamily="2" charset="-122"/>
                  </a:rPr>
                  <a:t>0 4</a:t>
                </a:r>
              </a:p>
              <a:p>
                <a:pPr algn="r"/>
                <a:r>
                  <a:rPr lang="en-US" altLang="zh-CN" sz="2800" b="1" dirty="0">
                    <a:solidFill>
                      <a:srgbClr val="FF3300"/>
                    </a:solidFill>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6 0 9 2</a:t>
                </a:r>
              </a:p>
            </p:txBody>
          </p:sp>
          <p:sp>
            <p:nvSpPr>
              <p:cNvPr id="149515" name="Line 11"/>
              <p:cNvSpPr/>
              <p:nvPr/>
            </p:nvSpPr>
            <p:spPr>
              <a:xfrm>
                <a:off x="3264" y="3168"/>
                <a:ext cx="768" cy="0"/>
              </a:xfrm>
              <a:prstGeom prst="line">
                <a:avLst/>
              </a:prstGeom>
              <a:ln w="9525" cap="flat" cmpd="sng">
                <a:solidFill>
                  <a:schemeClr val="tx1"/>
                </a:solidFill>
                <a:prstDash val="solid"/>
                <a:round/>
                <a:headEnd type="none" w="med" len="med"/>
                <a:tailEnd type="none" w="med" len="med"/>
              </a:ln>
            </p:spPr>
          </p:sp>
          <p:sp>
            <p:nvSpPr>
              <p:cNvPr id="149516" name="Text Box 12"/>
              <p:cNvSpPr txBox="1"/>
              <p:nvPr/>
            </p:nvSpPr>
            <p:spPr>
              <a:xfrm>
                <a:off x="3024" y="3504"/>
                <a:ext cx="1350" cy="329"/>
              </a:xfrm>
              <a:prstGeom prst="rect">
                <a:avLst/>
              </a:prstGeom>
              <a:noFill/>
              <a:ln w="9525">
                <a:noFill/>
              </a:ln>
            </p:spPr>
            <p:txBody>
              <a:bodyPr wrap="none" anchor="t" anchorCtr="0">
                <a:spAutoFit/>
              </a:bodyPr>
              <a:lstStyle/>
              <a:p>
                <a:r>
                  <a:rPr lang="en-US" altLang="zh-CN" sz="2800" b="1" dirty="0">
                    <a:latin typeface="Times New Roman" panose="02020603050405020304" pitchFamily="18" charset="0"/>
                    <a:ea typeface="宋体" panose="02010600030101010101" pitchFamily="2" charset="-122"/>
                  </a:rPr>
                  <a:t>H(key)=6092</a:t>
                </a:r>
              </a:p>
            </p:txBody>
          </p:sp>
          <p:sp>
            <p:nvSpPr>
              <p:cNvPr id="149517" name="Rectangle 13"/>
              <p:cNvSpPr/>
              <p:nvPr/>
            </p:nvSpPr>
            <p:spPr>
              <a:xfrm>
                <a:off x="3216" y="3888"/>
                <a:ext cx="886" cy="290"/>
              </a:xfrm>
              <a:prstGeom prst="rect">
                <a:avLst/>
              </a:prstGeom>
              <a:noFill/>
              <a:ln w="9525">
                <a:noFill/>
              </a:ln>
            </p:spPr>
            <p:txBody>
              <a:bodyPr wrap="none" anchor="t" anchorCtr="0">
                <a:spAutoFit/>
              </a:bodyPr>
              <a:lstStyle/>
              <a:p>
                <a:r>
                  <a:rPr lang="zh-CN" altLang="en-US" sz="2400" b="1" dirty="0">
                    <a:solidFill>
                      <a:srgbClr val="FF0000"/>
                    </a:solidFill>
                    <a:latin typeface="Times New Roman" panose="02020603050405020304" pitchFamily="18" charset="0"/>
                    <a:ea typeface="宋体" panose="02010600030101010101" pitchFamily="2" charset="-122"/>
                  </a:rPr>
                  <a:t>间界叠加</a:t>
                </a:r>
              </a:p>
            </p:txBody>
          </p:sp>
        </p:grpSp>
        <p:grpSp>
          <p:nvGrpSpPr>
            <p:cNvPr id="8" name="组合 7"/>
            <p:cNvGrpSpPr/>
            <p:nvPr/>
          </p:nvGrpSpPr>
          <p:grpSpPr>
            <a:xfrm>
              <a:off x="3816" y="3699"/>
              <a:ext cx="10491" cy="5814"/>
              <a:chOff x="3816" y="3699"/>
              <a:chExt cx="10491" cy="5814"/>
            </a:xfrm>
          </p:grpSpPr>
          <p:grpSp>
            <p:nvGrpSpPr>
              <p:cNvPr id="9" name="Group 4"/>
              <p:cNvGrpSpPr/>
              <p:nvPr/>
            </p:nvGrpSpPr>
            <p:grpSpPr>
              <a:xfrm>
                <a:off x="4043" y="4948"/>
                <a:ext cx="3375" cy="4565"/>
                <a:chOff x="576" y="2352"/>
                <a:chExt cx="1350" cy="1826"/>
              </a:xfrm>
            </p:grpSpPr>
            <p:sp>
              <p:nvSpPr>
                <p:cNvPr id="10" name="Text Box 5"/>
                <p:cNvSpPr txBox="1"/>
                <p:nvPr/>
              </p:nvSpPr>
              <p:spPr>
                <a:xfrm>
                  <a:off x="672" y="2352"/>
                  <a:ext cx="972" cy="1143"/>
                </a:xfrm>
                <a:prstGeom prst="rect">
                  <a:avLst/>
                </a:prstGeom>
                <a:noFill/>
                <a:ln w="9525">
                  <a:noFill/>
                </a:ln>
              </p:spPr>
              <p:txBody>
                <a:bodyPr anchor="t" anchorCtr="0">
                  <a:spAutoFit/>
                </a:bodyPr>
                <a:lstStyle/>
                <a:p>
                  <a:pPr algn="r"/>
                  <a:r>
                    <a:rPr lang="en-US" altLang="zh-CN" sz="2800" b="1" dirty="0">
                      <a:latin typeface="Times New Roman" panose="02020603050405020304" pitchFamily="18" charset="0"/>
                      <a:ea typeface="宋体" panose="02010600030101010101" pitchFamily="2" charset="-122"/>
                    </a:rPr>
                    <a:t>5 8 6 4</a:t>
                  </a:r>
                </a:p>
                <a:p>
                  <a:pPr algn="r"/>
                  <a:r>
                    <a:rPr lang="en-US" altLang="zh-CN" sz="2800" b="1" dirty="0">
                      <a:latin typeface="Times New Roman" panose="02020603050405020304" pitchFamily="18" charset="0"/>
                      <a:ea typeface="宋体" panose="02010600030101010101" pitchFamily="2" charset="-122"/>
                    </a:rPr>
                    <a:t>4 2 2 0</a:t>
                  </a:r>
                </a:p>
                <a:p>
                  <a:pPr algn="r"/>
                  <a:r>
                    <a:rPr lang="en-US" altLang="zh-CN" sz="2800" b="1" dirty="0">
                      <a:latin typeface="Times New Roman" panose="02020603050405020304" pitchFamily="18" charset="0"/>
                      <a:ea typeface="宋体" panose="02010600030101010101" pitchFamily="2" charset="-122"/>
                    </a:rPr>
                    <a:t>0 4</a:t>
                  </a:r>
                </a:p>
                <a:p>
                  <a:pPr algn="r"/>
                  <a:r>
                    <a:rPr lang="en-US" altLang="zh-CN" sz="2800" b="1" dirty="0">
                      <a:solidFill>
                        <a:srgbClr val="FF3300"/>
                      </a:solidFill>
                      <a:latin typeface="Times New Roman" panose="02020603050405020304" pitchFamily="18" charset="0"/>
                      <a:ea typeface="宋体" panose="02010600030101010101" pitchFamily="2" charset="-122"/>
                    </a:rPr>
                    <a:t>1</a:t>
                  </a:r>
                  <a:r>
                    <a:rPr lang="en-US" altLang="zh-CN" sz="2800" b="1" dirty="0">
                      <a:latin typeface="Times New Roman" panose="02020603050405020304" pitchFamily="18" charset="0"/>
                      <a:ea typeface="宋体" panose="02010600030101010101" pitchFamily="2" charset="-122"/>
                    </a:rPr>
                    <a:t> 0 0 8 8</a:t>
                  </a:r>
                </a:p>
              </p:txBody>
            </p:sp>
            <p:sp>
              <p:nvSpPr>
                <p:cNvPr id="11" name="Line 6"/>
                <p:cNvSpPr/>
                <p:nvPr/>
              </p:nvSpPr>
              <p:spPr>
                <a:xfrm>
                  <a:off x="768" y="3168"/>
                  <a:ext cx="1008" cy="0"/>
                </a:xfrm>
                <a:prstGeom prst="line">
                  <a:avLst/>
                </a:prstGeom>
                <a:ln w="9525" cap="flat" cmpd="sng">
                  <a:solidFill>
                    <a:schemeClr val="tx1"/>
                  </a:solidFill>
                  <a:prstDash val="solid"/>
                  <a:round/>
                  <a:headEnd type="none" w="med" len="med"/>
                  <a:tailEnd type="none" w="med" len="med"/>
                </a:ln>
              </p:spPr>
            </p:sp>
            <p:sp>
              <p:nvSpPr>
                <p:cNvPr id="12" name="Text Box 7"/>
                <p:cNvSpPr txBox="1"/>
                <p:nvPr/>
              </p:nvSpPr>
              <p:spPr>
                <a:xfrm>
                  <a:off x="576" y="3504"/>
                  <a:ext cx="1350" cy="329"/>
                </a:xfrm>
                <a:prstGeom prst="rect">
                  <a:avLst/>
                </a:prstGeom>
                <a:noFill/>
                <a:ln w="9525">
                  <a:noFill/>
                </a:ln>
              </p:spPr>
              <p:txBody>
                <a:bodyPr wrap="none" anchor="t" anchorCtr="0">
                  <a:spAutoFit/>
                </a:bodyPr>
                <a:lstStyle/>
                <a:p>
                  <a:r>
                    <a:rPr lang="en-US" altLang="zh-CN" sz="2800" b="1" dirty="0">
                      <a:latin typeface="Times New Roman" panose="02020603050405020304" pitchFamily="18" charset="0"/>
                      <a:ea typeface="宋体" panose="02010600030101010101" pitchFamily="2" charset="-122"/>
                    </a:rPr>
                    <a:t>H(key)=0088</a:t>
                  </a:r>
                </a:p>
              </p:txBody>
            </p:sp>
            <p:sp>
              <p:nvSpPr>
                <p:cNvPr id="13" name="Rectangle 8"/>
                <p:cNvSpPr/>
                <p:nvPr/>
              </p:nvSpPr>
              <p:spPr>
                <a:xfrm>
                  <a:off x="720" y="3888"/>
                  <a:ext cx="886" cy="290"/>
                </a:xfrm>
                <a:prstGeom prst="rect">
                  <a:avLst/>
                </a:prstGeom>
                <a:noFill/>
                <a:ln w="9525">
                  <a:noFill/>
                </a:ln>
              </p:spPr>
              <p:txBody>
                <a:bodyPr wrap="none" anchor="t" anchorCtr="0">
                  <a:spAutoFit/>
                </a:bodyPr>
                <a:lstStyle/>
                <a:p>
                  <a:r>
                    <a:rPr lang="zh-CN" altLang="en-US" sz="2400" b="1" dirty="0">
                      <a:solidFill>
                        <a:srgbClr val="FF0000"/>
                      </a:solidFill>
                      <a:latin typeface="Times New Roman" panose="02020603050405020304" pitchFamily="18" charset="0"/>
                      <a:ea typeface="宋体" panose="02010600030101010101" pitchFamily="2" charset="-122"/>
                    </a:rPr>
                    <a:t>移位叠加</a:t>
                  </a:r>
                </a:p>
              </p:txBody>
            </p:sp>
          </p:grpSp>
          <p:sp>
            <p:nvSpPr>
              <p:cNvPr id="14" name="文本框 13"/>
              <p:cNvSpPr txBox="1"/>
              <p:nvPr/>
            </p:nvSpPr>
            <p:spPr>
              <a:xfrm>
                <a:off x="3816" y="3699"/>
                <a:ext cx="10491" cy="1016"/>
              </a:xfrm>
              <a:prstGeom prst="rect">
                <a:avLst/>
              </a:prstGeom>
            </p:spPr>
            <p:txBody>
              <a:bodyPr vert="horz" wrap="square" lIns="91440" tIns="45720" rIns="91440" bIns="45720" rtlCol="0" anchor="t">
                <a:spAutoFit/>
              </a:bodyPr>
              <a:lstStyle/>
              <a:p>
                <a:pPr marL="0" lvl="0" indent="0">
                  <a:lnSpc>
                    <a:spcPct val="90000"/>
                  </a:lnSpc>
                  <a:spcBef>
                    <a:spcPts val="1000"/>
                  </a:spcBef>
                  <a:buClr>
                    <a:schemeClr val="accent2"/>
                  </a:buClr>
                  <a:buFont typeface="Wingdings" panose="05000000000000000000" pitchFamily="2" charset="2"/>
                  <a:buNone/>
                </a:pPr>
                <a:r>
                  <a:rPr lang="zh-CN" altLang="en-US" sz="2000" b="1" dirty="0">
                    <a:latin typeface="宋体" panose="02010600030101010101" pitchFamily="2" charset="-122"/>
                    <a:sym typeface="+mn-ea"/>
                  </a:rPr>
                  <a:t>例如图书都有国际标准图书编号</a:t>
                </a:r>
                <a:r>
                  <a:rPr lang="en-US" altLang="zh-CN" sz="2000" b="1" dirty="0">
                    <a:latin typeface="宋体" panose="02010600030101010101" pitchFamily="2" charset="-122"/>
                    <a:sym typeface="+mn-ea"/>
                  </a:rPr>
                  <a:t>ISBN</a:t>
                </a:r>
                <a:r>
                  <a:rPr lang="zh-CN" altLang="en-US" sz="2000" b="1" dirty="0">
                    <a:latin typeface="宋体" panose="02010600030101010101" pitchFamily="2" charset="-122"/>
                    <a:sym typeface="+mn-ea"/>
                  </a:rPr>
                  <a:t>号，当图书种类不超过</a:t>
                </a:r>
                <a:r>
                  <a:rPr lang="en-US" altLang="zh-CN" sz="2000" b="1" dirty="0">
                    <a:latin typeface="宋体" panose="02010600030101010101" pitchFamily="2" charset="-122"/>
                    <a:sym typeface="+mn-ea"/>
                  </a:rPr>
                  <a:t>10000</a:t>
                </a:r>
                <a:r>
                  <a:rPr lang="zh-CN" altLang="en-US" sz="2000" b="1" dirty="0">
                    <a:latin typeface="宋体" panose="02010600030101010101" pitchFamily="2" charset="-122"/>
                    <a:sym typeface="+mn-ea"/>
                  </a:rPr>
                  <a:t>种，可以采用折叠法构造一个四位数的哈希函数</a:t>
                </a:r>
              </a:p>
            </p:txBody>
          </p:sp>
        </p:grpSp>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11442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折叠法的特性：</a:t>
            </a:r>
            <a:r>
              <a:rPr lang="zh-CN" altLang="en-US" sz="2800" dirty="0">
                <a:latin typeface="黑体" panose="02010609060101010101" pitchFamily="2" charset="-122"/>
                <a:ea typeface="黑体" panose="02010609060101010101" pitchFamily="2" charset="-122"/>
                <a:sym typeface="+mn-ea"/>
              </a:rPr>
              <a:t>折叠法适合于关键字的数字位数特别多，而且每一位上数字分布大致均匀的情况</a:t>
            </a:r>
            <a:endParaRPr lang="zh-CN" altLang="en-US" sz="2800" b="0" dirty="0">
              <a:latin typeface="黑体" panose="02010609060101010101" pitchFamily="2" charset="-122"/>
              <a:ea typeface="黑体" panose="02010609060101010101" pitchFamily="2" charset="-122"/>
            </a:endParaRPr>
          </a:p>
          <a:p>
            <a:pPr lvl="1" algn="l" eaLnBrk="1" hangingPunct="1">
              <a:buClrTx/>
              <a:buSzTx/>
              <a:buChar char="•"/>
            </a:pPr>
            <a:endParaRPr lang="zh-CN" altLang="en-US" sz="2800" b="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123</a:t>
            </a:fld>
            <a:endParaRPr lang="zh-CN" alt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11442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除留余数法，</a:t>
            </a:r>
            <a:r>
              <a:rPr lang="zh-CN" altLang="en-US" sz="2800" dirty="0">
                <a:latin typeface="黑体" panose="02010609060101010101" pitchFamily="2" charset="-122"/>
                <a:ea typeface="黑体" panose="02010609060101010101" pitchFamily="2" charset="-122"/>
                <a:cs typeface="+mn-cs"/>
                <a:sym typeface="+mn-ea"/>
              </a:rPr>
              <a:t>取关键字被某个不大于哈希表长m的数p除后所得余数为哈希地址</a:t>
            </a:r>
            <a:endParaRPr lang="en-US" altLang="zh-CN" sz="2800" dirty="0">
              <a:latin typeface="黑体" panose="02010609060101010101" pitchFamily="2" charset="-122"/>
              <a:ea typeface="黑体" panose="02010609060101010101" pitchFamily="2" charset="-122"/>
              <a:sym typeface="+mn-ea"/>
            </a:endParaRPr>
          </a:p>
          <a:p>
            <a:pPr marL="0" lvl="1" indent="0" algn="l" eaLnBrk="1" hangingPunct="1">
              <a:buClrTx/>
              <a:buSzTx/>
              <a:buFont typeface="Wingdings" panose="05000000000000000000" charset="0"/>
              <a:buNone/>
            </a:pPr>
            <a:r>
              <a:rPr lang="en-US" altLang="zh-CN" sz="2800" dirty="0">
                <a:latin typeface="黑体" panose="02010609060101010101" pitchFamily="2" charset="-122"/>
                <a:ea typeface="黑体" panose="02010609060101010101" pitchFamily="2" charset="-122"/>
                <a:sym typeface="+mn-ea"/>
              </a:rPr>
              <a:t>H(key) = key MOD p   </a:t>
            </a:r>
            <a:r>
              <a:rPr lang="zh-CN" altLang="en-US" sz="2800" dirty="0">
                <a:latin typeface="黑体" panose="02010609060101010101" pitchFamily="2" charset="-122"/>
                <a:ea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sym typeface="+mn-ea"/>
              </a:rPr>
              <a:t>p≤m</a:t>
            </a:r>
            <a:r>
              <a:rPr lang="zh-CN" altLang="en-US" sz="2800" dirty="0">
                <a:latin typeface="黑体" panose="02010609060101010101" pitchFamily="2" charset="-122"/>
                <a:ea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sym typeface="+mn-ea"/>
              </a:rPr>
              <a:t>m</a:t>
            </a:r>
            <a:r>
              <a:rPr lang="zh-CN" altLang="en-US" sz="2800" dirty="0">
                <a:latin typeface="黑体" panose="02010609060101010101" pitchFamily="2" charset="-122"/>
                <a:ea typeface="黑体" panose="02010609060101010101" pitchFamily="2" charset="-122"/>
                <a:sym typeface="+mn-ea"/>
              </a:rPr>
              <a:t>为表长，</a:t>
            </a:r>
            <a:r>
              <a:rPr lang="en-US" altLang="zh-CN" sz="2800" dirty="0">
                <a:latin typeface="黑体" panose="02010609060101010101" pitchFamily="2" charset="-122"/>
                <a:ea typeface="黑体" panose="02010609060101010101" pitchFamily="2" charset="-122"/>
                <a:sym typeface="+mn-ea"/>
              </a:rPr>
              <a:t>p</a:t>
            </a:r>
            <a:r>
              <a:rPr lang="zh-CN" altLang="en-US" sz="2800" dirty="0">
                <a:latin typeface="黑体" panose="02010609060101010101" pitchFamily="2" charset="-122"/>
                <a:ea typeface="黑体" panose="02010609060101010101" pitchFamily="2" charset="-122"/>
                <a:sym typeface="+mn-ea"/>
              </a:rPr>
              <a:t>一般为不大于</a:t>
            </a:r>
            <a:r>
              <a:rPr lang="en-US" altLang="zh-CN" sz="2800" dirty="0">
                <a:latin typeface="黑体" panose="02010609060101010101" pitchFamily="2" charset="-122"/>
                <a:ea typeface="黑体" panose="02010609060101010101" pitchFamily="2" charset="-122"/>
                <a:sym typeface="+mn-ea"/>
              </a:rPr>
              <a:t>m</a:t>
            </a:r>
            <a:r>
              <a:rPr lang="zh-CN" altLang="en-US" sz="2800" dirty="0">
                <a:latin typeface="黑体" panose="02010609060101010101" pitchFamily="2" charset="-122"/>
                <a:ea typeface="黑体" panose="02010609060101010101" pitchFamily="2" charset="-122"/>
                <a:sym typeface="+mn-ea"/>
              </a:rPr>
              <a:t>的素数）</a:t>
            </a:r>
            <a:endParaRPr lang="zh-CN" altLang="en-US" sz="2400" b="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124</a:t>
            </a:fld>
            <a:endParaRPr lang="zh-CN" altLang="en-US"/>
          </a:p>
        </p:txBody>
      </p:sp>
      <p:sp>
        <p:nvSpPr>
          <p:cNvPr id="5" name="文本框 4"/>
          <p:cNvSpPr txBox="1"/>
          <p:nvPr/>
        </p:nvSpPr>
        <p:spPr>
          <a:xfrm>
            <a:off x="839470" y="3140710"/>
            <a:ext cx="9547225" cy="2522220"/>
          </a:xfrm>
          <a:prstGeom prst="rect">
            <a:avLst/>
          </a:prstGeom>
        </p:spPr>
        <p:txBody>
          <a:bodyPr vert="horz" wrap="square" lIns="91440" tIns="45720" rIns="91440" bIns="45720" rtlCol="0" anchor="t">
            <a:noAutofit/>
          </a:bodyPr>
          <a:lstStyle/>
          <a:p>
            <a:pPr lvl="1" indent="0" eaLnBrk="1" hangingPunct="1">
              <a:buClr>
                <a:schemeClr val="accent2"/>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给定一组关键字为</a:t>
            </a:r>
            <a:r>
              <a:rPr lang="en-US" altLang="zh-CN" sz="2400" dirty="0">
                <a:latin typeface="黑体" panose="02010609060101010101" pitchFamily="2" charset="-122"/>
                <a:ea typeface="黑体" panose="02010609060101010101" pitchFamily="2" charset="-122"/>
                <a:sym typeface="+mn-ea"/>
              </a:rPr>
              <a:t>: 12,39,18,24,33,21</a:t>
            </a:r>
            <a:r>
              <a:rPr lang="zh-CN" altLang="en-US" sz="2400" dirty="0">
                <a:latin typeface="黑体" panose="02010609060101010101" pitchFamily="2" charset="-122"/>
                <a:ea typeface="黑体" panose="02010609060101010101" pitchFamily="2" charset="-122"/>
                <a:sym typeface="+mn-ea"/>
              </a:rPr>
              <a:t>，若取 </a:t>
            </a:r>
            <a:r>
              <a:rPr lang="en-US" altLang="zh-CN" sz="2400" dirty="0">
                <a:latin typeface="黑体" panose="02010609060101010101" pitchFamily="2" charset="-122"/>
                <a:ea typeface="黑体" panose="02010609060101010101" pitchFamily="2" charset="-122"/>
                <a:sym typeface="+mn-ea"/>
              </a:rPr>
              <a:t>p=9, </a:t>
            </a:r>
            <a:r>
              <a:rPr lang="zh-CN" altLang="en-US" sz="2400" dirty="0">
                <a:latin typeface="黑体" panose="02010609060101010101" pitchFamily="2" charset="-122"/>
                <a:ea typeface="黑体" panose="02010609060101010101" pitchFamily="2" charset="-122"/>
                <a:sym typeface="+mn-ea"/>
              </a:rPr>
              <a:t>则他们对应的哈希函数值将为</a:t>
            </a:r>
            <a:r>
              <a:rPr lang="en-US" altLang="zh-CN" sz="2400" dirty="0">
                <a:latin typeface="黑体" panose="02010609060101010101" pitchFamily="2" charset="-122"/>
                <a:ea typeface="黑体" panose="02010609060101010101" pitchFamily="2" charset="-122"/>
                <a:sym typeface="+mn-ea"/>
              </a:rPr>
              <a:t>: </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70000"/>
              </a:spcBef>
              <a:spcAft>
                <a:spcPct val="2000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3, 3, 0, 6, 6, 3</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sym typeface="+mn-ea"/>
              </a:rPr>
              <a:t>可见，若</a:t>
            </a:r>
            <a:r>
              <a:rPr lang="en-US" altLang="zh-CN" sz="2400" dirty="0">
                <a:latin typeface="黑体" panose="02010609060101010101" pitchFamily="2" charset="-122"/>
                <a:ea typeface="黑体" panose="02010609060101010101" pitchFamily="2" charset="-122"/>
                <a:sym typeface="+mn-ea"/>
              </a:rPr>
              <a:t>p</a:t>
            </a:r>
            <a:r>
              <a:rPr lang="zh-CN" altLang="en-US" sz="2400" dirty="0">
                <a:latin typeface="黑体" panose="02010609060101010101" pitchFamily="2" charset="-122"/>
                <a:ea typeface="黑体" panose="02010609060101010101" pitchFamily="2" charset="-122"/>
                <a:sym typeface="+mn-ea"/>
              </a:rPr>
              <a:t>中含质因子</a:t>
            </a:r>
            <a:r>
              <a:rPr lang="en-US" altLang="zh-CN" sz="2400" dirty="0">
                <a:latin typeface="黑体" panose="02010609060101010101" pitchFamily="2" charset="-122"/>
                <a:ea typeface="黑体" panose="02010609060101010101" pitchFamily="2" charset="-122"/>
                <a:sym typeface="+mn-ea"/>
              </a:rPr>
              <a:t>3, </a:t>
            </a:r>
            <a:r>
              <a:rPr lang="zh-CN" altLang="en-US" sz="2400" dirty="0">
                <a:latin typeface="黑体" panose="02010609060101010101" pitchFamily="2" charset="-122"/>
                <a:ea typeface="黑体" panose="02010609060101010101" pitchFamily="2" charset="-122"/>
                <a:sym typeface="+mn-ea"/>
              </a:rPr>
              <a:t>则所有含质因子</a:t>
            </a:r>
            <a:r>
              <a:rPr lang="en-US" altLang="zh-CN" sz="2400" dirty="0">
                <a:latin typeface="黑体" panose="02010609060101010101" pitchFamily="2" charset="-122"/>
                <a:ea typeface="黑体" panose="02010609060101010101" pitchFamily="2" charset="-122"/>
                <a:sym typeface="+mn-ea"/>
              </a:rPr>
              <a:t>3</a:t>
            </a:r>
            <a:r>
              <a:rPr lang="zh-CN" altLang="en-US" sz="2400" dirty="0">
                <a:latin typeface="黑体" panose="02010609060101010101" pitchFamily="2" charset="-122"/>
                <a:ea typeface="黑体" panose="02010609060101010101" pitchFamily="2" charset="-122"/>
                <a:sym typeface="+mn-ea"/>
              </a:rPr>
              <a:t>的关键字均映射到</a:t>
            </a:r>
            <a:r>
              <a:rPr lang="zh-CN" altLang="en-US" sz="2400" dirty="0">
                <a:ea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sym typeface="+mn-ea"/>
              </a:rPr>
              <a:t>3 </a:t>
            </a:r>
            <a:r>
              <a:rPr lang="zh-CN" altLang="en-US" sz="2400" dirty="0">
                <a:latin typeface="黑体" panose="02010609060101010101" pitchFamily="2" charset="-122"/>
                <a:ea typeface="黑体" panose="02010609060101010101" pitchFamily="2" charset="-122"/>
                <a:sym typeface="+mn-ea"/>
              </a:rPr>
              <a:t>的倍数</a:t>
            </a:r>
            <a:r>
              <a:rPr lang="zh-CN" altLang="en-US" sz="2400" dirty="0">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的地址上，从而增加了</a:t>
            </a:r>
            <a:r>
              <a:rPr lang="zh-CN" altLang="en-US" sz="2400" dirty="0">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冲突</a:t>
            </a:r>
            <a:r>
              <a:rPr lang="zh-CN" altLang="en-US" sz="2400" dirty="0">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的可能</a:t>
            </a:r>
            <a:endParaRPr lang="zh-CN" altLang="en-US" sz="2400" b="0" dirty="0">
              <a:latin typeface="黑体" panose="02010609060101010101" pitchFamily="2" charset="-122"/>
              <a:ea typeface="黑体" panose="02010609060101010101" pitchFamily="2" charset="-122"/>
            </a:endParaRPr>
          </a:p>
          <a:p>
            <a:pPr marL="965200" lvl="1" indent="-508000" eaLnBrk="1" hangingPunct="1">
              <a:buClr>
                <a:schemeClr val="accent2"/>
              </a:buClr>
              <a:buFont typeface="Wingdings" panose="05000000000000000000" pitchFamily="2" charset="2"/>
              <a:buChar char="q"/>
            </a:pPr>
            <a:endParaRPr lang="zh-CN" altLang="en-US" sz="2400" b="0" dirty="0">
              <a:latin typeface="黑体" panose="02010609060101010101" pitchFamily="2" charset="-122"/>
              <a:ea typeface="黑体" panose="02010609060101010101" pitchFamily="2" charset="-122"/>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11442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除留余数法的特性</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除留余数法是一种最简单、最常用的构造哈希函数的方法</a:t>
            </a:r>
            <a:endParaRPr lang="zh-CN" altLang="en-US" sz="2400" b="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除留余数法可以和其他哈希函数混合使用，</a:t>
            </a:r>
            <a:r>
              <a:rPr lang="zh-CN" altLang="en-US" sz="2400" dirty="0">
                <a:latin typeface="黑体" panose="02010609060101010101" pitchFamily="2" charset="-122"/>
                <a:ea typeface="黑体" panose="02010609060101010101" pitchFamily="2" charset="-122"/>
                <a:cs typeface="+mn-cs"/>
                <a:sym typeface="+mn-ea"/>
              </a:rPr>
              <a:t>可在折叠、平方取中等运算之后取模</a:t>
            </a:r>
            <a:endParaRPr lang="zh-CN" altLang="en-US" sz="2400" b="0" dirty="0">
              <a:latin typeface="黑体" panose="02010609060101010101" pitchFamily="2" charset="-122"/>
              <a:ea typeface="黑体" panose="02010609060101010101" pitchFamily="2" charset="-122"/>
              <a:cs typeface="+mn-cs"/>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cs"/>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125</a:t>
            </a:fld>
            <a:endParaRPr lang="zh-CN" alt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解决哈希冲突的方法，处理哈希冲突是指为产生冲突的地址寻找下一个哈希地址。</a:t>
            </a: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解决哈希冲突的方法主要有三种：</a:t>
            </a:r>
            <a:endParaRPr lang="zh-CN" altLang="en-US" sz="2800" dirty="0">
              <a:latin typeface="黑体" panose="02010609060101010101" pitchFamily="2" charset="-122"/>
              <a:ea typeface="黑体" panose="02010609060101010101" pitchFamily="2" charset="-122"/>
              <a:cs typeface="+mn-ea"/>
            </a:endParaRPr>
          </a:p>
          <a:p>
            <a:pPr lvl="1" algn="l" eaLnBrk="1" hangingPunct="1">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开放定址法</a:t>
            </a:r>
          </a:p>
          <a:p>
            <a:pPr lvl="1" algn="l" eaLnBrk="1" hangingPunct="1">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链地址法</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再哈希法</a:t>
            </a:r>
          </a:p>
          <a:p>
            <a:pPr lvl="1" algn="l" eaLnBrk="1" hangingPunct="1">
              <a:spcBef>
                <a:spcPct val="20000"/>
              </a:spcBef>
              <a:buClrTx/>
              <a:buSzTx/>
              <a:buChar char="•"/>
            </a:pPr>
            <a:r>
              <a:rPr lang="zh-CN" altLang="en-US" sz="2400" b="0" dirty="0">
                <a:latin typeface="黑体" panose="02010609060101010101" pitchFamily="2" charset="-122"/>
                <a:ea typeface="黑体" panose="02010609060101010101" pitchFamily="2" charset="-122"/>
                <a:cs typeface="黑体" panose="02010609060101010101" pitchFamily="2" charset="-122"/>
              </a:rPr>
              <a:t>建立公共溢出区法</a:t>
            </a: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126</a:t>
            </a:fld>
            <a:endParaRPr lang="zh-CN" alt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开放定址法，为产生冲突的地址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H(key) </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求得一个地址序列：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H</a:t>
            </a:r>
            <a:r>
              <a:rPr lang="en-US" altLang="zh-CN" sz="2800" baseline="-25000" dirty="0">
                <a:latin typeface="黑体" panose="02010609060101010101" pitchFamily="2" charset="-122"/>
                <a:ea typeface="黑体" panose="02010609060101010101" pitchFamily="2" charset="-122"/>
                <a:cs typeface="黑体" panose="02010609060101010101" pitchFamily="2" charset="-122"/>
                <a:sym typeface="+mn-ea"/>
              </a:rPr>
              <a:t>0</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H</a:t>
            </a:r>
            <a:r>
              <a:rPr lang="en-US" altLang="zh-CN" sz="2800" baseline="-25000" dirty="0">
                <a:latin typeface="黑体" panose="02010609060101010101" pitchFamily="2" charset="-122"/>
                <a:ea typeface="黑体" panose="02010609060101010101" pitchFamily="2" charset="-122"/>
                <a:cs typeface="黑体" panose="02010609060101010101" pitchFamily="2" charset="-122"/>
                <a:sym typeface="+mn-ea"/>
              </a:rPr>
              <a:t>1</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H</a:t>
            </a:r>
            <a:r>
              <a:rPr lang="en-US" altLang="zh-CN" sz="2800" baseline="-25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 H</a:t>
            </a:r>
            <a:r>
              <a:rPr lang="en-US" altLang="zh-CN" sz="2800" baseline="-25000" dirty="0">
                <a:latin typeface="黑体" panose="02010609060101010101" pitchFamily="2" charset="-122"/>
                <a:ea typeface="黑体" panose="02010609060101010101" pitchFamily="2" charset="-122"/>
                <a:cs typeface="黑体" panose="02010609060101010101" pitchFamily="2" charset="-122"/>
                <a:sym typeface="+mn-ea"/>
              </a:rPr>
              <a:t>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1≤s≤m-1</a:t>
            </a:r>
            <a:endParaRPr lang="en-US" altLang="zh-CN" sz="2800"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50000"/>
              </a:spcBef>
              <a:spcAft>
                <a:spcPct val="5000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H</a:t>
            </a:r>
            <a:r>
              <a:rPr lang="en-US" altLang="zh-CN" sz="2400" baseline="-25000" dirty="0">
                <a:latin typeface="黑体" panose="02010609060101010101" pitchFamily="2" charset="-122"/>
                <a:ea typeface="黑体" panose="02010609060101010101" pitchFamily="2" charset="-122"/>
                <a:sym typeface="+mn-ea"/>
              </a:rPr>
              <a:t>i</a:t>
            </a:r>
            <a:r>
              <a:rPr lang="en-US" altLang="zh-CN" sz="2400" dirty="0">
                <a:latin typeface="黑体" panose="02010609060101010101" pitchFamily="2" charset="-122"/>
                <a:ea typeface="黑体" panose="02010609060101010101" pitchFamily="2" charset="-122"/>
                <a:sym typeface="+mn-ea"/>
              </a:rPr>
              <a:t> = [H(key)+</a:t>
            </a:r>
            <a:r>
              <a:rPr lang="en-US" altLang="zh-CN" sz="2400" b="1" dirty="0">
                <a:solidFill>
                  <a:srgbClr val="FF0000"/>
                </a:solidFill>
                <a:latin typeface="黑体" panose="02010609060101010101" pitchFamily="2" charset="-122"/>
                <a:ea typeface="黑体" panose="02010609060101010101" pitchFamily="2" charset="-122"/>
                <a:sym typeface="+mn-ea"/>
              </a:rPr>
              <a:t>d</a:t>
            </a:r>
            <a:r>
              <a:rPr lang="en-US" altLang="zh-CN" sz="2400" b="1" baseline="-25000" dirty="0">
                <a:solidFill>
                  <a:srgbClr val="FF0000"/>
                </a:solidFill>
                <a:latin typeface="黑体" panose="02010609060101010101" pitchFamily="2" charset="-122"/>
                <a:ea typeface="黑体" panose="02010609060101010101" pitchFamily="2" charset="-122"/>
                <a:sym typeface="+mn-ea"/>
              </a:rPr>
              <a:t>i</a:t>
            </a:r>
            <a:r>
              <a:rPr lang="en-US" altLang="zh-CN" sz="2400" dirty="0">
                <a:latin typeface="黑体" panose="02010609060101010101" pitchFamily="2" charset="-122"/>
                <a:ea typeface="黑体" panose="02010609060101010101" pitchFamily="2" charset="-122"/>
                <a:sym typeface="+mn-ea"/>
              </a:rPr>
              <a:t>] MOD m 		i=1,2,</a:t>
            </a:r>
            <a:r>
              <a:rPr lang="en-US" altLang="zh-CN" sz="2400" dirty="0">
                <a:ea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sym typeface="+mn-ea"/>
              </a:rPr>
              <a:t>,s</a:t>
            </a: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开放定址法有三种方法：</a:t>
            </a:r>
            <a:endParaRPr lang="en-US" altLang="zh-CN" sz="2800" dirty="0">
              <a:latin typeface="黑体" panose="02010609060101010101" pitchFamily="2" charset="-122"/>
              <a:ea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当</a:t>
            </a:r>
            <a:r>
              <a:rPr lang="en-US" altLang="zh-CN" b="1" dirty="0">
                <a:solidFill>
                  <a:srgbClr val="FF0000"/>
                </a:solidFill>
                <a:latin typeface="黑体" panose="02010609060101010101" pitchFamily="2" charset="-122"/>
                <a:ea typeface="黑体" panose="02010609060101010101" pitchFamily="2" charset="-122"/>
                <a:sym typeface="+mn-ea"/>
              </a:rPr>
              <a:t>d</a:t>
            </a:r>
            <a:r>
              <a:rPr lang="en-US" altLang="zh-CN" b="1" baseline="-25000" dirty="0">
                <a:solidFill>
                  <a:srgbClr val="FF0000"/>
                </a:solidFill>
                <a:latin typeface="黑体" panose="02010609060101010101" pitchFamily="2" charset="-122"/>
                <a:ea typeface="黑体" panose="02010609060101010101" pitchFamily="2" charset="-122"/>
                <a:sym typeface="+mn-ea"/>
              </a:rPr>
              <a:t>i</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取1,2,3,…,m-1时，称为线性探测再散列</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当</a:t>
            </a:r>
            <a:r>
              <a:rPr lang="en-US" altLang="zh-CN" b="1" dirty="0">
                <a:solidFill>
                  <a:srgbClr val="FF0000"/>
                </a:solidFill>
                <a:latin typeface="黑体" panose="02010609060101010101" pitchFamily="2" charset="-122"/>
                <a:ea typeface="黑体" panose="02010609060101010101" pitchFamily="2" charset="-122"/>
                <a:sym typeface="+mn-ea"/>
              </a:rPr>
              <a:t>d</a:t>
            </a:r>
            <a:r>
              <a:rPr lang="en-US" altLang="zh-CN" b="1" baseline="-25000" dirty="0">
                <a:solidFill>
                  <a:srgbClr val="FF0000"/>
                </a:solidFill>
                <a:latin typeface="黑体" panose="02010609060101010101" pitchFamily="2" charset="-122"/>
                <a:ea typeface="黑体" panose="02010609060101010101" pitchFamily="2" charset="-122"/>
                <a:sym typeface="+mn-ea"/>
              </a:rPr>
              <a:t>i</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取= ±1</a:t>
            </a:r>
            <a:r>
              <a:rPr lang="zh-CN" altLang="en-US" sz="2400" baseline="300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±2</a:t>
            </a:r>
            <a:r>
              <a:rPr lang="zh-CN" altLang="en-US" baseline="300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±3</a:t>
            </a:r>
            <a:r>
              <a:rPr lang="zh-CN" altLang="en-US" baseline="300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,…时，称为二次探测再散列</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当</a:t>
            </a:r>
            <a:r>
              <a:rPr lang="en-US" altLang="zh-CN" b="1" dirty="0">
                <a:solidFill>
                  <a:srgbClr val="FF0000"/>
                </a:solidFill>
                <a:latin typeface="黑体" panose="02010609060101010101" pitchFamily="2" charset="-122"/>
                <a:ea typeface="黑体" panose="02010609060101010101" pitchFamily="2" charset="-122"/>
                <a:sym typeface="+mn-ea"/>
              </a:rPr>
              <a:t>d</a:t>
            </a:r>
            <a:r>
              <a:rPr lang="en-US" altLang="zh-CN" b="1" baseline="-25000" dirty="0">
                <a:solidFill>
                  <a:srgbClr val="FF0000"/>
                </a:solidFill>
                <a:latin typeface="黑体" panose="02010609060101010101" pitchFamily="2" charset="-122"/>
                <a:ea typeface="黑体" panose="02010609060101010101" pitchFamily="2" charset="-122"/>
                <a:sym typeface="+mn-ea"/>
              </a:rPr>
              <a:t>i</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取伪随机数序列，称为伪随机探测再散列</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marL="457200" lvl="1" indent="0" eaLnBrk="1" hangingPunct="1">
              <a:buClr>
                <a:schemeClr val="accent2"/>
              </a:buClr>
              <a:buFont typeface="Wingdings" panose="05000000000000000000" pitchFamily="2" charset="2"/>
              <a:buNone/>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127</a:t>
            </a:fld>
            <a:endParaRPr lang="zh-CN" alt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开放</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定址法之一，</a:t>
            </a:r>
            <a:r>
              <a:rPr lang="zh-CN" altLang="en-US" sz="2800" dirty="0">
                <a:latin typeface="黑体" panose="02010609060101010101" pitchFamily="2" charset="-122"/>
                <a:ea typeface="黑体" panose="02010609060101010101" pitchFamily="2" charset="-122"/>
                <a:cs typeface="+mn-ea"/>
                <a:sym typeface="+mn-ea"/>
              </a:rPr>
              <a:t>线性探测再散列解决冲突，哈希表构建举例</a:t>
            </a:r>
            <a:endParaRPr lang="zh-CN" altLang="en-US" sz="2800" b="0" dirty="0">
              <a:latin typeface="黑体" panose="02010609060101010101" pitchFamily="2" charset="-122"/>
              <a:ea typeface="黑体" panose="02010609060101010101" pitchFamily="2" charset="-122"/>
              <a:cs typeface="+mn-ea"/>
            </a:endParaRPr>
          </a:p>
          <a:p>
            <a:pPr marL="0" lvl="1" indent="0" algn="l" eaLnBrk="1" hangingPunct="1">
              <a:spcBef>
                <a:spcPct val="20000"/>
              </a:spcBef>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关键字集合{19,01,23,14,55,68,11,82,36}，设定哈希函数H(key)=key MOD 11 (表长=11)</a:t>
            </a:r>
          </a:p>
          <a:p>
            <a:pPr marL="0" lvl="1" indent="0" algn="l" eaLnBrk="1" hangingPunct="1">
              <a:spcBef>
                <a:spcPct val="20000"/>
              </a:spcBef>
              <a:buClrTx/>
              <a:buSzTx/>
              <a:buNone/>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0" algn="l" eaLnBrk="1" hangingPunct="1">
              <a:spcBef>
                <a:spcPct val="20000"/>
              </a:spcBef>
              <a:buClrTx/>
              <a:buSzTx/>
              <a:buNone/>
            </a:pP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128</a:t>
            </a:fld>
            <a:endParaRPr lang="zh-CN" altLang="en-US"/>
          </a:p>
        </p:txBody>
      </p:sp>
      <p:sp>
        <p:nvSpPr>
          <p:cNvPr id="5" name="文本框 4"/>
          <p:cNvSpPr txBox="1"/>
          <p:nvPr/>
        </p:nvSpPr>
        <p:spPr>
          <a:xfrm>
            <a:off x="983615" y="4436745"/>
            <a:ext cx="9128760" cy="1630045"/>
          </a:xfrm>
          <a:prstGeom prst="rect">
            <a:avLst/>
          </a:prstGeom>
        </p:spPr>
        <p:txBody>
          <a:bodyPr vert="horz" wrap="square" lIns="91440" tIns="45720" rIns="91440" bIns="45720" rtlCol="0" anchor="t">
            <a:spAutoFit/>
          </a:bodyPr>
          <a:lstStyle/>
          <a:p>
            <a:pPr marL="965200" lvl="1" indent="-508000" eaLnBrk="1" hangingPunct="1">
              <a:buClr>
                <a:srgbClr val="000000"/>
              </a:buClr>
              <a:buFont typeface="Wingdings" panose="05000000000000000000" charset="0"/>
              <a:buChar char="Ø"/>
            </a:pPr>
            <a:r>
              <a:rPr lang="zh-CN" altLang="en-US" sz="2000" dirty="0">
                <a:latin typeface="黑体" panose="02010609060101010101" pitchFamily="2" charset="-122"/>
                <a:ea typeface="黑体" panose="02010609060101010101" pitchFamily="2" charset="-122"/>
                <a:sym typeface="+mn-ea"/>
              </a:rPr>
              <a:t>前面</a:t>
            </a:r>
            <a:r>
              <a:rPr lang="en-US" altLang="zh-CN" sz="2000" dirty="0">
                <a:latin typeface="黑体" panose="02010609060101010101" pitchFamily="2" charset="-122"/>
                <a:ea typeface="黑体" panose="02010609060101010101" pitchFamily="2" charset="-122"/>
                <a:sym typeface="+mn-ea"/>
              </a:rPr>
              <a:t>19</a:t>
            </a:r>
            <a:r>
              <a:rPr lang="zh-CN" altLang="en-US" sz="2000" dirty="0">
                <a:latin typeface="黑体" panose="02010609060101010101" pitchFamily="2" charset="-122"/>
                <a:ea typeface="黑体" panose="02010609060101010101" pitchFamily="2" charset="-122"/>
                <a:sym typeface="+mn-ea"/>
              </a:rPr>
              <a:t>、</a:t>
            </a:r>
            <a:r>
              <a:rPr lang="en-US" altLang="zh-CN" sz="2000" dirty="0">
                <a:latin typeface="黑体" panose="02010609060101010101" pitchFamily="2" charset="-122"/>
                <a:ea typeface="黑体" panose="02010609060101010101" pitchFamily="2" charset="-122"/>
                <a:sym typeface="+mn-ea"/>
              </a:rPr>
              <a:t>01</a:t>
            </a:r>
            <a:r>
              <a:rPr lang="zh-CN" altLang="en-US" sz="2000" dirty="0">
                <a:latin typeface="黑体" panose="02010609060101010101" pitchFamily="2" charset="-122"/>
                <a:ea typeface="黑体" panose="02010609060101010101" pitchFamily="2" charset="-122"/>
                <a:sym typeface="+mn-ea"/>
              </a:rPr>
              <a:t>依次插入</a:t>
            </a: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23</a:t>
            </a:r>
            <a:r>
              <a:rPr lang="zh-CN" altLang="en-US" sz="2000" dirty="0">
                <a:latin typeface="黑体" panose="02010609060101010101" pitchFamily="2" charset="-122"/>
                <a:ea typeface="黑体" panose="02010609060101010101" pitchFamily="2" charset="-122"/>
                <a:sym typeface="+mn-ea"/>
              </a:rPr>
              <a:t>的哈希地址为</a:t>
            </a:r>
            <a:r>
              <a:rPr lang="en-US" altLang="zh-CN" sz="2000" dirty="0">
                <a:latin typeface="黑体" panose="02010609060101010101" pitchFamily="2" charset="-122"/>
                <a:ea typeface="黑体" panose="02010609060101010101" pitchFamily="2" charset="-122"/>
                <a:sym typeface="+mn-ea"/>
              </a:rPr>
              <a:t>1</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01</a:t>
            </a:r>
            <a:r>
              <a:rPr lang="zh-CN" altLang="en-US" sz="2000" dirty="0">
                <a:latin typeface="黑体" panose="02010609060101010101" pitchFamily="2" charset="-122"/>
                <a:ea typeface="黑体" panose="02010609060101010101" pitchFamily="2" charset="-122"/>
                <a:sym typeface="+mn-ea"/>
              </a:rPr>
              <a:t>冲突，地址</a:t>
            </a:r>
            <a:r>
              <a:rPr lang="en-US" altLang="zh-CN" sz="2000" dirty="0">
                <a:latin typeface="黑体" panose="02010609060101010101" pitchFamily="2" charset="-122"/>
                <a:ea typeface="黑体" panose="02010609060101010101" pitchFamily="2" charset="-122"/>
                <a:sym typeface="+mn-ea"/>
              </a:rPr>
              <a:t>+1</a:t>
            </a:r>
            <a:r>
              <a:rPr lang="zh-CN" altLang="en-US" sz="2000" dirty="0">
                <a:latin typeface="黑体" panose="02010609060101010101" pitchFamily="2" charset="-122"/>
                <a:ea typeface="黑体" panose="02010609060101010101" pitchFamily="2" charset="-122"/>
                <a:sym typeface="+mn-ea"/>
              </a:rPr>
              <a:t>寻找下一地址，不冲突则插入</a:t>
            </a:r>
            <a:endParaRPr lang="zh-CN" altLang="en-US" sz="2000" b="0" dirty="0">
              <a:latin typeface="黑体" panose="02010609060101010101" pitchFamily="2" charset="-122"/>
              <a:ea typeface="黑体" panose="02010609060101010101" pitchFamily="2" charset="-122"/>
            </a:endParaRP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14</a:t>
            </a:r>
            <a:r>
              <a:rPr lang="zh-CN" altLang="en-US" sz="2000" dirty="0">
                <a:latin typeface="黑体" panose="02010609060101010101" pitchFamily="2" charset="-122"/>
                <a:ea typeface="黑体" panose="02010609060101010101" pitchFamily="2" charset="-122"/>
                <a:sym typeface="+mn-ea"/>
              </a:rPr>
              <a:t>、</a:t>
            </a:r>
            <a:r>
              <a:rPr lang="en-US" altLang="zh-CN" sz="2000" dirty="0">
                <a:latin typeface="黑体" panose="02010609060101010101" pitchFamily="2" charset="-122"/>
                <a:ea typeface="黑体" panose="02010609060101010101" pitchFamily="2" charset="-122"/>
                <a:sym typeface="+mn-ea"/>
              </a:rPr>
              <a:t>55</a:t>
            </a:r>
            <a:r>
              <a:rPr lang="zh-CN" altLang="en-US" sz="2000" dirty="0">
                <a:latin typeface="黑体" panose="02010609060101010101" pitchFamily="2" charset="-122"/>
                <a:ea typeface="黑体" panose="02010609060101010101" pitchFamily="2" charset="-122"/>
                <a:sym typeface="+mn-ea"/>
              </a:rPr>
              <a:t>都无冲突，直接插入</a:t>
            </a:r>
            <a:endParaRPr lang="zh-CN" altLang="en-US" sz="2000" b="0" dirty="0">
              <a:latin typeface="黑体" panose="02010609060101010101" pitchFamily="2" charset="-122"/>
              <a:ea typeface="黑体" panose="02010609060101010101" pitchFamily="2" charset="-122"/>
            </a:endParaRP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68</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23</a:t>
            </a:r>
            <a:r>
              <a:rPr lang="zh-CN" altLang="en-US" sz="2000" dirty="0">
                <a:latin typeface="黑体" panose="02010609060101010101" pitchFamily="2" charset="-122"/>
                <a:ea typeface="黑体" panose="02010609060101010101" pitchFamily="2" charset="-122"/>
                <a:sym typeface="+mn-ea"/>
              </a:rPr>
              <a:t>冲突，共查找</a:t>
            </a:r>
            <a:r>
              <a:rPr lang="en-US" altLang="zh-CN" sz="2000" dirty="0">
                <a:latin typeface="黑体" panose="02010609060101010101" pitchFamily="2" charset="-122"/>
                <a:ea typeface="黑体" panose="02010609060101010101" pitchFamily="2" charset="-122"/>
                <a:sym typeface="+mn-ea"/>
              </a:rPr>
              <a:t>3</a:t>
            </a:r>
            <a:r>
              <a:rPr lang="zh-CN" altLang="en-US" sz="2000" dirty="0">
                <a:latin typeface="黑体" panose="02010609060101010101" pitchFamily="2" charset="-122"/>
                <a:ea typeface="黑体" panose="02010609060101010101" pitchFamily="2" charset="-122"/>
                <a:sym typeface="+mn-ea"/>
              </a:rPr>
              <a:t>次后插入；</a:t>
            </a:r>
            <a:r>
              <a:rPr lang="en-US" altLang="zh-CN" sz="2000" dirty="0">
                <a:latin typeface="黑体" panose="02010609060101010101" pitchFamily="2" charset="-122"/>
                <a:ea typeface="黑体" panose="02010609060101010101" pitchFamily="2" charset="-122"/>
                <a:sym typeface="+mn-ea"/>
              </a:rPr>
              <a:t>11</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55</a:t>
            </a:r>
            <a:r>
              <a:rPr lang="zh-CN" altLang="en-US" sz="2000" dirty="0">
                <a:latin typeface="黑体" panose="02010609060101010101" pitchFamily="2" charset="-122"/>
                <a:ea typeface="黑体" panose="02010609060101010101" pitchFamily="2" charset="-122"/>
                <a:sym typeface="+mn-ea"/>
              </a:rPr>
              <a:t>冲突，共查找</a:t>
            </a:r>
            <a:r>
              <a:rPr lang="en-US" altLang="zh-CN" sz="2000" dirty="0">
                <a:latin typeface="黑体" panose="02010609060101010101" pitchFamily="2" charset="-122"/>
                <a:ea typeface="黑体" panose="02010609060101010101" pitchFamily="2" charset="-122"/>
                <a:sym typeface="+mn-ea"/>
              </a:rPr>
              <a:t>6</a:t>
            </a:r>
            <a:r>
              <a:rPr lang="zh-CN" altLang="en-US" sz="2000" dirty="0">
                <a:latin typeface="黑体" panose="02010609060101010101" pitchFamily="2" charset="-122"/>
                <a:ea typeface="黑体" panose="02010609060101010101" pitchFamily="2" charset="-122"/>
                <a:sym typeface="+mn-ea"/>
              </a:rPr>
              <a:t>次后插入</a:t>
            </a:r>
            <a:endParaRPr lang="zh-CN" altLang="en-US" sz="2000" b="0" dirty="0">
              <a:latin typeface="黑体" panose="02010609060101010101" pitchFamily="2" charset="-122"/>
              <a:ea typeface="黑体" panose="02010609060101010101" pitchFamily="2" charset="-122"/>
            </a:endParaRP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82</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11</a:t>
            </a:r>
            <a:r>
              <a:rPr lang="zh-CN" altLang="en-US" sz="2000" dirty="0">
                <a:latin typeface="黑体" panose="02010609060101010101" pitchFamily="2" charset="-122"/>
                <a:ea typeface="黑体" panose="02010609060101010101" pitchFamily="2" charset="-122"/>
                <a:sym typeface="+mn-ea"/>
              </a:rPr>
              <a:t>冲突，共查找</a:t>
            </a:r>
            <a:r>
              <a:rPr lang="en-US" altLang="zh-CN" sz="2000" dirty="0">
                <a:latin typeface="黑体" panose="02010609060101010101" pitchFamily="2" charset="-122"/>
                <a:ea typeface="黑体" panose="02010609060101010101" pitchFamily="2" charset="-122"/>
                <a:sym typeface="+mn-ea"/>
              </a:rPr>
              <a:t>2</a:t>
            </a:r>
            <a:r>
              <a:rPr lang="zh-CN" altLang="en-US" sz="2000" dirty="0">
                <a:latin typeface="黑体" panose="02010609060101010101" pitchFamily="2" charset="-122"/>
                <a:ea typeface="黑体" panose="02010609060101010101" pitchFamily="2" charset="-122"/>
                <a:sym typeface="+mn-ea"/>
              </a:rPr>
              <a:t>次后插入；</a:t>
            </a:r>
            <a:r>
              <a:rPr lang="en-US" altLang="zh-CN" sz="2000" dirty="0">
                <a:latin typeface="黑体" panose="02010609060101010101" pitchFamily="2" charset="-122"/>
                <a:ea typeface="黑体" panose="02010609060101010101" pitchFamily="2" charset="-122"/>
                <a:sym typeface="+mn-ea"/>
              </a:rPr>
              <a:t>36</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14</a:t>
            </a:r>
            <a:r>
              <a:rPr lang="zh-CN" altLang="en-US" sz="2000" dirty="0">
                <a:latin typeface="黑体" panose="02010609060101010101" pitchFamily="2" charset="-122"/>
                <a:ea typeface="黑体" panose="02010609060101010101" pitchFamily="2" charset="-122"/>
                <a:sym typeface="+mn-ea"/>
              </a:rPr>
              <a:t>冲突，共查找</a:t>
            </a:r>
            <a:r>
              <a:rPr lang="en-US" altLang="zh-CN" sz="2000" dirty="0">
                <a:latin typeface="黑体" panose="02010609060101010101" pitchFamily="2" charset="-122"/>
                <a:ea typeface="黑体" panose="02010609060101010101" pitchFamily="2" charset="-122"/>
                <a:sym typeface="+mn-ea"/>
              </a:rPr>
              <a:t>5</a:t>
            </a:r>
            <a:r>
              <a:rPr lang="zh-CN" altLang="en-US" sz="2000" dirty="0">
                <a:latin typeface="黑体" panose="02010609060101010101" pitchFamily="2" charset="-122"/>
                <a:ea typeface="黑体" panose="02010609060101010101" pitchFamily="2" charset="-122"/>
                <a:sym typeface="+mn-ea"/>
              </a:rPr>
              <a:t>次后插入</a:t>
            </a:r>
          </a:p>
        </p:txBody>
      </p:sp>
      <p:sp>
        <p:nvSpPr>
          <p:cNvPr id="1019908" name="Text Box 4"/>
          <p:cNvSpPr txBox="1"/>
          <p:nvPr/>
        </p:nvSpPr>
        <p:spPr>
          <a:xfrm>
            <a:off x="7712393" y="2898140"/>
            <a:ext cx="487680" cy="460375"/>
          </a:xfrm>
          <a:prstGeom prst="rect">
            <a:avLst/>
          </a:prstGeom>
          <a:noFill/>
          <a:ln w="9525">
            <a:noFill/>
          </a:ln>
        </p:spPr>
        <p:txBody>
          <a:bodyPr wrap="none" anchor="t" anchorCtr="0">
            <a:spAutoFit/>
          </a:bodyPr>
          <a:lstStyle/>
          <a:p>
            <a:r>
              <a:rPr lang="en-US" altLang="zh-CN" sz="2400" b="1" dirty="0">
                <a:solidFill>
                  <a:srgbClr val="A50021"/>
                </a:solidFill>
                <a:latin typeface="Times New Roman" panose="02020603050405020304" pitchFamily="18" charset="0"/>
                <a:ea typeface="宋体" panose="02010600030101010101" pitchFamily="2" charset="-122"/>
              </a:rPr>
              <a:t>19</a:t>
            </a:r>
            <a:endParaRPr lang="en-US" altLang="zh-CN" sz="2400" b="1" dirty="0">
              <a:latin typeface="Times New Roman" panose="02020603050405020304" pitchFamily="18" charset="0"/>
              <a:ea typeface="宋体" panose="02010600030101010101" pitchFamily="2" charset="-122"/>
            </a:endParaRPr>
          </a:p>
        </p:txBody>
      </p:sp>
      <p:sp>
        <p:nvSpPr>
          <p:cNvPr id="1019909" name="Text Box 5"/>
          <p:cNvSpPr txBox="1"/>
          <p:nvPr/>
        </p:nvSpPr>
        <p:spPr>
          <a:xfrm>
            <a:off x="2606993" y="2898140"/>
            <a:ext cx="487680" cy="460375"/>
          </a:xfrm>
          <a:prstGeom prst="rect">
            <a:avLst/>
          </a:prstGeom>
          <a:noFill/>
          <a:ln w="9525">
            <a:noFill/>
          </a:ln>
        </p:spPr>
        <p:txBody>
          <a:bodyPr wrap="none" anchor="t" anchorCtr="0">
            <a:spAutoFit/>
          </a:bodyPr>
          <a:lstStyle/>
          <a:p>
            <a:r>
              <a:rPr lang="en-US" altLang="zh-CN" sz="2400" b="1" dirty="0">
                <a:solidFill>
                  <a:srgbClr val="A50021"/>
                </a:solidFill>
                <a:latin typeface="Times New Roman" panose="02020603050405020304" pitchFamily="18" charset="0"/>
                <a:ea typeface="宋体" panose="02010600030101010101" pitchFamily="2" charset="-122"/>
              </a:rPr>
              <a:t>01</a:t>
            </a:r>
            <a:endParaRPr lang="en-US" altLang="zh-CN" sz="2400" b="1" dirty="0">
              <a:latin typeface="Times New Roman" panose="02020603050405020304" pitchFamily="18" charset="0"/>
              <a:ea typeface="宋体" panose="02010600030101010101" pitchFamily="2" charset="-122"/>
            </a:endParaRPr>
          </a:p>
        </p:txBody>
      </p:sp>
      <p:sp>
        <p:nvSpPr>
          <p:cNvPr id="1019910" name="Text Box 6"/>
          <p:cNvSpPr txBox="1"/>
          <p:nvPr/>
        </p:nvSpPr>
        <p:spPr>
          <a:xfrm>
            <a:off x="3388043" y="2898140"/>
            <a:ext cx="487680" cy="460375"/>
          </a:xfrm>
          <a:prstGeom prst="rect">
            <a:avLst/>
          </a:prstGeom>
          <a:noFill/>
          <a:ln w="9525">
            <a:noFill/>
          </a:ln>
        </p:spPr>
        <p:txBody>
          <a:bodyPr wrap="none" anchor="t" anchorCtr="0">
            <a:spAutoFit/>
          </a:bodyPr>
          <a:lstStyle/>
          <a:p>
            <a:r>
              <a:rPr lang="en-US" altLang="zh-CN" sz="2400" b="1" dirty="0">
                <a:solidFill>
                  <a:srgbClr val="3333FF"/>
                </a:solidFill>
                <a:latin typeface="Times New Roman" panose="02020603050405020304" pitchFamily="18" charset="0"/>
                <a:ea typeface="宋体" panose="02010600030101010101" pitchFamily="2" charset="-122"/>
              </a:rPr>
              <a:t>23</a:t>
            </a:r>
            <a:endParaRPr lang="en-US" altLang="zh-CN" sz="2400" b="1" dirty="0">
              <a:latin typeface="Times New Roman" panose="02020603050405020304" pitchFamily="18" charset="0"/>
              <a:ea typeface="宋体" panose="02010600030101010101" pitchFamily="2" charset="-122"/>
            </a:endParaRPr>
          </a:p>
        </p:txBody>
      </p:sp>
      <p:sp>
        <p:nvSpPr>
          <p:cNvPr id="1019911" name="Text Box 7"/>
          <p:cNvSpPr txBox="1"/>
          <p:nvPr/>
        </p:nvSpPr>
        <p:spPr>
          <a:xfrm>
            <a:off x="4073843" y="2898140"/>
            <a:ext cx="487680" cy="460375"/>
          </a:xfrm>
          <a:prstGeom prst="rect">
            <a:avLst/>
          </a:prstGeom>
          <a:noFill/>
          <a:ln w="9525">
            <a:noFill/>
          </a:ln>
        </p:spPr>
        <p:txBody>
          <a:bodyPr wrap="none" anchor="t" anchorCtr="0">
            <a:spAutoFit/>
          </a:bodyPr>
          <a:lstStyle/>
          <a:p>
            <a:r>
              <a:rPr lang="en-US" altLang="zh-CN" sz="2400" b="1" dirty="0">
                <a:solidFill>
                  <a:srgbClr val="A50021"/>
                </a:solidFill>
                <a:latin typeface="Times New Roman" panose="02020603050405020304" pitchFamily="18" charset="0"/>
                <a:ea typeface="宋体" panose="02010600030101010101" pitchFamily="2" charset="-122"/>
              </a:rPr>
              <a:t>14</a:t>
            </a:r>
            <a:endParaRPr lang="en-US" altLang="zh-CN" sz="2400" b="1" dirty="0">
              <a:latin typeface="Times New Roman" panose="02020603050405020304" pitchFamily="18" charset="0"/>
              <a:ea typeface="宋体" panose="02010600030101010101" pitchFamily="2" charset="-122"/>
            </a:endParaRPr>
          </a:p>
        </p:txBody>
      </p:sp>
      <p:sp>
        <p:nvSpPr>
          <p:cNvPr id="1019912" name="Text Box 8"/>
          <p:cNvSpPr txBox="1"/>
          <p:nvPr/>
        </p:nvSpPr>
        <p:spPr>
          <a:xfrm>
            <a:off x="1940243" y="2898140"/>
            <a:ext cx="487680" cy="460375"/>
          </a:xfrm>
          <a:prstGeom prst="rect">
            <a:avLst/>
          </a:prstGeom>
          <a:noFill/>
          <a:ln w="9525">
            <a:noFill/>
          </a:ln>
        </p:spPr>
        <p:txBody>
          <a:bodyPr wrap="none" anchor="t" anchorCtr="0">
            <a:spAutoFit/>
          </a:bodyPr>
          <a:lstStyle/>
          <a:p>
            <a:r>
              <a:rPr lang="en-US" altLang="zh-CN" sz="2400" b="1" dirty="0">
                <a:solidFill>
                  <a:srgbClr val="A50021"/>
                </a:solidFill>
                <a:latin typeface="Times New Roman" panose="02020603050405020304" pitchFamily="18" charset="0"/>
                <a:ea typeface="宋体" panose="02010600030101010101" pitchFamily="2" charset="-122"/>
              </a:rPr>
              <a:t>55</a:t>
            </a:r>
            <a:endParaRPr lang="en-US" altLang="zh-CN" sz="2400" b="1" dirty="0">
              <a:latin typeface="Times New Roman" panose="02020603050405020304" pitchFamily="18" charset="0"/>
              <a:ea typeface="宋体" panose="02010600030101010101" pitchFamily="2" charset="-122"/>
            </a:endParaRPr>
          </a:p>
        </p:txBody>
      </p:sp>
      <p:sp>
        <p:nvSpPr>
          <p:cNvPr id="1019913" name="Text Box 9"/>
          <p:cNvSpPr txBox="1"/>
          <p:nvPr/>
        </p:nvSpPr>
        <p:spPr>
          <a:xfrm>
            <a:off x="4816793" y="2898140"/>
            <a:ext cx="487680" cy="460375"/>
          </a:xfrm>
          <a:prstGeom prst="rect">
            <a:avLst/>
          </a:prstGeom>
          <a:noFill/>
          <a:ln w="9525">
            <a:noFill/>
          </a:ln>
        </p:spPr>
        <p:txBody>
          <a:bodyPr wrap="none" anchor="t" anchorCtr="0">
            <a:spAutoFit/>
          </a:bodyPr>
          <a:lstStyle/>
          <a:p>
            <a:r>
              <a:rPr lang="en-US" altLang="zh-CN" sz="2400" b="1" dirty="0">
                <a:solidFill>
                  <a:srgbClr val="FF00FF"/>
                </a:solidFill>
                <a:latin typeface="Times New Roman" panose="02020603050405020304" pitchFamily="18" charset="0"/>
                <a:ea typeface="宋体" panose="02010600030101010101" pitchFamily="2" charset="-122"/>
              </a:rPr>
              <a:t>68</a:t>
            </a:r>
            <a:endParaRPr lang="en-US" altLang="zh-CN" sz="2400" b="1" dirty="0">
              <a:latin typeface="Times New Roman" panose="02020603050405020304" pitchFamily="18" charset="0"/>
              <a:ea typeface="宋体" panose="02010600030101010101" pitchFamily="2" charset="-122"/>
            </a:endParaRPr>
          </a:p>
        </p:txBody>
      </p:sp>
      <p:sp>
        <p:nvSpPr>
          <p:cNvPr id="1019914" name="Text Box 10"/>
          <p:cNvSpPr txBox="1"/>
          <p:nvPr/>
        </p:nvSpPr>
        <p:spPr>
          <a:xfrm>
            <a:off x="5521643" y="2898140"/>
            <a:ext cx="470535" cy="460375"/>
          </a:xfrm>
          <a:prstGeom prst="rect">
            <a:avLst/>
          </a:prstGeom>
          <a:noFill/>
          <a:ln w="9525">
            <a:noFill/>
          </a:ln>
        </p:spPr>
        <p:txBody>
          <a:bodyPr wrap="none" anchor="t" anchorCtr="0">
            <a:spAutoFit/>
          </a:bodyPr>
          <a:lstStyle/>
          <a:p>
            <a:r>
              <a:rPr lang="en-US" altLang="zh-CN" sz="2400" b="1" dirty="0">
                <a:solidFill>
                  <a:srgbClr val="006600"/>
                </a:solidFill>
                <a:latin typeface="Times New Roman" panose="02020603050405020304" pitchFamily="18" charset="0"/>
                <a:ea typeface="宋体" panose="02010600030101010101" pitchFamily="2" charset="-122"/>
              </a:rPr>
              <a:t>11</a:t>
            </a:r>
            <a:endParaRPr lang="en-US" altLang="zh-CN" sz="2400" b="1" dirty="0">
              <a:latin typeface="Times New Roman" panose="02020603050405020304" pitchFamily="18" charset="0"/>
              <a:ea typeface="宋体" panose="02010600030101010101" pitchFamily="2" charset="-122"/>
            </a:endParaRPr>
          </a:p>
        </p:txBody>
      </p:sp>
      <p:sp>
        <p:nvSpPr>
          <p:cNvPr id="1019915" name="Text Box 11"/>
          <p:cNvSpPr txBox="1"/>
          <p:nvPr/>
        </p:nvSpPr>
        <p:spPr>
          <a:xfrm>
            <a:off x="6207443" y="2898140"/>
            <a:ext cx="487680" cy="460375"/>
          </a:xfrm>
          <a:prstGeom prst="rect">
            <a:avLst/>
          </a:prstGeom>
          <a:noFill/>
          <a:ln w="9525">
            <a:noFill/>
          </a:ln>
        </p:spPr>
        <p:txBody>
          <a:bodyPr wrap="none" anchor="t" anchorCtr="0">
            <a:spAutoFit/>
          </a:bodyPr>
          <a:lstStyle/>
          <a:p>
            <a:r>
              <a:rPr lang="en-US" altLang="zh-CN" sz="2400" b="1" dirty="0">
                <a:solidFill>
                  <a:srgbClr val="3333FF"/>
                </a:solidFill>
                <a:latin typeface="Times New Roman" panose="02020603050405020304" pitchFamily="18" charset="0"/>
                <a:ea typeface="宋体" panose="02010600030101010101" pitchFamily="2" charset="-122"/>
              </a:rPr>
              <a:t>82</a:t>
            </a:r>
            <a:endParaRPr lang="en-US" altLang="zh-CN" sz="2400" b="1" dirty="0">
              <a:latin typeface="Times New Roman" panose="02020603050405020304" pitchFamily="18" charset="0"/>
              <a:ea typeface="宋体" panose="02010600030101010101" pitchFamily="2" charset="-122"/>
            </a:endParaRPr>
          </a:p>
        </p:txBody>
      </p:sp>
      <p:sp>
        <p:nvSpPr>
          <p:cNvPr id="1019916" name="Text Box 12"/>
          <p:cNvSpPr txBox="1"/>
          <p:nvPr/>
        </p:nvSpPr>
        <p:spPr>
          <a:xfrm>
            <a:off x="6969443" y="2898140"/>
            <a:ext cx="487680" cy="460375"/>
          </a:xfrm>
          <a:prstGeom prst="rect">
            <a:avLst/>
          </a:prstGeom>
          <a:noFill/>
          <a:ln w="9525">
            <a:noFill/>
          </a:ln>
        </p:spPr>
        <p:txBody>
          <a:bodyPr wrap="none" anchor="t" anchorCtr="0">
            <a:spAutoFit/>
          </a:bodyPr>
          <a:lstStyle/>
          <a:p>
            <a:r>
              <a:rPr lang="en-US" altLang="zh-CN" sz="2400" b="1" dirty="0">
                <a:solidFill>
                  <a:srgbClr val="FF0000"/>
                </a:solidFill>
                <a:latin typeface="Times New Roman" panose="02020603050405020304" pitchFamily="18" charset="0"/>
                <a:ea typeface="宋体" panose="02010600030101010101" pitchFamily="2" charset="-122"/>
              </a:rPr>
              <a:t>36</a:t>
            </a:r>
            <a:endParaRPr lang="en-US" altLang="zh-CN" sz="2400" b="1" dirty="0">
              <a:latin typeface="Times New Roman" panose="02020603050405020304" pitchFamily="18" charset="0"/>
              <a:ea typeface="宋体" panose="02010600030101010101" pitchFamily="2" charset="-122"/>
            </a:endParaRPr>
          </a:p>
        </p:txBody>
      </p:sp>
      <p:sp>
        <p:nvSpPr>
          <p:cNvPr id="1019917" name="Text Box 13"/>
          <p:cNvSpPr txBox="1"/>
          <p:nvPr/>
        </p:nvSpPr>
        <p:spPr>
          <a:xfrm>
            <a:off x="1440180" y="3374390"/>
            <a:ext cx="7416800" cy="614045"/>
          </a:xfrm>
          <a:prstGeom prst="rect">
            <a:avLst/>
          </a:prstGeom>
          <a:noFill/>
          <a:ln w="9525">
            <a:noFill/>
          </a:ln>
        </p:spPr>
        <p:txBody>
          <a:bodyPr anchor="t" anchorCtr="0">
            <a:spAutoFit/>
          </a:bodyPr>
          <a:lstStyle/>
          <a:p>
            <a:r>
              <a:rPr lang="zh-CN" altLang="en-US" sz="1200" b="1" dirty="0">
                <a:solidFill>
                  <a:srgbClr val="A50021"/>
                </a:solidFill>
                <a:latin typeface="Times New Roman" panose="02020603050405020304" pitchFamily="18" charset="0"/>
                <a:ea typeface="宋体" panose="02010600030101010101" pitchFamily="2" charset="-122"/>
              </a:rPr>
              <a:t>查找    </a:t>
            </a:r>
            <a:r>
              <a:rPr lang="en-US" altLang="zh-CN" sz="2200" b="1" dirty="0">
                <a:solidFill>
                  <a:srgbClr val="A50021"/>
                </a:solidFill>
                <a:latin typeface="Arial" panose="020B0604020202020204" pitchFamily="34" charset="0"/>
                <a:ea typeface="宋体" panose="02010600030101010101" pitchFamily="2" charset="-122"/>
              </a:rPr>
              <a:t>1        1        2        1       3       6       2        5        1</a:t>
            </a:r>
            <a:endParaRPr lang="en-US" altLang="zh-CN" sz="2200" b="1" dirty="0">
              <a:solidFill>
                <a:srgbClr val="A50021"/>
              </a:solidFill>
              <a:latin typeface="Times New Roman" panose="02020603050405020304" pitchFamily="18" charset="0"/>
              <a:ea typeface="宋体" panose="02010600030101010101" pitchFamily="2" charset="-122"/>
            </a:endParaRPr>
          </a:p>
          <a:p>
            <a:r>
              <a:rPr lang="zh-CN" altLang="en-US" sz="1200" b="1" dirty="0">
                <a:solidFill>
                  <a:srgbClr val="A50021"/>
                </a:solidFill>
                <a:latin typeface="Times New Roman" panose="02020603050405020304" pitchFamily="18" charset="0"/>
                <a:ea typeface="宋体" panose="02010600030101010101" pitchFamily="2" charset="-122"/>
              </a:rPr>
              <a:t>次数</a:t>
            </a:r>
          </a:p>
        </p:txBody>
      </p:sp>
      <p:graphicFrame>
        <p:nvGraphicFramePr>
          <p:cNvPr id="1019918" name="Group 14"/>
          <p:cNvGraphicFramePr>
            <a:graphicFrameLocks noGrp="1"/>
          </p:cNvGraphicFramePr>
          <p:nvPr/>
        </p:nvGraphicFramePr>
        <p:xfrm>
          <a:off x="1844993" y="2852103"/>
          <a:ext cx="8001000" cy="533400"/>
        </p:xfrm>
        <a:graphic>
          <a:graphicData uri="http://schemas.openxmlformats.org/drawingml/2006/table">
            <a:tbl>
              <a:tblPr/>
              <a:tblGrid>
                <a:gridCol w="727075">
                  <a:extLst>
                    <a:ext uri="{9D8B030D-6E8A-4147-A177-3AD203B41FA5}">
                      <a16:colId xmlns:a16="http://schemas.microsoft.com/office/drawing/2014/main" val="20000"/>
                    </a:ext>
                  </a:extLst>
                </a:gridCol>
                <a:gridCol w="727075">
                  <a:extLst>
                    <a:ext uri="{9D8B030D-6E8A-4147-A177-3AD203B41FA5}">
                      <a16:colId xmlns:a16="http://schemas.microsoft.com/office/drawing/2014/main" val="20001"/>
                    </a:ext>
                  </a:extLst>
                </a:gridCol>
                <a:gridCol w="727075">
                  <a:extLst>
                    <a:ext uri="{9D8B030D-6E8A-4147-A177-3AD203B41FA5}">
                      <a16:colId xmlns:a16="http://schemas.microsoft.com/office/drawing/2014/main" val="20002"/>
                    </a:ext>
                  </a:extLst>
                </a:gridCol>
                <a:gridCol w="727075">
                  <a:extLst>
                    <a:ext uri="{9D8B030D-6E8A-4147-A177-3AD203B41FA5}">
                      <a16:colId xmlns:a16="http://schemas.microsoft.com/office/drawing/2014/main" val="20003"/>
                    </a:ext>
                  </a:extLst>
                </a:gridCol>
                <a:gridCol w="727075">
                  <a:extLst>
                    <a:ext uri="{9D8B030D-6E8A-4147-A177-3AD203B41FA5}">
                      <a16:colId xmlns:a16="http://schemas.microsoft.com/office/drawing/2014/main" val="20004"/>
                    </a:ext>
                  </a:extLst>
                </a:gridCol>
                <a:gridCol w="730250">
                  <a:extLst>
                    <a:ext uri="{9D8B030D-6E8A-4147-A177-3AD203B41FA5}">
                      <a16:colId xmlns:a16="http://schemas.microsoft.com/office/drawing/2014/main" val="20005"/>
                    </a:ext>
                  </a:extLst>
                </a:gridCol>
                <a:gridCol w="727075">
                  <a:extLst>
                    <a:ext uri="{9D8B030D-6E8A-4147-A177-3AD203B41FA5}">
                      <a16:colId xmlns:a16="http://schemas.microsoft.com/office/drawing/2014/main" val="20006"/>
                    </a:ext>
                  </a:extLst>
                </a:gridCol>
                <a:gridCol w="727075">
                  <a:extLst>
                    <a:ext uri="{9D8B030D-6E8A-4147-A177-3AD203B41FA5}">
                      <a16:colId xmlns:a16="http://schemas.microsoft.com/office/drawing/2014/main" val="20007"/>
                    </a:ext>
                  </a:extLst>
                </a:gridCol>
                <a:gridCol w="727075">
                  <a:extLst>
                    <a:ext uri="{9D8B030D-6E8A-4147-A177-3AD203B41FA5}">
                      <a16:colId xmlns:a16="http://schemas.microsoft.com/office/drawing/2014/main" val="20008"/>
                    </a:ext>
                  </a:extLst>
                </a:gridCol>
                <a:gridCol w="727075">
                  <a:extLst>
                    <a:ext uri="{9D8B030D-6E8A-4147-A177-3AD203B41FA5}">
                      <a16:colId xmlns:a16="http://schemas.microsoft.com/office/drawing/2014/main" val="20009"/>
                    </a:ext>
                  </a:extLst>
                </a:gridCol>
                <a:gridCol w="727075">
                  <a:extLst>
                    <a:ext uri="{9D8B030D-6E8A-4147-A177-3AD203B41FA5}">
                      <a16:colId xmlns:a16="http://schemas.microsoft.com/office/drawing/2014/main" val="20010"/>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56712" name="Text Box 40"/>
          <p:cNvSpPr txBox="1"/>
          <p:nvPr/>
        </p:nvSpPr>
        <p:spPr>
          <a:xfrm>
            <a:off x="1919605" y="2420303"/>
            <a:ext cx="7696200" cy="398780"/>
          </a:xfrm>
          <a:prstGeom prst="rect">
            <a:avLst/>
          </a:prstGeom>
          <a:noFill/>
          <a:ln w="9525">
            <a:noFill/>
          </a:ln>
        </p:spPr>
        <p:txBody>
          <a:bodyPr anchor="t" anchorCtr="0">
            <a:spAutoFit/>
          </a:bodyPr>
          <a:lstStyle/>
          <a:p>
            <a:pPr algn="dist">
              <a:spcBef>
                <a:spcPct val="50000"/>
              </a:spcBef>
            </a:pPr>
            <a:r>
              <a:rPr lang="en-US" altLang="zh-CN" sz="2000" dirty="0">
                <a:latin typeface="Tahoma" panose="020B0604030504040204" charset="0"/>
                <a:ea typeface="宋体" panose="02010600030101010101" pitchFamily="2" charset="-122"/>
              </a:rPr>
              <a:t>0   1   2   3   4   5   6   7   8   9  10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19908"/>
                                        </p:tgtEl>
                                        <p:attrNameLst>
                                          <p:attrName>style.visibility</p:attrName>
                                        </p:attrNameLst>
                                      </p:cBhvr>
                                      <p:to>
                                        <p:strVal val="visible"/>
                                      </p:to>
                                    </p:set>
                                    <p:animEffect transition="in" filter="wipe(up)">
                                      <p:cBhvr>
                                        <p:cTn id="7" dur="500"/>
                                        <p:tgtEl>
                                          <p:spTgt spid="10199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19909"/>
                                        </p:tgtEl>
                                        <p:attrNameLst>
                                          <p:attrName>style.visibility</p:attrName>
                                        </p:attrNameLst>
                                      </p:cBhvr>
                                      <p:to>
                                        <p:strVal val="visible"/>
                                      </p:to>
                                    </p:set>
                                    <p:animEffect transition="in" filter="wipe(up)">
                                      <p:cBhvr>
                                        <p:cTn id="12" dur="500"/>
                                        <p:tgtEl>
                                          <p:spTgt spid="101990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19910"/>
                                        </p:tgtEl>
                                        <p:attrNameLst>
                                          <p:attrName>style.visibility</p:attrName>
                                        </p:attrNameLst>
                                      </p:cBhvr>
                                      <p:to>
                                        <p:strVal val="visible"/>
                                      </p:to>
                                    </p:set>
                                    <p:animEffect transition="in" filter="wipe(up)">
                                      <p:cBhvr>
                                        <p:cTn id="17" dur="500"/>
                                        <p:tgtEl>
                                          <p:spTgt spid="10199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19911"/>
                                        </p:tgtEl>
                                        <p:attrNameLst>
                                          <p:attrName>style.visibility</p:attrName>
                                        </p:attrNameLst>
                                      </p:cBhvr>
                                      <p:to>
                                        <p:strVal val="visible"/>
                                      </p:to>
                                    </p:set>
                                    <p:animEffect transition="in" filter="wipe(up)">
                                      <p:cBhvr>
                                        <p:cTn id="22" dur="500"/>
                                        <p:tgtEl>
                                          <p:spTgt spid="10199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19912"/>
                                        </p:tgtEl>
                                        <p:attrNameLst>
                                          <p:attrName>style.visibility</p:attrName>
                                        </p:attrNameLst>
                                      </p:cBhvr>
                                      <p:to>
                                        <p:strVal val="visible"/>
                                      </p:to>
                                    </p:set>
                                    <p:animEffect transition="in" filter="wipe(up)">
                                      <p:cBhvr>
                                        <p:cTn id="27" dur="500"/>
                                        <p:tgtEl>
                                          <p:spTgt spid="10199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19913"/>
                                        </p:tgtEl>
                                        <p:attrNameLst>
                                          <p:attrName>style.visibility</p:attrName>
                                        </p:attrNameLst>
                                      </p:cBhvr>
                                      <p:to>
                                        <p:strVal val="visible"/>
                                      </p:to>
                                    </p:set>
                                    <p:animEffect transition="in" filter="wipe(up)">
                                      <p:cBhvr>
                                        <p:cTn id="32" dur="500"/>
                                        <p:tgtEl>
                                          <p:spTgt spid="10199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019914"/>
                                        </p:tgtEl>
                                        <p:attrNameLst>
                                          <p:attrName>style.visibility</p:attrName>
                                        </p:attrNameLst>
                                      </p:cBhvr>
                                      <p:to>
                                        <p:strVal val="visible"/>
                                      </p:to>
                                    </p:set>
                                    <p:animEffect transition="in" filter="wipe(up)">
                                      <p:cBhvr>
                                        <p:cTn id="37" dur="500"/>
                                        <p:tgtEl>
                                          <p:spTgt spid="10199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019915"/>
                                        </p:tgtEl>
                                        <p:attrNameLst>
                                          <p:attrName>style.visibility</p:attrName>
                                        </p:attrNameLst>
                                      </p:cBhvr>
                                      <p:to>
                                        <p:strVal val="visible"/>
                                      </p:to>
                                    </p:set>
                                    <p:animEffect transition="in" filter="wipe(up)">
                                      <p:cBhvr>
                                        <p:cTn id="42" dur="500"/>
                                        <p:tgtEl>
                                          <p:spTgt spid="10199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019916"/>
                                        </p:tgtEl>
                                        <p:attrNameLst>
                                          <p:attrName>style.visibility</p:attrName>
                                        </p:attrNameLst>
                                      </p:cBhvr>
                                      <p:to>
                                        <p:strVal val="visible"/>
                                      </p:to>
                                    </p:set>
                                    <p:animEffect transition="in" filter="wipe(up)">
                                      <p:cBhvr>
                                        <p:cTn id="47" dur="500"/>
                                        <p:tgtEl>
                                          <p:spTgt spid="10199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19917"/>
                                        </p:tgtEl>
                                        <p:attrNameLst>
                                          <p:attrName>style.visibility</p:attrName>
                                        </p:attrNameLst>
                                      </p:cBhvr>
                                      <p:to>
                                        <p:strVal val="visible"/>
                                      </p:to>
                                    </p:set>
                                    <p:animEffect transition="in" filter="wipe(left)">
                                      <p:cBhvr>
                                        <p:cTn id="52" dur="500"/>
                                        <p:tgtEl>
                                          <p:spTgt spid="1019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9908" grpId="0"/>
      <p:bldP spid="1019909" grpId="0"/>
      <p:bldP spid="1019910" grpId="0"/>
      <p:bldP spid="1019911" grpId="0"/>
      <p:bldP spid="1019912" grpId="0"/>
      <p:bldP spid="1019913" grpId="0"/>
      <p:bldP spid="1019914" grpId="0"/>
      <p:bldP spid="1019915" grpId="0"/>
      <p:bldP spid="1019916" grpId="0"/>
      <p:bldP spid="1019917"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开放</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定址法之二，二次</a:t>
            </a:r>
            <a:r>
              <a:rPr lang="zh-CN" altLang="en-US" sz="2800" dirty="0">
                <a:latin typeface="黑体" panose="02010609060101010101" pitchFamily="2" charset="-122"/>
                <a:ea typeface="黑体" panose="02010609060101010101" pitchFamily="2" charset="-122"/>
                <a:cs typeface="+mn-ea"/>
                <a:sym typeface="+mn-ea"/>
              </a:rPr>
              <a:t>探测再散列解决冲突，哈希表构建举例</a:t>
            </a:r>
            <a:endParaRPr lang="zh-CN" altLang="en-US" sz="2800" b="0" dirty="0">
              <a:latin typeface="黑体" panose="02010609060101010101" pitchFamily="2" charset="-122"/>
              <a:ea typeface="黑体" panose="02010609060101010101" pitchFamily="2" charset="-122"/>
              <a:cs typeface="+mn-ea"/>
            </a:endParaRPr>
          </a:p>
          <a:p>
            <a:pPr marL="0" lvl="1" indent="0" algn="l" eaLnBrk="1" hangingPunct="1">
              <a:spcBef>
                <a:spcPct val="20000"/>
              </a:spcBef>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关键字集合{19,01,23,14,55,68,11,82,36}，设定哈希函数H(key)=key MOD 11 (表长=11)</a:t>
            </a:r>
          </a:p>
          <a:p>
            <a:pPr marL="0" lvl="1" indent="0" algn="l" eaLnBrk="1" hangingPunct="1">
              <a:spcBef>
                <a:spcPct val="20000"/>
              </a:spcBef>
              <a:buClrTx/>
              <a:buSzTx/>
              <a:buNone/>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0" algn="l" eaLnBrk="1" hangingPunct="1">
              <a:spcBef>
                <a:spcPct val="20000"/>
              </a:spcBef>
              <a:buClrTx/>
              <a:buSzTx/>
              <a:buNone/>
            </a:pP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129</a:t>
            </a:fld>
            <a:endParaRPr lang="zh-CN" altLang="en-US"/>
          </a:p>
        </p:txBody>
      </p:sp>
      <p:sp>
        <p:nvSpPr>
          <p:cNvPr id="5" name="文本框 4"/>
          <p:cNvSpPr txBox="1"/>
          <p:nvPr/>
        </p:nvSpPr>
        <p:spPr>
          <a:xfrm>
            <a:off x="1055370" y="3792855"/>
            <a:ext cx="9128760" cy="2553335"/>
          </a:xfrm>
          <a:prstGeom prst="rect">
            <a:avLst/>
          </a:prstGeom>
        </p:spPr>
        <p:txBody>
          <a:bodyPr vert="horz" wrap="square" lIns="91440" tIns="45720" rIns="91440" bIns="45720" rtlCol="0" anchor="t">
            <a:spAutoFit/>
          </a:bodyPr>
          <a:lstStyle/>
          <a:p>
            <a:pPr marL="965200" lvl="1" indent="-508000" eaLnBrk="1" hangingPunct="1">
              <a:buClr>
                <a:srgbClr val="000000"/>
              </a:buClr>
              <a:buFont typeface="Wingdings" panose="05000000000000000000" charset="0"/>
              <a:buChar char="Ø"/>
            </a:pPr>
            <a:r>
              <a:rPr lang="zh-CN" altLang="en-US" sz="2000" dirty="0">
                <a:latin typeface="黑体" panose="02010609060101010101" pitchFamily="2" charset="-122"/>
                <a:ea typeface="黑体" panose="02010609060101010101" pitchFamily="2" charset="-122"/>
                <a:sym typeface="+mn-ea"/>
              </a:rPr>
              <a:t>前面</a:t>
            </a:r>
            <a:r>
              <a:rPr lang="en-US" altLang="zh-CN" sz="2000" dirty="0">
                <a:latin typeface="黑体" panose="02010609060101010101" pitchFamily="2" charset="-122"/>
                <a:ea typeface="黑体" panose="02010609060101010101" pitchFamily="2" charset="-122"/>
                <a:sym typeface="+mn-ea"/>
              </a:rPr>
              <a:t>19</a:t>
            </a:r>
            <a:r>
              <a:rPr lang="zh-CN" altLang="en-US" sz="2000" dirty="0">
                <a:latin typeface="黑体" panose="02010609060101010101" pitchFamily="2" charset="-122"/>
                <a:ea typeface="黑体" panose="02010609060101010101" pitchFamily="2" charset="-122"/>
                <a:sym typeface="+mn-ea"/>
              </a:rPr>
              <a:t>、</a:t>
            </a:r>
            <a:r>
              <a:rPr lang="en-US" altLang="zh-CN" sz="2000" dirty="0">
                <a:latin typeface="黑体" panose="02010609060101010101" pitchFamily="2" charset="-122"/>
                <a:ea typeface="黑体" panose="02010609060101010101" pitchFamily="2" charset="-122"/>
                <a:sym typeface="+mn-ea"/>
              </a:rPr>
              <a:t>01</a:t>
            </a:r>
            <a:r>
              <a:rPr lang="zh-CN" altLang="en-US" sz="2000" dirty="0">
                <a:latin typeface="黑体" panose="02010609060101010101" pitchFamily="2" charset="-122"/>
                <a:ea typeface="黑体" panose="02010609060101010101" pitchFamily="2" charset="-122"/>
                <a:sym typeface="+mn-ea"/>
              </a:rPr>
              <a:t>依次插入</a:t>
            </a: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23</a:t>
            </a:r>
            <a:r>
              <a:rPr lang="zh-CN" altLang="en-US" sz="2000" dirty="0">
                <a:latin typeface="黑体" panose="02010609060101010101" pitchFamily="2" charset="-122"/>
                <a:ea typeface="黑体" panose="02010609060101010101" pitchFamily="2" charset="-122"/>
                <a:sym typeface="+mn-ea"/>
              </a:rPr>
              <a:t>的哈希地址为</a:t>
            </a:r>
            <a:r>
              <a:rPr lang="en-US" altLang="zh-CN" sz="2000" dirty="0">
                <a:latin typeface="黑体" panose="02010609060101010101" pitchFamily="2" charset="-122"/>
                <a:ea typeface="黑体" panose="02010609060101010101" pitchFamily="2" charset="-122"/>
                <a:sym typeface="+mn-ea"/>
              </a:rPr>
              <a:t>1</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01</a:t>
            </a:r>
            <a:r>
              <a:rPr lang="zh-CN" altLang="en-US" sz="2000" dirty="0">
                <a:latin typeface="黑体" panose="02010609060101010101" pitchFamily="2" charset="-122"/>
                <a:ea typeface="黑体" panose="02010609060101010101" pitchFamily="2" charset="-122"/>
                <a:sym typeface="+mn-ea"/>
              </a:rPr>
              <a:t>冲突，原地址</a:t>
            </a:r>
            <a:r>
              <a:rPr lang="en-US" altLang="zh-CN" sz="2000" dirty="0">
                <a:latin typeface="黑体" panose="02010609060101010101" pitchFamily="2" charset="-122"/>
                <a:ea typeface="黑体" panose="02010609060101010101" pitchFamily="2" charset="-122"/>
                <a:sym typeface="+mn-ea"/>
              </a:rPr>
              <a:t>+1</a:t>
            </a:r>
            <a:r>
              <a:rPr lang="zh-CN" altLang="en-US" sz="2000" dirty="0">
                <a:latin typeface="黑体" panose="02010609060101010101" pitchFamily="2" charset="-122"/>
                <a:ea typeface="黑体" panose="02010609060101010101" pitchFamily="2" charset="-122"/>
                <a:sym typeface="+mn-ea"/>
              </a:rPr>
              <a:t>为空插入，</a:t>
            </a:r>
            <a:r>
              <a:rPr lang="en-US" altLang="zh-CN" sz="2000" dirty="0">
                <a:latin typeface="黑体" panose="02010609060101010101" pitchFamily="2" charset="-122"/>
                <a:ea typeface="黑体" panose="02010609060101010101" pitchFamily="2" charset="-122"/>
                <a:sym typeface="+mn-ea"/>
              </a:rPr>
              <a:t>14</a:t>
            </a:r>
            <a:r>
              <a:rPr lang="zh-CN" altLang="en-US" sz="2000" dirty="0">
                <a:latin typeface="黑体" panose="02010609060101010101" pitchFamily="2" charset="-122"/>
                <a:ea typeface="黑体" panose="02010609060101010101" pitchFamily="2" charset="-122"/>
                <a:sym typeface="+mn-ea"/>
              </a:rPr>
              <a:t>、</a:t>
            </a:r>
            <a:r>
              <a:rPr lang="en-US" altLang="zh-CN" sz="2000" dirty="0">
                <a:latin typeface="黑体" panose="02010609060101010101" pitchFamily="2" charset="-122"/>
                <a:ea typeface="黑体" panose="02010609060101010101" pitchFamily="2" charset="-122"/>
                <a:sym typeface="+mn-ea"/>
              </a:rPr>
              <a:t>55</a:t>
            </a:r>
            <a:r>
              <a:rPr lang="zh-CN" altLang="en-US" sz="2000" dirty="0">
                <a:latin typeface="黑体" panose="02010609060101010101" pitchFamily="2" charset="-122"/>
                <a:ea typeface="黑体" panose="02010609060101010101" pitchFamily="2" charset="-122"/>
                <a:sym typeface="+mn-ea"/>
              </a:rPr>
              <a:t>都无冲突，直接插入</a:t>
            </a: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68</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23</a:t>
            </a:r>
            <a:r>
              <a:rPr lang="zh-CN" altLang="en-US" sz="2000" dirty="0">
                <a:latin typeface="黑体" panose="02010609060101010101" pitchFamily="2" charset="-122"/>
                <a:ea typeface="黑体" panose="02010609060101010101" pitchFamily="2" charset="-122"/>
                <a:sym typeface="+mn-ea"/>
              </a:rPr>
              <a:t>冲突，原地址</a:t>
            </a:r>
            <a:r>
              <a:rPr lang="en-US" altLang="zh-CN" sz="2000" dirty="0">
                <a:latin typeface="黑体" panose="02010609060101010101" pitchFamily="2" charset="-122"/>
                <a:ea typeface="黑体" panose="02010609060101010101" pitchFamily="2" charset="-122"/>
                <a:sym typeface="+mn-ea"/>
              </a:rPr>
              <a:t>+1/-1</a:t>
            </a:r>
            <a:r>
              <a:rPr lang="zh-CN" altLang="en-US" sz="2000" dirty="0">
                <a:latin typeface="黑体" panose="02010609060101010101" pitchFamily="2" charset="-122"/>
                <a:ea typeface="黑体" panose="02010609060101010101" pitchFamily="2" charset="-122"/>
                <a:sym typeface="+mn-ea"/>
              </a:rPr>
              <a:t>都冲突，原地址</a:t>
            </a:r>
            <a:r>
              <a:rPr lang="en-US" altLang="zh-CN" sz="2000" dirty="0">
                <a:latin typeface="黑体" panose="02010609060101010101" pitchFamily="2" charset="-122"/>
                <a:ea typeface="黑体" panose="02010609060101010101" pitchFamily="2" charset="-122"/>
                <a:sym typeface="+mn-ea"/>
              </a:rPr>
              <a:t>+4</a:t>
            </a:r>
            <a:r>
              <a:rPr lang="zh-CN" altLang="en-US" sz="2000" dirty="0">
                <a:latin typeface="黑体" panose="02010609060101010101" pitchFamily="2" charset="-122"/>
                <a:ea typeface="黑体" panose="02010609060101010101" pitchFamily="2" charset="-122"/>
                <a:sym typeface="+mn-ea"/>
              </a:rPr>
              <a:t>为空插入</a:t>
            </a: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11</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55</a:t>
            </a:r>
            <a:r>
              <a:rPr lang="zh-CN" altLang="en-US" sz="2000" dirty="0">
                <a:latin typeface="黑体" panose="02010609060101010101" pitchFamily="2" charset="-122"/>
                <a:ea typeface="黑体" panose="02010609060101010101" pitchFamily="2" charset="-122"/>
                <a:sym typeface="+mn-ea"/>
              </a:rPr>
              <a:t>冲突，原地址</a:t>
            </a:r>
            <a:r>
              <a:rPr lang="en-US" altLang="zh-CN" sz="2000" dirty="0">
                <a:latin typeface="黑体" panose="02010609060101010101" pitchFamily="2" charset="-122"/>
                <a:ea typeface="黑体" panose="02010609060101010101" pitchFamily="2" charset="-122"/>
                <a:sym typeface="+mn-ea"/>
              </a:rPr>
              <a:t>+1</a:t>
            </a:r>
            <a:r>
              <a:rPr lang="zh-CN" altLang="en-US" sz="2000" dirty="0">
                <a:latin typeface="黑体" panose="02010609060101010101" pitchFamily="2" charset="-122"/>
                <a:ea typeface="黑体" panose="02010609060101010101" pitchFamily="2" charset="-122"/>
                <a:sym typeface="+mn-ea"/>
              </a:rPr>
              <a:t>冲突，原地址</a:t>
            </a:r>
            <a:r>
              <a:rPr lang="en-US" altLang="zh-CN" sz="2000" dirty="0">
                <a:latin typeface="黑体" panose="02010609060101010101" pitchFamily="2" charset="-122"/>
                <a:ea typeface="黑体" panose="02010609060101010101" pitchFamily="2" charset="-122"/>
                <a:sym typeface="+mn-ea"/>
              </a:rPr>
              <a:t>-1</a:t>
            </a:r>
            <a:r>
              <a:rPr lang="zh-CN" altLang="en-US" sz="2000" dirty="0">
                <a:latin typeface="黑体" panose="02010609060101010101" pitchFamily="2" charset="-122"/>
                <a:ea typeface="黑体" panose="02010609060101010101" pitchFamily="2" charset="-122"/>
                <a:sym typeface="+mn-ea"/>
              </a:rPr>
              <a:t>为空，共查找</a:t>
            </a:r>
            <a:r>
              <a:rPr lang="en-US" altLang="zh-CN" sz="2000" dirty="0">
                <a:latin typeface="黑体" panose="02010609060101010101" pitchFamily="2" charset="-122"/>
                <a:ea typeface="黑体" panose="02010609060101010101" pitchFamily="2" charset="-122"/>
                <a:sym typeface="+mn-ea"/>
              </a:rPr>
              <a:t>3</a:t>
            </a:r>
            <a:r>
              <a:rPr lang="zh-CN" altLang="en-US" sz="2000" dirty="0">
                <a:latin typeface="黑体" panose="02010609060101010101" pitchFamily="2" charset="-122"/>
                <a:ea typeface="黑体" panose="02010609060101010101" pitchFamily="2" charset="-122"/>
                <a:sym typeface="+mn-ea"/>
              </a:rPr>
              <a:t>次后插入</a:t>
            </a: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82</a:t>
            </a:r>
            <a:r>
              <a:rPr lang="zh-CN" altLang="en-US" sz="2000" dirty="0">
                <a:latin typeface="黑体" panose="02010609060101010101" pitchFamily="2" charset="-122"/>
                <a:ea typeface="黑体" panose="02010609060101010101" pitchFamily="2" charset="-122"/>
                <a:sym typeface="+mn-ea"/>
              </a:rPr>
              <a:t>无冲突直接插入</a:t>
            </a: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36</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14</a:t>
            </a:r>
            <a:r>
              <a:rPr lang="zh-CN" altLang="en-US" sz="2000" dirty="0">
                <a:latin typeface="黑体" panose="02010609060101010101" pitchFamily="2" charset="-122"/>
                <a:ea typeface="黑体" panose="02010609060101010101" pitchFamily="2" charset="-122"/>
                <a:sym typeface="+mn-ea"/>
              </a:rPr>
              <a:t>冲突，原地址</a:t>
            </a:r>
            <a:r>
              <a:rPr lang="en-US" altLang="zh-CN" sz="2000" dirty="0">
                <a:latin typeface="黑体" panose="02010609060101010101" pitchFamily="2" charset="-122"/>
                <a:ea typeface="黑体" panose="02010609060101010101" pitchFamily="2" charset="-122"/>
                <a:sym typeface="+mn-ea"/>
              </a:rPr>
              <a:t>+1</a:t>
            </a:r>
            <a:r>
              <a:rPr lang="zh-CN" altLang="en-US" sz="2000" dirty="0">
                <a:latin typeface="黑体" panose="02010609060101010101" pitchFamily="2" charset="-122"/>
                <a:ea typeface="黑体" panose="02010609060101010101" pitchFamily="2" charset="-122"/>
                <a:sym typeface="+mn-ea"/>
              </a:rPr>
              <a:t>为空，共查找</a:t>
            </a:r>
            <a:r>
              <a:rPr lang="en-US" altLang="zh-CN" sz="2000" dirty="0">
                <a:latin typeface="黑体" panose="02010609060101010101" pitchFamily="2" charset="-122"/>
                <a:ea typeface="黑体" panose="02010609060101010101" pitchFamily="2" charset="-122"/>
                <a:sym typeface="+mn-ea"/>
              </a:rPr>
              <a:t>2</a:t>
            </a:r>
            <a:r>
              <a:rPr lang="zh-CN" altLang="en-US" sz="2000" dirty="0">
                <a:latin typeface="黑体" panose="02010609060101010101" pitchFamily="2" charset="-122"/>
                <a:ea typeface="黑体" panose="02010609060101010101" pitchFamily="2" charset="-122"/>
                <a:sym typeface="+mn-ea"/>
              </a:rPr>
              <a:t>次插入</a:t>
            </a:r>
            <a:endParaRPr lang="zh-CN" altLang="en-US" sz="2000" b="0" dirty="0">
              <a:latin typeface="黑体" panose="02010609060101010101" pitchFamily="2" charset="-122"/>
              <a:ea typeface="黑体" panose="02010609060101010101" pitchFamily="2" charset="-122"/>
            </a:endParaRPr>
          </a:p>
          <a:p>
            <a:pPr marL="965200" lvl="1" indent="-508000" eaLnBrk="1" hangingPunct="1">
              <a:buClr>
                <a:srgbClr val="000000"/>
              </a:buClr>
              <a:buFont typeface="Wingdings" panose="05000000000000000000" charset="0"/>
              <a:buChar char="Ø"/>
            </a:pPr>
            <a:endParaRPr lang="zh-CN" altLang="en-US" sz="2000" dirty="0">
              <a:latin typeface="黑体" panose="02010609060101010101" pitchFamily="2" charset="-122"/>
              <a:ea typeface="黑体" panose="02010609060101010101" pitchFamily="2" charset="-122"/>
              <a:sym typeface="+mn-ea"/>
            </a:endParaRPr>
          </a:p>
        </p:txBody>
      </p:sp>
      <p:graphicFrame>
        <p:nvGraphicFramePr>
          <p:cNvPr id="55301" name="表格 55300"/>
          <p:cNvGraphicFramePr/>
          <p:nvPr/>
        </p:nvGraphicFramePr>
        <p:xfrm>
          <a:off x="2019300" y="2513965"/>
          <a:ext cx="8001000" cy="533400"/>
        </p:xfrm>
        <a:graphic>
          <a:graphicData uri="http://schemas.openxmlformats.org/drawingml/2006/table">
            <a:tbl>
              <a:tblPr/>
              <a:tblGrid>
                <a:gridCol w="727075">
                  <a:extLst>
                    <a:ext uri="{9D8B030D-6E8A-4147-A177-3AD203B41FA5}">
                      <a16:colId xmlns:a16="http://schemas.microsoft.com/office/drawing/2014/main" val="20000"/>
                    </a:ext>
                  </a:extLst>
                </a:gridCol>
                <a:gridCol w="727075">
                  <a:extLst>
                    <a:ext uri="{9D8B030D-6E8A-4147-A177-3AD203B41FA5}">
                      <a16:colId xmlns:a16="http://schemas.microsoft.com/office/drawing/2014/main" val="20001"/>
                    </a:ext>
                  </a:extLst>
                </a:gridCol>
                <a:gridCol w="727075">
                  <a:extLst>
                    <a:ext uri="{9D8B030D-6E8A-4147-A177-3AD203B41FA5}">
                      <a16:colId xmlns:a16="http://schemas.microsoft.com/office/drawing/2014/main" val="20002"/>
                    </a:ext>
                  </a:extLst>
                </a:gridCol>
                <a:gridCol w="727075">
                  <a:extLst>
                    <a:ext uri="{9D8B030D-6E8A-4147-A177-3AD203B41FA5}">
                      <a16:colId xmlns:a16="http://schemas.microsoft.com/office/drawing/2014/main" val="20003"/>
                    </a:ext>
                  </a:extLst>
                </a:gridCol>
                <a:gridCol w="727075">
                  <a:extLst>
                    <a:ext uri="{9D8B030D-6E8A-4147-A177-3AD203B41FA5}">
                      <a16:colId xmlns:a16="http://schemas.microsoft.com/office/drawing/2014/main" val="20004"/>
                    </a:ext>
                  </a:extLst>
                </a:gridCol>
                <a:gridCol w="730250">
                  <a:extLst>
                    <a:ext uri="{9D8B030D-6E8A-4147-A177-3AD203B41FA5}">
                      <a16:colId xmlns:a16="http://schemas.microsoft.com/office/drawing/2014/main" val="20005"/>
                    </a:ext>
                  </a:extLst>
                </a:gridCol>
                <a:gridCol w="727075">
                  <a:extLst>
                    <a:ext uri="{9D8B030D-6E8A-4147-A177-3AD203B41FA5}">
                      <a16:colId xmlns:a16="http://schemas.microsoft.com/office/drawing/2014/main" val="20006"/>
                    </a:ext>
                  </a:extLst>
                </a:gridCol>
                <a:gridCol w="727075">
                  <a:extLst>
                    <a:ext uri="{9D8B030D-6E8A-4147-A177-3AD203B41FA5}">
                      <a16:colId xmlns:a16="http://schemas.microsoft.com/office/drawing/2014/main" val="20007"/>
                    </a:ext>
                  </a:extLst>
                </a:gridCol>
                <a:gridCol w="727075">
                  <a:extLst>
                    <a:ext uri="{9D8B030D-6E8A-4147-A177-3AD203B41FA5}">
                      <a16:colId xmlns:a16="http://schemas.microsoft.com/office/drawing/2014/main" val="20008"/>
                    </a:ext>
                  </a:extLst>
                </a:gridCol>
                <a:gridCol w="727075">
                  <a:extLst>
                    <a:ext uri="{9D8B030D-6E8A-4147-A177-3AD203B41FA5}">
                      <a16:colId xmlns:a16="http://schemas.microsoft.com/office/drawing/2014/main" val="20009"/>
                    </a:ext>
                  </a:extLst>
                </a:gridCol>
                <a:gridCol w="727075">
                  <a:extLst>
                    <a:ext uri="{9D8B030D-6E8A-4147-A177-3AD203B41FA5}">
                      <a16:colId xmlns:a16="http://schemas.microsoft.com/office/drawing/2014/main" val="20010"/>
                    </a:ext>
                  </a:extLst>
                </a:gridCol>
              </a:tblGrid>
              <a:tr h="533400">
                <a:tc>
                  <a:txBody>
                    <a:bodyPr/>
                    <a:lstStyle/>
                    <a:p>
                      <a:pPr>
                        <a:spcBef>
                          <a:spcPct val="20000"/>
                        </a:spcBef>
                        <a:buClr>
                          <a:schemeClr val="accent1"/>
                        </a:buClr>
                        <a:buFont typeface="Wingdings" panose="05000000000000000000" pitchFamily="2" charset="2"/>
                        <a:buNone/>
                      </a:pPr>
                      <a:endParaRPr lang="zh-CN" altLang="zh-CN" sz="2400" b="1" dirty="0">
                        <a:latin typeface="Arial" panose="020B0604020202020204" pitchFamily="34" charset="0"/>
                        <a:ea typeface="宋体" panose="02010600030101010101" pitchFamily="2" charset="-122"/>
                      </a:endParaRP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spcBef>
                          <a:spcPct val="20000"/>
                        </a:spcBef>
                        <a:buClr>
                          <a:schemeClr val="accent1"/>
                        </a:buClr>
                        <a:buFont typeface="Wingdings" panose="05000000000000000000" pitchFamily="2" charset="2"/>
                        <a:buNone/>
                      </a:pPr>
                      <a:endParaRPr lang="zh-CN"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spcBef>
                          <a:spcPct val="20000"/>
                        </a:spcBef>
                        <a:buClr>
                          <a:schemeClr val="accent1"/>
                        </a:buClr>
                        <a:buFont typeface="Wingdings" panose="05000000000000000000" pitchFamily="2" charset="2"/>
                        <a:buNone/>
                      </a:pPr>
                      <a:endParaRPr lang="zh-CN"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spcBef>
                          <a:spcPct val="20000"/>
                        </a:spcBef>
                        <a:buClr>
                          <a:schemeClr val="accent1"/>
                        </a:buClr>
                        <a:buFont typeface="Wingdings" panose="05000000000000000000" pitchFamily="2" charset="2"/>
                        <a:buNone/>
                      </a:pPr>
                      <a:endParaRPr lang="zh-CN"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spcBef>
                          <a:spcPct val="20000"/>
                        </a:spcBef>
                        <a:buClr>
                          <a:schemeClr val="accent1"/>
                        </a:buClr>
                        <a:buFont typeface="Wingdings" panose="05000000000000000000" pitchFamily="2" charset="2"/>
                        <a:buNone/>
                      </a:pPr>
                      <a:endParaRPr lang="zh-CN"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spcBef>
                          <a:spcPct val="20000"/>
                        </a:spcBef>
                        <a:buClr>
                          <a:schemeClr val="accent1"/>
                        </a:buClr>
                        <a:buFont typeface="Wingdings" panose="05000000000000000000" pitchFamily="2" charset="2"/>
                        <a:buNone/>
                      </a:pPr>
                      <a:endParaRPr lang="zh-CN"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spcBef>
                          <a:spcPct val="20000"/>
                        </a:spcBef>
                        <a:buClr>
                          <a:schemeClr val="accent1"/>
                        </a:buClr>
                        <a:buFont typeface="Wingdings" panose="05000000000000000000" pitchFamily="2" charset="2"/>
                        <a:buNone/>
                      </a:pPr>
                      <a:endParaRPr lang="zh-CN"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spcBef>
                          <a:spcPct val="20000"/>
                        </a:spcBef>
                        <a:buClr>
                          <a:schemeClr val="accent1"/>
                        </a:buClr>
                        <a:buFont typeface="Wingdings" panose="05000000000000000000" pitchFamily="2" charset="2"/>
                        <a:buNone/>
                      </a:pPr>
                      <a:endParaRPr lang="zh-CN"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spcBef>
                          <a:spcPct val="20000"/>
                        </a:spcBef>
                        <a:buClr>
                          <a:schemeClr val="accent1"/>
                        </a:buClr>
                        <a:buFont typeface="Wingdings" panose="05000000000000000000" pitchFamily="2" charset="2"/>
                        <a:buNone/>
                      </a:pPr>
                      <a:endParaRPr lang="zh-CN"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spcBef>
                          <a:spcPct val="20000"/>
                        </a:spcBef>
                        <a:buClr>
                          <a:schemeClr val="accent1"/>
                        </a:buClr>
                        <a:buFont typeface="Wingdings" panose="05000000000000000000" pitchFamily="2" charset="2"/>
                        <a:buNone/>
                      </a:pPr>
                      <a:endParaRPr lang="zh-CN"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a:buClr>
                          <a:schemeClr val="accent1"/>
                        </a:buClr>
                        <a:buFont typeface="Wingdings" panose="05000000000000000000" pitchFamily="2" charset="2"/>
                        <a:buNone/>
                      </a:pPr>
                      <a:endParaRPr lang="zh-CN" altLang="zh-CN" sz="2400" b="1" dirty="0">
                        <a:solidFill>
                          <a:srgbClr val="3333FF"/>
                        </a:solidFill>
                        <a:latin typeface="Times New Roman" panose="02020603050405020304" pitchFamily="18" charset="0"/>
                        <a:ea typeface="宋体" panose="02010600030101010101" pitchFamily="2" charset="-122"/>
                      </a:endParaRP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57726" name="Text Box 31"/>
          <p:cNvSpPr txBox="1"/>
          <p:nvPr/>
        </p:nvSpPr>
        <p:spPr>
          <a:xfrm>
            <a:off x="2247900" y="2132965"/>
            <a:ext cx="7696200" cy="398780"/>
          </a:xfrm>
          <a:prstGeom prst="rect">
            <a:avLst/>
          </a:prstGeom>
          <a:noFill/>
          <a:ln w="9525">
            <a:noFill/>
          </a:ln>
        </p:spPr>
        <p:txBody>
          <a:bodyPr anchor="t" anchorCtr="0">
            <a:spAutoFit/>
          </a:bodyPr>
          <a:lstStyle/>
          <a:p>
            <a:pPr algn="dist">
              <a:spcBef>
                <a:spcPct val="50000"/>
              </a:spcBef>
            </a:pPr>
            <a:r>
              <a:rPr lang="en-US" altLang="zh-CN" sz="2000" dirty="0">
                <a:latin typeface="Tahoma" panose="020B0604030504040204" charset="0"/>
                <a:ea typeface="宋体" panose="02010600030101010101" pitchFamily="2" charset="-122"/>
              </a:rPr>
              <a:t>0   1   2   3   4   5   6   7   8   9  10 </a:t>
            </a:r>
          </a:p>
        </p:txBody>
      </p:sp>
      <p:sp>
        <p:nvSpPr>
          <p:cNvPr id="1020960" name="Text Box 32"/>
          <p:cNvSpPr txBox="1"/>
          <p:nvPr/>
        </p:nvSpPr>
        <p:spPr>
          <a:xfrm>
            <a:off x="7905750" y="2561590"/>
            <a:ext cx="487680" cy="460375"/>
          </a:xfrm>
          <a:prstGeom prst="rect">
            <a:avLst/>
          </a:prstGeom>
          <a:noFill/>
          <a:ln w="9525">
            <a:noFill/>
          </a:ln>
        </p:spPr>
        <p:txBody>
          <a:bodyPr wrap="none" anchor="t" anchorCtr="0">
            <a:spAutoFit/>
          </a:bodyPr>
          <a:lstStyle/>
          <a:p>
            <a:r>
              <a:rPr lang="en-US" altLang="zh-CN" sz="2400" b="1" dirty="0">
                <a:solidFill>
                  <a:srgbClr val="A50021"/>
                </a:solidFill>
                <a:latin typeface="Times New Roman" panose="02020603050405020304" pitchFamily="18" charset="0"/>
                <a:ea typeface="宋体" panose="02010600030101010101" pitchFamily="2" charset="-122"/>
              </a:rPr>
              <a:t>19</a:t>
            </a:r>
            <a:endParaRPr lang="en-US" altLang="zh-CN" sz="2400" b="1" dirty="0">
              <a:latin typeface="Times New Roman" panose="02020603050405020304" pitchFamily="18" charset="0"/>
              <a:ea typeface="宋体" panose="02010600030101010101" pitchFamily="2" charset="-122"/>
            </a:endParaRPr>
          </a:p>
        </p:txBody>
      </p:sp>
      <p:sp>
        <p:nvSpPr>
          <p:cNvPr id="1020961" name="Text Box 33"/>
          <p:cNvSpPr txBox="1"/>
          <p:nvPr/>
        </p:nvSpPr>
        <p:spPr>
          <a:xfrm>
            <a:off x="2813050" y="2585403"/>
            <a:ext cx="487680" cy="460375"/>
          </a:xfrm>
          <a:prstGeom prst="rect">
            <a:avLst/>
          </a:prstGeom>
          <a:noFill/>
          <a:ln w="9525">
            <a:noFill/>
          </a:ln>
        </p:spPr>
        <p:txBody>
          <a:bodyPr wrap="none" anchor="t" anchorCtr="0">
            <a:spAutoFit/>
          </a:bodyPr>
          <a:lstStyle/>
          <a:p>
            <a:r>
              <a:rPr lang="en-US" altLang="zh-CN" sz="2400" b="1" dirty="0">
                <a:solidFill>
                  <a:srgbClr val="A50021"/>
                </a:solidFill>
                <a:latin typeface="Times New Roman" panose="02020603050405020304" pitchFamily="18" charset="0"/>
                <a:ea typeface="宋体" panose="02010600030101010101" pitchFamily="2" charset="-122"/>
              </a:rPr>
              <a:t>01</a:t>
            </a:r>
            <a:endParaRPr lang="en-US" altLang="zh-CN" sz="2400" b="1" dirty="0">
              <a:latin typeface="Times New Roman" panose="02020603050405020304" pitchFamily="18" charset="0"/>
              <a:ea typeface="宋体" panose="02010600030101010101" pitchFamily="2" charset="-122"/>
            </a:endParaRPr>
          </a:p>
        </p:txBody>
      </p:sp>
      <p:sp>
        <p:nvSpPr>
          <p:cNvPr id="1020962" name="Text Box 34"/>
          <p:cNvSpPr txBox="1"/>
          <p:nvPr/>
        </p:nvSpPr>
        <p:spPr>
          <a:xfrm>
            <a:off x="3605213" y="2567940"/>
            <a:ext cx="487680" cy="460375"/>
          </a:xfrm>
          <a:prstGeom prst="rect">
            <a:avLst/>
          </a:prstGeom>
          <a:noFill/>
          <a:ln w="9525">
            <a:noFill/>
          </a:ln>
        </p:spPr>
        <p:txBody>
          <a:bodyPr wrap="none" anchor="t" anchorCtr="0">
            <a:spAutoFit/>
          </a:bodyPr>
          <a:lstStyle/>
          <a:p>
            <a:r>
              <a:rPr lang="en-US" altLang="zh-CN" sz="2400" b="1" dirty="0">
                <a:solidFill>
                  <a:srgbClr val="3333FF"/>
                </a:solidFill>
                <a:latin typeface="Times New Roman" panose="02020603050405020304" pitchFamily="18" charset="0"/>
                <a:ea typeface="宋体" panose="02010600030101010101" pitchFamily="2" charset="-122"/>
              </a:rPr>
              <a:t>23</a:t>
            </a:r>
            <a:endParaRPr lang="en-US" altLang="zh-CN" sz="2400" b="1" dirty="0">
              <a:latin typeface="Times New Roman" panose="02020603050405020304" pitchFamily="18" charset="0"/>
              <a:ea typeface="宋体" panose="02010600030101010101" pitchFamily="2" charset="-122"/>
            </a:endParaRPr>
          </a:p>
        </p:txBody>
      </p:sp>
      <p:sp>
        <p:nvSpPr>
          <p:cNvPr id="1020963" name="Text Box 35"/>
          <p:cNvSpPr txBox="1"/>
          <p:nvPr/>
        </p:nvSpPr>
        <p:spPr>
          <a:xfrm>
            <a:off x="4354195" y="2567940"/>
            <a:ext cx="487680" cy="460375"/>
          </a:xfrm>
          <a:prstGeom prst="rect">
            <a:avLst/>
          </a:prstGeom>
          <a:noFill/>
          <a:ln w="9525">
            <a:noFill/>
          </a:ln>
        </p:spPr>
        <p:txBody>
          <a:bodyPr wrap="none" anchor="t" anchorCtr="0">
            <a:spAutoFit/>
          </a:bodyPr>
          <a:lstStyle/>
          <a:p>
            <a:pPr algn="r"/>
            <a:r>
              <a:rPr lang="en-US" altLang="zh-CN" sz="2400" b="1" dirty="0">
                <a:solidFill>
                  <a:srgbClr val="A50021"/>
                </a:solidFill>
                <a:latin typeface="Times New Roman" panose="02020603050405020304" pitchFamily="18" charset="0"/>
                <a:ea typeface="宋体" panose="02010600030101010101" pitchFamily="2" charset="-122"/>
              </a:rPr>
              <a:t>14</a:t>
            </a:r>
            <a:endParaRPr lang="en-US" altLang="zh-CN" sz="2400" b="1" dirty="0">
              <a:latin typeface="Times New Roman" panose="02020603050405020304" pitchFamily="18" charset="0"/>
              <a:ea typeface="宋体" panose="02010600030101010101" pitchFamily="2" charset="-122"/>
            </a:endParaRPr>
          </a:p>
        </p:txBody>
      </p:sp>
      <p:sp>
        <p:nvSpPr>
          <p:cNvPr id="1020964" name="Text Box 36"/>
          <p:cNvSpPr txBox="1"/>
          <p:nvPr/>
        </p:nvSpPr>
        <p:spPr>
          <a:xfrm>
            <a:off x="6438900" y="2561590"/>
            <a:ext cx="487680" cy="460375"/>
          </a:xfrm>
          <a:prstGeom prst="rect">
            <a:avLst/>
          </a:prstGeom>
          <a:noFill/>
          <a:ln w="9525">
            <a:noFill/>
          </a:ln>
        </p:spPr>
        <p:txBody>
          <a:bodyPr wrap="none" anchor="t" anchorCtr="0">
            <a:spAutoFit/>
          </a:bodyPr>
          <a:lstStyle/>
          <a:p>
            <a:r>
              <a:rPr lang="en-US" altLang="zh-CN" sz="2400" b="1" dirty="0">
                <a:solidFill>
                  <a:srgbClr val="002060"/>
                </a:solidFill>
                <a:latin typeface="Times New Roman" panose="02020603050405020304" pitchFamily="18" charset="0"/>
                <a:ea typeface="宋体" panose="02010600030101010101" pitchFamily="2" charset="-122"/>
              </a:rPr>
              <a:t>68</a:t>
            </a:r>
          </a:p>
        </p:txBody>
      </p:sp>
      <p:sp>
        <p:nvSpPr>
          <p:cNvPr id="1020965" name="Text Box 37"/>
          <p:cNvSpPr txBox="1"/>
          <p:nvPr/>
        </p:nvSpPr>
        <p:spPr>
          <a:xfrm>
            <a:off x="2095500" y="2575878"/>
            <a:ext cx="487680" cy="460375"/>
          </a:xfrm>
          <a:prstGeom prst="rect">
            <a:avLst/>
          </a:prstGeom>
          <a:noFill/>
          <a:ln w="9525">
            <a:noFill/>
          </a:ln>
        </p:spPr>
        <p:txBody>
          <a:bodyPr wrap="none" anchor="t" anchorCtr="0">
            <a:spAutoFit/>
          </a:bodyPr>
          <a:lstStyle/>
          <a:p>
            <a:r>
              <a:rPr lang="en-US" altLang="zh-CN" sz="2400" b="1" dirty="0">
                <a:solidFill>
                  <a:srgbClr val="A50021"/>
                </a:solidFill>
                <a:latin typeface="Times New Roman" panose="02020603050405020304" pitchFamily="18" charset="0"/>
                <a:ea typeface="宋体" panose="02010600030101010101" pitchFamily="2" charset="-122"/>
              </a:rPr>
              <a:t>55</a:t>
            </a:r>
            <a:endParaRPr lang="en-US" altLang="zh-CN" sz="2400" b="1" dirty="0">
              <a:latin typeface="Times New Roman" panose="02020603050405020304" pitchFamily="18" charset="0"/>
              <a:ea typeface="宋体" panose="02010600030101010101" pitchFamily="2" charset="-122"/>
            </a:endParaRPr>
          </a:p>
        </p:txBody>
      </p:sp>
      <p:sp>
        <p:nvSpPr>
          <p:cNvPr id="1020966" name="Text Box 38"/>
          <p:cNvSpPr txBox="1"/>
          <p:nvPr/>
        </p:nvSpPr>
        <p:spPr>
          <a:xfrm>
            <a:off x="5078413" y="2534603"/>
            <a:ext cx="487680" cy="460375"/>
          </a:xfrm>
          <a:prstGeom prst="rect">
            <a:avLst/>
          </a:prstGeom>
          <a:noFill/>
          <a:ln w="9525">
            <a:noFill/>
          </a:ln>
        </p:spPr>
        <p:txBody>
          <a:bodyPr wrap="none" anchor="t" anchorCtr="0">
            <a:spAutoFit/>
          </a:bodyPr>
          <a:lstStyle/>
          <a:p>
            <a:r>
              <a:rPr lang="en-US" altLang="zh-CN" sz="2400" b="1" dirty="0">
                <a:solidFill>
                  <a:srgbClr val="3333FF"/>
                </a:solidFill>
                <a:latin typeface="Times New Roman" panose="02020603050405020304" pitchFamily="18" charset="0"/>
                <a:ea typeface="宋体" panose="02010600030101010101" pitchFamily="2" charset="-122"/>
              </a:rPr>
              <a:t>36</a:t>
            </a:r>
          </a:p>
        </p:txBody>
      </p:sp>
      <p:sp>
        <p:nvSpPr>
          <p:cNvPr id="1020967" name="Text Box 39"/>
          <p:cNvSpPr txBox="1"/>
          <p:nvPr/>
        </p:nvSpPr>
        <p:spPr>
          <a:xfrm>
            <a:off x="5695950" y="2561590"/>
            <a:ext cx="487680" cy="460375"/>
          </a:xfrm>
          <a:prstGeom prst="rect">
            <a:avLst/>
          </a:prstGeom>
          <a:noFill/>
          <a:ln w="9525">
            <a:noFill/>
          </a:ln>
        </p:spPr>
        <p:txBody>
          <a:bodyPr wrap="none" anchor="t" anchorCtr="0">
            <a:spAutoFit/>
          </a:bodyPr>
          <a:lstStyle/>
          <a:p>
            <a:r>
              <a:rPr lang="en-US" altLang="zh-CN" sz="2400" b="1" dirty="0">
                <a:solidFill>
                  <a:srgbClr val="A50021"/>
                </a:solidFill>
                <a:latin typeface="Times New Roman" panose="02020603050405020304" pitchFamily="18" charset="0"/>
                <a:ea typeface="宋体" panose="02010600030101010101" pitchFamily="2" charset="-122"/>
              </a:rPr>
              <a:t>82</a:t>
            </a:r>
            <a:endParaRPr lang="en-US" altLang="zh-CN" sz="2400" b="1" dirty="0">
              <a:latin typeface="Times New Roman" panose="02020603050405020304" pitchFamily="18" charset="0"/>
              <a:ea typeface="宋体" panose="02010600030101010101" pitchFamily="2" charset="-122"/>
            </a:endParaRPr>
          </a:p>
        </p:txBody>
      </p:sp>
      <p:sp>
        <p:nvSpPr>
          <p:cNvPr id="1020968" name="Text Box 40"/>
          <p:cNvSpPr txBox="1"/>
          <p:nvPr/>
        </p:nvSpPr>
        <p:spPr>
          <a:xfrm>
            <a:off x="9436100" y="2534603"/>
            <a:ext cx="470535" cy="460375"/>
          </a:xfrm>
          <a:prstGeom prst="rect">
            <a:avLst/>
          </a:prstGeom>
          <a:noFill/>
          <a:ln w="9525">
            <a:noFill/>
          </a:ln>
        </p:spPr>
        <p:txBody>
          <a:bodyPr wrap="none" anchor="t" anchorCtr="0">
            <a:spAutoFit/>
          </a:bodyPr>
          <a:lstStyle/>
          <a:p>
            <a:r>
              <a:rPr lang="en-US" altLang="zh-CN" sz="2400" b="1" dirty="0">
                <a:solidFill>
                  <a:srgbClr val="3333FF"/>
                </a:solidFill>
                <a:latin typeface="Times New Roman" panose="02020603050405020304" pitchFamily="18" charset="0"/>
                <a:ea typeface="宋体" panose="02010600030101010101" pitchFamily="2" charset="-122"/>
              </a:rPr>
              <a:t>11</a:t>
            </a:r>
          </a:p>
        </p:txBody>
      </p:sp>
      <p:sp>
        <p:nvSpPr>
          <p:cNvPr id="16" name="Text Box 13"/>
          <p:cNvSpPr txBox="1"/>
          <p:nvPr/>
        </p:nvSpPr>
        <p:spPr>
          <a:xfrm>
            <a:off x="1685925" y="3107690"/>
            <a:ext cx="8393113" cy="614045"/>
          </a:xfrm>
          <a:prstGeom prst="rect">
            <a:avLst/>
          </a:prstGeom>
          <a:noFill/>
          <a:ln w="9525">
            <a:noFill/>
          </a:ln>
        </p:spPr>
        <p:txBody>
          <a:bodyPr anchor="t" anchorCtr="0">
            <a:spAutoFit/>
          </a:bodyPr>
          <a:lstStyle/>
          <a:p>
            <a:r>
              <a:rPr lang="zh-CN" altLang="en-US" sz="1200" b="1" dirty="0">
                <a:solidFill>
                  <a:srgbClr val="A50021"/>
                </a:solidFill>
                <a:latin typeface="Times New Roman" panose="02020603050405020304" pitchFamily="18" charset="0"/>
                <a:ea typeface="宋体" panose="02010600030101010101" pitchFamily="2" charset="-122"/>
              </a:rPr>
              <a:t>查找    </a:t>
            </a:r>
            <a:r>
              <a:rPr lang="en-US" altLang="zh-CN" sz="2200" b="1" dirty="0">
                <a:solidFill>
                  <a:srgbClr val="A50021"/>
                </a:solidFill>
                <a:latin typeface="Arial" panose="020B0604020202020204" pitchFamily="34" charset="0"/>
                <a:ea typeface="宋体" panose="02010600030101010101" pitchFamily="2" charset="-122"/>
              </a:rPr>
              <a:t>1        1        2        1       2       1       4 		1	       3</a:t>
            </a:r>
            <a:endParaRPr lang="en-US" altLang="zh-CN" sz="2200" b="1" dirty="0">
              <a:solidFill>
                <a:srgbClr val="A50021"/>
              </a:solidFill>
              <a:latin typeface="Times New Roman" panose="02020603050405020304" pitchFamily="18" charset="0"/>
              <a:ea typeface="宋体" panose="02010600030101010101" pitchFamily="2" charset="-122"/>
            </a:endParaRPr>
          </a:p>
          <a:p>
            <a:r>
              <a:rPr lang="zh-CN" altLang="en-US" sz="1200" b="1" dirty="0">
                <a:solidFill>
                  <a:srgbClr val="A50021"/>
                </a:solidFill>
                <a:latin typeface="Times New Roman" panose="02020603050405020304" pitchFamily="18" charset="0"/>
                <a:ea typeface="宋体" panose="02010600030101010101" pitchFamily="2" charset="-122"/>
              </a:rPr>
              <a:t>次数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20960"/>
                                        </p:tgtEl>
                                        <p:attrNameLst>
                                          <p:attrName>style.visibility</p:attrName>
                                        </p:attrNameLst>
                                      </p:cBhvr>
                                      <p:to>
                                        <p:strVal val="visible"/>
                                      </p:to>
                                    </p:set>
                                    <p:animEffect transition="in" filter="wipe(up)">
                                      <p:cBhvr>
                                        <p:cTn id="7" dur="500"/>
                                        <p:tgtEl>
                                          <p:spTgt spid="10209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20961"/>
                                        </p:tgtEl>
                                        <p:attrNameLst>
                                          <p:attrName>style.visibility</p:attrName>
                                        </p:attrNameLst>
                                      </p:cBhvr>
                                      <p:to>
                                        <p:strVal val="visible"/>
                                      </p:to>
                                    </p:set>
                                    <p:animEffect transition="in" filter="wipe(up)">
                                      <p:cBhvr>
                                        <p:cTn id="12" dur="500"/>
                                        <p:tgtEl>
                                          <p:spTgt spid="10209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20962"/>
                                        </p:tgtEl>
                                        <p:attrNameLst>
                                          <p:attrName>style.visibility</p:attrName>
                                        </p:attrNameLst>
                                      </p:cBhvr>
                                      <p:to>
                                        <p:strVal val="visible"/>
                                      </p:to>
                                    </p:set>
                                    <p:animEffect transition="in" filter="wipe(up)">
                                      <p:cBhvr>
                                        <p:cTn id="17" dur="500"/>
                                        <p:tgtEl>
                                          <p:spTgt spid="102096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20963"/>
                                        </p:tgtEl>
                                        <p:attrNameLst>
                                          <p:attrName>style.visibility</p:attrName>
                                        </p:attrNameLst>
                                      </p:cBhvr>
                                      <p:to>
                                        <p:strVal val="visible"/>
                                      </p:to>
                                    </p:set>
                                    <p:animEffect transition="in" filter="wipe(up)">
                                      <p:cBhvr>
                                        <p:cTn id="22" dur="500"/>
                                        <p:tgtEl>
                                          <p:spTgt spid="102096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20965"/>
                                        </p:tgtEl>
                                        <p:attrNameLst>
                                          <p:attrName>style.visibility</p:attrName>
                                        </p:attrNameLst>
                                      </p:cBhvr>
                                      <p:to>
                                        <p:strVal val="visible"/>
                                      </p:to>
                                    </p:set>
                                    <p:animEffect transition="in" filter="wipe(up)">
                                      <p:cBhvr>
                                        <p:cTn id="27" dur="500"/>
                                        <p:tgtEl>
                                          <p:spTgt spid="102096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20964"/>
                                        </p:tgtEl>
                                        <p:attrNameLst>
                                          <p:attrName>style.visibility</p:attrName>
                                        </p:attrNameLst>
                                      </p:cBhvr>
                                      <p:to>
                                        <p:strVal val="visible"/>
                                      </p:to>
                                    </p:set>
                                    <p:animEffect transition="in" filter="wipe(up)">
                                      <p:cBhvr>
                                        <p:cTn id="32" dur="500"/>
                                        <p:tgtEl>
                                          <p:spTgt spid="102096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020968"/>
                                        </p:tgtEl>
                                        <p:attrNameLst>
                                          <p:attrName>style.visibility</p:attrName>
                                        </p:attrNameLst>
                                      </p:cBhvr>
                                      <p:to>
                                        <p:strVal val="visible"/>
                                      </p:to>
                                    </p:set>
                                    <p:animEffect transition="in" filter="wipe(up)">
                                      <p:cBhvr>
                                        <p:cTn id="37" dur="500"/>
                                        <p:tgtEl>
                                          <p:spTgt spid="102096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020967"/>
                                        </p:tgtEl>
                                        <p:attrNameLst>
                                          <p:attrName>style.visibility</p:attrName>
                                        </p:attrNameLst>
                                      </p:cBhvr>
                                      <p:to>
                                        <p:strVal val="visible"/>
                                      </p:to>
                                    </p:set>
                                    <p:animEffect transition="in" filter="wipe(up)">
                                      <p:cBhvr>
                                        <p:cTn id="42" dur="500"/>
                                        <p:tgtEl>
                                          <p:spTgt spid="102096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020966"/>
                                        </p:tgtEl>
                                        <p:attrNameLst>
                                          <p:attrName>style.visibility</p:attrName>
                                        </p:attrNameLst>
                                      </p:cBhvr>
                                      <p:to>
                                        <p:strVal val="visible"/>
                                      </p:to>
                                    </p:set>
                                    <p:animEffect transition="in" filter="wipe(up)">
                                      <p:cBhvr>
                                        <p:cTn id="47" dur="500"/>
                                        <p:tgtEl>
                                          <p:spTgt spid="102096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0960" grpId="0"/>
      <p:bldP spid="1020961" grpId="0"/>
      <p:bldP spid="1020962" grpId="0"/>
      <p:bldP spid="1020963" grpId="0"/>
      <p:bldP spid="1020964" grpId="0"/>
      <p:bldP spid="1020965" grpId="0"/>
      <p:bldP spid="1020966" grpId="0"/>
      <p:bldP spid="1020967" grpId="0"/>
      <p:bldP spid="1020968" grpId="0"/>
      <p:bldP spid="16"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开放</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定址法之三，伪随机</a:t>
            </a:r>
            <a:r>
              <a:rPr lang="zh-CN" altLang="en-US" sz="2800" dirty="0">
                <a:latin typeface="黑体" panose="02010609060101010101" pitchFamily="2" charset="-122"/>
                <a:ea typeface="黑体" panose="02010609060101010101" pitchFamily="2" charset="-122"/>
                <a:cs typeface="+mn-ea"/>
                <a:sym typeface="+mn-ea"/>
              </a:rPr>
              <a:t>探测再散列解决冲突，哈希表构建举例</a:t>
            </a:r>
            <a:endParaRPr lang="zh-CN" altLang="en-US" sz="2800" b="0" dirty="0">
              <a:latin typeface="黑体" panose="02010609060101010101" pitchFamily="2" charset="-122"/>
              <a:ea typeface="黑体" panose="02010609060101010101" pitchFamily="2" charset="-122"/>
              <a:cs typeface="+mn-ea"/>
            </a:endParaRPr>
          </a:p>
          <a:p>
            <a:pPr marL="0" lvl="1" indent="0" algn="l" eaLnBrk="1" hangingPunct="1">
              <a:spcBef>
                <a:spcPct val="20000"/>
              </a:spcBef>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关键字集合{19,01,23,14,55,68,11,82,36}，设定哈希函数H(key)=key MOD 11 (表长=11)，</a:t>
            </a:r>
            <a:r>
              <a:rPr lang="zh-CN" altLang="en-US" dirty="0">
                <a:solidFill>
                  <a:srgbClr val="FF0000"/>
                </a:solidFill>
                <a:latin typeface="黑体" panose="02010609060101010101" pitchFamily="2" charset="-122"/>
                <a:ea typeface="黑体" panose="02010609060101010101" pitchFamily="2" charset="-122"/>
                <a:sym typeface="+mn-ea"/>
              </a:rPr>
              <a:t>采用随机数列：</a:t>
            </a:r>
            <a:r>
              <a:rPr lang="en-US" altLang="zh-CN" dirty="0">
                <a:solidFill>
                  <a:srgbClr val="FF0000"/>
                </a:solidFill>
                <a:latin typeface="黑体" panose="02010609060101010101" pitchFamily="2" charset="-122"/>
                <a:ea typeface="黑体" panose="02010609060101010101" pitchFamily="2" charset="-122"/>
                <a:sym typeface="+mn-ea"/>
              </a:rPr>
              <a:t>1</a:t>
            </a:r>
            <a:r>
              <a:rPr lang="zh-CN" altLang="en-US" dirty="0">
                <a:solidFill>
                  <a:srgbClr val="FF0000"/>
                </a:solidFill>
                <a:latin typeface="黑体" panose="02010609060101010101" pitchFamily="2" charset="-122"/>
                <a:ea typeface="黑体" panose="02010609060101010101" pitchFamily="2" charset="-122"/>
                <a:sym typeface="+mn-ea"/>
              </a:rPr>
              <a:t>、</a:t>
            </a:r>
            <a:r>
              <a:rPr lang="en-US" altLang="zh-CN" dirty="0">
                <a:solidFill>
                  <a:srgbClr val="FF0000"/>
                </a:solidFill>
                <a:latin typeface="黑体" panose="02010609060101010101" pitchFamily="2" charset="-122"/>
                <a:ea typeface="黑体" panose="02010609060101010101" pitchFamily="2" charset="-122"/>
                <a:sym typeface="+mn-ea"/>
              </a:rPr>
              <a:t>8</a:t>
            </a:r>
            <a:r>
              <a:rPr lang="zh-CN" altLang="en-US" dirty="0">
                <a:solidFill>
                  <a:srgbClr val="FF0000"/>
                </a:solidFill>
                <a:latin typeface="黑体" panose="02010609060101010101" pitchFamily="2" charset="-122"/>
                <a:ea typeface="黑体" panose="02010609060101010101" pitchFamily="2" charset="-122"/>
                <a:sym typeface="+mn-ea"/>
              </a:rPr>
              <a:t>、</a:t>
            </a:r>
            <a:r>
              <a:rPr lang="en-US" altLang="zh-CN" dirty="0">
                <a:solidFill>
                  <a:srgbClr val="FF0000"/>
                </a:solidFill>
                <a:latin typeface="黑体" panose="02010609060101010101" pitchFamily="2" charset="-122"/>
                <a:ea typeface="黑体" panose="02010609060101010101" pitchFamily="2" charset="-122"/>
                <a:sym typeface="+mn-ea"/>
              </a:rPr>
              <a:t>4</a:t>
            </a:r>
            <a:r>
              <a:rPr lang="zh-CN" altLang="en-US" dirty="0">
                <a:solidFill>
                  <a:srgbClr val="FF0000"/>
                </a:solidFill>
                <a:latin typeface="黑体" panose="02010609060101010101" pitchFamily="2" charset="-122"/>
                <a:ea typeface="黑体" panose="02010609060101010101" pitchFamily="2" charset="-122"/>
                <a:sym typeface="+mn-ea"/>
              </a:rPr>
              <a:t>、</a:t>
            </a:r>
            <a:r>
              <a:rPr lang="en-US" altLang="zh-CN" dirty="0">
                <a:solidFill>
                  <a:srgbClr val="FF0000"/>
                </a:solidFill>
                <a:latin typeface="黑体" panose="02010609060101010101" pitchFamily="2" charset="-122"/>
                <a:ea typeface="黑体" panose="02010609060101010101" pitchFamily="2" charset="-122"/>
                <a:sym typeface="+mn-ea"/>
              </a:rPr>
              <a:t>7</a:t>
            </a:r>
            <a:r>
              <a:rPr lang="en-US" altLang="zh-CN" dirty="0">
                <a:solidFill>
                  <a:srgbClr val="FF0000"/>
                </a:solidFill>
                <a:ea typeface="黑体" panose="02010609060101010101" pitchFamily="2" charset="-122"/>
                <a:sym typeface="+mn-ea"/>
              </a:rPr>
              <a:t>……</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0" lvl="1" indent="0" algn="l" eaLnBrk="1" hangingPunct="1">
              <a:spcBef>
                <a:spcPct val="20000"/>
              </a:spcBef>
              <a:buClrTx/>
              <a:buSzTx/>
              <a:buNone/>
            </a:pPr>
            <a:endParaRPr lang="zh-CN" altLang="en-US" b="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0" algn="l" eaLnBrk="1" hangingPunct="1">
              <a:spcBef>
                <a:spcPct val="20000"/>
              </a:spcBef>
              <a:buClrTx/>
              <a:buSzTx/>
              <a:buNone/>
            </a:pP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130</a:t>
            </a:fld>
            <a:endParaRPr lang="zh-CN" altLang="en-US"/>
          </a:p>
        </p:txBody>
      </p:sp>
      <p:sp>
        <p:nvSpPr>
          <p:cNvPr id="5" name="文本框 4"/>
          <p:cNvSpPr txBox="1"/>
          <p:nvPr/>
        </p:nvSpPr>
        <p:spPr>
          <a:xfrm>
            <a:off x="1127125" y="4076700"/>
            <a:ext cx="9128760" cy="2245360"/>
          </a:xfrm>
          <a:prstGeom prst="rect">
            <a:avLst/>
          </a:prstGeom>
        </p:spPr>
        <p:txBody>
          <a:bodyPr vert="horz" wrap="square" lIns="91440" tIns="45720" rIns="91440" bIns="45720" rtlCol="0" anchor="t">
            <a:spAutoFit/>
          </a:bodyPr>
          <a:lstStyle/>
          <a:p>
            <a:pPr marL="965200" lvl="1" indent="-508000" eaLnBrk="1" hangingPunct="1">
              <a:buClr>
                <a:srgbClr val="000000"/>
              </a:buClr>
              <a:buFont typeface="Wingdings" panose="05000000000000000000" charset="0"/>
              <a:buChar char="Ø"/>
            </a:pPr>
            <a:r>
              <a:rPr lang="zh-CN" altLang="en-US" sz="2000" dirty="0">
                <a:latin typeface="黑体" panose="02010609060101010101" pitchFamily="2" charset="-122"/>
                <a:ea typeface="黑体" panose="02010609060101010101" pitchFamily="2" charset="-122"/>
                <a:sym typeface="+mn-ea"/>
              </a:rPr>
              <a:t>前面</a:t>
            </a:r>
            <a:r>
              <a:rPr lang="en-US" altLang="zh-CN" sz="2000" dirty="0">
                <a:latin typeface="黑体" panose="02010609060101010101" pitchFamily="2" charset="-122"/>
                <a:ea typeface="黑体" panose="02010609060101010101" pitchFamily="2" charset="-122"/>
                <a:sym typeface="+mn-ea"/>
              </a:rPr>
              <a:t>19</a:t>
            </a:r>
            <a:r>
              <a:rPr lang="zh-CN" altLang="en-US" sz="2000" dirty="0">
                <a:latin typeface="黑体" panose="02010609060101010101" pitchFamily="2" charset="-122"/>
                <a:ea typeface="黑体" panose="02010609060101010101" pitchFamily="2" charset="-122"/>
                <a:sym typeface="+mn-ea"/>
              </a:rPr>
              <a:t>、</a:t>
            </a:r>
            <a:r>
              <a:rPr lang="en-US" altLang="zh-CN" sz="2000" dirty="0">
                <a:latin typeface="黑体" panose="02010609060101010101" pitchFamily="2" charset="-122"/>
                <a:ea typeface="黑体" panose="02010609060101010101" pitchFamily="2" charset="-122"/>
                <a:sym typeface="+mn-ea"/>
              </a:rPr>
              <a:t>01</a:t>
            </a:r>
            <a:r>
              <a:rPr lang="zh-CN" altLang="en-US" sz="2000" dirty="0">
                <a:latin typeface="黑体" panose="02010609060101010101" pitchFamily="2" charset="-122"/>
                <a:ea typeface="黑体" panose="02010609060101010101" pitchFamily="2" charset="-122"/>
                <a:sym typeface="+mn-ea"/>
              </a:rPr>
              <a:t>依次插入</a:t>
            </a: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23</a:t>
            </a:r>
            <a:r>
              <a:rPr lang="zh-CN" altLang="en-US" sz="2000" dirty="0">
                <a:latin typeface="黑体" panose="02010609060101010101" pitchFamily="2" charset="-122"/>
                <a:ea typeface="黑体" panose="02010609060101010101" pitchFamily="2" charset="-122"/>
                <a:sym typeface="+mn-ea"/>
              </a:rPr>
              <a:t>的哈希地址为</a:t>
            </a:r>
            <a:r>
              <a:rPr lang="en-US" altLang="zh-CN" sz="2000" dirty="0">
                <a:latin typeface="黑体" panose="02010609060101010101" pitchFamily="2" charset="-122"/>
                <a:ea typeface="黑体" panose="02010609060101010101" pitchFamily="2" charset="-122"/>
                <a:sym typeface="+mn-ea"/>
              </a:rPr>
              <a:t>1</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01</a:t>
            </a:r>
            <a:r>
              <a:rPr lang="zh-CN" altLang="en-US" sz="2000" dirty="0">
                <a:latin typeface="黑体" panose="02010609060101010101" pitchFamily="2" charset="-122"/>
                <a:ea typeface="黑体" panose="02010609060101010101" pitchFamily="2" charset="-122"/>
                <a:sym typeface="+mn-ea"/>
              </a:rPr>
              <a:t>冲突，原地址</a:t>
            </a:r>
            <a:r>
              <a:rPr lang="en-US" altLang="zh-CN" sz="2000" dirty="0">
                <a:latin typeface="黑体" panose="02010609060101010101" pitchFamily="2" charset="-122"/>
                <a:ea typeface="黑体" panose="02010609060101010101" pitchFamily="2" charset="-122"/>
                <a:sym typeface="+mn-ea"/>
              </a:rPr>
              <a:t>+1</a:t>
            </a:r>
            <a:r>
              <a:rPr lang="zh-CN" altLang="en-US" sz="2000" dirty="0">
                <a:latin typeface="黑体" panose="02010609060101010101" pitchFamily="2" charset="-122"/>
                <a:ea typeface="黑体" panose="02010609060101010101" pitchFamily="2" charset="-122"/>
                <a:sym typeface="+mn-ea"/>
              </a:rPr>
              <a:t>为空插入</a:t>
            </a: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14</a:t>
            </a:r>
            <a:r>
              <a:rPr lang="zh-CN" altLang="en-US" sz="2000" dirty="0">
                <a:latin typeface="黑体" panose="02010609060101010101" pitchFamily="2" charset="-122"/>
                <a:ea typeface="黑体" panose="02010609060101010101" pitchFamily="2" charset="-122"/>
                <a:sym typeface="+mn-ea"/>
              </a:rPr>
              <a:t>、</a:t>
            </a:r>
            <a:r>
              <a:rPr lang="en-US" altLang="zh-CN" sz="2000" dirty="0">
                <a:latin typeface="黑体" panose="02010609060101010101" pitchFamily="2" charset="-122"/>
                <a:ea typeface="黑体" panose="02010609060101010101" pitchFamily="2" charset="-122"/>
                <a:sym typeface="+mn-ea"/>
              </a:rPr>
              <a:t>55</a:t>
            </a:r>
            <a:r>
              <a:rPr lang="zh-CN" altLang="en-US" sz="2000" dirty="0">
                <a:latin typeface="黑体" panose="02010609060101010101" pitchFamily="2" charset="-122"/>
                <a:ea typeface="黑体" panose="02010609060101010101" pitchFamily="2" charset="-122"/>
                <a:sym typeface="+mn-ea"/>
              </a:rPr>
              <a:t>、</a:t>
            </a:r>
            <a:r>
              <a:rPr lang="en-US" altLang="zh-CN" sz="2000" dirty="0">
                <a:latin typeface="黑体" panose="02010609060101010101" pitchFamily="2" charset="-122"/>
                <a:ea typeface="黑体" panose="02010609060101010101" pitchFamily="2" charset="-122"/>
                <a:sym typeface="+mn-ea"/>
              </a:rPr>
              <a:t>82</a:t>
            </a:r>
            <a:r>
              <a:rPr lang="zh-CN" altLang="en-US" sz="2000" dirty="0">
                <a:latin typeface="黑体" panose="02010609060101010101" pitchFamily="2" charset="-122"/>
                <a:ea typeface="黑体" panose="02010609060101010101" pitchFamily="2" charset="-122"/>
                <a:sym typeface="+mn-ea"/>
              </a:rPr>
              <a:t>都无冲突，直接插入</a:t>
            </a: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68</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23</a:t>
            </a:r>
            <a:r>
              <a:rPr lang="zh-CN" altLang="en-US" sz="2000" dirty="0">
                <a:latin typeface="黑体" panose="02010609060101010101" pitchFamily="2" charset="-122"/>
                <a:ea typeface="黑体" panose="02010609060101010101" pitchFamily="2" charset="-122"/>
                <a:sym typeface="+mn-ea"/>
              </a:rPr>
              <a:t>冲突，原地址</a:t>
            </a:r>
            <a:r>
              <a:rPr lang="en-US" altLang="zh-CN" sz="2000" dirty="0">
                <a:latin typeface="黑体" panose="02010609060101010101" pitchFamily="2" charset="-122"/>
                <a:ea typeface="黑体" panose="02010609060101010101" pitchFamily="2" charset="-122"/>
                <a:sym typeface="+mn-ea"/>
              </a:rPr>
              <a:t>+1</a:t>
            </a:r>
            <a:r>
              <a:rPr lang="zh-CN" altLang="en-US" sz="2000" dirty="0">
                <a:latin typeface="黑体" panose="02010609060101010101" pitchFamily="2" charset="-122"/>
                <a:ea typeface="黑体" panose="02010609060101010101" pitchFamily="2" charset="-122"/>
                <a:sym typeface="+mn-ea"/>
              </a:rPr>
              <a:t>冲突，</a:t>
            </a:r>
            <a:r>
              <a:rPr lang="en-US" altLang="zh-CN" sz="2000" dirty="0">
                <a:latin typeface="黑体" panose="02010609060101010101" pitchFamily="2" charset="-122"/>
                <a:ea typeface="黑体" panose="02010609060101010101" pitchFamily="2" charset="-122"/>
                <a:sym typeface="+mn-ea"/>
              </a:rPr>
              <a:t>+8</a:t>
            </a:r>
            <a:r>
              <a:rPr lang="zh-CN" altLang="en-US" sz="2000" dirty="0">
                <a:latin typeface="黑体" panose="02010609060101010101" pitchFamily="2" charset="-122"/>
                <a:ea typeface="黑体" panose="02010609060101010101" pitchFamily="2" charset="-122"/>
                <a:sym typeface="+mn-ea"/>
              </a:rPr>
              <a:t>为空</a:t>
            </a: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11</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55</a:t>
            </a:r>
            <a:r>
              <a:rPr lang="zh-CN" altLang="en-US" sz="2000" dirty="0">
                <a:latin typeface="黑体" panose="02010609060101010101" pitchFamily="2" charset="-122"/>
                <a:ea typeface="黑体" panose="02010609060101010101" pitchFamily="2" charset="-122"/>
                <a:sym typeface="+mn-ea"/>
              </a:rPr>
              <a:t>冲突，原地址</a:t>
            </a:r>
            <a:r>
              <a:rPr lang="en-US" altLang="zh-CN" sz="2000" dirty="0">
                <a:latin typeface="黑体" panose="02010609060101010101" pitchFamily="2" charset="-122"/>
                <a:ea typeface="黑体" panose="02010609060101010101" pitchFamily="2" charset="-122"/>
                <a:sym typeface="+mn-ea"/>
              </a:rPr>
              <a:t>+1</a:t>
            </a:r>
            <a:r>
              <a:rPr lang="zh-CN" altLang="en-US" sz="2000" dirty="0">
                <a:latin typeface="黑体" panose="02010609060101010101" pitchFamily="2" charset="-122"/>
                <a:ea typeface="黑体" panose="02010609060101010101" pitchFamily="2" charset="-122"/>
                <a:sym typeface="+mn-ea"/>
              </a:rPr>
              <a:t>、</a:t>
            </a:r>
            <a:r>
              <a:rPr lang="en-US" altLang="zh-CN" sz="2000" dirty="0">
                <a:latin typeface="黑体" panose="02010609060101010101" pitchFamily="2" charset="-122"/>
                <a:ea typeface="黑体" panose="02010609060101010101" pitchFamily="2" charset="-122"/>
                <a:sym typeface="+mn-ea"/>
              </a:rPr>
              <a:t>+8</a:t>
            </a:r>
            <a:r>
              <a:rPr lang="zh-CN" altLang="en-US" sz="2000" dirty="0">
                <a:latin typeface="黑体" panose="02010609060101010101" pitchFamily="2" charset="-122"/>
                <a:ea typeface="黑体" panose="02010609060101010101" pitchFamily="2" charset="-122"/>
                <a:sym typeface="+mn-ea"/>
              </a:rPr>
              <a:t>都冲突，</a:t>
            </a:r>
            <a:r>
              <a:rPr lang="en-US" altLang="zh-CN" sz="2000" dirty="0">
                <a:latin typeface="黑体" panose="02010609060101010101" pitchFamily="2" charset="-122"/>
                <a:ea typeface="黑体" panose="02010609060101010101" pitchFamily="2" charset="-122"/>
                <a:sym typeface="+mn-ea"/>
              </a:rPr>
              <a:t>+4</a:t>
            </a:r>
            <a:r>
              <a:rPr lang="zh-CN" altLang="en-US" sz="2000" dirty="0">
                <a:latin typeface="黑体" panose="02010609060101010101" pitchFamily="2" charset="-122"/>
                <a:ea typeface="黑体" panose="02010609060101010101" pitchFamily="2" charset="-122"/>
                <a:sym typeface="+mn-ea"/>
              </a:rPr>
              <a:t>为空</a:t>
            </a:r>
          </a:p>
          <a:p>
            <a:pPr marL="965200" lvl="1" indent="-508000" eaLnBrk="1" hangingPunct="1">
              <a:buClr>
                <a:srgbClr val="000000"/>
              </a:buClr>
              <a:buFont typeface="Wingdings" panose="05000000000000000000" charset="0"/>
              <a:buChar char="Ø"/>
            </a:pPr>
            <a:r>
              <a:rPr lang="en-US" altLang="zh-CN" sz="2000" dirty="0">
                <a:latin typeface="黑体" panose="02010609060101010101" pitchFamily="2" charset="-122"/>
                <a:ea typeface="黑体" panose="02010609060101010101" pitchFamily="2" charset="-122"/>
                <a:sym typeface="+mn-ea"/>
              </a:rPr>
              <a:t>36</a:t>
            </a:r>
            <a:r>
              <a:rPr lang="zh-CN" altLang="en-US" sz="2000" dirty="0">
                <a:latin typeface="黑体" panose="02010609060101010101" pitchFamily="2" charset="-122"/>
                <a:ea typeface="黑体" panose="02010609060101010101" pitchFamily="2" charset="-122"/>
                <a:sym typeface="+mn-ea"/>
              </a:rPr>
              <a:t>与</a:t>
            </a:r>
            <a:r>
              <a:rPr lang="en-US" altLang="zh-CN" sz="2000" dirty="0">
                <a:latin typeface="黑体" panose="02010609060101010101" pitchFamily="2" charset="-122"/>
                <a:ea typeface="黑体" panose="02010609060101010101" pitchFamily="2" charset="-122"/>
                <a:sym typeface="+mn-ea"/>
              </a:rPr>
              <a:t>14</a:t>
            </a:r>
            <a:r>
              <a:rPr lang="zh-CN" altLang="en-US" sz="2000" dirty="0">
                <a:latin typeface="黑体" panose="02010609060101010101" pitchFamily="2" charset="-122"/>
                <a:ea typeface="黑体" panose="02010609060101010101" pitchFamily="2" charset="-122"/>
                <a:sym typeface="+mn-ea"/>
              </a:rPr>
              <a:t>冲突，原地址</a:t>
            </a:r>
            <a:r>
              <a:rPr lang="en-US" altLang="zh-CN" sz="2000" dirty="0">
                <a:latin typeface="黑体" panose="02010609060101010101" pitchFamily="2" charset="-122"/>
                <a:ea typeface="黑体" panose="02010609060101010101" pitchFamily="2" charset="-122"/>
                <a:sym typeface="+mn-ea"/>
              </a:rPr>
              <a:t>+1</a:t>
            </a:r>
            <a:r>
              <a:rPr lang="zh-CN" altLang="en-US" sz="2000" dirty="0">
                <a:latin typeface="黑体" panose="02010609060101010101" pitchFamily="2" charset="-122"/>
                <a:ea typeface="黑体" panose="02010609060101010101" pitchFamily="2" charset="-122"/>
                <a:sym typeface="+mn-ea"/>
              </a:rPr>
              <a:t>、</a:t>
            </a:r>
            <a:r>
              <a:rPr lang="en-US" altLang="zh-CN" sz="2000" dirty="0">
                <a:latin typeface="黑体" panose="02010609060101010101" pitchFamily="2" charset="-122"/>
                <a:ea typeface="黑体" panose="02010609060101010101" pitchFamily="2" charset="-122"/>
                <a:sym typeface="+mn-ea"/>
              </a:rPr>
              <a:t>+8</a:t>
            </a:r>
            <a:r>
              <a:rPr lang="zh-CN" altLang="en-US" sz="2000" dirty="0">
                <a:latin typeface="黑体" panose="02010609060101010101" pitchFamily="2" charset="-122"/>
                <a:ea typeface="黑体" panose="02010609060101010101" pitchFamily="2" charset="-122"/>
                <a:sym typeface="+mn-ea"/>
              </a:rPr>
              <a:t>都冲突，</a:t>
            </a:r>
            <a:r>
              <a:rPr lang="en-US" altLang="zh-CN" sz="2000" dirty="0">
                <a:latin typeface="黑体" panose="02010609060101010101" pitchFamily="2" charset="-122"/>
                <a:ea typeface="黑体" panose="02010609060101010101" pitchFamily="2" charset="-122"/>
                <a:sym typeface="+mn-ea"/>
              </a:rPr>
              <a:t>+4</a:t>
            </a:r>
            <a:r>
              <a:rPr lang="zh-CN" altLang="en-US" sz="2000" dirty="0">
                <a:latin typeface="黑体" panose="02010609060101010101" pitchFamily="2" charset="-122"/>
                <a:ea typeface="黑体" panose="02010609060101010101" pitchFamily="2" charset="-122"/>
                <a:sym typeface="+mn-ea"/>
              </a:rPr>
              <a:t>为空</a:t>
            </a:r>
            <a:endParaRPr lang="zh-CN" altLang="en-US" sz="2000" b="0" dirty="0">
              <a:latin typeface="黑体" panose="02010609060101010101" pitchFamily="2" charset="-122"/>
              <a:ea typeface="黑体" panose="02010609060101010101" pitchFamily="2" charset="-122"/>
            </a:endParaRPr>
          </a:p>
          <a:p>
            <a:pPr marL="965200" lvl="1" indent="-508000" eaLnBrk="1" hangingPunct="1">
              <a:buClr>
                <a:srgbClr val="000000"/>
              </a:buClr>
              <a:buFont typeface="Wingdings" panose="05000000000000000000" charset="0"/>
              <a:buChar char="Ø"/>
            </a:pPr>
            <a:endParaRPr lang="zh-CN" altLang="en-US" sz="2000" dirty="0">
              <a:latin typeface="黑体" panose="02010609060101010101" pitchFamily="2" charset="-122"/>
              <a:ea typeface="黑体" panose="02010609060101010101" pitchFamily="2" charset="-122"/>
              <a:sym typeface="+mn-ea"/>
            </a:endParaRPr>
          </a:p>
        </p:txBody>
      </p:sp>
      <p:graphicFrame>
        <p:nvGraphicFramePr>
          <p:cNvPr id="1021957" name="Group 5"/>
          <p:cNvGraphicFramePr>
            <a:graphicFrameLocks noGrp="1"/>
          </p:cNvGraphicFramePr>
          <p:nvPr/>
        </p:nvGraphicFramePr>
        <p:xfrm>
          <a:off x="1475105" y="3017520"/>
          <a:ext cx="8001000" cy="533400"/>
        </p:xfrm>
        <a:graphic>
          <a:graphicData uri="http://schemas.openxmlformats.org/drawingml/2006/table">
            <a:tbl>
              <a:tblPr/>
              <a:tblGrid>
                <a:gridCol w="727075">
                  <a:extLst>
                    <a:ext uri="{9D8B030D-6E8A-4147-A177-3AD203B41FA5}">
                      <a16:colId xmlns:a16="http://schemas.microsoft.com/office/drawing/2014/main" val="20000"/>
                    </a:ext>
                  </a:extLst>
                </a:gridCol>
                <a:gridCol w="727075">
                  <a:extLst>
                    <a:ext uri="{9D8B030D-6E8A-4147-A177-3AD203B41FA5}">
                      <a16:colId xmlns:a16="http://schemas.microsoft.com/office/drawing/2014/main" val="20001"/>
                    </a:ext>
                  </a:extLst>
                </a:gridCol>
                <a:gridCol w="727075">
                  <a:extLst>
                    <a:ext uri="{9D8B030D-6E8A-4147-A177-3AD203B41FA5}">
                      <a16:colId xmlns:a16="http://schemas.microsoft.com/office/drawing/2014/main" val="20002"/>
                    </a:ext>
                  </a:extLst>
                </a:gridCol>
                <a:gridCol w="727075">
                  <a:extLst>
                    <a:ext uri="{9D8B030D-6E8A-4147-A177-3AD203B41FA5}">
                      <a16:colId xmlns:a16="http://schemas.microsoft.com/office/drawing/2014/main" val="20003"/>
                    </a:ext>
                  </a:extLst>
                </a:gridCol>
                <a:gridCol w="727075">
                  <a:extLst>
                    <a:ext uri="{9D8B030D-6E8A-4147-A177-3AD203B41FA5}">
                      <a16:colId xmlns:a16="http://schemas.microsoft.com/office/drawing/2014/main" val="20004"/>
                    </a:ext>
                  </a:extLst>
                </a:gridCol>
                <a:gridCol w="730250">
                  <a:extLst>
                    <a:ext uri="{9D8B030D-6E8A-4147-A177-3AD203B41FA5}">
                      <a16:colId xmlns:a16="http://schemas.microsoft.com/office/drawing/2014/main" val="20005"/>
                    </a:ext>
                  </a:extLst>
                </a:gridCol>
                <a:gridCol w="727075">
                  <a:extLst>
                    <a:ext uri="{9D8B030D-6E8A-4147-A177-3AD203B41FA5}">
                      <a16:colId xmlns:a16="http://schemas.microsoft.com/office/drawing/2014/main" val="20006"/>
                    </a:ext>
                  </a:extLst>
                </a:gridCol>
                <a:gridCol w="727075">
                  <a:extLst>
                    <a:ext uri="{9D8B030D-6E8A-4147-A177-3AD203B41FA5}">
                      <a16:colId xmlns:a16="http://schemas.microsoft.com/office/drawing/2014/main" val="20007"/>
                    </a:ext>
                  </a:extLst>
                </a:gridCol>
                <a:gridCol w="727075">
                  <a:extLst>
                    <a:ext uri="{9D8B030D-6E8A-4147-A177-3AD203B41FA5}">
                      <a16:colId xmlns:a16="http://schemas.microsoft.com/office/drawing/2014/main" val="20008"/>
                    </a:ext>
                  </a:extLst>
                </a:gridCol>
                <a:gridCol w="727075">
                  <a:extLst>
                    <a:ext uri="{9D8B030D-6E8A-4147-A177-3AD203B41FA5}">
                      <a16:colId xmlns:a16="http://schemas.microsoft.com/office/drawing/2014/main" val="20009"/>
                    </a:ext>
                  </a:extLst>
                </a:gridCol>
                <a:gridCol w="727075">
                  <a:extLst>
                    <a:ext uri="{9D8B030D-6E8A-4147-A177-3AD203B41FA5}">
                      <a16:colId xmlns:a16="http://schemas.microsoft.com/office/drawing/2014/main" val="20010"/>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58750" name="Text Box 31"/>
          <p:cNvSpPr txBox="1"/>
          <p:nvPr/>
        </p:nvSpPr>
        <p:spPr>
          <a:xfrm>
            <a:off x="1703705" y="2636520"/>
            <a:ext cx="7696200" cy="398780"/>
          </a:xfrm>
          <a:prstGeom prst="rect">
            <a:avLst/>
          </a:prstGeom>
          <a:noFill/>
          <a:ln w="9525">
            <a:noFill/>
          </a:ln>
        </p:spPr>
        <p:txBody>
          <a:bodyPr anchor="t" anchorCtr="0">
            <a:spAutoFit/>
          </a:bodyPr>
          <a:lstStyle/>
          <a:p>
            <a:pPr algn="dist">
              <a:spcBef>
                <a:spcPct val="50000"/>
              </a:spcBef>
            </a:pPr>
            <a:r>
              <a:rPr lang="en-US" altLang="zh-CN" sz="2000" dirty="0">
                <a:latin typeface="Tahoma" panose="020B0604030504040204" charset="0"/>
                <a:ea typeface="宋体" panose="02010600030101010101" pitchFamily="2" charset="-122"/>
              </a:rPr>
              <a:t>0   1   2   3   4   5   6   7   8   9  10 </a:t>
            </a:r>
          </a:p>
        </p:txBody>
      </p:sp>
      <p:sp>
        <p:nvSpPr>
          <p:cNvPr id="1021984" name="Text Box 32"/>
          <p:cNvSpPr txBox="1"/>
          <p:nvPr/>
        </p:nvSpPr>
        <p:spPr>
          <a:xfrm>
            <a:off x="7361555" y="3065145"/>
            <a:ext cx="487680" cy="460375"/>
          </a:xfrm>
          <a:prstGeom prst="rect">
            <a:avLst/>
          </a:prstGeom>
          <a:noFill/>
          <a:ln w="9525">
            <a:noFill/>
          </a:ln>
        </p:spPr>
        <p:txBody>
          <a:bodyPr wrap="none" anchor="t" anchorCtr="0">
            <a:spAutoFit/>
          </a:bodyPr>
          <a:lstStyle/>
          <a:p>
            <a:r>
              <a:rPr lang="en-US" altLang="zh-CN" sz="2400" b="1" dirty="0">
                <a:solidFill>
                  <a:srgbClr val="A50021"/>
                </a:solidFill>
                <a:latin typeface="Times New Roman" panose="02020603050405020304" pitchFamily="18" charset="0"/>
                <a:ea typeface="宋体" panose="02010600030101010101" pitchFamily="2" charset="-122"/>
              </a:rPr>
              <a:t>19</a:t>
            </a:r>
            <a:endParaRPr lang="en-US" altLang="zh-CN" sz="2400" b="1" dirty="0">
              <a:latin typeface="Times New Roman" panose="02020603050405020304" pitchFamily="18" charset="0"/>
              <a:ea typeface="宋体" panose="02010600030101010101" pitchFamily="2" charset="-122"/>
            </a:endParaRPr>
          </a:p>
        </p:txBody>
      </p:sp>
      <p:sp>
        <p:nvSpPr>
          <p:cNvPr id="1021985" name="Text Box 33"/>
          <p:cNvSpPr txBox="1"/>
          <p:nvPr/>
        </p:nvSpPr>
        <p:spPr>
          <a:xfrm>
            <a:off x="2268855" y="3088958"/>
            <a:ext cx="487680" cy="460375"/>
          </a:xfrm>
          <a:prstGeom prst="rect">
            <a:avLst/>
          </a:prstGeom>
          <a:noFill/>
          <a:ln w="9525">
            <a:noFill/>
          </a:ln>
        </p:spPr>
        <p:txBody>
          <a:bodyPr wrap="none" anchor="t" anchorCtr="0">
            <a:spAutoFit/>
          </a:bodyPr>
          <a:lstStyle/>
          <a:p>
            <a:r>
              <a:rPr lang="en-US" altLang="zh-CN" sz="2400" b="1" dirty="0">
                <a:solidFill>
                  <a:srgbClr val="A50021"/>
                </a:solidFill>
                <a:latin typeface="Times New Roman" panose="02020603050405020304" pitchFamily="18" charset="0"/>
                <a:ea typeface="宋体" panose="02010600030101010101" pitchFamily="2" charset="-122"/>
              </a:rPr>
              <a:t>01</a:t>
            </a:r>
            <a:endParaRPr lang="en-US" altLang="zh-CN" sz="2400" b="1" dirty="0">
              <a:latin typeface="Times New Roman" panose="02020603050405020304" pitchFamily="18" charset="0"/>
              <a:ea typeface="宋体" panose="02010600030101010101" pitchFamily="2" charset="-122"/>
            </a:endParaRPr>
          </a:p>
        </p:txBody>
      </p:sp>
      <p:sp>
        <p:nvSpPr>
          <p:cNvPr id="1021986" name="Text Box 34"/>
          <p:cNvSpPr txBox="1"/>
          <p:nvPr/>
        </p:nvSpPr>
        <p:spPr>
          <a:xfrm>
            <a:off x="3061018" y="3071495"/>
            <a:ext cx="487680" cy="460375"/>
          </a:xfrm>
          <a:prstGeom prst="rect">
            <a:avLst/>
          </a:prstGeom>
          <a:noFill/>
          <a:ln w="9525">
            <a:noFill/>
          </a:ln>
        </p:spPr>
        <p:txBody>
          <a:bodyPr wrap="none" anchor="t" anchorCtr="0">
            <a:spAutoFit/>
          </a:bodyPr>
          <a:lstStyle/>
          <a:p>
            <a:r>
              <a:rPr lang="en-US" altLang="zh-CN" sz="2400" b="1" dirty="0">
                <a:solidFill>
                  <a:srgbClr val="3333FF"/>
                </a:solidFill>
                <a:latin typeface="Times New Roman" panose="02020603050405020304" pitchFamily="18" charset="0"/>
                <a:ea typeface="宋体" panose="02010600030101010101" pitchFamily="2" charset="-122"/>
              </a:rPr>
              <a:t>23</a:t>
            </a:r>
            <a:endParaRPr lang="en-US" altLang="zh-CN" sz="2400" b="1" dirty="0">
              <a:latin typeface="Times New Roman" panose="02020603050405020304" pitchFamily="18" charset="0"/>
              <a:ea typeface="宋体" panose="02010600030101010101" pitchFamily="2" charset="-122"/>
            </a:endParaRPr>
          </a:p>
        </p:txBody>
      </p:sp>
      <p:sp>
        <p:nvSpPr>
          <p:cNvPr id="1021987" name="Text Box 35"/>
          <p:cNvSpPr txBox="1"/>
          <p:nvPr/>
        </p:nvSpPr>
        <p:spPr>
          <a:xfrm>
            <a:off x="3810000" y="3071495"/>
            <a:ext cx="487680" cy="460375"/>
          </a:xfrm>
          <a:prstGeom prst="rect">
            <a:avLst/>
          </a:prstGeom>
          <a:noFill/>
          <a:ln w="9525">
            <a:noFill/>
          </a:ln>
        </p:spPr>
        <p:txBody>
          <a:bodyPr wrap="none" anchor="t" anchorCtr="0">
            <a:spAutoFit/>
          </a:bodyPr>
          <a:lstStyle/>
          <a:p>
            <a:pPr algn="r"/>
            <a:r>
              <a:rPr lang="en-US" altLang="zh-CN" sz="2400" b="1" dirty="0">
                <a:solidFill>
                  <a:srgbClr val="A50021"/>
                </a:solidFill>
                <a:latin typeface="Times New Roman" panose="02020603050405020304" pitchFamily="18" charset="0"/>
                <a:ea typeface="宋体" panose="02010600030101010101" pitchFamily="2" charset="-122"/>
              </a:rPr>
              <a:t>14</a:t>
            </a:r>
            <a:endParaRPr lang="en-US" altLang="zh-CN" sz="2400" b="1" dirty="0">
              <a:latin typeface="Times New Roman" panose="02020603050405020304" pitchFamily="18" charset="0"/>
              <a:ea typeface="宋体" panose="02010600030101010101" pitchFamily="2" charset="-122"/>
            </a:endParaRPr>
          </a:p>
        </p:txBody>
      </p:sp>
      <p:sp>
        <p:nvSpPr>
          <p:cNvPr id="1021988" name="Text Box 36"/>
          <p:cNvSpPr txBox="1"/>
          <p:nvPr/>
        </p:nvSpPr>
        <p:spPr>
          <a:xfrm>
            <a:off x="8918893" y="3034983"/>
            <a:ext cx="487680" cy="460375"/>
          </a:xfrm>
          <a:prstGeom prst="rect">
            <a:avLst/>
          </a:prstGeom>
          <a:noFill/>
          <a:ln w="9525">
            <a:noFill/>
          </a:ln>
        </p:spPr>
        <p:txBody>
          <a:bodyPr wrap="none" anchor="t" anchorCtr="0">
            <a:spAutoFit/>
          </a:bodyPr>
          <a:lstStyle/>
          <a:p>
            <a:r>
              <a:rPr lang="en-US" altLang="zh-CN" sz="2400" b="1" dirty="0">
                <a:solidFill>
                  <a:srgbClr val="FF00FF"/>
                </a:solidFill>
                <a:latin typeface="Times New Roman" panose="02020603050405020304" pitchFamily="18" charset="0"/>
                <a:ea typeface="宋体" panose="02010600030101010101" pitchFamily="2" charset="-122"/>
              </a:rPr>
              <a:t>68</a:t>
            </a:r>
            <a:endParaRPr lang="en-US" altLang="zh-CN" sz="2400" b="1" dirty="0">
              <a:latin typeface="Times New Roman" panose="02020603050405020304" pitchFamily="18" charset="0"/>
              <a:ea typeface="宋体" panose="02010600030101010101" pitchFamily="2" charset="-122"/>
            </a:endParaRPr>
          </a:p>
        </p:txBody>
      </p:sp>
      <p:sp>
        <p:nvSpPr>
          <p:cNvPr id="1021989" name="Text Box 37"/>
          <p:cNvSpPr txBox="1"/>
          <p:nvPr/>
        </p:nvSpPr>
        <p:spPr>
          <a:xfrm>
            <a:off x="1551305" y="3079433"/>
            <a:ext cx="487680" cy="460375"/>
          </a:xfrm>
          <a:prstGeom prst="rect">
            <a:avLst/>
          </a:prstGeom>
          <a:noFill/>
          <a:ln w="9525">
            <a:noFill/>
          </a:ln>
        </p:spPr>
        <p:txBody>
          <a:bodyPr wrap="none" anchor="t" anchorCtr="0">
            <a:spAutoFit/>
          </a:bodyPr>
          <a:lstStyle/>
          <a:p>
            <a:r>
              <a:rPr lang="en-US" altLang="zh-CN" sz="2400" b="1" dirty="0">
                <a:solidFill>
                  <a:srgbClr val="A50021"/>
                </a:solidFill>
                <a:latin typeface="Times New Roman" panose="02020603050405020304" pitchFamily="18" charset="0"/>
                <a:ea typeface="宋体" panose="02010600030101010101" pitchFamily="2" charset="-122"/>
              </a:rPr>
              <a:t>55</a:t>
            </a:r>
            <a:endParaRPr lang="en-US" altLang="zh-CN" sz="2400" b="1" dirty="0">
              <a:latin typeface="Times New Roman" panose="02020603050405020304" pitchFamily="18" charset="0"/>
              <a:ea typeface="宋体" panose="02010600030101010101" pitchFamily="2" charset="-122"/>
            </a:endParaRPr>
          </a:p>
        </p:txBody>
      </p:sp>
      <p:sp>
        <p:nvSpPr>
          <p:cNvPr id="1021990" name="Text Box 38"/>
          <p:cNvSpPr txBox="1"/>
          <p:nvPr/>
        </p:nvSpPr>
        <p:spPr>
          <a:xfrm>
            <a:off x="6677343" y="3109595"/>
            <a:ext cx="487680" cy="460375"/>
          </a:xfrm>
          <a:prstGeom prst="rect">
            <a:avLst/>
          </a:prstGeom>
          <a:noFill/>
          <a:ln w="9525">
            <a:noFill/>
          </a:ln>
        </p:spPr>
        <p:txBody>
          <a:bodyPr wrap="none" anchor="t" anchorCtr="0">
            <a:spAutoFit/>
          </a:bodyPr>
          <a:lstStyle/>
          <a:p>
            <a:r>
              <a:rPr lang="en-US" altLang="zh-CN" sz="2400" b="1" dirty="0">
                <a:solidFill>
                  <a:srgbClr val="006600"/>
                </a:solidFill>
                <a:latin typeface="Times New Roman" panose="02020603050405020304" pitchFamily="18" charset="0"/>
                <a:ea typeface="宋体" panose="02010600030101010101" pitchFamily="2" charset="-122"/>
              </a:rPr>
              <a:t>36</a:t>
            </a:r>
            <a:endParaRPr lang="en-US" altLang="zh-CN" sz="2400" b="1" dirty="0">
              <a:latin typeface="Times New Roman" panose="02020603050405020304" pitchFamily="18" charset="0"/>
              <a:ea typeface="宋体" panose="02010600030101010101" pitchFamily="2" charset="-122"/>
            </a:endParaRPr>
          </a:p>
        </p:txBody>
      </p:sp>
      <p:sp>
        <p:nvSpPr>
          <p:cNvPr id="1021991" name="Text Box 39"/>
          <p:cNvSpPr txBox="1"/>
          <p:nvPr/>
        </p:nvSpPr>
        <p:spPr>
          <a:xfrm>
            <a:off x="5151755" y="3065145"/>
            <a:ext cx="487680" cy="460375"/>
          </a:xfrm>
          <a:prstGeom prst="rect">
            <a:avLst/>
          </a:prstGeom>
          <a:noFill/>
          <a:ln w="9525">
            <a:noFill/>
          </a:ln>
        </p:spPr>
        <p:txBody>
          <a:bodyPr wrap="none" anchor="t" anchorCtr="0">
            <a:spAutoFit/>
          </a:bodyPr>
          <a:lstStyle/>
          <a:p>
            <a:r>
              <a:rPr lang="en-US" altLang="zh-CN" sz="2400" b="1" dirty="0">
                <a:solidFill>
                  <a:srgbClr val="A50021"/>
                </a:solidFill>
                <a:latin typeface="Times New Roman" panose="02020603050405020304" pitchFamily="18" charset="0"/>
                <a:ea typeface="宋体" panose="02010600030101010101" pitchFamily="2" charset="-122"/>
              </a:rPr>
              <a:t>82</a:t>
            </a:r>
            <a:endParaRPr lang="en-US" altLang="zh-CN" sz="2400" b="1" dirty="0">
              <a:latin typeface="Times New Roman" panose="02020603050405020304" pitchFamily="18" charset="0"/>
              <a:ea typeface="宋体" panose="02010600030101010101" pitchFamily="2" charset="-122"/>
            </a:endParaRPr>
          </a:p>
        </p:txBody>
      </p:sp>
      <p:sp>
        <p:nvSpPr>
          <p:cNvPr id="1021992" name="Text Box 40"/>
          <p:cNvSpPr txBox="1"/>
          <p:nvPr/>
        </p:nvSpPr>
        <p:spPr>
          <a:xfrm>
            <a:off x="4446905" y="3065145"/>
            <a:ext cx="470535" cy="460375"/>
          </a:xfrm>
          <a:prstGeom prst="rect">
            <a:avLst/>
          </a:prstGeom>
          <a:noFill/>
          <a:ln w="9525">
            <a:noFill/>
          </a:ln>
        </p:spPr>
        <p:txBody>
          <a:bodyPr wrap="none" anchor="t" anchorCtr="0">
            <a:spAutoFit/>
          </a:bodyPr>
          <a:lstStyle/>
          <a:p>
            <a:r>
              <a:rPr lang="en-US" altLang="zh-CN" sz="2400" b="1" dirty="0">
                <a:solidFill>
                  <a:srgbClr val="FF0000"/>
                </a:solidFill>
                <a:latin typeface="Times New Roman" panose="02020603050405020304" pitchFamily="18" charset="0"/>
                <a:ea typeface="宋体" panose="02010600030101010101" pitchFamily="2" charset="-122"/>
              </a:rPr>
              <a:t>11</a:t>
            </a: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21984"/>
                                        </p:tgtEl>
                                        <p:attrNameLst>
                                          <p:attrName>style.visibility</p:attrName>
                                        </p:attrNameLst>
                                      </p:cBhvr>
                                      <p:to>
                                        <p:strVal val="visible"/>
                                      </p:to>
                                    </p:set>
                                    <p:animEffect transition="in" filter="wipe(up)">
                                      <p:cBhvr>
                                        <p:cTn id="7" dur="500"/>
                                        <p:tgtEl>
                                          <p:spTgt spid="10219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21985"/>
                                        </p:tgtEl>
                                        <p:attrNameLst>
                                          <p:attrName>style.visibility</p:attrName>
                                        </p:attrNameLst>
                                      </p:cBhvr>
                                      <p:to>
                                        <p:strVal val="visible"/>
                                      </p:to>
                                    </p:set>
                                    <p:animEffect transition="in" filter="wipe(up)">
                                      <p:cBhvr>
                                        <p:cTn id="12" dur="500"/>
                                        <p:tgtEl>
                                          <p:spTgt spid="10219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21986"/>
                                        </p:tgtEl>
                                        <p:attrNameLst>
                                          <p:attrName>style.visibility</p:attrName>
                                        </p:attrNameLst>
                                      </p:cBhvr>
                                      <p:to>
                                        <p:strVal val="visible"/>
                                      </p:to>
                                    </p:set>
                                    <p:animEffect transition="in" filter="wipe(up)">
                                      <p:cBhvr>
                                        <p:cTn id="17" dur="500"/>
                                        <p:tgtEl>
                                          <p:spTgt spid="102198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21987"/>
                                        </p:tgtEl>
                                        <p:attrNameLst>
                                          <p:attrName>style.visibility</p:attrName>
                                        </p:attrNameLst>
                                      </p:cBhvr>
                                      <p:to>
                                        <p:strVal val="visible"/>
                                      </p:to>
                                    </p:set>
                                    <p:animEffect transition="in" filter="wipe(up)">
                                      <p:cBhvr>
                                        <p:cTn id="22" dur="500"/>
                                        <p:tgtEl>
                                          <p:spTgt spid="10219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21989"/>
                                        </p:tgtEl>
                                        <p:attrNameLst>
                                          <p:attrName>style.visibility</p:attrName>
                                        </p:attrNameLst>
                                      </p:cBhvr>
                                      <p:to>
                                        <p:strVal val="visible"/>
                                      </p:to>
                                    </p:set>
                                    <p:animEffect transition="in" filter="wipe(up)">
                                      <p:cBhvr>
                                        <p:cTn id="27" dur="500"/>
                                        <p:tgtEl>
                                          <p:spTgt spid="102198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21988"/>
                                        </p:tgtEl>
                                        <p:attrNameLst>
                                          <p:attrName>style.visibility</p:attrName>
                                        </p:attrNameLst>
                                      </p:cBhvr>
                                      <p:to>
                                        <p:strVal val="visible"/>
                                      </p:to>
                                    </p:set>
                                    <p:animEffect transition="in" filter="wipe(up)">
                                      <p:cBhvr>
                                        <p:cTn id="32" dur="500"/>
                                        <p:tgtEl>
                                          <p:spTgt spid="102198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021992"/>
                                        </p:tgtEl>
                                        <p:attrNameLst>
                                          <p:attrName>style.visibility</p:attrName>
                                        </p:attrNameLst>
                                      </p:cBhvr>
                                      <p:to>
                                        <p:strVal val="visible"/>
                                      </p:to>
                                    </p:set>
                                    <p:animEffect transition="in" filter="wipe(up)">
                                      <p:cBhvr>
                                        <p:cTn id="37" dur="500"/>
                                        <p:tgtEl>
                                          <p:spTgt spid="102199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021991"/>
                                        </p:tgtEl>
                                        <p:attrNameLst>
                                          <p:attrName>style.visibility</p:attrName>
                                        </p:attrNameLst>
                                      </p:cBhvr>
                                      <p:to>
                                        <p:strVal val="visible"/>
                                      </p:to>
                                    </p:set>
                                    <p:animEffect transition="in" filter="wipe(up)">
                                      <p:cBhvr>
                                        <p:cTn id="42" dur="500"/>
                                        <p:tgtEl>
                                          <p:spTgt spid="102199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021990"/>
                                        </p:tgtEl>
                                        <p:attrNameLst>
                                          <p:attrName>style.visibility</p:attrName>
                                        </p:attrNameLst>
                                      </p:cBhvr>
                                      <p:to>
                                        <p:strVal val="visible"/>
                                      </p:to>
                                    </p:set>
                                    <p:animEffect transition="in" filter="wipe(up)">
                                      <p:cBhvr>
                                        <p:cTn id="47" dur="500"/>
                                        <p:tgtEl>
                                          <p:spTgt spid="1021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1984" grpId="0"/>
      <p:bldP spid="1021985" grpId="0"/>
      <p:bldP spid="1021986" grpId="0"/>
      <p:bldP spid="1021987" grpId="0"/>
      <p:bldP spid="1021988" grpId="0"/>
      <p:bldP spid="1021989" grpId="0"/>
      <p:bldP spid="1021990" grpId="0"/>
      <p:bldP spid="1021991" grpId="0"/>
      <p:bldP spid="1021992"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开放定址法分析</a:t>
            </a: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优点：只要哈希表中有空位置，总能找到一个不发生冲突的地址</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缺点：易产生“二次聚集”，即在处理同义词的冲突过程中，又添加了非同义词的冲突，对查找不利</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131</a:t>
            </a:fld>
            <a:endParaRPr lang="zh-CN" alt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再哈希法，构造若干个哈希函数，当发生冲突时，计算下一个哈希地址，直到冲突不再发生，即：</a:t>
            </a:r>
            <a:endParaRPr lang="zh-CN" altLang="en-US" sz="2800" b="0" dirty="0">
              <a:latin typeface="黑体" panose="02010609060101010101" pitchFamily="2" charset="-122"/>
              <a:ea typeface="黑体" panose="02010609060101010101" pitchFamily="2" charset="-122"/>
              <a:cs typeface="+mn-ea"/>
            </a:endParaRPr>
          </a:p>
          <a:p>
            <a:pPr marL="609600" indent="-609600" eaLnBrk="1" hangingPunct="1">
              <a:spcBef>
                <a:spcPct val="150000"/>
              </a:spcBef>
              <a:spcAft>
                <a:spcPct val="10000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dirty="0">
                <a:latin typeface="黑体" panose="02010609060101010101" pitchFamily="2" charset="-122"/>
                <a:ea typeface="黑体" panose="02010609060101010101" pitchFamily="2" charset="-122"/>
                <a:sym typeface="+mn-ea"/>
              </a:rPr>
              <a:t>H</a:t>
            </a:r>
            <a:r>
              <a:rPr lang="en-US" altLang="zh-CN" baseline="-25000" dirty="0">
                <a:latin typeface="黑体" panose="02010609060101010101" pitchFamily="2" charset="-122"/>
                <a:ea typeface="黑体" panose="02010609060101010101" pitchFamily="2" charset="-122"/>
                <a:sym typeface="+mn-ea"/>
              </a:rPr>
              <a:t>i </a:t>
            </a:r>
            <a:r>
              <a:rPr lang="en-US" altLang="zh-CN" dirty="0">
                <a:latin typeface="黑体" panose="02010609060101010101" pitchFamily="2" charset="-122"/>
                <a:ea typeface="黑体" panose="02010609060101010101" pitchFamily="2" charset="-122"/>
                <a:sym typeface="+mn-ea"/>
              </a:rPr>
              <a:t>= Rh</a:t>
            </a:r>
            <a:r>
              <a:rPr lang="en-US" altLang="zh-CN" baseline="-25000" dirty="0">
                <a:latin typeface="黑体" panose="02010609060101010101" pitchFamily="2" charset="-122"/>
                <a:ea typeface="黑体" panose="02010609060101010101" pitchFamily="2" charset="-122"/>
                <a:sym typeface="+mn-ea"/>
              </a:rPr>
              <a:t>i</a:t>
            </a:r>
            <a:r>
              <a:rPr lang="en-US" altLang="zh-CN" dirty="0">
                <a:latin typeface="黑体" panose="02010609060101010101" pitchFamily="2" charset="-122"/>
                <a:ea typeface="黑体" panose="02010609060101010101" pitchFamily="2" charset="-122"/>
                <a:sym typeface="+mn-ea"/>
              </a:rPr>
              <a:t>(key)     i=1,2,</a:t>
            </a:r>
            <a:r>
              <a:rPr lang="en-US" altLang="zh-CN" dirty="0">
                <a:ea typeface="黑体" panose="02010609060101010101" pitchFamily="2" charset="-122"/>
                <a:sym typeface="+mn-ea"/>
              </a:rPr>
              <a:t>……</a:t>
            </a:r>
            <a:r>
              <a:rPr lang="en-US" altLang="zh-CN" dirty="0">
                <a:latin typeface="黑体" panose="02010609060101010101" pitchFamily="2" charset="-122"/>
                <a:ea typeface="黑体" panose="02010609060101010101" pitchFamily="2" charset="-122"/>
                <a:sym typeface="+mn-ea"/>
              </a:rPr>
              <a:t>k</a:t>
            </a:r>
            <a:endParaRPr lang="en-US" altLang="zh-CN"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Rh</a:t>
            </a:r>
            <a:r>
              <a:rPr lang="en-US" altLang="zh-CN" sz="2400" baseline="-25000" dirty="0">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不同的哈希函数</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ea"/>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再哈希法</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特点：不易产生聚集，但增加计算时间</a:t>
            </a:r>
            <a:endParaRPr lang="zh-CN" altLang="en-US" sz="28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8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132</a:t>
            </a:fld>
            <a:endParaRPr lang="zh-CN" alt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链地址法</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将所有哈希地址相同的记录都链接在同一链表中</a:t>
            </a:r>
            <a:endParaRPr lang="zh-CN" altLang="en-US" sz="28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查找不成功，插入新结点时</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133</a:t>
            </a:fld>
            <a:endParaRPr lang="zh-CN" altLang="en-US"/>
          </a:p>
        </p:txBody>
      </p:sp>
      <p:sp>
        <p:nvSpPr>
          <p:cNvPr id="5" name="文本框 4"/>
          <p:cNvSpPr txBox="1"/>
          <p:nvPr/>
        </p:nvSpPr>
        <p:spPr>
          <a:xfrm>
            <a:off x="191135" y="2364740"/>
            <a:ext cx="6832600" cy="2503805"/>
          </a:xfrm>
          <a:prstGeom prst="rect">
            <a:avLst/>
          </a:prstGeom>
        </p:spPr>
        <p:txBody>
          <a:bodyPr vert="horz" wrap="square" lIns="91440" tIns="45720" rIns="91440" bIns="45720" rtlCol="0" anchor="t">
            <a:noAutofit/>
          </a:bodyPr>
          <a:lstStyle/>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链地址（表后插入）</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举例：</a:t>
            </a: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关键字集合{19,01,23,14,55,68,11,82,36}，</a:t>
            </a: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哈希函数H(key)=key MOD 11 </a:t>
            </a: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表长=11</a:t>
            </a:r>
          </a:p>
          <a:p>
            <a:pPr marL="609600" lvl="1" indent="0" algn="l" eaLnBrk="1" hangingPunct="1">
              <a:buClrTx/>
              <a:buSzTx/>
              <a:buNone/>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graphicFrame>
        <p:nvGraphicFramePr>
          <p:cNvPr id="59397" name="表格 59396"/>
          <p:cNvGraphicFramePr/>
          <p:nvPr/>
        </p:nvGraphicFramePr>
        <p:xfrm>
          <a:off x="7680325" y="1988503"/>
          <a:ext cx="609600" cy="3814445"/>
        </p:xfrm>
        <a:graphic>
          <a:graphicData uri="http://schemas.openxmlformats.org/drawingml/2006/table">
            <a:tbl>
              <a:tblPr/>
              <a:tblGrid>
                <a:gridCol w="609600">
                  <a:extLst>
                    <a:ext uri="{9D8B030D-6E8A-4147-A177-3AD203B41FA5}">
                      <a16:colId xmlns:a16="http://schemas.microsoft.com/office/drawing/2014/main" val="20000"/>
                    </a:ext>
                  </a:extLst>
                </a:gridCol>
              </a:tblGrid>
              <a:tr h="346075">
                <a:tc>
                  <a:txBody>
                    <a:bodyPr/>
                    <a:lstStyle/>
                    <a:p>
                      <a:pPr algn="ctr">
                        <a:lnSpc>
                          <a:spcPct val="110000"/>
                        </a:lnSpc>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7980">
                <a:tc>
                  <a:txBody>
                    <a:bodyPr/>
                    <a:lstStyle/>
                    <a:p>
                      <a:pPr algn="ctr">
                        <a:lnSpc>
                          <a:spcPct val="110000"/>
                        </a:lnSpc>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6075">
                <a:tc>
                  <a:txBody>
                    <a:bodyPr/>
                    <a:lstStyle/>
                    <a:p>
                      <a:pPr algn="ctr">
                        <a:lnSpc>
                          <a:spcPct val="110000"/>
                        </a:lnSpc>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7345">
                <a:tc>
                  <a:txBody>
                    <a:bodyPr/>
                    <a:lstStyle/>
                    <a:p>
                      <a:pPr algn="ctr">
                        <a:lnSpc>
                          <a:spcPct val="110000"/>
                        </a:lnSpc>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6075">
                <a:tc>
                  <a:txBody>
                    <a:bodyPr/>
                    <a:lstStyle/>
                    <a:p>
                      <a:pPr algn="ctr">
                        <a:lnSpc>
                          <a:spcPct val="110000"/>
                        </a:lnSpc>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345">
                <a:tc>
                  <a:txBody>
                    <a:bodyPr/>
                    <a:lstStyle/>
                    <a:p>
                      <a:pPr algn="ctr">
                        <a:lnSpc>
                          <a:spcPct val="110000"/>
                        </a:lnSpc>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6075">
                <a:tc>
                  <a:txBody>
                    <a:bodyPr/>
                    <a:lstStyle/>
                    <a:p>
                      <a:pPr algn="ctr">
                        <a:lnSpc>
                          <a:spcPct val="110000"/>
                        </a:lnSpc>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7345">
                <a:tc>
                  <a:txBody>
                    <a:bodyPr/>
                    <a:lstStyle/>
                    <a:p>
                      <a:pPr algn="ctr">
                        <a:lnSpc>
                          <a:spcPct val="110000"/>
                        </a:lnSpc>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6075">
                <a:tc>
                  <a:txBody>
                    <a:bodyPr/>
                    <a:lstStyle/>
                    <a:p>
                      <a:pPr algn="ctr">
                        <a:lnSpc>
                          <a:spcPct val="110000"/>
                        </a:lnSpc>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7980">
                <a:tc>
                  <a:txBody>
                    <a:bodyPr/>
                    <a:lstStyle/>
                    <a:p>
                      <a:pPr algn="ctr">
                        <a:lnSpc>
                          <a:spcPct val="110000"/>
                        </a:lnSpc>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46075">
                <a:tc>
                  <a:txBody>
                    <a:bodyPr/>
                    <a:lstStyle/>
                    <a:p>
                      <a:pPr algn="ctr">
                        <a:lnSpc>
                          <a:spcPct val="110000"/>
                        </a:lnSpc>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161822" name="Text Box 30"/>
          <p:cNvSpPr txBox="1"/>
          <p:nvPr/>
        </p:nvSpPr>
        <p:spPr>
          <a:xfrm>
            <a:off x="7223125" y="1988503"/>
            <a:ext cx="533400" cy="3874135"/>
          </a:xfrm>
          <a:prstGeom prst="rect">
            <a:avLst/>
          </a:prstGeom>
          <a:noFill/>
          <a:ln w="9525">
            <a:noFill/>
          </a:ln>
        </p:spPr>
        <p:txBody>
          <a:bodyPr anchor="t" anchorCtr="0">
            <a:spAutoFit/>
          </a:bodyPr>
          <a:lstStyle/>
          <a:p>
            <a:pPr algn="ctr">
              <a:spcBef>
                <a:spcPct val="13000"/>
              </a:spcBef>
            </a:pPr>
            <a:r>
              <a:rPr lang="en-US" altLang="zh-CN" sz="2000" dirty="0">
                <a:solidFill>
                  <a:srgbClr val="00FF00"/>
                </a:solidFill>
                <a:latin typeface="Tahoma" panose="020B0604030504040204" charset="0"/>
                <a:ea typeface="宋体" panose="02010600030101010101" pitchFamily="2" charset="-122"/>
              </a:rPr>
              <a:t>0</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1</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2</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3</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4</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5</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6</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7</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8</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9</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10</a:t>
            </a:r>
          </a:p>
        </p:txBody>
      </p:sp>
      <p:grpSp>
        <p:nvGrpSpPr>
          <p:cNvPr id="161823" name="Group 31"/>
          <p:cNvGrpSpPr/>
          <p:nvPr/>
        </p:nvGrpSpPr>
        <p:grpSpPr>
          <a:xfrm>
            <a:off x="8670925" y="4807903"/>
            <a:ext cx="762000" cy="246063"/>
            <a:chOff x="4176" y="3552"/>
            <a:chExt cx="480" cy="155"/>
          </a:xfrm>
        </p:grpSpPr>
        <p:sp>
          <p:nvSpPr>
            <p:cNvPr id="161824" name="Text Box 32"/>
            <p:cNvSpPr txBox="1"/>
            <p:nvPr/>
          </p:nvSpPr>
          <p:spPr>
            <a:xfrm>
              <a:off x="4176" y="3552"/>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19</a:t>
              </a:r>
            </a:p>
          </p:txBody>
        </p:sp>
        <p:sp>
          <p:nvSpPr>
            <p:cNvPr id="161825" name="Text Box 33"/>
            <p:cNvSpPr txBox="1"/>
            <p:nvPr/>
          </p:nvSpPr>
          <p:spPr>
            <a:xfrm>
              <a:off x="4464" y="3552"/>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a:t>
              </a:r>
            </a:p>
          </p:txBody>
        </p:sp>
      </p:grpSp>
      <p:grpSp>
        <p:nvGrpSpPr>
          <p:cNvPr id="161826" name="Group 34"/>
          <p:cNvGrpSpPr/>
          <p:nvPr/>
        </p:nvGrpSpPr>
        <p:grpSpPr>
          <a:xfrm>
            <a:off x="8670925" y="2369503"/>
            <a:ext cx="762000" cy="246063"/>
            <a:chOff x="4176" y="2016"/>
            <a:chExt cx="480" cy="155"/>
          </a:xfrm>
        </p:grpSpPr>
        <p:sp>
          <p:nvSpPr>
            <p:cNvPr id="161827" name="Text Box 35"/>
            <p:cNvSpPr txBox="1"/>
            <p:nvPr/>
          </p:nvSpPr>
          <p:spPr>
            <a:xfrm>
              <a:off x="4176" y="201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01</a:t>
              </a:r>
            </a:p>
          </p:txBody>
        </p:sp>
        <p:sp>
          <p:nvSpPr>
            <p:cNvPr id="161828" name="Text Box 36"/>
            <p:cNvSpPr txBox="1"/>
            <p:nvPr/>
          </p:nvSpPr>
          <p:spPr>
            <a:xfrm>
              <a:off x="4464" y="201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endParaRPr lang="zh-CN" altLang="zh-CN" sz="1600" dirty="0">
                <a:latin typeface="Tahoma" panose="020B0604030504040204" charset="0"/>
                <a:ea typeface="宋体" panose="02010600030101010101" pitchFamily="2" charset="-122"/>
              </a:endParaRPr>
            </a:p>
          </p:txBody>
        </p:sp>
      </p:grpSp>
      <p:grpSp>
        <p:nvGrpSpPr>
          <p:cNvPr id="161829" name="Group 37"/>
          <p:cNvGrpSpPr/>
          <p:nvPr/>
        </p:nvGrpSpPr>
        <p:grpSpPr>
          <a:xfrm>
            <a:off x="8670925" y="3131503"/>
            <a:ext cx="762000" cy="246063"/>
            <a:chOff x="4176" y="2256"/>
            <a:chExt cx="480" cy="155"/>
          </a:xfrm>
        </p:grpSpPr>
        <p:sp>
          <p:nvSpPr>
            <p:cNvPr id="161830" name="Text Box 38"/>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14</a:t>
              </a:r>
            </a:p>
          </p:txBody>
        </p:sp>
        <p:sp>
          <p:nvSpPr>
            <p:cNvPr id="161831" name="Text Box 39"/>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endParaRPr lang="zh-CN" altLang="zh-CN" sz="1600" dirty="0">
                <a:latin typeface="Tahoma" panose="020B0604030504040204" charset="0"/>
                <a:ea typeface="宋体" panose="02010600030101010101" pitchFamily="2" charset="-122"/>
              </a:endParaRPr>
            </a:p>
          </p:txBody>
        </p:sp>
      </p:grpSp>
      <p:grpSp>
        <p:nvGrpSpPr>
          <p:cNvPr id="161832" name="Group 40"/>
          <p:cNvGrpSpPr/>
          <p:nvPr/>
        </p:nvGrpSpPr>
        <p:grpSpPr>
          <a:xfrm>
            <a:off x="8670925" y="1988503"/>
            <a:ext cx="762000" cy="246063"/>
            <a:chOff x="4176" y="2256"/>
            <a:chExt cx="480" cy="155"/>
          </a:xfrm>
        </p:grpSpPr>
        <p:sp>
          <p:nvSpPr>
            <p:cNvPr id="161833" name="Text Box 41"/>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55</a:t>
              </a:r>
            </a:p>
          </p:txBody>
        </p:sp>
        <p:sp>
          <p:nvSpPr>
            <p:cNvPr id="161834" name="Text Box 42"/>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endParaRPr lang="zh-CN" altLang="zh-CN" sz="1600" dirty="0">
                <a:latin typeface="Tahoma" panose="020B0604030504040204" charset="0"/>
                <a:ea typeface="宋体" panose="02010600030101010101" pitchFamily="2" charset="-122"/>
              </a:endParaRPr>
            </a:p>
          </p:txBody>
        </p:sp>
      </p:grpSp>
      <p:grpSp>
        <p:nvGrpSpPr>
          <p:cNvPr id="161835" name="Group 43"/>
          <p:cNvGrpSpPr/>
          <p:nvPr/>
        </p:nvGrpSpPr>
        <p:grpSpPr>
          <a:xfrm>
            <a:off x="8674100" y="2753678"/>
            <a:ext cx="762000" cy="246063"/>
            <a:chOff x="4176" y="2256"/>
            <a:chExt cx="480" cy="155"/>
          </a:xfrm>
        </p:grpSpPr>
        <p:sp>
          <p:nvSpPr>
            <p:cNvPr id="161836" name="Text Box 44"/>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68</a:t>
              </a:r>
            </a:p>
          </p:txBody>
        </p:sp>
        <p:sp>
          <p:nvSpPr>
            <p:cNvPr id="161837" name="Text Box 45"/>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a:t>
              </a:r>
            </a:p>
          </p:txBody>
        </p:sp>
      </p:grpSp>
      <p:grpSp>
        <p:nvGrpSpPr>
          <p:cNvPr id="161838" name="Group 46"/>
          <p:cNvGrpSpPr/>
          <p:nvPr/>
        </p:nvGrpSpPr>
        <p:grpSpPr>
          <a:xfrm>
            <a:off x="9813925" y="1988503"/>
            <a:ext cx="762000" cy="246063"/>
            <a:chOff x="4176" y="2256"/>
            <a:chExt cx="480" cy="155"/>
          </a:xfrm>
        </p:grpSpPr>
        <p:sp>
          <p:nvSpPr>
            <p:cNvPr id="161839" name="Text Box 47"/>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11</a:t>
              </a:r>
            </a:p>
          </p:txBody>
        </p:sp>
        <p:sp>
          <p:nvSpPr>
            <p:cNvPr id="161840" name="Text Box 48"/>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a:t>
              </a:r>
            </a:p>
          </p:txBody>
        </p:sp>
      </p:grpSp>
      <p:grpSp>
        <p:nvGrpSpPr>
          <p:cNvPr id="161841" name="Group 49"/>
          <p:cNvGrpSpPr/>
          <p:nvPr/>
        </p:nvGrpSpPr>
        <p:grpSpPr>
          <a:xfrm>
            <a:off x="8670925" y="3741103"/>
            <a:ext cx="762000" cy="246063"/>
            <a:chOff x="4176" y="2256"/>
            <a:chExt cx="480" cy="155"/>
          </a:xfrm>
        </p:grpSpPr>
        <p:sp>
          <p:nvSpPr>
            <p:cNvPr id="161842" name="Text Box 50"/>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82</a:t>
              </a:r>
            </a:p>
          </p:txBody>
        </p:sp>
        <p:sp>
          <p:nvSpPr>
            <p:cNvPr id="161843" name="Text Box 51"/>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a:t>
              </a:r>
            </a:p>
          </p:txBody>
        </p:sp>
      </p:grpSp>
      <p:grpSp>
        <p:nvGrpSpPr>
          <p:cNvPr id="161844" name="Group 52"/>
          <p:cNvGrpSpPr/>
          <p:nvPr/>
        </p:nvGrpSpPr>
        <p:grpSpPr>
          <a:xfrm>
            <a:off x="9813925" y="3131503"/>
            <a:ext cx="762000" cy="246063"/>
            <a:chOff x="4176" y="2256"/>
            <a:chExt cx="480" cy="155"/>
          </a:xfrm>
        </p:grpSpPr>
        <p:sp>
          <p:nvSpPr>
            <p:cNvPr id="161845" name="Text Box 53"/>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36</a:t>
              </a:r>
            </a:p>
          </p:txBody>
        </p:sp>
        <p:sp>
          <p:nvSpPr>
            <p:cNvPr id="161846" name="Text Box 54"/>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a:t>
              </a:r>
            </a:p>
          </p:txBody>
        </p:sp>
      </p:grpSp>
      <p:sp>
        <p:nvSpPr>
          <p:cNvPr id="161847" name="Line 55"/>
          <p:cNvSpPr/>
          <p:nvPr/>
        </p:nvSpPr>
        <p:spPr>
          <a:xfrm>
            <a:off x="8137525" y="2140903"/>
            <a:ext cx="533400" cy="0"/>
          </a:xfrm>
          <a:prstGeom prst="line">
            <a:avLst/>
          </a:prstGeom>
          <a:ln w="28575" cap="flat" cmpd="sng">
            <a:solidFill>
              <a:srgbClr val="00FFFF"/>
            </a:solidFill>
            <a:prstDash val="solid"/>
            <a:miter/>
            <a:headEnd type="none" w="med" len="med"/>
            <a:tailEnd type="triangle" w="med" len="med"/>
          </a:ln>
        </p:spPr>
      </p:sp>
      <p:sp>
        <p:nvSpPr>
          <p:cNvPr id="161848" name="Line 56"/>
          <p:cNvSpPr/>
          <p:nvPr/>
        </p:nvSpPr>
        <p:spPr>
          <a:xfrm>
            <a:off x="8137525" y="2521903"/>
            <a:ext cx="533400" cy="0"/>
          </a:xfrm>
          <a:prstGeom prst="line">
            <a:avLst/>
          </a:prstGeom>
          <a:ln w="28575" cap="flat" cmpd="sng">
            <a:solidFill>
              <a:srgbClr val="00FFFF"/>
            </a:solidFill>
            <a:prstDash val="solid"/>
            <a:miter/>
            <a:headEnd type="none" w="med" len="med"/>
            <a:tailEnd type="triangle" w="med" len="med"/>
          </a:ln>
        </p:spPr>
      </p:sp>
      <p:sp>
        <p:nvSpPr>
          <p:cNvPr id="161849" name="Line 57"/>
          <p:cNvSpPr/>
          <p:nvPr/>
        </p:nvSpPr>
        <p:spPr>
          <a:xfrm>
            <a:off x="8137525" y="2902903"/>
            <a:ext cx="533400" cy="0"/>
          </a:xfrm>
          <a:prstGeom prst="line">
            <a:avLst/>
          </a:prstGeom>
          <a:ln w="28575" cap="flat" cmpd="sng">
            <a:solidFill>
              <a:srgbClr val="00FFFF"/>
            </a:solidFill>
            <a:prstDash val="solid"/>
            <a:miter/>
            <a:headEnd type="none" w="med" len="med"/>
            <a:tailEnd type="triangle" w="med" len="med"/>
          </a:ln>
        </p:spPr>
      </p:sp>
      <p:sp>
        <p:nvSpPr>
          <p:cNvPr id="161850" name="Line 58"/>
          <p:cNvSpPr/>
          <p:nvPr/>
        </p:nvSpPr>
        <p:spPr>
          <a:xfrm>
            <a:off x="8137525" y="3283903"/>
            <a:ext cx="533400" cy="0"/>
          </a:xfrm>
          <a:prstGeom prst="line">
            <a:avLst/>
          </a:prstGeom>
          <a:ln w="28575" cap="flat" cmpd="sng">
            <a:solidFill>
              <a:srgbClr val="00FFFF"/>
            </a:solidFill>
            <a:prstDash val="solid"/>
            <a:miter/>
            <a:headEnd type="none" w="med" len="med"/>
            <a:tailEnd type="triangle" w="med" len="med"/>
          </a:ln>
        </p:spPr>
      </p:sp>
      <p:sp>
        <p:nvSpPr>
          <p:cNvPr id="161851" name="Line 59"/>
          <p:cNvSpPr/>
          <p:nvPr/>
        </p:nvSpPr>
        <p:spPr>
          <a:xfrm>
            <a:off x="8137525" y="3893503"/>
            <a:ext cx="533400" cy="0"/>
          </a:xfrm>
          <a:prstGeom prst="line">
            <a:avLst/>
          </a:prstGeom>
          <a:ln w="28575" cap="flat" cmpd="sng">
            <a:solidFill>
              <a:srgbClr val="00FFFF"/>
            </a:solidFill>
            <a:prstDash val="solid"/>
            <a:miter/>
            <a:headEnd type="none" w="med" len="med"/>
            <a:tailEnd type="triangle" w="med" len="med"/>
          </a:ln>
        </p:spPr>
      </p:sp>
      <p:sp>
        <p:nvSpPr>
          <p:cNvPr id="161852" name="Line 60"/>
          <p:cNvSpPr/>
          <p:nvPr/>
        </p:nvSpPr>
        <p:spPr>
          <a:xfrm>
            <a:off x="8137525" y="4960303"/>
            <a:ext cx="533400" cy="0"/>
          </a:xfrm>
          <a:prstGeom prst="line">
            <a:avLst/>
          </a:prstGeom>
          <a:ln w="28575" cap="flat" cmpd="sng">
            <a:solidFill>
              <a:srgbClr val="00FFFF"/>
            </a:solidFill>
            <a:prstDash val="solid"/>
            <a:miter/>
            <a:headEnd type="none" w="med" len="med"/>
            <a:tailEnd type="triangle" w="med" len="med"/>
          </a:ln>
        </p:spPr>
      </p:sp>
      <p:sp>
        <p:nvSpPr>
          <p:cNvPr id="161853" name="Line 61"/>
          <p:cNvSpPr/>
          <p:nvPr/>
        </p:nvSpPr>
        <p:spPr>
          <a:xfrm>
            <a:off x="9280525" y="2140903"/>
            <a:ext cx="533400" cy="0"/>
          </a:xfrm>
          <a:prstGeom prst="line">
            <a:avLst/>
          </a:prstGeom>
          <a:ln w="28575" cap="flat" cmpd="sng">
            <a:solidFill>
              <a:srgbClr val="00FFFF"/>
            </a:solidFill>
            <a:prstDash val="solid"/>
            <a:miter/>
            <a:headEnd type="none" w="med" len="med"/>
            <a:tailEnd type="triangle" w="med" len="med"/>
          </a:ln>
        </p:spPr>
      </p:sp>
      <p:sp>
        <p:nvSpPr>
          <p:cNvPr id="161854" name="Line 62"/>
          <p:cNvSpPr/>
          <p:nvPr/>
        </p:nvSpPr>
        <p:spPr>
          <a:xfrm>
            <a:off x="9277350" y="2526665"/>
            <a:ext cx="533400" cy="0"/>
          </a:xfrm>
          <a:prstGeom prst="line">
            <a:avLst/>
          </a:prstGeom>
          <a:ln w="28575" cap="flat" cmpd="sng">
            <a:solidFill>
              <a:srgbClr val="00FFFF"/>
            </a:solidFill>
            <a:prstDash val="solid"/>
            <a:miter/>
            <a:headEnd type="none" w="med" len="med"/>
            <a:tailEnd type="triangle" w="med" len="med"/>
          </a:ln>
        </p:spPr>
      </p:sp>
      <p:sp>
        <p:nvSpPr>
          <p:cNvPr id="161855" name="Line 63"/>
          <p:cNvSpPr/>
          <p:nvPr/>
        </p:nvSpPr>
        <p:spPr>
          <a:xfrm>
            <a:off x="9280525" y="3283903"/>
            <a:ext cx="533400" cy="0"/>
          </a:xfrm>
          <a:prstGeom prst="line">
            <a:avLst/>
          </a:prstGeom>
          <a:ln w="28575" cap="flat" cmpd="sng">
            <a:solidFill>
              <a:srgbClr val="00FFFF"/>
            </a:solidFill>
            <a:prstDash val="solid"/>
            <a:miter/>
            <a:headEnd type="none" w="med" len="med"/>
            <a:tailEnd type="triangle" w="med" len="med"/>
          </a:ln>
        </p:spPr>
      </p:sp>
      <p:grpSp>
        <p:nvGrpSpPr>
          <p:cNvPr id="161856" name="Group 64"/>
          <p:cNvGrpSpPr/>
          <p:nvPr/>
        </p:nvGrpSpPr>
        <p:grpSpPr>
          <a:xfrm>
            <a:off x="9815513" y="2371090"/>
            <a:ext cx="762000" cy="246063"/>
            <a:chOff x="4176" y="2256"/>
            <a:chExt cx="480" cy="155"/>
          </a:xfrm>
        </p:grpSpPr>
        <p:sp>
          <p:nvSpPr>
            <p:cNvPr id="161857" name="Text Box 65"/>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23</a:t>
              </a:r>
            </a:p>
          </p:txBody>
        </p:sp>
        <p:sp>
          <p:nvSpPr>
            <p:cNvPr id="161858" name="Text Box 66"/>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a:t>
              </a:r>
            </a:p>
          </p:txBody>
        </p:sp>
      </p:gr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链地址法</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将所有哈希地址相同的记录都链接在同一链表中</a:t>
            </a:r>
            <a:endParaRPr lang="zh-CN" altLang="en-US" sz="28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查找不成功，插入新结点时</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134</a:t>
            </a:fld>
            <a:endParaRPr lang="zh-CN" altLang="en-US"/>
          </a:p>
        </p:txBody>
      </p:sp>
      <p:sp>
        <p:nvSpPr>
          <p:cNvPr id="5" name="文本框 4"/>
          <p:cNvSpPr txBox="1"/>
          <p:nvPr/>
        </p:nvSpPr>
        <p:spPr>
          <a:xfrm>
            <a:off x="191135" y="2364740"/>
            <a:ext cx="6832600" cy="2503805"/>
          </a:xfrm>
          <a:prstGeom prst="rect">
            <a:avLst/>
          </a:prstGeom>
        </p:spPr>
        <p:txBody>
          <a:bodyPr vert="horz" wrap="square" lIns="91440" tIns="45720" rIns="91440" bIns="45720" rtlCol="0" anchor="t">
            <a:noAutofit/>
          </a:bodyPr>
          <a:lstStyle/>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链地址（表头插入）</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举例：</a:t>
            </a: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关键字集合{19,01,23,14,55,68,11,82,36}，</a:t>
            </a: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哈希函数H(key)=key MOD 11 </a:t>
            </a: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表长=11</a:t>
            </a:r>
          </a:p>
          <a:p>
            <a:pPr marL="609600" lvl="1" indent="0" algn="l" eaLnBrk="1" hangingPunct="1">
              <a:buClrTx/>
              <a:buSzTx/>
              <a:buNone/>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graphicFrame>
        <p:nvGraphicFramePr>
          <p:cNvPr id="60421" name="表格 60420"/>
          <p:cNvGraphicFramePr/>
          <p:nvPr/>
        </p:nvGraphicFramePr>
        <p:xfrm>
          <a:off x="7823518" y="1916113"/>
          <a:ext cx="609600" cy="3814445"/>
        </p:xfrm>
        <a:graphic>
          <a:graphicData uri="http://schemas.openxmlformats.org/drawingml/2006/table">
            <a:tbl>
              <a:tblPr/>
              <a:tblGrid>
                <a:gridCol w="609600">
                  <a:extLst>
                    <a:ext uri="{9D8B030D-6E8A-4147-A177-3AD203B41FA5}">
                      <a16:colId xmlns:a16="http://schemas.microsoft.com/office/drawing/2014/main" val="20000"/>
                    </a:ext>
                  </a:extLst>
                </a:gridCol>
              </a:tblGrid>
              <a:tr h="346075">
                <a:tc>
                  <a:txBody>
                    <a:bodyPr/>
                    <a:lstStyle/>
                    <a:p>
                      <a:pPr algn="ctr">
                        <a:lnSpc>
                          <a:spcPct val="110000"/>
                        </a:lnSpc>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7980">
                <a:tc>
                  <a:txBody>
                    <a:bodyPr/>
                    <a:lstStyle/>
                    <a:p>
                      <a:pPr algn="ctr">
                        <a:lnSpc>
                          <a:spcPct val="110000"/>
                        </a:lnSpc>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6075">
                <a:tc>
                  <a:txBody>
                    <a:bodyPr/>
                    <a:lstStyle/>
                    <a:p>
                      <a:pPr algn="ctr">
                        <a:lnSpc>
                          <a:spcPct val="110000"/>
                        </a:lnSpc>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7345">
                <a:tc>
                  <a:txBody>
                    <a:bodyPr/>
                    <a:lstStyle/>
                    <a:p>
                      <a:pPr algn="ctr">
                        <a:lnSpc>
                          <a:spcPct val="110000"/>
                        </a:lnSpc>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6075">
                <a:tc>
                  <a:txBody>
                    <a:bodyPr/>
                    <a:lstStyle/>
                    <a:p>
                      <a:pPr algn="ctr">
                        <a:lnSpc>
                          <a:spcPct val="110000"/>
                        </a:lnSpc>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345">
                <a:tc>
                  <a:txBody>
                    <a:bodyPr/>
                    <a:lstStyle/>
                    <a:p>
                      <a:pPr algn="ctr">
                        <a:lnSpc>
                          <a:spcPct val="110000"/>
                        </a:lnSpc>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6075">
                <a:tc>
                  <a:txBody>
                    <a:bodyPr/>
                    <a:lstStyle/>
                    <a:p>
                      <a:pPr algn="ctr">
                        <a:lnSpc>
                          <a:spcPct val="110000"/>
                        </a:lnSpc>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7345">
                <a:tc>
                  <a:txBody>
                    <a:bodyPr/>
                    <a:lstStyle/>
                    <a:p>
                      <a:pPr algn="ctr">
                        <a:lnSpc>
                          <a:spcPct val="110000"/>
                        </a:lnSpc>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6075">
                <a:tc>
                  <a:txBody>
                    <a:bodyPr/>
                    <a:lstStyle/>
                    <a:p>
                      <a:pPr algn="ctr">
                        <a:lnSpc>
                          <a:spcPct val="110000"/>
                        </a:lnSpc>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7980">
                <a:tc>
                  <a:txBody>
                    <a:bodyPr/>
                    <a:lstStyle/>
                    <a:p>
                      <a:pPr algn="ctr">
                        <a:lnSpc>
                          <a:spcPct val="110000"/>
                        </a:lnSpc>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46075">
                <a:tc>
                  <a:txBody>
                    <a:bodyPr/>
                    <a:lstStyle/>
                    <a:p>
                      <a:pPr algn="ctr">
                        <a:lnSpc>
                          <a:spcPct val="110000"/>
                        </a:lnSpc>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p>
                  </a:txBody>
                  <a:tcPr marT="0" marB="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162846" name="Text Box 30"/>
          <p:cNvSpPr txBox="1"/>
          <p:nvPr/>
        </p:nvSpPr>
        <p:spPr>
          <a:xfrm>
            <a:off x="7366318" y="1916113"/>
            <a:ext cx="533400" cy="3874135"/>
          </a:xfrm>
          <a:prstGeom prst="rect">
            <a:avLst/>
          </a:prstGeom>
          <a:noFill/>
          <a:ln w="9525">
            <a:noFill/>
          </a:ln>
        </p:spPr>
        <p:txBody>
          <a:bodyPr anchor="t" anchorCtr="0">
            <a:spAutoFit/>
          </a:bodyPr>
          <a:lstStyle/>
          <a:p>
            <a:pPr algn="ctr">
              <a:spcBef>
                <a:spcPct val="13000"/>
              </a:spcBef>
            </a:pPr>
            <a:r>
              <a:rPr lang="en-US" altLang="zh-CN" sz="2000" dirty="0">
                <a:solidFill>
                  <a:srgbClr val="00FF00"/>
                </a:solidFill>
                <a:latin typeface="Tahoma" panose="020B0604030504040204" charset="0"/>
                <a:ea typeface="宋体" panose="02010600030101010101" pitchFamily="2" charset="-122"/>
              </a:rPr>
              <a:t>0</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1</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2</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3</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4</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5</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6</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7</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8</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9</a:t>
            </a:r>
          </a:p>
          <a:p>
            <a:pPr algn="ctr">
              <a:spcBef>
                <a:spcPct val="13000"/>
              </a:spcBef>
            </a:pPr>
            <a:r>
              <a:rPr lang="en-US" altLang="zh-CN" sz="2000" dirty="0">
                <a:solidFill>
                  <a:srgbClr val="00FF00"/>
                </a:solidFill>
                <a:latin typeface="Tahoma" panose="020B0604030504040204" charset="0"/>
                <a:ea typeface="宋体" panose="02010600030101010101" pitchFamily="2" charset="-122"/>
              </a:rPr>
              <a:t>10</a:t>
            </a:r>
          </a:p>
        </p:txBody>
      </p:sp>
      <p:grpSp>
        <p:nvGrpSpPr>
          <p:cNvPr id="162847" name="Group 31"/>
          <p:cNvGrpSpPr/>
          <p:nvPr/>
        </p:nvGrpSpPr>
        <p:grpSpPr>
          <a:xfrm>
            <a:off x="8814118" y="4735513"/>
            <a:ext cx="762000" cy="246063"/>
            <a:chOff x="4176" y="3552"/>
            <a:chExt cx="480" cy="155"/>
          </a:xfrm>
        </p:grpSpPr>
        <p:sp>
          <p:nvSpPr>
            <p:cNvPr id="162848" name="Text Box 32"/>
            <p:cNvSpPr txBox="1"/>
            <p:nvPr/>
          </p:nvSpPr>
          <p:spPr>
            <a:xfrm>
              <a:off x="4176" y="3552"/>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19</a:t>
              </a:r>
            </a:p>
          </p:txBody>
        </p:sp>
        <p:sp>
          <p:nvSpPr>
            <p:cNvPr id="162849" name="Text Box 33"/>
            <p:cNvSpPr txBox="1"/>
            <p:nvPr/>
          </p:nvSpPr>
          <p:spPr>
            <a:xfrm>
              <a:off x="4464" y="3552"/>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a:t>
              </a:r>
            </a:p>
          </p:txBody>
        </p:sp>
      </p:grpSp>
      <p:grpSp>
        <p:nvGrpSpPr>
          <p:cNvPr id="162850" name="Group 34"/>
          <p:cNvGrpSpPr/>
          <p:nvPr/>
        </p:nvGrpSpPr>
        <p:grpSpPr>
          <a:xfrm>
            <a:off x="8814118" y="2297113"/>
            <a:ext cx="762000" cy="246063"/>
            <a:chOff x="4176" y="2016"/>
            <a:chExt cx="480" cy="155"/>
          </a:xfrm>
        </p:grpSpPr>
        <p:sp>
          <p:nvSpPr>
            <p:cNvPr id="162851" name="Text Box 35"/>
            <p:cNvSpPr txBox="1"/>
            <p:nvPr/>
          </p:nvSpPr>
          <p:spPr>
            <a:xfrm>
              <a:off x="4176" y="201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23</a:t>
              </a:r>
            </a:p>
          </p:txBody>
        </p:sp>
        <p:sp>
          <p:nvSpPr>
            <p:cNvPr id="162852" name="Text Box 36"/>
            <p:cNvSpPr txBox="1"/>
            <p:nvPr/>
          </p:nvSpPr>
          <p:spPr>
            <a:xfrm>
              <a:off x="4464" y="201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endParaRPr lang="zh-CN" altLang="zh-CN" sz="1600" dirty="0">
                <a:latin typeface="Tahoma" panose="020B0604030504040204" charset="0"/>
                <a:ea typeface="宋体" panose="02010600030101010101" pitchFamily="2" charset="-122"/>
              </a:endParaRPr>
            </a:p>
          </p:txBody>
        </p:sp>
      </p:grpSp>
      <p:grpSp>
        <p:nvGrpSpPr>
          <p:cNvPr id="162853" name="Group 37"/>
          <p:cNvGrpSpPr/>
          <p:nvPr/>
        </p:nvGrpSpPr>
        <p:grpSpPr>
          <a:xfrm>
            <a:off x="8814118" y="3059113"/>
            <a:ext cx="762000" cy="246063"/>
            <a:chOff x="4176" y="2256"/>
            <a:chExt cx="480" cy="155"/>
          </a:xfrm>
        </p:grpSpPr>
        <p:sp>
          <p:nvSpPr>
            <p:cNvPr id="162854" name="Text Box 38"/>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36</a:t>
              </a:r>
            </a:p>
          </p:txBody>
        </p:sp>
        <p:sp>
          <p:nvSpPr>
            <p:cNvPr id="162855" name="Text Box 39"/>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endParaRPr lang="zh-CN" altLang="zh-CN" sz="1600" dirty="0">
                <a:latin typeface="Tahoma" panose="020B0604030504040204" charset="0"/>
                <a:ea typeface="宋体" panose="02010600030101010101" pitchFamily="2" charset="-122"/>
              </a:endParaRPr>
            </a:p>
          </p:txBody>
        </p:sp>
      </p:grpSp>
      <p:grpSp>
        <p:nvGrpSpPr>
          <p:cNvPr id="162856" name="Group 40"/>
          <p:cNvGrpSpPr/>
          <p:nvPr/>
        </p:nvGrpSpPr>
        <p:grpSpPr>
          <a:xfrm>
            <a:off x="8814118" y="1916113"/>
            <a:ext cx="762000" cy="246063"/>
            <a:chOff x="4176" y="2256"/>
            <a:chExt cx="480" cy="155"/>
          </a:xfrm>
        </p:grpSpPr>
        <p:sp>
          <p:nvSpPr>
            <p:cNvPr id="162857" name="Text Box 41"/>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11</a:t>
              </a:r>
            </a:p>
          </p:txBody>
        </p:sp>
        <p:sp>
          <p:nvSpPr>
            <p:cNvPr id="162858" name="Text Box 42"/>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endParaRPr lang="zh-CN" altLang="zh-CN" sz="1600" dirty="0">
                <a:latin typeface="Tahoma" panose="020B0604030504040204" charset="0"/>
                <a:ea typeface="宋体" panose="02010600030101010101" pitchFamily="2" charset="-122"/>
              </a:endParaRPr>
            </a:p>
          </p:txBody>
        </p:sp>
      </p:grpSp>
      <p:grpSp>
        <p:nvGrpSpPr>
          <p:cNvPr id="162859" name="Group 43"/>
          <p:cNvGrpSpPr/>
          <p:nvPr/>
        </p:nvGrpSpPr>
        <p:grpSpPr>
          <a:xfrm>
            <a:off x="8817293" y="2681288"/>
            <a:ext cx="762000" cy="246063"/>
            <a:chOff x="4176" y="2256"/>
            <a:chExt cx="480" cy="155"/>
          </a:xfrm>
        </p:grpSpPr>
        <p:sp>
          <p:nvSpPr>
            <p:cNvPr id="162860" name="Text Box 44"/>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68</a:t>
              </a:r>
            </a:p>
          </p:txBody>
        </p:sp>
        <p:sp>
          <p:nvSpPr>
            <p:cNvPr id="162861" name="Text Box 45"/>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a:t>
              </a:r>
            </a:p>
          </p:txBody>
        </p:sp>
      </p:grpSp>
      <p:grpSp>
        <p:nvGrpSpPr>
          <p:cNvPr id="162862" name="Group 46"/>
          <p:cNvGrpSpPr/>
          <p:nvPr/>
        </p:nvGrpSpPr>
        <p:grpSpPr>
          <a:xfrm>
            <a:off x="9957118" y="1916113"/>
            <a:ext cx="762000" cy="246063"/>
            <a:chOff x="4176" y="2256"/>
            <a:chExt cx="480" cy="155"/>
          </a:xfrm>
        </p:grpSpPr>
        <p:sp>
          <p:nvSpPr>
            <p:cNvPr id="162863" name="Text Box 47"/>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55</a:t>
              </a:r>
            </a:p>
          </p:txBody>
        </p:sp>
        <p:sp>
          <p:nvSpPr>
            <p:cNvPr id="162864" name="Text Box 48"/>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a:t>
              </a:r>
            </a:p>
          </p:txBody>
        </p:sp>
      </p:grpSp>
      <p:grpSp>
        <p:nvGrpSpPr>
          <p:cNvPr id="162865" name="Group 49"/>
          <p:cNvGrpSpPr/>
          <p:nvPr/>
        </p:nvGrpSpPr>
        <p:grpSpPr>
          <a:xfrm>
            <a:off x="8814118" y="3668713"/>
            <a:ext cx="762000" cy="246063"/>
            <a:chOff x="4176" y="2256"/>
            <a:chExt cx="480" cy="155"/>
          </a:xfrm>
        </p:grpSpPr>
        <p:sp>
          <p:nvSpPr>
            <p:cNvPr id="162866" name="Text Box 50"/>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82</a:t>
              </a:r>
            </a:p>
          </p:txBody>
        </p:sp>
        <p:sp>
          <p:nvSpPr>
            <p:cNvPr id="162867" name="Text Box 51"/>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a:t>
              </a:r>
            </a:p>
          </p:txBody>
        </p:sp>
      </p:grpSp>
      <p:grpSp>
        <p:nvGrpSpPr>
          <p:cNvPr id="162868" name="Group 52"/>
          <p:cNvGrpSpPr/>
          <p:nvPr/>
        </p:nvGrpSpPr>
        <p:grpSpPr>
          <a:xfrm>
            <a:off x="9957118" y="3059113"/>
            <a:ext cx="762000" cy="246063"/>
            <a:chOff x="4176" y="2256"/>
            <a:chExt cx="480" cy="155"/>
          </a:xfrm>
        </p:grpSpPr>
        <p:sp>
          <p:nvSpPr>
            <p:cNvPr id="162869" name="Text Box 53"/>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14</a:t>
              </a:r>
            </a:p>
          </p:txBody>
        </p:sp>
        <p:sp>
          <p:nvSpPr>
            <p:cNvPr id="162870" name="Text Box 54"/>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a:t>
              </a:r>
            </a:p>
          </p:txBody>
        </p:sp>
      </p:grpSp>
      <p:sp>
        <p:nvSpPr>
          <p:cNvPr id="162871" name="Line 55"/>
          <p:cNvSpPr/>
          <p:nvPr/>
        </p:nvSpPr>
        <p:spPr>
          <a:xfrm>
            <a:off x="8280718" y="2068513"/>
            <a:ext cx="533400" cy="0"/>
          </a:xfrm>
          <a:prstGeom prst="line">
            <a:avLst/>
          </a:prstGeom>
          <a:ln w="28575" cap="flat" cmpd="sng">
            <a:solidFill>
              <a:srgbClr val="00FFFF"/>
            </a:solidFill>
            <a:prstDash val="solid"/>
            <a:miter/>
            <a:headEnd type="none" w="med" len="med"/>
            <a:tailEnd type="triangle" w="med" len="med"/>
          </a:ln>
        </p:spPr>
      </p:sp>
      <p:sp>
        <p:nvSpPr>
          <p:cNvPr id="162872" name="Line 56"/>
          <p:cNvSpPr/>
          <p:nvPr/>
        </p:nvSpPr>
        <p:spPr>
          <a:xfrm>
            <a:off x="8280718" y="2449513"/>
            <a:ext cx="533400" cy="0"/>
          </a:xfrm>
          <a:prstGeom prst="line">
            <a:avLst/>
          </a:prstGeom>
          <a:ln w="28575" cap="flat" cmpd="sng">
            <a:solidFill>
              <a:srgbClr val="00FFFF"/>
            </a:solidFill>
            <a:prstDash val="solid"/>
            <a:miter/>
            <a:headEnd type="none" w="med" len="med"/>
            <a:tailEnd type="triangle" w="med" len="med"/>
          </a:ln>
        </p:spPr>
      </p:sp>
      <p:sp>
        <p:nvSpPr>
          <p:cNvPr id="162873" name="Line 57"/>
          <p:cNvSpPr/>
          <p:nvPr/>
        </p:nvSpPr>
        <p:spPr>
          <a:xfrm>
            <a:off x="8280718" y="2830513"/>
            <a:ext cx="533400" cy="0"/>
          </a:xfrm>
          <a:prstGeom prst="line">
            <a:avLst/>
          </a:prstGeom>
          <a:ln w="28575" cap="flat" cmpd="sng">
            <a:solidFill>
              <a:srgbClr val="00FFFF"/>
            </a:solidFill>
            <a:prstDash val="solid"/>
            <a:miter/>
            <a:headEnd type="none" w="med" len="med"/>
            <a:tailEnd type="triangle" w="med" len="med"/>
          </a:ln>
        </p:spPr>
      </p:sp>
      <p:sp>
        <p:nvSpPr>
          <p:cNvPr id="162874" name="Line 58"/>
          <p:cNvSpPr/>
          <p:nvPr/>
        </p:nvSpPr>
        <p:spPr>
          <a:xfrm>
            <a:off x="8280718" y="3211513"/>
            <a:ext cx="533400" cy="0"/>
          </a:xfrm>
          <a:prstGeom prst="line">
            <a:avLst/>
          </a:prstGeom>
          <a:ln w="28575" cap="flat" cmpd="sng">
            <a:solidFill>
              <a:srgbClr val="00FFFF"/>
            </a:solidFill>
            <a:prstDash val="solid"/>
            <a:miter/>
            <a:headEnd type="none" w="med" len="med"/>
            <a:tailEnd type="triangle" w="med" len="med"/>
          </a:ln>
        </p:spPr>
      </p:sp>
      <p:sp>
        <p:nvSpPr>
          <p:cNvPr id="162875" name="Line 59"/>
          <p:cNvSpPr/>
          <p:nvPr/>
        </p:nvSpPr>
        <p:spPr>
          <a:xfrm>
            <a:off x="8280718" y="3821113"/>
            <a:ext cx="533400" cy="0"/>
          </a:xfrm>
          <a:prstGeom prst="line">
            <a:avLst/>
          </a:prstGeom>
          <a:ln w="28575" cap="flat" cmpd="sng">
            <a:solidFill>
              <a:srgbClr val="00FFFF"/>
            </a:solidFill>
            <a:prstDash val="solid"/>
            <a:miter/>
            <a:headEnd type="none" w="med" len="med"/>
            <a:tailEnd type="triangle" w="med" len="med"/>
          </a:ln>
        </p:spPr>
      </p:sp>
      <p:sp>
        <p:nvSpPr>
          <p:cNvPr id="162876" name="Line 60"/>
          <p:cNvSpPr/>
          <p:nvPr/>
        </p:nvSpPr>
        <p:spPr>
          <a:xfrm>
            <a:off x="8280718" y="4887913"/>
            <a:ext cx="533400" cy="0"/>
          </a:xfrm>
          <a:prstGeom prst="line">
            <a:avLst/>
          </a:prstGeom>
          <a:ln w="28575" cap="flat" cmpd="sng">
            <a:solidFill>
              <a:srgbClr val="00FFFF"/>
            </a:solidFill>
            <a:prstDash val="solid"/>
            <a:miter/>
            <a:headEnd type="none" w="med" len="med"/>
            <a:tailEnd type="triangle" w="med" len="med"/>
          </a:ln>
        </p:spPr>
      </p:sp>
      <p:sp>
        <p:nvSpPr>
          <p:cNvPr id="162877" name="Line 61"/>
          <p:cNvSpPr/>
          <p:nvPr/>
        </p:nvSpPr>
        <p:spPr>
          <a:xfrm>
            <a:off x="9423718" y="2068513"/>
            <a:ext cx="533400" cy="0"/>
          </a:xfrm>
          <a:prstGeom prst="line">
            <a:avLst/>
          </a:prstGeom>
          <a:ln w="28575" cap="flat" cmpd="sng">
            <a:solidFill>
              <a:srgbClr val="00FFFF"/>
            </a:solidFill>
            <a:prstDash val="solid"/>
            <a:miter/>
            <a:headEnd type="none" w="med" len="med"/>
            <a:tailEnd type="triangle" w="med" len="med"/>
          </a:ln>
        </p:spPr>
      </p:sp>
      <p:sp>
        <p:nvSpPr>
          <p:cNvPr id="162878" name="Line 62"/>
          <p:cNvSpPr/>
          <p:nvPr/>
        </p:nvSpPr>
        <p:spPr>
          <a:xfrm>
            <a:off x="9420543" y="2454275"/>
            <a:ext cx="533400" cy="0"/>
          </a:xfrm>
          <a:prstGeom prst="line">
            <a:avLst/>
          </a:prstGeom>
          <a:ln w="28575" cap="flat" cmpd="sng">
            <a:solidFill>
              <a:srgbClr val="00FFFF"/>
            </a:solidFill>
            <a:prstDash val="solid"/>
            <a:miter/>
            <a:headEnd type="none" w="med" len="med"/>
            <a:tailEnd type="triangle" w="med" len="med"/>
          </a:ln>
        </p:spPr>
      </p:sp>
      <p:sp>
        <p:nvSpPr>
          <p:cNvPr id="162879" name="Line 63"/>
          <p:cNvSpPr/>
          <p:nvPr/>
        </p:nvSpPr>
        <p:spPr>
          <a:xfrm>
            <a:off x="9423718" y="3211513"/>
            <a:ext cx="533400" cy="0"/>
          </a:xfrm>
          <a:prstGeom prst="line">
            <a:avLst/>
          </a:prstGeom>
          <a:ln w="28575" cap="flat" cmpd="sng">
            <a:solidFill>
              <a:srgbClr val="00FFFF"/>
            </a:solidFill>
            <a:prstDash val="solid"/>
            <a:miter/>
            <a:headEnd type="none" w="med" len="med"/>
            <a:tailEnd type="triangle" w="med" len="med"/>
          </a:ln>
        </p:spPr>
      </p:sp>
      <p:grpSp>
        <p:nvGrpSpPr>
          <p:cNvPr id="162880" name="Group 64"/>
          <p:cNvGrpSpPr/>
          <p:nvPr/>
        </p:nvGrpSpPr>
        <p:grpSpPr>
          <a:xfrm>
            <a:off x="9958705" y="2298700"/>
            <a:ext cx="762000" cy="246063"/>
            <a:chOff x="4176" y="2256"/>
            <a:chExt cx="480" cy="155"/>
          </a:xfrm>
        </p:grpSpPr>
        <p:sp>
          <p:nvSpPr>
            <p:cNvPr id="162881" name="Text Box 65"/>
            <p:cNvSpPr txBox="1"/>
            <p:nvPr/>
          </p:nvSpPr>
          <p:spPr>
            <a:xfrm>
              <a:off x="4176" y="2256"/>
              <a:ext cx="288"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01</a:t>
              </a:r>
            </a:p>
          </p:txBody>
        </p:sp>
        <p:sp>
          <p:nvSpPr>
            <p:cNvPr id="162882" name="Text Box 66"/>
            <p:cNvSpPr txBox="1"/>
            <p:nvPr/>
          </p:nvSpPr>
          <p:spPr>
            <a:xfrm>
              <a:off x="4464" y="2256"/>
              <a:ext cx="192" cy="155"/>
            </a:xfrm>
            <a:prstGeom prst="rect">
              <a:avLst/>
            </a:prstGeom>
            <a:noFill/>
            <a:ln w="28575" cap="flat" cmpd="sng">
              <a:solidFill>
                <a:srgbClr val="FF6600"/>
              </a:solidFill>
              <a:prstDash val="solid"/>
              <a:miter/>
              <a:headEnd type="none" w="med" len="med"/>
              <a:tailEnd type="none" w="med" len="med"/>
            </a:ln>
          </p:spPr>
          <p:txBody>
            <a:bodyPr lIns="0" tIns="0" rIns="0" bIns="0" anchor="t" anchorCtr="0">
              <a:spAutoFit/>
            </a:bodyPr>
            <a:lstStyle/>
            <a:p>
              <a:pPr algn="ctr">
                <a:spcBef>
                  <a:spcPct val="50000"/>
                </a:spcBef>
              </a:pPr>
              <a:r>
                <a:rPr lang="en-US" altLang="zh-CN" sz="1600" dirty="0">
                  <a:latin typeface="Tahoma" panose="020B0604030504040204" charset="0"/>
                  <a:ea typeface="宋体" panose="02010600030101010101" pitchFamily="2" charset="-122"/>
                </a:rPr>
                <a:t>^</a:t>
              </a:r>
            </a:p>
          </p:txBody>
        </p:sp>
      </p:gr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链地址法</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将所有哈希地址相同的记录都链接在同一链表中</a:t>
            </a:r>
            <a:endParaRPr lang="zh-CN" altLang="en-US" sz="28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查找不成功，插入新结点时</a:t>
            </a: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课本例子是链地址（排序插入）</a:t>
            </a:r>
            <a:endParaRPr lang="zh-CN" altLang="en-US" sz="24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135</a:t>
            </a:fld>
            <a:endParaRPr lang="zh-CN" altLang="en-US"/>
          </a:p>
        </p:txBody>
      </p:sp>
      <p:sp>
        <p:nvSpPr>
          <p:cNvPr id="5" name="文本框 4"/>
          <p:cNvSpPr txBox="1"/>
          <p:nvPr/>
        </p:nvSpPr>
        <p:spPr>
          <a:xfrm>
            <a:off x="191135" y="2364740"/>
            <a:ext cx="6832600" cy="2503805"/>
          </a:xfrm>
          <a:prstGeom prst="rect">
            <a:avLst/>
          </a:prstGeom>
        </p:spPr>
        <p:txBody>
          <a:bodyPr vert="horz" wrap="square" lIns="91440" tIns="45720" rIns="91440" bIns="45720" rtlCol="0" anchor="t">
            <a:noAutofit/>
          </a:bodyPr>
          <a:lstStyle/>
          <a:p>
            <a:pPr marL="609600" lvl="1" indent="0" algn="l" eaLnBrk="1" hangingPunct="1">
              <a:buClrTx/>
              <a:buSzTx/>
              <a:buNone/>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pic>
        <p:nvPicPr>
          <p:cNvPr id="6" name="图片 5"/>
          <p:cNvPicPr>
            <a:picLocks noChangeAspect="1"/>
          </p:cNvPicPr>
          <p:nvPr/>
        </p:nvPicPr>
        <p:blipFill>
          <a:blip r:embed="rId2"/>
          <a:stretch>
            <a:fillRect/>
          </a:stretch>
        </p:blipFill>
        <p:spPr>
          <a:xfrm>
            <a:off x="6671945" y="1700530"/>
            <a:ext cx="4121150" cy="497713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建立公共溢出区法，建立两个向量表</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设向量HashTable[0，m-1]为基本表</a:t>
            </a: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另设立向量OverTable[0...v]为溢出表，凡是发生冲突的记录不管基本表的哈希地址，全部放入溢出表</a:t>
            </a: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136</a:t>
            </a:fld>
            <a:endParaRPr lang="zh-CN" alt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由于有哈希冲突的发生，仍然需要用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ASL</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来衡量不同哈希表的效率</a:t>
            </a: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en-US" altLang="zh-CN"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137</a:t>
            </a:fld>
            <a:endParaRPr lang="zh-CN" altLang="en-US"/>
          </a:p>
        </p:txBody>
      </p:sp>
      <p:grpSp>
        <p:nvGrpSpPr>
          <p:cNvPr id="13" name="组合 12"/>
          <p:cNvGrpSpPr/>
          <p:nvPr/>
        </p:nvGrpSpPr>
        <p:grpSpPr>
          <a:xfrm>
            <a:off x="479425" y="1484630"/>
            <a:ext cx="4152900" cy="4671695"/>
            <a:chOff x="982" y="2565"/>
            <a:chExt cx="6540" cy="7357"/>
          </a:xfrm>
        </p:grpSpPr>
        <p:grpSp>
          <p:nvGrpSpPr>
            <p:cNvPr id="9" name="组合 8"/>
            <p:cNvGrpSpPr/>
            <p:nvPr/>
          </p:nvGrpSpPr>
          <p:grpSpPr>
            <a:xfrm>
              <a:off x="1095" y="2565"/>
              <a:ext cx="5924" cy="6584"/>
              <a:chOff x="1435" y="3132"/>
              <a:chExt cx="5924" cy="6584"/>
            </a:xfrm>
          </p:grpSpPr>
          <p:pic>
            <p:nvPicPr>
              <p:cNvPr id="7" name="图片 6"/>
              <p:cNvPicPr>
                <a:picLocks noChangeAspect="1"/>
              </p:cNvPicPr>
              <p:nvPr/>
            </p:nvPicPr>
            <p:blipFill>
              <a:blip r:embed="rId2"/>
              <a:stretch>
                <a:fillRect/>
              </a:stretch>
            </p:blipFill>
            <p:spPr>
              <a:xfrm>
                <a:off x="1435" y="3132"/>
                <a:ext cx="5925" cy="6585"/>
              </a:xfrm>
              <a:prstGeom prst="rect">
                <a:avLst/>
              </a:prstGeom>
            </p:spPr>
          </p:pic>
          <p:sp>
            <p:nvSpPr>
              <p:cNvPr id="8" name="文本框 7"/>
              <p:cNvSpPr txBox="1"/>
              <p:nvPr/>
            </p:nvSpPr>
            <p:spPr>
              <a:xfrm>
                <a:off x="4951" y="7101"/>
                <a:ext cx="2241" cy="667"/>
              </a:xfrm>
              <a:prstGeom prst="rect">
                <a:avLst/>
              </a:prstGeom>
            </p:spPr>
            <p:txBody>
              <a:bodyPr vert="horz" wrap="square" lIns="91440" tIns="45720" rIns="91440" bIns="45720" rtlCol="0" anchor="t">
                <a:spAutoFit/>
              </a:bodyPr>
              <a:lstStyle/>
              <a:p>
                <a:pPr marL="0" lvl="0" indent="0">
                  <a:lnSpc>
                    <a:spcPct val="90000"/>
                  </a:lnSpc>
                  <a:spcBef>
                    <a:spcPts val="1000"/>
                  </a:spcBef>
                  <a:buClr>
                    <a:schemeClr val="accent2"/>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例子</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9-3</a:t>
                </a:r>
              </a:p>
            </p:txBody>
          </p:sp>
        </p:grpSp>
        <p:pic>
          <p:nvPicPr>
            <p:cNvPr id="12" name="图片 11"/>
            <p:cNvPicPr>
              <a:picLocks noChangeAspect="1"/>
            </p:cNvPicPr>
            <p:nvPr/>
          </p:nvPicPr>
          <p:blipFill>
            <a:blip r:embed="rId3"/>
            <a:stretch>
              <a:fillRect/>
            </a:stretch>
          </p:blipFill>
          <p:spPr>
            <a:xfrm>
              <a:off x="982" y="9142"/>
              <a:ext cx="6540" cy="780"/>
            </a:xfrm>
            <a:prstGeom prst="rect">
              <a:avLst/>
            </a:prstGeom>
          </p:spPr>
        </p:pic>
      </p:grpSp>
      <p:grpSp>
        <p:nvGrpSpPr>
          <p:cNvPr id="15" name="组合 14"/>
          <p:cNvGrpSpPr/>
          <p:nvPr/>
        </p:nvGrpSpPr>
        <p:grpSpPr>
          <a:xfrm>
            <a:off x="5663565" y="2276475"/>
            <a:ext cx="5783580" cy="2160270"/>
            <a:chOff x="9146" y="3245"/>
            <a:chExt cx="9108" cy="3402"/>
          </a:xfrm>
        </p:grpSpPr>
        <p:grpSp>
          <p:nvGrpSpPr>
            <p:cNvPr id="11" name="组合 10"/>
            <p:cNvGrpSpPr/>
            <p:nvPr/>
          </p:nvGrpSpPr>
          <p:grpSpPr>
            <a:xfrm>
              <a:off x="9146" y="3245"/>
              <a:ext cx="9108" cy="2457"/>
              <a:chOff x="9600" y="5967"/>
              <a:chExt cx="9108" cy="2457"/>
            </a:xfrm>
          </p:grpSpPr>
          <p:pic>
            <p:nvPicPr>
              <p:cNvPr id="6" name="图片 5"/>
              <p:cNvPicPr>
                <a:picLocks noChangeAspect="1"/>
              </p:cNvPicPr>
              <p:nvPr/>
            </p:nvPicPr>
            <p:blipFill>
              <a:blip r:embed="rId4"/>
              <a:stretch>
                <a:fillRect/>
              </a:stretch>
            </p:blipFill>
            <p:spPr>
              <a:xfrm>
                <a:off x="9600" y="6534"/>
                <a:ext cx="9109" cy="1891"/>
              </a:xfrm>
              <a:prstGeom prst="rect">
                <a:avLst/>
              </a:prstGeom>
            </p:spPr>
          </p:pic>
          <p:sp>
            <p:nvSpPr>
              <p:cNvPr id="10" name="文本框 9"/>
              <p:cNvSpPr txBox="1"/>
              <p:nvPr/>
            </p:nvSpPr>
            <p:spPr>
              <a:xfrm>
                <a:off x="10053" y="5967"/>
                <a:ext cx="2241" cy="667"/>
              </a:xfrm>
              <a:prstGeom prst="rect">
                <a:avLst/>
              </a:prstGeom>
            </p:spPr>
            <p:txBody>
              <a:bodyPr vert="horz" wrap="square" lIns="91440" tIns="45720" rIns="91440" bIns="45720" rtlCol="0" anchor="t">
                <a:spAutoFit/>
              </a:bodyPr>
              <a:lstStyle/>
              <a:p>
                <a:pPr marL="0" lvl="0" indent="0">
                  <a:lnSpc>
                    <a:spcPct val="90000"/>
                  </a:lnSpc>
                  <a:spcBef>
                    <a:spcPts val="1000"/>
                  </a:spcBef>
                  <a:buClr>
                    <a:schemeClr val="accent2"/>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例子</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9-4</a:t>
                </a:r>
              </a:p>
            </p:txBody>
          </p:sp>
        </p:grpSp>
        <p:pic>
          <p:nvPicPr>
            <p:cNvPr id="14" name="图片 13"/>
            <p:cNvPicPr>
              <a:picLocks noChangeAspect="1"/>
            </p:cNvPicPr>
            <p:nvPr/>
          </p:nvPicPr>
          <p:blipFill>
            <a:blip r:embed="rId5"/>
            <a:stretch>
              <a:fillRect/>
            </a:stretch>
          </p:blipFill>
          <p:spPr>
            <a:xfrm>
              <a:off x="9713" y="5853"/>
              <a:ext cx="6885" cy="795"/>
            </a:xfrm>
            <a:prstGeom prst="rect">
              <a:avLst/>
            </a:prstGeom>
          </p:spPr>
        </p:pic>
      </p:gr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1416685"/>
          </a:xfrm>
        </p:spPr>
        <p:txBody>
          <a:bodyPr/>
          <a:lstStyle/>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一般情况下，哈希表的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ASL</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依赖于装填因子</a:t>
            </a:r>
            <a:r>
              <a:rPr lang="zh-CN" altLang="en-US" sz="2800" dirty="0">
                <a:latin typeface="微软雅黑" panose="020B0503020204020204" pitchFamily="34" charset="-122"/>
                <a:ea typeface="微软雅黑" panose="020B0503020204020204" pitchFamily="34" charset="-122"/>
                <a:cs typeface="+mn-ea"/>
                <a:sym typeface="+mn-ea"/>
              </a:rPr>
              <a:t>ɑ</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b="0" dirty="0">
                <a:latin typeface="微软雅黑" panose="020B0503020204020204" pitchFamily="34" charset="-122"/>
                <a:ea typeface="微软雅黑" panose="020B0503020204020204" pitchFamily="34" charset="-122"/>
                <a:cs typeface="+mn-ea"/>
                <a:sym typeface="+mn-ea"/>
              </a:rPr>
              <a:t>ɑ标志哈希表的装满程度</a:t>
            </a:r>
          </a:p>
          <a:p>
            <a:pPr lvl="1" algn="l" eaLnBrk="1" hangingPunct="1">
              <a:buClrTx/>
              <a:buSzTx/>
              <a:buChar char="•"/>
            </a:pPr>
            <a:r>
              <a:rPr lang="zh-CN" altLang="en-US" dirty="0">
                <a:latin typeface="微软雅黑" panose="020B0503020204020204" pitchFamily="34" charset="-122"/>
                <a:ea typeface="微软雅黑" panose="020B0503020204020204" pitchFamily="34" charset="-122"/>
                <a:cs typeface="+mn-ea"/>
                <a:sym typeface="+mn-ea"/>
              </a:rPr>
              <a:t>直观来看，ɑ</a:t>
            </a:r>
            <a:r>
              <a:rPr lang="zh-CN" altLang="en-US" sz="2400" b="0" dirty="0">
                <a:latin typeface="黑体" panose="02010609060101010101" pitchFamily="2" charset="-122"/>
                <a:ea typeface="黑体" panose="02010609060101010101" pitchFamily="2" charset="-122"/>
                <a:cs typeface="+mn-ea"/>
                <a:sym typeface="+mn-ea"/>
              </a:rPr>
              <a:t>越小，发生冲突可能性越小；</a:t>
            </a:r>
            <a:r>
              <a:rPr lang="zh-CN" altLang="en-US" dirty="0">
                <a:latin typeface="微软雅黑" panose="020B0503020204020204" pitchFamily="34" charset="-122"/>
                <a:ea typeface="微软雅黑" panose="020B0503020204020204" pitchFamily="34" charset="-122"/>
                <a:cs typeface="+mn-ea"/>
                <a:sym typeface="+mn-ea"/>
              </a:rPr>
              <a:t>ɑ</a:t>
            </a:r>
            <a:r>
              <a:rPr lang="zh-CN" altLang="en-US" dirty="0">
                <a:latin typeface="黑体" panose="02010609060101010101" pitchFamily="2" charset="-122"/>
                <a:ea typeface="黑体" panose="02010609060101010101" pitchFamily="2" charset="-122"/>
                <a:cs typeface="+mn-ea"/>
                <a:sym typeface="+mn-ea"/>
              </a:rPr>
              <a:t>越大，发生冲突可能性越大</a:t>
            </a: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因为链地址法可以动态扩展空间，所以当记录数越多时，链地址法的</a:t>
            </a:r>
            <a:r>
              <a:rPr lang="en-US" altLang="zh-CN" dirty="0">
                <a:latin typeface="黑体" panose="02010609060101010101" pitchFamily="2" charset="-122"/>
                <a:ea typeface="黑体" panose="02010609060101010101" pitchFamily="2" charset="-122"/>
                <a:cs typeface="+mn-ea"/>
                <a:sym typeface="+mn-ea"/>
              </a:rPr>
              <a:t>ASL</a:t>
            </a:r>
            <a:r>
              <a:rPr lang="zh-CN" altLang="en-US" dirty="0">
                <a:latin typeface="黑体" panose="02010609060101010101" pitchFamily="2" charset="-122"/>
                <a:ea typeface="黑体" panose="02010609060101010101" pitchFamily="2" charset="-122"/>
                <a:cs typeface="+mn-ea"/>
                <a:sym typeface="+mn-ea"/>
              </a:rPr>
              <a:t>会低于开放定址法</a:t>
            </a:r>
            <a:r>
              <a:rPr lang="en-US" altLang="zh-CN" dirty="0">
                <a:latin typeface="黑体" panose="02010609060101010101" pitchFamily="2" charset="-122"/>
                <a:ea typeface="黑体" panose="02010609060101010101" pitchFamily="2" charset="-122"/>
                <a:cs typeface="+mn-ea"/>
                <a:sym typeface="+mn-ea"/>
              </a:rPr>
              <a:t>ASL</a:t>
            </a:r>
            <a:endParaRPr lang="zh-CN" altLang="en-US" sz="2400" b="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lstStyle/>
          <a:p>
            <a:fld id="{F18B4237-A20D-4DE2-ADD8-75BCC50A7656}" type="slidenum">
              <a:rPr lang="zh-CN" altLang="en-US"/>
              <a:t>138</a:t>
            </a:fld>
            <a:endParaRPr lang="zh-CN" altLang="en-US"/>
          </a:p>
        </p:txBody>
      </p:sp>
      <p:pic>
        <p:nvPicPr>
          <p:cNvPr id="5" name="图片 4"/>
          <p:cNvPicPr>
            <a:picLocks noChangeAspect="1"/>
          </p:cNvPicPr>
          <p:nvPr/>
        </p:nvPicPr>
        <p:blipFill>
          <a:blip r:embed="rId2"/>
          <a:stretch>
            <a:fillRect/>
          </a:stretch>
        </p:blipFill>
        <p:spPr>
          <a:xfrm>
            <a:off x="2279650" y="2564765"/>
            <a:ext cx="5735955" cy="1063625"/>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9260" y="948055"/>
            <a:ext cx="11087735" cy="1840865"/>
          </a:xfrm>
        </p:spPr>
        <p:txBody>
          <a:bodyPr/>
          <a:lstStyle/>
          <a:p>
            <a:pPr marL="609600" lvl="0" indent="-60960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已知关键字集合为{125、403、88、72、165}，哈希函数为平方取中法，若平方数值长度为奇数则取3位，长度为偶数则取4位，求上述关键字的哈希地址</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indent="-609600" algn="l" eaLnBrk="1" hangingPunct="1">
              <a:buClrTx/>
              <a:buSzTx/>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lvl="0" indent="-60960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给定关键字集合33、15、88、31、28、64、44、58、77，设定哈希函数 H(key)=key MOD 13 (表长=13)</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若采用线性探测再散列，求哈希表，并计算给出每个记录的查找次数</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若采用二次探测再散列，求哈希表，并给出每个记录的查找次数</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若链地址法，表头插入，求哈希表</a:t>
            </a: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lstStyle/>
          <a:p>
            <a:pPr algn="l">
              <a:buClrTx/>
              <a:buSzTx/>
              <a:buFontTx/>
            </a:pPr>
            <a:r>
              <a:rPr lang="zh-CN" altLang="en-US" sz="4000">
                <a:solidFill>
                  <a:srgbClr val="FF0000"/>
                </a:solidFill>
                <a:latin typeface="楷体" panose="02010609060101010101" charset="-122"/>
                <a:ea typeface="楷体" panose="02010609060101010101" charset="-122"/>
              </a:rPr>
              <a:t>练习</a:t>
            </a:r>
          </a:p>
        </p:txBody>
      </p:sp>
      <p:sp>
        <p:nvSpPr>
          <p:cNvPr id="4" name="灯片编号占位符 3"/>
          <p:cNvSpPr>
            <a:spLocks noGrp="1"/>
          </p:cNvSpPr>
          <p:nvPr>
            <p:ph type="sldNum" sz="quarter" idx="4"/>
          </p:nvPr>
        </p:nvSpPr>
        <p:spPr/>
        <p:txBody>
          <a:bodyPr/>
          <a:lstStyle/>
          <a:p>
            <a:fld id="{F18B4237-A20D-4DE2-ADD8-75BCC50A7656}" type="slidenum">
              <a:rPr lang="zh-CN" altLang="en-US"/>
              <a:t>139</a:t>
            </a:fld>
            <a:endParaRPr lang="zh-CN" altLang="en-US"/>
          </a:p>
        </p:txBody>
      </p:sp>
      <p:sp>
        <p:nvSpPr>
          <p:cNvPr id="5" name="椭圆 4">
            <a:extLst>
              <a:ext uri="{FF2B5EF4-FFF2-40B4-BE49-F238E27FC236}">
                <a16:creationId xmlns:a16="http://schemas.microsoft.com/office/drawing/2014/main" id="{1FCEEFD5-0A6D-4317-95B1-EFBB480AA4DB}"/>
              </a:ext>
            </a:extLst>
          </p:cNvPr>
          <p:cNvSpPr/>
          <p:nvPr/>
        </p:nvSpPr>
        <p:spPr bwMode="auto">
          <a:xfrm>
            <a:off x="-384720" y="476672"/>
            <a:ext cx="6192688" cy="2016224"/>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mn-ea"/>
                <a:sym typeface="+mn-ea"/>
              </a:rPr>
              <a:t>智能搜索是结合了人工智能的新一代搜索技术</a:t>
            </a: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mn-ea"/>
                <a:sym typeface="+mn-ea"/>
              </a:rPr>
              <a:t>海量数据</a:t>
            </a:r>
            <a:r>
              <a:rPr lang="zh-CN" altLang="en-US" sz="2400" dirty="0">
                <a:latin typeface="黑体" panose="02010609060101010101" pitchFamily="2" charset="-122"/>
                <a:ea typeface="黑体" panose="02010609060101010101" pitchFamily="2" charset="-122"/>
                <a:cs typeface="+mn-ea"/>
                <a:sym typeface="+mn-ea"/>
              </a:rPr>
              <a:t>搜索</a:t>
            </a: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多媒体数据搜索（文字、图片、声音、视频、传感）</a:t>
            </a: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语义理解</a:t>
            </a: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多元化交互（文字输入、语音、手势、元宇宙）</a:t>
            </a:r>
            <a:endParaRPr lang="en-US" altLang="zh-CN" sz="2400" dirty="0">
              <a:latin typeface="黑体" panose="02010609060101010101" pitchFamily="2" charset="-122"/>
              <a:ea typeface="黑体" panose="02010609060101010101" pitchFamily="2" charset="-122"/>
              <a:cs typeface="+mn-ea"/>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330" dirty="0">
              <a:latin typeface="宋体" panose="0201060003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330" dirty="0">
              <a:latin typeface="宋体" panose="0201060003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哈希查找</a:t>
            </a:r>
            <a:r>
              <a:rPr lang="zh-CN" altLang="en-US">
                <a:solidFill>
                  <a:srgbClr val="FF0000"/>
                </a:solidFill>
                <a:latin typeface="楷体" panose="02010609060101010101" charset="-122"/>
                <a:ea typeface="楷体" panose="02010609060101010101" charset="-122"/>
                <a:cs typeface="楷体" panose="02010609060101010101" charset="-122"/>
                <a:sym typeface="+mn-ea"/>
              </a:rPr>
              <a:t>（扩展）</a:t>
            </a:r>
          </a:p>
        </p:txBody>
      </p:sp>
      <p:sp>
        <p:nvSpPr>
          <p:cNvPr id="2" name="灯片编号占位符 1"/>
          <p:cNvSpPr>
            <a:spLocks noGrp="1"/>
          </p:cNvSpPr>
          <p:nvPr>
            <p:ph type="sldNum" sz="quarter" idx="4"/>
          </p:nvPr>
        </p:nvSpPr>
        <p:spPr/>
        <p:txBody>
          <a:bodyPr/>
          <a:lstStyle/>
          <a:p>
            <a:fld id="{F18B4237-A20D-4DE2-ADD8-75BCC50A7656}" type="slidenum">
              <a:rPr lang="zh-CN" altLang="en-US"/>
              <a:t>140</a:t>
            </a:fld>
            <a:endParaRPr lang="zh-CN" altLang="en-US"/>
          </a:p>
        </p:txBody>
      </p:sp>
      <p:pic>
        <p:nvPicPr>
          <p:cNvPr id="5" name="图片 4"/>
          <p:cNvPicPr>
            <a:picLocks noChangeAspect="1"/>
          </p:cNvPicPr>
          <p:nvPr/>
        </p:nvPicPr>
        <p:blipFill>
          <a:blip r:embed="rId2"/>
          <a:stretch>
            <a:fillRect/>
          </a:stretch>
        </p:blipFill>
        <p:spPr>
          <a:xfrm>
            <a:off x="3359785" y="3500755"/>
            <a:ext cx="4573905" cy="2432050"/>
          </a:xfrm>
          <a:prstGeom prst="rect">
            <a:avLst/>
          </a:prstGeom>
        </p:spPr>
      </p:pic>
      <p:pic>
        <p:nvPicPr>
          <p:cNvPr id="8" name="图片 7"/>
          <p:cNvPicPr>
            <a:picLocks noChangeAspect="1"/>
          </p:cNvPicPr>
          <p:nvPr/>
        </p:nvPicPr>
        <p:blipFill>
          <a:blip r:embed="rId3"/>
          <a:stretch>
            <a:fillRect/>
          </a:stretch>
        </p:blipFill>
        <p:spPr>
          <a:xfrm>
            <a:off x="8976360" y="2924810"/>
            <a:ext cx="2265045" cy="3106420"/>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mn-ea"/>
                <a:sym typeface="+mn-ea"/>
              </a:rPr>
              <a:t>哈希算法有着广泛的应用</a:t>
            </a: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安全加密，</a:t>
            </a:r>
            <a:r>
              <a:rPr lang="en-US" altLang="zh-CN" sz="2400" dirty="0">
                <a:latin typeface="黑体" panose="02010609060101010101" pitchFamily="2" charset="-122"/>
                <a:ea typeface="黑体" panose="02010609060101010101" pitchFamily="2" charset="-122"/>
                <a:cs typeface="+mn-ea"/>
                <a:sym typeface="+mn-ea"/>
              </a:rPr>
              <a:t>MD5</a:t>
            </a:r>
            <a:r>
              <a:rPr lang="zh-CN" altLang="en-US" sz="2400" dirty="0">
                <a:latin typeface="黑体" panose="02010609060101010101" pitchFamily="2" charset="-122"/>
                <a:ea typeface="黑体" panose="02010609060101010101" pitchFamily="2" charset="-122"/>
                <a:cs typeface="+mn-ea"/>
                <a:sym typeface="+mn-ea"/>
              </a:rPr>
              <a:t>和</a:t>
            </a:r>
            <a:r>
              <a:rPr lang="en-US" altLang="zh-CN" sz="2400" dirty="0">
                <a:latin typeface="黑体" panose="02010609060101010101" pitchFamily="2" charset="-122"/>
                <a:ea typeface="黑体" panose="02010609060101010101" pitchFamily="2" charset="-122"/>
                <a:cs typeface="+mn-ea"/>
                <a:sym typeface="+mn-ea"/>
              </a:rPr>
              <a:t>SHA</a:t>
            </a:r>
            <a:r>
              <a:rPr lang="zh-CN" altLang="en-US" sz="2400" dirty="0">
                <a:latin typeface="黑体" panose="02010609060101010101" pitchFamily="2" charset="-122"/>
                <a:ea typeface="黑体" panose="02010609060101010101" pitchFamily="2" charset="-122"/>
                <a:cs typeface="+mn-ea"/>
                <a:sym typeface="+mn-ea"/>
              </a:rPr>
              <a:t>算法都是来自于哈希算法</a:t>
            </a: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唯一标识，例如用</a:t>
            </a:r>
            <a:r>
              <a:rPr lang="en-US" altLang="zh-CN" sz="2400" dirty="0">
                <a:latin typeface="黑体" panose="02010609060101010101" pitchFamily="2" charset="-122"/>
                <a:ea typeface="黑体" panose="02010609060101010101" pitchFamily="2" charset="-122"/>
                <a:cs typeface="+mn-ea"/>
                <a:sym typeface="+mn-ea"/>
              </a:rPr>
              <a:t>MD5</a:t>
            </a:r>
            <a:r>
              <a:rPr lang="zh-CN" altLang="en-US" sz="2400" dirty="0">
                <a:latin typeface="黑体" panose="02010609060101010101" pitchFamily="2" charset="-122"/>
                <a:ea typeface="黑体" panose="02010609060101010101" pitchFamily="2" charset="-122"/>
                <a:cs typeface="+mn-ea"/>
                <a:sym typeface="+mn-ea"/>
              </a:rPr>
              <a:t>生成数字摘要</a:t>
            </a: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数据校验，</a:t>
            </a:r>
            <a:r>
              <a:rPr lang="zh-CN" altLang="en-US" dirty="0">
                <a:latin typeface="黑体" panose="02010609060101010101" pitchFamily="2" charset="-122"/>
                <a:ea typeface="黑体" panose="02010609060101010101" pitchFamily="2" charset="-122"/>
                <a:cs typeface="+mn-ea"/>
                <a:sym typeface="+mn-ea"/>
              </a:rPr>
              <a:t>例如用</a:t>
            </a:r>
            <a:r>
              <a:rPr lang="en-US" altLang="zh-CN" dirty="0">
                <a:latin typeface="黑体" panose="02010609060101010101" pitchFamily="2" charset="-122"/>
                <a:ea typeface="黑体" panose="02010609060101010101" pitchFamily="2" charset="-122"/>
                <a:cs typeface="+mn-ea"/>
                <a:sym typeface="+mn-ea"/>
              </a:rPr>
              <a:t>MD5</a:t>
            </a:r>
            <a:r>
              <a:rPr lang="zh-CN" altLang="en-US" dirty="0">
                <a:latin typeface="黑体" panose="02010609060101010101" pitchFamily="2" charset="-122"/>
                <a:ea typeface="黑体" panose="02010609060101010101" pitchFamily="2" charset="-122"/>
                <a:cs typeface="+mn-ea"/>
                <a:sym typeface="+mn-ea"/>
              </a:rPr>
              <a:t>生成数字摘要进行校验</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散列函数，即哈希查找</a:t>
            </a: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负载均衡，类似一致性哈希算法</a:t>
            </a: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数据分片，类似链地址法</a:t>
            </a: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分布式存储，一致性哈希算法</a:t>
            </a: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区块链</a:t>
            </a:r>
          </a:p>
          <a:p>
            <a:pPr marL="609600" marR="0" lvl="1" indent="0" algn="l" defTabSz="1219200" rtl="0" eaLnBrk="1" fontAlgn="base" latinLnBrk="0" hangingPunct="1">
              <a:lnSpc>
                <a:spcPct val="100000"/>
              </a:lnSpc>
              <a:spcBef>
                <a:spcPct val="20000"/>
              </a:spcBef>
              <a:buClrTx/>
              <a:buSzTx/>
              <a:buNone/>
            </a:pPr>
            <a:r>
              <a:rPr lang="zh-CN" altLang="en-US" sz="2000" dirty="0">
                <a:latin typeface="黑体" panose="02010609060101010101" pitchFamily="2" charset="-122"/>
                <a:ea typeface="黑体" panose="02010609060101010101" pitchFamily="2" charset="-122"/>
                <a:cs typeface="+mn-ea"/>
                <a:sym typeface="+mn-ea"/>
              </a:rPr>
              <a:t>每个链块头保存自己的哈希值和上一个链块</a:t>
            </a:r>
          </a:p>
          <a:p>
            <a:pPr marL="609600" marR="0" lvl="1" indent="0" algn="l" defTabSz="1219200" rtl="0" eaLnBrk="1" fontAlgn="base" latinLnBrk="0" hangingPunct="1">
              <a:lnSpc>
                <a:spcPct val="100000"/>
              </a:lnSpc>
              <a:spcBef>
                <a:spcPct val="20000"/>
              </a:spcBef>
              <a:buClrTx/>
              <a:buSzTx/>
              <a:buNone/>
            </a:pPr>
            <a:r>
              <a:rPr lang="zh-CN" altLang="en-US" sz="2000" dirty="0">
                <a:latin typeface="黑体" panose="02010609060101010101" pitchFamily="2" charset="-122"/>
                <a:ea typeface="黑体" panose="02010609060101010101" pitchFamily="2" charset="-122"/>
                <a:cs typeface="+mn-ea"/>
                <a:sym typeface="+mn-ea"/>
              </a:rPr>
              <a:t>的哈希值，由于使用</a:t>
            </a:r>
            <a:r>
              <a:rPr lang="en-US" altLang="zh-CN" sz="2000" dirty="0">
                <a:latin typeface="黑体" panose="02010609060101010101" pitchFamily="2" charset="-122"/>
                <a:ea typeface="黑体" panose="02010609060101010101" pitchFamily="2" charset="-122"/>
                <a:cs typeface="+mn-ea"/>
                <a:sym typeface="+mn-ea"/>
              </a:rPr>
              <a:t>SHA256</a:t>
            </a:r>
            <a:r>
              <a:rPr lang="zh-CN" altLang="en-US" sz="2000" dirty="0">
                <a:latin typeface="黑体" panose="02010609060101010101" pitchFamily="2" charset="-122"/>
                <a:ea typeface="黑体" panose="02010609060101010101" pitchFamily="2" charset="-122"/>
                <a:cs typeface="+mn-ea"/>
                <a:sym typeface="+mn-ea"/>
              </a:rPr>
              <a:t>算法计算哈希值非常耗时，</a:t>
            </a:r>
          </a:p>
          <a:p>
            <a:pPr marL="609600" marR="0" lvl="1" indent="0" algn="l" defTabSz="1219200" rtl="0" eaLnBrk="1" fontAlgn="base" latinLnBrk="0" hangingPunct="1">
              <a:lnSpc>
                <a:spcPct val="100000"/>
              </a:lnSpc>
              <a:spcBef>
                <a:spcPct val="20000"/>
              </a:spcBef>
              <a:buClrTx/>
              <a:buSzTx/>
              <a:buNone/>
            </a:pPr>
            <a:r>
              <a:rPr lang="zh-CN" altLang="en-US" sz="2000" dirty="0">
                <a:latin typeface="黑体" panose="02010609060101010101" pitchFamily="2" charset="-122"/>
                <a:ea typeface="黑体" panose="02010609060101010101" pitchFamily="2" charset="-122"/>
                <a:cs typeface="+mn-ea"/>
                <a:sym typeface="+mn-ea"/>
              </a:rPr>
              <a:t>因此篡改一个块要把这个块后续块链的哈希值都修改，</a:t>
            </a:r>
          </a:p>
          <a:p>
            <a:pPr marL="609600" marR="0" lvl="1" indent="0" algn="l" defTabSz="1219200" rtl="0" eaLnBrk="1" fontAlgn="base" latinLnBrk="0" hangingPunct="1">
              <a:lnSpc>
                <a:spcPct val="100000"/>
              </a:lnSpc>
              <a:spcBef>
                <a:spcPct val="20000"/>
              </a:spcBef>
              <a:buClrTx/>
              <a:buSzTx/>
              <a:buNone/>
            </a:pPr>
            <a:r>
              <a:rPr lang="zh-CN" altLang="en-US" sz="2000" dirty="0">
                <a:latin typeface="黑体" panose="02010609060101010101" pitchFamily="2" charset="-122"/>
                <a:ea typeface="黑体" panose="02010609060101010101" pitchFamily="2" charset="-122"/>
                <a:cs typeface="+mn-ea"/>
                <a:sym typeface="+mn-ea"/>
              </a:rPr>
              <a:t>短时间无法实现</a:t>
            </a:r>
          </a:p>
          <a:p>
            <a:pPr marR="0" lvl="1" algn="l" defTabSz="1219200" rtl="0" eaLnBrk="1" fontAlgn="base" latinLnBrk="0" hangingPunct="1">
              <a:lnSpc>
                <a:spcPct val="100000"/>
              </a:lnSpc>
              <a:spcBef>
                <a:spcPct val="20000"/>
              </a:spcBef>
              <a:buClrTx/>
              <a:buSzTx/>
              <a:buChar char="•"/>
            </a:pPr>
            <a:endParaRPr lang="zh-CN" altLang="en-US" sz="20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lstStyle/>
          <a:p>
            <a:r>
              <a:rPr lang="en-US" altLang="zh-CN">
                <a:latin typeface="楷体" panose="02010609060101010101" charset="-122"/>
                <a:ea typeface="楷体" panose="02010609060101010101" charset="-122"/>
                <a:cs typeface="楷体" panose="02010609060101010101" charset="-122"/>
                <a:sym typeface="+mn-ea"/>
              </a:rPr>
              <a:t>9.3 </a:t>
            </a:r>
            <a:r>
              <a:rPr lang="zh-CN" altLang="en-US">
                <a:latin typeface="楷体" panose="02010609060101010101" charset="-122"/>
                <a:ea typeface="楷体" panose="02010609060101010101" charset="-122"/>
                <a:cs typeface="楷体" panose="02010609060101010101" charset="-122"/>
                <a:sym typeface="+mn-ea"/>
              </a:rPr>
              <a:t>哈希查找</a:t>
            </a:r>
            <a:r>
              <a:rPr lang="zh-CN" altLang="en-US">
                <a:solidFill>
                  <a:srgbClr val="FF0000"/>
                </a:solidFill>
                <a:latin typeface="楷体" panose="02010609060101010101" charset="-122"/>
                <a:ea typeface="楷体" panose="02010609060101010101" charset="-122"/>
                <a:cs typeface="楷体" panose="02010609060101010101" charset="-122"/>
                <a:sym typeface="+mn-ea"/>
              </a:rPr>
              <a:t>（扩展）</a:t>
            </a:r>
          </a:p>
        </p:txBody>
      </p:sp>
      <p:sp>
        <p:nvSpPr>
          <p:cNvPr id="2" name="灯片编号占位符 1"/>
          <p:cNvSpPr>
            <a:spLocks noGrp="1"/>
          </p:cNvSpPr>
          <p:nvPr>
            <p:ph type="sldNum" sz="quarter" idx="4"/>
          </p:nvPr>
        </p:nvSpPr>
        <p:spPr/>
        <p:txBody>
          <a:bodyPr/>
          <a:lstStyle/>
          <a:p>
            <a:fld id="{F18B4237-A20D-4DE2-ADD8-75BCC50A7656}" type="slidenum">
              <a:rPr lang="zh-CN" altLang="en-US"/>
              <a:t>141</a:t>
            </a:fld>
            <a:endParaRPr lang="zh-CN" altLang="en-US"/>
          </a:p>
        </p:txBody>
      </p:sp>
      <p:pic>
        <p:nvPicPr>
          <p:cNvPr id="6" name="图片 5"/>
          <p:cNvPicPr>
            <a:picLocks noChangeAspect="1"/>
          </p:cNvPicPr>
          <p:nvPr/>
        </p:nvPicPr>
        <p:blipFill>
          <a:blip r:embed="rId2"/>
          <a:stretch>
            <a:fillRect/>
          </a:stretch>
        </p:blipFill>
        <p:spPr>
          <a:xfrm>
            <a:off x="8760460" y="260350"/>
            <a:ext cx="2080895" cy="1387475"/>
          </a:xfrm>
          <a:prstGeom prst="rect">
            <a:avLst/>
          </a:prstGeom>
        </p:spPr>
      </p:pic>
      <p:pic>
        <p:nvPicPr>
          <p:cNvPr id="7" name="图片 6"/>
          <p:cNvPicPr>
            <a:picLocks noChangeAspect="1"/>
          </p:cNvPicPr>
          <p:nvPr/>
        </p:nvPicPr>
        <p:blipFill>
          <a:blip r:embed="rId3"/>
          <a:stretch>
            <a:fillRect/>
          </a:stretch>
        </p:blipFill>
        <p:spPr>
          <a:xfrm>
            <a:off x="8144510" y="1916430"/>
            <a:ext cx="3315970" cy="1308735"/>
          </a:xfrm>
          <a:prstGeom prst="rect">
            <a:avLst/>
          </a:prstGeom>
        </p:spPr>
      </p:pic>
      <p:pic>
        <p:nvPicPr>
          <p:cNvPr id="9" name="图片 8"/>
          <p:cNvPicPr>
            <a:picLocks noChangeAspect="1"/>
          </p:cNvPicPr>
          <p:nvPr/>
        </p:nvPicPr>
        <p:blipFill>
          <a:blip r:embed="rId4"/>
          <a:stretch>
            <a:fillRect/>
          </a:stretch>
        </p:blipFill>
        <p:spPr>
          <a:xfrm>
            <a:off x="8472170" y="3429000"/>
            <a:ext cx="2438400" cy="1333500"/>
          </a:xfrm>
          <a:prstGeom prst="rect">
            <a:avLst/>
          </a:prstGeom>
        </p:spPr>
      </p:pic>
      <p:pic>
        <p:nvPicPr>
          <p:cNvPr id="10" name="图片 9"/>
          <p:cNvPicPr>
            <a:picLocks noChangeAspect="1"/>
          </p:cNvPicPr>
          <p:nvPr/>
        </p:nvPicPr>
        <p:blipFill>
          <a:blip r:embed="rId5"/>
          <a:stretch>
            <a:fillRect/>
          </a:stretch>
        </p:blipFill>
        <p:spPr>
          <a:xfrm>
            <a:off x="8543925" y="5085080"/>
            <a:ext cx="2336800" cy="1470660"/>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fld id="{F18B4237-A20D-4DE2-ADD8-75BCC50A7656}" type="slidenum">
              <a:rPr lang="zh-CN" altLang="en-US"/>
              <a:t>142</a:t>
            </a:fld>
            <a:endParaRPr lang="zh-CN" altLang="en-US"/>
          </a:p>
        </p:txBody>
      </p:sp>
      <p:sp>
        <p:nvSpPr>
          <p:cNvPr id="5" name="文本框 4"/>
          <p:cNvSpPr txBox="1"/>
          <p:nvPr/>
        </p:nvSpPr>
        <p:spPr>
          <a:xfrm>
            <a:off x="407035" y="1052830"/>
            <a:ext cx="11266805" cy="5114290"/>
          </a:xfrm>
          <a:prstGeom prst="rect">
            <a:avLst/>
          </a:prstGeom>
        </p:spPr>
        <p:txBody>
          <a:bodyPr vert="horz" lIns="91440" tIns="45720" rIns="91440" bIns="45720" rtlCol="0">
            <a:noAutofit/>
          </a:bodyPr>
          <a:lstStyle/>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查找的概念</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查找的四种操作</a:t>
            </a:r>
          </a:p>
          <a:p>
            <a:pPr marL="885825" lvl="2" indent="-428625" algn="l" eaLnBrk="1" hangingPunct="1">
              <a:lnSpc>
                <a:spcPct val="90000"/>
              </a:lnSpc>
              <a:spcBef>
                <a:spcPts val="1000"/>
              </a:spcBef>
              <a:buClr>
                <a:schemeClr val="accent2"/>
              </a:buClr>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静态查找、动态查找、平均查找长度</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ASL</a:t>
            </a:r>
            <a:endParaRPr lang="zh-CN" altLang="en-US" sz="2000">
              <a:latin typeface="黑体" panose="02010609060101010101" pitchFamily="2" charset="-122"/>
              <a:ea typeface="黑体" panose="02010609060101010101" pitchFamily="2" charset="-122"/>
            </a:endParaRPr>
          </a:p>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静态查找表：顺序查找、折半查找、顺序索引查找，位置从</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开始</a:t>
            </a:r>
            <a:endParaRPr lang="zh-CN" altLang="en-US" sz="24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顺序查找：带哨兵的顺序查找，ASL</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n+1)/2</a:t>
            </a:r>
          </a:p>
          <a:p>
            <a:pPr marL="885825" lvl="2" indent="-428625" algn="l" eaLnBrk="1" hangingPunct="1">
              <a:lnSpc>
                <a:spcPct val="90000"/>
              </a:lnSpc>
              <a:spcBef>
                <a:spcPts val="1000"/>
              </a:spcBef>
              <a:buClr>
                <a:schemeClr val="accent2"/>
              </a:buClr>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折半查找：又称二分查找，要求表有序且必须是顺序表，ASL</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L</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o</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g</a:t>
            </a:r>
            <a:r>
              <a:rPr lang="en-US" altLang="zh-CN" sz="2000" baseline="-25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n</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+1)-1</a:t>
            </a:r>
          </a:p>
          <a:p>
            <a:pPr marL="885825" lvl="2" indent="-428625" algn="l" eaLnBrk="1" hangingPunct="1">
              <a:lnSpc>
                <a:spcPct val="90000"/>
              </a:lnSpc>
              <a:spcBef>
                <a:spcPts val="1000"/>
              </a:spcBef>
              <a:buClr>
                <a:schemeClr val="accent2"/>
              </a:buClr>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顺序索引查找：又称分块查找，要求块间有序块内无序，要建立索引表</a:t>
            </a:r>
          </a:p>
          <a:p>
            <a:pPr marL="885825" lvl="2" indent="-428625" algn="l" eaLnBrk="1" hangingPunct="1">
              <a:lnSpc>
                <a:spcPct val="90000"/>
              </a:lnSpc>
              <a:spcBef>
                <a:spcPts val="1000"/>
              </a:spcBef>
              <a:buClr>
                <a:schemeClr val="accent2"/>
              </a:buClr>
              <a:buSzTx/>
              <a:buChar char="•"/>
            </a:pPr>
            <a:endParaRPr lang="zh-CN" altLang="en-US" sz="2000" dirty="0">
              <a:latin typeface="黑体" panose="02010609060101010101" pitchFamily="2" charset="-122"/>
              <a:ea typeface="黑体" panose="02010609060101010101" pitchFamily="2" charset="-122"/>
              <a:cs typeface="黑体" panose="02010609060101010101" pitchFamily="2" charset="-122"/>
            </a:endParaRPr>
          </a:p>
          <a:p>
            <a:pPr marL="428625" lvl="0" indent="-428625" algn="l">
              <a:lnSpc>
                <a:spcPct val="90000"/>
              </a:lnSpc>
              <a:spcBef>
                <a:spcPts val="1000"/>
              </a:spcBef>
              <a:buClr>
                <a:schemeClr val="accent2"/>
              </a:buClr>
              <a:buSzTx/>
              <a:buFont typeface="Wingdings" panose="05000000000000000000" charset="0"/>
              <a:buChar char="l"/>
            </a:pPr>
            <a:endParaRPr lang="zh-CN" altLang="en-US" sz="2400">
              <a:latin typeface="黑体" panose="02010609060101010101" pitchFamily="2" charset="-122"/>
              <a:ea typeface="黑体" panose="02010609060101010101" pitchFamily="2" charset="-122"/>
              <a:sym typeface="+mn-ea"/>
            </a:endParaRPr>
          </a:p>
          <a:p>
            <a:pPr marL="428625" indent="-428625" algn="l" eaLnBrk="1" hangingPunct="1">
              <a:lnSpc>
                <a:spcPct val="90000"/>
              </a:lnSpc>
              <a:spcBef>
                <a:spcPts val="1000"/>
              </a:spcBef>
              <a:buClr>
                <a:schemeClr val="accent2"/>
              </a:buClr>
              <a:buSzTx/>
              <a:buFont typeface="Wingdings" panose="05000000000000000000" charset="0"/>
              <a:buChar char="l"/>
            </a:pP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fld id="{F18B4237-A20D-4DE2-ADD8-75BCC50A7656}" type="slidenum">
              <a:rPr lang="zh-CN" altLang="en-US"/>
              <a:t>143</a:t>
            </a:fld>
            <a:endParaRPr lang="zh-CN" altLang="en-US"/>
          </a:p>
        </p:txBody>
      </p:sp>
      <p:sp>
        <p:nvSpPr>
          <p:cNvPr id="5" name="文本框 4"/>
          <p:cNvSpPr txBox="1"/>
          <p:nvPr/>
        </p:nvSpPr>
        <p:spPr>
          <a:xfrm>
            <a:off x="407035" y="1052830"/>
            <a:ext cx="11266805" cy="5114290"/>
          </a:xfrm>
          <a:prstGeom prst="rect">
            <a:avLst/>
          </a:prstGeom>
        </p:spPr>
        <p:txBody>
          <a:bodyPr vert="horz" lIns="91440" tIns="45720" rIns="91440" bIns="45720" rtlCol="0">
            <a:noAutofit/>
          </a:bodyPr>
          <a:lstStyle/>
          <a:p>
            <a:pPr marL="428625"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动态查找：二叉排序树、平衡二叉树、B树</a:t>
            </a:r>
          </a:p>
          <a:p>
            <a:pPr marL="428625"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二叉排序树：左子树严格小于双亲，右子树严格大于双亲</a:t>
            </a: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sym typeface="+mn-ea"/>
              </a:rPr>
              <a:t>查找、插入、删除</a:t>
            </a: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sym typeface="+mn-ea"/>
              </a:rPr>
              <a:t>中序遍历输出有序序列</a:t>
            </a:r>
            <a:endParaRPr lang="zh-CN" altLang="en-US" sz="2000">
              <a:latin typeface="黑体" panose="02010609060101010101" pitchFamily="2" charset="-122"/>
              <a:ea typeface="黑体" panose="02010609060101010101" pitchFamily="2" charset="-122"/>
            </a:endParaRPr>
          </a:p>
          <a:p>
            <a:pPr marL="0" lvl="2"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平衡二叉树：平衡因子绝对值不超过1的二叉排序树</a:t>
            </a: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sym typeface="+mn-ea"/>
              </a:rPr>
              <a:t>四种平衡化处理的类型和操作</a:t>
            </a: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sym typeface="+mn-ea"/>
              </a:rPr>
              <a:t>平衡二叉树创建的过程</a:t>
            </a:r>
            <a:endParaRPr lang="zh-CN" altLang="en-US" sz="2000">
              <a:latin typeface="黑体" panose="02010609060101010101" pitchFamily="2" charset="-122"/>
              <a:ea typeface="黑体" panose="02010609060101010101" pitchFamily="2" charset="-122"/>
            </a:endParaRPr>
          </a:p>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B树，多路平衡查找树，</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B</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树和</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B+</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树的概念</a:t>
            </a:r>
          </a:p>
          <a:p>
            <a:pPr marL="428625"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哈希查找：哈希函数、哈希冲突、哈希表，哈希又称为散列</a:t>
            </a:r>
            <a:endParaRPr lang="zh-CN" altLang="en-US" sz="24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sym typeface="+mn-ea"/>
              </a:rPr>
              <a:t>哈希函数：直接定址法、数字分析法、平方取中法、折叠法、除留余数法</a:t>
            </a: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sym typeface="+mn-ea"/>
              </a:rPr>
              <a:t>处理冲突的方法：开放定址法、再哈希法、链地址法、公共溢出区法</a:t>
            </a: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sym typeface="+mn-ea"/>
              </a:rPr>
              <a:t>哈希查找成功的ASL计算</a:t>
            </a:r>
            <a:endParaRPr lang="zh-CN" altLang="en-US" sz="2000">
              <a:latin typeface="黑体" panose="02010609060101010101" pitchFamily="2" charset="-122"/>
              <a:ea typeface="黑体" panose="02010609060101010101" pitchFamily="2" charset="-122"/>
            </a:endParaRPr>
          </a:p>
          <a:p>
            <a:pPr marL="428625" lvl="0" indent="-428625" algn="l" eaLnBrk="1" hangingPunct="1">
              <a:lnSpc>
                <a:spcPct val="90000"/>
              </a:lnSpc>
              <a:spcBef>
                <a:spcPts val="1000"/>
              </a:spcBef>
              <a:buClr>
                <a:schemeClr val="accent2"/>
              </a:buClr>
              <a:buSzTx/>
              <a:buFont typeface="Wingdings" panose="05000000000000000000" charset="0"/>
              <a:buChar char="l"/>
            </a:pPr>
            <a:endParaRPr lang="zh-CN" altLang="en-US" sz="2400">
              <a:latin typeface="黑体" panose="02010609060101010101" pitchFamily="2" charset="-122"/>
              <a:ea typeface="黑体" panose="02010609060101010101" pitchFamily="2" charset="-122"/>
              <a:sym typeface="+mn-ea"/>
            </a:endParaRPr>
          </a:p>
          <a:p>
            <a:pPr marL="428625" indent="-428625" algn="l" eaLnBrk="1" hangingPunct="1">
              <a:lnSpc>
                <a:spcPct val="90000"/>
              </a:lnSpc>
              <a:spcBef>
                <a:spcPts val="1000"/>
              </a:spcBef>
              <a:buClr>
                <a:schemeClr val="accent2"/>
              </a:buClr>
              <a:buSzTx/>
              <a:buFont typeface="Wingdings" panose="05000000000000000000" charset="0"/>
              <a:buChar char="l"/>
            </a:pP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81e39fb6-2793-4dff-8c5a-ec9965042883"/>
  <p:tag name="COMMONDATA" val="eyJoZGlkIjoiYmQ3NjQxYmZmN2ZkODIxYWNiNTEzMzQyMTZmNzQ1MmM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50609da8-5b21-4eeb-bce1-b76293610007}"/>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05eabcc6-e695-40f0-b7d2-a545b4f63849}"/>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ca9afb98-80f5-4c33-bc61-502e0947beef}"/>
</p:tagLst>
</file>

<file path=ppt/tags/tag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295,&quot;width&quot;:8580}"/>
</p:tagLst>
</file>

<file path=ppt/tags/tag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976,&quot;width&quot;:4705}"/>
</p:tagLst>
</file>

<file path=ppt/tags/tag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329,&quot;width&quot;:10285}"/>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b15ce8a2-255c-4480-8da6-544b26feae48}"/>
</p:tagLst>
</file>

<file path=ppt/theme/theme1.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主题​​">
      <a:majorFont>
        <a:latin typeface="宋体"/>
        <a:ea typeface="微软雅黑"/>
        <a:cs typeface="Segoe Print"/>
      </a:majorFont>
      <a:minorFont>
        <a:latin typeface="宋体"/>
        <a:ea typeface="微软雅黑"/>
        <a:cs typeface="Segoe Prin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bodyPr vert="horz" lIns="91440" tIns="45720" rIns="91440" bIns="45720" rtlCol="0">
        <a:noAutofit/>
      </a:bodyPr>
      <a:lstStyle>
        <a:defPPr marL="571500" lvl="0" indent="-571500">
          <a:lnSpc>
            <a:spcPct val="90000"/>
          </a:lnSpc>
          <a:spcBef>
            <a:spcPts val="1000"/>
          </a:spcBef>
          <a:buClr>
            <a:schemeClr val="accent2"/>
          </a:buClr>
          <a:buFont typeface="Wingdings" panose="05000000000000000000" pitchFamily="2" charset="2"/>
          <a:buChar char="n"/>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Segoe Print"/>
        <a:cs typeface="Segoe Pri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Segoe Print"/>
        <a:cs typeface="Segoe Pri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Segoe Print"/>
        <a:cs typeface="Segoe Pri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Segoe Print"/>
        <a:cs typeface="Segoe Pri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TotalTime>
  <Words>12627</Words>
  <Application>Microsoft Office PowerPoint</Application>
  <PresentationFormat>宽屏</PresentationFormat>
  <Paragraphs>2192</Paragraphs>
  <Slides>145</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145</vt:i4>
      </vt:variant>
    </vt:vector>
  </HeadingPairs>
  <TitlesOfParts>
    <vt:vector size="159" baseType="lpstr">
      <vt:lpstr>宋体</vt:lpstr>
      <vt:lpstr>隶书</vt:lpstr>
      <vt:lpstr>Wingdings</vt:lpstr>
      <vt:lpstr>黑体</vt:lpstr>
      <vt:lpstr>Garamond</vt:lpstr>
      <vt:lpstr>楷体</vt:lpstr>
      <vt:lpstr>Copperplate Gothic Bold</vt:lpstr>
      <vt:lpstr>Tahoma</vt:lpstr>
      <vt:lpstr>Arial</vt:lpstr>
      <vt:lpstr>Times New Roman</vt:lpstr>
      <vt:lpstr>微软雅黑</vt:lpstr>
      <vt:lpstr>1_Office 主题​​</vt:lpstr>
      <vt:lpstr>Equation.3</vt:lpstr>
      <vt:lpstr>Paintbrush Picture</vt:lpstr>
      <vt:lpstr>PowerPoint 演示文稿</vt:lpstr>
      <vt:lpstr>课程结构（按教材划分）</vt:lpstr>
      <vt:lpstr>PowerPoint 演示文稿</vt:lpstr>
      <vt:lpstr>9.1 静态查找表</vt:lpstr>
      <vt:lpstr>9.1 静态查找</vt:lpstr>
      <vt:lpstr>9.1 静态查找表</vt:lpstr>
      <vt:lpstr>9.1 静态查找表</vt:lpstr>
      <vt:lpstr>9.1 静态查找表</vt:lpstr>
      <vt:lpstr>9.1 静态查找表</vt:lpstr>
      <vt:lpstr>9.1 静态查找表</vt:lpstr>
      <vt:lpstr>9.1 静态查找表</vt:lpstr>
      <vt:lpstr>9.1 静态查找表</vt:lpstr>
      <vt:lpstr>9.1 静态查找表</vt:lpstr>
      <vt:lpstr>9.1 静态查找表</vt:lpstr>
      <vt:lpstr>9.1 静态查找表</vt:lpstr>
      <vt:lpstr>练习</vt:lpstr>
      <vt:lpstr>9.1 静态查找表</vt:lpstr>
      <vt:lpstr>9.1 静态查找表</vt:lpstr>
      <vt:lpstr>9.1 静态查找表</vt:lpstr>
      <vt:lpstr>9.1 静态查找表</vt:lpstr>
      <vt:lpstr>9.1 静态查找表</vt:lpstr>
      <vt:lpstr>9.1 静态查找表</vt:lpstr>
      <vt:lpstr>9.1 静态查找表</vt:lpstr>
      <vt:lpstr>9.1 静态查找表</vt:lpstr>
      <vt:lpstr>9.1 静态查找表</vt:lpstr>
      <vt:lpstr>练习</vt:lpstr>
      <vt:lpstr>9.1 静态查找表</vt:lpstr>
      <vt:lpstr>9.1 静态查找表</vt:lpstr>
      <vt:lpstr>9.1 静态查找表</vt:lpstr>
      <vt:lpstr>9.1 静态查找表</vt:lpstr>
      <vt:lpstr>9.1 静态查找表</vt:lpstr>
      <vt:lpstr>9.1 静态查找表</vt:lpstr>
      <vt:lpstr>9.1 静态查找表</vt:lpstr>
      <vt:lpstr>9.1 静态查找表</vt:lpstr>
      <vt:lpstr>练习</vt:lpstr>
      <vt:lpstr>上节课复习</vt:lpstr>
      <vt:lpstr>复习练习</vt:lpstr>
      <vt:lpstr>PowerPoint 演示文稿</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vt:lpstr>
      <vt:lpstr>9.2 动态查找表（扩展自学）</vt:lpstr>
      <vt:lpstr>9.2 动态查找表（扩展自学）</vt:lpstr>
      <vt:lpstr>9.2 动态查找表（扩展自学）</vt:lpstr>
      <vt:lpstr>9.2 动态查找表（扩展自学）</vt:lpstr>
      <vt:lpstr>9.2 动态查找表（扩展自学）</vt:lpstr>
      <vt:lpstr>9.2 动态查找表（扩展自学）</vt:lpstr>
      <vt:lpstr>9.2 动态查找表（扩展自学）</vt:lpstr>
      <vt:lpstr>上节课复习</vt:lpstr>
      <vt:lpstr>9.2 动态查找</vt:lpstr>
      <vt:lpstr>复习练习</vt:lpstr>
      <vt:lpstr>复习练习</vt:lpstr>
      <vt:lpstr>PowerPoint 演示文稿</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9.3 哈希表</vt:lpstr>
      <vt:lpstr>练习</vt:lpstr>
      <vt:lpstr>9.3 哈希查找（扩展）</vt:lpstr>
      <vt:lpstr>9.3 哈希查找（扩展）</vt:lpstr>
      <vt:lpstr>PowerPoint 演示文稿</vt:lpstr>
      <vt:lpstr>PowerPoint 演示文稿</vt:lpstr>
      <vt:lpstr>PowerPoint 演示文稿</vt:lpstr>
    </vt:vector>
  </TitlesOfParts>
  <Manager>BJC</Manager>
  <Company>SZU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教学讲义</dc:title>
  <dc:subject>C++</dc:subject>
  <dc:creator>白; BJC</dc:creator>
  <cp:lastModifiedBy>王锦鸿</cp:lastModifiedBy>
  <cp:revision>2532</cp:revision>
  <dcterms:created xsi:type="dcterms:W3CDTF">2014-01-11T15:22:00Z</dcterms:created>
  <dcterms:modified xsi:type="dcterms:W3CDTF">2024-01-10T10:57:01Z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4508C18874504005A6F10EDD074A32CB</vt:lpwstr>
  </property>
</Properties>
</file>