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648" r:id="rId1"/>
    <p:sldMasterId id="2147483657" r:id="rId3"/>
  </p:sldMasterIdLst>
  <p:notesMasterIdLst>
    <p:notesMasterId r:id="rId25"/>
  </p:notesMasterIdLst>
  <p:handoutMasterIdLst>
    <p:handoutMasterId r:id="rId67"/>
  </p:handoutMasterIdLst>
  <p:sldIdLst>
    <p:sldId id="606" r:id="rId4"/>
    <p:sldId id="699" r:id="rId5"/>
    <p:sldId id="282" r:id="rId6"/>
    <p:sldId id="740" r:id="rId7"/>
    <p:sldId id="975" r:id="rId8"/>
    <p:sldId id="976" r:id="rId9"/>
    <p:sldId id="977" r:id="rId10"/>
    <p:sldId id="978" r:id="rId11"/>
    <p:sldId id="979" r:id="rId12"/>
    <p:sldId id="980" r:id="rId13"/>
    <p:sldId id="981" r:id="rId14"/>
    <p:sldId id="982" r:id="rId15"/>
    <p:sldId id="983" r:id="rId16"/>
    <p:sldId id="984" r:id="rId17"/>
    <p:sldId id="985" r:id="rId18"/>
    <p:sldId id="986" r:id="rId19"/>
    <p:sldId id="987" r:id="rId20"/>
    <p:sldId id="988" r:id="rId21"/>
    <p:sldId id="989" r:id="rId22"/>
    <p:sldId id="1111" r:id="rId23"/>
    <p:sldId id="1112" r:id="rId24"/>
    <p:sldId id="1034" r:id="rId26"/>
    <p:sldId id="1035" r:id="rId27"/>
    <p:sldId id="1036" r:id="rId28"/>
    <p:sldId id="1037" r:id="rId29"/>
    <p:sldId id="1040" r:id="rId30"/>
    <p:sldId id="1042" r:id="rId31"/>
    <p:sldId id="1041" r:id="rId32"/>
    <p:sldId id="1043" r:id="rId33"/>
    <p:sldId id="1044" r:id="rId34"/>
    <p:sldId id="1049" r:id="rId35"/>
    <p:sldId id="1052" r:id="rId36"/>
    <p:sldId id="1050" r:id="rId37"/>
    <p:sldId id="1051" r:id="rId38"/>
    <p:sldId id="1053" r:id="rId39"/>
    <p:sldId id="1059" r:id="rId40"/>
    <p:sldId id="1085" r:id="rId41"/>
    <p:sldId id="1061" r:id="rId42"/>
    <p:sldId id="1060" r:id="rId43"/>
    <p:sldId id="1062" r:id="rId44"/>
    <p:sldId id="1063" r:id="rId45"/>
    <p:sldId id="1065" r:id="rId46"/>
    <p:sldId id="1064" r:id="rId47"/>
    <p:sldId id="1067" r:id="rId48"/>
    <p:sldId id="1068" r:id="rId49"/>
    <p:sldId id="1069" r:id="rId50"/>
    <p:sldId id="1070" r:id="rId51"/>
    <p:sldId id="1086" r:id="rId52"/>
    <p:sldId id="1071" r:id="rId53"/>
    <p:sldId id="1072" r:id="rId54"/>
    <p:sldId id="1073" r:id="rId55"/>
    <p:sldId id="1074" r:id="rId56"/>
    <p:sldId id="1075" r:id="rId57"/>
    <p:sldId id="1076" r:id="rId58"/>
    <p:sldId id="1077" r:id="rId59"/>
    <p:sldId id="1078" r:id="rId60"/>
    <p:sldId id="1079" r:id="rId61"/>
    <p:sldId id="1080" r:id="rId62"/>
    <p:sldId id="1081" r:id="rId63"/>
    <p:sldId id="1082" r:id="rId64"/>
    <p:sldId id="612" r:id="rId65"/>
    <p:sldId id="613" r:id="rId66"/>
  </p:sldIdLst>
  <p:sldSz cx="12192000" cy="6858000"/>
  <p:notesSz cx="6858000" cy="9144000"/>
  <p:embeddedFontLst>
    <p:embeddedFont>
      <p:font typeface="微软雅黑" panose="020B0503020204020204" pitchFamily="34" charset="-122"/>
      <p:regular r:id="rId72"/>
    </p:embeddedFont>
    <p:embeddedFont>
      <p:font typeface="Tahoma" panose="020B0604030504040204" charset="0"/>
      <p:regular r:id="rId73"/>
      <p:bold r:id="rId74"/>
    </p:embeddedFont>
    <p:embeddedFont>
      <p:font typeface="Garamond" panose="02020404030301010803" pitchFamily="18" charset="0"/>
      <p:regular r:id="rId75"/>
      <p:bold r:id="rId76"/>
      <p:italic r:id="rId77"/>
    </p:embeddedFont>
    <p:embeddedFont>
      <p:font typeface="楷体" panose="02010609060101010101" charset="-122"/>
      <p:regular r:id="rId78"/>
    </p:embeddedFont>
    <p:embeddedFont>
      <p:font typeface="黑体" panose="02010609060101010101" pitchFamily="2" charset="-122"/>
      <p:regular r:id="rId79"/>
    </p:embeddedFont>
    <p:embeddedFont>
      <p:font typeface="隶书" panose="02010509060101010101" pitchFamily="49" charset="-122"/>
      <p:regular r:id="rId80"/>
    </p:embeddedFont>
  </p:embeddedFont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aodongdongzjhw" initials="g" lastIdx="16" clrIdx="0"/>
  <p:cmAuthor id="2" name="Wuqijun" initials="W" lastIdx="7" clrIdx="1"/>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594" y="102"/>
      </p:cViewPr>
      <p:guideLst>
        <p:guide orient="horz" pos="346"/>
        <p:guide orient="horz" pos="1190"/>
        <p:guide orient="horz" pos="4106"/>
        <p:guide orient="horz" pos="3139"/>
        <p:guide orient="horz" pos="2816"/>
        <p:guide pos="3805"/>
        <p:guide pos="892"/>
        <p:guide pos="7650"/>
        <p:guide pos="6970"/>
        <p:guide pos="1315"/>
        <p:guide pos="6402"/>
      </p:guideLst>
    </p:cSldViewPr>
  </p:slideViewPr>
  <p:notesTextViewPr>
    <p:cViewPr>
      <p:scale>
        <a:sx n="100" d="100"/>
        <a:sy n="100" d="100"/>
      </p:scale>
      <p:origin x="0" y="0"/>
    </p:cViewPr>
  </p:notesTextViewPr>
  <p:notesViewPr>
    <p:cSldViewPr>
      <p:cViewPr varScale="1">
        <p:scale>
          <a:sx n="67" d="100"/>
          <a:sy n="67" d="100"/>
        </p:scale>
        <p:origin x="-3360" y="-108"/>
      </p:cViewPr>
      <p:guideLst>
        <p:guide orient="horz" pos="2956"/>
        <p:guide pos="214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0" Type="http://schemas.openxmlformats.org/officeDocument/2006/relationships/font" Target="fonts/font9.fntdata"/><Relationship Id="rId8" Type="http://schemas.openxmlformats.org/officeDocument/2006/relationships/slide" Target="slides/slide5.xml"/><Relationship Id="rId79" Type="http://schemas.openxmlformats.org/officeDocument/2006/relationships/font" Target="fonts/font8.fntdata"/><Relationship Id="rId78" Type="http://schemas.openxmlformats.org/officeDocument/2006/relationships/font" Target="fonts/font7.fntdata"/><Relationship Id="rId77" Type="http://schemas.openxmlformats.org/officeDocument/2006/relationships/font" Target="fonts/font6.fntdata"/><Relationship Id="rId76" Type="http://schemas.openxmlformats.org/officeDocument/2006/relationships/font" Target="fonts/font5.fntdata"/><Relationship Id="rId75" Type="http://schemas.openxmlformats.org/officeDocument/2006/relationships/font" Target="fonts/font4.fntdata"/><Relationship Id="rId74" Type="http://schemas.openxmlformats.org/officeDocument/2006/relationships/font" Target="fonts/font3.fntdata"/><Relationship Id="rId73" Type="http://schemas.openxmlformats.org/officeDocument/2006/relationships/font" Target="fonts/font2.fntdata"/><Relationship Id="rId72" Type="http://schemas.openxmlformats.org/officeDocument/2006/relationships/font" Target="fonts/font1.fntdata"/><Relationship Id="rId71" Type="http://schemas.openxmlformats.org/officeDocument/2006/relationships/commentAuthors" Target="commentAuthors.xml"/><Relationship Id="rId70" Type="http://schemas.openxmlformats.org/officeDocument/2006/relationships/tableStyles" Target="tableStyles.xml"/><Relationship Id="rId7" Type="http://schemas.openxmlformats.org/officeDocument/2006/relationships/slide" Target="slides/slide4.xml"/><Relationship Id="rId69" Type="http://schemas.openxmlformats.org/officeDocument/2006/relationships/viewProps" Target="viewProps.xml"/><Relationship Id="rId68" Type="http://schemas.openxmlformats.org/officeDocument/2006/relationships/presProps" Target="presProps.xml"/><Relationship Id="rId67" Type="http://schemas.openxmlformats.org/officeDocument/2006/relationships/handoutMaster" Target="handoutMasters/handoutMaster1.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notesMaster" Target="notesMasters/notesMaster1.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033BA84-6C1D-4F93-A9F4-04B92CE1945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A8FCAEF-2C49-435D-B9DA-BA0CC419F84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8788"/>
          </a:xfrm>
          <a:prstGeom prst="rect">
            <a:avLst/>
          </a:prstGeom>
          <a:noFill/>
          <a:ln w="9525">
            <a:noFill/>
            <a:miter lim="800000"/>
          </a:ln>
        </p:spPr>
        <p:txBody>
          <a:bodyPr vert="horz" wrap="square" lIns="91440" tIns="45720" rIns="91440" bIns="45720" numCol="1" anchor="t" anchorCtr="0" compatLnSpc="1"/>
          <a:lstStyle>
            <a:lvl1pPr>
              <a:defRPr sz="1200"/>
            </a:lvl1pPr>
          </a:lstStyle>
          <a:p>
            <a:endParaRPr lang="zh-CN" altLang="zh-CN"/>
          </a:p>
        </p:txBody>
      </p:sp>
      <p:sp>
        <p:nvSpPr>
          <p:cNvPr id="2051" name="日期占位符 2"/>
          <p:cNvSpPr>
            <a:spLocks noGrp="1" noChangeArrowheads="1"/>
          </p:cNvSpPr>
          <p:nvPr>
            <p:ph type="dt" idx="1"/>
          </p:nvPr>
        </p:nvSpPr>
        <p:spPr bwMode="auto">
          <a:xfrm>
            <a:off x="3884613" y="0"/>
            <a:ext cx="2971800" cy="458788"/>
          </a:xfrm>
          <a:prstGeom prst="rect">
            <a:avLst/>
          </a:prstGeom>
          <a:noFill/>
          <a:ln w="9525">
            <a:noFill/>
            <a:miter lim="800000"/>
          </a:ln>
        </p:spPr>
        <p:txBody>
          <a:bodyPr vert="horz" wrap="square" lIns="91440" tIns="45720" rIns="91440" bIns="45720" numCol="1" anchor="t" anchorCtr="0" compatLnSpc="1"/>
          <a:lstStyle>
            <a:lvl1pPr algn="r">
              <a:defRPr/>
            </a:lvl1pPr>
          </a:lstStyle>
          <a:p>
            <a:fld id="{9DD59B10-E385-4D3C-A0B0-F174EA9AA91B}"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685800" y="1143000"/>
            <a:ext cx="5486400" cy="3086100"/>
          </a:xfrm>
          <a:prstGeom prst="rect">
            <a:avLst/>
          </a:prstGeom>
          <a:noFill/>
          <a:ln w="12700" cmpd="sng">
            <a:noFill/>
            <a:bevel/>
          </a:ln>
        </p:spPr>
      </p:sp>
      <p:sp>
        <p:nvSpPr>
          <p:cNvPr id="2053" name="备注占位符 4"/>
          <p:cNvSpPr>
            <a:spLocks noGrp="1" noRot="1" noChangeAspect="1" noChangeArrowheads="1"/>
          </p:cNvSpPr>
          <p:nvPr/>
        </p:nvSpPr>
        <p:spPr bwMode="auto">
          <a:xfrm>
            <a:off x="685800" y="4400550"/>
            <a:ext cx="5486400" cy="3600450"/>
          </a:xfrm>
          <a:prstGeom prst="rect">
            <a:avLst/>
          </a:prstGeom>
          <a:noFill/>
          <a:ln w="12700" cmpd="sng">
            <a:noFill/>
            <a:bevel/>
          </a:ln>
        </p:spPr>
        <p:txBody>
          <a:bodyPr anchor="ctr"/>
          <a:lstStyle/>
          <a:p>
            <a:pPr defTabSz="0" eaLnBrk="0" hangingPunct="0">
              <a:spcBef>
                <a:spcPct val="30000"/>
              </a:spcBef>
              <a:buFontTx/>
              <a:buNone/>
            </a:pPr>
            <a:r>
              <a:rPr lang="zh-CN" altLang="en-US" sz="1200"/>
              <a:t>单击此处编辑母版文本样式</a:t>
            </a:r>
            <a:endParaRPr lang="zh-CN" altLang="en-US" sz="1200"/>
          </a:p>
          <a:p>
            <a:pPr defTabSz="0" eaLnBrk="0" hangingPunct="0">
              <a:spcBef>
                <a:spcPct val="30000"/>
              </a:spcBef>
              <a:buFontTx/>
              <a:buNone/>
            </a:pPr>
            <a:r>
              <a:rPr lang="zh-CN" altLang="en-US" sz="1200"/>
              <a:t>第二级</a:t>
            </a:r>
            <a:endParaRPr lang="zh-CN" altLang="en-US" sz="1200"/>
          </a:p>
          <a:p>
            <a:pPr defTabSz="0" eaLnBrk="0" hangingPunct="0">
              <a:spcBef>
                <a:spcPct val="30000"/>
              </a:spcBef>
              <a:buFontTx/>
              <a:buNone/>
            </a:pPr>
            <a:r>
              <a:rPr lang="zh-CN" altLang="en-US" sz="1200"/>
              <a:t>第三级</a:t>
            </a:r>
            <a:endParaRPr lang="zh-CN" altLang="en-US" sz="1200"/>
          </a:p>
          <a:p>
            <a:pPr defTabSz="0" eaLnBrk="0" hangingPunct="0">
              <a:spcBef>
                <a:spcPct val="30000"/>
              </a:spcBef>
              <a:buFontTx/>
              <a:buNone/>
            </a:pPr>
            <a:r>
              <a:rPr lang="zh-CN" altLang="en-US" sz="1200"/>
              <a:t>第四级</a:t>
            </a:r>
            <a:endParaRPr lang="zh-CN" altLang="en-US" sz="1200"/>
          </a:p>
          <a:p>
            <a:pPr defTabSz="0" eaLnBrk="0" hangingPunct="0">
              <a:spcBef>
                <a:spcPct val="30000"/>
              </a:spcBef>
              <a:buFontTx/>
              <a:buNone/>
            </a:pPr>
            <a:r>
              <a:rPr lang="zh-CN" altLang="en-US" sz="1200"/>
              <a:t>第五级</a:t>
            </a:r>
            <a:endParaRPr lang="zh-CN" altLang="en-US" sz="1200"/>
          </a:p>
        </p:txBody>
      </p:sp>
      <p:sp>
        <p:nvSpPr>
          <p:cNvPr id="2054" name="页脚占位符 5"/>
          <p:cNvSpPr>
            <a:spLocks noGrp="1" noChangeArrowheads="1"/>
          </p:cNvSpPr>
          <p:nvPr>
            <p:ph type="ftr" sz="quarter" idx="4"/>
          </p:nvPr>
        </p:nvSpPr>
        <p:spPr bwMode="auto">
          <a:xfrm>
            <a:off x="0" y="8685213"/>
            <a:ext cx="2971800" cy="458787"/>
          </a:xfrm>
          <a:prstGeom prst="rect">
            <a:avLst/>
          </a:prstGeom>
          <a:noFill/>
          <a:ln w="9525">
            <a:noFill/>
            <a:miter lim="800000"/>
          </a:ln>
        </p:spPr>
        <p:txBody>
          <a:bodyPr vert="horz" wrap="square" lIns="91440" tIns="45720" rIns="91440" bIns="45720" numCol="1" anchor="b" anchorCtr="0" compatLnSpc="1"/>
          <a:lstStyle>
            <a:lvl1pPr>
              <a:defRPr sz="1200"/>
            </a:lvl1pPr>
          </a:lstStyle>
          <a:p>
            <a:endParaRPr lang="zh-CN" altLang="zh-CN"/>
          </a:p>
        </p:txBody>
      </p:sp>
      <p:sp>
        <p:nvSpPr>
          <p:cNvPr id="2055" name="灯片编号占位符 6"/>
          <p:cNvSpPr>
            <a:spLocks noGrp="1" noChangeArrowheads="1"/>
          </p:cNvSpPr>
          <p:nvPr>
            <p:ph type="sldNum" sz="quarter" idx="5"/>
          </p:nvPr>
        </p:nvSpPr>
        <p:spPr bwMode="auto">
          <a:xfrm>
            <a:off x="3884613" y="8685213"/>
            <a:ext cx="2971800" cy="458787"/>
          </a:xfrm>
          <a:prstGeom prst="rect">
            <a:avLst/>
          </a:prstGeom>
          <a:noFill/>
          <a:ln w="9525">
            <a:noFill/>
            <a:miter lim="800000"/>
          </a:ln>
        </p:spPr>
        <p:txBody>
          <a:bodyPr vert="horz" wrap="square" lIns="91440" tIns="45720" rIns="91440" bIns="45720" numCol="1" anchor="b" anchorCtr="0" compatLnSpc="1"/>
          <a:lstStyle>
            <a:lvl1pPr algn="r">
              <a:defRPr/>
            </a:lvl1pPr>
          </a:lstStyle>
          <a:p>
            <a:fld id="{79B3A261-A9C9-4EB5-901F-E33BE236AA87}"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日期占位符 2"/>
          <p:cNvSpPr>
            <a:spLocks noGrp="1"/>
          </p:cNvSpPr>
          <p:nvPr>
            <p:ph type="dt" idx="1"/>
          </p:nvPr>
        </p:nvSpPr>
        <p:spPr/>
        <p:txBody>
          <a:bodyPr/>
          <a:p>
            <a:fld id="{9DD59B10-E385-4D3C-A0B0-F174EA9AA91B}" type="datetime1">
              <a:rPr lang="zh-CN" altLang="en-US"/>
            </a:fld>
            <a:endParaRPr lang="zh-CN" altLang="en-US" sz="1200"/>
          </a:p>
        </p:txBody>
      </p:sp>
      <p:sp>
        <p:nvSpPr>
          <p:cNvPr id="4" name="灯片编号占位符 3"/>
          <p:cNvSpPr>
            <a:spLocks noGrp="1"/>
          </p:cNvSpPr>
          <p:nvPr>
            <p:ph type="sldNum" sz="quarter" idx="5"/>
          </p:nvPr>
        </p:nvSpPr>
        <p:spPr/>
        <p:txBody>
          <a:bodyPr/>
          <a:p>
            <a:fld id="{79B3A261-A9C9-4EB5-901F-E33BE236AA87}"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3085" name="文本框 42"/>
          <p:cNvSpPr>
            <a:spLocks noChangeArrowheads="1"/>
          </p:cNvSpPr>
          <p:nvPr userDrawn="1"/>
        </p:nvSpPr>
        <p:spPr bwMode="auto">
          <a:xfrm>
            <a:off x="5067300" y="6322695"/>
            <a:ext cx="2606675" cy="260350"/>
          </a:xfrm>
          <a:prstGeom prst="rect">
            <a:avLst/>
          </a:prstGeom>
          <a:noFill/>
          <a:ln w="9525">
            <a:noFill/>
            <a:miter lim="800000"/>
          </a:ln>
        </p:spPr>
        <p:txBody>
          <a:bodyPr>
            <a:spAutoFit/>
          </a:bodyPr>
          <a:lstStyle/>
          <a:p>
            <a:pPr algn="dist"/>
            <a:r>
              <a:rPr lang="zh-CN" altLang="en-US" sz="11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1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15" name="直接连接符 40"/>
          <p:cNvSpPr>
            <a:spLocks noChangeShapeType="1"/>
          </p:cNvSpPr>
          <p:nvPr userDrawn="1"/>
        </p:nvSpPr>
        <p:spPr bwMode="auto">
          <a:xfrm>
            <a:off x="-7302" y="6426835"/>
            <a:ext cx="4319587" cy="12700"/>
          </a:xfrm>
          <a:prstGeom prst="line">
            <a:avLst/>
          </a:prstGeom>
          <a:noFill/>
          <a:ln w="3175" cap="flat" cmpd="sng">
            <a:solidFill>
              <a:srgbClr val="28A9D6"/>
            </a:solidFill>
            <a:bevel/>
          </a:ln>
        </p:spPr>
        <p:txBody>
          <a:bodyPr/>
          <a:lstStyle/>
          <a:p>
            <a:endParaRPr lang="zh-CN" altLang="en-US"/>
          </a:p>
        </p:txBody>
      </p:sp>
      <p:pic>
        <p:nvPicPr>
          <p:cNvPr id="20" name="图片 19" descr="图片1"/>
          <p:cNvPicPr>
            <a:picLocks noChangeAspect="1"/>
          </p:cNvPicPr>
          <p:nvPr userDrawn="1"/>
        </p:nvPicPr>
        <p:blipFill>
          <a:blip r:embed="rId2"/>
          <a:stretch>
            <a:fillRect/>
          </a:stretch>
        </p:blipFill>
        <p:spPr>
          <a:xfrm>
            <a:off x="4240530" y="6153785"/>
            <a:ext cx="869950" cy="582295"/>
          </a:xfrm>
          <a:prstGeom prst="rect">
            <a:avLst/>
          </a:prstGeom>
        </p:spPr>
      </p:pic>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lstStyle/>
          <a:p>
            <a:pPr algn="ctr"/>
            <a:endParaRPr lang="zh-CN" altLang="zh-CN">
              <a:solidFill>
                <a:srgbClr val="FFFFFF"/>
              </a:solidFill>
            </a:endParaRPr>
          </a:p>
        </p:txBody>
      </p:sp>
      <p:sp>
        <p:nvSpPr>
          <p:cNvPr id="1026" name="灯片编号占位符 3"/>
          <p:cNvSpPr>
            <a:spLocks noGrp="1" noChangeArrowheads="1"/>
          </p:cNvSpPr>
          <p:nvPr>
            <p:ph type="sldNum" sz="quarter" idx="4"/>
          </p:nvPr>
        </p:nvSpPr>
        <p:spPr bwMode="auto">
          <a:xfrm>
            <a:off x="11376025" y="648366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4707255" y="283210"/>
            <a:ext cx="270764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上次回顾</a:t>
            </a:r>
            <a:endPar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2" name="椭圆 24"/>
          <p:cNvSpPr>
            <a:spLocks noChangeArrowheads="1"/>
          </p:cNvSpPr>
          <p:nvPr userDrawn="1"/>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5044440" y="283210"/>
            <a:ext cx="203835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总结</a:t>
            </a:r>
            <a:endPar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10" name="图片 9" descr="SZU讲义封面"/>
          <p:cNvPicPr>
            <a:picLocks noChangeAspect="1"/>
          </p:cNvPicPr>
          <p:nvPr userDrawn="1"/>
        </p:nvPicPr>
        <p:blipFill>
          <a:blip r:embed="rId2"/>
          <a:stretch>
            <a:fillRect/>
          </a:stretch>
        </p:blipFill>
        <p:spPr>
          <a:xfrm>
            <a:off x="0" y="1905"/>
            <a:ext cx="12192000" cy="4400550"/>
          </a:xfrm>
          <a:prstGeom prst="rect">
            <a:avLst/>
          </a:prstGeom>
        </p:spPr>
      </p:pic>
      <p:sp>
        <p:nvSpPr>
          <p:cNvPr id="3075" name="矩形 1"/>
          <p:cNvSpPr>
            <a:spLocks noChangeArrowheads="1"/>
          </p:cNvSpPr>
          <p:nvPr userDrawn="1"/>
        </p:nvSpPr>
        <p:spPr bwMode="auto">
          <a:xfrm>
            <a:off x="635" y="4088765"/>
            <a:ext cx="12192000" cy="824865"/>
          </a:xfrm>
          <a:prstGeom prst="rect">
            <a:avLst/>
          </a:prstGeom>
          <a:solidFill>
            <a:srgbClr val="28A9D6"/>
          </a:solidFill>
          <a:ln w="9525" cmpd="sng">
            <a:noFill/>
            <a:bevel/>
          </a:ln>
        </p:spPr>
        <p:txBody>
          <a:bodyPr lIns="121920" tIns="60960" rIns="121920" bIns="60960" anchor="ctr" anchorCtr="0"/>
          <a:lstStyle/>
          <a:p>
            <a:pPr algn="ctr"/>
            <a:endParaRPr lang="en-US" altLang="zh-CN" sz="3600">
              <a:solidFill>
                <a:srgbClr val="FFFF00"/>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3" name="组合 2"/>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en-US" altLang="zh-CN"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6" name="Picture 3"/>
            <p:cNvPicPr>
              <a:picLocks noChangeAspect="1" noChangeArrowheads="1"/>
            </p:cNvPicPr>
            <p:nvPr userDrawn="1"/>
          </p:nvPicPr>
          <p:blipFill>
            <a:blip r:embed="rId3"/>
            <a:srcRect/>
            <a:stretch>
              <a:fillRect/>
            </a:stretch>
          </p:blipFill>
          <p:spPr bwMode="auto">
            <a:xfrm>
              <a:off x="6934" y="9160"/>
              <a:ext cx="1101" cy="1101"/>
            </a:xfrm>
            <a:prstGeom prst="rect">
              <a:avLst/>
            </a:prstGeom>
            <a:noFill/>
            <a:ln w="9525">
              <a:noFill/>
              <a:miter lim="800000"/>
              <a:headEnd/>
              <a:tailEnd/>
            </a:ln>
            <a:effectLst/>
          </p:spPr>
        </p:pic>
      </p:grpSp>
      <p:grpSp>
        <p:nvGrpSpPr>
          <p:cNvPr id="4" name="组合 3"/>
          <p:cNvGrpSpPr/>
          <p:nvPr userDrawn="1"/>
        </p:nvGrpSpPr>
        <p:grpSpPr>
          <a:xfrm>
            <a:off x="948055" y="5455920"/>
            <a:ext cx="10026650" cy="398780"/>
            <a:chOff x="1493" y="8366"/>
            <a:chExt cx="15790" cy="628"/>
          </a:xfrm>
        </p:grpSpPr>
        <p:sp>
          <p:nvSpPr>
            <p:cNvPr id="7175" name="直接连接符 29"/>
            <p:cNvSpPr/>
            <p:nvPr userDrawn="1"/>
          </p:nvSpPr>
          <p:spPr>
            <a:xfrm>
              <a:off x="1493" y="8671"/>
              <a:ext cx="5983" cy="22"/>
            </a:xfrm>
            <a:prstGeom prst="line">
              <a:avLst/>
            </a:prstGeom>
            <a:ln w="3175" cap="flat" cmpd="sng">
              <a:solidFill>
                <a:srgbClr val="28A9D6"/>
              </a:solidFill>
              <a:prstDash val="solid"/>
              <a:bevel/>
              <a:headEnd type="none" w="med" len="med"/>
              <a:tailEnd type="none" w="med" len="med"/>
            </a:ln>
          </p:spPr>
        </p:sp>
        <p:sp>
          <p:nvSpPr>
            <p:cNvPr id="7178" name="直接连接符 40"/>
            <p:cNvSpPr/>
            <p:nvPr userDrawn="1"/>
          </p:nvSpPr>
          <p:spPr>
            <a:xfrm>
              <a:off x="11671" y="8672"/>
              <a:ext cx="5612" cy="21"/>
            </a:xfrm>
            <a:prstGeom prst="line">
              <a:avLst/>
            </a:prstGeom>
            <a:ln w="3175" cap="flat" cmpd="sng">
              <a:solidFill>
                <a:srgbClr val="28A9D6"/>
              </a:solidFill>
              <a:prstDash val="solid"/>
              <a:bevel/>
              <a:headEnd type="none" w="med" len="med"/>
              <a:tailEnd type="none" w="med" len="med"/>
            </a:ln>
          </p:spPr>
        </p:sp>
        <p:sp>
          <p:nvSpPr>
            <p:cNvPr id="7181" name="TextBox 14"/>
            <p:cNvSpPr txBox="1"/>
            <p:nvPr userDrawn="1"/>
          </p:nvSpPr>
          <p:spPr>
            <a:xfrm>
              <a:off x="8491" y="8366"/>
              <a:ext cx="2479" cy="628"/>
            </a:xfrm>
            <a:prstGeom prst="rect">
              <a:avLst/>
            </a:prstGeom>
            <a:noFill/>
            <a:ln w="9525">
              <a:noFill/>
            </a:ln>
          </p:spPr>
          <p:txBody>
            <a:bodyPr wrap="square" anchor="t">
              <a:spAutoFit/>
            </a:bodyPr>
            <a:p>
              <a:pPr algn="dist"/>
              <a:r>
                <a:rPr lang="zh-CN" altLang="en-US" sz="2000" dirty="0">
                  <a:latin typeface="Tahoma" panose="020B0604030504040204" charset="0"/>
                  <a:ea typeface="宋体" panose="02010600030101010101" pitchFamily="2" charset="-122"/>
                </a:rPr>
                <a:t>主讲白鉴聪</a:t>
              </a:r>
              <a:endParaRPr lang="zh-CN" altLang="en-US" sz="2000" dirty="0">
                <a:latin typeface="Tahoma" panose="020B0604030504040204" charset="0"/>
                <a:ea typeface="宋体" panose="02010600030101010101" pitchFamily="2" charset="-122"/>
              </a:endParaRPr>
            </a:p>
          </p:txBody>
        </p:sp>
      </p:grpSp>
      <p:grpSp>
        <p:nvGrpSpPr>
          <p:cNvPr id="5" name="组合 4"/>
          <p:cNvGrpSpPr/>
          <p:nvPr userDrawn="1"/>
        </p:nvGrpSpPr>
        <p:grpSpPr>
          <a:xfrm>
            <a:off x="1198245" y="5008880"/>
            <a:ext cx="9531350" cy="398780"/>
            <a:chOff x="1868" y="8366"/>
            <a:chExt cx="15010" cy="628"/>
          </a:xfrm>
        </p:grpSpPr>
        <p:sp>
          <p:nvSpPr>
            <p:cNvPr id="7" name="直接连接符 29"/>
            <p:cNvSpPr/>
            <p:nvPr userDrawn="1"/>
          </p:nvSpPr>
          <p:spPr>
            <a:xfrm>
              <a:off x="1868" y="8671"/>
              <a:ext cx="5159" cy="21"/>
            </a:xfrm>
            <a:prstGeom prst="line">
              <a:avLst/>
            </a:prstGeom>
            <a:ln w="3175" cap="flat" cmpd="sng">
              <a:solidFill>
                <a:srgbClr val="28A9D6"/>
              </a:solidFill>
              <a:prstDash val="solid"/>
              <a:bevel/>
              <a:headEnd type="none" w="med" len="med"/>
              <a:tailEnd type="none" w="med" len="med"/>
            </a:ln>
          </p:spPr>
        </p:sp>
        <p:sp>
          <p:nvSpPr>
            <p:cNvPr id="8" name="直接连接符 40"/>
            <p:cNvSpPr/>
            <p:nvPr userDrawn="1"/>
          </p:nvSpPr>
          <p:spPr>
            <a:xfrm>
              <a:off x="11897" y="8692"/>
              <a:ext cx="4981" cy="2"/>
            </a:xfrm>
            <a:prstGeom prst="line">
              <a:avLst/>
            </a:prstGeom>
            <a:ln w="3175" cap="flat" cmpd="sng">
              <a:solidFill>
                <a:srgbClr val="28A9D6"/>
              </a:solidFill>
              <a:prstDash val="solid"/>
              <a:bevel/>
              <a:headEnd type="none" w="med" len="med"/>
              <a:tailEnd type="none" w="med" len="med"/>
            </a:ln>
          </p:spPr>
        </p:sp>
        <p:sp>
          <p:nvSpPr>
            <p:cNvPr id="9" name="TextBox 14"/>
            <p:cNvSpPr txBox="1"/>
            <p:nvPr userDrawn="1"/>
          </p:nvSpPr>
          <p:spPr>
            <a:xfrm>
              <a:off x="7792" y="8366"/>
              <a:ext cx="3621" cy="628"/>
            </a:xfrm>
            <a:prstGeom prst="rect">
              <a:avLst/>
            </a:prstGeom>
            <a:noFill/>
            <a:ln w="9525">
              <a:noFill/>
            </a:ln>
          </p:spPr>
          <p:txBody>
            <a:bodyPr wrap="square" anchor="t">
              <a:spAutoFit/>
            </a:bodyPr>
            <a:p>
              <a:pPr algn="dist"/>
              <a:r>
                <a:rPr lang="zh-CN" altLang="en-US" sz="2000" dirty="0">
                  <a:latin typeface="Tahoma" panose="020B0604030504040204" charset="0"/>
                  <a:ea typeface="宋体" panose="02010600030101010101" pitchFamily="2" charset="-122"/>
                </a:rPr>
                <a:t>数据结构</a:t>
              </a:r>
              <a:endParaRPr lang="zh-CN" altLang="en-US" sz="2000" dirty="0">
                <a:latin typeface="Tahoma" panose="020B0604030504040204" charset="0"/>
                <a:ea typeface="宋体" panose="02010600030101010101" pitchFamily="2" charset="-122"/>
              </a:endParaRPr>
            </a:p>
          </p:txBody>
        </p:sp>
      </p:gr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075" name="矩形 1"/>
          <p:cNvSpPr>
            <a:spLocks noChangeArrowheads="1"/>
          </p:cNvSpPr>
          <p:nvPr userDrawn="1"/>
        </p:nvSpPr>
        <p:spPr bwMode="auto">
          <a:xfrm>
            <a:off x="0" y="4728210"/>
            <a:ext cx="12192000" cy="903605"/>
          </a:xfrm>
          <a:prstGeom prst="rect">
            <a:avLst/>
          </a:prstGeom>
          <a:solidFill>
            <a:srgbClr val="28A9D6"/>
          </a:solidFill>
          <a:ln w="9525" cmpd="sng">
            <a:noFill/>
            <a:bevel/>
          </a:ln>
        </p:spPr>
        <p:txBody>
          <a:bodyPr lIns="121920" tIns="60960" rIns="121920" bIns="60960" anchor="ctr" anchorCtr="0"/>
          <a:lstStyle/>
          <a:p>
            <a:pPr algn="ctr"/>
            <a:r>
              <a:rPr lang="zh-CN" altLang="zh-CN" sz="4000">
                <a:solidFill>
                  <a:srgbClr val="FFFF00"/>
                </a:solidFill>
                <a:latin typeface="宋体" panose="02010600030101010101" pitchFamily="2" charset="-122"/>
                <a:ea typeface="微软雅黑" panose="020B0503020204020204" pitchFamily="34" charset="-122"/>
                <a:sym typeface="宋体" panose="02010600030101010101" pitchFamily="2" charset="-122"/>
              </a:rPr>
              <a:t>谢谢观看</a:t>
            </a:r>
            <a:endParaRPr lang="zh-CN" altLang="zh-CN" sz="4000">
              <a:solidFill>
                <a:srgbClr val="FFFF00"/>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076" name="直接连接符 24"/>
          <p:cNvSpPr>
            <a:spLocks noChangeShapeType="1"/>
          </p:cNvSpPr>
          <p:nvPr userDrawn="1"/>
        </p:nvSpPr>
        <p:spPr bwMode="auto">
          <a:xfrm>
            <a:off x="0" y="5665153"/>
            <a:ext cx="12192000" cy="1587"/>
          </a:xfrm>
          <a:prstGeom prst="line">
            <a:avLst/>
          </a:prstGeom>
          <a:noFill/>
          <a:ln w="19050" cap="flat" cmpd="sng">
            <a:solidFill>
              <a:srgbClr val="28A9D6"/>
            </a:solidFill>
            <a:bevel/>
          </a:ln>
        </p:spPr>
        <p:txBody>
          <a:bodyPr/>
          <a:lstStyle/>
          <a:p>
            <a:endParaRPr lang="zh-CN" altLang="en-US"/>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4" name="组合 3"/>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en-US" altLang="zh-CN"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6" name="Picture 3"/>
            <p:cNvPicPr>
              <a:picLocks noChangeAspect="1" noChangeArrowheads="1"/>
            </p:cNvPicPr>
            <p:nvPr userDrawn="1"/>
          </p:nvPicPr>
          <p:blipFill>
            <a:blip r:embed="rId2"/>
            <a:srcRect/>
            <a:stretch>
              <a:fillRect/>
            </a:stretch>
          </p:blipFill>
          <p:spPr bwMode="auto">
            <a:xfrm>
              <a:off x="6934" y="9160"/>
              <a:ext cx="1101" cy="1101"/>
            </a:xfrm>
            <a:prstGeom prst="rect">
              <a:avLst/>
            </a:prstGeom>
            <a:noFill/>
            <a:ln w="9525">
              <a:noFill/>
              <a:miter lim="800000"/>
              <a:headEnd/>
              <a:tailEnd/>
            </a:ln>
            <a:effectLst/>
          </p:spPr>
        </p:pic>
      </p:grpSp>
      <p:pic>
        <p:nvPicPr>
          <p:cNvPr id="2" name="图片 1" descr="SZU讲义尾页"/>
          <p:cNvPicPr>
            <a:picLocks noChangeAspect="1"/>
          </p:cNvPicPr>
          <p:nvPr userDrawn="1"/>
        </p:nvPicPr>
        <p:blipFill>
          <a:blip r:embed="rId3"/>
          <a:stretch>
            <a:fillRect/>
          </a:stretch>
        </p:blipFill>
        <p:spPr>
          <a:xfrm>
            <a:off x="0" y="-35560"/>
            <a:ext cx="12191365" cy="4763770"/>
          </a:xfrm>
          <a:prstGeom prst="rect">
            <a:avLst/>
          </a:prstGeom>
        </p:spPr>
      </p:pic>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5144135"/>
          </a:xfrm>
        </p:spPr>
        <p:txBody>
          <a:bodyPr/>
          <a:lstStyle>
            <a:lvl1pPr>
              <a:buFont typeface="Wingdings" panose="05000000000000000000" charset="0"/>
              <a:buChar char="l"/>
              <a:defRPr sz="2800">
                <a:sym typeface="宋体" panose="02010600030101010101" pitchFamily="2" charset="-122"/>
              </a:defRPr>
            </a:lvl1pPr>
            <a:lvl2pPr>
              <a:defRPr sz="2400">
                <a:sym typeface="宋体" panose="02010600030101010101" pitchFamily="2" charset="-122"/>
              </a:defRPr>
            </a:lvl2pPr>
            <a:lvl3pPr>
              <a:buFont typeface="Arial" panose="020B0604020202020204" pitchFamily="34" charset="0"/>
              <a:buChar char="•"/>
              <a:defRPr sz="2000">
                <a:sym typeface="宋体" panose="02010600030101010101" pitchFamily="2" charset="-122"/>
              </a:defRPr>
            </a:lvl3pPr>
            <a:lvl4pPr>
              <a:defRPr sz="2000">
                <a:sym typeface="宋体" panose="02010600030101010101" pitchFamily="2" charset="-122"/>
              </a:defRPr>
            </a:lvl4pPr>
            <a:lvl5pPr>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endParaRPr lang="en-US" dirty="0"/>
          </a:p>
        </p:txBody>
      </p:sp>
      <p:sp>
        <p:nvSpPr>
          <p:cNvPr id="7" name="标题 6"/>
          <p:cNvSpPr>
            <a:spLocks noGrp="1"/>
          </p:cNvSpPr>
          <p:nvPr>
            <p:ph type="title"/>
          </p:nvPr>
        </p:nvSpPr>
        <p:spPr>
          <a:xfrm>
            <a:off x="752475" y="150813"/>
            <a:ext cx="10972800" cy="796908"/>
          </a:xfrm>
        </p:spPr>
        <p:txBody>
          <a:bodyPr rtlCol="0"/>
          <a:lstStyle>
            <a:lvl1pPr algn="l">
              <a:defRPr sz="3600">
                <a:sym typeface="宋体" panose="02010600030101010101" pitchFamily="2" charset="-122"/>
              </a:defRPr>
            </a:lvl1pPr>
          </a:lstStyle>
          <a:p>
            <a:r>
              <a:rPr lang="zh-CN" altLang="en-US" smtClean="0"/>
              <a:t>单击此处编辑母版标题样式</a:t>
            </a:r>
            <a:endParaRPr lang="en-US"/>
          </a:p>
        </p:txBody>
      </p:sp>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p>
            <a:pPr algn="ctr"/>
            <a:endParaRPr lang="zh-CN" altLang="zh-CN">
              <a:solidFill>
                <a:srgbClr val="FFFFFF"/>
              </a:solidFill>
            </a:endParaRPr>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p>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34433" y="188913"/>
            <a:ext cx="10972800" cy="792162"/>
          </a:xfrm>
        </p:spPr>
        <p:txBody>
          <a:bodyPr/>
          <a:lstStyle>
            <a:lvl1pPr>
              <a:defRPr>
                <a:sym typeface="宋体" panose="02010600030101010101" pitchFamily="2" charset="-122"/>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31800" y="1268413"/>
            <a:ext cx="5611284"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246284" y="1268413"/>
            <a:ext cx="5611283"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a:xfrm>
            <a:off x="334433" y="6237288"/>
            <a:ext cx="3860800" cy="457200"/>
          </a:xfrm>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rPr>
              <a:t>OS</a:t>
            </a:r>
            <a:endPar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algn="r" eaLnBrk="1" fontAlgn="base" hangingPunct="1"/>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fld>
            <a:endParaRPr lang="en-US" altLang="zh-CN" sz="1200" strike="noStrike" noProof="1" dirty="0">
              <a:latin typeface="Garamond" panose="02020404030301010803"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3085" name="文本框 42"/>
          <p:cNvSpPr>
            <a:spLocks noChangeArrowheads="1"/>
          </p:cNvSpPr>
          <p:nvPr userDrawn="1"/>
        </p:nvSpPr>
        <p:spPr bwMode="auto">
          <a:xfrm>
            <a:off x="5067300" y="6322695"/>
            <a:ext cx="2606675" cy="260350"/>
          </a:xfrm>
          <a:prstGeom prst="rect">
            <a:avLst/>
          </a:prstGeom>
          <a:noFill/>
          <a:ln w="9525">
            <a:noFill/>
            <a:miter lim="800000"/>
          </a:ln>
        </p:spPr>
        <p:txBody>
          <a:bodyPr>
            <a:spAutoFit/>
          </a:bodyPr>
          <a:lstStyle/>
          <a:p>
            <a:pPr algn="dist"/>
            <a:r>
              <a:rPr lang="zh-CN" altLang="en-US" sz="11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1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15" name="直接连接符 40"/>
          <p:cNvSpPr>
            <a:spLocks noChangeShapeType="1"/>
          </p:cNvSpPr>
          <p:nvPr userDrawn="1"/>
        </p:nvSpPr>
        <p:spPr bwMode="auto">
          <a:xfrm>
            <a:off x="-7302" y="6426835"/>
            <a:ext cx="4319587" cy="12700"/>
          </a:xfrm>
          <a:prstGeom prst="line">
            <a:avLst/>
          </a:prstGeom>
          <a:noFill/>
          <a:ln w="3175" cap="flat" cmpd="sng">
            <a:solidFill>
              <a:srgbClr val="28A9D6"/>
            </a:solidFill>
            <a:bevel/>
          </a:ln>
        </p:spPr>
        <p:txBody>
          <a:bodyPr/>
          <a:lstStyle/>
          <a:p>
            <a:endParaRPr lang="zh-CN" altLang="en-US"/>
          </a:p>
        </p:txBody>
      </p:sp>
      <p:pic>
        <p:nvPicPr>
          <p:cNvPr id="20" name="图片 19" descr="图片1"/>
          <p:cNvPicPr>
            <a:picLocks noChangeAspect="1"/>
          </p:cNvPicPr>
          <p:nvPr userDrawn="1"/>
        </p:nvPicPr>
        <p:blipFill>
          <a:blip r:embed="rId2"/>
          <a:stretch>
            <a:fillRect/>
          </a:stretch>
        </p:blipFill>
        <p:spPr>
          <a:xfrm>
            <a:off x="4240530" y="6153785"/>
            <a:ext cx="869950" cy="582295"/>
          </a:xfrm>
          <a:prstGeom prst="rect">
            <a:avLst/>
          </a:prstGeom>
        </p:spPr>
      </p:pic>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lstStyle/>
          <a:p>
            <a:pPr algn="ctr"/>
            <a:endParaRPr lang="zh-CN" altLang="zh-CN">
              <a:solidFill>
                <a:srgbClr val="FFFFFF"/>
              </a:solidFill>
            </a:endParaRPr>
          </a:p>
        </p:txBody>
      </p:sp>
      <p:sp>
        <p:nvSpPr>
          <p:cNvPr id="1026" name="灯片编号占位符 3"/>
          <p:cNvSpPr>
            <a:spLocks noGrp="1" noChangeArrowheads="1"/>
          </p:cNvSpPr>
          <p:nvPr>
            <p:ph type="sldNum" sz="quarter" idx="4"/>
          </p:nvPr>
        </p:nvSpPr>
        <p:spPr bwMode="auto">
          <a:xfrm>
            <a:off x="11376025" y="648366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4707255" y="283210"/>
            <a:ext cx="270764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上次回顾</a:t>
            </a:r>
            <a:endPar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2" name="椭圆 24"/>
          <p:cNvSpPr>
            <a:spLocks noChangeArrowheads="1"/>
          </p:cNvSpPr>
          <p:nvPr userDrawn="1"/>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lstStyle/>
          <a:p>
            <a:endParaRPr lang="zh-CN" altLang="en-US"/>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sp>
        <p:nvSpPr>
          <p:cNvPr id="34" name="文本框 25"/>
          <p:cNvSpPr>
            <a:spLocks noChangeArrowheads="1"/>
          </p:cNvSpPr>
          <p:nvPr userDrawn="1"/>
        </p:nvSpPr>
        <p:spPr bwMode="auto">
          <a:xfrm>
            <a:off x="5044440" y="283210"/>
            <a:ext cx="2038350" cy="645160"/>
          </a:xfrm>
          <a:prstGeom prst="rect">
            <a:avLst/>
          </a:prstGeom>
          <a:noFill/>
          <a:ln w="9525">
            <a:noFill/>
            <a:miter lim="800000"/>
          </a:ln>
        </p:spPr>
        <p:txBody>
          <a:bodyPr wrap="square">
            <a:spAutoFit/>
          </a:bodyPr>
          <a:lstStyle/>
          <a:p>
            <a:pPr algn="dist"/>
            <a:r>
              <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总结</a:t>
            </a:r>
            <a:endParaRPr lang="zh-CN" altLang="en-US" sz="3600" b="1"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3" name="直接连接符 23"/>
          <p:cNvSpPr>
            <a:spLocks noChangeShapeType="1"/>
          </p:cNvSpPr>
          <p:nvPr userDrawn="1"/>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grpSp>
        <p:nvGrpSpPr>
          <p:cNvPr id="33795" name="组合 129"/>
          <p:cNvGrpSpPr/>
          <p:nvPr userDrawn="1"/>
        </p:nvGrpSpPr>
        <p:grpSpPr>
          <a:xfrm>
            <a:off x="3529330" y="264478"/>
            <a:ext cx="615950" cy="584200"/>
            <a:chOff x="2439302" y="2313207"/>
            <a:chExt cx="481033" cy="481033"/>
          </a:xfrm>
        </p:grpSpPr>
        <p:sp>
          <p:nvSpPr>
            <p:cNvPr id="131" name="Oval 351"/>
            <p:cNvSpPr>
              <a:spLocks noChangeArrowheads="1"/>
            </p:cNvSpPr>
            <p:nvPr/>
          </p:nvSpPr>
          <p:spPr bwMode="auto">
            <a:xfrm>
              <a:off x="2439302" y="2313207"/>
              <a:ext cx="481033" cy="481033"/>
            </a:xfrm>
            <a:prstGeom prst="ellipse">
              <a:avLst/>
            </a:prstGeom>
            <a:solidFill>
              <a:srgbClr val="739BE9"/>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2" name="Freeform 352"/>
            <p:cNvSpPr/>
            <p:nvPr/>
          </p:nvSpPr>
          <p:spPr bwMode="auto">
            <a:xfrm>
              <a:off x="2537400" y="2475127"/>
              <a:ext cx="380571" cy="319113"/>
            </a:xfrm>
            <a:custGeom>
              <a:avLst/>
              <a:gdLst>
                <a:gd name="T0" fmla="*/ 138 w 203"/>
                <a:gd name="T1" fmla="*/ 0 h 170"/>
                <a:gd name="T2" fmla="*/ 112 w 203"/>
                <a:gd name="T3" fmla="*/ 27 h 170"/>
                <a:gd name="T4" fmla="*/ 115 w 203"/>
                <a:gd name="T5" fmla="*/ 31 h 170"/>
                <a:gd name="T6" fmla="*/ 0 w 203"/>
                <a:gd name="T7" fmla="*/ 97 h 170"/>
                <a:gd name="T8" fmla="*/ 73 w 203"/>
                <a:gd name="T9" fmla="*/ 170 h 170"/>
                <a:gd name="T10" fmla="*/ 76 w 203"/>
                <a:gd name="T11" fmla="*/ 170 h 170"/>
                <a:gd name="T12" fmla="*/ 203 w 203"/>
                <a:gd name="T13" fmla="*/ 60 h 170"/>
                <a:gd name="T14" fmla="*/ 152 w 203"/>
                <a:gd name="T15" fmla="*/ 9 h 170"/>
                <a:gd name="T16" fmla="*/ 149 w 203"/>
                <a:gd name="T17" fmla="*/ 11 h 170"/>
                <a:gd name="T18" fmla="*/ 138 w 203"/>
                <a:gd name="T19" fmla="*/ 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170">
                  <a:moveTo>
                    <a:pt x="138" y="0"/>
                  </a:moveTo>
                  <a:cubicBezTo>
                    <a:pt x="112" y="27"/>
                    <a:pt x="112" y="27"/>
                    <a:pt x="112" y="27"/>
                  </a:cubicBezTo>
                  <a:cubicBezTo>
                    <a:pt x="115" y="31"/>
                    <a:pt x="115" y="31"/>
                    <a:pt x="115" y="31"/>
                  </a:cubicBezTo>
                  <a:cubicBezTo>
                    <a:pt x="0" y="97"/>
                    <a:pt x="0" y="97"/>
                    <a:pt x="0" y="97"/>
                  </a:cubicBezTo>
                  <a:cubicBezTo>
                    <a:pt x="73" y="170"/>
                    <a:pt x="73" y="170"/>
                    <a:pt x="73" y="170"/>
                  </a:cubicBezTo>
                  <a:cubicBezTo>
                    <a:pt x="74" y="170"/>
                    <a:pt x="75" y="170"/>
                    <a:pt x="76" y="170"/>
                  </a:cubicBezTo>
                  <a:cubicBezTo>
                    <a:pt x="141" y="170"/>
                    <a:pt x="194" y="122"/>
                    <a:pt x="203" y="60"/>
                  </a:cubicBezTo>
                  <a:cubicBezTo>
                    <a:pt x="152" y="9"/>
                    <a:pt x="152" y="9"/>
                    <a:pt x="152" y="9"/>
                  </a:cubicBezTo>
                  <a:cubicBezTo>
                    <a:pt x="149" y="11"/>
                    <a:pt x="149" y="11"/>
                    <a:pt x="149" y="11"/>
                  </a:cubicBezTo>
                  <a:lnTo>
                    <a:pt x="138" y="0"/>
                  </a:lnTo>
                  <a:close/>
                </a:path>
              </a:pathLst>
            </a:custGeom>
            <a:solidFill>
              <a:srgbClr val="6188D8"/>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3" name="Rectangle 353"/>
            <p:cNvSpPr>
              <a:spLocks noChangeArrowheads="1"/>
            </p:cNvSpPr>
            <p:nvPr/>
          </p:nvSpPr>
          <p:spPr bwMode="auto">
            <a:xfrm>
              <a:off x="2537400" y="2491674"/>
              <a:ext cx="284838" cy="165466"/>
            </a:xfrm>
            <a:prstGeom prst="rect">
              <a:avLst/>
            </a:prstGeom>
            <a:solidFill>
              <a:srgbClr val="505A6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4" name="Freeform 354"/>
            <p:cNvSpPr/>
            <p:nvPr/>
          </p:nvSpPr>
          <p:spPr bwMode="auto">
            <a:xfrm>
              <a:off x="2563402" y="2471582"/>
              <a:ext cx="232834" cy="200923"/>
            </a:xfrm>
            <a:custGeom>
              <a:avLst/>
              <a:gdLst>
                <a:gd name="T0" fmla="*/ 124 w 124"/>
                <a:gd name="T1" fmla="*/ 93 h 107"/>
                <a:gd name="T2" fmla="*/ 124 w 124"/>
                <a:gd name="T3" fmla="*/ 2 h 107"/>
                <a:gd name="T4" fmla="*/ 114 w 124"/>
                <a:gd name="T5" fmla="*/ 1 h 107"/>
                <a:gd name="T6" fmla="*/ 104 w 124"/>
                <a:gd name="T7" fmla="*/ 0 h 107"/>
                <a:gd name="T8" fmla="*/ 79 w 124"/>
                <a:gd name="T9" fmla="*/ 4 h 107"/>
                <a:gd name="T10" fmla="*/ 62 w 124"/>
                <a:gd name="T11" fmla="*/ 10 h 107"/>
                <a:gd name="T12" fmla="*/ 45 w 124"/>
                <a:gd name="T13" fmla="*/ 4 h 107"/>
                <a:gd name="T14" fmla="*/ 20 w 124"/>
                <a:gd name="T15" fmla="*/ 0 h 107"/>
                <a:gd name="T16" fmla="*/ 10 w 124"/>
                <a:gd name="T17" fmla="*/ 1 h 107"/>
                <a:gd name="T18" fmla="*/ 0 w 124"/>
                <a:gd name="T19" fmla="*/ 2 h 107"/>
                <a:gd name="T20" fmla="*/ 0 w 124"/>
                <a:gd name="T21" fmla="*/ 93 h 107"/>
                <a:gd name="T22" fmla="*/ 48 w 124"/>
                <a:gd name="T23" fmla="*/ 99 h 107"/>
                <a:gd name="T24" fmla="*/ 62 w 124"/>
                <a:gd name="T25" fmla="*/ 107 h 107"/>
                <a:gd name="T26" fmla="*/ 76 w 124"/>
                <a:gd name="T27" fmla="*/ 99 h 107"/>
                <a:gd name="T28" fmla="*/ 124 w 124"/>
                <a:gd name="T29" fmla="*/ 9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4" h="107">
                  <a:moveTo>
                    <a:pt x="124" y="93"/>
                  </a:moveTo>
                  <a:cubicBezTo>
                    <a:pt x="124" y="2"/>
                    <a:pt x="124" y="2"/>
                    <a:pt x="124" y="2"/>
                  </a:cubicBezTo>
                  <a:cubicBezTo>
                    <a:pt x="114" y="1"/>
                    <a:pt x="114" y="1"/>
                    <a:pt x="114" y="1"/>
                  </a:cubicBezTo>
                  <a:cubicBezTo>
                    <a:pt x="111" y="1"/>
                    <a:pt x="107" y="0"/>
                    <a:pt x="104" y="0"/>
                  </a:cubicBezTo>
                  <a:cubicBezTo>
                    <a:pt x="95" y="0"/>
                    <a:pt x="87" y="1"/>
                    <a:pt x="79" y="4"/>
                  </a:cubicBezTo>
                  <a:cubicBezTo>
                    <a:pt x="73" y="5"/>
                    <a:pt x="67" y="7"/>
                    <a:pt x="62" y="10"/>
                  </a:cubicBezTo>
                  <a:cubicBezTo>
                    <a:pt x="57" y="7"/>
                    <a:pt x="51" y="5"/>
                    <a:pt x="45" y="4"/>
                  </a:cubicBezTo>
                  <a:cubicBezTo>
                    <a:pt x="37" y="1"/>
                    <a:pt x="29" y="0"/>
                    <a:pt x="20" y="0"/>
                  </a:cubicBezTo>
                  <a:cubicBezTo>
                    <a:pt x="17" y="0"/>
                    <a:pt x="13" y="1"/>
                    <a:pt x="10" y="1"/>
                  </a:cubicBezTo>
                  <a:cubicBezTo>
                    <a:pt x="0" y="2"/>
                    <a:pt x="0" y="2"/>
                    <a:pt x="0" y="2"/>
                  </a:cubicBezTo>
                  <a:cubicBezTo>
                    <a:pt x="0" y="93"/>
                    <a:pt x="0" y="93"/>
                    <a:pt x="0" y="93"/>
                  </a:cubicBezTo>
                  <a:cubicBezTo>
                    <a:pt x="48" y="99"/>
                    <a:pt x="48" y="99"/>
                    <a:pt x="48" y="99"/>
                  </a:cubicBezTo>
                  <a:cubicBezTo>
                    <a:pt x="51" y="100"/>
                    <a:pt x="62" y="107"/>
                    <a:pt x="62" y="107"/>
                  </a:cubicBezTo>
                  <a:cubicBezTo>
                    <a:pt x="62" y="107"/>
                    <a:pt x="73" y="100"/>
                    <a:pt x="76" y="99"/>
                  </a:cubicBezTo>
                  <a:cubicBezTo>
                    <a:pt x="76" y="99"/>
                    <a:pt x="102" y="91"/>
                    <a:pt x="124" y="93"/>
                  </a:cubicBezTo>
                  <a:close/>
                </a:path>
              </a:pathLst>
            </a:custGeom>
            <a:solidFill>
              <a:srgbClr val="F5F7FA"/>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sp>
          <p:nvSpPr>
            <p:cNvPr id="135" name="Freeform 355"/>
            <p:cNvSpPr/>
            <p:nvPr/>
          </p:nvSpPr>
          <p:spPr bwMode="auto">
            <a:xfrm>
              <a:off x="2668591" y="2484583"/>
              <a:ext cx="22456" cy="187922"/>
            </a:xfrm>
            <a:custGeom>
              <a:avLst/>
              <a:gdLst>
                <a:gd name="T0" fmla="*/ 0 w 12"/>
                <a:gd name="T1" fmla="*/ 96 h 100"/>
                <a:gd name="T2" fmla="*/ 6 w 12"/>
                <a:gd name="T3" fmla="*/ 100 h 100"/>
                <a:gd name="T4" fmla="*/ 12 w 12"/>
                <a:gd name="T5" fmla="*/ 96 h 100"/>
                <a:gd name="T6" fmla="*/ 12 w 12"/>
                <a:gd name="T7" fmla="*/ 0 h 100"/>
                <a:gd name="T8" fmla="*/ 6 w 12"/>
                <a:gd name="T9" fmla="*/ 3 h 100"/>
                <a:gd name="T10" fmla="*/ 0 w 12"/>
                <a:gd name="T11" fmla="*/ 0 h 100"/>
                <a:gd name="T12" fmla="*/ 0 w 12"/>
                <a:gd name="T13" fmla="*/ 96 h 100"/>
              </a:gdLst>
              <a:ahLst/>
              <a:cxnLst>
                <a:cxn ang="0">
                  <a:pos x="T0" y="T1"/>
                </a:cxn>
                <a:cxn ang="0">
                  <a:pos x="T2" y="T3"/>
                </a:cxn>
                <a:cxn ang="0">
                  <a:pos x="T4" y="T5"/>
                </a:cxn>
                <a:cxn ang="0">
                  <a:pos x="T6" y="T7"/>
                </a:cxn>
                <a:cxn ang="0">
                  <a:pos x="T8" y="T9"/>
                </a:cxn>
                <a:cxn ang="0">
                  <a:pos x="T10" y="T11"/>
                </a:cxn>
                <a:cxn ang="0">
                  <a:pos x="T12" y="T13"/>
                </a:cxn>
              </a:cxnLst>
              <a:rect l="0" t="0" r="r" b="b"/>
              <a:pathLst>
                <a:path w="12" h="100">
                  <a:moveTo>
                    <a:pt x="0" y="96"/>
                  </a:moveTo>
                  <a:cubicBezTo>
                    <a:pt x="3" y="98"/>
                    <a:pt x="6" y="100"/>
                    <a:pt x="6" y="100"/>
                  </a:cubicBezTo>
                  <a:cubicBezTo>
                    <a:pt x="6" y="100"/>
                    <a:pt x="9" y="98"/>
                    <a:pt x="12" y="96"/>
                  </a:cubicBezTo>
                  <a:cubicBezTo>
                    <a:pt x="12" y="0"/>
                    <a:pt x="12" y="0"/>
                    <a:pt x="12" y="0"/>
                  </a:cubicBezTo>
                  <a:cubicBezTo>
                    <a:pt x="10" y="1"/>
                    <a:pt x="8" y="2"/>
                    <a:pt x="6" y="3"/>
                  </a:cubicBezTo>
                  <a:cubicBezTo>
                    <a:pt x="4" y="2"/>
                    <a:pt x="2" y="1"/>
                    <a:pt x="0" y="0"/>
                  </a:cubicBezTo>
                  <a:lnTo>
                    <a:pt x="0" y="96"/>
                  </a:lnTo>
                  <a:close/>
                </a:path>
              </a:pathLst>
            </a:custGeom>
            <a:solidFill>
              <a:srgbClr val="E6E8EC"/>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35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linds(horizont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pic>
        <p:nvPicPr>
          <p:cNvPr id="10" name="图片 9" descr="SZU讲义封面"/>
          <p:cNvPicPr>
            <a:picLocks noChangeAspect="1"/>
          </p:cNvPicPr>
          <p:nvPr userDrawn="1"/>
        </p:nvPicPr>
        <p:blipFill>
          <a:blip r:embed="rId2"/>
          <a:stretch>
            <a:fillRect/>
          </a:stretch>
        </p:blipFill>
        <p:spPr>
          <a:xfrm>
            <a:off x="0" y="1905"/>
            <a:ext cx="12192000" cy="4400550"/>
          </a:xfrm>
          <a:prstGeom prst="rect">
            <a:avLst/>
          </a:prstGeom>
        </p:spPr>
      </p:pic>
      <p:sp>
        <p:nvSpPr>
          <p:cNvPr id="3075" name="矩形 1"/>
          <p:cNvSpPr>
            <a:spLocks noChangeArrowheads="1"/>
          </p:cNvSpPr>
          <p:nvPr userDrawn="1"/>
        </p:nvSpPr>
        <p:spPr bwMode="auto">
          <a:xfrm>
            <a:off x="635" y="4088765"/>
            <a:ext cx="12192000" cy="824865"/>
          </a:xfrm>
          <a:prstGeom prst="rect">
            <a:avLst/>
          </a:prstGeom>
          <a:solidFill>
            <a:srgbClr val="28A9D6"/>
          </a:solidFill>
          <a:ln w="9525" cmpd="sng">
            <a:noFill/>
            <a:bevel/>
          </a:ln>
        </p:spPr>
        <p:txBody>
          <a:bodyPr lIns="121920" tIns="60960" rIns="121920" bIns="60960" anchor="ctr" anchorCtr="0"/>
          <a:lstStyle/>
          <a:p>
            <a:pPr algn="ctr"/>
            <a:endParaRPr lang="en-US" altLang="zh-CN" sz="3600">
              <a:solidFill>
                <a:srgbClr val="FFFF00"/>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3" name="组合 2"/>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en-US" altLang="zh-CN"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6" name="Picture 3"/>
            <p:cNvPicPr>
              <a:picLocks noChangeAspect="1" noChangeArrowheads="1"/>
            </p:cNvPicPr>
            <p:nvPr userDrawn="1"/>
          </p:nvPicPr>
          <p:blipFill>
            <a:blip r:embed="rId3"/>
            <a:srcRect/>
            <a:stretch>
              <a:fillRect/>
            </a:stretch>
          </p:blipFill>
          <p:spPr bwMode="auto">
            <a:xfrm>
              <a:off x="6934" y="9160"/>
              <a:ext cx="1101" cy="1101"/>
            </a:xfrm>
            <a:prstGeom prst="rect">
              <a:avLst/>
            </a:prstGeom>
            <a:noFill/>
            <a:ln w="9525">
              <a:noFill/>
              <a:miter lim="800000"/>
              <a:headEnd/>
              <a:tailEnd/>
            </a:ln>
            <a:effectLst/>
          </p:spPr>
        </p:pic>
      </p:grpSp>
      <p:grpSp>
        <p:nvGrpSpPr>
          <p:cNvPr id="4" name="组合 3"/>
          <p:cNvGrpSpPr/>
          <p:nvPr userDrawn="1"/>
        </p:nvGrpSpPr>
        <p:grpSpPr>
          <a:xfrm>
            <a:off x="948055" y="5455920"/>
            <a:ext cx="10026650" cy="398780"/>
            <a:chOff x="1493" y="8366"/>
            <a:chExt cx="15790" cy="628"/>
          </a:xfrm>
        </p:grpSpPr>
        <p:sp>
          <p:nvSpPr>
            <p:cNvPr id="7175" name="直接连接符 29"/>
            <p:cNvSpPr/>
            <p:nvPr userDrawn="1"/>
          </p:nvSpPr>
          <p:spPr>
            <a:xfrm>
              <a:off x="1493" y="8671"/>
              <a:ext cx="5983" cy="22"/>
            </a:xfrm>
            <a:prstGeom prst="line">
              <a:avLst/>
            </a:prstGeom>
            <a:ln w="3175" cap="flat" cmpd="sng">
              <a:solidFill>
                <a:srgbClr val="28A9D6"/>
              </a:solidFill>
              <a:prstDash val="solid"/>
              <a:bevel/>
              <a:headEnd type="none" w="med" len="med"/>
              <a:tailEnd type="none" w="med" len="med"/>
            </a:ln>
          </p:spPr>
        </p:sp>
        <p:sp>
          <p:nvSpPr>
            <p:cNvPr id="7178" name="直接连接符 40"/>
            <p:cNvSpPr/>
            <p:nvPr userDrawn="1"/>
          </p:nvSpPr>
          <p:spPr>
            <a:xfrm>
              <a:off x="11671" y="8672"/>
              <a:ext cx="5612" cy="21"/>
            </a:xfrm>
            <a:prstGeom prst="line">
              <a:avLst/>
            </a:prstGeom>
            <a:ln w="3175" cap="flat" cmpd="sng">
              <a:solidFill>
                <a:srgbClr val="28A9D6"/>
              </a:solidFill>
              <a:prstDash val="solid"/>
              <a:bevel/>
              <a:headEnd type="none" w="med" len="med"/>
              <a:tailEnd type="none" w="med" len="med"/>
            </a:ln>
          </p:spPr>
        </p:sp>
        <p:sp>
          <p:nvSpPr>
            <p:cNvPr id="7181" name="TextBox 14"/>
            <p:cNvSpPr txBox="1"/>
            <p:nvPr userDrawn="1"/>
          </p:nvSpPr>
          <p:spPr>
            <a:xfrm>
              <a:off x="8491" y="8366"/>
              <a:ext cx="2479" cy="628"/>
            </a:xfrm>
            <a:prstGeom prst="rect">
              <a:avLst/>
            </a:prstGeom>
            <a:noFill/>
            <a:ln w="9525">
              <a:noFill/>
            </a:ln>
          </p:spPr>
          <p:txBody>
            <a:bodyPr wrap="square" anchor="t">
              <a:spAutoFit/>
            </a:bodyPr>
            <a:p>
              <a:pPr algn="dist"/>
              <a:r>
                <a:rPr lang="zh-CN" altLang="en-US" sz="2000" dirty="0">
                  <a:latin typeface="Tahoma" panose="020B0604030504040204" charset="0"/>
                  <a:ea typeface="宋体" panose="02010600030101010101" pitchFamily="2" charset="-122"/>
                </a:rPr>
                <a:t>主讲白鉴聪</a:t>
              </a:r>
              <a:endParaRPr lang="zh-CN" altLang="en-US" sz="2000" dirty="0">
                <a:latin typeface="Tahoma" panose="020B0604030504040204" charset="0"/>
                <a:ea typeface="宋体" panose="02010600030101010101" pitchFamily="2" charset="-122"/>
              </a:endParaRPr>
            </a:p>
          </p:txBody>
        </p:sp>
      </p:grpSp>
      <p:grpSp>
        <p:nvGrpSpPr>
          <p:cNvPr id="5" name="组合 4"/>
          <p:cNvGrpSpPr/>
          <p:nvPr userDrawn="1"/>
        </p:nvGrpSpPr>
        <p:grpSpPr>
          <a:xfrm>
            <a:off x="1198245" y="5008880"/>
            <a:ext cx="9531350" cy="398780"/>
            <a:chOff x="1868" y="8366"/>
            <a:chExt cx="15010" cy="628"/>
          </a:xfrm>
        </p:grpSpPr>
        <p:sp>
          <p:nvSpPr>
            <p:cNvPr id="7" name="直接连接符 29"/>
            <p:cNvSpPr/>
            <p:nvPr userDrawn="1"/>
          </p:nvSpPr>
          <p:spPr>
            <a:xfrm>
              <a:off x="1868" y="8671"/>
              <a:ext cx="5159" cy="21"/>
            </a:xfrm>
            <a:prstGeom prst="line">
              <a:avLst/>
            </a:prstGeom>
            <a:ln w="3175" cap="flat" cmpd="sng">
              <a:solidFill>
                <a:srgbClr val="28A9D6"/>
              </a:solidFill>
              <a:prstDash val="solid"/>
              <a:bevel/>
              <a:headEnd type="none" w="med" len="med"/>
              <a:tailEnd type="none" w="med" len="med"/>
            </a:ln>
          </p:spPr>
        </p:sp>
        <p:sp>
          <p:nvSpPr>
            <p:cNvPr id="8" name="直接连接符 40"/>
            <p:cNvSpPr/>
            <p:nvPr userDrawn="1"/>
          </p:nvSpPr>
          <p:spPr>
            <a:xfrm>
              <a:off x="11897" y="8692"/>
              <a:ext cx="4981" cy="2"/>
            </a:xfrm>
            <a:prstGeom prst="line">
              <a:avLst/>
            </a:prstGeom>
            <a:ln w="3175" cap="flat" cmpd="sng">
              <a:solidFill>
                <a:srgbClr val="28A9D6"/>
              </a:solidFill>
              <a:prstDash val="solid"/>
              <a:bevel/>
              <a:headEnd type="none" w="med" len="med"/>
              <a:tailEnd type="none" w="med" len="med"/>
            </a:ln>
          </p:spPr>
        </p:sp>
        <p:sp>
          <p:nvSpPr>
            <p:cNvPr id="9" name="TextBox 14"/>
            <p:cNvSpPr txBox="1"/>
            <p:nvPr userDrawn="1"/>
          </p:nvSpPr>
          <p:spPr>
            <a:xfrm>
              <a:off x="7792" y="8366"/>
              <a:ext cx="3621" cy="628"/>
            </a:xfrm>
            <a:prstGeom prst="rect">
              <a:avLst/>
            </a:prstGeom>
            <a:noFill/>
            <a:ln w="9525">
              <a:noFill/>
            </a:ln>
          </p:spPr>
          <p:txBody>
            <a:bodyPr wrap="square" anchor="t">
              <a:spAutoFit/>
            </a:bodyPr>
            <a:p>
              <a:pPr algn="dist"/>
              <a:r>
                <a:rPr lang="zh-CN" altLang="en-US" sz="2000" dirty="0">
                  <a:latin typeface="Tahoma" panose="020B0604030504040204" charset="0"/>
                  <a:ea typeface="宋体" panose="02010600030101010101" pitchFamily="2" charset="-122"/>
                </a:rPr>
                <a:t>数据结构</a:t>
              </a:r>
              <a:endParaRPr lang="zh-CN" altLang="en-US" sz="2000" dirty="0">
                <a:latin typeface="Tahoma" panose="020B0604030504040204" charset="0"/>
                <a:ea typeface="宋体" panose="02010600030101010101" pitchFamily="2" charset="-122"/>
              </a:endParaRPr>
            </a:p>
          </p:txBody>
        </p:sp>
      </p:gr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3075" name="矩形 1"/>
          <p:cNvSpPr>
            <a:spLocks noChangeArrowheads="1"/>
          </p:cNvSpPr>
          <p:nvPr userDrawn="1"/>
        </p:nvSpPr>
        <p:spPr bwMode="auto">
          <a:xfrm>
            <a:off x="0" y="4728210"/>
            <a:ext cx="12192000" cy="903605"/>
          </a:xfrm>
          <a:prstGeom prst="rect">
            <a:avLst/>
          </a:prstGeom>
          <a:solidFill>
            <a:srgbClr val="28A9D6"/>
          </a:solidFill>
          <a:ln w="9525" cmpd="sng">
            <a:noFill/>
            <a:bevel/>
          </a:ln>
        </p:spPr>
        <p:txBody>
          <a:bodyPr lIns="121920" tIns="60960" rIns="121920" bIns="60960" anchor="ctr" anchorCtr="0"/>
          <a:lstStyle/>
          <a:p>
            <a:pPr algn="ctr"/>
            <a:r>
              <a:rPr lang="zh-CN" altLang="zh-CN" sz="4000">
                <a:solidFill>
                  <a:srgbClr val="FFFF00"/>
                </a:solidFill>
                <a:latin typeface="宋体" panose="02010600030101010101" pitchFamily="2" charset="-122"/>
                <a:ea typeface="微软雅黑" panose="020B0503020204020204" pitchFamily="34" charset="-122"/>
                <a:sym typeface="宋体" panose="02010600030101010101" pitchFamily="2" charset="-122"/>
              </a:rPr>
              <a:t>谢谢观看</a:t>
            </a:r>
            <a:endParaRPr lang="zh-CN" altLang="zh-CN" sz="4000">
              <a:solidFill>
                <a:srgbClr val="FFFF00"/>
              </a:solidFill>
              <a:latin typeface="宋体" panose="02010600030101010101" pitchFamily="2" charset="-122"/>
              <a:ea typeface="微软雅黑" panose="020B0503020204020204" pitchFamily="34" charset="-122"/>
              <a:sym typeface="宋体" panose="02010600030101010101" pitchFamily="2" charset="-122"/>
            </a:endParaRPr>
          </a:p>
        </p:txBody>
      </p:sp>
      <p:sp>
        <p:nvSpPr>
          <p:cNvPr id="3076" name="直接连接符 24"/>
          <p:cNvSpPr>
            <a:spLocks noChangeShapeType="1"/>
          </p:cNvSpPr>
          <p:nvPr userDrawn="1"/>
        </p:nvSpPr>
        <p:spPr bwMode="auto">
          <a:xfrm>
            <a:off x="0" y="5665153"/>
            <a:ext cx="12192000" cy="1587"/>
          </a:xfrm>
          <a:prstGeom prst="line">
            <a:avLst/>
          </a:prstGeom>
          <a:noFill/>
          <a:ln w="19050" cap="flat" cmpd="sng">
            <a:solidFill>
              <a:srgbClr val="28A9D6"/>
            </a:solidFill>
            <a:bevel/>
          </a:ln>
        </p:spPr>
        <p:txBody>
          <a:bodyPr/>
          <a:lstStyle/>
          <a:p>
            <a:endParaRPr lang="zh-CN" altLang="en-US"/>
          </a:p>
        </p:txBody>
      </p:sp>
      <p:sp>
        <p:nvSpPr>
          <p:cNvPr id="3078" name="直接连接符 27"/>
          <p:cNvSpPr>
            <a:spLocks noChangeShapeType="1"/>
          </p:cNvSpPr>
          <p:nvPr userDrawn="1"/>
        </p:nvSpPr>
        <p:spPr bwMode="auto">
          <a:xfrm>
            <a:off x="0" y="6087428"/>
            <a:ext cx="4319588" cy="12700"/>
          </a:xfrm>
          <a:prstGeom prst="line">
            <a:avLst/>
          </a:prstGeom>
          <a:noFill/>
          <a:ln w="3175" cap="flat" cmpd="sng">
            <a:solidFill>
              <a:srgbClr val="28A9D6"/>
            </a:solidFill>
            <a:bevel/>
          </a:ln>
        </p:spPr>
        <p:txBody>
          <a:bodyPr/>
          <a:lstStyle/>
          <a:p>
            <a:endParaRPr lang="zh-CN" altLang="en-US"/>
          </a:p>
        </p:txBody>
      </p:sp>
      <p:sp>
        <p:nvSpPr>
          <p:cNvPr id="3079" name="直接连接符 29"/>
          <p:cNvSpPr>
            <a:spLocks noChangeShapeType="1"/>
          </p:cNvSpPr>
          <p:nvPr userDrawn="1"/>
        </p:nvSpPr>
        <p:spPr bwMode="auto">
          <a:xfrm>
            <a:off x="0" y="6152515"/>
            <a:ext cx="4319588" cy="12700"/>
          </a:xfrm>
          <a:prstGeom prst="line">
            <a:avLst/>
          </a:prstGeom>
          <a:noFill/>
          <a:ln w="3175" cap="flat" cmpd="sng">
            <a:solidFill>
              <a:srgbClr val="28A9D6"/>
            </a:solidFill>
            <a:bevel/>
          </a:ln>
        </p:spPr>
        <p:txBody>
          <a:bodyPr/>
          <a:lstStyle/>
          <a:p>
            <a:endParaRPr lang="zh-CN" altLang="en-US"/>
          </a:p>
        </p:txBody>
      </p:sp>
      <p:sp>
        <p:nvSpPr>
          <p:cNvPr id="3080" name="直接连接符 31"/>
          <p:cNvSpPr>
            <a:spLocks noChangeShapeType="1"/>
          </p:cNvSpPr>
          <p:nvPr userDrawn="1"/>
        </p:nvSpPr>
        <p:spPr bwMode="auto">
          <a:xfrm>
            <a:off x="0" y="6219190"/>
            <a:ext cx="4319588" cy="12700"/>
          </a:xfrm>
          <a:prstGeom prst="line">
            <a:avLst/>
          </a:prstGeom>
          <a:noFill/>
          <a:ln w="3175" cap="flat" cmpd="sng">
            <a:solidFill>
              <a:srgbClr val="28A9D6"/>
            </a:solidFill>
            <a:bevel/>
          </a:ln>
        </p:spPr>
        <p:txBody>
          <a:bodyPr/>
          <a:lstStyle/>
          <a:p>
            <a:endParaRPr lang="zh-CN" altLang="en-US"/>
          </a:p>
        </p:txBody>
      </p:sp>
      <p:sp>
        <p:nvSpPr>
          <p:cNvPr id="3081" name="直接连接符 39"/>
          <p:cNvSpPr>
            <a:spLocks noChangeShapeType="1"/>
          </p:cNvSpPr>
          <p:nvPr userDrawn="1"/>
        </p:nvSpPr>
        <p:spPr bwMode="auto">
          <a:xfrm>
            <a:off x="7872413" y="6087428"/>
            <a:ext cx="4319587" cy="12700"/>
          </a:xfrm>
          <a:prstGeom prst="line">
            <a:avLst/>
          </a:prstGeom>
          <a:noFill/>
          <a:ln w="3175" cap="flat" cmpd="sng">
            <a:solidFill>
              <a:srgbClr val="28A9D6"/>
            </a:solidFill>
            <a:bevel/>
          </a:ln>
        </p:spPr>
        <p:txBody>
          <a:bodyPr/>
          <a:lstStyle/>
          <a:p>
            <a:endParaRPr lang="zh-CN" altLang="en-US"/>
          </a:p>
        </p:txBody>
      </p:sp>
      <p:sp>
        <p:nvSpPr>
          <p:cNvPr id="3082" name="直接连接符 40"/>
          <p:cNvSpPr>
            <a:spLocks noChangeShapeType="1"/>
          </p:cNvSpPr>
          <p:nvPr userDrawn="1"/>
        </p:nvSpPr>
        <p:spPr bwMode="auto">
          <a:xfrm>
            <a:off x="7872413" y="6152515"/>
            <a:ext cx="4319587" cy="12700"/>
          </a:xfrm>
          <a:prstGeom prst="line">
            <a:avLst/>
          </a:prstGeom>
          <a:noFill/>
          <a:ln w="3175" cap="flat" cmpd="sng">
            <a:solidFill>
              <a:srgbClr val="28A9D6"/>
            </a:solidFill>
            <a:bevel/>
          </a:ln>
        </p:spPr>
        <p:txBody>
          <a:bodyPr/>
          <a:lstStyle/>
          <a:p>
            <a:endParaRPr lang="zh-CN" altLang="en-US"/>
          </a:p>
        </p:txBody>
      </p:sp>
      <p:sp>
        <p:nvSpPr>
          <p:cNvPr id="3083" name="直接连接符 41"/>
          <p:cNvSpPr>
            <a:spLocks noChangeShapeType="1"/>
          </p:cNvSpPr>
          <p:nvPr userDrawn="1"/>
        </p:nvSpPr>
        <p:spPr bwMode="auto">
          <a:xfrm>
            <a:off x="7872413" y="6219190"/>
            <a:ext cx="4319587" cy="12700"/>
          </a:xfrm>
          <a:prstGeom prst="line">
            <a:avLst/>
          </a:prstGeom>
          <a:noFill/>
          <a:ln w="3175" cap="flat" cmpd="sng">
            <a:solidFill>
              <a:srgbClr val="28A9D6"/>
            </a:solidFill>
            <a:bevel/>
          </a:ln>
        </p:spPr>
        <p:txBody>
          <a:bodyPr/>
          <a:lstStyle/>
          <a:p>
            <a:endParaRPr lang="zh-CN" altLang="en-US"/>
          </a:p>
        </p:txBody>
      </p:sp>
      <p:grpSp>
        <p:nvGrpSpPr>
          <p:cNvPr id="4" name="组合 3"/>
          <p:cNvGrpSpPr/>
          <p:nvPr userDrawn="1"/>
        </p:nvGrpSpPr>
        <p:grpSpPr>
          <a:xfrm>
            <a:off x="4474845" y="5816600"/>
            <a:ext cx="3270250" cy="698500"/>
            <a:chOff x="6934" y="9160"/>
            <a:chExt cx="5150" cy="1100"/>
          </a:xfrm>
        </p:grpSpPr>
        <p:sp>
          <p:nvSpPr>
            <p:cNvPr id="3085" name="文本框 42"/>
            <p:cNvSpPr>
              <a:spLocks noChangeArrowheads="1"/>
            </p:cNvSpPr>
            <p:nvPr userDrawn="1"/>
          </p:nvSpPr>
          <p:spPr bwMode="auto">
            <a:xfrm>
              <a:off x="7980" y="9505"/>
              <a:ext cx="4105" cy="434"/>
            </a:xfrm>
            <a:prstGeom prst="rect">
              <a:avLst/>
            </a:prstGeom>
            <a:noFill/>
            <a:ln w="9525">
              <a:noFill/>
              <a:miter lim="800000"/>
            </a:ln>
          </p:spPr>
          <p:txBody>
            <a:bodyPr wrap="square">
              <a:spAutoFit/>
            </a:bodyPr>
            <a:lstStyle/>
            <a:p>
              <a:pPr algn="dist"/>
              <a:r>
                <a:rPr lang="zh-CN" altLang="en-US"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en-US" altLang="zh-CN" sz="1200" b="1" dirty="0" smtClean="0">
                <a:solidFill>
                  <a:srgbClr val="00B0F0"/>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6" name="Picture 3"/>
            <p:cNvPicPr>
              <a:picLocks noChangeAspect="1" noChangeArrowheads="1"/>
            </p:cNvPicPr>
            <p:nvPr userDrawn="1"/>
          </p:nvPicPr>
          <p:blipFill>
            <a:blip r:embed="rId2"/>
            <a:srcRect/>
            <a:stretch>
              <a:fillRect/>
            </a:stretch>
          </p:blipFill>
          <p:spPr bwMode="auto">
            <a:xfrm>
              <a:off x="6934" y="9160"/>
              <a:ext cx="1101" cy="1101"/>
            </a:xfrm>
            <a:prstGeom prst="rect">
              <a:avLst/>
            </a:prstGeom>
            <a:noFill/>
            <a:ln w="9525">
              <a:noFill/>
              <a:miter lim="800000"/>
              <a:headEnd/>
              <a:tailEnd/>
            </a:ln>
            <a:effectLst/>
          </p:spPr>
        </p:pic>
      </p:grpSp>
      <p:pic>
        <p:nvPicPr>
          <p:cNvPr id="2" name="图片 1" descr="SZU讲义尾页"/>
          <p:cNvPicPr>
            <a:picLocks noChangeAspect="1"/>
          </p:cNvPicPr>
          <p:nvPr userDrawn="1"/>
        </p:nvPicPr>
        <p:blipFill>
          <a:blip r:embed="rId3"/>
          <a:stretch>
            <a:fillRect/>
          </a:stretch>
        </p:blipFill>
        <p:spPr>
          <a:xfrm>
            <a:off x="0" y="-35560"/>
            <a:ext cx="12191365" cy="4763770"/>
          </a:xfrm>
          <a:prstGeom prst="rect">
            <a:avLst/>
          </a:prstGeom>
        </p:spPr>
      </p:pic>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29260" y="948055"/>
            <a:ext cx="11087735" cy="5144135"/>
          </a:xfrm>
        </p:spPr>
        <p:txBody>
          <a:bodyPr/>
          <a:lstStyle>
            <a:lvl1pPr>
              <a:buFont typeface="Wingdings" panose="05000000000000000000" charset="0"/>
              <a:buChar char="l"/>
              <a:defRPr sz="2800">
                <a:sym typeface="宋体" panose="02010600030101010101" pitchFamily="2" charset="-122"/>
              </a:defRPr>
            </a:lvl1pPr>
            <a:lvl2pPr>
              <a:defRPr sz="2400">
                <a:sym typeface="宋体" panose="02010600030101010101" pitchFamily="2" charset="-122"/>
              </a:defRPr>
            </a:lvl2pPr>
            <a:lvl3pPr>
              <a:buFont typeface="Arial" panose="020B0604020202020204" pitchFamily="34" charset="0"/>
              <a:buChar char="•"/>
              <a:defRPr sz="2000">
                <a:sym typeface="宋体" panose="02010600030101010101" pitchFamily="2" charset="-122"/>
              </a:defRPr>
            </a:lvl3pPr>
            <a:lvl4pPr>
              <a:defRPr sz="2000">
                <a:sym typeface="宋体" panose="02010600030101010101" pitchFamily="2" charset="-122"/>
              </a:defRPr>
            </a:lvl4pPr>
            <a:lvl5pPr>
              <a:defRPr sz="12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endParaRPr lang="en-US" dirty="0"/>
          </a:p>
        </p:txBody>
      </p:sp>
      <p:sp>
        <p:nvSpPr>
          <p:cNvPr id="7" name="标题 6"/>
          <p:cNvSpPr>
            <a:spLocks noGrp="1"/>
          </p:cNvSpPr>
          <p:nvPr>
            <p:ph type="title"/>
          </p:nvPr>
        </p:nvSpPr>
        <p:spPr>
          <a:xfrm>
            <a:off x="752475" y="150813"/>
            <a:ext cx="10972800" cy="796908"/>
          </a:xfrm>
        </p:spPr>
        <p:txBody>
          <a:bodyPr rtlCol="0"/>
          <a:lstStyle>
            <a:lvl1pPr algn="l">
              <a:defRPr sz="3600">
                <a:sym typeface="宋体" panose="02010600030101010101" pitchFamily="2" charset="-122"/>
              </a:defRPr>
            </a:lvl1pPr>
          </a:lstStyle>
          <a:p>
            <a:r>
              <a:rPr lang="zh-CN" altLang="en-US" smtClean="0"/>
              <a:t>单击此处编辑母版标题样式</a:t>
            </a:r>
            <a:endParaRPr lang="en-US"/>
          </a:p>
        </p:txBody>
      </p:sp>
      <p:sp>
        <p:nvSpPr>
          <p:cNvPr id="21" name="任意多边形 28"/>
          <p:cNvSpPr>
            <a:spLocks noChangeArrowheads="1"/>
          </p:cNvSpPr>
          <p:nvPr userDrawn="1"/>
        </p:nvSpPr>
        <p:spPr bwMode="auto">
          <a:xfrm flipV="1">
            <a:off x="174625" y="424180"/>
            <a:ext cx="4765040" cy="421005"/>
          </a:xfrm>
          <a:custGeom>
            <a:avLst/>
            <a:gdLst>
              <a:gd name="T0" fmla="*/ 167822 w 1386790"/>
              <a:gd name="T1" fmla="*/ 524933 h 524933"/>
              <a:gd name="T2" fmla="*/ 168846 w 1386790"/>
              <a:gd name="T3" fmla="*/ 524933 h 524933"/>
              <a:gd name="T4" fmla="*/ 168846 w 1386790"/>
              <a:gd name="T5" fmla="*/ 14598 h 524933"/>
              <a:gd name="T6" fmla="*/ 1386790 w 1386790"/>
              <a:gd name="T7" fmla="*/ 14598 h 524933"/>
              <a:gd name="T8" fmla="*/ 1386790 w 1386790"/>
              <a:gd name="T9" fmla="*/ 0 h 524933"/>
              <a:gd name="T10" fmla="*/ 167822 w 1386790"/>
              <a:gd name="T11" fmla="*/ 0 h 524933"/>
              <a:gd name="T12" fmla="*/ 152999 w 1386790"/>
              <a:gd name="T13" fmla="*/ 0 h 524933"/>
              <a:gd name="T14" fmla="*/ 152999 w 1386790"/>
              <a:gd name="T15" fmla="*/ 507260 h 524933"/>
              <a:gd name="T16" fmla="*/ 107280 w 1386790"/>
              <a:gd name="T17" fmla="*/ 507260 h 524933"/>
              <a:gd name="T18" fmla="*/ 107280 w 1386790"/>
              <a:gd name="T19" fmla="*/ 0 h 524933"/>
              <a:gd name="T20" fmla="*/ 0 w 1386790"/>
              <a:gd name="T21" fmla="*/ 0 h 524933"/>
              <a:gd name="T22" fmla="*/ 0 w 1386790"/>
              <a:gd name="T23" fmla="*/ 524932 h 524933"/>
              <a:gd name="T24" fmla="*/ 33834 w 1386790"/>
              <a:gd name="T25" fmla="*/ 524932 h 524933"/>
              <a:gd name="T26" fmla="*/ 33834 w 1386790"/>
              <a:gd name="T27" fmla="*/ 23810 h 524933"/>
              <a:gd name="T28" fmla="*/ 79553 w 1386790"/>
              <a:gd name="T29" fmla="*/ 23810 h 524933"/>
              <a:gd name="T30" fmla="*/ 79553 w 1386790"/>
              <a:gd name="T31" fmla="*/ 524932 h 524933"/>
              <a:gd name="T32" fmla="*/ 167822 w 1386790"/>
              <a:gd name="T33" fmla="*/ 524932 h 524933"/>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386790"/>
              <a:gd name="T52" fmla="*/ 0 h 524933"/>
              <a:gd name="T53" fmla="*/ 1386790 w 1386790"/>
              <a:gd name="T54" fmla="*/ 524933 h 524933"/>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386790" h="524933">
                <a:moveTo>
                  <a:pt x="167822" y="524933"/>
                </a:moveTo>
                <a:lnTo>
                  <a:pt x="168846" y="524933"/>
                </a:lnTo>
                <a:lnTo>
                  <a:pt x="168846" y="14598"/>
                </a:lnTo>
                <a:lnTo>
                  <a:pt x="1386790" y="14598"/>
                </a:lnTo>
                <a:lnTo>
                  <a:pt x="1386790" y="0"/>
                </a:lnTo>
                <a:lnTo>
                  <a:pt x="167822" y="0"/>
                </a:lnTo>
                <a:lnTo>
                  <a:pt x="152999" y="0"/>
                </a:lnTo>
                <a:lnTo>
                  <a:pt x="152999" y="507260"/>
                </a:lnTo>
                <a:lnTo>
                  <a:pt x="107280" y="507260"/>
                </a:lnTo>
                <a:lnTo>
                  <a:pt x="107280" y="0"/>
                </a:lnTo>
                <a:lnTo>
                  <a:pt x="0" y="0"/>
                </a:lnTo>
                <a:lnTo>
                  <a:pt x="0" y="524932"/>
                </a:lnTo>
                <a:lnTo>
                  <a:pt x="33834" y="524932"/>
                </a:lnTo>
                <a:lnTo>
                  <a:pt x="33834" y="23810"/>
                </a:lnTo>
                <a:lnTo>
                  <a:pt x="79553" y="23810"/>
                </a:lnTo>
                <a:lnTo>
                  <a:pt x="79553" y="524932"/>
                </a:lnTo>
                <a:lnTo>
                  <a:pt x="167822" y="524932"/>
                </a:lnTo>
                <a:close/>
              </a:path>
            </a:pathLst>
          </a:custGeom>
          <a:solidFill>
            <a:srgbClr val="28A9D6"/>
          </a:solidFill>
          <a:ln w="25400" cap="flat" cmpd="sng">
            <a:noFill/>
            <a:bevel/>
          </a:ln>
        </p:spPr>
        <p:txBody>
          <a:bodyPr anchor="ctr"/>
          <a:p>
            <a:pPr algn="ctr"/>
            <a:endParaRPr lang="zh-CN" altLang="zh-CN">
              <a:solidFill>
                <a:srgbClr val="FFFFFF"/>
              </a:solidFill>
            </a:endParaRPr>
          </a:p>
        </p:txBody>
      </p:sp>
      <p:sp>
        <p:nvSpPr>
          <p:cNvPr id="15" name="直接连接符 40"/>
          <p:cNvSpPr>
            <a:spLocks noChangeShapeType="1"/>
          </p:cNvSpPr>
          <p:nvPr userDrawn="1"/>
        </p:nvSpPr>
        <p:spPr bwMode="auto">
          <a:xfrm>
            <a:off x="-7302" y="6438900"/>
            <a:ext cx="4319587" cy="12700"/>
          </a:xfrm>
          <a:prstGeom prst="line">
            <a:avLst/>
          </a:prstGeom>
          <a:noFill/>
          <a:ln w="3175" cap="flat" cmpd="sng">
            <a:solidFill>
              <a:srgbClr val="28A9D6"/>
            </a:solidFill>
            <a:bevel/>
          </a:ln>
        </p:spPr>
        <p:txBody>
          <a:bodyPr/>
          <a:lstStyle/>
          <a:p>
            <a:endParaRPr lang="zh-CN" altLang="en-US"/>
          </a:p>
        </p:txBody>
      </p:sp>
      <p:grpSp>
        <p:nvGrpSpPr>
          <p:cNvPr id="2" name="组合 1"/>
          <p:cNvGrpSpPr/>
          <p:nvPr userDrawn="1"/>
        </p:nvGrpSpPr>
        <p:grpSpPr>
          <a:xfrm>
            <a:off x="4345940" y="6153785"/>
            <a:ext cx="3432810" cy="581660"/>
            <a:chOff x="6755" y="9691"/>
            <a:chExt cx="5406" cy="916"/>
          </a:xfrm>
        </p:grpSpPr>
        <p:sp>
          <p:nvSpPr>
            <p:cNvPr id="3085" name="文本框 42"/>
            <p:cNvSpPr>
              <a:spLocks noChangeArrowheads="1"/>
            </p:cNvSpPr>
            <p:nvPr userDrawn="1"/>
          </p:nvSpPr>
          <p:spPr bwMode="auto">
            <a:xfrm>
              <a:off x="8057" y="9957"/>
              <a:ext cx="4105" cy="434"/>
            </a:xfrm>
            <a:prstGeom prst="rect">
              <a:avLst/>
            </a:prstGeom>
            <a:noFill/>
            <a:ln w="9525">
              <a:noFill/>
              <a:miter lim="800000"/>
            </a:ln>
          </p:spPr>
          <p:txBody>
            <a:bodyPr>
              <a:spAutoFit/>
            </a:bodyPr>
            <a:lstStyle/>
            <a:p>
              <a:pPr algn="dist"/>
              <a:r>
                <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rPr>
                <a:t>深圳大学计算机与软件学院</a:t>
              </a:r>
              <a:endParaRPr lang="zh-CN" altLang="en-US" sz="1200" dirty="0" smtClean="0">
                <a:solidFill>
                  <a:srgbClr val="3F3F3F"/>
                </a:solidFill>
                <a:latin typeface="宋体" panose="02010600030101010101" pitchFamily="2" charset="-122"/>
                <a:ea typeface="微软雅黑" panose="020B0503020204020204" pitchFamily="34" charset="-122"/>
                <a:sym typeface="宋体" panose="02010600030101010101" pitchFamily="2" charset="-122"/>
              </a:endParaRPr>
            </a:p>
          </p:txBody>
        </p:sp>
        <p:pic>
          <p:nvPicPr>
            <p:cNvPr id="12" name="图片 11" descr="图片1"/>
            <p:cNvPicPr>
              <a:picLocks noChangeAspect="1"/>
            </p:cNvPicPr>
            <p:nvPr userDrawn="1"/>
          </p:nvPicPr>
          <p:blipFill>
            <a:blip r:embed="rId2"/>
            <a:stretch>
              <a:fillRect/>
            </a:stretch>
          </p:blipFill>
          <p:spPr>
            <a:xfrm>
              <a:off x="6755" y="9691"/>
              <a:ext cx="1370" cy="917"/>
            </a:xfrm>
            <a:prstGeom prst="rect">
              <a:avLst/>
            </a:prstGeom>
          </p:spPr>
        </p:pic>
      </p:grpSp>
      <p:sp>
        <p:nvSpPr>
          <p:cNvPr id="1026" name="灯片编号占位符 3"/>
          <p:cNvSpPr>
            <a:spLocks noGrp="1" noChangeArrowheads="1"/>
          </p:cNvSpPr>
          <p:nvPr>
            <p:ph type="sldNum" sz="quarter" idx="4"/>
          </p:nvPr>
        </p:nvSpPr>
        <p:spPr bwMode="auto">
          <a:xfrm>
            <a:off x="11416030" y="651795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
        <p:nvSpPr>
          <p:cNvPr id="3082" name="直接连接符 40"/>
          <p:cNvSpPr>
            <a:spLocks noChangeShapeType="1"/>
          </p:cNvSpPr>
          <p:nvPr userDrawn="1"/>
        </p:nvSpPr>
        <p:spPr bwMode="auto">
          <a:xfrm>
            <a:off x="7872413" y="6439535"/>
            <a:ext cx="4319587" cy="12700"/>
          </a:xfrm>
          <a:prstGeom prst="line">
            <a:avLst/>
          </a:prstGeom>
          <a:noFill/>
          <a:ln w="3175" cap="flat" cmpd="sng">
            <a:solidFill>
              <a:srgbClr val="28A9D6"/>
            </a:solidFill>
            <a:bevel/>
          </a:ln>
        </p:spPr>
        <p:txBody>
          <a:bodyPr/>
          <a:p>
            <a:endParaRPr lang="zh-CN" alt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34433" y="188913"/>
            <a:ext cx="10972800" cy="792162"/>
          </a:xfrm>
        </p:spPr>
        <p:txBody>
          <a:bodyPr/>
          <a:lstStyle>
            <a:lvl1pPr>
              <a:defRPr>
                <a:sym typeface="宋体" panose="02010600030101010101" pitchFamily="2" charset="-122"/>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sz="half" idx="1"/>
          </p:nvPr>
        </p:nvSpPr>
        <p:spPr>
          <a:xfrm>
            <a:off x="431800" y="1268413"/>
            <a:ext cx="5611284"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6246284" y="1268413"/>
            <a:ext cx="5611283" cy="4752975"/>
          </a:xfrm>
        </p:spPr>
        <p:txBody>
          <a:bodyPr/>
          <a:lstStyle>
            <a:lvl1pPr>
              <a:defRPr>
                <a:sym typeface="宋体" panose="02010600030101010101" pitchFamily="2" charset="-122"/>
              </a:defRPr>
            </a:lvl1pPr>
            <a:lvl2pPr>
              <a:defRPr>
                <a:sym typeface="宋体" panose="02010600030101010101" pitchFamily="2" charset="-122"/>
              </a:defRPr>
            </a:lvl2pPr>
            <a:lvl3pPr>
              <a:defRPr>
                <a:sym typeface="宋体" panose="02010600030101010101" pitchFamily="2" charset="-122"/>
              </a:defRPr>
            </a:lvl3pPr>
            <a:lvl4pPr>
              <a:defRPr>
                <a:sym typeface="宋体" panose="02010600030101010101" pitchFamily="2" charset="-122"/>
              </a:defRPr>
            </a:lvl4pPr>
            <a:lvl5pPr>
              <a:defRPr>
                <a:sym typeface="宋体" panose="02010600030101010101" pitchFamily="2" charset="-122"/>
              </a:defRPr>
            </a:lvl5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页脚占位符 4"/>
          <p:cNvSpPr>
            <a:spLocks noGrp="1"/>
          </p:cNvSpPr>
          <p:nvPr>
            <p:ph type="ftr" sz="quarter" idx="10"/>
          </p:nvPr>
        </p:nvSpPr>
        <p:spPr>
          <a:xfrm>
            <a:off x="334433" y="6237288"/>
            <a:ext cx="3860800" cy="457200"/>
          </a:xfrm>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rPr>
              <a:t>OS</a:t>
            </a:r>
            <a:endParaRPr kumimoji="0" lang="en-US" altLang="zh-CN" sz="1600" b="1" i="0" u="none" strike="noStrike" kern="1200" cap="none" spc="0" normalizeH="0" baseline="0" noProof="0">
              <a:ln>
                <a:noFill/>
              </a:ln>
              <a:solidFill>
                <a:schemeClr val="tx1"/>
              </a:solidFill>
              <a:effectLst/>
              <a:uLnTx/>
              <a:uFillTx/>
              <a:latin typeface="+mj-lt"/>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lvl="0" algn="r" eaLnBrk="1" fontAlgn="base" hangingPunct="1"/>
            <a:fld id="{9A0DB2DC-4C9A-4742-B13C-FB6460FD3503}" type="slidenum">
              <a:rPr lang="en-US" altLang="zh-CN" sz="1200" strike="noStrike" noProof="1" dirty="0">
                <a:latin typeface="Garamond" panose="02020404030301010803" pitchFamily="18" charset="0"/>
                <a:ea typeface="宋体" panose="02010600030101010101" pitchFamily="2" charset="-122"/>
                <a:cs typeface="+mn-ea"/>
              </a:rPr>
            </a:fld>
            <a:endParaRPr lang="en-US" altLang="zh-CN" sz="1200" strike="noStrike" noProof="1" dirty="0">
              <a:latin typeface="Garamond" panose="02020404030301010803"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F4F8FB"/>
            </a:gs>
            <a:gs pos="63000">
              <a:srgbClr val="F2F2F2"/>
            </a:gs>
            <a:gs pos="100000">
              <a:srgbClr val="D8D8D8"/>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1026" name="灯片编号占位符 3"/>
          <p:cNvSpPr>
            <a:spLocks noGrp="1" noChangeArrowheads="1"/>
          </p:cNvSpPr>
          <p:nvPr>
            <p:ph type="sldNum" sz="quarter" idx="4"/>
          </p:nvPr>
        </p:nvSpPr>
        <p:spPr bwMode="auto">
          <a:xfrm>
            <a:off x="942975" y="633888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marL="1219200" indent="-1219200" algn="ctr" rtl="0" fontAlgn="base">
        <a:spcBef>
          <a:spcPct val="0"/>
        </a:spcBef>
        <a:spcAft>
          <a:spcPct val="0"/>
        </a:spcAft>
        <a:defRPr sz="5800">
          <a:solidFill>
            <a:schemeClr val="tx1"/>
          </a:solidFill>
          <a:latin typeface="+mj-lt"/>
          <a:ea typeface="+mj-ea"/>
          <a:cs typeface="+mj-cs"/>
          <a:sym typeface="Copperplate Gothic Bold" panose="020E0705020206020404" charset="0"/>
        </a:defRPr>
      </a:lvl1pPr>
      <a:lvl2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2pPr>
      <a:lvl3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3pPr>
      <a:lvl4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4pPr>
      <a:lvl5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5pPr>
      <a:lvl6pPr marL="16764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6pPr>
      <a:lvl7pPr marL="21336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7pPr>
      <a:lvl8pPr marL="25908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8pPr>
      <a:lvl9pPr marL="30480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9pPr>
    </p:titleStyle>
    <p:bodyStyle>
      <a:lvl1pPr marL="457200" indent="-457200" algn="l" defTabSz="1219200" rtl="0" fontAlgn="base">
        <a:spcBef>
          <a:spcPct val="20000"/>
        </a:spcBef>
        <a:spcAft>
          <a:spcPct val="0"/>
        </a:spcAft>
        <a:buFont typeface="Arial" panose="020B0604020202020204" pitchFamily="34" charset="0"/>
        <a:buChar char="•"/>
        <a:defRPr sz="4200">
          <a:solidFill>
            <a:schemeClr val="tx1"/>
          </a:solidFill>
          <a:latin typeface="+mn-lt"/>
          <a:ea typeface="+mn-ea"/>
          <a:cs typeface="+mn-cs"/>
          <a:sym typeface="Copperplate Gothic Bold" panose="020E0705020206020404" charset="0"/>
        </a:defRPr>
      </a:lvl1pPr>
      <a:lvl2pPr marL="990600" indent="-381000" algn="l" defTabSz="1219200" rtl="0" fontAlgn="base">
        <a:spcBef>
          <a:spcPct val="20000"/>
        </a:spcBef>
        <a:spcAft>
          <a:spcPct val="0"/>
        </a:spcAft>
        <a:buFont typeface="Arial" panose="020B0604020202020204" pitchFamily="34" charset="0"/>
        <a:buChar char="–"/>
        <a:defRPr sz="3700">
          <a:solidFill>
            <a:schemeClr val="tx1"/>
          </a:solidFill>
          <a:latin typeface="+mn-lt"/>
          <a:ea typeface="+mn-ea"/>
          <a:sym typeface="Copperplate Gothic Bold" panose="020E0705020206020404" charset="0"/>
        </a:defRPr>
      </a:lvl2pPr>
      <a:lvl3pPr marL="1524000" indent="-304800" algn="l" defTabSz="1219200" rtl="0" fontAlgn="base">
        <a:spcBef>
          <a:spcPct val="20000"/>
        </a:spcBef>
        <a:spcAft>
          <a:spcPct val="0"/>
        </a:spcAft>
        <a:buFont typeface="Arial" panose="020B0604020202020204" pitchFamily="34" charset="0"/>
        <a:buChar char="•"/>
        <a:defRPr sz="3200">
          <a:solidFill>
            <a:schemeClr val="tx1"/>
          </a:solidFill>
          <a:latin typeface="+mn-lt"/>
          <a:ea typeface="+mn-ea"/>
          <a:sym typeface="Copperplate Gothic Bold" panose="020E0705020206020404" charset="0"/>
        </a:defRPr>
      </a:lvl3pPr>
      <a:lvl4pPr marL="2133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4pPr>
      <a:lvl5pPr marL="27432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5pPr>
      <a:lvl6pPr marL="32004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6pPr>
      <a:lvl7pPr marL="3657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7pPr>
      <a:lvl8pPr marL="41148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8pPr>
      <a:lvl9pPr marL="45720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gradFill rotWithShape="0">
          <a:gsLst>
            <a:gs pos="0">
              <a:srgbClr val="F4F8FB"/>
            </a:gs>
            <a:gs pos="63000">
              <a:srgbClr val="F2F2F2"/>
            </a:gs>
            <a:gs pos="100000">
              <a:srgbClr val="D8D8D8"/>
            </a:gs>
          </a:gsLst>
          <a:path path="rect">
            <a:fillToRect l="50000" t="50000" r="50000" b="50000"/>
          </a:path>
          <a:tileRect/>
        </a:gradFill>
        <a:effectLst/>
      </p:bgPr>
    </p:bg>
    <p:spTree>
      <p:nvGrpSpPr>
        <p:cNvPr id="1" name=""/>
        <p:cNvGrpSpPr/>
        <p:nvPr/>
      </p:nvGrpSpPr>
      <p:grpSpPr>
        <a:xfrm>
          <a:off x="0" y="0"/>
          <a:ext cx="0" cy="0"/>
          <a:chOff x="0" y="0"/>
          <a:chExt cx="0" cy="0"/>
        </a:xfrm>
      </p:grpSpPr>
      <p:sp>
        <p:nvSpPr>
          <p:cNvPr id="1026" name="灯片编号占位符 3"/>
          <p:cNvSpPr>
            <a:spLocks noGrp="1" noChangeArrowheads="1"/>
          </p:cNvSpPr>
          <p:nvPr>
            <p:ph type="sldNum" sz="quarter" idx="4"/>
          </p:nvPr>
        </p:nvSpPr>
        <p:spPr bwMode="auto">
          <a:xfrm>
            <a:off x="942975" y="6338888"/>
            <a:ext cx="541338" cy="282575"/>
          </a:xfrm>
          <a:prstGeom prst="rect">
            <a:avLst/>
          </a:prstGeom>
          <a:noFill/>
          <a:ln w="9525">
            <a:noFill/>
            <a:miter lim="800000"/>
          </a:ln>
        </p:spPr>
        <p:txBody>
          <a:bodyPr vert="horz" wrap="square" lIns="0" tIns="0" rIns="0" bIns="0" numCol="1" anchor="t" anchorCtr="0" compatLnSpc="1"/>
          <a:lstStyle>
            <a:lvl1pPr algn="ctr">
              <a:defRPr>
                <a:solidFill>
                  <a:srgbClr val="595959"/>
                </a:solidFill>
              </a:defRPr>
            </a:lvl1pPr>
          </a:lstStyle>
          <a:p>
            <a:fld id="{F18B4237-A20D-4DE2-ADD8-75BCC50A7656}" type="slidenum">
              <a:rPr lang="zh-CN" altLang="en-US"/>
            </a:fld>
            <a:endParaRPr lang="zh-CN" altLang="en-US"/>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hf hdr="0" ftr="0" dt="0"/>
  <p:txStyles>
    <p:titleStyle>
      <a:lvl1pPr marL="1219200" indent="-1219200" algn="ctr" rtl="0" fontAlgn="base">
        <a:spcBef>
          <a:spcPct val="0"/>
        </a:spcBef>
        <a:spcAft>
          <a:spcPct val="0"/>
        </a:spcAft>
        <a:defRPr sz="5800">
          <a:solidFill>
            <a:schemeClr val="tx1"/>
          </a:solidFill>
          <a:latin typeface="+mj-lt"/>
          <a:ea typeface="+mj-ea"/>
          <a:cs typeface="+mj-cs"/>
          <a:sym typeface="Copperplate Gothic Bold" panose="020E0705020206020404" charset="0"/>
        </a:defRPr>
      </a:lvl1pPr>
      <a:lvl2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2pPr>
      <a:lvl3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3pPr>
      <a:lvl4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4pPr>
      <a:lvl5pPr marL="12192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5pPr>
      <a:lvl6pPr marL="16764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6pPr>
      <a:lvl7pPr marL="21336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7pPr>
      <a:lvl8pPr marL="25908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8pPr>
      <a:lvl9pPr marL="3048000" indent="-1219200" algn="ctr" rtl="0" fontAlgn="base">
        <a:spcBef>
          <a:spcPct val="0"/>
        </a:spcBef>
        <a:spcAft>
          <a:spcPct val="0"/>
        </a:spcAft>
        <a:defRPr sz="5800">
          <a:solidFill>
            <a:schemeClr val="tx1"/>
          </a:solidFill>
          <a:latin typeface="Copperplate Gothic Bold" panose="020E0705020206020404" charset="0"/>
          <a:ea typeface="微软雅黑" panose="020B0503020204020204" pitchFamily="34" charset="-122"/>
          <a:sym typeface="Copperplate Gothic Bold" panose="020E0705020206020404" charset="0"/>
        </a:defRPr>
      </a:lvl9pPr>
    </p:titleStyle>
    <p:bodyStyle>
      <a:lvl1pPr marL="457200" indent="-457200" algn="l" defTabSz="1219200" rtl="0" fontAlgn="base">
        <a:spcBef>
          <a:spcPct val="20000"/>
        </a:spcBef>
        <a:spcAft>
          <a:spcPct val="0"/>
        </a:spcAft>
        <a:buFont typeface="Arial" panose="020B0604020202020204" pitchFamily="34" charset="0"/>
        <a:buChar char="•"/>
        <a:defRPr sz="4200">
          <a:solidFill>
            <a:schemeClr val="tx1"/>
          </a:solidFill>
          <a:latin typeface="+mn-lt"/>
          <a:ea typeface="+mn-ea"/>
          <a:cs typeface="+mn-cs"/>
          <a:sym typeface="Copperplate Gothic Bold" panose="020E0705020206020404" charset="0"/>
        </a:defRPr>
      </a:lvl1pPr>
      <a:lvl2pPr marL="990600" indent="-381000" algn="l" defTabSz="1219200" rtl="0" fontAlgn="base">
        <a:spcBef>
          <a:spcPct val="20000"/>
        </a:spcBef>
        <a:spcAft>
          <a:spcPct val="0"/>
        </a:spcAft>
        <a:buFont typeface="Arial" panose="020B0604020202020204" pitchFamily="34" charset="0"/>
        <a:buChar char="–"/>
        <a:defRPr sz="3700">
          <a:solidFill>
            <a:schemeClr val="tx1"/>
          </a:solidFill>
          <a:latin typeface="+mn-lt"/>
          <a:ea typeface="+mn-ea"/>
          <a:sym typeface="Copperplate Gothic Bold" panose="020E0705020206020404" charset="0"/>
        </a:defRPr>
      </a:lvl2pPr>
      <a:lvl3pPr marL="1524000" indent="-304800" algn="l" defTabSz="1219200" rtl="0" fontAlgn="base">
        <a:spcBef>
          <a:spcPct val="20000"/>
        </a:spcBef>
        <a:spcAft>
          <a:spcPct val="0"/>
        </a:spcAft>
        <a:buFont typeface="Arial" panose="020B0604020202020204" pitchFamily="34" charset="0"/>
        <a:buChar char="•"/>
        <a:defRPr sz="3200">
          <a:solidFill>
            <a:schemeClr val="tx1"/>
          </a:solidFill>
          <a:latin typeface="+mn-lt"/>
          <a:ea typeface="+mn-ea"/>
          <a:sym typeface="Copperplate Gothic Bold" panose="020E0705020206020404" charset="0"/>
        </a:defRPr>
      </a:lvl3pPr>
      <a:lvl4pPr marL="2133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4pPr>
      <a:lvl5pPr marL="27432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5pPr>
      <a:lvl6pPr marL="32004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6pPr>
      <a:lvl7pPr marL="36576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7pPr>
      <a:lvl8pPr marL="41148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8pPr>
      <a:lvl9pPr marL="4572000" indent="-304800" algn="l" defTabSz="1219200" rtl="0" fontAlgn="base">
        <a:spcBef>
          <a:spcPct val="20000"/>
        </a:spcBef>
        <a:spcAft>
          <a:spcPct val="0"/>
        </a:spcAft>
        <a:buFont typeface="Arial" panose="020B0604020202020204" pitchFamily="34" charset="0"/>
        <a:buChar char="»"/>
        <a:defRPr sz="2600">
          <a:solidFill>
            <a:schemeClr val="tx1"/>
          </a:solidFill>
          <a:latin typeface="+mn-lt"/>
          <a:ea typeface="+mn-ea"/>
          <a:sym typeface="Copperplate Gothic Bold" panose="020E070502020602040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10.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3.png"/><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5.png"/><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2.png"/><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4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26.wmf"/><Relationship Id="rId1" Type="http://schemas.openxmlformats.org/officeDocument/2006/relationships/oleObject" Target="../embeddings/oleObject2.bin"/></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27.wmf"/><Relationship Id="rId1" Type="http://schemas.openxmlformats.org/officeDocument/2006/relationships/oleObject" Target="../embeddings/oleObject3.bin"/></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32.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32.jpe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32.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文本框 2"/>
          <p:cNvSpPr txBox="1"/>
          <p:nvPr/>
        </p:nvSpPr>
        <p:spPr>
          <a:xfrm>
            <a:off x="4159885" y="4126230"/>
            <a:ext cx="3880485" cy="815340"/>
          </a:xfrm>
          <a:prstGeom prst="rect">
            <a:avLst/>
          </a:prstGeom>
        </p:spPr>
        <p:txBody>
          <a:bodyPr vert="horz" lIns="91440" tIns="45720" rIns="91440" bIns="45720" rtlCol="0" anchor="ctr" anchorCtr="0">
            <a:noAutofit/>
          </a:bodyPr>
          <a:p>
            <a:pPr marL="0" lvl="0" indent="0" algn="ctr">
              <a:lnSpc>
                <a:spcPct val="90000"/>
              </a:lnSpc>
              <a:spcBef>
                <a:spcPts val="1000"/>
              </a:spcBef>
              <a:buClr>
                <a:schemeClr val="accent2"/>
              </a:buClr>
              <a:buFont typeface="Wingdings" panose="05000000000000000000" pitchFamily="2" charset="2"/>
              <a:buNone/>
            </a:pPr>
            <a:r>
              <a:rPr lang="en-US" altLang="zh-CN" sz="4400">
                <a:solidFill>
                  <a:srgbClr val="FFFF00"/>
                </a:solidFill>
              </a:rPr>
              <a:t>3 </a:t>
            </a:r>
            <a:r>
              <a:rPr lang="zh-CN" altLang="en-US" sz="4400">
                <a:solidFill>
                  <a:srgbClr val="FFFF00"/>
                </a:solidFill>
              </a:rPr>
              <a:t>栈和队列</a:t>
            </a:r>
            <a:endParaRPr lang="zh-CN" altLang="en-US" sz="4400">
              <a:solidFill>
                <a:srgbClr val="FF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内容占位符 2"/>
          <p:cNvSpPr>
            <a:spLocks noGrp="1"/>
          </p:cNvSpPr>
          <p:nvPr>
            <p:ph idx="1"/>
          </p:nvPr>
        </p:nvSpPr>
        <p:spPr>
          <a:xfrm>
            <a:off x="191770" y="1052830"/>
            <a:ext cx="8229600" cy="4386580"/>
          </a:xfrm>
        </p:spPr>
        <p:txBody>
          <a:bodyPr/>
          <a:lstStyle/>
          <a:p>
            <a:pPr eaLnBrk="1" hangingPunct="1"/>
            <a:r>
              <a:rPr lang="zh-CN" altLang="en-US" smtClean="0">
                <a:latin typeface="楷体" panose="02010609060101010101" charset="-122"/>
                <a:ea typeface="楷体" panose="02010609060101010101" charset="-122"/>
                <a:cs typeface="楷体" panose="02010609060101010101" charset="-122"/>
              </a:rPr>
              <a:t>绪论</a:t>
            </a:r>
            <a:endParaRPr lang="en-US" altLang="zh-CN"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线性表</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栈和队列</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串</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数组和广义表</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树和二叉树</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图</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查找</a:t>
            </a:r>
            <a:endParaRPr lang="zh-CN" altLang="en-US" smtClean="0">
              <a:latin typeface="楷体" panose="02010609060101010101" charset="-122"/>
              <a:ea typeface="楷体" panose="02010609060101010101" charset="-122"/>
              <a:cs typeface="楷体" panose="02010609060101010101" charset="-122"/>
            </a:endParaRPr>
          </a:p>
          <a:p>
            <a:pPr eaLnBrk="1" hangingPunct="1"/>
            <a:r>
              <a:rPr lang="zh-CN" altLang="en-US" smtClean="0">
                <a:latin typeface="楷体" panose="02010609060101010101" charset="-122"/>
                <a:ea typeface="楷体" panose="02010609060101010101" charset="-122"/>
                <a:cs typeface="楷体" panose="02010609060101010101" charset="-122"/>
              </a:rPr>
              <a:t>内部排序</a:t>
            </a:r>
            <a:endParaRPr lang="zh-CN" altLang="en-US" smtClean="0">
              <a:latin typeface="楷体" panose="02010609060101010101" charset="-122"/>
              <a:ea typeface="楷体" panose="02010609060101010101" charset="-122"/>
              <a:cs typeface="楷体" panose="02010609060101010101" charset="-122"/>
            </a:endParaRPr>
          </a:p>
        </p:txBody>
      </p:sp>
      <p:sp>
        <p:nvSpPr>
          <p:cNvPr id="2" name="标题 1"/>
          <p:cNvSpPr>
            <a:spLocks noGrp="1"/>
          </p:cNvSpPr>
          <p:nvPr>
            <p:ph type="title"/>
          </p:nvPr>
        </p:nvSpPr>
        <p:spPr/>
        <p:txBody>
          <a:bodyPr/>
          <a:lstStyle/>
          <a:p>
            <a:pPr eaLnBrk="1" fontAlgn="auto" hangingPunct="1">
              <a:spcAft>
                <a:spcPts val="0"/>
              </a:spcAft>
              <a:defRPr/>
            </a:pPr>
            <a:r>
              <a:rPr lang="zh-CN" altLang="en-US" dirty="0" smtClean="0"/>
              <a:t>课程结构（按教材划分）</a:t>
            </a:r>
            <a:endParaRPr lang="zh-CN" altLang="en-US" dirty="0"/>
          </a:p>
        </p:txBody>
      </p:sp>
      <p:sp>
        <p:nvSpPr>
          <p:cNvPr id="4" name="右大括号 3"/>
          <p:cNvSpPr/>
          <p:nvPr/>
        </p:nvSpPr>
        <p:spPr>
          <a:xfrm>
            <a:off x="2999105" y="1628775"/>
            <a:ext cx="504190" cy="166941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线性结构</a:t>
            </a:r>
            <a:endParaRPr lang="zh-CN" altLang="en-US" sz="2000" b="1">
              <a:solidFill>
                <a:srgbClr val="FF0000"/>
              </a:solidFill>
              <a:latin typeface="黑体" panose="02010609060101010101" pitchFamily="2" charset="-122"/>
              <a:ea typeface="黑体" panose="02010609060101010101" pitchFamily="2" charset="-122"/>
            </a:endParaRPr>
          </a:p>
        </p:txBody>
      </p:sp>
      <p:sp>
        <p:nvSpPr>
          <p:cNvPr id="5" name="右大括号 4"/>
          <p:cNvSpPr/>
          <p:nvPr/>
        </p:nvSpPr>
        <p:spPr>
          <a:xfrm>
            <a:off x="4007485" y="4653280"/>
            <a:ext cx="504190" cy="929640"/>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应用</a:t>
            </a:r>
            <a:endParaRPr lang="zh-CN" altLang="en-US" sz="2000" b="1">
              <a:solidFill>
                <a:srgbClr val="FF0000"/>
              </a:solidFill>
              <a:latin typeface="黑体" panose="02010609060101010101" pitchFamily="2" charset="-122"/>
              <a:ea typeface="黑体" panose="02010609060101010101" pitchFamily="2" charset="-122"/>
            </a:endParaRPr>
          </a:p>
        </p:txBody>
      </p:sp>
      <p:sp>
        <p:nvSpPr>
          <p:cNvPr id="7" name="右大括号 6"/>
          <p:cNvSpPr/>
          <p:nvPr/>
        </p:nvSpPr>
        <p:spPr>
          <a:xfrm>
            <a:off x="4871720" y="2111375"/>
            <a:ext cx="876935" cy="300672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rPr>
              <a:t>三类结构</a:t>
            </a:r>
            <a:r>
              <a:rPr lang="en-US" altLang="zh-CN" sz="2000" b="1">
                <a:solidFill>
                  <a:srgbClr val="FF0000"/>
                </a:solidFill>
                <a:latin typeface="黑体" panose="02010609060101010101" pitchFamily="2" charset="-122"/>
                <a:ea typeface="黑体" panose="02010609060101010101" pitchFamily="2" charset="-122"/>
                <a:cs typeface="黑体" panose="02010609060101010101" pitchFamily="2" charset="-122"/>
              </a:rPr>
              <a:t>+</a:t>
            </a:r>
            <a:r>
              <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rPr>
              <a:t>两种应用</a:t>
            </a:r>
            <a:endParaRPr lang="zh-CN" altLang="en-US" sz="2000" b="1">
              <a:solidFill>
                <a:srgbClr val="FF0000"/>
              </a:solidFill>
              <a:latin typeface="黑体" panose="02010609060101010101" pitchFamily="2" charset="-122"/>
              <a:ea typeface="黑体" panose="02010609060101010101" pitchFamily="2" charset="-122"/>
              <a:cs typeface="黑体" panose="02010609060101010101" pitchFamily="2" charset="-122"/>
            </a:endParaRPr>
          </a:p>
        </p:txBody>
      </p:sp>
      <p:sp>
        <p:nvSpPr>
          <p:cNvPr id="8" name="标题 1"/>
          <p:cNvSpPr>
            <a:spLocks noGrp="1"/>
          </p:cNvSpPr>
          <p:nvPr/>
        </p:nvSpPr>
        <p:spPr>
          <a:xfrm>
            <a:off x="4968875" y="5544820"/>
            <a:ext cx="7044055" cy="796925"/>
          </a:xfrm>
          <a:prstGeom prst="rect">
            <a:avLst/>
          </a:prstGeom>
        </p:spPr>
        <p:txBody>
          <a:bodyPr vert="horz" rtlCol="0" anchor="ctr">
            <a:scene3d>
              <a:camera prst="orthographicFront"/>
              <a:lightRig rig="soft" dir="t"/>
            </a:scene3d>
            <a:sp3d prstMaterial="softEdge">
              <a:bevelT w="25400" h="25400"/>
            </a:sp3d>
          </a:bodyPr>
          <a:lstStyle>
            <a:lvl1pPr algn="l" rtl="0" fontAlgn="base">
              <a:spcBef>
                <a:spcPct val="0"/>
              </a:spcBef>
              <a:spcAft>
                <a:spcPct val="0"/>
              </a:spcAft>
              <a:defRPr sz="40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2pPr>
            <a:lvl3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3pPr>
            <a:lvl4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4pPr>
            <a:lvl5pPr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5pPr>
            <a:lvl6pPr marL="4572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6pPr>
            <a:lvl7pPr marL="9144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7pPr>
            <a:lvl8pPr marL="13716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8pPr>
            <a:lvl9pPr marL="1828800" algn="l" rtl="0" fontAlgn="base">
              <a:spcBef>
                <a:spcPct val="0"/>
              </a:spcBef>
              <a:spcAft>
                <a:spcPct val="0"/>
              </a:spcAft>
              <a:defRPr sz="4100" b="1">
                <a:solidFill>
                  <a:schemeClr val="tx2"/>
                </a:solidFill>
                <a:latin typeface="Lucida Sans Unicode" panose="020B0602030504020204" pitchFamily="34" charset="0"/>
                <a:ea typeface="黑体" panose="02010609060101010101" pitchFamily="2" charset="-122"/>
              </a:defRPr>
            </a:lvl9pPr>
          </a:lstStyle>
          <a:p>
            <a:pPr algn="ctr" eaLnBrk="1" fontAlgn="auto" hangingPunct="1">
              <a:spcAft>
                <a:spcPts val="0"/>
              </a:spcAft>
              <a:defRPr/>
            </a:pPr>
            <a:r>
              <a:rPr lang="zh-CN" altLang="en-US" sz="2400" u="sng" dirty="0" smtClean="0">
                <a:solidFill>
                  <a:srgbClr val="FF0000"/>
                </a:solidFill>
              </a:rPr>
              <a:t>成绩：实验</a:t>
            </a:r>
            <a:r>
              <a:rPr lang="en-US" altLang="zh-CN" sz="2400" u="sng" dirty="0" smtClean="0">
                <a:solidFill>
                  <a:srgbClr val="FF0000"/>
                </a:solidFill>
              </a:rPr>
              <a:t>30%+</a:t>
            </a:r>
            <a:r>
              <a:rPr lang="zh-CN" altLang="en-US" sz="2400" u="sng" dirty="0" smtClean="0">
                <a:solidFill>
                  <a:srgbClr val="FF0000"/>
                </a:solidFill>
              </a:rPr>
              <a:t>作业</a:t>
            </a:r>
            <a:r>
              <a:rPr lang="en-US" altLang="zh-CN" sz="2400" u="sng" dirty="0" smtClean="0">
                <a:solidFill>
                  <a:srgbClr val="FF0000"/>
                </a:solidFill>
              </a:rPr>
              <a:t>10%+</a:t>
            </a:r>
            <a:r>
              <a:rPr lang="zh-CN" altLang="en-US" sz="2400" u="sng" dirty="0" smtClean="0">
                <a:solidFill>
                  <a:srgbClr val="FF0000"/>
                </a:solidFill>
              </a:rPr>
              <a:t>机考</a:t>
            </a:r>
            <a:r>
              <a:rPr lang="en-US" altLang="zh-CN" sz="2400" u="sng" dirty="0" smtClean="0">
                <a:solidFill>
                  <a:srgbClr val="FF0000"/>
                </a:solidFill>
              </a:rPr>
              <a:t>20%+</a:t>
            </a:r>
            <a:r>
              <a:rPr lang="zh-CN" altLang="en-US" sz="2400" u="sng" dirty="0" smtClean="0">
                <a:solidFill>
                  <a:srgbClr val="FF0000"/>
                </a:solidFill>
              </a:rPr>
              <a:t>笔试</a:t>
            </a:r>
            <a:r>
              <a:rPr lang="en-US" altLang="zh-CN" sz="2400" u="sng" dirty="0" smtClean="0">
                <a:solidFill>
                  <a:srgbClr val="FF0000"/>
                </a:solidFill>
              </a:rPr>
              <a:t>40%</a:t>
            </a:r>
            <a:endParaRPr lang="en-US" altLang="zh-CN" sz="2400" u="sng" dirty="0" smtClean="0">
              <a:solidFill>
                <a:srgbClr val="FF0000"/>
              </a:solidFill>
            </a:endParaRPr>
          </a:p>
        </p:txBody>
      </p:sp>
      <p:pic>
        <p:nvPicPr>
          <p:cNvPr id="10" name="图片 9"/>
          <p:cNvPicPr>
            <a:picLocks noChangeAspect="1"/>
          </p:cNvPicPr>
          <p:nvPr/>
        </p:nvPicPr>
        <p:blipFill>
          <a:blip r:embed="rId1"/>
          <a:stretch>
            <a:fillRect/>
          </a:stretch>
        </p:blipFill>
        <p:spPr>
          <a:xfrm>
            <a:off x="6096000" y="838200"/>
            <a:ext cx="3651885" cy="4601210"/>
          </a:xfrm>
          <a:prstGeom prst="rect">
            <a:avLst/>
          </a:prstGeom>
        </p:spPr>
      </p:pic>
      <p:sp>
        <p:nvSpPr>
          <p:cNvPr id="11" name="右大括号 10"/>
          <p:cNvSpPr/>
          <p:nvPr/>
        </p:nvSpPr>
        <p:spPr>
          <a:xfrm>
            <a:off x="3359150" y="3425825"/>
            <a:ext cx="504190" cy="59499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树</a:t>
            </a:r>
            <a:endParaRPr lang="zh-CN" altLang="en-US" sz="2000" b="1">
              <a:solidFill>
                <a:srgbClr val="FF0000"/>
              </a:solidFill>
              <a:latin typeface="黑体" panose="02010609060101010101" pitchFamily="2" charset="-122"/>
              <a:ea typeface="黑体" panose="02010609060101010101" pitchFamily="2" charset="-122"/>
            </a:endParaRPr>
          </a:p>
        </p:txBody>
      </p:sp>
      <p:sp>
        <p:nvSpPr>
          <p:cNvPr id="12" name="右大括号 11"/>
          <p:cNvSpPr/>
          <p:nvPr/>
        </p:nvSpPr>
        <p:spPr>
          <a:xfrm>
            <a:off x="3647440" y="4076700"/>
            <a:ext cx="504190" cy="473075"/>
          </a:xfrm>
          <a:prstGeom prst="rightBrace">
            <a:avLst/>
          </a:prstGeom>
          <a:ln w="28575" cmpd="sng">
            <a:solidFill>
              <a:srgbClr val="FF0000"/>
            </a:solidFill>
            <a:prstDash val="solid"/>
          </a:ln>
        </p:spPr>
        <p:style>
          <a:lnRef idx="1">
            <a:schemeClr val="accent1"/>
          </a:lnRef>
          <a:fillRef idx="0">
            <a:schemeClr val="accent1"/>
          </a:fillRef>
          <a:effectRef idx="0">
            <a:schemeClr val="accent1"/>
          </a:effectRef>
          <a:fontRef idx="minor">
            <a:schemeClr val="tx1"/>
          </a:fontRef>
        </p:style>
        <p:txBody>
          <a:bodyPr rtlCol="0" anchor="ctr"/>
          <a:p>
            <a:pPr algn="ctr"/>
            <a:r>
              <a:rPr lang="zh-CN" altLang="en-US" sz="2000" b="1">
                <a:solidFill>
                  <a:srgbClr val="FF0000"/>
                </a:solidFill>
                <a:latin typeface="黑体" panose="02010609060101010101" pitchFamily="2" charset="-122"/>
                <a:ea typeface="黑体" panose="02010609060101010101" pitchFamily="2" charset="-122"/>
              </a:rPr>
              <a:t>图</a:t>
            </a:r>
            <a:endParaRPr lang="zh-CN" altLang="en-US" sz="2000" b="1">
              <a:solidFill>
                <a:srgbClr val="FF0000"/>
              </a:solidFill>
              <a:latin typeface="黑体" panose="02010609060101010101" pitchFamily="2" charset="-122"/>
              <a:ea typeface="黑体" panose="02010609060101010101" pitchFamily="2"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4664075"/>
          </a:xfrm>
          <a:prstGeom prst="rect">
            <a:avLst/>
          </a:prstGeom>
        </p:spPr>
        <p:txBody>
          <a:bodyPr vert="horz" lIns="91440" tIns="45720" rIns="91440" bIns="45720" rtlCol="0"/>
          <a:lstStyle/>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栈</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栈的应用举例</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栈与递归的实现</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队列</a:t>
            </a:r>
            <a:endParaRPr lang="zh-CN" altLang="en-US" sz="3200" b="1" dirty="0">
              <a:latin typeface="楷体" panose="02010609060101010101" charset="-122"/>
              <a:ea typeface="楷体" panose="02010609060101010101" charset="-122"/>
            </a:endParaRPr>
          </a:p>
          <a:p>
            <a:pPr marL="1028700" marR="0" lvl="1" indent="-571500" defTabSz="914400" rtl="0" eaLnBrk="1" fontAlgn="auto" latinLnBrk="0" hangingPunct="1">
              <a:lnSpc>
                <a:spcPct val="90000"/>
              </a:lnSpc>
              <a:spcBef>
                <a:spcPts val="1000"/>
              </a:spcBef>
              <a:spcAft>
                <a:spcPts val="0"/>
              </a:spcAft>
              <a:buClr>
                <a:schemeClr val="accent2"/>
              </a:buClr>
              <a:buSzTx/>
              <a:buFont typeface="Wingdings" panose="05000000000000000000" charset="0"/>
              <a:buChar char="Ø"/>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1252220"/>
            <a:ext cx="330898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4007485" y="188595"/>
            <a:ext cx="473075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第三章	栈和队列</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cs typeface="+mn-cs"/>
                <a:sym typeface="+mn-ea"/>
              </a:rPr>
              <a:t>栈的概念</a:t>
            </a:r>
            <a:endParaRPr lang="zh-CN" altLang="en-US" sz="2800" dirty="0">
              <a:latin typeface="黑体" panose="02010609060101010101" pitchFamily="2" charset="-122"/>
              <a:cs typeface="+mn-cs"/>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栈是限定仅在表尾(top)进行插入或删除操作的线性表</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允许插入和删除的一端称为栈顶(top，表尾)</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栈的另一端称为栈底(bottom，表头)</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栈的特点：后进先出 (LIFO)</a:t>
            </a:r>
            <a:endParaRPr lang="zh-CN" altLang="en-US" sz="2400" dirty="0">
              <a:latin typeface="黑体" panose="02010609060101010101" pitchFamily="2" charset="-122"/>
              <a:ea typeface="黑体" panose="02010609060101010101" pitchFamily="2" charset="-122"/>
              <a:cs typeface="+mn-ea"/>
            </a:endParaRPr>
          </a:p>
          <a:p>
            <a:pPr lvl="1" algn="l">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cs typeface="+mn-cs"/>
                <a:sym typeface="+mn-ea"/>
              </a:rPr>
              <a:t>栈的ADT，P45</a:t>
            </a:r>
            <a:endParaRPr lang="zh-CN" altLang="en-US" sz="2800" dirty="0">
              <a:latin typeface="黑体" panose="02010609060101010101" pitchFamily="2" charset="-122"/>
              <a:cs typeface="+mn-cs"/>
            </a:endParaRPr>
          </a:p>
          <a:p>
            <a:pPr marL="609600" indent="-609600" eaLnBrk="1" hangingPunct="1">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ADT Stack {</a:t>
            </a:r>
            <a:endParaRPr lang="en-US" altLang="zh-CN" sz="240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sym typeface="+mn-ea"/>
              </a:rPr>
              <a:t>数据对象：</a:t>
            </a:r>
            <a:r>
              <a:rPr lang="en-US" altLang="zh-CN" sz="2400" dirty="0">
                <a:latin typeface="黑体" panose="02010609060101010101" pitchFamily="2" charset="-122"/>
                <a:ea typeface="黑体" panose="02010609060101010101" pitchFamily="2" charset="-122"/>
                <a:sym typeface="+mn-ea"/>
              </a:rPr>
              <a:t>D = {a</a:t>
            </a:r>
            <a:r>
              <a:rPr lang="en-US" altLang="zh-CN" sz="2400" baseline="-25000" dirty="0">
                <a:latin typeface="黑体" panose="02010609060101010101" pitchFamily="2" charset="-122"/>
                <a:ea typeface="黑体" panose="02010609060101010101" pitchFamily="2" charset="-122"/>
                <a:sym typeface="+mn-ea"/>
              </a:rPr>
              <a:t>i</a:t>
            </a:r>
            <a:r>
              <a:rPr lang="en-US" altLang="zh-CN" sz="2400" dirty="0">
                <a:latin typeface="黑体" panose="02010609060101010101" pitchFamily="2" charset="-122"/>
                <a:ea typeface="黑体" panose="02010609060101010101" pitchFamily="2" charset="-122"/>
                <a:sym typeface="+mn-ea"/>
              </a:rPr>
              <a:t> | a</a:t>
            </a:r>
            <a:r>
              <a:rPr lang="en-US" altLang="zh-CN" sz="2400" baseline="-25000" dirty="0">
                <a:latin typeface="黑体" panose="02010609060101010101" pitchFamily="2" charset="-122"/>
                <a:ea typeface="黑体" panose="02010609060101010101" pitchFamily="2" charset="-122"/>
                <a:sym typeface="+mn-ea"/>
              </a:rPr>
              <a:t>i</a:t>
            </a:r>
            <a:r>
              <a:rPr lang="en-US" altLang="zh-CN" sz="2400" dirty="0">
                <a:latin typeface="黑体" panose="02010609060101010101" pitchFamily="2" charset="-122"/>
                <a:ea typeface="黑体" panose="02010609060101010101" pitchFamily="2" charset="-122"/>
                <a:sym typeface="+mn-ea"/>
              </a:rPr>
              <a:t>∈ElemSet, i=1,2,3,</a:t>
            </a:r>
            <a:r>
              <a:rPr lang="en-US" altLang="zh-CN" sz="2400" dirty="0">
                <a:ea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sym typeface="+mn-ea"/>
              </a:rPr>
              <a:t>,n}</a:t>
            </a:r>
            <a:endParaRPr lang="en-US" altLang="zh-CN" sz="240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sym typeface="+mn-ea"/>
              </a:rPr>
              <a:t>数据关系：</a:t>
            </a:r>
            <a:r>
              <a:rPr lang="en-US" altLang="zh-CN" sz="2400" dirty="0">
                <a:latin typeface="黑体" panose="02010609060101010101" pitchFamily="2" charset="-122"/>
                <a:ea typeface="黑体" panose="02010609060101010101" pitchFamily="2" charset="-122"/>
                <a:sym typeface="+mn-ea"/>
              </a:rPr>
              <a:t>R = {&lt;a</a:t>
            </a:r>
            <a:r>
              <a:rPr lang="en-US" altLang="zh-CN" sz="2400" baseline="-25000" dirty="0">
                <a:latin typeface="黑体" panose="02010609060101010101" pitchFamily="2" charset="-122"/>
                <a:ea typeface="黑体" panose="02010609060101010101" pitchFamily="2" charset="-122"/>
                <a:sym typeface="+mn-ea"/>
              </a:rPr>
              <a:t>i-1</a:t>
            </a:r>
            <a:r>
              <a:rPr lang="en-US" altLang="zh-CN" sz="2400" dirty="0">
                <a:latin typeface="黑体" panose="02010609060101010101" pitchFamily="2" charset="-122"/>
                <a:ea typeface="黑体" panose="02010609060101010101" pitchFamily="2" charset="-122"/>
                <a:sym typeface="+mn-ea"/>
              </a:rPr>
              <a:t>, a</a:t>
            </a:r>
            <a:r>
              <a:rPr lang="en-US" altLang="zh-CN" sz="2400" baseline="-25000" dirty="0">
                <a:latin typeface="黑体" panose="02010609060101010101" pitchFamily="2" charset="-122"/>
                <a:ea typeface="黑体" panose="02010609060101010101" pitchFamily="2" charset="-122"/>
                <a:sym typeface="+mn-ea"/>
              </a:rPr>
              <a:t>i</a:t>
            </a:r>
            <a:r>
              <a:rPr lang="en-US" altLang="zh-CN" sz="2400" dirty="0">
                <a:latin typeface="黑体" panose="02010609060101010101" pitchFamily="2" charset="-122"/>
                <a:ea typeface="黑体" panose="02010609060101010101" pitchFamily="2" charset="-122"/>
                <a:sym typeface="+mn-ea"/>
              </a:rPr>
              <a:t>&gt; | a</a:t>
            </a:r>
            <a:r>
              <a:rPr lang="en-US" altLang="zh-CN" sz="2400" baseline="-25000" dirty="0">
                <a:latin typeface="黑体" panose="02010609060101010101" pitchFamily="2" charset="-122"/>
                <a:ea typeface="黑体" panose="02010609060101010101" pitchFamily="2" charset="-122"/>
                <a:sym typeface="+mn-ea"/>
              </a:rPr>
              <a:t>i-1</a:t>
            </a:r>
            <a:r>
              <a:rPr lang="en-US" altLang="zh-CN" sz="2400" dirty="0">
                <a:latin typeface="黑体" panose="02010609060101010101" pitchFamily="2" charset="-122"/>
                <a:ea typeface="黑体" panose="02010609060101010101" pitchFamily="2" charset="-122"/>
                <a:sym typeface="+mn-ea"/>
              </a:rPr>
              <a:t>,a</a:t>
            </a:r>
            <a:r>
              <a:rPr lang="en-US" altLang="zh-CN" sz="2400" baseline="-25000" dirty="0">
                <a:latin typeface="黑体" panose="02010609060101010101" pitchFamily="2" charset="-122"/>
                <a:ea typeface="黑体" panose="02010609060101010101" pitchFamily="2" charset="-122"/>
                <a:sym typeface="+mn-ea"/>
              </a:rPr>
              <a:t>i</a:t>
            </a:r>
            <a:r>
              <a:rPr lang="en-US" altLang="zh-CN" sz="2400" dirty="0">
                <a:latin typeface="黑体" panose="02010609060101010101" pitchFamily="2" charset="-122"/>
                <a:ea typeface="黑体" panose="02010609060101010101" pitchFamily="2" charset="-122"/>
                <a:sym typeface="+mn-ea"/>
              </a:rPr>
              <a:t>∈D}</a:t>
            </a:r>
            <a:endParaRPr lang="en-US" altLang="zh-CN" sz="240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sym typeface="+mn-ea"/>
              </a:rPr>
              <a:t>基本操作：</a:t>
            </a:r>
            <a:r>
              <a:rPr lang="en-US" altLang="zh-CN" sz="2400" dirty="0">
                <a:latin typeface="黑体" panose="02010609060101010101" pitchFamily="2" charset="-122"/>
                <a:ea typeface="黑体" panose="02010609060101010101" pitchFamily="2" charset="-122"/>
                <a:sym typeface="+mn-ea"/>
              </a:rPr>
              <a:t>InitStack(&amp;S)	// </a:t>
            </a:r>
            <a:r>
              <a:rPr lang="zh-CN" altLang="en-US" sz="2400" dirty="0">
                <a:latin typeface="黑体" panose="02010609060101010101" pitchFamily="2" charset="-122"/>
                <a:ea typeface="黑体" panose="02010609060101010101" pitchFamily="2" charset="-122"/>
                <a:sym typeface="+mn-ea"/>
              </a:rPr>
              <a:t>构造空栈</a:t>
            </a:r>
            <a:endParaRPr lang="zh-CN" altLang="en-US" sz="240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	Push(&amp;S, e)	// </a:t>
            </a:r>
            <a:r>
              <a:rPr lang="zh-CN" altLang="en-US" sz="2400" dirty="0">
                <a:latin typeface="黑体" panose="02010609060101010101" pitchFamily="2" charset="-122"/>
                <a:ea typeface="黑体" panose="02010609060101010101" pitchFamily="2" charset="-122"/>
                <a:sym typeface="+mn-ea"/>
              </a:rPr>
              <a:t>进栈</a:t>
            </a:r>
            <a:endParaRPr lang="zh-CN" altLang="en-US" sz="240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Pop(&amp;S, &amp;e)	// </a:t>
            </a:r>
            <a:r>
              <a:rPr lang="zh-CN" altLang="en-US" sz="2400" dirty="0">
                <a:latin typeface="黑体" panose="02010609060101010101" pitchFamily="2" charset="-122"/>
                <a:ea typeface="黑体" panose="02010609060101010101" pitchFamily="2" charset="-122"/>
                <a:sym typeface="+mn-ea"/>
              </a:rPr>
              <a:t>出栈</a:t>
            </a:r>
            <a:endParaRPr lang="zh-CN" altLang="en-US" sz="240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GetTop(S, &amp;e)	// </a:t>
            </a:r>
            <a:r>
              <a:rPr lang="zh-CN" altLang="en-US" sz="2400" dirty="0">
                <a:latin typeface="黑体" panose="02010609060101010101" pitchFamily="2" charset="-122"/>
                <a:ea typeface="黑体" panose="02010609060101010101" pitchFamily="2" charset="-122"/>
                <a:sym typeface="+mn-ea"/>
              </a:rPr>
              <a:t>取栈顶元素值</a:t>
            </a:r>
            <a:endParaRPr lang="zh-CN" altLang="en-US" sz="240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StackEmpty(S)	// </a:t>
            </a:r>
            <a:r>
              <a:rPr lang="zh-CN" altLang="en-US" sz="2400" dirty="0">
                <a:latin typeface="黑体" panose="02010609060101010101" pitchFamily="2" charset="-122"/>
                <a:ea typeface="黑体" panose="02010609060101010101" pitchFamily="2" charset="-122"/>
                <a:sym typeface="+mn-ea"/>
              </a:rPr>
              <a:t>栈是否为空</a:t>
            </a:r>
            <a:endParaRPr lang="zh-CN" altLang="en-US" sz="240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 ADT Stack</a:t>
            </a:r>
            <a:endParaRPr lang="en-US" altLang="zh-CN" sz="2400" dirty="0">
              <a:latin typeface="宋体" panose="02010600030101010101" pitchFamily="2" charset="-122"/>
            </a:endParaRPr>
          </a:p>
          <a:p>
            <a:pPr marL="609600" lvl="1" indent="0" algn="l">
              <a:buClrTx/>
              <a:buSzTx/>
              <a:buNone/>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栈是逻辑结构，操作受限制的线性表</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从栈的操作可以看出：</a:t>
            </a:r>
            <a:endParaRPr lang="zh-CN" altLang="en-US" sz="28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cs"/>
                <a:sym typeface="+mn-ea"/>
              </a:rPr>
              <a:t>栈的插入、删除、读取只能在栈顶位置</a:t>
            </a: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cs"/>
                <a:sym typeface="+mn-ea"/>
              </a:rPr>
              <a:t>栈没有遍历操作，也没有查找操作</a:t>
            </a: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cs"/>
                <a:sym typeface="+mn-ea"/>
              </a:rPr>
              <a:t>如果要实现栈内元素的查找，要把整个栈元素出栈，逐个比较</a:t>
            </a:r>
            <a:endParaRPr lang="zh-CN" altLang="en-US" sz="24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栈的存储结构有两种：顺序栈、链栈</a:t>
            </a:r>
            <a:endParaRPr lang="zh-CN" altLang="en-US" sz="2800" dirty="0">
              <a:latin typeface="黑体" panose="02010609060101010101" pitchFamily="2" charset="-122"/>
              <a:ea typeface="黑体" panose="02010609060101010101" pitchFamily="2" charset="-122"/>
              <a:cs typeface="+mn-cs"/>
              <a:sym typeface="+mn-ea"/>
            </a:endParaRPr>
          </a:p>
          <a:p>
            <a:pPr lvl="1" algn="l">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顺序栈</a:t>
            </a:r>
            <a:endParaRPr lang="zh-CN" altLang="en-US" sz="280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顺序栈是栈的一种实现，是顺序存储结构，利用一组地址连续的存储单元依次存放自栈底到栈顶的数据元素</a:t>
            </a:r>
            <a:endParaRPr lang="zh-CN" altLang="en-US" sz="240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指针top指向栈顶元素在顺序栈中的下一个位置，</a:t>
            </a:r>
            <a:r>
              <a:rPr lang="en-US" altLang="zh-CN" sz="2400" dirty="0">
                <a:latin typeface="黑体" panose="02010609060101010101" pitchFamily="2" charset="-122"/>
                <a:ea typeface="黑体" panose="02010609060101010101" pitchFamily="2" charset="-122"/>
                <a:cs typeface="+mn-ea"/>
                <a:sym typeface="+mn-ea"/>
              </a:rPr>
              <a:t>top</a:t>
            </a:r>
            <a:r>
              <a:rPr lang="zh-CN" altLang="en-US" sz="2400" dirty="0">
                <a:latin typeface="黑体" panose="02010609060101010101" pitchFamily="2" charset="-122"/>
                <a:ea typeface="黑体" panose="02010609060101010101" pitchFamily="2" charset="-122"/>
                <a:cs typeface="+mn-ea"/>
                <a:sym typeface="+mn-ea"/>
              </a:rPr>
              <a:t>永远指向空白位置</a:t>
            </a:r>
            <a:endParaRPr lang="zh-CN" altLang="en-US" sz="2400" dirty="0">
              <a:latin typeface="黑体" panose="02010609060101010101" pitchFamily="2" charset="-122"/>
              <a:ea typeface="黑体" panose="02010609060101010101" pitchFamily="2" charset="-122"/>
              <a:cs typeface="+mn-ea"/>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指针base为栈底指针，指向栈底的位置</a:t>
            </a:r>
            <a:endParaRPr lang="zh-CN" altLang="en-US" sz="2400" dirty="0">
              <a:latin typeface="黑体" panose="02010609060101010101" pitchFamily="2" charset="-122"/>
              <a:ea typeface="黑体" panose="02010609060101010101" pitchFamily="2" charset="-122"/>
              <a:cs typeface="+mn-ea"/>
            </a:endParaRPr>
          </a:p>
          <a:p>
            <a:pPr lvl="1" algn="l">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custDataLst>
              <p:tags r:id="rId1"/>
            </p:custDataLst>
          </p:nvPr>
        </p:nvPicPr>
        <p:blipFill>
          <a:blip r:embed="rId2"/>
          <a:stretch>
            <a:fillRect/>
          </a:stretch>
        </p:blipFill>
        <p:spPr>
          <a:xfrm>
            <a:off x="2063750" y="3140710"/>
            <a:ext cx="7538720" cy="31000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顺序栈的定义</a:t>
            </a:r>
            <a:endParaRPr lang="zh-CN" altLang="en-US" sz="2800" dirty="0">
              <a:latin typeface="黑体" panose="02010609060101010101" pitchFamily="2" charset="-122"/>
              <a:ea typeface="黑体" panose="02010609060101010101" pitchFamily="2" charset="-122"/>
              <a:cs typeface="+mn-cs"/>
            </a:endParaRPr>
          </a:p>
          <a:p>
            <a:pPr marL="609600" indent="-609600" eaLnBrk="1" hangingPunct="1">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#define STACK_INIT_SIZE  100	// </a:t>
            </a:r>
            <a:r>
              <a:rPr lang="zh-CN" altLang="en-US" sz="2400" dirty="0">
                <a:latin typeface="黑体" panose="02010609060101010101" pitchFamily="2" charset="-122"/>
                <a:ea typeface="黑体" panose="02010609060101010101" pitchFamily="2" charset="-122"/>
                <a:sym typeface="+mn-ea"/>
              </a:rPr>
              <a:t>栈存储空间的初始分配量</a:t>
            </a:r>
            <a:endParaRPr lang="zh-CN" altLang="en-US" sz="2400" b="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#define STACKINCREMENT   10	// </a:t>
            </a:r>
            <a:r>
              <a:rPr lang="zh-CN" altLang="en-US" sz="2400" dirty="0">
                <a:latin typeface="黑体" panose="02010609060101010101" pitchFamily="2" charset="-122"/>
                <a:ea typeface="黑体" panose="02010609060101010101" pitchFamily="2" charset="-122"/>
                <a:sym typeface="+mn-ea"/>
              </a:rPr>
              <a:t>栈存储空间的分配增量</a:t>
            </a:r>
            <a:endParaRPr lang="zh-CN" altLang="en-US" sz="2400" b="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Typedef struct {</a:t>
            </a:r>
            <a:endParaRPr lang="en-US" altLang="zh-CN" sz="2400" b="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SElemType	*base		// </a:t>
            </a:r>
            <a:r>
              <a:rPr lang="zh-CN" altLang="en-US" sz="2400" dirty="0">
                <a:latin typeface="黑体" panose="02010609060101010101" pitchFamily="2" charset="-122"/>
                <a:ea typeface="黑体" panose="02010609060101010101" pitchFamily="2" charset="-122"/>
                <a:sym typeface="+mn-ea"/>
              </a:rPr>
              <a:t>栈底指针，也是栈的基址</a:t>
            </a:r>
            <a:endParaRPr lang="zh-CN" altLang="en-US" sz="2400" b="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SElemType	*top;		// </a:t>
            </a:r>
            <a:r>
              <a:rPr lang="zh-CN" altLang="en-US" sz="2400" dirty="0">
                <a:latin typeface="黑体" panose="02010609060101010101" pitchFamily="2" charset="-122"/>
                <a:ea typeface="黑体" panose="02010609060101010101" pitchFamily="2" charset="-122"/>
                <a:sym typeface="+mn-ea"/>
              </a:rPr>
              <a:t>栈顶指针</a:t>
            </a:r>
            <a:endParaRPr lang="zh-CN" altLang="en-US" sz="2400" b="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int 	stacksize;	// </a:t>
            </a:r>
            <a:r>
              <a:rPr lang="zh-CN" altLang="en-US" sz="2400" dirty="0">
                <a:latin typeface="黑体" panose="02010609060101010101" pitchFamily="2" charset="-122"/>
                <a:ea typeface="黑体" panose="02010609060101010101" pitchFamily="2" charset="-122"/>
                <a:sym typeface="+mn-ea"/>
              </a:rPr>
              <a:t>当前分配的存储容量</a:t>
            </a:r>
            <a:r>
              <a:rPr lang="en-US" altLang="zh-CN" sz="2400" dirty="0">
                <a:latin typeface="黑体" panose="02010609060101010101" pitchFamily="2" charset="-122"/>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元素数</a:t>
            </a:r>
            <a:r>
              <a:rPr lang="en-US" altLang="zh-CN" sz="2400" dirty="0">
                <a:latin typeface="黑体" panose="02010609060101010101" pitchFamily="2" charset="-122"/>
                <a:ea typeface="黑体" panose="02010609060101010101" pitchFamily="2" charset="-122"/>
                <a:sym typeface="+mn-ea"/>
              </a:rPr>
              <a:t>)</a:t>
            </a:r>
            <a:endParaRPr lang="en-US" altLang="zh-CN" sz="2400" b="0" dirty="0">
              <a:latin typeface="黑体" panose="02010609060101010101" pitchFamily="2" charset="-122"/>
              <a:ea typeface="黑体" panose="02010609060101010101" pitchFamily="2" charset="-122"/>
            </a:endParaRPr>
          </a:p>
          <a:p>
            <a:pPr marL="609600" indent="-609600" eaLnBrk="1" hangingPunct="1">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SqStack;</a:t>
            </a:r>
            <a:endParaRPr lang="en-US" altLang="zh-CN" sz="2400" b="0" dirty="0">
              <a:latin typeface="黑体" panose="02010609060101010101" pitchFamily="2" charset="-122"/>
              <a:ea typeface="黑体" panose="02010609060101010101" pitchFamily="2" charset="-122"/>
            </a:endParaRPr>
          </a:p>
          <a:p>
            <a:pPr lvl="1" algn="l" eaLnBrk="1" hangingPunct="1">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顺序栈的特性：</a:t>
            </a:r>
            <a:endParaRPr lang="zh-CN" altLang="en-US" sz="280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top=</a:t>
            </a:r>
            <a:r>
              <a:rPr lang="en-US" altLang="zh-CN" sz="2400" dirty="0">
                <a:latin typeface="黑体" panose="02010609060101010101" pitchFamily="2" charset="-122"/>
                <a:ea typeface="黑体" panose="02010609060101010101" pitchFamily="2" charset="-122"/>
                <a:cs typeface="+mn-ea"/>
                <a:sym typeface="+mn-ea"/>
              </a:rPr>
              <a:t>=</a:t>
            </a:r>
            <a:r>
              <a:rPr lang="zh-CN" altLang="en-US" sz="2400" dirty="0">
                <a:latin typeface="黑体" panose="02010609060101010101" pitchFamily="2" charset="-122"/>
                <a:ea typeface="黑体" panose="02010609060101010101" pitchFamily="2" charset="-122"/>
                <a:cs typeface="+mn-ea"/>
                <a:sym typeface="+mn-ea"/>
              </a:rPr>
              <a:t>0或top=</a:t>
            </a:r>
            <a:r>
              <a:rPr lang="en-US" altLang="zh-CN" sz="2400" dirty="0">
                <a:latin typeface="黑体" panose="02010609060101010101" pitchFamily="2" charset="-122"/>
                <a:ea typeface="黑体" panose="02010609060101010101" pitchFamily="2" charset="-122"/>
                <a:cs typeface="+mn-ea"/>
                <a:sym typeface="+mn-ea"/>
              </a:rPr>
              <a:t>=</a:t>
            </a:r>
            <a:r>
              <a:rPr lang="zh-CN" altLang="en-US" sz="2400" dirty="0">
                <a:latin typeface="黑体" panose="02010609060101010101" pitchFamily="2" charset="-122"/>
                <a:ea typeface="黑体" panose="02010609060101010101" pitchFamily="2" charset="-122"/>
                <a:cs typeface="+mn-ea"/>
                <a:sym typeface="+mn-ea"/>
              </a:rPr>
              <a:t>base，表示空栈</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base=NULL表示栈不存在</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入栈，只能从栈顶插入，指针top+</a:t>
            </a:r>
            <a:r>
              <a:rPr lang="en-US" altLang="zh-CN" sz="2400" dirty="0">
                <a:latin typeface="黑体" panose="02010609060101010101" pitchFamily="2" charset="-122"/>
                <a:ea typeface="黑体" panose="02010609060101010101" pitchFamily="2" charset="-122"/>
                <a:cs typeface="+mn-ea"/>
                <a:sym typeface="+mn-ea"/>
              </a:rPr>
              <a:t>+</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出栈，只能从栈顶删除，指针top-</a:t>
            </a:r>
            <a:r>
              <a:rPr lang="en-US" altLang="zh-CN" sz="2400" dirty="0">
                <a:latin typeface="黑体" panose="02010609060101010101" pitchFamily="2" charset="-122"/>
                <a:ea typeface="黑体" panose="02010609060101010101" pitchFamily="2" charset="-122"/>
                <a:cs typeface="+mn-ea"/>
                <a:sym typeface="+mn-ea"/>
              </a:rPr>
              <a:t>-</a:t>
            </a:r>
            <a:endParaRPr lang="zh-CN" altLang="en-US" sz="2400" b="0" dirty="0">
              <a:latin typeface="黑体" panose="02010609060101010101" pitchFamily="2" charset="-122"/>
              <a:ea typeface="黑体" panose="02010609060101010101" pitchFamily="2" charset="-122"/>
              <a:cs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ea"/>
                <a:sym typeface="+mn-ea"/>
              </a:rPr>
              <a:t>当top&gt;stacksize时，栈满，溢出，又称</a:t>
            </a:r>
            <a:r>
              <a:rPr lang="en-US" altLang="zh-CN" sz="2400" dirty="0">
                <a:latin typeface="黑体" panose="02010609060101010101" pitchFamily="2" charset="-122"/>
                <a:ea typeface="黑体" panose="02010609060101010101" pitchFamily="2" charset="-122"/>
                <a:cs typeface="+mn-ea"/>
                <a:sym typeface="+mn-ea"/>
              </a:rPr>
              <a:t>“</a:t>
            </a:r>
            <a:r>
              <a:rPr lang="zh-CN" altLang="en-US" sz="2400" dirty="0">
                <a:latin typeface="黑体" panose="02010609060101010101" pitchFamily="2" charset="-122"/>
                <a:ea typeface="黑体" panose="02010609060101010101" pitchFamily="2" charset="-122"/>
                <a:cs typeface="+mn-ea"/>
                <a:sym typeface="+mn-ea"/>
              </a:rPr>
              <a:t>上溢</a:t>
            </a:r>
            <a:r>
              <a:rPr lang="en-US" altLang="zh-CN" sz="2400" dirty="0">
                <a:latin typeface="黑体" panose="02010609060101010101" pitchFamily="2" charset="-122"/>
                <a:ea typeface="黑体" panose="02010609060101010101" pitchFamily="2" charset="-122"/>
                <a:cs typeface="+mn-ea"/>
                <a:sym typeface="+mn-ea"/>
              </a:rPr>
              <a:t>”</a:t>
            </a:r>
            <a:endParaRPr lang="zh-CN" altLang="en-US" sz="2400" dirty="0">
              <a:latin typeface="黑体" panose="02010609060101010101" pitchFamily="2" charset="-122"/>
              <a:ea typeface="黑体" panose="02010609060101010101" pitchFamily="2" charset="-122"/>
              <a:cs typeface="+mn-ea"/>
            </a:endParaRPr>
          </a:p>
          <a:p>
            <a:pPr lvl="1" algn="l">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顺序栈的建栈：</a:t>
            </a:r>
            <a:endParaRPr lang="zh-CN" altLang="en-US" sz="2800" dirty="0">
              <a:latin typeface="黑体" panose="02010609060101010101" pitchFamily="2" charset="-122"/>
              <a:ea typeface="黑体" panose="02010609060101010101" pitchFamily="2" charset="-122"/>
              <a:cs typeface="+mn-cs"/>
            </a:endParaRPr>
          </a:p>
          <a:p>
            <a:pPr lvl="1" algn="l">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479425" y="1556385"/>
            <a:ext cx="9117965" cy="27819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顺序栈的取栈顶：</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zh-CN" altLang="en-US" sz="2330" dirty="0">
                <a:latin typeface="黑体" panose="02010609060101010101" pitchFamily="2" charset="-122"/>
                <a:ea typeface="黑体" panose="02010609060101010101" pitchFamily="2" charset="-122"/>
                <a:cs typeface="+mn-cs"/>
                <a:sym typeface="+mn-ea"/>
              </a:rPr>
              <a:t>栈只能读取栈顶元素，栈顶以下的元素不能直接读取</a:t>
            </a:r>
            <a:endParaRPr lang="zh-CN" altLang="en-US" sz="233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zh-CN" altLang="en-US" sz="2330" dirty="0">
                <a:latin typeface="黑体" panose="02010609060101010101" pitchFamily="2" charset="-122"/>
                <a:ea typeface="黑体" panose="02010609060101010101" pitchFamily="2" charset="-122"/>
                <a:cs typeface="+mn-cs"/>
                <a:sym typeface="+mn-ea"/>
              </a:rPr>
              <a:t>要先出栈才能读取下一个元素</a:t>
            </a:r>
            <a:endParaRPr lang="zh-CN" altLang="en-US" sz="2330" dirty="0">
              <a:latin typeface="黑体" panose="02010609060101010101" pitchFamily="2" charset="-122"/>
              <a:ea typeface="黑体" panose="02010609060101010101" pitchFamily="2" charset="-122"/>
              <a:cs typeface="+mn-cs"/>
            </a:endParaRPr>
          </a:p>
          <a:p>
            <a:pPr lvl="1" algn="l">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6" name="图片 5"/>
          <p:cNvPicPr>
            <a:picLocks noChangeAspect="1"/>
          </p:cNvPicPr>
          <p:nvPr/>
        </p:nvPicPr>
        <p:blipFill>
          <a:blip r:embed="rId1"/>
          <a:stretch>
            <a:fillRect/>
          </a:stretch>
        </p:blipFill>
        <p:spPr>
          <a:xfrm>
            <a:off x="407035" y="1628775"/>
            <a:ext cx="9297035" cy="250761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顺序栈的</a:t>
            </a:r>
            <a:r>
              <a:rPr lang="en-US" altLang="zh-CN" sz="2800" dirty="0">
                <a:latin typeface="黑体" panose="02010609060101010101" pitchFamily="2" charset="-122"/>
                <a:ea typeface="黑体" panose="02010609060101010101" pitchFamily="2" charset="-122"/>
                <a:cs typeface="+mn-cs"/>
                <a:sym typeface="+mn-ea"/>
              </a:rPr>
              <a:t>C++</a:t>
            </a:r>
            <a:r>
              <a:rPr lang="zh-CN" altLang="en-US" sz="2800" dirty="0">
                <a:latin typeface="黑体" panose="02010609060101010101" pitchFamily="2" charset="-122"/>
                <a:ea typeface="黑体" panose="02010609060101010101" pitchFamily="2" charset="-122"/>
                <a:cs typeface="+mn-cs"/>
                <a:sym typeface="+mn-ea"/>
              </a:rPr>
              <a:t>实现，使用</a:t>
            </a:r>
            <a:r>
              <a:rPr lang="en-US" altLang="zh-CN" sz="2800" dirty="0">
                <a:latin typeface="黑体" panose="02010609060101010101" pitchFamily="2" charset="-122"/>
                <a:ea typeface="黑体" panose="02010609060101010101" pitchFamily="2" charset="-122"/>
                <a:cs typeface="+mn-cs"/>
                <a:sym typeface="+mn-ea"/>
              </a:rPr>
              <a:t>STL</a:t>
            </a:r>
            <a:r>
              <a:rPr lang="zh-CN" altLang="en-US" sz="2800" dirty="0">
                <a:latin typeface="黑体" panose="02010609060101010101" pitchFamily="2" charset="-122"/>
                <a:ea typeface="黑体" panose="02010609060101010101" pitchFamily="2" charset="-122"/>
                <a:cs typeface="+mn-cs"/>
                <a:sym typeface="+mn-ea"/>
              </a:rPr>
              <a:t>库</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en-US" altLang="zh-CN" sz="2800" dirty="0">
                <a:latin typeface="黑体" panose="02010609060101010101" pitchFamily="2" charset="-122"/>
                <a:ea typeface="黑体" panose="02010609060101010101" pitchFamily="2" charset="-122"/>
                <a:cs typeface="+mn-cs"/>
              </a:rPr>
              <a:t>C++</a:t>
            </a:r>
            <a:r>
              <a:rPr lang="zh-CN" altLang="en-US" sz="2800" dirty="0">
                <a:latin typeface="黑体" panose="02010609060101010101" pitchFamily="2" charset="-122"/>
                <a:ea typeface="黑体" panose="02010609060101010101" pitchFamily="2" charset="-122"/>
                <a:cs typeface="+mn-cs"/>
              </a:rPr>
              <a:t>中</a:t>
            </a:r>
            <a:r>
              <a:rPr lang="en-US" altLang="zh-CN" sz="2800" dirty="0">
                <a:latin typeface="黑体" panose="02010609060101010101" pitchFamily="2" charset="-122"/>
                <a:ea typeface="黑体" panose="02010609060101010101" pitchFamily="2" charset="-122"/>
                <a:cs typeface="+mn-cs"/>
              </a:rPr>
              <a:t>stack</a:t>
            </a:r>
            <a:r>
              <a:rPr lang="zh-CN" altLang="en-US" sz="2800" dirty="0">
                <a:latin typeface="黑体" panose="02010609060101010101" pitchFamily="2" charset="-122"/>
                <a:ea typeface="黑体" panose="02010609060101010101" pitchFamily="2" charset="-122"/>
                <a:cs typeface="+mn-cs"/>
              </a:rPr>
              <a:t>是一个类模板</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rPr>
              <a:t>创建栈就是定义栈对象，要指明数据类型</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rPr>
              <a:t>取栈顶操作，即读取操作，用方法</a:t>
            </a:r>
            <a:r>
              <a:rPr lang="en-US" altLang="zh-CN" sz="2800" dirty="0">
                <a:latin typeface="黑体" panose="02010609060101010101" pitchFamily="2" charset="-122"/>
                <a:ea typeface="黑体" panose="02010609060101010101" pitchFamily="2" charset="-122"/>
                <a:cs typeface="+mn-cs"/>
              </a:rPr>
              <a:t>top()</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endParaRPr>
          </a:p>
          <a:p>
            <a:pPr lvl="1" algn="l">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6" name="图片 5"/>
          <p:cNvPicPr>
            <a:picLocks noChangeAspect="1"/>
          </p:cNvPicPr>
          <p:nvPr/>
        </p:nvPicPr>
        <p:blipFill>
          <a:blip r:embed="rId1"/>
          <a:stretch>
            <a:fillRect/>
          </a:stretch>
        </p:blipFill>
        <p:spPr>
          <a:xfrm>
            <a:off x="7967980" y="2060575"/>
            <a:ext cx="3526155" cy="305943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顺序栈的入栈：</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0" lvl="1" indent="0" algn="l" eaLnBrk="1" hangingPunct="1">
              <a:buClrTx/>
              <a:buSzTx/>
              <a:buFont typeface="Wingdings" panose="05000000000000000000" charset="0"/>
              <a:buNone/>
            </a:pPr>
            <a:endParaRPr lang="en-US" altLang="zh-CN" sz="2330" dirty="0">
              <a:latin typeface="黑体" panose="02010609060101010101" pitchFamily="2" charset="-122"/>
              <a:ea typeface="黑体" panose="02010609060101010101" pitchFamily="2" charset="-122"/>
              <a:cs typeface="+mn-cs"/>
            </a:endParaRPr>
          </a:p>
          <a:p>
            <a:pPr marL="0" lvl="1" indent="0" algn="l" eaLnBrk="1" hangingPunct="1">
              <a:buClrTx/>
              <a:buSzTx/>
              <a:buFont typeface="Wingdings" panose="05000000000000000000" charset="0"/>
              <a:buNone/>
            </a:pPr>
            <a:r>
              <a:rPr lang="en-US" altLang="zh-CN" sz="2800" dirty="0">
                <a:latin typeface="黑体" panose="02010609060101010101" pitchFamily="2" charset="-122"/>
                <a:ea typeface="黑体" panose="02010609060101010101" pitchFamily="2" charset="-122"/>
                <a:cs typeface="+mn-cs"/>
              </a:rPr>
              <a:t>*S.top++ = e;	</a:t>
            </a:r>
            <a:r>
              <a:rPr lang="zh-CN" altLang="en-US" sz="2800" dirty="0">
                <a:latin typeface="黑体" panose="02010609060101010101" pitchFamily="2" charset="-122"/>
                <a:ea typeface="黑体" panose="02010609060101010101" pitchFamily="2" charset="-122"/>
                <a:cs typeface="+mn-cs"/>
              </a:rPr>
              <a:t>等价于</a:t>
            </a:r>
            <a:r>
              <a:rPr lang="en-US" altLang="zh-CN" sz="2800" dirty="0">
                <a:latin typeface="黑体" panose="02010609060101010101" pitchFamily="2" charset="-122"/>
                <a:ea typeface="黑体" panose="02010609060101010101" pitchFamily="2" charset="-122"/>
                <a:cs typeface="+mn-cs"/>
              </a:rPr>
              <a:t>	</a:t>
            </a:r>
            <a:r>
              <a:rPr lang="en-US" altLang="zh-CN" sz="2800" dirty="0">
                <a:latin typeface="黑体" panose="02010609060101010101" pitchFamily="2" charset="-122"/>
                <a:ea typeface="黑体" panose="02010609060101010101" pitchFamily="2" charset="-122"/>
                <a:cs typeface="+mn-cs"/>
                <a:sym typeface="+mn-ea"/>
              </a:rPr>
              <a:t>*S.top=e, top++;</a:t>
            </a:r>
            <a:endParaRPr lang="zh-CN" altLang="en-US" sz="2800" dirty="0">
              <a:latin typeface="黑体" panose="02010609060101010101" pitchFamily="2" charset="-122"/>
              <a:ea typeface="黑体" panose="02010609060101010101" pitchFamily="2" charset="-122"/>
              <a:cs typeface="+mn-cs"/>
            </a:endParaRPr>
          </a:p>
          <a:p>
            <a:pPr lvl="1" algn="l">
              <a:buClrTx/>
              <a:buSzTx/>
              <a:buChar char="•"/>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6" name="对象 5"/>
          <p:cNvGraphicFramePr/>
          <p:nvPr/>
        </p:nvGraphicFramePr>
        <p:xfrm>
          <a:off x="706120" y="1454785"/>
          <a:ext cx="7934960" cy="3718560"/>
        </p:xfrm>
        <a:graphic>
          <a:graphicData uri="http://schemas.openxmlformats.org/presentationml/2006/ole">
            <mc:AlternateContent xmlns:mc="http://schemas.openxmlformats.org/markup-compatibility/2006">
              <mc:Choice xmlns:v="urn:schemas-microsoft-com:vml" Requires="v">
                <p:oleObj spid="_x0000_s7" name="" r:id="rId1" imgW="7277100" imgH="3400425" progId="Paint.Picture">
                  <p:embed/>
                </p:oleObj>
              </mc:Choice>
              <mc:Fallback>
                <p:oleObj name="" r:id="rId1" imgW="7277100" imgH="3400425" progId="Paint.Picture">
                  <p:embed/>
                  <p:pic>
                    <p:nvPicPr>
                      <p:cNvPr id="0" name="图片 6"/>
                      <p:cNvPicPr/>
                      <p:nvPr/>
                    </p:nvPicPr>
                    <p:blipFill>
                      <a:blip r:embed="rId2"/>
                      <a:stretch>
                        <a:fillRect/>
                      </a:stretch>
                    </p:blipFill>
                    <p:spPr>
                      <a:xfrm>
                        <a:off x="706120" y="1454785"/>
                        <a:ext cx="7934960" cy="3718560"/>
                      </a:xfrm>
                      <a:prstGeom prst="rect">
                        <a:avLst/>
                      </a:prstGeom>
                    </p:spPr>
                  </p:pic>
                </p:oleObj>
              </mc:Fallback>
            </mc:AlternateContent>
          </a:graphicData>
        </a:graphic>
      </p:graphicFrame>
      <p:grpSp>
        <p:nvGrpSpPr>
          <p:cNvPr id="16388" name="Group 4"/>
          <p:cNvGrpSpPr/>
          <p:nvPr/>
        </p:nvGrpSpPr>
        <p:grpSpPr>
          <a:xfrm>
            <a:off x="9000490" y="3598545"/>
            <a:ext cx="2057400" cy="2379663"/>
            <a:chOff x="4368" y="2688"/>
            <a:chExt cx="1296" cy="1499"/>
          </a:xfrm>
        </p:grpSpPr>
        <p:grpSp>
          <p:nvGrpSpPr>
            <p:cNvPr id="16389" name="Group 5"/>
            <p:cNvGrpSpPr/>
            <p:nvPr/>
          </p:nvGrpSpPr>
          <p:grpSpPr>
            <a:xfrm>
              <a:off x="4417" y="3024"/>
              <a:ext cx="531" cy="251"/>
              <a:chOff x="4465" y="3648"/>
              <a:chExt cx="531" cy="251"/>
            </a:xfrm>
          </p:grpSpPr>
          <p:sp>
            <p:nvSpPr>
              <p:cNvPr id="16390" name="Line 6"/>
              <p:cNvSpPr/>
              <p:nvPr/>
            </p:nvSpPr>
            <p:spPr>
              <a:xfrm>
                <a:off x="4809" y="3782"/>
                <a:ext cx="187" cy="0"/>
              </a:xfrm>
              <a:prstGeom prst="line">
                <a:avLst/>
              </a:prstGeom>
              <a:ln w="38100" cap="flat" cmpd="sng">
                <a:solidFill>
                  <a:srgbClr val="0000FF"/>
                </a:solidFill>
                <a:prstDash val="solid"/>
                <a:round/>
                <a:headEnd type="none" w="med" len="med"/>
                <a:tailEnd type="triangle" w="sm" len="sm"/>
              </a:ln>
            </p:spPr>
          </p:sp>
          <p:sp>
            <p:nvSpPr>
              <p:cNvPr id="16391" name="Text Box 7"/>
              <p:cNvSpPr txBox="1"/>
              <p:nvPr/>
            </p:nvSpPr>
            <p:spPr>
              <a:xfrm>
                <a:off x="4465" y="3648"/>
                <a:ext cx="337" cy="251"/>
              </a:xfrm>
              <a:prstGeom prst="rect">
                <a:avLst/>
              </a:prstGeom>
              <a:noFill/>
              <a:ln w="9525">
                <a:noFill/>
              </a:ln>
            </p:spPr>
            <p:txBody>
              <a:bodyPr wrap="none" anchor="t" anchorCtr="0">
                <a:spAutoFit/>
              </a:bodyPr>
              <a:p>
                <a:pPr algn="ctr"/>
                <a:r>
                  <a:rPr lang="en-US" altLang="zh-CN" sz="2000" b="1" dirty="0">
                    <a:solidFill>
                      <a:srgbClr val="CC3300"/>
                    </a:solidFill>
                    <a:latin typeface="Times New Roman" panose="02020603050405020304" charset="0"/>
                    <a:ea typeface="楷体" panose="02010609060101010101" charset="-122"/>
                  </a:rPr>
                  <a:t>top</a:t>
                </a:r>
                <a:endParaRPr lang="en-US" altLang="zh-CN" sz="2000" b="1" dirty="0">
                  <a:solidFill>
                    <a:srgbClr val="CC3300"/>
                  </a:solidFill>
                  <a:latin typeface="Times New Roman" panose="02020603050405020304" charset="0"/>
                  <a:ea typeface="楷体" panose="02010609060101010101" charset="-122"/>
                </a:endParaRPr>
              </a:p>
            </p:txBody>
          </p:sp>
        </p:grpSp>
        <p:grpSp>
          <p:nvGrpSpPr>
            <p:cNvPr id="16392" name="Group 8"/>
            <p:cNvGrpSpPr/>
            <p:nvPr/>
          </p:nvGrpSpPr>
          <p:grpSpPr>
            <a:xfrm>
              <a:off x="4368" y="3792"/>
              <a:ext cx="571" cy="251"/>
              <a:chOff x="4416" y="3792"/>
              <a:chExt cx="571" cy="251"/>
            </a:xfrm>
          </p:grpSpPr>
          <p:sp>
            <p:nvSpPr>
              <p:cNvPr id="16393" name="Line 9"/>
              <p:cNvSpPr/>
              <p:nvPr/>
            </p:nvSpPr>
            <p:spPr>
              <a:xfrm>
                <a:off x="4800" y="3936"/>
                <a:ext cx="187" cy="0"/>
              </a:xfrm>
              <a:prstGeom prst="line">
                <a:avLst/>
              </a:prstGeom>
              <a:ln w="38100" cap="flat" cmpd="sng">
                <a:solidFill>
                  <a:srgbClr val="0000FF"/>
                </a:solidFill>
                <a:prstDash val="solid"/>
                <a:round/>
                <a:headEnd type="none" w="med" len="med"/>
                <a:tailEnd type="triangle" w="sm" len="sm"/>
              </a:ln>
            </p:spPr>
          </p:sp>
          <p:sp>
            <p:nvSpPr>
              <p:cNvPr id="16394" name="Text Box 10"/>
              <p:cNvSpPr txBox="1"/>
              <p:nvPr/>
            </p:nvSpPr>
            <p:spPr>
              <a:xfrm>
                <a:off x="4416" y="3792"/>
                <a:ext cx="418" cy="251"/>
              </a:xfrm>
              <a:prstGeom prst="rect">
                <a:avLst/>
              </a:prstGeom>
              <a:noFill/>
              <a:ln w="9525">
                <a:noFill/>
              </a:ln>
            </p:spPr>
            <p:txBody>
              <a:bodyPr wrap="none" anchor="t" anchorCtr="0">
                <a:spAutoFit/>
              </a:bodyPr>
              <a:p>
                <a:pPr algn="ctr"/>
                <a:r>
                  <a:rPr lang="en-US" altLang="zh-CN" sz="2000" b="1" dirty="0">
                    <a:solidFill>
                      <a:srgbClr val="CC3300"/>
                    </a:solidFill>
                    <a:latin typeface="Times New Roman" panose="02020603050405020304" charset="0"/>
                    <a:ea typeface="楷体" panose="02010609060101010101" charset="-122"/>
                  </a:rPr>
                  <a:t>base</a:t>
                </a:r>
                <a:endParaRPr lang="en-US" altLang="zh-CN" sz="2000" b="1" dirty="0">
                  <a:solidFill>
                    <a:srgbClr val="CC3300"/>
                  </a:solidFill>
                  <a:latin typeface="Times New Roman" panose="02020603050405020304" charset="0"/>
                  <a:ea typeface="楷体" panose="02010609060101010101" charset="-122"/>
                </a:endParaRPr>
              </a:p>
            </p:txBody>
          </p:sp>
        </p:grpSp>
        <p:sp>
          <p:nvSpPr>
            <p:cNvPr id="16395" name="Rectangle 11"/>
            <p:cNvSpPr/>
            <p:nvPr/>
          </p:nvSpPr>
          <p:spPr>
            <a:xfrm>
              <a:off x="4992" y="2736"/>
              <a:ext cx="613" cy="1207"/>
            </a:xfrm>
            <a:prstGeom prst="rect">
              <a:avLst/>
            </a:prstGeom>
            <a:solidFill>
              <a:srgbClr val="FFCC99"/>
            </a:solidFill>
            <a:ln w="28575" cap="flat" cmpd="sng">
              <a:solidFill>
                <a:srgbClr val="000080"/>
              </a:solidFill>
              <a:prstDash val="solid"/>
              <a:miter/>
              <a:headEnd type="none" w="med" len="med"/>
              <a:tailEnd type="none" w="med" len="med"/>
            </a:ln>
          </p:spPr>
          <p:txBody>
            <a:bodyPr wrap="none" anchor="ctr" anchorCtr="0"/>
            <a:p>
              <a:pPr algn="ctr"/>
              <a:endParaRPr lang="zh-CN" altLang="zh-CN" sz="2000" dirty="0">
                <a:latin typeface="Times New Roman" panose="02020603050405020304" charset="0"/>
                <a:ea typeface="宋体" panose="02010600030101010101" pitchFamily="2" charset="-122"/>
              </a:endParaRPr>
            </a:p>
          </p:txBody>
        </p:sp>
        <p:sp>
          <p:nvSpPr>
            <p:cNvPr id="16396" name="Line 12"/>
            <p:cNvSpPr/>
            <p:nvPr/>
          </p:nvSpPr>
          <p:spPr>
            <a:xfrm>
              <a:off x="4992" y="3707"/>
              <a:ext cx="612" cy="0"/>
            </a:xfrm>
            <a:prstGeom prst="line">
              <a:avLst/>
            </a:prstGeom>
            <a:ln w="28575" cap="flat" cmpd="sng">
              <a:solidFill>
                <a:schemeClr val="tx2"/>
              </a:solidFill>
              <a:prstDash val="solid"/>
              <a:round/>
              <a:headEnd type="none" w="med" len="med"/>
              <a:tailEnd type="none" w="med" len="med"/>
            </a:ln>
          </p:spPr>
        </p:sp>
        <p:sp>
          <p:nvSpPr>
            <p:cNvPr id="16397" name="Line 13"/>
            <p:cNvSpPr/>
            <p:nvPr/>
          </p:nvSpPr>
          <p:spPr>
            <a:xfrm>
              <a:off x="4992" y="2976"/>
              <a:ext cx="612" cy="0"/>
            </a:xfrm>
            <a:prstGeom prst="line">
              <a:avLst/>
            </a:prstGeom>
            <a:ln w="28575" cap="flat" cmpd="sng">
              <a:solidFill>
                <a:schemeClr val="tx2"/>
              </a:solidFill>
              <a:prstDash val="solid"/>
              <a:round/>
              <a:headEnd type="none" w="med" len="med"/>
              <a:tailEnd type="none" w="med" len="med"/>
            </a:ln>
          </p:spPr>
        </p:sp>
        <p:sp>
          <p:nvSpPr>
            <p:cNvPr id="16398" name="Line 14"/>
            <p:cNvSpPr/>
            <p:nvPr/>
          </p:nvSpPr>
          <p:spPr>
            <a:xfrm>
              <a:off x="4992" y="3216"/>
              <a:ext cx="612" cy="0"/>
            </a:xfrm>
            <a:prstGeom prst="line">
              <a:avLst/>
            </a:prstGeom>
            <a:ln w="28575" cap="flat" cmpd="sng">
              <a:solidFill>
                <a:schemeClr val="tx2"/>
              </a:solidFill>
              <a:prstDash val="solid"/>
              <a:round/>
              <a:headEnd type="none" w="med" len="med"/>
              <a:tailEnd type="none" w="med" len="med"/>
            </a:ln>
          </p:spPr>
        </p:sp>
        <p:sp>
          <p:nvSpPr>
            <p:cNvPr id="16399" name="Line 15"/>
            <p:cNvSpPr/>
            <p:nvPr/>
          </p:nvSpPr>
          <p:spPr>
            <a:xfrm>
              <a:off x="4992" y="3456"/>
              <a:ext cx="612" cy="0"/>
            </a:xfrm>
            <a:prstGeom prst="line">
              <a:avLst/>
            </a:prstGeom>
            <a:ln w="28575" cap="flat" cmpd="sng">
              <a:solidFill>
                <a:schemeClr val="tx2"/>
              </a:solidFill>
              <a:prstDash val="solid"/>
              <a:round/>
              <a:headEnd type="none" w="med" len="med"/>
              <a:tailEnd type="none" w="med" len="med"/>
            </a:ln>
          </p:spPr>
        </p:sp>
        <p:sp>
          <p:nvSpPr>
            <p:cNvPr id="16400" name="Text Box 16"/>
            <p:cNvSpPr txBox="1"/>
            <p:nvPr/>
          </p:nvSpPr>
          <p:spPr>
            <a:xfrm>
              <a:off x="5136" y="2688"/>
              <a:ext cx="316" cy="1289"/>
            </a:xfrm>
            <a:prstGeom prst="rect">
              <a:avLst/>
            </a:prstGeom>
            <a:noFill/>
            <a:ln w="9525">
              <a:noFill/>
            </a:ln>
          </p:spPr>
          <p:txBody>
            <a:bodyPr tIns="0" anchor="t" anchorCtr="0">
              <a:spAutoFit/>
            </a:bodyPr>
            <a:p>
              <a:pPr algn="ctr">
                <a:lnSpc>
                  <a:spcPct val="130000"/>
                </a:lnSpc>
              </a:pP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r>
                <a:rPr lang="en-US" altLang="zh-CN" sz="2000" b="1" i="1" dirty="0">
                  <a:solidFill>
                    <a:srgbClr val="0000FF"/>
                  </a:solidFill>
                  <a:latin typeface="Times New Roman" panose="02020603050405020304" charset="0"/>
                  <a:ea typeface="宋体" panose="02010600030101010101" pitchFamily="2" charset="-122"/>
                </a:rPr>
                <a:t>e</a:t>
              </a: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r>
                <a:rPr lang="en-US" altLang="zh-CN" sz="2000" b="1" i="1" dirty="0">
                  <a:solidFill>
                    <a:srgbClr val="0000FF"/>
                  </a:solidFill>
                  <a:latin typeface="Times New Roman" panose="02020603050405020304" charset="0"/>
                  <a:ea typeface="宋体" panose="02010600030101010101" pitchFamily="2" charset="-122"/>
                </a:rPr>
                <a:t>b</a:t>
              </a: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r>
                <a:rPr lang="en-US" altLang="zh-CN" sz="2000" b="1" i="1" dirty="0">
                  <a:solidFill>
                    <a:srgbClr val="0000FF"/>
                  </a:solidFill>
                  <a:latin typeface="Times New Roman" panose="02020603050405020304" charset="0"/>
                  <a:ea typeface="宋体" panose="02010600030101010101" pitchFamily="2" charset="-122"/>
                </a:rPr>
                <a:t>a </a:t>
              </a:r>
              <a:endParaRPr lang="en-US" altLang="zh-CN" sz="2000" b="1" i="1" dirty="0">
                <a:solidFill>
                  <a:srgbClr val="0000FF"/>
                </a:solidFill>
                <a:latin typeface="Times New Roman" panose="02020603050405020304" charset="0"/>
                <a:ea typeface="宋体" panose="02010600030101010101" pitchFamily="2" charset="-122"/>
              </a:endParaRPr>
            </a:p>
          </p:txBody>
        </p:sp>
        <p:sp>
          <p:nvSpPr>
            <p:cNvPr id="16401" name="Text Box 17"/>
            <p:cNvSpPr txBox="1"/>
            <p:nvPr/>
          </p:nvSpPr>
          <p:spPr>
            <a:xfrm>
              <a:off x="4944" y="3936"/>
              <a:ext cx="720" cy="251"/>
            </a:xfrm>
            <a:prstGeom prst="rect">
              <a:avLst/>
            </a:prstGeom>
            <a:noFill/>
            <a:ln w="9525">
              <a:noFill/>
            </a:ln>
          </p:spPr>
          <p:txBody>
            <a:bodyPr anchor="t" anchorCtr="0">
              <a:spAutoFit/>
            </a:bodyPr>
            <a:p>
              <a:pPr algn="ctr">
                <a:spcBef>
                  <a:spcPct val="50000"/>
                </a:spcBef>
              </a:pPr>
              <a:r>
                <a:rPr lang="en-US" altLang="zh-CN" sz="2000" b="1" dirty="0">
                  <a:solidFill>
                    <a:srgbClr val="CC3300"/>
                  </a:solidFill>
                  <a:latin typeface="Tahoma" panose="020B0604030504040204" charset="0"/>
                  <a:ea typeface="黑体" panose="02010609060101010101" pitchFamily="2" charset="-122"/>
                </a:rPr>
                <a:t>e</a:t>
              </a:r>
              <a:r>
                <a:rPr lang="zh-CN" altLang="en-US" sz="2000" b="1" dirty="0">
                  <a:solidFill>
                    <a:srgbClr val="CC3300"/>
                  </a:solidFill>
                  <a:latin typeface="Tahoma" panose="020B0604030504040204" charset="0"/>
                  <a:ea typeface="黑体" panose="02010609060101010101" pitchFamily="2" charset="-122"/>
                </a:rPr>
                <a:t>进栈</a:t>
              </a:r>
              <a:endParaRPr lang="zh-CN" altLang="en-US" sz="2000" b="1" dirty="0">
                <a:solidFill>
                  <a:srgbClr val="CC3300"/>
                </a:solidFill>
                <a:latin typeface="Tahoma" panose="020B0604030504040204" charset="0"/>
                <a:ea typeface="黑体" panose="02010609060101010101" pitchFamily="2" charset="-122"/>
              </a:endParaRPr>
            </a:p>
          </p:txBody>
        </p:sp>
      </p:grpSp>
      <p:grpSp>
        <p:nvGrpSpPr>
          <p:cNvPr id="16402" name="Group 18"/>
          <p:cNvGrpSpPr/>
          <p:nvPr/>
        </p:nvGrpSpPr>
        <p:grpSpPr>
          <a:xfrm>
            <a:off x="8905240" y="616585"/>
            <a:ext cx="2057400" cy="2379663"/>
            <a:chOff x="3120" y="2688"/>
            <a:chExt cx="1296" cy="1499"/>
          </a:xfrm>
        </p:grpSpPr>
        <p:grpSp>
          <p:nvGrpSpPr>
            <p:cNvPr id="16403" name="Group 19"/>
            <p:cNvGrpSpPr/>
            <p:nvPr/>
          </p:nvGrpSpPr>
          <p:grpSpPr>
            <a:xfrm>
              <a:off x="3169" y="3216"/>
              <a:ext cx="531" cy="251"/>
              <a:chOff x="4465" y="3648"/>
              <a:chExt cx="531" cy="251"/>
            </a:xfrm>
          </p:grpSpPr>
          <p:sp>
            <p:nvSpPr>
              <p:cNvPr id="16404" name="Line 20"/>
              <p:cNvSpPr/>
              <p:nvPr/>
            </p:nvSpPr>
            <p:spPr>
              <a:xfrm>
                <a:off x="4809" y="3782"/>
                <a:ext cx="187" cy="0"/>
              </a:xfrm>
              <a:prstGeom prst="line">
                <a:avLst/>
              </a:prstGeom>
              <a:ln w="38100" cap="flat" cmpd="sng">
                <a:solidFill>
                  <a:srgbClr val="0000FF"/>
                </a:solidFill>
                <a:prstDash val="solid"/>
                <a:round/>
                <a:headEnd type="none" w="med" len="med"/>
                <a:tailEnd type="triangle" w="sm" len="sm"/>
              </a:ln>
            </p:spPr>
          </p:sp>
          <p:sp>
            <p:nvSpPr>
              <p:cNvPr id="16405" name="Text Box 21"/>
              <p:cNvSpPr txBox="1"/>
              <p:nvPr/>
            </p:nvSpPr>
            <p:spPr>
              <a:xfrm>
                <a:off x="4465" y="3648"/>
                <a:ext cx="337" cy="251"/>
              </a:xfrm>
              <a:prstGeom prst="rect">
                <a:avLst/>
              </a:prstGeom>
              <a:noFill/>
              <a:ln w="9525">
                <a:noFill/>
              </a:ln>
            </p:spPr>
            <p:txBody>
              <a:bodyPr wrap="none" anchor="t" anchorCtr="0">
                <a:spAutoFit/>
              </a:bodyPr>
              <a:p>
                <a:pPr algn="ctr"/>
                <a:r>
                  <a:rPr lang="en-US" altLang="zh-CN" sz="2000" b="1" dirty="0">
                    <a:solidFill>
                      <a:srgbClr val="CC3300"/>
                    </a:solidFill>
                    <a:latin typeface="Times New Roman" panose="02020603050405020304" charset="0"/>
                    <a:ea typeface="楷体" panose="02010609060101010101" charset="-122"/>
                  </a:rPr>
                  <a:t>top</a:t>
                </a:r>
                <a:endParaRPr lang="en-US" altLang="zh-CN" sz="2000" b="1" dirty="0">
                  <a:solidFill>
                    <a:srgbClr val="CC3300"/>
                  </a:solidFill>
                  <a:latin typeface="Times New Roman" panose="02020603050405020304" charset="0"/>
                  <a:ea typeface="楷体" panose="02010609060101010101" charset="-122"/>
                </a:endParaRPr>
              </a:p>
            </p:txBody>
          </p:sp>
        </p:grpSp>
        <p:grpSp>
          <p:nvGrpSpPr>
            <p:cNvPr id="16406" name="Group 22"/>
            <p:cNvGrpSpPr/>
            <p:nvPr/>
          </p:nvGrpSpPr>
          <p:grpSpPr>
            <a:xfrm>
              <a:off x="3120" y="3792"/>
              <a:ext cx="571" cy="251"/>
              <a:chOff x="4416" y="3792"/>
              <a:chExt cx="571" cy="251"/>
            </a:xfrm>
          </p:grpSpPr>
          <p:sp>
            <p:nvSpPr>
              <p:cNvPr id="16407" name="Line 23"/>
              <p:cNvSpPr/>
              <p:nvPr/>
            </p:nvSpPr>
            <p:spPr>
              <a:xfrm>
                <a:off x="4800" y="3936"/>
                <a:ext cx="187" cy="0"/>
              </a:xfrm>
              <a:prstGeom prst="line">
                <a:avLst/>
              </a:prstGeom>
              <a:ln w="38100" cap="flat" cmpd="sng">
                <a:solidFill>
                  <a:srgbClr val="0000FF"/>
                </a:solidFill>
                <a:prstDash val="solid"/>
                <a:round/>
                <a:headEnd type="none" w="med" len="med"/>
                <a:tailEnd type="triangle" w="sm" len="sm"/>
              </a:ln>
            </p:spPr>
          </p:sp>
          <p:sp>
            <p:nvSpPr>
              <p:cNvPr id="16408" name="Text Box 24"/>
              <p:cNvSpPr txBox="1"/>
              <p:nvPr/>
            </p:nvSpPr>
            <p:spPr>
              <a:xfrm>
                <a:off x="4416" y="3792"/>
                <a:ext cx="418" cy="251"/>
              </a:xfrm>
              <a:prstGeom prst="rect">
                <a:avLst/>
              </a:prstGeom>
              <a:noFill/>
              <a:ln w="9525">
                <a:noFill/>
              </a:ln>
            </p:spPr>
            <p:txBody>
              <a:bodyPr wrap="none" anchor="t" anchorCtr="0">
                <a:spAutoFit/>
              </a:bodyPr>
              <a:p>
                <a:pPr algn="ctr"/>
                <a:r>
                  <a:rPr lang="en-US" altLang="zh-CN" sz="2000" b="1" dirty="0">
                    <a:solidFill>
                      <a:srgbClr val="CC3300"/>
                    </a:solidFill>
                    <a:latin typeface="Times New Roman" panose="02020603050405020304" charset="0"/>
                    <a:ea typeface="楷体" panose="02010609060101010101" charset="-122"/>
                  </a:rPr>
                  <a:t>base</a:t>
                </a:r>
                <a:endParaRPr lang="en-US" altLang="zh-CN" sz="2000" b="1" dirty="0">
                  <a:solidFill>
                    <a:srgbClr val="CC3300"/>
                  </a:solidFill>
                  <a:latin typeface="Times New Roman" panose="02020603050405020304" charset="0"/>
                  <a:ea typeface="楷体" panose="02010609060101010101" charset="-122"/>
                </a:endParaRPr>
              </a:p>
            </p:txBody>
          </p:sp>
        </p:grpSp>
        <p:sp>
          <p:nvSpPr>
            <p:cNvPr id="16409" name="Rectangle 25"/>
            <p:cNvSpPr/>
            <p:nvPr/>
          </p:nvSpPr>
          <p:spPr>
            <a:xfrm>
              <a:off x="3744" y="2736"/>
              <a:ext cx="613" cy="1207"/>
            </a:xfrm>
            <a:prstGeom prst="rect">
              <a:avLst/>
            </a:prstGeom>
            <a:solidFill>
              <a:srgbClr val="FFCC99"/>
            </a:solidFill>
            <a:ln w="28575" cap="flat" cmpd="sng">
              <a:solidFill>
                <a:srgbClr val="000080"/>
              </a:solidFill>
              <a:prstDash val="solid"/>
              <a:miter/>
              <a:headEnd type="none" w="med" len="med"/>
              <a:tailEnd type="none" w="med" len="med"/>
            </a:ln>
          </p:spPr>
          <p:txBody>
            <a:bodyPr wrap="none" anchor="ctr" anchorCtr="0"/>
            <a:p>
              <a:pPr algn="ctr"/>
              <a:endParaRPr lang="zh-CN" altLang="zh-CN" sz="2000" dirty="0">
                <a:latin typeface="Times New Roman" panose="02020603050405020304" charset="0"/>
                <a:ea typeface="宋体" panose="02010600030101010101" pitchFamily="2" charset="-122"/>
              </a:endParaRPr>
            </a:p>
          </p:txBody>
        </p:sp>
        <p:sp>
          <p:nvSpPr>
            <p:cNvPr id="16410" name="Line 26"/>
            <p:cNvSpPr/>
            <p:nvPr/>
          </p:nvSpPr>
          <p:spPr>
            <a:xfrm>
              <a:off x="3744" y="3707"/>
              <a:ext cx="612" cy="0"/>
            </a:xfrm>
            <a:prstGeom prst="line">
              <a:avLst/>
            </a:prstGeom>
            <a:ln w="28575" cap="flat" cmpd="sng">
              <a:solidFill>
                <a:schemeClr val="tx2"/>
              </a:solidFill>
              <a:prstDash val="solid"/>
              <a:round/>
              <a:headEnd type="none" w="med" len="med"/>
              <a:tailEnd type="none" w="med" len="med"/>
            </a:ln>
          </p:spPr>
        </p:sp>
        <p:sp>
          <p:nvSpPr>
            <p:cNvPr id="16411" name="Line 27"/>
            <p:cNvSpPr/>
            <p:nvPr/>
          </p:nvSpPr>
          <p:spPr>
            <a:xfrm>
              <a:off x="3744" y="2976"/>
              <a:ext cx="612" cy="0"/>
            </a:xfrm>
            <a:prstGeom prst="line">
              <a:avLst/>
            </a:prstGeom>
            <a:ln w="28575" cap="flat" cmpd="sng">
              <a:solidFill>
                <a:schemeClr val="tx2"/>
              </a:solidFill>
              <a:prstDash val="solid"/>
              <a:round/>
              <a:headEnd type="none" w="med" len="med"/>
              <a:tailEnd type="none" w="med" len="med"/>
            </a:ln>
          </p:spPr>
        </p:sp>
        <p:sp>
          <p:nvSpPr>
            <p:cNvPr id="16412" name="Line 28"/>
            <p:cNvSpPr/>
            <p:nvPr/>
          </p:nvSpPr>
          <p:spPr>
            <a:xfrm>
              <a:off x="3744" y="3216"/>
              <a:ext cx="612" cy="0"/>
            </a:xfrm>
            <a:prstGeom prst="line">
              <a:avLst/>
            </a:prstGeom>
            <a:ln w="28575" cap="flat" cmpd="sng">
              <a:solidFill>
                <a:schemeClr val="tx2"/>
              </a:solidFill>
              <a:prstDash val="solid"/>
              <a:round/>
              <a:headEnd type="none" w="med" len="med"/>
              <a:tailEnd type="none" w="med" len="med"/>
            </a:ln>
          </p:spPr>
        </p:sp>
        <p:sp>
          <p:nvSpPr>
            <p:cNvPr id="16413" name="Line 29"/>
            <p:cNvSpPr/>
            <p:nvPr/>
          </p:nvSpPr>
          <p:spPr>
            <a:xfrm>
              <a:off x="3744" y="3456"/>
              <a:ext cx="612" cy="0"/>
            </a:xfrm>
            <a:prstGeom prst="line">
              <a:avLst/>
            </a:prstGeom>
            <a:ln w="28575" cap="flat" cmpd="sng">
              <a:solidFill>
                <a:schemeClr val="tx2"/>
              </a:solidFill>
              <a:prstDash val="solid"/>
              <a:round/>
              <a:headEnd type="none" w="med" len="med"/>
              <a:tailEnd type="none" w="med" len="med"/>
            </a:ln>
          </p:spPr>
        </p:sp>
        <p:sp>
          <p:nvSpPr>
            <p:cNvPr id="16414" name="Text Box 30"/>
            <p:cNvSpPr txBox="1"/>
            <p:nvPr/>
          </p:nvSpPr>
          <p:spPr>
            <a:xfrm>
              <a:off x="3888" y="2688"/>
              <a:ext cx="316" cy="1289"/>
            </a:xfrm>
            <a:prstGeom prst="rect">
              <a:avLst/>
            </a:prstGeom>
            <a:noFill/>
            <a:ln w="9525">
              <a:noFill/>
            </a:ln>
          </p:spPr>
          <p:txBody>
            <a:bodyPr tIns="0" anchor="t" anchorCtr="0">
              <a:spAutoFit/>
            </a:bodyPr>
            <a:p>
              <a:pPr algn="ctr">
                <a:lnSpc>
                  <a:spcPct val="130000"/>
                </a:lnSpc>
              </a:pP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r>
                <a:rPr lang="en-US" altLang="zh-CN" sz="2000" b="1" i="1" dirty="0">
                  <a:solidFill>
                    <a:srgbClr val="0000FF"/>
                  </a:solidFill>
                  <a:latin typeface="Times New Roman" panose="02020603050405020304" charset="0"/>
                  <a:ea typeface="宋体" panose="02010600030101010101" pitchFamily="2" charset="-122"/>
                </a:rPr>
                <a:t>b</a:t>
              </a: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r>
                <a:rPr lang="en-US" altLang="zh-CN" sz="2000" b="1" i="1" dirty="0">
                  <a:solidFill>
                    <a:srgbClr val="0000FF"/>
                  </a:solidFill>
                  <a:latin typeface="Times New Roman" panose="02020603050405020304" charset="0"/>
                  <a:ea typeface="宋体" panose="02010600030101010101" pitchFamily="2" charset="-122"/>
                </a:rPr>
                <a:t>a </a:t>
              </a:r>
              <a:endParaRPr lang="en-US" altLang="zh-CN" sz="2000" b="1" i="1" dirty="0">
                <a:solidFill>
                  <a:srgbClr val="0000FF"/>
                </a:solidFill>
                <a:latin typeface="Times New Roman" panose="02020603050405020304" charset="0"/>
                <a:ea typeface="宋体" panose="02010600030101010101" pitchFamily="2" charset="-122"/>
              </a:endParaRPr>
            </a:p>
          </p:txBody>
        </p:sp>
        <p:sp>
          <p:nvSpPr>
            <p:cNvPr id="16415" name="Text Box 31"/>
            <p:cNvSpPr txBox="1"/>
            <p:nvPr/>
          </p:nvSpPr>
          <p:spPr>
            <a:xfrm>
              <a:off x="3696" y="3936"/>
              <a:ext cx="720" cy="251"/>
            </a:xfrm>
            <a:prstGeom prst="rect">
              <a:avLst/>
            </a:prstGeom>
            <a:noFill/>
            <a:ln w="9525">
              <a:noFill/>
            </a:ln>
          </p:spPr>
          <p:txBody>
            <a:bodyPr anchor="t" anchorCtr="0">
              <a:spAutoFit/>
            </a:bodyPr>
            <a:p>
              <a:pPr algn="ctr">
                <a:spcBef>
                  <a:spcPct val="50000"/>
                </a:spcBef>
              </a:pPr>
              <a:r>
                <a:rPr lang="zh-CN" altLang="en-US" sz="2000" b="1" dirty="0">
                  <a:solidFill>
                    <a:srgbClr val="CC3300"/>
                  </a:solidFill>
                  <a:latin typeface="Tahoma" panose="020B0604030504040204" charset="0"/>
                  <a:ea typeface="黑体" panose="02010609060101010101" pitchFamily="2" charset="-122"/>
                </a:rPr>
                <a:t>操作前</a:t>
              </a:r>
              <a:endParaRPr lang="zh-CN" altLang="en-US" sz="2000" b="1" dirty="0">
                <a:solidFill>
                  <a:srgbClr val="CC3300"/>
                </a:solidFill>
                <a:latin typeface="Tahoma" panose="020B0604030504040204" charset="0"/>
                <a:ea typeface="黑体" panose="02010609060101010101" pitchFamily="2"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顺序栈的出</a:t>
            </a:r>
            <a:r>
              <a:rPr lang="zh-CN" altLang="en-US" sz="2800" dirty="0">
                <a:latin typeface="黑体" panose="02010609060101010101" pitchFamily="2" charset="-122"/>
                <a:ea typeface="黑体" panose="02010609060101010101" pitchFamily="2" charset="-122"/>
                <a:cs typeface="+mn-cs"/>
                <a:sym typeface="+mn-ea"/>
              </a:rPr>
              <a:t>栈：</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0" lvl="1" indent="0" algn="l" eaLnBrk="1" hangingPunct="1">
              <a:buClrTx/>
              <a:buSzTx/>
              <a:buFont typeface="Wingdings" panose="05000000000000000000" charset="0"/>
              <a:buNone/>
            </a:pPr>
            <a:r>
              <a:rPr lang="en-US" altLang="zh-CN" sz="2800" dirty="0">
                <a:latin typeface="黑体" panose="02010609060101010101" pitchFamily="2" charset="-122"/>
                <a:ea typeface="黑体" panose="02010609060101010101" pitchFamily="2" charset="-122"/>
                <a:cs typeface="+mn-cs"/>
                <a:sym typeface="+mn-ea"/>
              </a:rPr>
              <a:t>e = *--S.top;</a:t>
            </a:r>
            <a:endParaRPr lang="en-US" altLang="zh-CN" sz="2800" dirty="0">
              <a:latin typeface="黑体" panose="02010609060101010101" pitchFamily="2" charset="-122"/>
              <a:ea typeface="黑体" panose="02010609060101010101" pitchFamily="2" charset="-122"/>
              <a:cs typeface="+mn-cs"/>
              <a:sym typeface="+mn-ea"/>
            </a:endParaRPr>
          </a:p>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cs typeface="+mn-cs"/>
              </a:rPr>
              <a:t>等价于</a:t>
            </a:r>
            <a:endParaRPr lang="zh-CN" altLang="en-US" sz="2800" dirty="0">
              <a:latin typeface="黑体" panose="02010609060101010101" pitchFamily="2" charset="-122"/>
              <a:ea typeface="黑体" panose="02010609060101010101" pitchFamily="2" charset="-122"/>
              <a:cs typeface="+mn-cs"/>
            </a:endParaRPr>
          </a:p>
          <a:p>
            <a:pPr marL="0" lvl="1" indent="0" algn="l" eaLnBrk="1" hangingPunct="1">
              <a:buClrTx/>
              <a:buSzTx/>
              <a:buFont typeface="Wingdings" panose="05000000000000000000" charset="0"/>
              <a:buNone/>
            </a:pPr>
            <a:r>
              <a:rPr lang="en-US" altLang="zh-CN" sz="2800" dirty="0">
                <a:latin typeface="黑体" panose="02010609060101010101" pitchFamily="2" charset="-122"/>
                <a:ea typeface="黑体" panose="02010609060101010101" pitchFamily="2" charset="-122"/>
                <a:cs typeface="+mn-cs"/>
                <a:sym typeface="+mn-ea"/>
              </a:rPr>
              <a:t>top--;	e = *S.top;</a:t>
            </a:r>
            <a:endParaRPr lang="zh-CN" altLang="en-US" sz="2800" dirty="0">
              <a:latin typeface="黑体" panose="02010609060101010101" pitchFamily="2" charset="-122"/>
              <a:ea typeface="黑体" panose="02010609060101010101" pitchFamily="2" charset="-122"/>
              <a:cs typeface="+mn-cs"/>
            </a:endParaRPr>
          </a:p>
          <a:p>
            <a:pPr lvl="1" algn="l">
              <a:buClrTx/>
              <a:buSzTx/>
              <a:buChar char="•"/>
            </a:pPr>
            <a:endParaRPr lang="zh-CN" altLang="en-US" sz="2800"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18436" name="Group 32"/>
          <p:cNvGrpSpPr/>
          <p:nvPr/>
        </p:nvGrpSpPr>
        <p:grpSpPr>
          <a:xfrm>
            <a:off x="9268778" y="3500438"/>
            <a:ext cx="2057400" cy="2379663"/>
            <a:chOff x="4368" y="2688"/>
            <a:chExt cx="1296" cy="1499"/>
          </a:xfrm>
        </p:grpSpPr>
        <p:grpSp>
          <p:nvGrpSpPr>
            <p:cNvPr id="18437" name="Group 33"/>
            <p:cNvGrpSpPr/>
            <p:nvPr/>
          </p:nvGrpSpPr>
          <p:grpSpPr>
            <a:xfrm>
              <a:off x="4417" y="3216"/>
              <a:ext cx="531" cy="251"/>
              <a:chOff x="4465" y="3648"/>
              <a:chExt cx="531" cy="251"/>
            </a:xfrm>
          </p:grpSpPr>
          <p:sp>
            <p:nvSpPr>
              <p:cNvPr id="18438" name="Line 34"/>
              <p:cNvSpPr/>
              <p:nvPr/>
            </p:nvSpPr>
            <p:spPr>
              <a:xfrm>
                <a:off x="4809" y="3782"/>
                <a:ext cx="187" cy="0"/>
              </a:xfrm>
              <a:prstGeom prst="line">
                <a:avLst/>
              </a:prstGeom>
              <a:ln w="38100" cap="flat" cmpd="sng">
                <a:solidFill>
                  <a:srgbClr val="0000FF"/>
                </a:solidFill>
                <a:prstDash val="solid"/>
                <a:round/>
                <a:headEnd type="none" w="med" len="med"/>
                <a:tailEnd type="triangle" w="sm" len="sm"/>
              </a:ln>
            </p:spPr>
          </p:sp>
          <p:sp>
            <p:nvSpPr>
              <p:cNvPr id="18439" name="Text Box 35"/>
              <p:cNvSpPr txBox="1"/>
              <p:nvPr/>
            </p:nvSpPr>
            <p:spPr>
              <a:xfrm>
                <a:off x="4465" y="3648"/>
                <a:ext cx="337" cy="251"/>
              </a:xfrm>
              <a:prstGeom prst="rect">
                <a:avLst/>
              </a:prstGeom>
              <a:noFill/>
              <a:ln w="9525">
                <a:noFill/>
              </a:ln>
            </p:spPr>
            <p:txBody>
              <a:bodyPr wrap="none" anchor="t" anchorCtr="0">
                <a:spAutoFit/>
              </a:bodyPr>
              <a:p>
                <a:pPr algn="ctr"/>
                <a:r>
                  <a:rPr lang="en-US" altLang="zh-CN" sz="2000" b="1" dirty="0">
                    <a:solidFill>
                      <a:srgbClr val="CC3300"/>
                    </a:solidFill>
                    <a:latin typeface="Times New Roman" panose="02020603050405020304" charset="0"/>
                    <a:ea typeface="楷体" panose="02010609060101010101" charset="-122"/>
                  </a:rPr>
                  <a:t>top</a:t>
                </a:r>
                <a:endParaRPr lang="en-US" altLang="zh-CN" sz="2000" b="1" dirty="0">
                  <a:solidFill>
                    <a:srgbClr val="CC3300"/>
                  </a:solidFill>
                  <a:latin typeface="Times New Roman" panose="02020603050405020304" charset="0"/>
                  <a:ea typeface="楷体" panose="02010609060101010101" charset="-122"/>
                </a:endParaRPr>
              </a:p>
            </p:txBody>
          </p:sp>
        </p:grpSp>
        <p:grpSp>
          <p:nvGrpSpPr>
            <p:cNvPr id="18440" name="Group 36"/>
            <p:cNvGrpSpPr/>
            <p:nvPr/>
          </p:nvGrpSpPr>
          <p:grpSpPr>
            <a:xfrm>
              <a:off x="4368" y="3792"/>
              <a:ext cx="571" cy="251"/>
              <a:chOff x="4416" y="3792"/>
              <a:chExt cx="571" cy="251"/>
            </a:xfrm>
          </p:grpSpPr>
          <p:sp>
            <p:nvSpPr>
              <p:cNvPr id="18441" name="Line 37"/>
              <p:cNvSpPr/>
              <p:nvPr/>
            </p:nvSpPr>
            <p:spPr>
              <a:xfrm>
                <a:off x="4800" y="3936"/>
                <a:ext cx="187" cy="0"/>
              </a:xfrm>
              <a:prstGeom prst="line">
                <a:avLst/>
              </a:prstGeom>
              <a:ln w="38100" cap="flat" cmpd="sng">
                <a:solidFill>
                  <a:srgbClr val="0000FF"/>
                </a:solidFill>
                <a:prstDash val="solid"/>
                <a:round/>
                <a:headEnd type="none" w="med" len="med"/>
                <a:tailEnd type="triangle" w="sm" len="sm"/>
              </a:ln>
            </p:spPr>
          </p:sp>
          <p:sp>
            <p:nvSpPr>
              <p:cNvPr id="18442" name="Text Box 38"/>
              <p:cNvSpPr txBox="1"/>
              <p:nvPr/>
            </p:nvSpPr>
            <p:spPr>
              <a:xfrm>
                <a:off x="4416" y="3792"/>
                <a:ext cx="418" cy="251"/>
              </a:xfrm>
              <a:prstGeom prst="rect">
                <a:avLst/>
              </a:prstGeom>
              <a:noFill/>
              <a:ln w="9525">
                <a:noFill/>
              </a:ln>
            </p:spPr>
            <p:txBody>
              <a:bodyPr wrap="none" anchor="t" anchorCtr="0">
                <a:spAutoFit/>
              </a:bodyPr>
              <a:p>
                <a:pPr algn="ctr"/>
                <a:r>
                  <a:rPr lang="en-US" altLang="zh-CN" sz="2000" b="1" dirty="0">
                    <a:solidFill>
                      <a:srgbClr val="CC3300"/>
                    </a:solidFill>
                    <a:latin typeface="Times New Roman" panose="02020603050405020304" charset="0"/>
                    <a:ea typeface="楷体" panose="02010609060101010101" charset="-122"/>
                  </a:rPr>
                  <a:t>base</a:t>
                </a:r>
                <a:endParaRPr lang="en-US" altLang="zh-CN" sz="2000" b="1" dirty="0">
                  <a:solidFill>
                    <a:srgbClr val="CC3300"/>
                  </a:solidFill>
                  <a:latin typeface="Times New Roman" panose="02020603050405020304" charset="0"/>
                  <a:ea typeface="楷体" panose="02010609060101010101" charset="-122"/>
                </a:endParaRPr>
              </a:p>
            </p:txBody>
          </p:sp>
        </p:grpSp>
        <p:sp>
          <p:nvSpPr>
            <p:cNvPr id="18443" name="Rectangle 39"/>
            <p:cNvSpPr/>
            <p:nvPr/>
          </p:nvSpPr>
          <p:spPr>
            <a:xfrm>
              <a:off x="4992" y="2736"/>
              <a:ext cx="613" cy="1207"/>
            </a:xfrm>
            <a:prstGeom prst="rect">
              <a:avLst/>
            </a:prstGeom>
            <a:solidFill>
              <a:srgbClr val="FFCC99"/>
            </a:solidFill>
            <a:ln w="28575" cap="flat" cmpd="sng">
              <a:solidFill>
                <a:srgbClr val="000080"/>
              </a:solidFill>
              <a:prstDash val="solid"/>
              <a:miter/>
              <a:headEnd type="none" w="med" len="med"/>
              <a:tailEnd type="none" w="med" len="med"/>
            </a:ln>
          </p:spPr>
          <p:txBody>
            <a:bodyPr wrap="none" anchor="ctr" anchorCtr="0"/>
            <a:p>
              <a:pPr algn="ctr"/>
              <a:endParaRPr lang="zh-CN" altLang="zh-CN" sz="2000" dirty="0">
                <a:latin typeface="Times New Roman" panose="02020603050405020304" charset="0"/>
                <a:ea typeface="宋体" panose="02010600030101010101" pitchFamily="2" charset="-122"/>
              </a:endParaRPr>
            </a:p>
          </p:txBody>
        </p:sp>
        <p:sp>
          <p:nvSpPr>
            <p:cNvPr id="18444" name="Line 40"/>
            <p:cNvSpPr/>
            <p:nvPr/>
          </p:nvSpPr>
          <p:spPr>
            <a:xfrm>
              <a:off x="4992" y="3707"/>
              <a:ext cx="612" cy="0"/>
            </a:xfrm>
            <a:prstGeom prst="line">
              <a:avLst/>
            </a:prstGeom>
            <a:ln w="28575" cap="flat" cmpd="sng">
              <a:solidFill>
                <a:schemeClr val="tx2"/>
              </a:solidFill>
              <a:prstDash val="solid"/>
              <a:round/>
              <a:headEnd type="none" w="med" len="med"/>
              <a:tailEnd type="none" w="med" len="med"/>
            </a:ln>
          </p:spPr>
        </p:sp>
        <p:sp>
          <p:nvSpPr>
            <p:cNvPr id="18445" name="Line 41"/>
            <p:cNvSpPr/>
            <p:nvPr/>
          </p:nvSpPr>
          <p:spPr>
            <a:xfrm>
              <a:off x="4992" y="2976"/>
              <a:ext cx="612" cy="0"/>
            </a:xfrm>
            <a:prstGeom prst="line">
              <a:avLst/>
            </a:prstGeom>
            <a:ln w="28575" cap="flat" cmpd="sng">
              <a:solidFill>
                <a:schemeClr val="tx2"/>
              </a:solidFill>
              <a:prstDash val="solid"/>
              <a:round/>
              <a:headEnd type="none" w="med" len="med"/>
              <a:tailEnd type="none" w="med" len="med"/>
            </a:ln>
          </p:spPr>
        </p:sp>
        <p:sp>
          <p:nvSpPr>
            <p:cNvPr id="18446" name="Line 42"/>
            <p:cNvSpPr/>
            <p:nvPr/>
          </p:nvSpPr>
          <p:spPr>
            <a:xfrm>
              <a:off x="4992" y="3216"/>
              <a:ext cx="612" cy="0"/>
            </a:xfrm>
            <a:prstGeom prst="line">
              <a:avLst/>
            </a:prstGeom>
            <a:ln w="28575" cap="flat" cmpd="sng">
              <a:solidFill>
                <a:schemeClr val="tx2"/>
              </a:solidFill>
              <a:prstDash val="solid"/>
              <a:round/>
              <a:headEnd type="none" w="med" len="med"/>
              <a:tailEnd type="none" w="med" len="med"/>
            </a:ln>
          </p:spPr>
        </p:sp>
        <p:sp>
          <p:nvSpPr>
            <p:cNvPr id="18447" name="Line 43"/>
            <p:cNvSpPr/>
            <p:nvPr/>
          </p:nvSpPr>
          <p:spPr>
            <a:xfrm>
              <a:off x="4992" y="3456"/>
              <a:ext cx="612" cy="0"/>
            </a:xfrm>
            <a:prstGeom prst="line">
              <a:avLst/>
            </a:prstGeom>
            <a:ln w="28575" cap="flat" cmpd="sng">
              <a:solidFill>
                <a:schemeClr val="tx2"/>
              </a:solidFill>
              <a:prstDash val="solid"/>
              <a:round/>
              <a:headEnd type="none" w="med" len="med"/>
              <a:tailEnd type="none" w="med" len="med"/>
            </a:ln>
          </p:spPr>
        </p:sp>
        <p:sp>
          <p:nvSpPr>
            <p:cNvPr id="18448" name="Text Box 44"/>
            <p:cNvSpPr txBox="1"/>
            <p:nvPr/>
          </p:nvSpPr>
          <p:spPr>
            <a:xfrm>
              <a:off x="5136" y="2688"/>
              <a:ext cx="316" cy="1289"/>
            </a:xfrm>
            <a:prstGeom prst="rect">
              <a:avLst/>
            </a:prstGeom>
            <a:noFill/>
            <a:ln w="9525">
              <a:noFill/>
            </a:ln>
          </p:spPr>
          <p:txBody>
            <a:bodyPr tIns="0" anchor="t" anchorCtr="0">
              <a:spAutoFit/>
            </a:bodyPr>
            <a:p>
              <a:pPr algn="ctr">
                <a:lnSpc>
                  <a:spcPct val="130000"/>
                </a:lnSpc>
              </a:pP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r>
                <a:rPr lang="en-US" altLang="zh-CN" sz="2000" b="1" i="1" dirty="0">
                  <a:solidFill>
                    <a:srgbClr val="808080"/>
                  </a:solidFill>
                  <a:latin typeface="Times New Roman" panose="02020603050405020304" charset="0"/>
                  <a:ea typeface="宋体" panose="02010600030101010101" pitchFamily="2" charset="-122"/>
                </a:rPr>
                <a:t>e</a:t>
              </a:r>
              <a:endParaRPr lang="en-US" altLang="zh-CN" sz="2000" b="1" i="1" dirty="0">
                <a:solidFill>
                  <a:srgbClr val="808080"/>
                </a:solidFill>
                <a:latin typeface="Times New Roman" panose="02020603050405020304" charset="0"/>
                <a:ea typeface="宋体" panose="02010600030101010101" pitchFamily="2" charset="-122"/>
              </a:endParaRPr>
            </a:p>
            <a:p>
              <a:pPr algn="ctr">
                <a:lnSpc>
                  <a:spcPct val="130000"/>
                </a:lnSpc>
              </a:pPr>
              <a:r>
                <a:rPr lang="en-US" altLang="zh-CN" sz="2000" b="1" i="1" dirty="0">
                  <a:solidFill>
                    <a:srgbClr val="0000FF"/>
                  </a:solidFill>
                  <a:latin typeface="Times New Roman" panose="02020603050405020304" charset="0"/>
                  <a:ea typeface="宋体" panose="02010600030101010101" pitchFamily="2" charset="-122"/>
                </a:rPr>
                <a:t>b</a:t>
              </a: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r>
                <a:rPr lang="en-US" altLang="zh-CN" sz="2000" b="1" i="1" dirty="0">
                  <a:solidFill>
                    <a:srgbClr val="0000FF"/>
                  </a:solidFill>
                  <a:latin typeface="Times New Roman" panose="02020603050405020304" charset="0"/>
                  <a:ea typeface="宋体" panose="02010600030101010101" pitchFamily="2" charset="-122"/>
                </a:rPr>
                <a:t>a </a:t>
              </a:r>
              <a:endParaRPr lang="en-US" altLang="zh-CN" sz="2000" b="1" i="1" dirty="0">
                <a:solidFill>
                  <a:srgbClr val="0000FF"/>
                </a:solidFill>
                <a:latin typeface="Times New Roman" panose="02020603050405020304" charset="0"/>
                <a:ea typeface="宋体" panose="02010600030101010101" pitchFamily="2" charset="-122"/>
              </a:endParaRPr>
            </a:p>
          </p:txBody>
        </p:sp>
        <p:sp>
          <p:nvSpPr>
            <p:cNvPr id="18449" name="Text Box 45"/>
            <p:cNvSpPr txBox="1"/>
            <p:nvPr/>
          </p:nvSpPr>
          <p:spPr>
            <a:xfrm>
              <a:off x="4944" y="3936"/>
              <a:ext cx="720" cy="251"/>
            </a:xfrm>
            <a:prstGeom prst="rect">
              <a:avLst/>
            </a:prstGeom>
            <a:noFill/>
            <a:ln w="9525">
              <a:noFill/>
            </a:ln>
          </p:spPr>
          <p:txBody>
            <a:bodyPr anchor="t" anchorCtr="0">
              <a:spAutoFit/>
            </a:bodyPr>
            <a:p>
              <a:pPr algn="ctr">
                <a:spcBef>
                  <a:spcPct val="50000"/>
                </a:spcBef>
              </a:pPr>
              <a:r>
                <a:rPr lang="en-US" altLang="zh-CN" sz="2000" b="1" dirty="0">
                  <a:solidFill>
                    <a:srgbClr val="CC3300"/>
                  </a:solidFill>
                  <a:latin typeface="Tahoma" panose="020B0604030504040204" charset="0"/>
                  <a:ea typeface="黑体" panose="02010609060101010101" pitchFamily="2" charset="-122"/>
                </a:rPr>
                <a:t>e</a:t>
              </a:r>
              <a:r>
                <a:rPr lang="zh-CN" altLang="en-US" sz="2000" b="1" dirty="0">
                  <a:solidFill>
                    <a:srgbClr val="CC3300"/>
                  </a:solidFill>
                  <a:latin typeface="Tahoma" panose="020B0604030504040204" charset="0"/>
                  <a:ea typeface="黑体" panose="02010609060101010101" pitchFamily="2" charset="-122"/>
                </a:rPr>
                <a:t>出栈</a:t>
              </a:r>
              <a:endParaRPr lang="zh-CN" altLang="en-US" sz="2000" b="1" dirty="0">
                <a:solidFill>
                  <a:srgbClr val="CC3300"/>
                </a:solidFill>
                <a:latin typeface="Tahoma" panose="020B0604030504040204" charset="0"/>
                <a:ea typeface="黑体" panose="02010609060101010101" pitchFamily="2" charset="-122"/>
              </a:endParaRPr>
            </a:p>
          </p:txBody>
        </p:sp>
      </p:grpSp>
      <p:grpSp>
        <p:nvGrpSpPr>
          <p:cNvPr id="18450" name="Group 46"/>
          <p:cNvGrpSpPr/>
          <p:nvPr/>
        </p:nvGrpSpPr>
        <p:grpSpPr>
          <a:xfrm>
            <a:off x="9124633" y="692468"/>
            <a:ext cx="2057400" cy="2379663"/>
            <a:chOff x="4368" y="2688"/>
            <a:chExt cx="1296" cy="1499"/>
          </a:xfrm>
        </p:grpSpPr>
        <p:grpSp>
          <p:nvGrpSpPr>
            <p:cNvPr id="18451" name="Group 47"/>
            <p:cNvGrpSpPr/>
            <p:nvPr/>
          </p:nvGrpSpPr>
          <p:grpSpPr>
            <a:xfrm>
              <a:off x="4417" y="3024"/>
              <a:ext cx="531" cy="251"/>
              <a:chOff x="4465" y="3648"/>
              <a:chExt cx="531" cy="251"/>
            </a:xfrm>
          </p:grpSpPr>
          <p:sp>
            <p:nvSpPr>
              <p:cNvPr id="18452" name="Line 48"/>
              <p:cNvSpPr/>
              <p:nvPr/>
            </p:nvSpPr>
            <p:spPr>
              <a:xfrm>
                <a:off x="4809" y="3782"/>
                <a:ext cx="187" cy="0"/>
              </a:xfrm>
              <a:prstGeom prst="line">
                <a:avLst/>
              </a:prstGeom>
              <a:ln w="38100" cap="flat" cmpd="sng">
                <a:solidFill>
                  <a:srgbClr val="0000FF"/>
                </a:solidFill>
                <a:prstDash val="solid"/>
                <a:round/>
                <a:headEnd type="none" w="med" len="med"/>
                <a:tailEnd type="triangle" w="sm" len="sm"/>
              </a:ln>
            </p:spPr>
          </p:sp>
          <p:sp>
            <p:nvSpPr>
              <p:cNvPr id="18453" name="Text Box 49"/>
              <p:cNvSpPr txBox="1"/>
              <p:nvPr/>
            </p:nvSpPr>
            <p:spPr>
              <a:xfrm>
                <a:off x="4465" y="3648"/>
                <a:ext cx="337" cy="251"/>
              </a:xfrm>
              <a:prstGeom prst="rect">
                <a:avLst/>
              </a:prstGeom>
              <a:noFill/>
              <a:ln w="9525">
                <a:noFill/>
              </a:ln>
            </p:spPr>
            <p:txBody>
              <a:bodyPr wrap="none" anchor="t" anchorCtr="0">
                <a:spAutoFit/>
              </a:bodyPr>
              <a:p>
                <a:pPr algn="ctr"/>
                <a:r>
                  <a:rPr lang="en-US" altLang="zh-CN" sz="2000" b="1" dirty="0">
                    <a:solidFill>
                      <a:srgbClr val="CC3300"/>
                    </a:solidFill>
                    <a:latin typeface="Times New Roman" panose="02020603050405020304" charset="0"/>
                    <a:ea typeface="楷体" panose="02010609060101010101" charset="-122"/>
                  </a:rPr>
                  <a:t>top</a:t>
                </a:r>
                <a:endParaRPr lang="en-US" altLang="zh-CN" sz="2000" b="1" dirty="0">
                  <a:solidFill>
                    <a:srgbClr val="CC3300"/>
                  </a:solidFill>
                  <a:latin typeface="Times New Roman" panose="02020603050405020304" charset="0"/>
                  <a:ea typeface="楷体" panose="02010609060101010101" charset="-122"/>
                </a:endParaRPr>
              </a:p>
            </p:txBody>
          </p:sp>
        </p:grpSp>
        <p:grpSp>
          <p:nvGrpSpPr>
            <p:cNvPr id="18454" name="Group 50"/>
            <p:cNvGrpSpPr/>
            <p:nvPr/>
          </p:nvGrpSpPr>
          <p:grpSpPr>
            <a:xfrm>
              <a:off x="4368" y="3792"/>
              <a:ext cx="571" cy="251"/>
              <a:chOff x="4416" y="3792"/>
              <a:chExt cx="571" cy="251"/>
            </a:xfrm>
          </p:grpSpPr>
          <p:sp>
            <p:nvSpPr>
              <p:cNvPr id="18455" name="Line 51"/>
              <p:cNvSpPr/>
              <p:nvPr/>
            </p:nvSpPr>
            <p:spPr>
              <a:xfrm>
                <a:off x="4800" y="3936"/>
                <a:ext cx="187" cy="0"/>
              </a:xfrm>
              <a:prstGeom prst="line">
                <a:avLst/>
              </a:prstGeom>
              <a:ln w="38100" cap="flat" cmpd="sng">
                <a:solidFill>
                  <a:srgbClr val="0000FF"/>
                </a:solidFill>
                <a:prstDash val="solid"/>
                <a:round/>
                <a:headEnd type="none" w="med" len="med"/>
                <a:tailEnd type="triangle" w="sm" len="sm"/>
              </a:ln>
            </p:spPr>
          </p:sp>
          <p:sp>
            <p:nvSpPr>
              <p:cNvPr id="18456" name="Text Box 52"/>
              <p:cNvSpPr txBox="1"/>
              <p:nvPr/>
            </p:nvSpPr>
            <p:spPr>
              <a:xfrm>
                <a:off x="4416" y="3792"/>
                <a:ext cx="418" cy="251"/>
              </a:xfrm>
              <a:prstGeom prst="rect">
                <a:avLst/>
              </a:prstGeom>
              <a:noFill/>
              <a:ln w="9525">
                <a:noFill/>
              </a:ln>
            </p:spPr>
            <p:txBody>
              <a:bodyPr wrap="none" anchor="t" anchorCtr="0">
                <a:spAutoFit/>
              </a:bodyPr>
              <a:p>
                <a:pPr algn="ctr"/>
                <a:r>
                  <a:rPr lang="en-US" altLang="zh-CN" sz="2000" b="1" dirty="0">
                    <a:solidFill>
                      <a:srgbClr val="CC3300"/>
                    </a:solidFill>
                    <a:latin typeface="Times New Roman" panose="02020603050405020304" charset="0"/>
                    <a:ea typeface="楷体" panose="02010609060101010101" charset="-122"/>
                  </a:rPr>
                  <a:t>base</a:t>
                </a:r>
                <a:endParaRPr lang="en-US" altLang="zh-CN" sz="2000" b="1" dirty="0">
                  <a:solidFill>
                    <a:srgbClr val="CC3300"/>
                  </a:solidFill>
                  <a:latin typeface="Times New Roman" panose="02020603050405020304" charset="0"/>
                  <a:ea typeface="楷体" panose="02010609060101010101" charset="-122"/>
                </a:endParaRPr>
              </a:p>
            </p:txBody>
          </p:sp>
        </p:grpSp>
        <p:sp>
          <p:nvSpPr>
            <p:cNvPr id="18457" name="Rectangle 53"/>
            <p:cNvSpPr/>
            <p:nvPr/>
          </p:nvSpPr>
          <p:spPr>
            <a:xfrm>
              <a:off x="4992" y="2736"/>
              <a:ext cx="613" cy="1207"/>
            </a:xfrm>
            <a:prstGeom prst="rect">
              <a:avLst/>
            </a:prstGeom>
            <a:solidFill>
              <a:srgbClr val="FFCC99"/>
            </a:solidFill>
            <a:ln w="28575" cap="flat" cmpd="sng">
              <a:solidFill>
                <a:srgbClr val="000080"/>
              </a:solidFill>
              <a:prstDash val="solid"/>
              <a:miter/>
              <a:headEnd type="none" w="med" len="med"/>
              <a:tailEnd type="none" w="med" len="med"/>
            </a:ln>
          </p:spPr>
          <p:txBody>
            <a:bodyPr wrap="none" anchor="ctr" anchorCtr="0"/>
            <a:p>
              <a:pPr algn="ctr"/>
              <a:endParaRPr lang="zh-CN" altLang="zh-CN" sz="2000" dirty="0">
                <a:latin typeface="Times New Roman" panose="02020603050405020304" charset="0"/>
                <a:ea typeface="宋体" panose="02010600030101010101" pitchFamily="2" charset="-122"/>
              </a:endParaRPr>
            </a:p>
          </p:txBody>
        </p:sp>
        <p:sp>
          <p:nvSpPr>
            <p:cNvPr id="18458" name="Line 54"/>
            <p:cNvSpPr/>
            <p:nvPr/>
          </p:nvSpPr>
          <p:spPr>
            <a:xfrm>
              <a:off x="4992" y="3707"/>
              <a:ext cx="612" cy="0"/>
            </a:xfrm>
            <a:prstGeom prst="line">
              <a:avLst/>
            </a:prstGeom>
            <a:ln w="28575" cap="flat" cmpd="sng">
              <a:solidFill>
                <a:schemeClr val="tx2"/>
              </a:solidFill>
              <a:prstDash val="solid"/>
              <a:round/>
              <a:headEnd type="none" w="med" len="med"/>
              <a:tailEnd type="none" w="med" len="med"/>
            </a:ln>
          </p:spPr>
        </p:sp>
        <p:sp>
          <p:nvSpPr>
            <p:cNvPr id="18459" name="Line 55"/>
            <p:cNvSpPr/>
            <p:nvPr/>
          </p:nvSpPr>
          <p:spPr>
            <a:xfrm>
              <a:off x="4992" y="2976"/>
              <a:ext cx="612" cy="0"/>
            </a:xfrm>
            <a:prstGeom prst="line">
              <a:avLst/>
            </a:prstGeom>
            <a:ln w="28575" cap="flat" cmpd="sng">
              <a:solidFill>
                <a:schemeClr val="tx2"/>
              </a:solidFill>
              <a:prstDash val="solid"/>
              <a:round/>
              <a:headEnd type="none" w="med" len="med"/>
              <a:tailEnd type="none" w="med" len="med"/>
            </a:ln>
          </p:spPr>
        </p:sp>
        <p:sp>
          <p:nvSpPr>
            <p:cNvPr id="18460" name="Line 56"/>
            <p:cNvSpPr/>
            <p:nvPr/>
          </p:nvSpPr>
          <p:spPr>
            <a:xfrm>
              <a:off x="4992" y="3216"/>
              <a:ext cx="612" cy="0"/>
            </a:xfrm>
            <a:prstGeom prst="line">
              <a:avLst/>
            </a:prstGeom>
            <a:ln w="28575" cap="flat" cmpd="sng">
              <a:solidFill>
                <a:schemeClr val="tx2"/>
              </a:solidFill>
              <a:prstDash val="solid"/>
              <a:round/>
              <a:headEnd type="none" w="med" len="med"/>
              <a:tailEnd type="none" w="med" len="med"/>
            </a:ln>
          </p:spPr>
        </p:sp>
        <p:sp>
          <p:nvSpPr>
            <p:cNvPr id="18461" name="Line 57"/>
            <p:cNvSpPr/>
            <p:nvPr/>
          </p:nvSpPr>
          <p:spPr>
            <a:xfrm>
              <a:off x="4992" y="3456"/>
              <a:ext cx="612" cy="0"/>
            </a:xfrm>
            <a:prstGeom prst="line">
              <a:avLst/>
            </a:prstGeom>
            <a:ln w="28575" cap="flat" cmpd="sng">
              <a:solidFill>
                <a:schemeClr val="tx2"/>
              </a:solidFill>
              <a:prstDash val="solid"/>
              <a:round/>
              <a:headEnd type="none" w="med" len="med"/>
              <a:tailEnd type="none" w="med" len="med"/>
            </a:ln>
          </p:spPr>
        </p:sp>
        <p:sp>
          <p:nvSpPr>
            <p:cNvPr id="18462" name="Text Box 58"/>
            <p:cNvSpPr txBox="1"/>
            <p:nvPr/>
          </p:nvSpPr>
          <p:spPr>
            <a:xfrm>
              <a:off x="5136" y="2688"/>
              <a:ext cx="316" cy="1289"/>
            </a:xfrm>
            <a:prstGeom prst="rect">
              <a:avLst/>
            </a:prstGeom>
            <a:noFill/>
            <a:ln w="9525">
              <a:noFill/>
            </a:ln>
          </p:spPr>
          <p:txBody>
            <a:bodyPr tIns="0" anchor="t" anchorCtr="0">
              <a:spAutoFit/>
            </a:bodyPr>
            <a:p>
              <a:pPr algn="ctr">
                <a:lnSpc>
                  <a:spcPct val="130000"/>
                </a:lnSpc>
              </a:pP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r>
                <a:rPr lang="en-US" altLang="zh-CN" sz="2000" b="1" i="1" dirty="0">
                  <a:solidFill>
                    <a:srgbClr val="0000FF"/>
                  </a:solidFill>
                  <a:latin typeface="Times New Roman" panose="02020603050405020304" charset="0"/>
                  <a:ea typeface="宋体" panose="02010600030101010101" pitchFamily="2" charset="-122"/>
                </a:rPr>
                <a:t>e</a:t>
              </a: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r>
                <a:rPr lang="en-US" altLang="zh-CN" sz="2000" b="1" i="1" dirty="0">
                  <a:solidFill>
                    <a:srgbClr val="0000FF"/>
                  </a:solidFill>
                  <a:latin typeface="Times New Roman" panose="02020603050405020304" charset="0"/>
                  <a:ea typeface="宋体" panose="02010600030101010101" pitchFamily="2" charset="-122"/>
                </a:rPr>
                <a:t>b</a:t>
              </a:r>
              <a:endParaRPr lang="en-US" altLang="zh-CN" sz="2000" b="1" i="1" dirty="0">
                <a:solidFill>
                  <a:srgbClr val="0000FF"/>
                </a:solidFill>
                <a:latin typeface="Times New Roman" panose="02020603050405020304" charset="0"/>
                <a:ea typeface="宋体" panose="02010600030101010101" pitchFamily="2" charset="-122"/>
              </a:endParaRPr>
            </a:p>
            <a:p>
              <a:pPr algn="ctr">
                <a:lnSpc>
                  <a:spcPct val="130000"/>
                </a:lnSpc>
              </a:pPr>
              <a:r>
                <a:rPr lang="en-US" altLang="zh-CN" sz="2000" b="1" i="1" dirty="0">
                  <a:solidFill>
                    <a:srgbClr val="0000FF"/>
                  </a:solidFill>
                  <a:latin typeface="Times New Roman" panose="02020603050405020304" charset="0"/>
                  <a:ea typeface="宋体" panose="02010600030101010101" pitchFamily="2" charset="-122"/>
                </a:rPr>
                <a:t>a </a:t>
              </a:r>
              <a:endParaRPr lang="en-US" altLang="zh-CN" sz="2000" b="1" i="1" dirty="0">
                <a:solidFill>
                  <a:srgbClr val="0000FF"/>
                </a:solidFill>
                <a:latin typeface="Times New Roman" panose="02020603050405020304" charset="0"/>
                <a:ea typeface="宋体" panose="02010600030101010101" pitchFamily="2" charset="-122"/>
              </a:endParaRPr>
            </a:p>
          </p:txBody>
        </p:sp>
        <p:sp>
          <p:nvSpPr>
            <p:cNvPr id="18463" name="Text Box 59"/>
            <p:cNvSpPr txBox="1"/>
            <p:nvPr/>
          </p:nvSpPr>
          <p:spPr>
            <a:xfrm>
              <a:off x="4944" y="3936"/>
              <a:ext cx="720" cy="251"/>
            </a:xfrm>
            <a:prstGeom prst="rect">
              <a:avLst/>
            </a:prstGeom>
            <a:noFill/>
            <a:ln w="9525">
              <a:noFill/>
            </a:ln>
          </p:spPr>
          <p:txBody>
            <a:bodyPr anchor="t" anchorCtr="0">
              <a:spAutoFit/>
            </a:bodyPr>
            <a:p>
              <a:pPr algn="ctr">
                <a:spcBef>
                  <a:spcPct val="50000"/>
                </a:spcBef>
              </a:pPr>
              <a:r>
                <a:rPr lang="zh-CN" altLang="en-US" sz="2000" b="1" dirty="0">
                  <a:solidFill>
                    <a:srgbClr val="CC3300"/>
                  </a:solidFill>
                  <a:latin typeface="Tahoma" panose="020B0604030504040204" charset="0"/>
                  <a:ea typeface="黑体" panose="02010609060101010101" pitchFamily="2" charset="-122"/>
                </a:rPr>
                <a:t>操作前</a:t>
              </a:r>
              <a:endParaRPr lang="zh-CN" altLang="en-US" sz="2000" b="1" dirty="0">
                <a:solidFill>
                  <a:srgbClr val="CC3300"/>
                </a:solidFill>
                <a:latin typeface="Tahoma" panose="020B0604030504040204" charset="0"/>
                <a:ea typeface="黑体" panose="02010609060101010101" pitchFamily="2" charset="-122"/>
              </a:endParaRPr>
            </a:p>
          </p:txBody>
        </p:sp>
      </p:grpSp>
      <p:pic>
        <p:nvPicPr>
          <p:cNvPr id="5" name="图片 4"/>
          <p:cNvPicPr>
            <a:picLocks noChangeAspect="1"/>
          </p:cNvPicPr>
          <p:nvPr/>
        </p:nvPicPr>
        <p:blipFill>
          <a:blip r:embed="rId1"/>
          <a:stretch>
            <a:fillRect/>
          </a:stretch>
        </p:blipFill>
        <p:spPr>
          <a:xfrm>
            <a:off x="752475" y="1530985"/>
            <a:ext cx="7178040" cy="23850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6631940" cy="4128135"/>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顺序栈的</a:t>
            </a:r>
            <a:r>
              <a:rPr lang="en-US" altLang="zh-CN" sz="2800" dirty="0">
                <a:latin typeface="黑体" panose="02010609060101010101" pitchFamily="2" charset="-122"/>
                <a:ea typeface="黑体" panose="02010609060101010101" pitchFamily="2" charset="-122"/>
                <a:cs typeface="+mn-cs"/>
                <a:sym typeface="+mn-ea"/>
              </a:rPr>
              <a:t>C++</a:t>
            </a:r>
            <a:r>
              <a:rPr lang="zh-CN" altLang="en-US" sz="2800" dirty="0">
                <a:latin typeface="黑体" panose="02010609060101010101" pitchFamily="2" charset="-122"/>
                <a:ea typeface="黑体" panose="02010609060101010101" pitchFamily="2" charset="-122"/>
                <a:cs typeface="+mn-cs"/>
                <a:sym typeface="+mn-ea"/>
              </a:rPr>
              <a:t>入栈、出栈、判栈空</a:t>
            </a:r>
            <a:endParaRPr lang="zh-CN" altLang="en-US" sz="28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zh-CN" altLang="en-US" sz="2330" dirty="0">
                <a:latin typeface="黑体" panose="02010609060101010101" pitchFamily="2" charset="-122"/>
                <a:ea typeface="黑体" panose="02010609060101010101" pitchFamily="2" charset="-122"/>
                <a:cs typeface="+mn-cs"/>
              </a:rPr>
              <a:t>入栈</a:t>
            </a:r>
            <a:r>
              <a:rPr lang="en-US" altLang="zh-CN" sz="2330" dirty="0">
                <a:latin typeface="黑体" panose="02010609060101010101" pitchFamily="2" charset="-122"/>
                <a:ea typeface="黑体" panose="02010609060101010101" pitchFamily="2" charset="-122"/>
                <a:cs typeface="+mn-cs"/>
              </a:rPr>
              <a:t>push()</a:t>
            </a:r>
            <a:endParaRPr lang="en-US" altLang="zh-CN" sz="2330" dirty="0">
              <a:latin typeface="黑体" panose="02010609060101010101" pitchFamily="2" charset="-122"/>
              <a:ea typeface="黑体" panose="02010609060101010101" pitchFamily="2" charset="-122"/>
              <a:cs typeface="+mn-cs"/>
            </a:endParaRPr>
          </a:p>
          <a:p>
            <a:pPr marL="914400" lvl="2" indent="-457200" algn="l" eaLnBrk="1" hangingPunct="1">
              <a:buClrTx/>
              <a:buSzTx/>
              <a:buFont typeface="Arial" panose="020B0604020202020204" pitchFamily="34" charset="0"/>
              <a:buChar char="•"/>
            </a:pPr>
            <a:r>
              <a:rPr lang="zh-CN" altLang="en-US" sz="2330" dirty="0">
                <a:latin typeface="黑体" panose="02010609060101010101" pitchFamily="2" charset="-122"/>
                <a:ea typeface="黑体" panose="02010609060101010101" pitchFamily="2" charset="-122"/>
                <a:cs typeface="+mn-cs"/>
              </a:rPr>
              <a:t>出栈</a:t>
            </a:r>
            <a:r>
              <a:rPr lang="en-US" altLang="zh-CN" sz="2330" dirty="0">
                <a:latin typeface="黑体" panose="02010609060101010101" pitchFamily="2" charset="-122"/>
                <a:ea typeface="黑体" panose="02010609060101010101" pitchFamily="2" charset="-122"/>
                <a:cs typeface="+mn-cs"/>
              </a:rPr>
              <a:t>pop()</a:t>
            </a:r>
            <a:endParaRPr lang="en-US" altLang="zh-CN" sz="2330" dirty="0">
              <a:latin typeface="黑体" panose="02010609060101010101" pitchFamily="2" charset="-122"/>
              <a:ea typeface="黑体" panose="02010609060101010101" pitchFamily="2" charset="-122"/>
              <a:cs typeface="+mn-cs"/>
            </a:endParaRPr>
          </a:p>
          <a:p>
            <a:pPr marL="914400" lvl="2" indent="-457200" algn="l" eaLnBrk="1" hangingPunct="1">
              <a:buClrTx/>
              <a:buSzTx/>
              <a:buFont typeface="Arial" panose="020B0604020202020204" pitchFamily="34" charset="0"/>
              <a:buChar char="•"/>
            </a:pPr>
            <a:r>
              <a:rPr lang="zh-CN" altLang="en-US" sz="2330" dirty="0">
                <a:latin typeface="黑体" panose="02010609060101010101" pitchFamily="2" charset="-122"/>
                <a:ea typeface="黑体" panose="02010609060101010101" pitchFamily="2" charset="-122"/>
                <a:cs typeface="+mn-cs"/>
              </a:rPr>
              <a:t>判栈空</a:t>
            </a:r>
            <a:r>
              <a:rPr lang="en-US" altLang="zh-CN" sz="2330" dirty="0">
                <a:latin typeface="黑体" panose="02010609060101010101" pitchFamily="2" charset="-122"/>
                <a:ea typeface="黑体" panose="02010609060101010101" pitchFamily="2" charset="-122"/>
                <a:cs typeface="+mn-cs"/>
              </a:rPr>
              <a:t>empty()</a:t>
            </a:r>
            <a:endParaRPr lang="en-US" altLang="zh-CN" sz="2330" dirty="0">
              <a:latin typeface="黑体" panose="02010609060101010101" pitchFamily="2" charset="-122"/>
              <a:ea typeface="黑体" panose="02010609060101010101" pitchFamily="2" charset="-122"/>
              <a:cs typeface="+mn-cs"/>
            </a:endParaRPr>
          </a:p>
          <a:p>
            <a:pPr marL="457200" lvl="2" indent="0" algn="l" eaLnBrk="1" hangingPunct="1">
              <a:buClrTx/>
              <a:buSzTx/>
              <a:buFont typeface="Arial" panose="020B0604020202020204" pitchFamily="34" charset="0"/>
              <a:buNone/>
            </a:pPr>
            <a:endParaRPr lang="zh-CN" altLang="en-US" sz="2330" dirty="0">
              <a:latin typeface="黑体" panose="02010609060101010101" pitchFamily="2" charset="-122"/>
              <a:ea typeface="黑体" panose="02010609060101010101" pitchFamily="2" charset="-122"/>
              <a:cs typeface="+mn-cs"/>
            </a:endParaRPr>
          </a:p>
          <a:p>
            <a:pPr marL="457200" lvl="2" indent="0" algn="l" eaLnBrk="1" hangingPunct="1">
              <a:buClrTx/>
              <a:buSzTx/>
              <a:buFont typeface="Arial" panose="020B0604020202020204" pitchFamily="34" charset="0"/>
              <a:buNone/>
            </a:pPr>
            <a:r>
              <a:rPr lang="zh-CN" altLang="en-US" sz="2330" dirty="0">
                <a:latin typeface="黑体" panose="02010609060101010101" pitchFamily="2" charset="-122"/>
                <a:ea typeface="黑体" panose="02010609060101010101" pitchFamily="2" charset="-122"/>
                <a:cs typeface="+mn-cs"/>
              </a:rPr>
              <a:t>每执行一次</a:t>
            </a:r>
            <a:r>
              <a:rPr lang="en-US" altLang="zh-CN" sz="2330" dirty="0">
                <a:latin typeface="黑体" panose="02010609060101010101" pitchFamily="2" charset="-122"/>
                <a:ea typeface="黑体" panose="02010609060101010101" pitchFamily="2" charset="-122"/>
                <a:cs typeface="+mn-cs"/>
              </a:rPr>
              <a:t>pop</a:t>
            </a:r>
            <a:r>
              <a:rPr lang="zh-CN" altLang="en-US" sz="2330" dirty="0">
                <a:latin typeface="黑体" panose="02010609060101010101" pitchFamily="2" charset="-122"/>
                <a:ea typeface="黑体" panose="02010609060101010101" pitchFamily="2" charset="-122"/>
                <a:cs typeface="+mn-cs"/>
              </a:rPr>
              <a:t>操作，</a:t>
            </a:r>
            <a:endParaRPr lang="zh-CN" altLang="en-US" sz="2330" dirty="0">
              <a:latin typeface="黑体" panose="02010609060101010101" pitchFamily="2" charset="-122"/>
              <a:ea typeface="黑体" panose="02010609060101010101" pitchFamily="2" charset="-122"/>
              <a:cs typeface="+mn-cs"/>
            </a:endParaRPr>
          </a:p>
          <a:p>
            <a:pPr marL="457200" lvl="2" indent="0" algn="l" eaLnBrk="1" hangingPunct="1">
              <a:buClrTx/>
              <a:buSzTx/>
              <a:buFont typeface="Arial" panose="020B0604020202020204" pitchFamily="34" charset="0"/>
              <a:buNone/>
            </a:pPr>
            <a:r>
              <a:rPr lang="zh-CN" altLang="en-US" sz="2330" dirty="0">
                <a:latin typeface="黑体" panose="02010609060101010101" pitchFamily="2" charset="-122"/>
                <a:ea typeface="黑体" panose="02010609060101010101" pitchFamily="2" charset="-122"/>
                <a:cs typeface="+mn-cs"/>
              </a:rPr>
              <a:t>栈中单词就会减少一个</a:t>
            </a:r>
            <a:endParaRPr lang="zh-CN" altLang="en-US" sz="2330" dirty="0">
              <a:latin typeface="黑体" panose="02010609060101010101" pitchFamily="2" charset="-122"/>
              <a:ea typeface="黑体" panose="02010609060101010101" pitchFamily="2" charset="-122"/>
              <a:cs typeface="+mn-cs"/>
            </a:endParaRPr>
          </a:p>
          <a:p>
            <a:pPr lvl="1" algn="l">
              <a:buClrTx/>
              <a:buSzTx/>
              <a:buChar char="•"/>
            </a:pPr>
            <a:endParaRPr lang="zh-CN" altLang="en-US" dirty="0">
              <a:latin typeface="黑体" panose="02010609060101010101" pitchFamily="2" charset="-122"/>
              <a:ea typeface="黑体" panose="02010609060101010101" pitchFamily="2" charset="-122"/>
              <a:cs typeface="+mn-ea"/>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10560685" y="2996565"/>
            <a:ext cx="1155065" cy="2334895"/>
          </a:xfrm>
          <a:prstGeom prst="rect">
            <a:avLst/>
          </a:prstGeom>
        </p:spPr>
      </p:pic>
      <p:pic>
        <p:nvPicPr>
          <p:cNvPr id="7" name="图片 6"/>
          <p:cNvPicPr>
            <a:picLocks noChangeAspect="1"/>
          </p:cNvPicPr>
          <p:nvPr/>
        </p:nvPicPr>
        <p:blipFill>
          <a:blip r:embed="rId2"/>
          <a:stretch>
            <a:fillRect/>
          </a:stretch>
        </p:blipFill>
        <p:spPr>
          <a:xfrm>
            <a:off x="5447665" y="1556385"/>
            <a:ext cx="4670425" cy="417576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10426700" cy="652780"/>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注意栈的后进先出操作，顺序栈不是数组</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顺序栈不能执行数组的遍历操作</a:t>
            </a: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6" name="图片 5"/>
          <p:cNvPicPr>
            <a:picLocks noChangeAspect="1"/>
          </p:cNvPicPr>
          <p:nvPr/>
        </p:nvPicPr>
        <p:blipFill>
          <a:blip r:embed="rId1"/>
          <a:stretch>
            <a:fillRect/>
          </a:stretch>
        </p:blipFill>
        <p:spPr>
          <a:xfrm>
            <a:off x="2063750" y="2132965"/>
            <a:ext cx="3904615" cy="3796665"/>
          </a:xfrm>
          <a:prstGeom prst="rect">
            <a:avLst/>
          </a:prstGeom>
        </p:spPr>
      </p:pic>
      <p:pic>
        <p:nvPicPr>
          <p:cNvPr id="8" name="图片 7"/>
          <p:cNvPicPr>
            <a:picLocks noChangeAspect="1"/>
          </p:cNvPicPr>
          <p:nvPr/>
        </p:nvPicPr>
        <p:blipFill>
          <a:blip r:embed="rId2"/>
          <a:stretch>
            <a:fillRect/>
          </a:stretch>
        </p:blipFill>
        <p:spPr>
          <a:xfrm>
            <a:off x="7536180" y="2996565"/>
            <a:ext cx="460375" cy="12541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链栈是栈的链式存储结构，是运算受限的单链表</a:t>
            </a:r>
            <a:endParaRPr lang="zh-CN" altLang="en-US" sz="2800" dirty="0">
              <a:latin typeface="黑体" panose="02010609060101010101" pitchFamily="2" charset="-122"/>
              <a:ea typeface="黑体" panose="02010609060101010101" pitchFamily="2" charset="-122"/>
              <a:cs typeface="+mn-cs"/>
              <a:sym typeface="+mn-ea"/>
            </a:endParaRPr>
          </a:p>
          <a:p>
            <a:pPr lvl="1" algn="l">
              <a:buClrTx/>
              <a:buSzTx/>
              <a:buChar char="•"/>
            </a:pPr>
            <a:r>
              <a:rPr lang="zh-CN" altLang="en-US" sz="2400" dirty="0">
                <a:latin typeface="黑体" panose="02010609060101010101" pitchFamily="2" charset="-122"/>
                <a:ea typeface="黑体" panose="02010609060101010101" pitchFamily="2" charset="-122"/>
                <a:cs typeface="+mn-ea"/>
                <a:sym typeface="+mn-ea"/>
              </a:rPr>
              <a:t>其插入和删除操作只能在表头位置上进行。</a:t>
            </a:r>
            <a:endParaRPr lang="zh-CN" altLang="en-US" sz="2400" dirty="0">
              <a:latin typeface="黑体" panose="02010609060101010101" pitchFamily="2" charset="-122"/>
              <a:ea typeface="黑体" panose="02010609060101010101" pitchFamily="2" charset="-122"/>
              <a:cs typeface="+mn-ea"/>
              <a:sym typeface="+mn-ea"/>
            </a:endParaRPr>
          </a:p>
          <a:p>
            <a:pPr lvl="1" algn="l">
              <a:buClrTx/>
              <a:buSzTx/>
              <a:buChar char="•"/>
            </a:pPr>
            <a:r>
              <a:rPr lang="zh-CN" altLang="en-US" sz="2400" dirty="0">
                <a:latin typeface="黑体" panose="02010609060101010101" pitchFamily="2" charset="-122"/>
                <a:ea typeface="黑体" panose="02010609060101010101" pitchFamily="2" charset="-122"/>
                <a:cs typeface="+mn-ea"/>
                <a:sym typeface="+mn-ea"/>
              </a:rPr>
              <a:t>链栈用没有头结点的单链表，链表头指针表示栈顶指针</a:t>
            </a:r>
            <a:r>
              <a:rPr lang="en-US" altLang="zh-CN" sz="2400" dirty="0">
                <a:latin typeface="黑体" panose="02010609060101010101" pitchFamily="2" charset="-122"/>
                <a:ea typeface="黑体" panose="02010609060101010101" pitchFamily="2" charset="-122"/>
                <a:cs typeface="+mn-ea"/>
                <a:sym typeface="+mn-ea"/>
              </a:rPr>
              <a:t>top</a:t>
            </a:r>
            <a:endParaRPr lang="zh-CN" altLang="en-US" sz="2400" dirty="0">
              <a:latin typeface="黑体" panose="02010609060101010101" pitchFamily="2" charset="-122"/>
              <a:ea typeface="黑体" panose="02010609060101010101" pitchFamily="2" charset="-122"/>
              <a:cs typeface="+mn-ea"/>
              <a:sym typeface="+mn-ea"/>
            </a:endParaRPr>
          </a:p>
          <a:p>
            <a:pPr lvl="1" algn="l">
              <a:buClrTx/>
              <a:buSzTx/>
              <a:buChar char="•"/>
            </a:pPr>
            <a:endParaRPr lang="zh-CN" altLang="en-US" sz="2400" dirty="0">
              <a:latin typeface="黑体" panose="02010609060101010101" pitchFamily="2" charset="-122"/>
              <a:ea typeface="黑体" panose="02010609060101010101" pitchFamily="2" charset="-122"/>
              <a:cs typeface="+mn-ea"/>
            </a:endParaRPr>
          </a:p>
          <a:p>
            <a:pPr marL="457200" lvl="1" indent="-457200" algn="l">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链栈是动态分配空间，即无限空间</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链栈的插入是头插法，每次都在栈顶插入</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链栈的操作位置是</a:t>
            </a:r>
            <a:r>
              <a:rPr lang="en-US" altLang="zh-CN" sz="2800" dirty="0">
                <a:latin typeface="黑体" panose="02010609060101010101" pitchFamily="2" charset="-122"/>
                <a:ea typeface="黑体" panose="02010609060101010101" pitchFamily="2" charset="-122"/>
                <a:cs typeface="+mn-cs"/>
                <a:sym typeface="+mn-ea"/>
              </a:rPr>
              <a:t>top-&gt;next</a:t>
            </a: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22532" name="Group 4"/>
          <p:cNvGrpSpPr/>
          <p:nvPr/>
        </p:nvGrpSpPr>
        <p:grpSpPr>
          <a:xfrm>
            <a:off x="6240145" y="2493010"/>
            <a:ext cx="4098925" cy="3185160"/>
            <a:chOff x="97" y="0"/>
            <a:chExt cx="2261" cy="1784"/>
          </a:xfrm>
        </p:grpSpPr>
        <p:grpSp>
          <p:nvGrpSpPr>
            <p:cNvPr id="22542" name="Group 14"/>
            <p:cNvGrpSpPr/>
            <p:nvPr/>
          </p:nvGrpSpPr>
          <p:grpSpPr>
            <a:xfrm rot="0">
              <a:off x="1142" y="0"/>
              <a:ext cx="1216" cy="1678"/>
              <a:chOff x="0" y="0"/>
              <a:chExt cx="1227" cy="1715"/>
            </a:xfrm>
          </p:grpSpPr>
          <p:sp>
            <p:nvSpPr>
              <p:cNvPr id="22543" name="Rectangle 15"/>
              <p:cNvSpPr/>
              <p:nvPr/>
            </p:nvSpPr>
            <p:spPr>
              <a:xfrm>
                <a:off x="660" y="1488"/>
                <a:ext cx="567" cy="227"/>
              </a:xfrm>
              <a:prstGeom prst="rect">
                <a:avLst/>
              </a:prstGeom>
              <a:noFill/>
              <a:ln w="9525">
                <a:noFill/>
              </a:ln>
            </p:spPr>
            <p:txBody>
              <a:bodyPr wrap="none" anchor="ctr" anchorCtr="0"/>
              <a:p>
                <a:pPr algn="ctr"/>
                <a:r>
                  <a:rPr lang="zh-CN" altLang="en-US" sz="2000" b="1" dirty="0">
                    <a:latin typeface="Times New Roman" panose="02020603050405020304" charset="0"/>
                    <a:ea typeface="宋体" panose="02010600030101010101" pitchFamily="2" charset="-122"/>
                  </a:rPr>
                  <a:t>非空栈</a:t>
                </a:r>
                <a:endParaRPr lang="zh-CN" altLang="en-US" sz="2000" b="1" dirty="0">
                  <a:latin typeface="Times New Roman" panose="02020603050405020304" charset="0"/>
                  <a:ea typeface="宋体" panose="02010600030101010101" pitchFamily="2" charset="-122"/>
                </a:endParaRPr>
              </a:p>
            </p:txBody>
          </p:sp>
          <p:grpSp>
            <p:nvGrpSpPr>
              <p:cNvPr id="22544" name="Group 16"/>
              <p:cNvGrpSpPr/>
              <p:nvPr/>
            </p:nvGrpSpPr>
            <p:grpSpPr>
              <a:xfrm>
                <a:off x="0" y="0"/>
                <a:ext cx="1152" cy="440"/>
                <a:chOff x="0" y="0"/>
                <a:chExt cx="1152" cy="440"/>
              </a:xfrm>
            </p:grpSpPr>
            <p:grpSp>
              <p:nvGrpSpPr>
                <p:cNvPr id="22545" name="Group 17"/>
                <p:cNvGrpSpPr/>
                <p:nvPr/>
              </p:nvGrpSpPr>
              <p:grpSpPr>
                <a:xfrm>
                  <a:off x="0" y="0"/>
                  <a:ext cx="608" cy="227"/>
                  <a:chOff x="0" y="0"/>
                  <a:chExt cx="608" cy="227"/>
                </a:xfrm>
              </p:grpSpPr>
              <p:sp>
                <p:nvSpPr>
                  <p:cNvPr id="22546" name="Rectangle 18"/>
                  <p:cNvSpPr/>
                  <p:nvPr/>
                </p:nvSpPr>
                <p:spPr>
                  <a:xfrm>
                    <a:off x="0" y="0"/>
                    <a:ext cx="340" cy="227"/>
                  </a:xfrm>
                  <a:prstGeom prst="rect">
                    <a:avLst/>
                  </a:prstGeom>
                  <a:noFill/>
                  <a:ln w="9525">
                    <a:noFill/>
                  </a:ln>
                </p:spPr>
                <p:txBody>
                  <a:bodyPr wrap="none" anchor="ctr" anchorCtr="0"/>
                  <a:p>
                    <a:pPr algn="ctr"/>
                    <a:r>
                      <a:rPr lang="en-US" altLang="zh-CN" sz="2000" dirty="0">
                        <a:latin typeface="Times New Roman" panose="02020603050405020304" charset="0"/>
                        <a:ea typeface="宋体" panose="02010600030101010101" pitchFamily="2" charset="-122"/>
                      </a:rPr>
                      <a:t>top</a:t>
                    </a:r>
                    <a:endParaRPr lang="en-US" altLang="zh-CN" sz="2000" dirty="0">
                      <a:latin typeface="Times New Roman" panose="02020603050405020304" charset="0"/>
                      <a:ea typeface="宋体" panose="02010600030101010101" pitchFamily="2" charset="-122"/>
                    </a:endParaRPr>
                  </a:p>
                </p:txBody>
              </p:sp>
              <p:sp>
                <p:nvSpPr>
                  <p:cNvPr id="22547" name="Line 19"/>
                  <p:cNvSpPr/>
                  <p:nvPr/>
                </p:nvSpPr>
                <p:spPr>
                  <a:xfrm>
                    <a:off x="336" y="144"/>
                    <a:ext cx="272" cy="0"/>
                  </a:xfrm>
                  <a:prstGeom prst="line">
                    <a:avLst/>
                  </a:prstGeom>
                  <a:ln w="19050" cap="flat" cmpd="sng">
                    <a:solidFill>
                      <a:schemeClr val="tx1"/>
                    </a:solidFill>
                    <a:prstDash val="solid"/>
                    <a:round/>
                    <a:headEnd type="none" w="med" len="med"/>
                    <a:tailEnd type="triangle" w="med" len="med"/>
                  </a:ln>
                </p:spPr>
              </p:sp>
            </p:grpSp>
            <p:grpSp>
              <p:nvGrpSpPr>
                <p:cNvPr id="22548" name="Group 20"/>
                <p:cNvGrpSpPr/>
                <p:nvPr/>
              </p:nvGrpSpPr>
              <p:grpSpPr>
                <a:xfrm>
                  <a:off x="608" y="48"/>
                  <a:ext cx="544" cy="227"/>
                  <a:chOff x="0" y="0"/>
                  <a:chExt cx="544" cy="227"/>
                </a:xfrm>
              </p:grpSpPr>
              <p:sp>
                <p:nvSpPr>
                  <p:cNvPr id="22549" name="Rectangle 21"/>
                  <p:cNvSpPr/>
                  <p:nvPr/>
                </p:nvSpPr>
                <p:spPr>
                  <a:xfrm>
                    <a:off x="0" y="0"/>
                    <a:ext cx="544" cy="227"/>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400" dirty="0">
                        <a:latin typeface="Times New Roman" panose="02020603050405020304" charset="0"/>
                        <a:ea typeface="宋体" panose="02010600030101010101" pitchFamily="2" charset="-122"/>
                      </a:rPr>
                      <a:t> a</a:t>
                    </a:r>
                    <a:r>
                      <a:rPr lang="en-US" altLang="zh-CN" sz="2400" baseline="-25000" dirty="0">
                        <a:latin typeface="Times New Roman" panose="02020603050405020304" charset="0"/>
                        <a:ea typeface="宋体" panose="02010600030101010101" pitchFamily="2" charset="-122"/>
                      </a:rPr>
                      <a:t>4</a:t>
                    </a:r>
                    <a:endParaRPr lang="en-US" altLang="zh-CN" sz="2400" baseline="-25000" dirty="0">
                      <a:latin typeface="Times New Roman" panose="02020603050405020304" charset="0"/>
                      <a:ea typeface="宋体" panose="02010600030101010101" pitchFamily="2" charset="-122"/>
                    </a:endParaRPr>
                  </a:p>
                </p:txBody>
              </p:sp>
              <p:sp>
                <p:nvSpPr>
                  <p:cNvPr id="22550" name="Line 22"/>
                  <p:cNvSpPr/>
                  <p:nvPr/>
                </p:nvSpPr>
                <p:spPr>
                  <a:xfrm>
                    <a:off x="384" y="0"/>
                    <a:ext cx="0" cy="227"/>
                  </a:xfrm>
                  <a:prstGeom prst="line">
                    <a:avLst/>
                  </a:prstGeom>
                  <a:ln w="9525" cap="flat" cmpd="sng">
                    <a:solidFill>
                      <a:schemeClr val="tx1"/>
                    </a:solidFill>
                    <a:prstDash val="solid"/>
                    <a:round/>
                    <a:headEnd type="none" w="med" len="med"/>
                    <a:tailEnd type="none" w="med" len="med"/>
                  </a:ln>
                </p:spPr>
              </p:sp>
            </p:grpSp>
            <p:sp>
              <p:nvSpPr>
                <p:cNvPr id="22551" name="Line 23"/>
                <p:cNvSpPr/>
                <p:nvPr/>
              </p:nvSpPr>
              <p:spPr>
                <a:xfrm>
                  <a:off x="1104" y="213"/>
                  <a:ext cx="0" cy="227"/>
                </a:xfrm>
                <a:prstGeom prst="line">
                  <a:avLst/>
                </a:prstGeom>
                <a:ln w="19050" cap="flat" cmpd="sng">
                  <a:solidFill>
                    <a:schemeClr val="tx1"/>
                  </a:solidFill>
                  <a:prstDash val="solid"/>
                  <a:round/>
                  <a:headEnd type="none" w="med" len="med"/>
                  <a:tailEnd type="triangle" w="med" len="med"/>
                </a:ln>
              </p:spPr>
            </p:sp>
          </p:grpSp>
          <p:grpSp>
            <p:nvGrpSpPr>
              <p:cNvPr id="22552" name="Group 24"/>
              <p:cNvGrpSpPr/>
              <p:nvPr/>
            </p:nvGrpSpPr>
            <p:grpSpPr>
              <a:xfrm>
                <a:off x="626" y="453"/>
                <a:ext cx="544" cy="371"/>
                <a:chOff x="0" y="0"/>
                <a:chExt cx="544" cy="371"/>
              </a:xfrm>
            </p:grpSpPr>
            <p:grpSp>
              <p:nvGrpSpPr>
                <p:cNvPr id="22553" name="Group 25"/>
                <p:cNvGrpSpPr/>
                <p:nvPr/>
              </p:nvGrpSpPr>
              <p:grpSpPr>
                <a:xfrm>
                  <a:off x="0" y="0"/>
                  <a:ext cx="544" cy="227"/>
                  <a:chOff x="0" y="0"/>
                  <a:chExt cx="544" cy="227"/>
                </a:xfrm>
              </p:grpSpPr>
              <p:sp>
                <p:nvSpPr>
                  <p:cNvPr id="22554" name="Rectangle 26"/>
                  <p:cNvSpPr/>
                  <p:nvPr/>
                </p:nvSpPr>
                <p:spPr>
                  <a:xfrm>
                    <a:off x="0" y="0"/>
                    <a:ext cx="544" cy="227"/>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400" dirty="0">
                        <a:latin typeface="Times New Roman" panose="02020603050405020304" charset="0"/>
                        <a:ea typeface="宋体" panose="02010600030101010101" pitchFamily="2" charset="-122"/>
                      </a:rPr>
                      <a:t> a</a:t>
                    </a:r>
                    <a:r>
                      <a:rPr lang="en-US" altLang="zh-CN" sz="2400" baseline="-25000" dirty="0">
                        <a:latin typeface="Times New Roman" panose="02020603050405020304" charset="0"/>
                        <a:ea typeface="宋体" panose="02010600030101010101" pitchFamily="2" charset="-122"/>
                      </a:rPr>
                      <a:t>3</a:t>
                    </a:r>
                    <a:endParaRPr lang="en-US" altLang="zh-CN" sz="2400" baseline="-25000" dirty="0">
                      <a:latin typeface="Times New Roman" panose="02020603050405020304" charset="0"/>
                      <a:ea typeface="宋体" panose="02010600030101010101" pitchFamily="2" charset="-122"/>
                    </a:endParaRPr>
                  </a:p>
                </p:txBody>
              </p:sp>
              <p:sp>
                <p:nvSpPr>
                  <p:cNvPr id="22555" name="Line 27"/>
                  <p:cNvSpPr/>
                  <p:nvPr/>
                </p:nvSpPr>
                <p:spPr>
                  <a:xfrm>
                    <a:off x="384" y="0"/>
                    <a:ext cx="0" cy="227"/>
                  </a:xfrm>
                  <a:prstGeom prst="line">
                    <a:avLst/>
                  </a:prstGeom>
                  <a:ln w="9525" cap="flat" cmpd="sng">
                    <a:solidFill>
                      <a:schemeClr val="tx1"/>
                    </a:solidFill>
                    <a:prstDash val="solid"/>
                    <a:round/>
                    <a:headEnd type="none" w="med" len="med"/>
                    <a:tailEnd type="none" w="med" len="med"/>
                  </a:ln>
                </p:spPr>
              </p:sp>
            </p:grpSp>
            <p:sp>
              <p:nvSpPr>
                <p:cNvPr id="22556" name="Line 28"/>
                <p:cNvSpPr/>
                <p:nvPr/>
              </p:nvSpPr>
              <p:spPr>
                <a:xfrm>
                  <a:off x="487" y="144"/>
                  <a:ext cx="0" cy="227"/>
                </a:xfrm>
                <a:prstGeom prst="line">
                  <a:avLst/>
                </a:prstGeom>
                <a:ln w="19050" cap="flat" cmpd="sng">
                  <a:solidFill>
                    <a:schemeClr val="tx1"/>
                  </a:solidFill>
                  <a:prstDash val="solid"/>
                  <a:round/>
                  <a:headEnd type="none" w="med" len="med"/>
                  <a:tailEnd type="triangle" w="med" len="med"/>
                </a:ln>
              </p:spPr>
            </p:sp>
          </p:grpSp>
          <p:grpSp>
            <p:nvGrpSpPr>
              <p:cNvPr id="22557" name="Group 29"/>
              <p:cNvGrpSpPr/>
              <p:nvPr/>
            </p:nvGrpSpPr>
            <p:grpSpPr>
              <a:xfrm>
                <a:off x="647" y="828"/>
                <a:ext cx="553" cy="623"/>
                <a:chOff x="0" y="0"/>
                <a:chExt cx="553" cy="623"/>
              </a:xfrm>
            </p:grpSpPr>
            <p:grpSp>
              <p:nvGrpSpPr>
                <p:cNvPr id="22558" name="Group 30"/>
                <p:cNvGrpSpPr/>
                <p:nvPr/>
              </p:nvGrpSpPr>
              <p:grpSpPr>
                <a:xfrm>
                  <a:off x="9" y="396"/>
                  <a:ext cx="544" cy="227"/>
                  <a:chOff x="0" y="0"/>
                  <a:chExt cx="544" cy="227"/>
                </a:xfrm>
              </p:grpSpPr>
              <p:sp>
                <p:nvSpPr>
                  <p:cNvPr id="22559" name="Rectangle 31"/>
                  <p:cNvSpPr/>
                  <p:nvPr/>
                </p:nvSpPr>
                <p:spPr>
                  <a:xfrm>
                    <a:off x="0" y="0"/>
                    <a:ext cx="544" cy="227"/>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400" dirty="0">
                        <a:latin typeface="Times New Roman" panose="02020603050405020304" charset="0"/>
                        <a:ea typeface="宋体" panose="02010600030101010101" pitchFamily="2" charset="-122"/>
                      </a:rPr>
                      <a:t> a</a:t>
                    </a:r>
                    <a:r>
                      <a:rPr lang="en-US" altLang="zh-CN" sz="2400" baseline="-25000" dirty="0">
                        <a:latin typeface="Times New Roman" panose="02020603050405020304" charset="0"/>
                        <a:ea typeface="宋体" panose="02010600030101010101" pitchFamily="2" charset="-122"/>
                      </a:rPr>
                      <a:t>1     </a:t>
                    </a:r>
                    <a:r>
                      <a:rPr lang="en-US" altLang="zh-CN" sz="2400" dirty="0">
                        <a:latin typeface="Times New Roman" panose="02020603050405020304" charset="0"/>
                        <a:ea typeface="Arial" panose="020B0604020202020204" pitchFamily="34" charset="0"/>
                      </a:rPr>
                      <a:t>⋀</a:t>
                    </a:r>
                    <a:endParaRPr lang="en-US" altLang="zh-CN" sz="2400" dirty="0">
                      <a:latin typeface="Times New Roman" panose="02020603050405020304" charset="0"/>
                      <a:ea typeface="Arial" panose="020B0604020202020204" pitchFamily="34" charset="0"/>
                    </a:endParaRPr>
                  </a:p>
                </p:txBody>
              </p:sp>
              <p:sp>
                <p:nvSpPr>
                  <p:cNvPr id="22560" name="Line 32"/>
                  <p:cNvSpPr/>
                  <p:nvPr/>
                </p:nvSpPr>
                <p:spPr>
                  <a:xfrm>
                    <a:off x="384" y="0"/>
                    <a:ext cx="0" cy="227"/>
                  </a:xfrm>
                  <a:prstGeom prst="line">
                    <a:avLst/>
                  </a:prstGeom>
                  <a:ln w="9525" cap="flat" cmpd="sng">
                    <a:solidFill>
                      <a:schemeClr val="tx1"/>
                    </a:solidFill>
                    <a:prstDash val="solid"/>
                    <a:round/>
                    <a:headEnd type="none" w="med" len="med"/>
                    <a:tailEnd type="none" w="med" len="med"/>
                  </a:ln>
                </p:spPr>
              </p:sp>
            </p:grpSp>
            <p:grpSp>
              <p:nvGrpSpPr>
                <p:cNvPr id="22561" name="Group 33"/>
                <p:cNvGrpSpPr/>
                <p:nvPr/>
              </p:nvGrpSpPr>
              <p:grpSpPr>
                <a:xfrm>
                  <a:off x="0" y="0"/>
                  <a:ext cx="544" cy="384"/>
                  <a:chOff x="0" y="0"/>
                  <a:chExt cx="544" cy="384"/>
                </a:xfrm>
              </p:grpSpPr>
              <p:grpSp>
                <p:nvGrpSpPr>
                  <p:cNvPr id="22562" name="Group 34"/>
                  <p:cNvGrpSpPr/>
                  <p:nvPr/>
                </p:nvGrpSpPr>
                <p:grpSpPr>
                  <a:xfrm>
                    <a:off x="0" y="0"/>
                    <a:ext cx="544" cy="227"/>
                    <a:chOff x="0" y="0"/>
                    <a:chExt cx="544" cy="227"/>
                  </a:xfrm>
                </p:grpSpPr>
                <p:sp>
                  <p:nvSpPr>
                    <p:cNvPr id="22563" name="Rectangle 35"/>
                    <p:cNvSpPr/>
                    <p:nvPr/>
                  </p:nvSpPr>
                  <p:spPr>
                    <a:xfrm>
                      <a:off x="0" y="0"/>
                      <a:ext cx="544" cy="227"/>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400" dirty="0">
                          <a:latin typeface="Times New Roman" panose="02020603050405020304" charset="0"/>
                          <a:ea typeface="宋体" panose="02010600030101010101" pitchFamily="2" charset="-122"/>
                        </a:rPr>
                        <a:t> a</a:t>
                      </a:r>
                      <a:r>
                        <a:rPr lang="en-US" altLang="zh-CN" sz="2400" baseline="-25000" dirty="0">
                          <a:latin typeface="Times New Roman" panose="02020603050405020304" charset="0"/>
                          <a:ea typeface="宋体" panose="02010600030101010101" pitchFamily="2" charset="-122"/>
                        </a:rPr>
                        <a:t>2</a:t>
                      </a:r>
                      <a:endParaRPr lang="en-US" altLang="zh-CN" sz="2400" baseline="-25000" dirty="0">
                        <a:latin typeface="Times New Roman" panose="02020603050405020304" charset="0"/>
                        <a:ea typeface="宋体" panose="02010600030101010101" pitchFamily="2" charset="-122"/>
                      </a:endParaRPr>
                    </a:p>
                  </p:txBody>
                </p:sp>
                <p:sp>
                  <p:nvSpPr>
                    <p:cNvPr id="22564" name="Line 36"/>
                    <p:cNvSpPr/>
                    <p:nvPr/>
                  </p:nvSpPr>
                  <p:spPr>
                    <a:xfrm>
                      <a:off x="384" y="0"/>
                      <a:ext cx="0" cy="227"/>
                    </a:xfrm>
                    <a:prstGeom prst="line">
                      <a:avLst/>
                    </a:prstGeom>
                    <a:ln w="9525" cap="flat" cmpd="sng">
                      <a:solidFill>
                        <a:schemeClr val="tx1"/>
                      </a:solidFill>
                      <a:prstDash val="solid"/>
                      <a:round/>
                      <a:headEnd type="none" w="med" len="med"/>
                      <a:tailEnd type="none" w="med" len="med"/>
                    </a:ln>
                  </p:spPr>
                </p:sp>
              </p:grpSp>
              <p:sp>
                <p:nvSpPr>
                  <p:cNvPr id="22565" name="Line 37"/>
                  <p:cNvSpPr/>
                  <p:nvPr/>
                </p:nvSpPr>
                <p:spPr>
                  <a:xfrm>
                    <a:off x="480" y="157"/>
                    <a:ext cx="0" cy="227"/>
                  </a:xfrm>
                  <a:prstGeom prst="line">
                    <a:avLst/>
                  </a:prstGeom>
                  <a:ln w="19050" cap="flat" cmpd="sng">
                    <a:solidFill>
                      <a:schemeClr val="tx1"/>
                    </a:solidFill>
                    <a:prstDash val="solid"/>
                    <a:round/>
                    <a:headEnd type="none" w="med" len="med"/>
                    <a:tailEnd type="triangle" w="med" len="med"/>
                  </a:ln>
                </p:spPr>
              </p:sp>
            </p:grpSp>
          </p:grpSp>
        </p:grpSp>
        <p:sp>
          <p:nvSpPr>
            <p:cNvPr id="763942" name="Rectangle 38"/>
            <p:cNvSpPr>
              <a:spLocks noChangeArrowheads="1"/>
            </p:cNvSpPr>
            <p:nvPr/>
          </p:nvSpPr>
          <p:spPr bwMode="auto">
            <a:xfrm>
              <a:off x="97" y="1542"/>
              <a:ext cx="1680" cy="242"/>
            </a:xfrm>
            <a:prstGeom prst="rect">
              <a:avLst/>
            </a:prstGeom>
            <a:noFill/>
            <a:ln w="9525">
              <a:noFill/>
              <a:miter lim="800000"/>
            </a:ln>
            <a:effectLst/>
          </p:spPr>
          <p:txBody>
            <a:bodyPr lIns="92075" tIns="46038" rIns="92075" bIns="46038" anchor="ctr"/>
            <a:p>
              <a:pPr algn="ctr" eaLnBrk="0" fontAlgn="base" hangingPunct="0"/>
              <a:endParaRPr lang="zh-CN" altLang="zh-CN" sz="2000" b="1" strike="noStrike" noProof="1" dirty="0">
                <a:effectLst>
                  <a:outerShdw blurRad="38100" dist="38100" dir="2700000">
                    <a:srgbClr val="C0C0C0"/>
                  </a:outerShdw>
                </a:effectLst>
                <a:latin typeface="楷体" panose="02010609060101010101" charset="-122"/>
                <a:ea typeface="楷体" panose="02010609060101010101"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链栈的操作</a:t>
            </a:r>
            <a:endParaRPr lang="zh-CN" altLang="en-US" sz="2800" dirty="0">
              <a:latin typeface="黑体" panose="02010609060101010101" pitchFamily="2" charset="-122"/>
              <a:ea typeface="黑体" panose="02010609060101010101" pitchFamily="2" charset="-122"/>
              <a:cs typeface="+mn-cs"/>
              <a:sym typeface="+mn-ea"/>
            </a:endParaRPr>
          </a:p>
          <a:p>
            <a:pPr lvl="1" algn="l">
              <a:buClrTx/>
              <a:buSzTx/>
              <a:buChar char="•"/>
            </a:pPr>
            <a:r>
              <a:rPr lang="zh-CN" altLang="en-US" dirty="0">
                <a:latin typeface="黑体" panose="02010609060101010101" pitchFamily="2" charset="-122"/>
                <a:ea typeface="黑体" panose="02010609060101010101" pitchFamily="2" charset="-122"/>
                <a:cs typeface="+mn-cs"/>
                <a:sym typeface="+mn-ea"/>
              </a:rPr>
              <a:t>判栈空：</a:t>
            </a:r>
            <a:r>
              <a:rPr lang="en-US" altLang="zh-CN" dirty="0">
                <a:latin typeface="黑体" panose="02010609060101010101" pitchFamily="2" charset="-122"/>
                <a:ea typeface="黑体" panose="02010609060101010101" pitchFamily="2" charset="-122"/>
                <a:cs typeface="+mn-cs"/>
                <a:sym typeface="+mn-ea"/>
              </a:rPr>
              <a:t>if (top-&gt;next==NULL)</a:t>
            </a:r>
            <a:endParaRPr lang="zh-CN" altLang="en-US" dirty="0">
              <a:latin typeface="黑体" panose="02010609060101010101" pitchFamily="2" charset="-122"/>
              <a:ea typeface="黑体" panose="02010609060101010101" pitchFamily="2" charset="-122"/>
              <a:cs typeface="+mn-cs"/>
              <a:sym typeface="+mn-ea"/>
            </a:endParaRPr>
          </a:p>
          <a:p>
            <a:pPr lvl="1" algn="l">
              <a:buClrTx/>
              <a:buSzTx/>
              <a:buChar char="•"/>
            </a:pPr>
            <a:r>
              <a:rPr lang="zh-CN" altLang="en-US" dirty="0">
                <a:latin typeface="黑体" panose="02010609060101010101" pitchFamily="2" charset="-122"/>
                <a:ea typeface="黑体" panose="02010609060101010101" pitchFamily="2" charset="-122"/>
                <a:cs typeface="+mn-cs"/>
                <a:sym typeface="+mn-ea"/>
              </a:rPr>
              <a:t>取栈顶：</a:t>
            </a:r>
            <a:r>
              <a:rPr lang="en-US" altLang="zh-CN" dirty="0">
                <a:latin typeface="黑体" panose="02010609060101010101" pitchFamily="2" charset="-122"/>
                <a:ea typeface="黑体" panose="02010609060101010101" pitchFamily="2" charset="-122"/>
                <a:cs typeface="+mn-cs"/>
                <a:sym typeface="+mn-ea"/>
              </a:rPr>
              <a:t>e=top-&gt;next-&gt;data;</a:t>
            </a:r>
            <a:endParaRPr lang="zh-CN" altLang="en-US" sz="2400" dirty="0">
              <a:latin typeface="黑体" panose="02010609060101010101" pitchFamily="2" charset="-122"/>
              <a:ea typeface="黑体" panose="02010609060101010101" pitchFamily="2" charset="-122"/>
              <a:cs typeface="+mn-ea"/>
              <a:sym typeface="+mn-ea"/>
            </a:endParaRPr>
          </a:p>
          <a:p>
            <a:pPr lvl="1" algn="l">
              <a:buClrTx/>
              <a:buSzTx/>
              <a:buChar char="•"/>
            </a:pPr>
            <a:r>
              <a:rPr lang="zh-CN" altLang="en-US" sz="2400" dirty="0">
                <a:latin typeface="黑体" panose="02010609060101010101" pitchFamily="2" charset="-122"/>
                <a:ea typeface="黑体" panose="02010609060101010101" pitchFamily="2" charset="-122"/>
                <a:cs typeface="+mn-ea"/>
                <a:sym typeface="+mn-ea"/>
              </a:rPr>
              <a:t>入栈：</a:t>
            </a:r>
            <a:r>
              <a:rPr lang="en-US" altLang="zh-CN" sz="2400" dirty="0">
                <a:latin typeface="黑体" panose="02010609060101010101" pitchFamily="2" charset="-122"/>
                <a:ea typeface="黑体" panose="02010609060101010101" pitchFamily="2" charset="-122"/>
                <a:cs typeface="+mn-ea"/>
                <a:sym typeface="+mn-ea"/>
              </a:rPr>
              <a:t>s-&gt;next=top-&gt;next; top-&gt;next=s;</a:t>
            </a:r>
            <a:endParaRPr lang="en-US" altLang="zh-CN" sz="2400" dirty="0">
              <a:latin typeface="黑体" panose="02010609060101010101" pitchFamily="2" charset="-122"/>
              <a:ea typeface="黑体" panose="02010609060101010101" pitchFamily="2" charset="-122"/>
              <a:cs typeface="+mn-ea"/>
              <a:sym typeface="+mn-ea"/>
            </a:endParaRPr>
          </a:p>
          <a:p>
            <a:pPr lvl="1" algn="l">
              <a:buClrTx/>
              <a:buSzTx/>
              <a:buChar char="•"/>
            </a:pPr>
            <a:r>
              <a:rPr lang="zh-CN" altLang="en-US" sz="2400" dirty="0">
                <a:latin typeface="黑体" panose="02010609060101010101" pitchFamily="2" charset="-122"/>
                <a:ea typeface="黑体" panose="02010609060101010101" pitchFamily="2" charset="-122"/>
                <a:cs typeface="+mn-ea"/>
                <a:sym typeface="+mn-ea"/>
              </a:rPr>
              <a:t>出栈：</a:t>
            </a:r>
            <a:r>
              <a:rPr lang="en-US" altLang="zh-CN" sz="2400" dirty="0">
                <a:latin typeface="黑体" panose="02010609060101010101" pitchFamily="2" charset="-122"/>
                <a:ea typeface="黑体" panose="02010609060101010101" pitchFamily="2" charset="-122"/>
                <a:cs typeface="+mn-ea"/>
                <a:sym typeface="+mn-ea"/>
              </a:rPr>
              <a:t>top-&gt;next=top-&gt;next-&gt;next;</a:t>
            </a:r>
            <a:endParaRPr lang="en-US" altLang="zh-CN" sz="2400" dirty="0">
              <a:latin typeface="黑体" panose="02010609060101010101" pitchFamily="2" charset="-122"/>
              <a:ea typeface="黑体" panose="02010609060101010101" pitchFamily="2" charset="-122"/>
              <a:cs typeface="+mn-ea"/>
              <a:sym typeface="+mn-ea"/>
            </a:endParaRPr>
          </a:p>
          <a:p>
            <a:pPr lvl="1" algn="l">
              <a:buClrTx/>
              <a:buSzTx/>
              <a:buChar char="•"/>
            </a:pPr>
            <a:endParaRPr lang="zh-CN" altLang="en-US" sz="2400" dirty="0">
              <a:latin typeface="黑体" panose="02010609060101010101" pitchFamily="2" charset="-122"/>
              <a:ea typeface="黑体" panose="02010609060101010101" pitchFamily="2" charset="-122"/>
              <a:cs typeface="+mn-ea"/>
            </a:endParaRPr>
          </a:p>
          <a:p>
            <a:pPr marL="457200" lvl="1" indent="-457200" algn="l">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3.1 栈</a:t>
            </a:r>
            <a:endParaRPr lang="zh-CN" altLang="en-US"/>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22532" name="Group 4"/>
          <p:cNvGrpSpPr/>
          <p:nvPr/>
        </p:nvGrpSpPr>
        <p:grpSpPr>
          <a:xfrm>
            <a:off x="6240145" y="2493010"/>
            <a:ext cx="4098925" cy="3185160"/>
            <a:chOff x="97" y="0"/>
            <a:chExt cx="2261" cy="1784"/>
          </a:xfrm>
        </p:grpSpPr>
        <p:grpSp>
          <p:nvGrpSpPr>
            <p:cNvPr id="22542" name="Group 14"/>
            <p:cNvGrpSpPr/>
            <p:nvPr/>
          </p:nvGrpSpPr>
          <p:grpSpPr>
            <a:xfrm rot="0">
              <a:off x="1142" y="0"/>
              <a:ext cx="1216" cy="1678"/>
              <a:chOff x="0" y="0"/>
              <a:chExt cx="1227" cy="1715"/>
            </a:xfrm>
          </p:grpSpPr>
          <p:sp>
            <p:nvSpPr>
              <p:cNvPr id="22543" name="Rectangle 15"/>
              <p:cNvSpPr/>
              <p:nvPr/>
            </p:nvSpPr>
            <p:spPr>
              <a:xfrm>
                <a:off x="660" y="1488"/>
                <a:ext cx="567" cy="227"/>
              </a:xfrm>
              <a:prstGeom prst="rect">
                <a:avLst/>
              </a:prstGeom>
              <a:noFill/>
              <a:ln w="9525">
                <a:noFill/>
              </a:ln>
            </p:spPr>
            <p:txBody>
              <a:bodyPr wrap="none" anchor="ctr" anchorCtr="0"/>
              <a:p>
                <a:pPr algn="ctr"/>
                <a:r>
                  <a:rPr lang="zh-CN" altLang="en-US" sz="2000" b="1" dirty="0">
                    <a:latin typeface="Times New Roman" panose="02020603050405020304" charset="0"/>
                    <a:ea typeface="宋体" panose="02010600030101010101" pitchFamily="2" charset="-122"/>
                  </a:rPr>
                  <a:t>非空栈</a:t>
                </a:r>
                <a:endParaRPr lang="zh-CN" altLang="en-US" sz="2000" b="1" dirty="0">
                  <a:latin typeface="Times New Roman" panose="02020603050405020304" charset="0"/>
                  <a:ea typeface="宋体" panose="02010600030101010101" pitchFamily="2" charset="-122"/>
                </a:endParaRPr>
              </a:p>
            </p:txBody>
          </p:sp>
          <p:grpSp>
            <p:nvGrpSpPr>
              <p:cNvPr id="22544" name="Group 16"/>
              <p:cNvGrpSpPr/>
              <p:nvPr/>
            </p:nvGrpSpPr>
            <p:grpSpPr>
              <a:xfrm>
                <a:off x="0" y="0"/>
                <a:ext cx="1152" cy="440"/>
                <a:chOff x="0" y="0"/>
                <a:chExt cx="1152" cy="440"/>
              </a:xfrm>
            </p:grpSpPr>
            <p:grpSp>
              <p:nvGrpSpPr>
                <p:cNvPr id="22545" name="Group 17"/>
                <p:cNvGrpSpPr/>
                <p:nvPr/>
              </p:nvGrpSpPr>
              <p:grpSpPr>
                <a:xfrm>
                  <a:off x="0" y="0"/>
                  <a:ext cx="608" cy="227"/>
                  <a:chOff x="0" y="0"/>
                  <a:chExt cx="608" cy="227"/>
                </a:xfrm>
              </p:grpSpPr>
              <p:sp>
                <p:nvSpPr>
                  <p:cNvPr id="22546" name="Rectangle 18"/>
                  <p:cNvSpPr/>
                  <p:nvPr/>
                </p:nvSpPr>
                <p:spPr>
                  <a:xfrm>
                    <a:off x="0" y="0"/>
                    <a:ext cx="340" cy="227"/>
                  </a:xfrm>
                  <a:prstGeom prst="rect">
                    <a:avLst/>
                  </a:prstGeom>
                  <a:noFill/>
                  <a:ln w="9525">
                    <a:noFill/>
                  </a:ln>
                </p:spPr>
                <p:txBody>
                  <a:bodyPr wrap="none" anchor="ctr" anchorCtr="0"/>
                  <a:p>
                    <a:pPr algn="ctr"/>
                    <a:r>
                      <a:rPr lang="en-US" altLang="zh-CN" sz="2000" dirty="0">
                        <a:latin typeface="Times New Roman" panose="02020603050405020304" charset="0"/>
                        <a:ea typeface="宋体" panose="02010600030101010101" pitchFamily="2" charset="-122"/>
                      </a:rPr>
                      <a:t>top</a:t>
                    </a:r>
                    <a:endParaRPr lang="en-US" altLang="zh-CN" sz="2000" dirty="0">
                      <a:latin typeface="Times New Roman" panose="02020603050405020304" charset="0"/>
                      <a:ea typeface="宋体" panose="02010600030101010101" pitchFamily="2" charset="-122"/>
                    </a:endParaRPr>
                  </a:p>
                </p:txBody>
              </p:sp>
              <p:sp>
                <p:nvSpPr>
                  <p:cNvPr id="22547" name="Line 19"/>
                  <p:cNvSpPr/>
                  <p:nvPr/>
                </p:nvSpPr>
                <p:spPr>
                  <a:xfrm>
                    <a:off x="336" y="144"/>
                    <a:ext cx="272" cy="0"/>
                  </a:xfrm>
                  <a:prstGeom prst="line">
                    <a:avLst/>
                  </a:prstGeom>
                  <a:ln w="19050" cap="flat" cmpd="sng">
                    <a:solidFill>
                      <a:schemeClr val="tx1"/>
                    </a:solidFill>
                    <a:prstDash val="solid"/>
                    <a:round/>
                    <a:headEnd type="none" w="med" len="med"/>
                    <a:tailEnd type="triangle" w="med" len="med"/>
                  </a:ln>
                </p:spPr>
              </p:sp>
            </p:grpSp>
            <p:grpSp>
              <p:nvGrpSpPr>
                <p:cNvPr id="22548" name="Group 20"/>
                <p:cNvGrpSpPr/>
                <p:nvPr/>
              </p:nvGrpSpPr>
              <p:grpSpPr>
                <a:xfrm>
                  <a:off x="608" y="48"/>
                  <a:ext cx="544" cy="227"/>
                  <a:chOff x="0" y="0"/>
                  <a:chExt cx="544" cy="227"/>
                </a:xfrm>
              </p:grpSpPr>
              <p:sp>
                <p:nvSpPr>
                  <p:cNvPr id="22549" name="Rectangle 21"/>
                  <p:cNvSpPr/>
                  <p:nvPr/>
                </p:nvSpPr>
                <p:spPr>
                  <a:xfrm>
                    <a:off x="0" y="0"/>
                    <a:ext cx="544" cy="227"/>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400" dirty="0">
                        <a:latin typeface="Times New Roman" panose="02020603050405020304" charset="0"/>
                        <a:ea typeface="宋体" panose="02010600030101010101" pitchFamily="2" charset="-122"/>
                      </a:rPr>
                      <a:t> a</a:t>
                    </a:r>
                    <a:r>
                      <a:rPr lang="en-US" altLang="zh-CN" sz="2400" baseline="-25000" dirty="0">
                        <a:latin typeface="Times New Roman" panose="02020603050405020304" charset="0"/>
                        <a:ea typeface="宋体" panose="02010600030101010101" pitchFamily="2" charset="-122"/>
                      </a:rPr>
                      <a:t>4</a:t>
                    </a:r>
                    <a:endParaRPr lang="en-US" altLang="zh-CN" sz="2400" baseline="-25000" dirty="0">
                      <a:latin typeface="Times New Roman" panose="02020603050405020304" charset="0"/>
                      <a:ea typeface="宋体" panose="02010600030101010101" pitchFamily="2" charset="-122"/>
                    </a:endParaRPr>
                  </a:p>
                </p:txBody>
              </p:sp>
              <p:sp>
                <p:nvSpPr>
                  <p:cNvPr id="22550" name="Line 22"/>
                  <p:cNvSpPr/>
                  <p:nvPr/>
                </p:nvSpPr>
                <p:spPr>
                  <a:xfrm>
                    <a:off x="384" y="0"/>
                    <a:ext cx="0" cy="227"/>
                  </a:xfrm>
                  <a:prstGeom prst="line">
                    <a:avLst/>
                  </a:prstGeom>
                  <a:ln w="9525" cap="flat" cmpd="sng">
                    <a:solidFill>
                      <a:schemeClr val="tx1"/>
                    </a:solidFill>
                    <a:prstDash val="solid"/>
                    <a:round/>
                    <a:headEnd type="none" w="med" len="med"/>
                    <a:tailEnd type="none" w="med" len="med"/>
                  </a:ln>
                </p:spPr>
              </p:sp>
            </p:grpSp>
            <p:sp>
              <p:nvSpPr>
                <p:cNvPr id="22551" name="Line 23"/>
                <p:cNvSpPr/>
                <p:nvPr/>
              </p:nvSpPr>
              <p:spPr>
                <a:xfrm>
                  <a:off x="1104" y="213"/>
                  <a:ext cx="0" cy="227"/>
                </a:xfrm>
                <a:prstGeom prst="line">
                  <a:avLst/>
                </a:prstGeom>
                <a:ln w="19050" cap="flat" cmpd="sng">
                  <a:solidFill>
                    <a:schemeClr val="tx1"/>
                  </a:solidFill>
                  <a:prstDash val="solid"/>
                  <a:round/>
                  <a:headEnd type="none" w="med" len="med"/>
                  <a:tailEnd type="triangle" w="med" len="med"/>
                </a:ln>
              </p:spPr>
            </p:sp>
          </p:grpSp>
          <p:grpSp>
            <p:nvGrpSpPr>
              <p:cNvPr id="22552" name="Group 24"/>
              <p:cNvGrpSpPr/>
              <p:nvPr/>
            </p:nvGrpSpPr>
            <p:grpSpPr>
              <a:xfrm>
                <a:off x="626" y="453"/>
                <a:ext cx="544" cy="371"/>
                <a:chOff x="0" y="0"/>
                <a:chExt cx="544" cy="371"/>
              </a:xfrm>
            </p:grpSpPr>
            <p:grpSp>
              <p:nvGrpSpPr>
                <p:cNvPr id="22553" name="Group 25"/>
                <p:cNvGrpSpPr/>
                <p:nvPr/>
              </p:nvGrpSpPr>
              <p:grpSpPr>
                <a:xfrm>
                  <a:off x="0" y="0"/>
                  <a:ext cx="544" cy="227"/>
                  <a:chOff x="0" y="0"/>
                  <a:chExt cx="544" cy="227"/>
                </a:xfrm>
              </p:grpSpPr>
              <p:sp>
                <p:nvSpPr>
                  <p:cNvPr id="22554" name="Rectangle 26"/>
                  <p:cNvSpPr/>
                  <p:nvPr/>
                </p:nvSpPr>
                <p:spPr>
                  <a:xfrm>
                    <a:off x="0" y="0"/>
                    <a:ext cx="544" cy="227"/>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400" dirty="0">
                        <a:latin typeface="Times New Roman" panose="02020603050405020304" charset="0"/>
                        <a:ea typeface="宋体" panose="02010600030101010101" pitchFamily="2" charset="-122"/>
                      </a:rPr>
                      <a:t> a</a:t>
                    </a:r>
                    <a:r>
                      <a:rPr lang="en-US" altLang="zh-CN" sz="2400" baseline="-25000" dirty="0">
                        <a:latin typeface="Times New Roman" panose="02020603050405020304" charset="0"/>
                        <a:ea typeface="宋体" panose="02010600030101010101" pitchFamily="2" charset="-122"/>
                      </a:rPr>
                      <a:t>3</a:t>
                    </a:r>
                    <a:endParaRPr lang="en-US" altLang="zh-CN" sz="2400" baseline="-25000" dirty="0">
                      <a:latin typeface="Times New Roman" panose="02020603050405020304" charset="0"/>
                      <a:ea typeface="宋体" panose="02010600030101010101" pitchFamily="2" charset="-122"/>
                    </a:endParaRPr>
                  </a:p>
                </p:txBody>
              </p:sp>
              <p:sp>
                <p:nvSpPr>
                  <p:cNvPr id="22555" name="Line 27"/>
                  <p:cNvSpPr/>
                  <p:nvPr/>
                </p:nvSpPr>
                <p:spPr>
                  <a:xfrm>
                    <a:off x="384" y="0"/>
                    <a:ext cx="0" cy="227"/>
                  </a:xfrm>
                  <a:prstGeom prst="line">
                    <a:avLst/>
                  </a:prstGeom>
                  <a:ln w="9525" cap="flat" cmpd="sng">
                    <a:solidFill>
                      <a:schemeClr val="tx1"/>
                    </a:solidFill>
                    <a:prstDash val="solid"/>
                    <a:round/>
                    <a:headEnd type="none" w="med" len="med"/>
                    <a:tailEnd type="none" w="med" len="med"/>
                  </a:ln>
                </p:spPr>
              </p:sp>
            </p:grpSp>
            <p:sp>
              <p:nvSpPr>
                <p:cNvPr id="22556" name="Line 28"/>
                <p:cNvSpPr/>
                <p:nvPr/>
              </p:nvSpPr>
              <p:spPr>
                <a:xfrm>
                  <a:off x="487" y="144"/>
                  <a:ext cx="0" cy="227"/>
                </a:xfrm>
                <a:prstGeom prst="line">
                  <a:avLst/>
                </a:prstGeom>
                <a:ln w="19050" cap="flat" cmpd="sng">
                  <a:solidFill>
                    <a:schemeClr val="tx1"/>
                  </a:solidFill>
                  <a:prstDash val="solid"/>
                  <a:round/>
                  <a:headEnd type="none" w="med" len="med"/>
                  <a:tailEnd type="triangle" w="med" len="med"/>
                </a:ln>
              </p:spPr>
            </p:sp>
          </p:grpSp>
          <p:grpSp>
            <p:nvGrpSpPr>
              <p:cNvPr id="22557" name="Group 29"/>
              <p:cNvGrpSpPr/>
              <p:nvPr/>
            </p:nvGrpSpPr>
            <p:grpSpPr>
              <a:xfrm>
                <a:off x="647" y="828"/>
                <a:ext cx="553" cy="623"/>
                <a:chOff x="0" y="0"/>
                <a:chExt cx="553" cy="623"/>
              </a:xfrm>
            </p:grpSpPr>
            <p:grpSp>
              <p:nvGrpSpPr>
                <p:cNvPr id="22558" name="Group 30"/>
                <p:cNvGrpSpPr/>
                <p:nvPr/>
              </p:nvGrpSpPr>
              <p:grpSpPr>
                <a:xfrm>
                  <a:off x="9" y="396"/>
                  <a:ext cx="544" cy="227"/>
                  <a:chOff x="0" y="0"/>
                  <a:chExt cx="544" cy="227"/>
                </a:xfrm>
              </p:grpSpPr>
              <p:sp>
                <p:nvSpPr>
                  <p:cNvPr id="22559" name="Rectangle 31"/>
                  <p:cNvSpPr/>
                  <p:nvPr/>
                </p:nvSpPr>
                <p:spPr>
                  <a:xfrm>
                    <a:off x="0" y="0"/>
                    <a:ext cx="544" cy="227"/>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400" dirty="0">
                        <a:latin typeface="Times New Roman" panose="02020603050405020304" charset="0"/>
                        <a:ea typeface="宋体" panose="02010600030101010101" pitchFamily="2" charset="-122"/>
                      </a:rPr>
                      <a:t> a</a:t>
                    </a:r>
                    <a:r>
                      <a:rPr lang="en-US" altLang="zh-CN" sz="2400" baseline="-25000" dirty="0">
                        <a:latin typeface="Times New Roman" panose="02020603050405020304" charset="0"/>
                        <a:ea typeface="宋体" panose="02010600030101010101" pitchFamily="2" charset="-122"/>
                      </a:rPr>
                      <a:t>1     </a:t>
                    </a:r>
                    <a:r>
                      <a:rPr lang="en-US" altLang="zh-CN" sz="2400" dirty="0">
                        <a:latin typeface="Times New Roman" panose="02020603050405020304" charset="0"/>
                        <a:ea typeface="Arial" panose="020B0604020202020204" pitchFamily="34" charset="0"/>
                      </a:rPr>
                      <a:t>⋀</a:t>
                    </a:r>
                    <a:endParaRPr lang="en-US" altLang="zh-CN" sz="2400" dirty="0">
                      <a:latin typeface="Times New Roman" panose="02020603050405020304" charset="0"/>
                      <a:ea typeface="Arial" panose="020B0604020202020204" pitchFamily="34" charset="0"/>
                    </a:endParaRPr>
                  </a:p>
                </p:txBody>
              </p:sp>
              <p:sp>
                <p:nvSpPr>
                  <p:cNvPr id="22560" name="Line 32"/>
                  <p:cNvSpPr/>
                  <p:nvPr/>
                </p:nvSpPr>
                <p:spPr>
                  <a:xfrm>
                    <a:off x="384" y="0"/>
                    <a:ext cx="0" cy="227"/>
                  </a:xfrm>
                  <a:prstGeom prst="line">
                    <a:avLst/>
                  </a:prstGeom>
                  <a:ln w="9525" cap="flat" cmpd="sng">
                    <a:solidFill>
                      <a:schemeClr val="tx1"/>
                    </a:solidFill>
                    <a:prstDash val="solid"/>
                    <a:round/>
                    <a:headEnd type="none" w="med" len="med"/>
                    <a:tailEnd type="none" w="med" len="med"/>
                  </a:ln>
                </p:spPr>
              </p:sp>
            </p:grpSp>
            <p:grpSp>
              <p:nvGrpSpPr>
                <p:cNvPr id="22561" name="Group 33"/>
                <p:cNvGrpSpPr/>
                <p:nvPr/>
              </p:nvGrpSpPr>
              <p:grpSpPr>
                <a:xfrm>
                  <a:off x="0" y="0"/>
                  <a:ext cx="544" cy="384"/>
                  <a:chOff x="0" y="0"/>
                  <a:chExt cx="544" cy="384"/>
                </a:xfrm>
              </p:grpSpPr>
              <p:grpSp>
                <p:nvGrpSpPr>
                  <p:cNvPr id="22562" name="Group 34"/>
                  <p:cNvGrpSpPr/>
                  <p:nvPr/>
                </p:nvGrpSpPr>
                <p:grpSpPr>
                  <a:xfrm>
                    <a:off x="0" y="0"/>
                    <a:ext cx="544" cy="227"/>
                    <a:chOff x="0" y="0"/>
                    <a:chExt cx="544" cy="227"/>
                  </a:xfrm>
                </p:grpSpPr>
                <p:sp>
                  <p:nvSpPr>
                    <p:cNvPr id="22563" name="Rectangle 35"/>
                    <p:cNvSpPr/>
                    <p:nvPr/>
                  </p:nvSpPr>
                  <p:spPr>
                    <a:xfrm>
                      <a:off x="0" y="0"/>
                      <a:ext cx="544" cy="227"/>
                    </a:xfrm>
                    <a:prstGeom prst="rect">
                      <a:avLst/>
                    </a:prstGeom>
                    <a:noFill/>
                    <a:ln w="9525" cap="flat" cmpd="sng">
                      <a:solidFill>
                        <a:schemeClr val="tx1"/>
                      </a:solidFill>
                      <a:prstDash val="solid"/>
                      <a:miter/>
                      <a:headEnd type="none" w="med" len="med"/>
                      <a:tailEnd type="none" w="med" len="med"/>
                    </a:ln>
                  </p:spPr>
                  <p:txBody>
                    <a:bodyPr wrap="none" anchor="ctr" anchorCtr="0"/>
                    <a:p>
                      <a:r>
                        <a:rPr lang="en-US" altLang="zh-CN" sz="2400" dirty="0">
                          <a:latin typeface="Times New Roman" panose="02020603050405020304" charset="0"/>
                          <a:ea typeface="宋体" panose="02010600030101010101" pitchFamily="2" charset="-122"/>
                        </a:rPr>
                        <a:t> a</a:t>
                      </a:r>
                      <a:r>
                        <a:rPr lang="en-US" altLang="zh-CN" sz="2400" baseline="-25000" dirty="0">
                          <a:latin typeface="Times New Roman" panose="02020603050405020304" charset="0"/>
                          <a:ea typeface="宋体" panose="02010600030101010101" pitchFamily="2" charset="-122"/>
                        </a:rPr>
                        <a:t>2</a:t>
                      </a:r>
                      <a:endParaRPr lang="en-US" altLang="zh-CN" sz="2400" baseline="-25000" dirty="0">
                        <a:latin typeface="Times New Roman" panose="02020603050405020304" charset="0"/>
                        <a:ea typeface="宋体" panose="02010600030101010101" pitchFamily="2" charset="-122"/>
                      </a:endParaRPr>
                    </a:p>
                  </p:txBody>
                </p:sp>
                <p:sp>
                  <p:nvSpPr>
                    <p:cNvPr id="22564" name="Line 36"/>
                    <p:cNvSpPr/>
                    <p:nvPr/>
                  </p:nvSpPr>
                  <p:spPr>
                    <a:xfrm>
                      <a:off x="384" y="0"/>
                      <a:ext cx="0" cy="227"/>
                    </a:xfrm>
                    <a:prstGeom prst="line">
                      <a:avLst/>
                    </a:prstGeom>
                    <a:ln w="9525" cap="flat" cmpd="sng">
                      <a:solidFill>
                        <a:schemeClr val="tx1"/>
                      </a:solidFill>
                      <a:prstDash val="solid"/>
                      <a:round/>
                      <a:headEnd type="none" w="med" len="med"/>
                      <a:tailEnd type="none" w="med" len="med"/>
                    </a:ln>
                  </p:spPr>
                </p:sp>
              </p:grpSp>
              <p:sp>
                <p:nvSpPr>
                  <p:cNvPr id="22565" name="Line 37"/>
                  <p:cNvSpPr/>
                  <p:nvPr/>
                </p:nvSpPr>
                <p:spPr>
                  <a:xfrm>
                    <a:off x="480" y="157"/>
                    <a:ext cx="0" cy="227"/>
                  </a:xfrm>
                  <a:prstGeom prst="line">
                    <a:avLst/>
                  </a:prstGeom>
                  <a:ln w="19050" cap="flat" cmpd="sng">
                    <a:solidFill>
                      <a:schemeClr val="tx1"/>
                    </a:solidFill>
                    <a:prstDash val="solid"/>
                    <a:round/>
                    <a:headEnd type="none" w="med" len="med"/>
                    <a:tailEnd type="triangle" w="med" len="med"/>
                  </a:ln>
                </p:spPr>
              </p:sp>
            </p:grpSp>
          </p:grpSp>
        </p:grpSp>
        <p:sp>
          <p:nvSpPr>
            <p:cNvPr id="763942" name="Rectangle 38"/>
            <p:cNvSpPr>
              <a:spLocks noChangeArrowheads="1"/>
            </p:cNvSpPr>
            <p:nvPr/>
          </p:nvSpPr>
          <p:spPr bwMode="auto">
            <a:xfrm>
              <a:off x="97" y="1542"/>
              <a:ext cx="1680" cy="242"/>
            </a:xfrm>
            <a:prstGeom prst="rect">
              <a:avLst/>
            </a:prstGeom>
            <a:noFill/>
            <a:ln w="9525">
              <a:noFill/>
              <a:miter lim="800000"/>
            </a:ln>
            <a:effectLst/>
          </p:spPr>
          <p:txBody>
            <a:bodyPr lIns="92075" tIns="46038" rIns="92075" bIns="46038" anchor="ctr"/>
            <a:p>
              <a:pPr algn="ctr" eaLnBrk="0" fontAlgn="base" hangingPunct="0"/>
              <a:endParaRPr lang="zh-CN" altLang="zh-CN" sz="2000" b="1" strike="noStrike" noProof="1" dirty="0">
                <a:effectLst>
                  <a:outerShdw blurRad="38100" dist="38100" dir="2700000">
                    <a:srgbClr val="C0C0C0"/>
                  </a:outerShdw>
                </a:effectLst>
                <a:latin typeface="楷体" panose="02010609060101010101" charset="-122"/>
                <a:ea typeface="楷体" panose="02010609060101010101" charset="-122"/>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algn="l">
              <a:buClrTx/>
              <a:buSzTx/>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已知入栈顺序为A-B-C</a:t>
            </a:r>
            <a:endParaRPr lang="zh-CN" altLang="en-US" dirty="0">
              <a:latin typeface="黑体" panose="02010609060101010101" pitchFamily="2" charset="-122"/>
              <a:ea typeface="黑体" panose="02010609060101010101" pitchFamily="2" charset="-122"/>
              <a:cs typeface="黑体" panose="02010609060101010101" pitchFamily="2" charset="-122"/>
              <a:sym typeface="+mn-ea"/>
            </a:endParaRPr>
          </a:p>
          <a:p>
            <a:pPr lvl="1" algn="l">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列出所有可能和不可能的出栈序列</a:t>
            </a: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a:p>
            <a:pPr lvl="1" algn="l">
              <a:buClrTx/>
              <a:buSzTx/>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设入栈用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x</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表示，出栈用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y</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表示，写出每种出栈结果的操作序列</a:t>
            </a: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algn="l">
              <a:buClrTx/>
              <a:buSzTx/>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栈是限定操作的线性表，特点后进先出</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栈的出栈可能结果序列、入栈出栈操作序列</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顺序栈，理解top栈顶、base栈底</a:t>
            </a:r>
            <a:endParaRPr lang="zh-CN" altLang="en-US" sz="28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en-US" altLang="zh-CN" sz="2800" dirty="0">
                <a:latin typeface="黑体" panose="02010609060101010101" pitchFamily="2" charset="-122"/>
                <a:ea typeface="黑体" panose="02010609060101010101" pitchFamily="2" charset="-122"/>
                <a:cs typeface="+mn-cs"/>
                <a:sym typeface="+mn-ea"/>
              </a:rPr>
              <a:t>插入、删除、取栈顶</a:t>
            </a:r>
            <a:r>
              <a:rPr lang="zh-CN" altLang="en-US" sz="2800" dirty="0">
                <a:latin typeface="黑体" panose="02010609060101010101" pitchFamily="2" charset="-122"/>
                <a:ea typeface="黑体" panose="02010609060101010101" pitchFamily="2" charset="-122"/>
                <a:cs typeface="+mn-cs"/>
                <a:sym typeface="+mn-ea"/>
              </a:rPr>
              <a:t>的操作，</a:t>
            </a:r>
            <a:r>
              <a:rPr lang="en-US" altLang="zh-CN" sz="2800" dirty="0">
                <a:latin typeface="黑体" panose="02010609060101010101" pitchFamily="2" charset="-122"/>
                <a:ea typeface="黑体" panose="02010609060101010101" pitchFamily="2" charset="-122"/>
                <a:cs typeface="+mn-cs"/>
                <a:sym typeface="+mn-ea"/>
              </a:rPr>
              <a:t>top</a:t>
            </a:r>
            <a:r>
              <a:rPr lang="zh-CN" altLang="en-US" sz="2800" dirty="0">
                <a:latin typeface="黑体" panose="02010609060101010101" pitchFamily="2" charset="-122"/>
                <a:ea typeface="黑体" panose="02010609060101010101" pitchFamily="2" charset="-122"/>
                <a:cs typeface="+mn-cs"/>
                <a:sym typeface="+mn-ea"/>
              </a:rPr>
              <a:t>的变化</a:t>
            </a:r>
            <a:endParaRPr lang="en-US" altLang="zh-CN" sz="28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zh-CN" altLang="en-US" sz="2800" dirty="0">
                <a:latin typeface="黑体" panose="02010609060101010101" pitchFamily="2" charset="-122"/>
                <a:ea typeface="黑体" panose="02010609060101010101" pitchFamily="2" charset="-122"/>
                <a:cs typeface="+mn-cs"/>
                <a:sym typeface="+mn-ea"/>
              </a:rPr>
              <a:t>判栈空</a:t>
            </a:r>
            <a:r>
              <a:rPr lang="en-US" altLang="zh-CN" sz="2800" dirty="0">
                <a:latin typeface="黑体" panose="02010609060101010101" pitchFamily="2" charset="-122"/>
                <a:ea typeface="黑体" panose="02010609060101010101" pitchFamily="2" charset="-122"/>
                <a:cs typeface="+mn-cs"/>
                <a:sym typeface="+mn-ea"/>
              </a:rPr>
              <a:t>top==base</a:t>
            </a:r>
            <a:endParaRPr lang="en-US" altLang="zh-CN"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链栈，采用头插法，top是一个指针，指向首结点</a:t>
            </a:r>
            <a:endParaRPr lang="zh-CN" altLang="en-US" sz="2800" dirty="0">
              <a:latin typeface="黑体" panose="02010609060101010101" pitchFamily="2" charset="-122"/>
              <a:ea typeface="黑体" panose="02010609060101010101" pitchFamily="2" charset="-122"/>
              <a:cs typeface="+mn-cs"/>
            </a:endParaRPr>
          </a:p>
          <a:p>
            <a:pPr marL="952500" lvl="1" indent="-495300" eaLnBrk="1" hangingPunct="1">
              <a:buClr>
                <a:schemeClr val="accent2"/>
              </a:buClr>
              <a:buFont typeface="Wingdings" panose="05000000000000000000" pitchFamily="2" charset="2"/>
              <a:buChar char="q"/>
            </a:pPr>
            <a:endParaRPr lang="zh-CN" altLang="en-US" sz="2000" dirty="0">
              <a:latin typeface="宋体" panose="02010600030101010101" pitchFamily="2" charset="-122"/>
            </a:endParaRPr>
          </a:p>
          <a:p>
            <a:pPr marL="914400" lvl="2" indent="-457200" algn="l" eaLnBrk="1" hangingPunct="1">
              <a:buClrTx/>
              <a:buSzTx/>
              <a:buFont typeface="Arial" panose="020B0604020202020204" pitchFamily="34" charset="0"/>
              <a:buChar char="•"/>
            </a:pPr>
            <a:endParaRPr lang="zh-CN" altLang="en-US" sz="20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栈的</a:t>
            </a:r>
            <a:r>
              <a:rPr lang="zh-CN" altLang="en-US">
                <a:latin typeface="楷体" panose="02010609060101010101" charset="-122"/>
                <a:ea typeface="楷体" panose="02010609060101010101" charset="-122"/>
                <a:cs typeface="楷体" panose="02010609060101010101" charset="-122"/>
                <a:sym typeface="+mn-ea"/>
              </a:rPr>
              <a:t>知识点总结</a:t>
            </a:r>
            <a:endParaRPr lang="zh-CN" altLang="en-US">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设将整数1,2,3,4依次进栈，可将出入栈操作按合理次序组合，设入栈用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X</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表示，出栈用</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Y</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表示，请回答下述问题：</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若出入栈操作为</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XYXXYYXY</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，则出栈结果是什么？</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能否得到出栈结果1423和1432？并说明为什么不能得到或者如何得到。 </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请分析1,2,3,4的24种排列中，哪些序列是可以通过相应的入出栈操作得到的。 </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2" indent="-457200" algn="l">
              <a:buClrTx/>
              <a:buSzTx/>
              <a:buFont typeface="Wingdings" panose="05000000000000000000" charset="0"/>
              <a:buChar char="l"/>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a:p>
            <a:pPr algn="l">
              <a:buClrTx/>
              <a:buSzTx/>
            </a:pPr>
            <a:endParaRPr kumimoji="0" lang="zh-CN" altLang="en-US" sz="2800" i="0" u="none" strike="noStrike" kern="0" cap="none" spc="0" normalizeH="0" baseline="0" dirty="0">
              <a:solidFill>
                <a:schemeClr val="tx1"/>
              </a:solidFill>
              <a:latin typeface="黑体" panose="02010609060101010101" pitchFamily="2" charset="-122"/>
              <a:ea typeface="黑体" panose="02010609060101010101" pitchFamily="2" charset="-122"/>
              <a:cs typeface="黑体" panose="02010609060101010101" pitchFamily="2" charset="-122"/>
            </a:endParaRPr>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4664075"/>
          </a:xfrm>
          <a:prstGeom prst="rect">
            <a:avLst/>
          </a:prstGeom>
        </p:spPr>
        <p:txBody>
          <a:bodyPr vert="horz" lIns="91440" tIns="45720" rIns="91440" bIns="45720" rtlCol="0"/>
          <a:lstStyle/>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栈</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栈的应用举例</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栈与递归的实现</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队列</a:t>
            </a:r>
            <a:endParaRPr lang="zh-CN" altLang="en-US" sz="3200" b="1" dirty="0">
              <a:latin typeface="楷体" panose="02010609060101010101" charset="-122"/>
              <a:ea typeface="楷体" panose="02010609060101010101" charset="-122"/>
            </a:endParaRPr>
          </a:p>
          <a:p>
            <a:pPr marL="1028700" marR="0" lvl="1" indent="-571500" defTabSz="914400" rtl="0" eaLnBrk="1" fontAlgn="auto" latinLnBrk="0" hangingPunct="1">
              <a:lnSpc>
                <a:spcPct val="90000"/>
              </a:lnSpc>
              <a:spcBef>
                <a:spcPts val="1000"/>
              </a:spcBef>
              <a:spcAft>
                <a:spcPts val="0"/>
              </a:spcAft>
              <a:buClr>
                <a:schemeClr val="accent2"/>
              </a:buClr>
              <a:buSzTx/>
              <a:buFont typeface="Wingdings" panose="05000000000000000000" charset="0"/>
              <a:buChar char="Ø"/>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1807210"/>
            <a:ext cx="330898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4007485" y="188595"/>
            <a:ext cx="473075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第三章	栈和队列</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栈应用</a:t>
            </a:r>
            <a:r>
              <a:rPr lang="en-US" altLang="zh-CN" sz="2800" dirty="0">
                <a:latin typeface="黑体" panose="02010609060101010101" pitchFamily="2" charset="-122"/>
                <a:ea typeface="黑体" panose="02010609060101010101" pitchFamily="2" charset="-122"/>
                <a:cs typeface="+mn-cs"/>
                <a:sym typeface="+mn-ea"/>
              </a:rPr>
              <a:t>1</a:t>
            </a:r>
            <a:r>
              <a:rPr lang="zh-CN" altLang="en-US" sz="2800" dirty="0">
                <a:latin typeface="黑体" panose="02010609060101010101" pitchFamily="2" charset="-122"/>
                <a:ea typeface="黑体" panose="02010609060101010101" pitchFamily="2" charset="-122"/>
                <a:cs typeface="+mn-cs"/>
                <a:sym typeface="+mn-ea"/>
              </a:rPr>
              <a:t>：将十进制转换为其它进制(d)，其原理为：</a:t>
            </a:r>
            <a:endParaRPr lang="zh-CN" altLang="en-US" sz="2800" dirty="0">
              <a:latin typeface="黑体" panose="02010609060101010101" pitchFamily="2" charset="-122"/>
              <a:ea typeface="黑体" panose="02010609060101010101" pitchFamily="2" charset="-122"/>
              <a:cs typeface="+mn-cs"/>
            </a:endParaRPr>
          </a:p>
          <a:p>
            <a:pPr marL="0" lvl="1" indent="0" algn="l" eaLnBrk="1" hangingPunct="1">
              <a:spcBef>
                <a:spcPct val="20000"/>
              </a:spcBef>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cs typeface="+mn-cs"/>
                <a:sym typeface="+mn-ea"/>
              </a:rPr>
              <a:t>      N = (N/d)*d + N mod d</a:t>
            </a:r>
            <a:endParaRPr lang="zh-CN" altLang="en-US" sz="2800" b="0" dirty="0">
              <a:latin typeface="黑体" panose="02010609060101010101" pitchFamily="2" charset="-122"/>
              <a:ea typeface="黑体" panose="02010609060101010101" pitchFamily="2" charset="-122"/>
              <a:cs typeface="+mn-cs"/>
            </a:endParaRPr>
          </a:p>
          <a:p>
            <a:pPr marL="609600" indent="-609600" eaLnBrk="1" hangingPunct="1">
              <a:spcBef>
                <a:spcPct val="10000"/>
              </a:spcBef>
              <a:buClr>
                <a:schemeClr val="accent1"/>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sym typeface="+mn-ea"/>
              </a:rPr>
              <a:t>例如：（</a:t>
            </a:r>
            <a:r>
              <a:rPr lang="en-US" altLang="zh-CN" dirty="0">
                <a:latin typeface="黑体" panose="02010609060101010101" pitchFamily="2" charset="-122"/>
                <a:ea typeface="黑体" panose="02010609060101010101" pitchFamily="2" charset="-122"/>
                <a:sym typeface="+mn-ea"/>
              </a:rPr>
              <a:t>1348)</a:t>
            </a:r>
            <a:r>
              <a:rPr lang="en-US" altLang="zh-CN" baseline="-25000" dirty="0">
                <a:latin typeface="黑体" panose="02010609060101010101" pitchFamily="2" charset="-122"/>
                <a:ea typeface="黑体" panose="02010609060101010101" pitchFamily="2" charset="-122"/>
                <a:sym typeface="+mn-ea"/>
              </a:rPr>
              <a:t>10</a:t>
            </a:r>
            <a:r>
              <a:rPr lang="en-US" altLang="zh-CN" dirty="0">
                <a:latin typeface="黑体" panose="02010609060101010101" pitchFamily="2" charset="-122"/>
                <a:ea typeface="黑体" panose="02010609060101010101" pitchFamily="2" charset="-122"/>
                <a:sym typeface="+mn-ea"/>
              </a:rPr>
              <a:t> = (2504)</a:t>
            </a:r>
            <a:r>
              <a:rPr lang="en-US" altLang="zh-CN" baseline="-25000" dirty="0">
                <a:latin typeface="黑体" panose="02010609060101010101" pitchFamily="2" charset="-122"/>
                <a:ea typeface="黑体" panose="02010609060101010101" pitchFamily="2" charset="-122"/>
                <a:sym typeface="+mn-ea"/>
              </a:rPr>
              <a:t>8</a:t>
            </a:r>
            <a:r>
              <a:rPr lang="en-US" altLang="zh-CN" dirty="0">
                <a:latin typeface="黑体" panose="02010609060101010101" pitchFamily="2" charset="-122"/>
                <a:ea typeface="黑体" panose="02010609060101010101" pitchFamily="2" charset="-122"/>
                <a:sym typeface="+mn-ea"/>
              </a:rPr>
              <a:t> </a:t>
            </a:r>
            <a:r>
              <a:rPr lang="zh-CN" altLang="en-US" dirty="0">
                <a:latin typeface="黑体" panose="02010609060101010101" pitchFamily="2" charset="-122"/>
                <a:ea typeface="黑体" panose="02010609060101010101" pitchFamily="2" charset="-122"/>
                <a:sym typeface="+mn-ea"/>
              </a:rPr>
              <a:t>，其运算过程如下：</a:t>
            </a:r>
            <a:endParaRPr lang="zh-CN" altLang="en-US" b="0" dirty="0">
              <a:latin typeface="黑体" panose="02010609060101010101" pitchFamily="2" charset="-122"/>
              <a:ea typeface="黑体" panose="02010609060101010101" pitchFamily="2" charset="-122"/>
            </a:endParaRPr>
          </a:p>
          <a:p>
            <a:pPr marL="609600" indent="-609600" eaLnBrk="1" hangingPunct="1">
              <a:spcBef>
                <a:spcPct val="10000"/>
              </a:spcBef>
              <a:buClr>
                <a:schemeClr val="accent1"/>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sym typeface="+mn-ea"/>
              </a:rPr>
              <a:t>			  </a:t>
            </a:r>
            <a:r>
              <a:rPr lang="en-US" altLang="zh-CN" dirty="0">
                <a:latin typeface="黑体" panose="02010609060101010101" pitchFamily="2" charset="-122"/>
                <a:ea typeface="黑体" panose="02010609060101010101" pitchFamily="2" charset="-122"/>
                <a:sym typeface="+mn-ea"/>
              </a:rPr>
              <a:t>N 		N /8    N mod 8</a:t>
            </a:r>
            <a:endParaRPr lang="en-US" altLang="zh-CN" b="0" dirty="0">
              <a:latin typeface="黑体" panose="02010609060101010101" pitchFamily="2" charset="-122"/>
              <a:ea typeface="黑体" panose="02010609060101010101" pitchFamily="2" charset="-122"/>
            </a:endParaRPr>
          </a:p>
          <a:p>
            <a:pPr marL="609600" indent="-609600" eaLnBrk="1" hangingPunct="1">
              <a:spcBef>
                <a:spcPct val="1000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sym typeface="+mn-ea"/>
              </a:rPr>
              <a:t>			1348		 168      	  4</a:t>
            </a:r>
            <a:endParaRPr lang="en-US" altLang="zh-CN" b="0" dirty="0">
              <a:latin typeface="黑体" panose="02010609060101010101" pitchFamily="2" charset="-122"/>
              <a:ea typeface="黑体" panose="02010609060101010101" pitchFamily="2" charset="-122"/>
            </a:endParaRPr>
          </a:p>
          <a:p>
            <a:pPr marL="609600" indent="-609600" eaLnBrk="1" hangingPunct="1">
              <a:spcBef>
                <a:spcPct val="1000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sym typeface="+mn-ea"/>
              </a:rPr>
              <a:t>			 168		  21    	  0</a:t>
            </a:r>
            <a:endParaRPr lang="en-US" altLang="zh-CN" b="0" dirty="0">
              <a:latin typeface="黑体" panose="02010609060101010101" pitchFamily="2" charset="-122"/>
              <a:ea typeface="黑体" panose="02010609060101010101" pitchFamily="2" charset="-122"/>
            </a:endParaRPr>
          </a:p>
          <a:p>
            <a:pPr marL="609600" indent="-609600" eaLnBrk="1" hangingPunct="1">
              <a:spcBef>
                <a:spcPct val="1000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sym typeface="+mn-ea"/>
              </a:rPr>
              <a:t>			  21		   2    	  5</a:t>
            </a:r>
            <a:endParaRPr lang="en-US" altLang="zh-CN" b="0" dirty="0">
              <a:latin typeface="黑体" panose="02010609060101010101" pitchFamily="2" charset="-122"/>
              <a:ea typeface="黑体" panose="02010609060101010101" pitchFamily="2" charset="-122"/>
            </a:endParaRPr>
          </a:p>
          <a:p>
            <a:pPr marL="609600" indent="-609600" eaLnBrk="1" hangingPunct="1">
              <a:spcBef>
                <a:spcPct val="1000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sym typeface="+mn-ea"/>
              </a:rPr>
              <a:t>			   2		   0     	  2</a:t>
            </a:r>
            <a:endParaRPr lang="en-US" altLang="zh-CN" b="0" dirty="0">
              <a:latin typeface="黑体" panose="02010609060101010101" pitchFamily="2" charset="-122"/>
              <a:ea typeface="黑体" panose="02010609060101010101" pitchFamily="2" charset="-122"/>
            </a:endParaRPr>
          </a:p>
          <a:p>
            <a:pPr marL="457200" lvl="1" indent="-457200" algn="l">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a:t>
            </a:r>
            <a:r>
              <a:rPr lang="en-US" altLang="zh-CN">
                <a:latin typeface="楷体" panose="02010609060101010101" charset="-122"/>
                <a:ea typeface="楷体" panose="02010609060101010101" charset="-122"/>
                <a:cs typeface="楷体" panose="02010609060101010101" charset="-122"/>
                <a:sym typeface="+mn-ea"/>
              </a:rPr>
              <a:t>2 栈的应用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数制转换的栈应用</a:t>
            </a:r>
            <a:endParaRPr lang="zh-CN" altLang="en-US" sz="2800" dirty="0">
              <a:latin typeface="黑体" panose="02010609060101010101" pitchFamily="2" charset="-122"/>
              <a:ea typeface="黑体" panose="02010609060101010101" pitchFamily="2" charset="-122"/>
              <a:cs typeface="+mn-cs"/>
              <a:sym typeface="+mn-ea"/>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void conversion () {</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InitStack(S);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创建新栈</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S</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scanf (“%d”,N);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输入一个十进制数</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N</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while (N) {</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Push(S, N % 8);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将余数送入栈中</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N = N/8;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求整除数</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while (!StackEmpty(S)) {	</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Pop(S,e);		        // </a:t>
            </a: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将栈中数出栈</a:t>
            </a:r>
            <a:endParaRPr lang="zh-CN" altLang="en-US"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printf ( "%d", e );</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a:t>
            </a:r>
            <a:endParaRPr lang="en-US" altLang="zh-CN" sz="240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lnSpc>
                <a:spcPct val="100000"/>
              </a:lnSpc>
              <a:spcBef>
                <a:spcPts val="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cs typeface="黑体" panose="02010609060101010101" pitchFamily="2" charset="-122"/>
                <a:sym typeface="+mn-ea"/>
              </a:rPr>
              <a:t>} // conversion</a:t>
            </a:r>
            <a:endParaRPr lang="en-US" altLang="zh-CN" sz="24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a:t>
            </a:r>
            <a:r>
              <a:rPr lang="en-US" altLang="zh-CN">
                <a:latin typeface="楷体" panose="02010609060101010101" charset="-122"/>
                <a:ea typeface="楷体" panose="02010609060101010101" charset="-122"/>
                <a:cs typeface="楷体" panose="02010609060101010101" charset="-122"/>
                <a:sym typeface="+mn-ea"/>
              </a:rPr>
              <a:t>2 栈的应用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栈应用</a:t>
            </a:r>
            <a:r>
              <a:rPr lang="en-US" altLang="zh-CN" sz="2800" dirty="0">
                <a:latin typeface="黑体" panose="02010609060101010101" pitchFamily="2" charset="-122"/>
                <a:ea typeface="黑体" panose="02010609060101010101" pitchFamily="2" charset="-122"/>
                <a:cs typeface="+mn-cs"/>
                <a:sym typeface="+mn-ea"/>
              </a:rPr>
              <a:t>2</a:t>
            </a:r>
            <a:r>
              <a:rPr lang="zh-CN" altLang="en-US" sz="2800" dirty="0">
                <a:latin typeface="黑体" panose="02010609060101010101" pitchFamily="2" charset="-122"/>
                <a:ea typeface="黑体" panose="02010609060101010101" pitchFamily="2" charset="-122"/>
                <a:cs typeface="+mn-cs"/>
                <a:sym typeface="+mn-ea"/>
              </a:rPr>
              <a:t>：括号匹配的校验</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在处理表达式过程中需要对括号匹配进行检验，括号匹配包括三种：“(”和“)”，“[”和“]”，“{”和“}”。</a:t>
            </a:r>
            <a:endParaRPr lang="zh-CN" altLang="en-US" sz="2800" dirty="0">
              <a:latin typeface="黑体" panose="02010609060101010101" pitchFamily="2" charset="-122"/>
              <a:ea typeface="黑体" panose="02010609060101010101" pitchFamily="2" charset="-122"/>
              <a:cs typeface="+mn-cs"/>
              <a:sym typeface="+mn-ea"/>
            </a:endParaRPr>
          </a:p>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cs typeface="+mn-cs"/>
                <a:sym typeface="+mn-ea"/>
              </a:rPr>
              <a:t>例如语句：</a:t>
            </a:r>
            <a:r>
              <a:rPr lang="en-US" altLang="zh-CN" sz="2800" dirty="0">
                <a:latin typeface="黑体" panose="02010609060101010101" pitchFamily="2" charset="-122"/>
                <a:ea typeface="黑体" panose="02010609060101010101" pitchFamily="2" charset="-122"/>
                <a:cs typeface="+mn-cs"/>
                <a:sym typeface="+mn-ea"/>
              </a:rPr>
              <a:t>x=(1+2)*[3-(4*5)/(6+A[7])]; { y=8%9; }</a:t>
            </a:r>
            <a:endParaRPr lang="zh-CN" altLang="en-US" sz="2800" dirty="0">
              <a:latin typeface="黑体" panose="02010609060101010101" pitchFamily="2" charset="-122"/>
              <a:ea typeface="黑体" panose="02010609060101010101" pitchFamily="2" charset="-122"/>
              <a:cs typeface="+mn-cs"/>
              <a:sym typeface="+mn-ea"/>
            </a:endParaRPr>
          </a:p>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cs typeface="+mn-cs"/>
                <a:sym typeface="+mn-ea"/>
              </a:rPr>
              <a:t>其中提取出括号如下：   </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endParaRPr>
          </a:p>
          <a:p>
            <a:pPr marL="0" lvl="1" indent="0" algn="l" eaLnBrk="1" hangingPunct="1">
              <a:buClrTx/>
              <a:buSzTx/>
              <a:buFont typeface="Wingdings" panose="05000000000000000000" charset="0"/>
              <a:buNone/>
            </a:pPr>
            <a:endParaRPr lang="zh-CN" altLang="en-US" dirty="0">
              <a:latin typeface="黑体" panose="02010609060101010101" pitchFamily="2" charset="-122"/>
              <a:ea typeface="黑体" panose="02010609060101010101" pitchFamily="2" charset="-122"/>
              <a:cs typeface="+mn-cs"/>
              <a:sym typeface="+mn-ea"/>
            </a:endParaRPr>
          </a:p>
          <a:p>
            <a:pPr marL="0" lvl="1" indent="0" algn="l" eaLnBrk="1" hangingPunct="1">
              <a:buClrTx/>
              <a:buSzTx/>
              <a:buFont typeface="Wingdings" panose="05000000000000000000" charset="0"/>
              <a:buNone/>
            </a:pPr>
            <a:r>
              <a:rPr lang="zh-CN" altLang="en-US" dirty="0">
                <a:latin typeface="黑体" panose="02010609060101010101" pitchFamily="2" charset="-122"/>
                <a:ea typeface="黑体" panose="02010609060101010101" pitchFamily="2" charset="-122"/>
                <a:cs typeface="+mn-cs"/>
                <a:sym typeface="+mn-ea"/>
              </a:rPr>
              <a:t>上例可以看出第1和第2个括号匹配，第3和第10个括号匹配，4和5匹配，6和9匹配，7和8匹配，11和12匹配</a:t>
            </a:r>
            <a:r>
              <a:rPr lang="zh-CN" altLang="en-US" sz="2800" dirty="0">
                <a:latin typeface="黑体" panose="02010609060101010101" pitchFamily="2" charset="-122"/>
                <a:ea typeface="黑体" panose="02010609060101010101" pitchFamily="2" charset="-122"/>
                <a:cs typeface="+mn-cs"/>
                <a:sym typeface="+mn-ea"/>
              </a:rPr>
              <a:t> </a:t>
            </a: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a:t>
            </a:r>
            <a:r>
              <a:rPr lang="en-US" altLang="zh-CN">
                <a:latin typeface="楷体" panose="02010609060101010101" charset="-122"/>
                <a:ea typeface="楷体" panose="02010609060101010101" charset="-122"/>
                <a:cs typeface="楷体" panose="02010609060101010101" charset="-122"/>
                <a:sym typeface="+mn-ea"/>
              </a:rPr>
              <a:t>2 栈的应用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33796" name="Picture 4"/>
          <p:cNvPicPr>
            <a:picLocks noChangeAspect="1"/>
          </p:cNvPicPr>
          <p:nvPr/>
        </p:nvPicPr>
        <p:blipFill>
          <a:blip r:embed="rId1"/>
          <a:stretch>
            <a:fillRect/>
          </a:stretch>
        </p:blipFill>
        <p:spPr>
          <a:xfrm>
            <a:off x="1559560" y="3644900"/>
            <a:ext cx="8463915" cy="1225550"/>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栈应用</a:t>
            </a:r>
            <a:r>
              <a:rPr lang="en-US" altLang="zh-CN" sz="2800" dirty="0">
                <a:latin typeface="黑体" panose="02010609060101010101" pitchFamily="2" charset="-122"/>
                <a:ea typeface="黑体" panose="02010609060101010101" pitchFamily="2" charset="-122"/>
                <a:cs typeface="+mn-cs"/>
                <a:sym typeface="+mn-ea"/>
              </a:rPr>
              <a:t>2</a:t>
            </a:r>
            <a:r>
              <a:rPr lang="zh-CN" altLang="en-US" sz="2800" dirty="0">
                <a:latin typeface="黑体" panose="02010609060101010101" pitchFamily="2" charset="-122"/>
                <a:ea typeface="黑体" panose="02010609060101010101" pitchFamily="2" charset="-122"/>
                <a:cs typeface="+mn-cs"/>
                <a:sym typeface="+mn-ea"/>
              </a:rPr>
              <a:t>：括号匹配的校验算法</a:t>
            </a:r>
            <a:endParaRPr lang="zh-CN" altLang="en-US" sz="2800" dirty="0">
              <a:latin typeface="黑体" panose="02010609060101010101" pitchFamily="2" charset="-122"/>
              <a:ea typeface="黑体" panose="02010609060101010101" pitchFamily="2" charset="-122"/>
              <a:cs typeface="+mn-cs"/>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cs"/>
                <a:sym typeface="+mn-ea"/>
              </a:rPr>
              <a:t>初始化，i=0，建立堆栈，栈为空，输入表达式</a:t>
            </a:r>
            <a:endParaRPr lang="zh-CN" altLang="en-US" b="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cs"/>
                <a:sym typeface="+mn-ea"/>
              </a:rPr>
              <a:t>读取表达式第i个字符</a:t>
            </a:r>
            <a:r>
              <a:rPr lang="en-US" altLang="zh-CN" dirty="0">
                <a:latin typeface="黑体" panose="02010609060101010101" pitchFamily="2" charset="-122"/>
                <a:ea typeface="黑体" panose="02010609060101010101" pitchFamily="2" charset="-122"/>
                <a:cs typeface="+mn-cs"/>
                <a:sym typeface="+mn-ea"/>
              </a:rPr>
              <a:t>	//</a:t>
            </a:r>
            <a:r>
              <a:rPr lang="zh-CN" altLang="en-US" dirty="0">
                <a:latin typeface="黑体" panose="02010609060101010101" pitchFamily="2" charset="-122"/>
                <a:ea typeface="黑体" panose="02010609060101010101" pitchFamily="2" charset="-122"/>
                <a:cs typeface="+mn-cs"/>
                <a:sym typeface="+mn-ea"/>
              </a:rPr>
              <a:t>这是步骤</a:t>
            </a:r>
            <a:r>
              <a:rPr lang="en-US" altLang="zh-CN" dirty="0">
                <a:latin typeface="黑体" panose="02010609060101010101" pitchFamily="2" charset="-122"/>
                <a:ea typeface="黑体" panose="02010609060101010101" pitchFamily="2" charset="-122"/>
                <a:cs typeface="+mn-cs"/>
                <a:sym typeface="+mn-ea"/>
              </a:rPr>
              <a:t>2</a:t>
            </a:r>
            <a:endParaRPr lang="zh-CN" altLang="en-US" b="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cs"/>
                <a:sym typeface="+mn-ea"/>
              </a:rPr>
              <a:t>如果第i个字符是左括号，入栈</a:t>
            </a:r>
            <a:endParaRPr lang="zh-CN" altLang="en-US" b="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cs"/>
                <a:sym typeface="+mn-ea"/>
              </a:rPr>
              <a:t>如果第i个字符是右括号，检查栈顶元素是否匹配：</a:t>
            </a:r>
            <a:endParaRPr lang="zh-CN" altLang="en-US" dirty="0">
              <a:latin typeface="黑体" panose="02010609060101010101" pitchFamily="2" charset="-122"/>
              <a:ea typeface="黑体" panose="02010609060101010101" pitchFamily="2" charset="-122"/>
              <a:cs typeface="+mn-cs"/>
              <a:sym typeface="+mn-ea"/>
            </a:endParaRPr>
          </a:p>
          <a:p>
            <a:pPr lvl="2"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如果匹配，弹出栈顶元素</a:t>
            </a:r>
            <a:endParaRPr lang="zh-CN" altLang="en-US" sz="2400" dirty="0">
              <a:latin typeface="黑体" panose="02010609060101010101" pitchFamily="2" charset="-122"/>
              <a:ea typeface="黑体" panose="02010609060101010101" pitchFamily="2" charset="-122"/>
              <a:cs typeface="+mn-cs"/>
              <a:sym typeface="+mn-ea"/>
            </a:endParaRPr>
          </a:p>
          <a:p>
            <a:pPr lvl="2"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如果不匹配，报错退出</a:t>
            </a:r>
            <a:endParaRPr lang="zh-CN" altLang="en-US" sz="2400" b="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cs"/>
                <a:sym typeface="+mn-ea"/>
              </a:rPr>
              <a:t>i+</a:t>
            </a:r>
            <a:r>
              <a:rPr lang="en-US" altLang="zh-CN" dirty="0">
                <a:latin typeface="黑体" panose="02010609060101010101" pitchFamily="2" charset="-122"/>
                <a:ea typeface="黑体" panose="02010609060101010101" pitchFamily="2" charset="-122"/>
                <a:cs typeface="+mn-cs"/>
                <a:sym typeface="+mn-ea"/>
              </a:rPr>
              <a:t>+</a:t>
            </a:r>
            <a:r>
              <a:rPr lang="zh-CN" altLang="en-US" dirty="0">
                <a:latin typeface="黑体" panose="02010609060101010101" pitchFamily="2" charset="-122"/>
                <a:ea typeface="黑体" panose="02010609060101010101" pitchFamily="2" charset="-122"/>
                <a:cs typeface="+mn-cs"/>
                <a:sym typeface="+mn-ea"/>
              </a:rPr>
              <a:t>，检查</a:t>
            </a:r>
            <a:r>
              <a:rPr lang="en-US" altLang="zh-CN" dirty="0">
                <a:latin typeface="黑体" panose="02010609060101010101" pitchFamily="2" charset="-122"/>
                <a:ea typeface="黑体" panose="02010609060101010101" pitchFamily="2" charset="-122"/>
                <a:cs typeface="+mn-cs"/>
                <a:sym typeface="+mn-ea"/>
              </a:rPr>
              <a:t>i</a:t>
            </a:r>
            <a:r>
              <a:rPr lang="zh-CN" altLang="en-US" dirty="0">
                <a:latin typeface="黑体" panose="02010609060101010101" pitchFamily="2" charset="-122"/>
                <a:ea typeface="黑体" panose="02010609060101010101" pitchFamily="2" charset="-122"/>
                <a:cs typeface="+mn-cs"/>
                <a:sym typeface="+mn-ea"/>
              </a:rPr>
              <a:t>是否已经表达式末尾，若未到末尾跳转步骤2</a:t>
            </a:r>
            <a:endParaRPr lang="zh-CN" altLang="en-US" dirty="0">
              <a:latin typeface="黑体" panose="02010609060101010101" pitchFamily="2" charset="-122"/>
              <a:ea typeface="黑体" panose="02010609060101010101" pitchFamily="2" charset="-122"/>
              <a:cs typeface="+mn-cs"/>
              <a:sym typeface="+mn-ea"/>
            </a:endParaRPr>
          </a:p>
          <a:p>
            <a:pPr lvl="1" algn="l" eaLnBrk="1" hangingPunct="1">
              <a:buClrTx/>
              <a:buSzTx/>
              <a:buChar char="•"/>
            </a:pPr>
            <a:r>
              <a:rPr lang="en-US" altLang="zh-CN" dirty="0">
                <a:latin typeface="黑体" panose="02010609060101010101" pitchFamily="2" charset="-122"/>
                <a:ea typeface="黑体" panose="02010609060101010101" pitchFamily="2" charset="-122"/>
                <a:cs typeface="+mn-cs"/>
                <a:sym typeface="+mn-ea"/>
              </a:rPr>
              <a:t>i</a:t>
            </a:r>
            <a:r>
              <a:rPr lang="zh-CN" altLang="en-US" dirty="0">
                <a:latin typeface="黑体" panose="02010609060101010101" pitchFamily="2" charset="-122"/>
                <a:ea typeface="黑体" panose="02010609060101010101" pitchFamily="2" charset="-122"/>
                <a:cs typeface="+mn-cs"/>
                <a:sym typeface="+mn-ea"/>
              </a:rPr>
              <a:t>已到达末尾，若堆栈为空，返回匹配正确；堆栈不为空，返回匹配错误</a:t>
            </a:r>
            <a:endParaRPr lang="zh-CN" altLang="en-US" dirty="0">
              <a:latin typeface="黑体" panose="02010609060101010101" pitchFamily="2" charset="-122"/>
              <a:ea typeface="黑体" panose="02010609060101010101" pitchFamily="2" charset="-122"/>
              <a:cs typeface="+mn-cs"/>
              <a:sym typeface="+mn-ea"/>
            </a:endParaRPr>
          </a:p>
          <a:p>
            <a:pPr marL="609600" lvl="1" indent="0" algn="l" eaLnBrk="1" hangingPunct="1">
              <a:buClrTx/>
              <a:buSzTx/>
              <a:buNone/>
            </a:pPr>
            <a:endParaRPr lang="zh-CN" altLang="en-US" sz="2800" dirty="0">
              <a:latin typeface="宋体" panose="02010600030101010101" pitchFamily="2" charset="-122"/>
              <a:sym typeface="+mn-ea"/>
            </a:endParaRPr>
          </a:p>
          <a:p>
            <a:pPr marL="609600" lvl="1" indent="0" algn="l" eaLnBrk="1" hangingPunct="1">
              <a:buClrTx/>
              <a:buSzTx/>
              <a:buNone/>
            </a:pPr>
            <a:r>
              <a:rPr lang="zh-CN" altLang="en-US" sz="2800" dirty="0">
                <a:latin typeface="宋体" panose="02010600030101010101" pitchFamily="2" charset="-122"/>
                <a:sym typeface="+mn-ea"/>
              </a:rPr>
              <a:t>例子分析：｛</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[33.3-2*(1+4)]*5+6</a:t>
            </a:r>
            <a:r>
              <a:rPr lang="zh-CN" altLang="en-US" sz="2800" dirty="0">
                <a:latin typeface="宋体" panose="02010600030101010101" pitchFamily="2" charset="-122"/>
                <a:sym typeface="+mn-ea"/>
              </a:rPr>
              <a:t>｝</a:t>
            </a:r>
            <a:r>
              <a:rPr lang="en-US" altLang="zh-CN" sz="2800" dirty="0">
                <a:latin typeface="宋体" panose="02010600030101010101" pitchFamily="2" charset="-122"/>
                <a:sym typeface="+mn-ea"/>
              </a:rPr>
              <a:t>* </a:t>
            </a:r>
            <a:r>
              <a:rPr lang="en-US" altLang="zh-CN" sz="2800" dirty="0">
                <a:latin typeface="黑体" panose="02010609060101010101" pitchFamily="2" charset="-122"/>
                <a:ea typeface="黑体" panose="02010609060101010101" pitchFamily="2" charset="-122"/>
                <a:cs typeface="黑体" panose="02010609060101010101" pitchFamily="2" charset="-122"/>
                <a:sym typeface="+mn-ea"/>
              </a:rPr>
              <a:t>7 - 8</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a:t>
            </a:r>
            <a:r>
              <a:rPr lang="en-US" altLang="zh-CN">
                <a:latin typeface="楷体" panose="02010609060101010101" charset="-122"/>
                <a:ea typeface="楷体" panose="02010609060101010101" charset="-122"/>
                <a:cs typeface="楷体" panose="02010609060101010101" charset="-122"/>
                <a:sym typeface="+mn-ea"/>
              </a:rPr>
              <a:t>2 栈的应用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栈应用</a:t>
            </a:r>
            <a:r>
              <a:rPr lang="en-US" altLang="zh-CN" sz="2800" dirty="0">
                <a:latin typeface="黑体" panose="02010609060101010101" pitchFamily="2" charset="-122"/>
                <a:ea typeface="黑体" panose="02010609060101010101" pitchFamily="2" charset="-122"/>
                <a:cs typeface="+mn-cs"/>
                <a:sym typeface="+mn-ea"/>
              </a:rPr>
              <a:t>3</a:t>
            </a:r>
            <a:r>
              <a:rPr lang="zh-CN" altLang="en-US" sz="2800" dirty="0">
                <a:latin typeface="黑体" panose="02010609060101010101" pitchFamily="2" charset="-122"/>
                <a:ea typeface="黑体" panose="02010609060101010101" pitchFamily="2" charset="-122"/>
                <a:cs typeface="+mn-cs"/>
                <a:sym typeface="+mn-ea"/>
              </a:rPr>
              <a:t>：行编辑</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用户输入一行字符，允许用户输入出差错，并在发现有误时，用退格符更正。由于退格符不可见，在这里用“#”表示退格符</a:t>
            </a:r>
            <a:endParaRPr lang="zh-CN" altLang="en-US" sz="2800" dirty="0">
              <a:latin typeface="黑体" panose="02010609060101010101" pitchFamily="2" charset="-122"/>
              <a:ea typeface="黑体" panose="02010609060101010101" pitchFamily="2" charset="-122"/>
              <a:cs typeface="+mn-cs"/>
            </a:endParaRPr>
          </a:p>
          <a:p>
            <a:pPr marL="457200" lvl="1" indent="0" eaLnBrk="1" hangingPunct="1">
              <a:buClr>
                <a:schemeClr val="accent2"/>
              </a:buClr>
              <a:buFont typeface="Wingdings" panose="05000000000000000000" pitchFamily="2" charset="2"/>
              <a:buNone/>
            </a:pPr>
            <a:endParaRPr lang="zh-CN" altLang="en-US" sz="2800" dirty="0">
              <a:latin typeface="黑体" panose="02010609060101010101" pitchFamily="2" charset="-122"/>
              <a:ea typeface="黑体" panose="02010609060101010101" pitchFamily="2" charset="-122"/>
              <a:sym typeface="+mn-ea"/>
            </a:endParaRPr>
          </a:p>
          <a:p>
            <a:pPr marL="457200" lvl="1" indent="0" eaLnBrk="1" hangingPunct="1">
              <a:buClr>
                <a:schemeClr val="accent2"/>
              </a:buClr>
              <a:buFont typeface="Wingdings" panose="05000000000000000000" pitchFamily="2" charset="2"/>
              <a:buNone/>
            </a:pPr>
            <a:r>
              <a:rPr lang="zh-CN" altLang="en-US" sz="2800" dirty="0">
                <a:latin typeface="黑体" panose="02010609060101010101" pitchFamily="2" charset="-122"/>
                <a:ea typeface="黑体" panose="02010609060101010101" pitchFamily="2" charset="-122"/>
                <a:sym typeface="+mn-ea"/>
              </a:rPr>
              <a:t>例如从终端接受一行字符：</a:t>
            </a:r>
            <a:endParaRPr lang="zh-CN" altLang="en-US" sz="2800" b="0" dirty="0">
              <a:latin typeface="黑体" panose="02010609060101010101" pitchFamily="2" charset="-122"/>
              <a:ea typeface="黑体" panose="02010609060101010101" pitchFamily="2" charset="-122"/>
            </a:endParaRPr>
          </a:p>
          <a:p>
            <a:pPr marL="609600" indent="-609600" eaLnBrk="1" hangingPunct="1">
              <a:spcBef>
                <a:spcPct val="30000"/>
              </a:spcBef>
              <a:buClr>
                <a:schemeClr val="accent1"/>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sym typeface="+mn-ea"/>
              </a:rPr>
              <a:t>		</a:t>
            </a:r>
            <a:r>
              <a:rPr lang="en-US" altLang="zh-CN" dirty="0">
                <a:latin typeface="黑体" panose="02010609060101010101" pitchFamily="2" charset="-122"/>
                <a:ea typeface="黑体" panose="02010609060101010101" pitchFamily="2" charset="-122"/>
                <a:sym typeface="+mn-ea"/>
              </a:rPr>
              <a:t>whli##ilr#e(s#*s)</a:t>
            </a:r>
            <a:endParaRPr lang="en-US" altLang="zh-CN" b="0" dirty="0">
              <a:latin typeface="黑体" panose="02010609060101010101" pitchFamily="2" charset="-122"/>
              <a:ea typeface="黑体" panose="02010609060101010101" pitchFamily="2" charset="-122"/>
            </a:endParaRPr>
          </a:p>
          <a:p>
            <a:pPr marL="457200" lvl="1" indent="0" eaLnBrk="1" hangingPunct="1">
              <a:buClr>
                <a:schemeClr val="accent2"/>
              </a:buClr>
              <a:buFont typeface="Wingdings" panose="05000000000000000000" pitchFamily="2" charset="2"/>
              <a:buNone/>
            </a:pPr>
            <a:r>
              <a:rPr lang="zh-CN" altLang="en-US" sz="2800" dirty="0">
                <a:latin typeface="黑体" panose="02010609060101010101" pitchFamily="2" charset="-122"/>
                <a:ea typeface="黑体" panose="02010609060101010101" pitchFamily="2" charset="-122"/>
                <a:sym typeface="+mn-ea"/>
              </a:rPr>
              <a:t>最终有效字符是：</a:t>
            </a:r>
            <a:endParaRPr lang="zh-CN" altLang="en-US" sz="2800" b="0" dirty="0">
              <a:latin typeface="黑体" panose="02010609060101010101" pitchFamily="2" charset="-122"/>
              <a:ea typeface="黑体" panose="02010609060101010101" pitchFamily="2" charset="-122"/>
            </a:endParaRPr>
          </a:p>
          <a:p>
            <a:pPr marL="609600" indent="-609600" eaLnBrk="1" hangingPunct="1">
              <a:spcBef>
                <a:spcPct val="30000"/>
              </a:spcBef>
              <a:buClr>
                <a:schemeClr val="accent1"/>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sym typeface="+mn-ea"/>
              </a:rPr>
              <a:t>		</a:t>
            </a:r>
            <a:r>
              <a:rPr lang="en-US" altLang="zh-CN" dirty="0">
                <a:latin typeface="黑体" panose="02010609060101010101" pitchFamily="2" charset="-122"/>
                <a:ea typeface="黑体" panose="02010609060101010101" pitchFamily="2" charset="-122"/>
                <a:sym typeface="+mn-ea"/>
              </a:rPr>
              <a:t>while (*s)</a:t>
            </a:r>
            <a:endParaRPr lang="en-US" altLang="zh-CN" b="0" dirty="0">
              <a:latin typeface="黑体" panose="02010609060101010101" pitchFamily="2" charset="-122"/>
              <a:ea typeface="黑体" panose="02010609060101010101" pitchFamily="2" charset="-122"/>
            </a:endParaRPr>
          </a:p>
          <a:p>
            <a:pPr lvl="1" algn="l" eaLnBrk="1" hangingPunct="1">
              <a:buClrTx/>
              <a:buSzTx/>
              <a:buChar char="•"/>
            </a:pPr>
            <a:endParaRPr lang="zh-CN" altLang="en-US" b="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a:t>
            </a:r>
            <a:r>
              <a:rPr lang="en-US" altLang="zh-CN">
                <a:latin typeface="楷体" panose="02010609060101010101" charset="-122"/>
                <a:ea typeface="楷体" panose="02010609060101010101" charset="-122"/>
                <a:cs typeface="楷体" panose="02010609060101010101" charset="-122"/>
                <a:sym typeface="+mn-ea"/>
              </a:rPr>
              <a:t>2 栈的应用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栈应用</a:t>
            </a:r>
            <a:r>
              <a:rPr lang="en-US" altLang="zh-CN" sz="2800" dirty="0">
                <a:latin typeface="黑体" panose="02010609060101010101" pitchFamily="2" charset="-122"/>
                <a:ea typeface="黑体" panose="02010609060101010101" pitchFamily="2" charset="-122"/>
                <a:cs typeface="+mn-cs"/>
                <a:sym typeface="+mn-ea"/>
              </a:rPr>
              <a:t>3</a:t>
            </a:r>
            <a:r>
              <a:rPr lang="zh-CN" altLang="en-US" sz="2800" dirty="0">
                <a:latin typeface="黑体" panose="02010609060101010101" pitchFamily="2" charset="-122"/>
                <a:ea typeface="黑体" panose="02010609060101010101" pitchFamily="2" charset="-122"/>
                <a:cs typeface="+mn-cs"/>
                <a:sym typeface="+mn-ea"/>
              </a:rPr>
              <a:t>：行编辑的栈应用</a:t>
            </a:r>
            <a:endParaRPr lang="zh-CN" altLang="en-US" sz="2800" dirty="0">
              <a:latin typeface="黑体" panose="02010609060101010101" pitchFamily="2" charset="-122"/>
              <a:ea typeface="黑体" panose="02010609060101010101" pitchFamily="2" charset="-122"/>
              <a:cs typeface="+mn-cs"/>
              <a:sym typeface="+mn-ea"/>
            </a:endParaRPr>
          </a:p>
          <a:p>
            <a:pPr marL="609600" indent="-609600" eaLnBrk="1" latinLnBrk="0" hangingPunct="1">
              <a:spcBef>
                <a:spcPts val="0"/>
              </a:spcBef>
              <a:buClr>
                <a:schemeClr val="accent1"/>
              </a:buClr>
              <a:buSzTx/>
              <a:buFont typeface="Wingdings" panose="05000000000000000000" pitchFamily="2" charset="2"/>
              <a:buNone/>
            </a:pPr>
            <a:endParaRPr lang="en-US" altLang="zh-CN" dirty="0">
              <a:latin typeface="黑体" panose="02010609060101010101" pitchFamily="2" charset="-122"/>
              <a:ea typeface="黑体" panose="02010609060101010101" pitchFamily="2" charset="-122"/>
              <a:cs typeface="黑体" panose="02010609060101010101" pitchFamily="2" charset="-122"/>
              <a:sym typeface="+mn-ea"/>
            </a:endParaRPr>
          </a:p>
          <a:p>
            <a:pPr marL="609600" indent="-609600" eaLnBrk="1" latinLnBrk="0" hangingPunct="1">
              <a:spcBef>
                <a:spcPts val="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对用户输入的一行字符进行处理，直到行结束</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(“\n”)</a:t>
            </a:r>
            <a:endParaRPr lang="en-US" altLang="zh-CN"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	ch = getchar();		// </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从终端输入一个字符</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while (ch != '\n') {</a:t>
            </a:r>
            <a:endParaRPr lang="en-US" altLang="zh-CN"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		switch(ch) {</a:t>
            </a:r>
            <a:endParaRPr lang="en-US" altLang="zh-CN"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		  case '#': Pop(S, c);	break;	// </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仅当栈非空时退栈</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default:  Push(S, ch);	break;	// </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有效字符进栈</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en-US" altLang="zh-CN" dirty="0">
                <a:latin typeface="黑体" panose="02010609060101010101" pitchFamily="2" charset="-122"/>
                <a:ea typeface="黑体" panose="02010609060101010101" pitchFamily="2" charset="-122"/>
                <a:cs typeface="黑体" panose="02010609060101010101" pitchFamily="2" charset="-122"/>
                <a:sym typeface="+mn-ea"/>
              </a:rPr>
              <a:t>		ch = getchar(); 		// </a:t>
            </a:r>
            <a:r>
              <a:rPr lang="zh-CN" altLang="en-US" dirty="0">
                <a:latin typeface="黑体" panose="02010609060101010101" pitchFamily="2" charset="-122"/>
                <a:ea typeface="黑体" panose="02010609060101010101" pitchFamily="2" charset="-122"/>
                <a:cs typeface="黑体" panose="02010609060101010101" pitchFamily="2" charset="-122"/>
                <a:sym typeface="+mn-ea"/>
              </a:rPr>
              <a:t>从终端输入一个字符</a:t>
            </a:r>
            <a:endParaRPr lang="zh-CN" altLang="en-US" b="0" dirty="0">
              <a:latin typeface="黑体" panose="02010609060101010101" pitchFamily="2" charset="-122"/>
              <a:ea typeface="黑体" panose="02010609060101010101" pitchFamily="2" charset="-122"/>
              <a:cs typeface="黑体" panose="02010609060101010101" pitchFamily="2" charset="-122"/>
            </a:endParaRPr>
          </a:p>
          <a:p>
            <a:pPr marL="609600" indent="-609600" eaLnBrk="1" latinLnBrk="0" hangingPunct="1">
              <a:spcBef>
                <a:spcPts val="0"/>
              </a:spcBef>
              <a:buClr>
                <a:schemeClr val="accent1"/>
              </a:buClr>
              <a:buSzTx/>
              <a:buFont typeface="Wingdings" panose="05000000000000000000" pitchFamily="2" charset="2"/>
              <a:buNone/>
            </a:pPr>
            <a:r>
              <a:rPr lang="zh-CN" altLang="en-US" dirty="0">
                <a:latin typeface="黑体" panose="02010609060101010101" pitchFamily="2" charset="-122"/>
                <a:ea typeface="黑体" panose="02010609060101010101" pitchFamily="2" charset="-122"/>
                <a:cs typeface="黑体" panose="02010609060101010101" pitchFamily="2" charset="-122"/>
                <a:sym typeface="+mn-ea"/>
              </a:rPr>
              <a:t>	</a:t>
            </a:r>
            <a:r>
              <a:rPr lang="en-US" altLang="zh-CN" dirty="0">
                <a:latin typeface="黑体" panose="02010609060101010101" pitchFamily="2" charset="-122"/>
                <a:ea typeface="黑体" panose="02010609060101010101" pitchFamily="2" charset="-122"/>
                <a:cs typeface="黑体" panose="02010609060101010101" pitchFamily="2" charset="-122"/>
                <a:sym typeface="+mn-ea"/>
              </a:rPr>
              <a:t>}</a:t>
            </a:r>
            <a:endParaRPr lang="en-US" altLang="zh-CN" b="0" dirty="0">
              <a:latin typeface="黑体" panose="02010609060101010101" pitchFamily="2" charset="-122"/>
              <a:ea typeface="黑体" panose="02010609060101010101" pitchFamily="2" charset="-122"/>
              <a:cs typeface="黑体" panose="02010609060101010101" pitchFamily="2" charset="-122"/>
            </a:endParaRPr>
          </a:p>
          <a:p>
            <a:pPr marL="0" lvl="1" indent="0" algn="l" eaLnBrk="1" hangingPunct="1">
              <a:buClrTx/>
              <a:buSzTx/>
              <a:buFont typeface="Wingdings" panose="05000000000000000000" charset="0"/>
              <a:buNone/>
            </a:pPr>
            <a:r>
              <a:rPr lang="en-US" altLang="zh-CN" b="0" dirty="0">
                <a:solidFill>
                  <a:srgbClr val="FF0000"/>
                </a:solidFill>
                <a:latin typeface="黑体" panose="02010609060101010101" pitchFamily="2" charset="-122"/>
                <a:ea typeface="黑体" panose="02010609060101010101" pitchFamily="2" charset="-122"/>
                <a:cs typeface="黑体" panose="02010609060101010101" pitchFamily="2" charset="-122"/>
              </a:rPr>
              <a:t>//</a:t>
            </a:r>
            <a:r>
              <a:rPr lang="zh-CN" altLang="en-US" b="0" dirty="0">
                <a:solidFill>
                  <a:srgbClr val="FF0000"/>
                </a:solidFill>
                <a:latin typeface="黑体" panose="02010609060101010101" pitchFamily="2" charset="-122"/>
                <a:ea typeface="黑体" panose="02010609060101010101" pitchFamily="2" charset="-122"/>
                <a:cs typeface="黑体" panose="02010609060101010101" pitchFamily="2" charset="-122"/>
              </a:rPr>
              <a:t>这个程序有一个缺陷，栈保存的字符串是</a:t>
            </a:r>
            <a:r>
              <a:rPr lang="en-US" altLang="zh-CN" b="0" dirty="0">
                <a:solidFill>
                  <a:srgbClr val="FF0000"/>
                </a:solidFill>
                <a:latin typeface="黑体" panose="02010609060101010101" pitchFamily="2" charset="-122"/>
                <a:ea typeface="黑体" panose="02010609060101010101" pitchFamily="2" charset="-122"/>
                <a:cs typeface="黑体" panose="02010609060101010101" pitchFamily="2" charset="-122"/>
              </a:rPr>
              <a:t>??</a:t>
            </a:r>
            <a:endParaRPr lang="en-US" altLang="zh-CN" b="0" dirty="0">
              <a:latin typeface="黑体" panose="02010609060101010101" pitchFamily="2" charset="-122"/>
              <a:ea typeface="黑体" panose="02010609060101010101" pitchFamily="2" charset="-122"/>
              <a:cs typeface="黑体" panose="02010609060101010101" pitchFamily="2" charset="-122"/>
            </a:endParaRPr>
          </a:p>
          <a:p>
            <a:pPr marL="0" lvl="1" indent="0" algn="l" eaLnBrk="1" hangingPunct="1">
              <a:buClrTx/>
              <a:buSzTx/>
              <a:buFont typeface="Wingdings" panose="05000000000000000000" charset="0"/>
              <a:buNone/>
            </a:pPr>
            <a:endParaRPr lang="en-US" altLang="zh-CN" b="0" dirty="0">
              <a:latin typeface="黑体" panose="02010609060101010101" pitchFamily="2" charset="-122"/>
              <a:ea typeface="黑体" panose="02010609060101010101" pitchFamily="2" charset="-122"/>
              <a:cs typeface="黑体" panose="02010609060101010101" pitchFamily="2" charset="-122"/>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a:t>
            </a:r>
            <a:r>
              <a:rPr lang="en-US" altLang="zh-CN">
                <a:latin typeface="楷体" panose="02010609060101010101" charset="-122"/>
                <a:ea typeface="楷体" panose="02010609060101010101" charset="-122"/>
                <a:cs typeface="楷体" panose="02010609060101010101" charset="-122"/>
                <a:sym typeface="+mn-ea"/>
              </a:rPr>
              <a:t>2 栈的应用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栈应用</a:t>
            </a:r>
            <a:r>
              <a:rPr lang="en-US" altLang="zh-CN" sz="2800" dirty="0">
                <a:latin typeface="黑体" panose="02010609060101010101" pitchFamily="2" charset="-122"/>
                <a:ea typeface="黑体" panose="02010609060101010101" pitchFamily="2" charset="-122"/>
                <a:cs typeface="+mn-cs"/>
                <a:sym typeface="+mn-ea"/>
              </a:rPr>
              <a:t>4</a:t>
            </a:r>
            <a:r>
              <a:rPr lang="zh-CN" altLang="en-US" sz="2800" dirty="0">
                <a:latin typeface="黑体" panose="02010609060101010101" pitchFamily="2" charset="-122"/>
                <a:ea typeface="黑体" panose="02010609060101010101" pitchFamily="2" charset="-122"/>
                <a:cs typeface="+mn-cs"/>
                <a:sym typeface="+mn-ea"/>
              </a:rPr>
              <a:t>：迷宫求解</a:t>
            </a:r>
            <a:endParaRPr lang="zh-CN" altLang="en-US" sz="2800" dirty="0">
              <a:latin typeface="黑体" panose="02010609060101010101" pitchFamily="2" charset="-122"/>
              <a:ea typeface="黑体" panose="02010609060101010101" pitchFamily="2" charset="-122"/>
              <a:cs typeface="+mn-cs"/>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cs"/>
                <a:sym typeface="+mn-ea"/>
              </a:rPr>
              <a:t>迷宫求解一般采用“穷举法”，逐一沿顺时针方向查找相邻块（一共四块－东(右)、南(下)，西(左)、北(上)）是否可通</a:t>
            </a:r>
            <a:endParaRPr lang="zh-CN" altLang="en-US" dirty="0">
              <a:latin typeface="黑体" panose="02010609060101010101" pitchFamily="2" charset="-122"/>
              <a:ea typeface="黑体" panose="02010609060101010101" pitchFamily="2" charset="-122"/>
              <a:cs typeface="+mn-cs"/>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cs"/>
                <a:sym typeface="+mn-ea"/>
              </a:rPr>
              <a:t>如果找到相邻块既是通道块且不在</a:t>
            </a:r>
            <a:endParaRPr lang="zh-CN" altLang="en-US" dirty="0">
              <a:latin typeface="黑体" panose="02010609060101010101" pitchFamily="2" charset="-122"/>
              <a:ea typeface="黑体" panose="02010609060101010101" pitchFamily="2" charset="-122"/>
              <a:cs typeface="+mn-cs"/>
              <a:sym typeface="+mn-ea"/>
            </a:endParaRPr>
          </a:p>
          <a:p>
            <a:pPr marL="609600" lvl="1" indent="0" algn="l" eaLnBrk="1" hangingPunct="1">
              <a:buClrTx/>
              <a:buSzTx/>
              <a:buNone/>
            </a:pPr>
            <a:r>
              <a:rPr lang="zh-CN" altLang="en-US" dirty="0">
                <a:latin typeface="黑体" panose="02010609060101010101" pitchFamily="2" charset="-122"/>
                <a:ea typeface="黑体" panose="02010609060101010101" pitchFamily="2" charset="-122"/>
                <a:cs typeface="+mn-cs"/>
                <a:sym typeface="+mn-ea"/>
              </a:rPr>
              <a:t>当前路径上，则把相邻块记入路径</a:t>
            </a:r>
            <a:endParaRPr lang="zh-CN" altLang="en-US" dirty="0">
              <a:latin typeface="黑体" panose="02010609060101010101" pitchFamily="2" charset="-122"/>
              <a:ea typeface="黑体" panose="02010609060101010101" pitchFamily="2" charset="-122"/>
              <a:cs typeface="+mn-cs"/>
              <a:sym typeface="+mn-ea"/>
            </a:endParaRPr>
          </a:p>
          <a:p>
            <a:pPr lvl="1" algn="l" eaLnBrk="1" hangingPunct="1">
              <a:buClrTx/>
              <a:buSzTx/>
              <a:buChar char="•"/>
            </a:pPr>
            <a:r>
              <a:rPr lang="zh-CN" altLang="en-US" dirty="0">
                <a:latin typeface="黑体" panose="02010609060101010101" pitchFamily="2" charset="-122"/>
                <a:ea typeface="黑体" panose="02010609060101010101" pitchFamily="2" charset="-122"/>
                <a:cs typeface="+mn-cs"/>
                <a:sym typeface="+mn-ea"/>
              </a:rPr>
              <a:t>如果陷入死胡同则从当前路径回退</a:t>
            </a:r>
            <a:endParaRPr lang="zh-CN" altLang="en-US"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用一个栈来记录已走过的路径</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b="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a:t>
            </a:r>
            <a:r>
              <a:rPr lang="en-US" altLang="zh-CN">
                <a:latin typeface="楷体" panose="02010609060101010101" charset="-122"/>
                <a:ea typeface="楷体" panose="02010609060101010101" charset="-122"/>
                <a:cs typeface="楷体" panose="02010609060101010101" charset="-122"/>
                <a:sym typeface="+mn-ea"/>
              </a:rPr>
              <a:t>2 栈的应用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5" name="表格 4"/>
          <p:cNvGraphicFramePr/>
          <p:nvPr>
            <p:custDataLst>
              <p:tags r:id="rId1"/>
            </p:custDataLst>
          </p:nvPr>
        </p:nvGraphicFramePr>
        <p:xfrm>
          <a:off x="6664008" y="2488883"/>
          <a:ext cx="4657725" cy="3810317"/>
        </p:xfrm>
        <a:graphic>
          <a:graphicData uri="http://schemas.openxmlformats.org/drawingml/2006/table">
            <a:tbl>
              <a:tblPr/>
              <a:tblGrid>
                <a:gridCol w="590550"/>
                <a:gridCol w="581025"/>
                <a:gridCol w="590550"/>
                <a:gridCol w="571500"/>
                <a:gridCol w="581025"/>
                <a:gridCol w="581025"/>
                <a:gridCol w="581025"/>
                <a:gridCol w="581025"/>
              </a:tblGrid>
              <a:tr h="462280">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28575"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615950">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dirty="0">
                        <a:solidFill>
                          <a:schemeClr val="hlink"/>
                        </a:solidFill>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dirty="0">
                        <a:solidFill>
                          <a:schemeClr val="hlink"/>
                        </a:solidFill>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1962">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dirty="0">
                        <a:solidFill>
                          <a:schemeClr val="hlink"/>
                        </a:solidFill>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22275">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0375">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r>
                        <a:rPr lang="en-US" altLang="zh-CN" b="1" dirty="0">
                          <a:latin typeface="Arial" panose="020B0604020202020204" pitchFamily="34" charset="0"/>
                          <a:ea typeface="宋体" panose="02010600030101010101" pitchFamily="2" charset="-122"/>
                        </a:rPr>
                        <a:t>#</a:t>
                      </a:r>
                      <a:endParaRPr lang="en-US"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3550">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1963">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solidFill>
                          <a:schemeClr val="hlink"/>
                        </a:solidFill>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12700" cap="flat" cmpd="sng">
                      <a:solidFill>
                        <a:schemeClr val="tx1"/>
                      </a:solidFill>
                      <a:prstDash val="solid"/>
                      <a:miter/>
                      <a:headEnd type="none" w="med" len="med"/>
                      <a:tailEnd type="none" w="med" len="med"/>
                    </a:lnB>
                    <a:lnTlToBr>
                      <a:noFill/>
                    </a:lnTlToBr>
                    <a:lnBlToTr>
                      <a:noFill/>
                    </a:lnBlToTr>
                    <a:noFill/>
                  </a:tcPr>
                </a:tc>
              </a:tr>
              <a:tr h="461962">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28575"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12700"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c>
                  <a:txBody>
                    <a:bodyPr/>
                    <a:p>
                      <a:pPr algn="ctr">
                        <a:spcBef>
                          <a:spcPct val="20000"/>
                        </a:spcBef>
                        <a:buClr>
                          <a:schemeClr val="accent1"/>
                        </a:buClr>
                        <a:buFont typeface="Wingdings" panose="05000000000000000000" pitchFamily="2" charset="2"/>
                        <a:buNone/>
                      </a:pPr>
                      <a:endParaRPr lang="zh-CN" altLang="zh-CN" b="1" dirty="0">
                        <a:latin typeface="Arial" panose="020B0604020202020204" pitchFamily="34" charset="0"/>
                        <a:ea typeface="宋体" panose="02010600030101010101" pitchFamily="2" charset="-122"/>
                      </a:endParaRPr>
                    </a:p>
                  </a:txBody>
                  <a:tcPr marL="0" marR="0" marT="38100" marB="0">
                    <a:lnL w="12700" cap="flat" cmpd="sng">
                      <a:solidFill>
                        <a:schemeClr val="tx1"/>
                      </a:solidFill>
                      <a:prstDash val="solid"/>
                      <a:miter/>
                      <a:headEnd type="none" w="med" len="med"/>
                      <a:tailEnd type="none" w="med" len="med"/>
                    </a:lnL>
                    <a:lnR w="28575" cap="flat" cmpd="sng">
                      <a:solidFill>
                        <a:schemeClr val="tx1"/>
                      </a:solidFill>
                      <a:prstDash val="solid"/>
                      <a:miter/>
                      <a:headEnd type="none" w="med" len="med"/>
                      <a:tailEnd type="none" w="med" len="med"/>
                    </a:lnR>
                    <a:lnT w="12700" cap="flat" cmpd="sng">
                      <a:solidFill>
                        <a:schemeClr val="tx1"/>
                      </a:solidFill>
                      <a:prstDash val="solid"/>
                      <a:miter/>
                      <a:headEnd type="none" w="med" len="med"/>
                      <a:tailEnd type="none" w="med" len="med"/>
                    </a:lnT>
                    <a:lnB w="28575" cap="flat" cmpd="sng">
                      <a:solidFill>
                        <a:schemeClr val="tx1"/>
                      </a:solidFill>
                      <a:prstDash val="solid"/>
                      <a:miter/>
                      <a:headEnd type="none" w="med" len="med"/>
                      <a:tailEnd type="none" w="med" len="med"/>
                    </a:lnB>
                    <a:lnTlToBr>
                      <a:noFill/>
                    </a:lnTlToBr>
                    <a:lnBlToTr>
                      <a:noFill/>
                    </a:lnBlToTr>
                    <a:noFill/>
                  </a:tcPr>
                </a:tc>
              </a:tr>
            </a:tbl>
          </a:graphicData>
        </a:graphic>
      </p:graphicFrame>
      <p:grpSp>
        <p:nvGrpSpPr>
          <p:cNvPr id="36951" name="Group 171"/>
          <p:cNvGrpSpPr/>
          <p:nvPr/>
        </p:nvGrpSpPr>
        <p:grpSpPr>
          <a:xfrm>
            <a:off x="6825933" y="2717483"/>
            <a:ext cx="4343400" cy="3505200"/>
            <a:chOff x="1440" y="2256"/>
            <a:chExt cx="2736" cy="1920"/>
          </a:xfrm>
        </p:grpSpPr>
        <p:sp>
          <p:nvSpPr>
            <p:cNvPr id="36952" name="Line 172"/>
            <p:cNvSpPr/>
            <p:nvPr/>
          </p:nvSpPr>
          <p:spPr>
            <a:xfrm>
              <a:off x="1440" y="2256"/>
              <a:ext cx="192" cy="0"/>
            </a:xfrm>
            <a:prstGeom prst="line">
              <a:avLst/>
            </a:prstGeom>
            <a:ln w="28575" cap="flat" cmpd="sng">
              <a:solidFill>
                <a:schemeClr val="hlink"/>
              </a:solidFill>
              <a:prstDash val="solid"/>
              <a:miter/>
              <a:headEnd type="none" w="med" len="med"/>
              <a:tailEnd type="triangle" w="med" len="med"/>
            </a:ln>
          </p:spPr>
        </p:sp>
        <p:sp>
          <p:nvSpPr>
            <p:cNvPr id="36953" name="Line 173"/>
            <p:cNvSpPr/>
            <p:nvPr/>
          </p:nvSpPr>
          <p:spPr>
            <a:xfrm>
              <a:off x="1776" y="2256"/>
              <a:ext cx="192" cy="0"/>
            </a:xfrm>
            <a:prstGeom prst="line">
              <a:avLst/>
            </a:prstGeom>
            <a:ln w="28575" cap="flat" cmpd="sng">
              <a:solidFill>
                <a:schemeClr val="hlink"/>
              </a:solidFill>
              <a:prstDash val="solid"/>
              <a:miter/>
              <a:headEnd type="none" w="med" len="med"/>
              <a:tailEnd type="triangle" w="med" len="med"/>
            </a:ln>
          </p:spPr>
        </p:sp>
        <p:sp>
          <p:nvSpPr>
            <p:cNvPr id="36954" name="Line 174"/>
            <p:cNvSpPr/>
            <p:nvPr/>
          </p:nvSpPr>
          <p:spPr>
            <a:xfrm>
              <a:off x="2256" y="2736"/>
              <a:ext cx="0" cy="192"/>
            </a:xfrm>
            <a:prstGeom prst="line">
              <a:avLst/>
            </a:prstGeom>
            <a:ln w="28575" cap="flat" cmpd="sng">
              <a:solidFill>
                <a:schemeClr val="hlink"/>
              </a:solidFill>
              <a:prstDash val="solid"/>
              <a:miter/>
              <a:headEnd type="none" w="med" len="med"/>
              <a:tailEnd type="triangle" w="med" len="med"/>
            </a:ln>
          </p:spPr>
        </p:sp>
        <p:sp>
          <p:nvSpPr>
            <p:cNvPr id="36955" name="Line 175"/>
            <p:cNvSpPr/>
            <p:nvPr/>
          </p:nvSpPr>
          <p:spPr>
            <a:xfrm>
              <a:off x="2112" y="3120"/>
              <a:ext cx="240" cy="0"/>
            </a:xfrm>
            <a:prstGeom prst="line">
              <a:avLst/>
            </a:prstGeom>
            <a:ln w="28575" cap="flat" cmpd="sng">
              <a:solidFill>
                <a:schemeClr val="hlink"/>
              </a:solidFill>
              <a:prstDash val="solid"/>
              <a:miter/>
              <a:headEnd type="none" w="med" len="med"/>
              <a:tailEnd type="triangle" w="med" len="med"/>
            </a:ln>
          </p:spPr>
        </p:sp>
        <p:sp>
          <p:nvSpPr>
            <p:cNvPr id="36956" name="Line 176"/>
            <p:cNvSpPr/>
            <p:nvPr/>
          </p:nvSpPr>
          <p:spPr>
            <a:xfrm>
              <a:off x="2496" y="3120"/>
              <a:ext cx="240" cy="0"/>
            </a:xfrm>
            <a:prstGeom prst="line">
              <a:avLst/>
            </a:prstGeom>
            <a:ln w="28575" cap="flat" cmpd="sng">
              <a:solidFill>
                <a:srgbClr val="99CCFF"/>
              </a:solidFill>
              <a:prstDash val="solid"/>
              <a:miter/>
              <a:headEnd type="none" w="med" len="med"/>
              <a:tailEnd type="triangle" w="med" len="med"/>
            </a:ln>
          </p:spPr>
        </p:sp>
        <p:sp>
          <p:nvSpPr>
            <p:cNvPr id="36957" name="Line 177"/>
            <p:cNvSpPr/>
            <p:nvPr/>
          </p:nvSpPr>
          <p:spPr>
            <a:xfrm>
              <a:off x="2832" y="3072"/>
              <a:ext cx="240" cy="0"/>
            </a:xfrm>
            <a:prstGeom prst="line">
              <a:avLst/>
            </a:prstGeom>
            <a:ln w="28575" cap="flat" cmpd="sng">
              <a:solidFill>
                <a:srgbClr val="99CCFF"/>
              </a:solidFill>
              <a:prstDash val="solid"/>
              <a:miter/>
              <a:headEnd type="none" w="med" len="med"/>
              <a:tailEnd type="triangle" w="med" len="med"/>
            </a:ln>
          </p:spPr>
        </p:sp>
        <p:sp>
          <p:nvSpPr>
            <p:cNvPr id="36958" name="Line 178"/>
            <p:cNvSpPr/>
            <p:nvPr/>
          </p:nvSpPr>
          <p:spPr>
            <a:xfrm>
              <a:off x="3216" y="3072"/>
              <a:ext cx="240" cy="0"/>
            </a:xfrm>
            <a:prstGeom prst="line">
              <a:avLst/>
            </a:prstGeom>
            <a:ln w="28575" cap="flat" cmpd="sng">
              <a:solidFill>
                <a:srgbClr val="99CCFF"/>
              </a:solidFill>
              <a:prstDash val="solid"/>
              <a:miter/>
              <a:headEnd type="none" w="med" len="med"/>
              <a:tailEnd type="triangle" w="med" len="med"/>
            </a:ln>
          </p:spPr>
        </p:sp>
        <p:sp>
          <p:nvSpPr>
            <p:cNvPr id="36959" name="Line 179"/>
            <p:cNvSpPr/>
            <p:nvPr/>
          </p:nvSpPr>
          <p:spPr>
            <a:xfrm flipV="1">
              <a:off x="3648" y="3024"/>
              <a:ext cx="0" cy="144"/>
            </a:xfrm>
            <a:prstGeom prst="line">
              <a:avLst/>
            </a:prstGeom>
            <a:ln w="28575" cap="flat" cmpd="sng">
              <a:solidFill>
                <a:srgbClr val="99CCFF"/>
              </a:solidFill>
              <a:prstDash val="solid"/>
              <a:miter/>
              <a:headEnd type="none" w="med" len="med"/>
              <a:tailEnd type="triangle" w="med" len="med"/>
            </a:ln>
          </p:spPr>
        </p:sp>
        <p:sp>
          <p:nvSpPr>
            <p:cNvPr id="36960" name="Line 180"/>
            <p:cNvSpPr/>
            <p:nvPr/>
          </p:nvSpPr>
          <p:spPr>
            <a:xfrm flipH="1">
              <a:off x="3552" y="2784"/>
              <a:ext cx="240" cy="0"/>
            </a:xfrm>
            <a:prstGeom prst="line">
              <a:avLst/>
            </a:prstGeom>
            <a:ln w="28575" cap="flat" cmpd="sng">
              <a:solidFill>
                <a:srgbClr val="99CCFF"/>
              </a:solidFill>
              <a:prstDash val="solid"/>
              <a:miter/>
              <a:headEnd type="none" w="med" len="med"/>
              <a:tailEnd type="triangle" w="med" len="med"/>
            </a:ln>
          </p:spPr>
        </p:sp>
        <p:sp>
          <p:nvSpPr>
            <p:cNvPr id="36961" name="Line 181"/>
            <p:cNvSpPr/>
            <p:nvPr/>
          </p:nvSpPr>
          <p:spPr>
            <a:xfrm flipH="1">
              <a:off x="3168" y="2784"/>
              <a:ext cx="240" cy="0"/>
            </a:xfrm>
            <a:prstGeom prst="line">
              <a:avLst/>
            </a:prstGeom>
            <a:ln w="28575" cap="flat" cmpd="sng">
              <a:solidFill>
                <a:srgbClr val="99CCFF"/>
              </a:solidFill>
              <a:prstDash val="solid"/>
              <a:miter/>
              <a:headEnd type="none" w="med" len="med"/>
              <a:tailEnd type="triangle" w="med" len="med"/>
            </a:ln>
          </p:spPr>
        </p:sp>
        <p:sp>
          <p:nvSpPr>
            <p:cNvPr id="36962" name="Line 182"/>
            <p:cNvSpPr/>
            <p:nvPr/>
          </p:nvSpPr>
          <p:spPr>
            <a:xfrm flipH="1" flipV="1">
              <a:off x="3072" y="2784"/>
              <a:ext cx="0" cy="144"/>
            </a:xfrm>
            <a:prstGeom prst="line">
              <a:avLst/>
            </a:prstGeom>
            <a:ln w="28575" cap="flat" cmpd="sng">
              <a:solidFill>
                <a:srgbClr val="99CCFF"/>
              </a:solidFill>
              <a:prstDash val="solid"/>
              <a:miter/>
              <a:headEnd type="none" w="med" len="med"/>
              <a:tailEnd type="triangle" w="med" len="med"/>
            </a:ln>
          </p:spPr>
        </p:sp>
        <p:sp>
          <p:nvSpPr>
            <p:cNvPr id="36963" name="Line 183"/>
            <p:cNvSpPr/>
            <p:nvPr/>
          </p:nvSpPr>
          <p:spPr>
            <a:xfrm>
              <a:off x="2784" y="2544"/>
              <a:ext cx="240" cy="0"/>
            </a:xfrm>
            <a:prstGeom prst="line">
              <a:avLst/>
            </a:prstGeom>
            <a:ln w="28575" cap="flat" cmpd="sng">
              <a:solidFill>
                <a:srgbClr val="99CCFF"/>
              </a:solidFill>
              <a:prstDash val="solid"/>
              <a:miter/>
              <a:headEnd type="none" w="med" len="med"/>
              <a:tailEnd type="triangle" w="med" len="med"/>
            </a:ln>
          </p:spPr>
        </p:sp>
        <p:sp>
          <p:nvSpPr>
            <p:cNvPr id="36964" name="Line 184"/>
            <p:cNvSpPr/>
            <p:nvPr/>
          </p:nvSpPr>
          <p:spPr>
            <a:xfrm>
              <a:off x="3168" y="2544"/>
              <a:ext cx="240" cy="0"/>
            </a:xfrm>
            <a:prstGeom prst="line">
              <a:avLst/>
            </a:prstGeom>
            <a:ln w="28575" cap="flat" cmpd="sng">
              <a:solidFill>
                <a:srgbClr val="99CCFF"/>
              </a:solidFill>
              <a:prstDash val="solid"/>
              <a:miter/>
              <a:headEnd type="none" w="med" len="med"/>
              <a:tailEnd type="triangle" w="med" len="med"/>
            </a:ln>
          </p:spPr>
        </p:sp>
        <p:sp>
          <p:nvSpPr>
            <p:cNvPr id="36965" name="Line 185"/>
            <p:cNvSpPr/>
            <p:nvPr/>
          </p:nvSpPr>
          <p:spPr>
            <a:xfrm>
              <a:off x="3552" y="2544"/>
              <a:ext cx="240" cy="0"/>
            </a:xfrm>
            <a:prstGeom prst="line">
              <a:avLst/>
            </a:prstGeom>
            <a:ln w="28575" cap="flat" cmpd="sng">
              <a:solidFill>
                <a:srgbClr val="99CCFF"/>
              </a:solidFill>
              <a:prstDash val="solid"/>
              <a:miter/>
              <a:headEnd type="none" w="med" len="med"/>
              <a:tailEnd type="triangle" w="med" len="med"/>
            </a:ln>
          </p:spPr>
        </p:sp>
        <p:sp>
          <p:nvSpPr>
            <p:cNvPr id="36966" name="Line 186"/>
            <p:cNvSpPr/>
            <p:nvPr/>
          </p:nvSpPr>
          <p:spPr>
            <a:xfrm flipH="1">
              <a:off x="3504" y="2640"/>
              <a:ext cx="240" cy="0"/>
            </a:xfrm>
            <a:prstGeom prst="line">
              <a:avLst/>
            </a:prstGeom>
            <a:ln w="28575" cap="flat" cmpd="sng">
              <a:solidFill>
                <a:srgbClr val="FFCC00"/>
              </a:solidFill>
              <a:prstDash val="solid"/>
              <a:miter/>
              <a:headEnd type="none" w="med" len="med"/>
              <a:tailEnd type="triangle" w="med" len="med"/>
            </a:ln>
          </p:spPr>
        </p:sp>
        <p:sp>
          <p:nvSpPr>
            <p:cNvPr id="36967" name="Line 187"/>
            <p:cNvSpPr/>
            <p:nvPr/>
          </p:nvSpPr>
          <p:spPr>
            <a:xfrm flipH="1">
              <a:off x="3120" y="2640"/>
              <a:ext cx="240" cy="0"/>
            </a:xfrm>
            <a:prstGeom prst="line">
              <a:avLst/>
            </a:prstGeom>
            <a:ln w="28575" cap="flat" cmpd="sng">
              <a:solidFill>
                <a:srgbClr val="FFCC00"/>
              </a:solidFill>
              <a:prstDash val="solid"/>
              <a:miter/>
              <a:headEnd type="none" w="med" len="med"/>
              <a:tailEnd type="triangle" w="med" len="med"/>
            </a:ln>
          </p:spPr>
        </p:sp>
        <p:sp>
          <p:nvSpPr>
            <p:cNvPr id="36968" name="Line 188"/>
            <p:cNvSpPr/>
            <p:nvPr/>
          </p:nvSpPr>
          <p:spPr>
            <a:xfrm flipH="1">
              <a:off x="2784" y="2640"/>
              <a:ext cx="240" cy="0"/>
            </a:xfrm>
            <a:prstGeom prst="line">
              <a:avLst/>
            </a:prstGeom>
            <a:ln w="28575" cap="flat" cmpd="sng">
              <a:solidFill>
                <a:srgbClr val="FFCC00"/>
              </a:solidFill>
              <a:prstDash val="solid"/>
              <a:miter/>
              <a:headEnd type="none" w="med" len="med"/>
              <a:tailEnd type="triangle" w="med" len="med"/>
            </a:ln>
          </p:spPr>
        </p:sp>
        <p:sp>
          <p:nvSpPr>
            <p:cNvPr id="36969" name="Line 189"/>
            <p:cNvSpPr/>
            <p:nvPr/>
          </p:nvSpPr>
          <p:spPr>
            <a:xfrm>
              <a:off x="2880" y="2784"/>
              <a:ext cx="0" cy="144"/>
            </a:xfrm>
            <a:prstGeom prst="line">
              <a:avLst/>
            </a:prstGeom>
            <a:ln w="28575" cap="flat" cmpd="sng">
              <a:solidFill>
                <a:srgbClr val="FFCC00"/>
              </a:solidFill>
              <a:prstDash val="solid"/>
              <a:miter/>
              <a:headEnd type="none" w="med" len="med"/>
              <a:tailEnd type="triangle" w="med" len="med"/>
            </a:ln>
          </p:spPr>
        </p:sp>
        <p:sp>
          <p:nvSpPr>
            <p:cNvPr id="36970" name="Line 190"/>
            <p:cNvSpPr/>
            <p:nvPr/>
          </p:nvSpPr>
          <p:spPr>
            <a:xfrm>
              <a:off x="3216" y="2928"/>
              <a:ext cx="240" cy="0"/>
            </a:xfrm>
            <a:prstGeom prst="line">
              <a:avLst/>
            </a:prstGeom>
            <a:ln w="28575" cap="flat" cmpd="sng">
              <a:solidFill>
                <a:srgbClr val="FFCC00"/>
              </a:solidFill>
              <a:prstDash val="solid"/>
              <a:miter/>
              <a:headEnd type="none" w="med" len="med"/>
              <a:tailEnd type="triangle" w="med" len="med"/>
            </a:ln>
          </p:spPr>
        </p:sp>
        <p:sp>
          <p:nvSpPr>
            <p:cNvPr id="36971" name="Line 191"/>
            <p:cNvSpPr/>
            <p:nvPr/>
          </p:nvSpPr>
          <p:spPr>
            <a:xfrm>
              <a:off x="3600" y="2928"/>
              <a:ext cx="240" cy="0"/>
            </a:xfrm>
            <a:prstGeom prst="line">
              <a:avLst/>
            </a:prstGeom>
            <a:ln w="28575" cap="flat" cmpd="sng">
              <a:solidFill>
                <a:srgbClr val="FFCC00"/>
              </a:solidFill>
              <a:prstDash val="solid"/>
              <a:miter/>
              <a:headEnd type="none" w="med" len="med"/>
              <a:tailEnd type="triangle" w="med" len="med"/>
            </a:ln>
          </p:spPr>
        </p:sp>
        <p:sp>
          <p:nvSpPr>
            <p:cNvPr id="36972" name="Line 192"/>
            <p:cNvSpPr/>
            <p:nvPr/>
          </p:nvSpPr>
          <p:spPr>
            <a:xfrm>
              <a:off x="3792" y="3024"/>
              <a:ext cx="0" cy="144"/>
            </a:xfrm>
            <a:prstGeom prst="line">
              <a:avLst/>
            </a:prstGeom>
            <a:ln w="28575" cap="flat" cmpd="sng">
              <a:solidFill>
                <a:srgbClr val="FFCC00"/>
              </a:solidFill>
              <a:prstDash val="solid"/>
              <a:miter/>
              <a:headEnd type="none" w="med" len="med"/>
              <a:tailEnd type="triangle" w="med" len="med"/>
            </a:ln>
          </p:spPr>
        </p:sp>
        <p:sp>
          <p:nvSpPr>
            <p:cNvPr id="36973" name="Line 193"/>
            <p:cNvSpPr/>
            <p:nvPr/>
          </p:nvSpPr>
          <p:spPr>
            <a:xfrm flipH="1">
              <a:off x="3120" y="3168"/>
              <a:ext cx="240" cy="0"/>
            </a:xfrm>
            <a:prstGeom prst="line">
              <a:avLst/>
            </a:prstGeom>
            <a:ln w="28575" cap="flat" cmpd="sng">
              <a:solidFill>
                <a:srgbClr val="FFCC00"/>
              </a:solidFill>
              <a:prstDash val="solid"/>
              <a:miter/>
              <a:headEnd type="none" w="med" len="med"/>
              <a:tailEnd type="triangle" w="med" len="med"/>
            </a:ln>
          </p:spPr>
        </p:sp>
        <p:sp>
          <p:nvSpPr>
            <p:cNvPr id="36974" name="Line 194"/>
            <p:cNvSpPr/>
            <p:nvPr/>
          </p:nvSpPr>
          <p:spPr>
            <a:xfrm flipH="1">
              <a:off x="2784" y="3168"/>
              <a:ext cx="240" cy="0"/>
            </a:xfrm>
            <a:prstGeom prst="line">
              <a:avLst/>
            </a:prstGeom>
            <a:ln w="28575" cap="flat" cmpd="sng">
              <a:solidFill>
                <a:srgbClr val="FFCC00"/>
              </a:solidFill>
              <a:prstDash val="solid"/>
              <a:miter/>
              <a:headEnd type="none" w="med" len="med"/>
              <a:tailEnd type="triangle" w="med" len="med"/>
            </a:ln>
          </p:spPr>
        </p:sp>
        <p:sp>
          <p:nvSpPr>
            <p:cNvPr id="36975" name="Line 195"/>
            <p:cNvSpPr/>
            <p:nvPr/>
          </p:nvSpPr>
          <p:spPr>
            <a:xfrm flipH="1">
              <a:off x="2640" y="3024"/>
              <a:ext cx="0" cy="144"/>
            </a:xfrm>
            <a:prstGeom prst="line">
              <a:avLst/>
            </a:prstGeom>
            <a:ln w="28575" cap="flat" cmpd="sng">
              <a:solidFill>
                <a:schemeClr val="hlink"/>
              </a:solidFill>
              <a:prstDash val="solid"/>
              <a:miter/>
              <a:headEnd type="none" w="med" len="med"/>
              <a:tailEnd type="triangle" w="med" len="med"/>
            </a:ln>
          </p:spPr>
        </p:sp>
        <p:sp>
          <p:nvSpPr>
            <p:cNvPr id="36976" name="Line 196"/>
            <p:cNvSpPr/>
            <p:nvPr/>
          </p:nvSpPr>
          <p:spPr>
            <a:xfrm flipH="1">
              <a:off x="2640" y="3264"/>
              <a:ext cx="0" cy="144"/>
            </a:xfrm>
            <a:prstGeom prst="line">
              <a:avLst/>
            </a:prstGeom>
            <a:ln w="28575" cap="flat" cmpd="sng">
              <a:solidFill>
                <a:schemeClr val="hlink"/>
              </a:solidFill>
              <a:prstDash val="solid"/>
              <a:miter/>
              <a:headEnd type="none" w="med" len="med"/>
              <a:tailEnd type="triangle" w="med" len="med"/>
            </a:ln>
          </p:spPr>
        </p:sp>
        <p:sp>
          <p:nvSpPr>
            <p:cNvPr id="36977" name="Line 197"/>
            <p:cNvSpPr/>
            <p:nvPr/>
          </p:nvSpPr>
          <p:spPr>
            <a:xfrm>
              <a:off x="2496" y="3600"/>
              <a:ext cx="240" cy="0"/>
            </a:xfrm>
            <a:prstGeom prst="line">
              <a:avLst/>
            </a:prstGeom>
            <a:ln w="28575" cap="flat" cmpd="sng">
              <a:solidFill>
                <a:schemeClr val="hlink"/>
              </a:solidFill>
              <a:prstDash val="solid"/>
              <a:miter/>
              <a:headEnd type="none" w="med" len="med"/>
              <a:tailEnd type="triangle" w="med" len="med"/>
            </a:ln>
          </p:spPr>
        </p:sp>
        <p:sp>
          <p:nvSpPr>
            <p:cNvPr id="36978" name="Line 198"/>
            <p:cNvSpPr/>
            <p:nvPr/>
          </p:nvSpPr>
          <p:spPr>
            <a:xfrm>
              <a:off x="2832" y="3600"/>
              <a:ext cx="240" cy="0"/>
            </a:xfrm>
            <a:prstGeom prst="line">
              <a:avLst/>
            </a:prstGeom>
            <a:ln w="28575" cap="flat" cmpd="sng">
              <a:solidFill>
                <a:schemeClr val="hlink"/>
              </a:solidFill>
              <a:prstDash val="solid"/>
              <a:miter/>
              <a:headEnd type="none" w="med" len="med"/>
              <a:tailEnd type="triangle" w="med" len="med"/>
            </a:ln>
          </p:spPr>
        </p:sp>
        <p:sp>
          <p:nvSpPr>
            <p:cNvPr id="36979" name="Line 199"/>
            <p:cNvSpPr/>
            <p:nvPr/>
          </p:nvSpPr>
          <p:spPr>
            <a:xfrm>
              <a:off x="3216" y="3600"/>
              <a:ext cx="240" cy="0"/>
            </a:xfrm>
            <a:prstGeom prst="line">
              <a:avLst/>
            </a:prstGeom>
            <a:ln w="28575" cap="flat" cmpd="sng">
              <a:solidFill>
                <a:schemeClr val="hlink"/>
              </a:solidFill>
              <a:prstDash val="solid"/>
              <a:miter/>
              <a:headEnd type="none" w="med" len="med"/>
              <a:tailEnd type="triangle" w="med" len="med"/>
            </a:ln>
          </p:spPr>
        </p:sp>
        <p:sp>
          <p:nvSpPr>
            <p:cNvPr id="36980" name="Line 200"/>
            <p:cNvSpPr/>
            <p:nvPr/>
          </p:nvSpPr>
          <p:spPr>
            <a:xfrm>
              <a:off x="3648" y="3600"/>
              <a:ext cx="192" cy="0"/>
            </a:xfrm>
            <a:prstGeom prst="line">
              <a:avLst/>
            </a:prstGeom>
            <a:ln w="28575" cap="flat" cmpd="sng">
              <a:solidFill>
                <a:schemeClr val="hlink"/>
              </a:solidFill>
              <a:prstDash val="solid"/>
              <a:miter/>
              <a:headEnd type="none" w="med" len="med"/>
              <a:tailEnd type="triangle" w="med" len="med"/>
            </a:ln>
          </p:spPr>
        </p:sp>
        <p:sp>
          <p:nvSpPr>
            <p:cNvPr id="36981" name="Line 201"/>
            <p:cNvSpPr/>
            <p:nvPr/>
          </p:nvSpPr>
          <p:spPr>
            <a:xfrm>
              <a:off x="3984" y="3600"/>
              <a:ext cx="192" cy="0"/>
            </a:xfrm>
            <a:prstGeom prst="line">
              <a:avLst/>
            </a:prstGeom>
            <a:ln w="28575" cap="flat" cmpd="sng">
              <a:solidFill>
                <a:schemeClr val="hlink"/>
              </a:solidFill>
              <a:prstDash val="solid"/>
              <a:miter/>
              <a:headEnd type="none" w="med" len="med"/>
              <a:tailEnd type="triangle" w="med" len="med"/>
            </a:ln>
          </p:spPr>
        </p:sp>
        <p:sp>
          <p:nvSpPr>
            <p:cNvPr id="36982" name="Line 202"/>
            <p:cNvSpPr/>
            <p:nvPr/>
          </p:nvSpPr>
          <p:spPr>
            <a:xfrm>
              <a:off x="4080" y="3744"/>
              <a:ext cx="0" cy="192"/>
            </a:xfrm>
            <a:prstGeom prst="line">
              <a:avLst/>
            </a:prstGeom>
            <a:ln w="28575" cap="flat" cmpd="sng">
              <a:solidFill>
                <a:schemeClr val="hlink"/>
              </a:solidFill>
              <a:prstDash val="solid"/>
              <a:miter/>
              <a:headEnd type="none" w="med" len="med"/>
              <a:tailEnd type="triangle" w="med" len="med"/>
            </a:ln>
          </p:spPr>
        </p:sp>
        <p:sp>
          <p:nvSpPr>
            <p:cNvPr id="36983" name="Line 203"/>
            <p:cNvSpPr/>
            <p:nvPr/>
          </p:nvSpPr>
          <p:spPr>
            <a:xfrm>
              <a:off x="4080" y="3984"/>
              <a:ext cx="0" cy="192"/>
            </a:xfrm>
            <a:prstGeom prst="line">
              <a:avLst/>
            </a:prstGeom>
            <a:ln w="28575" cap="flat" cmpd="sng">
              <a:solidFill>
                <a:schemeClr val="hlink"/>
              </a:solidFill>
              <a:prstDash val="solid"/>
              <a:miter/>
              <a:headEnd type="none" w="med" len="med"/>
              <a:tailEnd type="triangle" w="med" len="med"/>
            </a:ln>
          </p:spPr>
        </p:sp>
        <p:sp>
          <p:nvSpPr>
            <p:cNvPr id="36984" name="Line 204"/>
            <p:cNvSpPr/>
            <p:nvPr/>
          </p:nvSpPr>
          <p:spPr>
            <a:xfrm>
              <a:off x="2160" y="2256"/>
              <a:ext cx="192" cy="0"/>
            </a:xfrm>
            <a:prstGeom prst="line">
              <a:avLst/>
            </a:prstGeom>
            <a:ln w="28575" cap="flat" cmpd="sng">
              <a:solidFill>
                <a:schemeClr val="hlink"/>
              </a:solidFill>
              <a:prstDash val="solid"/>
              <a:miter/>
              <a:headEnd type="none" w="med" len="med"/>
              <a:tailEnd type="triangle" w="med" len="med"/>
            </a:ln>
          </p:spPr>
        </p:sp>
        <p:sp>
          <p:nvSpPr>
            <p:cNvPr id="36985" name="Line 205"/>
            <p:cNvSpPr/>
            <p:nvPr/>
          </p:nvSpPr>
          <p:spPr>
            <a:xfrm>
              <a:off x="2256" y="2448"/>
              <a:ext cx="0" cy="192"/>
            </a:xfrm>
            <a:prstGeom prst="line">
              <a:avLst/>
            </a:prstGeom>
            <a:ln w="28575" cap="flat" cmpd="sng">
              <a:solidFill>
                <a:schemeClr val="hlink"/>
              </a:solidFill>
              <a:prstDash val="solid"/>
              <a:miter/>
              <a:headEnd type="none" w="med" len="med"/>
              <a:tailEnd type="triangle" w="med" len="med"/>
            </a:ln>
          </p:spPr>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栈应用</a:t>
            </a:r>
            <a:r>
              <a:rPr lang="en-US" altLang="zh-CN" sz="2800" dirty="0">
                <a:latin typeface="黑体" panose="02010609060101010101" pitchFamily="2" charset="-122"/>
                <a:ea typeface="黑体" panose="02010609060101010101" pitchFamily="2" charset="-122"/>
                <a:cs typeface="+mn-cs"/>
                <a:sym typeface="+mn-ea"/>
              </a:rPr>
              <a:t>4</a:t>
            </a:r>
            <a:r>
              <a:rPr lang="zh-CN" altLang="en-US" sz="2800" dirty="0">
                <a:latin typeface="黑体" panose="02010609060101010101" pitchFamily="2" charset="-122"/>
                <a:ea typeface="黑体" panose="02010609060101010101" pitchFamily="2" charset="-122"/>
                <a:cs typeface="+mn-cs"/>
                <a:sym typeface="+mn-ea"/>
              </a:rPr>
              <a:t>：迷宫求解的算法</a:t>
            </a:r>
            <a:endParaRPr lang="zh-CN" altLang="en-US" sz="2800" dirty="0">
              <a:latin typeface="黑体" panose="02010609060101010101" pitchFamily="2" charset="-122"/>
              <a:ea typeface="黑体" panose="02010609060101010101" pitchFamily="2" charset="-122"/>
              <a:cs typeface="+mn-cs"/>
              <a:sym typeface="+mn-ea"/>
            </a:endParaRPr>
          </a:p>
          <a:p>
            <a:pPr marL="609600" indent="-609600" eaLnBrk="1" hangingPunct="1">
              <a:lnSpc>
                <a:spcPct val="90000"/>
              </a:lnSpc>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设定当前位置为入口位置</a:t>
            </a:r>
            <a:endParaRPr lang="zh-CN" altLang="en-US" sz="24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do </a:t>
            </a:r>
            <a:r>
              <a:rPr lang="en-US" altLang="zh-CN" sz="2400" dirty="0">
                <a:solidFill>
                  <a:schemeClr val="hlink"/>
                </a:solidFill>
                <a:latin typeface="黑体" panose="02010609060101010101" pitchFamily="2" charset="-122"/>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若当前位置可通，则 </a:t>
            </a:r>
            <a:r>
              <a:rPr lang="en-US" altLang="zh-CN" sz="2400" dirty="0">
                <a:latin typeface="黑体" panose="02010609060101010101" pitchFamily="2" charset="-122"/>
                <a:ea typeface="黑体" panose="02010609060101010101" pitchFamily="2" charset="-122"/>
                <a:sym typeface="+mn-ea"/>
              </a:rPr>
              <a:t>{</a:t>
            </a:r>
            <a:endParaRPr lang="en-US" altLang="zh-CN" sz="24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sym typeface="+mn-ea"/>
              </a:rPr>
              <a:t>　将该位置插入栈顶</a:t>
            </a:r>
            <a:r>
              <a:rPr lang="en-US" altLang="zh-CN" sz="2400" dirty="0">
                <a:latin typeface="黑体" panose="02010609060101010101" pitchFamily="2" charset="-122"/>
                <a:ea typeface="黑体" panose="02010609060101010101" pitchFamily="2" charset="-122"/>
                <a:sym typeface="+mn-ea"/>
              </a:rPr>
              <a:t>(Push)</a:t>
            </a:r>
            <a:r>
              <a:rPr lang="zh-CN" altLang="en-US" sz="2400" dirty="0">
                <a:latin typeface="黑体" panose="02010609060101010101" pitchFamily="2" charset="-122"/>
                <a:ea typeface="黑体" panose="02010609060101010101" pitchFamily="2" charset="-122"/>
                <a:sym typeface="+mn-ea"/>
              </a:rPr>
              <a:t>；若该位置是出口，则结束</a:t>
            </a:r>
            <a:endParaRPr lang="zh-CN" altLang="en-US" sz="24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否则切换当前位置的东邻方块为当前位置；</a:t>
            </a:r>
            <a:endParaRPr lang="zh-CN" altLang="en-US" sz="24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sym typeface="+mn-ea"/>
              </a:rPr>
              <a:t>否则 </a:t>
            </a:r>
            <a:r>
              <a:rPr lang="en-US" altLang="zh-CN" sz="2400" dirty="0">
                <a:solidFill>
                  <a:schemeClr val="tx2"/>
                </a:solidFill>
                <a:latin typeface="黑体" panose="02010609060101010101" pitchFamily="2" charset="-122"/>
                <a:ea typeface="黑体" panose="02010609060101010101" pitchFamily="2" charset="-122"/>
                <a:sym typeface="+mn-ea"/>
              </a:rPr>
              <a:t>{</a:t>
            </a:r>
            <a:endParaRPr lang="en-US" altLang="zh-CN" sz="2400" b="0" dirty="0">
              <a:solidFill>
                <a:schemeClr val="tx2"/>
              </a:solidFill>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sym typeface="+mn-ea"/>
              </a:rPr>
              <a:t>　若栈不空则</a:t>
            </a:r>
            <a:r>
              <a:rPr lang="zh-CN" altLang="en-US" sz="2400" dirty="0">
                <a:solidFill>
                  <a:schemeClr val="accent1"/>
                </a:solidFill>
                <a:latin typeface="黑体" panose="02010609060101010101" pitchFamily="2" charset="-122"/>
                <a:ea typeface="黑体" panose="02010609060101010101" pitchFamily="2" charset="-122"/>
                <a:sym typeface="+mn-ea"/>
              </a:rPr>
              <a:t>｛</a:t>
            </a:r>
            <a:endParaRPr lang="zh-CN" altLang="en-US" sz="2400" b="0" dirty="0">
              <a:solidFill>
                <a:schemeClr val="accent1"/>
              </a:solidFill>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如果栈顶位置的四周均不可通</a:t>
            </a:r>
            <a:r>
              <a:rPr lang="en-US" altLang="zh-CN" sz="2400" dirty="0">
                <a:latin typeface="黑体" panose="02010609060101010101" pitchFamily="2" charset="-122"/>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则删除栈顶位置</a:t>
            </a:r>
            <a:r>
              <a:rPr lang="en-US" altLang="zh-CN" sz="2400" dirty="0">
                <a:latin typeface="黑体" panose="02010609060101010101" pitchFamily="2" charset="-122"/>
                <a:ea typeface="黑体" panose="02010609060101010101" pitchFamily="2" charset="-122"/>
                <a:sym typeface="+mn-ea"/>
              </a:rPr>
              <a:t>(Pop)</a:t>
            </a:r>
            <a:endParaRPr lang="en-US" altLang="zh-CN" sz="24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sym typeface="+mn-ea"/>
              </a:rPr>
              <a:t>　并重新测试新的栈顶位置</a:t>
            </a:r>
            <a:endParaRPr lang="zh-CN" altLang="en-US" sz="24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如果找到栈顶位置的下一方向未经探索，则将该方向</a:t>
            </a:r>
            <a:endParaRPr lang="zh-CN" altLang="en-US" sz="2400" b="0" dirty="0">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方块设为当前位置 </a:t>
            </a:r>
            <a:r>
              <a:rPr lang="en-US" altLang="zh-CN" sz="2400" dirty="0">
                <a:solidFill>
                  <a:schemeClr val="accent1"/>
                </a:solidFill>
                <a:latin typeface="黑体" panose="02010609060101010101" pitchFamily="2" charset="-122"/>
                <a:ea typeface="黑体" panose="02010609060101010101" pitchFamily="2" charset="-122"/>
                <a:sym typeface="+mn-ea"/>
              </a:rPr>
              <a:t>} </a:t>
            </a:r>
            <a:r>
              <a:rPr lang="en-US" altLang="zh-CN" sz="2400" dirty="0">
                <a:solidFill>
                  <a:schemeClr val="tx2"/>
                </a:solidFill>
                <a:latin typeface="黑体" panose="02010609060101010101" pitchFamily="2" charset="-122"/>
                <a:ea typeface="黑体" panose="02010609060101010101" pitchFamily="2" charset="-122"/>
                <a:sym typeface="+mn-ea"/>
              </a:rPr>
              <a:t>} </a:t>
            </a:r>
            <a:endParaRPr lang="en-US" altLang="zh-CN" sz="2400" b="0" dirty="0">
              <a:solidFill>
                <a:schemeClr val="tx2"/>
              </a:solidFill>
              <a:latin typeface="黑体" panose="02010609060101010101" pitchFamily="2" charset="-122"/>
              <a:ea typeface="黑体" panose="02010609060101010101" pitchFamily="2" charset="-122"/>
            </a:endParaRPr>
          </a:p>
          <a:p>
            <a:pPr marL="609600" indent="-609600" eaLnBrk="1" hangingPunct="1">
              <a:lnSpc>
                <a:spcPct val="90000"/>
              </a:lnSpc>
              <a:buClr>
                <a:schemeClr val="accent1"/>
              </a:buClr>
              <a:buSzTx/>
              <a:buFont typeface="Wingdings" panose="05000000000000000000" pitchFamily="2" charset="2"/>
              <a:buNone/>
            </a:pPr>
            <a:r>
              <a:rPr lang="en-US" altLang="zh-CN" sz="2400" dirty="0">
                <a:solidFill>
                  <a:schemeClr val="hlink"/>
                </a:solidFill>
                <a:latin typeface="黑体" panose="02010609060101010101" pitchFamily="2" charset="-122"/>
                <a:ea typeface="黑体" panose="02010609060101010101" pitchFamily="2" charset="-122"/>
                <a:sym typeface="+mn-ea"/>
              </a:rPr>
              <a:t>}</a:t>
            </a:r>
            <a:r>
              <a:rPr lang="en-US" altLang="zh-CN" sz="2400" dirty="0">
                <a:latin typeface="黑体" panose="02010609060101010101" pitchFamily="2" charset="-122"/>
                <a:ea typeface="黑体" panose="02010609060101010101" pitchFamily="2" charset="-122"/>
                <a:sym typeface="+mn-ea"/>
              </a:rPr>
              <a:t>while(</a:t>
            </a:r>
            <a:r>
              <a:rPr lang="zh-CN" altLang="en-US" sz="2400" dirty="0">
                <a:latin typeface="黑体" panose="02010609060101010101" pitchFamily="2" charset="-122"/>
                <a:ea typeface="黑体" panose="02010609060101010101" pitchFamily="2" charset="-122"/>
                <a:sym typeface="+mn-ea"/>
              </a:rPr>
              <a:t>栈不空</a:t>
            </a:r>
            <a:r>
              <a:rPr lang="en-US" altLang="zh-CN" sz="2400" dirty="0">
                <a:latin typeface="黑体" panose="02010609060101010101" pitchFamily="2" charset="-122"/>
                <a:ea typeface="黑体" panose="02010609060101010101" pitchFamily="2" charset="-122"/>
                <a:sym typeface="+mn-ea"/>
              </a:rPr>
              <a:t>)</a:t>
            </a:r>
            <a:r>
              <a:rPr lang="zh-CN" altLang="en-US" sz="2400" dirty="0">
                <a:latin typeface="黑体" panose="02010609060101010101" pitchFamily="2" charset="-122"/>
                <a:ea typeface="黑体" panose="02010609060101010101" pitchFamily="2" charset="-122"/>
                <a:sym typeface="+mn-ea"/>
              </a:rPr>
              <a:t>；找不到路径</a:t>
            </a:r>
            <a:endParaRPr lang="zh-CN" altLang="en-US" sz="2400" dirty="0">
              <a:latin typeface="黑体" panose="02010609060101010101" pitchFamily="2" charset="-122"/>
              <a:ea typeface="黑体" panose="02010609060101010101" pitchFamily="2" charset="-122"/>
            </a:endParaRPr>
          </a:p>
          <a:p>
            <a:pPr marL="0" lvl="1" indent="0" algn="l" eaLnBrk="1" hangingPunct="1">
              <a:buClrTx/>
              <a:buSzTx/>
              <a:buFont typeface="Wingdings" panose="05000000000000000000" charset="0"/>
              <a:buNone/>
            </a:pP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a:t>
            </a:r>
            <a:r>
              <a:rPr lang="en-US" altLang="zh-CN">
                <a:latin typeface="楷体" panose="02010609060101010101" charset="-122"/>
                <a:ea typeface="楷体" panose="02010609060101010101" charset="-122"/>
                <a:cs typeface="楷体" panose="02010609060101010101" charset="-122"/>
                <a:sym typeface="+mn-ea"/>
              </a:rPr>
              <a:t>2 栈的应用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栈应用</a:t>
            </a:r>
            <a:r>
              <a:rPr lang="en-US" altLang="zh-CN" sz="2800" dirty="0">
                <a:latin typeface="黑体" panose="02010609060101010101" pitchFamily="2" charset="-122"/>
                <a:ea typeface="黑体" panose="02010609060101010101" pitchFamily="2" charset="-122"/>
                <a:cs typeface="+mn-cs"/>
                <a:sym typeface="+mn-ea"/>
              </a:rPr>
              <a:t>5</a:t>
            </a:r>
            <a:r>
              <a:rPr lang="zh-CN" altLang="en-US" sz="2800" dirty="0">
                <a:latin typeface="黑体" panose="02010609060101010101" pitchFamily="2" charset="-122"/>
                <a:ea typeface="黑体" panose="02010609060101010101" pitchFamily="2" charset="-122"/>
                <a:cs typeface="+mn-cs"/>
                <a:sym typeface="+mn-ea"/>
              </a:rPr>
              <a:t>：表达式求值，模拟表达式的运算过程，利用栈实现运算的优先级和运算顺序</a:t>
            </a:r>
            <a:endParaRPr lang="zh-CN" altLang="en-US" sz="280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表达式的输入是一个字符串，要从中分解出操作数和操作符</a:t>
            </a:r>
            <a:endParaRPr lang="zh-CN" altLang="en-US" sz="240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操作符要实现优先级：括号 &gt; 乘除 &gt; 加减</a:t>
            </a:r>
            <a:endParaRPr lang="zh-CN" altLang="en-US" sz="240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行坐标表示栈顶元素，列坐标表示当前字符</a:t>
            </a: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a:t>
            </a:r>
            <a:r>
              <a:rPr lang="en-US" altLang="zh-CN">
                <a:latin typeface="楷体" panose="02010609060101010101" charset="-122"/>
                <a:ea typeface="楷体" panose="02010609060101010101" charset="-122"/>
                <a:cs typeface="楷体" panose="02010609060101010101" charset="-122"/>
                <a:sym typeface="+mn-ea"/>
              </a:rPr>
              <a:t>2 栈的应用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6" name="图片 5"/>
          <p:cNvPicPr>
            <a:picLocks noChangeAspect="1"/>
          </p:cNvPicPr>
          <p:nvPr/>
        </p:nvPicPr>
        <p:blipFill>
          <a:blip r:embed="rId1"/>
          <a:stretch>
            <a:fillRect/>
          </a:stretch>
        </p:blipFill>
        <p:spPr>
          <a:xfrm>
            <a:off x="983615" y="3213100"/>
            <a:ext cx="10048875" cy="350964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栈应用</a:t>
            </a:r>
            <a:r>
              <a:rPr lang="en-US" altLang="zh-CN" sz="2800" dirty="0">
                <a:latin typeface="黑体" panose="02010609060101010101" pitchFamily="2" charset="-122"/>
                <a:ea typeface="黑体" panose="02010609060101010101" pitchFamily="2" charset="-122"/>
                <a:cs typeface="+mn-cs"/>
                <a:sym typeface="+mn-ea"/>
              </a:rPr>
              <a:t>5</a:t>
            </a:r>
            <a:r>
              <a:rPr lang="zh-CN" altLang="en-US" sz="2800" dirty="0">
                <a:latin typeface="黑体" panose="02010609060101010101" pitchFamily="2" charset="-122"/>
                <a:ea typeface="黑体" panose="02010609060101010101" pitchFamily="2" charset="-122"/>
                <a:cs typeface="+mn-cs"/>
                <a:sym typeface="+mn-ea"/>
              </a:rPr>
              <a:t>：表达式求值</a:t>
            </a:r>
            <a:endParaRPr lang="zh-CN" altLang="en-US" sz="2800" dirty="0">
              <a:latin typeface="黑体" panose="02010609060101010101" pitchFamily="2" charset="-122"/>
              <a:ea typeface="黑体" panose="02010609060101010101" pitchFamily="2" charset="-122"/>
              <a:cs typeface="+mn-cs"/>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函数</a:t>
            </a:r>
            <a:r>
              <a:rPr lang="en-US" altLang="zh-CN" sz="2400" dirty="0">
                <a:latin typeface="黑体" panose="02010609060101010101" pitchFamily="2" charset="-122"/>
                <a:ea typeface="黑体" panose="02010609060101010101" pitchFamily="2" charset="-122"/>
                <a:cs typeface="+mn-cs"/>
                <a:sym typeface="+mn-ea"/>
              </a:rPr>
              <a:t>Operate</a:t>
            </a:r>
            <a:r>
              <a:rPr lang="zh-CN" altLang="en-US" sz="2400" dirty="0">
                <a:latin typeface="黑体" panose="02010609060101010101" pitchFamily="2" charset="-122"/>
                <a:ea typeface="黑体" panose="02010609060101010101" pitchFamily="2" charset="-122"/>
                <a:cs typeface="+mn-cs"/>
                <a:sym typeface="+mn-ea"/>
              </a:rPr>
              <a:t>表示执行一次运算，参数是两个操作数和一个操作符</a:t>
            </a:r>
            <a:endParaRPr lang="zh-CN" altLang="en-US" sz="2400" dirty="0">
              <a:latin typeface="黑体" panose="02010609060101010101" pitchFamily="2" charset="-122"/>
              <a:ea typeface="黑体" panose="02010609060101010101" pitchFamily="2" charset="-122"/>
              <a:cs typeface="+mn-cs"/>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数组</a:t>
            </a:r>
            <a:r>
              <a:rPr lang="en-US" altLang="zh-CN" sz="2400" dirty="0">
                <a:latin typeface="黑体" panose="02010609060101010101" pitchFamily="2" charset="-122"/>
                <a:ea typeface="黑体" panose="02010609060101010101" pitchFamily="2" charset="-122"/>
                <a:cs typeface="+mn-cs"/>
                <a:sym typeface="+mn-ea"/>
              </a:rPr>
              <a:t>OPSET</a:t>
            </a:r>
            <a:r>
              <a:rPr lang="zh-CN" altLang="en-US" sz="2400" dirty="0">
                <a:latin typeface="黑体" panose="02010609060101010101" pitchFamily="2" charset="-122"/>
                <a:ea typeface="黑体" panose="02010609060101010101" pitchFamily="2" charset="-122"/>
                <a:cs typeface="+mn-cs"/>
                <a:sym typeface="+mn-ea"/>
              </a:rPr>
              <a:t>表示运算符集合</a:t>
            </a:r>
            <a:endParaRPr lang="zh-CN" altLang="en-US" sz="2400" dirty="0">
              <a:latin typeface="黑体" panose="02010609060101010101" pitchFamily="2" charset="-122"/>
              <a:ea typeface="黑体" panose="02010609060101010101" pitchFamily="2" charset="-122"/>
              <a:cs typeface="+mn-cs"/>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函数</a:t>
            </a:r>
            <a:r>
              <a:rPr lang="en-US" altLang="zh-CN" sz="2400" dirty="0">
                <a:latin typeface="黑体" panose="02010609060101010101" pitchFamily="2" charset="-122"/>
                <a:ea typeface="黑体" panose="02010609060101010101" pitchFamily="2" charset="-122"/>
                <a:cs typeface="+mn-cs"/>
                <a:sym typeface="+mn-ea"/>
              </a:rPr>
              <a:t>In</a:t>
            </a:r>
            <a:r>
              <a:rPr lang="zh-CN" altLang="en-US" sz="2400" dirty="0">
                <a:latin typeface="黑体" panose="02010609060101010101" pitchFamily="2" charset="-122"/>
                <a:ea typeface="黑体" panose="02010609060101010101" pitchFamily="2" charset="-122"/>
                <a:cs typeface="+mn-cs"/>
                <a:sym typeface="+mn-ea"/>
              </a:rPr>
              <a:t>判断当前字符是否运算符，即是否在数组</a:t>
            </a:r>
            <a:r>
              <a:rPr lang="en-US" altLang="zh-CN" sz="2400" dirty="0">
                <a:latin typeface="黑体" panose="02010609060101010101" pitchFamily="2" charset="-122"/>
                <a:ea typeface="黑体" panose="02010609060101010101" pitchFamily="2" charset="-122"/>
                <a:cs typeface="+mn-cs"/>
                <a:sym typeface="+mn-ea"/>
              </a:rPr>
              <a:t>OPSET</a:t>
            </a:r>
            <a:r>
              <a:rPr lang="zh-CN" altLang="en-US" sz="2400" dirty="0">
                <a:latin typeface="黑体" panose="02010609060101010101" pitchFamily="2" charset="-122"/>
                <a:ea typeface="黑体" panose="02010609060101010101" pitchFamily="2" charset="-122"/>
                <a:cs typeface="+mn-cs"/>
                <a:sym typeface="+mn-ea"/>
              </a:rPr>
              <a:t>中</a:t>
            </a:r>
            <a:endParaRPr lang="zh-CN" altLang="en-US" sz="2400" dirty="0">
              <a:latin typeface="黑体" panose="02010609060101010101" pitchFamily="2" charset="-122"/>
              <a:ea typeface="黑体" panose="02010609060101010101" pitchFamily="2" charset="-122"/>
              <a:cs typeface="+mn-cs"/>
              <a:sym typeface="+mn-ea"/>
            </a:endParaRPr>
          </a:p>
          <a:p>
            <a:pPr lvl="1" algn="l" eaLnBrk="1" hangingPunct="1">
              <a:buClrTx/>
              <a:buSzTx/>
              <a:buChar char="•"/>
            </a:pPr>
            <a:r>
              <a:rPr lang="zh-CN" altLang="en-US" sz="2400" dirty="0">
                <a:latin typeface="黑体" panose="02010609060101010101" pitchFamily="2" charset="-122"/>
                <a:ea typeface="黑体" panose="02010609060101010101" pitchFamily="2" charset="-122"/>
                <a:cs typeface="+mn-cs"/>
              </a:rPr>
              <a:t>函数</a:t>
            </a:r>
            <a:r>
              <a:rPr lang="en-US" altLang="zh-CN" sz="2400" dirty="0">
                <a:latin typeface="黑体" panose="02010609060101010101" pitchFamily="2" charset="-122"/>
                <a:ea typeface="黑体" panose="02010609060101010101" pitchFamily="2" charset="-122"/>
                <a:cs typeface="+mn-cs"/>
              </a:rPr>
              <a:t>percede</a:t>
            </a:r>
            <a:r>
              <a:rPr lang="zh-CN" altLang="en-US" sz="2400" dirty="0">
                <a:latin typeface="黑体" panose="02010609060101010101" pitchFamily="2" charset="-122"/>
                <a:ea typeface="黑体" panose="02010609060101010101" pitchFamily="2" charset="-122"/>
                <a:cs typeface="+mn-cs"/>
              </a:rPr>
              <a:t>用于比较算符优先级，参数</a:t>
            </a:r>
            <a:r>
              <a:rPr lang="en-US" altLang="zh-CN" sz="2400" dirty="0">
                <a:latin typeface="黑体" panose="02010609060101010101" pitchFamily="2" charset="-122"/>
                <a:ea typeface="黑体" panose="02010609060101010101" pitchFamily="2" charset="-122"/>
                <a:cs typeface="+mn-cs"/>
              </a:rPr>
              <a:t>1</a:t>
            </a:r>
            <a:r>
              <a:rPr lang="zh-CN" altLang="en-US" sz="2400" dirty="0">
                <a:latin typeface="黑体" panose="02010609060101010101" pitchFamily="2" charset="-122"/>
                <a:ea typeface="黑体" panose="02010609060101010101" pitchFamily="2" charset="-122"/>
                <a:cs typeface="+mn-cs"/>
              </a:rPr>
              <a:t>是栈顶元素，参数</a:t>
            </a:r>
            <a:r>
              <a:rPr lang="en-US" altLang="zh-CN" sz="2400" dirty="0">
                <a:latin typeface="黑体" panose="02010609060101010101" pitchFamily="2" charset="-122"/>
                <a:ea typeface="黑体" panose="02010609060101010101" pitchFamily="2" charset="-122"/>
                <a:cs typeface="+mn-cs"/>
              </a:rPr>
              <a:t>2</a:t>
            </a:r>
            <a:r>
              <a:rPr lang="zh-CN" altLang="en-US" sz="2400" dirty="0">
                <a:latin typeface="黑体" panose="02010609060101010101" pitchFamily="2" charset="-122"/>
                <a:ea typeface="黑体" panose="02010609060101010101" pitchFamily="2" charset="-122"/>
                <a:cs typeface="+mn-cs"/>
              </a:rPr>
              <a:t>是当前字符</a:t>
            </a:r>
            <a:endParaRPr lang="zh-CN" altLang="en-US" sz="2400" dirty="0">
              <a:latin typeface="黑体" panose="02010609060101010101" pitchFamily="2" charset="-122"/>
              <a:ea typeface="黑体" panose="02010609060101010101" pitchFamily="2" charset="-122"/>
              <a:cs typeface="+mn-cs"/>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a:t>
            </a:r>
            <a:r>
              <a:rPr lang="en-US" altLang="zh-CN">
                <a:latin typeface="楷体" panose="02010609060101010101" charset="-122"/>
                <a:ea typeface="楷体" panose="02010609060101010101" charset="-122"/>
                <a:cs typeface="楷体" panose="02010609060101010101" charset="-122"/>
                <a:sym typeface="+mn-ea"/>
              </a:rPr>
              <a:t>2 栈的应用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62468" name="Picture 2"/>
          <p:cNvPicPr>
            <a:picLocks noChangeAspect="1"/>
          </p:cNvPicPr>
          <p:nvPr/>
        </p:nvPicPr>
        <p:blipFill>
          <a:blip r:embed="rId1"/>
          <a:stretch>
            <a:fillRect/>
          </a:stretch>
        </p:blipFill>
        <p:spPr>
          <a:xfrm>
            <a:off x="2063433" y="3429000"/>
            <a:ext cx="7358062" cy="3254375"/>
          </a:xfrm>
          <a:prstGeom prst="rect">
            <a:avLst/>
          </a:prstGeom>
          <a:noFill/>
          <a:ln w="9525">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6703060" cy="5103495"/>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栈应用</a:t>
            </a:r>
            <a:r>
              <a:rPr lang="en-US" altLang="zh-CN" sz="2800" dirty="0">
                <a:latin typeface="黑体" panose="02010609060101010101" pitchFamily="2" charset="-122"/>
                <a:ea typeface="黑体" panose="02010609060101010101" pitchFamily="2" charset="-122"/>
                <a:cs typeface="+mn-cs"/>
                <a:sym typeface="+mn-ea"/>
              </a:rPr>
              <a:t>5</a:t>
            </a:r>
            <a:r>
              <a:rPr lang="zh-CN" altLang="en-US" sz="2800" dirty="0">
                <a:latin typeface="黑体" panose="02010609060101010101" pitchFamily="2" charset="-122"/>
                <a:ea typeface="黑体" panose="02010609060101010101" pitchFamily="2" charset="-122"/>
                <a:cs typeface="+mn-cs"/>
                <a:sym typeface="+mn-ea"/>
              </a:rPr>
              <a:t>：表达式求值的算法</a:t>
            </a:r>
            <a:endParaRPr lang="zh-CN" altLang="en-US" sz="2800" dirty="0">
              <a:latin typeface="黑体" panose="02010609060101010101" pitchFamily="2" charset="-122"/>
              <a:ea typeface="黑体" panose="02010609060101010101" pitchFamily="2" charset="-122"/>
              <a:cs typeface="+mn-cs"/>
              <a:sym typeface="+mn-ea"/>
            </a:endParaRPr>
          </a:p>
          <a:p>
            <a:pPr lvl="1" algn="l" eaLnBrk="1" hangingPunct="1">
              <a:buClrTx/>
              <a:buSzTx/>
              <a:buChar char="•"/>
            </a:pPr>
            <a:r>
              <a:rPr lang="en-US" altLang="zh-CN" dirty="0">
                <a:latin typeface="黑体" panose="02010609060101010101" pitchFamily="2" charset="-122"/>
                <a:ea typeface="黑体" panose="02010609060101010101" pitchFamily="2" charset="-122"/>
                <a:cs typeface="+mn-cs"/>
                <a:sym typeface="+mn-ea"/>
              </a:rPr>
              <a:t>if</a:t>
            </a:r>
            <a:r>
              <a:rPr lang="zh-CN" altLang="en-US" dirty="0">
                <a:latin typeface="黑体" panose="02010609060101010101" pitchFamily="2" charset="-122"/>
                <a:ea typeface="黑体" panose="02010609060101010101" pitchFamily="2" charset="-122"/>
                <a:cs typeface="+mn-cs"/>
                <a:sym typeface="+mn-ea"/>
              </a:rPr>
              <a:t>部分是逐个读取字符并生成一个完整</a:t>
            </a:r>
            <a:endParaRPr lang="zh-CN" altLang="en-US" dirty="0">
              <a:latin typeface="黑体" panose="02010609060101010101" pitchFamily="2" charset="-122"/>
              <a:ea typeface="黑体" panose="02010609060101010101" pitchFamily="2" charset="-122"/>
              <a:cs typeface="+mn-cs"/>
              <a:sym typeface="+mn-ea"/>
            </a:endParaRPr>
          </a:p>
          <a:p>
            <a:pPr marL="609600" lvl="1" indent="0" algn="l" eaLnBrk="1" hangingPunct="1">
              <a:buClrTx/>
              <a:buSzTx/>
              <a:buNone/>
            </a:pPr>
            <a:r>
              <a:rPr lang="zh-CN" altLang="en-US" dirty="0">
                <a:latin typeface="黑体" panose="02010609060101010101" pitchFamily="2" charset="-122"/>
                <a:ea typeface="黑体" panose="02010609060101010101" pitchFamily="2" charset="-122"/>
                <a:cs typeface="+mn-cs"/>
                <a:sym typeface="+mn-ea"/>
              </a:rPr>
              <a:t>操作数。</a:t>
            </a:r>
            <a:endParaRPr lang="zh-CN" altLang="en-US" dirty="0">
              <a:latin typeface="黑体" panose="02010609060101010101" pitchFamily="2" charset="-122"/>
              <a:ea typeface="黑体" panose="02010609060101010101" pitchFamily="2" charset="-122"/>
              <a:cs typeface="+mn-cs"/>
              <a:sym typeface="+mn-ea"/>
            </a:endParaRPr>
          </a:p>
          <a:p>
            <a:pPr marL="609600" lvl="1" indent="0" algn="l" eaLnBrk="1" hangingPunct="1">
              <a:buClrTx/>
              <a:buSzTx/>
              <a:buNone/>
            </a:pPr>
            <a:r>
              <a:rPr lang="zh-CN" altLang="en-US" dirty="0">
                <a:latin typeface="黑体" panose="02010609060101010101" pitchFamily="2" charset="-122"/>
                <a:ea typeface="黑体" panose="02010609060101010101" pitchFamily="2" charset="-122"/>
                <a:cs typeface="+mn-cs"/>
                <a:sym typeface="+mn-ea"/>
              </a:rPr>
              <a:t>函数</a:t>
            </a:r>
            <a:r>
              <a:rPr lang="en-US" altLang="zh-CN" dirty="0">
                <a:latin typeface="黑体" panose="02010609060101010101" pitchFamily="2" charset="-122"/>
                <a:ea typeface="黑体" panose="02010609060101010101" pitchFamily="2" charset="-122"/>
                <a:cs typeface="+mn-cs"/>
                <a:sym typeface="+mn-ea"/>
              </a:rPr>
              <a:t>atof</a:t>
            </a:r>
            <a:r>
              <a:rPr lang="zh-CN" altLang="en-US" dirty="0">
                <a:latin typeface="黑体" panose="02010609060101010101" pitchFamily="2" charset="-122"/>
                <a:ea typeface="黑体" panose="02010609060101010101" pitchFamily="2" charset="-122"/>
                <a:cs typeface="+mn-cs"/>
                <a:sym typeface="+mn-ea"/>
              </a:rPr>
              <a:t>的功能是把一个字符串转换成一个浮点数。例如把</a:t>
            </a:r>
            <a:r>
              <a:rPr lang="en-US" altLang="zh-CN" dirty="0">
                <a:latin typeface="黑体" panose="02010609060101010101" pitchFamily="2" charset="-122"/>
                <a:ea typeface="黑体" panose="02010609060101010101" pitchFamily="2" charset="-122"/>
                <a:cs typeface="+mn-cs"/>
                <a:sym typeface="+mn-ea"/>
              </a:rPr>
              <a:t>“12.34”</a:t>
            </a:r>
            <a:r>
              <a:rPr lang="zh-CN" altLang="en-US" dirty="0">
                <a:latin typeface="黑体" panose="02010609060101010101" pitchFamily="2" charset="-122"/>
                <a:ea typeface="黑体" panose="02010609060101010101" pitchFamily="2" charset="-122"/>
                <a:cs typeface="+mn-cs"/>
                <a:sym typeface="+mn-ea"/>
              </a:rPr>
              <a:t>转换成浮点数</a:t>
            </a:r>
            <a:r>
              <a:rPr lang="en-US" altLang="zh-CN" dirty="0">
                <a:latin typeface="黑体" panose="02010609060101010101" pitchFamily="2" charset="-122"/>
                <a:ea typeface="黑体" panose="02010609060101010101" pitchFamily="2" charset="-122"/>
                <a:cs typeface="+mn-cs"/>
                <a:sym typeface="+mn-ea"/>
              </a:rPr>
              <a:t>12.34</a:t>
            </a:r>
            <a:endParaRPr lang="zh-CN" altLang="en-US" dirty="0">
              <a:latin typeface="黑体" panose="02010609060101010101" pitchFamily="2" charset="-122"/>
              <a:ea typeface="黑体" panose="02010609060101010101" pitchFamily="2" charset="-122"/>
              <a:cs typeface="+mn-cs"/>
              <a:sym typeface="+mn-ea"/>
            </a:endParaRPr>
          </a:p>
          <a:p>
            <a:pPr lvl="1" algn="l" eaLnBrk="1" hangingPunct="1">
              <a:buClrTx/>
              <a:buSzTx/>
              <a:buChar char="•"/>
            </a:pPr>
            <a:r>
              <a:rPr lang="en-US" altLang="zh-CN" dirty="0">
                <a:latin typeface="黑体" panose="02010609060101010101" pitchFamily="2" charset="-122"/>
                <a:ea typeface="黑体" panose="02010609060101010101" pitchFamily="2" charset="-122"/>
                <a:cs typeface="+mn-cs"/>
                <a:sym typeface="+mn-ea"/>
              </a:rPr>
              <a:t>else</a:t>
            </a:r>
            <a:r>
              <a:rPr lang="zh-CN" altLang="en-US" dirty="0">
                <a:latin typeface="黑体" panose="02010609060101010101" pitchFamily="2" charset="-122"/>
                <a:ea typeface="黑体" panose="02010609060101010101" pitchFamily="2" charset="-122"/>
                <a:cs typeface="+mn-cs"/>
                <a:sym typeface="+mn-ea"/>
              </a:rPr>
              <a:t>部分是操作数和运算符符分别入栈，并根据运算符优先级执行运算</a:t>
            </a:r>
            <a:endParaRPr lang="zh-CN" altLang="en-US"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a:t>
            </a:r>
            <a:r>
              <a:rPr lang="en-US" altLang="zh-CN">
                <a:latin typeface="楷体" panose="02010609060101010101" charset="-122"/>
                <a:ea typeface="楷体" panose="02010609060101010101" charset="-122"/>
                <a:cs typeface="楷体" panose="02010609060101010101" charset="-122"/>
                <a:sym typeface="+mn-ea"/>
              </a:rPr>
              <a:t>2 栈的应用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63492" name="Picture 4"/>
          <p:cNvPicPr>
            <a:picLocks noChangeAspect="1"/>
          </p:cNvPicPr>
          <p:nvPr/>
        </p:nvPicPr>
        <p:blipFill>
          <a:blip r:embed="rId1"/>
          <a:stretch>
            <a:fillRect/>
          </a:stretch>
        </p:blipFill>
        <p:spPr>
          <a:xfrm>
            <a:off x="7320280" y="188595"/>
            <a:ext cx="4558030" cy="6558280"/>
          </a:xfrm>
          <a:prstGeom prst="rect">
            <a:avLst/>
          </a:prstGeom>
          <a:noFill/>
          <a:ln w="9525">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nvPicPr>
        <p:blipFill>
          <a:blip r:embed="rId1"/>
          <a:stretch>
            <a:fillRect/>
          </a:stretch>
        </p:blipFill>
        <p:spPr>
          <a:xfrm>
            <a:off x="479425" y="2204720"/>
            <a:ext cx="11111865" cy="4036695"/>
          </a:xfrm>
          <a:prstGeom prst="rect">
            <a:avLst/>
          </a:prstGeom>
        </p:spPr>
      </p:pic>
      <p:sp>
        <p:nvSpPr>
          <p:cNvPr id="3" name="内容占位符 2"/>
          <p:cNvSpPr>
            <a:spLocks noGrp="1"/>
          </p:cNvSpPr>
          <p:nvPr>
            <p:ph idx="1"/>
          </p:nvPr>
        </p:nvSpPr>
        <p:spPr>
          <a:xfrm>
            <a:off x="429260" y="948055"/>
            <a:ext cx="10683240" cy="1128395"/>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栈应用</a:t>
            </a:r>
            <a:r>
              <a:rPr lang="en-US" altLang="zh-CN" sz="2800" dirty="0">
                <a:latin typeface="黑体" panose="02010609060101010101" pitchFamily="2" charset="-122"/>
                <a:ea typeface="黑体" panose="02010609060101010101" pitchFamily="2" charset="-122"/>
                <a:cs typeface="+mn-cs"/>
                <a:sym typeface="+mn-ea"/>
              </a:rPr>
              <a:t>5</a:t>
            </a:r>
            <a:r>
              <a:rPr lang="zh-CN" altLang="en-US" sz="2800" dirty="0">
                <a:latin typeface="黑体" panose="02010609060101010101" pitchFamily="2" charset="-122"/>
                <a:ea typeface="黑体" panose="02010609060101010101" pitchFamily="2" charset="-122"/>
                <a:cs typeface="+mn-cs"/>
                <a:sym typeface="+mn-ea"/>
              </a:rPr>
              <a:t>：表达式求值实例分析</a:t>
            </a:r>
            <a:endParaRPr lang="zh-CN" altLang="en-US" sz="2800" dirty="0">
              <a:latin typeface="黑体" panose="02010609060101010101" pitchFamily="2" charset="-122"/>
              <a:ea typeface="黑体" panose="02010609060101010101" pitchFamily="2" charset="-122"/>
              <a:cs typeface="+mn-cs"/>
              <a:sym typeface="+mn-ea"/>
            </a:endParaRPr>
          </a:p>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cs typeface="+mn-cs"/>
              </a:rPr>
              <a:t>表达式</a:t>
            </a:r>
            <a:r>
              <a:rPr lang="en-US" altLang="zh-CN" sz="2800" dirty="0">
                <a:latin typeface="黑体" panose="02010609060101010101" pitchFamily="2" charset="-122"/>
                <a:ea typeface="黑体" panose="02010609060101010101" pitchFamily="2" charset="-122"/>
                <a:cs typeface="+mn-cs"/>
              </a:rPr>
              <a:t>3*(7-2)</a:t>
            </a:r>
            <a:r>
              <a:rPr lang="zh-CN" altLang="en-US" sz="2800" dirty="0">
                <a:latin typeface="黑体" panose="02010609060101010101" pitchFamily="2" charset="-122"/>
                <a:ea typeface="黑体" panose="02010609060101010101" pitchFamily="2" charset="-122"/>
                <a:cs typeface="+mn-cs"/>
              </a:rPr>
              <a:t>的求值过程如下表</a:t>
            </a:r>
            <a:endParaRPr lang="zh-CN" altLang="en-US" sz="2800" dirty="0">
              <a:latin typeface="黑体" panose="02010609060101010101" pitchFamily="2" charset="-122"/>
              <a:ea typeface="黑体" panose="02010609060101010101" pitchFamily="2" charset="-122"/>
              <a:cs typeface="+mn-cs"/>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cs"/>
            </a:endParaRPr>
          </a:p>
          <a:p>
            <a:pPr lvl="1" algn="l" eaLnBrk="1" hangingPunct="1">
              <a:buClrTx/>
              <a:buSzTx/>
              <a:buChar char="•"/>
            </a:pP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rPr>
              <a:t>3.</a:t>
            </a:r>
            <a:r>
              <a:rPr lang="en-US" altLang="zh-CN">
                <a:latin typeface="楷体" panose="02010609060101010101" charset="-122"/>
                <a:ea typeface="楷体" panose="02010609060101010101" charset="-122"/>
                <a:cs typeface="楷体" panose="02010609060101010101" charset="-122"/>
                <a:sym typeface="+mn-ea"/>
              </a:rPr>
              <a:t>2 栈的应用</a:t>
            </a:r>
            <a:endParaRPr lang="en-US" altLang="zh-CN">
              <a:latin typeface="楷体" panose="02010609060101010101" charset="-122"/>
              <a:ea typeface="楷体" panose="02010609060101010101" charset="-122"/>
              <a:cs typeface="楷体" panose="02010609060101010101" charset="-122"/>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4664075"/>
          </a:xfrm>
          <a:prstGeom prst="rect">
            <a:avLst/>
          </a:prstGeom>
        </p:spPr>
        <p:txBody>
          <a:bodyPr vert="horz" lIns="91440" tIns="45720" rIns="91440" bIns="45720" rtlCol="0"/>
          <a:lstStyle/>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栈</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栈的应用举例</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栈与递归的实现</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队列</a:t>
            </a:r>
            <a:endParaRPr lang="zh-CN" altLang="en-US" sz="3200" b="1" dirty="0">
              <a:latin typeface="楷体" panose="02010609060101010101" charset="-122"/>
              <a:ea typeface="楷体" panose="02010609060101010101" charset="-122"/>
            </a:endParaRPr>
          </a:p>
          <a:p>
            <a:pPr marL="1028700" marR="0" lvl="1" indent="-571500" defTabSz="914400" rtl="0" eaLnBrk="1" fontAlgn="auto" latinLnBrk="0" hangingPunct="1">
              <a:lnSpc>
                <a:spcPct val="90000"/>
              </a:lnSpc>
              <a:spcBef>
                <a:spcPts val="1000"/>
              </a:spcBef>
              <a:spcAft>
                <a:spcPts val="0"/>
              </a:spcAft>
              <a:buClr>
                <a:schemeClr val="accent2"/>
              </a:buClr>
              <a:buSzTx/>
              <a:buFont typeface="Wingdings" panose="05000000000000000000" charset="0"/>
              <a:buChar char="Ø"/>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2371725"/>
            <a:ext cx="330898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4007485" y="188595"/>
            <a:ext cx="473075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第三章	栈和队列</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栈的一个重要应用是在程序设计语言中实现递归调用。</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一个函数(或过程)直接或间接地调用自己本身，简称递归(Recursive)。</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latinLnBrk="0">
              <a:lnSpc>
                <a:spcPct val="100000"/>
              </a:lnSpc>
              <a:spcBef>
                <a:spcPct val="20000"/>
              </a:spcBef>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递归能把一个大型复杂的问题层层转化为一个与原问题相似的规模较小的问题来求解，递归策略只需少量的程序就可描述出解题过程所需要的多次重复计算，大大地减少了程序的代码量调用</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endParaRPr>
          </a:p>
          <a:p>
            <a:pPr marL="914400" lvl="2" indent="-457200" algn="l" eaLnBrk="1" hangingPunct="1">
              <a:buClrTx/>
              <a:buSzTx/>
              <a:buFont typeface="Arial" panose="020B0604020202020204" pitchFamily="34" charset="0"/>
              <a:buChar char="•"/>
            </a:pPr>
            <a:endParaRPr lang="zh-CN" altLang="en-US" sz="20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3.3 栈与递归实现</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1703705" y="2476500"/>
            <a:ext cx="2724150" cy="1828800"/>
          </a:xfrm>
          <a:prstGeom prst="rect">
            <a:avLst/>
          </a:prstGeom>
        </p:spPr>
      </p:pic>
      <p:pic>
        <p:nvPicPr>
          <p:cNvPr id="6" name="图片 5"/>
          <p:cNvPicPr>
            <a:picLocks noChangeAspect="1"/>
          </p:cNvPicPr>
          <p:nvPr/>
        </p:nvPicPr>
        <p:blipFill>
          <a:blip r:embed="rId2"/>
          <a:stretch>
            <a:fillRect/>
          </a:stretch>
        </p:blipFill>
        <p:spPr>
          <a:xfrm>
            <a:off x="5951855" y="2375535"/>
            <a:ext cx="4109720" cy="1929765"/>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dirty="0">
                <a:latin typeface="黑体" panose="02010609060101010101" pitchFamily="2" charset="-122"/>
                <a:ea typeface="黑体" panose="02010609060101010101" pitchFamily="2" charset="-122"/>
                <a:cs typeface="+mn-cs"/>
                <a:sym typeface="+mn-ea"/>
              </a:rPr>
              <a:t>中国知名学者周海中教授指出，递归（recursion）是递归论（recursive theory）中的一个术语。而递归论却是数理逻辑中研究可计算理论的分支。</a:t>
            </a:r>
            <a:endParaRPr lang="zh-CN" altLang="en-US"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dirty="0">
                <a:latin typeface="黑体" panose="02010609060101010101" pitchFamily="2" charset="-122"/>
                <a:ea typeface="黑体" panose="02010609060101010101" pitchFamily="2" charset="-122"/>
                <a:cs typeface="+mn-cs"/>
                <a:sym typeface="+mn-ea"/>
              </a:rPr>
              <a:t>递归论通过对数论的研究，深刻揭示能行过程的本质，从而有力地解决许多重要的数学问题。它对函数值的计算往往回归到已知值而求出，故名递归论。</a:t>
            </a:r>
            <a:endParaRPr lang="zh-CN" altLang="en-US"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0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3.3 栈与递归实现</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7" name="图片 6"/>
          <p:cNvPicPr>
            <a:picLocks noChangeAspect="1"/>
          </p:cNvPicPr>
          <p:nvPr/>
        </p:nvPicPr>
        <p:blipFill>
          <a:blip r:embed="rId1"/>
          <a:stretch>
            <a:fillRect/>
          </a:stretch>
        </p:blipFill>
        <p:spPr>
          <a:xfrm>
            <a:off x="3647440" y="2636520"/>
            <a:ext cx="4610735" cy="368427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为保证递归调用正确执行，系统设立一个“递归工作栈”，作为整个递归调用过程期间使用的数据存储区。</a:t>
            </a:r>
            <a:endParaRPr lang="zh-CN" altLang="en-US" sz="28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en-US" altLang="zh-CN" sz="2800" dirty="0">
                <a:latin typeface="黑体" panose="02010609060101010101" pitchFamily="2" charset="-122"/>
                <a:ea typeface="黑体" panose="02010609060101010101" pitchFamily="2" charset="-122"/>
                <a:cs typeface="+mn-cs"/>
                <a:sym typeface="+mn-ea"/>
              </a:rPr>
              <a:t>每一层递归包含的信息如：参数、局部变量、上一层的返回地址构成一个“工作记录” 。每进入一层递归，就产生一个新的工作记录压入栈顶；每退出一层递归，就从栈顶弹出一个工作记录。</a:t>
            </a:r>
            <a:endParaRPr lang="en-US" altLang="zh-CN" sz="2800" dirty="0">
              <a:latin typeface="黑体" panose="02010609060101010101" pitchFamily="2" charset="-122"/>
              <a:ea typeface="黑体" panose="02010609060101010101" pitchFamily="2" charset="-122"/>
              <a:cs typeface="+mn-cs"/>
            </a:endParaRPr>
          </a:p>
          <a:p>
            <a:pPr marL="914400" lvl="2" indent="-457200" algn="l" eaLnBrk="1" hangingPunct="1">
              <a:buClrTx/>
              <a:buSzTx/>
              <a:buFont typeface="Arial" panose="020B0604020202020204" pitchFamily="34" charset="0"/>
              <a:buChar char="•"/>
            </a:pPr>
            <a:endParaRPr lang="zh-CN" altLang="en-US" sz="20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3.3 栈与递归实现</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递归经典应用：求n!</a:t>
            </a:r>
            <a:endParaRPr lang="zh-CN" altLang="en-US" sz="2800" dirty="0">
              <a:latin typeface="黑体" panose="02010609060101010101" pitchFamily="2" charset="-122"/>
              <a:ea typeface="黑体" panose="02010609060101010101" pitchFamily="2" charset="-122"/>
              <a:cs typeface="+mn-cs"/>
              <a:sym typeface="+mn-ea"/>
            </a:endParaRPr>
          </a:p>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cs typeface="+mn-cs"/>
                <a:sym typeface="+mn-ea"/>
              </a:rPr>
              <a:t>递归过程分析</a:t>
            </a:r>
            <a:endParaRPr lang="zh-CN" altLang="en-US" sz="2800" dirty="0">
              <a:latin typeface="黑体" panose="02010609060101010101" pitchFamily="2" charset="-122"/>
              <a:ea typeface="黑体" panose="02010609060101010101" pitchFamily="2" charset="-122"/>
              <a:cs typeface="+mn-cs"/>
              <a:sym typeface="+mn-ea"/>
            </a:endParaRPr>
          </a:p>
          <a:p>
            <a:pPr marL="0" lvl="1" indent="0" algn="l" eaLnBrk="1" latinLnBrk="0" hangingPunct="1">
              <a:spcBef>
                <a:spcPts val="0"/>
              </a:spcBef>
              <a:buClrTx/>
              <a:buSzTx/>
              <a:buFont typeface="Wingdings" panose="05000000000000000000" charset="0"/>
              <a:buNone/>
            </a:pPr>
            <a:endParaRPr lang="zh-CN" altLang="en-US" sz="2800" dirty="0">
              <a:latin typeface="黑体" panose="02010609060101010101" pitchFamily="2" charset="-122"/>
              <a:ea typeface="黑体" panose="02010609060101010101" pitchFamily="2" charset="-122"/>
              <a:cs typeface="+mn-cs"/>
            </a:endParaRPr>
          </a:p>
          <a:p>
            <a:pPr marL="914400" lvl="2" indent="-457200" algn="l" eaLnBrk="1" hangingPunct="1">
              <a:buClrTx/>
              <a:buSzTx/>
              <a:buFont typeface="Arial" panose="020B0604020202020204" pitchFamily="34" charset="0"/>
              <a:buChar char="•"/>
            </a:pPr>
            <a:endParaRPr lang="zh-CN" altLang="en-US" sz="20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3.3 栈与递归实现</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583565" y="2059940"/>
            <a:ext cx="7133590" cy="4638675"/>
          </a:xfrm>
          <a:prstGeom prst="rect">
            <a:avLst/>
          </a:prstGeom>
        </p:spPr>
      </p:pic>
      <p:sp>
        <p:nvSpPr>
          <p:cNvPr id="6" name="文本框 5"/>
          <p:cNvSpPr txBox="1"/>
          <p:nvPr/>
        </p:nvSpPr>
        <p:spPr>
          <a:xfrm>
            <a:off x="8138795" y="548640"/>
            <a:ext cx="3818890" cy="3107690"/>
          </a:xfrm>
          <a:prstGeom prst="rect">
            <a:avLst/>
          </a:prstGeom>
        </p:spPr>
        <p:txBody>
          <a:bodyPr vert="horz" wrap="square" lIns="91440" tIns="45720" rIns="91440" bIns="45720" rtlCol="0" anchor="t">
            <a:spAutoFit/>
          </a:bodyPr>
          <a:p>
            <a:pPr marL="0" indent="0" eaLnBrk="1" latinLnBrk="0" hangingPunct="1">
              <a:spcBef>
                <a:spcPts val="0"/>
              </a:spcBef>
              <a:buFont typeface="Wingdings" panose="05000000000000000000" pitchFamily="2" charset="2"/>
              <a:buNone/>
            </a:pPr>
            <a:r>
              <a:rPr lang="en-US" altLang="zh-CN" sz="2800" b="1" dirty="0">
                <a:latin typeface="黑体" panose="02010609060101010101" pitchFamily="2" charset="-122"/>
                <a:ea typeface="黑体" panose="02010609060101010101" pitchFamily="2" charset="-122"/>
                <a:sym typeface="+mn-ea"/>
              </a:rPr>
              <a:t>int fac(n)</a:t>
            </a:r>
            <a:endParaRPr lang="en-US" altLang="zh-CN" sz="2800" b="1" dirty="0">
              <a:latin typeface="黑体" panose="02010609060101010101" pitchFamily="2" charset="-122"/>
              <a:ea typeface="黑体" panose="02010609060101010101" pitchFamily="2" charset="-122"/>
            </a:endParaRPr>
          </a:p>
          <a:p>
            <a:pPr marL="0" indent="0" eaLnBrk="1" latinLnBrk="0" hangingPunct="1">
              <a:spcBef>
                <a:spcPts val="0"/>
              </a:spcBef>
              <a:buFont typeface="Wingdings" panose="05000000000000000000" pitchFamily="2" charset="2"/>
              <a:buNone/>
            </a:pPr>
            <a:r>
              <a:rPr lang="en-US" altLang="zh-CN" sz="2800" b="1" dirty="0">
                <a:latin typeface="黑体" panose="02010609060101010101" pitchFamily="2" charset="-122"/>
                <a:ea typeface="黑体" panose="02010609060101010101" pitchFamily="2" charset="-122"/>
                <a:sym typeface="+mn-ea"/>
              </a:rPr>
              <a:t>{ int res=n;</a:t>
            </a:r>
            <a:endParaRPr lang="en-US" altLang="zh-CN" sz="2800" b="1" dirty="0">
              <a:latin typeface="黑体" panose="02010609060101010101" pitchFamily="2" charset="-122"/>
              <a:ea typeface="黑体" panose="02010609060101010101" pitchFamily="2" charset="-122"/>
            </a:endParaRPr>
          </a:p>
          <a:p>
            <a:pPr marL="0" indent="0" eaLnBrk="1" latinLnBrk="0" hangingPunct="1">
              <a:spcBef>
                <a:spcPts val="0"/>
              </a:spcBef>
              <a:buFont typeface="Wingdings" panose="05000000000000000000" pitchFamily="2" charset="2"/>
              <a:buNone/>
            </a:pPr>
            <a:r>
              <a:rPr lang="en-US" altLang="zh-CN" sz="2800" b="1" dirty="0">
                <a:latin typeface="黑体" panose="02010609060101010101" pitchFamily="2" charset="-122"/>
                <a:ea typeface="黑体" panose="02010609060101010101" pitchFamily="2" charset="-122"/>
                <a:sym typeface="+mn-ea"/>
              </a:rPr>
              <a:t>  if (n==1) return 1;</a:t>
            </a:r>
            <a:endParaRPr lang="en-US" altLang="zh-CN" sz="2800" b="1" dirty="0">
              <a:latin typeface="黑体" panose="02010609060101010101" pitchFamily="2" charset="-122"/>
              <a:ea typeface="黑体" panose="02010609060101010101" pitchFamily="2" charset="-122"/>
            </a:endParaRPr>
          </a:p>
          <a:p>
            <a:pPr marL="0" indent="0" eaLnBrk="1" latinLnBrk="0" hangingPunct="1">
              <a:spcBef>
                <a:spcPts val="0"/>
              </a:spcBef>
              <a:buFont typeface="Wingdings" panose="05000000000000000000" pitchFamily="2" charset="2"/>
              <a:buNone/>
            </a:pPr>
            <a:r>
              <a:rPr lang="en-US" altLang="zh-CN" sz="2800" b="1" dirty="0">
                <a:latin typeface="黑体" panose="02010609060101010101" pitchFamily="2" charset="-122"/>
                <a:ea typeface="黑体" panose="02010609060101010101" pitchFamily="2" charset="-122"/>
                <a:sym typeface="+mn-ea"/>
              </a:rPr>
              <a:t>  else</a:t>
            </a:r>
            <a:endParaRPr lang="en-US" altLang="zh-CN" sz="2800" b="1" dirty="0">
              <a:latin typeface="黑体" panose="02010609060101010101" pitchFamily="2" charset="-122"/>
              <a:ea typeface="黑体" panose="02010609060101010101" pitchFamily="2" charset="-122"/>
            </a:endParaRPr>
          </a:p>
          <a:p>
            <a:pPr marL="0" indent="0" eaLnBrk="1" latinLnBrk="0" hangingPunct="1">
              <a:spcBef>
                <a:spcPts val="0"/>
              </a:spcBef>
              <a:buFont typeface="Wingdings" panose="05000000000000000000" pitchFamily="2" charset="2"/>
              <a:buNone/>
            </a:pPr>
            <a:r>
              <a:rPr lang="en-US" altLang="zh-CN" sz="2800" b="1" dirty="0">
                <a:latin typeface="黑体" panose="02010609060101010101" pitchFamily="2" charset="-122"/>
                <a:ea typeface="黑体" panose="02010609060101010101" pitchFamily="2" charset="-122"/>
                <a:sym typeface="+mn-ea"/>
              </a:rPr>
              <a:t>    res=res*fac(n-1);</a:t>
            </a:r>
            <a:endParaRPr lang="en-US" altLang="zh-CN" sz="2800" b="1" dirty="0">
              <a:latin typeface="黑体" panose="02010609060101010101" pitchFamily="2" charset="-122"/>
              <a:ea typeface="黑体" panose="02010609060101010101" pitchFamily="2" charset="-122"/>
            </a:endParaRPr>
          </a:p>
          <a:p>
            <a:pPr marL="0" indent="0" eaLnBrk="1" latinLnBrk="0" hangingPunct="1">
              <a:spcBef>
                <a:spcPts val="0"/>
              </a:spcBef>
              <a:buFont typeface="Wingdings" panose="05000000000000000000" pitchFamily="2" charset="2"/>
              <a:buNone/>
            </a:pPr>
            <a:r>
              <a:rPr lang="en-US" altLang="zh-CN" sz="2800" b="1" dirty="0">
                <a:latin typeface="黑体" panose="02010609060101010101" pitchFamily="2" charset="-122"/>
                <a:ea typeface="黑体" panose="02010609060101010101" pitchFamily="2" charset="-122"/>
                <a:sym typeface="+mn-ea"/>
              </a:rPr>
              <a:t>  return res;</a:t>
            </a:r>
            <a:endParaRPr lang="en-US" altLang="zh-CN" sz="2800" b="1" dirty="0">
              <a:latin typeface="黑体" panose="02010609060101010101" pitchFamily="2" charset="-122"/>
              <a:ea typeface="黑体" panose="02010609060101010101" pitchFamily="2" charset="-122"/>
            </a:endParaRPr>
          </a:p>
          <a:p>
            <a:pPr marL="0" indent="0" eaLnBrk="1" latinLnBrk="0" hangingPunct="1">
              <a:spcBef>
                <a:spcPts val="0"/>
              </a:spcBef>
              <a:buFont typeface="Wingdings" panose="05000000000000000000" pitchFamily="2" charset="2"/>
              <a:buNone/>
            </a:pPr>
            <a:r>
              <a:rPr lang="en-US" altLang="zh-CN" sz="2800" b="1" dirty="0">
                <a:latin typeface="黑体" panose="02010609060101010101" pitchFamily="2" charset="-122"/>
                <a:ea typeface="黑体" panose="02010609060101010101" pitchFamily="2" charset="-122"/>
                <a:sym typeface="+mn-ea"/>
              </a:rPr>
              <a:t>}</a:t>
            </a:r>
            <a:endParaRPr lang="en-US" altLang="zh-CN" sz="2800" b="1" dirty="0">
              <a:latin typeface="黑体" panose="02010609060101010101" pitchFamily="2" charset="-122"/>
              <a:ea typeface="黑体" panose="02010609060101010101" pitchFamily="2"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递归的经典应用，斐波那契数列</a:t>
            </a:r>
            <a:endParaRPr lang="zh-CN" altLang="en-US" sz="28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en-US" altLang="zh-CN" sz="2400" dirty="0">
                <a:latin typeface="黑体" panose="02010609060101010101" pitchFamily="2" charset="-122"/>
                <a:ea typeface="黑体" panose="02010609060101010101" pitchFamily="2" charset="-122"/>
                <a:cs typeface="+mn-cs"/>
                <a:sym typeface="+mn-ea"/>
              </a:rPr>
              <a:t>斐波纳契数列，又称黄金分割数列，指的是这样一个数列：1、1、2、3、5、8、13、21、……这个数列从第三项开始，每一项都等于前两项之和。</a:t>
            </a:r>
            <a:endParaRPr lang="en-US" altLang="zh-CN" sz="24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en-US" altLang="zh-CN"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3.3 栈与递归实现</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8373" name="Picture 2"/>
          <p:cNvPicPr>
            <a:picLocks noChangeAspect="1"/>
          </p:cNvPicPr>
          <p:nvPr/>
        </p:nvPicPr>
        <p:blipFill>
          <a:blip r:embed="rId1"/>
          <a:stretch>
            <a:fillRect/>
          </a:stretch>
        </p:blipFill>
        <p:spPr>
          <a:xfrm>
            <a:off x="2927350" y="2277110"/>
            <a:ext cx="4618990" cy="4400550"/>
          </a:xfrm>
          <a:prstGeom prst="rect">
            <a:avLst/>
          </a:prstGeom>
          <a:noFill/>
          <a:ln w="9525">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递归的经典应用，汉诺塔（</a:t>
            </a:r>
            <a:r>
              <a:rPr lang="en-US" altLang="zh-CN" sz="2800" dirty="0">
                <a:latin typeface="黑体" panose="02010609060101010101" pitchFamily="2" charset="-122"/>
                <a:ea typeface="黑体" panose="02010609060101010101" pitchFamily="2" charset="-122"/>
                <a:cs typeface="+mn-cs"/>
                <a:sym typeface="+mn-ea"/>
              </a:rPr>
              <a:t>Hanoi</a:t>
            </a:r>
            <a:r>
              <a:rPr lang="zh-CN" altLang="en-US" sz="2800" dirty="0">
                <a:latin typeface="黑体" panose="02010609060101010101" pitchFamily="2" charset="-122"/>
                <a:ea typeface="黑体" panose="02010609060101010101" pitchFamily="2" charset="-122"/>
                <a:cs typeface="+mn-cs"/>
                <a:sym typeface="+mn-ea"/>
              </a:rPr>
              <a:t>塔问题）</a:t>
            </a:r>
            <a:endParaRPr lang="zh-CN" altLang="en-US" sz="28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en-US" altLang="zh-CN" sz="2400" dirty="0">
                <a:latin typeface="黑体" panose="02010609060101010101" pitchFamily="2" charset="-122"/>
                <a:ea typeface="黑体" panose="02010609060101010101" pitchFamily="2" charset="-122"/>
                <a:cs typeface="+mn-cs"/>
              </a:rPr>
              <a:t>n</a:t>
            </a:r>
            <a:r>
              <a:rPr lang="zh-CN" altLang="en-US" sz="2400" dirty="0">
                <a:latin typeface="黑体" panose="02010609060101010101" pitchFamily="2" charset="-122"/>
                <a:ea typeface="黑体" panose="02010609060101010101" pitchFamily="2" charset="-122"/>
                <a:cs typeface="+mn-cs"/>
              </a:rPr>
              <a:t>个圆盘从小到大、从上往下编号，要求从</a:t>
            </a:r>
            <a:r>
              <a:rPr lang="en-US" altLang="zh-CN" sz="2400" dirty="0">
                <a:latin typeface="黑体" panose="02010609060101010101" pitchFamily="2" charset="-122"/>
                <a:ea typeface="黑体" panose="02010609060101010101" pitchFamily="2" charset="-122"/>
                <a:cs typeface="+mn-cs"/>
              </a:rPr>
              <a:t>n</a:t>
            </a:r>
            <a:r>
              <a:rPr lang="zh-CN" altLang="en-US" sz="2400" dirty="0">
                <a:latin typeface="黑体" panose="02010609060101010101" pitchFamily="2" charset="-122"/>
                <a:ea typeface="黑体" panose="02010609060101010101" pitchFamily="2" charset="-122"/>
                <a:cs typeface="+mn-cs"/>
              </a:rPr>
              <a:t>个圆盘从</a:t>
            </a:r>
            <a:r>
              <a:rPr lang="en-US" altLang="zh-CN" sz="2400" dirty="0">
                <a:latin typeface="黑体" panose="02010609060101010101" pitchFamily="2" charset="-122"/>
                <a:ea typeface="黑体" panose="02010609060101010101" pitchFamily="2" charset="-122"/>
                <a:cs typeface="+mn-cs"/>
              </a:rPr>
              <a:t>X</a:t>
            </a:r>
            <a:r>
              <a:rPr lang="zh-CN" altLang="en-US" sz="2400" dirty="0">
                <a:latin typeface="黑体" panose="02010609060101010101" pitchFamily="2" charset="-122"/>
                <a:ea typeface="黑体" panose="02010609060101010101" pitchFamily="2" charset="-122"/>
                <a:cs typeface="+mn-cs"/>
              </a:rPr>
              <a:t>柱搬到</a:t>
            </a:r>
            <a:r>
              <a:rPr lang="en-US" altLang="zh-CN" sz="2400" dirty="0">
                <a:latin typeface="黑体" panose="02010609060101010101" pitchFamily="2" charset="-122"/>
                <a:ea typeface="黑体" panose="02010609060101010101" pitchFamily="2" charset="-122"/>
                <a:cs typeface="+mn-cs"/>
              </a:rPr>
              <a:t>Z</a:t>
            </a:r>
            <a:r>
              <a:rPr lang="zh-CN" altLang="en-US" sz="2400" dirty="0">
                <a:latin typeface="黑体" panose="02010609060101010101" pitchFamily="2" charset="-122"/>
                <a:ea typeface="黑体" panose="02010609060101010101" pitchFamily="2" charset="-122"/>
                <a:cs typeface="+mn-cs"/>
              </a:rPr>
              <a:t>柱</a:t>
            </a:r>
            <a:endParaRPr lang="zh-CN" altLang="en-US" sz="24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zh-CN" altLang="en-US" sz="2400" dirty="0">
                <a:latin typeface="黑体" panose="02010609060101010101" pitchFamily="2" charset="-122"/>
                <a:ea typeface="黑体" panose="02010609060101010101" pitchFamily="2" charset="-122"/>
                <a:cs typeface="+mn-cs"/>
              </a:rPr>
              <a:t>圆盘可以移动要任何塔柱</a:t>
            </a:r>
            <a:endParaRPr lang="zh-CN" altLang="en-US" sz="24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zh-CN" altLang="en-US" sz="2400" dirty="0">
                <a:latin typeface="黑体" panose="02010609060101010101" pitchFamily="2" charset="-122"/>
                <a:ea typeface="黑体" panose="02010609060101010101" pitchFamily="2" charset="-122"/>
                <a:cs typeface="+mn-cs"/>
              </a:rPr>
              <a:t>任何时刻不允许出现大编号圆盘在小编号圆盘上方</a:t>
            </a:r>
            <a:endParaRPr lang="zh-CN" altLang="en-US" sz="24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endParaRPr lang="en-US" altLang="zh-CN" sz="24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en-US" altLang="zh-CN"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3.3 栈与递归实现</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6" name="对象 5"/>
          <p:cNvGraphicFramePr/>
          <p:nvPr/>
        </p:nvGraphicFramePr>
        <p:xfrm>
          <a:off x="1487805" y="2853055"/>
          <a:ext cx="8436610" cy="3431540"/>
        </p:xfrm>
        <a:graphic>
          <a:graphicData uri="http://schemas.openxmlformats.org/presentationml/2006/ole">
            <mc:AlternateContent xmlns:mc="http://schemas.openxmlformats.org/markup-compatibility/2006">
              <mc:Choice xmlns:v="urn:schemas-microsoft-com:vml" Requires="v">
                <p:oleObj spid="_x0000_s7" name="" r:id="rId1" imgW="8429625" imgH="3429000" progId="Paint.Picture">
                  <p:embed/>
                </p:oleObj>
              </mc:Choice>
              <mc:Fallback>
                <p:oleObj name="" r:id="rId1" imgW="8429625" imgH="3429000" progId="Paint.Picture">
                  <p:embed/>
                  <p:pic>
                    <p:nvPicPr>
                      <p:cNvPr id="0" name="图片 6"/>
                      <p:cNvPicPr/>
                      <p:nvPr/>
                    </p:nvPicPr>
                    <p:blipFill>
                      <a:blip r:embed="rId2"/>
                      <a:stretch>
                        <a:fillRect/>
                      </a:stretch>
                    </p:blipFill>
                    <p:spPr>
                      <a:xfrm>
                        <a:off x="1487805" y="2853055"/>
                        <a:ext cx="8436610" cy="3431540"/>
                      </a:xfrm>
                      <a:prstGeom prst="rect">
                        <a:avLst/>
                      </a:prstGeom>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递归的经典应用，汉诺塔的递归算法</a:t>
            </a:r>
            <a:r>
              <a:rPr lang="en-US" altLang="zh-CN" sz="2800" dirty="0">
                <a:latin typeface="黑体" panose="02010609060101010101" pitchFamily="2" charset="-122"/>
                <a:ea typeface="黑体" panose="02010609060101010101" pitchFamily="2" charset="-122"/>
                <a:cs typeface="+mn-cs"/>
                <a:sym typeface="+mn-ea"/>
              </a:rPr>
              <a:t>Hanoi(n)</a:t>
            </a:r>
            <a:endParaRPr lang="zh-CN" altLang="en-US" sz="28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zh-CN" altLang="en-US" sz="2400" dirty="0">
                <a:latin typeface="黑体" panose="02010609060101010101" pitchFamily="2" charset="-122"/>
                <a:ea typeface="黑体" panose="02010609060101010101" pitchFamily="2" charset="-122"/>
                <a:cs typeface="+mn-cs"/>
              </a:rPr>
              <a:t>第一步：先把</a:t>
            </a:r>
            <a:r>
              <a:rPr lang="en-US" altLang="zh-CN" sz="2400" dirty="0">
                <a:latin typeface="黑体" panose="02010609060101010101" pitchFamily="2" charset="-122"/>
                <a:ea typeface="黑体" panose="02010609060101010101" pitchFamily="2" charset="-122"/>
                <a:cs typeface="+mn-cs"/>
              </a:rPr>
              <a:t>n-1</a:t>
            </a:r>
            <a:r>
              <a:rPr lang="zh-CN" altLang="en-US" sz="2400" dirty="0">
                <a:latin typeface="黑体" panose="02010609060101010101" pitchFamily="2" charset="-122"/>
                <a:ea typeface="黑体" panose="02010609060101010101" pitchFamily="2" charset="-122"/>
                <a:cs typeface="+mn-cs"/>
              </a:rPr>
              <a:t>个圆盘从</a:t>
            </a:r>
            <a:r>
              <a:rPr lang="en-US" altLang="zh-CN" sz="2400" dirty="0">
                <a:latin typeface="黑体" panose="02010609060101010101" pitchFamily="2" charset="-122"/>
                <a:ea typeface="黑体" panose="02010609060101010101" pitchFamily="2" charset="-122"/>
                <a:cs typeface="+mn-cs"/>
              </a:rPr>
              <a:t>X</a:t>
            </a:r>
            <a:r>
              <a:rPr lang="zh-CN" altLang="en-US" sz="2400" dirty="0">
                <a:latin typeface="黑体" panose="02010609060101010101" pitchFamily="2" charset="-122"/>
                <a:ea typeface="黑体" panose="02010609060101010101" pitchFamily="2" charset="-122"/>
                <a:cs typeface="+mn-cs"/>
              </a:rPr>
              <a:t>柱搬到</a:t>
            </a:r>
            <a:r>
              <a:rPr lang="en-US" altLang="zh-CN" sz="2400" dirty="0">
                <a:latin typeface="黑体" panose="02010609060101010101" pitchFamily="2" charset="-122"/>
                <a:ea typeface="黑体" panose="02010609060101010101" pitchFamily="2" charset="-122"/>
                <a:cs typeface="+mn-cs"/>
              </a:rPr>
              <a:t>Y</a:t>
            </a:r>
            <a:r>
              <a:rPr lang="zh-CN" altLang="en-US" sz="2400" dirty="0">
                <a:latin typeface="黑体" panose="02010609060101010101" pitchFamily="2" charset="-122"/>
                <a:ea typeface="黑体" panose="02010609060101010101" pitchFamily="2" charset="-122"/>
                <a:cs typeface="+mn-cs"/>
              </a:rPr>
              <a:t>柱（具体实现未知，由</a:t>
            </a:r>
            <a:r>
              <a:rPr lang="en-US" altLang="zh-CN" sz="2400" dirty="0">
                <a:latin typeface="黑体" panose="02010609060101010101" pitchFamily="2" charset="-122"/>
                <a:ea typeface="黑体" panose="02010609060101010101" pitchFamily="2" charset="-122"/>
                <a:cs typeface="+mn-cs"/>
              </a:rPr>
              <a:t>Hanoi(n-1)</a:t>
            </a:r>
            <a:r>
              <a:rPr lang="zh-CN" altLang="en-US" sz="2400" dirty="0">
                <a:latin typeface="黑体" panose="02010609060101010101" pitchFamily="2" charset="-122"/>
                <a:ea typeface="黑体" panose="02010609060101010101" pitchFamily="2" charset="-122"/>
                <a:cs typeface="+mn-cs"/>
              </a:rPr>
              <a:t>实现）</a:t>
            </a:r>
            <a:endParaRPr lang="zh-CN" altLang="en-US" sz="24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zh-CN" altLang="en-US" sz="2400" dirty="0">
                <a:latin typeface="黑体" panose="02010609060101010101" pitchFamily="2" charset="-122"/>
                <a:ea typeface="黑体" panose="02010609060101010101" pitchFamily="2" charset="-122"/>
                <a:cs typeface="+mn-cs"/>
              </a:rPr>
              <a:t>第二步：把第</a:t>
            </a:r>
            <a:r>
              <a:rPr lang="en-US" altLang="zh-CN" sz="2400" dirty="0">
                <a:latin typeface="黑体" panose="02010609060101010101" pitchFamily="2" charset="-122"/>
                <a:ea typeface="黑体" panose="02010609060101010101" pitchFamily="2" charset="-122"/>
                <a:cs typeface="+mn-cs"/>
              </a:rPr>
              <a:t>n</a:t>
            </a:r>
            <a:r>
              <a:rPr lang="zh-CN" altLang="en-US" sz="2400" dirty="0">
                <a:latin typeface="黑体" panose="02010609060101010101" pitchFamily="2" charset="-122"/>
                <a:ea typeface="黑体" panose="02010609060101010101" pitchFamily="2" charset="-122"/>
                <a:cs typeface="+mn-cs"/>
              </a:rPr>
              <a:t>个圆盘从</a:t>
            </a:r>
            <a:r>
              <a:rPr lang="en-US" altLang="zh-CN" sz="2400" dirty="0">
                <a:latin typeface="黑体" panose="02010609060101010101" pitchFamily="2" charset="-122"/>
                <a:ea typeface="黑体" panose="02010609060101010101" pitchFamily="2" charset="-122"/>
                <a:cs typeface="+mn-cs"/>
              </a:rPr>
              <a:t>X</a:t>
            </a:r>
            <a:r>
              <a:rPr lang="zh-CN" altLang="en-US" sz="2400" dirty="0">
                <a:latin typeface="黑体" panose="02010609060101010101" pitchFamily="2" charset="-122"/>
                <a:ea typeface="黑体" panose="02010609060101010101" pitchFamily="2" charset="-122"/>
                <a:cs typeface="+mn-cs"/>
                <a:sym typeface="+mn-ea"/>
              </a:rPr>
              <a:t>柱搬到</a:t>
            </a:r>
            <a:r>
              <a:rPr lang="en-US" altLang="zh-CN" sz="2400" dirty="0">
                <a:latin typeface="黑体" panose="02010609060101010101" pitchFamily="2" charset="-122"/>
                <a:ea typeface="黑体" panose="02010609060101010101" pitchFamily="2" charset="-122"/>
                <a:cs typeface="+mn-cs"/>
                <a:sym typeface="+mn-ea"/>
              </a:rPr>
              <a:t>Z</a:t>
            </a:r>
            <a:r>
              <a:rPr lang="zh-CN" altLang="en-US" sz="2400" dirty="0">
                <a:latin typeface="黑体" panose="02010609060101010101" pitchFamily="2" charset="-122"/>
                <a:ea typeface="黑体" panose="02010609060101010101" pitchFamily="2" charset="-122"/>
                <a:cs typeface="+mn-cs"/>
                <a:sym typeface="+mn-ea"/>
              </a:rPr>
              <a:t>柱（这一步已知，用</a:t>
            </a:r>
            <a:r>
              <a:rPr lang="en-US" altLang="zh-CN" sz="2400" dirty="0">
                <a:latin typeface="黑体" panose="02010609060101010101" pitchFamily="2" charset="-122"/>
                <a:ea typeface="黑体" panose="02010609060101010101" pitchFamily="2" charset="-122"/>
                <a:cs typeface="+mn-cs"/>
                <a:sym typeface="+mn-ea"/>
              </a:rPr>
              <a:t>move</a:t>
            </a:r>
            <a:r>
              <a:rPr lang="zh-CN" altLang="en-US" sz="2400" dirty="0">
                <a:latin typeface="黑体" panose="02010609060101010101" pitchFamily="2" charset="-122"/>
                <a:ea typeface="黑体" panose="02010609060101010101" pitchFamily="2" charset="-122"/>
                <a:cs typeface="+mn-cs"/>
                <a:sym typeface="+mn-ea"/>
              </a:rPr>
              <a:t>函数实现）</a:t>
            </a: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第三步：把</a:t>
            </a:r>
            <a:r>
              <a:rPr lang="en-US" altLang="zh-CN" sz="2400" dirty="0">
                <a:latin typeface="黑体" panose="02010609060101010101" pitchFamily="2" charset="-122"/>
                <a:ea typeface="黑体" panose="02010609060101010101" pitchFamily="2" charset="-122"/>
                <a:cs typeface="+mn-cs"/>
                <a:sym typeface="+mn-ea"/>
              </a:rPr>
              <a:t>n-1</a:t>
            </a:r>
            <a:r>
              <a:rPr lang="zh-CN" altLang="en-US" sz="2400" dirty="0">
                <a:latin typeface="黑体" panose="02010609060101010101" pitchFamily="2" charset="-122"/>
                <a:ea typeface="黑体" panose="02010609060101010101" pitchFamily="2" charset="-122"/>
                <a:cs typeface="+mn-cs"/>
                <a:sym typeface="+mn-ea"/>
              </a:rPr>
              <a:t>个圆盘从</a:t>
            </a:r>
            <a:r>
              <a:rPr lang="en-US" altLang="zh-CN" sz="2400" dirty="0">
                <a:latin typeface="黑体" panose="02010609060101010101" pitchFamily="2" charset="-122"/>
                <a:ea typeface="黑体" panose="02010609060101010101" pitchFamily="2" charset="-122"/>
                <a:cs typeface="+mn-cs"/>
                <a:sym typeface="+mn-ea"/>
              </a:rPr>
              <a:t>Y</a:t>
            </a:r>
            <a:r>
              <a:rPr lang="zh-CN" altLang="en-US" sz="2400" dirty="0">
                <a:latin typeface="黑体" panose="02010609060101010101" pitchFamily="2" charset="-122"/>
                <a:ea typeface="黑体" panose="02010609060101010101" pitchFamily="2" charset="-122"/>
                <a:cs typeface="+mn-cs"/>
                <a:sym typeface="+mn-ea"/>
              </a:rPr>
              <a:t>柱搬到</a:t>
            </a:r>
            <a:r>
              <a:rPr lang="en-US" altLang="zh-CN" sz="2400" dirty="0">
                <a:latin typeface="黑体" panose="02010609060101010101" pitchFamily="2" charset="-122"/>
                <a:ea typeface="黑体" panose="02010609060101010101" pitchFamily="2" charset="-122"/>
                <a:cs typeface="+mn-cs"/>
                <a:sym typeface="+mn-ea"/>
              </a:rPr>
              <a:t>Z</a:t>
            </a:r>
            <a:r>
              <a:rPr lang="zh-CN" altLang="en-US" sz="2400" dirty="0">
                <a:latin typeface="黑体" panose="02010609060101010101" pitchFamily="2" charset="-122"/>
                <a:ea typeface="黑体" panose="02010609060101010101" pitchFamily="2" charset="-122"/>
                <a:cs typeface="+mn-cs"/>
                <a:sym typeface="+mn-ea"/>
              </a:rPr>
              <a:t>柱（具体实现未知，由</a:t>
            </a:r>
            <a:r>
              <a:rPr lang="en-US" altLang="zh-CN" sz="2400" dirty="0">
                <a:latin typeface="黑体" panose="02010609060101010101" pitchFamily="2" charset="-122"/>
                <a:ea typeface="黑体" panose="02010609060101010101" pitchFamily="2" charset="-122"/>
                <a:cs typeface="+mn-cs"/>
                <a:sym typeface="+mn-ea"/>
              </a:rPr>
              <a:t>Hanoi(n-1)</a:t>
            </a:r>
            <a:r>
              <a:rPr lang="zh-CN" altLang="en-US" sz="2400" dirty="0">
                <a:latin typeface="黑体" panose="02010609060101010101" pitchFamily="2" charset="-122"/>
                <a:ea typeface="黑体" panose="02010609060101010101" pitchFamily="2" charset="-122"/>
                <a:cs typeface="+mn-cs"/>
                <a:sym typeface="+mn-ea"/>
              </a:rPr>
              <a:t>实现）</a:t>
            </a: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经过上述操作，</a:t>
            </a:r>
            <a:r>
              <a:rPr lang="en-US" altLang="zh-CN" sz="2400" dirty="0">
                <a:latin typeface="黑体" panose="02010609060101010101" pitchFamily="2" charset="-122"/>
                <a:ea typeface="黑体" panose="02010609060101010101" pitchFamily="2" charset="-122"/>
                <a:cs typeface="+mn-cs"/>
                <a:sym typeface="+mn-ea"/>
              </a:rPr>
              <a:t>Hanoi(n)</a:t>
            </a:r>
            <a:r>
              <a:rPr lang="zh-CN" altLang="en-US" sz="2400" dirty="0">
                <a:latin typeface="黑体" panose="02010609060101010101" pitchFamily="2" charset="-122"/>
                <a:ea typeface="黑体" panose="02010609060101010101" pitchFamily="2" charset="-122"/>
                <a:cs typeface="+mn-cs"/>
                <a:sym typeface="+mn-ea"/>
              </a:rPr>
              <a:t>的问题规模下降到</a:t>
            </a:r>
            <a:r>
              <a:rPr lang="en-US" altLang="zh-CN" sz="2400" dirty="0">
                <a:latin typeface="黑体" panose="02010609060101010101" pitchFamily="2" charset="-122"/>
                <a:ea typeface="黑体" panose="02010609060101010101" pitchFamily="2" charset="-122"/>
                <a:cs typeface="+mn-cs"/>
                <a:sym typeface="+mn-ea"/>
              </a:rPr>
              <a:t>Hanoi(n-1)</a:t>
            </a:r>
            <a:r>
              <a:rPr lang="zh-CN" altLang="en-US" sz="2400" dirty="0">
                <a:latin typeface="黑体" panose="02010609060101010101" pitchFamily="2" charset="-122"/>
                <a:ea typeface="黑体" panose="02010609060101010101" pitchFamily="2" charset="-122"/>
                <a:cs typeface="+mn-cs"/>
                <a:sym typeface="+mn-ea"/>
              </a:rPr>
              <a:t>，而且这个过程是可以重复的，终止条件是</a:t>
            </a:r>
            <a:r>
              <a:rPr lang="en-US" altLang="zh-CN" sz="2400" dirty="0">
                <a:latin typeface="黑体" panose="02010609060101010101" pitchFamily="2" charset="-122"/>
                <a:ea typeface="黑体" panose="02010609060101010101" pitchFamily="2" charset="-122"/>
                <a:cs typeface="+mn-cs"/>
                <a:sym typeface="+mn-ea"/>
              </a:rPr>
              <a:t>Hanoi(1)</a:t>
            </a:r>
            <a:r>
              <a:rPr lang="zh-CN" altLang="en-US" sz="2400" dirty="0">
                <a:latin typeface="黑体" panose="02010609060101010101" pitchFamily="2" charset="-122"/>
                <a:ea typeface="黑体" panose="02010609060101010101" pitchFamily="2" charset="-122"/>
                <a:cs typeface="+mn-cs"/>
                <a:sym typeface="+mn-ea"/>
              </a:rPr>
              <a:t>即执行</a:t>
            </a:r>
            <a:r>
              <a:rPr lang="en-US" altLang="zh-CN" sz="2400" dirty="0">
                <a:latin typeface="黑体" panose="02010609060101010101" pitchFamily="2" charset="-122"/>
                <a:ea typeface="黑体" panose="02010609060101010101" pitchFamily="2" charset="-122"/>
                <a:cs typeface="+mn-cs"/>
                <a:sym typeface="+mn-ea"/>
              </a:rPr>
              <a:t>move</a:t>
            </a:r>
            <a:r>
              <a:rPr lang="zh-CN" altLang="en-US" sz="2400" dirty="0">
                <a:latin typeface="黑体" panose="02010609060101010101" pitchFamily="2" charset="-122"/>
                <a:ea typeface="黑体" panose="02010609060101010101" pitchFamily="2" charset="-122"/>
                <a:cs typeface="+mn-cs"/>
                <a:sym typeface="+mn-ea"/>
              </a:rPr>
              <a:t>函数</a:t>
            </a: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sym typeface="+mn-ea"/>
            </a:endParaRPr>
          </a:p>
          <a:p>
            <a:pPr marL="457200" lvl="2" indent="0" algn="l" eaLnBrk="1" hangingPunct="1">
              <a:buClrTx/>
              <a:buSzTx/>
              <a:buNone/>
            </a:pPr>
            <a:endParaRPr lang="zh-CN" altLang="en-US" sz="24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endParaRPr lang="en-US" altLang="zh-CN" sz="24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en-US" altLang="zh-CN"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3.3 栈与递归实现</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aphicFrame>
        <p:nvGraphicFramePr>
          <p:cNvPr id="9" name="对象 8"/>
          <p:cNvGraphicFramePr/>
          <p:nvPr/>
        </p:nvGraphicFramePr>
        <p:xfrm>
          <a:off x="1919605" y="2925445"/>
          <a:ext cx="7687945" cy="2386330"/>
        </p:xfrm>
        <a:graphic>
          <a:graphicData uri="http://schemas.openxmlformats.org/presentationml/2006/ole">
            <mc:AlternateContent xmlns:mc="http://schemas.openxmlformats.org/markup-compatibility/2006">
              <mc:Choice xmlns:v="urn:schemas-microsoft-com:vml" Requires="v">
                <p:oleObj spid="_x0000_s10" name="" r:id="rId1" imgW="9953625" imgH="4543425" progId="Paint.Picture">
                  <p:embed/>
                </p:oleObj>
              </mc:Choice>
              <mc:Fallback>
                <p:oleObj name="" r:id="rId1" imgW="9953625" imgH="4543425" progId="Paint.Picture">
                  <p:embed/>
                  <p:pic>
                    <p:nvPicPr>
                      <p:cNvPr id="0" name="图片 9"/>
                      <p:cNvPicPr/>
                      <p:nvPr/>
                    </p:nvPicPr>
                    <p:blipFill>
                      <a:blip r:embed="rId2"/>
                      <a:stretch>
                        <a:fillRect/>
                      </a:stretch>
                    </p:blipFill>
                    <p:spPr>
                      <a:xfrm>
                        <a:off x="1919605" y="2925445"/>
                        <a:ext cx="7687945" cy="2386330"/>
                      </a:xfrm>
                      <a:prstGeom prst="rect">
                        <a:avLst/>
                      </a:prstGeom>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递归的经典应用，汉诺塔的算法实现</a:t>
            </a:r>
            <a:endParaRPr lang="zh-CN" altLang="en-US" sz="28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endParaRPr lang="en-US" altLang="zh-CN" sz="24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en-US" altLang="zh-CN"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3.3 栈与递归实现</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9397" name="Picture 8"/>
          <p:cNvPicPr>
            <a:picLocks noChangeAspect="1"/>
          </p:cNvPicPr>
          <p:nvPr/>
        </p:nvPicPr>
        <p:blipFill>
          <a:blip r:embed="rId1"/>
          <a:stretch>
            <a:fillRect/>
          </a:stretch>
        </p:blipFill>
        <p:spPr>
          <a:xfrm>
            <a:off x="1991360" y="1484630"/>
            <a:ext cx="7336155" cy="4869180"/>
          </a:xfrm>
          <a:prstGeom prst="rect">
            <a:avLst/>
          </a:prstGeom>
          <a:noFill/>
          <a:ln w="9525">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6386195" cy="5144135"/>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递归的经典应用，求1到n的全排列</a:t>
            </a:r>
            <a:endParaRPr lang="zh-CN" altLang="en-US" sz="2800" dirty="0">
              <a:latin typeface="黑体" panose="02010609060101010101" pitchFamily="2" charset="-122"/>
              <a:ea typeface="黑体" panose="02010609060101010101" pitchFamily="2" charset="-122"/>
              <a:cs typeface="+mn-cs"/>
              <a:sym typeface="+mn-ea"/>
            </a:endParaRPr>
          </a:p>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cs typeface="+mn-cs"/>
                <a:sym typeface="+mn-ea"/>
              </a:rPr>
              <a:t>123的全排列：123、132、</a:t>
            </a:r>
            <a:r>
              <a:rPr lang="en-US" altLang="zh-CN" sz="2800" dirty="0">
                <a:latin typeface="黑体" panose="02010609060101010101" pitchFamily="2" charset="-122"/>
                <a:ea typeface="黑体" panose="02010609060101010101" pitchFamily="2" charset="-122"/>
                <a:cs typeface="+mn-cs"/>
                <a:sym typeface="+mn-ea"/>
              </a:rPr>
              <a:t>213</a:t>
            </a:r>
            <a:r>
              <a:rPr lang="zh-CN" altLang="en-US" sz="2800" dirty="0">
                <a:latin typeface="黑体" panose="02010609060101010101" pitchFamily="2" charset="-122"/>
                <a:ea typeface="黑体" panose="02010609060101010101" pitchFamily="2" charset="-122"/>
                <a:cs typeface="+mn-cs"/>
                <a:sym typeface="+mn-ea"/>
              </a:rPr>
              <a:t>、</a:t>
            </a:r>
            <a:r>
              <a:rPr lang="en-US" altLang="zh-CN" sz="2800" dirty="0">
                <a:latin typeface="黑体" panose="02010609060101010101" pitchFamily="2" charset="-122"/>
                <a:ea typeface="黑体" panose="02010609060101010101" pitchFamily="2" charset="-122"/>
                <a:cs typeface="+mn-cs"/>
                <a:sym typeface="+mn-ea"/>
              </a:rPr>
              <a:t>231</a:t>
            </a:r>
            <a:r>
              <a:rPr lang="zh-CN" altLang="en-US" sz="2800" dirty="0">
                <a:latin typeface="黑体" panose="02010609060101010101" pitchFamily="2" charset="-122"/>
                <a:ea typeface="黑体" panose="02010609060101010101" pitchFamily="2" charset="-122"/>
                <a:cs typeface="+mn-cs"/>
                <a:sym typeface="+mn-ea"/>
              </a:rPr>
              <a:t>、</a:t>
            </a:r>
            <a:r>
              <a:rPr lang="en-US" altLang="zh-CN" sz="2800" dirty="0">
                <a:latin typeface="黑体" panose="02010609060101010101" pitchFamily="2" charset="-122"/>
                <a:ea typeface="黑体" panose="02010609060101010101" pitchFamily="2" charset="-122"/>
                <a:cs typeface="+mn-cs"/>
                <a:sym typeface="+mn-ea"/>
              </a:rPr>
              <a:t>312</a:t>
            </a:r>
            <a:r>
              <a:rPr lang="zh-CN" altLang="en-US" sz="2800" dirty="0">
                <a:latin typeface="黑体" panose="02010609060101010101" pitchFamily="2" charset="-122"/>
                <a:ea typeface="黑体" panose="02010609060101010101" pitchFamily="2" charset="-122"/>
                <a:cs typeface="+mn-cs"/>
                <a:sym typeface="+mn-ea"/>
              </a:rPr>
              <a:t>、</a:t>
            </a:r>
            <a:r>
              <a:rPr lang="en-US" altLang="zh-CN" sz="2800" dirty="0">
                <a:latin typeface="黑体" panose="02010609060101010101" pitchFamily="2" charset="-122"/>
                <a:ea typeface="黑体" panose="02010609060101010101" pitchFamily="2" charset="-122"/>
                <a:cs typeface="+mn-cs"/>
                <a:sym typeface="+mn-ea"/>
              </a:rPr>
              <a:t>321</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全排列递归算法：从第一个数字起每个数分别与它后面的数字交换</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en-US" altLang="zh-CN" sz="24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en-US" altLang="zh-CN"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3.3 栈与递归实现</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60422" name="Picture 3"/>
          <p:cNvPicPr>
            <a:picLocks noChangeAspect="1"/>
          </p:cNvPicPr>
          <p:nvPr/>
        </p:nvPicPr>
        <p:blipFill>
          <a:blip r:embed="rId1"/>
          <a:stretch>
            <a:fillRect/>
          </a:stretch>
        </p:blipFill>
        <p:spPr>
          <a:xfrm>
            <a:off x="7751763" y="116523"/>
            <a:ext cx="3714750" cy="6342062"/>
          </a:xfrm>
          <a:prstGeom prst="rect">
            <a:avLst/>
          </a:prstGeom>
          <a:noFill/>
          <a:ln w="9525">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948055"/>
            <a:ext cx="6510020" cy="5144135"/>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递归的经典应用，求n个元素的全集合</a:t>
            </a:r>
            <a:endParaRPr lang="zh-CN" altLang="en-US" sz="2800" dirty="0">
              <a:latin typeface="黑体" panose="02010609060101010101" pitchFamily="2" charset="-122"/>
              <a:ea typeface="黑体" panose="02010609060101010101" pitchFamily="2" charset="-122"/>
              <a:cs typeface="+mn-cs"/>
            </a:endParaRPr>
          </a:p>
          <a:p>
            <a:pPr marL="0" lvl="1" indent="0" algn="l" eaLnBrk="1" hangingPunct="1">
              <a:buClrTx/>
              <a:buSzTx/>
              <a:buFont typeface="Wingdings" panose="05000000000000000000" charset="0"/>
              <a:buNone/>
            </a:pPr>
            <a:r>
              <a:rPr lang="zh-CN" altLang="en-US" sz="2800" dirty="0">
                <a:latin typeface="黑体" panose="02010609060101010101" pitchFamily="2" charset="-122"/>
                <a:ea typeface="黑体" panose="02010609060101010101" pitchFamily="2" charset="-122"/>
                <a:cs typeface="+mn-cs"/>
                <a:sym typeface="+mn-ea"/>
              </a:rPr>
              <a:t>AB的全集合：{A}\{B}\{AB}\{}</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求全集合的方法：在包含某个元素的全集合排列，和不包含某个元素的全集合排列</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en-US" altLang="zh-CN" sz="24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en-US" altLang="zh-CN" sz="24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en-US" altLang="zh-CN"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3.3 栈与递归实现</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61446" name="Picture 3"/>
          <p:cNvPicPr>
            <a:picLocks noChangeAspect="1"/>
          </p:cNvPicPr>
          <p:nvPr/>
        </p:nvPicPr>
        <p:blipFill>
          <a:blip r:embed="rId1"/>
          <a:stretch>
            <a:fillRect/>
          </a:stretch>
        </p:blipFill>
        <p:spPr>
          <a:xfrm>
            <a:off x="7031673" y="214313"/>
            <a:ext cx="5000625" cy="6586537"/>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 name="直接连接符 23" hidden="1"/>
          <p:cNvSpPr>
            <a:spLocks noChangeShapeType="1"/>
          </p:cNvSpPr>
          <p:nvPr/>
        </p:nvSpPr>
        <p:spPr bwMode="auto">
          <a:xfrm>
            <a:off x="3181350" y="431800"/>
            <a:ext cx="0" cy="525463"/>
          </a:xfrm>
          <a:prstGeom prst="line">
            <a:avLst/>
          </a:prstGeom>
          <a:noFill/>
          <a:ln w="12700" cap="flat" cmpd="sng">
            <a:solidFill>
              <a:srgbClr val="28A9D6"/>
            </a:solidFill>
            <a:bevel/>
          </a:ln>
        </p:spPr>
        <p:txBody>
          <a:bodyPr/>
          <a:lstStyle/>
          <a:p>
            <a:endParaRPr lang="zh-CN" altLang="en-US"/>
          </a:p>
        </p:txBody>
      </p:sp>
      <p:sp>
        <p:nvSpPr>
          <p:cNvPr id="32" name="椭圆 24"/>
          <p:cNvSpPr>
            <a:spLocks noChangeArrowheads="1"/>
          </p:cNvSpPr>
          <p:nvPr/>
        </p:nvSpPr>
        <p:spPr bwMode="auto">
          <a:xfrm>
            <a:off x="3662667" y="280019"/>
            <a:ext cx="549275" cy="549275"/>
          </a:xfrm>
          <a:prstGeom prst="ellipse">
            <a:avLst/>
          </a:prstGeom>
          <a:pattFill prst="sphere">
            <a:fgClr>
              <a:srgbClr val="4F81BD"/>
            </a:fgClr>
            <a:bgClr>
              <a:srgbClr val="FFFFFF"/>
            </a:bgClr>
          </a:pattFill>
          <a:ln w="9525" cap="flat" cmpd="sng">
            <a:solidFill>
              <a:srgbClr val="4DB8DD"/>
            </a:solidFill>
            <a:bevel/>
          </a:ln>
        </p:spPr>
        <p:txBody>
          <a:bodyPr anchor="ctr"/>
          <a:lstStyle/>
          <a:p>
            <a:pPr algn="ctr"/>
            <a:endParaRPr lang="zh-CN" altLang="zh-CN">
              <a:solidFill>
                <a:srgbClr val="FFFFFF"/>
              </a:solidFill>
            </a:endParaRPr>
          </a:p>
        </p:txBody>
      </p:sp>
      <p:sp>
        <p:nvSpPr>
          <p:cNvPr id="33" name="直接连接符 23"/>
          <p:cNvSpPr>
            <a:spLocks noChangeShapeType="1"/>
          </p:cNvSpPr>
          <p:nvPr/>
        </p:nvSpPr>
        <p:spPr bwMode="auto">
          <a:xfrm>
            <a:off x="4238612" y="927719"/>
            <a:ext cx="3583940" cy="635"/>
          </a:xfrm>
          <a:prstGeom prst="line">
            <a:avLst/>
          </a:prstGeom>
          <a:noFill/>
          <a:ln w="19050" cap="flat" cmpd="sng">
            <a:solidFill>
              <a:schemeClr val="accent1"/>
            </a:solidFill>
            <a:bevel/>
          </a:ln>
        </p:spPr>
        <p:txBody>
          <a:bodyPr/>
          <a:lstStyle/>
          <a:p>
            <a:endParaRPr lang="zh-CN" altLang="en-US"/>
          </a:p>
        </p:txBody>
      </p:sp>
      <p:sp>
        <p:nvSpPr>
          <p:cNvPr id="2" name="Rectangle 3"/>
          <p:cNvSpPr txBox="1">
            <a:spLocks noChangeArrowheads="1"/>
          </p:cNvSpPr>
          <p:nvPr/>
        </p:nvSpPr>
        <p:spPr>
          <a:xfrm>
            <a:off x="3469640" y="1268730"/>
            <a:ext cx="6001385" cy="4664075"/>
          </a:xfrm>
          <a:prstGeom prst="rect">
            <a:avLst/>
          </a:prstGeom>
        </p:spPr>
        <p:txBody>
          <a:bodyPr vert="horz" lIns="91440" tIns="45720" rIns="91440" bIns="45720" rtlCol="0"/>
          <a:lstStyle/>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栈</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栈的应用举例</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栈与递归的实现</a:t>
            </a:r>
            <a:endParaRPr lang="zh-CN" altLang="en-US" sz="3200" b="1" dirty="0">
              <a:latin typeface="楷体" panose="02010609060101010101" charset="-122"/>
              <a:ea typeface="楷体" panose="02010609060101010101" charset="-122"/>
            </a:endParaRPr>
          </a:p>
          <a:p>
            <a:pPr marL="571500" marR="0" lvl="0" indent="-571500" defTabSz="914400" rtl="0" eaLnBrk="1" fontAlgn="auto" latinLnBrk="0" hangingPunct="1">
              <a:lnSpc>
                <a:spcPct val="90000"/>
              </a:lnSpc>
              <a:spcBef>
                <a:spcPts val="1000"/>
              </a:spcBef>
              <a:spcAft>
                <a:spcPts val="0"/>
              </a:spcAft>
              <a:buClr>
                <a:schemeClr val="accent2"/>
              </a:buClr>
              <a:buSzTx/>
              <a:buFont typeface="Wingdings" panose="05000000000000000000" pitchFamily="2" charset="2"/>
              <a:buChar char="n"/>
              <a:defRPr/>
            </a:pPr>
            <a:r>
              <a:rPr lang="zh-CN" altLang="en-US" sz="3200" b="1" dirty="0">
                <a:latin typeface="楷体" panose="02010609060101010101" charset="-122"/>
                <a:ea typeface="楷体" panose="02010609060101010101" charset="-122"/>
                <a:sym typeface="+mn-ea"/>
              </a:rPr>
              <a:t>队列</a:t>
            </a:r>
            <a:endParaRPr lang="zh-CN" altLang="en-US" sz="3200" b="1" dirty="0">
              <a:latin typeface="楷体" panose="02010609060101010101" charset="-122"/>
              <a:ea typeface="楷体" panose="02010609060101010101" charset="-122"/>
            </a:endParaRPr>
          </a:p>
          <a:p>
            <a:pPr marL="1028700" marR="0" lvl="1" indent="-571500" defTabSz="914400" rtl="0" eaLnBrk="1" fontAlgn="auto" latinLnBrk="0" hangingPunct="1">
              <a:lnSpc>
                <a:spcPct val="90000"/>
              </a:lnSpc>
              <a:spcBef>
                <a:spcPts val="1000"/>
              </a:spcBef>
              <a:spcAft>
                <a:spcPts val="0"/>
              </a:spcAft>
              <a:buClr>
                <a:schemeClr val="accent2"/>
              </a:buClr>
              <a:buSzTx/>
              <a:buFont typeface="Wingdings" panose="05000000000000000000" charset="0"/>
              <a:buChar char="Ø"/>
              <a:defRPr/>
            </a:pPr>
            <a:endParaRPr kumimoji="0" lang="zh-CN" altLang="en-US" sz="3200" b="0" i="0" u="none" strike="noStrike" kern="1200" cap="none" spc="0" normalizeH="0" baseline="0" noProof="0" dirty="0" err="1" smtClean="0">
              <a:ln>
                <a:noFill/>
              </a:ln>
              <a:solidFill>
                <a:schemeClr val="tx1"/>
              </a:solidFill>
              <a:effectLst/>
              <a:uLnTx/>
              <a:uFillTx/>
              <a:latin typeface="楷体" panose="02010609060101010101" charset="-122"/>
              <a:ea typeface="楷体" panose="02010609060101010101" charset="-122"/>
              <a:cs typeface="+mn-cs"/>
              <a:sym typeface="+mn-lt"/>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
        <p:nvSpPr>
          <p:cNvPr id="8" name="矩形 7"/>
          <p:cNvSpPr/>
          <p:nvPr/>
        </p:nvSpPr>
        <p:spPr>
          <a:xfrm>
            <a:off x="4088130" y="2945765"/>
            <a:ext cx="3308985" cy="530860"/>
          </a:xfrm>
          <a:prstGeom prst="rect">
            <a:avLst/>
          </a:prstGeom>
          <a:noFill/>
          <a:ln w="38100"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146" name="Text Box 2"/>
          <p:cNvSpPr txBox="1"/>
          <p:nvPr/>
        </p:nvSpPr>
        <p:spPr>
          <a:xfrm>
            <a:off x="4007485" y="188595"/>
            <a:ext cx="4730750" cy="768350"/>
          </a:xfrm>
          <a:prstGeom prst="rect">
            <a:avLst/>
          </a:prstGeom>
          <a:noFill/>
          <a:ln w="9525">
            <a:noFill/>
          </a:ln>
        </p:spPr>
        <p:txBody>
          <a:bodyPr wrap="square" anchor="t" anchorCtr="0">
            <a:spAutoFit/>
          </a:bodyPr>
          <a:p>
            <a:pPr algn="ctr"/>
            <a:r>
              <a:rPr lang="zh-CN" altLang="en-US" sz="4400" b="1" dirty="0">
                <a:solidFill>
                  <a:srgbClr val="0000CC"/>
                </a:solidFill>
                <a:latin typeface="楷体" panose="02010609060101010101" charset="-122"/>
                <a:ea typeface="楷体" panose="02010609060101010101" charset="-122"/>
              </a:rPr>
              <a:t>第三章	栈和队列</a:t>
            </a:r>
            <a:endParaRPr lang="zh-CN" altLang="en-US" sz="4400" b="1" dirty="0">
              <a:solidFill>
                <a:srgbClr val="0000CC"/>
              </a:solidFill>
              <a:latin typeface="楷体" panose="02010609060101010101" charset="-122"/>
              <a:ea typeface="楷体" panose="02010609060101010101" charset="-122"/>
            </a:endParaRPr>
          </a:p>
        </p:txBody>
      </p:sp>
    </p:spTree>
  </p:cSld>
  <p:clrMapOvr>
    <a:masterClrMapping/>
  </p:clrMapOvr>
  <p:transition spd="med">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队列是模拟最常见的社会现象排队</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队列特点：先进先出 (FIFO)</a:t>
            </a:r>
            <a:endParaRPr lang="zh-CN" altLang="en-US" sz="28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zh-CN" altLang="en-US" sz="2330" dirty="0">
                <a:latin typeface="黑体" panose="02010609060101010101" pitchFamily="2" charset="-122"/>
                <a:ea typeface="黑体" panose="02010609060101010101" pitchFamily="2" charset="-122"/>
                <a:cs typeface="+mn-cs"/>
              </a:rPr>
              <a:t>队列的入队序列和出队序列是完全相同的，即出队结果是唯一的</a:t>
            </a:r>
            <a:endParaRPr lang="zh-CN" altLang="en-US" sz="233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pic>
        <p:nvPicPr>
          <p:cNvPr id="5" name="图片 4"/>
          <p:cNvPicPr>
            <a:picLocks noChangeAspect="1"/>
          </p:cNvPicPr>
          <p:nvPr/>
        </p:nvPicPr>
        <p:blipFill>
          <a:blip r:embed="rId1"/>
          <a:stretch>
            <a:fillRect/>
          </a:stretch>
        </p:blipFill>
        <p:spPr>
          <a:xfrm>
            <a:off x="7176135" y="2780665"/>
            <a:ext cx="3534410" cy="270891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队列同样是操作受限制的线性表</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在队列中，允许插入的一端叫队尾（rear），允许删除的一端称为队头(front)</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队列的存储结构：顺序队列、循环队列、链队列</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顺序队列是队列的一种存储结构，采用一组地址连续的存储单元依次存储从队列头到队列尾的元素</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顺序队列有两个指针：队头指针front和队尾指针rear</a:t>
            </a:r>
            <a:endParaRPr lang="zh-CN" altLang="en-US" sz="28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cs"/>
                <a:sym typeface="+mn-ea"/>
              </a:rPr>
              <a:t>允许插入的一端叫队尾（rear）</a:t>
            </a: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cs"/>
                <a:sym typeface="+mn-ea"/>
              </a:rPr>
              <a:t>允许删除的一端称为队头(front)</a:t>
            </a:r>
            <a:endParaRPr lang="zh-CN" altLang="en-US" sz="24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顺序队列的入队和出队操作：</a:t>
            </a:r>
            <a:endParaRPr lang="zh-CN" altLang="en-US" sz="280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队头指针始终指向队列头元素</a:t>
            </a:r>
            <a:endParaRPr lang="zh-CN" altLang="en-US" sz="2400" b="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队尾指针始终指向队列尾元素的下一个位置</a:t>
            </a:r>
            <a:endParaRPr lang="zh-CN" altLang="en-US" sz="2400" b="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进队时，新元素按rear指针位置插入，然后队尾指针增一，即 rear = rear + 1</a:t>
            </a:r>
            <a:endParaRPr lang="zh-CN" altLang="en-US" sz="2400" b="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出队时，将队头指针位置的元素取出，然后队头指针增一，即 front = front + 1</a:t>
            </a:r>
            <a:endParaRPr lang="zh-CN" altLang="en-US" sz="2400" b="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a:xfrm>
            <a:off x="429260" y="876300"/>
            <a:ext cx="4241165" cy="4144645"/>
          </a:xfrm>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顺序队列的弊端</a:t>
            </a:r>
            <a:endParaRPr lang="zh-CN" altLang="en-US" sz="28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Wingdings" panose="05000000000000000000" charset="0"/>
              <a:buChar char="l"/>
            </a:pPr>
            <a:r>
              <a:rPr lang="zh-CN" altLang="en-US" sz="2400" dirty="0">
                <a:latin typeface="黑体" panose="02010609060101010101" pitchFamily="2" charset="-122"/>
                <a:ea typeface="黑体" panose="02010609060101010101" pitchFamily="2" charset="-122"/>
                <a:cs typeface="+mn-cs"/>
                <a:sym typeface="+mn-ea"/>
              </a:rPr>
              <a:t>当队尾指针指向队列存储结构中的最后单元时，如果再继续插入新的元素，则会产生</a:t>
            </a:r>
            <a:r>
              <a:rPr lang="zh-CN" altLang="en-US" sz="2400" dirty="0">
                <a:solidFill>
                  <a:srgbClr val="FF0000"/>
                </a:solidFill>
                <a:latin typeface="黑体" panose="02010609060101010101" pitchFamily="2" charset="-122"/>
                <a:ea typeface="黑体" panose="02010609060101010101" pitchFamily="2" charset="-122"/>
                <a:cs typeface="+mn-cs"/>
                <a:sym typeface="+mn-ea"/>
              </a:rPr>
              <a:t>溢出</a:t>
            </a:r>
            <a:endParaRPr lang="zh-CN" altLang="en-US" sz="2400" b="0" dirty="0">
              <a:latin typeface="黑体" panose="02010609060101010101" pitchFamily="2" charset="-122"/>
              <a:ea typeface="黑体" panose="02010609060101010101" pitchFamily="2" charset="-122"/>
              <a:cs typeface="+mn-cs"/>
            </a:endParaRPr>
          </a:p>
          <a:p>
            <a:pPr marL="914400" lvl="2" indent="-457200" algn="l" eaLnBrk="1" hangingPunct="1">
              <a:buClrTx/>
              <a:buSzTx/>
              <a:buFont typeface="Wingdings" panose="05000000000000000000" charset="0"/>
              <a:buChar char="l"/>
            </a:pPr>
            <a:r>
              <a:rPr lang="zh-CN" altLang="en-US" sz="2400" dirty="0">
                <a:latin typeface="黑体" panose="02010609060101010101" pitchFamily="2" charset="-122"/>
                <a:ea typeface="黑体" panose="02010609060101010101" pitchFamily="2" charset="-122"/>
                <a:cs typeface="+mn-cs"/>
                <a:sym typeface="+mn-ea"/>
              </a:rPr>
              <a:t>当队列发生溢出时，队列存储结构中可能浪费一些</a:t>
            </a:r>
            <a:r>
              <a:rPr lang="zh-CN" altLang="en-US" sz="2400" dirty="0">
                <a:solidFill>
                  <a:srgbClr val="FF0000"/>
                </a:solidFill>
                <a:latin typeface="黑体" panose="02010609060101010101" pitchFamily="2" charset="-122"/>
                <a:ea typeface="黑体" panose="02010609060101010101" pitchFamily="2" charset="-122"/>
                <a:cs typeface="+mn-cs"/>
                <a:sym typeface="+mn-ea"/>
              </a:rPr>
              <a:t>空白位置</a:t>
            </a:r>
            <a:r>
              <a:rPr lang="zh-CN" altLang="en-US" sz="2400" dirty="0">
                <a:latin typeface="黑体" panose="02010609060101010101" pitchFamily="2" charset="-122"/>
                <a:ea typeface="黑体" panose="02010609060101010101" pitchFamily="2" charset="-122"/>
                <a:cs typeface="+mn-cs"/>
                <a:sym typeface="+mn-ea"/>
              </a:rPr>
              <a:t>（已被取走数据的元素）</a:t>
            </a:r>
            <a:endParaRPr lang="zh-CN" altLang="en-US" sz="2400" b="0" dirty="0">
              <a:latin typeface="黑体" panose="02010609060101010101" pitchFamily="2" charset="-122"/>
              <a:ea typeface="黑体" panose="02010609060101010101" pitchFamily="2" charset="-122"/>
              <a:cs typeface="+mn-cs"/>
            </a:endParaRPr>
          </a:p>
          <a:p>
            <a:pPr marL="914400" lvl="2" indent="-457200" algn="l" eaLnBrk="1" hangingPunct="1">
              <a:buClrTx/>
              <a:buSzTx/>
              <a:buFont typeface="Wingdings" panose="05000000000000000000" charset="0"/>
              <a:buChar char="l"/>
            </a:pPr>
            <a:endParaRPr lang="zh-CN" altLang="en-US" sz="2400" b="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 name="组合 4"/>
          <p:cNvGrpSpPr/>
          <p:nvPr/>
        </p:nvGrpSpPr>
        <p:grpSpPr>
          <a:xfrm>
            <a:off x="4728845" y="1869440"/>
            <a:ext cx="7390765" cy="3797935"/>
            <a:chOff x="3600" y="3200"/>
            <a:chExt cx="11639" cy="5981"/>
          </a:xfrm>
        </p:grpSpPr>
        <p:sp>
          <p:nvSpPr>
            <p:cNvPr id="45060" name="Text Box 4"/>
            <p:cNvSpPr txBox="1"/>
            <p:nvPr/>
          </p:nvSpPr>
          <p:spPr>
            <a:xfrm>
              <a:off x="3648" y="4478"/>
              <a:ext cx="1146"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CC0066"/>
                  </a:solidFill>
                  <a:latin typeface="Times New Roman" panose="02020603050405020304" charset="0"/>
                  <a:ea typeface="宋体" panose="02010600030101010101" pitchFamily="2" charset="-122"/>
                </a:rPr>
                <a:t>front</a:t>
              </a:r>
              <a:endParaRPr lang="en-US" altLang="zh-CN" sz="2000" dirty="0">
                <a:solidFill>
                  <a:srgbClr val="CC0066"/>
                </a:solidFill>
                <a:latin typeface="Times New Roman" panose="02020603050405020304" charset="0"/>
                <a:ea typeface="宋体" panose="02010600030101010101" pitchFamily="2" charset="-122"/>
              </a:endParaRPr>
            </a:p>
          </p:txBody>
        </p:sp>
        <p:sp>
          <p:nvSpPr>
            <p:cNvPr id="45061" name="Text Box 5"/>
            <p:cNvSpPr txBox="1"/>
            <p:nvPr/>
          </p:nvSpPr>
          <p:spPr>
            <a:xfrm>
              <a:off x="4980" y="4478"/>
              <a:ext cx="1014"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CC0066"/>
                  </a:solidFill>
                  <a:latin typeface="Times New Roman" panose="02020603050405020304" charset="0"/>
                  <a:ea typeface="宋体" panose="02010600030101010101" pitchFamily="2" charset="-122"/>
                </a:rPr>
                <a:t>rear</a:t>
              </a:r>
              <a:endParaRPr lang="en-US" altLang="zh-CN" sz="2000" dirty="0">
                <a:solidFill>
                  <a:srgbClr val="CC0066"/>
                </a:solidFill>
                <a:latin typeface="Times New Roman" panose="02020603050405020304" charset="0"/>
                <a:ea typeface="宋体" panose="02010600030101010101" pitchFamily="2" charset="-122"/>
              </a:endParaRPr>
            </a:p>
          </p:txBody>
        </p:sp>
        <p:sp>
          <p:nvSpPr>
            <p:cNvPr id="45062" name="Line 6"/>
            <p:cNvSpPr/>
            <p:nvPr/>
          </p:nvSpPr>
          <p:spPr>
            <a:xfrm flipH="1">
              <a:off x="3910" y="4173"/>
              <a:ext cx="50" cy="467"/>
            </a:xfrm>
            <a:prstGeom prst="line">
              <a:avLst/>
            </a:prstGeom>
            <a:ln w="28575" cap="flat" cmpd="sng">
              <a:solidFill>
                <a:srgbClr val="008000"/>
              </a:solidFill>
              <a:prstDash val="solid"/>
              <a:round/>
              <a:headEnd type="triangle" w="sm" len="med"/>
              <a:tailEnd type="none" w="med" len="med"/>
            </a:ln>
          </p:spPr>
        </p:sp>
        <p:sp>
          <p:nvSpPr>
            <p:cNvPr id="45063" name="Line 7"/>
            <p:cNvSpPr/>
            <p:nvPr/>
          </p:nvSpPr>
          <p:spPr>
            <a:xfrm flipH="1" flipV="1">
              <a:off x="4200" y="4173"/>
              <a:ext cx="960" cy="467"/>
            </a:xfrm>
            <a:prstGeom prst="line">
              <a:avLst/>
            </a:prstGeom>
            <a:ln w="28575" cap="flat" cmpd="sng">
              <a:solidFill>
                <a:srgbClr val="008000"/>
              </a:solidFill>
              <a:prstDash val="solid"/>
              <a:round/>
              <a:headEnd type="none" w="med" len="med"/>
              <a:tailEnd type="triangle" w="sm" len="med"/>
            </a:ln>
          </p:spPr>
        </p:sp>
        <p:sp>
          <p:nvSpPr>
            <p:cNvPr id="45064" name="Text Box 8"/>
            <p:cNvSpPr txBox="1"/>
            <p:nvPr/>
          </p:nvSpPr>
          <p:spPr>
            <a:xfrm>
              <a:off x="6070" y="4468"/>
              <a:ext cx="1488" cy="628"/>
            </a:xfrm>
            <a:prstGeom prst="rect">
              <a:avLst/>
            </a:prstGeom>
            <a:noFill/>
            <a:ln w="9525">
              <a:noFill/>
            </a:ln>
          </p:spPr>
          <p:txBody>
            <a:bodyPr wrap="none" anchor="t" anchorCtr="0">
              <a:spAutoFit/>
            </a:bodyPr>
            <a:p>
              <a:pPr>
                <a:buFont typeface="Wingdings" panose="05000000000000000000" pitchFamily="2" charset="2"/>
              </a:pPr>
              <a:r>
                <a:rPr lang="zh-CN" altLang="en-US" sz="2000" dirty="0">
                  <a:solidFill>
                    <a:srgbClr val="0000FF"/>
                  </a:solidFill>
                  <a:latin typeface="Times New Roman" panose="02020603050405020304" charset="0"/>
                  <a:ea typeface="隶书" panose="02010509060101010101" pitchFamily="49" charset="-122"/>
                </a:rPr>
                <a:t>空队列</a:t>
              </a:r>
              <a:endParaRPr lang="zh-CN" altLang="en-US" sz="2000" dirty="0">
                <a:solidFill>
                  <a:srgbClr val="0000FF"/>
                </a:solidFill>
                <a:latin typeface="Times New Roman" panose="02020603050405020304" charset="0"/>
                <a:ea typeface="隶书" panose="02010509060101010101" pitchFamily="49" charset="-122"/>
              </a:endParaRPr>
            </a:p>
          </p:txBody>
        </p:sp>
        <p:grpSp>
          <p:nvGrpSpPr>
            <p:cNvPr id="45065" name="Group 9"/>
            <p:cNvGrpSpPr/>
            <p:nvPr/>
          </p:nvGrpSpPr>
          <p:grpSpPr>
            <a:xfrm>
              <a:off x="3703" y="3245"/>
              <a:ext cx="5040" cy="960"/>
              <a:chOff x="528" y="1915"/>
              <a:chExt cx="2016" cy="384"/>
            </a:xfrm>
          </p:grpSpPr>
          <p:sp>
            <p:nvSpPr>
              <p:cNvPr id="45066" name="Rectangle 10"/>
              <p:cNvSpPr/>
              <p:nvPr/>
            </p:nvSpPr>
            <p:spPr>
              <a:xfrm>
                <a:off x="528" y="2011"/>
                <a:ext cx="2016" cy="288"/>
              </a:xfrm>
              <a:prstGeom prst="rect">
                <a:avLst/>
              </a:prstGeom>
              <a:solidFill>
                <a:schemeClr val="bg1"/>
              </a:solidFill>
              <a:ln w="9525"/>
              <a:scene3d>
                <a:camera prst="legacyObliqueTopRight">
                  <a:rot lat="0" lon="0" rev="0"/>
                </a:camera>
                <a:lightRig rig="legacyFlat3" dir="b"/>
              </a:scene3d>
              <a:sp3d extrusionH="430200" prstMaterial="legacyMatte">
                <a:bevelT w="13500" h="13500" prst="angle"/>
                <a:bevelB w="13500" h="13500" prst="angle"/>
                <a:extrusionClr>
                  <a:schemeClr val="bg1"/>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5067" name="Line 11"/>
              <p:cNvSpPr/>
              <p:nvPr/>
            </p:nvSpPr>
            <p:spPr>
              <a:xfrm>
                <a:off x="816" y="2011"/>
                <a:ext cx="0" cy="288"/>
              </a:xfrm>
              <a:prstGeom prst="line">
                <a:avLst/>
              </a:prstGeom>
              <a:ln w="9525" cap="flat" cmpd="sng">
                <a:solidFill>
                  <a:schemeClr val="tx1"/>
                </a:solidFill>
                <a:prstDash val="solid"/>
                <a:round/>
                <a:headEnd type="none" w="med" len="med"/>
                <a:tailEnd type="none" w="med" len="med"/>
              </a:ln>
            </p:spPr>
          </p:sp>
          <p:sp>
            <p:nvSpPr>
              <p:cNvPr id="45068" name="Line 12"/>
              <p:cNvSpPr/>
              <p:nvPr/>
            </p:nvSpPr>
            <p:spPr>
              <a:xfrm flipV="1">
                <a:off x="816" y="1915"/>
                <a:ext cx="96" cy="96"/>
              </a:xfrm>
              <a:prstGeom prst="line">
                <a:avLst/>
              </a:prstGeom>
              <a:ln w="9525" cap="flat" cmpd="sng">
                <a:solidFill>
                  <a:schemeClr val="tx1"/>
                </a:solidFill>
                <a:prstDash val="solid"/>
                <a:round/>
                <a:headEnd type="none" w="med" len="med"/>
                <a:tailEnd type="none" w="med" len="med"/>
              </a:ln>
            </p:spPr>
          </p:sp>
          <p:sp>
            <p:nvSpPr>
              <p:cNvPr id="45069" name="Line 13"/>
              <p:cNvSpPr/>
              <p:nvPr/>
            </p:nvSpPr>
            <p:spPr>
              <a:xfrm>
                <a:off x="1104" y="2011"/>
                <a:ext cx="0" cy="288"/>
              </a:xfrm>
              <a:prstGeom prst="line">
                <a:avLst/>
              </a:prstGeom>
              <a:ln w="9525" cap="flat" cmpd="sng">
                <a:solidFill>
                  <a:schemeClr val="tx1"/>
                </a:solidFill>
                <a:prstDash val="solid"/>
                <a:round/>
                <a:headEnd type="none" w="med" len="med"/>
                <a:tailEnd type="none" w="med" len="med"/>
              </a:ln>
            </p:spPr>
          </p:sp>
          <p:sp>
            <p:nvSpPr>
              <p:cNvPr id="45070" name="Line 14"/>
              <p:cNvSpPr/>
              <p:nvPr/>
            </p:nvSpPr>
            <p:spPr>
              <a:xfrm flipV="1">
                <a:off x="1104" y="1915"/>
                <a:ext cx="96" cy="96"/>
              </a:xfrm>
              <a:prstGeom prst="line">
                <a:avLst/>
              </a:prstGeom>
              <a:ln w="9525" cap="flat" cmpd="sng">
                <a:solidFill>
                  <a:schemeClr val="tx1"/>
                </a:solidFill>
                <a:prstDash val="solid"/>
                <a:round/>
                <a:headEnd type="none" w="med" len="med"/>
                <a:tailEnd type="none" w="med" len="med"/>
              </a:ln>
            </p:spPr>
          </p:sp>
          <p:sp>
            <p:nvSpPr>
              <p:cNvPr id="45071" name="Line 15"/>
              <p:cNvSpPr/>
              <p:nvPr/>
            </p:nvSpPr>
            <p:spPr>
              <a:xfrm>
                <a:off x="1392" y="2011"/>
                <a:ext cx="0" cy="288"/>
              </a:xfrm>
              <a:prstGeom prst="line">
                <a:avLst/>
              </a:prstGeom>
              <a:ln w="9525" cap="flat" cmpd="sng">
                <a:solidFill>
                  <a:schemeClr val="tx1"/>
                </a:solidFill>
                <a:prstDash val="solid"/>
                <a:round/>
                <a:headEnd type="none" w="med" len="med"/>
                <a:tailEnd type="none" w="med" len="med"/>
              </a:ln>
            </p:spPr>
          </p:sp>
          <p:sp>
            <p:nvSpPr>
              <p:cNvPr id="45072" name="Line 16"/>
              <p:cNvSpPr/>
              <p:nvPr/>
            </p:nvSpPr>
            <p:spPr>
              <a:xfrm flipV="1">
                <a:off x="1392" y="1915"/>
                <a:ext cx="96" cy="96"/>
              </a:xfrm>
              <a:prstGeom prst="line">
                <a:avLst/>
              </a:prstGeom>
              <a:ln w="9525" cap="flat" cmpd="sng">
                <a:solidFill>
                  <a:schemeClr val="tx1"/>
                </a:solidFill>
                <a:prstDash val="solid"/>
                <a:round/>
                <a:headEnd type="none" w="med" len="med"/>
                <a:tailEnd type="none" w="med" len="med"/>
              </a:ln>
            </p:spPr>
          </p:sp>
          <p:sp>
            <p:nvSpPr>
              <p:cNvPr id="45073" name="Line 17"/>
              <p:cNvSpPr/>
              <p:nvPr/>
            </p:nvSpPr>
            <p:spPr>
              <a:xfrm>
                <a:off x="1680" y="2011"/>
                <a:ext cx="0" cy="288"/>
              </a:xfrm>
              <a:prstGeom prst="line">
                <a:avLst/>
              </a:prstGeom>
              <a:ln w="9525" cap="flat" cmpd="sng">
                <a:solidFill>
                  <a:schemeClr val="tx1"/>
                </a:solidFill>
                <a:prstDash val="solid"/>
                <a:round/>
                <a:headEnd type="none" w="med" len="med"/>
                <a:tailEnd type="none" w="med" len="med"/>
              </a:ln>
            </p:spPr>
          </p:sp>
          <p:sp>
            <p:nvSpPr>
              <p:cNvPr id="45074" name="Line 18"/>
              <p:cNvSpPr/>
              <p:nvPr/>
            </p:nvSpPr>
            <p:spPr>
              <a:xfrm flipV="1">
                <a:off x="1680" y="1915"/>
                <a:ext cx="96" cy="96"/>
              </a:xfrm>
              <a:prstGeom prst="line">
                <a:avLst/>
              </a:prstGeom>
              <a:ln w="9525" cap="flat" cmpd="sng">
                <a:solidFill>
                  <a:schemeClr val="tx1"/>
                </a:solidFill>
                <a:prstDash val="solid"/>
                <a:round/>
                <a:headEnd type="none" w="med" len="med"/>
                <a:tailEnd type="none" w="med" len="med"/>
              </a:ln>
            </p:spPr>
          </p:sp>
          <p:sp>
            <p:nvSpPr>
              <p:cNvPr id="45075" name="Line 19"/>
              <p:cNvSpPr/>
              <p:nvPr/>
            </p:nvSpPr>
            <p:spPr>
              <a:xfrm>
                <a:off x="1968" y="2011"/>
                <a:ext cx="0" cy="288"/>
              </a:xfrm>
              <a:prstGeom prst="line">
                <a:avLst/>
              </a:prstGeom>
              <a:ln w="9525" cap="flat" cmpd="sng">
                <a:solidFill>
                  <a:schemeClr val="tx1"/>
                </a:solidFill>
                <a:prstDash val="solid"/>
                <a:round/>
                <a:headEnd type="none" w="med" len="med"/>
                <a:tailEnd type="none" w="med" len="med"/>
              </a:ln>
            </p:spPr>
          </p:sp>
          <p:sp>
            <p:nvSpPr>
              <p:cNvPr id="45076" name="Line 20"/>
              <p:cNvSpPr/>
              <p:nvPr/>
            </p:nvSpPr>
            <p:spPr>
              <a:xfrm flipV="1">
                <a:off x="1968" y="1915"/>
                <a:ext cx="96" cy="96"/>
              </a:xfrm>
              <a:prstGeom prst="line">
                <a:avLst/>
              </a:prstGeom>
              <a:ln w="9525" cap="flat" cmpd="sng">
                <a:solidFill>
                  <a:schemeClr val="tx1"/>
                </a:solidFill>
                <a:prstDash val="solid"/>
                <a:round/>
                <a:headEnd type="none" w="med" len="med"/>
                <a:tailEnd type="none" w="med" len="med"/>
              </a:ln>
            </p:spPr>
          </p:sp>
          <p:sp>
            <p:nvSpPr>
              <p:cNvPr id="45077" name="Line 21"/>
              <p:cNvSpPr/>
              <p:nvPr/>
            </p:nvSpPr>
            <p:spPr>
              <a:xfrm>
                <a:off x="2256" y="2011"/>
                <a:ext cx="0" cy="288"/>
              </a:xfrm>
              <a:prstGeom prst="line">
                <a:avLst/>
              </a:prstGeom>
              <a:ln w="9525" cap="flat" cmpd="sng">
                <a:solidFill>
                  <a:schemeClr val="tx1"/>
                </a:solidFill>
                <a:prstDash val="solid"/>
                <a:round/>
                <a:headEnd type="none" w="med" len="med"/>
                <a:tailEnd type="none" w="med" len="med"/>
              </a:ln>
            </p:spPr>
          </p:sp>
          <p:sp>
            <p:nvSpPr>
              <p:cNvPr id="45078" name="Line 22"/>
              <p:cNvSpPr/>
              <p:nvPr/>
            </p:nvSpPr>
            <p:spPr>
              <a:xfrm flipV="1">
                <a:off x="2256" y="1915"/>
                <a:ext cx="96" cy="96"/>
              </a:xfrm>
              <a:prstGeom prst="line">
                <a:avLst/>
              </a:prstGeom>
              <a:ln w="9525" cap="flat" cmpd="sng">
                <a:solidFill>
                  <a:schemeClr val="tx1"/>
                </a:solidFill>
                <a:prstDash val="solid"/>
                <a:round/>
                <a:headEnd type="none" w="med" len="med"/>
                <a:tailEnd type="none" w="med" len="med"/>
              </a:ln>
            </p:spPr>
          </p:sp>
          <p:sp>
            <p:nvSpPr>
              <p:cNvPr id="45079" name="Text Box 23"/>
              <p:cNvSpPr txBox="1"/>
              <p:nvPr/>
            </p:nvSpPr>
            <p:spPr>
              <a:xfrm>
                <a:off x="565" y="1991"/>
                <a:ext cx="195" cy="290"/>
              </a:xfrm>
              <a:prstGeom prst="rect">
                <a:avLst/>
              </a:prstGeom>
              <a:noFill/>
              <a:ln w="9525">
                <a:noFill/>
              </a:ln>
            </p:spPr>
            <p:txBody>
              <a:bodyPr wrap="none" anchor="t" anchorCtr="0">
                <a:spAutoFit/>
              </a:bodyPr>
              <a:p>
                <a:pPr>
                  <a:buFont typeface="Wingdings" panose="05000000000000000000" pitchFamily="2" charset="2"/>
                </a:pPr>
                <a:endParaRPr lang="zh-CN" altLang="zh-CN" sz="2400" dirty="0">
                  <a:latin typeface="Times New Roman" panose="02020603050405020304" charset="0"/>
                  <a:ea typeface="宋体" panose="02010600030101010101" pitchFamily="2" charset="-122"/>
                </a:endParaRPr>
              </a:p>
            </p:txBody>
          </p:sp>
        </p:grpSp>
        <p:sp>
          <p:nvSpPr>
            <p:cNvPr id="45080" name="Text Box 24"/>
            <p:cNvSpPr txBox="1"/>
            <p:nvPr/>
          </p:nvSpPr>
          <p:spPr>
            <a:xfrm>
              <a:off x="9715" y="4455"/>
              <a:ext cx="1146"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CC0066"/>
                  </a:solidFill>
                  <a:latin typeface="Times New Roman" panose="02020603050405020304" charset="0"/>
                  <a:ea typeface="宋体" panose="02010600030101010101" pitchFamily="2" charset="-122"/>
                </a:rPr>
                <a:t>front</a:t>
              </a:r>
              <a:endParaRPr lang="en-US" altLang="zh-CN" sz="2000" dirty="0">
                <a:solidFill>
                  <a:srgbClr val="CC0066"/>
                </a:solidFill>
                <a:latin typeface="Times New Roman" panose="02020603050405020304" charset="0"/>
                <a:ea typeface="宋体" panose="02010600030101010101" pitchFamily="2" charset="-122"/>
              </a:endParaRPr>
            </a:p>
          </p:txBody>
        </p:sp>
        <p:sp>
          <p:nvSpPr>
            <p:cNvPr id="45081" name="Text Box 25"/>
            <p:cNvSpPr txBox="1"/>
            <p:nvPr/>
          </p:nvSpPr>
          <p:spPr>
            <a:xfrm>
              <a:off x="11048" y="4455"/>
              <a:ext cx="1014"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CC0066"/>
                  </a:solidFill>
                  <a:latin typeface="Times New Roman" panose="02020603050405020304" charset="0"/>
                  <a:ea typeface="宋体" panose="02010600030101010101" pitchFamily="2" charset="-122"/>
                </a:rPr>
                <a:t>rear</a:t>
              </a:r>
              <a:endParaRPr lang="en-US" altLang="zh-CN" sz="2000" dirty="0">
                <a:solidFill>
                  <a:srgbClr val="CC0066"/>
                </a:solidFill>
                <a:latin typeface="Times New Roman" panose="02020603050405020304" charset="0"/>
                <a:ea typeface="宋体" panose="02010600030101010101" pitchFamily="2" charset="-122"/>
              </a:endParaRPr>
            </a:p>
          </p:txBody>
        </p:sp>
        <p:sp>
          <p:nvSpPr>
            <p:cNvPr id="45082" name="Line 26"/>
            <p:cNvSpPr/>
            <p:nvPr/>
          </p:nvSpPr>
          <p:spPr>
            <a:xfrm>
              <a:off x="9960" y="4173"/>
              <a:ext cx="18" cy="445"/>
            </a:xfrm>
            <a:prstGeom prst="line">
              <a:avLst/>
            </a:prstGeom>
            <a:ln w="28575" cap="flat" cmpd="sng">
              <a:solidFill>
                <a:srgbClr val="008000"/>
              </a:solidFill>
              <a:prstDash val="solid"/>
              <a:round/>
              <a:headEnd type="triangle" w="sm" len="med"/>
              <a:tailEnd type="none" w="med" len="med"/>
            </a:ln>
          </p:spPr>
        </p:sp>
        <p:sp>
          <p:nvSpPr>
            <p:cNvPr id="45083" name="Line 27"/>
            <p:cNvSpPr/>
            <p:nvPr/>
          </p:nvSpPr>
          <p:spPr>
            <a:xfrm flipV="1">
              <a:off x="11880" y="4173"/>
              <a:ext cx="1080" cy="480"/>
            </a:xfrm>
            <a:prstGeom prst="line">
              <a:avLst/>
            </a:prstGeom>
            <a:ln w="28575" cap="flat" cmpd="sng">
              <a:solidFill>
                <a:srgbClr val="008000"/>
              </a:solidFill>
              <a:prstDash val="solid"/>
              <a:round/>
              <a:headEnd type="none" w="med" len="med"/>
              <a:tailEnd type="triangle" w="sm" len="med"/>
            </a:ln>
          </p:spPr>
        </p:sp>
        <p:sp>
          <p:nvSpPr>
            <p:cNvPr id="45084" name="Text Box 28"/>
            <p:cNvSpPr txBox="1"/>
            <p:nvPr/>
          </p:nvSpPr>
          <p:spPr>
            <a:xfrm>
              <a:off x="12138" y="4473"/>
              <a:ext cx="2522"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0000FF"/>
                  </a:solidFill>
                  <a:latin typeface="Times New Roman" panose="02020603050405020304" charset="0"/>
                  <a:ea typeface="隶书" panose="02010509060101010101" pitchFamily="49" charset="-122"/>
                </a:rPr>
                <a:t>A,B,C,D</a:t>
              </a:r>
              <a:r>
                <a:rPr lang="zh-CN" altLang="en-US" sz="2000" dirty="0">
                  <a:solidFill>
                    <a:srgbClr val="0000FF"/>
                  </a:solidFill>
                  <a:latin typeface="Times New Roman" panose="02020603050405020304" charset="0"/>
                  <a:ea typeface="隶书" panose="02010509060101010101" pitchFamily="49" charset="-122"/>
                </a:rPr>
                <a:t>进队</a:t>
              </a:r>
              <a:endParaRPr lang="zh-CN" altLang="en-US" sz="2000" dirty="0">
                <a:solidFill>
                  <a:srgbClr val="0000FF"/>
                </a:solidFill>
                <a:latin typeface="Times New Roman" panose="02020603050405020304" charset="0"/>
                <a:ea typeface="隶书" panose="02010509060101010101" pitchFamily="49" charset="-122"/>
              </a:endParaRPr>
            </a:p>
          </p:txBody>
        </p:sp>
        <p:grpSp>
          <p:nvGrpSpPr>
            <p:cNvPr id="45085" name="Group 29"/>
            <p:cNvGrpSpPr/>
            <p:nvPr/>
          </p:nvGrpSpPr>
          <p:grpSpPr>
            <a:xfrm>
              <a:off x="9840" y="3200"/>
              <a:ext cx="5040" cy="965"/>
              <a:chOff x="2976" y="1915"/>
              <a:chExt cx="2016" cy="386"/>
            </a:xfrm>
          </p:grpSpPr>
          <p:sp>
            <p:nvSpPr>
              <p:cNvPr id="45086" name="Rectangle 30"/>
              <p:cNvSpPr/>
              <p:nvPr/>
            </p:nvSpPr>
            <p:spPr>
              <a:xfrm>
                <a:off x="2976" y="2011"/>
                <a:ext cx="2016" cy="288"/>
              </a:xfrm>
              <a:prstGeom prst="rect">
                <a:avLst/>
              </a:prstGeom>
              <a:solidFill>
                <a:schemeClr val="bg1"/>
              </a:solidFill>
              <a:ln w="9525"/>
              <a:scene3d>
                <a:camera prst="legacyObliqueTopRight">
                  <a:rot lat="0" lon="0" rev="0"/>
                </a:camera>
                <a:lightRig rig="legacyFlat3" dir="b"/>
              </a:scene3d>
              <a:sp3d extrusionH="430200" prstMaterial="legacyMatte">
                <a:bevelT w="13500" h="13500" prst="angle"/>
                <a:bevelB w="13500" h="13500" prst="angle"/>
                <a:extrusionClr>
                  <a:schemeClr val="bg1"/>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5087" name="Line 31"/>
              <p:cNvSpPr/>
              <p:nvPr/>
            </p:nvSpPr>
            <p:spPr>
              <a:xfrm>
                <a:off x="3264" y="2011"/>
                <a:ext cx="0" cy="288"/>
              </a:xfrm>
              <a:prstGeom prst="line">
                <a:avLst/>
              </a:prstGeom>
              <a:ln w="9525" cap="flat" cmpd="sng">
                <a:solidFill>
                  <a:schemeClr val="tx1"/>
                </a:solidFill>
                <a:prstDash val="solid"/>
                <a:round/>
                <a:headEnd type="none" w="med" len="med"/>
                <a:tailEnd type="none" w="med" len="med"/>
              </a:ln>
            </p:spPr>
          </p:sp>
          <p:sp>
            <p:nvSpPr>
              <p:cNvPr id="45088" name="Line 32"/>
              <p:cNvSpPr/>
              <p:nvPr/>
            </p:nvSpPr>
            <p:spPr>
              <a:xfrm flipV="1">
                <a:off x="3264" y="1915"/>
                <a:ext cx="96" cy="96"/>
              </a:xfrm>
              <a:prstGeom prst="line">
                <a:avLst/>
              </a:prstGeom>
              <a:ln w="9525" cap="flat" cmpd="sng">
                <a:solidFill>
                  <a:schemeClr val="tx1"/>
                </a:solidFill>
                <a:prstDash val="solid"/>
                <a:round/>
                <a:headEnd type="none" w="med" len="med"/>
                <a:tailEnd type="none" w="med" len="med"/>
              </a:ln>
            </p:spPr>
          </p:sp>
          <p:sp>
            <p:nvSpPr>
              <p:cNvPr id="45089" name="Line 33"/>
              <p:cNvSpPr/>
              <p:nvPr/>
            </p:nvSpPr>
            <p:spPr>
              <a:xfrm>
                <a:off x="3552" y="2011"/>
                <a:ext cx="0" cy="288"/>
              </a:xfrm>
              <a:prstGeom prst="line">
                <a:avLst/>
              </a:prstGeom>
              <a:ln w="9525" cap="flat" cmpd="sng">
                <a:solidFill>
                  <a:schemeClr val="tx1"/>
                </a:solidFill>
                <a:prstDash val="solid"/>
                <a:round/>
                <a:headEnd type="none" w="med" len="med"/>
                <a:tailEnd type="none" w="med" len="med"/>
              </a:ln>
            </p:spPr>
          </p:sp>
          <p:sp>
            <p:nvSpPr>
              <p:cNvPr id="45090" name="Line 34"/>
              <p:cNvSpPr/>
              <p:nvPr/>
            </p:nvSpPr>
            <p:spPr>
              <a:xfrm flipV="1">
                <a:off x="3552" y="1915"/>
                <a:ext cx="96" cy="96"/>
              </a:xfrm>
              <a:prstGeom prst="line">
                <a:avLst/>
              </a:prstGeom>
              <a:ln w="9525" cap="flat" cmpd="sng">
                <a:solidFill>
                  <a:schemeClr val="tx1"/>
                </a:solidFill>
                <a:prstDash val="solid"/>
                <a:round/>
                <a:headEnd type="none" w="med" len="med"/>
                <a:tailEnd type="none" w="med" len="med"/>
              </a:ln>
            </p:spPr>
          </p:sp>
          <p:sp>
            <p:nvSpPr>
              <p:cNvPr id="45091" name="Line 35"/>
              <p:cNvSpPr/>
              <p:nvPr/>
            </p:nvSpPr>
            <p:spPr>
              <a:xfrm>
                <a:off x="3840" y="2011"/>
                <a:ext cx="0" cy="288"/>
              </a:xfrm>
              <a:prstGeom prst="line">
                <a:avLst/>
              </a:prstGeom>
              <a:ln w="9525" cap="flat" cmpd="sng">
                <a:solidFill>
                  <a:schemeClr val="tx1"/>
                </a:solidFill>
                <a:prstDash val="solid"/>
                <a:round/>
                <a:headEnd type="none" w="med" len="med"/>
                <a:tailEnd type="none" w="med" len="med"/>
              </a:ln>
            </p:spPr>
          </p:sp>
          <p:sp>
            <p:nvSpPr>
              <p:cNvPr id="45092" name="Line 36"/>
              <p:cNvSpPr/>
              <p:nvPr/>
            </p:nvSpPr>
            <p:spPr>
              <a:xfrm flipV="1">
                <a:off x="3840" y="1915"/>
                <a:ext cx="96" cy="96"/>
              </a:xfrm>
              <a:prstGeom prst="line">
                <a:avLst/>
              </a:prstGeom>
              <a:ln w="9525" cap="flat" cmpd="sng">
                <a:solidFill>
                  <a:schemeClr val="tx1"/>
                </a:solidFill>
                <a:prstDash val="solid"/>
                <a:round/>
                <a:headEnd type="none" w="med" len="med"/>
                <a:tailEnd type="none" w="med" len="med"/>
              </a:ln>
            </p:spPr>
          </p:sp>
          <p:sp>
            <p:nvSpPr>
              <p:cNvPr id="45093" name="Line 37"/>
              <p:cNvSpPr/>
              <p:nvPr/>
            </p:nvSpPr>
            <p:spPr>
              <a:xfrm>
                <a:off x="4128" y="2011"/>
                <a:ext cx="0" cy="288"/>
              </a:xfrm>
              <a:prstGeom prst="line">
                <a:avLst/>
              </a:prstGeom>
              <a:ln w="9525" cap="flat" cmpd="sng">
                <a:solidFill>
                  <a:schemeClr val="tx1"/>
                </a:solidFill>
                <a:prstDash val="solid"/>
                <a:round/>
                <a:headEnd type="none" w="med" len="med"/>
                <a:tailEnd type="none" w="med" len="med"/>
              </a:ln>
            </p:spPr>
          </p:sp>
          <p:sp>
            <p:nvSpPr>
              <p:cNvPr id="45094" name="Line 38"/>
              <p:cNvSpPr/>
              <p:nvPr/>
            </p:nvSpPr>
            <p:spPr>
              <a:xfrm flipV="1">
                <a:off x="4128" y="1915"/>
                <a:ext cx="96" cy="96"/>
              </a:xfrm>
              <a:prstGeom prst="line">
                <a:avLst/>
              </a:prstGeom>
              <a:ln w="9525" cap="flat" cmpd="sng">
                <a:solidFill>
                  <a:schemeClr val="tx1"/>
                </a:solidFill>
                <a:prstDash val="solid"/>
                <a:round/>
                <a:headEnd type="none" w="med" len="med"/>
                <a:tailEnd type="none" w="med" len="med"/>
              </a:ln>
            </p:spPr>
          </p:sp>
          <p:sp>
            <p:nvSpPr>
              <p:cNvPr id="45095" name="Line 39"/>
              <p:cNvSpPr/>
              <p:nvPr/>
            </p:nvSpPr>
            <p:spPr>
              <a:xfrm>
                <a:off x="4416" y="2011"/>
                <a:ext cx="0" cy="288"/>
              </a:xfrm>
              <a:prstGeom prst="line">
                <a:avLst/>
              </a:prstGeom>
              <a:ln w="9525" cap="flat" cmpd="sng">
                <a:solidFill>
                  <a:schemeClr val="tx1"/>
                </a:solidFill>
                <a:prstDash val="solid"/>
                <a:round/>
                <a:headEnd type="none" w="med" len="med"/>
                <a:tailEnd type="none" w="med" len="med"/>
              </a:ln>
            </p:spPr>
          </p:sp>
          <p:sp>
            <p:nvSpPr>
              <p:cNvPr id="45096" name="Line 40"/>
              <p:cNvSpPr/>
              <p:nvPr/>
            </p:nvSpPr>
            <p:spPr>
              <a:xfrm flipV="1">
                <a:off x="4416" y="1915"/>
                <a:ext cx="96" cy="96"/>
              </a:xfrm>
              <a:prstGeom prst="line">
                <a:avLst/>
              </a:prstGeom>
              <a:ln w="9525" cap="flat" cmpd="sng">
                <a:solidFill>
                  <a:schemeClr val="tx1"/>
                </a:solidFill>
                <a:prstDash val="solid"/>
                <a:round/>
                <a:headEnd type="none" w="med" len="med"/>
                <a:tailEnd type="none" w="med" len="med"/>
              </a:ln>
            </p:spPr>
          </p:sp>
          <p:sp>
            <p:nvSpPr>
              <p:cNvPr id="45097" name="Line 41"/>
              <p:cNvSpPr/>
              <p:nvPr/>
            </p:nvSpPr>
            <p:spPr>
              <a:xfrm>
                <a:off x="4704" y="2011"/>
                <a:ext cx="0" cy="288"/>
              </a:xfrm>
              <a:prstGeom prst="line">
                <a:avLst/>
              </a:prstGeom>
              <a:ln w="9525" cap="flat" cmpd="sng">
                <a:solidFill>
                  <a:schemeClr val="tx1"/>
                </a:solidFill>
                <a:prstDash val="solid"/>
                <a:round/>
                <a:headEnd type="none" w="med" len="med"/>
                <a:tailEnd type="none" w="med" len="med"/>
              </a:ln>
            </p:spPr>
          </p:sp>
          <p:sp>
            <p:nvSpPr>
              <p:cNvPr id="45098" name="Line 42"/>
              <p:cNvSpPr/>
              <p:nvPr/>
            </p:nvSpPr>
            <p:spPr>
              <a:xfrm flipV="1">
                <a:off x="4704" y="1915"/>
                <a:ext cx="96" cy="96"/>
              </a:xfrm>
              <a:prstGeom prst="line">
                <a:avLst/>
              </a:prstGeom>
              <a:ln w="9525" cap="flat" cmpd="sng">
                <a:solidFill>
                  <a:schemeClr val="tx1"/>
                </a:solidFill>
                <a:prstDash val="solid"/>
                <a:round/>
                <a:headEnd type="none" w="med" len="med"/>
                <a:tailEnd type="none" w="med" len="med"/>
              </a:ln>
            </p:spPr>
          </p:sp>
          <p:sp>
            <p:nvSpPr>
              <p:cNvPr id="45099" name="Text Box 43"/>
              <p:cNvSpPr txBox="1"/>
              <p:nvPr/>
            </p:nvSpPr>
            <p:spPr>
              <a:xfrm>
                <a:off x="2992" y="1972"/>
                <a:ext cx="1129" cy="329"/>
              </a:xfrm>
              <a:prstGeom prst="rect">
                <a:avLst/>
              </a:prstGeom>
              <a:noFill/>
              <a:ln w="9525">
                <a:noFill/>
              </a:ln>
            </p:spPr>
            <p:txBody>
              <a:bodyPr wrap="none" anchor="t" anchorCtr="0">
                <a:spAutoFit/>
              </a:bodyPr>
              <a:p>
                <a:pPr>
                  <a:buFont typeface="Wingdings" panose="05000000000000000000" pitchFamily="2" charset="2"/>
                </a:pPr>
                <a:r>
                  <a:rPr lang="en-US" altLang="zh-CN" sz="2800" b="1" dirty="0">
                    <a:solidFill>
                      <a:schemeClr val="tx2"/>
                    </a:solidFill>
                    <a:latin typeface="Times New Roman" panose="02020603050405020304" charset="0"/>
                    <a:ea typeface="宋体" panose="02010600030101010101" pitchFamily="2" charset="-122"/>
                  </a:rPr>
                  <a:t>A  B   C  D</a:t>
                </a:r>
                <a:endParaRPr lang="en-US" altLang="zh-CN" sz="2400" dirty="0">
                  <a:latin typeface="Times New Roman" panose="02020603050405020304" charset="0"/>
                  <a:ea typeface="宋体" panose="02010600030101010101" pitchFamily="2" charset="-122"/>
                </a:endParaRPr>
              </a:p>
            </p:txBody>
          </p:sp>
        </p:grpSp>
        <p:sp>
          <p:nvSpPr>
            <p:cNvPr id="45100" name="Text Box 44"/>
            <p:cNvSpPr txBox="1"/>
            <p:nvPr/>
          </p:nvSpPr>
          <p:spPr>
            <a:xfrm>
              <a:off x="3648" y="6495"/>
              <a:ext cx="1146"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CC0066"/>
                  </a:solidFill>
                  <a:latin typeface="Times New Roman" panose="02020603050405020304" charset="0"/>
                  <a:ea typeface="宋体" panose="02010600030101010101" pitchFamily="2" charset="-122"/>
                </a:rPr>
                <a:t>front</a:t>
              </a:r>
              <a:endParaRPr lang="en-US" altLang="zh-CN" sz="2000" dirty="0">
                <a:solidFill>
                  <a:srgbClr val="CC0066"/>
                </a:solidFill>
                <a:latin typeface="Times New Roman" panose="02020603050405020304" charset="0"/>
                <a:ea typeface="宋体" panose="02010600030101010101" pitchFamily="2" charset="-122"/>
              </a:endParaRPr>
            </a:p>
          </p:txBody>
        </p:sp>
        <p:sp>
          <p:nvSpPr>
            <p:cNvPr id="45101" name="Text Box 45"/>
            <p:cNvSpPr txBox="1"/>
            <p:nvPr/>
          </p:nvSpPr>
          <p:spPr>
            <a:xfrm>
              <a:off x="4980" y="6495"/>
              <a:ext cx="1014"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CC0066"/>
                  </a:solidFill>
                  <a:latin typeface="Times New Roman" panose="02020603050405020304" charset="0"/>
                  <a:ea typeface="宋体" panose="02010600030101010101" pitchFamily="2" charset="-122"/>
                </a:rPr>
                <a:t>rear</a:t>
              </a:r>
              <a:endParaRPr lang="en-US" altLang="zh-CN" sz="2000" dirty="0">
                <a:solidFill>
                  <a:srgbClr val="CC0066"/>
                </a:solidFill>
                <a:latin typeface="Times New Roman" panose="02020603050405020304" charset="0"/>
                <a:ea typeface="宋体" panose="02010600030101010101" pitchFamily="2" charset="-122"/>
              </a:endParaRPr>
            </a:p>
          </p:txBody>
        </p:sp>
        <p:sp>
          <p:nvSpPr>
            <p:cNvPr id="45102" name="Line 46"/>
            <p:cNvSpPr/>
            <p:nvPr/>
          </p:nvSpPr>
          <p:spPr>
            <a:xfrm>
              <a:off x="4560" y="6213"/>
              <a:ext cx="0" cy="467"/>
            </a:xfrm>
            <a:prstGeom prst="line">
              <a:avLst/>
            </a:prstGeom>
            <a:ln w="28575" cap="flat" cmpd="sng">
              <a:solidFill>
                <a:srgbClr val="008000"/>
              </a:solidFill>
              <a:prstDash val="solid"/>
              <a:round/>
              <a:headEnd type="triangle" w="sm" len="med"/>
              <a:tailEnd type="none" w="med" len="med"/>
            </a:ln>
          </p:spPr>
        </p:sp>
        <p:sp>
          <p:nvSpPr>
            <p:cNvPr id="45103" name="Line 47"/>
            <p:cNvSpPr/>
            <p:nvPr/>
          </p:nvSpPr>
          <p:spPr>
            <a:xfrm flipV="1">
              <a:off x="5640" y="6213"/>
              <a:ext cx="1200" cy="467"/>
            </a:xfrm>
            <a:prstGeom prst="line">
              <a:avLst/>
            </a:prstGeom>
            <a:ln w="28575" cap="flat" cmpd="sng">
              <a:solidFill>
                <a:srgbClr val="008000"/>
              </a:solidFill>
              <a:prstDash val="solid"/>
              <a:round/>
              <a:headEnd type="none" w="med" len="med"/>
              <a:tailEnd type="triangle" w="sm" len="med"/>
            </a:ln>
          </p:spPr>
        </p:sp>
        <p:sp>
          <p:nvSpPr>
            <p:cNvPr id="45104" name="Text Box 48"/>
            <p:cNvSpPr txBox="1"/>
            <p:nvPr/>
          </p:nvSpPr>
          <p:spPr>
            <a:xfrm>
              <a:off x="6070" y="6513"/>
              <a:ext cx="1377"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0000FF"/>
                  </a:solidFill>
                  <a:latin typeface="Times New Roman" panose="02020603050405020304" charset="0"/>
                  <a:ea typeface="隶书" panose="02010509060101010101" pitchFamily="49" charset="-122"/>
                </a:rPr>
                <a:t>A</a:t>
              </a:r>
              <a:r>
                <a:rPr lang="zh-CN" altLang="en-US" sz="2000" dirty="0">
                  <a:solidFill>
                    <a:srgbClr val="0000FF"/>
                  </a:solidFill>
                  <a:latin typeface="Times New Roman" panose="02020603050405020304" charset="0"/>
                  <a:ea typeface="隶书" panose="02010509060101010101" pitchFamily="49" charset="-122"/>
                </a:rPr>
                <a:t>退队</a:t>
              </a:r>
              <a:endParaRPr lang="zh-CN" altLang="en-US" sz="2000" dirty="0">
                <a:solidFill>
                  <a:srgbClr val="0000FF"/>
                </a:solidFill>
                <a:latin typeface="Times New Roman" panose="02020603050405020304" charset="0"/>
                <a:ea typeface="隶书" panose="02010509060101010101" pitchFamily="49" charset="-122"/>
              </a:endParaRPr>
            </a:p>
          </p:txBody>
        </p:sp>
        <p:grpSp>
          <p:nvGrpSpPr>
            <p:cNvPr id="45105" name="Group 49"/>
            <p:cNvGrpSpPr/>
            <p:nvPr/>
          </p:nvGrpSpPr>
          <p:grpSpPr>
            <a:xfrm>
              <a:off x="3720" y="5240"/>
              <a:ext cx="5040" cy="960"/>
              <a:chOff x="528" y="2731"/>
              <a:chExt cx="2016" cy="384"/>
            </a:xfrm>
          </p:grpSpPr>
          <p:sp>
            <p:nvSpPr>
              <p:cNvPr id="45106" name="Rectangle 50"/>
              <p:cNvSpPr/>
              <p:nvPr/>
            </p:nvSpPr>
            <p:spPr>
              <a:xfrm>
                <a:off x="528" y="2827"/>
                <a:ext cx="288" cy="288"/>
              </a:xfrm>
              <a:prstGeom prst="rect">
                <a:avLst/>
              </a:prstGeom>
              <a:solidFill>
                <a:srgbClr val="969696"/>
              </a:solidFill>
              <a:ln w="9525"/>
              <a:scene3d>
                <a:camera prst="legacyObliqueTopRight">
                  <a:rot lat="0" lon="0" rev="0"/>
                </a:camera>
                <a:lightRig rig="legacyFlat3" dir="b"/>
              </a:scene3d>
              <a:sp3d extrusionH="430200" prstMaterial="legacyMatte">
                <a:bevelT w="13500" h="13500" prst="angle"/>
                <a:bevelB w="13500" h="13500" prst="angle"/>
                <a:extrusionClr>
                  <a:srgbClr val="969696"/>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5107" name="Rectangle 51"/>
              <p:cNvSpPr/>
              <p:nvPr/>
            </p:nvSpPr>
            <p:spPr>
              <a:xfrm>
                <a:off x="816" y="2827"/>
                <a:ext cx="1728" cy="288"/>
              </a:xfrm>
              <a:prstGeom prst="rect">
                <a:avLst/>
              </a:prstGeom>
              <a:solidFill>
                <a:schemeClr val="bg1"/>
              </a:solidFill>
              <a:ln w="9525"/>
              <a:scene3d>
                <a:camera prst="legacyObliqueTopRight">
                  <a:rot lat="0" lon="0" rev="0"/>
                </a:camera>
                <a:lightRig rig="legacyFlat3" dir="b"/>
              </a:scene3d>
              <a:sp3d extrusionH="430200" prstMaterial="legacyMatte">
                <a:bevelT w="13500" h="13500" prst="angle"/>
                <a:bevelB w="13500" h="13500" prst="angle"/>
                <a:extrusionClr>
                  <a:schemeClr val="bg1"/>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5108" name="Line 52"/>
              <p:cNvSpPr/>
              <p:nvPr/>
            </p:nvSpPr>
            <p:spPr>
              <a:xfrm>
                <a:off x="816" y="2827"/>
                <a:ext cx="0" cy="288"/>
              </a:xfrm>
              <a:prstGeom prst="line">
                <a:avLst/>
              </a:prstGeom>
              <a:ln w="9525" cap="flat" cmpd="sng">
                <a:solidFill>
                  <a:schemeClr val="tx1"/>
                </a:solidFill>
                <a:prstDash val="solid"/>
                <a:round/>
                <a:headEnd type="none" w="med" len="med"/>
                <a:tailEnd type="none" w="med" len="med"/>
              </a:ln>
            </p:spPr>
          </p:sp>
          <p:sp>
            <p:nvSpPr>
              <p:cNvPr id="45109" name="Line 53"/>
              <p:cNvSpPr/>
              <p:nvPr/>
            </p:nvSpPr>
            <p:spPr>
              <a:xfrm flipV="1">
                <a:off x="816" y="2731"/>
                <a:ext cx="96" cy="96"/>
              </a:xfrm>
              <a:prstGeom prst="line">
                <a:avLst/>
              </a:prstGeom>
              <a:ln w="9525" cap="flat" cmpd="sng">
                <a:solidFill>
                  <a:schemeClr val="tx1"/>
                </a:solidFill>
                <a:prstDash val="solid"/>
                <a:round/>
                <a:headEnd type="none" w="med" len="med"/>
                <a:tailEnd type="none" w="med" len="med"/>
              </a:ln>
            </p:spPr>
          </p:sp>
          <p:sp>
            <p:nvSpPr>
              <p:cNvPr id="45110" name="Line 54"/>
              <p:cNvSpPr/>
              <p:nvPr/>
            </p:nvSpPr>
            <p:spPr>
              <a:xfrm>
                <a:off x="1104" y="2827"/>
                <a:ext cx="0" cy="288"/>
              </a:xfrm>
              <a:prstGeom prst="line">
                <a:avLst/>
              </a:prstGeom>
              <a:ln w="9525" cap="flat" cmpd="sng">
                <a:solidFill>
                  <a:schemeClr val="tx1"/>
                </a:solidFill>
                <a:prstDash val="solid"/>
                <a:round/>
                <a:headEnd type="none" w="med" len="med"/>
                <a:tailEnd type="none" w="med" len="med"/>
              </a:ln>
            </p:spPr>
          </p:sp>
          <p:sp>
            <p:nvSpPr>
              <p:cNvPr id="45111" name="Line 55"/>
              <p:cNvSpPr/>
              <p:nvPr/>
            </p:nvSpPr>
            <p:spPr>
              <a:xfrm flipV="1">
                <a:off x="1104" y="2731"/>
                <a:ext cx="96" cy="96"/>
              </a:xfrm>
              <a:prstGeom prst="line">
                <a:avLst/>
              </a:prstGeom>
              <a:ln w="9525" cap="flat" cmpd="sng">
                <a:solidFill>
                  <a:schemeClr val="tx1"/>
                </a:solidFill>
                <a:prstDash val="solid"/>
                <a:round/>
                <a:headEnd type="none" w="med" len="med"/>
                <a:tailEnd type="none" w="med" len="med"/>
              </a:ln>
            </p:spPr>
          </p:sp>
          <p:sp>
            <p:nvSpPr>
              <p:cNvPr id="45112" name="Line 56"/>
              <p:cNvSpPr/>
              <p:nvPr/>
            </p:nvSpPr>
            <p:spPr>
              <a:xfrm>
                <a:off x="1392" y="2827"/>
                <a:ext cx="0" cy="288"/>
              </a:xfrm>
              <a:prstGeom prst="line">
                <a:avLst/>
              </a:prstGeom>
              <a:ln w="9525" cap="flat" cmpd="sng">
                <a:solidFill>
                  <a:schemeClr val="tx1"/>
                </a:solidFill>
                <a:prstDash val="solid"/>
                <a:round/>
                <a:headEnd type="none" w="med" len="med"/>
                <a:tailEnd type="none" w="med" len="med"/>
              </a:ln>
            </p:spPr>
          </p:sp>
          <p:sp>
            <p:nvSpPr>
              <p:cNvPr id="45113" name="Line 57"/>
              <p:cNvSpPr/>
              <p:nvPr/>
            </p:nvSpPr>
            <p:spPr>
              <a:xfrm flipV="1">
                <a:off x="1392" y="2731"/>
                <a:ext cx="96" cy="96"/>
              </a:xfrm>
              <a:prstGeom prst="line">
                <a:avLst/>
              </a:prstGeom>
              <a:ln w="9525" cap="flat" cmpd="sng">
                <a:solidFill>
                  <a:schemeClr val="tx1"/>
                </a:solidFill>
                <a:prstDash val="solid"/>
                <a:round/>
                <a:headEnd type="none" w="med" len="med"/>
                <a:tailEnd type="none" w="med" len="med"/>
              </a:ln>
            </p:spPr>
          </p:sp>
          <p:sp>
            <p:nvSpPr>
              <p:cNvPr id="45114" name="Line 58"/>
              <p:cNvSpPr/>
              <p:nvPr/>
            </p:nvSpPr>
            <p:spPr>
              <a:xfrm>
                <a:off x="1680" y="2827"/>
                <a:ext cx="0" cy="288"/>
              </a:xfrm>
              <a:prstGeom prst="line">
                <a:avLst/>
              </a:prstGeom>
              <a:ln w="9525" cap="flat" cmpd="sng">
                <a:solidFill>
                  <a:schemeClr val="tx1"/>
                </a:solidFill>
                <a:prstDash val="solid"/>
                <a:round/>
                <a:headEnd type="none" w="med" len="med"/>
                <a:tailEnd type="none" w="med" len="med"/>
              </a:ln>
            </p:spPr>
          </p:sp>
          <p:sp>
            <p:nvSpPr>
              <p:cNvPr id="45115" name="Line 59"/>
              <p:cNvSpPr/>
              <p:nvPr/>
            </p:nvSpPr>
            <p:spPr>
              <a:xfrm flipV="1">
                <a:off x="1680" y="2731"/>
                <a:ext cx="96" cy="96"/>
              </a:xfrm>
              <a:prstGeom prst="line">
                <a:avLst/>
              </a:prstGeom>
              <a:ln w="9525" cap="flat" cmpd="sng">
                <a:solidFill>
                  <a:schemeClr val="tx1"/>
                </a:solidFill>
                <a:prstDash val="solid"/>
                <a:round/>
                <a:headEnd type="none" w="med" len="med"/>
                <a:tailEnd type="none" w="med" len="med"/>
              </a:ln>
            </p:spPr>
          </p:sp>
          <p:sp>
            <p:nvSpPr>
              <p:cNvPr id="45116" name="Line 60"/>
              <p:cNvSpPr/>
              <p:nvPr/>
            </p:nvSpPr>
            <p:spPr>
              <a:xfrm>
                <a:off x="1968" y="2827"/>
                <a:ext cx="0" cy="288"/>
              </a:xfrm>
              <a:prstGeom prst="line">
                <a:avLst/>
              </a:prstGeom>
              <a:ln w="9525" cap="flat" cmpd="sng">
                <a:solidFill>
                  <a:schemeClr val="tx1"/>
                </a:solidFill>
                <a:prstDash val="solid"/>
                <a:round/>
                <a:headEnd type="none" w="med" len="med"/>
                <a:tailEnd type="none" w="med" len="med"/>
              </a:ln>
            </p:spPr>
          </p:sp>
          <p:sp>
            <p:nvSpPr>
              <p:cNvPr id="45117" name="Line 61"/>
              <p:cNvSpPr/>
              <p:nvPr/>
            </p:nvSpPr>
            <p:spPr>
              <a:xfrm flipV="1">
                <a:off x="1968" y="2731"/>
                <a:ext cx="96" cy="96"/>
              </a:xfrm>
              <a:prstGeom prst="line">
                <a:avLst/>
              </a:prstGeom>
              <a:ln w="9525" cap="flat" cmpd="sng">
                <a:solidFill>
                  <a:schemeClr val="tx1"/>
                </a:solidFill>
                <a:prstDash val="solid"/>
                <a:round/>
                <a:headEnd type="none" w="med" len="med"/>
                <a:tailEnd type="none" w="med" len="med"/>
              </a:ln>
            </p:spPr>
          </p:sp>
          <p:sp>
            <p:nvSpPr>
              <p:cNvPr id="45118" name="Line 62"/>
              <p:cNvSpPr/>
              <p:nvPr/>
            </p:nvSpPr>
            <p:spPr>
              <a:xfrm>
                <a:off x="2256" y="2827"/>
                <a:ext cx="0" cy="288"/>
              </a:xfrm>
              <a:prstGeom prst="line">
                <a:avLst/>
              </a:prstGeom>
              <a:ln w="9525" cap="flat" cmpd="sng">
                <a:solidFill>
                  <a:schemeClr val="tx1"/>
                </a:solidFill>
                <a:prstDash val="solid"/>
                <a:round/>
                <a:headEnd type="none" w="med" len="med"/>
                <a:tailEnd type="none" w="med" len="med"/>
              </a:ln>
            </p:spPr>
          </p:sp>
          <p:sp>
            <p:nvSpPr>
              <p:cNvPr id="45119" name="Line 63"/>
              <p:cNvSpPr/>
              <p:nvPr/>
            </p:nvSpPr>
            <p:spPr>
              <a:xfrm flipV="1">
                <a:off x="2256" y="2731"/>
                <a:ext cx="96" cy="96"/>
              </a:xfrm>
              <a:prstGeom prst="line">
                <a:avLst/>
              </a:prstGeom>
              <a:ln w="9525" cap="flat" cmpd="sng">
                <a:solidFill>
                  <a:schemeClr val="tx1"/>
                </a:solidFill>
                <a:prstDash val="solid"/>
                <a:round/>
                <a:headEnd type="none" w="med" len="med"/>
                <a:tailEnd type="none" w="med" len="med"/>
              </a:ln>
            </p:spPr>
          </p:sp>
          <p:sp>
            <p:nvSpPr>
              <p:cNvPr id="45120" name="Text Box 64"/>
              <p:cNvSpPr txBox="1"/>
              <p:nvPr/>
            </p:nvSpPr>
            <p:spPr>
              <a:xfrm>
                <a:off x="819" y="2779"/>
                <a:ext cx="812" cy="329"/>
              </a:xfrm>
              <a:prstGeom prst="rect">
                <a:avLst/>
              </a:prstGeom>
              <a:noFill/>
              <a:ln w="9525">
                <a:noFill/>
              </a:ln>
            </p:spPr>
            <p:txBody>
              <a:bodyPr wrap="none" anchor="t" anchorCtr="0">
                <a:spAutoFit/>
              </a:bodyPr>
              <a:p>
                <a:pPr>
                  <a:buFont typeface="Wingdings" panose="05000000000000000000" pitchFamily="2" charset="2"/>
                </a:pPr>
                <a:r>
                  <a:rPr lang="en-US" altLang="zh-CN" sz="2800" b="1" dirty="0">
                    <a:solidFill>
                      <a:schemeClr val="tx2"/>
                    </a:solidFill>
                    <a:latin typeface="Times New Roman" panose="02020603050405020304" charset="0"/>
                    <a:ea typeface="宋体" panose="02010600030101010101" pitchFamily="2" charset="-122"/>
                  </a:rPr>
                  <a:t>B  C  D</a:t>
                </a:r>
                <a:endParaRPr lang="en-US" altLang="zh-CN" sz="2400" dirty="0">
                  <a:latin typeface="Times New Roman" panose="02020603050405020304" charset="0"/>
                  <a:ea typeface="宋体" panose="02010600030101010101" pitchFamily="2" charset="-122"/>
                </a:endParaRPr>
              </a:p>
            </p:txBody>
          </p:sp>
        </p:grpSp>
        <p:sp>
          <p:nvSpPr>
            <p:cNvPr id="45121" name="Text Box 65"/>
            <p:cNvSpPr txBox="1"/>
            <p:nvPr/>
          </p:nvSpPr>
          <p:spPr>
            <a:xfrm>
              <a:off x="9715" y="6495"/>
              <a:ext cx="1146"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CC0066"/>
                  </a:solidFill>
                  <a:latin typeface="Times New Roman" panose="02020603050405020304" charset="0"/>
                  <a:ea typeface="宋体" panose="02010600030101010101" pitchFamily="2" charset="-122"/>
                </a:rPr>
                <a:t>front</a:t>
              </a:r>
              <a:endParaRPr lang="en-US" altLang="zh-CN" sz="2000" dirty="0">
                <a:solidFill>
                  <a:srgbClr val="CC0066"/>
                </a:solidFill>
                <a:latin typeface="Times New Roman" panose="02020603050405020304" charset="0"/>
                <a:ea typeface="宋体" panose="02010600030101010101" pitchFamily="2" charset="-122"/>
              </a:endParaRPr>
            </a:p>
          </p:txBody>
        </p:sp>
        <p:sp>
          <p:nvSpPr>
            <p:cNvPr id="45122" name="Text Box 66"/>
            <p:cNvSpPr txBox="1"/>
            <p:nvPr/>
          </p:nvSpPr>
          <p:spPr>
            <a:xfrm>
              <a:off x="11048" y="6495"/>
              <a:ext cx="1014"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CC0066"/>
                  </a:solidFill>
                  <a:latin typeface="Times New Roman" panose="02020603050405020304" charset="0"/>
                  <a:ea typeface="宋体" panose="02010600030101010101" pitchFamily="2" charset="-122"/>
                </a:rPr>
                <a:t>rear</a:t>
              </a:r>
              <a:endParaRPr lang="en-US" altLang="zh-CN" sz="2000" dirty="0">
                <a:solidFill>
                  <a:srgbClr val="CC0066"/>
                </a:solidFill>
                <a:latin typeface="Times New Roman" panose="02020603050405020304" charset="0"/>
                <a:ea typeface="宋体" panose="02010600030101010101" pitchFamily="2" charset="-122"/>
              </a:endParaRPr>
            </a:p>
          </p:txBody>
        </p:sp>
        <p:sp>
          <p:nvSpPr>
            <p:cNvPr id="45123" name="Text Box 67"/>
            <p:cNvSpPr txBox="1"/>
            <p:nvPr/>
          </p:nvSpPr>
          <p:spPr>
            <a:xfrm>
              <a:off x="12138" y="6513"/>
              <a:ext cx="1355"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0000FF"/>
                  </a:solidFill>
                  <a:latin typeface="Times New Roman" panose="02020603050405020304" charset="0"/>
                  <a:ea typeface="隶书" panose="02010509060101010101" pitchFamily="49" charset="-122"/>
                </a:rPr>
                <a:t>B</a:t>
              </a:r>
              <a:r>
                <a:rPr lang="zh-CN" altLang="en-US" sz="2000" dirty="0">
                  <a:solidFill>
                    <a:srgbClr val="0000FF"/>
                  </a:solidFill>
                  <a:latin typeface="Times New Roman" panose="02020603050405020304" charset="0"/>
                  <a:ea typeface="隶书" panose="02010509060101010101" pitchFamily="49" charset="-122"/>
                </a:rPr>
                <a:t>退队</a:t>
              </a:r>
              <a:endParaRPr lang="zh-CN" altLang="en-US" sz="2000" dirty="0">
                <a:solidFill>
                  <a:srgbClr val="0000FF"/>
                </a:solidFill>
                <a:latin typeface="Times New Roman" panose="02020603050405020304" charset="0"/>
                <a:ea typeface="隶书" panose="02010509060101010101" pitchFamily="49" charset="-122"/>
              </a:endParaRPr>
            </a:p>
          </p:txBody>
        </p:sp>
        <p:sp>
          <p:nvSpPr>
            <p:cNvPr id="45124" name="Line 68"/>
            <p:cNvSpPr/>
            <p:nvPr/>
          </p:nvSpPr>
          <p:spPr>
            <a:xfrm flipH="1">
              <a:off x="10560" y="6213"/>
              <a:ext cx="960" cy="480"/>
            </a:xfrm>
            <a:prstGeom prst="line">
              <a:avLst/>
            </a:prstGeom>
            <a:ln w="28575" cap="flat" cmpd="sng">
              <a:solidFill>
                <a:srgbClr val="008000"/>
              </a:solidFill>
              <a:prstDash val="solid"/>
              <a:round/>
              <a:headEnd type="triangle" w="sm" len="med"/>
              <a:tailEnd type="none" w="med" len="med"/>
            </a:ln>
          </p:spPr>
        </p:sp>
        <p:sp>
          <p:nvSpPr>
            <p:cNvPr id="45125" name="Line 69"/>
            <p:cNvSpPr/>
            <p:nvPr/>
          </p:nvSpPr>
          <p:spPr>
            <a:xfrm flipV="1">
              <a:off x="11708" y="6213"/>
              <a:ext cx="1252" cy="467"/>
            </a:xfrm>
            <a:prstGeom prst="line">
              <a:avLst/>
            </a:prstGeom>
            <a:ln w="28575" cap="flat" cmpd="sng">
              <a:solidFill>
                <a:srgbClr val="008000"/>
              </a:solidFill>
              <a:prstDash val="solid"/>
              <a:round/>
              <a:headEnd type="none" w="med" len="med"/>
              <a:tailEnd type="triangle" w="sm" len="med"/>
            </a:ln>
          </p:spPr>
        </p:sp>
        <p:grpSp>
          <p:nvGrpSpPr>
            <p:cNvPr id="45126" name="Group 70"/>
            <p:cNvGrpSpPr/>
            <p:nvPr/>
          </p:nvGrpSpPr>
          <p:grpSpPr>
            <a:xfrm>
              <a:off x="9840" y="5240"/>
              <a:ext cx="5040" cy="960"/>
              <a:chOff x="2976" y="2731"/>
              <a:chExt cx="2016" cy="384"/>
            </a:xfrm>
          </p:grpSpPr>
          <p:sp>
            <p:nvSpPr>
              <p:cNvPr id="45127" name="Rectangle 71"/>
              <p:cNvSpPr/>
              <p:nvPr/>
            </p:nvSpPr>
            <p:spPr>
              <a:xfrm>
                <a:off x="2976" y="2827"/>
                <a:ext cx="576" cy="288"/>
              </a:xfrm>
              <a:prstGeom prst="rect">
                <a:avLst/>
              </a:prstGeom>
              <a:solidFill>
                <a:srgbClr val="969696"/>
              </a:solidFill>
              <a:ln w="9525"/>
              <a:scene3d>
                <a:camera prst="legacyObliqueTopRight">
                  <a:rot lat="0" lon="0" rev="0"/>
                </a:camera>
                <a:lightRig rig="legacyFlat3" dir="b"/>
              </a:scene3d>
              <a:sp3d extrusionH="430200" prstMaterial="legacyMatte">
                <a:bevelT w="13500" h="13500" prst="angle"/>
                <a:bevelB w="13500" h="13500" prst="angle"/>
                <a:extrusionClr>
                  <a:srgbClr val="969696"/>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5128" name="Rectangle 72"/>
              <p:cNvSpPr/>
              <p:nvPr/>
            </p:nvSpPr>
            <p:spPr>
              <a:xfrm>
                <a:off x="3552" y="2827"/>
                <a:ext cx="1440" cy="288"/>
              </a:xfrm>
              <a:prstGeom prst="rect">
                <a:avLst/>
              </a:prstGeom>
              <a:solidFill>
                <a:schemeClr val="bg1"/>
              </a:solidFill>
              <a:ln w="9525"/>
              <a:scene3d>
                <a:camera prst="legacyObliqueTopRight">
                  <a:rot lat="0" lon="0" rev="0"/>
                </a:camera>
                <a:lightRig rig="legacyFlat3" dir="b"/>
              </a:scene3d>
              <a:sp3d extrusionH="430200" prstMaterial="legacyMatte">
                <a:bevelT w="13500" h="13500" prst="angle"/>
                <a:bevelB w="13500" h="13500" prst="angle"/>
                <a:extrusionClr>
                  <a:schemeClr val="bg1"/>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5129" name="Line 73"/>
              <p:cNvSpPr/>
              <p:nvPr/>
            </p:nvSpPr>
            <p:spPr>
              <a:xfrm>
                <a:off x="3264" y="2827"/>
                <a:ext cx="0" cy="288"/>
              </a:xfrm>
              <a:prstGeom prst="line">
                <a:avLst/>
              </a:prstGeom>
              <a:ln w="9525" cap="flat" cmpd="sng">
                <a:solidFill>
                  <a:schemeClr val="tx1"/>
                </a:solidFill>
                <a:prstDash val="solid"/>
                <a:round/>
                <a:headEnd type="none" w="med" len="med"/>
                <a:tailEnd type="none" w="med" len="med"/>
              </a:ln>
            </p:spPr>
          </p:sp>
          <p:sp>
            <p:nvSpPr>
              <p:cNvPr id="45130" name="Line 74"/>
              <p:cNvSpPr/>
              <p:nvPr/>
            </p:nvSpPr>
            <p:spPr>
              <a:xfrm flipV="1">
                <a:off x="3264" y="2731"/>
                <a:ext cx="96" cy="96"/>
              </a:xfrm>
              <a:prstGeom prst="line">
                <a:avLst/>
              </a:prstGeom>
              <a:ln w="9525" cap="flat" cmpd="sng">
                <a:solidFill>
                  <a:schemeClr val="tx1"/>
                </a:solidFill>
                <a:prstDash val="solid"/>
                <a:round/>
                <a:headEnd type="none" w="med" len="med"/>
                <a:tailEnd type="none" w="med" len="med"/>
              </a:ln>
            </p:spPr>
          </p:sp>
          <p:sp>
            <p:nvSpPr>
              <p:cNvPr id="45131" name="Line 75"/>
              <p:cNvSpPr/>
              <p:nvPr/>
            </p:nvSpPr>
            <p:spPr>
              <a:xfrm>
                <a:off x="3552" y="2827"/>
                <a:ext cx="0" cy="288"/>
              </a:xfrm>
              <a:prstGeom prst="line">
                <a:avLst/>
              </a:prstGeom>
              <a:ln w="9525" cap="flat" cmpd="sng">
                <a:solidFill>
                  <a:schemeClr val="tx1"/>
                </a:solidFill>
                <a:prstDash val="solid"/>
                <a:round/>
                <a:headEnd type="none" w="med" len="med"/>
                <a:tailEnd type="none" w="med" len="med"/>
              </a:ln>
            </p:spPr>
          </p:sp>
          <p:sp>
            <p:nvSpPr>
              <p:cNvPr id="45132" name="Line 76"/>
              <p:cNvSpPr/>
              <p:nvPr/>
            </p:nvSpPr>
            <p:spPr>
              <a:xfrm flipV="1">
                <a:off x="3552" y="2731"/>
                <a:ext cx="96" cy="96"/>
              </a:xfrm>
              <a:prstGeom prst="line">
                <a:avLst/>
              </a:prstGeom>
              <a:ln w="9525" cap="flat" cmpd="sng">
                <a:solidFill>
                  <a:schemeClr val="tx1"/>
                </a:solidFill>
                <a:prstDash val="solid"/>
                <a:round/>
                <a:headEnd type="none" w="med" len="med"/>
                <a:tailEnd type="none" w="med" len="med"/>
              </a:ln>
            </p:spPr>
          </p:sp>
          <p:sp>
            <p:nvSpPr>
              <p:cNvPr id="45133" name="Line 77"/>
              <p:cNvSpPr/>
              <p:nvPr/>
            </p:nvSpPr>
            <p:spPr>
              <a:xfrm>
                <a:off x="3840" y="2827"/>
                <a:ext cx="0" cy="288"/>
              </a:xfrm>
              <a:prstGeom prst="line">
                <a:avLst/>
              </a:prstGeom>
              <a:ln w="9525" cap="flat" cmpd="sng">
                <a:solidFill>
                  <a:schemeClr val="tx1"/>
                </a:solidFill>
                <a:prstDash val="solid"/>
                <a:round/>
                <a:headEnd type="none" w="med" len="med"/>
                <a:tailEnd type="none" w="med" len="med"/>
              </a:ln>
            </p:spPr>
          </p:sp>
          <p:sp>
            <p:nvSpPr>
              <p:cNvPr id="45134" name="Line 78"/>
              <p:cNvSpPr/>
              <p:nvPr/>
            </p:nvSpPr>
            <p:spPr>
              <a:xfrm flipV="1">
                <a:off x="3840" y="2731"/>
                <a:ext cx="96" cy="96"/>
              </a:xfrm>
              <a:prstGeom prst="line">
                <a:avLst/>
              </a:prstGeom>
              <a:ln w="9525" cap="flat" cmpd="sng">
                <a:solidFill>
                  <a:schemeClr val="tx1"/>
                </a:solidFill>
                <a:prstDash val="solid"/>
                <a:round/>
                <a:headEnd type="none" w="med" len="med"/>
                <a:tailEnd type="none" w="med" len="med"/>
              </a:ln>
            </p:spPr>
          </p:sp>
          <p:sp>
            <p:nvSpPr>
              <p:cNvPr id="45135" name="Line 79"/>
              <p:cNvSpPr/>
              <p:nvPr/>
            </p:nvSpPr>
            <p:spPr>
              <a:xfrm>
                <a:off x="4128" y="2827"/>
                <a:ext cx="0" cy="288"/>
              </a:xfrm>
              <a:prstGeom prst="line">
                <a:avLst/>
              </a:prstGeom>
              <a:ln w="9525" cap="flat" cmpd="sng">
                <a:solidFill>
                  <a:schemeClr val="tx1"/>
                </a:solidFill>
                <a:prstDash val="solid"/>
                <a:round/>
                <a:headEnd type="none" w="med" len="med"/>
                <a:tailEnd type="none" w="med" len="med"/>
              </a:ln>
            </p:spPr>
          </p:sp>
          <p:sp>
            <p:nvSpPr>
              <p:cNvPr id="45136" name="Line 80"/>
              <p:cNvSpPr/>
              <p:nvPr/>
            </p:nvSpPr>
            <p:spPr>
              <a:xfrm flipV="1">
                <a:off x="4128" y="2731"/>
                <a:ext cx="96" cy="96"/>
              </a:xfrm>
              <a:prstGeom prst="line">
                <a:avLst/>
              </a:prstGeom>
              <a:ln w="9525" cap="flat" cmpd="sng">
                <a:solidFill>
                  <a:schemeClr val="tx1"/>
                </a:solidFill>
                <a:prstDash val="solid"/>
                <a:round/>
                <a:headEnd type="none" w="med" len="med"/>
                <a:tailEnd type="none" w="med" len="med"/>
              </a:ln>
            </p:spPr>
          </p:sp>
          <p:sp>
            <p:nvSpPr>
              <p:cNvPr id="45137" name="Line 81"/>
              <p:cNvSpPr/>
              <p:nvPr/>
            </p:nvSpPr>
            <p:spPr>
              <a:xfrm>
                <a:off x="4416" y="2827"/>
                <a:ext cx="0" cy="288"/>
              </a:xfrm>
              <a:prstGeom prst="line">
                <a:avLst/>
              </a:prstGeom>
              <a:ln w="9525" cap="flat" cmpd="sng">
                <a:solidFill>
                  <a:schemeClr val="tx1"/>
                </a:solidFill>
                <a:prstDash val="solid"/>
                <a:round/>
                <a:headEnd type="none" w="med" len="med"/>
                <a:tailEnd type="none" w="med" len="med"/>
              </a:ln>
            </p:spPr>
          </p:sp>
          <p:sp>
            <p:nvSpPr>
              <p:cNvPr id="45138" name="Line 82"/>
              <p:cNvSpPr/>
              <p:nvPr/>
            </p:nvSpPr>
            <p:spPr>
              <a:xfrm flipV="1">
                <a:off x="4416" y="2731"/>
                <a:ext cx="96" cy="96"/>
              </a:xfrm>
              <a:prstGeom prst="line">
                <a:avLst/>
              </a:prstGeom>
              <a:ln w="9525" cap="flat" cmpd="sng">
                <a:solidFill>
                  <a:schemeClr val="tx1"/>
                </a:solidFill>
                <a:prstDash val="solid"/>
                <a:round/>
                <a:headEnd type="none" w="med" len="med"/>
                <a:tailEnd type="none" w="med" len="med"/>
              </a:ln>
            </p:spPr>
          </p:sp>
          <p:sp>
            <p:nvSpPr>
              <p:cNvPr id="45139" name="Line 83"/>
              <p:cNvSpPr/>
              <p:nvPr/>
            </p:nvSpPr>
            <p:spPr>
              <a:xfrm>
                <a:off x="4704" y="2827"/>
                <a:ext cx="0" cy="288"/>
              </a:xfrm>
              <a:prstGeom prst="line">
                <a:avLst/>
              </a:prstGeom>
              <a:ln w="9525" cap="flat" cmpd="sng">
                <a:solidFill>
                  <a:schemeClr val="tx1"/>
                </a:solidFill>
                <a:prstDash val="solid"/>
                <a:round/>
                <a:headEnd type="none" w="med" len="med"/>
                <a:tailEnd type="none" w="med" len="med"/>
              </a:ln>
            </p:spPr>
          </p:sp>
          <p:sp>
            <p:nvSpPr>
              <p:cNvPr id="45140" name="Line 84"/>
              <p:cNvSpPr/>
              <p:nvPr/>
            </p:nvSpPr>
            <p:spPr>
              <a:xfrm flipV="1">
                <a:off x="4704" y="2731"/>
                <a:ext cx="96" cy="96"/>
              </a:xfrm>
              <a:prstGeom prst="line">
                <a:avLst/>
              </a:prstGeom>
              <a:ln w="9525" cap="flat" cmpd="sng">
                <a:solidFill>
                  <a:schemeClr val="tx1"/>
                </a:solidFill>
                <a:prstDash val="solid"/>
                <a:round/>
                <a:headEnd type="none" w="med" len="med"/>
                <a:tailEnd type="none" w="med" len="med"/>
              </a:ln>
            </p:spPr>
          </p:sp>
          <p:sp>
            <p:nvSpPr>
              <p:cNvPr id="45141" name="Text Box 85"/>
              <p:cNvSpPr txBox="1"/>
              <p:nvPr/>
            </p:nvSpPr>
            <p:spPr>
              <a:xfrm>
                <a:off x="3576" y="2779"/>
                <a:ext cx="550" cy="329"/>
              </a:xfrm>
              <a:prstGeom prst="rect">
                <a:avLst/>
              </a:prstGeom>
              <a:noFill/>
              <a:ln w="9525">
                <a:noFill/>
              </a:ln>
            </p:spPr>
            <p:txBody>
              <a:bodyPr wrap="none" anchor="t" anchorCtr="0">
                <a:spAutoFit/>
              </a:bodyPr>
              <a:p>
                <a:pPr>
                  <a:buFont typeface="Wingdings" panose="05000000000000000000" pitchFamily="2" charset="2"/>
                </a:pPr>
                <a:r>
                  <a:rPr lang="en-US" altLang="zh-CN" sz="2800" b="1" dirty="0">
                    <a:solidFill>
                      <a:schemeClr val="tx2"/>
                    </a:solidFill>
                    <a:latin typeface="Times New Roman" panose="02020603050405020304" charset="0"/>
                    <a:ea typeface="宋体" panose="02010600030101010101" pitchFamily="2" charset="-122"/>
                  </a:rPr>
                  <a:t>C  D</a:t>
                </a:r>
                <a:endParaRPr lang="en-US" altLang="zh-CN" sz="2400" dirty="0">
                  <a:latin typeface="Times New Roman" panose="02020603050405020304" charset="0"/>
                  <a:ea typeface="宋体" panose="02010600030101010101" pitchFamily="2" charset="-122"/>
                </a:endParaRPr>
              </a:p>
            </p:txBody>
          </p:sp>
        </p:grpSp>
        <p:sp>
          <p:nvSpPr>
            <p:cNvPr id="45142" name="Text Box 86"/>
            <p:cNvSpPr txBox="1"/>
            <p:nvPr/>
          </p:nvSpPr>
          <p:spPr>
            <a:xfrm>
              <a:off x="3600" y="8535"/>
              <a:ext cx="1146"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CC0066"/>
                  </a:solidFill>
                  <a:latin typeface="Times New Roman" panose="02020603050405020304" charset="0"/>
                  <a:ea typeface="宋体" panose="02010600030101010101" pitchFamily="2" charset="-122"/>
                </a:rPr>
                <a:t>front</a:t>
              </a:r>
              <a:endParaRPr lang="en-US" altLang="zh-CN" sz="2000" dirty="0">
                <a:solidFill>
                  <a:srgbClr val="CC0066"/>
                </a:solidFill>
                <a:latin typeface="Times New Roman" panose="02020603050405020304" charset="0"/>
                <a:ea typeface="宋体" panose="02010600030101010101" pitchFamily="2" charset="-122"/>
              </a:endParaRPr>
            </a:p>
          </p:txBody>
        </p:sp>
        <p:sp>
          <p:nvSpPr>
            <p:cNvPr id="45143" name="Text Box 87"/>
            <p:cNvSpPr txBox="1"/>
            <p:nvPr/>
          </p:nvSpPr>
          <p:spPr>
            <a:xfrm>
              <a:off x="4933" y="8535"/>
              <a:ext cx="1014"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CC0066"/>
                  </a:solidFill>
                  <a:latin typeface="Times New Roman" panose="02020603050405020304" charset="0"/>
                  <a:ea typeface="宋体" panose="02010600030101010101" pitchFamily="2" charset="-122"/>
                </a:rPr>
                <a:t>rear</a:t>
              </a:r>
              <a:endParaRPr lang="en-US" altLang="zh-CN" sz="2000" dirty="0">
                <a:solidFill>
                  <a:srgbClr val="CC0066"/>
                </a:solidFill>
                <a:latin typeface="Times New Roman" panose="02020603050405020304" charset="0"/>
                <a:ea typeface="宋体" panose="02010600030101010101" pitchFamily="2" charset="-122"/>
              </a:endParaRPr>
            </a:p>
          </p:txBody>
        </p:sp>
        <p:sp>
          <p:nvSpPr>
            <p:cNvPr id="45144" name="Line 88"/>
            <p:cNvSpPr/>
            <p:nvPr/>
          </p:nvSpPr>
          <p:spPr>
            <a:xfrm flipH="1">
              <a:off x="4393" y="8253"/>
              <a:ext cx="1007" cy="467"/>
            </a:xfrm>
            <a:prstGeom prst="line">
              <a:avLst/>
            </a:prstGeom>
            <a:ln w="28575" cap="flat" cmpd="sng">
              <a:solidFill>
                <a:srgbClr val="008000"/>
              </a:solidFill>
              <a:prstDash val="solid"/>
              <a:round/>
              <a:headEnd type="triangle" w="sm" len="med"/>
              <a:tailEnd type="none" w="med" len="med"/>
            </a:ln>
          </p:spPr>
        </p:sp>
        <p:sp>
          <p:nvSpPr>
            <p:cNvPr id="45145" name="Line 89"/>
            <p:cNvSpPr/>
            <p:nvPr/>
          </p:nvSpPr>
          <p:spPr>
            <a:xfrm flipV="1">
              <a:off x="5593" y="8133"/>
              <a:ext cx="3647" cy="587"/>
            </a:xfrm>
            <a:prstGeom prst="line">
              <a:avLst/>
            </a:prstGeom>
            <a:ln w="28575" cap="flat" cmpd="sng">
              <a:solidFill>
                <a:srgbClr val="008000"/>
              </a:solidFill>
              <a:prstDash val="solid"/>
              <a:round/>
              <a:headEnd type="none" w="med" len="med"/>
              <a:tailEnd type="triangle" w="sm" len="med"/>
            </a:ln>
          </p:spPr>
        </p:sp>
        <p:sp>
          <p:nvSpPr>
            <p:cNvPr id="45146" name="Text Box 90"/>
            <p:cNvSpPr txBox="1"/>
            <p:nvPr/>
          </p:nvSpPr>
          <p:spPr>
            <a:xfrm>
              <a:off x="6023" y="8553"/>
              <a:ext cx="2075"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0000FF"/>
                  </a:solidFill>
                  <a:latin typeface="Times New Roman" panose="02020603050405020304" charset="0"/>
                  <a:ea typeface="隶书" panose="02010509060101010101" pitchFamily="49" charset="-122"/>
                </a:rPr>
                <a:t>E,F,G</a:t>
              </a:r>
              <a:r>
                <a:rPr lang="zh-CN" altLang="en-US" sz="2000" b="1" dirty="0">
                  <a:solidFill>
                    <a:srgbClr val="0000FF"/>
                  </a:solidFill>
                  <a:latin typeface="Times New Roman" panose="02020603050405020304" charset="0"/>
                  <a:ea typeface="隶书" panose="02010509060101010101" pitchFamily="49" charset="-122"/>
                </a:rPr>
                <a:t>进</a:t>
              </a:r>
              <a:r>
                <a:rPr lang="zh-CN" altLang="en-US" sz="2000" dirty="0">
                  <a:solidFill>
                    <a:srgbClr val="0000FF"/>
                  </a:solidFill>
                  <a:latin typeface="Times New Roman" panose="02020603050405020304" charset="0"/>
                  <a:ea typeface="隶书" panose="02010509060101010101" pitchFamily="49" charset="-122"/>
                </a:rPr>
                <a:t>队</a:t>
              </a:r>
              <a:endParaRPr lang="zh-CN" altLang="en-US" sz="2000" dirty="0">
                <a:solidFill>
                  <a:srgbClr val="0000FF"/>
                </a:solidFill>
                <a:latin typeface="Times New Roman" panose="02020603050405020304" charset="0"/>
                <a:ea typeface="隶书" panose="02010509060101010101" pitchFamily="49" charset="-122"/>
              </a:endParaRPr>
            </a:p>
          </p:txBody>
        </p:sp>
        <p:grpSp>
          <p:nvGrpSpPr>
            <p:cNvPr id="45147" name="Group 91"/>
            <p:cNvGrpSpPr/>
            <p:nvPr/>
          </p:nvGrpSpPr>
          <p:grpSpPr>
            <a:xfrm>
              <a:off x="3720" y="7280"/>
              <a:ext cx="5040" cy="965"/>
              <a:chOff x="528" y="3547"/>
              <a:chExt cx="2016" cy="386"/>
            </a:xfrm>
          </p:grpSpPr>
          <p:sp>
            <p:nvSpPr>
              <p:cNvPr id="45148" name="Rectangle 92"/>
              <p:cNvSpPr/>
              <p:nvPr/>
            </p:nvSpPr>
            <p:spPr>
              <a:xfrm>
                <a:off x="528" y="3643"/>
                <a:ext cx="576" cy="288"/>
              </a:xfrm>
              <a:prstGeom prst="rect">
                <a:avLst/>
              </a:prstGeom>
              <a:solidFill>
                <a:srgbClr val="969696"/>
              </a:solidFill>
              <a:ln w="9525"/>
              <a:scene3d>
                <a:camera prst="legacyObliqueTopRight">
                  <a:rot lat="0" lon="0" rev="0"/>
                </a:camera>
                <a:lightRig rig="legacyFlat3" dir="b"/>
              </a:scene3d>
              <a:sp3d extrusionH="430200" prstMaterial="legacyMatte">
                <a:bevelT w="13500" h="13500" prst="angle"/>
                <a:bevelB w="13500" h="13500" prst="angle"/>
                <a:extrusionClr>
                  <a:srgbClr val="969696"/>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5149" name="Rectangle 93"/>
              <p:cNvSpPr/>
              <p:nvPr/>
            </p:nvSpPr>
            <p:spPr>
              <a:xfrm>
                <a:off x="1104" y="3643"/>
                <a:ext cx="1440" cy="288"/>
              </a:xfrm>
              <a:prstGeom prst="rect">
                <a:avLst/>
              </a:prstGeom>
              <a:solidFill>
                <a:schemeClr val="bg1"/>
              </a:solidFill>
              <a:ln w="9525"/>
              <a:scene3d>
                <a:camera prst="legacyObliqueTopRight">
                  <a:rot lat="0" lon="0" rev="0"/>
                </a:camera>
                <a:lightRig rig="legacyFlat3" dir="b"/>
              </a:scene3d>
              <a:sp3d extrusionH="430200" prstMaterial="legacyMatte">
                <a:bevelT w="13500" h="13500" prst="angle"/>
                <a:bevelB w="13500" h="13500" prst="angle"/>
                <a:extrusionClr>
                  <a:schemeClr val="bg1"/>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5150" name="Line 94"/>
              <p:cNvSpPr/>
              <p:nvPr/>
            </p:nvSpPr>
            <p:spPr>
              <a:xfrm>
                <a:off x="816" y="3643"/>
                <a:ext cx="0" cy="288"/>
              </a:xfrm>
              <a:prstGeom prst="line">
                <a:avLst/>
              </a:prstGeom>
              <a:ln w="9525" cap="flat" cmpd="sng">
                <a:solidFill>
                  <a:schemeClr val="tx1"/>
                </a:solidFill>
                <a:prstDash val="solid"/>
                <a:round/>
                <a:headEnd type="none" w="med" len="med"/>
                <a:tailEnd type="none" w="med" len="med"/>
              </a:ln>
            </p:spPr>
          </p:sp>
          <p:sp>
            <p:nvSpPr>
              <p:cNvPr id="45151" name="Line 95"/>
              <p:cNvSpPr/>
              <p:nvPr/>
            </p:nvSpPr>
            <p:spPr>
              <a:xfrm flipV="1">
                <a:off x="816" y="3547"/>
                <a:ext cx="96" cy="96"/>
              </a:xfrm>
              <a:prstGeom prst="line">
                <a:avLst/>
              </a:prstGeom>
              <a:ln w="9525" cap="flat" cmpd="sng">
                <a:solidFill>
                  <a:schemeClr val="tx1"/>
                </a:solidFill>
                <a:prstDash val="solid"/>
                <a:round/>
                <a:headEnd type="none" w="med" len="med"/>
                <a:tailEnd type="none" w="med" len="med"/>
              </a:ln>
            </p:spPr>
          </p:sp>
          <p:sp>
            <p:nvSpPr>
              <p:cNvPr id="45152" name="Line 96"/>
              <p:cNvSpPr/>
              <p:nvPr/>
            </p:nvSpPr>
            <p:spPr>
              <a:xfrm>
                <a:off x="1104" y="3643"/>
                <a:ext cx="0" cy="288"/>
              </a:xfrm>
              <a:prstGeom prst="line">
                <a:avLst/>
              </a:prstGeom>
              <a:ln w="9525" cap="flat" cmpd="sng">
                <a:solidFill>
                  <a:schemeClr val="tx1"/>
                </a:solidFill>
                <a:prstDash val="solid"/>
                <a:round/>
                <a:headEnd type="none" w="med" len="med"/>
                <a:tailEnd type="none" w="med" len="med"/>
              </a:ln>
            </p:spPr>
          </p:sp>
          <p:sp>
            <p:nvSpPr>
              <p:cNvPr id="45153" name="Line 97"/>
              <p:cNvSpPr/>
              <p:nvPr/>
            </p:nvSpPr>
            <p:spPr>
              <a:xfrm flipV="1">
                <a:off x="1104" y="3547"/>
                <a:ext cx="96" cy="96"/>
              </a:xfrm>
              <a:prstGeom prst="line">
                <a:avLst/>
              </a:prstGeom>
              <a:ln w="9525" cap="flat" cmpd="sng">
                <a:solidFill>
                  <a:schemeClr val="tx1"/>
                </a:solidFill>
                <a:prstDash val="solid"/>
                <a:round/>
                <a:headEnd type="none" w="med" len="med"/>
                <a:tailEnd type="none" w="med" len="med"/>
              </a:ln>
            </p:spPr>
          </p:sp>
          <p:sp>
            <p:nvSpPr>
              <p:cNvPr id="45154" name="Line 98"/>
              <p:cNvSpPr/>
              <p:nvPr/>
            </p:nvSpPr>
            <p:spPr>
              <a:xfrm>
                <a:off x="1392" y="3643"/>
                <a:ext cx="0" cy="288"/>
              </a:xfrm>
              <a:prstGeom prst="line">
                <a:avLst/>
              </a:prstGeom>
              <a:ln w="9525" cap="flat" cmpd="sng">
                <a:solidFill>
                  <a:schemeClr val="tx1"/>
                </a:solidFill>
                <a:prstDash val="solid"/>
                <a:round/>
                <a:headEnd type="none" w="med" len="med"/>
                <a:tailEnd type="none" w="med" len="med"/>
              </a:ln>
            </p:spPr>
          </p:sp>
          <p:sp>
            <p:nvSpPr>
              <p:cNvPr id="45155" name="Line 99"/>
              <p:cNvSpPr/>
              <p:nvPr/>
            </p:nvSpPr>
            <p:spPr>
              <a:xfrm flipV="1">
                <a:off x="1392" y="3547"/>
                <a:ext cx="96" cy="96"/>
              </a:xfrm>
              <a:prstGeom prst="line">
                <a:avLst/>
              </a:prstGeom>
              <a:ln w="9525" cap="flat" cmpd="sng">
                <a:solidFill>
                  <a:schemeClr val="tx1"/>
                </a:solidFill>
                <a:prstDash val="solid"/>
                <a:round/>
                <a:headEnd type="none" w="med" len="med"/>
                <a:tailEnd type="none" w="med" len="med"/>
              </a:ln>
            </p:spPr>
          </p:sp>
          <p:sp>
            <p:nvSpPr>
              <p:cNvPr id="45156" name="Line 100"/>
              <p:cNvSpPr/>
              <p:nvPr/>
            </p:nvSpPr>
            <p:spPr>
              <a:xfrm>
                <a:off x="1680" y="3643"/>
                <a:ext cx="0" cy="288"/>
              </a:xfrm>
              <a:prstGeom prst="line">
                <a:avLst/>
              </a:prstGeom>
              <a:ln w="9525" cap="flat" cmpd="sng">
                <a:solidFill>
                  <a:schemeClr val="tx1"/>
                </a:solidFill>
                <a:prstDash val="solid"/>
                <a:round/>
                <a:headEnd type="none" w="med" len="med"/>
                <a:tailEnd type="none" w="med" len="med"/>
              </a:ln>
            </p:spPr>
          </p:sp>
          <p:sp>
            <p:nvSpPr>
              <p:cNvPr id="45157" name="Line 101"/>
              <p:cNvSpPr/>
              <p:nvPr/>
            </p:nvSpPr>
            <p:spPr>
              <a:xfrm flipV="1">
                <a:off x="1680" y="3547"/>
                <a:ext cx="96" cy="96"/>
              </a:xfrm>
              <a:prstGeom prst="line">
                <a:avLst/>
              </a:prstGeom>
              <a:ln w="9525" cap="flat" cmpd="sng">
                <a:solidFill>
                  <a:schemeClr val="tx1"/>
                </a:solidFill>
                <a:prstDash val="solid"/>
                <a:round/>
                <a:headEnd type="none" w="med" len="med"/>
                <a:tailEnd type="none" w="med" len="med"/>
              </a:ln>
            </p:spPr>
          </p:sp>
          <p:sp>
            <p:nvSpPr>
              <p:cNvPr id="45158" name="Line 102"/>
              <p:cNvSpPr/>
              <p:nvPr/>
            </p:nvSpPr>
            <p:spPr>
              <a:xfrm>
                <a:off x="1968" y="3643"/>
                <a:ext cx="0" cy="288"/>
              </a:xfrm>
              <a:prstGeom prst="line">
                <a:avLst/>
              </a:prstGeom>
              <a:ln w="9525" cap="flat" cmpd="sng">
                <a:solidFill>
                  <a:schemeClr val="tx1"/>
                </a:solidFill>
                <a:prstDash val="solid"/>
                <a:round/>
                <a:headEnd type="none" w="med" len="med"/>
                <a:tailEnd type="none" w="med" len="med"/>
              </a:ln>
            </p:spPr>
          </p:sp>
          <p:sp>
            <p:nvSpPr>
              <p:cNvPr id="45159" name="Line 103"/>
              <p:cNvSpPr/>
              <p:nvPr/>
            </p:nvSpPr>
            <p:spPr>
              <a:xfrm flipV="1">
                <a:off x="1968" y="3547"/>
                <a:ext cx="96" cy="96"/>
              </a:xfrm>
              <a:prstGeom prst="line">
                <a:avLst/>
              </a:prstGeom>
              <a:ln w="9525" cap="flat" cmpd="sng">
                <a:solidFill>
                  <a:schemeClr val="tx1"/>
                </a:solidFill>
                <a:prstDash val="solid"/>
                <a:round/>
                <a:headEnd type="none" w="med" len="med"/>
                <a:tailEnd type="none" w="med" len="med"/>
              </a:ln>
            </p:spPr>
          </p:sp>
          <p:sp>
            <p:nvSpPr>
              <p:cNvPr id="45160" name="Line 104"/>
              <p:cNvSpPr/>
              <p:nvPr/>
            </p:nvSpPr>
            <p:spPr>
              <a:xfrm>
                <a:off x="2256" y="3643"/>
                <a:ext cx="0" cy="288"/>
              </a:xfrm>
              <a:prstGeom prst="line">
                <a:avLst/>
              </a:prstGeom>
              <a:ln w="9525" cap="flat" cmpd="sng">
                <a:solidFill>
                  <a:schemeClr val="tx1"/>
                </a:solidFill>
                <a:prstDash val="solid"/>
                <a:round/>
                <a:headEnd type="none" w="med" len="med"/>
                <a:tailEnd type="none" w="med" len="med"/>
              </a:ln>
            </p:spPr>
          </p:sp>
          <p:sp>
            <p:nvSpPr>
              <p:cNvPr id="45161" name="Line 105"/>
              <p:cNvSpPr/>
              <p:nvPr/>
            </p:nvSpPr>
            <p:spPr>
              <a:xfrm flipV="1">
                <a:off x="2256" y="3547"/>
                <a:ext cx="96" cy="96"/>
              </a:xfrm>
              <a:prstGeom prst="line">
                <a:avLst/>
              </a:prstGeom>
              <a:ln w="9525" cap="flat" cmpd="sng">
                <a:solidFill>
                  <a:schemeClr val="tx1"/>
                </a:solidFill>
                <a:prstDash val="solid"/>
                <a:round/>
                <a:headEnd type="none" w="med" len="med"/>
                <a:tailEnd type="none" w="med" len="med"/>
              </a:ln>
            </p:spPr>
          </p:sp>
          <p:sp>
            <p:nvSpPr>
              <p:cNvPr id="45162" name="Text Box 106"/>
              <p:cNvSpPr txBox="1"/>
              <p:nvPr/>
            </p:nvSpPr>
            <p:spPr>
              <a:xfrm>
                <a:off x="1128" y="3604"/>
                <a:ext cx="1395" cy="329"/>
              </a:xfrm>
              <a:prstGeom prst="rect">
                <a:avLst/>
              </a:prstGeom>
              <a:noFill/>
              <a:ln w="9525">
                <a:noFill/>
              </a:ln>
            </p:spPr>
            <p:txBody>
              <a:bodyPr wrap="none" anchor="t" anchorCtr="0">
                <a:spAutoFit/>
              </a:bodyPr>
              <a:p>
                <a:pPr>
                  <a:buFont typeface="Wingdings" panose="05000000000000000000" pitchFamily="2" charset="2"/>
                </a:pPr>
                <a:r>
                  <a:rPr lang="en-US" altLang="zh-CN" sz="2800" b="1" dirty="0">
                    <a:solidFill>
                      <a:schemeClr val="tx2"/>
                    </a:solidFill>
                    <a:latin typeface="Times New Roman" panose="02020603050405020304" charset="0"/>
                    <a:ea typeface="宋体" panose="02010600030101010101" pitchFamily="2" charset="-122"/>
                  </a:rPr>
                  <a:t>C  D  E  F   G</a:t>
                </a:r>
                <a:endParaRPr lang="en-US" altLang="zh-CN" sz="2400" dirty="0">
                  <a:latin typeface="Times New Roman" panose="02020603050405020304" charset="0"/>
                  <a:ea typeface="宋体" panose="02010600030101010101" pitchFamily="2" charset="-122"/>
                </a:endParaRPr>
              </a:p>
            </p:txBody>
          </p:sp>
        </p:grpSp>
        <p:grpSp>
          <p:nvGrpSpPr>
            <p:cNvPr id="45163" name="Group 107"/>
            <p:cNvGrpSpPr/>
            <p:nvPr/>
          </p:nvGrpSpPr>
          <p:grpSpPr>
            <a:xfrm>
              <a:off x="9840" y="7280"/>
              <a:ext cx="5048" cy="965"/>
              <a:chOff x="2976" y="3547"/>
              <a:chExt cx="2019" cy="386"/>
            </a:xfrm>
          </p:grpSpPr>
          <p:sp>
            <p:nvSpPr>
              <p:cNvPr id="45164" name="Rectangle 108"/>
              <p:cNvSpPr/>
              <p:nvPr/>
            </p:nvSpPr>
            <p:spPr>
              <a:xfrm>
                <a:off x="2976" y="3643"/>
                <a:ext cx="576" cy="288"/>
              </a:xfrm>
              <a:prstGeom prst="rect">
                <a:avLst/>
              </a:prstGeom>
              <a:solidFill>
                <a:srgbClr val="969696"/>
              </a:solidFill>
              <a:ln w="9525"/>
              <a:scene3d>
                <a:camera prst="legacyObliqueTopRight">
                  <a:rot lat="0" lon="0" rev="0"/>
                </a:camera>
                <a:lightRig rig="legacyFlat3" dir="b"/>
              </a:scene3d>
              <a:sp3d extrusionH="430200" prstMaterial="legacyMatte">
                <a:bevelT w="13500" h="13500" prst="angle"/>
                <a:bevelB w="13500" h="13500" prst="angle"/>
                <a:extrusionClr>
                  <a:srgbClr val="969696"/>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5165" name="Rectangle 109"/>
              <p:cNvSpPr/>
              <p:nvPr/>
            </p:nvSpPr>
            <p:spPr>
              <a:xfrm>
                <a:off x="3552" y="3643"/>
                <a:ext cx="1440" cy="288"/>
              </a:xfrm>
              <a:prstGeom prst="rect">
                <a:avLst/>
              </a:prstGeom>
              <a:solidFill>
                <a:schemeClr val="bg1"/>
              </a:solidFill>
              <a:ln w="9525"/>
              <a:scene3d>
                <a:camera prst="legacyObliqueTopRight">
                  <a:rot lat="0" lon="0" rev="0"/>
                </a:camera>
                <a:lightRig rig="legacyFlat3" dir="b"/>
              </a:scene3d>
              <a:sp3d extrusionH="430200" prstMaterial="legacyMatte">
                <a:bevelT w="13500" h="13500" prst="angle"/>
                <a:bevelB w="13500" h="13500" prst="angle"/>
                <a:extrusionClr>
                  <a:schemeClr val="bg1"/>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5166" name="Line 110"/>
              <p:cNvSpPr/>
              <p:nvPr/>
            </p:nvSpPr>
            <p:spPr>
              <a:xfrm>
                <a:off x="3264" y="3643"/>
                <a:ext cx="0" cy="288"/>
              </a:xfrm>
              <a:prstGeom prst="line">
                <a:avLst/>
              </a:prstGeom>
              <a:ln w="9525" cap="flat" cmpd="sng">
                <a:solidFill>
                  <a:schemeClr val="tx1"/>
                </a:solidFill>
                <a:prstDash val="solid"/>
                <a:round/>
                <a:headEnd type="none" w="med" len="med"/>
                <a:tailEnd type="none" w="med" len="med"/>
              </a:ln>
            </p:spPr>
          </p:sp>
          <p:sp>
            <p:nvSpPr>
              <p:cNvPr id="45167" name="Line 111"/>
              <p:cNvSpPr/>
              <p:nvPr/>
            </p:nvSpPr>
            <p:spPr>
              <a:xfrm flipV="1">
                <a:off x="3264" y="3547"/>
                <a:ext cx="96" cy="96"/>
              </a:xfrm>
              <a:prstGeom prst="line">
                <a:avLst/>
              </a:prstGeom>
              <a:ln w="9525" cap="flat" cmpd="sng">
                <a:solidFill>
                  <a:schemeClr val="tx1"/>
                </a:solidFill>
                <a:prstDash val="solid"/>
                <a:round/>
                <a:headEnd type="none" w="med" len="med"/>
                <a:tailEnd type="none" w="med" len="med"/>
              </a:ln>
            </p:spPr>
          </p:sp>
          <p:sp>
            <p:nvSpPr>
              <p:cNvPr id="45168" name="Line 112"/>
              <p:cNvSpPr/>
              <p:nvPr/>
            </p:nvSpPr>
            <p:spPr>
              <a:xfrm>
                <a:off x="3552" y="3643"/>
                <a:ext cx="0" cy="288"/>
              </a:xfrm>
              <a:prstGeom prst="line">
                <a:avLst/>
              </a:prstGeom>
              <a:ln w="9525" cap="flat" cmpd="sng">
                <a:solidFill>
                  <a:schemeClr val="tx1"/>
                </a:solidFill>
                <a:prstDash val="solid"/>
                <a:round/>
                <a:headEnd type="none" w="med" len="med"/>
                <a:tailEnd type="none" w="med" len="med"/>
              </a:ln>
            </p:spPr>
          </p:sp>
          <p:sp>
            <p:nvSpPr>
              <p:cNvPr id="45169" name="Line 113"/>
              <p:cNvSpPr/>
              <p:nvPr/>
            </p:nvSpPr>
            <p:spPr>
              <a:xfrm flipV="1">
                <a:off x="3552" y="3547"/>
                <a:ext cx="96" cy="96"/>
              </a:xfrm>
              <a:prstGeom prst="line">
                <a:avLst/>
              </a:prstGeom>
              <a:ln w="9525" cap="flat" cmpd="sng">
                <a:solidFill>
                  <a:schemeClr val="tx1"/>
                </a:solidFill>
                <a:prstDash val="solid"/>
                <a:round/>
                <a:headEnd type="none" w="med" len="med"/>
                <a:tailEnd type="none" w="med" len="med"/>
              </a:ln>
            </p:spPr>
          </p:sp>
          <p:sp>
            <p:nvSpPr>
              <p:cNvPr id="45170" name="Line 114"/>
              <p:cNvSpPr/>
              <p:nvPr/>
            </p:nvSpPr>
            <p:spPr>
              <a:xfrm>
                <a:off x="3840" y="3643"/>
                <a:ext cx="0" cy="288"/>
              </a:xfrm>
              <a:prstGeom prst="line">
                <a:avLst/>
              </a:prstGeom>
              <a:ln w="9525" cap="flat" cmpd="sng">
                <a:solidFill>
                  <a:schemeClr val="tx1"/>
                </a:solidFill>
                <a:prstDash val="solid"/>
                <a:round/>
                <a:headEnd type="none" w="med" len="med"/>
                <a:tailEnd type="none" w="med" len="med"/>
              </a:ln>
            </p:spPr>
          </p:sp>
          <p:sp>
            <p:nvSpPr>
              <p:cNvPr id="45171" name="Line 115"/>
              <p:cNvSpPr/>
              <p:nvPr/>
            </p:nvSpPr>
            <p:spPr>
              <a:xfrm flipV="1">
                <a:off x="3840" y="3547"/>
                <a:ext cx="96" cy="96"/>
              </a:xfrm>
              <a:prstGeom prst="line">
                <a:avLst/>
              </a:prstGeom>
              <a:ln w="9525" cap="flat" cmpd="sng">
                <a:solidFill>
                  <a:schemeClr val="tx1"/>
                </a:solidFill>
                <a:prstDash val="solid"/>
                <a:round/>
                <a:headEnd type="none" w="med" len="med"/>
                <a:tailEnd type="none" w="med" len="med"/>
              </a:ln>
            </p:spPr>
          </p:sp>
          <p:sp>
            <p:nvSpPr>
              <p:cNvPr id="45172" name="Line 116"/>
              <p:cNvSpPr/>
              <p:nvPr/>
            </p:nvSpPr>
            <p:spPr>
              <a:xfrm>
                <a:off x="4128" y="3643"/>
                <a:ext cx="0" cy="288"/>
              </a:xfrm>
              <a:prstGeom prst="line">
                <a:avLst/>
              </a:prstGeom>
              <a:ln w="9525" cap="flat" cmpd="sng">
                <a:solidFill>
                  <a:schemeClr val="tx1"/>
                </a:solidFill>
                <a:prstDash val="solid"/>
                <a:round/>
                <a:headEnd type="none" w="med" len="med"/>
                <a:tailEnd type="none" w="med" len="med"/>
              </a:ln>
            </p:spPr>
          </p:sp>
          <p:sp>
            <p:nvSpPr>
              <p:cNvPr id="45173" name="Line 117"/>
              <p:cNvSpPr/>
              <p:nvPr/>
            </p:nvSpPr>
            <p:spPr>
              <a:xfrm flipV="1">
                <a:off x="4128" y="3547"/>
                <a:ext cx="96" cy="96"/>
              </a:xfrm>
              <a:prstGeom prst="line">
                <a:avLst/>
              </a:prstGeom>
              <a:ln w="9525" cap="flat" cmpd="sng">
                <a:solidFill>
                  <a:schemeClr val="tx1"/>
                </a:solidFill>
                <a:prstDash val="solid"/>
                <a:round/>
                <a:headEnd type="none" w="med" len="med"/>
                <a:tailEnd type="none" w="med" len="med"/>
              </a:ln>
            </p:spPr>
          </p:sp>
          <p:sp>
            <p:nvSpPr>
              <p:cNvPr id="45174" name="Line 118"/>
              <p:cNvSpPr/>
              <p:nvPr/>
            </p:nvSpPr>
            <p:spPr>
              <a:xfrm>
                <a:off x="4416" y="3643"/>
                <a:ext cx="0" cy="288"/>
              </a:xfrm>
              <a:prstGeom prst="line">
                <a:avLst/>
              </a:prstGeom>
              <a:ln w="9525" cap="flat" cmpd="sng">
                <a:solidFill>
                  <a:schemeClr val="tx1"/>
                </a:solidFill>
                <a:prstDash val="solid"/>
                <a:round/>
                <a:headEnd type="none" w="med" len="med"/>
                <a:tailEnd type="none" w="med" len="med"/>
              </a:ln>
            </p:spPr>
          </p:sp>
          <p:sp>
            <p:nvSpPr>
              <p:cNvPr id="45175" name="Line 119"/>
              <p:cNvSpPr/>
              <p:nvPr/>
            </p:nvSpPr>
            <p:spPr>
              <a:xfrm flipV="1">
                <a:off x="4416" y="3547"/>
                <a:ext cx="96" cy="96"/>
              </a:xfrm>
              <a:prstGeom prst="line">
                <a:avLst/>
              </a:prstGeom>
              <a:ln w="9525" cap="flat" cmpd="sng">
                <a:solidFill>
                  <a:schemeClr val="tx1"/>
                </a:solidFill>
                <a:prstDash val="solid"/>
                <a:round/>
                <a:headEnd type="none" w="med" len="med"/>
                <a:tailEnd type="none" w="med" len="med"/>
              </a:ln>
            </p:spPr>
          </p:sp>
          <p:sp>
            <p:nvSpPr>
              <p:cNvPr id="45176" name="Line 120"/>
              <p:cNvSpPr/>
              <p:nvPr/>
            </p:nvSpPr>
            <p:spPr>
              <a:xfrm>
                <a:off x="4704" y="3643"/>
                <a:ext cx="0" cy="288"/>
              </a:xfrm>
              <a:prstGeom prst="line">
                <a:avLst/>
              </a:prstGeom>
              <a:ln w="9525" cap="flat" cmpd="sng">
                <a:solidFill>
                  <a:schemeClr val="tx1"/>
                </a:solidFill>
                <a:prstDash val="solid"/>
                <a:round/>
                <a:headEnd type="none" w="med" len="med"/>
                <a:tailEnd type="none" w="med" len="med"/>
              </a:ln>
            </p:spPr>
          </p:sp>
          <p:sp>
            <p:nvSpPr>
              <p:cNvPr id="45177" name="Line 121"/>
              <p:cNvSpPr/>
              <p:nvPr/>
            </p:nvSpPr>
            <p:spPr>
              <a:xfrm flipV="1">
                <a:off x="4704" y="3547"/>
                <a:ext cx="96" cy="96"/>
              </a:xfrm>
              <a:prstGeom prst="line">
                <a:avLst/>
              </a:prstGeom>
              <a:ln w="9525" cap="flat" cmpd="sng">
                <a:solidFill>
                  <a:schemeClr val="tx1"/>
                </a:solidFill>
                <a:prstDash val="solid"/>
                <a:round/>
                <a:headEnd type="none" w="med" len="med"/>
                <a:tailEnd type="none" w="med" len="med"/>
              </a:ln>
            </p:spPr>
          </p:sp>
          <p:sp>
            <p:nvSpPr>
              <p:cNvPr id="45178" name="Text Box 122"/>
              <p:cNvSpPr txBox="1"/>
              <p:nvPr/>
            </p:nvSpPr>
            <p:spPr>
              <a:xfrm>
                <a:off x="3600" y="3604"/>
                <a:ext cx="1395" cy="329"/>
              </a:xfrm>
              <a:prstGeom prst="rect">
                <a:avLst/>
              </a:prstGeom>
              <a:noFill/>
              <a:ln w="9525">
                <a:noFill/>
              </a:ln>
            </p:spPr>
            <p:txBody>
              <a:bodyPr wrap="none" anchor="t" anchorCtr="0">
                <a:spAutoFit/>
              </a:bodyPr>
              <a:p>
                <a:pPr>
                  <a:buFont typeface="Wingdings" panose="05000000000000000000" pitchFamily="2" charset="2"/>
                </a:pPr>
                <a:r>
                  <a:rPr lang="en-US" altLang="zh-CN" sz="2800" b="1" dirty="0">
                    <a:solidFill>
                      <a:schemeClr val="tx2"/>
                    </a:solidFill>
                    <a:latin typeface="Times New Roman" panose="02020603050405020304" charset="0"/>
                    <a:ea typeface="宋体" panose="02010600030101010101" pitchFamily="2" charset="-122"/>
                  </a:rPr>
                  <a:t>C  D  E  F   G</a:t>
                </a:r>
                <a:endParaRPr lang="en-US" altLang="zh-CN" sz="2400" dirty="0">
                  <a:latin typeface="Times New Roman" panose="02020603050405020304" charset="0"/>
                  <a:ea typeface="宋体" panose="02010600030101010101" pitchFamily="2" charset="-122"/>
                </a:endParaRPr>
              </a:p>
            </p:txBody>
          </p:sp>
        </p:grpSp>
        <p:sp>
          <p:nvSpPr>
            <p:cNvPr id="45179" name="Text Box 123"/>
            <p:cNvSpPr txBox="1"/>
            <p:nvPr/>
          </p:nvSpPr>
          <p:spPr>
            <a:xfrm>
              <a:off x="9690" y="8513"/>
              <a:ext cx="1146"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CC0066"/>
                  </a:solidFill>
                  <a:latin typeface="Times New Roman" panose="02020603050405020304" charset="0"/>
                  <a:ea typeface="宋体" panose="02010600030101010101" pitchFamily="2" charset="-122"/>
                </a:rPr>
                <a:t>front</a:t>
              </a:r>
              <a:endParaRPr lang="en-US" altLang="zh-CN" sz="2000" dirty="0">
                <a:solidFill>
                  <a:srgbClr val="CC0066"/>
                </a:solidFill>
                <a:latin typeface="Times New Roman" panose="02020603050405020304" charset="0"/>
                <a:ea typeface="宋体" panose="02010600030101010101" pitchFamily="2" charset="-122"/>
              </a:endParaRPr>
            </a:p>
          </p:txBody>
        </p:sp>
        <p:sp>
          <p:nvSpPr>
            <p:cNvPr id="45180" name="Text Box 124"/>
            <p:cNvSpPr txBox="1"/>
            <p:nvPr/>
          </p:nvSpPr>
          <p:spPr>
            <a:xfrm>
              <a:off x="11023" y="8513"/>
              <a:ext cx="1014"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CC0066"/>
                  </a:solidFill>
                  <a:latin typeface="Times New Roman" panose="02020603050405020304" charset="0"/>
                  <a:ea typeface="宋体" panose="02010600030101010101" pitchFamily="2" charset="-122"/>
                </a:rPr>
                <a:t>rear</a:t>
              </a:r>
              <a:endParaRPr lang="en-US" altLang="zh-CN" sz="2000" dirty="0">
                <a:solidFill>
                  <a:srgbClr val="CC0066"/>
                </a:solidFill>
                <a:latin typeface="Times New Roman" panose="02020603050405020304" charset="0"/>
                <a:ea typeface="宋体" panose="02010600030101010101" pitchFamily="2" charset="-122"/>
              </a:endParaRPr>
            </a:p>
          </p:txBody>
        </p:sp>
        <p:sp>
          <p:nvSpPr>
            <p:cNvPr id="45181" name="Line 125"/>
            <p:cNvSpPr/>
            <p:nvPr/>
          </p:nvSpPr>
          <p:spPr>
            <a:xfrm flipH="1">
              <a:off x="10483" y="8253"/>
              <a:ext cx="1157" cy="445"/>
            </a:xfrm>
            <a:prstGeom prst="line">
              <a:avLst/>
            </a:prstGeom>
            <a:ln w="28575" cap="flat" cmpd="sng">
              <a:solidFill>
                <a:srgbClr val="008000"/>
              </a:solidFill>
              <a:prstDash val="solid"/>
              <a:round/>
              <a:headEnd type="triangle" w="sm" len="med"/>
              <a:tailEnd type="none" w="med" len="med"/>
            </a:ln>
          </p:spPr>
        </p:sp>
        <p:sp>
          <p:nvSpPr>
            <p:cNvPr id="45182" name="Line 126"/>
            <p:cNvSpPr/>
            <p:nvPr/>
          </p:nvSpPr>
          <p:spPr>
            <a:xfrm flipV="1">
              <a:off x="11683" y="8253"/>
              <a:ext cx="3557" cy="445"/>
            </a:xfrm>
            <a:prstGeom prst="line">
              <a:avLst/>
            </a:prstGeom>
            <a:ln w="28575" cap="flat" cmpd="sng">
              <a:solidFill>
                <a:srgbClr val="008000"/>
              </a:solidFill>
              <a:prstDash val="solid"/>
              <a:round/>
              <a:headEnd type="none" w="med" len="med"/>
              <a:tailEnd type="triangle" w="sm" len="med"/>
            </a:ln>
          </p:spPr>
        </p:sp>
        <p:sp>
          <p:nvSpPr>
            <p:cNvPr id="45183" name="Text Box 127"/>
            <p:cNvSpPr txBox="1"/>
            <p:nvPr/>
          </p:nvSpPr>
          <p:spPr>
            <a:xfrm>
              <a:off x="12730" y="8530"/>
              <a:ext cx="2301" cy="628"/>
            </a:xfrm>
            <a:prstGeom prst="rect">
              <a:avLst/>
            </a:prstGeom>
            <a:noFill/>
            <a:ln w="9525">
              <a:noFill/>
            </a:ln>
          </p:spPr>
          <p:txBody>
            <a:bodyPr wrap="none" anchor="t" anchorCtr="0">
              <a:spAutoFit/>
            </a:bodyPr>
            <a:p>
              <a:pPr>
                <a:buFont typeface="Wingdings" panose="05000000000000000000" pitchFamily="2" charset="2"/>
              </a:pPr>
              <a:r>
                <a:rPr lang="en-US" altLang="zh-CN" sz="2000" b="1" dirty="0">
                  <a:solidFill>
                    <a:srgbClr val="0000FF"/>
                  </a:solidFill>
                  <a:latin typeface="Times New Roman" panose="02020603050405020304" charset="0"/>
                  <a:ea typeface="隶书" panose="02010509060101010101" pitchFamily="49" charset="-122"/>
                </a:rPr>
                <a:t>H</a:t>
              </a:r>
              <a:r>
                <a:rPr lang="zh-CN" altLang="en-US" sz="2000" b="1" dirty="0">
                  <a:solidFill>
                    <a:srgbClr val="0000FF"/>
                  </a:solidFill>
                  <a:latin typeface="Times New Roman" panose="02020603050405020304" charset="0"/>
                  <a:ea typeface="隶书" panose="02010509060101010101" pitchFamily="49" charset="-122"/>
                </a:rPr>
                <a:t>进</a:t>
              </a:r>
              <a:r>
                <a:rPr lang="zh-CN" altLang="en-US" sz="2000" dirty="0">
                  <a:solidFill>
                    <a:srgbClr val="0000FF"/>
                  </a:solidFill>
                  <a:latin typeface="Times New Roman" panose="02020603050405020304" charset="0"/>
                  <a:ea typeface="隶书" panose="02010509060101010101" pitchFamily="49" charset="-122"/>
                </a:rPr>
                <a:t>队</a:t>
              </a:r>
              <a:r>
                <a:rPr lang="en-US" altLang="zh-CN" sz="2000" dirty="0">
                  <a:solidFill>
                    <a:srgbClr val="0000FF"/>
                  </a:solidFill>
                  <a:latin typeface="Times New Roman" panose="02020603050405020304" charset="0"/>
                  <a:ea typeface="隶书" panose="02010509060101010101" pitchFamily="49" charset="-122"/>
                </a:rPr>
                <a:t>,</a:t>
              </a:r>
              <a:r>
                <a:rPr lang="zh-CN" altLang="en-US" sz="2000" dirty="0">
                  <a:solidFill>
                    <a:srgbClr val="0000FF"/>
                  </a:solidFill>
                  <a:latin typeface="Times New Roman" panose="02020603050405020304" charset="0"/>
                  <a:ea typeface="隶书" panose="02010509060101010101" pitchFamily="49" charset="-122"/>
                </a:rPr>
                <a:t>溢出</a:t>
              </a:r>
              <a:endParaRPr lang="zh-CN" altLang="en-US" sz="2000" dirty="0">
                <a:solidFill>
                  <a:srgbClr val="0000FF"/>
                </a:solidFill>
                <a:latin typeface="Times New Roman" panose="02020603050405020304" charset="0"/>
                <a:ea typeface="隶书" panose="02010509060101010101" pitchFamily="49" charset="-122"/>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顺序队列的问题：队头指针和队尾指针始终</a:t>
            </a:r>
            <a:r>
              <a:rPr lang="en-US" altLang="zh-CN" sz="2800" dirty="0">
                <a:latin typeface="黑体" panose="02010609060101010101" pitchFamily="2" charset="-122"/>
                <a:ea typeface="黑体" panose="02010609060101010101" pitchFamily="2" charset="-122"/>
                <a:cs typeface="+mn-cs"/>
                <a:sym typeface="+mn-ea"/>
              </a:rPr>
              <a:t>+1</a:t>
            </a:r>
            <a:r>
              <a:rPr lang="zh-CN" altLang="en-US" sz="2800" dirty="0">
                <a:latin typeface="黑体" panose="02010609060101010101" pitchFamily="2" charset="-122"/>
                <a:ea typeface="黑体" panose="02010609060101010101" pitchFamily="2" charset="-122"/>
                <a:cs typeface="+mn-cs"/>
                <a:sym typeface="+mn-ea"/>
              </a:rPr>
              <a:t>操作，只能往后移动</a:t>
            </a: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解决办法之一：链队列</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解决办法之二：将队列存储结构首尾相接，形成循环(环形)队列</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链队列采用链表存储单元，有两个分别指示队头和队尾的指针</a:t>
            </a:r>
            <a:endParaRPr lang="zh-CN" altLang="en-US" sz="2800" dirty="0">
              <a:latin typeface="黑体" panose="02010609060101010101" pitchFamily="2" charset="-122"/>
              <a:ea typeface="黑体" panose="02010609060101010101" pitchFamily="2" charset="-122"/>
              <a:cs typeface="+mn-cs"/>
            </a:endParaRPr>
          </a:p>
          <a:p>
            <a:pPr marL="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链队列用带头结点的单链表表示，front指向头结点，rear指向尾结点</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链式队列在进队时无队满问题，但有队空问题</a:t>
            </a: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47108" name="Group 4"/>
          <p:cNvGrpSpPr/>
          <p:nvPr/>
        </p:nvGrpSpPr>
        <p:grpSpPr>
          <a:xfrm>
            <a:off x="2309813" y="3571875"/>
            <a:ext cx="7162800" cy="1589088"/>
            <a:chOff x="480" y="2784"/>
            <a:chExt cx="4512" cy="1001"/>
          </a:xfrm>
        </p:grpSpPr>
        <p:sp>
          <p:nvSpPr>
            <p:cNvPr id="47109" name="Text Box 5"/>
            <p:cNvSpPr txBox="1"/>
            <p:nvPr/>
          </p:nvSpPr>
          <p:spPr>
            <a:xfrm>
              <a:off x="1200" y="2784"/>
              <a:ext cx="1056" cy="290"/>
            </a:xfrm>
            <a:prstGeom prst="rect">
              <a:avLst/>
            </a:prstGeom>
            <a:noFill/>
            <a:ln w="9525">
              <a:noFill/>
            </a:ln>
          </p:spPr>
          <p:txBody>
            <a:bodyPr anchor="t" anchorCtr="0">
              <a:spAutoFit/>
            </a:bodyPr>
            <a:p>
              <a:pPr>
                <a:buFont typeface="Wingdings" panose="05000000000000000000" pitchFamily="2" charset="2"/>
              </a:pPr>
              <a:r>
                <a:rPr lang="en-US" altLang="zh-CN" sz="2400" dirty="0">
                  <a:latin typeface="Times New Roman" panose="02020603050405020304" charset="0"/>
                  <a:ea typeface="宋体" panose="02010600030101010101" pitchFamily="2" charset="-122"/>
                </a:rPr>
                <a:t>data  next</a:t>
              </a:r>
              <a:endParaRPr lang="en-US" altLang="zh-CN" sz="2400" dirty="0">
                <a:latin typeface="Times New Roman" panose="02020603050405020304" charset="0"/>
                <a:ea typeface="宋体" panose="02010600030101010101" pitchFamily="2" charset="-122"/>
              </a:endParaRPr>
            </a:p>
          </p:txBody>
        </p:sp>
        <p:sp>
          <p:nvSpPr>
            <p:cNvPr id="47110" name="Rectangle 6"/>
            <p:cNvSpPr/>
            <p:nvPr/>
          </p:nvSpPr>
          <p:spPr>
            <a:xfrm>
              <a:off x="1296" y="3168"/>
              <a:ext cx="528" cy="288"/>
            </a:xfrm>
            <a:prstGeom prst="rect">
              <a:avLst/>
            </a:prstGeom>
            <a:noFill/>
            <a:ln w="9525" cap="flat" cmpd="sng">
              <a:solidFill>
                <a:srgbClr val="008000"/>
              </a:solidFill>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008000"/>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7111" name="Text Box 7"/>
            <p:cNvSpPr txBox="1"/>
            <p:nvPr/>
          </p:nvSpPr>
          <p:spPr>
            <a:xfrm>
              <a:off x="480" y="3072"/>
              <a:ext cx="596" cy="329"/>
            </a:xfrm>
            <a:prstGeom prst="rect">
              <a:avLst/>
            </a:prstGeom>
            <a:noFill/>
            <a:ln w="9525">
              <a:noFill/>
            </a:ln>
          </p:spPr>
          <p:txBody>
            <a:bodyPr wrap="none" anchor="t" anchorCtr="0">
              <a:spAutoFit/>
            </a:bodyPr>
            <a:p>
              <a:pPr>
                <a:buFont typeface="Wingdings" panose="05000000000000000000" pitchFamily="2" charset="2"/>
              </a:pPr>
              <a:r>
                <a:rPr lang="en-US" altLang="zh-CN" sz="2800" b="1" dirty="0">
                  <a:solidFill>
                    <a:schemeClr val="accent2"/>
                  </a:solidFill>
                  <a:latin typeface="Times New Roman" panose="02020603050405020304" charset="0"/>
                  <a:ea typeface="宋体" panose="02010600030101010101" pitchFamily="2" charset="-122"/>
                </a:rPr>
                <a:t>front</a:t>
              </a:r>
              <a:endParaRPr lang="en-US" altLang="zh-CN" sz="2400" dirty="0">
                <a:latin typeface="Times New Roman" panose="02020603050405020304" charset="0"/>
                <a:ea typeface="宋体" panose="02010600030101010101" pitchFamily="2" charset="-122"/>
              </a:endParaRPr>
            </a:p>
          </p:txBody>
        </p:sp>
        <p:sp>
          <p:nvSpPr>
            <p:cNvPr id="47112" name="Line 8"/>
            <p:cNvSpPr/>
            <p:nvPr/>
          </p:nvSpPr>
          <p:spPr>
            <a:xfrm>
              <a:off x="1056" y="3264"/>
              <a:ext cx="240" cy="0"/>
            </a:xfrm>
            <a:prstGeom prst="line">
              <a:avLst/>
            </a:prstGeom>
            <a:ln w="38100" cap="flat" cmpd="sng">
              <a:solidFill>
                <a:srgbClr val="FF0000"/>
              </a:solidFill>
              <a:prstDash val="solid"/>
              <a:round/>
              <a:headEnd type="none" w="med" len="med"/>
              <a:tailEnd type="triangle" w="sm" len="med"/>
            </a:ln>
          </p:spPr>
        </p:sp>
        <p:sp>
          <p:nvSpPr>
            <p:cNvPr id="47113" name="Line 9"/>
            <p:cNvSpPr/>
            <p:nvPr/>
          </p:nvSpPr>
          <p:spPr>
            <a:xfrm>
              <a:off x="1632" y="3168"/>
              <a:ext cx="0" cy="288"/>
            </a:xfrm>
            <a:prstGeom prst="line">
              <a:avLst/>
            </a:prstGeom>
            <a:ln w="9525" cap="flat" cmpd="sng">
              <a:solidFill>
                <a:schemeClr val="tx1"/>
              </a:solidFill>
              <a:prstDash val="solid"/>
              <a:round/>
              <a:headEnd type="none" w="med" len="med"/>
              <a:tailEnd type="none" w="med" len="med"/>
            </a:ln>
          </p:spPr>
        </p:sp>
        <p:sp>
          <p:nvSpPr>
            <p:cNvPr id="47114" name="Line 10"/>
            <p:cNvSpPr/>
            <p:nvPr/>
          </p:nvSpPr>
          <p:spPr>
            <a:xfrm flipV="1">
              <a:off x="1632" y="3072"/>
              <a:ext cx="96" cy="96"/>
            </a:xfrm>
            <a:prstGeom prst="line">
              <a:avLst/>
            </a:prstGeom>
            <a:ln w="9525" cap="flat" cmpd="sng">
              <a:solidFill>
                <a:schemeClr val="tx1"/>
              </a:solidFill>
              <a:prstDash val="solid"/>
              <a:round/>
              <a:headEnd type="none" w="med" len="med"/>
              <a:tailEnd type="none" w="med" len="med"/>
            </a:ln>
          </p:spPr>
        </p:sp>
        <p:sp>
          <p:nvSpPr>
            <p:cNvPr id="47115" name="Rectangle 11"/>
            <p:cNvSpPr/>
            <p:nvPr/>
          </p:nvSpPr>
          <p:spPr>
            <a:xfrm>
              <a:off x="2112" y="3168"/>
              <a:ext cx="528" cy="288"/>
            </a:xfrm>
            <a:prstGeom prst="rect">
              <a:avLst/>
            </a:prstGeom>
            <a:solidFill>
              <a:srgbClr val="FFFF66"/>
            </a:solidFill>
            <a:ln w="9525"/>
            <a:scene3d>
              <a:camera prst="legacyObliqueTopRight">
                <a:rot lat="0" lon="0" rev="0"/>
              </a:camera>
              <a:lightRig rig="legacyFlat3" dir="b"/>
            </a:scene3d>
            <a:sp3d extrusionH="430200" prstMaterial="legacyMatte">
              <a:bevelT w="13500" h="13500" prst="angle"/>
              <a:bevelB w="13500" h="13500" prst="angle"/>
              <a:extrusionClr>
                <a:srgbClr val="FFFF66"/>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7116" name="Line 12"/>
            <p:cNvSpPr/>
            <p:nvPr/>
          </p:nvSpPr>
          <p:spPr>
            <a:xfrm>
              <a:off x="1728" y="3264"/>
              <a:ext cx="384" cy="0"/>
            </a:xfrm>
            <a:prstGeom prst="line">
              <a:avLst/>
            </a:prstGeom>
            <a:ln w="38100" cap="flat" cmpd="sng">
              <a:solidFill>
                <a:schemeClr val="tx2"/>
              </a:solidFill>
              <a:prstDash val="solid"/>
              <a:round/>
              <a:headEnd type="none" w="med" len="med"/>
              <a:tailEnd type="triangle" w="sm" len="med"/>
            </a:ln>
          </p:spPr>
        </p:sp>
        <p:sp>
          <p:nvSpPr>
            <p:cNvPr id="47117" name="Line 13"/>
            <p:cNvSpPr/>
            <p:nvPr/>
          </p:nvSpPr>
          <p:spPr>
            <a:xfrm>
              <a:off x="2448" y="3168"/>
              <a:ext cx="0" cy="288"/>
            </a:xfrm>
            <a:prstGeom prst="line">
              <a:avLst/>
            </a:prstGeom>
            <a:ln w="9525" cap="flat" cmpd="sng">
              <a:solidFill>
                <a:schemeClr val="tx1"/>
              </a:solidFill>
              <a:prstDash val="solid"/>
              <a:round/>
              <a:headEnd type="none" w="med" len="med"/>
              <a:tailEnd type="none" w="med" len="med"/>
            </a:ln>
          </p:spPr>
        </p:sp>
        <p:sp>
          <p:nvSpPr>
            <p:cNvPr id="47118" name="Line 14"/>
            <p:cNvSpPr/>
            <p:nvPr/>
          </p:nvSpPr>
          <p:spPr>
            <a:xfrm flipV="1">
              <a:off x="2448" y="3072"/>
              <a:ext cx="96" cy="96"/>
            </a:xfrm>
            <a:prstGeom prst="line">
              <a:avLst/>
            </a:prstGeom>
            <a:ln w="9525" cap="flat" cmpd="sng">
              <a:solidFill>
                <a:schemeClr val="tx1"/>
              </a:solidFill>
              <a:prstDash val="solid"/>
              <a:round/>
              <a:headEnd type="none" w="med" len="med"/>
              <a:tailEnd type="none" w="med" len="med"/>
            </a:ln>
          </p:spPr>
        </p:sp>
        <p:sp>
          <p:nvSpPr>
            <p:cNvPr id="47119" name="Rectangle 15"/>
            <p:cNvSpPr/>
            <p:nvPr/>
          </p:nvSpPr>
          <p:spPr>
            <a:xfrm>
              <a:off x="2928" y="3168"/>
              <a:ext cx="528" cy="288"/>
            </a:xfrm>
            <a:prstGeom prst="rect">
              <a:avLst/>
            </a:prstGeom>
            <a:solidFill>
              <a:srgbClr val="FFFF66"/>
            </a:solidFill>
            <a:ln w="9525"/>
            <a:scene3d>
              <a:camera prst="legacyObliqueTopRight">
                <a:rot lat="0" lon="0" rev="0"/>
              </a:camera>
              <a:lightRig rig="legacyFlat3" dir="b"/>
            </a:scene3d>
            <a:sp3d extrusionH="430200" prstMaterial="legacyMatte">
              <a:bevelT w="13500" h="13500" prst="angle"/>
              <a:bevelB w="13500" h="13500" prst="angle"/>
              <a:extrusionClr>
                <a:srgbClr val="FFFF66"/>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7120" name="Line 16"/>
            <p:cNvSpPr/>
            <p:nvPr/>
          </p:nvSpPr>
          <p:spPr>
            <a:xfrm>
              <a:off x="2688" y="3264"/>
              <a:ext cx="240" cy="0"/>
            </a:xfrm>
            <a:prstGeom prst="line">
              <a:avLst/>
            </a:prstGeom>
            <a:ln w="38100" cap="flat" cmpd="sng">
              <a:solidFill>
                <a:schemeClr val="tx2"/>
              </a:solidFill>
              <a:prstDash val="solid"/>
              <a:round/>
              <a:headEnd type="none" w="med" len="med"/>
              <a:tailEnd type="triangle" w="sm" len="med"/>
            </a:ln>
          </p:spPr>
        </p:sp>
        <p:sp>
          <p:nvSpPr>
            <p:cNvPr id="47121" name="Line 17"/>
            <p:cNvSpPr/>
            <p:nvPr/>
          </p:nvSpPr>
          <p:spPr>
            <a:xfrm>
              <a:off x="3264" y="3168"/>
              <a:ext cx="0" cy="288"/>
            </a:xfrm>
            <a:prstGeom prst="line">
              <a:avLst/>
            </a:prstGeom>
            <a:ln w="9525" cap="flat" cmpd="sng">
              <a:solidFill>
                <a:schemeClr val="tx1"/>
              </a:solidFill>
              <a:prstDash val="solid"/>
              <a:round/>
              <a:headEnd type="none" w="med" len="med"/>
              <a:tailEnd type="none" w="med" len="med"/>
            </a:ln>
          </p:spPr>
        </p:sp>
        <p:sp>
          <p:nvSpPr>
            <p:cNvPr id="47122" name="Line 18"/>
            <p:cNvSpPr/>
            <p:nvPr/>
          </p:nvSpPr>
          <p:spPr>
            <a:xfrm flipV="1">
              <a:off x="3264" y="3072"/>
              <a:ext cx="96" cy="96"/>
            </a:xfrm>
            <a:prstGeom prst="line">
              <a:avLst/>
            </a:prstGeom>
            <a:ln w="9525" cap="flat" cmpd="sng">
              <a:solidFill>
                <a:schemeClr val="tx1"/>
              </a:solidFill>
              <a:prstDash val="solid"/>
              <a:round/>
              <a:headEnd type="none" w="med" len="med"/>
              <a:tailEnd type="none" w="med" len="med"/>
            </a:ln>
          </p:spPr>
        </p:sp>
        <p:sp>
          <p:nvSpPr>
            <p:cNvPr id="47123" name="Rectangle 19"/>
            <p:cNvSpPr/>
            <p:nvPr/>
          </p:nvSpPr>
          <p:spPr>
            <a:xfrm>
              <a:off x="4464" y="3168"/>
              <a:ext cx="528" cy="288"/>
            </a:xfrm>
            <a:prstGeom prst="rect">
              <a:avLst/>
            </a:prstGeom>
            <a:solidFill>
              <a:srgbClr val="FFFF66"/>
            </a:solidFill>
            <a:ln w="9525"/>
            <a:scene3d>
              <a:camera prst="legacyObliqueTopRight">
                <a:rot lat="0" lon="0" rev="0"/>
              </a:camera>
              <a:lightRig rig="legacyFlat3" dir="b"/>
            </a:scene3d>
            <a:sp3d extrusionH="430200" prstMaterial="legacyMatte">
              <a:bevelT w="13500" h="13500" prst="angle"/>
              <a:bevelB w="13500" h="13500" prst="angle"/>
              <a:extrusionClr>
                <a:srgbClr val="FFFF66"/>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7124" name="Line 20"/>
            <p:cNvSpPr/>
            <p:nvPr/>
          </p:nvSpPr>
          <p:spPr>
            <a:xfrm>
              <a:off x="4224" y="3264"/>
              <a:ext cx="240" cy="0"/>
            </a:xfrm>
            <a:prstGeom prst="line">
              <a:avLst/>
            </a:prstGeom>
            <a:ln w="38100" cap="flat" cmpd="sng">
              <a:solidFill>
                <a:schemeClr val="tx2"/>
              </a:solidFill>
              <a:prstDash val="solid"/>
              <a:round/>
              <a:headEnd type="none" w="med" len="med"/>
              <a:tailEnd type="triangle" w="sm" len="med"/>
            </a:ln>
          </p:spPr>
        </p:sp>
        <p:sp>
          <p:nvSpPr>
            <p:cNvPr id="47125" name="Line 21"/>
            <p:cNvSpPr/>
            <p:nvPr/>
          </p:nvSpPr>
          <p:spPr>
            <a:xfrm>
              <a:off x="4800" y="3168"/>
              <a:ext cx="0" cy="288"/>
            </a:xfrm>
            <a:prstGeom prst="line">
              <a:avLst/>
            </a:prstGeom>
            <a:ln w="9525" cap="flat" cmpd="sng">
              <a:solidFill>
                <a:schemeClr val="tx1"/>
              </a:solidFill>
              <a:prstDash val="solid"/>
              <a:round/>
              <a:headEnd type="none" w="med" len="med"/>
              <a:tailEnd type="none" w="med" len="med"/>
            </a:ln>
          </p:spPr>
        </p:sp>
        <p:sp>
          <p:nvSpPr>
            <p:cNvPr id="47126" name="Line 22"/>
            <p:cNvSpPr/>
            <p:nvPr/>
          </p:nvSpPr>
          <p:spPr>
            <a:xfrm flipV="1">
              <a:off x="4800" y="3072"/>
              <a:ext cx="96" cy="96"/>
            </a:xfrm>
            <a:prstGeom prst="line">
              <a:avLst/>
            </a:prstGeom>
            <a:ln w="9525" cap="flat" cmpd="sng">
              <a:solidFill>
                <a:schemeClr val="tx1"/>
              </a:solidFill>
              <a:prstDash val="solid"/>
              <a:round/>
              <a:headEnd type="none" w="med" len="med"/>
              <a:tailEnd type="none" w="med" len="med"/>
            </a:ln>
          </p:spPr>
        </p:sp>
        <p:sp>
          <p:nvSpPr>
            <p:cNvPr id="47127" name="Line 23"/>
            <p:cNvSpPr/>
            <p:nvPr/>
          </p:nvSpPr>
          <p:spPr>
            <a:xfrm>
              <a:off x="3504" y="3264"/>
              <a:ext cx="240" cy="0"/>
            </a:xfrm>
            <a:prstGeom prst="line">
              <a:avLst/>
            </a:prstGeom>
            <a:ln w="38100" cap="flat" cmpd="sng">
              <a:solidFill>
                <a:schemeClr val="tx2"/>
              </a:solidFill>
              <a:prstDash val="solid"/>
              <a:round/>
              <a:headEnd type="none" w="med" len="med"/>
              <a:tailEnd type="triangle" w="sm" len="med"/>
            </a:ln>
          </p:spPr>
        </p:sp>
        <p:sp>
          <p:nvSpPr>
            <p:cNvPr id="47128" name="Line 24"/>
            <p:cNvSpPr/>
            <p:nvPr/>
          </p:nvSpPr>
          <p:spPr>
            <a:xfrm>
              <a:off x="3744" y="3264"/>
              <a:ext cx="480" cy="0"/>
            </a:xfrm>
            <a:prstGeom prst="line">
              <a:avLst/>
            </a:prstGeom>
            <a:ln w="38100" cap="rnd" cmpd="sng">
              <a:solidFill>
                <a:schemeClr val="tx2"/>
              </a:solidFill>
              <a:prstDash val="sysDot"/>
              <a:round/>
              <a:headEnd type="none" w="med" len="med"/>
              <a:tailEnd type="none" w="med" len="med"/>
            </a:ln>
          </p:spPr>
        </p:sp>
        <p:sp>
          <p:nvSpPr>
            <p:cNvPr id="47129" name="Line 25"/>
            <p:cNvSpPr/>
            <p:nvPr/>
          </p:nvSpPr>
          <p:spPr>
            <a:xfrm flipV="1">
              <a:off x="4128" y="3360"/>
              <a:ext cx="336" cy="144"/>
            </a:xfrm>
            <a:prstGeom prst="line">
              <a:avLst/>
            </a:prstGeom>
            <a:ln w="38100" cap="flat" cmpd="sng">
              <a:solidFill>
                <a:srgbClr val="FF0000"/>
              </a:solidFill>
              <a:prstDash val="solid"/>
              <a:round/>
              <a:headEnd type="none" w="med" len="med"/>
              <a:tailEnd type="triangle" w="sm" len="med"/>
            </a:ln>
          </p:spPr>
        </p:sp>
        <p:sp>
          <p:nvSpPr>
            <p:cNvPr id="47130" name="Text Box 26"/>
            <p:cNvSpPr txBox="1"/>
            <p:nvPr/>
          </p:nvSpPr>
          <p:spPr>
            <a:xfrm>
              <a:off x="3504" y="3456"/>
              <a:ext cx="522" cy="329"/>
            </a:xfrm>
            <a:prstGeom prst="rect">
              <a:avLst/>
            </a:prstGeom>
            <a:noFill/>
            <a:ln w="9525">
              <a:noFill/>
            </a:ln>
          </p:spPr>
          <p:txBody>
            <a:bodyPr wrap="none" anchor="t" anchorCtr="0">
              <a:spAutoFit/>
            </a:bodyPr>
            <a:p>
              <a:pPr>
                <a:buFont typeface="Wingdings" panose="05000000000000000000" pitchFamily="2" charset="2"/>
              </a:pPr>
              <a:r>
                <a:rPr lang="en-US" altLang="zh-CN" sz="2800" b="1" dirty="0">
                  <a:solidFill>
                    <a:schemeClr val="accent2"/>
                  </a:solidFill>
                  <a:latin typeface="Times New Roman" panose="02020603050405020304" charset="0"/>
                  <a:ea typeface="宋体" panose="02010600030101010101" pitchFamily="2" charset="-122"/>
                </a:rPr>
                <a:t>rear</a:t>
              </a:r>
              <a:endParaRPr lang="en-US" altLang="zh-CN" sz="2400" dirty="0">
                <a:latin typeface="Times New Roman" panose="02020603050405020304" charset="0"/>
                <a:ea typeface="宋体" panose="02010600030101010101" pitchFamily="2" charset="-122"/>
              </a:endParaRPr>
            </a:p>
          </p:txBody>
        </p:sp>
        <p:sp>
          <p:nvSpPr>
            <p:cNvPr id="47131" name="Line 27"/>
            <p:cNvSpPr/>
            <p:nvPr/>
          </p:nvSpPr>
          <p:spPr>
            <a:xfrm flipH="1">
              <a:off x="1392" y="3168"/>
              <a:ext cx="144" cy="144"/>
            </a:xfrm>
            <a:prstGeom prst="line">
              <a:avLst/>
            </a:prstGeom>
            <a:ln w="9525" cap="flat" cmpd="sng">
              <a:solidFill>
                <a:schemeClr val="tx1"/>
              </a:solidFill>
              <a:prstDash val="solid"/>
              <a:round/>
              <a:headEnd type="none" w="med" len="med"/>
              <a:tailEnd type="none" w="med" len="med"/>
            </a:ln>
          </p:spPr>
        </p:sp>
        <p:sp>
          <p:nvSpPr>
            <p:cNvPr id="47132" name="Line 28"/>
            <p:cNvSpPr/>
            <p:nvPr/>
          </p:nvSpPr>
          <p:spPr>
            <a:xfrm flipH="1">
              <a:off x="1488" y="3216"/>
              <a:ext cx="144" cy="144"/>
            </a:xfrm>
            <a:prstGeom prst="line">
              <a:avLst/>
            </a:prstGeom>
            <a:ln w="9525" cap="flat" cmpd="sng">
              <a:solidFill>
                <a:schemeClr val="tx1"/>
              </a:solidFill>
              <a:prstDash val="solid"/>
              <a:round/>
              <a:headEnd type="none" w="med" len="med"/>
              <a:tailEnd type="none" w="med" len="med"/>
            </a:ln>
          </p:spPr>
        </p:sp>
        <p:sp>
          <p:nvSpPr>
            <p:cNvPr id="47133" name="Line 29"/>
            <p:cNvSpPr/>
            <p:nvPr/>
          </p:nvSpPr>
          <p:spPr>
            <a:xfrm flipH="1">
              <a:off x="1392" y="3168"/>
              <a:ext cx="240" cy="192"/>
            </a:xfrm>
            <a:prstGeom prst="line">
              <a:avLst/>
            </a:prstGeom>
            <a:ln w="9525" cap="flat" cmpd="sng">
              <a:solidFill>
                <a:schemeClr val="tx1"/>
              </a:solidFill>
              <a:prstDash val="solid"/>
              <a:round/>
              <a:headEnd type="none" w="med" len="med"/>
              <a:tailEnd type="none" w="med" len="med"/>
            </a:ln>
          </p:spPr>
        </p:sp>
        <p:sp>
          <p:nvSpPr>
            <p:cNvPr id="47134" name="Line 30"/>
            <p:cNvSpPr/>
            <p:nvPr/>
          </p:nvSpPr>
          <p:spPr>
            <a:xfrm flipH="1">
              <a:off x="1536" y="3264"/>
              <a:ext cx="96" cy="96"/>
            </a:xfrm>
            <a:prstGeom prst="line">
              <a:avLst/>
            </a:prstGeom>
            <a:ln w="9525" cap="flat" cmpd="sng">
              <a:solidFill>
                <a:schemeClr val="tx1"/>
              </a:solidFill>
              <a:prstDash val="solid"/>
              <a:round/>
              <a:headEnd type="none" w="med" len="med"/>
              <a:tailEnd type="none" w="med" len="med"/>
            </a:ln>
          </p:spPr>
        </p:sp>
        <p:sp>
          <p:nvSpPr>
            <p:cNvPr id="47135" name="Line 31"/>
            <p:cNvSpPr/>
            <p:nvPr/>
          </p:nvSpPr>
          <p:spPr>
            <a:xfrm flipH="1">
              <a:off x="1392" y="3168"/>
              <a:ext cx="96" cy="96"/>
            </a:xfrm>
            <a:prstGeom prst="line">
              <a:avLst/>
            </a:prstGeom>
            <a:ln w="9525" cap="flat" cmpd="sng">
              <a:solidFill>
                <a:schemeClr val="tx1"/>
              </a:solidFill>
              <a:prstDash val="solid"/>
              <a:round/>
              <a:headEnd type="none" w="med" len="med"/>
              <a:tailEnd type="none" w="med" len="med"/>
            </a:ln>
          </p:spPr>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链队列的操作和链表操作一样，只是限制在front和rear的指定位置操作</a:t>
            </a:r>
            <a:endParaRPr lang="zh-CN" altLang="en-US" sz="28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cs"/>
              </a:rPr>
              <a:t>判队列空，</a:t>
            </a:r>
            <a:r>
              <a:rPr lang="en-US" altLang="zh-CN" sz="2400" dirty="0">
                <a:latin typeface="黑体" panose="02010609060101010101" pitchFamily="2" charset="-122"/>
                <a:ea typeface="黑体" panose="02010609060101010101" pitchFamily="2" charset="-122"/>
                <a:cs typeface="+mn-cs"/>
              </a:rPr>
              <a:t>front==rear</a:t>
            </a:r>
            <a:endParaRPr lang="en-US" altLang="zh-CN" sz="2400" dirty="0">
              <a:latin typeface="黑体" panose="02010609060101010101" pitchFamily="2" charset="-122"/>
              <a:ea typeface="黑体" panose="02010609060101010101" pitchFamily="2" charset="-122"/>
              <a:cs typeface="+mn-cs"/>
            </a:endParaRPr>
          </a:p>
          <a:p>
            <a:pPr marL="914400" lvl="2" indent="-457200" algn="l" eaLnBrk="1" hangingPunct="1">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cs"/>
              </a:rPr>
              <a:t>入队，</a:t>
            </a:r>
            <a:r>
              <a:rPr lang="en-US" altLang="zh-CN" sz="2400" dirty="0">
                <a:latin typeface="黑体" panose="02010609060101010101" pitchFamily="2" charset="-122"/>
                <a:ea typeface="黑体" panose="02010609060101010101" pitchFamily="2" charset="-122"/>
                <a:cs typeface="+mn-cs"/>
              </a:rPr>
              <a:t>rear</a:t>
            </a:r>
            <a:r>
              <a:rPr lang="zh-CN" altLang="en-US" sz="2400" dirty="0">
                <a:latin typeface="黑体" panose="02010609060101010101" pitchFamily="2" charset="-122"/>
                <a:ea typeface="黑体" panose="02010609060101010101" pitchFamily="2" charset="-122"/>
                <a:cs typeface="+mn-cs"/>
              </a:rPr>
              <a:t>变化</a:t>
            </a:r>
            <a:endParaRPr lang="en-US" altLang="zh-CN" sz="2400" dirty="0">
              <a:latin typeface="黑体" panose="02010609060101010101" pitchFamily="2" charset="-122"/>
              <a:ea typeface="黑体" panose="02010609060101010101" pitchFamily="2" charset="-122"/>
              <a:cs typeface="+mn-cs"/>
            </a:endParaRPr>
          </a:p>
          <a:p>
            <a:pPr marL="914400" lvl="2" indent="-457200" algn="l" eaLnBrk="1" hangingPunct="1">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cs"/>
              </a:rPr>
              <a:t>出队，</a:t>
            </a:r>
            <a:r>
              <a:rPr lang="en-US" altLang="zh-CN" sz="2400" dirty="0">
                <a:latin typeface="黑体" panose="02010609060101010101" pitchFamily="2" charset="-122"/>
                <a:ea typeface="黑体" panose="02010609060101010101" pitchFamily="2" charset="-122"/>
                <a:cs typeface="+mn-cs"/>
              </a:rPr>
              <a:t>front</a:t>
            </a:r>
            <a:r>
              <a:rPr lang="zh-CN" altLang="en-US" sz="2400" dirty="0">
                <a:latin typeface="黑体" panose="02010609060101010101" pitchFamily="2" charset="-122"/>
                <a:ea typeface="黑体" panose="02010609060101010101" pitchFamily="2" charset="-122"/>
                <a:cs typeface="+mn-cs"/>
              </a:rPr>
              <a:t>变化</a:t>
            </a:r>
            <a:endParaRPr lang="zh-CN" altLang="en-US" sz="24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r>
              <a:rPr lang="zh-CN" altLang="en-US" sz="2400" dirty="0">
                <a:latin typeface="黑体" panose="02010609060101010101" pitchFamily="2" charset="-122"/>
                <a:ea typeface="黑体" panose="02010609060101010101" pitchFamily="2" charset="-122"/>
                <a:cs typeface="+mn-cs"/>
                <a:sym typeface="+mn-ea"/>
              </a:rPr>
              <a:t>例如已知</a:t>
            </a:r>
            <a:r>
              <a:rPr lang="en-US" altLang="zh-CN" sz="2400" dirty="0">
                <a:latin typeface="黑体" panose="02010609060101010101" pitchFamily="2" charset="-122"/>
                <a:ea typeface="黑体" panose="02010609060101010101" pitchFamily="2" charset="-122"/>
                <a:cs typeface="+mn-cs"/>
                <a:sym typeface="+mn-ea"/>
              </a:rPr>
              <a:t>front</a:t>
            </a:r>
            <a:r>
              <a:rPr lang="zh-CN" altLang="en-US" sz="2400" dirty="0">
                <a:latin typeface="黑体" panose="02010609060101010101" pitchFamily="2" charset="-122"/>
                <a:ea typeface="黑体" panose="02010609060101010101" pitchFamily="2" charset="-122"/>
                <a:cs typeface="+mn-cs"/>
                <a:sym typeface="+mn-ea"/>
              </a:rPr>
              <a:t>和</a:t>
            </a:r>
            <a:r>
              <a:rPr lang="en-US" altLang="zh-CN" sz="2400" dirty="0">
                <a:latin typeface="黑体" panose="02010609060101010101" pitchFamily="2" charset="-122"/>
                <a:ea typeface="黑体" panose="02010609060101010101" pitchFamily="2" charset="-122"/>
                <a:cs typeface="+mn-cs"/>
                <a:sym typeface="+mn-ea"/>
              </a:rPr>
              <a:t>rear</a:t>
            </a:r>
            <a:r>
              <a:rPr lang="zh-CN" altLang="en-US" sz="2400" dirty="0">
                <a:latin typeface="黑体" panose="02010609060101010101" pitchFamily="2" charset="-122"/>
                <a:ea typeface="黑体" panose="02010609060101010101" pitchFamily="2" charset="-122"/>
                <a:cs typeface="+mn-cs"/>
                <a:sym typeface="+mn-ea"/>
              </a:rPr>
              <a:t>，若</a:t>
            </a:r>
            <a:endParaRPr lang="zh-CN" altLang="en-US" sz="2400" dirty="0">
              <a:latin typeface="黑体" panose="02010609060101010101" pitchFamily="2" charset="-122"/>
              <a:ea typeface="黑体" panose="02010609060101010101" pitchFamily="2" charset="-122"/>
              <a:cs typeface="+mn-cs"/>
              <a:sym typeface="+mn-ea"/>
            </a:endParaRPr>
          </a:p>
          <a:p>
            <a:pPr marL="0" lvl="1" indent="0" algn="l" eaLnBrk="1" hangingPunct="1">
              <a:buClrTx/>
              <a:buSzTx/>
              <a:buFont typeface="Wingdings" panose="05000000000000000000" charset="0"/>
              <a:buNone/>
            </a:pPr>
            <a:r>
              <a:rPr lang="zh-CN" altLang="en-US" sz="2400" dirty="0">
                <a:latin typeface="黑体" panose="02010609060101010101" pitchFamily="2" charset="-122"/>
                <a:ea typeface="黑体" panose="02010609060101010101" pitchFamily="2" charset="-122"/>
                <a:cs typeface="+mn-cs"/>
                <a:sym typeface="+mn-ea"/>
              </a:rPr>
              <a:t>入队新结点</a:t>
            </a:r>
            <a:r>
              <a:rPr lang="en-US" altLang="zh-CN" sz="2400" dirty="0">
                <a:latin typeface="黑体" panose="02010609060101010101" pitchFamily="2" charset="-122"/>
                <a:ea typeface="黑体" panose="02010609060101010101" pitchFamily="2" charset="-122"/>
                <a:cs typeface="+mn-cs"/>
                <a:sym typeface="+mn-ea"/>
              </a:rPr>
              <a:t>s</a:t>
            </a:r>
            <a:r>
              <a:rPr lang="zh-CN" altLang="en-US" sz="2400" dirty="0">
                <a:latin typeface="黑体" panose="02010609060101010101" pitchFamily="2" charset="-122"/>
                <a:ea typeface="黑体" panose="02010609060101010101" pitchFamily="2" charset="-122"/>
                <a:cs typeface="+mn-cs"/>
                <a:sym typeface="+mn-ea"/>
              </a:rPr>
              <a:t>，代码为？</a:t>
            </a:r>
            <a:endParaRPr lang="zh-CN" altLang="en-US" sz="2400" dirty="0">
              <a:latin typeface="黑体" panose="02010609060101010101" pitchFamily="2" charset="-122"/>
              <a:ea typeface="黑体" panose="02010609060101010101" pitchFamily="2" charset="-122"/>
              <a:cs typeface="+mn-cs"/>
              <a:sym typeface="+mn-ea"/>
            </a:endParaRPr>
          </a:p>
          <a:p>
            <a:pPr marL="0" lvl="1" indent="0" algn="l" eaLnBrk="1" hangingPunct="1">
              <a:buClrTx/>
              <a:buSzTx/>
              <a:buFont typeface="Wingdings" panose="05000000000000000000" charset="0"/>
              <a:buNone/>
            </a:pPr>
            <a:r>
              <a:rPr lang="zh-CN" altLang="en-US" sz="2400" dirty="0">
                <a:latin typeface="黑体" panose="02010609060101010101" pitchFamily="2" charset="-122"/>
                <a:ea typeface="黑体" panose="02010609060101010101" pitchFamily="2" charset="-122"/>
                <a:cs typeface="+mn-cs"/>
                <a:sym typeface="+mn-ea"/>
              </a:rPr>
              <a:t>出队，代码为？</a:t>
            </a: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48132" name="Group 4"/>
          <p:cNvGrpSpPr/>
          <p:nvPr/>
        </p:nvGrpSpPr>
        <p:grpSpPr>
          <a:xfrm>
            <a:off x="5248275" y="2204720"/>
            <a:ext cx="6477000" cy="3171480"/>
            <a:chOff x="864" y="1968"/>
            <a:chExt cx="4080" cy="2241"/>
          </a:xfrm>
        </p:grpSpPr>
        <p:grpSp>
          <p:nvGrpSpPr>
            <p:cNvPr id="48133" name="Group 5"/>
            <p:cNvGrpSpPr/>
            <p:nvPr/>
          </p:nvGrpSpPr>
          <p:grpSpPr>
            <a:xfrm>
              <a:off x="864" y="2688"/>
              <a:ext cx="4080" cy="657"/>
              <a:chOff x="480" y="2208"/>
              <a:chExt cx="4080" cy="657"/>
            </a:xfrm>
          </p:grpSpPr>
          <p:sp>
            <p:nvSpPr>
              <p:cNvPr id="48134" name="Rectangle 6"/>
              <p:cNvSpPr/>
              <p:nvPr/>
            </p:nvSpPr>
            <p:spPr>
              <a:xfrm>
                <a:off x="1296" y="2304"/>
                <a:ext cx="528" cy="288"/>
              </a:xfrm>
              <a:prstGeom prst="rect">
                <a:avLst/>
              </a:prstGeom>
              <a:noFill/>
              <a:ln w="9525" cap="flat" cmpd="sng">
                <a:solidFill>
                  <a:srgbClr val="008000"/>
                </a:solidFill>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008000"/>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8135" name="Text Box 7"/>
              <p:cNvSpPr txBox="1"/>
              <p:nvPr/>
            </p:nvSpPr>
            <p:spPr>
              <a:xfrm>
                <a:off x="480" y="2208"/>
                <a:ext cx="596" cy="369"/>
              </a:xfrm>
              <a:prstGeom prst="rect">
                <a:avLst/>
              </a:prstGeom>
              <a:noFill/>
              <a:ln w="9525">
                <a:noFill/>
              </a:ln>
            </p:spPr>
            <p:txBody>
              <a:bodyPr wrap="none" anchor="t" anchorCtr="0">
                <a:spAutoFit/>
              </a:bodyPr>
              <a:p>
                <a:pPr>
                  <a:buFont typeface="Wingdings" panose="05000000000000000000" pitchFamily="2" charset="2"/>
                </a:pPr>
                <a:r>
                  <a:rPr lang="en-US" altLang="zh-CN" sz="2800" b="1" dirty="0">
                    <a:solidFill>
                      <a:schemeClr val="accent2"/>
                    </a:solidFill>
                    <a:latin typeface="Times New Roman" panose="02020603050405020304" charset="0"/>
                    <a:ea typeface="宋体" panose="02010600030101010101" pitchFamily="2" charset="-122"/>
                  </a:rPr>
                  <a:t>front</a:t>
                </a:r>
                <a:endParaRPr lang="en-US" altLang="zh-CN" sz="2400" dirty="0">
                  <a:latin typeface="Times New Roman" panose="02020603050405020304" charset="0"/>
                  <a:ea typeface="宋体" panose="02010600030101010101" pitchFamily="2" charset="-122"/>
                </a:endParaRPr>
              </a:p>
            </p:txBody>
          </p:sp>
          <p:sp>
            <p:nvSpPr>
              <p:cNvPr id="48136" name="Line 8"/>
              <p:cNvSpPr/>
              <p:nvPr/>
            </p:nvSpPr>
            <p:spPr>
              <a:xfrm>
                <a:off x="1056" y="2400"/>
                <a:ext cx="240" cy="0"/>
              </a:xfrm>
              <a:prstGeom prst="line">
                <a:avLst/>
              </a:prstGeom>
              <a:ln w="38100" cap="flat" cmpd="sng">
                <a:solidFill>
                  <a:srgbClr val="FF0000"/>
                </a:solidFill>
                <a:prstDash val="solid"/>
                <a:round/>
                <a:headEnd type="none" w="med" len="med"/>
                <a:tailEnd type="triangle" w="sm" len="med"/>
              </a:ln>
            </p:spPr>
          </p:sp>
          <p:sp>
            <p:nvSpPr>
              <p:cNvPr id="48137" name="Line 9"/>
              <p:cNvSpPr/>
              <p:nvPr/>
            </p:nvSpPr>
            <p:spPr>
              <a:xfrm>
                <a:off x="1632" y="2304"/>
                <a:ext cx="0" cy="288"/>
              </a:xfrm>
              <a:prstGeom prst="line">
                <a:avLst/>
              </a:prstGeom>
              <a:ln w="9525" cap="flat" cmpd="sng">
                <a:solidFill>
                  <a:schemeClr val="tx1"/>
                </a:solidFill>
                <a:prstDash val="solid"/>
                <a:round/>
                <a:headEnd type="none" w="med" len="med"/>
                <a:tailEnd type="none" w="med" len="med"/>
              </a:ln>
            </p:spPr>
          </p:sp>
          <p:sp>
            <p:nvSpPr>
              <p:cNvPr id="48138" name="Line 10"/>
              <p:cNvSpPr/>
              <p:nvPr/>
            </p:nvSpPr>
            <p:spPr>
              <a:xfrm flipV="1">
                <a:off x="1632" y="2208"/>
                <a:ext cx="96" cy="96"/>
              </a:xfrm>
              <a:prstGeom prst="line">
                <a:avLst/>
              </a:prstGeom>
              <a:ln w="9525" cap="flat" cmpd="sng">
                <a:solidFill>
                  <a:schemeClr val="tx1"/>
                </a:solidFill>
                <a:prstDash val="solid"/>
                <a:round/>
                <a:headEnd type="none" w="med" len="med"/>
                <a:tailEnd type="none" w="med" len="med"/>
              </a:ln>
            </p:spPr>
          </p:sp>
          <p:sp>
            <p:nvSpPr>
              <p:cNvPr id="48139" name="Rectangle 11"/>
              <p:cNvSpPr/>
              <p:nvPr/>
            </p:nvSpPr>
            <p:spPr>
              <a:xfrm>
                <a:off x="2112" y="2304"/>
                <a:ext cx="528" cy="288"/>
              </a:xfrm>
              <a:prstGeom prst="rect">
                <a:avLst/>
              </a:prstGeom>
              <a:solidFill>
                <a:srgbClr val="FFFF66"/>
              </a:solidFill>
              <a:ln w="9525"/>
              <a:scene3d>
                <a:camera prst="legacyObliqueTopRight">
                  <a:rot lat="0" lon="0" rev="0"/>
                </a:camera>
                <a:lightRig rig="legacyFlat3" dir="b"/>
              </a:scene3d>
              <a:sp3d extrusionH="430200" prstMaterial="legacyMatte">
                <a:bevelT w="13500" h="13500" prst="angle"/>
                <a:bevelB w="13500" h="13500" prst="angle"/>
                <a:extrusionClr>
                  <a:srgbClr val="FFFF66"/>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8140" name="Line 12"/>
              <p:cNvSpPr/>
              <p:nvPr/>
            </p:nvSpPr>
            <p:spPr>
              <a:xfrm>
                <a:off x="1728" y="2400"/>
                <a:ext cx="384" cy="0"/>
              </a:xfrm>
              <a:prstGeom prst="line">
                <a:avLst/>
              </a:prstGeom>
              <a:ln w="38100" cap="flat" cmpd="sng">
                <a:solidFill>
                  <a:schemeClr val="tx2"/>
                </a:solidFill>
                <a:prstDash val="solid"/>
                <a:round/>
                <a:headEnd type="none" w="med" len="med"/>
                <a:tailEnd type="triangle" w="sm" len="med"/>
              </a:ln>
            </p:spPr>
          </p:sp>
          <p:sp>
            <p:nvSpPr>
              <p:cNvPr id="48141" name="Line 13"/>
              <p:cNvSpPr/>
              <p:nvPr/>
            </p:nvSpPr>
            <p:spPr>
              <a:xfrm>
                <a:off x="2448" y="2304"/>
                <a:ext cx="0" cy="288"/>
              </a:xfrm>
              <a:prstGeom prst="line">
                <a:avLst/>
              </a:prstGeom>
              <a:ln w="9525" cap="flat" cmpd="sng">
                <a:solidFill>
                  <a:schemeClr val="tx1"/>
                </a:solidFill>
                <a:prstDash val="solid"/>
                <a:round/>
                <a:headEnd type="none" w="med" len="med"/>
                <a:tailEnd type="none" w="med" len="med"/>
              </a:ln>
            </p:spPr>
          </p:sp>
          <p:sp>
            <p:nvSpPr>
              <p:cNvPr id="48142" name="Line 14"/>
              <p:cNvSpPr/>
              <p:nvPr/>
            </p:nvSpPr>
            <p:spPr>
              <a:xfrm flipV="1">
                <a:off x="2448" y="2208"/>
                <a:ext cx="96" cy="96"/>
              </a:xfrm>
              <a:prstGeom prst="line">
                <a:avLst/>
              </a:prstGeom>
              <a:ln w="9525" cap="flat" cmpd="sng">
                <a:solidFill>
                  <a:schemeClr val="tx1"/>
                </a:solidFill>
                <a:prstDash val="solid"/>
                <a:round/>
                <a:headEnd type="none" w="med" len="med"/>
                <a:tailEnd type="none" w="med" len="med"/>
              </a:ln>
            </p:spPr>
          </p:sp>
          <p:sp>
            <p:nvSpPr>
              <p:cNvPr id="48143" name="Rectangle 15"/>
              <p:cNvSpPr/>
              <p:nvPr/>
            </p:nvSpPr>
            <p:spPr>
              <a:xfrm>
                <a:off x="2928" y="2304"/>
                <a:ext cx="528" cy="288"/>
              </a:xfrm>
              <a:prstGeom prst="rect">
                <a:avLst/>
              </a:prstGeom>
              <a:solidFill>
                <a:srgbClr val="FFFF66"/>
              </a:solidFill>
              <a:ln w="9525"/>
              <a:scene3d>
                <a:camera prst="legacyObliqueTopRight">
                  <a:rot lat="0" lon="0" rev="0"/>
                </a:camera>
                <a:lightRig rig="legacyFlat3" dir="b"/>
              </a:scene3d>
              <a:sp3d extrusionH="430200" prstMaterial="legacyMatte">
                <a:bevelT w="13500" h="13500" prst="angle"/>
                <a:bevelB w="13500" h="13500" prst="angle"/>
                <a:extrusionClr>
                  <a:srgbClr val="FFFF66"/>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8144" name="Line 16"/>
              <p:cNvSpPr/>
              <p:nvPr/>
            </p:nvSpPr>
            <p:spPr>
              <a:xfrm>
                <a:off x="2688" y="2400"/>
                <a:ext cx="240" cy="0"/>
              </a:xfrm>
              <a:prstGeom prst="line">
                <a:avLst/>
              </a:prstGeom>
              <a:ln w="38100" cap="flat" cmpd="sng">
                <a:solidFill>
                  <a:schemeClr val="tx2"/>
                </a:solidFill>
                <a:prstDash val="solid"/>
                <a:round/>
                <a:headEnd type="none" w="med" len="med"/>
                <a:tailEnd type="triangle" w="sm" len="med"/>
              </a:ln>
            </p:spPr>
          </p:sp>
          <p:sp>
            <p:nvSpPr>
              <p:cNvPr id="48145" name="Line 17"/>
              <p:cNvSpPr/>
              <p:nvPr/>
            </p:nvSpPr>
            <p:spPr>
              <a:xfrm>
                <a:off x="3264" y="2304"/>
                <a:ext cx="0" cy="288"/>
              </a:xfrm>
              <a:prstGeom prst="line">
                <a:avLst/>
              </a:prstGeom>
              <a:ln w="9525" cap="flat" cmpd="sng">
                <a:solidFill>
                  <a:schemeClr val="tx1"/>
                </a:solidFill>
                <a:prstDash val="solid"/>
                <a:round/>
                <a:headEnd type="none" w="med" len="med"/>
                <a:tailEnd type="none" w="med" len="med"/>
              </a:ln>
            </p:spPr>
          </p:sp>
          <p:sp>
            <p:nvSpPr>
              <p:cNvPr id="48146" name="Line 18"/>
              <p:cNvSpPr/>
              <p:nvPr/>
            </p:nvSpPr>
            <p:spPr>
              <a:xfrm flipV="1">
                <a:off x="3264" y="2208"/>
                <a:ext cx="96" cy="96"/>
              </a:xfrm>
              <a:prstGeom prst="line">
                <a:avLst/>
              </a:prstGeom>
              <a:ln w="9525" cap="flat" cmpd="sng">
                <a:solidFill>
                  <a:schemeClr val="tx1"/>
                </a:solidFill>
                <a:prstDash val="solid"/>
                <a:round/>
                <a:headEnd type="none" w="med" len="med"/>
                <a:tailEnd type="none" w="med" len="med"/>
              </a:ln>
            </p:spPr>
          </p:sp>
          <p:sp>
            <p:nvSpPr>
              <p:cNvPr id="48147" name="Line 19"/>
              <p:cNvSpPr/>
              <p:nvPr/>
            </p:nvSpPr>
            <p:spPr>
              <a:xfrm>
                <a:off x="960" y="2688"/>
                <a:ext cx="144" cy="96"/>
              </a:xfrm>
              <a:prstGeom prst="line">
                <a:avLst/>
              </a:prstGeom>
              <a:ln w="38100" cap="flat" cmpd="sng">
                <a:solidFill>
                  <a:srgbClr val="FF0000"/>
                </a:solidFill>
                <a:prstDash val="solid"/>
                <a:round/>
                <a:headEnd type="none" w="med" len="med"/>
                <a:tailEnd type="none" w="sm" len="med"/>
              </a:ln>
            </p:spPr>
          </p:sp>
          <p:sp>
            <p:nvSpPr>
              <p:cNvPr id="48148" name="Text Box 20"/>
              <p:cNvSpPr txBox="1"/>
              <p:nvPr/>
            </p:nvSpPr>
            <p:spPr>
              <a:xfrm>
                <a:off x="528" y="2496"/>
                <a:ext cx="525" cy="369"/>
              </a:xfrm>
              <a:prstGeom prst="rect">
                <a:avLst/>
              </a:prstGeom>
              <a:noFill/>
              <a:ln w="9525">
                <a:noFill/>
              </a:ln>
            </p:spPr>
            <p:txBody>
              <a:bodyPr anchor="t" anchorCtr="0">
                <a:spAutoFit/>
              </a:bodyPr>
              <a:p>
                <a:pPr>
                  <a:buFont typeface="Wingdings" panose="05000000000000000000" pitchFamily="2" charset="2"/>
                </a:pPr>
                <a:r>
                  <a:rPr lang="en-US" altLang="zh-CN" sz="2800" b="1" dirty="0">
                    <a:solidFill>
                      <a:schemeClr val="accent2"/>
                    </a:solidFill>
                    <a:latin typeface="Times New Roman" panose="02020603050405020304" charset="0"/>
                    <a:ea typeface="宋体" panose="02010600030101010101" pitchFamily="2" charset="-122"/>
                  </a:rPr>
                  <a:t>rear</a:t>
                </a:r>
                <a:endParaRPr lang="en-US" altLang="zh-CN" sz="2400" dirty="0">
                  <a:latin typeface="Times New Roman" panose="02020603050405020304" charset="0"/>
                  <a:ea typeface="宋体" panose="02010600030101010101" pitchFamily="2" charset="-122"/>
                </a:endParaRPr>
              </a:p>
            </p:txBody>
          </p:sp>
          <p:sp>
            <p:nvSpPr>
              <p:cNvPr id="48149" name="Line 21"/>
              <p:cNvSpPr/>
              <p:nvPr/>
            </p:nvSpPr>
            <p:spPr>
              <a:xfrm flipH="1">
                <a:off x="1392" y="2304"/>
                <a:ext cx="144" cy="144"/>
              </a:xfrm>
              <a:prstGeom prst="line">
                <a:avLst/>
              </a:prstGeom>
              <a:ln w="9525" cap="flat" cmpd="sng">
                <a:solidFill>
                  <a:schemeClr val="tx1"/>
                </a:solidFill>
                <a:prstDash val="solid"/>
                <a:round/>
                <a:headEnd type="none" w="med" len="med"/>
                <a:tailEnd type="none" w="med" len="med"/>
              </a:ln>
            </p:spPr>
          </p:sp>
          <p:sp>
            <p:nvSpPr>
              <p:cNvPr id="48150" name="Line 22"/>
              <p:cNvSpPr/>
              <p:nvPr/>
            </p:nvSpPr>
            <p:spPr>
              <a:xfrm flipH="1">
                <a:off x="1488" y="2352"/>
                <a:ext cx="144" cy="144"/>
              </a:xfrm>
              <a:prstGeom prst="line">
                <a:avLst/>
              </a:prstGeom>
              <a:ln w="9525" cap="flat" cmpd="sng">
                <a:solidFill>
                  <a:schemeClr val="tx1"/>
                </a:solidFill>
                <a:prstDash val="solid"/>
                <a:round/>
                <a:headEnd type="none" w="med" len="med"/>
                <a:tailEnd type="none" w="med" len="med"/>
              </a:ln>
            </p:spPr>
          </p:sp>
          <p:sp>
            <p:nvSpPr>
              <p:cNvPr id="48151" name="Line 23"/>
              <p:cNvSpPr/>
              <p:nvPr/>
            </p:nvSpPr>
            <p:spPr>
              <a:xfrm flipH="1">
                <a:off x="1392" y="2304"/>
                <a:ext cx="240" cy="192"/>
              </a:xfrm>
              <a:prstGeom prst="line">
                <a:avLst/>
              </a:prstGeom>
              <a:ln w="9525" cap="flat" cmpd="sng">
                <a:solidFill>
                  <a:schemeClr val="tx1"/>
                </a:solidFill>
                <a:prstDash val="solid"/>
                <a:round/>
                <a:headEnd type="none" w="med" len="med"/>
                <a:tailEnd type="none" w="med" len="med"/>
              </a:ln>
            </p:spPr>
          </p:sp>
          <p:sp>
            <p:nvSpPr>
              <p:cNvPr id="48152" name="Line 24"/>
              <p:cNvSpPr/>
              <p:nvPr/>
            </p:nvSpPr>
            <p:spPr>
              <a:xfrm flipH="1">
                <a:off x="1536" y="2400"/>
                <a:ext cx="96" cy="96"/>
              </a:xfrm>
              <a:prstGeom prst="line">
                <a:avLst/>
              </a:prstGeom>
              <a:ln w="9525" cap="flat" cmpd="sng">
                <a:solidFill>
                  <a:schemeClr val="tx1"/>
                </a:solidFill>
                <a:prstDash val="solid"/>
                <a:round/>
                <a:headEnd type="none" w="med" len="med"/>
                <a:tailEnd type="none" w="med" len="med"/>
              </a:ln>
            </p:spPr>
          </p:sp>
          <p:sp>
            <p:nvSpPr>
              <p:cNvPr id="48153" name="Line 25"/>
              <p:cNvSpPr/>
              <p:nvPr/>
            </p:nvSpPr>
            <p:spPr>
              <a:xfrm flipH="1">
                <a:off x="1392" y="2304"/>
                <a:ext cx="96" cy="96"/>
              </a:xfrm>
              <a:prstGeom prst="line">
                <a:avLst/>
              </a:prstGeom>
              <a:ln w="9525" cap="flat" cmpd="sng">
                <a:solidFill>
                  <a:schemeClr val="tx1"/>
                </a:solidFill>
                <a:prstDash val="solid"/>
                <a:round/>
                <a:headEnd type="none" w="med" len="med"/>
                <a:tailEnd type="none" w="med" len="med"/>
              </a:ln>
            </p:spPr>
          </p:sp>
          <p:sp>
            <p:nvSpPr>
              <p:cNvPr id="48154" name="Line 26"/>
              <p:cNvSpPr/>
              <p:nvPr/>
            </p:nvSpPr>
            <p:spPr>
              <a:xfrm>
                <a:off x="1104" y="2784"/>
                <a:ext cx="1920" cy="0"/>
              </a:xfrm>
              <a:prstGeom prst="line">
                <a:avLst/>
              </a:prstGeom>
              <a:ln w="38100" cap="flat" cmpd="sng">
                <a:solidFill>
                  <a:srgbClr val="FF0000"/>
                </a:solidFill>
                <a:prstDash val="solid"/>
                <a:round/>
                <a:headEnd type="none" w="med" len="med"/>
                <a:tailEnd type="none" w="sm" len="med"/>
              </a:ln>
            </p:spPr>
          </p:sp>
          <p:sp>
            <p:nvSpPr>
              <p:cNvPr id="48155" name="Line 27"/>
              <p:cNvSpPr/>
              <p:nvPr/>
            </p:nvSpPr>
            <p:spPr>
              <a:xfrm flipV="1">
                <a:off x="3024" y="2592"/>
                <a:ext cx="96" cy="192"/>
              </a:xfrm>
              <a:prstGeom prst="line">
                <a:avLst/>
              </a:prstGeom>
              <a:ln w="38100" cap="flat" cmpd="sng">
                <a:solidFill>
                  <a:srgbClr val="FF0000"/>
                </a:solidFill>
                <a:prstDash val="solid"/>
                <a:round/>
                <a:headEnd type="none" w="med" len="med"/>
                <a:tailEnd type="triangle" w="sm" len="med"/>
              </a:ln>
            </p:spPr>
          </p:sp>
          <p:sp>
            <p:nvSpPr>
              <p:cNvPr id="48156" name="Text Box 28"/>
              <p:cNvSpPr txBox="1"/>
              <p:nvPr/>
            </p:nvSpPr>
            <p:spPr>
              <a:xfrm>
                <a:off x="2160" y="2305"/>
                <a:ext cx="240" cy="326"/>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dirty="0">
                    <a:latin typeface="Times New Roman" panose="02020603050405020304" charset="0"/>
                    <a:ea typeface="宋体" panose="02010600030101010101" pitchFamily="2" charset="-122"/>
                  </a:rPr>
                  <a:t>x</a:t>
                </a:r>
                <a:endParaRPr lang="en-US" altLang="zh-CN" sz="2400" dirty="0">
                  <a:latin typeface="Times New Roman" panose="02020603050405020304" charset="0"/>
                  <a:ea typeface="宋体" panose="02010600030101010101" pitchFamily="2" charset="-122"/>
                </a:endParaRPr>
              </a:p>
            </p:txBody>
          </p:sp>
          <p:sp>
            <p:nvSpPr>
              <p:cNvPr id="48157" name="Text Box 29"/>
              <p:cNvSpPr txBox="1"/>
              <p:nvPr/>
            </p:nvSpPr>
            <p:spPr>
              <a:xfrm>
                <a:off x="2448" y="2305"/>
                <a:ext cx="240" cy="326"/>
              </a:xfrm>
              <a:prstGeom prst="rect">
                <a:avLst/>
              </a:prstGeom>
              <a:noFill/>
              <a:ln w="9525">
                <a:noFill/>
              </a:ln>
            </p:spPr>
            <p:txBody>
              <a:bodyPr anchor="t" anchorCtr="0">
                <a:spAutoFit/>
              </a:bodyPr>
              <a:p>
                <a:pPr>
                  <a:spcBef>
                    <a:spcPct val="50000"/>
                  </a:spcBef>
                  <a:buFont typeface="Wingdings" panose="05000000000000000000" pitchFamily="2" charset="2"/>
                </a:pPr>
                <a:endParaRPr lang="zh-CN" altLang="zh-CN" sz="2400" b="1" dirty="0">
                  <a:solidFill>
                    <a:srgbClr val="003366"/>
                  </a:solidFill>
                  <a:latin typeface="Times New Roman" panose="02020603050405020304" charset="0"/>
                  <a:ea typeface="宋体" panose="02010600030101010101" pitchFamily="2" charset="-122"/>
                </a:endParaRPr>
              </a:p>
            </p:txBody>
          </p:sp>
          <p:sp>
            <p:nvSpPr>
              <p:cNvPr id="48158" name="Text Box 30"/>
              <p:cNvSpPr txBox="1"/>
              <p:nvPr/>
            </p:nvSpPr>
            <p:spPr>
              <a:xfrm>
                <a:off x="2976" y="2305"/>
                <a:ext cx="240" cy="326"/>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dirty="0">
                    <a:latin typeface="Times New Roman" panose="02020603050405020304" charset="0"/>
                    <a:ea typeface="宋体" panose="02010600030101010101" pitchFamily="2" charset="-122"/>
                  </a:rPr>
                  <a:t>y</a:t>
                </a:r>
                <a:endParaRPr lang="en-US" altLang="zh-CN" sz="2400" dirty="0">
                  <a:latin typeface="Times New Roman" panose="02020603050405020304" charset="0"/>
                  <a:ea typeface="宋体" panose="02010600030101010101" pitchFamily="2" charset="-122"/>
                </a:endParaRPr>
              </a:p>
            </p:txBody>
          </p:sp>
          <p:sp>
            <p:nvSpPr>
              <p:cNvPr id="48159" name="Text Box 31"/>
              <p:cNvSpPr txBox="1"/>
              <p:nvPr/>
            </p:nvSpPr>
            <p:spPr>
              <a:xfrm>
                <a:off x="3264" y="2305"/>
                <a:ext cx="240" cy="326"/>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solidFill>
                      <a:srgbClr val="003366"/>
                    </a:solidFill>
                    <a:latin typeface="Times New Roman" panose="02020603050405020304" charset="0"/>
                    <a:ea typeface="宋体" panose="02010600030101010101" pitchFamily="2" charset="-122"/>
                  </a:rPr>
                  <a:t>^</a:t>
                </a:r>
                <a:endParaRPr lang="en-US" altLang="zh-CN" sz="2400" b="1" dirty="0">
                  <a:solidFill>
                    <a:srgbClr val="003366"/>
                  </a:solidFill>
                  <a:latin typeface="Times New Roman" panose="02020603050405020304" charset="0"/>
                  <a:ea typeface="宋体" panose="02010600030101010101" pitchFamily="2" charset="-122"/>
                </a:endParaRPr>
              </a:p>
            </p:txBody>
          </p:sp>
          <p:sp>
            <p:nvSpPr>
              <p:cNvPr id="48160" name="Text Box 32"/>
              <p:cNvSpPr txBox="1"/>
              <p:nvPr/>
            </p:nvSpPr>
            <p:spPr>
              <a:xfrm>
                <a:off x="3552" y="2256"/>
                <a:ext cx="1008" cy="326"/>
              </a:xfrm>
              <a:prstGeom prst="rect">
                <a:avLst/>
              </a:prstGeom>
              <a:noFill/>
              <a:ln w="9525">
                <a:noFill/>
              </a:ln>
            </p:spPr>
            <p:txBody>
              <a:bodyPr anchor="t" anchorCtr="0">
                <a:spAutoFit/>
              </a:bodyPr>
              <a:p>
                <a:pPr>
                  <a:spcBef>
                    <a:spcPct val="50000"/>
                  </a:spcBef>
                  <a:buFont typeface="Wingdings" panose="05000000000000000000" pitchFamily="2" charset="2"/>
                </a:pPr>
                <a:r>
                  <a:rPr lang="zh-CN" altLang="en-US" sz="2400" b="1" dirty="0">
                    <a:solidFill>
                      <a:srgbClr val="003366"/>
                    </a:solidFill>
                    <a:latin typeface="Times New Roman" panose="02020603050405020304" charset="0"/>
                    <a:ea typeface="楷体" panose="02010609060101010101" charset="-122"/>
                  </a:rPr>
                  <a:t>元素</a:t>
                </a:r>
                <a:r>
                  <a:rPr lang="en-US" altLang="zh-CN" sz="2400" b="1" dirty="0">
                    <a:solidFill>
                      <a:srgbClr val="003366"/>
                    </a:solidFill>
                    <a:latin typeface="Times New Roman" panose="02020603050405020304" charset="0"/>
                    <a:ea typeface="楷体" panose="02010609060101010101" charset="-122"/>
                  </a:rPr>
                  <a:t>y</a:t>
                </a:r>
                <a:r>
                  <a:rPr lang="zh-CN" altLang="en-US" sz="2400" b="1" dirty="0">
                    <a:solidFill>
                      <a:srgbClr val="003366"/>
                    </a:solidFill>
                    <a:latin typeface="Times New Roman" panose="02020603050405020304" charset="0"/>
                    <a:ea typeface="楷体" panose="02010609060101010101" charset="-122"/>
                  </a:rPr>
                  <a:t>入队</a:t>
                </a:r>
                <a:endParaRPr lang="zh-CN" altLang="en-US" sz="2400" b="1" dirty="0">
                  <a:solidFill>
                    <a:srgbClr val="003366"/>
                  </a:solidFill>
                  <a:latin typeface="Times New Roman" panose="02020603050405020304" charset="0"/>
                  <a:ea typeface="楷体" panose="02010609060101010101" charset="-122"/>
                </a:endParaRPr>
              </a:p>
            </p:txBody>
          </p:sp>
        </p:grpSp>
        <p:grpSp>
          <p:nvGrpSpPr>
            <p:cNvPr id="48161" name="Group 33"/>
            <p:cNvGrpSpPr/>
            <p:nvPr/>
          </p:nvGrpSpPr>
          <p:grpSpPr>
            <a:xfrm>
              <a:off x="864" y="3456"/>
              <a:ext cx="4080" cy="753"/>
              <a:chOff x="768" y="2880"/>
              <a:chExt cx="4080" cy="753"/>
            </a:xfrm>
          </p:grpSpPr>
          <p:sp>
            <p:nvSpPr>
              <p:cNvPr id="48162" name="Rectangle 34"/>
              <p:cNvSpPr/>
              <p:nvPr/>
            </p:nvSpPr>
            <p:spPr>
              <a:xfrm>
                <a:off x="1584" y="3072"/>
                <a:ext cx="528" cy="288"/>
              </a:xfrm>
              <a:prstGeom prst="rect">
                <a:avLst/>
              </a:prstGeom>
              <a:noFill/>
              <a:ln w="9525" cap="flat" cmpd="sng">
                <a:solidFill>
                  <a:srgbClr val="008000"/>
                </a:solidFill>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008000"/>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8163" name="Text Box 35"/>
              <p:cNvSpPr txBox="1"/>
              <p:nvPr/>
            </p:nvSpPr>
            <p:spPr>
              <a:xfrm>
                <a:off x="768" y="2977"/>
                <a:ext cx="596" cy="369"/>
              </a:xfrm>
              <a:prstGeom prst="rect">
                <a:avLst/>
              </a:prstGeom>
              <a:noFill/>
              <a:ln w="9525">
                <a:noFill/>
              </a:ln>
            </p:spPr>
            <p:txBody>
              <a:bodyPr wrap="none" anchor="t" anchorCtr="0">
                <a:spAutoFit/>
              </a:bodyPr>
              <a:p>
                <a:pPr>
                  <a:buFont typeface="Wingdings" panose="05000000000000000000" pitchFamily="2" charset="2"/>
                </a:pPr>
                <a:r>
                  <a:rPr lang="en-US" altLang="zh-CN" sz="2800" b="1" dirty="0">
                    <a:solidFill>
                      <a:schemeClr val="accent2"/>
                    </a:solidFill>
                    <a:latin typeface="Times New Roman" panose="02020603050405020304" charset="0"/>
                    <a:ea typeface="宋体" panose="02010600030101010101" pitchFamily="2" charset="-122"/>
                  </a:rPr>
                  <a:t>front</a:t>
                </a:r>
                <a:endParaRPr lang="en-US" altLang="zh-CN" sz="2400" dirty="0">
                  <a:latin typeface="Times New Roman" panose="02020603050405020304" charset="0"/>
                  <a:ea typeface="宋体" panose="02010600030101010101" pitchFamily="2" charset="-122"/>
                </a:endParaRPr>
              </a:p>
            </p:txBody>
          </p:sp>
          <p:sp>
            <p:nvSpPr>
              <p:cNvPr id="48164" name="Line 36"/>
              <p:cNvSpPr/>
              <p:nvPr/>
            </p:nvSpPr>
            <p:spPr>
              <a:xfrm>
                <a:off x="1344" y="3168"/>
                <a:ext cx="240" cy="0"/>
              </a:xfrm>
              <a:prstGeom prst="line">
                <a:avLst/>
              </a:prstGeom>
              <a:ln w="38100" cap="flat" cmpd="sng">
                <a:solidFill>
                  <a:srgbClr val="FF0000"/>
                </a:solidFill>
                <a:prstDash val="solid"/>
                <a:round/>
                <a:headEnd type="none" w="med" len="med"/>
                <a:tailEnd type="triangle" w="sm" len="med"/>
              </a:ln>
            </p:spPr>
          </p:sp>
          <p:sp>
            <p:nvSpPr>
              <p:cNvPr id="48165" name="Line 37"/>
              <p:cNvSpPr/>
              <p:nvPr/>
            </p:nvSpPr>
            <p:spPr>
              <a:xfrm>
                <a:off x="1920" y="3072"/>
                <a:ext cx="0" cy="288"/>
              </a:xfrm>
              <a:prstGeom prst="line">
                <a:avLst/>
              </a:prstGeom>
              <a:ln w="9525" cap="flat" cmpd="sng">
                <a:solidFill>
                  <a:schemeClr val="tx1"/>
                </a:solidFill>
                <a:prstDash val="solid"/>
                <a:round/>
                <a:headEnd type="none" w="med" len="med"/>
                <a:tailEnd type="none" w="med" len="med"/>
              </a:ln>
            </p:spPr>
          </p:sp>
          <p:sp>
            <p:nvSpPr>
              <p:cNvPr id="48166" name="Line 38"/>
              <p:cNvSpPr/>
              <p:nvPr/>
            </p:nvSpPr>
            <p:spPr>
              <a:xfrm flipV="1">
                <a:off x="1920" y="2976"/>
                <a:ext cx="96" cy="96"/>
              </a:xfrm>
              <a:prstGeom prst="line">
                <a:avLst/>
              </a:prstGeom>
              <a:ln w="9525" cap="flat" cmpd="sng">
                <a:solidFill>
                  <a:schemeClr val="tx1"/>
                </a:solidFill>
                <a:prstDash val="solid"/>
                <a:round/>
                <a:headEnd type="none" w="med" len="med"/>
                <a:tailEnd type="none" w="med" len="med"/>
              </a:ln>
            </p:spPr>
          </p:sp>
          <p:sp>
            <p:nvSpPr>
              <p:cNvPr id="48167" name="Rectangle 39"/>
              <p:cNvSpPr/>
              <p:nvPr/>
            </p:nvSpPr>
            <p:spPr>
              <a:xfrm>
                <a:off x="2400" y="3072"/>
                <a:ext cx="528" cy="288"/>
              </a:xfrm>
              <a:prstGeom prst="rect">
                <a:avLst/>
              </a:prstGeom>
              <a:solidFill>
                <a:srgbClr val="FFFF66"/>
              </a:solidFill>
              <a:ln w="9525"/>
              <a:scene3d>
                <a:camera prst="legacyObliqueTopRight">
                  <a:rot lat="0" lon="0" rev="0"/>
                </a:camera>
                <a:lightRig rig="legacyFlat3" dir="b"/>
              </a:scene3d>
              <a:sp3d extrusionH="430200" prstMaterial="legacyMatte">
                <a:bevelT w="13500" h="13500" prst="angle"/>
                <a:bevelB w="13500" h="13500" prst="angle"/>
                <a:extrusionClr>
                  <a:srgbClr val="FFFF66"/>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8168" name="Line 40"/>
              <p:cNvSpPr/>
              <p:nvPr/>
            </p:nvSpPr>
            <p:spPr>
              <a:xfrm>
                <a:off x="2016" y="3168"/>
                <a:ext cx="384" cy="0"/>
              </a:xfrm>
              <a:prstGeom prst="line">
                <a:avLst/>
              </a:prstGeom>
              <a:ln w="38100" cap="flat" cmpd="sng">
                <a:solidFill>
                  <a:schemeClr val="tx2"/>
                </a:solidFill>
                <a:prstDash val="solid"/>
                <a:round/>
                <a:headEnd type="none" w="med" len="med"/>
                <a:tailEnd type="triangle" w="sm" len="med"/>
              </a:ln>
            </p:spPr>
          </p:sp>
          <p:sp>
            <p:nvSpPr>
              <p:cNvPr id="48169" name="Line 41"/>
              <p:cNvSpPr/>
              <p:nvPr/>
            </p:nvSpPr>
            <p:spPr>
              <a:xfrm>
                <a:off x="2736" y="3072"/>
                <a:ext cx="0" cy="288"/>
              </a:xfrm>
              <a:prstGeom prst="line">
                <a:avLst/>
              </a:prstGeom>
              <a:ln w="9525" cap="flat" cmpd="sng">
                <a:solidFill>
                  <a:schemeClr val="tx1"/>
                </a:solidFill>
                <a:prstDash val="solid"/>
                <a:round/>
                <a:headEnd type="none" w="med" len="med"/>
                <a:tailEnd type="none" w="med" len="med"/>
              </a:ln>
            </p:spPr>
          </p:sp>
          <p:sp>
            <p:nvSpPr>
              <p:cNvPr id="48170" name="Line 42"/>
              <p:cNvSpPr/>
              <p:nvPr/>
            </p:nvSpPr>
            <p:spPr>
              <a:xfrm flipV="1">
                <a:off x="2736" y="2976"/>
                <a:ext cx="96" cy="96"/>
              </a:xfrm>
              <a:prstGeom prst="line">
                <a:avLst/>
              </a:prstGeom>
              <a:ln w="9525" cap="flat" cmpd="sng">
                <a:solidFill>
                  <a:schemeClr val="tx1"/>
                </a:solidFill>
                <a:prstDash val="solid"/>
                <a:round/>
                <a:headEnd type="none" w="med" len="med"/>
                <a:tailEnd type="none" w="med" len="med"/>
              </a:ln>
            </p:spPr>
          </p:sp>
          <p:sp>
            <p:nvSpPr>
              <p:cNvPr id="48171" name="Rectangle 43"/>
              <p:cNvSpPr/>
              <p:nvPr/>
            </p:nvSpPr>
            <p:spPr>
              <a:xfrm>
                <a:off x="3216" y="3072"/>
                <a:ext cx="528" cy="288"/>
              </a:xfrm>
              <a:prstGeom prst="rect">
                <a:avLst/>
              </a:prstGeom>
              <a:solidFill>
                <a:srgbClr val="FFFF66"/>
              </a:solidFill>
              <a:ln w="9525"/>
              <a:scene3d>
                <a:camera prst="legacyObliqueTopRight">
                  <a:rot lat="0" lon="0" rev="0"/>
                </a:camera>
                <a:lightRig rig="legacyFlat3" dir="b"/>
              </a:scene3d>
              <a:sp3d extrusionH="430200" prstMaterial="legacyMatte">
                <a:bevelT w="13500" h="13500" prst="angle"/>
                <a:bevelB w="13500" h="13500" prst="angle"/>
                <a:extrusionClr>
                  <a:srgbClr val="FFFF66"/>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8172" name="Line 44"/>
              <p:cNvSpPr/>
              <p:nvPr/>
            </p:nvSpPr>
            <p:spPr>
              <a:xfrm>
                <a:off x="2976" y="3168"/>
                <a:ext cx="240" cy="0"/>
              </a:xfrm>
              <a:prstGeom prst="line">
                <a:avLst/>
              </a:prstGeom>
              <a:ln w="38100" cap="flat" cmpd="sng">
                <a:solidFill>
                  <a:schemeClr val="tx2"/>
                </a:solidFill>
                <a:prstDash val="solid"/>
                <a:round/>
                <a:headEnd type="none" w="med" len="med"/>
                <a:tailEnd type="triangle" w="sm" len="med"/>
              </a:ln>
            </p:spPr>
          </p:sp>
          <p:sp>
            <p:nvSpPr>
              <p:cNvPr id="48173" name="Line 45"/>
              <p:cNvSpPr/>
              <p:nvPr/>
            </p:nvSpPr>
            <p:spPr>
              <a:xfrm>
                <a:off x="3552" y="3072"/>
                <a:ext cx="0" cy="288"/>
              </a:xfrm>
              <a:prstGeom prst="line">
                <a:avLst/>
              </a:prstGeom>
              <a:ln w="9525" cap="flat" cmpd="sng">
                <a:solidFill>
                  <a:schemeClr val="tx1"/>
                </a:solidFill>
                <a:prstDash val="solid"/>
                <a:round/>
                <a:headEnd type="none" w="med" len="med"/>
                <a:tailEnd type="none" w="med" len="med"/>
              </a:ln>
            </p:spPr>
          </p:sp>
          <p:sp>
            <p:nvSpPr>
              <p:cNvPr id="48174" name="Line 46"/>
              <p:cNvSpPr/>
              <p:nvPr/>
            </p:nvSpPr>
            <p:spPr>
              <a:xfrm flipV="1">
                <a:off x="3552" y="2976"/>
                <a:ext cx="96" cy="96"/>
              </a:xfrm>
              <a:prstGeom prst="line">
                <a:avLst/>
              </a:prstGeom>
              <a:ln w="9525" cap="flat" cmpd="sng">
                <a:solidFill>
                  <a:schemeClr val="tx1"/>
                </a:solidFill>
                <a:prstDash val="solid"/>
                <a:round/>
                <a:headEnd type="none" w="med" len="med"/>
                <a:tailEnd type="none" w="med" len="med"/>
              </a:ln>
            </p:spPr>
          </p:sp>
          <p:sp>
            <p:nvSpPr>
              <p:cNvPr id="48175" name="Line 47"/>
              <p:cNvSpPr/>
              <p:nvPr/>
            </p:nvSpPr>
            <p:spPr>
              <a:xfrm>
                <a:off x="1248" y="3504"/>
                <a:ext cx="288" cy="96"/>
              </a:xfrm>
              <a:prstGeom prst="line">
                <a:avLst/>
              </a:prstGeom>
              <a:ln w="38100" cap="flat" cmpd="sng">
                <a:solidFill>
                  <a:srgbClr val="FF0000"/>
                </a:solidFill>
                <a:prstDash val="solid"/>
                <a:round/>
                <a:headEnd type="none" w="med" len="med"/>
                <a:tailEnd type="none" w="sm" len="med"/>
              </a:ln>
            </p:spPr>
          </p:sp>
          <p:sp>
            <p:nvSpPr>
              <p:cNvPr id="48176" name="Text Box 48"/>
              <p:cNvSpPr txBox="1"/>
              <p:nvPr/>
            </p:nvSpPr>
            <p:spPr>
              <a:xfrm>
                <a:off x="768" y="3264"/>
                <a:ext cx="573" cy="369"/>
              </a:xfrm>
              <a:prstGeom prst="rect">
                <a:avLst/>
              </a:prstGeom>
              <a:noFill/>
              <a:ln w="9525">
                <a:noFill/>
              </a:ln>
            </p:spPr>
            <p:txBody>
              <a:bodyPr anchor="t" anchorCtr="0">
                <a:spAutoFit/>
              </a:bodyPr>
              <a:p>
                <a:pPr>
                  <a:buFont typeface="Wingdings" panose="05000000000000000000" pitchFamily="2" charset="2"/>
                </a:pPr>
                <a:r>
                  <a:rPr lang="en-US" altLang="zh-CN" sz="2800" b="1" dirty="0">
                    <a:solidFill>
                      <a:schemeClr val="accent2"/>
                    </a:solidFill>
                    <a:latin typeface="Times New Roman" panose="02020603050405020304" charset="0"/>
                    <a:ea typeface="宋体" panose="02010600030101010101" pitchFamily="2" charset="-122"/>
                  </a:rPr>
                  <a:t>rear</a:t>
                </a:r>
                <a:endParaRPr lang="en-US" altLang="zh-CN" sz="2400" dirty="0">
                  <a:latin typeface="Times New Roman" panose="02020603050405020304" charset="0"/>
                  <a:ea typeface="宋体" panose="02010600030101010101" pitchFamily="2" charset="-122"/>
                </a:endParaRPr>
              </a:p>
            </p:txBody>
          </p:sp>
          <p:sp>
            <p:nvSpPr>
              <p:cNvPr id="48177" name="Line 49"/>
              <p:cNvSpPr/>
              <p:nvPr/>
            </p:nvSpPr>
            <p:spPr>
              <a:xfrm flipH="1">
                <a:off x="1680" y="3072"/>
                <a:ext cx="144" cy="144"/>
              </a:xfrm>
              <a:prstGeom prst="line">
                <a:avLst/>
              </a:prstGeom>
              <a:ln w="9525" cap="flat" cmpd="sng">
                <a:solidFill>
                  <a:schemeClr val="tx1"/>
                </a:solidFill>
                <a:prstDash val="solid"/>
                <a:round/>
                <a:headEnd type="none" w="med" len="med"/>
                <a:tailEnd type="none" w="med" len="med"/>
              </a:ln>
            </p:spPr>
          </p:sp>
          <p:sp>
            <p:nvSpPr>
              <p:cNvPr id="48178" name="Line 50"/>
              <p:cNvSpPr/>
              <p:nvPr/>
            </p:nvSpPr>
            <p:spPr>
              <a:xfrm flipH="1">
                <a:off x="1776" y="3120"/>
                <a:ext cx="144" cy="144"/>
              </a:xfrm>
              <a:prstGeom prst="line">
                <a:avLst/>
              </a:prstGeom>
              <a:ln w="9525" cap="flat" cmpd="sng">
                <a:solidFill>
                  <a:schemeClr val="tx1"/>
                </a:solidFill>
                <a:prstDash val="solid"/>
                <a:round/>
                <a:headEnd type="none" w="med" len="med"/>
                <a:tailEnd type="none" w="med" len="med"/>
              </a:ln>
            </p:spPr>
          </p:sp>
          <p:sp>
            <p:nvSpPr>
              <p:cNvPr id="48179" name="Line 51"/>
              <p:cNvSpPr/>
              <p:nvPr/>
            </p:nvSpPr>
            <p:spPr>
              <a:xfrm flipH="1">
                <a:off x="1680" y="3072"/>
                <a:ext cx="240" cy="192"/>
              </a:xfrm>
              <a:prstGeom prst="line">
                <a:avLst/>
              </a:prstGeom>
              <a:ln w="9525" cap="flat" cmpd="sng">
                <a:solidFill>
                  <a:schemeClr val="tx1"/>
                </a:solidFill>
                <a:prstDash val="solid"/>
                <a:round/>
                <a:headEnd type="none" w="med" len="med"/>
                <a:tailEnd type="none" w="med" len="med"/>
              </a:ln>
            </p:spPr>
          </p:sp>
          <p:sp>
            <p:nvSpPr>
              <p:cNvPr id="48180" name="Line 52"/>
              <p:cNvSpPr/>
              <p:nvPr/>
            </p:nvSpPr>
            <p:spPr>
              <a:xfrm flipH="1">
                <a:off x="1824" y="3168"/>
                <a:ext cx="96" cy="96"/>
              </a:xfrm>
              <a:prstGeom prst="line">
                <a:avLst/>
              </a:prstGeom>
              <a:ln w="9525" cap="flat" cmpd="sng">
                <a:solidFill>
                  <a:schemeClr val="tx1"/>
                </a:solidFill>
                <a:prstDash val="solid"/>
                <a:round/>
                <a:headEnd type="none" w="med" len="med"/>
                <a:tailEnd type="none" w="med" len="med"/>
              </a:ln>
            </p:spPr>
          </p:sp>
          <p:sp>
            <p:nvSpPr>
              <p:cNvPr id="48181" name="Line 53"/>
              <p:cNvSpPr/>
              <p:nvPr/>
            </p:nvSpPr>
            <p:spPr>
              <a:xfrm flipH="1">
                <a:off x="1680" y="3072"/>
                <a:ext cx="96" cy="96"/>
              </a:xfrm>
              <a:prstGeom prst="line">
                <a:avLst/>
              </a:prstGeom>
              <a:ln w="9525" cap="flat" cmpd="sng">
                <a:solidFill>
                  <a:schemeClr val="tx1"/>
                </a:solidFill>
                <a:prstDash val="solid"/>
                <a:round/>
                <a:headEnd type="none" w="med" len="med"/>
                <a:tailEnd type="none" w="med" len="med"/>
              </a:ln>
            </p:spPr>
          </p:sp>
          <p:sp>
            <p:nvSpPr>
              <p:cNvPr id="48182" name="Text Box 54"/>
              <p:cNvSpPr txBox="1"/>
              <p:nvPr/>
            </p:nvSpPr>
            <p:spPr>
              <a:xfrm>
                <a:off x="2496" y="3072"/>
                <a:ext cx="240" cy="325"/>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dirty="0">
                    <a:latin typeface="Times New Roman" panose="02020603050405020304" charset="0"/>
                    <a:ea typeface="宋体" panose="02010600030101010101" pitchFamily="2" charset="-122"/>
                  </a:rPr>
                  <a:t>x</a:t>
                </a:r>
                <a:endParaRPr lang="en-US" altLang="zh-CN" sz="2400" dirty="0">
                  <a:latin typeface="Times New Roman" panose="02020603050405020304" charset="0"/>
                  <a:ea typeface="宋体" panose="02010600030101010101" pitchFamily="2" charset="-122"/>
                </a:endParaRPr>
              </a:p>
            </p:txBody>
          </p:sp>
          <p:sp>
            <p:nvSpPr>
              <p:cNvPr id="48183" name="Text Box 55"/>
              <p:cNvSpPr txBox="1"/>
              <p:nvPr/>
            </p:nvSpPr>
            <p:spPr>
              <a:xfrm>
                <a:off x="3552" y="3072"/>
                <a:ext cx="240" cy="325"/>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solidFill>
                      <a:srgbClr val="003366"/>
                    </a:solidFill>
                    <a:latin typeface="Times New Roman" panose="02020603050405020304" charset="0"/>
                    <a:ea typeface="宋体" panose="02010600030101010101" pitchFamily="2" charset="-122"/>
                  </a:rPr>
                  <a:t>^</a:t>
                </a:r>
                <a:endParaRPr lang="en-US" altLang="zh-CN" sz="2400" b="1" dirty="0">
                  <a:solidFill>
                    <a:srgbClr val="003366"/>
                  </a:solidFill>
                  <a:latin typeface="Times New Roman" panose="02020603050405020304" charset="0"/>
                  <a:ea typeface="宋体" panose="02010600030101010101" pitchFamily="2" charset="-122"/>
                </a:endParaRPr>
              </a:p>
            </p:txBody>
          </p:sp>
          <p:sp>
            <p:nvSpPr>
              <p:cNvPr id="48184" name="Text Box 56"/>
              <p:cNvSpPr txBox="1"/>
              <p:nvPr/>
            </p:nvSpPr>
            <p:spPr>
              <a:xfrm>
                <a:off x="2736" y="3072"/>
                <a:ext cx="192" cy="325"/>
              </a:xfrm>
              <a:prstGeom prst="rect">
                <a:avLst/>
              </a:prstGeom>
              <a:noFill/>
              <a:ln w="9525">
                <a:noFill/>
              </a:ln>
            </p:spPr>
            <p:txBody>
              <a:bodyPr anchor="t" anchorCtr="0">
                <a:spAutoFit/>
              </a:bodyPr>
              <a:p>
                <a:pPr>
                  <a:spcBef>
                    <a:spcPct val="50000"/>
                  </a:spcBef>
                  <a:buFont typeface="Wingdings" panose="05000000000000000000" pitchFamily="2" charset="2"/>
                </a:pPr>
                <a:endParaRPr lang="zh-CN" altLang="zh-CN" sz="2400" b="1" dirty="0">
                  <a:solidFill>
                    <a:srgbClr val="003366"/>
                  </a:solidFill>
                  <a:latin typeface="Times New Roman" panose="02020603050405020304" charset="0"/>
                  <a:ea typeface="宋体" panose="02010600030101010101" pitchFamily="2" charset="-122"/>
                </a:endParaRPr>
              </a:p>
            </p:txBody>
          </p:sp>
          <p:sp>
            <p:nvSpPr>
              <p:cNvPr id="48185" name="Text Box 57"/>
              <p:cNvSpPr txBox="1"/>
              <p:nvPr/>
            </p:nvSpPr>
            <p:spPr>
              <a:xfrm>
                <a:off x="3264" y="3072"/>
                <a:ext cx="240" cy="325"/>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dirty="0">
                    <a:latin typeface="Times New Roman" panose="02020603050405020304" charset="0"/>
                    <a:ea typeface="宋体" panose="02010600030101010101" pitchFamily="2" charset="-122"/>
                  </a:rPr>
                  <a:t>y</a:t>
                </a:r>
                <a:endParaRPr lang="en-US" altLang="zh-CN" sz="2400" dirty="0">
                  <a:latin typeface="Times New Roman" panose="02020603050405020304" charset="0"/>
                  <a:ea typeface="宋体" panose="02010600030101010101" pitchFamily="2" charset="-122"/>
                </a:endParaRPr>
              </a:p>
            </p:txBody>
          </p:sp>
          <p:sp>
            <p:nvSpPr>
              <p:cNvPr id="48186" name="Line 58"/>
              <p:cNvSpPr/>
              <p:nvPr/>
            </p:nvSpPr>
            <p:spPr>
              <a:xfrm>
                <a:off x="1536" y="3600"/>
                <a:ext cx="1872" cy="0"/>
              </a:xfrm>
              <a:prstGeom prst="line">
                <a:avLst/>
              </a:prstGeom>
              <a:ln w="38100" cap="flat" cmpd="sng">
                <a:solidFill>
                  <a:srgbClr val="FF0000"/>
                </a:solidFill>
                <a:prstDash val="solid"/>
                <a:round/>
                <a:headEnd type="none" w="med" len="med"/>
                <a:tailEnd type="none" w="sm" len="med"/>
              </a:ln>
            </p:spPr>
          </p:sp>
          <p:sp>
            <p:nvSpPr>
              <p:cNvPr id="48187" name="Line 59"/>
              <p:cNvSpPr/>
              <p:nvPr/>
            </p:nvSpPr>
            <p:spPr>
              <a:xfrm flipV="1">
                <a:off x="3408" y="3312"/>
                <a:ext cx="48" cy="288"/>
              </a:xfrm>
              <a:prstGeom prst="line">
                <a:avLst/>
              </a:prstGeom>
              <a:ln w="38100" cap="flat" cmpd="sng">
                <a:solidFill>
                  <a:srgbClr val="FF0000"/>
                </a:solidFill>
                <a:prstDash val="solid"/>
                <a:round/>
                <a:headEnd type="none" w="med" len="med"/>
                <a:tailEnd type="triangle" w="sm" len="med"/>
              </a:ln>
            </p:spPr>
          </p:sp>
          <p:sp>
            <p:nvSpPr>
              <p:cNvPr id="48188" name="Text Box 60"/>
              <p:cNvSpPr txBox="1"/>
              <p:nvPr/>
            </p:nvSpPr>
            <p:spPr>
              <a:xfrm>
                <a:off x="3840" y="2977"/>
                <a:ext cx="1008" cy="325"/>
              </a:xfrm>
              <a:prstGeom prst="rect">
                <a:avLst/>
              </a:prstGeom>
              <a:noFill/>
              <a:ln w="9525">
                <a:noFill/>
              </a:ln>
            </p:spPr>
            <p:txBody>
              <a:bodyPr anchor="t" anchorCtr="0">
                <a:spAutoFit/>
              </a:bodyPr>
              <a:p>
                <a:pPr>
                  <a:spcBef>
                    <a:spcPct val="50000"/>
                  </a:spcBef>
                  <a:buFont typeface="Wingdings" panose="05000000000000000000" pitchFamily="2" charset="2"/>
                </a:pPr>
                <a:r>
                  <a:rPr lang="zh-CN" altLang="en-US" sz="2400" b="1" dirty="0">
                    <a:solidFill>
                      <a:srgbClr val="003366"/>
                    </a:solidFill>
                    <a:latin typeface="Times New Roman" panose="02020603050405020304" charset="0"/>
                    <a:ea typeface="楷体" panose="02010609060101010101" charset="-122"/>
                  </a:rPr>
                  <a:t>元素</a:t>
                </a:r>
                <a:r>
                  <a:rPr lang="en-US" altLang="zh-CN" sz="2400" b="1" dirty="0">
                    <a:solidFill>
                      <a:srgbClr val="003366"/>
                    </a:solidFill>
                    <a:latin typeface="Times New Roman" panose="02020603050405020304" charset="0"/>
                    <a:ea typeface="楷体" panose="02010609060101010101" charset="-122"/>
                  </a:rPr>
                  <a:t>x</a:t>
                </a:r>
                <a:r>
                  <a:rPr lang="zh-CN" altLang="en-US" sz="2400" b="1" dirty="0">
                    <a:solidFill>
                      <a:srgbClr val="003366"/>
                    </a:solidFill>
                    <a:latin typeface="Times New Roman" panose="02020603050405020304" charset="0"/>
                    <a:ea typeface="楷体" panose="02010609060101010101" charset="-122"/>
                  </a:rPr>
                  <a:t>出队</a:t>
                </a:r>
                <a:endParaRPr lang="zh-CN" altLang="en-US" sz="2400" b="1" dirty="0">
                  <a:solidFill>
                    <a:srgbClr val="003366"/>
                  </a:solidFill>
                  <a:latin typeface="Times New Roman" panose="02020603050405020304" charset="0"/>
                  <a:ea typeface="楷体" panose="02010609060101010101" charset="-122"/>
                </a:endParaRPr>
              </a:p>
            </p:txBody>
          </p:sp>
          <p:sp>
            <p:nvSpPr>
              <p:cNvPr id="48189" name="Line 61"/>
              <p:cNvSpPr/>
              <p:nvPr/>
            </p:nvSpPr>
            <p:spPr>
              <a:xfrm flipV="1">
                <a:off x="2016" y="2880"/>
                <a:ext cx="144" cy="288"/>
              </a:xfrm>
              <a:prstGeom prst="line">
                <a:avLst/>
              </a:prstGeom>
              <a:ln w="38100" cap="flat" cmpd="sng">
                <a:solidFill>
                  <a:srgbClr val="00FF00"/>
                </a:solidFill>
                <a:prstDash val="solid"/>
                <a:round/>
                <a:headEnd type="none" w="med" len="med"/>
                <a:tailEnd type="none" w="sm" len="med"/>
              </a:ln>
            </p:spPr>
          </p:sp>
          <p:sp>
            <p:nvSpPr>
              <p:cNvPr id="48190" name="Line 62"/>
              <p:cNvSpPr/>
              <p:nvPr/>
            </p:nvSpPr>
            <p:spPr>
              <a:xfrm>
                <a:off x="2160" y="2880"/>
                <a:ext cx="1296" cy="0"/>
              </a:xfrm>
              <a:prstGeom prst="line">
                <a:avLst/>
              </a:prstGeom>
              <a:ln w="38100" cap="flat" cmpd="sng">
                <a:solidFill>
                  <a:srgbClr val="00FF00"/>
                </a:solidFill>
                <a:prstDash val="solid"/>
                <a:round/>
                <a:headEnd type="none" w="med" len="med"/>
                <a:tailEnd type="none" w="sm" len="med"/>
              </a:ln>
            </p:spPr>
          </p:sp>
          <p:sp>
            <p:nvSpPr>
              <p:cNvPr id="48191" name="Line 63"/>
              <p:cNvSpPr/>
              <p:nvPr/>
            </p:nvSpPr>
            <p:spPr>
              <a:xfrm>
                <a:off x="3456" y="2880"/>
                <a:ext cx="0" cy="144"/>
              </a:xfrm>
              <a:prstGeom prst="line">
                <a:avLst/>
              </a:prstGeom>
              <a:ln w="38100" cap="flat" cmpd="sng">
                <a:solidFill>
                  <a:srgbClr val="00FF00"/>
                </a:solidFill>
                <a:prstDash val="solid"/>
                <a:round/>
                <a:headEnd type="none" w="med" len="med"/>
                <a:tailEnd type="triangle" w="sm" len="med"/>
              </a:ln>
            </p:spPr>
          </p:sp>
          <p:sp>
            <p:nvSpPr>
              <p:cNvPr id="48192" name="Line 64"/>
              <p:cNvSpPr/>
              <p:nvPr/>
            </p:nvSpPr>
            <p:spPr>
              <a:xfrm>
                <a:off x="2256" y="3120"/>
                <a:ext cx="48" cy="144"/>
              </a:xfrm>
              <a:prstGeom prst="line">
                <a:avLst/>
              </a:prstGeom>
              <a:ln w="38100" cap="flat" cmpd="sng">
                <a:solidFill>
                  <a:srgbClr val="00FF00"/>
                </a:solidFill>
                <a:prstDash val="solid"/>
                <a:round/>
                <a:headEnd type="none" w="med" len="med"/>
                <a:tailEnd type="none" w="sm" len="med"/>
              </a:ln>
            </p:spPr>
          </p:sp>
        </p:grpSp>
        <p:grpSp>
          <p:nvGrpSpPr>
            <p:cNvPr id="48193" name="Group 65"/>
            <p:cNvGrpSpPr/>
            <p:nvPr/>
          </p:nvGrpSpPr>
          <p:grpSpPr>
            <a:xfrm>
              <a:off x="864" y="1968"/>
              <a:ext cx="2352" cy="609"/>
              <a:chOff x="768" y="624"/>
              <a:chExt cx="2352" cy="609"/>
            </a:xfrm>
          </p:grpSpPr>
          <p:grpSp>
            <p:nvGrpSpPr>
              <p:cNvPr id="48194" name="Group 66"/>
              <p:cNvGrpSpPr/>
              <p:nvPr/>
            </p:nvGrpSpPr>
            <p:grpSpPr>
              <a:xfrm>
                <a:off x="768" y="624"/>
                <a:ext cx="2352" cy="609"/>
                <a:chOff x="480" y="864"/>
                <a:chExt cx="2352" cy="609"/>
              </a:xfrm>
            </p:grpSpPr>
            <p:sp>
              <p:nvSpPr>
                <p:cNvPr id="48195" name="Rectangle 67"/>
                <p:cNvSpPr/>
                <p:nvPr/>
              </p:nvSpPr>
              <p:spPr>
                <a:xfrm>
                  <a:off x="1325" y="960"/>
                  <a:ext cx="547" cy="288"/>
                </a:xfrm>
                <a:prstGeom prst="rect">
                  <a:avLst/>
                </a:prstGeom>
                <a:noFill/>
                <a:ln w="9525" cap="flat" cmpd="sng">
                  <a:solidFill>
                    <a:srgbClr val="008000"/>
                  </a:solidFill>
                  <a:prstDash val="solid"/>
                  <a:miter/>
                  <a:headEnd type="none" w="med" len="med"/>
                  <a:tailEnd type="none" w="med" len="med"/>
                </a:ln>
                <a:scene3d>
                  <a:camera prst="legacyObliqueTopRight">
                    <a:rot lat="0" lon="0" rev="0"/>
                  </a:camera>
                  <a:lightRig rig="legacyFlat3" dir="b"/>
                </a:scene3d>
                <a:sp3d extrusionH="430200" prstMaterial="legacyMatte">
                  <a:bevelT w="13500" h="13500" prst="angle"/>
                  <a:bevelB w="13500" h="13500" prst="angle"/>
                  <a:extrusionClr>
                    <a:srgbClr val="008000"/>
                  </a:extrusionClr>
                </a:sp3d>
              </p:spPr>
              <p:txBody>
                <a:bodyPr wrap="none" anchor="ctr" anchorCtr="0">
                  <a:flatTx/>
                </a:bodyPr>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48196" name="Text Box 68"/>
                <p:cNvSpPr txBox="1"/>
                <p:nvPr/>
              </p:nvSpPr>
              <p:spPr>
                <a:xfrm>
                  <a:off x="480" y="864"/>
                  <a:ext cx="596" cy="369"/>
                </a:xfrm>
                <a:prstGeom prst="rect">
                  <a:avLst/>
                </a:prstGeom>
                <a:noFill/>
                <a:ln w="9525">
                  <a:noFill/>
                </a:ln>
              </p:spPr>
              <p:txBody>
                <a:bodyPr wrap="none" anchor="t" anchorCtr="0">
                  <a:spAutoFit/>
                </a:bodyPr>
                <a:p>
                  <a:pPr>
                    <a:buFont typeface="Wingdings" panose="05000000000000000000" pitchFamily="2" charset="2"/>
                  </a:pPr>
                  <a:r>
                    <a:rPr lang="en-US" altLang="zh-CN" sz="2800" b="1" dirty="0">
                      <a:solidFill>
                        <a:schemeClr val="accent2"/>
                      </a:solidFill>
                      <a:latin typeface="Times New Roman" panose="02020603050405020304" charset="0"/>
                      <a:ea typeface="宋体" panose="02010600030101010101" pitchFamily="2" charset="-122"/>
                    </a:rPr>
                    <a:t>front</a:t>
                  </a:r>
                  <a:endParaRPr lang="en-US" altLang="zh-CN" sz="2400" dirty="0">
                    <a:latin typeface="Times New Roman" panose="02020603050405020304" charset="0"/>
                    <a:ea typeface="宋体" panose="02010600030101010101" pitchFamily="2" charset="-122"/>
                  </a:endParaRPr>
                </a:p>
              </p:txBody>
            </p:sp>
            <p:sp>
              <p:nvSpPr>
                <p:cNvPr id="48197" name="Line 69"/>
                <p:cNvSpPr/>
                <p:nvPr/>
              </p:nvSpPr>
              <p:spPr>
                <a:xfrm>
                  <a:off x="1077" y="1056"/>
                  <a:ext cx="248" cy="0"/>
                </a:xfrm>
                <a:prstGeom prst="line">
                  <a:avLst/>
                </a:prstGeom>
                <a:ln w="38100" cap="flat" cmpd="sng">
                  <a:solidFill>
                    <a:srgbClr val="FF0000"/>
                  </a:solidFill>
                  <a:prstDash val="solid"/>
                  <a:round/>
                  <a:headEnd type="none" w="med" len="med"/>
                  <a:tailEnd type="triangle" w="sm" len="med"/>
                </a:ln>
              </p:spPr>
            </p:sp>
            <p:sp>
              <p:nvSpPr>
                <p:cNvPr id="48198" name="Line 70"/>
                <p:cNvSpPr/>
                <p:nvPr/>
              </p:nvSpPr>
              <p:spPr>
                <a:xfrm>
                  <a:off x="1673" y="960"/>
                  <a:ext cx="0" cy="288"/>
                </a:xfrm>
                <a:prstGeom prst="line">
                  <a:avLst/>
                </a:prstGeom>
                <a:ln w="9525" cap="flat" cmpd="sng">
                  <a:solidFill>
                    <a:schemeClr val="tx1"/>
                  </a:solidFill>
                  <a:prstDash val="solid"/>
                  <a:round/>
                  <a:headEnd type="none" w="med" len="med"/>
                  <a:tailEnd type="none" w="med" len="med"/>
                </a:ln>
              </p:spPr>
            </p:sp>
            <p:sp>
              <p:nvSpPr>
                <p:cNvPr id="48199" name="Line 71"/>
                <p:cNvSpPr/>
                <p:nvPr/>
              </p:nvSpPr>
              <p:spPr>
                <a:xfrm flipV="1">
                  <a:off x="1673" y="864"/>
                  <a:ext cx="100" cy="96"/>
                </a:xfrm>
                <a:prstGeom prst="line">
                  <a:avLst/>
                </a:prstGeom>
                <a:ln w="9525" cap="flat" cmpd="sng">
                  <a:solidFill>
                    <a:schemeClr val="tx1"/>
                  </a:solidFill>
                  <a:prstDash val="solid"/>
                  <a:round/>
                  <a:headEnd type="none" w="med" len="med"/>
                  <a:tailEnd type="none" w="med" len="med"/>
                </a:ln>
              </p:spPr>
            </p:sp>
            <p:sp>
              <p:nvSpPr>
                <p:cNvPr id="48200" name="Text Box 72"/>
                <p:cNvSpPr txBox="1"/>
                <p:nvPr/>
              </p:nvSpPr>
              <p:spPr>
                <a:xfrm>
                  <a:off x="480" y="1104"/>
                  <a:ext cx="544" cy="369"/>
                </a:xfrm>
                <a:prstGeom prst="rect">
                  <a:avLst/>
                </a:prstGeom>
                <a:noFill/>
                <a:ln w="9525">
                  <a:noFill/>
                </a:ln>
              </p:spPr>
              <p:txBody>
                <a:bodyPr anchor="t" anchorCtr="0">
                  <a:spAutoFit/>
                </a:bodyPr>
                <a:p>
                  <a:pPr>
                    <a:buFont typeface="Wingdings" panose="05000000000000000000" pitchFamily="2" charset="2"/>
                  </a:pPr>
                  <a:r>
                    <a:rPr lang="en-US" altLang="zh-CN" sz="2800" b="1" dirty="0">
                      <a:solidFill>
                        <a:schemeClr val="accent2"/>
                      </a:solidFill>
                      <a:latin typeface="Times New Roman" panose="02020603050405020304" charset="0"/>
                      <a:ea typeface="宋体" panose="02010600030101010101" pitchFamily="2" charset="-122"/>
                    </a:rPr>
                    <a:t>rear</a:t>
                  </a:r>
                  <a:endParaRPr lang="en-US" altLang="zh-CN" sz="2400" dirty="0">
                    <a:latin typeface="Times New Roman" panose="02020603050405020304" charset="0"/>
                    <a:ea typeface="宋体" panose="02010600030101010101" pitchFamily="2" charset="-122"/>
                  </a:endParaRPr>
                </a:p>
              </p:txBody>
            </p:sp>
            <p:sp>
              <p:nvSpPr>
                <p:cNvPr id="48201" name="Line 73"/>
                <p:cNvSpPr/>
                <p:nvPr/>
              </p:nvSpPr>
              <p:spPr>
                <a:xfrm flipH="1">
                  <a:off x="1425" y="960"/>
                  <a:ext cx="149" cy="144"/>
                </a:xfrm>
                <a:prstGeom prst="line">
                  <a:avLst/>
                </a:prstGeom>
                <a:ln w="28575" cap="flat" cmpd="sng">
                  <a:solidFill>
                    <a:schemeClr val="tx1"/>
                  </a:solidFill>
                  <a:prstDash val="solid"/>
                  <a:round/>
                  <a:headEnd type="none" w="med" len="med"/>
                  <a:tailEnd type="none" w="med" len="med"/>
                </a:ln>
              </p:spPr>
            </p:sp>
            <p:sp>
              <p:nvSpPr>
                <p:cNvPr id="48202" name="Line 74"/>
                <p:cNvSpPr/>
                <p:nvPr/>
              </p:nvSpPr>
              <p:spPr>
                <a:xfrm flipH="1">
                  <a:off x="1524" y="1008"/>
                  <a:ext cx="149" cy="144"/>
                </a:xfrm>
                <a:prstGeom prst="line">
                  <a:avLst/>
                </a:prstGeom>
                <a:ln w="28575" cap="flat" cmpd="sng">
                  <a:solidFill>
                    <a:schemeClr val="tx1"/>
                  </a:solidFill>
                  <a:prstDash val="solid"/>
                  <a:round/>
                  <a:headEnd type="none" w="med" len="med"/>
                  <a:tailEnd type="none" w="med" len="med"/>
                </a:ln>
              </p:spPr>
            </p:sp>
            <p:sp>
              <p:nvSpPr>
                <p:cNvPr id="48203" name="Line 75"/>
                <p:cNvSpPr/>
                <p:nvPr/>
              </p:nvSpPr>
              <p:spPr>
                <a:xfrm flipH="1">
                  <a:off x="1425" y="960"/>
                  <a:ext cx="248" cy="192"/>
                </a:xfrm>
                <a:prstGeom prst="line">
                  <a:avLst/>
                </a:prstGeom>
                <a:ln w="28575" cap="flat" cmpd="sng">
                  <a:solidFill>
                    <a:schemeClr val="tx1"/>
                  </a:solidFill>
                  <a:prstDash val="solid"/>
                  <a:round/>
                  <a:headEnd type="none" w="med" len="med"/>
                  <a:tailEnd type="none" w="med" len="med"/>
                </a:ln>
              </p:spPr>
            </p:sp>
            <p:sp>
              <p:nvSpPr>
                <p:cNvPr id="48204" name="Line 76"/>
                <p:cNvSpPr/>
                <p:nvPr/>
              </p:nvSpPr>
              <p:spPr>
                <a:xfrm flipH="1">
                  <a:off x="1574" y="1056"/>
                  <a:ext cx="99" cy="96"/>
                </a:xfrm>
                <a:prstGeom prst="line">
                  <a:avLst/>
                </a:prstGeom>
                <a:ln w="28575" cap="flat" cmpd="sng">
                  <a:solidFill>
                    <a:schemeClr val="tx1"/>
                  </a:solidFill>
                  <a:prstDash val="solid"/>
                  <a:round/>
                  <a:headEnd type="none" w="med" len="med"/>
                  <a:tailEnd type="none" w="med" len="med"/>
                </a:ln>
              </p:spPr>
            </p:sp>
            <p:sp>
              <p:nvSpPr>
                <p:cNvPr id="48205" name="Line 77"/>
                <p:cNvSpPr/>
                <p:nvPr/>
              </p:nvSpPr>
              <p:spPr>
                <a:xfrm flipH="1">
                  <a:off x="1425" y="960"/>
                  <a:ext cx="99" cy="96"/>
                </a:xfrm>
                <a:prstGeom prst="line">
                  <a:avLst/>
                </a:prstGeom>
                <a:ln w="28575" cap="flat" cmpd="sng">
                  <a:solidFill>
                    <a:schemeClr val="tx1"/>
                  </a:solidFill>
                  <a:prstDash val="solid"/>
                  <a:round/>
                  <a:headEnd type="none" w="med" len="med"/>
                  <a:tailEnd type="none" w="med" len="med"/>
                </a:ln>
              </p:spPr>
            </p:sp>
            <p:sp>
              <p:nvSpPr>
                <p:cNvPr id="48206" name="Text Box 78"/>
                <p:cNvSpPr txBox="1"/>
                <p:nvPr/>
              </p:nvSpPr>
              <p:spPr>
                <a:xfrm>
                  <a:off x="1584" y="1104"/>
                  <a:ext cx="144" cy="326"/>
                </a:xfrm>
                <a:prstGeom prst="rect">
                  <a:avLst/>
                </a:prstGeom>
                <a:noFill/>
                <a:ln w="9525">
                  <a:noFill/>
                </a:ln>
              </p:spPr>
              <p:txBody>
                <a:bodyPr anchor="t" anchorCtr="0">
                  <a:spAutoFit/>
                </a:bodyPr>
                <a:p>
                  <a:pPr>
                    <a:spcBef>
                      <a:spcPct val="50000"/>
                    </a:spcBef>
                    <a:buFont typeface="Wingdings" panose="05000000000000000000" pitchFamily="2" charset="2"/>
                  </a:pPr>
                  <a:r>
                    <a:rPr lang="en-US" altLang="zh-CN" sz="2400" b="1" dirty="0">
                      <a:latin typeface="Times New Roman" panose="02020603050405020304" charset="0"/>
                      <a:ea typeface="宋体" panose="02010600030101010101" pitchFamily="2" charset="-122"/>
                    </a:rPr>
                    <a:t>^</a:t>
                  </a:r>
                  <a:endParaRPr lang="en-US" altLang="zh-CN" sz="2400" b="1" dirty="0">
                    <a:latin typeface="Times New Roman" panose="02020603050405020304" charset="0"/>
                    <a:ea typeface="宋体" panose="02010600030101010101" pitchFamily="2" charset="-122"/>
                  </a:endParaRPr>
                </a:p>
              </p:txBody>
            </p:sp>
            <p:sp>
              <p:nvSpPr>
                <p:cNvPr id="48207" name="Line 79"/>
                <p:cNvSpPr/>
                <p:nvPr/>
              </p:nvSpPr>
              <p:spPr>
                <a:xfrm flipV="1">
                  <a:off x="1056" y="1200"/>
                  <a:ext cx="240" cy="96"/>
                </a:xfrm>
                <a:prstGeom prst="line">
                  <a:avLst/>
                </a:prstGeom>
                <a:ln w="38100" cap="flat" cmpd="sng">
                  <a:solidFill>
                    <a:srgbClr val="FF0000"/>
                  </a:solidFill>
                  <a:prstDash val="solid"/>
                  <a:round/>
                  <a:headEnd type="none" w="med" len="med"/>
                  <a:tailEnd type="triangle" w="sm" len="med"/>
                </a:ln>
              </p:spPr>
            </p:sp>
            <p:sp>
              <p:nvSpPr>
                <p:cNvPr id="48208" name="Text Box 80"/>
                <p:cNvSpPr txBox="1"/>
                <p:nvPr/>
              </p:nvSpPr>
              <p:spPr>
                <a:xfrm>
                  <a:off x="2112" y="912"/>
                  <a:ext cx="720" cy="326"/>
                </a:xfrm>
                <a:prstGeom prst="rect">
                  <a:avLst/>
                </a:prstGeom>
                <a:noFill/>
                <a:ln w="9525">
                  <a:noFill/>
                </a:ln>
              </p:spPr>
              <p:txBody>
                <a:bodyPr anchor="t" anchorCtr="0">
                  <a:spAutoFit/>
                </a:bodyPr>
                <a:p>
                  <a:pPr>
                    <a:spcBef>
                      <a:spcPct val="50000"/>
                    </a:spcBef>
                    <a:buFont typeface="Wingdings" panose="05000000000000000000" pitchFamily="2" charset="2"/>
                  </a:pPr>
                  <a:r>
                    <a:rPr lang="zh-CN" altLang="en-US" sz="2400" b="1" dirty="0">
                      <a:solidFill>
                        <a:srgbClr val="003366"/>
                      </a:solidFill>
                      <a:latin typeface="Times New Roman" panose="02020603050405020304" charset="0"/>
                      <a:ea typeface="楷体" panose="02010609060101010101" charset="-122"/>
                    </a:rPr>
                    <a:t>空队列</a:t>
                  </a:r>
                  <a:endParaRPr lang="zh-CN" altLang="en-US" sz="2400" b="1" dirty="0">
                    <a:solidFill>
                      <a:srgbClr val="003366"/>
                    </a:solidFill>
                    <a:latin typeface="Times New Roman" panose="02020603050405020304" charset="0"/>
                    <a:ea typeface="楷体" panose="02010609060101010101" charset="-122"/>
                  </a:endParaRPr>
                </a:p>
              </p:txBody>
            </p:sp>
          </p:grpSp>
          <p:sp>
            <p:nvSpPr>
              <p:cNvPr id="48209" name="Rectangle 81"/>
              <p:cNvSpPr/>
              <p:nvPr/>
            </p:nvSpPr>
            <p:spPr>
              <a:xfrm>
                <a:off x="1968" y="672"/>
                <a:ext cx="227" cy="326"/>
              </a:xfrm>
              <a:prstGeom prst="rect">
                <a:avLst/>
              </a:prstGeom>
              <a:noFill/>
              <a:ln w="9525">
                <a:noFill/>
              </a:ln>
            </p:spPr>
            <p:txBody>
              <a:bodyPr wrap="none" anchor="t" anchorCtr="0">
                <a:spAutoFit/>
              </a:bodyPr>
              <a:p>
                <a:pPr>
                  <a:spcBef>
                    <a:spcPct val="50000"/>
                  </a:spcBef>
                  <a:buFont typeface="Wingdings" panose="05000000000000000000" pitchFamily="2" charset="2"/>
                </a:pPr>
                <a:r>
                  <a:rPr lang="en-US" altLang="zh-CN" sz="2400" b="1" dirty="0">
                    <a:solidFill>
                      <a:srgbClr val="003366"/>
                    </a:solidFill>
                    <a:latin typeface="Times New Roman" panose="02020603050405020304" charset="0"/>
                    <a:ea typeface="宋体" panose="02010600030101010101" pitchFamily="2" charset="-122"/>
                  </a:rPr>
                  <a:t>^</a:t>
                </a:r>
                <a:endParaRPr lang="en-US" altLang="zh-CN" sz="2400" b="1" dirty="0">
                  <a:solidFill>
                    <a:srgbClr val="003366"/>
                  </a:solidFill>
                  <a:latin typeface="Times New Roman" panose="02020603050405020304" charset="0"/>
                  <a:ea typeface="宋体" panose="02010600030101010101" pitchFamily="2" charset="-122"/>
                </a:endParaRPr>
              </a:p>
            </p:txBody>
          </p:sp>
        </p:gr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循环队列采用一组地址连续的存储单元，将整个队列的存储单元首尾相连</a:t>
            </a:r>
            <a:endParaRPr lang="zh-CN" altLang="en-US" sz="28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r>
              <a:rPr lang="en-US" altLang="zh-CN" sz="2400" dirty="0">
                <a:latin typeface="黑体" panose="02010609060101010101" pitchFamily="2" charset="-122"/>
                <a:ea typeface="黑体" panose="02010609060101010101" pitchFamily="2" charset="-122"/>
                <a:cs typeface="+mn-cs"/>
                <a:sym typeface="+mn-ea"/>
              </a:rPr>
              <a:t>循环队列是指front和rear的移动方向是循环的，到达数组末尾会跳回数组首部</a:t>
            </a:r>
            <a:endParaRPr lang="en-US" altLang="zh-CN"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en-US" altLang="zh-CN" sz="2400" dirty="0">
                <a:latin typeface="黑体" panose="02010609060101010101" pitchFamily="2" charset="-122"/>
                <a:ea typeface="黑体" panose="02010609060101010101" pitchFamily="2" charset="-122"/>
                <a:cs typeface="+mn-cs"/>
                <a:sym typeface="+mn-ea"/>
              </a:rPr>
              <a:t>front</a:t>
            </a:r>
            <a:r>
              <a:rPr lang="zh-CN" altLang="en-US" sz="2400" dirty="0">
                <a:latin typeface="黑体" panose="02010609060101010101" pitchFamily="2" charset="-122"/>
                <a:ea typeface="黑体" panose="02010609060101010101" pitchFamily="2" charset="-122"/>
                <a:cs typeface="+mn-cs"/>
                <a:sym typeface="+mn-ea"/>
              </a:rPr>
              <a:t>始终指向队列的首元素</a:t>
            </a: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r>
              <a:rPr lang="en-US" altLang="zh-CN" sz="2400" dirty="0">
                <a:latin typeface="黑体" panose="02010609060101010101" pitchFamily="2" charset="-122"/>
                <a:ea typeface="黑体" panose="02010609060101010101" pitchFamily="2" charset="-122"/>
                <a:cs typeface="+mn-cs"/>
                <a:sym typeface="+mn-ea"/>
              </a:rPr>
              <a:t>rear始终指向队列的尾元素的下一个位置</a:t>
            </a:r>
            <a:endParaRPr lang="en-US" altLang="zh-CN"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33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0180" name="Group 4"/>
          <p:cNvGrpSpPr/>
          <p:nvPr/>
        </p:nvGrpSpPr>
        <p:grpSpPr>
          <a:xfrm>
            <a:off x="6956425" y="3472498"/>
            <a:ext cx="4648200" cy="2060574"/>
            <a:chOff x="1488" y="2736"/>
            <a:chExt cx="2928" cy="1298"/>
          </a:xfrm>
        </p:grpSpPr>
        <p:sp>
          <p:nvSpPr>
            <p:cNvPr id="50181" name="Oval 5" descr="再生纸"/>
            <p:cNvSpPr/>
            <p:nvPr/>
          </p:nvSpPr>
          <p:spPr>
            <a:xfrm>
              <a:off x="2216" y="3026"/>
              <a:ext cx="882" cy="852"/>
            </a:xfrm>
            <a:prstGeom prst="ellipse">
              <a:avLst/>
            </a:prstGeom>
            <a:blipFill rotWithShape="0">
              <a:blip r:embed="rId1"/>
            </a:blipFill>
            <a:ln w="28575" cap="flat" cmpd="sng">
              <a:solidFill>
                <a:schemeClr val="accent2"/>
              </a:solidFill>
              <a:prstDash val="solid"/>
              <a:round/>
              <a:headEnd type="none" w="med" len="med"/>
              <a:tailEnd type="none" w="med" len="med"/>
            </a:ln>
          </p:spPr>
          <p:txBody>
            <a:bodyPr wrap="none" tIns="0" bIns="0" anchor="ctr" anchorCtr="0"/>
            <a:p>
              <a:pPr algn="ct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C</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82" name="Line 6"/>
            <p:cNvSpPr/>
            <p:nvPr/>
          </p:nvSpPr>
          <p:spPr>
            <a:xfrm>
              <a:off x="2657" y="3026"/>
              <a:ext cx="6" cy="838"/>
            </a:xfrm>
            <a:prstGeom prst="line">
              <a:avLst/>
            </a:prstGeom>
            <a:ln w="28575" cap="flat" cmpd="sng">
              <a:solidFill>
                <a:schemeClr val="accent2"/>
              </a:solidFill>
              <a:prstDash val="solid"/>
              <a:round/>
              <a:headEnd type="none" w="med" len="med"/>
              <a:tailEnd type="none" w="med" len="med"/>
            </a:ln>
          </p:spPr>
        </p:sp>
        <p:sp>
          <p:nvSpPr>
            <p:cNvPr id="50183" name="Line 7"/>
            <p:cNvSpPr/>
            <p:nvPr/>
          </p:nvSpPr>
          <p:spPr>
            <a:xfrm>
              <a:off x="2222" y="3438"/>
              <a:ext cx="882" cy="0"/>
            </a:xfrm>
            <a:prstGeom prst="line">
              <a:avLst/>
            </a:prstGeom>
            <a:ln w="28575" cap="flat" cmpd="sng">
              <a:solidFill>
                <a:schemeClr val="accent2"/>
              </a:solidFill>
              <a:prstDash val="solid"/>
              <a:round/>
              <a:headEnd type="none" w="med" len="med"/>
              <a:tailEnd type="none" w="med" len="med"/>
            </a:ln>
          </p:spPr>
        </p:sp>
        <p:sp>
          <p:nvSpPr>
            <p:cNvPr id="50184" name="Line 8"/>
            <p:cNvSpPr/>
            <p:nvPr/>
          </p:nvSpPr>
          <p:spPr>
            <a:xfrm>
              <a:off x="2369" y="3119"/>
              <a:ext cx="588" cy="638"/>
            </a:xfrm>
            <a:prstGeom prst="line">
              <a:avLst/>
            </a:prstGeom>
            <a:ln w="28575" cap="flat" cmpd="sng">
              <a:solidFill>
                <a:schemeClr val="accent2"/>
              </a:solidFill>
              <a:prstDash val="solid"/>
              <a:round/>
              <a:headEnd type="none" w="med" len="med"/>
              <a:tailEnd type="none" w="med" len="med"/>
            </a:ln>
          </p:spPr>
        </p:sp>
        <p:sp>
          <p:nvSpPr>
            <p:cNvPr id="50185" name="Line 9"/>
            <p:cNvSpPr/>
            <p:nvPr/>
          </p:nvSpPr>
          <p:spPr>
            <a:xfrm flipH="1">
              <a:off x="2369" y="3119"/>
              <a:ext cx="588" cy="638"/>
            </a:xfrm>
            <a:prstGeom prst="line">
              <a:avLst/>
            </a:prstGeom>
            <a:ln w="28575" cap="flat" cmpd="sng">
              <a:solidFill>
                <a:schemeClr val="accent2"/>
              </a:solidFill>
              <a:prstDash val="solid"/>
              <a:round/>
              <a:headEnd type="none" w="med" len="med"/>
              <a:tailEnd type="none" w="med" len="med"/>
            </a:ln>
          </p:spPr>
        </p:sp>
        <p:sp>
          <p:nvSpPr>
            <p:cNvPr id="50186" name="Oval 10"/>
            <p:cNvSpPr/>
            <p:nvPr/>
          </p:nvSpPr>
          <p:spPr>
            <a:xfrm>
              <a:off x="2443" y="3225"/>
              <a:ext cx="441" cy="426"/>
            </a:xfrm>
            <a:prstGeom prst="ellipse">
              <a:avLst/>
            </a:prstGeom>
            <a:solidFill>
              <a:schemeClr val="bg1"/>
            </a:solidFill>
            <a:ln w="28575" cap="flat" cmpd="sng">
              <a:solidFill>
                <a:schemeClr val="accent2"/>
              </a:solidFill>
              <a:prstDash val="solid"/>
              <a:round/>
              <a:headEnd type="none" w="med" len="med"/>
              <a:tailEnd type="none" w="med" len="med"/>
            </a:ln>
          </p:spPr>
          <p:txBody>
            <a:bodyPr wrap="none" tIns="0" bIns="0" anchor="ctr" anchorCtr="0"/>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50187" name="Text Box 11"/>
            <p:cNvSpPr txBox="1"/>
            <p:nvPr/>
          </p:nvSpPr>
          <p:spPr>
            <a:xfrm>
              <a:off x="3120" y="3216"/>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0</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0188" name="Text Box 12"/>
            <p:cNvSpPr txBox="1"/>
            <p:nvPr/>
          </p:nvSpPr>
          <p:spPr>
            <a:xfrm>
              <a:off x="3053" y="3576"/>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1</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0189" name="Rectangle 13"/>
            <p:cNvSpPr/>
            <p:nvPr/>
          </p:nvSpPr>
          <p:spPr>
            <a:xfrm>
              <a:off x="2784" y="3840"/>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2</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90" name="Rectangle 14"/>
            <p:cNvSpPr/>
            <p:nvPr/>
          </p:nvSpPr>
          <p:spPr>
            <a:xfrm>
              <a:off x="2352" y="3840"/>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3</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91" name="Rectangle 15"/>
            <p:cNvSpPr/>
            <p:nvPr/>
          </p:nvSpPr>
          <p:spPr>
            <a:xfrm>
              <a:off x="2064" y="3552"/>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4</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92" name="Rectangle 16"/>
            <p:cNvSpPr/>
            <p:nvPr/>
          </p:nvSpPr>
          <p:spPr>
            <a:xfrm>
              <a:off x="2064" y="3120"/>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5</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93" name="Rectangle 17"/>
            <p:cNvSpPr/>
            <p:nvPr/>
          </p:nvSpPr>
          <p:spPr>
            <a:xfrm>
              <a:off x="2448" y="2832"/>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6</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94" name="Text Box 18"/>
            <p:cNvSpPr txBox="1"/>
            <p:nvPr/>
          </p:nvSpPr>
          <p:spPr>
            <a:xfrm>
              <a:off x="3392" y="3057"/>
              <a:ext cx="458"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front</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0195" name="Text Box 19"/>
            <p:cNvSpPr txBox="1"/>
            <p:nvPr/>
          </p:nvSpPr>
          <p:spPr>
            <a:xfrm>
              <a:off x="3120" y="2736"/>
              <a:ext cx="1296" cy="194"/>
            </a:xfrm>
            <a:prstGeom prst="rect">
              <a:avLst/>
            </a:prstGeom>
            <a:noFill/>
            <a:ln w="9525">
              <a:noFill/>
            </a:ln>
          </p:spPr>
          <p:txBody>
            <a:bodyPr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 MAXQSIZE-1</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0196" name="Line 20"/>
            <p:cNvSpPr/>
            <p:nvPr/>
          </p:nvSpPr>
          <p:spPr>
            <a:xfrm flipH="1">
              <a:off x="2880" y="2880"/>
              <a:ext cx="184" cy="178"/>
            </a:xfrm>
            <a:prstGeom prst="line">
              <a:avLst/>
            </a:prstGeom>
            <a:ln w="28575" cap="flat" cmpd="sng">
              <a:solidFill>
                <a:srgbClr val="008000"/>
              </a:solidFill>
              <a:prstDash val="solid"/>
              <a:round/>
              <a:headEnd type="none" w="med" len="med"/>
              <a:tailEnd type="triangle" w="sm" len="lg"/>
            </a:ln>
          </p:spPr>
        </p:sp>
        <p:sp>
          <p:nvSpPr>
            <p:cNvPr id="50197" name="Line 21"/>
            <p:cNvSpPr/>
            <p:nvPr/>
          </p:nvSpPr>
          <p:spPr>
            <a:xfrm flipH="1">
              <a:off x="3025" y="3133"/>
              <a:ext cx="331" cy="142"/>
            </a:xfrm>
            <a:prstGeom prst="line">
              <a:avLst/>
            </a:prstGeom>
            <a:ln w="28575" cap="flat" cmpd="sng">
              <a:solidFill>
                <a:srgbClr val="008000"/>
              </a:solidFill>
              <a:prstDash val="solid"/>
              <a:round/>
              <a:headEnd type="none" w="med" len="med"/>
              <a:tailEnd type="triangle" w="sm" len="lg"/>
            </a:ln>
          </p:spPr>
        </p:sp>
        <p:sp>
          <p:nvSpPr>
            <p:cNvPr id="50198" name="Text Box 22"/>
            <p:cNvSpPr txBox="1"/>
            <p:nvPr/>
          </p:nvSpPr>
          <p:spPr>
            <a:xfrm>
              <a:off x="2437" y="3662"/>
              <a:ext cx="231"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D</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99" name="Text Box 23"/>
            <p:cNvSpPr txBox="1"/>
            <p:nvPr/>
          </p:nvSpPr>
          <p:spPr>
            <a:xfrm>
              <a:off x="2253" y="3483"/>
              <a:ext cx="222"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E</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0200" name="Text Box 24"/>
            <p:cNvSpPr txBox="1"/>
            <p:nvPr/>
          </p:nvSpPr>
          <p:spPr>
            <a:xfrm>
              <a:off x="2841" y="3235"/>
              <a:ext cx="231"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A</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201" name="Text Box 25"/>
            <p:cNvSpPr txBox="1"/>
            <p:nvPr/>
          </p:nvSpPr>
          <p:spPr>
            <a:xfrm>
              <a:off x="2841" y="3483"/>
              <a:ext cx="222"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B</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202" name="Text Box 26"/>
            <p:cNvSpPr txBox="1"/>
            <p:nvPr/>
          </p:nvSpPr>
          <p:spPr>
            <a:xfrm>
              <a:off x="2657" y="3662"/>
              <a:ext cx="231"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C</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203" name="Text Box 27"/>
            <p:cNvSpPr txBox="1"/>
            <p:nvPr/>
          </p:nvSpPr>
          <p:spPr>
            <a:xfrm>
              <a:off x="1488" y="3120"/>
              <a:ext cx="406"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rear</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0204" name="Line 28"/>
            <p:cNvSpPr/>
            <p:nvPr/>
          </p:nvSpPr>
          <p:spPr>
            <a:xfrm>
              <a:off x="1920" y="3216"/>
              <a:ext cx="288" cy="130"/>
            </a:xfrm>
            <a:prstGeom prst="line">
              <a:avLst/>
            </a:prstGeom>
            <a:ln w="28575" cap="flat" cmpd="sng">
              <a:solidFill>
                <a:srgbClr val="008000"/>
              </a:solidFill>
              <a:prstDash val="solid"/>
              <a:round/>
              <a:headEnd type="none" w="med" len="med"/>
              <a:tailEnd type="triangle" w="sm" len="lg"/>
            </a:ln>
          </p:spPr>
        </p:sp>
      </p:gr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循环队列通过取模运算实现移动方向的循环</a:t>
            </a:r>
            <a:endParaRPr lang="en-US" altLang="zh-CN"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cs"/>
                <a:sym typeface="+mn-ea"/>
              </a:rPr>
              <a:t>出队</a:t>
            </a:r>
            <a:endParaRPr lang="zh-CN" altLang="en-US" sz="2400" dirty="0">
              <a:latin typeface="黑体" panose="02010609060101010101" pitchFamily="2" charset="-122"/>
              <a:ea typeface="黑体" panose="02010609060101010101" pitchFamily="2" charset="-122"/>
              <a:cs typeface="+mn-cs"/>
              <a:sym typeface="+mn-ea"/>
            </a:endParaRPr>
          </a:p>
          <a:p>
            <a:pPr marL="457200" lvl="2" indent="0" algn="l" eaLnBrk="1" hangingPunct="1">
              <a:buClrTx/>
              <a:buSzTx/>
              <a:buFont typeface="Arial" panose="020B0604020202020204" pitchFamily="34" charset="0"/>
              <a:buNone/>
            </a:pPr>
            <a:r>
              <a:rPr lang="en-US" altLang="zh-CN" sz="2400" dirty="0">
                <a:latin typeface="黑体" panose="02010609060101010101" pitchFamily="2" charset="-122"/>
                <a:ea typeface="黑体" panose="02010609060101010101" pitchFamily="2" charset="-122"/>
                <a:cs typeface="+mn-cs"/>
                <a:sym typeface="+mn-ea"/>
              </a:rPr>
              <a:t>	</a:t>
            </a:r>
            <a:r>
              <a:rPr lang="en-US" altLang="zh-CN" sz="2400" dirty="0">
                <a:solidFill>
                  <a:srgbClr val="FF0000"/>
                </a:solidFill>
                <a:latin typeface="黑体" panose="02010609060101010101" pitchFamily="2" charset="-122"/>
                <a:ea typeface="黑体" panose="02010609060101010101" pitchFamily="2" charset="-122"/>
                <a:sym typeface="+mn-ea"/>
              </a:rPr>
              <a:t>Q.front = (Q.front + 1) % MAXQSIZE</a:t>
            </a: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入队</a:t>
            </a:r>
            <a:endParaRPr lang="zh-CN" altLang="en-US" sz="2400" dirty="0">
              <a:latin typeface="黑体" panose="02010609060101010101" pitchFamily="2" charset="-122"/>
              <a:ea typeface="黑体" panose="02010609060101010101" pitchFamily="2" charset="-122"/>
              <a:cs typeface="+mn-cs"/>
              <a:sym typeface="+mn-ea"/>
            </a:endParaRPr>
          </a:p>
          <a:p>
            <a:pPr marL="457200" lvl="2" indent="0" algn="l" eaLnBrk="1" hangingPunct="1">
              <a:buClrTx/>
              <a:buSzTx/>
              <a:buNone/>
            </a:pPr>
            <a:r>
              <a:rPr lang="en-US" altLang="zh-CN" sz="2400" dirty="0">
                <a:solidFill>
                  <a:srgbClr val="FF0000"/>
                </a:solidFill>
                <a:latin typeface="黑体" panose="02010609060101010101" pitchFamily="2" charset="-122"/>
                <a:ea typeface="黑体" panose="02010609060101010101" pitchFamily="2" charset="-122"/>
                <a:sym typeface="+mn-ea"/>
              </a:rPr>
              <a:t>	Q.rear = (Q.rear + 1) % MAXQSIZE</a:t>
            </a: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33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800" dirty="0">
              <a:latin typeface="黑体" panose="02010609060101010101" pitchFamily="2" charset="-122"/>
              <a:ea typeface="黑体" panose="02010609060101010101" pitchFamily="2" charset="-122"/>
              <a:cs typeface="+mn-cs"/>
              <a:sym typeface="+mn-ea"/>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0180" name="Group 4"/>
          <p:cNvGrpSpPr/>
          <p:nvPr/>
        </p:nvGrpSpPr>
        <p:grpSpPr>
          <a:xfrm>
            <a:off x="6956425" y="3472498"/>
            <a:ext cx="4648200" cy="2060574"/>
            <a:chOff x="1488" y="2736"/>
            <a:chExt cx="2928" cy="1298"/>
          </a:xfrm>
        </p:grpSpPr>
        <p:sp>
          <p:nvSpPr>
            <p:cNvPr id="50181" name="Oval 5" descr="再生纸"/>
            <p:cNvSpPr/>
            <p:nvPr/>
          </p:nvSpPr>
          <p:spPr>
            <a:xfrm>
              <a:off x="2216" y="3026"/>
              <a:ext cx="882" cy="852"/>
            </a:xfrm>
            <a:prstGeom prst="ellipse">
              <a:avLst/>
            </a:prstGeom>
            <a:blipFill rotWithShape="0">
              <a:blip r:embed="rId1"/>
            </a:blipFill>
            <a:ln w="28575" cap="flat" cmpd="sng">
              <a:solidFill>
                <a:schemeClr val="accent2"/>
              </a:solidFill>
              <a:prstDash val="solid"/>
              <a:round/>
              <a:headEnd type="none" w="med" len="med"/>
              <a:tailEnd type="none" w="med" len="med"/>
            </a:ln>
          </p:spPr>
          <p:txBody>
            <a:bodyPr wrap="none" tIns="0" bIns="0" anchor="ctr" anchorCtr="0"/>
            <a:p>
              <a:pPr algn="ct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C</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82" name="Line 6"/>
            <p:cNvSpPr/>
            <p:nvPr/>
          </p:nvSpPr>
          <p:spPr>
            <a:xfrm>
              <a:off x="2657" y="3026"/>
              <a:ext cx="6" cy="838"/>
            </a:xfrm>
            <a:prstGeom prst="line">
              <a:avLst/>
            </a:prstGeom>
            <a:ln w="28575" cap="flat" cmpd="sng">
              <a:solidFill>
                <a:schemeClr val="accent2"/>
              </a:solidFill>
              <a:prstDash val="solid"/>
              <a:round/>
              <a:headEnd type="none" w="med" len="med"/>
              <a:tailEnd type="none" w="med" len="med"/>
            </a:ln>
          </p:spPr>
        </p:sp>
        <p:sp>
          <p:nvSpPr>
            <p:cNvPr id="50183" name="Line 7"/>
            <p:cNvSpPr/>
            <p:nvPr/>
          </p:nvSpPr>
          <p:spPr>
            <a:xfrm>
              <a:off x="2222" y="3438"/>
              <a:ext cx="882" cy="0"/>
            </a:xfrm>
            <a:prstGeom prst="line">
              <a:avLst/>
            </a:prstGeom>
            <a:ln w="28575" cap="flat" cmpd="sng">
              <a:solidFill>
                <a:schemeClr val="accent2"/>
              </a:solidFill>
              <a:prstDash val="solid"/>
              <a:round/>
              <a:headEnd type="none" w="med" len="med"/>
              <a:tailEnd type="none" w="med" len="med"/>
            </a:ln>
          </p:spPr>
        </p:sp>
        <p:sp>
          <p:nvSpPr>
            <p:cNvPr id="50184" name="Line 8"/>
            <p:cNvSpPr/>
            <p:nvPr/>
          </p:nvSpPr>
          <p:spPr>
            <a:xfrm>
              <a:off x="2369" y="3119"/>
              <a:ext cx="588" cy="638"/>
            </a:xfrm>
            <a:prstGeom prst="line">
              <a:avLst/>
            </a:prstGeom>
            <a:ln w="28575" cap="flat" cmpd="sng">
              <a:solidFill>
                <a:schemeClr val="accent2"/>
              </a:solidFill>
              <a:prstDash val="solid"/>
              <a:round/>
              <a:headEnd type="none" w="med" len="med"/>
              <a:tailEnd type="none" w="med" len="med"/>
            </a:ln>
          </p:spPr>
        </p:sp>
        <p:sp>
          <p:nvSpPr>
            <p:cNvPr id="50185" name="Line 9"/>
            <p:cNvSpPr/>
            <p:nvPr/>
          </p:nvSpPr>
          <p:spPr>
            <a:xfrm flipH="1">
              <a:off x="2369" y="3119"/>
              <a:ext cx="588" cy="638"/>
            </a:xfrm>
            <a:prstGeom prst="line">
              <a:avLst/>
            </a:prstGeom>
            <a:ln w="28575" cap="flat" cmpd="sng">
              <a:solidFill>
                <a:schemeClr val="accent2"/>
              </a:solidFill>
              <a:prstDash val="solid"/>
              <a:round/>
              <a:headEnd type="none" w="med" len="med"/>
              <a:tailEnd type="none" w="med" len="med"/>
            </a:ln>
          </p:spPr>
        </p:sp>
        <p:sp>
          <p:nvSpPr>
            <p:cNvPr id="50186" name="Oval 10"/>
            <p:cNvSpPr/>
            <p:nvPr/>
          </p:nvSpPr>
          <p:spPr>
            <a:xfrm>
              <a:off x="2443" y="3225"/>
              <a:ext cx="441" cy="426"/>
            </a:xfrm>
            <a:prstGeom prst="ellipse">
              <a:avLst/>
            </a:prstGeom>
            <a:solidFill>
              <a:schemeClr val="bg1"/>
            </a:solidFill>
            <a:ln w="28575" cap="flat" cmpd="sng">
              <a:solidFill>
                <a:schemeClr val="accent2"/>
              </a:solidFill>
              <a:prstDash val="solid"/>
              <a:round/>
              <a:headEnd type="none" w="med" len="med"/>
              <a:tailEnd type="none" w="med" len="med"/>
            </a:ln>
          </p:spPr>
          <p:txBody>
            <a:bodyPr wrap="none" tIns="0" bIns="0" anchor="ctr" anchorCtr="0"/>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50187" name="Text Box 11"/>
            <p:cNvSpPr txBox="1"/>
            <p:nvPr/>
          </p:nvSpPr>
          <p:spPr>
            <a:xfrm>
              <a:off x="3120" y="3216"/>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0</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0188" name="Text Box 12"/>
            <p:cNvSpPr txBox="1"/>
            <p:nvPr/>
          </p:nvSpPr>
          <p:spPr>
            <a:xfrm>
              <a:off x="3053" y="3576"/>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1</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0189" name="Rectangle 13"/>
            <p:cNvSpPr/>
            <p:nvPr/>
          </p:nvSpPr>
          <p:spPr>
            <a:xfrm>
              <a:off x="2784" y="3840"/>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2</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90" name="Rectangle 14"/>
            <p:cNvSpPr/>
            <p:nvPr/>
          </p:nvSpPr>
          <p:spPr>
            <a:xfrm>
              <a:off x="2352" y="3840"/>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3</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91" name="Rectangle 15"/>
            <p:cNvSpPr/>
            <p:nvPr/>
          </p:nvSpPr>
          <p:spPr>
            <a:xfrm>
              <a:off x="2064" y="3552"/>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4</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92" name="Rectangle 16"/>
            <p:cNvSpPr/>
            <p:nvPr/>
          </p:nvSpPr>
          <p:spPr>
            <a:xfrm>
              <a:off x="2064" y="3120"/>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5</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93" name="Rectangle 17"/>
            <p:cNvSpPr/>
            <p:nvPr/>
          </p:nvSpPr>
          <p:spPr>
            <a:xfrm>
              <a:off x="2448" y="2832"/>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6</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94" name="Text Box 18"/>
            <p:cNvSpPr txBox="1"/>
            <p:nvPr/>
          </p:nvSpPr>
          <p:spPr>
            <a:xfrm>
              <a:off x="3392" y="3057"/>
              <a:ext cx="458"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front</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0195" name="Text Box 19"/>
            <p:cNvSpPr txBox="1"/>
            <p:nvPr/>
          </p:nvSpPr>
          <p:spPr>
            <a:xfrm>
              <a:off x="3120" y="2736"/>
              <a:ext cx="1296" cy="194"/>
            </a:xfrm>
            <a:prstGeom prst="rect">
              <a:avLst/>
            </a:prstGeom>
            <a:noFill/>
            <a:ln w="9525">
              <a:noFill/>
            </a:ln>
          </p:spPr>
          <p:txBody>
            <a:bodyPr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 MAXQSIZE-1</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0196" name="Line 20"/>
            <p:cNvSpPr/>
            <p:nvPr/>
          </p:nvSpPr>
          <p:spPr>
            <a:xfrm flipH="1">
              <a:off x="2880" y="2880"/>
              <a:ext cx="184" cy="178"/>
            </a:xfrm>
            <a:prstGeom prst="line">
              <a:avLst/>
            </a:prstGeom>
            <a:ln w="28575" cap="flat" cmpd="sng">
              <a:solidFill>
                <a:srgbClr val="008000"/>
              </a:solidFill>
              <a:prstDash val="solid"/>
              <a:round/>
              <a:headEnd type="none" w="med" len="med"/>
              <a:tailEnd type="triangle" w="sm" len="lg"/>
            </a:ln>
          </p:spPr>
        </p:sp>
        <p:sp>
          <p:nvSpPr>
            <p:cNvPr id="50197" name="Line 21"/>
            <p:cNvSpPr/>
            <p:nvPr/>
          </p:nvSpPr>
          <p:spPr>
            <a:xfrm flipH="1">
              <a:off x="3025" y="3133"/>
              <a:ext cx="331" cy="142"/>
            </a:xfrm>
            <a:prstGeom prst="line">
              <a:avLst/>
            </a:prstGeom>
            <a:ln w="28575" cap="flat" cmpd="sng">
              <a:solidFill>
                <a:srgbClr val="008000"/>
              </a:solidFill>
              <a:prstDash val="solid"/>
              <a:round/>
              <a:headEnd type="none" w="med" len="med"/>
              <a:tailEnd type="triangle" w="sm" len="lg"/>
            </a:ln>
          </p:spPr>
        </p:sp>
        <p:sp>
          <p:nvSpPr>
            <p:cNvPr id="50198" name="Text Box 22"/>
            <p:cNvSpPr txBox="1"/>
            <p:nvPr/>
          </p:nvSpPr>
          <p:spPr>
            <a:xfrm>
              <a:off x="2437" y="3662"/>
              <a:ext cx="231"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D</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199" name="Text Box 23"/>
            <p:cNvSpPr txBox="1"/>
            <p:nvPr/>
          </p:nvSpPr>
          <p:spPr>
            <a:xfrm>
              <a:off x="2253" y="3483"/>
              <a:ext cx="222"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E</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0200" name="Text Box 24"/>
            <p:cNvSpPr txBox="1"/>
            <p:nvPr/>
          </p:nvSpPr>
          <p:spPr>
            <a:xfrm>
              <a:off x="2841" y="3235"/>
              <a:ext cx="231"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A</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201" name="Text Box 25"/>
            <p:cNvSpPr txBox="1"/>
            <p:nvPr/>
          </p:nvSpPr>
          <p:spPr>
            <a:xfrm>
              <a:off x="2841" y="3483"/>
              <a:ext cx="222"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B</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202" name="Text Box 26"/>
            <p:cNvSpPr txBox="1"/>
            <p:nvPr/>
          </p:nvSpPr>
          <p:spPr>
            <a:xfrm>
              <a:off x="2657" y="3662"/>
              <a:ext cx="231"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C</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0203" name="Text Box 27"/>
            <p:cNvSpPr txBox="1"/>
            <p:nvPr/>
          </p:nvSpPr>
          <p:spPr>
            <a:xfrm>
              <a:off x="1488" y="3120"/>
              <a:ext cx="406"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rear</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0204" name="Line 28"/>
            <p:cNvSpPr/>
            <p:nvPr/>
          </p:nvSpPr>
          <p:spPr>
            <a:xfrm>
              <a:off x="1920" y="3216"/>
              <a:ext cx="288" cy="130"/>
            </a:xfrm>
            <a:prstGeom prst="line">
              <a:avLst/>
            </a:prstGeom>
            <a:ln w="28575" cap="flat" cmpd="sng">
              <a:solidFill>
                <a:srgbClr val="008000"/>
              </a:solidFill>
              <a:prstDash val="solid"/>
              <a:round/>
              <a:headEnd type="none" w="med" len="med"/>
              <a:tailEnd type="triangle" w="sm" len="lg"/>
            </a:ln>
          </p:spPr>
        </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循环队列为了区分队列满和队列空的情况，会少用一个空间</a:t>
            </a:r>
            <a:endParaRPr lang="en-US" altLang="zh-CN"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Font typeface="Arial" panose="020B0604020202020204" pitchFamily="34" charset="0"/>
              <a:buChar char="•"/>
            </a:pPr>
            <a:r>
              <a:rPr lang="zh-CN" altLang="en-US" sz="2400" dirty="0">
                <a:latin typeface="黑体" panose="02010609060101010101" pitchFamily="2" charset="-122"/>
                <a:ea typeface="黑体" panose="02010609060101010101" pitchFamily="2" charset="-122"/>
                <a:cs typeface="+mn-cs"/>
                <a:sym typeface="+mn-ea"/>
              </a:rPr>
              <a:t>循环队列空</a:t>
            </a:r>
            <a:endParaRPr lang="zh-CN" altLang="en-US" sz="2400" dirty="0">
              <a:latin typeface="黑体" panose="02010609060101010101" pitchFamily="2" charset="-122"/>
              <a:ea typeface="黑体" panose="02010609060101010101" pitchFamily="2" charset="-122"/>
              <a:cs typeface="+mn-cs"/>
              <a:sym typeface="+mn-ea"/>
            </a:endParaRPr>
          </a:p>
          <a:p>
            <a:pPr marL="457200" lvl="2" indent="0" algn="l" eaLnBrk="1" hangingPunct="1">
              <a:buClrTx/>
              <a:buSzTx/>
              <a:buNone/>
            </a:pPr>
            <a:r>
              <a:rPr lang="en-US" altLang="zh-CN" sz="2400" dirty="0">
                <a:latin typeface="黑体" panose="02010609060101010101" pitchFamily="2" charset="-122"/>
                <a:ea typeface="黑体" panose="02010609060101010101" pitchFamily="2" charset="-122"/>
                <a:cs typeface="+mn-cs"/>
                <a:sym typeface="+mn-ea"/>
              </a:rPr>
              <a:t>	</a:t>
            </a:r>
            <a:r>
              <a:rPr lang="zh-CN" altLang="en-US" sz="2400" dirty="0">
                <a:latin typeface="黑体" panose="02010609060101010101" pitchFamily="2" charset="-122"/>
                <a:ea typeface="黑体" panose="02010609060101010101" pitchFamily="2" charset="-122"/>
                <a:cs typeface="+mn-cs"/>
                <a:sym typeface="+mn-ea"/>
              </a:rPr>
              <a:t>front </a:t>
            </a:r>
            <a:r>
              <a:rPr lang="en-US" altLang="zh-CN" sz="2400" dirty="0">
                <a:latin typeface="黑体" panose="02010609060101010101" pitchFamily="2" charset="-122"/>
                <a:ea typeface="黑体" panose="02010609060101010101" pitchFamily="2" charset="-122"/>
                <a:cs typeface="+mn-cs"/>
                <a:sym typeface="+mn-ea"/>
              </a:rPr>
              <a:t>=</a:t>
            </a:r>
            <a:r>
              <a:rPr lang="zh-CN" altLang="en-US" sz="2400" dirty="0">
                <a:latin typeface="黑体" panose="02010609060101010101" pitchFamily="2" charset="-122"/>
                <a:ea typeface="黑体" panose="02010609060101010101" pitchFamily="2" charset="-122"/>
                <a:cs typeface="+mn-cs"/>
                <a:sym typeface="+mn-ea"/>
              </a:rPr>
              <a:t>= rear</a:t>
            </a:r>
            <a:endParaRPr lang="zh-CN" altLang="en-US" sz="2400" b="0" dirty="0">
              <a:latin typeface="黑体" panose="02010609060101010101" pitchFamily="2" charset="-122"/>
              <a:ea typeface="黑体" panose="02010609060101010101" pitchFamily="2" charset="-122"/>
              <a:cs typeface="+mn-cs"/>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endParaRPr lang="zh-CN" altLang="en-US" sz="2400" dirty="0">
              <a:latin typeface="黑体" panose="02010609060101010101" pitchFamily="2" charset="-122"/>
              <a:ea typeface="黑体" panose="02010609060101010101" pitchFamily="2" charset="-122"/>
              <a:cs typeface="+mn-cs"/>
              <a:sym typeface="+mn-ea"/>
            </a:endParaRPr>
          </a:p>
          <a:p>
            <a:pPr marL="914400" lvl="2" indent="-457200" algn="l" eaLnBrk="1" hangingPunct="1">
              <a:buClrTx/>
              <a:buSzTx/>
              <a:buChar char="•"/>
            </a:pPr>
            <a:r>
              <a:rPr lang="zh-CN" altLang="en-US" sz="2400" dirty="0">
                <a:latin typeface="黑体" panose="02010609060101010101" pitchFamily="2" charset="-122"/>
                <a:ea typeface="黑体" panose="02010609060101010101" pitchFamily="2" charset="-122"/>
                <a:cs typeface="+mn-cs"/>
                <a:sym typeface="+mn-ea"/>
              </a:rPr>
              <a:t>循环队列满，少用一个元素空间</a:t>
            </a:r>
            <a:endParaRPr lang="zh-CN" altLang="en-US" sz="2400" dirty="0">
              <a:latin typeface="黑体" panose="02010609060101010101" pitchFamily="2" charset="-122"/>
              <a:ea typeface="黑体" panose="02010609060101010101" pitchFamily="2" charset="-122"/>
              <a:cs typeface="+mn-cs"/>
              <a:sym typeface="+mn-ea"/>
            </a:endParaRPr>
          </a:p>
          <a:p>
            <a:pPr marL="457200" lvl="2" indent="0" algn="l" eaLnBrk="1" hangingPunct="1">
              <a:buClrTx/>
              <a:buSzTx/>
              <a:buNone/>
            </a:pPr>
            <a:r>
              <a:rPr lang="en-US" altLang="zh-CN" sz="2400" dirty="0">
                <a:latin typeface="黑体" panose="02010609060101010101" pitchFamily="2" charset="-122"/>
                <a:ea typeface="黑体" panose="02010609060101010101" pitchFamily="2" charset="-122"/>
                <a:cs typeface="+mn-cs"/>
                <a:sym typeface="+mn-ea"/>
              </a:rPr>
              <a:t>	</a:t>
            </a:r>
            <a:r>
              <a:rPr lang="zh-CN" altLang="en-US" sz="2400" dirty="0">
                <a:latin typeface="黑体" panose="02010609060101010101" pitchFamily="2" charset="-122"/>
                <a:ea typeface="黑体" panose="02010609060101010101" pitchFamily="2" charset="-122"/>
                <a:cs typeface="+mn-cs"/>
                <a:sym typeface="+mn-ea"/>
              </a:rPr>
              <a:t>(rear+1) % MAXQSIZE = front</a:t>
            </a:r>
            <a:endParaRPr lang="zh-CN" altLang="en-US" sz="2400" dirty="0">
              <a:latin typeface="黑体" panose="02010609060101010101" pitchFamily="2" charset="-122"/>
              <a:ea typeface="黑体" panose="02010609060101010101" pitchFamily="2" charset="-122"/>
              <a:cs typeface="+mn-cs"/>
            </a:endParaRPr>
          </a:p>
          <a:p>
            <a:pPr marL="457200" lvl="1" indent="-457200" algn="l" eaLnBrk="1" hangingPunct="1">
              <a:buClrTx/>
              <a:buSzTx/>
              <a:buFont typeface="Wingdings" panose="05000000000000000000" charset="0"/>
              <a:buChar char="l"/>
            </a:pP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grpSp>
        <p:nvGrpSpPr>
          <p:cNvPr id="51204" name="Group 29"/>
          <p:cNvGrpSpPr/>
          <p:nvPr/>
        </p:nvGrpSpPr>
        <p:grpSpPr>
          <a:xfrm>
            <a:off x="6023928" y="1340168"/>
            <a:ext cx="3733800" cy="2379663"/>
            <a:chOff x="864" y="2688"/>
            <a:chExt cx="2352" cy="1499"/>
          </a:xfrm>
        </p:grpSpPr>
        <p:sp>
          <p:nvSpPr>
            <p:cNvPr id="51205" name="Oval 30" descr="再生纸"/>
            <p:cNvSpPr/>
            <p:nvPr/>
          </p:nvSpPr>
          <p:spPr>
            <a:xfrm>
              <a:off x="1016" y="2978"/>
              <a:ext cx="882" cy="852"/>
            </a:xfrm>
            <a:prstGeom prst="ellipse">
              <a:avLst/>
            </a:prstGeom>
            <a:blipFill rotWithShape="0">
              <a:blip r:embed="rId1"/>
            </a:blipFill>
            <a:ln w="28575" cap="flat" cmpd="sng">
              <a:solidFill>
                <a:schemeClr val="accent2"/>
              </a:solidFill>
              <a:prstDash val="solid"/>
              <a:round/>
              <a:headEnd type="none" w="med" len="med"/>
              <a:tailEnd type="none" w="med" len="med"/>
            </a:ln>
          </p:spPr>
          <p:txBody>
            <a:bodyPr wrap="none" tIns="0" bIns="0" anchor="ctr" anchorCtr="0"/>
            <a:p>
              <a:pPr algn="ct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C</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06" name="Line 31"/>
            <p:cNvSpPr/>
            <p:nvPr/>
          </p:nvSpPr>
          <p:spPr>
            <a:xfrm>
              <a:off x="1457" y="2978"/>
              <a:ext cx="6" cy="838"/>
            </a:xfrm>
            <a:prstGeom prst="line">
              <a:avLst/>
            </a:prstGeom>
            <a:ln w="28575" cap="flat" cmpd="sng">
              <a:solidFill>
                <a:schemeClr val="accent2"/>
              </a:solidFill>
              <a:prstDash val="solid"/>
              <a:round/>
              <a:headEnd type="none" w="med" len="med"/>
              <a:tailEnd type="none" w="med" len="med"/>
            </a:ln>
          </p:spPr>
        </p:sp>
        <p:sp>
          <p:nvSpPr>
            <p:cNvPr id="51207" name="Line 32"/>
            <p:cNvSpPr/>
            <p:nvPr/>
          </p:nvSpPr>
          <p:spPr>
            <a:xfrm>
              <a:off x="1022" y="3390"/>
              <a:ext cx="882" cy="0"/>
            </a:xfrm>
            <a:prstGeom prst="line">
              <a:avLst/>
            </a:prstGeom>
            <a:ln w="28575" cap="flat" cmpd="sng">
              <a:solidFill>
                <a:schemeClr val="accent2"/>
              </a:solidFill>
              <a:prstDash val="solid"/>
              <a:round/>
              <a:headEnd type="none" w="med" len="med"/>
              <a:tailEnd type="none" w="med" len="med"/>
            </a:ln>
          </p:spPr>
        </p:sp>
        <p:sp>
          <p:nvSpPr>
            <p:cNvPr id="51208" name="Line 33"/>
            <p:cNvSpPr/>
            <p:nvPr/>
          </p:nvSpPr>
          <p:spPr>
            <a:xfrm>
              <a:off x="1169" y="3071"/>
              <a:ext cx="588" cy="638"/>
            </a:xfrm>
            <a:prstGeom prst="line">
              <a:avLst/>
            </a:prstGeom>
            <a:ln w="28575" cap="flat" cmpd="sng">
              <a:solidFill>
                <a:schemeClr val="accent2"/>
              </a:solidFill>
              <a:prstDash val="solid"/>
              <a:round/>
              <a:headEnd type="none" w="med" len="med"/>
              <a:tailEnd type="none" w="med" len="med"/>
            </a:ln>
          </p:spPr>
        </p:sp>
        <p:sp>
          <p:nvSpPr>
            <p:cNvPr id="51209" name="Line 34"/>
            <p:cNvSpPr/>
            <p:nvPr/>
          </p:nvSpPr>
          <p:spPr>
            <a:xfrm flipH="1">
              <a:off x="1169" y="3071"/>
              <a:ext cx="588" cy="638"/>
            </a:xfrm>
            <a:prstGeom prst="line">
              <a:avLst/>
            </a:prstGeom>
            <a:ln w="28575" cap="flat" cmpd="sng">
              <a:solidFill>
                <a:schemeClr val="accent2"/>
              </a:solidFill>
              <a:prstDash val="solid"/>
              <a:round/>
              <a:headEnd type="none" w="med" len="med"/>
              <a:tailEnd type="none" w="med" len="med"/>
            </a:ln>
          </p:spPr>
        </p:sp>
        <p:sp>
          <p:nvSpPr>
            <p:cNvPr id="51210" name="Oval 35"/>
            <p:cNvSpPr/>
            <p:nvPr/>
          </p:nvSpPr>
          <p:spPr>
            <a:xfrm>
              <a:off x="1243" y="3177"/>
              <a:ext cx="441" cy="426"/>
            </a:xfrm>
            <a:prstGeom prst="ellipse">
              <a:avLst/>
            </a:prstGeom>
            <a:solidFill>
              <a:schemeClr val="bg1"/>
            </a:solidFill>
            <a:ln w="28575" cap="flat" cmpd="sng">
              <a:solidFill>
                <a:schemeClr val="accent2"/>
              </a:solidFill>
              <a:prstDash val="solid"/>
              <a:round/>
              <a:headEnd type="none" w="med" len="med"/>
              <a:tailEnd type="none" w="med" len="med"/>
            </a:ln>
          </p:spPr>
          <p:txBody>
            <a:bodyPr wrap="none" tIns="0" bIns="0" anchor="ctr" anchorCtr="0"/>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51211" name="Text Box 36"/>
            <p:cNvSpPr txBox="1"/>
            <p:nvPr/>
          </p:nvSpPr>
          <p:spPr>
            <a:xfrm>
              <a:off x="1920" y="3168"/>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0</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1212" name="Text Box 37"/>
            <p:cNvSpPr txBox="1"/>
            <p:nvPr/>
          </p:nvSpPr>
          <p:spPr>
            <a:xfrm>
              <a:off x="1853" y="3528"/>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1</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1213" name="Rectangle 38"/>
            <p:cNvSpPr/>
            <p:nvPr/>
          </p:nvSpPr>
          <p:spPr>
            <a:xfrm>
              <a:off x="1584" y="3792"/>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2</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14" name="Rectangle 39"/>
            <p:cNvSpPr/>
            <p:nvPr/>
          </p:nvSpPr>
          <p:spPr>
            <a:xfrm>
              <a:off x="1152" y="3792"/>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3</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15" name="Rectangle 40"/>
            <p:cNvSpPr/>
            <p:nvPr/>
          </p:nvSpPr>
          <p:spPr>
            <a:xfrm>
              <a:off x="864" y="3504"/>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4</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16" name="Rectangle 41"/>
            <p:cNvSpPr/>
            <p:nvPr/>
          </p:nvSpPr>
          <p:spPr>
            <a:xfrm>
              <a:off x="864" y="3072"/>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5</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17" name="Rectangle 42"/>
            <p:cNvSpPr/>
            <p:nvPr/>
          </p:nvSpPr>
          <p:spPr>
            <a:xfrm>
              <a:off x="1248" y="2784"/>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6</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18" name="Text Box 43"/>
            <p:cNvSpPr txBox="1"/>
            <p:nvPr/>
          </p:nvSpPr>
          <p:spPr>
            <a:xfrm>
              <a:off x="2192" y="3009"/>
              <a:ext cx="458"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front</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1219" name="Text Box 44"/>
            <p:cNvSpPr txBox="1"/>
            <p:nvPr/>
          </p:nvSpPr>
          <p:spPr>
            <a:xfrm>
              <a:off x="1920" y="2688"/>
              <a:ext cx="1296" cy="194"/>
            </a:xfrm>
            <a:prstGeom prst="rect">
              <a:avLst/>
            </a:prstGeom>
            <a:noFill/>
            <a:ln w="9525">
              <a:noFill/>
            </a:ln>
          </p:spPr>
          <p:txBody>
            <a:bodyPr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 MAXQSIZE-1</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1220" name="Line 45"/>
            <p:cNvSpPr/>
            <p:nvPr/>
          </p:nvSpPr>
          <p:spPr>
            <a:xfrm flipH="1">
              <a:off x="1680" y="2832"/>
              <a:ext cx="184" cy="178"/>
            </a:xfrm>
            <a:prstGeom prst="line">
              <a:avLst/>
            </a:prstGeom>
            <a:ln w="28575" cap="flat" cmpd="sng">
              <a:solidFill>
                <a:srgbClr val="008000"/>
              </a:solidFill>
              <a:prstDash val="solid"/>
              <a:round/>
              <a:headEnd type="none" w="med" len="med"/>
              <a:tailEnd type="triangle" w="sm" len="lg"/>
            </a:ln>
          </p:spPr>
        </p:sp>
        <p:sp>
          <p:nvSpPr>
            <p:cNvPr id="51221" name="Line 46"/>
            <p:cNvSpPr/>
            <p:nvPr/>
          </p:nvSpPr>
          <p:spPr>
            <a:xfrm flipH="1">
              <a:off x="1825" y="3085"/>
              <a:ext cx="331" cy="142"/>
            </a:xfrm>
            <a:prstGeom prst="line">
              <a:avLst/>
            </a:prstGeom>
            <a:ln w="28575" cap="flat" cmpd="sng">
              <a:solidFill>
                <a:srgbClr val="008000"/>
              </a:solidFill>
              <a:prstDash val="solid"/>
              <a:round/>
              <a:headEnd type="none" w="med" len="med"/>
              <a:tailEnd type="triangle" w="sm" len="lg"/>
            </a:ln>
          </p:spPr>
        </p:sp>
        <p:sp>
          <p:nvSpPr>
            <p:cNvPr id="51222" name="Text Box 47"/>
            <p:cNvSpPr txBox="1"/>
            <p:nvPr/>
          </p:nvSpPr>
          <p:spPr>
            <a:xfrm>
              <a:off x="1237" y="3603"/>
              <a:ext cx="195" cy="194"/>
            </a:xfrm>
            <a:prstGeom prst="rect">
              <a:avLst/>
            </a:prstGeom>
            <a:noFill/>
            <a:ln w="9525">
              <a:noFill/>
            </a:ln>
          </p:spPr>
          <p:txBody>
            <a:bodyPr wrap="none" tIns="0" bIns="0" anchor="t" anchorCtr="0">
              <a:spAutoFit/>
            </a:bodyPr>
            <a:p>
              <a:pPr>
                <a:buFont typeface="Wingdings" panose="05000000000000000000" pitchFamily="2" charset="2"/>
              </a:pPr>
              <a:endParaRPr lang="zh-CN" altLang="zh-CN" sz="2000" b="1" dirty="0">
                <a:solidFill>
                  <a:srgbClr val="003366"/>
                </a:solidFill>
                <a:latin typeface="Times New Roman" panose="02020603050405020304" charset="0"/>
                <a:ea typeface="宋体" panose="02010600030101010101" pitchFamily="2" charset="-122"/>
              </a:endParaRPr>
            </a:p>
          </p:txBody>
        </p:sp>
        <p:sp>
          <p:nvSpPr>
            <p:cNvPr id="51223" name="Text Box 48"/>
            <p:cNvSpPr txBox="1"/>
            <p:nvPr/>
          </p:nvSpPr>
          <p:spPr>
            <a:xfrm>
              <a:off x="1053" y="3424"/>
              <a:ext cx="195" cy="194"/>
            </a:xfrm>
            <a:prstGeom prst="rect">
              <a:avLst/>
            </a:prstGeom>
            <a:noFill/>
            <a:ln w="9525">
              <a:noFill/>
            </a:ln>
          </p:spPr>
          <p:txBody>
            <a:bodyPr wrap="none" tIns="0" bIns="0" anchor="t" anchorCtr="0">
              <a:spAutoFit/>
            </a:bodyPr>
            <a:p>
              <a:pPr>
                <a:buFont typeface="Wingdings" panose="05000000000000000000" pitchFamily="2" charset="2"/>
              </a:pPr>
              <a:endParaRPr lang="zh-CN" altLang="zh-CN" sz="2000" dirty="0">
                <a:solidFill>
                  <a:srgbClr val="003366"/>
                </a:solidFill>
                <a:latin typeface="Times New Roman" panose="02020603050405020304" charset="0"/>
                <a:ea typeface="宋体" panose="02010600030101010101" pitchFamily="2" charset="-122"/>
              </a:endParaRPr>
            </a:p>
          </p:txBody>
        </p:sp>
        <p:sp>
          <p:nvSpPr>
            <p:cNvPr id="51224" name="Text Box 49"/>
            <p:cNvSpPr txBox="1"/>
            <p:nvPr/>
          </p:nvSpPr>
          <p:spPr>
            <a:xfrm>
              <a:off x="1641" y="3176"/>
              <a:ext cx="195" cy="194"/>
            </a:xfrm>
            <a:prstGeom prst="rect">
              <a:avLst/>
            </a:prstGeom>
            <a:noFill/>
            <a:ln w="9525">
              <a:noFill/>
            </a:ln>
          </p:spPr>
          <p:txBody>
            <a:bodyPr wrap="none" tIns="0" bIns="0" anchor="t" anchorCtr="0">
              <a:spAutoFit/>
            </a:bodyPr>
            <a:p>
              <a:pPr>
                <a:buFont typeface="Wingdings" panose="05000000000000000000" pitchFamily="2" charset="2"/>
              </a:pPr>
              <a:endParaRPr lang="zh-CN" altLang="zh-CN" sz="2000" b="1" dirty="0">
                <a:solidFill>
                  <a:srgbClr val="003366"/>
                </a:solidFill>
                <a:latin typeface="Times New Roman" panose="02020603050405020304" charset="0"/>
                <a:ea typeface="宋体" panose="02010600030101010101" pitchFamily="2" charset="-122"/>
              </a:endParaRPr>
            </a:p>
          </p:txBody>
        </p:sp>
        <p:sp>
          <p:nvSpPr>
            <p:cNvPr id="51225" name="Text Box 50"/>
            <p:cNvSpPr txBox="1"/>
            <p:nvPr/>
          </p:nvSpPr>
          <p:spPr>
            <a:xfrm>
              <a:off x="1641" y="3424"/>
              <a:ext cx="195" cy="194"/>
            </a:xfrm>
            <a:prstGeom prst="rect">
              <a:avLst/>
            </a:prstGeom>
            <a:noFill/>
            <a:ln w="9525">
              <a:noFill/>
            </a:ln>
          </p:spPr>
          <p:txBody>
            <a:bodyPr wrap="none" tIns="0" bIns="0" anchor="t" anchorCtr="0">
              <a:spAutoFit/>
            </a:bodyPr>
            <a:p>
              <a:pPr>
                <a:buFont typeface="Wingdings" panose="05000000000000000000" pitchFamily="2" charset="2"/>
              </a:pPr>
              <a:endParaRPr lang="zh-CN" altLang="zh-CN" sz="2000" b="1" dirty="0">
                <a:solidFill>
                  <a:srgbClr val="003366"/>
                </a:solidFill>
                <a:latin typeface="Times New Roman" panose="02020603050405020304" charset="0"/>
                <a:ea typeface="宋体" panose="02010600030101010101" pitchFamily="2" charset="-122"/>
              </a:endParaRPr>
            </a:p>
          </p:txBody>
        </p:sp>
        <p:sp>
          <p:nvSpPr>
            <p:cNvPr id="51226" name="Text Box 51"/>
            <p:cNvSpPr txBox="1"/>
            <p:nvPr/>
          </p:nvSpPr>
          <p:spPr>
            <a:xfrm>
              <a:off x="1457" y="3603"/>
              <a:ext cx="195" cy="194"/>
            </a:xfrm>
            <a:prstGeom prst="rect">
              <a:avLst/>
            </a:prstGeom>
            <a:noFill/>
            <a:ln w="9525">
              <a:noFill/>
            </a:ln>
          </p:spPr>
          <p:txBody>
            <a:bodyPr wrap="none" tIns="0" bIns="0" anchor="t" anchorCtr="0">
              <a:spAutoFit/>
            </a:bodyPr>
            <a:p>
              <a:pPr>
                <a:buFont typeface="Wingdings" panose="05000000000000000000" pitchFamily="2" charset="2"/>
              </a:pPr>
              <a:endParaRPr lang="zh-CN" altLang="zh-CN" sz="2000" b="1" dirty="0">
                <a:solidFill>
                  <a:srgbClr val="003366"/>
                </a:solidFill>
                <a:latin typeface="Times New Roman" panose="02020603050405020304" charset="0"/>
                <a:ea typeface="宋体" panose="02010600030101010101" pitchFamily="2" charset="-122"/>
              </a:endParaRPr>
            </a:p>
          </p:txBody>
        </p:sp>
        <p:sp>
          <p:nvSpPr>
            <p:cNvPr id="51227" name="Text Box 52"/>
            <p:cNvSpPr txBox="1"/>
            <p:nvPr/>
          </p:nvSpPr>
          <p:spPr>
            <a:xfrm>
              <a:off x="2208" y="3264"/>
              <a:ext cx="406"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rear</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1228" name="Line 53"/>
            <p:cNvSpPr/>
            <p:nvPr/>
          </p:nvSpPr>
          <p:spPr>
            <a:xfrm flipH="1" flipV="1">
              <a:off x="1920" y="3360"/>
              <a:ext cx="288" cy="0"/>
            </a:xfrm>
            <a:prstGeom prst="line">
              <a:avLst/>
            </a:prstGeom>
            <a:ln w="28575" cap="flat" cmpd="sng">
              <a:solidFill>
                <a:srgbClr val="008000"/>
              </a:solidFill>
              <a:prstDash val="solid"/>
              <a:round/>
              <a:headEnd type="none" w="med" len="med"/>
              <a:tailEnd type="triangle" w="sm" len="lg"/>
            </a:ln>
          </p:spPr>
        </p:sp>
        <p:sp>
          <p:nvSpPr>
            <p:cNvPr id="51229" name="Text Box 54"/>
            <p:cNvSpPr txBox="1"/>
            <p:nvPr/>
          </p:nvSpPr>
          <p:spPr>
            <a:xfrm>
              <a:off x="1152" y="3936"/>
              <a:ext cx="624" cy="251"/>
            </a:xfrm>
            <a:prstGeom prst="rect">
              <a:avLst/>
            </a:prstGeom>
            <a:noFill/>
            <a:ln w="9525">
              <a:noFill/>
            </a:ln>
          </p:spPr>
          <p:txBody>
            <a:bodyPr anchor="t" anchorCtr="0">
              <a:spAutoFit/>
            </a:bodyPr>
            <a:p>
              <a:pPr algn="ctr">
                <a:spcBef>
                  <a:spcPct val="50000"/>
                </a:spcBef>
                <a:buFont typeface="Wingdings" panose="05000000000000000000" pitchFamily="2" charset="2"/>
              </a:pPr>
              <a:r>
                <a:rPr lang="zh-CN" altLang="en-US" sz="2000" b="1" dirty="0">
                  <a:latin typeface="Tahoma" panose="020B0604030504040204" charset="0"/>
                  <a:ea typeface="宋体" panose="02010600030101010101" pitchFamily="2" charset="-122"/>
                </a:rPr>
                <a:t>队列空</a:t>
              </a:r>
              <a:endParaRPr lang="zh-CN" altLang="en-US" sz="2000" b="1" dirty="0">
                <a:latin typeface="Tahoma" panose="020B0604030504040204" charset="0"/>
                <a:ea typeface="宋体" panose="02010600030101010101" pitchFamily="2" charset="-122"/>
              </a:endParaRPr>
            </a:p>
          </p:txBody>
        </p:sp>
      </p:grpSp>
      <p:grpSp>
        <p:nvGrpSpPr>
          <p:cNvPr id="51230" name="Group 85"/>
          <p:cNvGrpSpPr/>
          <p:nvPr/>
        </p:nvGrpSpPr>
        <p:grpSpPr>
          <a:xfrm>
            <a:off x="8223568" y="3676968"/>
            <a:ext cx="3733800" cy="2414588"/>
            <a:chOff x="3263" y="1979"/>
            <a:chExt cx="2352" cy="1521"/>
          </a:xfrm>
        </p:grpSpPr>
        <p:grpSp>
          <p:nvGrpSpPr>
            <p:cNvPr id="51231" name="Group 55"/>
            <p:cNvGrpSpPr/>
            <p:nvPr/>
          </p:nvGrpSpPr>
          <p:grpSpPr>
            <a:xfrm>
              <a:off x="3263" y="1979"/>
              <a:ext cx="2352" cy="1298"/>
              <a:chOff x="3408" y="2822"/>
              <a:chExt cx="2352" cy="1298"/>
            </a:xfrm>
          </p:grpSpPr>
          <p:grpSp>
            <p:nvGrpSpPr>
              <p:cNvPr id="51232" name="Group 56"/>
              <p:cNvGrpSpPr/>
              <p:nvPr/>
            </p:nvGrpSpPr>
            <p:grpSpPr>
              <a:xfrm>
                <a:off x="3552" y="3120"/>
                <a:ext cx="888" cy="852"/>
                <a:chOff x="2400" y="3468"/>
                <a:chExt cx="888" cy="852"/>
              </a:xfrm>
            </p:grpSpPr>
            <p:sp>
              <p:nvSpPr>
                <p:cNvPr id="51233" name="Oval 57" descr="再生纸"/>
                <p:cNvSpPr/>
                <p:nvPr/>
              </p:nvSpPr>
              <p:spPr>
                <a:xfrm>
                  <a:off x="2400" y="3468"/>
                  <a:ext cx="882" cy="852"/>
                </a:xfrm>
                <a:prstGeom prst="ellipse">
                  <a:avLst/>
                </a:prstGeom>
                <a:blipFill rotWithShape="0">
                  <a:blip r:embed="rId1"/>
                </a:blipFill>
                <a:ln w="28575" cap="flat" cmpd="sng">
                  <a:solidFill>
                    <a:schemeClr val="accent2"/>
                  </a:solidFill>
                  <a:prstDash val="solid"/>
                  <a:round/>
                  <a:headEnd type="none" w="med" len="med"/>
                  <a:tailEnd type="none" w="med" len="med"/>
                </a:ln>
              </p:spPr>
              <p:txBody>
                <a:bodyPr wrap="none" tIns="0" bIns="0" anchor="ctr" anchorCtr="0"/>
                <a:p>
                  <a:pPr algn="ct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C</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34" name="Line 58"/>
                <p:cNvSpPr/>
                <p:nvPr/>
              </p:nvSpPr>
              <p:spPr>
                <a:xfrm>
                  <a:off x="2841" y="3468"/>
                  <a:ext cx="6" cy="838"/>
                </a:xfrm>
                <a:prstGeom prst="line">
                  <a:avLst/>
                </a:prstGeom>
                <a:ln w="28575" cap="flat" cmpd="sng">
                  <a:solidFill>
                    <a:schemeClr val="accent2"/>
                  </a:solidFill>
                  <a:prstDash val="solid"/>
                  <a:round/>
                  <a:headEnd type="none" w="med" len="med"/>
                  <a:tailEnd type="none" w="med" len="med"/>
                </a:ln>
              </p:spPr>
            </p:sp>
            <p:sp>
              <p:nvSpPr>
                <p:cNvPr id="51235" name="Line 59"/>
                <p:cNvSpPr/>
                <p:nvPr/>
              </p:nvSpPr>
              <p:spPr>
                <a:xfrm>
                  <a:off x="2406" y="3880"/>
                  <a:ext cx="882" cy="0"/>
                </a:xfrm>
                <a:prstGeom prst="line">
                  <a:avLst/>
                </a:prstGeom>
                <a:ln w="28575" cap="flat" cmpd="sng">
                  <a:solidFill>
                    <a:schemeClr val="accent2"/>
                  </a:solidFill>
                  <a:prstDash val="solid"/>
                  <a:round/>
                  <a:headEnd type="none" w="med" len="med"/>
                  <a:tailEnd type="none" w="med" len="med"/>
                </a:ln>
              </p:spPr>
            </p:sp>
            <p:sp>
              <p:nvSpPr>
                <p:cNvPr id="51236" name="Line 60"/>
                <p:cNvSpPr/>
                <p:nvPr/>
              </p:nvSpPr>
              <p:spPr>
                <a:xfrm>
                  <a:off x="2553" y="3561"/>
                  <a:ext cx="588" cy="638"/>
                </a:xfrm>
                <a:prstGeom prst="line">
                  <a:avLst/>
                </a:prstGeom>
                <a:ln w="28575" cap="flat" cmpd="sng">
                  <a:solidFill>
                    <a:schemeClr val="accent2"/>
                  </a:solidFill>
                  <a:prstDash val="solid"/>
                  <a:round/>
                  <a:headEnd type="none" w="med" len="med"/>
                  <a:tailEnd type="none" w="med" len="med"/>
                </a:ln>
              </p:spPr>
            </p:sp>
            <p:sp>
              <p:nvSpPr>
                <p:cNvPr id="51237" name="Line 61"/>
                <p:cNvSpPr/>
                <p:nvPr/>
              </p:nvSpPr>
              <p:spPr>
                <a:xfrm flipH="1">
                  <a:off x="2553" y="3561"/>
                  <a:ext cx="588" cy="638"/>
                </a:xfrm>
                <a:prstGeom prst="line">
                  <a:avLst/>
                </a:prstGeom>
                <a:ln w="28575" cap="flat" cmpd="sng">
                  <a:solidFill>
                    <a:schemeClr val="accent2"/>
                  </a:solidFill>
                  <a:prstDash val="solid"/>
                  <a:round/>
                  <a:headEnd type="none" w="med" len="med"/>
                  <a:tailEnd type="none" w="med" len="med"/>
                </a:ln>
              </p:spPr>
            </p:sp>
            <p:sp>
              <p:nvSpPr>
                <p:cNvPr id="51238" name="Oval 62"/>
                <p:cNvSpPr/>
                <p:nvPr/>
              </p:nvSpPr>
              <p:spPr>
                <a:xfrm>
                  <a:off x="2627" y="3667"/>
                  <a:ext cx="441" cy="426"/>
                </a:xfrm>
                <a:prstGeom prst="ellipse">
                  <a:avLst/>
                </a:prstGeom>
                <a:solidFill>
                  <a:schemeClr val="bg1"/>
                </a:solidFill>
                <a:ln w="28575" cap="flat" cmpd="sng">
                  <a:solidFill>
                    <a:schemeClr val="accent2"/>
                  </a:solidFill>
                  <a:prstDash val="solid"/>
                  <a:round/>
                  <a:headEnd type="none" w="med" len="med"/>
                  <a:tailEnd type="none" w="med" len="med"/>
                </a:ln>
              </p:spPr>
              <p:txBody>
                <a:bodyPr wrap="none" tIns="0" bIns="0" anchor="ctr" anchorCtr="0"/>
                <a:p>
                  <a:pPr>
                    <a:buFont typeface="Wingdings" panose="05000000000000000000" pitchFamily="2" charset="2"/>
                  </a:pPr>
                  <a:endParaRPr lang="zh-CN" altLang="en-US" dirty="0">
                    <a:latin typeface="Arial" panose="020B0604020202020204" pitchFamily="34" charset="0"/>
                    <a:ea typeface="宋体" panose="02010600030101010101" pitchFamily="2" charset="-122"/>
                  </a:endParaRPr>
                </a:p>
              </p:txBody>
            </p:sp>
            <p:sp>
              <p:nvSpPr>
                <p:cNvPr id="51239" name="Text Box 63"/>
                <p:cNvSpPr txBox="1"/>
                <p:nvPr/>
              </p:nvSpPr>
              <p:spPr>
                <a:xfrm>
                  <a:off x="2621" y="4104"/>
                  <a:ext cx="231"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D</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40" name="Text Box 64"/>
                <p:cNvSpPr txBox="1"/>
                <p:nvPr/>
              </p:nvSpPr>
              <p:spPr>
                <a:xfrm>
                  <a:off x="2437" y="3925"/>
                  <a:ext cx="222"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E</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1241" name="Text Box 65"/>
                <p:cNvSpPr txBox="1"/>
                <p:nvPr/>
              </p:nvSpPr>
              <p:spPr>
                <a:xfrm>
                  <a:off x="2474" y="3641"/>
                  <a:ext cx="213"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F</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42" name="Text Box 66"/>
                <p:cNvSpPr txBox="1"/>
                <p:nvPr/>
              </p:nvSpPr>
              <p:spPr>
                <a:xfrm>
                  <a:off x="2621" y="3499"/>
                  <a:ext cx="240"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G</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43" name="Text Box 67"/>
                <p:cNvSpPr txBox="1"/>
                <p:nvPr/>
              </p:nvSpPr>
              <p:spPr>
                <a:xfrm>
                  <a:off x="3025" y="3666"/>
                  <a:ext cx="195" cy="194"/>
                </a:xfrm>
                <a:prstGeom prst="rect">
                  <a:avLst/>
                </a:prstGeom>
                <a:noFill/>
                <a:ln w="9525">
                  <a:noFill/>
                </a:ln>
              </p:spPr>
              <p:txBody>
                <a:bodyPr wrap="none" tIns="0" bIns="0" anchor="t" anchorCtr="0">
                  <a:spAutoFit/>
                </a:bodyPr>
                <a:p>
                  <a:pPr>
                    <a:buFont typeface="Wingdings" panose="05000000000000000000" pitchFamily="2" charset="2"/>
                  </a:pPr>
                  <a:endParaRPr lang="zh-CN" altLang="zh-CN" sz="2000" b="1" dirty="0">
                    <a:solidFill>
                      <a:srgbClr val="003366"/>
                    </a:solidFill>
                    <a:latin typeface="Times New Roman" panose="02020603050405020304" charset="0"/>
                    <a:ea typeface="宋体" panose="02010600030101010101" pitchFamily="2" charset="-122"/>
                  </a:endParaRPr>
                </a:p>
              </p:txBody>
            </p:sp>
            <p:sp>
              <p:nvSpPr>
                <p:cNvPr id="51244" name="Text Box 68"/>
                <p:cNvSpPr txBox="1"/>
                <p:nvPr/>
              </p:nvSpPr>
              <p:spPr>
                <a:xfrm>
                  <a:off x="3025" y="3925"/>
                  <a:ext cx="222"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B</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45" name="Text Box 69"/>
                <p:cNvSpPr txBox="1"/>
                <p:nvPr/>
              </p:nvSpPr>
              <p:spPr>
                <a:xfrm>
                  <a:off x="2841" y="4104"/>
                  <a:ext cx="231"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C</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46" name="Text Box 70"/>
                <p:cNvSpPr txBox="1"/>
                <p:nvPr/>
              </p:nvSpPr>
              <p:spPr>
                <a:xfrm>
                  <a:off x="2841" y="3499"/>
                  <a:ext cx="240"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H</a:t>
                  </a:r>
                  <a:endParaRPr lang="en-US" altLang="zh-CN" sz="2000" b="1" dirty="0">
                    <a:solidFill>
                      <a:srgbClr val="003366"/>
                    </a:solidFill>
                    <a:latin typeface="Times New Roman" panose="02020603050405020304" charset="0"/>
                    <a:ea typeface="宋体" panose="02010600030101010101" pitchFamily="2" charset="-122"/>
                  </a:endParaRPr>
                </a:p>
              </p:txBody>
            </p:sp>
          </p:grpSp>
          <p:sp>
            <p:nvSpPr>
              <p:cNvPr id="51247" name="Text Box 71"/>
              <p:cNvSpPr txBox="1"/>
              <p:nvPr/>
            </p:nvSpPr>
            <p:spPr>
              <a:xfrm>
                <a:off x="4464" y="3302"/>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0</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1248" name="Text Box 72"/>
              <p:cNvSpPr txBox="1"/>
              <p:nvPr/>
            </p:nvSpPr>
            <p:spPr>
              <a:xfrm>
                <a:off x="4397" y="3662"/>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1</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1249" name="Rectangle 73"/>
              <p:cNvSpPr/>
              <p:nvPr/>
            </p:nvSpPr>
            <p:spPr>
              <a:xfrm>
                <a:off x="4128" y="3926"/>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2</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50" name="Rectangle 74"/>
              <p:cNvSpPr/>
              <p:nvPr/>
            </p:nvSpPr>
            <p:spPr>
              <a:xfrm>
                <a:off x="3696" y="3926"/>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3</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51" name="Rectangle 75"/>
              <p:cNvSpPr/>
              <p:nvPr/>
            </p:nvSpPr>
            <p:spPr>
              <a:xfrm>
                <a:off x="3408" y="3638"/>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4</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52" name="Rectangle 76"/>
              <p:cNvSpPr/>
              <p:nvPr/>
            </p:nvSpPr>
            <p:spPr>
              <a:xfrm>
                <a:off x="3408" y="3206"/>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5</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53" name="Rectangle 77"/>
              <p:cNvSpPr/>
              <p:nvPr/>
            </p:nvSpPr>
            <p:spPr>
              <a:xfrm>
                <a:off x="3792" y="2918"/>
                <a:ext cx="195"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6</a:t>
                </a:r>
                <a:endParaRPr lang="en-US" altLang="zh-CN" sz="2000" b="1" dirty="0">
                  <a:solidFill>
                    <a:srgbClr val="003366"/>
                  </a:solidFill>
                  <a:latin typeface="Times New Roman" panose="02020603050405020304" charset="0"/>
                  <a:ea typeface="宋体" panose="02010600030101010101" pitchFamily="2" charset="-122"/>
                </a:endParaRPr>
              </a:p>
            </p:txBody>
          </p:sp>
          <p:sp>
            <p:nvSpPr>
              <p:cNvPr id="51254" name="Text Box 78"/>
              <p:cNvSpPr txBox="1"/>
              <p:nvPr/>
            </p:nvSpPr>
            <p:spPr>
              <a:xfrm>
                <a:off x="4752" y="3600"/>
                <a:ext cx="458"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front</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1255" name="Text Box 79"/>
              <p:cNvSpPr txBox="1"/>
              <p:nvPr/>
            </p:nvSpPr>
            <p:spPr>
              <a:xfrm>
                <a:off x="4464" y="2822"/>
                <a:ext cx="1296" cy="194"/>
              </a:xfrm>
              <a:prstGeom prst="rect">
                <a:avLst/>
              </a:prstGeom>
              <a:noFill/>
              <a:ln w="9525">
                <a:noFill/>
              </a:ln>
            </p:spPr>
            <p:txBody>
              <a:bodyPr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 MAXQSIZE-1</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1256" name="Line 80"/>
              <p:cNvSpPr/>
              <p:nvPr/>
            </p:nvSpPr>
            <p:spPr>
              <a:xfrm flipH="1">
                <a:off x="4224" y="2966"/>
                <a:ext cx="184" cy="178"/>
              </a:xfrm>
              <a:prstGeom prst="line">
                <a:avLst/>
              </a:prstGeom>
              <a:ln w="28575" cap="flat" cmpd="sng">
                <a:solidFill>
                  <a:srgbClr val="008000"/>
                </a:solidFill>
                <a:prstDash val="solid"/>
                <a:round/>
                <a:headEnd type="none" w="med" len="med"/>
                <a:tailEnd type="triangle" w="sm" len="lg"/>
              </a:ln>
            </p:spPr>
          </p:sp>
          <p:sp>
            <p:nvSpPr>
              <p:cNvPr id="51257" name="Line 81"/>
              <p:cNvSpPr/>
              <p:nvPr/>
            </p:nvSpPr>
            <p:spPr>
              <a:xfrm flipH="1" flipV="1">
                <a:off x="4416" y="3646"/>
                <a:ext cx="288" cy="2"/>
              </a:xfrm>
              <a:prstGeom prst="line">
                <a:avLst/>
              </a:prstGeom>
              <a:ln w="28575" cap="flat" cmpd="sng">
                <a:solidFill>
                  <a:srgbClr val="008000"/>
                </a:solidFill>
                <a:prstDash val="solid"/>
                <a:round/>
                <a:headEnd type="none" w="med" len="med"/>
                <a:tailEnd type="triangle" w="sm" len="lg"/>
              </a:ln>
            </p:spPr>
          </p:sp>
          <p:sp>
            <p:nvSpPr>
              <p:cNvPr id="51258" name="Text Box 82"/>
              <p:cNvSpPr txBox="1"/>
              <p:nvPr/>
            </p:nvSpPr>
            <p:spPr>
              <a:xfrm>
                <a:off x="4656" y="3216"/>
                <a:ext cx="406" cy="194"/>
              </a:xfrm>
              <a:prstGeom prst="rect">
                <a:avLst/>
              </a:prstGeom>
              <a:noFill/>
              <a:ln w="9525">
                <a:noFill/>
              </a:ln>
            </p:spPr>
            <p:txBody>
              <a:bodyPr wrap="none" tIns="0" bIns="0" anchor="t" anchorCtr="0">
                <a:spAutoFit/>
              </a:bodyPr>
              <a:p>
                <a:pPr>
                  <a:buFont typeface="Wingdings" panose="05000000000000000000" pitchFamily="2" charset="2"/>
                </a:pPr>
                <a:r>
                  <a:rPr lang="en-US" altLang="zh-CN" sz="2000" b="1" dirty="0">
                    <a:solidFill>
                      <a:srgbClr val="003366"/>
                    </a:solidFill>
                    <a:latin typeface="Times New Roman" panose="02020603050405020304" charset="0"/>
                    <a:ea typeface="宋体" panose="02010600030101010101" pitchFamily="2" charset="-122"/>
                  </a:rPr>
                  <a:t>rear</a:t>
                </a:r>
                <a:endParaRPr lang="en-US" altLang="zh-CN" sz="2000" dirty="0">
                  <a:solidFill>
                    <a:srgbClr val="003366"/>
                  </a:solidFill>
                  <a:latin typeface="Times New Roman" panose="02020603050405020304" charset="0"/>
                  <a:ea typeface="宋体" panose="02010600030101010101" pitchFamily="2" charset="-122"/>
                </a:endParaRPr>
              </a:p>
            </p:txBody>
          </p:sp>
          <p:sp>
            <p:nvSpPr>
              <p:cNvPr id="51259" name="Line 83"/>
              <p:cNvSpPr/>
              <p:nvPr/>
            </p:nvSpPr>
            <p:spPr>
              <a:xfrm flipH="1" flipV="1">
                <a:off x="4368" y="3312"/>
                <a:ext cx="288" cy="0"/>
              </a:xfrm>
              <a:prstGeom prst="line">
                <a:avLst/>
              </a:prstGeom>
              <a:ln w="28575" cap="flat" cmpd="sng">
                <a:solidFill>
                  <a:srgbClr val="008000"/>
                </a:solidFill>
                <a:prstDash val="solid"/>
                <a:round/>
                <a:headEnd type="none" w="med" len="med"/>
                <a:tailEnd type="triangle" w="sm" len="lg"/>
              </a:ln>
            </p:spPr>
          </p:sp>
        </p:grpSp>
        <p:sp>
          <p:nvSpPr>
            <p:cNvPr id="51260" name="Text Box 84"/>
            <p:cNvSpPr txBox="1"/>
            <p:nvPr/>
          </p:nvSpPr>
          <p:spPr>
            <a:xfrm>
              <a:off x="3560" y="3249"/>
              <a:ext cx="720" cy="251"/>
            </a:xfrm>
            <a:prstGeom prst="rect">
              <a:avLst/>
            </a:prstGeom>
            <a:noFill/>
            <a:ln w="9525">
              <a:noFill/>
            </a:ln>
          </p:spPr>
          <p:txBody>
            <a:bodyPr anchor="t" anchorCtr="0">
              <a:spAutoFit/>
            </a:bodyPr>
            <a:p>
              <a:pPr algn="ctr">
                <a:spcBef>
                  <a:spcPct val="50000"/>
                </a:spcBef>
                <a:buFont typeface="Wingdings" panose="05000000000000000000" pitchFamily="2" charset="2"/>
              </a:pPr>
              <a:r>
                <a:rPr lang="zh-CN" altLang="en-US" sz="2000" b="1" dirty="0">
                  <a:latin typeface="Tahoma" panose="020B0604030504040204" charset="0"/>
                  <a:ea typeface="宋体" panose="02010600030101010101" pitchFamily="2" charset="-122"/>
                </a:rPr>
                <a:t>队列满</a:t>
              </a:r>
              <a:endParaRPr lang="zh-CN" altLang="en-US" sz="2000" b="1" dirty="0">
                <a:latin typeface="Tahoma" panose="020B0604030504040204" charset="0"/>
                <a:ea typeface="宋体" panose="02010600030101010101" pitchFamily="2" charset="-122"/>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循环队列的入队实现</a:t>
            </a:r>
            <a:endParaRPr lang="zh-CN" altLang="en-US" sz="2800" dirty="0">
              <a:latin typeface="黑体" panose="02010609060101010101" pitchFamily="2" charset="-122"/>
              <a:ea typeface="黑体" panose="02010609060101010101" pitchFamily="2" charset="-122"/>
              <a:cs typeface="+mn-cs"/>
              <a:sym typeface="+mn-ea"/>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Status EnQueue(SqQueue &amp;Q, QElemType e) {</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if </a:t>
            </a:r>
            <a:r>
              <a:rPr lang="en-US" altLang="zh-CN" sz="2400" dirty="0">
                <a:solidFill>
                  <a:srgbClr val="FF0000"/>
                </a:solidFill>
                <a:latin typeface="黑体" panose="02010609060101010101" pitchFamily="2" charset="-122"/>
                <a:ea typeface="黑体" panose="02010609060101010101" pitchFamily="2" charset="-122"/>
                <a:sym typeface="+mn-ea"/>
              </a:rPr>
              <a:t>((Q.rear + 1) % MAXQSIZE == Q.front) </a:t>
            </a:r>
            <a:r>
              <a:rPr lang="en-US" altLang="zh-CN" sz="2400" dirty="0">
                <a:latin typeface="黑体" panose="02010609060101010101" pitchFamily="2" charset="-122"/>
                <a:ea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sym typeface="+mn-ea"/>
              </a:rPr>
              <a:t>判队满</a:t>
            </a:r>
            <a:endParaRPr lang="en-US" altLang="zh-CN" sz="2400" dirty="0">
              <a:solidFill>
                <a:srgbClr val="FF0000"/>
              </a:solidFill>
              <a:latin typeface="黑体" panose="02010609060101010101" pitchFamily="2" charset="-122"/>
              <a:ea typeface="黑体" panose="02010609060101010101" pitchFamily="2" charset="-122"/>
              <a:sym typeface="+mn-ea"/>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solidFill>
                  <a:srgbClr val="FF0000"/>
                </a:solidFill>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return ERROR;</a:t>
            </a:r>
            <a:endParaRPr lang="zh-CN" altLang="en-US" sz="2400"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Q.base[Q.rear] = e;</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r>
              <a:rPr lang="en-US" altLang="zh-CN" sz="2400" dirty="0">
                <a:solidFill>
                  <a:srgbClr val="FF0000"/>
                </a:solidFill>
                <a:latin typeface="黑体" panose="02010609060101010101" pitchFamily="2" charset="-122"/>
                <a:ea typeface="黑体" panose="02010609060101010101" pitchFamily="2" charset="-122"/>
                <a:sym typeface="+mn-ea"/>
              </a:rPr>
              <a:t>Q.rear = (Q.rear + 1) % MAXQSIZE</a:t>
            </a:r>
            <a:r>
              <a:rPr lang="en-US" altLang="zh-CN" sz="2400" dirty="0">
                <a:latin typeface="黑体" panose="02010609060101010101" pitchFamily="2" charset="-122"/>
                <a:ea typeface="黑体" panose="02010609060101010101" pitchFamily="2" charset="-122"/>
                <a:sym typeface="+mn-ea"/>
              </a:rPr>
              <a:t>;</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return OK;</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a:t>
            </a:r>
            <a:endParaRPr lang="en-US" altLang="zh-CN" sz="2400" dirty="0">
              <a:latin typeface="黑体" panose="02010609060101010101" pitchFamily="2" charset="-122"/>
              <a:ea typeface="黑体" panose="02010609060101010101" pitchFamily="2" charset="-122"/>
            </a:endParaRPr>
          </a:p>
          <a:p>
            <a:pPr marL="0" lvl="1" indent="0" algn="l" eaLnBrk="1" hangingPunct="1">
              <a:buClrTx/>
              <a:buSzTx/>
              <a:buFont typeface="Wingdings" panose="05000000000000000000" charset="0"/>
              <a:buNone/>
            </a:pP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nvPr>
        </p:nvSpPr>
        <p:spPr/>
        <p:txBody>
          <a:bodyPr/>
          <a:p>
            <a:pPr marL="457200" lvl="1" indent="-457200" algn="l" eaLnBrk="1" hangingPunct="1">
              <a:buClrTx/>
              <a:buSzTx/>
              <a:buFont typeface="Wingdings" panose="05000000000000000000" charset="0"/>
              <a:buChar char="l"/>
            </a:pPr>
            <a:r>
              <a:rPr lang="zh-CN" altLang="en-US" sz="2800" dirty="0">
                <a:latin typeface="黑体" panose="02010609060101010101" pitchFamily="2" charset="-122"/>
                <a:ea typeface="黑体" panose="02010609060101010101" pitchFamily="2" charset="-122"/>
                <a:cs typeface="+mn-cs"/>
                <a:sym typeface="+mn-ea"/>
              </a:rPr>
              <a:t>循环队列的出队实现</a:t>
            </a:r>
            <a:endParaRPr lang="zh-CN" altLang="en-US" sz="2800" dirty="0">
              <a:latin typeface="黑体" panose="02010609060101010101" pitchFamily="2" charset="-122"/>
              <a:ea typeface="黑体" panose="02010609060101010101" pitchFamily="2" charset="-122"/>
              <a:cs typeface="+mn-cs"/>
              <a:sym typeface="+mn-ea"/>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Status DeQueue(SqQueue &amp;Q, QElemType e) {</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if (</a:t>
            </a:r>
            <a:r>
              <a:rPr lang="en-US" altLang="zh-CN" sz="2400" dirty="0">
                <a:solidFill>
                  <a:srgbClr val="FF0000"/>
                </a:solidFill>
                <a:latin typeface="黑体" panose="02010609060101010101" pitchFamily="2" charset="-122"/>
                <a:ea typeface="黑体" panose="02010609060101010101" pitchFamily="2" charset="-122"/>
                <a:sym typeface="+mn-ea"/>
              </a:rPr>
              <a:t>Q.rear == Q.front</a:t>
            </a:r>
            <a:r>
              <a:rPr lang="en-US" altLang="zh-CN" sz="2400" dirty="0">
                <a:latin typeface="黑体" panose="02010609060101010101" pitchFamily="2" charset="-122"/>
                <a:ea typeface="黑体" panose="02010609060101010101" pitchFamily="2" charset="-122"/>
                <a:sym typeface="+mn-ea"/>
              </a:rPr>
              <a:t>) //</a:t>
            </a:r>
            <a:r>
              <a:rPr lang="zh-CN" altLang="en-US" sz="2400" dirty="0">
                <a:latin typeface="黑体" panose="02010609060101010101" pitchFamily="2" charset="-122"/>
                <a:ea typeface="黑体" panose="02010609060101010101" pitchFamily="2" charset="-122"/>
                <a:sym typeface="+mn-ea"/>
              </a:rPr>
              <a:t>判队空</a:t>
            </a:r>
            <a:endParaRPr lang="en-US" altLang="zh-CN" sz="2400" dirty="0">
              <a:latin typeface="黑体" panose="02010609060101010101" pitchFamily="2" charset="-122"/>
              <a:ea typeface="黑体" panose="02010609060101010101" pitchFamily="2" charset="-122"/>
              <a:sym typeface="+mn-ea"/>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return ERROR; </a:t>
            </a:r>
            <a:endParaRPr lang="zh-CN" altLang="en-US" sz="2400"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zh-CN" altLang="en-US" sz="2400" dirty="0">
                <a:latin typeface="黑体" panose="02010609060101010101" pitchFamily="2" charset="-122"/>
                <a:ea typeface="黑体" panose="02010609060101010101" pitchFamily="2" charset="-122"/>
                <a:sym typeface="+mn-ea"/>
              </a:rPr>
              <a:t>	</a:t>
            </a:r>
            <a:r>
              <a:rPr lang="en-US" altLang="zh-CN" sz="2400" dirty="0">
                <a:latin typeface="黑体" panose="02010609060101010101" pitchFamily="2" charset="-122"/>
                <a:ea typeface="黑体" panose="02010609060101010101" pitchFamily="2" charset="-122"/>
                <a:sym typeface="+mn-ea"/>
              </a:rPr>
              <a:t>e = Q.base[Q.front];</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a:t>
            </a:r>
            <a:r>
              <a:rPr lang="en-US" altLang="zh-CN" sz="2400" dirty="0">
                <a:solidFill>
                  <a:srgbClr val="FF0000"/>
                </a:solidFill>
                <a:latin typeface="黑体" panose="02010609060101010101" pitchFamily="2" charset="-122"/>
                <a:ea typeface="黑体" panose="02010609060101010101" pitchFamily="2" charset="-122"/>
                <a:sym typeface="+mn-ea"/>
              </a:rPr>
              <a:t>Q.front = (Q.front + 1) % MAXQSIZE</a:t>
            </a:r>
            <a:r>
              <a:rPr lang="en-US" altLang="zh-CN" sz="2400" dirty="0">
                <a:latin typeface="黑体" panose="02010609060101010101" pitchFamily="2" charset="-122"/>
                <a:ea typeface="黑体" panose="02010609060101010101" pitchFamily="2" charset="-122"/>
                <a:sym typeface="+mn-ea"/>
              </a:rPr>
              <a:t>;</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	return OK;</a:t>
            </a:r>
            <a:endParaRPr lang="en-US" altLang="zh-CN" sz="2400" b="0" dirty="0">
              <a:latin typeface="黑体" panose="02010609060101010101" pitchFamily="2" charset="-122"/>
              <a:ea typeface="黑体" panose="02010609060101010101" pitchFamily="2" charset="-122"/>
            </a:endParaRPr>
          </a:p>
          <a:p>
            <a:pPr marL="609600" indent="-609600" eaLnBrk="1" hangingPunct="1">
              <a:spcBef>
                <a:spcPct val="50000"/>
              </a:spcBef>
              <a:buClr>
                <a:schemeClr val="accent1"/>
              </a:buClr>
              <a:buSzTx/>
              <a:buFont typeface="Wingdings" panose="05000000000000000000" pitchFamily="2" charset="2"/>
              <a:buNone/>
            </a:pPr>
            <a:r>
              <a:rPr lang="en-US" altLang="zh-CN" sz="2400" dirty="0">
                <a:latin typeface="黑体" panose="02010609060101010101" pitchFamily="2" charset="-122"/>
                <a:ea typeface="黑体" panose="02010609060101010101" pitchFamily="2" charset="-122"/>
                <a:sym typeface="+mn-ea"/>
              </a:rPr>
              <a:t>}</a:t>
            </a:r>
            <a:endParaRPr lang="en-US" altLang="zh-CN" sz="2400" b="0" dirty="0">
              <a:latin typeface="黑体" panose="02010609060101010101" pitchFamily="2" charset="-122"/>
              <a:ea typeface="黑体" panose="02010609060101010101" pitchFamily="2" charset="-122"/>
            </a:endParaRPr>
          </a:p>
          <a:p>
            <a:pPr marL="0" lvl="1" indent="0" algn="l" eaLnBrk="1" hangingPunct="1">
              <a:buClrTx/>
              <a:buSzTx/>
              <a:buFont typeface="Wingdings" panose="05000000000000000000" charset="0"/>
              <a:buNone/>
            </a:pPr>
            <a:endParaRPr lang="zh-CN" altLang="en-US" sz="2400" dirty="0">
              <a:latin typeface="黑体" panose="02010609060101010101" pitchFamily="2" charset="-122"/>
              <a:ea typeface="黑体" panose="02010609060101010101" pitchFamily="2" charset="-122"/>
              <a:cs typeface="+mn-cs"/>
              <a:sym typeface="+mn-ea"/>
            </a:endParaRPr>
          </a:p>
        </p:txBody>
      </p:sp>
      <p:sp>
        <p:nvSpPr>
          <p:cNvPr id="4" name="标题 3"/>
          <p:cNvSpPr>
            <a:spLocks noGrp="1"/>
          </p:cNvSpPr>
          <p:nvPr>
            <p:ph type="title"/>
          </p:nvPr>
        </p:nvSpPr>
        <p:spPr>
          <a:xfrm>
            <a:off x="752475" y="222568"/>
            <a:ext cx="10972800" cy="796908"/>
          </a:xfrm>
        </p:spPr>
        <p:txBody>
          <a:bodyPr/>
          <a:p>
            <a:r>
              <a:rPr lang="en-US" altLang="zh-CN">
                <a:latin typeface="楷体" panose="02010609060101010101" charset="-122"/>
                <a:ea typeface="楷体" panose="02010609060101010101" charset="-122"/>
                <a:cs typeface="楷体" panose="02010609060101010101" charset="-122"/>
                <a:sym typeface="+mn-ea"/>
              </a:rPr>
              <a:t>3.4 </a:t>
            </a:r>
            <a:r>
              <a:rPr lang="zh-CN" altLang="en-US">
                <a:latin typeface="楷体" panose="02010609060101010101" charset="-122"/>
                <a:ea typeface="楷体" panose="02010609060101010101" charset="-122"/>
                <a:cs typeface="楷体" panose="02010609060101010101" charset="-122"/>
                <a:sym typeface="+mn-ea"/>
              </a:rPr>
              <a:t>队列</a:t>
            </a:r>
            <a:endParaRPr lang="en-US" altLang="zh-CN">
              <a:latin typeface="楷体" panose="02010609060101010101" charset="-122"/>
              <a:ea typeface="楷体" panose="02010609060101010101" charset="-122"/>
              <a:cs typeface="楷体" panose="02010609060101010101" charset="-122"/>
              <a:sym typeface="+mn-ea"/>
            </a:endParaRPr>
          </a:p>
        </p:txBody>
      </p:sp>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idx="1"/>
          </p:nvPr>
        </p:nvSpPr>
        <p:spPr/>
        <p:txBody>
          <a:bodyPr/>
          <a:p>
            <a:pPr algn="l" eaLnBrk="1" hangingPunct="1">
              <a:buClrTx/>
              <a:buSzTx/>
            </a:pPr>
            <a:r>
              <a:rPr lang="zh-CN" altLang="en-US" dirty="0">
                <a:cs typeface="+mn-ea"/>
                <a:sym typeface="+mn-ea"/>
              </a:rPr>
              <a:t>假设循环队列数据从a开始按字母顺序编号，数组下标从</a:t>
            </a:r>
            <a:r>
              <a:rPr lang="en-US" altLang="zh-CN" dirty="0">
                <a:cs typeface="+mn-ea"/>
                <a:sym typeface="+mn-ea"/>
              </a:rPr>
              <a:t>0</a:t>
            </a:r>
            <a:r>
              <a:rPr lang="zh-CN" altLang="en-US" dirty="0">
                <a:cs typeface="+mn-ea"/>
                <a:sym typeface="+mn-ea"/>
              </a:rPr>
              <a:t>开始编号，</a:t>
            </a:r>
            <a:r>
              <a:rPr lang="zh-CN" altLang="en-US" sz="2800" dirty="0">
                <a:latin typeface="黑体" panose="02010609060101010101" pitchFamily="2" charset="-122"/>
                <a:ea typeface="黑体" panose="02010609060101010101" pitchFamily="2" charset="-122"/>
                <a:cs typeface="黑体" panose="02010609060101010101" pitchFamily="2" charset="-122"/>
                <a:sym typeface="+mn-ea"/>
              </a:rPr>
              <a:t>队首和队尾下标分别为f, r, 最大长度为n</a:t>
            </a:r>
            <a:endParaRPr lang="zh-CN" altLang="en-US" sz="2800" dirty="0">
              <a:latin typeface="黑体" panose="02010609060101010101" pitchFamily="2" charset="-122"/>
              <a:ea typeface="黑体" panose="02010609060101010101" pitchFamily="2" charset="-122"/>
              <a:cs typeface="黑体" panose="02010609060101010101" pitchFamily="2" charset="-122"/>
            </a:endParaRPr>
          </a:p>
          <a:p>
            <a:pPr lvl="1" algn="l" eaLnBrk="1" hangingPunct="1">
              <a:buClrTx/>
              <a:buSzTx/>
              <a:buChar char="–"/>
            </a:pPr>
            <a:r>
              <a:rPr lang="zh-CN" altLang="en-US" sz="2400" dirty="0">
                <a:cs typeface="+mn-ea"/>
                <a:sym typeface="+mn-ea"/>
              </a:rPr>
              <a:t>若n=8，f=3, r=2，请判断队列状态</a:t>
            </a:r>
            <a:endParaRPr lang="zh-CN" altLang="en-US" sz="2400" dirty="0">
              <a:cs typeface="+mn-ea"/>
            </a:endParaRPr>
          </a:p>
          <a:p>
            <a:pPr lvl="1" algn="l" eaLnBrk="1" hangingPunct="1">
              <a:buClrTx/>
              <a:buSzTx/>
              <a:buChar char="–"/>
            </a:pPr>
            <a:r>
              <a:rPr lang="zh-CN" altLang="en-US" sz="2400" dirty="0">
                <a:cs typeface="+mn-ea"/>
                <a:sym typeface="+mn-ea"/>
              </a:rPr>
              <a:t>若n=9，f=3, r=8，请画出现有分布图</a:t>
            </a:r>
            <a:endParaRPr lang="zh-CN" altLang="en-US" sz="2400" dirty="0">
              <a:cs typeface="+mn-ea"/>
              <a:sym typeface="+mn-ea"/>
            </a:endParaRPr>
          </a:p>
          <a:p>
            <a:pPr lvl="1" algn="l" eaLnBrk="1" hangingPunct="1">
              <a:buClrTx/>
              <a:buSzTx/>
              <a:buChar char="–"/>
            </a:pPr>
            <a:r>
              <a:rPr lang="zh-CN" altLang="en-US" sz="2400" dirty="0">
                <a:cs typeface="+mn-ea"/>
                <a:sym typeface="+mn-ea"/>
              </a:rPr>
              <a:t>继上一条件，若有数据ABCDE入队，</a:t>
            </a:r>
            <a:r>
              <a:rPr lang="zh-CN" altLang="en-US" dirty="0">
                <a:cs typeface="+mn-ea"/>
                <a:sym typeface="+mn-ea"/>
              </a:rPr>
              <a:t>请画出入队后的分布图，如果有</a:t>
            </a:r>
            <a:r>
              <a:rPr lang="zh-CN" altLang="en-US" sz="2400" dirty="0">
                <a:cs typeface="+mn-ea"/>
                <a:sym typeface="+mn-ea"/>
              </a:rPr>
              <a:t>数据不能入队请说明原因</a:t>
            </a:r>
            <a:endParaRPr lang="zh-CN" altLang="en-US" sz="2400" dirty="0">
              <a:cs typeface="+mn-ea"/>
              <a:sym typeface="+mn-ea"/>
            </a:endParaRPr>
          </a:p>
          <a:p>
            <a:pPr lvl="1" algn="l" eaLnBrk="1" hangingPunct="1">
              <a:buClrTx/>
              <a:buSzTx/>
              <a:buChar char="–"/>
            </a:pPr>
            <a:r>
              <a:rPr lang="zh-CN" altLang="en-US" dirty="0">
                <a:cs typeface="+mn-ea"/>
                <a:sym typeface="+mn-ea"/>
              </a:rPr>
              <a:t>继上面入队操作后，</a:t>
            </a:r>
            <a:r>
              <a:rPr lang="zh-CN" altLang="en-US" sz="2400" dirty="0">
                <a:cs typeface="+mn-ea"/>
                <a:sym typeface="+mn-ea"/>
              </a:rPr>
              <a:t>执行3次出队，请画出出队后的分布图，并说明f和r的值</a:t>
            </a:r>
            <a:endParaRPr lang="zh-CN" altLang="en-US" sz="2400" dirty="0">
              <a:cs typeface="+mn-ea"/>
            </a:endParaRPr>
          </a:p>
          <a:p>
            <a:pPr marL="965200" lvl="1" indent="-508000" eaLnBrk="1" hangingPunct="1">
              <a:buClr>
                <a:schemeClr val="accent2"/>
              </a:buClr>
              <a:buFont typeface="Wingdings" panose="05000000000000000000" pitchFamily="2" charset="2"/>
              <a:buChar char="q"/>
            </a:pPr>
            <a:endParaRPr lang="zh-CN" altLang="en-US" sz="2800" dirty="0">
              <a:latin typeface="宋体" panose="02010600030101010101" pitchFamily="2" charset="-122"/>
            </a:endParaRPr>
          </a:p>
          <a:p>
            <a:pPr marL="965200" lvl="1" indent="-508000" eaLnBrk="1" hangingPunct="1">
              <a:buClr>
                <a:schemeClr val="accent2"/>
              </a:buClr>
              <a:buFont typeface="Wingdings" panose="05000000000000000000" pitchFamily="2" charset="2"/>
              <a:buChar char="q"/>
            </a:pPr>
            <a:endParaRPr lang="en-US" altLang="zh-CN" sz="2800" dirty="0">
              <a:latin typeface="宋体" panose="02010600030101010101" pitchFamily="2" charset="-122"/>
            </a:endParaRPr>
          </a:p>
          <a:p>
            <a:endParaRPr lang="zh-CN" altLang="en-US"/>
          </a:p>
        </p:txBody>
      </p:sp>
      <p:sp>
        <p:nvSpPr>
          <p:cNvPr id="3" name="标题 2"/>
          <p:cNvSpPr>
            <a:spLocks noGrp="1"/>
          </p:cNvSpPr>
          <p:nvPr>
            <p:ph type="title"/>
          </p:nvPr>
        </p:nvSpPr>
        <p:spPr/>
        <p:txBody>
          <a:bodyPr/>
          <a:p>
            <a:pPr algn="l">
              <a:buClrTx/>
              <a:buSzTx/>
              <a:buFontTx/>
            </a:pPr>
            <a:r>
              <a:rPr lang="zh-CN" altLang="en-US" sz="4000">
                <a:solidFill>
                  <a:srgbClr val="FF0000"/>
                </a:solidFill>
                <a:latin typeface="楷体" panose="02010609060101010101" charset="-122"/>
                <a:ea typeface="楷体" panose="02010609060101010101" charset="-122"/>
              </a:rPr>
              <a:t>练习</a:t>
            </a:r>
            <a:endParaRPr lang="zh-CN" altLang="en-US" sz="4000">
              <a:solidFill>
                <a:srgbClr val="FF0000"/>
              </a:solidFill>
              <a:latin typeface="楷体" panose="02010609060101010101" charset="-122"/>
              <a:ea typeface="楷体" panose="02010609060101010101" charset="-122"/>
            </a:endParaRPr>
          </a:p>
        </p:txBody>
      </p:sp>
      <p:sp>
        <p:nvSpPr>
          <p:cNvPr id="4" name="灯片编号占位符 3"/>
          <p:cNvSpPr>
            <a:spLocks noGrp="1"/>
          </p:cNvSpPr>
          <p:nvPr>
            <p:ph type="sldNum" sz="quarter" idx="4"/>
          </p:nvPr>
        </p:nvSpPr>
        <p:spPr/>
        <p:txBody>
          <a:bodyPr/>
          <a:p>
            <a:fld id="{F18B4237-A20D-4DE2-ADD8-75BCC50A7656}" type="slidenum">
              <a:rPr lang="zh-CN" altLang="en-US"/>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4"/>
          </p:nvPr>
        </p:nvSpPr>
        <p:spPr/>
        <p:txBody>
          <a:bodyPr/>
          <a:p>
            <a:fld id="{F18B4237-A20D-4DE2-ADD8-75BCC50A7656}" type="slidenum">
              <a:rPr lang="zh-CN" altLang="en-US"/>
            </a:fld>
            <a:endParaRPr lang="zh-CN" altLang="en-US"/>
          </a:p>
        </p:txBody>
      </p:sp>
      <p:sp>
        <p:nvSpPr>
          <p:cNvPr id="5" name="文本框 4"/>
          <p:cNvSpPr txBox="1"/>
          <p:nvPr/>
        </p:nvSpPr>
        <p:spPr>
          <a:xfrm>
            <a:off x="407035" y="1052830"/>
            <a:ext cx="11266805" cy="5114290"/>
          </a:xfrm>
          <a:prstGeom prst="rect">
            <a:avLst/>
          </a:prstGeom>
        </p:spPr>
        <p:txBody>
          <a:bodyPr vert="horz" lIns="91440" tIns="45720" rIns="91440" bIns="45720" rtlCol="0">
            <a:noAutofit/>
          </a:bodyPr>
          <a:p>
            <a:pPr marL="428625" indent="-428625" algn="l" eaLnBrk="1" hangingPunct="1">
              <a:lnSpc>
                <a:spcPct val="90000"/>
              </a:lnSpc>
              <a:spcBef>
                <a:spcPts val="1000"/>
              </a:spcBef>
              <a:buClr>
                <a:schemeClr val="accent2"/>
              </a:buClr>
              <a:buSzTx/>
              <a:buFont typeface="Wingdings" panose="05000000000000000000" charset="0"/>
              <a:buChar char="l"/>
            </a:pPr>
            <a:r>
              <a:rPr lang="zh-CN" altLang="en-US" sz="2000">
                <a:latin typeface="黑体" panose="02010609060101010101" pitchFamily="2" charset="-122"/>
                <a:ea typeface="黑体" panose="02010609060101010101" pitchFamily="2" charset="-122"/>
                <a:sym typeface="+mn-ea"/>
              </a:rPr>
              <a:t>栈与队列都是操作受限制的线性表，都是逻辑结构</a:t>
            </a:r>
            <a:endParaRPr lang="zh-CN" altLang="en-US" sz="2000">
              <a:latin typeface="黑体" panose="02010609060101010101" pitchFamily="2" charset="-122"/>
              <a:ea typeface="黑体" panose="02010609060101010101" pitchFamily="2" charset="-122"/>
            </a:endParaRPr>
          </a:p>
          <a:p>
            <a:pPr marL="428625" indent="-428625" algn="l" eaLnBrk="1" hangingPunct="1">
              <a:lnSpc>
                <a:spcPct val="90000"/>
              </a:lnSpc>
              <a:spcBef>
                <a:spcPts val="1000"/>
              </a:spcBef>
              <a:buClr>
                <a:schemeClr val="accent2"/>
              </a:buClr>
              <a:buSzTx/>
              <a:buFont typeface="Wingdings" panose="05000000000000000000" charset="0"/>
              <a:buChar char="l"/>
            </a:pPr>
            <a:r>
              <a:rPr lang="zh-CN" altLang="en-US" sz="2000">
                <a:latin typeface="黑体" panose="02010609060101010101" pitchFamily="2" charset="-122"/>
                <a:ea typeface="黑体" panose="02010609060101010101" pitchFamily="2" charset="-122"/>
                <a:sym typeface="+mn-ea"/>
              </a:rPr>
              <a:t>栈是插入、删除、读取操作都在栈顶</a:t>
            </a:r>
            <a:r>
              <a:rPr lang="en-US" altLang="zh-CN" sz="2000">
                <a:latin typeface="黑体" panose="02010609060101010101" pitchFamily="2" charset="-122"/>
                <a:ea typeface="黑体" panose="02010609060101010101" pitchFamily="2" charset="-122"/>
                <a:sym typeface="+mn-ea"/>
              </a:rPr>
              <a:t>top</a:t>
            </a:r>
            <a:r>
              <a:rPr lang="zh-CN" altLang="en-US" sz="2000">
                <a:latin typeface="黑体" panose="02010609060101010101" pitchFamily="2" charset="-122"/>
                <a:ea typeface="黑体" panose="02010609060101010101" pitchFamily="2" charset="-122"/>
                <a:sym typeface="+mn-ea"/>
              </a:rPr>
              <a:t>操作，特点后进先出。栈的存储结构有顺序栈、链栈</a:t>
            </a:r>
            <a:endParaRPr lang="zh-CN" altLang="en-US" sz="20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sym typeface="+mn-ea"/>
              </a:rPr>
              <a:t>插入就是进栈push，top+</a:t>
            </a:r>
            <a:r>
              <a:rPr lang="en-US" altLang="zh-CN" sz="2000">
                <a:latin typeface="黑体" panose="02010609060101010101" pitchFamily="2" charset="-122"/>
                <a:ea typeface="黑体" panose="02010609060101010101" pitchFamily="2" charset="-122"/>
                <a:sym typeface="+mn-ea"/>
              </a:rPr>
              <a:t>+</a:t>
            </a:r>
            <a:r>
              <a:rPr lang="zh-CN" altLang="en-US" sz="2000">
                <a:latin typeface="黑体" panose="02010609060101010101" pitchFamily="2" charset="-122"/>
                <a:ea typeface="黑体" panose="02010609060101010101" pitchFamily="2" charset="-122"/>
                <a:sym typeface="+mn-ea"/>
              </a:rPr>
              <a:t>；删除就是出栈pop，top-</a:t>
            </a:r>
            <a:r>
              <a:rPr lang="en-US" altLang="zh-CN" sz="2000">
                <a:latin typeface="黑体" panose="02010609060101010101" pitchFamily="2" charset="-122"/>
                <a:ea typeface="黑体" panose="02010609060101010101" pitchFamily="2" charset="-122"/>
                <a:sym typeface="+mn-ea"/>
              </a:rPr>
              <a:t>-</a:t>
            </a:r>
            <a:endParaRPr lang="zh-CN" altLang="en-US" sz="20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sym typeface="+mn-ea"/>
              </a:rPr>
              <a:t>读取就是取栈顶元素</a:t>
            </a:r>
            <a:r>
              <a:rPr lang="en-US" altLang="zh-CN" sz="2000">
                <a:latin typeface="黑体" panose="02010609060101010101" pitchFamily="2" charset="-122"/>
                <a:ea typeface="黑体" panose="02010609060101010101" pitchFamily="2" charset="-122"/>
                <a:sym typeface="+mn-ea"/>
              </a:rPr>
              <a:t>t</a:t>
            </a:r>
            <a:r>
              <a:rPr lang="zh-CN" altLang="en-US" sz="2000">
                <a:latin typeface="黑体" panose="02010609060101010101" pitchFamily="2" charset="-122"/>
                <a:ea typeface="黑体" panose="02010609060101010101" pitchFamily="2" charset="-122"/>
                <a:sym typeface="+mn-ea"/>
              </a:rPr>
              <a:t>op，注意栈没有查找操作</a:t>
            </a:r>
            <a:endParaRPr lang="zh-CN" altLang="en-US" sz="20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sym typeface="+mn-ea"/>
              </a:rPr>
              <a:t>掌握多种出栈结果和操作的求解</a:t>
            </a:r>
            <a:endParaRPr lang="zh-CN" altLang="en-US" sz="2000">
              <a:latin typeface="黑体" panose="02010609060101010101" pitchFamily="2" charset="-122"/>
              <a:ea typeface="黑体" panose="02010609060101010101" pitchFamily="2" charset="-122"/>
              <a:sym typeface="+mn-ea"/>
            </a:endParaRPr>
          </a:p>
          <a:p>
            <a:pPr marL="428625" lvl="2" indent="-428625" algn="l" eaLnBrk="1" hangingPunct="1">
              <a:lnSpc>
                <a:spcPct val="90000"/>
              </a:lnSpc>
              <a:spcBef>
                <a:spcPts val="1000"/>
              </a:spcBef>
              <a:buClr>
                <a:schemeClr val="accent2"/>
              </a:buClr>
              <a:buSzTx/>
              <a:buFont typeface="Wingdings" panose="05000000000000000000" charset="0"/>
              <a:buChar char="l"/>
            </a:pPr>
            <a:r>
              <a:rPr lang="zh-CN" altLang="en-US" sz="2000">
                <a:latin typeface="黑体" panose="02010609060101010101" pitchFamily="2" charset="-122"/>
                <a:ea typeface="黑体" panose="02010609060101010101" pitchFamily="2" charset="-122"/>
                <a:sym typeface="+mn-ea"/>
              </a:rPr>
              <a:t>队列是只允许在队尾rear插入，在队头front删除和读取，特点是先进先出</a:t>
            </a:r>
            <a:endParaRPr lang="zh-CN" altLang="en-US" sz="20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rPr>
              <a:t>队列的出队结果是唯一的</a:t>
            </a:r>
            <a:endParaRPr lang="zh-CN" altLang="en-US" sz="2000">
              <a:latin typeface="黑体" panose="02010609060101010101" pitchFamily="2" charset="-122"/>
              <a:ea typeface="黑体" panose="02010609060101010101" pitchFamily="2" charset="-122"/>
            </a:endParaRPr>
          </a:p>
          <a:p>
            <a:pPr marL="428625" indent="-428625" algn="l" eaLnBrk="1" hangingPunct="1">
              <a:lnSpc>
                <a:spcPct val="90000"/>
              </a:lnSpc>
              <a:spcBef>
                <a:spcPts val="1000"/>
              </a:spcBef>
              <a:buClr>
                <a:schemeClr val="accent2"/>
              </a:buClr>
              <a:buSzTx/>
              <a:buFont typeface="Wingdings" panose="05000000000000000000" charset="0"/>
              <a:buChar char="l"/>
            </a:pPr>
            <a:r>
              <a:rPr lang="zh-CN" altLang="en-US" sz="2000">
                <a:latin typeface="黑体" panose="02010609060101010101" pitchFamily="2" charset="-122"/>
                <a:ea typeface="黑体" panose="02010609060101010101" pitchFamily="2" charset="-122"/>
                <a:sym typeface="+mn-ea"/>
              </a:rPr>
              <a:t>链队列，用带头结点的单链表，队列的存储结构，无队满问题。</a:t>
            </a:r>
            <a:endParaRPr lang="zh-CN" altLang="en-US" sz="20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rPr>
              <a:t>fron指向头结点，rear指向尾结点</a:t>
            </a:r>
            <a:endParaRPr lang="zh-CN" altLang="en-US" sz="2000">
              <a:latin typeface="黑体" panose="02010609060101010101" pitchFamily="2" charset="-122"/>
              <a:ea typeface="黑体" panose="02010609060101010101" pitchFamily="2" charset="-122"/>
            </a:endParaRPr>
          </a:p>
          <a:p>
            <a:pPr marL="428625" indent="-428625" algn="l" eaLnBrk="1" hangingPunct="1">
              <a:lnSpc>
                <a:spcPct val="90000"/>
              </a:lnSpc>
              <a:spcBef>
                <a:spcPts val="1000"/>
              </a:spcBef>
              <a:buClr>
                <a:schemeClr val="accent2"/>
              </a:buClr>
              <a:buSzTx/>
              <a:buFont typeface="Wingdings" panose="05000000000000000000" charset="0"/>
              <a:buChar char="l"/>
            </a:pPr>
            <a:r>
              <a:rPr lang="zh-CN" altLang="en-US" sz="2000">
                <a:latin typeface="黑体" panose="02010609060101010101" pitchFamily="2" charset="-122"/>
                <a:ea typeface="黑体" panose="02010609060101010101" pitchFamily="2" charset="-122"/>
                <a:sym typeface="+mn-ea"/>
              </a:rPr>
              <a:t>循环队列，通过取模运算解决顺序队列的问题，少用一个空间</a:t>
            </a:r>
            <a:endParaRPr lang="zh-CN" altLang="en-US" sz="2000">
              <a:latin typeface="黑体" panose="02010609060101010101" pitchFamily="2" charset="-122"/>
              <a:ea typeface="黑体" panose="02010609060101010101" pitchFamily="2" charset="-122"/>
            </a:endParaRPr>
          </a:p>
          <a:p>
            <a:pPr marL="885825" lvl="2" indent="-428625" algn="l" eaLnBrk="1" hangingPunct="1">
              <a:lnSpc>
                <a:spcPct val="90000"/>
              </a:lnSpc>
              <a:spcBef>
                <a:spcPts val="1000"/>
              </a:spcBef>
              <a:buClr>
                <a:schemeClr val="accent2"/>
              </a:buClr>
              <a:buSzTx/>
              <a:buChar char="•"/>
            </a:pPr>
            <a:r>
              <a:rPr lang="en-US" altLang="zh-CN" sz="2000">
                <a:latin typeface="黑体" panose="02010609060101010101" pitchFamily="2" charset="-122"/>
                <a:ea typeface="黑体" panose="02010609060101010101" pitchFamily="2" charset="-122"/>
                <a:sym typeface="+mn-ea"/>
              </a:rPr>
              <a:t>front</a:t>
            </a:r>
            <a:r>
              <a:rPr lang="zh-CN" altLang="en-US" sz="2000">
                <a:latin typeface="黑体" panose="02010609060101010101" pitchFamily="2" charset="-122"/>
                <a:ea typeface="黑体" panose="02010609060101010101" pitchFamily="2" charset="-122"/>
                <a:sym typeface="+mn-ea"/>
              </a:rPr>
              <a:t>指向首元素，</a:t>
            </a:r>
            <a:r>
              <a:rPr lang="en-US" altLang="zh-CN" sz="2000">
                <a:latin typeface="黑体" panose="02010609060101010101" pitchFamily="2" charset="-122"/>
                <a:ea typeface="黑体" panose="02010609060101010101" pitchFamily="2" charset="-122"/>
                <a:sym typeface="+mn-ea"/>
              </a:rPr>
              <a:t>rear</a:t>
            </a:r>
            <a:r>
              <a:rPr lang="zh-CN" altLang="en-US" sz="2000">
                <a:latin typeface="黑体" panose="02010609060101010101" pitchFamily="2" charset="-122"/>
                <a:ea typeface="黑体" panose="02010609060101010101" pitchFamily="2" charset="-122"/>
                <a:sym typeface="+mn-ea"/>
              </a:rPr>
              <a:t>指向尾元素的下一个位置</a:t>
            </a:r>
            <a:endParaRPr lang="zh-CN" altLang="en-US" sz="20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sym typeface="+mn-ea"/>
              </a:rPr>
              <a:t>掌握插入、删除、队空、队满的语句</a:t>
            </a:r>
            <a:endParaRPr lang="zh-CN" altLang="en-US" sz="2000">
              <a:latin typeface="黑体" panose="02010609060101010101" pitchFamily="2" charset="-122"/>
              <a:ea typeface="黑体" panose="02010609060101010101" pitchFamily="2" charset="-122"/>
              <a:sym typeface="+mn-ea"/>
            </a:endParaRPr>
          </a:p>
          <a:p>
            <a:pPr marL="885825" lvl="2" indent="-428625" algn="l" eaLnBrk="1" hangingPunct="1">
              <a:lnSpc>
                <a:spcPct val="90000"/>
              </a:lnSpc>
              <a:spcBef>
                <a:spcPts val="1000"/>
              </a:spcBef>
              <a:buClr>
                <a:schemeClr val="accent2"/>
              </a:buClr>
              <a:buSzTx/>
              <a:buChar char="•"/>
            </a:pPr>
            <a:r>
              <a:rPr lang="zh-CN" altLang="en-US" sz="2000">
                <a:latin typeface="黑体" panose="02010609060101010101" pitchFamily="2" charset="-122"/>
                <a:ea typeface="黑体" panose="02010609060101010101" pitchFamily="2" charset="-122"/>
                <a:sym typeface="+mn-ea"/>
              </a:rPr>
              <a:t>掌握循环队列的入队和出队操作求解</a:t>
            </a:r>
            <a:endParaRPr lang="zh-CN" altLang="en-US" sz="2000">
              <a:latin typeface="黑体" panose="02010609060101010101" pitchFamily="2" charset="-122"/>
              <a:ea typeface="黑体" panose="02010609060101010101" pitchFamily="2" charset="-122"/>
            </a:endParaRPr>
          </a:p>
          <a:p>
            <a:pPr marL="428625" indent="-428625" algn="l" eaLnBrk="1" hangingPunct="1">
              <a:lnSpc>
                <a:spcPct val="90000"/>
              </a:lnSpc>
              <a:spcBef>
                <a:spcPts val="1000"/>
              </a:spcBef>
              <a:buClr>
                <a:schemeClr val="accent2"/>
              </a:buClr>
              <a:buSzTx/>
              <a:buFont typeface="Wingdings" panose="05000000000000000000" charset="0"/>
              <a:buChar char="l"/>
            </a:pPr>
            <a:endParaRPr lang="zh-CN" altLang="en-US" sz="2400">
              <a:latin typeface="黑体" panose="02010609060101010101" pitchFamily="2" charset="-122"/>
              <a:ea typeface="黑体" panose="0201060906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tags/tag1.xml><?xml version="1.0" encoding="utf-8"?>
<p:tagLst xmlns:p="http://schemas.openxmlformats.org/presentationml/2006/main">
  <p:tag name="KSO_WM_UNIT_PLACING_PICTURE_USER_VIEWPORT" val="{&quot;height&quot;:4410,&quot;width&quot;:10725}"/>
</p:tagLst>
</file>

<file path=ppt/tags/tag2.xml><?xml version="1.0" encoding="utf-8"?>
<p:tagLst xmlns:p="http://schemas.openxmlformats.org/presentationml/2006/main">
  <p:tag name="KSO_WM_UNIT_TABLE_BEAUTIFY" val="smartTable{4935ca8d-9ecf-48f4-9e01-68f7f740cff8}"/>
</p:tagLst>
</file>

<file path=ppt/theme/theme1.xml><?xml version="1.0" encoding="utf-8"?>
<a:theme xmlns:a="http://schemas.openxmlformats.org/drawingml/2006/main" name="1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主题​​">
      <a:majorFont>
        <a:latin typeface="宋体"/>
        <a:ea typeface="微软雅黑"/>
        <a:cs typeface=""/>
      </a:majorFont>
      <a:minorFont>
        <a:latin typeface="宋体"/>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bodyPr vert="horz" lIns="91440" tIns="45720" rIns="91440" bIns="45720" rtlCol="0">
        <a:noAutofit/>
      </a:bodyPr>
      <a:lstStyle>
        <a:defPPr marL="571500" lvl="0" indent="-571500">
          <a:lnSpc>
            <a:spcPct val="90000"/>
          </a:lnSpc>
          <a:spcBef>
            <a:spcPts val="1000"/>
          </a:spcBef>
          <a:buClr>
            <a:schemeClr val="accent2"/>
          </a:buClr>
          <a:buFont typeface="Wingdings" panose="05000000000000000000" pitchFamily="2" charset="2"/>
          <a:buChar char="n"/>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主题​​">
      <a:majorFont>
        <a:latin typeface="宋体"/>
        <a:ea typeface="微软雅黑"/>
        <a:cs typeface=""/>
      </a:majorFont>
      <a:minorFont>
        <a:latin typeface="宋体"/>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bodyPr vert="horz" lIns="91440" tIns="45720" rIns="91440" bIns="45720" rtlCol="0">
        <a:noAutofit/>
      </a:bodyPr>
      <a:lstStyle>
        <a:defPPr marL="571500" lvl="0" indent="-571500">
          <a:lnSpc>
            <a:spcPct val="90000"/>
          </a:lnSpc>
          <a:spcBef>
            <a:spcPts val="1000"/>
          </a:spcBef>
          <a:buClr>
            <a:schemeClr val="accent2"/>
          </a:buClr>
          <a:buFont typeface="Wingdings" panose="05000000000000000000" pitchFamily="2" charset="2"/>
          <a:buChar char="n"/>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7556</Words>
  <Application>WPS 演示</Application>
  <PresentationFormat>宽屏</PresentationFormat>
  <Paragraphs>1065</Paragraphs>
  <Slides>62</Slides>
  <Notes>12</Notes>
  <HiddenSlides>0</HiddenSlides>
  <MMClips>0</MMClips>
  <ScaleCrop>false</ScaleCrop>
  <HeadingPairs>
    <vt:vector size="8" baseType="variant">
      <vt:variant>
        <vt:lpstr>已用的字体</vt:lpstr>
      </vt:variant>
      <vt:variant>
        <vt:i4>14</vt:i4>
      </vt:variant>
      <vt:variant>
        <vt:lpstr>主题</vt:lpstr>
      </vt:variant>
      <vt:variant>
        <vt:i4>2</vt:i4>
      </vt:variant>
      <vt:variant>
        <vt:lpstr>嵌入 OLE 服务器</vt:lpstr>
      </vt:variant>
      <vt:variant>
        <vt:i4>3</vt:i4>
      </vt:variant>
      <vt:variant>
        <vt:lpstr>幻灯片标题</vt:lpstr>
      </vt:variant>
      <vt:variant>
        <vt:i4>62</vt:i4>
      </vt:variant>
    </vt:vector>
  </HeadingPairs>
  <TitlesOfParts>
    <vt:vector size="81" baseType="lpstr">
      <vt:lpstr>Arial</vt:lpstr>
      <vt:lpstr>宋体</vt:lpstr>
      <vt:lpstr>Wingdings</vt:lpstr>
      <vt:lpstr>Copperplate Gothic Bold</vt:lpstr>
      <vt:lpstr>微软雅黑</vt:lpstr>
      <vt:lpstr>Tahoma</vt:lpstr>
      <vt:lpstr>Wingdings</vt:lpstr>
      <vt:lpstr>Garamond</vt:lpstr>
      <vt:lpstr>楷体</vt:lpstr>
      <vt:lpstr>黑体</vt:lpstr>
      <vt:lpstr>Lucida Sans Unicode</vt:lpstr>
      <vt:lpstr>Arial Unicode MS</vt:lpstr>
      <vt:lpstr>Times New Roman</vt:lpstr>
      <vt:lpstr>隶书</vt:lpstr>
      <vt:lpstr>1_Office 主题​​</vt:lpstr>
      <vt:lpstr>2_Office 主题​​</vt:lpstr>
      <vt:lpstr>Paint.Picture</vt:lpstr>
      <vt:lpstr>Paint.Picture</vt:lpstr>
      <vt:lpstr>Paint.Picture</vt:lpstr>
      <vt:lpstr>PowerPoint 演示文稿</vt:lpstr>
      <vt:lpstr>课程结构（按教材划分）</vt:lpstr>
      <vt:lpstr>PowerPoint 演示文稿</vt:lpstr>
      <vt:lpstr>3.1 栈</vt:lpstr>
      <vt:lpstr>3.1 栈</vt:lpstr>
      <vt:lpstr>3.1 栈</vt:lpstr>
      <vt:lpstr>3.1 栈</vt:lpstr>
      <vt:lpstr>3.1 栈</vt:lpstr>
      <vt:lpstr>3.1 栈</vt:lpstr>
      <vt:lpstr>3.1 栈</vt:lpstr>
      <vt:lpstr>3.1 栈</vt:lpstr>
      <vt:lpstr>3.1 栈</vt:lpstr>
      <vt:lpstr>3.1 栈</vt:lpstr>
      <vt:lpstr>3.1 栈</vt:lpstr>
      <vt:lpstr>3.1 栈</vt:lpstr>
      <vt:lpstr>3.1 栈</vt:lpstr>
      <vt:lpstr>3.1 栈</vt:lpstr>
      <vt:lpstr>3.1 栈</vt:lpstr>
      <vt:lpstr>练习</vt:lpstr>
      <vt:lpstr>栈的知识点总结</vt:lpstr>
      <vt:lpstr>练习</vt:lpstr>
      <vt:lpstr>PowerPoint 演示文稿</vt:lpstr>
      <vt:lpstr>3.2 栈的应用</vt:lpstr>
      <vt:lpstr>3.2 栈的应用</vt:lpstr>
      <vt:lpstr>3.2 栈的应用</vt:lpstr>
      <vt:lpstr>3.2 栈的应用</vt:lpstr>
      <vt:lpstr>3.2 栈的应用</vt:lpstr>
      <vt:lpstr>3.2 栈的应用</vt:lpstr>
      <vt:lpstr>3.2 栈的应用</vt:lpstr>
      <vt:lpstr>3.2 栈的应用</vt:lpstr>
      <vt:lpstr>3.2 栈的应用</vt:lpstr>
      <vt:lpstr>3.2 栈的应用</vt:lpstr>
      <vt:lpstr>3.2 栈的应用</vt:lpstr>
      <vt:lpstr>3.2 栈的应用</vt:lpstr>
      <vt:lpstr>PowerPoint 演示文稿</vt:lpstr>
      <vt:lpstr>3.3 栈与递归实现</vt:lpstr>
      <vt:lpstr>3.3 栈与递归实现</vt:lpstr>
      <vt:lpstr>3.3 栈与递归实现</vt:lpstr>
      <vt:lpstr>3.3 栈与递归实现</vt:lpstr>
      <vt:lpstr>3.3 栈与递归实现</vt:lpstr>
      <vt:lpstr>3.3 栈与递归实现</vt:lpstr>
      <vt:lpstr>3.3 栈与递归实现</vt:lpstr>
      <vt:lpstr>3.3 栈与递归实现</vt:lpstr>
      <vt:lpstr>3.3 栈与递归实现</vt:lpstr>
      <vt:lpstr>3.3 栈与递归实现</vt:lpstr>
      <vt:lpstr>PowerPoint 演示文稿</vt:lpstr>
      <vt:lpstr>3.4 队列</vt:lpstr>
      <vt:lpstr>3.4 队列</vt:lpstr>
      <vt:lpstr>3.4 队列</vt:lpstr>
      <vt:lpstr>3.4 队列</vt:lpstr>
      <vt:lpstr>3.4 队列</vt:lpstr>
      <vt:lpstr>3.4 队列</vt:lpstr>
      <vt:lpstr>3.4 队列</vt:lpstr>
      <vt:lpstr>3.4 队列</vt:lpstr>
      <vt:lpstr>3.4 队列</vt:lpstr>
      <vt:lpstr>3.4 队列</vt:lpstr>
      <vt:lpstr>3.4 队列</vt:lpstr>
      <vt:lpstr>3.4 队列</vt:lpstr>
      <vt:lpstr>3.4 队列</vt:lpstr>
      <vt:lpstr>练习</vt:lpstr>
      <vt:lpstr>PowerPoint 演示文稿</vt:lpstr>
      <vt:lpstr>PowerPoint 演示文稿</vt:lpstr>
    </vt:vector>
  </TitlesOfParts>
  <Company>SZU</Company>
  <LinksUpToDate>false</LinksUpToDate>
  <SharedDoc>false</SharedDoc>
  <HyperlinksChanged>false</HyperlinksChanged>
  <AppVersion>14.0000</AppVersion>
  <Manager>BJC</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教学讲义</dc:title>
  <dc:creator>白; BJC</dc:creator>
  <dc:subject>C++</dc:subject>
  <cp:lastModifiedBy>bai</cp:lastModifiedBy>
  <cp:revision>2130</cp:revision>
  <dcterms:created xsi:type="dcterms:W3CDTF">2014-01-11T15:22:00Z</dcterms:created>
  <dcterms:modified xsi:type="dcterms:W3CDTF">2022-09-14T08:45:54Z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2052-11.8.2.8361</vt:lpwstr>
  </property>
  <property fmtid="{D5CDD505-2E9C-101B-9397-08002B2CF9AE}" pid="3" name="ICV">
    <vt:lpwstr>4508C18874504005A6F10EDD074A32CB</vt:lpwstr>
  </property>
</Properties>
</file>