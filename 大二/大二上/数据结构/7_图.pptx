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embedTrueTypeFonts="1" saveSubsetFonts="1">
  <p:sldMasterIdLst>
    <p:sldMasterId id="2147483648" r:id="rId1"/>
  </p:sldMasterIdLst>
  <p:notesMasterIdLst>
    <p:notesMasterId r:id="rId152"/>
  </p:notesMasterIdLst>
  <p:handoutMasterIdLst>
    <p:handoutMasterId r:id="rId153"/>
  </p:handoutMasterIdLst>
  <p:sldIdLst>
    <p:sldId id="606" r:id="rId3"/>
    <p:sldId id="699" r:id="rId4"/>
    <p:sldId id="282" r:id="rId5"/>
    <p:sldId id="2061" r:id="rId6"/>
    <p:sldId id="2243" r:id="rId7"/>
    <p:sldId id="2244" r:id="rId8"/>
    <p:sldId id="2062" r:id="rId9"/>
    <p:sldId id="2064" r:id="rId10"/>
    <p:sldId id="2063" r:id="rId11"/>
    <p:sldId id="2065" r:id="rId12"/>
    <p:sldId id="2066" r:id="rId13"/>
    <p:sldId id="2067" r:id="rId14"/>
    <p:sldId id="2068" r:id="rId15"/>
    <p:sldId id="2069" r:id="rId16"/>
    <p:sldId id="2070" r:id="rId17"/>
    <p:sldId id="2071" r:id="rId18"/>
    <p:sldId id="2072" r:id="rId19"/>
    <p:sldId id="2073" r:id="rId20"/>
    <p:sldId id="2077" r:id="rId21"/>
    <p:sldId id="2075" r:id="rId22"/>
    <p:sldId id="2078" r:id="rId23"/>
    <p:sldId id="2079" r:id="rId24"/>
    <p:sldId id="2080" r:id="rId25"/>
    <p:sldId id="2081" r:id="rId26"/>
    <p:sldId id="2082" r:id="rId27"/>
    <p:sldId id="2083" r:id="rId28"/>
    <p:sldId id="2084" r:id="rId29"/>
    <p:sldId id="2212" r:id="rId30"/>
    <p:sldId id="2085" r:id="rId31"/>
    <p:sldId id="2086" r:id="rId32"/>
    <p:sldId id="2213" r:id="rId33"/>
    <p:sldId id="2214" r:id="rId34"/>
    <p:sldId id="2215" r:id="rId35"/>
    <p:sldId id="2216" r:id="rId36"/>
    <p:sldId id="2217" r:id="rId37"/>
    <p:sldId id="2218" r:id="rId38"/>
    <p:sldId id="2224" r:id="rId39"/>
    <p:sldId id="2219" r:id="rId40"/>
    <p:sldId id="2220" r:id="rId41"/>
    <p:sldId id="2221" r:id="rId42"/>
    <p:sldId id="2222" r:id="rId43"/>
    <p:sldId id="2225" r:id="rId44"/>
    <p:sldId id="2226" r:id="rId45"/>
    <p:sldId id="2228" r:id="rId46"/>
    <p:sldId id="2229" r:id="rId47"/>
    <p:sldId id="2230" r:id="rId48"/>
    <p:sldId id="2231" r:id="rId49"/>
    <p:sldId id="2232" r:id="rId50"/>
    <p:sldId id="2233" r:id="rId51"/>
    <p:sldId id="2234" r:id="rId52"/>
    <p:sldId id="2235" r:id="rId53"/>
    <p:sldId id="2237" r:id="rId54"/>
    <p:sldId id="2239" r:id="rId55"/>
    <p:sldId id="2238" r:id="rId56"/>
    <p:sldId id="2241" r:id="rId57"/>
    <p:sldId id="2240" r:id="rId58"/>
    <p:sldId id="2249" r:id="rId59"/>
    <p:sldId id="2250" r:id="rId60"/>
    <p:sldId id="2242" r:id="rId61"/>
    <p:sldId id="2252" r:id="rId62"/>
    <p:sldId id="2253" r:id="rId63"/>
    <p:sldId id="2255" r:id="rId64"/>
    <p:sldId id="2254" r:id="rId65"/>
    <p:sldId id="2256" r:id="rId66"/>
    <p:sldId id="2257" r:id="rId67"/>
    <p:sldId id="2258" r:id="rId68"/>
    <p:sldId id="2259" r:id="rId69"/>
    <p:sldId id="2260" r:id="rId70"/>
    <p:sldId id="2261" r:id="rId71"/>
    <p:sldId id="2262" r:id="rId72"/>
    <p:sldId id="2263" r:id="rId73"/>
    <p:sldId id="2264" r:id="rId74"/>
    <p:sldId id="2269" r:id="rId75"/>
    <p:sldId id="2265" r:id="rId76"/>
    <p:sldId id="2245" r:id="rId77"/>
    <p:sldId id="2266" r:id="rId78"/>
    <p:sldId id="2267" r:id="rId79"/>
    <p:sldId id="2271" r:id="rId80"/>
    <p:sldId id="2272" r:id="rId81"/>
    <p:sldId id="2273" r:id="rId82"/>
    <p:sldId id="2268" r:id="rId83"/>
    <p:sldId id="2274" r:id="rId84"/>
    <p:sldId id="2275" r:id="rId85"/>
    <p:sldId id="2276" r:id="rId86"/>
    <p:sldId id="2378" r:id="rId87"/>
    <p:sldId id="2379" r:id="rId88"/>
    <p:sldId id="2381" r:id="rId89"/>
    <p:sldId id="2435" r:id="rId90"/>
    <p:sldId id="2437" r:id="rId91"/>
    <p:sldId id="2439" r:id="rId92"/>
    <p:sldId id="2438" r:id="rId93"/>
    <p:sldId id="2436" r:id="rId94"/>
    <p:sldId id="2440" r:id="rId95"/>
    <p:sldId id="2441" r:id="rId96"/>
    <p:sldId id="2491" r:id="rId97"/>
    <p:sldId id="2492" r:id="rId98"/>
    <p:sldId id="2493" r:id="rId99"/>
    <p:sldId id="2494" r:id="rId100"/>
    <p:sldId id="2496" r:id="rId101"/>
    <p:sldId id="2498" r:id="rId102"/>
    <p:sldId id="2497" r:id="rId103"/>
    <p:sldId id="2501" r:id="rId104"/>
    <p:sldId id="2499" r:id="rId105"/>
    <p:sldId id="2500" r:id="rId106"/>
    <p:sldId id="2502" r:id="rId107"/>
    <p:sldId id="2503" r:id="rId108"/>
    <p:sldId id="2504" r:id="rId109"/>
    <p:sldId id="2505" r:id="rId110"/>
    <p:sldId id="2507" r:id="rId111"/>
    <p:sldId id="2508" r:id="rId112"/>
    <p:sldId id="2510" r:id="rId113"/>
    <p:sldId id="2512" r:id="rId114"/>
    <p:sldId id="2514" r:id="rId115"/>
    <p:sldId id="2513" r:id="rId116"/>
    <p:sldId id="2515" r:id="rId117"/>
    <p:sldId id="2516" r:id="rId118"/>
    <p:sldId id="2517" r:id="rId119"/>
    <p:sldId id="2572" r:id="rId120"/>
    <p:sldId id="2573" r:id="rId121"/>
    <p:sldId id="2574" r:id="rId122"/>
    <p:sldId id="2518" r:id="rId123"/>
    <p:sldId id="2519" r:id="rId124"/>
    <p:sldId id="2520" r:id="rId125"/>
    <p:sldId id="2246" r:id="rId126"/>
    <p:sldId id="2247" r:id="rId127"/>
    <p:sldId id="2575" r:id="rId128"/>
    <p:sldId id="2521" r:id="rId129"/>
    <p:sldId id="2523" r:id="rId130"/>
    <p:sldId id="2522" r:id="rId131"/>
    <p:sldId id="2524" r:id="rId132"/>
    <p:sldId id="2525" r:id="rId133"/>
    <p:sldId id="2526" r:id="rId134"/>
    <p:sldId id="2527" r:id="rId135"/>
    <p:sldId id="2528" r:id="rId136"/>
    <p:sldId id="2529" r:id="rId137"/>
    <p:sldId id="2557" r:id="rId138"/>
    <p:sldId id="2546" r:id="rId139"/>
    <p:sldId id="2547" r:id="rId140"/>
    <p:sldId id="2548" r:id="rId141"/>
    <p:sldId id="2550" r:id="rId142"/>
    <p:sldId id="2551" r:id="rId143"/>
    <p:sldId id="2552" r:id="rId144"/>
    <p:sldId id="2553" r:id="rId145"/>
    <p:sldId id="2554" r:id="rId146"/>
    <p:sldId id="2555" r:id="rId147"/>
    <p:sldId id="612" r:id="rId148"/>
    <p:sldId id="2556" r:id="rId149"/>
    <p:sldId id="1916" r:id="rId150"/>
    <p:sldId id="613" r:id="rId151"/>
  </p:sldIdLst>
  <p:sldSz cx="12192000" cy="6858000"/>
  <p:notesSz cx="6858000" cy="9144000"/>
  <p:embeddedFontLst>
    <p:embeddedFont>
      <p:font typeface="微软雅黑" panose="020B0503020204020204" pitchFamily="34" charset="-122"/>
      <p:regular r:id="rId158"/>
    </p:embeddedFont>
    <p:embeddedFont>
      <p:font typeface="Tahoma" panose="020B0604030504040204" charset="0"/>
      <p:regular r:id="rId159"/>
      <p:bold r:id="rId160"/>
    </p:embeddedFont>
    <p:embeddedFont>
      <p:font typeface="Garamond" panose="02020404030301010803" pitchFamily="18" charset="0"/>
      <p:regular r:id="rId161"/>
      <p:bold r:id="rId162"/>
      <p:italic r:id="rId163"/>
    </p:embeddedFont>
    <p:embeddedFont>
      <p:font typeface="楷体" panose="02010609060101010101" charset="-122"/>
      <p:regular r:id="rId164"/>
    </p:embeddedFont>
    <p:embeddedFont>
      <p:font typeface="黑体" panose="02010609060101010101" pitchFamily="2" charset="-122"/>
      <p:regular r:id="rId165"/>
    </p:embeddedFont>
    <p:embeddedFont>
      <p:font typeface="隶书" panose="02010509060101010101" pitchFamily="49" charset="-122"/>
      <p:regular r:id="rId166"/>
    </p:embeddedFont>
    <p:embeddedFont>
      <p:font typeface="Segoe Print" panose="02000600000000000000" charset="0"/>
      <p:regular r:id="rId167"/>
      <p:bold r:id="rId168"/>
    </p:embeddedFont>
  </p:embeddedFontLst>
  <p:custDataLst>
    <p:tags r:id="rId169"/>
  </p:custDataLst>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odongdongzjhw" initials="g" lastIdx="16" clrIdx="0"/>
  <p:cmAuthor id="2" name="Wuqijun" initials="W" lastIdx="7"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0" d="100"/>
          <a:sy n="110" d="100"/>
        </p:scale>
        <p:origin x="594" y="102"/>
      </p:cViewPr>
      <p:guideLst>
        <p:guide orient="horz" pos="391"/>
        <p:guide orient="horz" pos="1208"/>
        <p:guide orient="horz" pos="4106"/>
        <p:guide orient="horz" pos="3210"/>
        <p:guide orient="horz" pos="2874"/>
        <p:guide pos="3762"/>
        <p:guide pos="888"/>
        <p:guide pos="7650"/>
        <p:guide pos="6976"/>
        <p:guide pos="1346"/>
        <p:guide pos="6375"/>
      </p:guideLst>
    </p:cSldViewPr>
  </p:slideViewPr>
  <p:notesTextViewPr>
    <p:cViewPr>
      <p:scale>
        <a:sx n="100" d="100"/>
        <a:sy n="100" d="100"/>
      </p:scale>
      <p:origin x="0" y="0"/>
    </p:cViewPr>
  </p:notesTextViewPr>
  <p:notesViewPr>
    <p:cSldViewPr>
      <p:cViewPr varScale="1">
        <p:scale>
          <a:sx n="67" d="100"/>
          <a:sy n="67" d="100"/>
        </p:scale>
        <p:origin x="-3360" y="-108"/>
      </p:cViewPr>
      <p:guideLst>
        <p:guide orient="horz" pos="2956"/>
        <p:guide pos="2116"/>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9" Type="http://schemas.openxmlformats.org/officeDocument/2006/relationships/tags" Target="tags/tag12.xml"/><Relationship Id="rId168" Type="http://schemas.openxmlformats.org/officeDocument/2006/relationships/font" Target="fonts/font11.fntdata"/><Relationship Id="rId167" Type="http://schemas.openxmlformats.org/officeDocument/2006/relationships/font" Target="fonts/font10.fntdata"/><Relationship Id="rId166" Type="http://schemas.openxmlformats.org/officeDocument/2006/relationships/font" Target="fonts/font9.fntdata"/><Relationship Id="rId165" Type="http://schemas.openxmlformats.org/officeDocument/2006/relationships/font" Target="fonts/font8.fntdata"/><Relationship Id="rId164" Type="http://schemas.openxmlformats.org/officeDocument/2006/relationships/font" Target="fonts/font7.fntdata"/><Relationship Id="rId163" Type="http://schemas.openxmlformats.org/officeDocument/2006/relationships/font" Target="fonts/font6.fntdata"/><Relationship Id="rId162" Type="http://schemas.openxmlformats.org/officeDocument/2006/relationships/font" Target="fonts/font5.fntdata"/><Relationship Id="rId161" Type="http://schemas.openxmlformats.org/officeDocument/2006/relationships/font" Target="fonts/font4.fntdata"/><Relationship Id="rId160" Type="http://schemas.openxmlformats.org/officeDocument/2006/relationships/font" Target="fonts/font3.fntdata"/><Relationship Id="rId16" Type="http://schemas.openxmlformats.org/officeDocument/2006/relationships/slide" Target="slides/slide14.xml"/><Relationship Id="rId159" Type="http://schemas.openxmlformats.org/officeDocument/2006/relationships/font" Target="fonts/font2.fntdata"/><Relationship Id="rId158" Type="http://schemas.openxmlformats.org/officeDocument/2006/relationships/font" Target="fonts/font1.fntdata"/><Relationship Id="rId157" Type="http://schemas.openxmlformats.org/officeDocument/2006/relationships/commentAuthors" Target="commentAuthors.xml"/><Relationship Id="rId156" Type="http://schemas.openxmlformats.org/officeDocument/2006/relationships/tableStyles" Target="tableStyles.xml"/><Relationship Id="rId155" Type="http://schemas.openxmlformats.org/officeDocument/2006/relationships/viewProps" Target="viewProps.xml"/><Relationship Id="rId154" Type="http://schemas.openxmlformats.org/officeDocument/2006/relationships/presProps" Target="presProps.xml"/><Relationship Id="rId153" Type="http://schemas.openxmlformats.org/officeDocument/2006/relationships/handoutMaster" Target="handoutMasters/handoutMaster1.xml"/><Relationship Id="rId152" Type="http://schemas.openxmlformats.org/officeDocument/2006/relationships/notesMaster" Target="notesMasters/notesMaster1.xml"/><Relationship Id="rId151" Type="http://schemas.openxmlformats.org/officeDocument/2006/relationships/slide" Target="slides/slide149.xml"/><Relationship Id="rId150" Type="http://schemas.openxmlformats.org/officeDocument/2006/relationships/slide" Target="slides/slide148.xml"/><Relationship Id="rId15" Type="http://schemas.openxmlformats.org/officeDocument/2006/relationships/slide" Target="slides/slide13.xml"/><Relationship Id="rId149" Type="http://schemas.openxmlformats.org/officeDocument/2006/relationships/slide" Target="slides/slide147.xml"/><Relationship Id="rId148" Type="http://schemas.openxmlformats.org/officeDocument/2006/relationships/slide" Target="slides/slide146.xml"/><Relationship Id="rId147" Type="http://schemas.openxmlformats.org/officeDocument/2006/relationships/slide" Target="slides/slide145.xml"/><Relationship Id="rId146" Type="http://schemas.openxmlformats.org/officeDocument/2006/relationships/slide" Target="slides/slide144.xml"/><Relationship Id="rId145" Type="http://schemas.openxmlformats.org/officeDocument/2006/relationships/slide" Target="slides/slide143.xml"/><Relationship Id="rId144" Type="http://schemas.openxmlformats.org/officeDocument/2006/relationships/slide" Target="slides/slide142.xml"/><Relationship Id="rId143" Type="http://schemas.openxmlformats.org/officeDocument/2006/relationships/slide" Target="slides/slide141.xml"/><Relationship Id="rId142" Type="http://schemas.openxmlformats.org/officeDocument/2006/relationships/slide" Target="slides/slide140.xml"/><Relationship Id="rId141" Type="http://schemas.openxmlformats.org/officeDocument/2006/relationships/slide" Target="slides/slide139.xml"/><Relationship Id="rId140" Type="http://schemas.openxmlformats.org/officeDocument/2006/relationships/slide" Target="slides/slide138.xml"/><Relationship Id="rId14" Type="http://schemas.openxmlformats.org/officeDocument/2006/relationships/slide" Target="slides/slide12.xml"/><Relationship Id="rId139" Type="http://schemas.openxmlformats.org/officeDocument/2006/relationships/slide" Target="slides/slide137.xml"/><Relationship Id="rId138" Type="http://schemas.openxmlformats.org/officeDocument/2006/relationships/slide" Target="slides/slide136.xml"/><Relationship Id="rId137" Type="http://schemas.openxmlformats.org/officeDocument/2006/relationships/slide" Target="slides/slide135.xml"/><Relationship Id="rId136" Type="http://schemas.openxmlformats.org/officeDocument/2006/relationships/slide" Target="slides/slide134.xml"/><Relationship Id="rId135" Type="http://schemas.openxmlformats.org/officeDocument/2006/relationships/slide" Target="slides/slide133.xml"/><Relationship Id="rId134" Type="http://schemas.openxmlformats.org/officeDocument/2006/relationships/slide" Target="slides/slide132.xml"/><Relationship Id="rId133" Type="http://schemas.openxmlformats.org/officeDocument/2006/relationships/slide" Target="slides/slide131.xml"/><Relationship Id="rId132" Type="http://schemas.openxmlformats.org/officeDocument/2006/relationships/slide" Target="slides/slide130.xml"/><Relationship Id="rId131" Type="http://schemas.openxmlformats.org/officeDocument/2006/relationships/slide" Target="slides/slide129.xml"/><Relationship Id="rId130" Type="http://schemas.openxmlformats.org/officeDocument/2006/relationships/slide" Target="slides/slide128.xml"/><Relationship Id="rId13" Type="http://schemas.openxmlformats.org/officeDocument/2006/relationships/slide" Target="slides/slide11.xml"/><Relationship Id="rId129" Type="http://schemas.openxmlformats.org/officeDocument/2006/relationships/slide" Target="slides/slide127.xml"/><Relationship Id="rId128" Type="http://schemas.openxmlformats.org/officeDocument/2006/relationships/slide" Target="slides/slide126.xml"/><Relationship Id="rId127" Type="http://schemas.openxmlformats.org/officeDocument/2006/relationships/slide" Target="slides/slide125.xml"/><Relationship Id="rId126" Type="http://schemas.openxmlformats.org/officeDocument/2006/relationships/slide" Target="slides/slide124.xml"/><Relationship Id="rId125" Type="http://schemas.openxmlformats.org/officeDocument/2006/relationships/slide" Target="slides/slide123.xml"/><Relationship Id="rId124" Type="http://schemas.openxmlformats.org/officeDocument/2006/relationships/slide" Target="slides/slide122.xml"/><Relationship Id="rId123" Type="http://schemas.openxmlformats.org/officeDocument/2006/relationships/slide" Target="slides/slide121.xml"/><Relationship Id="rId122" Type="http://schemas.openxmlformats.org/officeDocument/2006/relationships/slide" Target="slides/slide120.xml"/><Relationship Id="rId121" Type="http://schemas.openxmlformats.org/officeDocument/2006/relationships/slide" Target="slides/slide119.xml"/><Relationship Id="rId120" Type="http://schemas.openxmlformats.org/officeDocument/2006/relationships/slide" Target="slides/slide118.xml"/><Relationship Id="rId12" Type="http://schemas.openxmlformats.org/officeDocument/2006/relationships/slide" Target="slides/slide10.xml"/><Relationship Id="rId119" Type="http://schemas.openxmlformats.org/officeDocument/2006/relationships/slide" Target="slides/slide117.xml"/><Relationship Id="rId118" Type="http://schemas.openxmlformats.org/officeDocument/2006/relationships/slide" Target="slides/slide116.xml"/><Relationship Id="rId117" Type="http://schemas.openxmlformats.org/officeDocument/2006/relationships/slide" Target="slides/slide115.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033BA84-6C1D-4F93-A9F4-04B92CE1945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A8FCAEF-2C49-435D-B9DA-BA0CC419F842}"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8788"/>
          </a:xfrm>
          <a:prstGeom prst="rect">
            <a:avLst/>
          </a:prstGeom>
          <a:noFill/>
          <a:ln w="9525">
            <a:noFill/>
            <a:miter lim="800000"/>
          </a:ln>
        </p:spPr>
        <p:txBody>
          <a:bodyPr vert="horz" wrap="square" lIns="91440" tIns="45720" rIns="91440" bIns="45720" numCol="1" anchor="t" anchorCtr="0" compatLnSpc="1"/>
          <a:lstStyle>
            <a:lvl1pPr>
              <a:defRPr sz="1200"/>
            </a:lvl1pPr>
          </a:lstStyle>
          <a:p>
            <a:endParaRPr lang="zh-CN" altLang="zh-CN"/>
          </a:p>
        </p:txBody>
      </p:sp>
      <p:sp>
        <p:nvSpPr>
          <p:cNvPr id="2051" name="日期占位符 2"/>
          <p:cNvSpPr>
            <a:spLocks noGrp="1" noChangeArrowheads="1"/>
          </p:cNvSpPr>
          <p:nvPr>
            <p:ph type="dt" idx="1"/>
          </p:nvPr>
        </p:nvSpPr>
        <p:spPr bwMode="auto">
          <a:xfrm>
            <a:off x="3884613" y="0"/>
            <a:ext cx="2971800" cy="458788"/>
          </a:xfrm>
          <a:prstGeom prst="rect">
            <a:avLst/>
          </a:prstGeom>
          <a:noFill/>
          <a:ln w="9525">
            <a:noFill/>
            <a:miter lim="800000"/>
          </a:ln>
        </p:spPr>
        <p:txBody>
          <a:bodyPr vert="horz" wrap="square" lIns="91440" tIns="45720" rIns="91440" bIns="45720" numCol="1" anchor="t" anchorCtr="0" compatLnSpc="1"/>
          <a:lstStyle>
            <a:lvl1pPr algn="r">
              <a:defRPr/>
            </a:lvl1pPr>
          </a:lstStyle>
          <a:p>
            <a:fld id="{9DD59B10-E385-4D3C-A0B0-F174EA9AA91B}" type="datetime1">
              <a:rPr lang="zh-CN" altLang="en-US"/>
            </a:fld>
            <a:endParaRPr lang="zh-CN" altLang="en-US" sz="1200"/>
          </a:p>
        </p:txBody>
      </p:sp>
      <p:sp>
        <p:nvSpPr>
          <p:cNvPr id="2052" name="幻灯片图像占位符 3"/>
          <p:cNvSpPr>
            <a:spLocks noGrp="1" noRot="1" noChangeAspect="1" noChangeArrowheads="1"/>
          </p:cNvSpPr>
          <p:nvPr>
            <p:ph type="sldImg" idx="2"/>
          </p:nvPr>
        </p:nvSpPr>
        <p:spPr bwMode="auto">
          <a:xfrm>
            <a:off x="685800" y="1143000"/>
            <a:ext cx="5486400" cy="3086100"/>
          </a:xfrm>
          <a:prstGeom prst="rect">
            <a:avLst/>
          </a:prstGeom>
          <a:noFill/>
          <a:ln w="12700" cmpd="sng">
            <a:noFill/>
            <a:bevel/>
          </a:ln>
        </p:spPr>
      </p:sp>
      <p:sp>
        <p:nvSpPr>
          <p:cNvPr id="2053" name="备注占位符 4"/>
          <p:cNvSpPr>
            <a:spLocks noGrp="1" noRot="1" noChangeAspect="1" noChangeArrowheads="1"/>
          </p:cNvSpPr>
          <p:nvPr/>
        </p:nvSpPr>
        <p:spPr bwMode="auto">
          <a:xfrm>
            <a:off x="685800" y="4400550"/>
            <a:ext cx="5486400" cy="3600450"/>
          </a:xfrm>
          <a:prstGeom prst="rect">
            <a:avLst/>
          </a:prstGeom>
          <a:noFill/>
          <a:ln w="12700" cmpd="sng">
            <a:noFill/>
            <a:bevel/>
          </a:ln>
        </p:spPr>
        <p:txBody>
          <a:bodyPr anchor="ctr"/>
          <a:lstStyle/>
          <a:p>
            <a:pPr defTabSz="0" eaLnBrk="0" hangingPunct="0">
              <a:spcBef>
                <a:spcPct val="30000"/>
              </a:spcBef>
              <a:buFontTx/>
              <a:buNone/>
            </a:pPr>
            <a:r>
              <a:rPr lang="zh-CN" altLang="en-US" sz="1200"/>
              <a:t>单击此处编辑母版文本样式</a:t>
            </a:r>
            <a:endParaRPr lang="zh-CN" altLang="en-US" sz="1200"/>
          </a:p>
          <a:p>
            <a:pPr defTabSz="0" eaLnBrk="0" hangingPunct="0">
              <a:spcBef>
                <a:spcPct val="30000"/>
              </a:spcBef>
              <a:buFontTx/>
              <a:buNone/>
            </a:pPr>
            <a:r>
              <a:rPr lang="zh-CN" altLang="en-US" sz="1200"/>
              <a:t>第二级</a:t>
            </a:r>
            <a:endParaRPr lang="zh-CN" altLang="en-US" sz="1200"/>
          </a:p>
          <a:p>
            <a:pPr defTabSz="0" eaLnBrk="0" hangingPunct="0">
              <a:spcBef>
                <a:spcPct val="30000"/>
              </a:spcBef>
              <a:buFontTx/>
              <a:buNone/>
            </a:pPr>
            <a:r>
              <a:rPr lang="zh-CN" altLang="en-US" sz="1200"/>
              <a:t>第三级</a:t>
            </a:r>
            <a:endParaRPr lang="zh-CN" altLang="en-US" sz="1200"/>
          </a:p>
          <a:p>
            <a:pPr defTabSz="0" eaLnBrk="0" hangingPunct="0">
              <a:spcBef>
                <a:spcPct val="30000"/>
              </a:spcBef>
              <a:buFontTx/>
              <a:buNone/>
            </a:pPr>
            <a:r>
              <a:rPr lang="zh-CN" altLang="en-US" sz="1200"/>
              <a:t>第四级</a:t>
            </a:r>
            <a:endParaRPr lang="zh-CN" altLang="en-US" sz="1200"/>
          </a:p>
          <a:p>
            <a:pPr defTabSz="0" eaLnBrk="0" hangingPunct="0">
              <a:spcBef>
                <a:spcPct val="30000"/>
              </a:spcBef>
              <a:buFontTx/>
              <a:buNone/>
            </a:pPr>
            <a:r>
              <a:rPr lang="zh-CN" altLang="en-US" sz="1200"/>
              <a:t>第五级</a:t>
            </a:r>
            <a:endParaRPr lang="zh-CN" altLang="en-US" sz="1200"/>
          </a:p>
        </p:txBody>
      </p:sp>
      <p:sp>
        <p:nvSpPr>
          <p:cNvPr id="2054" name="页脚占位符 5"/>
          <p:cNvSpPr>
            <a:spLocks noGrp="1" noChangeArrowheads="1"/>
          </p:cNvSpPr>
          <p:nvPr>
            <p:ph type="ftr" sz="quarter" idx="4"/>
          </p:nvPr>
        </p:nvSpPr>
        <p:spPr bwMode="auto">
          <a:xfrm>
            <a:off x="0" y="8685213"/>
            <a:ext cx="2971800" cy="458787"/>
          </a:xfrm>
          <a:prstGeom prst="rect">
            <a:avLst/>
          </a:prstGeom>
          <a:noFill/>
          <a:ln w="9525">
            <a:noFill/>
            <a:miter lim="800000"/>
          </a:ln>
        </p:spPr>
        <p:txBody>
          <a:bodyPr vert="horz" wrap="square" lIns="91440" tIns="45720" rIns="91440" bIns="45720" numCol="1" anchor="b" anchorCtr="0" compatLnSpc="1"/>
          <a:lstStyle>
            <a:lvl1pPr>
              <a:defRPr sz="1200"/>
            </a:lvl1pPr>
          </a:lstStyle>
          <a:p>
            <a:endParaRPr lang="zh-CN" altLang="zh-CN"/>
          </a:p>
        </p:txBody>
      </p:sp>
      <p:sp>
        <p:nvSpPr>
          <p:cNvPr id="2055" name="灯片编号占位符 6"/>
          <p:cNvSpPr>
            <a:spLocks noGrp="1" noChangeArrowheads="1"/>
          </p:cNvSpPr>
          <p:nvPr>
            <p:ph type="sldNum" sz="quarter" idx="5"/>
          </p:nvPr>
        </p:nvSpPr>
        <p:spPr bwMode="auto">
          <a:xfrm>
            <a:off x="3884613" y="8685213"/>
            <a:ext cx="2971800" cy="458787"/>
          </a:xfrm>
          <a:prstGeom prst="rect">
            <a:avLst/>
          </a:prstGeom>
          <a:noFill/>
          <a:ln w="9525">
            <a:noFill/>
            <a:miter lim="800000"/>
          </a:ln>
        </p:spPr>
        <p:txBody>
          <a:bodyPr vert="horz" wrap="square" lIns="91440" tIns="45720" rIns="91440" bIns="45720" numCol="1" anchor="b" anchorCtr="0" compatLnSpc="1"/>
          <a:lstStyle>
            <a:lvl1pPr algn="r">
              <a:defRPr/>
            </a:lvl1pPr>
          </a:lstStyle>
          <a:p>
            <a:fld id="{79B3A261-A9C9-4EB5-901F-E33BE236AA87}" type="slidenum">
              <a:rPr lang="zh-CN" altLang="en-US"/>
            </a:fld>
            <a:endParaRPr lang="zh-CN" altLang="en-US"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3085" name="文本框 42"/>
          <p:cNvSpPr>
            <a:spLocks noChangeArrowheads="1"/>
          </p:cNvSpPr>
          <p:nvPr userDrawn="1"/>
        </p:nvSpPr>
        <p:spPr bwMode="auto">
          <a:xfrm>
            <a:off x="5067300" y="6322695"/>
            <a:ext cx="2606675" cy="260350"/>
          </a:xfrm>
          <a:prstGeom prst="rect">
            <a:avLst/>
          </a:prstGeom>
          <a:noFill/>
          <a:ln w="9525">
            <a:noFill/>
            <a:miter lim="800000"/>
          </a:ln>
        </p:spPr>
        <p:txBody>
          <a:bodyPr>
            <a:spAutoFit/>
          </a:bodyPr>
          <a:lstStyle/>
          <a:p>
            <a:pPr algn="dist"/>
            <a:r>
              <a:rPr lang="zh-CN" altLang="en-US" sz="11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zh-CN" altLang="en-US" sz="11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15" name="直接连接符 40"/>
          <p:cNvSpPr>
            <a:spLocks noChangeShapeType="1"/>
          </p:cNvSpPr>
          <p:nvPr userDrawn="1"/>
        </p:nvSpPr>
        <p:spPr bwMode="auto">
          <a:xfrm>
            <a:off x="-7302" y="6426835"/>
            <a:ext cx="4319587" cy="12700"/>
          </a:xfrm>
          <a:prstGeom prst="line">
            <a:avLst/>
          </a:prstGeom>
          <a:noFill/>
          <a:ln w="3175" cap="flat" cmpd="sng">
            <a:solidFill>
              <a:srgbClr val="28A9D6"/>
            </a:solidFill>
            <a:bevel/>
          </a:ln>
        </p:spPr>
        <p:txBody>
          <a:bodyPr/>
          <a:lstStyle/>
          <a:p>
            <a:endParaRPr lang="zh-CN" altLang="en-US"/>
          </a:p>
        </p:txBody>
      </p:sp>
      <p:pic>
        <p:nvPicPr>
          <p:cNvPr id="20" name="图片 19" descr="图片1"/>
          <p:cNvPicPr>
            <a:picLocks noChangeAspect="1"/>
          </p:cNvPicPr>
          <p:nvPr userDrawn="1"/>
        </p:nvPicPr>
        <p:blipFill>
          <a:blip r:embed="rId2"/>
          <a:stretch>
            <a:fillRect/>
          </a:stretch>
        </p:blipFill>
        <p:spPr>
          <a:xfrm>
            <a:off x="4240530" y="6153785"/>
            <a:ext cx="869950" cy="582295"/>
          </a:xfrm>
          <a:prstGeom prst="rect">
            <a:avLst/>
          </a:prstGeom>
        </p:spPr>
      </p:pic>
      <p:sp>
        <p:nvSpPr>
          <p:cNvPr id="21" name="任意多边形 28"/>
          <p:cNvSpPr>
            <a:spLocks noChangeArrowheads="1"/>
          </p:cNvSpPr>
          <p:nvPr userDrawn="1"/>
        </p:nvSpPr>
        <p:spPr bwMode="auto">
          <a:xfrm flipV="1">
            <a:off x="174625" y="424180"/>
            <a:ext cx="4765040" cy="421005"/>
          </a:xfrm>
          <a:custGeom>
            <a:avLst/>
            <a:gdLst>
              <a:gd name="T0" fmla="*/ 167822 w 1386790"/>
              <a:gd name="T1" fmla="*/ 524933 h 524933"/>
              <a:gd name="T2" fmla="*/ 168846 w 1386790"/>
              <a:gd name="T3" fmla="*/ 524933 h 524933"/>
              <a:gd name="T4" fmla="*/ 168846 w 1386790"/>
              <a:gd name="T5" fmla="*/ 14598 h 524933"/>
              <a:gd name="T6" fmla="*/ 1386790 w 1386790"/>
              <a:gd name="T7" fmla="*/ 14598 h 524933"/>
              <a:gd name="T8" fmla="*/ 1386790 w 1386790"/>
              <a:gd name="T9" fmla="*/ 0 h 524933"/>
              <a:gd name="T10" fmla="*/ 167822 w 1386790"/>
              <a:gd name="T11" fmla="*/ 0 h 524933"/>
              <a:gd name="T12" fmla="*/ 152999 w 1386790"/>
              <a:gd name="T13" fmla="*/ 0 h 524933"/>
              <a:gd name="T14" fmla="*/ 152999 w 1386790"/>
              <a:gd name="T15" fmla="*/ 507260 h 524933"/>
              <a:gd name="T16" fmla="*/ 107280 w 1386790"/>
              <a:gd name="T17" fmla="*/ 507260 h 524933"/>
              <a:gd name="T18" fmla="*/ 107280 w 1386790"/>
              <a:gd name="T19" fmla="*/ 0 h 524933"/>
              <a:gd name="T20" fmla="*/ 0 w 1386790"/>
              <a:gd name="T21" fmla="*/ 0 h 524933"/>
              <a:gd name="T22" fmla="*/ 0 w 1386790"/>
              <a:gd name="T23" fmla="*/ 524932 h 524933"/>
              <a:gd name="T24" fmla="*/ 33834 w 1386790"/>
              <a:gd name="T25" fmla="*/ 524932 h 524933"/>
              <a:gd name="T26" fmla="*/ 33834 w 1386790"/>
              <a:gd name="T27" fmla="*/ 23810 h 524933"/>
              <a:gd name="T28" fmla="*/ 79553 w 1386790"/>
              <a:gd name="T29" fmla="*/ 23810 h 524933"/>
              <a:gd name="T30" fmla="*/ 79553 w 1386790"/>
              <a:gd name="T31" fmla="*/ 524932 h 524933"/>
              <a:gd name="T32" fmla="*/ 167822 w 1386790"/>
              <a:gd name="T33" fmla="*/ 524932 h 52493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86790"/>
              <a:gd name="T52" fmla="*/ 0 h 524933"/>
              <a:gd name="T53" fmla="*/ 1386790 w 1386790"/>
              <a:gd name="T54" fmla="*/ 524933 h 52493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w="25400" cap="flat" cmpd="sng">
            <a:noFill/>
            <a:bevel/>
          </a:ln>
        </p:spPr>
        <p:txBody>
          <a:bodyPr anchor="ctr"/>
          <a:lstStyle/>
          <a:p>
            <a:pPr algn="ctr"/>
            <a:endParaRPr lang="zh-CN" altLang="zh-CN">
              <a:solidFill>
                <a:srgbClr val="FFFFFF"/>
              </a:solidFill>
            </a:endParaRPr>
          </a:p>
        </p:txBody>
      </p:sp>
      <p:sp>
        <p:nvSpPr>
          <p:cNvPr id="1026" name="灯片编号占位符 3"/>
          <p:cNvSpPr>
            <a:spLocks noGrp="1" noChangeArrowheads="1"/>
          </p:cNvSpPr>
          <p:nvPr>
            <p:ph type="sldNum" sz="quarter" idx="4"/>
          </p:nvPr>
        </p:nvSpPr>
        <p:spPr bwMode="auto">
          <a:xfrm>
            <a:off x="11376025" y="648366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6_自定义版式">
    <p:spTree>
      <p:nvGrpSpPr>
        <p:cNvPr id="1" name=""/>
        <p:cNvGrpSpPr/>
        <p:nvPr/>
      </p:nvGrpSpPr>
      <p:grpSpPr>
        <a:xfrm>
          <a:off x="0" y="0"/>
          <a:ext cx="0" cy="0"/>
          <a:chOff x="0" y="0"/>
          <a:chExt cx="0" cy="0"/>
        </a:xfrm>
      </p:grpSpPr>
      <p:sp>
        <p:nvSpPr>
          <p:cNvPr id="21" name="任意多边形 28"/>
          <p:cNvSpPr>
            <a:spLocks noChangeArrowheads="1"/>
          </p:cNvSpPr>
          <p:nvPr userDrawn="1"/>
        </p:nvSpPr>
        <p:spPr bwMode="auto">
          <a:xfrm flipV="1">
            <a:off x="174625" y="424180"/>
            <a:ext cx="4765040" cy="421005"/>
          </a:xfrm>
          <a:custGeom>
            <a:avLst/>
            <a:gdLst>
              <a:gd name="T0" fmla="*/ 167822 w 1386790"/>
              <a:gd name="T1" fmla="*/ 524933 h 524933"/>
              <a:gd name="T2" fmla="*/ 168846 w 1386790"/>
              <a:gd name="T3" fmla="*/ 524933 h 524933"/>
              <a:gd name="T4" fmla="*/ 168846 w 1386790"/>
              <a:gd name="T5" fmla="*/ 14598 h 524933"/>
              <a:gd name="T6" fmla="*/ 1386790 w 1386790"/>
              <a:gd name="T7" fmla="*/ 14598 h 524933"/>
              <a:gd name="T8" fmla="*/ 1386790 w 1386790"/>
              <a:gd name="T9" fmla="*/ 0 h 524933"/>
              <a:gd name="T10" fmla="*/ 167822 w 1386790"/>
              <a:gd name="T11" fmla="*/ 0 h 524933"/>
              <a:gd name="T12" fmla="*/ 152999 w 1386790"/>
              <a:gd name="T13" fmla="*/ 0 h 524933"/>
              <a:gd name="T14" fmla="*/ 152999 w 1386790"/>
              <a:gd name="T15" fmla="*/ 507260 h 524933"/>
              <a:gd name="T16" fmla="*/ 107280 w 1386790"/>
              <a:gd name="T17" fmla="*/ 507260 h 524933"/>
              <a:gd name="T18" fmla="*/ 107280 w 1386790"/>
              <a:gd name="T19" fmla="*/ 0 h 524933"/>
              <a:gd name="T20" fmla="*/ 0 w 1386790"/>
              <a:gd name="T21" fmla="*/ 0 h 524933"/>
              <a:gd name="T22" fmla="*/ 0 w 1386790"/>
              <a:gd name="T23" fmla="*/ 524932 h 524933"/>
              <a:gd name="T24" fmla="*/ 33834 w 1386790"/>
              <a:gd name="T25" fmla="*/ 524932 h 524933"/>
              <a:gd name="T26" fmla="*/ 33834 w 1386790"/>
              <a:gd name="T27" fmla="*/ 23810 h 524933"/>
              <a:gd name="T28" fmla="*/ 79553 w 1386790"/>
              <a:gd name="T29" fmla="*/ 23810 h 524933"/>
              <a:gd name="T30" fmla="*/ 79553 w 1386790"/>
              <a:gd name="T31" fmla="*/ 524932 h 524933"/>
              <a:gd name="T32" fmla="*/ 167822 w 1386790"/>
              <a:gd name="T33" fmla="*/ 524932 h 52493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86790"/>
              <a:gd name="T52" fmla="*/ 0 h 524933"/>
              <a:gd name="T53" fmla="*/ 1386790 w 1386790"/>
              <a:gd name="T54" fmla="*/ 524933 h 52493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w="25400" cap="flat" cmpd="sng">
            <a:noFill/>
            <a:bevel/>
          </a:ln>
        </p:spPr>
        <p:txBody>
          <a:bodyPr anchor="ctr"/>
          <a:lstStyle/>
          <a:p>
            <a:pPr algn="ctr"/>
            <a:endParaRPr lang="zh-CN" altLang="zh-CN">
              <a:solidFill>
                <a:srgbClr val="FFFFFF"/>
              </a:solidFill>
            </a:endParaRPr>
          </a:p>
        </p:txBody>
      </p:sp>
      <p:sp>
        <p:nvSpPr>
          <p:cNvPr id="1026" name="灯片编号占位符 3"/>
          <p:cNvSpPr>
            <a:spLocks noGrp="1" noChangeArrowheads="1"/>
          </p:cNvSpPr>
          <p:nvPr>
            <p:ph type="sldNum" sz="quarter" idx="4"/>
          </p:nvPr>
        </p:nvSpPr>
        <p:spPr bwMode="auto">
          <a:xfrm>
            <a:off x="11376025" y="648366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sp>
        <p:nvSpPr>
          <p:cNvPr id="34" name="文本框 25"/>
          <p:cNvSpPr>
            <a:spLocks noChangeArrowheads="1"/>
          </p:cNvSpPr>
          <p:nvPr userDrawn="1"/>
        </p:nvSpPr>
        <p:spPr bwMode="auto">
          <a:xfrm>
            <a:off x="4707255" y="283210"/>
            <a:ext cx="2707640" cy="645160"/>
          </a:xfrm>
          <a:prstGeom prst="rect">
            <a:avLst/>
          </a:prstGeom>
          <a:noFill/>
          <a:ln w="9525">
            <a:noFill/>
            <a:miter lim="800000"/>
          </a:ln>
        </p:spPr>
        <p:txBody>
          <a:bodyPr wrap="square">
            <a:spAutoFit/>
          </a:bodyPr>
          <a:lstStyle/>
          <a:p>
            <a:pPr algn="dist"/>
            <a:r>
              <a:rPr lang="zh-CN" altLang="en-US" sz="3600" b="1"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上次回顾</a:t>
            </a:r>
            <a:endParaRPr lang="zh-CN" altLang="en-US" sz="3600" b="1"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33" name="直接连接符 23"/>
          <p:cNvSpPr>
            <a:spLocks noChangeShapeType="1"/>
          </p:cNvSpPr>
          <p:nvPr userDrawn="1"/>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grpSp>
        <p:nvGrpSpPr>
          <p:cNvPr id="33795" name="组合 129"/>
          <p:cNvGrpSpPr/>
          <p:nvPr userDrawn="1"/>
        </p:nvGrpSpPr>
        <p:grpSpPr>
          <a:xfrm>
            <a:off x="3529330" y="264478"/>
            <a:ext cx="615950" cy="584200"/>
            <a:chOff x="2439302" y="2313207"/>
            <a:chExt cx="481033" cy="481033"/>
          </a:xfrm>
        </p:grpSpPr>
        <p:sp>
          <p:nvSpPr>
            <p:cNvPr id="131" name="Oval 351"/>
            <p:cNvSpPr>
              <a:spLocks noChangeArrowheads="1"/>
            </p:cNvSpPr>
            <p:nvPr/>
          </p:nvSpPr>
          <p:spPr bwMode="auto">
            <a:xfrm>
              <a:off x="2439302" y="2313207"/>
              <a:ext cx="481033" cy="481033"/>
            </a:xfrm>
            <a:prstGeom prst="ellipse">
              <a:avLst/>
            </a:prstGeom>
            <a:solidFill>
              <a:srgbClr val="739BE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2" name="Freeform 352"/>
            <p:cNvSpPr/>
            <p:nvPr/>
          </p:nvSpPr>
          <p:spPr bwMode="auto">
            <a:xfrm>
              <a:off x="2537400" y="2475127"/>
              <a:ext cx="380571" cy="319113"/>
            </a:xfrm>
            <a:custGeom>
              <a:avLst/>
              <a:gdLst>
                <a:gd name="T0" fmla="*/ 138 w 203"/>
                <a:gd name="T1" fmla="*/ 0 h 170"/>
                <a:gd name="T2" fmla="*/ 112 w 203"/>
                <a:gd name="T3" fmla="*/ 27 h 170"/>
                <a:gd name="T4" fmla="*/ 115 w 203"/>
                <a:gd name="T5" fmla="*/ 31 h 170"/>
                <a:gd name="T6" fmla="*/ 0 w 203"/>
                <a:gd name="T7" fmla="*/ 97 h 170"/>
                <a:gd name="T8" fmla="*/ 73 w 203"/>
                <a:gd name="T9" fmla="*/ 170 h 170"/>
                <a:gd name="T10" fmla="*/ 76 w 203"/>
                <a:gd name="T11" fmla="*/ 170 h 170"/>
                <a:gd name="T12" fmla="*/ 203 w 203"/>
                <a:gd name="T13" fmla="*/ 60 h 170"/>
                <a:gd name="T14" fmla="*/ 152 w 203"/>
                <a:gd name="T15" fmla="*/ 9 h 170"/>
                <a:gd name="T16" fmla="*/ 149 w 203"/>
                <a:gd name="T17" fmla="*/ 11 h 170"/>
                <a:gd name="T18" fmla="*/ 138 w 203"/>
                <a:gd name="T19"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170">
                  <a:moveTo>
                    <a:pt x="138" y="0"/>
                  </a:moveTo>
                  <a:cubicBezTo>
                    <a:pt x="112" y="27"/>
                    <a:pt x="112" y="27"/>
                    <a:pt x="112" y="27"/>
                  </a:cubicBezTo>
                  <a:cubicBezTo>
                    <a:pt x="115" y="31"/>
                    <a:pt x="115" y="31"/>
                    <a:pt x="115" y="31"/>
                  </a:cubicBezTo>
                  <a:cubicBezTo>
                    <a:pt x="0" y="97"/>
                    <a:pt x="0" y="97"/>
                    <a:pt x="0" y="97"/>
                  </a:cubicBezTo>
                  <a:cubicBezTo>
                    <a:pt x="73" y="170"/>
                    <a:pt x="73" y="170"/>
                    <a:pt x="73" y="170"/>
                  </a:cubicBezTo>
                  <a:cubicBezTo>
                    <a:pt x="74" y="170"/>
                    <a:pt x="75" y="170"/>
                    <a:pt x="76" y="170"/>
                  </a:cubicBezTo>
                  <a:cubicBezTo>
                    <a:pt x="141" y="170"/>
                    <a:pt x="194" y="122"/>
                    <a:pt x="203" y="60"/>
                  </a:cubicBezTo>
                  <a:cubicBezTo>
                    <a:pt x="152" y="9"/>
                    <a:pt x="152" y="9"/>
                    <a:pt x="152" y="9"/>
                  </a:cubicBezTo>
                  <a:cubicBezTo>
                    <a:pt x="149" y="11"/>
                    <a:pt x="149" y="11"/>
                    <a:pt x="149" y="11"/>
                  </a:cubicBezTo>
                  <a:lnTo>
                    <a:pt x="138" y="0"/>
                  </a:lnTo>
                  <a:close/>
                </a:path>
              </a:pathLst>
            </a:custGeom>
            <a:solidFill>
              <a:srgbClr val="6188D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3" name="Rectangle 353"/>
            <p:cNvSpPr>
              <a:spLocks noChangeArrowheads="1"/>
            </p:cNvSpPr>
            <p:nvPr/>
          </p:nvSpPr>
          <p:spPr bwMode="auto">
            <a:xfrm>
              <a:off x="2537400" y="2491674"/>
              <a:ext cx="284838" cy="165466"/>
            </a:xfrm>
            <a:prstGeom prst="rect">
              <a:avLst/>
            </a:prstGeom>
            <a:solidFill>
              <a:srgbClr val="505A6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4" name="Freeform 354"/>
            <p:cNvSpPr/>
            <p:nvPr/>
          </p:nvSpPr>
          <p:spPr bwMode="auto">
            <a:xfrm>
              <a:off x="2563402" y="2471582"/>
              <a:ext cx="232834" cy="200923"/>
            </a:xfrm>
            <a:custGeom>
              <a:avLst/>
              <a:gdLst>
                <a:gd name="T0" fmla="*/ 124 w 124"/>
                <a:gd name="T1" fmla="*/ 93 h 107"/>
                <a:gd name="T2" fmla="*/ 124 w 124"/>
                <a:gd name="T3" fmla="*/ 2 h 107"/>
                <a:gd name="T4" fmla="*/ 114 w 124"/>
                <a:gd name="T5" fmla="*/ 1 h 107"/>
                <a:gd name="T6" fmla="*/ 104 w 124"/>
                <a:gd name="T7" fmla="*/ 0 h 107"/>
                <a:gd name="T8" fmla="*/ 79 w 124"/>
                <a:gd name="T9" fmla="*/ 4 h 107"/>
                <a:gd name="T10" fmla="*/ 62 w 124"/>
                <a:gd name="T11" fmla="*/ 10 h 107"/>
                <a:gd name="T12" fmla="*/ 45 w 124"/>
                <a:gd name="T13" fmla="*/ 4 h 107"/>
                <a:gd name="T14" fmla="*/ 20 w 124"/>
                <a:gd name="T15" fmla="*/ 0 h 107"/>
                <a:gd name="T16" fmla="*/ 10 w 124"/>
                <a:gd name="T17" fmla="*/ 1 h 107"/>
                <a:gd name="T18" fmla="*/ 0 w 124"/>
                <a:gd name="T19" fmla="*/ 2 h 107"/>
                <a:gd name="T20" fmla="*/ 0 w 124"/>
                <a:gd name="T21" fmla="*/ 93 h 107"/>
                <a:gd name="T22" fmla="*/ 48 w 124"/>
                <a:gd name="T23" fmla="*/ 99 h 107"/>
                <a:gd name="T24" fmla="*/ 62 w 124"/>
                <a:gd name="T25" fmla="*/ 107 h 107"/>
                <a:gd name="T26" fmla="*/ 76 w 124"/>
                <a:gd name="T27" fmla="*/ 99 h 107"/>
                <a:gd name="T28" fmla="*/ 124 w 124"/>
                <a:gd name="T29" fmla="*/ 9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4" h="107">
                  <a:moveTo>
                    <a:pt x="124" y="93"/>
                  </a:moveTo>
                  <a:cubicBezTo>
                    <a:pt x="124" y="2"/>
                    <a:pt x="124" y="2"/>
                    <a:pt x="124" y="2"/>
                  </a:cubicBezTo>
                  <a:cubicBezTo>
                    <a:pt x="114" y="1"/>
                    <a:pt x="114" y="1"/>
                    <a:pt x="114" y="1"/>
                  </a:cubicBezTo>
                  <a:cubicBezTo>
                    <a:pt x="111" y="1"/>
                    <a:pt x="107" y="0"/>
                    <a:pt x="104" y="0"/>
                  </a:cubicBezTo>
                  <a:cubicBezTo>
                    <a:pt x="95" y="0"/>
                    <a:pt x="87" y="1"/>
                    <a:pt x="79" y="4"/>
                  </a:cubicBezTo>
                  <a:cubicBezTo>
                    <a:pt x="73" y="5"/>
                    <a:pt x="67" y="7"/>
                    <a:pt x="62" y="10"/>
                  </a:cubicBezTo>
                  <a:cubicBezTo>
                    <a:pt x="57" y="7"/>
                    <a:pt x="51" y="5"/>
                    <a:pt x="45" y="4"/>
                  </a:cubicBezTo>
                  <a:cubicBezTo>
                    <a:pt x="37" y="1"/>
                    <a:pt x="29" y="0"/>
                    <a:pt x="20" y="0"/>
                  </a:cubicBezTo>
                  <a:cubicBezTo>
                    <a:pt x="17" y="0"/>
                    <a:pt x="13" y="1"/>
                    <a:pt x="10" y="1"/>
                  </a:cubicBezTo>
                  <a:cubicBezTo>
                    <a:pt x="0" y="2"/>
                    <a:pt x="0" y="2"/>
                    <a:pt x="0" y="2"/>
                  </a:cubicBezTo>
                  <a:cubicBezTo>
                    <a:pt x="0" y="93"/>
                    <a:pt x="0" y="93"/>
                    <a:pt x="0" y="93"/>
                  </a:cubicBezTo>
                  <a:cubicBezTo>
                    <a:pt x="48" y="99"/>
                    <a:pt x="48" y="99"/>
                    <a:pt x="48" y="99"/>
                  </a:cubicBezTo>
                  <a:cubicBezTo>
                    <a:pt x="51" y="100"/>
                    <a:pt x="62" y="107"/>
                    <a:pt x="62" y="107"/>
                  </a:cubicBezTo>
                  <a:cubicBezTo>
                    <a:pt x="62" y="107"/>
                    <a:pt x="73" y="100"/>
                    <a:pt x="76" y="99"/>
                  </a:cubicBezTo>
                  <a:cubicBezTo>
                    <a:pt x="76" y="99"/>
                    <a:pt x="102" y="91"/>
                    <a:pt x="124" y="93"/>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5" name="Freeform 355"/>
            <p:cNvSpPr/>
            <p:nvPr/>
          </p:nvSpPr>
          <p:spPr bwMode="auto">
            <a:xfrm>
              <a:off x="2668591" y="2484583"/>
              <a:ext cx="22456" cy="187922"/>
            </a:xfrm>
            <a:custGeom>
              <a:avLst/>
              <a:gdLst>
                <a:gd name="T0" fmla="*/ 0 w 12"/>
                <a:gd name="T1" fmla="*/ 96 h 100"/>
                <a:gd name="T2" fmla="*/ 6 w 12"/>
                <a:gd name="T3" fmla="*/ 100 h 100"/>
                <a:gd name="T4" fmla="*/ 12 w 12"/>
                <a:gd name="T5" fmla="*/ 96 h 100"/>
                <a:gd name="T6" fmla="*/ 12 w 12"/>
                <a:gd name="T7" fmla="*/ 0 h 100"/>
                <a:gd name="T8" fmla="*/ 6 w 12"/>
                <a:gd name="T9" fmla="*/ 3 h 100"/>
                <a:gd name="T10" fmla="*/ 0 w 12"/>
                <a:gd name="T11" fmla="*/ 0 h 100"/>
                <a:gd name="T12" fmla="*/ 0 w 12"/>
                <a:gd name="T13" fmla="*/ 96 h 100"/>
              </a:gdLst>
              <a:ahLst/>
              <a:cxnLst>
                <a:cxn ang="0">
                  <a:pos x="T0" y="T1"/>
                </a:cxn>
                <a:cxn ang="0">
                  <a:pos x="T2" y="T3"/>
                </a:cxn>
                <a:cxn ang="0">
                  <a:pos x="T4" y="T5"/>
                </a:cxn>
                <a:cxn ang="0">
                  <a:pos x="T6" y="T7"/>
                </a:cxn>
                <a:cxn ang="0">
                  <a:pos x="T8" y="T9"/>
                </a:cxn>
                <a:cxn ang="0">
                  <a:pos x="T10" y="T11"/>
                </a:cxn>
                <a:cxn ang="0">
                  <a:pos x="T12" y="T13"/>
                </a:cxn>
              </a:cxnLst>
              <a:rect l="0" t="0" r="r" b="b"/>
              <a:pathLst>
                <a:path w="12" h="100">
                  <a:moveTo>
                    <a:pt x="0" y="96"/>
                  </a:moveTo>
                  <a:cubicBezTo>
                    <a:pt x="3" y="98"/>
                    <a:pt x="6" y="100"/>
                    <a:pt x="6" y="100"/>
                  </a:cubicBezTo>
                  <a:cubicBezTo>
                    <a:pt x="6" y="100"/>
                    <a:pt x="9" y="98"/>
                    <a:pt x="12" y="96"/>
                  </a:cubicBezTo>
                  <a:cubicBezTo>
                    <a:pt x="12" y="0"/>
                    <a:pt x="12" y="0"/>
                    <a:pt x="12" y="0"/>
                  </a:cubicBezTo>
                  <a:cubicBezTo>
                    <a:pt x="10" y="1"/>
                    <a:pt x="8" y="2"/>
                    <a:pt x="6" y="3"/>
                  </a:cubicBezTo>
                  <a:cubicBezTo>
                    <a:pt x="4" y="2"/>
                    <a:pt x="2" y="1"/>
                    <a:pt x="0" y="0"/>
                  </a:cubicBezTo>
                  <a:lnTo>
                    <a:pt x="0" y="96"/>
                  </a:lnTo>
                  <a:close/>
                </a:path>
              </a:pathLst>
            </a:custGeom>
            <a:solidFill>
              <a:srgbClr val="E6E8E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blinds(horizontal)">
                                      <p:cBhvr>
                                        <p:cTn id="7" dur="5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sp>
        <p:nvSpPr>
          <p:cNvPr id="32" name="椭圆 24"/>
          <p:cNvSpPr>
            <a:spLocks noChangeArrowheads="1"/>
          </p:cNvSpPr>
          <p:nvPr userDrawn="1"/>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userDrawn="1"/>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sp>
        <p:nvSpPr>
          <p:cNvPr id="34" name="文本框 25"/>
          <p:cNvSpPr>
            <a:spLocks noChangeArrowheads="1"/>
          </p:cNvSpPr>
          <p:nvPr userDrawn="1"/>
        </p:nvSpPr>
        <p:spPr bwMode="auto">
          <a:xfrm>
            <a:off x="5044440" y="283210"/>
            <a:ext cx="2038350" cy="645160"/>
          </a:xfrm>
          <a:prstGeom prst="rect">
            <a:avLst/>
          </a:prstGeom>
          <a:noFill/>
          <a:ln w="9525">
            <a:noFill/>
            <a:miter lim="800000"/>
          </a:ln>
        </p:spPr>
        <p:txBody>
          <a:bodyPr wrap="square">
            <a:spAutoFit/>
          </a:bodyPr>
          <a:lstStyle/>
          <a:p>
            <a:pPr algn="dist"/>
            <a:r>
              <a:rPr lang="zh-CN" altLang="en-US" sz="3600" b="1"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总结</a:t>
            </a:r>
            <a:endParaRPr lang="zh-CN" altLang="en-US" sz="3600" b="1"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33" name="直接连接符 23"/>
          <p:cNvSpPr>
            <a:spLocks noChangeShapeType="1"/>
          </p:cNvSpPr>
          <p:nvPr userDrawn="1"/>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grpSp>
        <p:nvGrpSpPr>
          <p:cNvPr id="33795" name="组合 129"/>
          <p:cNvGrpSpPr/>
          <p:nvPr userDrawn="1"/>
        </p:nvGrpSpPr>
        <p:grpSpPr>
          <a:xfrm>
            <a:off x="3529330" y="264478"/>
            <a:ext cx="615950" cy="584200"/>
            <a:chOff x="2439302" y="2313207"/>
            <a:chExt cx="481033" cy="481033"/>
          </a:xfrm>
        </p:grpSpPr>
        <p:sp>
          <p:nvSpPr>
            <p:cNvPr id="131" name="Oval 351"/>
            <p:cNvSpPr>
              <a:spLocks noChangeArrowheads="1"/>
            </p:cNvSpPr>
            <p:nvPr/>
          </p:nvSpPr>
          <p:spPr bwMode="auto">
            <a:xfrm>
              <a:off x="2439302" y="2313207"/>
              <a:ext cx="481033" cy="481033"/>
            </a:xfrm>
            <a:prstGeom prst="ellipse">
              <a:avLst/>
            </a:prstGeom>
            <a:solidFill>
              <a:srgbClr val="739BE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2" name="Freeform 352"/>
            <p:cNvSpPr/>
            <p:nvPr/>
          </p:nvSpPr>
          <p:spPr bwMode="auto">
            <a:xfrm>
              <a:off x="2537400" y="2475127"/>
              <a:ext cx="380571" cy="319113"/>
            </a:xfrm>
            <a:custGeom>
              <a:avLst/>
              <a:gdLst>
                <a:gd name="T0" fmla="*/ 138 w 203"/>
                <a:gd name="T1" fmla="*/ 0 h 170"/>
                <a:gd name="T2" fmla="*/ 112 w 203"/>
                <a:gd name="T3" fmla="*/ 27 h 170"/>
                <a:gd name="T4" fmla="*/ 115 w 203"/>
                <a:gd name="T5" fmla="*/ 31 h 170"/>
                <a:gd name="T6" fmla="*/ 0 w 203"/>
                <a:gd name="T7" fmla="*/ 97 h 170"/>
                <a:gd name="T8" fmla="*/ 73 w 203"/>
                <a:gd name="T9" fmla="*/ 170 h 170"/>
                <a:gd name="T10" fmla="*/ 76 w 203"/>
                <a:gd name="T11" fmla="*/ 170 h 170"/>
                <a:gd name="T12" fmla="*/ 203 w 203"/>
                <a:gd name="T13" fmla="*/ 60 h 170"/>
                <a:gd name="T14" fmla="*/ 152 w 203"/>
                <a:gd name="T15" fmla="*/ 9 h 170"/>
                <a:gd name="T16" fmla="*/ 149 w 203"/>
                <a:gd name="T17" fmla="*/ 11 h 170"/>
                <a:gd name="T18" fmla="*/ 138 w 203"/>
                <a:gd name="T19"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170">
                  <a:moveTo>
                    <a:pt x="138" y="0"/>
                  </a:moveTo>
                  <a:cubicBezTo>
                    <a:pt x="112" y="27"/>
                    <a:pt x="112" y="27"/>
                    <a:pt x="112" y="27"/>
                  </a:cubicBezTo>
                  <a:cubicBezTo>
                    <a:pt x="115" y="31"/>
                    <a:pt x="115" y="31"/>
                    <a:pt x="115" y="31"/>
                  </a:cubicBezTo>
                  <a:cubicBezTo>
                    <a:pt x="0" y="97"/>
                    <a:pt x="0" y="97"/>
                    <a:pt x="0" y="97"/>
                  </a:cubicBezTo>
                  <a:cubicBezTo>
                    <a:pt x="73" y="170"/>
                    <a:pt x="73" y="170"/>
                    <a:pt x="73" y="170"/>
                  </a:cubicBezTo>
                  <a:cubicBezTo>
                    <a:pt x="74" y="170"/>
                    <a:pt x="75" y="170"/>
                    <a:pt x="76" y="170"/>
                  </a:cubicBezTo>
                  <a:cubicBezTo>
                    <a:pt x="141" y="170"/>
                    <a:pt x="194" y="122"/>
                    <a:pt x="203" y="60"/>
                  </a:cubicBezTo>
                  <a:cubicBezTo>
                    <a:pt x="152" y="9"/>
                    <a:pt x="152" y="9"/>
                    <a:pt x="152" y="9"/>
                  </a:cubicBezTo>
                  <a:cubicBezTo>
                    <a:pt x="149" y="11"/>
                    <a:pt x="149" y="11"/>
                    <a:pt x="149" y="11"/>
                  </a:cubicBezTo>
                  <a:lnTo>
                    <a:pt x="138" y="0"/>
                  </a:lnTo>
                  <a:close/>
                </a:path>
              </a:pathLst>
            </a:custGeom>
            <a:solidFill>
              <a:srgbClr val="6188D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3" name="Rectangle 353"/>
            <p:cNvSpPr>
              <a:spLocks noChangeArrowheads="1"/>
            </p:cNvSpPr>
            <p:nvPr/>
          </p:nvSpPr>
          <p:spPr bwMode="auto">
            <a:xfrm>
              <a:off x="2537400" y="2491674"/>
              <a:ext cx="284838" cy="165466"/>
            </a:xfrm>
            <a:prstGeom prst="rect">
              <a:avLst/>
            </a:prstGeom>
            <a:solidFill>
              <a:srgbClr val="505A6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4" name="Freeform 354"/>
            <p:cNvSpPr/>
            <p:nvPr/>
          </p:nvSpPr>
          <p:spPr bwMode="auto">
            <a:xfrm>
              <a:off x="2563402" y="2471582"/>
              <a:ext cx="232834" cy="200923"/>
            </a:xfrm>
            <a:custGeom>
              <a:avLst/>
              <a:gdLst>
                <a:gd name="T0" fmla="*/ 124 w 124"/>
                <a:gd name="T1" fmla="*/ 93 h 107"/>
                <a:gd name="T2" fmla="*/ 124 w 124"/>
                <a:gd name="T3" fmla="*/ 2 h 107"/>
                <a:gd name="T4" fmla="*/ 114 w 124"/>
                <a:gd name="T5" fmla="*/ 1 h 107"/>
                <a:gd name="T6" fmla="*/ 104 w 124"/>
                <a:gd name="T7" fmla="*/ 0 h 107"/>
                <a:gd name="T8" fmla="*/ 79 w 124"/>
                <a:gd name="T9" fmla="*/ 4 h 107"/>
                <a:gd name="T10" fmla="*/ 62 w 124"/>
                <a:gd name="T11" fmla="*/ 10 h 107"/>
                <a:gd name="T12" fmla="*/ 45 w 124"/>
                <a:gd name="T13" fmla="*/ 4 h 107"/>
                <a:gd name="T14" fmla="*/ 20 w 124"/>
                <a:gd name="T15" fmla="*/ 0 h 107"/>
                <a:gd name="T16" fmla="*/ 10 w 124"/>
                <a:gd name="T17" fmla="*/ 1 h 107"/>
                <a:gd name="T18" fmla="*/ 0 w 124"/>
                <a:gd name="T19" fmla="*/ 2 h 107"/>
                <a:gd name="T20" fmla="*/ 0 w 124"/>
                <a:gd name="T21" fmla="*/ 93 h 107"/>
                <a:gd name="T22" fmla="*/ 48 w 124"/>
                <a:gd name="T23" fmla="*/ 99 h 107"/>
                <a:gd name="T24" fmla="*/ 62 w 124"/>
                <a:gd name="T25" fmla="*/ 107 h 107"/>
                <a:gd name="T26" fmla="*/ 76 w 124"/>
                <a:gd name="T27" fmla="*/ 99 h 107"/>
                <a:gd name="T28" fmla="*/ 124 w 124"/>
                <a:gd name="T29" fmla="*/ 9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4" h="107">
                  <a:moveTo>
                    <a:pt x="124" y="93"/>
                  </a:moveTo>
                  <a:cubicBezTo>
                    <a:pt x="124" y="2"/>
                    <a:pt x="124" y="2"/>
                    <a:pt x="124" y="2"/>
                  </a:cubicBezTo>
                  <a:cubicBezTo>
                    <a:pt x="114" y="1"/>
                    <a:pt x="114" y="1"/>
                    <a:pt x="114" y="1"/>
                  </a:cubicBezTo>
                  <a:cubicBezTo>
                    <a:pt x="111" y="1"/>
                    <a:pt x="107" y="0"/>
                    <a:pt x="104" y="0"/>
                  </a:cubicBezTo>
                  <a:cubicBezTo>
                    <a:pt x="95" y="0"/>
                    <a:pt x="87" y="1"/>
                    <a:pt x="79" y="4"/>
                  </a:cubicBezTo>
                  <a:cubicBezTo>
                    <a:pt x="73" y="5"/>
                    <a:pt x="67" y="7"/>
                    <a:pt x="62" y="10"/>
                  </a:cubicBezTo>
                  <a:cubicBezTo>
                    <a:pt x="57" y="7"/>
                    <a:pt x="51" y="5"/>
                    <a:pt x="45" y="4"/>
                  </a:cubicBezTo>
                  <a:cubicBezTo>
                    <a:pt x="37" y="1"/>
                    <a:pt x="29" y="0"/>
                    <a:pt x="20" y="0"/>
                  </a:cubicBezTo>
                  <a:cubicBezTo>
                    <a:pt x="17" y="0"/>
                    <a:pt x="13" y="1"/>
                    <a:pt x="10" y="1"/>
                  </a:cubicBezTo>
                  <a:cubicBezTo>
                    <a:pt x="0" y="2"/>
                    <a:pt x="0" y="2"/>
                    <a:pt x="0" y="2"/>
                  </a:cubicBezTo>
                  <a:cubicBezTo>
                    <a:pt x="0" y="93"/>
                    <a:pt x="0" y="93"/>
                    <a:pt x="0" y="93"/>
                  </a:cubicBezTo>
                  <a:cubicBezTo>
                    <a:pt x="48" y="99"/>
                    <a:pt x="48" y="99"/>
                    <a:pt x="48" y="99"/>
                  </a:cubicBezTo>
                  <a:cubicBezTo>
                    <a:pt x="51" y="100"/>
                    <a:pt x="62" y="107"/>
                    <a:pt x="62" y="107"/>
                  </a:cubicBezTo>
                  <a:cubicBezTo>
                    <a:pt x="62" y="107"/>
                    <a:pt x="73" y="100"/>
                    <a:pt x="76" y="99"/>
                  </a:cubicBezTo>
                  <a:cubicBezTo>
                    <a:pt x="76" y="99"/>
                    <a:pt x="102" y="91"/>
                    <a:pt x="124" y="93"/>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5" name="Freeform 355"/>
            <p:cNvSpPr/>
            <p:nvPr/>
          </p:nvSpPr>
          <p:spPr bwMode="auto">
            <a:xfrm>
              <a:off x="2668591" y="2484583"/>
              <a:ext cx="22456" cy="187922"/>
            </a:xfrm>
            <a:custGeom>
              <a:avLst/>
              <a:gdLst>
                <a:gd name="T0" fmla="*/ 0 w 12"/>
                <a:gd name="T1" fmla="*/ 96 h 100"/>
                <a:gd name="T2" fmla="*/ 6 w 12"/>
                <a:gd name="T3" fmla="*/ 100 h 100"/>
                <a:gd name="T4" fmla="*/ 12 w 12"/>
                <a:gd name="T5" fmla="*/ 96 h 100"/>
                <a:gd name="T6" fmla="*/ 12 w 12"/>
                <a:gd name="T7" fmla="*/ 0 h 100"/>
                <a:gd name="T8" fmla="*/ 6 w 12"/>
                <a:gd name="T9" fmla="*/ 3 h 100"/>
                <a:gd name="T10" fmla="*/ 0 w 12"/>
                <a:gd name="T11" fmla="*/ 0 h 100"/>
                <a:gd name="T12" fmla="*/ 0 w 12"/>
                <a:gd name="T13" fmla="*/ 96 h 100"/>
              </a:gdLst>
              <a:ahLst/>
              <a:cxnLst>
                <a:cxn ang="0">
                  <a:pos x="T0" y="T1"/>
                </a:cxn>
                <a:cxn ang="0">
                  <a:pos x="T2" y="T3"/>
                </a:cxn>
                <a:cxn ang="0">
                  <a:pos x="T4" y="T5"/>
                </a:cxn>
                <a:cxn ang="0">
                  <a:pos x="T6" y="T7"/>
                </a:cxn>
                <a:cxn ang="0">
                  <a:pos x="T8" y="T9"/>
                </a:cxn>
                <a:cxn ang="0">
                  <a:pos x="T10" y="T11"/>
                </a:cxn>
                <a:cxn ang="0">
                  <a:pos x="T12" y="T13"/>
                </a:cxn>
              </a:cxnLst>
              <a:rect l="0" t="0" r="r" b="b"/>
              <a:pathLst>
                <a:path w="12" h="100">
                  <a:moveTo>
                    <a:pt x="0" y="96"/>
                  </a:moveTo>
                  <a:cubicBezTo>
                    <a:pt x="3" y="98"/>
                    <a:pt x="6" y="100"/>
                    <a:pt x="6" y="100"/>
                  </a:cubicBezTo>
                  <a:cubicBezTo>
                    <a:pt x="6" y="100"/>
                    <a:pt x="9" y="98"/>
                    <a:pt x="12" y="96"/>
                  </a:cubicBezTo>
                  <a:cubicBezTo>
                    <a:pt x="12" y="0"/>
                    <a:pt x="12" y="0"/>
                    <a:pt x="12" y="0"/>
                  </a:cubicBezTo>
                  <a:cubicBezTo>
                    <a:pt x="10" y="1"/>
                    <a:pt x="8" y="2"/>
                    <a:pt x="6" y="3"/>
                  </a:cubicBezTo>
                  <a:cubicBezTo>
                    <a:pt x="4" y="2"/>
                    <a:pt x="2" y="1"/>
                    <a:pt x="0" y="0"/>
                  </a:cubicBezTo>
                  <a:lnTo>
                    <a:pt x="0" y="96"/>
                  </a:lnTo>
                  <a:close/>
                </a:path>
              </a:pathLst>
            </a:custGeom>
            <a:solidFill>
              <a:srgbClr val="E6E8E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blinds(horizontal)">
                                      <p:cBhvr>
                                        <p:cTn id="7" dur="5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10" name="图片 9" descr="SZU讲义封面"/>
          <p:cNvPicPr>
            <a:picLocks noChangeAspect="1"/>
          </p:cNvPicPr>
          <p:nvPr userDrawn="1"/>
        </p:nvPicPr>
        <p:blipFill>
          <a:blip r:embed="rId2"/>
          <a:stretch>
            <a:fillRect/>
          </a:stretch>
        </p:blipFill>
        <p:spPr>
          <a:xfrm>
            <a:off x="0" y="1905"/>
            <a:ext cx="12192000" cy="4400550"/>
          </a:xfrm>
          <a:prstGeom prst="rect">
            <a:avLst/>
          </a:prstGeom>
        </p:spPr>
      </p:pic>
      <p:sp>
        <p:nvSpPr>
          <p:cNvPr id="3075" name="矩形 1"/>
          <p:cNvSpPr>
            <a:spLocks noChangeArrowheads="1"/>
          </p:cNvSpPr>
          <p:nvPr userDrawn="1"/>
        </p:nvSpPr>
        <p:spPr bwMode="auto">
          <a:xfrm>
            <a:off x="635" y="4088765"/>
            <a:ext cx="12192000" cy="824865"/>
          </a:xfrm>
          <a:prstGeom prst="rect">
            <a:avLst/>
          </a:prstGeom>
          <a:solidFill>
            <a:srgbClr val="28A9D6"/>
          </a:solidFill>
          <a:ln w="9525" cmpd="sng">
            <a:noFill/>
            <a:bevel/>
          </a:ln>
        </p:spPr>
        <p:txBody>
          <a:bodyPr lIns="121920" tIns="60960" rIns="121920" bIns="60960" anchor="ctr" anchorCtr="0"/>
          <a:lstStyle/>
          <a:p>
            <a:pPr algn="ctr"/>
            <a:endParaRPr lang="en-US" altLang="zh-CN" sz="3600">
              <a:solidFill>
                <a:srgbClr val="FFFF00"/>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3078" name="直接连接符 27"/>
          <p:cNvSpPr>
            <a:spLocks noChangeShapeType="1"/>
          </p:cNvSpPr>
          <p:nvPr userDrawn="1"/>
        </p:nvSpPr>
        <p:spPr bwMode="auto">
          <a:xfrm>
            <a:off x="0" y="6087428"/>
            <a:ext cx="4319588" cy="12700"/>
          </a:xfrm>
          <a:prstGeom prst="line">
            <a:avLst/>
          </a:prstGeom>
          <a:noFill/>
          <a:ln w="3175" cap="flat" cmpd="sng">
            <a:solidFill>
              <a:srgbClr val="28A9D6"/>
            </a:solidFill>
            <a:bevel/>
          </a:ln>
        </p:spPr>
        <p:txBody>
          <a:bodyPr/>
          <a:lstStyle/>
          <a:p>
            <a:endParaRPr lang="zh-CN" altLang="en-US"/>
          </a:p>
        </p:txBody>
      </p:sp>
      <p:sp>
        <p:nvSpPr>
          <p:cNvPr id="3079" name="直接连接符 29"/>
          <p:cNvSpPr>
            <a:spLocks noChangeShapeType="1"/>
          </p:cNvSpPr>
          <p:nvPr userDrawn="1"/>
        </p:nvSpPr>
        <p:spPr bwMode="auto">
          <a:xfrm>
            <a:off x="0" y="6152515"/>
            <a:ext cx="4319588" cy="12700"/>
          </a:xfrm>
          <a:prstGeom prst="line">
            <a:avLst/>
          </a:prstGeom>
          <a:noFill/>
          <a:ln w="3175" cap="flat" cmpd="sng">
            <a:solidFill>
              <a:srgbClr val="28A9D6"/>
            </a:solidFill>
            <a:bevel/>
          </a:ln>
        </p:spPr>
        <p:txBody>
          <a:bodyPr/>
          <a:lstStyle/>
          <a:p>
            <a:endParaRPr lang="zh-CN" altLang="en-US"/>
          </a:p>
        </p:txBody>
      </p:sp>
      <p:sp>
        <p:nvSpPr>
          <p:cNvPr id="3080" name="直接连接符 31"/>
          <p:cNvSpPr>
            <a:spLocks noChangeShapeType="1"/>
          </p:cNvSpPr>
          <p:nvPr userDrawn="1"/>
        </p:nvSpPr>
        <p:spPr bwMode="auto">
          <a:xfrm>
            <a:off x="0" y="6219190"/>
            <a:ext cx="4319588" cy="12700"/>
          </a:xfrm>
          <a:prstGeom prst="line">
            <a:avLst/>
          </a:prstGeom>
          <a:noFill/>
          <a:ln w="3175" cap="flat" cmpd="sng">
            <a:solidFill>
              <a:srgbClr val="28A9D6"/>
            </a:solidFill>
            <a:bevel/>
          </a:ln>
        </p:spPr>
        <p:txBody>
          <a:bodyPr/>
          <a:lstStyle/>
          <a:p>
            <a:endParaRPr lang="zh-CN" altLang="en-US"/>
          </a:p>
        </p:txBody>
      </p:sp>
      <p:sp>
        <p:nvSpPr>
          <p:cNvPr id="3081" name="直接连接符 39"/>
          <p:cNvSpPr>
            <a:spLocks noChangeShapeType="1"/>
          </p:cNvSpPr>
          <p:nvPr userDrawn="1"/>
        </p:nvSpPr>
        <p:spPr bwMode="auto">
          <a:xfrm>
            <a:off x="7872413" y="6087428"/>
            <a:ext cx="4319587" cy="12700"/>
          </a:xfrm>
          <a:prstGeom prst="line">
            <a:avLst/>
          </a:prstGeom>
          <a:noFill/>
          <a:ln w="3175" cap="flat" cmpd="sng">
            <a:solidFill>
              <a:srgbClr val="28A9D6"/>
            </a:solidFill>
            <a:bevel/>
          </a:ln>
        </p:spPr>
        <p:txBody>
          <a:bodyPr/>
          <a:lstStyle/>
          <a:p>
            <a:endParaRPr lang="zh-CN" altLang="en-US"/>
          </a:p>
        </p:txBody>
      </p:sp>
      <p:sp>
        <p:nvSpPr>
          <p:cNvPr id="3082" name="直接连接符 40"/>
          <p:cNvSpPr>
            <a:spLocks noChangeShapeType="1"/>
          </p:cNvSpPr>
          <p:nvPr userDrawn="1"/>
        </p:nvSpPr>
        <p:spPr bwMode="auto">
          <a:xfrm>
            <a:off x="7872413" y="6152515"/>
            <a:ext cx="4319587" cy="12700"/>
          </a:xfrm>
          <a:prstGeom prst="line">
            <a:avLst/>
          </a:prstGeom>
          <a:noFill/>
          <a:ln w="3175" cap="flat" cmpd="sng">
            <a:solidFill>
              <a:srgbClr val="28A9D6"/>
            </a:solidFill>
            <a:bevel/>
          </a:ln>
        </p:spPr>
        <p:txBody>
          <a:bodyPr/>
          <a:lstStyle/>
          <a:p>
            <a:endParaRPr lang="zh-CN" altLang="en-US"/>
          </a:p>
        </p:txBody>
      </p:sp>
      <p:sp>
        <p:nvSpPr>
          <p:cNvPr id="3083" name="直接连接符 41"/>
          <p:cNvSpPr>
            <a:spLocks noChangeShapeType="1"/>
          </p:cNvSpPr>
          <p:nvPr userDrawn="1"/>
        </p:nvSpPr>
        <p:spPr bwMode="auto">
          <a:xfrm>
            <a:off x="7872413" y="6219190"/>
            <a:ext cx="4319587" cy="12700"/>
          </a:xfrm>
          <a:prstGeom prst="line">
            <a:avLst/>
          </a:prstGeom>
          <a:noFill/>
          <a:ln w="3175" cap="flat" cmpd="sng">
            <a:solidFill>
              <a:srgbClr val="28A9D6"/>
            </a:solidFill>
            <a:bevel/>
          </a:ln>
        </p:spPr>
        <p:txBody>
          <a:bodyPr/>
          <a:lstStyle/>
          <a:p>
            <a:endParaRPr lang="zh-CN" altLang="en-US"/>
          </a:p>
        </p:txBody>
      </p:sp>
      <p:grpSp>
        <p:nvGrpSpPr>
          <p:cNvPr id="3" name="组合 2"/>
          <p:cNvGrpSpPr/>
          <p:nvPr userDrawn="1"/>
        </p:nvGrpSpPr>
        <p:grpSpPr>
          <a:xfrm>
            <a:off x="4474845" y="5816600"/>
            <a:ext cx="3270250" cy="698500"/>
            <a:chOff x="6934" y="9160"/>
            <a:chExt cx="5150" cy="1100"/>
          </a:xfrm>
        </p:grpSpPr>
        <p:sp>
          <p:nvSpPr>
            <p:cNvPr id="3085" name="文本框 42"/>
            <p:cNvSpPr>
              <a:spLocks noChangeArrowheads="1"/>
            </p:cNvSpPr>
            <p:nvPr userDrawn="1"/>
          </p:nvSpPr>
          <p:spPr bwMode="auto">
            <a:xfrm>
              <a:off x="7980" y="9505"/>
              <a:ext cx="4105" cy="434"/>
            </a:xfrm>
            <a:prstGeom prst="rect">
              <a:avLst/>
            </a:prstGeom>
            <a:noFill/>
            <a:ln w="9525">
              <a:noFill/>
              <a:miter lim="800000"/>
            </a:ln>
          </p:spPr>
          <p:txBody>
            <a:bodyPr wrap="square">
              <a:spAutoFit/>
            </a:bodyPr>
            <a:lstStyle/>
            <a:p>
              <a:pPr algn="dist"/>
              <a:r>
                <a:rPr lang="zh-CN" altLang="en-US" sz="1200" b="1" dirty="0" smtClean="0">
                  <a:solidFill>
                    <a:srgbClr val="00B0F0"/>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en-US" altLang="zh-CN" sz="1200" b="1" dirty="0" smtClean="0">
                <a:solidFill>
                  <a:srgbClr val="00B0F0"/>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6" name="Picture 3"/>
            <p:cNvPicPr>
              <a:picLocks noChangeAspect="1" noChangeArrowheads="1"/>
            </p:cNvPicPr>
            <p:nvPr userDrawn="1"/>
          </p:nvPicPr>
          <p:blipFill>
            <a:blip r:embed="rId3"/>
            <a:srcRect/>
            <a:stretch>
              <a:fillRect/>
            </a:stretch>
          </p:blipFill>
          <p:spPr bwMode="auto">
            <a:xfrm>
              <a:off x="6934" y="9160"/>
              <a:ext cx="1101" cy="1101"/>
            </a:xfrm>
            <a:prstGeom prst="rect">
              <a:avLst/>
            </a:prstGeom>
            <a:noFill/>
            <a:ln w="9525">
              <a:noFill/>
              <a:miter lim="800000"/>
              <a:headEnd/>
              <a:tailEnd/>
            </a:ln>
            <a:effectLst/>
          </p:spPr>
        </p:pic>
      </p:grpSp>
      <p:grpSp>
        <p:nvGrpSpPr>
          <p:cNvPr id="4" name="组合 3"/>
          <p:cNvGrpSpPr/>
          <p:nvPr userDrawn="1"/>
        </p:nvGrpSpPr>
        <p:grpSpPr>
          <a:xfrm>
            <a:off x="948055" y="5455920"/>
            <a:ext cx="10026650" cy="398780"/>
            <a:chOff x="1493" y="8366"/>
            <a:chExt cx="15790" cy="628"/>
          </a:xfrm>
        </p:grpSpPr>
        <p:sp>
          <p:nvSpPr>
            <p:cNvPr id="7175" name="直接连接符 29"/>
            <p:cNvSpPr/>
            <p:nvPr userDrawn="1"/>
          </p:nvSpPr>
          <p:spPr>
            <a:xfrm>
              <a:off x="1493" y="8671"/>
              <a:ext cx="5983" cy="22"/>
            </a:xfrm>
            <a:prstGeom prst="line">
              <a:avLst/>
            </a:prstGeom>
            <a:ln w="3175" cap="flat" cmpd="sng">
              <a:solidFill>
                <a:srgbClr val="28A9D6"/>
              </a:solidFill>
              <a:prstDash val="solid"/>
              <a:bevel/>
              <a:headEnd type="none" w="med" len="med"/>
              <a:tailEnd type="none" w="med" len="med"/>
            </a:ln>
          </p:spPr>
        </p:sp>
        <p:sp>
          <p:nvSpPr>
            <p:cNvPr id="7178" name="直接连接符 40"/>
            <p:cNvSpPr/>
            <p:nvPr userDrawn="1"/>
          </p:nvSpPr>
          <p:spPr>
            <a:xfrm>
              <a:off x="11671" y="8672"/>
              <a:ext cx="5612" cy="21"/>
            </a:xfrm>
            <a:prstGeom prst="line">
              <a:avLst/>
            </a:prstGeom>
            <a:ln w="3175" cap="flat" cmpd="sng">
              <a:solidFill>
                <a:srgbClr val="28A9D6"/>
              </a:solidFill>
              <a:prstDash val="solid"/>
              <a:bevel/>
              <a:headEnd type="none" w="med" len="med"/>
              <a:tailEnd type="none" w="med" len="med"/>
            </a:ln>
          </p:spPr>
        </p:sp>
        <p:sp>
          <p:nvSpPr>
            <p:cNvPr id="7181" name="TextBox 14"/>
            <p:cNvSpPr txBox="1"/>
            <p:nvPr userDrawn="1"/>
          </p:nvSpPr>
          <p:spPr>
            <a:xfrm>
              <a:off x="8491" y="8366"/>
              <a:ext cx="2479" cy="628"/>
            </a:xfrm>
            <a:prstGeom prst="rect">
              <a:avLst/>
            </a:prstGeom>
            <a:noFill/>
            <a:ln w="9525">
              <a:noFill/>
            </a:ln>
          </p:spPr>
          <p:txBody>
            <a:bodyPr wrap="square" anchor="t">
              <a:spAutoFit/>
            </a:bodyPr>
            <a:p>
              <a:pPr algn="dist"/>
              <a:r>
                <a:rPr lang="zh-CN" altLang="en-US" sz="2000" dirty="0">
                  <a:latin typeface="Tahoma" panose="020B0604030504040204" charset="0"/>
                  <a:ea typeface="宋体" panose="02010600030101010101" pitchFamily="2" charset="-122"/>
                </a:rPr>
                <a:t>主讲白鉴聪</a:t>
              </a:r>
              <a:endParaRPr lang="zh-CN" altLang="en-US" sz="2000" dirty="0">
                <a:latin typeface="Tahoma" panose="020B0604030504040204" charset="0"/>
                <a:ea typeface="宋体" panose="02010600030101010101" pitchFamily="2" charset="-122"/>
              </a:endParaRPr>
            </a:p>
          </p:txBody>
        </p:sp>
      </p:grpSp>
      <p:grpSp>
        <p:nvGrpSpPr>
          <p:cNvPr id="5" name="组合 4"/>
          <p:cNvGrpSpPr/>
          <p:nvPr userDrawn="1"/>
        </p:nvGrpSpPr>
        <p:grpSpPr>
          <a:xfrm>
            <a:off x="1198245" y="5008880"/>
            <a:ext cx="9531350" cy="398780"/>
            <a:chOff x="1868" y="8366"/>
            <a:chExt cx="15010" cy="628"/>
          </a:xfrm>
        </p:grpSpPr>
        <p:sp>
          <p:nvSpPr>
            <p:cNvPr id="7" name="直接连接符 29"/>
            <p:cNvSpPr/>
            <p:nvPr userDrawn="1"/>
          </p:nvSpPr>
          <p:spPr>
            <a:xfrm>
              <a:off x="1868" y="8671"/>
              <a:ext cx="5159" cy="21"/>
            </a:xfrm>
            <a:prstGeom prst="line">
              <a:avLst/>
            </a:prstGeom>
            <a:ln w="3175" cap="flat" cmpd="sng">
              <a:solidFill>
                <a:srgbClr val="28A9D6"/>
              </a:solidFill>
              <a:prstDash val="solid"/>
              <a:bevel/>
              <a:headEnd type="none" w="med" len="med"/>
              <a:tailEnd type="none" w="med" len="med"/>
            </a:ln>
          </p:spPr>
        </p:sp>
        <p:sp>
          <p:nvSpPr>
            <p:cNvPr id="8" name="直接连接符 40"/>
            <p:cNvSpPr/>
            <p:nvPr userDrawn="1"/>
          </p:nvSpPr>
          <p:spPr>
            <a:xfrm>
              <a:off x="11897" y="8692"/>
              <a:ext cx="4981" cy="2"/>
            </a:xfrm>
            <a:prstGeom prst="line">
              <a:avLst/>
            </a:prstGeom>
            <a:ln w="3175" cap="flat" cmpd="sng">
              <a:solidFill>
                <a:srgbClr val="28A9D6"/>
              </a:solidFill>
              <a:prstDash val="solid"/>
              <a:bevel/>
              <a:headEnd type="none" w="med" len="med"/>
              <a:tailEnd type="none" w="med" len="med"/>
            </a:ln>
          </p:spPr>
        </p:sp>
        <p:sp>
          <p:nvSpPr>
            <p:cNvPr id="9" name="TextBox 14"/>
            <p:cNvSpPr txBox="1"/>
            <p:nvPr userDrawn="1"/>
          </p:nvSpPr>
          <p:spPr>
            <a:xfrm>
              <a:off x="7792" y="8366"/>
              <a:ext cx="3621" cy="628"/>
            </a:xfrm>
            <a:prstGeom prst="rect">
              <a:avLst/>
            </a:prstGeom>
            <a:noFill/>
            <a:ln w="9525">
              <a:noFill/>
            </a:ln>
          </p:spPr>
          <p:txBody>
            <a:bodyPr wrap="square" anchor="t">
              <a:spAutoFit/>
            </a:bodyPr>
            <a:p>
              <a:pPr algn="dist"/>
              <a:r>
                <a:rPr lang="zh-CN" altLang="en-US" sz="2000" dirty="0">
                  <a:latin typeface="Tahoma" panose="020B0604030504040204" charset="0"/>
                  <a:ea typeface="宋体" panose="02010600030101010101" pitchFamily="2" charset="-122"/>
                </a:rPr>
                <a:t>数据结构</a:t>
              </a:r>
              <a:endParaRPr lang="zh-CN" altLang="en-US" sz="2000" dirty="0">
                <a:latin typeface="Tahoma" panose="020B0604030504040204" charset="0"/>
                <a:ea typeface="宋体" panose="02010600030101010101" pitchFamily="2" charset="-122"/>
              </a:endParaRPr>
            </a:p>
          </p:txBody>
        </p:sp>
      </p:gr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3075" name="矩形 1"/>
          <p:cNvSpPr>
            <a:spLocks noChangeArrowheads="1"/>
          </p:cNvSpPr>
          <p:nvPr userDrawn="1"/>
        </p:nvSpPr>
        <p:spPr bwMode="auto">
          <a:xfrm>
            <a:off x="0" y="4728210"/>
            <a:ext cx="12192000" cy="903605"/>
          </a:xfrm>
          <a:prstGeom prst="rect">
            <a:avLst/>
          </a:prstGeom>
          <a:solidFill>
            <a:srgbClr val="28A9D6"/>
          </a:solidFill>
          <a:ln w="9525" cmpd="sng">
            <a:noFill/>
            <a:bevel/>
          </a:ln>
        </p:spPr>
        <p:txBody>
          <a:bodyPr lIns="121920" tIns="60960" rIns="121920" bIns="60960" anchor="ctr" anchorCtr="0"/>
          <a:lstStyle/>
          <a:p>
            <a:pPr algn="ctr"/>
            <a:r>
              <a:rPr lang="zh-CN" altLang="zh-CN" sz="4000">
                <a:solidFill>
                  <a:srgbClr val="FFFF00"/>
                </a:solidFill>
                <a:latin typeface="宋体" panose="02010600030101010101" pitchFamily="2" charset="-122"/>
                <a:ea typeface="微软雅黑" panose="020B0503020204020204" pitchFamily="34" charset="-122"/>
                <a:sym typeface="宋体" panose="02010600030101010101" pitchFamily="2" charset="-122"/>
              </a:rPr>
              <a:t>谢谢观看</a:t>
            </a:r>
            <a:endParaRPr lang="zh-CN" altLang="zh-CN" sz="4000">
              <a:solidFill>
                <a:srgbClr val="FFFF00"/>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3076" name="直接连接符 24"/>
          <p:cNvSpPr>
            <a:spLocks noChangeShapeType="1"/>
          </p:cNvSpPr>
          <p:nvPr userDrawn="1"/>
        </p:nvSpPr>
        <p:spPr bwMode="auto">
          <a:xfrm>
            <a:off x="0" y="5665153"/>
            <a:ext cx="12192000" cy="1587"/>
          </a:xfrm>
          <a:prstGeom prst="line">
            <a:avLst/>
          </a:prstGeom>
          <a:noFill/>
          <a:ln w="19050" cap="flat" cmpd="sng">
            <a:solidFill>
              <a:srgbClr val="28A9D6"/>
            </a:solidFill>
            <a:bevel/>
          </a:ln>
        </p:spPr>
        <p:txBody>
          <a:bodyPr/>
          <a:lstStyle/>
          <a:p>
            <a:endParaRPr lang="zh-CN" altLang="en-US"/>
          </a:p>
        </p:txBody>
      </p:sp>
      <p:sp>
        <p:nvSpPr>
          <p:cNvPr id="3078" name="直接连接符 27"/>
          <p:cNvSpPr>
            <a:spLocks noChangeShapeType="1"/>
          </p:cNvSpPr>
          <p:nvPr userDrawn="1"/>
        </p:nvSpPr>
        <p:spPr bwMode="auto">
          <a:xfrm>
            <a:off x="0" y="6087428"/>
            <a:ext cx="4319588" cy="12700"/>
          </a:xfrm>
          <a:prstGeom prst="line">
            <a:avLst/>
          </a:prstGeom>
          <a:noFill/>
          <a:ln w="3175" cap="flat" cmpd="sng">
            <a:solidFill>
              <a:srgbClr val="28A9D6"/>
            </a:solidFill>
            <a:bevel/>
          </a:ln>
        </p:spPr>
        <p:txBody>
          <a:bodyPr/>
          <a:lstStyle/>
          <a:p>
            <a:endParaRPr lang="zh-CN" altLang="en-US"/>
          </a:p>
        </p:txBody>
      </p:sp>
      <p:sp>
        <p:nvSpPr>
          <p:cNvPr id="3079" name="直接连接符 29"/>
          <p:cNvSpPr>
            <a:spLocks noChangeShapeType="1"/>
          </p:cNvSpPr>
          <p:nvPr userDrawn="1"/>
        </p:nvSpPr>
        <p:spPr bwMode="auto">
          <a:xfrm>
            <a:off x="0" y="6152515"/>
            <a:ext cx="4319588" cy="12700"/>
          </a:xfrm>
          <a:prstGeom prst="line">
            <a:avLst/>
          </a:prstGeom>
          <a:noFill/>
          <a:ln w="3175" cap="flat" cmpd="sng">
            <a:solidFill>
              <a:srgbClr val="28A9D6"/>
            </a:solidFill>
            <a:bevel/>
          </a:ln>
        </p:spPr>
        <p:txBody>
          <a:bodyPr/>
          <a:lstStyle/>
          <a:p>
            <a:endParaRPr lang="zh-CN" altLang="en-US"/>
          </a:p>
        </p:txBody>
      </p:sp>
      <p:sp>
        <p:nvSpPr>
          <p:cNvPr id="3080" name="直接连接符 31"/>
          <p:cNvSpPr>
            <a:spLocks noChangeShapeType="1"/>
          </p:cNvSpPr>
          <p:nvPr userDrawn="1"/>
        </p:nvSpPr>
        <p:spPr bwMode="auto">
          <a:xfrm>
            <a:off x="0" y="6219190"/>
            <a:ext cx="4319588" cy="12700"/>
          </a:xfrm>
          <a:prstGeom prst="line">
            <a:avLst/>
          </a:prstGeom>
          <a:noFill/>
          <a:ln w="3175" cap="flat" cmpd="sng">
            <a:solidFill>
              <a:srgbClr val="28A9D6"/>
            </a:solidFill>
            <a:bevel/>
          </a:ln>
        </p:spPr>
        <p:txBody>
          <a:bodyPr/>
          <a:lstStyle/>
          <a:p>
            <a:endParaRPr lang="zh-CN" altLang="en-US"/>
          </a:p>
        </p:txBody>
      </p:sp>
      <p:sp>
        <p:nvSpPr>
          <p:cNvPr id="3081" name="直接连接符 39"/>
          <p:cNvSpPr>
            <a:spLocks noChangeShapeType="1"/>
          </p:cNvSpPr>
          <p:nvPr userDrawn="1"/>
        </p:nvSpPr>
        <p:spPr bwMode="auto">
          <a:xfrm>
            <a:off x="7872413" y="6087428"/>
            <a:ext cx="4319587" cy="12700"/>
          </a:xfrm>
          <a:prstGeom prst="line">
            <a:avLst/>
          </a:prstGeom>
          <a:noFill/>
          <a:ln w="3175" cap="flat" cmpd="sng">
            <a:solidFill>
              <a:srgbClr val="28A9D6"/>
            </a:solidFill>
            <a:bevel/>
          </a:ln>
        </p:spPr>
        <p:txBody>
          <a:bodyPr/>
          <a:lstStyle/>
          <a:p>
            <a:endParaRPr lang="zh-CN" altLang="en-US"/>
          </a:p>
        </p:txBody>
      </p:sp>
      <p:sp>
        <p:nvSpPr>
          <p:cNvPr id="3082" name="直接连接符 40"/>
          <p:cNvSpPr>
            <a:spLocks noChangeShapeType="1"/>
          </p:cNvSpPr>
          <p:nvPr userDrawn="1"/>
        </p:nvSpPr>
        <p:spPr bwMode="auto">
          <a:xfrm>
            <a:off x="7872413" y="6152515"/>
            <a:ext cx="4319587" cy="12700"/>
          </a:xfrm>
          <a:prstGeom prst="line">
            <a:avLst/>
          </a:prstGeom>
          <a:noFill/>
          <a:ln w="3175" cap="flat" cmpd="sng">
            <a:solidFill>
              <a:srgbClr val="28A9D6"/>
            </a:solidFill>
            <a:bevel/>
          </a:ln>
        </p:spPr>
        <p:txBody>
          <a:bodyPr/>
          <a:lstStyle/>
          <a:p>
            <a:endParaRPr lang="zh-CN" altLang="en-US"/>
          </a:p>
        </p:txBody>
      </p:sp>
      <p:sp>
        <p:nvSpPr>
          <p:cNvPr id="3083" name="直接连接符 41"/>
          <p:cNvSpPr>
            <a:spLocks noChangeShapeType="1"/>
          </p:cNvSpPr>
          <p:nvPr userDrawn="1"/>
        </p:nvSpPr>
        <p:spPr bwMode="auto">
          <a:xfrm>
            <a:off x="7872413" y="6219190"/>
            <a:ext cx="4319587" cy="12700"/>
          </a:xfrm>
          <a:prstGeom prst="line">
            <a:avLst/>
          </a:prstGeom>
          <a:noFill/>
          <a:ln w="3175" cap="flat" cmpd="sng">
            <a:solidFill>
              <a:srgbClr val="28A9D6"/>
            </a:solidFill>
            <a:bevel/>
          </a:ln>
        </p:spPr>
        <p:txBody>
          <a:bodyPr/>
          <a:lstStyle/>
          <a:p>
            <a:endParaRPr lang="zh-CN" altLang="en-US"/>
          </a:p>
        </p:txBody>
      </p:sp>
      <p:grpSp>
        <p:nvGrpSpPr>
          <p:cNvPr id="4" name="组合 3"/>
          <p:cNvGrpSpPr/>
          <p:nvPr userDrawn="1"/>
        </p:nvGrpSpPr>
        <p:grpSpPr>
          <a:xfrm>
            <a:off x="4474845" y="5816600"/>
            <a:ext cx="3270250" cy="698500"/>
            <a:chOff x="6934" y="9160"/>
            <a:chExt cx="5150" cy="1100"/>
          </a:xfrm>
        </p:grpSpPr>
        <p:sp>
          <p:nvSpPr>
            <p:cNvPr id="3085" name="文本框 42"/>
            <p:cNvSpPr>
              <a:spLocks noChangeArrowheads="1"/>
            </p:cNvSpPr>
            <p:nvPr userDrawn="1"/>
          </p:nvSpPr>
          <p:spPr bwMode="auto">
            <a:xfrm>
              <a:off x="7980" y="9505"/>
              <a:ext cx="4105" cy="434"/>
            </a:xfrm>
            <a:prstGeom prst="rect">
              <a:avLst/>
            </a:prstGeom>
            <a:noFill/>
            <a:ln w="9525">
              <a:noFill/>
              <a:miter lim="800000"/>
            </a:ln>
          </p:spPr>
          <p:txBody>
            <a:bodyPr wrap="square">
              <a:spAutoFit/>
            </a:bodyPr>
            <a:lstStyle/>
            <a:p>
              <a:pPr algn="dist"/>
              <a:r>
                <a:rPr lang="zh-CN" altLang="en-US" sz="1200" b="1" dirty="0" smtClean="0">
                  <a:solidFill>
                    <a:srgbClr val="00B0F0"/>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en-US" altLang="zh-CN" sz="1200" b="1" dirty="0" smtClean="0">
                <a:solidFill>
                  <a:srgbClr val="00B0F0"/>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6" name="Picture 3"/>
            <p:cNvPicPr>
              <a:picLocks noChangeAspect="1" noChangeArrowheads="1"/>
            </p:cNvPicPr>
            <p:nvPr userDrawn="1"/>
          </p:nvPicPr>
          <p:blipFill>
            <a:blip r:embed="rId2"/>
            <a:srcRect/>
            <a:stretch>
              <a:fillRect/>
            </a:stretch>
          </p:blipFill>
          <p:spPr bwMode="auto">
            <a:xfrm>
              <a:off x="6934" y="9160"/>
              <a:ext cx="1101" cy="1101"/>
            </a:xfrm>
            <a:prstGeom prst="rect">
              <a:avLst/>
            </a:prstGeom>
            <a:noFill/>
            <a:ln w="9525">
              <a:noFill/>
              <a:miter lim="800000"/>
              <a:headEnd/>
              <a:tailEnd/>
            </a:ln>
            <a:effectLst/>
          </p:spPr>
        </p:pic>
      </p:grpSp>
      <p:pic>
        <p:nvPicPr>
          <p:cNvPr id="2" name="图片 1" descr="SZU讲义尾页"/>
          <p:cNvPicPr>
            <a:picLocks noChangeAspect="1"/>
          </p:cNvPicPr>
          <p:nvPr userDrawn="1"/>
        </p:nvPicPr>
        <p:blipFill>
          <a:blip r:embed="rId3"/>
          <a:stretch>
            <a:fillRect/>
          </a:stretch>
        </p:blipFill>
        <p:spPr>
          <a:xfrm>
            <a:off x="0" y="-35560"/>
            <a:ext cx="12191365" cy="4763770"/>
          </a:xfrm>
          <a:prstGeom prst="rect">
            <a:avLst/>
          </a:prstGeom>
        </p:spPr>
      </p:pic>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5144135"/>
          </a:xfrm>
        </p:spPr>
        <p:txBody>
          <a:bodyPr/>
          <a:lstStyle>
            <a:lvl1pPr>
              <a:buFont typeface="Wingdings" panose="05000000000000000000" charset="0"/>
              <a:buChar char="l"/>
              <a:defRPr sz="2800">
                <a:sym typeface="宋体" panose="02010600030101010101" pitchFamily="2" charset="-122"/>
              </a:defRPr>
            </a:lvl1pPr>
            <a:lvl2pPr>
              <a:defRPr sz="2400">
                <a:sym typeface="宋体" panose="02010600030101010101" pitchFamily="2" charset="-122"/>
              </a:defRPr>
            </a:lvl2pPr>
            <a:lvl3pPr>
              <a:buFont typeface="Arial" panose="020B0604020202020204" pitchFamily="34" charset="0"/>
              <a:buChar char="•"/>
              <a:defRPr sz="2000">
                <a:sym typeface="宋体" panose="02010600030101010101" pitchFamily="2" charset="-122"/>
              </a:defRPr>
            </a:lvl3pPr>
            <a:lvl4pPr>
              <a:defRPr sz="2000">
                <a:sym typeface="宋体" panose="02010600030101010101" pitchFamily="2" charset="-122"/>
              </a:defRPr>
            </a:lvl4pPr>
            <a:lvl5pPr>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endParaRPr lang="en-US" dirty="0"/>
          </a:p>
        </p:txBody>
      </p:sp>
      <p:sp>
        <p:nvSpPr>
          <p:cNvPr id="7" name="标题 6"/>
          <p:cNvSpPr>
            <a:spLocks noGrp="1"/>
          </p:cNvSpPr>
          <p:nvPr>
            <p:ph type="title"/>
          </p:nvPr>
        </p:nvSpPr>
        <p:spPr>
          <a:xfrm>
            <a:off x="752475" y="150813"/>
            <a:ext cx="10972800" cy="796908"/>
          </a:xfrm>
        </p:spPr>
        <p:txBody>
          <a:bodyPr rtlCol="0"/>
          <a:lstStyle>
            <a:lvl1pPr algn="l">
              <a:defRPr sz="3600">
                <a:sym typeface="宋体" panose="02010600030101010101" pitchFamily="2" charset="-122"/>
              </a:defRPr>
            </a:lvl1pPr>
          </a:lstStyle>
          <a:p>
            <a:r>
              <a:rPr lang="zh-CN" altLang="en-US" smtClean="0"/>
              <a:t>单击此处编辑母版标题样式</a:t>
            </a:r>
            <a:endParaRPr lang="en-US"/>
          </a:p>
        </p:txBody>
      </p:sp>
      <p:sp>
        <p:nvSpPr>
          <p:cNvPr id="21" name="任意多边形 28"/>
          <p:cNvSpPr>
            <a:spLocks noChangeArrowheads="1"/>
          </p:cNvSpPr>
          <p:nvPr userDrawn="1"/>
        </p:nvSpPr>
        <p:spPr bwMode="auto">
          <a:xfrm flipV="1">
            <a:off x="174625" y="424180"/>
            <a:ext cx="4765040" cy="421005"/>
          </a:xfrm>
          <a:custGeom>
            <a:avLst/>
            <a:gdLst>
              <a:gd name="T0" fmla="*/ 167822 w 1386790"/>
              <a:gd name="T1" fmla="*/ 524933 h 524933"/>
              <a:gd name="T2" fmla="*/ 168846 w 1386790"/>
              <a:gd name="T3" fmla="*/ 524933 h 524933"/>
              <a:gd name="T4" fmla="*/ 168846 w 1386790"/>
              <a:gd name="T5" fmla="*/ 14598 h 524933"/>
              <a:gd name="T6" fmla="*/ 1386790 w 1386790"/>
              <a:gd name="T7" fmla="*/ 14598 h 524933"/>
              <a:gd name="T8" fmla="*/ 1386790 w 1386790"/>
              <a:gd name="T9" fmla="*/ 0 h 524933"/>
              <a:gd name="T10" fmla="*/ 167822 w 1386790"/>
              <a:gd name="T11" fmla="*/ 0 h 524933"/>
              <a:gd name="T12" fmla="*/ 152999 w 1386790"/>
              <a:gd name="T13" fmla="*/ 0 h 524933"/>
              <a:gd name="T14" fmla="*/ 152999 w 1386790"/>
              <a:gd name="T15" fmla="*/ 507260 h 524933"/>
              <a:gd name="T16" fmla="*/ 107280 w 1386790"/>
              <a:gd name="T17" fmla="*/ 507260 h 524933"/>
              <a:gd name="T18" fmla="*/ 107280 w 1386790"/>
              <a:gd name="T19" fmla="*/ 0 h 524933"/>
              <a:gd name="T20" fmla="*/ 0 w 1386790"/>
              <a:gd name="T21" fmla="*/ 0 h 524933"/>
              <a:gd name="T22" fmla="*/ 0 w 1386790"/>
              <a:gd name="T23" fmla="*/ 524932 h 524933"/>
              <a:gd name="T24" fmla="*/ 33834 w 1386790"/>
              <a:gd name="T25" fmla="*/ 524932 h 524933"/>
              <a:gd name="T26" fmla="*/ 33834 w 1386790"/>
              <a:gd name="T27" fmla="*/ 23810 h 524933"/>
              <a:gd name="T28" fmla="*/ 79553 w 1386790"/>
              <a:gd name="T29" fmla="*/ 23810 h 524933"/>
              <a:gd name="T30" fmla="*/ 79553 w 1386790"/>
              <a:gd name="T31" fmla="*/ 524932 h 524933"/>
              <a:gd name="T32" fmla="*/ 167822 w 1386790"/>
              <a:gd name="T33" fmla="*/ 524932 h 52493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86790"/>
              <a:gd name="T52" fmla="*/ 0 h 524933"/>
              <a:gd name="T53" fmla="*/ 1386790 w 1386790"/>
              <a:gd name="T54" fmla="*/ 524933 h 52493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w="25400" cap="flat" cmpd="sng">
            <a:noFill/>
            <a:bevel/>
          </a:ln>
        </p:spPr>
        <p:txBody>
          <a:bodyPr anchor="ctr"/>
          <a:p>
            <a:pPr algn="ctr"/>
            <a:endParaRPr lang="zh-CN" altLang="zh-CN">
              <a:solidFill>
                <a:srgbClr val="FFFFFF"/>
              </a:solidFill>
            </a:endParaRPr>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p>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34433" y="188913"/>
            <a:ext cx="10972800" cy="792162"/>
          </a:xfrm>
        </p:spPr>
        <p:txBody>
          <a:bodyPr/>
          <a:lstStyle>
            <a:lvl1pPr>
              <a:defRPr>
                <a:sym typeface="宋体" panose="02010600030101010101" pitchFamily="2" charset="-122"/>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431800" y="1268413"/>
            <a:ext cx="5611284" cy="4752975"/>
          </a:xfrm>
        </p:spPr>
        <p:txBody>
          <a:bodyPr/>
          <a:lstStyle>
            <a:lvl1pPr>
              <a:defRPr>
                <a:sym typeface="宋体" panose="02010600030101010101" pitchFamily="2" charset="-122"/>
              </a:defRPr>
            </a:lvl1pPr>
            <a:lvl2pPr>
              <a:defRPr>
                <a:sym typeface="宋体" panose="02010600030101010101" pitchFamily="2" charset="-122"/>
              </a:defRPr>
            </a:lvl2pPr>
            <a:lvl3pPr>
              <a:defRPr>
                <a:sym typeface="宋体" panose="02010600030101010101" pitchFamily="2" charset="-122"/>
              </a:defRPr>
            </a:lvl3pPr>
            <a:lvl4pPr>
              <a:defRPr>
                <a:sym typeface="宋体" panose="02010600030101010101" pitchFamily="2" charset="-122"/>
              </a:defRPr>
            </a:lvl4pPr>
            <a:lvl5pPr>
              <a:defRPr>
                <a:sym typeface="宋体" panose="02010600030101010101" pitchFamily="2" charset="-122"/>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246284" y="1268413"/>
            <a:ext cx="5611283" cy="4752975"/>
          </a:xfrm>
        </p:spPr>
        <p:txBody>
          <a:bodyPr/>
          <a:lstStyle>
            <a:lvl1pPr>
              <a:defRPr>
                <a:sym typeface="宋体" panose="02010600030101010101" pitchFamily="2" charset="-122"/>
              </a:defRPr>
            </a:lvl1pPr>
            <a:lvl2pPr>
              <a:defRPr>
                <a:sym typeface="宋体" panose="02010600030101010101" pitchFamily="2" charset="-122"/>
              </a:defRPr>
            </a:lvl2pPr>
            <a:lvl3pPr>
              <a:defRPr>
                <a:sym typeface="宋体" panose="02010600030101010101" pitchFamily="2" charset="-122"/>
              </a:defRPr>
            </a:lvl3pPr>
            <a:lvl4pPr>
              <a:defRPr>
                <a:sym typeface="宋体" panose="02010600030101010101" pitchFamily="2" charset="-122"/>
              </a:defRPr>
            </a:lvl4pPr>
            <a:lvl5pPr>
              <a:defRPr>
                <a:sym typeface="宋体" panose="02010600030101010101" pitchFamily="2" charset="-122"/>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页脚占位符 4"/>
          <p:cNvSpPr>
            <a:spLocks noGrp="1"/>
          </p:cNvSpPr>
          <p:nvPr>
            <p:ph type="ftr" sz="quarter" idx="10"/>
          </p:nvPr>
        </p:nvSpPr>
        <p:spPr>
          <a:xfrm>
            <a:off x="334433" y="6237288"/>
            <a:ext cx="3860800" cy="457200"/>
          </a:xfrm>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a:ln>
                  <a:noFill/>
                </a:ln>
                <a:solidFill>
                  <a:schemeClr val="tx1"/>
                </a:solidFill>
                <a:effectLst/>
                <a:uLnTx/>
                <a:uFillTx/>
                <a:latin typeface="+mj-lt"/>
                <a:ea typeface="宋体" panose="02010600030101010101" pitchFamily="2" charset="-122"/>
                <a:cs typeface="+mn-cs"/>
              </a:rPr>
              <a:t>OS</a:t>
            </a:r>
            <a:endParaRPr kumimoji="0" lang="en-US" altLang="zh-CN" sz="1600" b="1"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algn="r" eaLnBrk="1" fontAlgn="base" hangingPunct="1"/>
            <a:fld id="{9A0DB2DC-4C9A-4742-B13C-FB6460FD3503}" type="slidenum">
              <a:rPr lang="en-US" altLang="zh-CN" sz="1200" strike="noStrike" noProof="1" dirty="0">
                <a:latin typeface="Garamond" panose="02020404030301010803" pitchFamily="18" charset="0"/>
                <a:ea typeface="宋体" panose="02010600030101010101" pitchFamily="2" charset="-122"/>
                <a:cs typeface="+mn-ea"/>
              </a:rPr>
            </a:fld>
            <a:endParaRPr lang="en-US" altLang="zh-CN" sz="1200" strike="noStrike" noProof="1" dirty="0">
              <a:latin typeface="Garamond" panose="02020404030301010803"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8" name="Freeform 7"/>
          <p:cNvSpPr>
            <a:spLocks noChangeArrowheads="1"/>
          </p:cNvSpPr>
          <p:nvPr/>
        </p:nvSpPr>
        <p:spPr bwMode="auto">
          <a:xfrm>
            <a:off x="812800" y="1219200"/>
            <a:ext cx="105664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Line 8"/>
          <p:cNvSpPr>
            <a:spLocks noChangeShapeType="1"/>
          </p:cNvSpPr>
          <p:nvPr/>
        </p:nvSpPr>
        <p:spPr bwMode="auto">
          <a:xfrm>
            <a:off x="2641600" y="3962400"/>
            <a:ext cx="8682567" cy="0"/>
          </a:xfrm>
          <a:prstGeom prst="line">
            <a:avLst/>
          </a:prstGeom>
          <a:noFill/>
          <a:ln w="19050">
            <a:solidFill>
              <a:schemeClr val="accent1"/>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5586" name="Rectangle 2"/>
          <p:cNvSpPr>
            <a:spLocks noGrp="1" noChangeArrowheads="1"/>
          </p:cNvSpPr>
          <p:nvPr>
            <p:ph type="ctrTitle"/>
          </p:nvPr>
        </p:nvSpPr>
        <p:spPr>
          <a:xfrm>
            <a:off x="1219201" y="1524000"/>
            <a:ext cx="10164233" cy="1752600"/>
          </a:xfrm>
        </p:spPr>
        <p:txBody>
          <a:bodyPr/>
          <a:lstStyle>
            <a:lvl1pPr>
              <a:defRPr sz="5000">
                <a:sym typeface="宋体" panose="02010600030101010101" pitchFamily="2" charset="-122"/>
              </a:defRPr>
            </a:lvl1pPr>
          </a:lstStyle>
          <a:p>
            <a:pPr fontAlgn="base"/>
            <a:r>
              <a:rPr lang="en-US" altLang="zh-CN" strike="noStrike" noProof="1"/>
              <a:t>Click to edit Master title style</a:t>
            </a:r>
            <a:endParaRPr lang="en-US" altLang="zh-CN" strike="noStrike" noProof="1"/>
          </a:p>
        </p:txBody>
      </p:sp>
      <p:sp>
        <p:nvSpPr>
          <p:cNvPr id="195587" name="Rectangle 3"/>
          <p:cNvSpPr>
            <a:spLocks noGrp="1" noChangeArrowheads="1"/>
          </p:cNvSpPr>
          <p:nvPr>
            <p:ph type="subTitle" idx="1"/>
          </p:nvPr>
        </p:nvSpPr>
        <p:spPr>
          <a:xfrm>
            <a:off x="2641600" y="3962400"/>
            <a:ext cx="8737600" cy="1752600"/>
          </a:xfrm>
        </p:spPr>
        <p:txBody>
          <a:bodyPr/>
          <a:lstStyle>
            <a:lvl1pPr marL="0" indent="0">
              <a:defRPr sz="2600">
                <a:sym typeface="宋体" panose="02010600030101010101" pitchFamily="2" charset="-122"/>
              </a:defRPr>
            </a:lvl1pPr>
          </a:lstStyle>
          <a:p>
            <a:pPr fontAlgn="base"/>
            <a:r>
              <a:rPr lang="en-US" altLang="zh-CN" strike="noStrike" noProof="1"/>
              <a:t>Click to edit Master subtitle style</a:t>
            </a:r>
            <a:endParaRPr lang="en-US" altLang="zh-CN" strike="noStrike" noProof="1"/>
          </a:p>
        </p:txBody>
      </p:sp>
      <p:sp>
        <p:nvSpPr>
          <p:cNvPr id="10" name="Rectangle 6"/>
          <p:cNvSpPr>
            <a:spLocks noGrp="1" noChangeArrowheads="1"/>
          </p:cNvSpPr>
          <p:nvPr>
            <p:ph type="sldNum" sz="quarter" idx="4"/>
          </p:nvPr>
        </p:nvSpPr>
        <p:spPr bwMode="auto">
          <a:xfrm>
            <a:off x="8737600" y="6243638"/>
            <a:ext cx="2844800" cy="457200"/>
          </a:xfrm>
          <a:prstGeom prst="rect">
            <a:avLst/>
          </a:prstGeom>
          <a:noFill/>
          <a:ln w="9525">
            <a:noFill/>
            <a:miter lim="800000"/>
          </a:ln>
          <a:effectLst/>
        </p:spPr>
        <p:txBody>
          <a:bodyPr vert="horz" wrap="square" lIns="91440" tIns="45720" rIns="91440" bIns="45720" numCol="1" anchor="b" anchorCtr="0" compatLnSpc="1"/>
          <a:p>
            <a:pPr algn="r" fontAlgn="base"/>
            <a:fld id="{9A0DB2DC-4C9A-4742-B13C-FB6460FD3503}" type="slidenum">
              <a:rPr lang="en-US" altLang="zh-CN" sz="1200" strike="noStrike" noProof="1" dirty="0">
                <a:latin typeface="Garamond" panose="02020404030301010803" pitchFamily="18" charset="0"/>
                <a:ea typeface="宋体" panose="02010600030101010101" pitchFamily="2" charset="-122"/>
                <a:cs typeface="+mn-ea"/>
              </a:rPr>
            </a:fld>
            <a:endParaRPr lang="en-US" altLang="zh-CN" sz="1200" strike="noStrike" noProof="1" dirty="0">
              <a:latin typeface="Garamond" panose="02020404030301010803"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a:xfrm>
            <a:off x="334433" y="6237288"/>
            <a:ext cx="3860800" cy="457200"/>
          </a:xfrm>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a:ln>
                  <a:noFill/>
                </a:ln>
                <a:solidFill>
                  <a:schemeClr val="tx1"/>
                </a:solidFill>
                <a:effectLst/>
                <a:uLnTx/>
                <a:uFillTx/>
                <a:latin typeface="+mj-lt"/>
                <a:ea typeface="宋体" panose="02010600030101010101" pitchFamily="2" charset="-122"/>
                <a:cs typeface="+mn-cs"/>
              </a:rPr>
              <a:t>OS</a:t>
            </a:r>
            <a:endParaRPr kumimoji="0" lang="en-US" altLang="zh-CN" sz="1600" b="1"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3" name="灯片编号占位符 2"/>
          <p:cNvSpPr>
            <a:spLocks noGrp="1"/>
          </p:cNvSpPr>
          <p:nvPr>
            <p:ph type="sldNum" sz="quarter" idx="11"/>
          </p:nvPr>
        </p:nvSpPr>
        <p:spPr/>
        <p:txBody>
          <a:bodyPr/>
          <a:p>
            <a:pPr lvl="0" algn="r" eaLnBrk="1" fontAlgn="base" hangingPunct="1"/>
            <a:fld id="{9A0DB2DC-4C9A-4742-B13C-FB6460FD3503}" type="slidenum">
              <a:rPr lang="en-US" altLang="zh-CN" sz="1200" strike="noStrike" noProof="1" dirty="0">
                <a:latin typeface="Garamond" panose="02020404030301010803" pitchFamily="18" charset="0"/>
                <a:ea typeface="宋体" panose="02010600030101010101" pitchFamily="2" charset="-122"/>
                <a:cs typeface="+mn-ea"/>
              </a:rPr>
            </a:fld>
            <a:endParaRPr lang="en-US" altLang="zh-CN" sz="1200" strike="noStrike" noProof="1" dirty="0">
              <a:latin typeface="Garamond" panose="02020404030301010803" pitchFamily="18"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34433" y="188913"/>
            <a:ext cx="10972800" cy="792163"/>
          </a:xfrm>
        </p:spPr>
        <p:txBody>
          <a:bodyPr/>
          <a:lstStyle>
            <a:lvl1pPr>
              <a:defRPr>
                <a:sym typeface="宋体" panose="02010600030101010101" pitchFamily="2" charset="-122"/>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431800" y="1268414"/>
            <a:ext cx="5611284" cy="4752975"/>
          </a:xfrm>
        </p:spPr>
        <p:txBody>
          <a:bodyPr/>
          <a:lstStyle>
            <a:lvl1pPr>
              <a:defRPr>
                <a:sym typeface="宋体" panose="02010600030101010101" pitchFamily="2" charset="-122"/>
              </a:defRPr>
            </a:lvl1pPr>
            <a:lvl2pPr>
              <a:defRPr>
                <a:sym typeface="宋体" panose="02010600030101010101" pitchFamily="2" charset="-122"/>
              </a:defRPr>
            </a:lvl2pPr>
            <a:lvl3pPr>
              <a:defRPr>
                <a:sym typeface="宋体" panose="02010600030101010101" pitchFamily="2" charset="-122"/>
              </a:defRPr>
            </a:lvl3pPr>
            <a:lvl4pPr>
              <a:defRPr>
                <a:sym typeface="宋体" panose="02010600030101010101" pitchFamily="2" charset="-122"/>
              </a:defRPr>
            </a:lvl4pPr>
            <a:lvl5pPr>
              <a:defRPr>
                <a:sym typeface="宋体" panose="02010600030101010101" pitchFamily="2" charset="-122"/>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6246284" y="1268414"/>
            <a:ext cx="5611283" cy="2300287"/>
          </a:xfrm>
        </p:spPr>
        <p:txBody>
          <a:bodyPr/>
          <a:lstStyle>
            <a:lvl1pPr>
              <a:defRPr>
                <a:sym typeface="宋体" panose="02010600030101010101" pitchFamily="2" charset="-122"/>
              </a:defRPr>
            </a:lvl1pPr>
            <a:lvl2pPr>
              <a:defRPr>
                <a:sym typeface="宋体" panose="02010600030101010101" pitchFamily="2" charset="-122"/>
              </a:defRPr>
            </a:lvl2pPr>
            <a:lvl3pPr>
              <a:defRPr>
                <a:sym typeface="宋体" panose="02010600030101010101" pitchFamily="2" charset="-122"/>
              </a:defRPr>
            </a:lvl3pPr>
            <a:lvl4pPr>
              <a:defRPr>
                <a:sym typeface="宋体" panose="02010600030101010101" pitchFamily="2" charset="-122"/>
              </a:defRPr>
            </a:lvl4pPr>
            <a:lvl5pPr>
              <a:defRPr>
                <a:sym typeface="宋体" panose="02010600030101010101" pitchFamily="2" charset="-122"/>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246284" y="3721100"/>
            <a:ext cx="5611283" cy="2300288"/>
          </a:xfrm>
        </p:spPr>
        <p:txBody>
          <a:bodyPr/>
          <a:lstStyle>
            <a:lvl1pPr>
              <a:defRPr>
                <a:sym typeface="宋体" panose="02010600030101010101" pitchFamily="2" charset="-122"/>
              </a:defRPr>
            </a:lvl1pPr>
            <a:lvl2pPr>
              <a:defRPr>
                <a:sym typeface="宋体" panose="02010600030101010101" pitchFamily="2" charset="-122"/>
              </a:defRPr>
            </a:lvl2pPr>
            <a:lvl3pPr>
              <a:defRPr>
                <a:sym typeface="宋体" panose="02010600030101010101" pitchFamily="2" charset="-122"/>
              </a:defRPr>
            </a:lvl3pPr>
            <a:lvl4pPr>
              <a:defRPr>
                <a:sym typeface="宋体" panose="02010600030101010101" pitchFamily="2" charset="-122"/>
              </a:defRPr>
            </a:lvl4pPr>
            <a:lvl5pPr>
              <a:defRPr>
                <a:sym typeface="宋体" panose="02010600030101010101" pitchFamily="2" charset="-122"/>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页脚占位符 5"/>
          <p:cNvSpPr>
            <a:spLocks noGrp="1"/>
          </p:cNvSpPr>
          <p:nvPr>
            <p:ph type="ftr" sz="quarter" idx="10"/>
          </p:nvPr>
        </p:nvSpPr>
        <p:spPr>
          <a:xfrm>
            <a:off x="334433" y="6237288"/>
            <a:ext cx="3860800" cy="457200"/>
          </a:xfrm>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a:ln>
                  <a:noFill/>
                </a:ln>
                <a:solidFill>
                  <a:schemeClr val="tx1"/>
                </a:solidFill>
                <a:effectLst/>
                <a:uLnTx/>
                <a:uFillTx/>
                <a:latin typeface="+mj-lt"/>
                <a:ea typeface="宋体" panose="02010600030101010101" pitchFamily="2" charset="-122"/>
                <a:cs typeface="+mn-cs"/>
              </a:rPr>
              <a:t>OS</a:t>
            </a:r>
            <a:endParaRPr kumimoji="0" lang="en-US" altLang="zh-CN" sz="1600" b="1"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7" name="灯片编号占位符 6"/>
          <p:cNvSpPr>
            <a:spLocks noGrp="1"/>
          </p:cNvSpPr>
          <p:nvPr>
            <p:ph type="sldNum" sz="quarter" idx="11"/>
          </p:nvPr>
        </p:nvSpPr>
        <p:spPr/>
        <p:txBody>
          <a:bodyPr/>
          <a:p>
            <a:pPr lvl="0" algn="r" eaLnBrk="1" fontAlgn="base" hangingPunct="1"/>
            <a:fld id="{9A0DB2DC-4C9A-4742-B13C-FB6460FD3503}" type="slidenum">
              <a:rPr lang="en-US" altLang="zh-CN" sz="1200" strike="noStrike" noProof="1" dirty="0">
                <a:latin typeface="Garamond" panose="02020404030301010803" pitchFamily="18" charset="0"/>
                <a:ea typeface="宋体" panose="02010600030101010101" pitchFamily="2" charset="-122"/>
                <a:cs typeface="+mn-ea"/>
              </a:rPr>
            </a:fld>
            <a:endParaRPr lang="en-US" altLang="zh-CN" sz="1200" strike="noStrike" noProof="1" dirty="0">
              <a:latin typeface="Garamond" panose="02020404030301010803"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rotWithShape="0">
          <a:gsLst>
            <a:gs pos="0">
              <a:srgbClr val="F4F8FB"/>
            </a:gs>
            <a:gs pos="63000">
              <a:srgbClr val="F2F2F2"/>
            </a:gs>
            <a:gs pos="100000">
              <a:srgbClr val="D8D8D8"/>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1026" name="灯片编号占位符 3"/>
          <p:cNvSpPr>
            <a:spLocks noGrp="1" noChangeArrowheads="1"/>
          </p:cNvSpPr>
          <p:nvPr>
            <p:ph type="sldNum" sz="quarter" idx="4"/>
          </p:nvPr>
        </p:nvSpPr>
        <p:spPr bwMode="auto">
          <a:xfrm>
            <a:off x="942975" y="633888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marL="1219200" indent="-1219200" algn="ctr" rtl="0" fontAlgn="base">
        <a:spcBef>
          <a:spcPct val="0"/>
        </a:spcBef>
        <a:spcAft>
          <a:spcPct val="0"/>
        </a:spcAft>
        <a:defRPr sz="5800">
          <a:solidFill>
            <a:schemeClr val="tx1"/>
          </a:solidFill>
          <a:latin typeface="+mj-lt"/>
          <a:ea typeface="+mj-ea"/>
          <a:cs typeface="+mj-cs"/>
          <a:sym typeface="Copperplate Gothic Bold" panose="020E0705020206020404" charset="0"/>
        </a:defRPr>
      </a:lvl1pPr>
      <a:lvl2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2pPr>
      <a:lvl3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3pPr>
      <a:lvl4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4pPr>
      <a:lvl5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5pPr>
      <a:lvl6pPr marL="16764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6pPr>
      <a:lvl7pPr marL="21336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7pPr>
      <a:lvl8pPr marL="25908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8pPr>
      <a:lvl9pPr marL="30480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9pPr>
    </p:titleStyle>
    <p:bodyStyle>
      <a:lvl1pPr marL="457200" indent="-457200" algn="l" defTabSz="1219200" rtl="0" fontAlgn="base">
        <a:spcBef>
          <a:spcPct val="20000"/>
        </a:spcBef>
        <a:spcAft>
          <a:spcPct val="0"/>
        </a:spcAft>
        <a:buFont typeface="Arial" panose="020B0604020202020204" pitchFamily="34" charset="0"/>
        <a:buChar char="•"/>
        <a:defRPr sz="4200">
          <a:solidFill>
            <a:schemeClr val="tx1"/>
          </a:solidFill>
          <a:latin typeface="+mn-lt"/>
          <a:ea typeface="+mn-ea"/>
          <a:cs typeface="+mn-cs"/>
          <a:sym typeface="Copperplate Gothic Bold" panose="020E0705020206020404" charset="0"/>
        </a:defRPr>
      </a:lvl1pPr>
      <a:lvl2pPr marL="990600" indent="-381000" algn="l" defTabSz="1219200" rtl="0" fontAlgn="base">
        <a:spcBef>
          <a:spcPct val="20000"/>
        </a:spcBef>
        <a:spcAft>
          <a:spcPct val="0"/>
        </a:spcAft>
        <a:buFont typeface="Arial" panose="020B0604020202020204" pitchFamily="34" charset="0"/>
        <a:buChar char="–"/>
        <a:defRPr sz="3700">
          <a:solidFill>
            <a:schemeClr val="tx1"/>
          </a:solidFill>
          <a:latin typeface="+mn-lt"/>
          <a:ea typeface="+mn-ea"/>
          <a:sym typeface="Copperplate Gothic Bold" panose="020E0705020206020404" charset="0"/>
        </a:defRPr>
      </a:lvl2pPr>
      <a:lvl3pPr marL="1524000" indent="-304800" algn="l" defTabSz="1219200" rtl="0" fontAlgn="base">
        <a:spcBef>
          <a:spcPct val="20000"/>
        </a:spcBef>
        <a:spcAft>
          <a:spcPct val="0"/>
        </a:spcAft>
        <a:buFont typeface="Arial" panose="020B0604020202020204" pitchFamily="34" charset="0"/>
        <a:buChar char="•"/>
        <a:defRPr sz="3200">
          <a:solidFill>
            <a:schemeClr val="tx1"/>
          </a:solidFill>
          <a:latin typeface="+mn-lt"/>
          <a:ea typeface="+mn-ea"/>
          <a:sym typeface="Copperplate Gothic Bold" panose="020E0705020206020404" charset="0"/>
        </a:defRPr>
      </a:lvl3pPr>
      <a:lvl4pPr marL="21336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4pPr>
      <a:lvl5pPr marL="27432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5pPr>
      <a:lvl6pPr marL="32004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6pPr>
      <a:lvl7pPr marL="36576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7pPr>
      <a:lvl8pPr marL="41148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8pPr>
      <a:lvl9pPr marL="45720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8.xml"/><Relationship Id="rId2" Type="http://schemas.openxmlformats.org/officeDocument/2006/relationships/image" Target="../media/image7.wmf"/><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3.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8.xml"/><Relationship Id="rId2" Type="http://schemas.openxmlformats.org/officeDocument/2006/relationships/image" Target="../media/image11.wmf"/><Relationship Id="rId1" Type="http://schemas.openxmlformats.org/officeDocument/2006/relationships/oleObject" Target="../embeddings/oleObject2.bin"/></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4.jpe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4.jpeg"/></Relationships>
</file>

<file path=ppt/slides/_rels/slide73.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8.xml"/><Relationship Id="rId3" Type="http://schemas.openxmlformats.org/officeDocument/2006/relationships/image" Target="../media/image16.png"/><Relationship Id="rId2" Type="http://schemas.openxmlformats.org/officeDocument/2006/relationships/image" Target="../media/image15.wmf"/><Relationship Id="rId1" Type="http://schemas.openxmlformats.org/officeDocument/2006/relationships/oleObject" Target="../embeddings/oleObject3.bin"/></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8.jpeg"/></Relationships>
</file>

<file path=ppt/slides/_rels/slide78.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8.xml"/><Relationship Id="rId2" Type="http://schemas.openxmlformats.org/officeDocument/2006/relationships/image" Target="../media/image18.wmf"/><Relationship Id="rId1" Type="http://schemas.openxmlformats.org/officeDocument/2006/relationships/oleObject" Target="../embeddings/oleObject4.bin"/></Relationships>
</file>

<file path=ppt/slides/_rels/slide79.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8.xml"/><Relationship Id="rId4" Type="http://schemas.openxmlformats.org/officeDocument/2006/relationships/image" Target="../media/image20.wmf"/><Relationship Id="rId3" Type="http://schemas.openxmlformats.org/officeDocument/2006/relationships/oleObject" Target="../embeddings/oleObject6.bin"/><Relationship Id="rId2" Type="http://schemas.openxmlformats.org/officeDocument/2006/relationships/image" Target="../media/image19.wmf"/><Relationship Id="rId1" Type="http://schemas.openxmlformats.org/officeDocument/2006/relationships/oleObject" Target="../embeddings/oleObject5.bin"/></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8.jpe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4.jpe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8.jpe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22.png"/><Relationship Id="rId1" Type="http://schemas.openxmlformats.org/officeDocument/2006/relationships/tags" Target="../tags/tag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4.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8.xml"/><Relationship Id="rId2" Type="http://schemas.openxmlformats.org/officeDocument/2006/relationships/image" Target="../media/image23.wmf"/><Relationship Id="rId1" Type="http://schemas.openxmlformats.org/officeDocument/2006/relationships/oleObject" Target="../embeddings/oleObject7.bin"/></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4.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8.xml"/><Relationship Id="rId2" Type="http://schemas.openxmlformats.org/officeDocument/2006/relationships/image" Target="../media/image24.wmf"/><Relationship Id="rId1" Type="http://schemas.openxmlformats.org/officeDocument/2006/relationships/oleObject" Target="../embeddings/oleObject8.bin"/></Relationships>
</file>

<file path=ppt/slides/_rels/slide115.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8.xml"/><Relationship Id="rId2" Type="http://schemas.openxmlformats.org/officeDocument/2006/relationships/image" Target="../media/image25.wmf"/><Relationship Id="rId1" Type="http://schemas.openxmlformats.org/officeDocument/2006/relationships/oleObject" Target="../embeddings/oleObject9.bin"/></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6.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7.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8.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8.xml"/></Relationships>
</file>

<file path=ppt/slides/_rels/slide131.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9.xml"/></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0.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9.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32.png"/><Relationship Id="rId1" Type="http://schemas.openxmlformats.org/officeDocument/2006/relationships/tags" Target="../tags/tag11.xml"/></Relationships>
</file>

<file path=ppt/slides/_rels/slide14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33.png"/></Relationships>
</file>

<file path=ppt/slides/_rels/slide14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34.png"/></Relationships>
</file>

<file path=ppt/slides/_rels/slide14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35.png"/></Relationships>
</file>

<file path=ppt/slides/_rels/slide143.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8.xml"/><Relationship Id="rId2" Type="http://schemas.openxmlformats.org/officeDocument/2006/relationships/image" Target="../media/image36.wmf"/><Relationship Id="rId1" Type="http://schemas.openxmlformats.org/officeDocument/2006/relationships/oleObject" Target="../embeddings/oleObject10.bin"/></Relationships>
</file>

<file path=ppt/slides/_rels/slide14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37.png"/></Relationships>
</file>

<file path=ppt/slides/_rels/slide14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38.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4159885" y="4126230"/>
            <a:ext cx="4374515" cy="815340"/>
          </a:xfrm>
          <a:prstGeom prst="rect">
            <a:avLst/>
          </a:prstGeom>
        </p:spPr>
        <p:txBody>
          <a:bodyPr vert="horz" lIns="91440" tIns="45720" rIns="91440" bIns="45720" rtlCol="0" anchor="ctr" anchorCtr="0">
            <a:noAutofit/>
          </a:bodyPr>
          <a:p>
            <a:pPr marL="0" lvl="0" indent="0" algn="ctr">
              <a:lnSpc>
                <a:spcPct val="90000"/>
              </a:lnSpc>
              <a:spcBef>
                <a:spcPts val="1000"/>
              </a:spcBef>
              <a:buClr>
                <a:schemeClr val="accent2"/>
              </a:buClr>
              <a:buFont typeface="Wingdings" panose="05000000000000000000" pitchFamily="2" charset="2"/>
              <a:buNone/>
            </a:pPr>
            <a:r>
              <a:rPr lang="en-US" altLang="zh-CN" sz="4400">
                <a:solidFill>
                  <a:srgbClr val="FFFF00"/>
                </a:solidFill>
              </a:rPr>
              <a:t>7 </a:t>
            </a:r>
            <a:r>
              <a:rPr lang="zh-CN" altLang="en-US" sz="4400">
                <a:solidFill>
                  <a:srgbClr val="FFFF00"/>
                </a:solidFill>
              </a:rPr>
              <a:t>图</a:t>
            </a:r>
            <a:endParaRPr lang="zh-CN" altLang="en-US" sz="4400">
              <a:solidFill>
                <a:srgbClr val="FFFF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内容占位符 2"/>
          <p:cNvSpPr>
            <a:spLocks noGrp="1"/>
          </p:cNvSpPr>
          <p:nvPr>
            <p:ph idx="1"/>
          </p:nvPr>
        </p:nvSpPr>
        <p:spPr>
          <a:xfrm>
            <a:off x="191770" y="1052830"/>
            <a:ext cx="8229600" cy="4386580"/>
          </a:xfrm>
        </p:spPr>
        <p:txBody>
          <a:bodyPr/>
          <a:lstStyle/>
          <a:p>
            <a:pPr eaLnBrk="1" hangingPunct="1"/>
            <a:r>
              <a:rPr lang="zh-CN" altLang="en-US" smtClean="0">
                <a:latin typeface="楷体" panose="02010609060101010101" charset="-122"/>
                <a:ea typeface="楷体" panose="02010609060101010101" charset="-122"/>
                <a:cs typeface="楷体" panose="02010609060101010101" charset="-122"/>
              </a:rPr>
              <a:t>绪论</a:t>
            </a:r>
            <a:endParaRPr lang="en-US" altLang="zh-CN"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线性表</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栈和队列</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串</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数组和广义表</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树和二叉树</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图</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查找</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内部排序</a:t>
            </a:r>
            <a:endParaRPr lang="zh-CN" altLang="en-US" smtClean="0">
              <a:latin typeface="楷体" panose="02010609060101010101" charset="-122"/>
              <a:ea typeface="楷体" panose="02010609060101010101" charset="-122"/>
              <a:cs typeface="楷体" panose="02010609060101010101" charset="-122"/>
            </a:endParaRPr>
          </a:p>
        </p:txBody>
      </p:sp>
      <p:sp>
        <p:nvSpPr>
          <p:cNvPr id="2" name="标题 1"/>
          <p:cNvSpPr>
            <a:spLocks noGrp="1"/>
          </p:cNvSpPr>
          <p:nvPr>
            <p:ph type="title"/>
          </p:nvPr>
        </p:nvSpPr>
        <p:spPr/>
        <p:txBody>
          <a:bodyPr/>
          <a:lstStyle/>
          <a:p>
            <a:pPr eaLnBrk="1" fontAlgn="auto" hangingPunct="1">
              <a:spcAft>
                <a:spcPts val="0"/>
              </a:spcAft>
              <a:defRPr/>
            </a:pPr>
            <a:r>
              <a:rPr lang="zh-CN" altLang="en-US" dirty="0" smtClean="0"/>
              <a:t>课程结构（按教材划分）</a:t>
            </a:r>
            <a:endParaRPr lang="zh-CN" altLang="en-US" dirty="0"/>
          </a:p>
        </p:txBody>
      </p:sp>
      <p:sp>
        <p:nvSpPr>
          <p:cNvPr id="4" name="右大括号 3"/>
          <p:cNvSpPr/>
          <p:nvPr/>
        </p:nvSpPr>
        <p:spPr>
          <a:xfrm>
            <a:off x="2999105" y="1628775"/>
            <a:ext cx="504190" cy="1669415"/>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000" b="1">
                <a:solidFill>
                  <a:srgbClr val="FF0000"/>
                </a:solidFill>
                <a:latin typeface="黑体" panose="02010609060101010101" pitchFamily="2" charset="-122"/>
                <a:ea typeface="黑体" panose="02010609060101010101" pitchFamily="2" charset="-122"/>
              </a:rPr>
              <a:t>线性结构</a:t>
            </a:r>
            <a:endParaRPr lang="zh-CN" altLang="en-US" sz="2000" b="1">
              <a:solidFill>
                <a:srgbClr val="FF0000"/>
              </a:solidFill>
              <a:latin typeface="黑体" panose="02010609060101010101" pitchFamily="2" charset="-122"/>
              <a:ea typeface="黑体" panose="02010609060101010101" pitchFamily="2" charset="-122"/>
            </a:endParaRPr>
          </a:p>
        </p:txBody>
      </p:sp>
      <p:sp>
        <p:nvSpPr>
          <p:cNvPr id="5" name="右大括号 4"/>
          <p:cNvSpPr/>
          <p:nvPr/>
        </p:nvSpPr>
        <p:spPr>
          <a:xfrm>
            <a:off x="4007485" y="4653280"/>
            <a:ext cx="504190" cy="929640"/>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000" b="1">
                <a:solidFill>
                  <a:srgbClr val="FF0000"/>
                </a:solidFill>
                <a:latin typeface="黑体" panose="02010609060101010101" pitchFamily="2" charset="-122"/>
                <a:ea typeface="黑体" panose="02010609060101010101" pitchFamily="2" charset="-122"/>
              </a:rPr>
              <a:t>应用</a:t>
            </a:r>
            <a:endParaRPr lang="zh-CN" altLang="en-US" sz="2000" b="1">
              <a:solidFill>
                <a:srgbClr val="FF0000"/>
              </a:solidFill>
              <a:latin typeface="黑体" panose="02010609060101010101" pitchFamily="2" charset="-122"/>
              <a:ea typeface="黑体" panose="02010609060101010101" pitchFamily="2" charset="-122"/>
            </a:endParaRPr>
          </a:p>
        </p:txBody>
      </p:sp>
      <p:sp>
        <p:nvSpPr>
          <p:cNvPr id="7" name="右大括号 6"/>
          <p:cNvSpPr/>
          <p:nvPr/>
        </p:nvSpPr>
        <p:spPr>
          <a:xfrm>
            <a:off x="4871720" y="2111375"/>
            <a:ext cx="876935" cy="3006725"/>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000" b="1">
                <a:solidFill>
                  <a:srgbClr val="FF0000"/>
                </a:solidFill>
                <a:latin typeface="黑体" panose="02010609060101010101" pitchFamily="2" charset="-122"/>
                <a:ea typeface="黑体" panose="02010609060101010101" pitchFamily="2" charset="-122"/>
                <a:cs typeface="黑体" panose="02010609060101010101" pitchFamily="2" charset="-122"/>
              </a:rPr>
              <a:t>三类结构</a:t>
            </a:r>
            <a:r>
              <a:rPr lang="en-US" altLang="zh-CN" sz="2000" b="1">
                <a:solidFill>
                  <a:srgbClr val="FF0000"/>
                </a:solidFill>
                <a:latin typeface="黑体" panose="02010609060101010101" pitchFamily="2" charset="-122"/>
                <a:ea typeface="黑体" panose="02010609060101010101" pitchFamily="2" charset="-122"/>
                <a:cs typeface="黑体" panose="02010609060101010101" pitchFamily="2" charset="-122"/>
              </a:rPr>
              <a:t>+</a:t>
            </a:r>
            <a:r>
              <a:rPr lang="zh-CN" altLang="en-US" sz="2000" b="1">
                <a:solidFill>
                  <a:srgbClr val="FF0000"/>
                </a:solidFill>
                <a:latin typeface="黑体" panose="02010609060101010101" pitchFamily="2" charset="-122"/>
                <a:ea typeface="黑体" panose="02010609060101010101" pitchFamily="2" charset="-122"/>
                <a:cs typeface="黑体" panose="02010609060101010101" pitchFamily="2" charset="-122"/>
              </a:rPr>
              <a:t>两种应用</a:t>
            </a:r>
            <a:endParaRPr lang="zh-CN" altLang="en-US" sz="2000" b="1">
              <a:solidFill>
                <a:srgbClr val="FF0000"/>
              </a:solidFill>
              <a:latin typeface="黑体" panose="02010609060101010101" pitchFamily="2" charset="-122"/>
              <a:ea typeface="黑体" panose="02010609060101010101" pitchFamily="2" charset="-122"/>
              <a:cs typeface="黑体" panose="02010609060101010101" pitchFamily="2" charset="-122"/>
            </a:endParaRPr>
          </a:p>
        </p:txBody>
      </p:sp>
      <p:sp>
        <p:nvSpPr>
          <p:cNvPr id="8" name="标题 1"/>
          <p:cNvSpPr>
            <a:spLocks noGrp="1"/>
          </p:cNvSpPr>
          <p:nvPr/>
        </p:nvSpPr>
        <p:spPr>
          <a:xfrm>
            <a:off x="4968875" y="5544820"/>
            <a:ext cx="7044055" cy="796925"/>
          </a:xfrm>
          <a:prstGeom prst="rect">
            <a:avLst/>
          </a:prstGeom>
        </p:spPr>
        <p:txBody>
          <a:bodyPr vert="horz" rtlCol="0" anchor="ctr">
            <a:scene3d>
              <a:camera prst="orthographicFront"/>
              <a:lightRig rig="soft" dir="t"/>
            </a:scene3d>
            <a:sp3d prstMaterial="softEdge">
              <a:bevelT w="25400" h="25400"/>
            </a:sp3d>
          </a:bodyPr>
          <a:lstStyle>
            <a:lvl1pPr algn="l" rtl="0" fontAlgn="base">
              <a:spcBef>
                <a:spcPct val="0"/>
              </a:spcBef>
              <a:spcAft>
                <a:spcPct val="0"/>
              </a:spcAft>
              <a:defRPr sz="40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2pPr>
            <a:lvl3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3pPr>
            <a:lvl4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4pPr>
            <a:lvl5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5pPr>
            <a:lvl6pPr marL="4572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6pPr>
            <a:lvl7pPr marL="9144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7pPr>
            <a:lvl8pPr marL="13716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8pPr>
            <a:lvl9pPr marL="18288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9pPr>
          </a:lstStyle>
          <a:p>
            <a:pPr algn="ctr" eaLnBrk="1" fontAlgn="auto" hangingPunct="1">
              <a:spcAft>
                <a:spcPts val="0"/>
              </a:spcAft>
              <a:defRPr/>
            </a:pPr>
            <a:r>
              <a:rPr lang="zh-CN" altLang="en-US" sz="2400" u="sng" dirty="0" smtClean="0">
                <a:solidFill>
                  <a:srgbClr val="FF0000"/>
                </a:solidFill>
              </a:rPr>
              <a:t>成绩：实验</a:t>
            </a:r>
            <a:r>
              <a:rPr lang="en-US" altLang="zh-CN" sz="2400" u="sng" dirty="0" smtClean="0">
                <a:solidFill>
                  <a:srgbClr val="FF0000"/>
                </a:solidFill>
              </a:rPr>
              <a:t>30%+</a:t>
            </a:r>
            <a:r>
              <a:rPr lang="zh-CN" altLang="en-US" sz="2400" u="sng" dirty="0" smtClean="0">
                <a:solidFill>
                  <a:srgbClr val="FF0000"/>
                </a:solidFill>
              </a:rPr>
              <a:t>作业</a:t>
            </a:r>
            <a:r>
              <a:rPr lang="en-US" altLang="zh-CN" sz="2400" u="sng" dirty="0" smtClean="0">
                <a:solidFill>
                  <a:srgbClr val="FF0000"/>
                </a:solidFill>
              </a:rPr>
              <a:t>10%+</a:t>
            </a:r>
            <a:r>
              <a:rPr lang="zh-CN" altLang="en-US" sz="2400" u="sng" dirty="0" smtClean="0">
                <a:solidFill>
                  <a:srgbClr val="FF0000"/>
                </a:solidFill>
              </a:rPr>
              <a:t>机考</a:t>
            </a:r>
            <a:r>
              <a:rPr lang="en-US" altLang="zh-CN" sz="2400" u="sng" dirty="0" smtClean="0">
                <a:solidFill>
                  <a:srgbClr val="FF0000"/>
                </a:solidFill>
              </a:rPr>
              <a:t>20%+</a:t>
            </a:r>
            <a:r>
              <a:rPr lang="zh-CN" altLang="en-US" sz="2400" u="sng" dirty="0" smtClean="0">
                <a:solidFill>
                  <a:srgbClr val="FF0000"/>
                </a:solidFill>
              </a:rPr>
              <a:t>笔试</a:t>
            </a:r>
            <a:r>
              <a:rPr lang="en-US" altLang="zh-CN" sz="2400" u="sng" dirty="0" smtClean="0">
                <a:solidFill>
                  <a:srgbClr val="FF0000"/>
                </a:solidFill>
              </a:rPr>
              <a:t>40%</a:t>
            </a:r>
            <a:endParaRPr lang="en-US" altLang="zh-CN" sz="2400" u="sng" dirty="0" smtClean="0">
              <a:solidFill>
                <a:srgbClr val="FF0000"/>
              </a:solidFill>
            </a:endParaRPr>
          </a:p>
        </p:txBody>
      </p:sp>
      <p:pic>
        <p:nvPicPr>
          <p:cNvPr id="10" name="图片 9"/>
          <p:cNvPicPr>
            <a:picLocks noChangeAspect="1"/>
          </p:cNvPicPr>
          <p:nvPr/>
        </p:nvPicPr>
        <p:blipFill>
          <a:blip r:embed="rId1"/>
          <a:stretch>
            <a:fillRect/>
          </a:stretch>
        </p:blipFill>
        <p:spPr>
          <a:xfrm>
            <a:off x="6096000" y="838200"/>
            <a:ext cx="3651885" cy="4601210"/>
          </a:xfrm>
          <a:prstGeom prst="rect">
            <a:avLst/>
          </a:prstGeom>
        </p:spPr>
      </p:pic>
      <p:sp>
        <p:nvSpPr>
          <p:cNvPr id="11" name="右大括号 10"/>
          <p:cNvSpPr/>
          <p:nvPr/>
        </p:nvSpPr>
        <p:spPr>
          <a:xfrm>
            <a:off x="3279775" y="3425825"/>
            <a:ext cx="583565" cy="594995"/>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000" b="1">
                <a:solidFill>
                  <a:srgbClr val="FF0000"/>
                </a:solidFill>
                <a:latin typeface="黑体" panose="02010609060101010101" pitchFamily="2" charset="-122"/>
                <a:ea typeface="黑体" panose="02010609060101010101" pitchFamily="2" charset="-122"/>
              </a:rPr>
              <a:t>树</a:t>
            </a:r>
            <a:endParaRPr lang="zh-CN" altLang="en-US" sz="2000" b="1">
              <a:solidFill>
                <a:srgbClr val="FF0000"/>
              </a:solidFill>
              <a:latin typeface="黑体" panose="02010609060101010101" pitchFamily="2" charset="-122"/>
              <a:ea typeface="黑体" panose="02010609060101010101" pitchFamily="2" charset="-122"/>
            </a:endParaRPr>
          </a:p>
        </p:txBody>
      </p:sp>
      <p:sp>
        <p:nvSpPr>
          <p:cNvPr id="12" name="右大括号 11"/>
          <p:cNvSpPr/>
          <p:nvPr/>
        </p:nvSpPr>
        <p:spPr>
          <a:xfrm>
            <a:off x="3647440" y="4076700"/>
            <a:ext cx="504190" cy="473075"/>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000" b="1">
                <a:solidFill>
                  <a:srgbClr val="FF0000"/>
                </a:solidFill>
                <a:latin typeface="黑体" panose="02010609060101010101" pitchFamily="2" charset="-122"/>
                <a:ea typeface="黑体" panose="02010609060101010101" pitchFamily="2" charset="-122"/>
              </a:rPr>
              <a:t>图</a:t>
            </a:r>
            <a:endParaRPr lang="zh-CN" altLang="en-US" sz="2000" b="1">
              <a:solidFill>
                <a:srgbClr val="FF0000"/>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469640" y="1268730"/>
            <a:ext cx="6001385" cy="3540760"/>
          </a:xfrm>
          <a:prstGeom prst="rect">
            <a:avLst/>
          </a:prstGeom>
        </p:spPr>
        <p:txBody>
          <a:bodyPr vert="horz" lIns="91440" tIns="45720" rIns="91440" bIns="45720" rtlCol="0"/>
          <a:lstStyle/>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图的定义和术语</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图的存储结构</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图的遍历</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图的连通</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有向无环图及其应用</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最短路径</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endParaRPr kumimoji="0" lang="zh-CN" altLang="en-US" sz="3200" b="0" i="0" u="none" strike="noStrike" kern="1200" cap="none" spc="0" normalizeH="0" baseline="0" noProof="0" dirty="0" err="1" smtClean="0">
              <a:ln>
                <a:noFill/>
              </a:ln>
              <a:solidFill>
                <a:schemeClr val="tx1"/>
              </a:solidFill>
              <a:effectLst/>
              <a:uLnTx/>
              <a:uFillTx/>
              <a:latin typeface="楷体" panose="02010609060101010101" charset="-122"/>
              <a:ea typeface="楷体" panose="02010609060101010101" charset="-122"/>
              <a:cs typeface="+mn-cs"/>
              <a:sym typeface="+mn-lt"/>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
        <p:nvSpPr>
          <p:cNvPr id="8" name="矩形 7"/>
          <p:cNvSpPr/>
          <p:nvPr/>
        </p:nvSpPr>
        <p:spPr>
          <a:xfrm>
            <a:off x="4088130" y="1252220"/>
            <a:ext cx="3790950" cy="5308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46" name="Text Box 2"/>
          <p:cNvSpPr txBox="1"/>
          <p:nvPr/>
        </p:nvSpPr>
        <p:spPr>
          <a:xfrm>
            <a:off x="2712085" y="170815"/>
            <a:ext cx="6443980" cy="768350"/>
          </a:xfrm>
          <a:prstGeom prst="rect">
            <a:avLst/>
          </a:prstGeom>
          <a:noFill/>
          <a:ln w="9525">
            <a:noFill/>
          </a:ln>
        </p:spPr>
        <p:txBody>
          <a:bodyPr wrap="square" anchor="t" anchorCtr="0">
            <a:spAutoFit/>
          </a:bodyPr>
          <a:p>
            <a:pPr algn="ctr"/>
            <a:r>
              <a:rPr lang="zh-CN" altLang="en-US" sz="4400" b="1" dirty="0">
                <a:solidFill>
                  <a:srgbClr val="0000CC"/>
                </a:solidFill>
                <a:latin typeface="楷体" panose="02010609060101010101" charset="-122"/>
                <a:ea typeface="楷体" panose="02010609060101010101" charset="-122"/>
              </a:rPr>
              <a:t>第七章	</a:t>
            </a:r>
            <a:r>
              <a:rPr lang="zh-CN" altLang="en-US" sz="4400" b="1" dirty="0">
                <a:solidFill>
                  <a:srgbClr val="0000CC"/>
                </a:solidFill>
                <a:latin typeface="楷体" panose="02010609060101010101" charset="-122"/>
                <a:ea typeface="楷体" panose="02010609060101010101" charset="-122"/>
              </a:rPr>
              <a:t>图</a:t>
            </a:r>
            <a:endParaRPr lang="zh-CN" altLang="en-US" sz="4400" b="1" dirty="0">
              <a:solidFill>
                <a:srgbClr val="0000CC"/>
              </a:solidFill>
              <a:latin typeface="楷体" panose="02010609060101010101" charset="-122"/>
              <a:ea typeface="楷体" panose="02010609060101010101" charset="-122"/>
            </a:endParaRPr>
          </a:p>
        </p:txBody>
      </p:sp>
    </p:spTree>
  </p:cSld>
  <p:clrMapOvr>
    <a:masterClrMapping/>
  </p:clrMapOvr>
  <p:transition spd="med">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图(Graph)是一种比线性表和树更为复杂的数据结构。</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线性结构：是研究数据元素之间的一对一关系，数据元素之间有明显顺序管理</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树结构：是研究数据元素之间的一对多的关系，数据元素之间有明显的层次关系</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图结构：是研究数据元素之间的多对多的关系。任意两个元素之间可能存在关系，即结点之间的关系可以是任意的，图中任意元素之间都可能相关。</a:t>
            </a:r>
            <a:endParaRPr lang="zh-CN" altLang="en-US" sz="2400" dirty="0">
              <a:latin typeface="黑体" panose="02010609060101010101" pitchFamily="2" charset="-122"/>
              <a:ea typeface="黑体" panose="02010609060101010101" pitchFamily="2" charset="-122"/>
              <a:cs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7.1 图的定义和术语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宋体" panose="02010600030101010101" pitchFamily="2" charset="-122"/>
                <a:sym typeface="+mn-ea"/>
              </a:rPr>
              <a:t>图是最通用的</a:t>
            </a:r>
            <a:r>
              <a:rPr lang="zh-CN" altLang="zh-CN" sz="2800" dirty="0">
                <a:latin typeface="宋体" panose="02010600030101010101" pitchFamily="2" charset="-122"/>
                <a:sym typeface="+mn-ea"/>
              </a:rPr>
              <a:t>数据结构，应用极为广泛，已渗入到诸如语言学、逻辑学、物理、化学、电讯、计算机科学以及数学的其它分支。</a:t>
            </a:r>
            <a:endParaRPr lang="zh-CN" altLang="zh-CN" sz="2800" dirty="0">
              <a:latin typeface="宋体" panose="0201060003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万物互联</a:t>
            </a:r>
            <a:endParaRPr lang="zh-CN" altLang="en-US" sz="28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7.1 </a:t>
            </a:r>
            <a:r>
              <a:rPr lang="zh-CN" altLang="en-US">
                <a:latin typeface="楷体" panose="02010609060101010101" charset="-122"/>
                <a:ea typeface="楷体" panose="02010609060101010101" charset="-122"/>
                <a:cs typeface="楷体" panose="02010609060101010101" charset="-122"/>
                <a:sym typeface="+mn-ea"/>
              </a:rPr>
              <a:t>图的</a:t>
            </a:r>
            <a:r>
              <a:rPr lang="zh-CN" altLang="en-US">
                <a:latin typeface="楷体" panose="02010609060101010101" charset="-122"/>
                <a:ea typeface="楷体" panose="02010609060101010101" charset="-122"/>
                <a:cs typeface="楷体" panose="02010609060101010101" charset="-122"/>
                <a:sym typeface="+mn-ea"/>
              </a:rPr>
              <a:t>定义和</a:t>
            </a:r>
            <a:r>
              <a:rPr lang="zh-CN" altLang="en-US">
                <a:latin typeface="楷体" panose="02010609060101010101" charset="-122"/>
                <a:ea typeface="楷体" panose="02010609060101010101" charset="-122"/>
                <a:cs typeface="楷体" panose="02010609060101010101" charset="-122"/>
                <a:sym typeface="+mn-ea"/>
              </a:rPr>
              <a:t>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nvPicPr>
        <p:blipFill>
          <a:blip r:embed="rId1"/>
          <a:stretch>
            <a:fillRect/>
          </a:stretch>
        </p:blipFill>
        <p:spPr>
          <a:xfrm>
            <a:off x="3215640" y="2204720"/>
            <a:ext cx="5909310" cy="37566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宋体" panose="02010600030101010101" pitchFamily="2" charset="-122"/>
                <a:sym typeface="+mn-ea"/>
              </a:rPr>
              <a:t>图计算与图</a:t>
            </a:r>
            <a:r>
              <a:rPr lang="zh-CN" altLang="zh-CN" sz="2800" dirty="0">
                <a:latin typeface="宋体" panose="02010600030101010101" pitchFamily="2" charset="-122"/>
                <a:sym typeface="+mn-ea"/>
              </a:rPr>
              <a:t>数据库</a:t>
            </a:r>
            <a:endParaRPr lang="zh-CN" altLang="zh-CN" sz="2800" dirty="0">
              <a:latin typeface="宋体" panose="02010600030101010101" pitchFamily="2" charset="-122"/>
              <a:sym typeface="+mn-ea"/>
            </a:endParaRPr>
          </a:p>
          <a:p>
            <a:pPr lvl="1" algn="l" eaLnBrk="1" latinLnBrk="0" hangingPunct="1">
              <a:lnSpc>
                <a:spcPct val="100000"/>
              </a:lnSpc>
              <a:spcBef>
                <a:spcPct val="20000"/>
              </a:spcBef>
              <a:buClrTx/>
              <a:buSzTx/>
              <a:buFont typeface="Arial" panose="020B0604020202020204" pitchFamily="34" charset="0"/>
              <a:buChar char="•"/>
            </a:pPr>
            <a:r>
              <a:rPr lang="zh-CN" altLang="en-US" dirty="0">
                <a:latin typeface="黑体" panose="02010609060101010101" pitchFamily="2" charset="-122"/>
                <a:ea typeface="黑体" panose="02010609060101010101" pitchFamily="2" charset="-122"/>
                <a:cs typeface="+mn-ea"/>
                <a:sym typeface="+mn-ea"/>
              </a:rPr>
              <a:t>摆脱传统SQL查询，用图的点、弧、属性来表达关系</a:t>
            </a:r>
            <a:endParaRPr lang="zh-CN" altLang="en-US" dirty="0">
              <a:latin typeface="黑体" panose="02010609060101010101" pitchFamily="2" charset="-122"/>
              <a:ea typeface="黑体" panose="02010609060101010101" pitchFamily="2" charset="-122"/>
              <a:cs typeface="+mn-ea"/>
              <a:sym typeface="+mn-ea"/>
            </a:endParaRPr>
          </a:p>
          <a:p>
            <a:pPr lvl="1" algn="l" eaLnBrk="1" latinLnBrk="0" hangingPunct="1">
              <a:lnSpc>
                <a:spcPct val="100000"/>
              </a:lnSpc>
              <a:spcBef>
                <a:spcPct val="20000"/>
              </a:spcBef>
              <a:buClrTx/>
              <a:buSzTx/>
              <a:buFont typeface="Arial" panose="020B0604020202020204" pitchFamily="34" charset="0"/>
              <a:buChar char="•"/>
            </a:pPr>
            <a:r>
              <a:rPr lang="zh-CN" altLang="en-US" sz="2400" dirty="0">
                <a:latin typeface="黑体" panose="02010609060101010101" pitchFamily="2" charset="-122"/>
                <a:ea typeface="黑体" panose="02010609060101010101" pitchFamily="2" charset="-122"/>
                <a:cs typeface="+mn-ea"/>
                <a:sym typeface="+mn-ea"/>
              </a:rPr>
              <a:t>U结点是user，I结点是item</a:t>
            </a:r>
            <a:endParaRPr lang="zh-CN" altLang="en-US" sz="2400" dirty="0">
              <a:latin typeface="黑体" panose="02010609060101010101" pitchFamily="2" charset="-122"/>
              <a:ea typeface="黑体" panose="02010609060101010101" pitchFamily="2" charset="-122"/>
              <a:cs typeface="+mn-ea"/>
              <a:sym typeface="+mn-ea"/>
            </a:endParaRPr>
          </a:p>
          <a:p>
            <a:pPr lvl="1" algn="l" eaLnBrk="1" latinLnBrk="0" hangingPunct="1">
              <a:lnSpc>
                <a:spcPct val="100000"/>
              </a:lnSpc>
              <a:spcBef>
                <a:spcPct val="20000"/>
              </a:spcBef>
              <a:buClrTx/>
              <a:buSzTx/>
              <a:buFont typeface="Arial" panose="020B0604020202020204" pitchFamily="34" charset="0"/>
              <a:buChar char="•"/>
            </a:pPr>
            <a:r>
              <a:rPr lang="zh-CN" altLang="en-US" sz="2400" dirty="0">
                <a:latin typeface="黑体" panose="02010609060101010101" pitchFamily="2" charset="-122"/>
                <a:ea typeface="黑体" panose="02010609060101010101" pitchFamily="2" charset="-122"/>
                <a:cs typeface="+mn-ea"/>
                <a:sym typeface="+mn-ea"/>
              </a:rPr>
              <a:t>结点都带有属性表</a:t>
            </a:r>
            <a:endParaRPr lang="zh-CN" altLang="en-US" sz="2400" dirty="0">
              <a:latin typeface="黑体" panose="02010609060101010101" pitchFamily="2" charset="-122"/>
              <a:ea typeface="黑体" panose="02010609060101010101" pitchFamily="2" charset="-122"/>
              <a:cs typeface="+mn-ea"/>
              <a:sym typeface="+mn-ea"/>
            </a:endParaRPr>
          </a:p>
          <a:p>
            <a:pPr lvl="1" algn="l" eaLnBrk="1" latinLnBrk="0" hangingPunct="1">
              <a:lnSpc>
                <a:spcPct val="100000"/>
              </a:lnSpc>
              <a:spcBef>
                <a:spcPct val="20000"/>
              </a:spcBef>
              <a:buClrTx/>
              <a:buSzTx/>
              <a:buFont typeface="Arial" panose="020B0604020202020204" pitchFamily="34" charset="0"/>
              <a:buChar char="•"/>
            </a:pPr>
            <a:r>
              <a:rPr lang="zh-CN" altLang="en-US" sz="2400" dirty="0">
                <a:latin typeface="黑体" panose="02010609060101010101" pitchFamily="2" charset="-122"/>
                <a:ea typeface="黑体" panose="02010609060101010101" pitchFamily="2" charset="-122"/>
                <a:cs typeface="+mn-ea"/>
                <a:sym typeface="+mn-ea"/>
              </a:rPr>
              <a:t>弧表示社交关系、交易关系</a:t>
            </a:r>
            <a:endParaRPr lang="zh-CN" altLang="en-US" sz="2400" dirty="0">
              <a:latin typeface="黑体" panose="02010609060101010101" pitchFamily="2" charset="-122"/>
              <a:ea typeface="黑体" panose="02010609060101010101" pitchFamily="2" charset="-122"/>
              <a:cs typeface="+mn-ea"/>
              <a:sym typeface="+mn-ea"/>
            </a:endParaRPr>
          </a:p>
          <a:p>
            <a:pPr lvl="1" algn="l" eaLnBrk="1"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图数据库擅长社交、电商关系查询</a:t>
            </a:r>
            <a:endParaRPr lang="zh-CN" altLang="en-US" sz="2400" dirty="0">
              <a:latin typeface="黑体" panose="02010609060101010101" pitchFamily="2" charset="-122"/>
              <a:ea typeface="黑体" panose="02010609060101010101" pitchFamily="2" charset="-122"/>
              <a:cs typeface="+mn-ea"/>
              <a:sym typeface="+mn-ea"/>
            </a:endParaRPr>
          </a:p>
          <a:p>
            <a:pPr lvl="1" algn="l" eaLnBrk="1"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图</a:t>
            </a:r>
            <a:r>
              <a:rPr lang="zh-CN" altLang="en-US" sz="2400" dirty="0">
                <a:latin typeface="黑体" panose="02010609060101010101" pitchFamily="2" charset="-122"/>
                <a:ea typeface="黑体" panose="02010609060101010101" pitchFamily="2" charset="-122"/>
                <a:cs typeface="+mn-ea"/>
                <a:sym typeface="+mn-ea"/>
              </a:rPr>
              <a:t>数据库代表Neo4j(开源)</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7.1 </a:t>
            </a:r>
            <a:r>
              <a:rPr lang="zh-CN" altLang="en-US">
                <a:latin typeface="楷体" panose="02010609060101010101" charset="-122"/>
                <a:ea typeface="楷体" panose="02010609060101010101" charset="-122"/>
                <a:cs typeface="楷体" panose="02010609060101010101" charset="-122"/>
                <a:sym typeface="+mn-ea"/>
              </a:rPr>
              <a:t>图的</a:t>
            </a:r>
            <a:r>
              <a:rPr lang="zh-CN" altLang="en-US">
                <a:latin typeface="楷体" panose="02010609060101010101" charset="-122"/>
                <a:ea typeface="楷体" panose="02010609060101010101" charset="-122"/>
                <a:cs typeface="楷体" panose="02010609060101010101" charset="-122"/>
                <a:sym typeface="+mn-ea"/>
              </a:rPr>
              <a:t>定义和</a:t>
            </a:r>
            <a:r>
              <a:rPr lang="zh-CN" altLang="en-US">
                <a:latin typeface="楷体" panose="02010609060101010101" charset="-122"/>
                <a:ea typeface="楷体" panose="02010609060101010101" charset="-122"/>
                <a:cs typeface="楷体" panose="02010609060101010101" charset="-122"/>
                <a:sym typeface="+mn-ea"/>
              </a:rPr>
              <a:t>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8" name="组合 7"/>
          <p:cNvGrpSpPr/>
          <p:nvPr/>
        </p:nvGrpSpPr>
        <p:grpSpPr>
          <a:xfrm>
            <a:off x="6455981" y="2132996"/>
            <a:ext cx="5332730" cy="3968609"/>
            <a:chOff x="6508" y="3157"/>
            <a:chExt cx="8242" cy="5688"/>
          </a:xfrm>
        </p:grpSpPr>
        <p:graphicFrame>
          <p:nvGraphicFramePr>
            <p:cNvPr id="6" name="对象 5"/>
            <p:cNvGraphicFramePr/>
            <p:nvPr/>
          </p:nvGraphicFramePr>
          <p:xfrm>
            <a:off x="6508" y="3157"/>
            <a:ext cx="8242" cy="5599"/>
          </p:xfrm>
          <a:graphic>
            <a:graphicData uri="http://schemas.openxmlformats.org/presentationml/2006/ole">
              <mc:AlternateContent xmlns:mc="http://schemas.openxmlformats.org/markup-compatibility/2006">
                <mc:Choice xmlns:v="urn:schemas-microsoft-com:vml" Requires="v">
                  <p:oleObj spid="_x0000_s7" name="" r:id="rId1" imgW="5229225" imgH="3552825" progId="Paint.Picture">
                    <p:embed/>
                  </p:oleObj>
                </mc:Choice>
                <mc:Fallback>
                  <p:oleObj name="" r:id="rId1" imgW="5229225" imgH="3552825" progId="Paint.Picture">
                    <p:embed/>
                    <p:pic>
                      <p:nvPicPr>
                        <p:cNvPr id="0" name="图片 5"/>
                        <p:cNvPicPr/>
                        <p:nvPr/>
                      </p:nvPicPr>
                      <p:blipFill>
                        <a:blip r:embed="rId2"/>
                        <a:stretch>
                          <a:fillRect/>
                        </a:stretch>
                      </p:blipFill>
                      <p:spPr>
                        <a:xfrm>
                          <a:off x="6508" y="3157"/>
                          <a:ext cx="8242" cy="5599"/>
                        </a:xfrm>
                        <a:prstGeom prst="rect">
                          <a:avLst/>
                        </a:prstGeom>
                      </p:spPr>
                    </p:pic>
                  </p:oleObj>
                </mc:Fallback>
              </mc:AlternateContent>
            </a:graphicData>
          </a:graphic>
        </p:graphicFrame>
        <p:sp>
          <p:nvSpPr>
            <p:cNvPr id="9" name="文本框 8"/>
            <p:cNvSpPr txBox="1"/>
            <p:nvPr/>
          </p:nvSpPr>
          <p:spPr>
            <a:xfrm>
              <a:off x="11181" y="8317"/>
              <a:ext cx="3237" cy="528"/>
            </a:xfrm>
            <a:prstGeom prst="rect">
              <a:avLst/>
            </a:prstGeom>
          </p:spPr>
          <p:txBody>
            <a:bodyPr vert="horz" wrap="square" lIns="91440" tIns="45720" rIns="91440" bIns="45720" rtlCol="0" anchor="t">
              <a:spAutoFit/>
            </a:bodyPr>
            <a:p>
              <a:pPr marL="0" lvl="0" indent="0" algn="ctr" eaLnBrk="1" latinLnBrk="0" hangingPunct="1">
                <a:lnSpc>
                  <a:spcPct val="90000"/>
                </a:lnSpc>
                <a:spcBef>
                  <a:spcPts val="1000"/>
                </a:spcBef>
                <a:buClr>
                  <a:schemeClr val="accent2"/>
                </a:buClr>
                <a:buFont typeface="Wingdings" panose="05000000000000000000" pitchFamily="2" charset="2"/>
                <a:buNone/>
              </a:pPr>
              <a:r>
                <a:rPr lang="zh-CN" altLang="en-US" sz="2000" b="1" dirty="0" smtClean="0">
                  <a:sym typeface="+mn-ea"/>
                </a:rPr>
                <a:t>某电商应用场景</a:t>
              </a:r>
              <a:endParaRPr lang="zh-CN" altLang="en-US" sz="2000" b="1" dirty="0" smtClean="0">
                <a:sym typeface="+mn-ea"/>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图是由顶点集合(vertex)及顶点间的关系集合组成的一种数据结构：</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0" lvl="1" indent="0" algn="l" eaLnBrk="1" hangingPunct="1">
              <a:buClrTx/>
              <a:buSzTx/>
              <a:buFont typeface="Wingdings" panose="05000000000000000000" charset="0"/>
              <a:buNone/>
            </a:pPr>
            <a:r>
              <a:rPr lang="zh-CN" altLang="en-US" dirty="0">
                <a:latin typeface="黑体" panose="02010609060101010101" pitchFamily="2" charset="-122"/>
                <a:ea typeface="黑体" panose="02010609060101010101" pitchFamily="2" charset="-122"/>
                <a:sym typeface="+mn-ea"/>
              </a:rPr>
              <a:t>          </a:t>
            </a:r>
            <a:r>
              <a:rPr lang="en-US" altLang="zh-CN" dirty="0">
                <a:latin typeface="黑体" panose="02010609060101010101" pitchFamily="2" charset="-122"/>
                <a:ea typeface="黑体" panose="02010609060101010101" pitchFamily="2" charset="-122"/>
                <a:sym typeface="+mn-ea"/>
              </a:rPr>
              <a:t>Graph</a:t>
            </a:r>
            <a:r>
              <a:rPr lang="zh-CN" altLang="en-US" dirty="0">
                <a:latin typeface="黑体" panose="02010609060101010101" pitchFamily="2" charset="-122"/>
                <a:ea typeface="黑体" panose="02010609060101010101" pitchFamily="2" charset="-122"/>
                <a:sym typeface="+mn-ea"/>
              </a:rPr>
              <a:t>＝</a:t>
            </a:r>
            <a:r>
              <a:rPr lang="en-US" altLang="zh-CN" dirty="0">
                <a:latin typeface="黑体" panose="02010609060101010101" pitchFamily="2" charset="-122"/>
                <a:ea typeface="黑体" panose="02010609060101010101" pitchFamily="2" charset="-122"/>
                <a:sym typeface="+mn-ea"/>
              </a:rPr>
              <a:t>( V, E )    </a:t>
            </a:r>
            <a:endParaRPr lang="en-US" altLang="zh-CN" b="0" dirty="0">
              <a:latin typeface="黑体" panose="02010609060101010101" pitchFamily="2" charset="-122"/>
              <a:ea typeface="黑体" panose="02010609060101010101" pitchFamily="2" charset="-122"/>
            </a:endParaRPr>
          </a:p>
          <a:p>
            <a:pPr marL="609600" lvl="1" indent="0" algn="l" eaLnBrk="1" hangingPunct="1">
              <a:spcBef>
                <a:spcPct val="20000"/>
              </a:spcBef>
              <a:buClrTx/>
              <a:buSzTx/>
              <a:buNone/>
            </a:pPr>
            <a:r>
              <a:rPr lang="zh-CN" altLang="en-US" dirty="0">
                <a:latin typeface="黑体" panose="02010609060101010101" pitchFamily="2" charset="-122"/>
                <a:ea typeface="黑体" panose="02010609060101010101" pitchFamily="2" charset="-122"/>
                <a:cs typeface="+mn-ea"/>
                <a:sym typeface="+mn-ea"/>
              </a:rPr>
              <a:t>V是顶点非空</a:t>
            </a:r>
            <a:r>
              <a:rPr lang="zh-CN" altLang="en-US" dirty="0">
                <a:latin typeface="黑体" panose="02010609060101010101" pitchFamily="2" charset="-122"/>
                <a:ea typeface="黑体" panose="02010609060101010101" pitchFamily="2" charset="-122"/>
                <a:cs typeface="+mn-ea"/>
                <a:sym typeface="+mn-ea"/>
              </a:rPr>
              <a:t>有穷</a:t>
            </a:r>
            <a:r>
              <a:rPr lang="zh-CN" altLang="en-US" dirty="0">
                <a:latin typeface="黑体" panose="02010609060101010101" pitchFamily="2" charset="-122"/>
                <a:ea typeface="黑体" panose="02010609060101010101" pitchFamily="2" charset="-122"/>
                <a:cs typeface="+mn-ea"/>
                <a:sym typeface="+mn-ea"/>
              </a:rPr>
              <a:t>集合，</a:t>
            </a:r>
            <a:r>
              <a:rPr lang="en-US" altLang="zh-CN" dirty="0">
                <a:latin typeface="黑体" panose="02010609060101010101" pitchFamily="2" charset="-122"/>
                <a:ea typeface="黑体" panose="02010609060101010101" pitchFamily="2" charset="-122"/>
                <a:cs typeface="+mn-ea"/>
                <a:sym typeface="+mn-ea"/>
              </a:rPr>
              <a:t>V</a:t>
            </a:r>
            <a:r>
              <a:rPr lang="zh-CN" altLang="en-US" dirty="0">
                <a:latin typeface="黑体" panose="02010609060101010101" pitchFamily="2" charset="-122"/>
                <a:ea typeface="黑体" panose="02010609060101010101" pitchFamily="2" charset="-122"/>
                <a:cs typeface="+mn-ea"/>
                <a:sym typeface="+mn-ea"/>
              </a:rPr>
              <a:t>={x|x</a:t>
            </a:r>
            <a:r>
              <a:rPr lang="zh-CN" altLang="en-US" dirty="0">
                <a:latin typeface="黑体" panose="02010609060101010101" pitchFamily="2" charset="-122"/>
                <a:ea typeface="黑体" panose="02010609060101010101" pitchFamily="2" charset="-122"/>
                <a:cs typeface="+mn-ea"/>
                <a:sym typeface="Symbol" panose="05050102010706020507" pitchFamily="18" charset="2"/>
              </a:rPr>
              <a:t></a:t>
            </a:r>
            <a:r>
              <a:rPr lang="zh-CN" altLang="en-US" dirty="0">
                <a:latin typeface="黑体" panose="02010609060101010101" pitchFamily="2" charset="-122"/>
                <a:ea typeface="黑体" panose="02010609060101010101" pitchFamily="2" charset="-122"/>
                <a:cs typeface="+mn-ea"/>
                <a:sym typeface="+mn-ea"/>
              </a:rPr>
              <a:t>数据对象}</a:t>
            </a:r>
            <a:endParaRPr lang="zh-CN" altLang="en-US" dirty="0">
              <a:latin typeface="黑体" panose="02010609060101010101" pitchFamily="2" charset="-122"/>
              <a:ea typeface="黑体" panose="02010609060101010101" pitchFamily="2" charset="-122"/>
              <a:cs typeface="+mn-ea"/>
              <a:sym typeface="+mn-ea"/>
            </a:endParaRPr>
          </a:p>
          <a:p>
            <a:pPr marL="609600" lvl="1" indent="0" algn="l" eaLnBrk="1" hangingPunct="1">
              <a:spcBef>
                <a:spcPct val="20000"/>
              </a:spcBef>
              <a:buClrTx/>
              <a:buSzTx/>
              <a:buNone/>
            </a:pPr>
            <a:r>
              <a:rPr lang="zh-CN" altLang="en-US" dirty="0">
                <a:latin typeface="黑体" panose="02010609060101010101" pitchFamily="2" charset="-122"/>
                <a:ea typeface="黑体" panose="02010609060101010101" pitchFamily="2" charset="-122"/>
                <a:cs typeface="+mn-ea"/>
                <a:sym typeface="+mn-ea"/>
              </a:rPr>
              <a:t>E是顶点之间关系的有穷集合，包括两种：</a:t>
            </a:r>
            <a:endParaRPr lang="zh-CN" altLang="en-US" b="0" dirty="0">
              <a:latin typeface="黑体" panose="02010609060101010101" pitchFamily="2" charset="-122"/>
              <a:ea typeface="黑体" panose="02010609060101010101" pitchFamily="2" charset="-122"/>
              <a:cs typeface="+mn-ea"/>
            </a:endParaRPr>
          </a:p>
          <a:p>
            <a:pPr marL="609600" lvl="1" indent="457200" algn="l" eaLnBrk="1" hangingPunct="1">
              <a:spcBef>
                <a:spcPct val="20000"/>
              </a:spcBef>
              <a:buClrTx/>
              <a:buSzTx/>
              <a:buNone/>
            </a:pPr>
            <a:r>
              <a:rPr lang="zh-CN" altLang="en-US" dirty="0">
                <a:latin typeface="黑体" panose="02010609060101010101" pitchFamily="2" charset="-122"/>
                <a:ea typeface="黑体" panose="02010609060101010101" pitchFamily="2" charset="-122"/>
                <a:cs typeface="+mn-ea"/>
                <a:sym typeface="+mn-ea"/>
              </a:rPr>
              <a:t>E = {(x, y) | x, y </a:t>
            </a:r>
            <a:r>
              <a:rPr lang="zh-CN" altLang="en-US" dirty="0">
                <a:latin typeface="黑体" panose="02010609060101010101" pitchFamily="2" charset="-122"/>
                <a:ea typeface="黑体" panose="02010609060101010101" pitchFamily="2" charset="-122"/>
                <a:cs typeface="+mn-ea"/>
                <a:sym typeface="Symbol" panose="05050102010706020507" pitchFamily="18" charset="2"/>
              </a:rPr>
              <a:t></a:t>
            </a:r>
            <a:r>
              <a:rPr lang="zh-CN" altLang="en-US" dirty="0">
                <a:latin typeface="黑体" panose="02010609060101010101" pitchFamily="2" charset="-122"/>
                <a:ea typeface="黑体" panose="02010609060101010101" pitchFamily="2" charset="-122"/>
                <a:cs typeface="+mn-ea"/>
                <a:sym typeface="+mn-ea"/>
              </a:rPr>
              <a:t> V } 边的集合</a:t>
            </a:r>
            <a:endParaRPr lang="zh-CN" altLang="en-US" dirty="0">
              <a:latin typeface="黑体" panose="02010609060101010101" pitchFamily="2" charset="-122"/>
              <a:ea typeface="黑体" panose="02010609060101010101" pitchFamily="2" charset="-122"/>
              <a:cs typeface="+mn-ea"/>
              <a:sym typeface="+mn-ea"/>
            </a:endParaRPr>
          </a:p>
          <a:p>
            <a:pPr marL="609600" lvl="1" indent="457200" algn="l" eaLnBrk="1" hangingPunct="1">
              <a:spcBef>
                <a:spcPct val="20000"/>
              </a:spcBef>
              <a:buClrTx/>
              <a:buSzTx/>
              <a:buNone/>
            </a:pPr>
            <a:r>
              <a:rPr lang="zh-CN" altLang="en-US" b="0" dirty="0">
                <a:latin typeface="黑体" panose="02010609060101010101" pitchFamily="2" charset="-122"/>
                <a:ea typeface="黑体" panose="02010609060101010101" pitchFamily="2" charset="-122"/>
                <a:cs typeface="+mn-ea"/>
              </a:rPr>
              <a:t>或</a:t>
            </a:r>
            <a:endParaRPr lang="zh-CN" altLang="en-US" b="0" dirty="0">
              <a:latin typeface="黑体" panose="02010609060101010101" pitchFamily="2" charset="-122"/>
              <a:ea typeface="黑体" panose="02010609060101010101" pitchFamily="2" charset="-122"/>
              <a:cs typeface="+mn-ea"/>
            </a:endParaRPr>
          </a:p>
          <a:p>
            <a:pPr marL="609600" lvl="1" indent="457200" algn="l" eaLnBrk="1" hangingPunct="1">
              <a:spcBef>
                <a:spcPct val="20000"/>
              </a:spcBef>
              <a:buClrTx/>
              <a:buSzTx/>
              <a:buNone/>
            </a:pPr>
            <a:r>
              <a:rPr lang="zh-CN" altLang="en-US" dirty="0">
                <a:latin typeface="黑体" panose="02010609060101010101" pitchFamily="2" charset="-122"/>
                <a:ea typeface="黑体" panose="02010609060101010101" pitchFamily="2" charset="-122"/>
                <a:cs typeface="+mn-ea"/>
                <a:sym typeface="+mn-ea"/>
              </a:rPr>
              <a:t>E = {&lt;x, y&gt; | x, y </a:t>
            </a:r>
            <a:r>
              <a:rPr lang="zh-CN" altLang="en-US" dirty="0">
                <a:latin typeface="黑体" panose="02010609060101010101" pitchFamily="2" charset="-122"/>
                <a:ea typeface="黑体" panose="02010609060101010101" pitchFamily="2" charset="-122"/>
                <a:cs typeface="+mn-ea"/>
                <a:sym typeface="Symbol" panose="05050102010706020507" pitchFamily="18" charset="2"/>
              </a:rPr>
              <a:t></a:t>
            </a:r>
            <a:r>
              <a:rPr lang="zh-CN" altLang="en-US" dirty="0">
                <a:latin typeface="黑体" panose="02010609060101010101" pitchFamily="2" charset="-122"/>
                <a:ea typeface="黑体" panose="02010609060101010101" pitchFamily="2" charset="-122"/>
                <a:cs typeface="+mn-ea"/>
                <a:sym typeface="+mn-ea"/>
              </a:rPr>
              <a:t> V } 弧的集合</a:t>
            </a:r>
            <a:endParaRPr lang="zh-CN" altLang="en-US" dirty="0">
              <a:latin typeface="黑体" panose="02010609060101010101" pitchFamily="2" charset="-122"/>
              <a:ea typeface="黑体" panose="02010609060101010101" pitchFamily="2" charset="-122"/>
              <a:cs typeface="+mn-ea"/>
              <a:sym typeface="+mn-ea"/>
            </a:endParaRPr>
          </a:p>
          <a:p>
            <a:pPr marL="457200" lvl="1" indent="-457200" algn="l" eaLnBrk="1" hangingPunct="1">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图可以没有边或</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弧，但至少有</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一个顶点</a:t>
            </a:r>
            <a:endParaRPr lang="zh-CN" altLang="en-US" sz="2800"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7.1 图的定义和术语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图的</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组成</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顶点(Vertex)，图中的数据元素称为顶点</a:t>
            </a: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边，</a:t>
            </a:r>
            <a:r>
              <a:rPr lang="zh-CN" altLang="en-US" dirty="0">
                <a:latin typeface="黑体" panose="02010609060101010101" pitchFamily="2" charset="-122"/>
                <a:ea typeface="黑体" panose="02010609060101010101" pitchFamily="2" charset="-122"/>
                <a:cs typeface="+mn-ea"/>
                <a:sym typeface="+mn-ea"/>
              </a:rPr>
              <a:t>两顶点之间的连线是对称的，不分头尾，称为边</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弧，两顶点之间的连线，或两元素之间存在着关系，而且连线是不对称的，分头尾</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元素之间连线是边，则该图称为无向图</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元素之间连线是不对称的，则该图是有向图</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只有很少边或弧（e&lt;nlogn）的图称为稀疏图，反之称为稠密图</a:t>
            </a: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不存在又包含边又包含弧的</a:t>
            </a:r>
            <a:r>
              <a:rPr lang="zh-CN" altLang="en-US" sz="2400" dirty="0">
                <a:latin typeface="黑体" panose="02010609060101010101" pitchFamily="2" charset="-122"/>
                <a:ea typeface="黑体" panose="02010609060101010101" pitchFamily="2" charset="-122"/>
                <a:cs typeface="+mn-ea"/>
                <a:sym typeface="+mn-ea"/>
              </a:rPr>
              <a:t>图</a:t>
            </a: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7.1 图的定义和术语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图的分类</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无向图</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：用(x,y)表示两个顶点x,y之间的一条边(edge)，边是无序的</a:t>
            </a:r>
            <a:endParaRPr lang="zh-CN" altLang="en-US" sz="2400" dirty="0">
              <a:latin typeface="宋体" panose="02010600030101010101" pitchFamily="2" charset="-122"/>
            </a:endParaRPr>
          </a:p>
          <a:p>
            <a:pPr marL="609600" lvl="1" indent="0" algn="l" eaLnBrk="1" hangingPunct="1">
              <a:buClrTx/>
              <a:buSzTx/>
              <a:buNone/>
            </a:pPr>
            <a:r>
              <a:rPr lang="zh-CN" altLang="en-US" sz="2400" dirty="0">
                <a:latin typeface="黑体" panose="02010609060101010101" pitchFamily="2" charset="-122"/>
                <a:ea typeface="黑体" panose="02010609060101010101" pitchFamily="2" charset="-122"/>
                <a:cs typeface="+mn-ea"/>
                <a:sym typeface="+mn-ea"/>
              </a:rPr>
              <a:t>例如，</a:t>
            </a:r>
            <a:r>
              <a:rPr lang="en-US" altLang="zh-CN" sz="2400" dirty="0">
                <a:latin typeface="黑体" panose="02010609060101010101" pitchFamily="2" charset="-122"/>
                <a:ea typeface="黑体" panose="02010609060101010101" pitchFamily="2" charset="-122"/>
                <a:cs typeface="+mn-ea"/>
                <a:sym typeface="+mn-ea"/>
              </a:rPr>
              <a:t>G</a:t>
            </a:r>
            <a:r>
              <a:rPr lang="zh-CN" altLang="en-US" sz="2400" dirty="0">
                <a:latin typeface="黑体" panose="02010609060101010101" pitchFamily="2" charset="-122"/>
                <a:ea typeface="黑体" panose="02010609060101010101" pitchFamily="2" charset="-122"/>
                <a:cs typeface="+mn-ea"/>
                <a:sym typeface="+mn-ea"/>
              </a:rPr>
              <a:t>={V,E}</a:t>
            </a:r>
            <a:endParaRPr lang="zh-CN" altLang="en-US" sz="2400" dirty="0">
              <a:latin typeface="黑体" panose="02010609060101010101" pitchFamily="2" charset="-122"/>
              <a:ea typeface="黑体" panose="02010609060101010101" pitchFamily="2" charset="-122"/>
              <a:cs typeface="+mn-ea"/>
              <a:sym typeface="+mn-ea"/>
            </a:endParaRPr>
          </a:p>
          <a:p>
            <a:pPr marL="1066800" lvl="2" indent="457200" algn="l" eaLnBrk="1" hangingPunct="1">
              <a:buClrTx/>
              <a:buSzTx/>
              <a:buNone/>
            </a:pPr>
            <a:r>
              <a:rPr lang="zh-CN" altLang="en-US" sz="2400" dirty="0">
                <a:latin typeface="黑体" panose="02010609060101010101" pitchFamily="2" charset="-122"/>
                <a:ea typeface="黑体" panose="02010609060101010101" pitchFamily="2" charset="-122"/>
                <a:cs typeface="+mn-ea"/>
                <a:sym typeface="+mn-ea"/>
              </a:rPr>
              <a:t>V={0,1,2,3,4,5}</a:t>
            </a:r>
            <a:endParaRPr lang="zh-CN" altLang="en-US" sz="2400" dirty="0">
              <a:latin typeface="黑体" panose="02010609060101010101" pitchFamily="2" charset="-122"/>
              <a:ea typeface="黑体" panose="02010609060101010101" pitchFamily="2" charset="-122"/>
              <a:cs typeface="+mn-ea"/>
              <a:sym typeface="+mn-ea"/>
            </a:endParaRPr>
          </a:p>
          <a:p>
            <a:pPr marL="1066800" lvl="2" indent="457200" algn="l" eaLnBrk="1" hangingPunct="1">
              <a:buClrTx/>
              <a:buSzTx/>
              <a:buNone/>
            </a:pPr>
            <a:r>
              <a:rPr lang="zh-CN" altLang="en-US" sz="2400" dirty="0">
                <a:latin typeface="黑体" panose="02010609060101010101" pitchFamily="2" charset="-122"/>
                <a:ea typeface="黑体" panose="02010609060101010101" pitchFamily="2" charset="-122"/>
                <a:cs typeface="+mn-ea"/>
                <a:sym typeface="+mn-ea"/>
              </a:rPr>
              <a:t>E={(0,1), (0,4), (0,5), (1,2), (1,3), (1,5), (2,3), (3,4), (3,5), (4,5)}</a:t>
            </a:r>
            <a:endParaRPr lang="zh-CN" altLang="en-US" sz="2400" b="0" dirty="0">
              <a:latin typeface="黑体" panose="02010609060101010101" pitchFamily="2" charset="-122"/>
              <a:ea typeface="黑体" panose="02010609060101010101" pitchFamily="2" charset="-122"/>
              <a:cs typeface="+mn-ea"/>
            </a:endParaRPr>
          </a:p>
          <a:p>
            <a:pPr lvl="1" algn="l" eaLnBrk="1" hangingPunct="1">
              <a:spcBef>
                <a:spcPct val="20000"/>
              </a:spcBef>
              <a:buClrTx/>
              <a:buSzTx/>
              <a:buChar char="•"/>
            </a:pP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7.1 图的定义和术语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5" name="Group 4"/>
          <p:cNvGrpSpPr/>
          <p:nvPr/>
        </p:nvGrpSpPr>
        <p:grpSpPr>
          <a:xfrm>
            <a:off x="5681345" y="3552190"/>
            <a:ext cx="2895600" cy="2286000"/>
            <a:chOff x="3648" y="2875"/>
            <a:chExt cx="1824" cy="1440"/>
          </a:xfrm>
        </p:grpSpPr>
        <p:sp>
          <p:nvSpPr>
            <p:cNvPr id="10245" name="Line 5"/>
            <p:cNvSpPr/>
            <p:nvPr/>
          </p:nvSpPr>
          <p:spPr>
            <a:xfrm flipH="1">
              <a:off x="4272" y="3024"/>
              <a:ext cx="576" cy="0"/>
            </a:xfrm>
            <a:prstGeom prst="line">
              <a:avLst/>
            </a:prstGeom>
            <a:ln w="38100" cap="flat" cmpd="sng">
              <a:solidFill>
                <a:srgbClr val="009900"/>
              </a:solidFill>
              <a:prstDash val="solid"/>
              <a:round/>
              <a:headEnd type="none" w="med" len="med"/>
              <a:tailEnd type="none" w="med" len="med"/>
            </a:ln>
          </p:spPr>
        </p:sp>
        <p:sp>
          <p:nvSpPr>
            <p:cNvPr id="10246" name="Line 6"/>
            <p:cNvSpPr/>
            <p:nvPr/>
          </p:nvSpPr>
          <p:spPr>
            <a:xfrm>
              <a:off x="4944" y="3120"/>
              <a:ext cx="0" cy="960"/>
            </a:xfrm>
            <a:prstGeom prst="line">
              <a:avLst/>
            </a:prstGeom>
            <a:ln w="38100" cap="flat" cmpd="sng">
              <a:solidFill>
                <a:srgbClr val="009900"/>
              </a:solidFill>
              <a:prstDash val="solid"/>
              <a:round/>
              <a:headEnd type="none" w="med" len="med"/>
              <a:tailEnd type="none" w="med" len="med"/>
            </a:ln>
          </p:spPr>
        </p:sp>
        <p:sp>
          <p:nvSpPr>
            <p:cNvPr id="10247" name="Line 7"/>
            <p:cNvSpPr/>
            <p:nvPr/>
          </p:nvSpPr>
          <p:spPr>
            <a:xfrm>
              <a:off x="4992" y="3072"/>
              <a:ext cx="336" cy="480"/>
            </a:xfrm>
            <a:prstGeom prst="line">
              <a:avLst/>
            </a:prstGeom>
            <a:ln w="38100" cap="flat" cmpd="sng">
              <a:solidFill>
                <a:srgbClr val="009900"/>
              </a:solidFill>
              <a:prstDash val="solid"/>
              <a:round/>
              <a:headEnd type="none" w="med" len="med"/>
              <a:tailEnd type="none" w="med" len="med"/>
            </a:ln>
          </p:spPr>
        </p:sp>
        <p:sp>
          <p:nvSpPr>
            <p:cNvPr id="10248" name="Line 8"/>
            <p:cNvSpPr/>
            <p:nvPr/>
          </p:nvSpPr>
          <p:spPr>
            <a:xfrm flipH="1">
              <a:off x="3840" y="3072"/>
              <a:ext cx="240" cy="432"/>
            </a:xfrm>
            <a:prstGeom prst="line">
              <a:avLst/>
            </a:prstGeom>
            <a:ln w="38100" cap="flat" cmpd="sng">
              <a:solidFill>
                <a:srgbClr val="009900"/>
              </a:solidFill>
              <a:prstDash val="solid"/>
              <a:round/>
              <a:headEnd type="none" w="med" len="med"/>
              <a:tailEnd type="none" w="med" len="med"/>
            </a:ln>
          </p:spPr>
        </p:sp>
        <p:sp>
          <p:nvSpPr>
            <p:cNvPr id="10249" name="Line 9"/>
            <p:cNvSpPr/>
            <p:nvPr/>
          </p:nvSpPr>
          <p:spPr>
            <a:xfrm flipH="1" flipV="1">
              <a:off x="4128" y="3120"/>
              <a:ext cx="0" cy="1008"/>
            </a:xfrm>
            <a:prstGeom prst="line">
              <a:avLst/>
            </a:prstGeom>
            <a:ln w="38100" cap="flat" cmpd="sng">
              <a:solidFill>
                <a:srgbClr val="009900"/>
              </a:solidFill>
              <a:prstDash val="solid"/>
              <a:round/>
              <a:headEnd type="none" w="med" len="med"/>
              <a:tailEnd type="none" w="med" len="med"/>
            </a:ln>
          </p:spPr>
        </p:sp>
        <p:sp>
          <p:nvSpPr>
            <p:cNvPr id="10250" name="Line 10"/>
            <p:cNvSpPr/>
            <p:nvPr/>
          </p:nvSpPr>
          <p:spPr>
            <a:xfrm flipH="1" flipV="1">
              <a:off x="4176" y="3072"/>
              <a:ext cx="1104" cy="576"/>
            </a:xfrm>
            <a:prstGeom prst="line">
              <a:avLst/>
            </a:prstGeom>
            <a:ln w="38100" cap="flat" cmpd="sng">
              <a:solidFill>
                <a:srgbClr val="009900"/>
              </a:solidFill>
              <a:prstDash val="solid"/>
              <a:round/>
              <a:headEnd type="none" w="med" len="med"/>
              <a:tailEnd type="none" w="med" len="med"/>
            </a:ln>
          </p:spPr>
        </p:sp>
        <p:sp>
          <p:nvSpPr>
            <p:cNvPr id="10251" name="Line 11"/>
            <p:cNvSpPr/>
            <p:nvPr/>
          </p:nvSpPr>
          <p:spPr>
            <a:xfrm flipH="1" flipV="1">
              <a:off x="3792" y="3696"/>
              <a:ext cx="288" cy="432"/>
            </a:xfrm>
            <a:prstGeom prst="line">
              <a:avLst/>
            </a:prstGeom>
            <a:ln w="38100" cap="flat" cmpd="sng">
              <a:solidFill>
                <a:srgbClr val="009900"/>
              </a:solidFill>
              <a:prstDash val="solid"/>
              <a:round/>
              <a:headEnd type="none" w="med" len="med"/>
              <a:tailEnd type="none" w="med" len="med"/>
            </a:ln>
          </p:spPr>
        </p:sp>
        <p:sp>
          <p:nvSpPr>
            <p:cNvPr id="10252" name="Line 12"/>
            <p:cNvSpPr/>
            <p:nvPr/>
          </p:nvSpPr>
          <p:spPr>
            <a:xfrm flipH="1">
              <a:off x="4176" y="4176"/>
              <a:ext cx="720" cy="0"/>
            </a:xfrm>
            <a:prstGeom prst="line">
              <a:avLst/>
            </a:prstGeom>
            <a:ln w="38100" cap="flat" cmpd="sng">
              <a:solidFill>
                <a:srgbClr val="009900"/>
              </a:solidFill>
              <a:prstDash val="solid"/>
              <a:round/>
              <a:headEnd type="none" w="med" len="med"/>
              <a:tailEnd type="none" w="med" len="med"/>
            </a:ln>
          </p:spPr>
        </p:sp>
        <p:sp>
          <p:nvSpPr>
            <p:cNvPr id="10253" name="Line 13"/>
            <p:cNvSpPr/>
            <p:nvPr/>
          </p:nvSpPr>
          <p:spPr>
            <a:xfrm flipH="1">
              <a:off x="4224" y="3648"/>
              <a:ext cx="1056" cy="480"/>
            </a:xfrm>
            <a:prstGeom prst="line">
              <a:avLst/>
            </a:prstGeom>
            <a:ln w="38100" cap="flat" cmpd="sng">
              <a:solidFill>
                <a:srgbClr val="009900"/>
              </a:solidFill>
              <a:prstDash val="solid"/>
              <a:round/>
              <a:headEnd type="none" w="med" len="med"/>
              <a:tailEnd type="none" w="med" len="med"/>
            </a:ln>
          </p:spPr>
        </p:sp>
        <p:sp>
          <p:nvSpPr>
            <p:cNvPr id="10254" name="Line 14"/>
            <p:cNvSpPr/>
            <p:nvPr/>
          </p:nvSpPr>
          <p:spPr>
            <a:xfrm flipH="1">
              <a:off x="4992" y="3696"/>
              <a:ext cx="336" cy="480"/>
            </a:xfrm>
            <a:prstGeom prst="line">
              <a:avLst/>
            </a:prstGeom>
            <a:ln w="38100" cap="flat" cmpd="sng">
              <a:solidFill>
                <a:srgbClr val="009900"/>
              </a:solidFill>
              <a:prstDash val="solid"/>
              <a:round/>
              <a:headEnd type="none" w="med" len="med"/>
              <a:tailEnd type="none" w="med" len="med"/>
            </a:ln>
          </p:spPr>
        </p:sp>
        <p:grpSp>
          <p:nvGrpSpPr>
            <p:cNvPr id="10255" name="Group 15"/>
            <p:cNvGrpSpPr/>
            <p:nvPr/>
          </p:nvGrpSpPr>
          <p:grpSpPr>
            <a:xfrm>
              <a:off x="3648" y="2875"/>
              <a:ext cx="1824" cy="1440"/>
              <a:chOff x="3648" y="2880"/>
              <a:chExt cx="1824" cy="1440"/>
            </a:xfrm>
          </p:grpSpPr>
          <p:sp>
            <p:nvSpPr>
              <p:cNvPr id="10256" name="Oval 16"/>
              <p:cNvSpPr/>
              <p:nvPr/>
            </p:nvSpPr>
            <p:spPr>
              <a:xfrm>
                <a:off x="3984" y="2880"/>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10257" name="Oval 17"/>
              <p:cNvSpPr/>
              <p:nvPr/>
            </p:nvSpPr>
            <p:spPr>
              <a:xfrm>
                <a:off x="3984"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10258" name="Oval 18"/>
              <p:cNvSpPr/>
              <p:nvPr/>
            </p:nvSpPr>
            <p:spPr>
              <a:xfrm>
                <a:off x="3648" y="3456"/>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10259" name="Oval 19"/>
              <p:cNvSpPr/>
              <p:nvPr/>
            </p:nvSpPr>
            <p:spPr>
              <a:xfrm>
                <a:off x="5184" y="350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5</a:t>
                </a:r>
                <a:endParaRPr lang="en-US" altLang="zh-CN" sz="2400" dirty="0">
                  <a:solidFill>
                    <a:schemeClr val="bg1"/>
                  </a:solidFill>
                  <a:latin typeface="Tahoma" panose="020B0604030504040204" charset="0"/>
                  <a:ea typeface="宋体" panose="02010600030101010101" pitchFamily="2" charset="-122"/>
                </a:endParaRPr>
              </a:p>
            </p:txBody>
          </p:sp>
          <p:sp>
            <p:nvSpPr>
              <p:cNvPr id="10260" name="Oval 20"/>
              <p:cNvSpPr/>
              <p:nvPr/>
            </p:nvSpPr>
            <p:spPr>
              <a:xfrm>
                <a:off x="4800" y="405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10261" name="Oval 21"/>
              <p:cNvSpPr/>
              <p:nvPr/>
            </p:nvSpPr>
            <p:spPr>
              <a:xfrm>
                <a:off x="4800" y="288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无向完全图：如果无向图有</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n(n-1)/2</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条边，则称为无向完全图</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无向完全图是指图的任意两个顶点都有边</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7.1 图的定义和术语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1268" name="Group 22"/>
          <p:cNvGrpSpPr/>
          <p:nvPr/>
        </p:nvGrpSpPr>
        <p:grpSpPr>
          <a:xfrm>
            <a:off x="4440238" y="2708275"/>
            <a:ext cx="2895600" cy="2286000"/>
            <a:chOff x="1536" y="2688"/>
            <a:chExt cx="1824" cy="1440"/>
          </a:xfrm>
        </p:grpSpPr>
        <p:sp>
          <p:nvSpPr>
            <p:cNvPr id="11269" name="Line 23"/>
            <p:cNvSpPr/>
            <p:nvPr/>
          </p:nvSpPr>
          <p:spPr>
            <a:xfrm flipH="1">
              <a:off x="2160" y="2837"/>
              <a:ext cx="576" cy="0"/>
            </a:xfrm>
            <a:prstGeom prst="line">
              <a:avLst/>
            </a:prstGeom>
            <a:ln w="38100" cap="flat" cmpd="sng">
              <a:solidFill>
                <a:srgbClr val="009900"/>
              </a:solidFill>
              <a:prstDash val="solid"/>
              <a:round/>
              <a:headEnd type="none" w="med" len="med"/>
              <a:tailEnd type="none" w="med" len="med"/>
            </a:ln>
          </p:spPr>
        </p:sp>
        <p:sp>
          <p:nvSpPr>
            <p:cNvPr id="11270" name="Line 24"/>
            <p:cNvSpPr/>
            <p:nvPr/>
          </p:nvSpPr>
          <p:spPr>
            <a:xfrm>
              <a:off x="2832" y="2933"/>
              <a:ext cx="0" cy="960"/>
            </a:xfrm>
            <a:prstGeom prst="line">
              <a:avLst/>
            </a:prstGeom>
            <a:ln w="38100" cap="flat" cmpd="sng">
              <a:solidFill>
                <a:srgbClr val="009900"/>
              </a:solidFill>
              <a:prstDash val="solid"/>
              <a:round/>
              <a:headEnd type="none" w="med" len="med"/>
              <a:tailEnd type="none" w="med" len="med"/>
            </a:ln>
          </p:spPr>
        </p:sp>
        <p:sp>
          <p:nvSpPr>
            <p:cNvPr id="11271" name="Line 25"/>
            <p:cNvSpPr/>
            <p:nvPr/>
          </p:nvSpPr>
          <p:spPr>
            <a:xfrm>
              <a:off x="2880" y="2885"/>
              <a:ext cx="336" cy="480"/>
            </a:xfrm>
            <a:prstGeom prst="line">
              <a:avLst/>
            </a:prstGeom>
            <a:ln w="38100" cap="flat" cmpd="sng">
              <a:solidFill>
                <a:srgbClr val="009900"/>
              </a:solidFill>
              <a:prstDash val="solid"/>
              <a:round/>
              <a:headEnd type="none" w="med" len="med"/>
              <a:tailEnd type="none" w="med" len="med"/>
            </a:ln>
          </p:spPr>
        </p:sp>
        <p:sp>
          <p:nvSpPr>
            <p:cNvPr id="11272" name="Line 26"/>
            <p:cNvSpPr/>
            <p:nvPr/>
          </p:nvSpPr>
          <p:spPr>
            <a:xfrm flipH="1">
              <a:off x="1728" y="2885"/>
              <a:ext cx="240" cy="432"/>
            </a:xfrm>
            <a:prstGeom prst="line">
              <a:avLst/>
            </a:prstGeom>
            <a:ln w="38100" cap="flat" cmpd="sng">
              <a:solidFill>
                <a:srgbClr val="009900"/>
              </a:solidFill>
              <a:prstDash val="solid"/>
              <a:round/>
              <a:headEnd type="none" w="med" len="med"/>
              <a:tailEnd type="none" w="med" len="med"/>
            </a:ln>
          </p:spPr>
        </p:sp>
        <p:sp>
          <p:nvSpPr>
            <p:cNvPr id="11273" name="Line 27"/>
            <p:cNvSpPr/>
            <p:nvPr/>
          </p:nvSpPr>
          <p:spPr>
            <a:xfrm flipH="1" flipV="1">
              <a:off x="2016" y="2933"/>
              <a:ext cx="0" cy="1008"/>
            </a:xfrm>
            <a:prstGeom prst="line">
              <a:avLst/>
            </a:prstGeom>
            <a:ln w="38100" cap="flat" cmpd="sng">
              <a:solidFill>
                <a:srgbClr val="009900"/>
              </a:solidFill>
              <a:prstDash val="solid"/>
              <a:round/>
              <a:headEnd type="none" w="med" len="med"/>
              <a:tailEnd type="none" w="med" len="med"/>
            </a:ln>
          </p:spPr>
        </p:sp>
        <p:sp>
          <p:nvSpPr>
            <p:cNvPr id="11274" name="Line 28"/>
            <p:cNvSpPr/>
            <p:nvPr/>
          </p:nvSpPr>
          <p:spPr>
            <a:xfrm flipH="1" flipV="1">
              <a:off x="2064" y="2885"/>
              <a:ext cx="1104" cy="523"/>
            </a:xfrm>
            <a:prstGeom prst="line">
              <a:avLst/>
            </a:prstGeom>
            <a:ln w="38100" cap="flat" cmpd="sng">
              <a:solidFill>
                <a:srgbClr val="009900"/>
              </a:solidFill>
              <a:prstDash val="solid"/>
              <a:round/>
              <a:headEnd type="none" w="med" len="med"/>
              <a:tailEnd type="none" w="med" len="med"/>
            </a:ln>
          </p:spPr>
        </p:sp>
        <p:sp>
          <p:nvSpPr>
            <p:cNvPr id="11275" name="Line 29"/>
            <p:cNvSpPr/>
            <p:nvPr/>
          </p:nvSpPr>
          <p:spPr>
            <a:xfrm flipH="1" flipV="1">
              <a:off x="1680" y="3509"/>
              <a:ext cx="288" cy="432"/>
            </a:xfrm>
            <a:prstGeom prst="line">
              <a:avLst/>
            </a:prstGeom>
            <a:ln w="38100" cap="flat" cmpd="sng">
              <a:solidFill>
                <a:srgbClr val="009900"/>
              </a:solidFill>
              <a:prstDash val="solid"/>
              <a:round/>
              <a:headEnd type="none" w="med" len="med"/>
              <a:tailEnd type="none" w="med" len="med"/>
            </a:ln>
          </p:spPr>
        </p:sp>
        <p:sp>
          <p:nvSpPr>
            <p:cNvPr id="11276" name="Line 30"/>
            <p:cNvSpPr/>
            <p:nvPr/>
          </p:nvSpPr>
          <p:spPr>
            <a:xfrm flipH="1">
              <a:off x="2064" y="3989"/>
              <a:ext cx="720" cy="0"/>
            </a:xfrm>
            <a:prstGeom prst="line">
              <a:avLst/>
            </a:prstGeom>
            <a:ln w="38100" cap="flat" cmpd="sng">
              <a:solidFill>
                <a:srgbClr val="009900"/>
              </a:solidFill>
              <a:prstDash val="solid"/>
              <a:round/>
              <a:headEnd type="none" w="med" len="med"/>
              <a:tailEnd type="none" w="med" len="med"/>
            </a:ln>
          </p:spPr>
        </p:sp>
        <p:sp>
          <p:nvSpPr>
            <p:cNvPr id="11277" name="Line 31"/>
            <p:cNvSpPr/>
            <p:nvPr/>
          </p:nvSpPr>
          <p:spPr>
            <a:xfrm flipH="1">
              <a:off x="2112" y="3461"/>
              <a:ext cx="1056" cy="480"/>
            </a:xfrm>
            <a:prstGeom prst="line">
              <a:avLst/>
            </a:prstGeom>
            <a:ln w="38100" cap="flat" cmpd="sng">
              <a:solidFill>
                <a:srgbClr val="009900"/>
              </a:solidFill>
              <a:prstDash val="solid"/>
              <a:round/>
              <a:headEnd type="none" w="med" len="med"/>
              <a:tailEnd type="none" w="med" len="med"/>
            </a:ln>
          </p:spPr>
        </p:sp>
        <p:sp>
          <p:nvSpPr>
            <p:cNvPr id="11278" name="Line 32"/>
            <p:cNvSpPr/>
            <p:nvPr/>
          </p:nvSpPr>
          <p:spPr>
            <a:xfrm flipH="1">
              <a:off x="2880" y="3509"/>
              <a:ext cx="336" cy="480"/>
            </a:xfrm>
            <a:prstGeom prst="line">
              <a:avLst/>
            </a:prstGeom>
            <a:ln w="38100" cap="flat" cmpd="sng">
              <a:solidFill>
                <a:srgbClr val="009900"/>
              </a:solidFill>
              <a:prstDash val="solid"/>
              <a:round/>
              <a:headEnd type="none" w="med" len="med"/>
              <a:tailEnd type="none" w="med" len="med"/>
            </a:ln>
          </p:spPr>
        </p:sp>
        <p:sp>
          <p:nvSpPr>
            <p:cNvPr id="11279" name="Line 33"/>
            <p:cNvSpPr/>
            <p:nvPr/>
          </p:nvSpPr>
          <p:spPr>
            <a:xfrm flipH="1" flipV="1">
              <a:off x="2016" y="2880"/>
              <a:ext cx="816" cy="1104"/>
            </a:xfrm>
            <a:prstGeom prst="line">
              <a:avLst/>
            </a:prstGeom>
            <a:ln w="38100" cap="flat" cmpd="sng">
              <a:solidFill>
                <a:srgbClr val="009900"/>
              </a:solidFill>
              <a:prstDash val="solid"/>
              <a:round/>
              <a:headEnd type="none" w="med" len="med"/>
              <a:tailEnd type="none" w="med" len="med"/>
            </a:ln>
          </p:spPr>
        </p:sp>
        <p:sp>
          <p:nvSpPr>
            <p:cNvPr id="11280" name="Line 34"/>
            <p:cNvSpPr/>
            <p:nvPr/>
          </p:nvSpPr>
          <p:spPr>
            <a:xfrm flipV="1">
              <a:off x="2064" y="2880"/>
              <a:ext cx="768" cy="1056"/>
            </a:xfrm>
            <a:prstGeom prst="line">
              <a:avLst/>
            </a:prstGeom>
            <a:ln w="38100" cap="flat" cmpd="sng">
              <a:solidFill>
                <a:srgbClr val="009900"/>
              </a:solidFill>
              <a:prstDash val="solid"/>
              <a:round/>
              <a:headEnd type="none" w="med" len="med"/>
              <a:tailEnd type="none" w="med" len="med"/>
            </a:ln>
          </p:spPr>
        </p:sp>
        <p:sp>
          <p:nvSpPr>
            <p:cNvPr id="11281" name="Line 35"/>
            <p:cNvSpPr/>
            <p:nvPr/>
          </p:nvSpPr>
          <p:spPr>
            <a:xfrm flipH="1">
              <a:off x="1728" y="2880"/>
              <a:ext cx="1056" cy="480"/>
            </a:xfrm>
            <a:prstGeom prst="line">
              <a:avLst/>
            </a:prstGeom>
            <a:ln w="38100" cap="flat" cmpd="sng">
              <a:solidFill>
                <a:srgbClr val="009900"/>
              </a:solidFill>
              <a:prstDash val="solid"/>
              <a:round/>
              <a:headEnd type="none" w="med" len="med"/>
              <a:tailEnd type="none" w="med" len="med"/>
            </a:ln>
          </p:spPr>
        </p:sp>
        <p:sp>
          <p:nvSpPr>
            <p:cNvPr id="11282" name="Line 36"/>
            <p:cNvSpPr/>
            <p:nvPr/>
          </p:nvSpPr>
          <p:spPr>
            <a:xfrm flipH="1" flipV="1">
              <a:off x="1728" y="3456"/>
              <a:ext cx="1440" cy="0"/>
            </a:xfrm>
            <a:prstGeom prst="line">
              <a:avLst/>
            </a:prstGeom>
            <a:ln w="38100" cap="flat" cmpd="sng">
              <a:solidFill>
                <a:srgbClr val="009900"/>
              </a:solidFill>
              <a:prstDash val="solid"/>
              <a:round/>
              <a:headEnd type="none" w="med" len="med"/>
              <a:tailEnd type="none" w="med" len="med"/>
            </a:ln>
          </p:spPr>
        </p:sp>
        <p:sp>
          <p:nvSpPr>
            <p:cNvPr id="11283" name="Line 37"/>
            <p:cNvSpPr/>
            <p:nvPr/>
          </p:nvSpPr>
          <p:spPr>
            <a:xfrm flipH="1" flipV="1">
              <a:off x="1728" y="3504"/>
              <a:ext cx="1008" cy="432"/>
            </a:xfrm>
            <a:prstGeom prst="line">
              <a:avLst/>
            </a:prstGeom>
            <a:ln w="38100" cap="flat" cmpd="sng">
              <a:solidFill>
                <a:srgbClr val="009900"/>
              </a:solidFill>
              <a:prstDash val="solid"/>
              <a:round/>
              <a:headEnd type="none" w="med" len="med"/>
              <a:tailEnd type="none" w="med" len="med"/>
            </a:ln>
          </p:spPr>
        </p:sp>
        <p:grpSp>
          <p:nvGrpSpPr>
            <p:cNvPr id="11284" name="Group 38"/>
            <p:cNvGrpSpPr/>
            <p:nvPr/>
          </p:nvGrpSpPr>
          <p:grpSpPr>
            <a:xfrm>
              <a:off x="1536" y="2688"/>
              <a:ext cx="1824" cy="1440"/>
              <a:chOff x="3648" y="2880"/>
              <a:chExt cx="1824" cy="1440"/>
            </a:xfrm>
          </p:grpSpPr>
          <p:sp>
            <p:nvSpPr>
              <p:cNvPr id="11285" name="Oval 39"/>
              <p:cNvSpPr/>
              <p:nvPr/>
            </p:nvSpPr>
            <p:spPr>
              <a:xfrm>
                <a:off x="3984" y="2880"/>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11286" name="Oval 40"/>
              <p:cNvSpPr/>
              <p:nvPr/>
            </p:nvSpPr>
            <p:spPr>
              <a:xfrm>
                <a:off x="3984"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11287" name="Oval 41"/>
              <p:cNvSpPr/>
              <p:nvPr/>
            </p:nvSpPr>
            <p:spPr>
              <a:xfrm>
                <a:off x="3648" y="3456"/>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11288" name="Oval 42"/>
              <p:cNvSpPr/>
              <p:nvPr/>
            </p:nvSpPr>
            <p:spPr>
              <a:xfrm>
                <a:off x="5184" y="350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5</a:t>
                </a:r>
                <a:endParaRPr lang="en-US" altLang="zh-CN" sz="2400" dirty="0">
                  <a:solidFill>
                    <a:schemeClr val="bg1"/>
                  </a:solidFill>
                  <a:latin typeface="Tahoma" panose="020B0604030504040204" charset="0"/>
                  <a:ea typeface="宋体" panose="02010600030101010101" pitchFamily="2" charset="-122"/>
                </a:endParaRPr>
              </a:p>
            </p:txBody>
          </p:sp>
          <p:sp>
            <p:nvSpPr>
              <p:cNvPr id="11289" name="Oval 43"/>
              <p:cNvSpPr/>
              <p:nvPr/>
            </p:nvSpPr>
            <p:spPr>
              <a:xfrm>
                <a:off x="4800" y="405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11290" name="Oval 44"/>
              <p:cNvSpPr/>
              <p:nvPr/>
            </p:nvSpPr>
            <p:spPr>
              <a:xfrm>
                <a:off x="4800" y="288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无向图的</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术语</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邻接：如果(x,y)</a:t>
            </a: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E,称x,y互为邻接点，即x,y相邻接</a:t>
            </a:r>
            <a:endParaRPr lang="zh-CN" altLang="en-US" sz="2400" b="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依附：边(x,y)依附于顶点x,y</a:t>
            </a:r>
            <a:endParaRPr lang="zh-CN" altLang="en-US" sz="2400" b="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相关联：边(x,y)与x,y相关联</a:t>
            </a:r>
            <a:endParaRPr lang="zh-CN" altLang="en-US" sz="2400" b="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顶点的度：和顶点相关联的边的数目，记为TD(x)</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7.1 图的定义和术语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2292" name="Group 27"/>
          <p:cNvGrpSpPr/>
          <p:nvPr/>
        </p:nvGrpSpPr>
        <p:grpSpPr>
          <a:xfrm>
            <a:off x="3719513" y="3500438"/>
            <a:ext cx="2895600" cy="2286000"/>
            <a:chOff x="3648" y="2875"/>
            <a:chExt cx="1824" cy="1440"/>
          </a:xfrm>
        </p:grpSpPr>
        <p:sp>
          <p:nvSpPr>
            <p:cNvPr id="12293" name="Line 28"/>
            <p:cNvSpPr/>
            <p:nvPr/>
          </p:nvSpPr>
          <p:spPr>
            <a:xfrm flipH="1">
              <a:off x="4272" y="3024"/>
              <a:ext cx="576" cy="0"/>
            </a:xfrm>
            <a:prstGeom prst="line">
              <a:avLst/>
            </a:prstGeom>
            <a:ln w="38100" cap="flat" cmpd="sng">
              <a:solidFill>
                <a:srgbClr val="009900"/>
              </a:solidFill>
              <a:prstDash val="solid"/>
              <a:round/>
              <a:headEnd type="none" w="med" len="med"/>
              <a:tailEnd type="none" w="med" len="med"/>
            </a:ln>
          </p:spPr>
        </p:sp>
        <p:sp>
          <p:nvSpPr>
            <p:cNvPr id="12294" name="Line 29"/>
            <p:cNvSpPr/>
            <p:nvPr/>
          </p:nvSpPr>
          <p:spPr>
            <a:xfrm>
              <a:off x="4944" y="3120"/>
              <a:ext cx="0" cy="960"/>
            </a:xfrm>
            <a:prstGeom prst="line">
              <a:avLst/>
            </a:prstGeom>
            <a:ln w="38100" cap="flat" cmpd="sng">
              <a:solidFill>
                <a:srgbClr val="009900"/>
              </a:solidFill>
              <a:prstDash val="solid"/>
              <a:round/>
              <a:headEnd type="none" w="med" len="med"/>
              <a:tailEnd type="none" w="med" len="med"/>
            </a:ln>
          </p:spPr>
        </p:sp>
        <p:sp>
          <p:nvSpPr>
            <p:cNvPr id="12295" name="Line 30"/>
            <p:cNvSpPr/>
            <p:nvPr/>
          </p:nvSpPr>
          <p:spPr>
            <a:xfrm>
              <a:off x="4992" y="3072"/>
              <a:ext cx="336" cy="480"/>
            </a:xfrm>
            <a:prstGeom prst="line">
              <a:avLst/>
            </a:prstGeom>
            <a:ln w="38100" cap="flat" cmpd="sng">
              <a:solidFill>
                <a:srgbClr val="009900"/>
              </a:solidFill>
              <a:prstDash val="solid"/>
              <a:round/>
              <a:headEnd type="none" w="med" len="med"/>
              <a:tailEnd type="none" w="med" len="med"/>
            </a:ln>
          </p:spPr>
        </p:sp>
        <p:sp>
          <p:nvSpPr>
            <p:cNvPr id="12296" name="Line 31"/>
            <p:cNvSpPr/>
            <p:nvPr/>
          </p:nvSpPr>
          <p:spPr>
            <a:xfrm flipH="1">
              <a:off x="3840" y="3072"/>
              <a:ext cx="240" cy="432"/>
            </a:xfrm>
            <a:prstGeom prst="line">
              <a:avLst/>
            </a:prstGeom>
            <a:ln w="38100" cap="flat" cmpd="sng">
              <a:solidFill>
                <a:srgbClr val="009900"/>
              </a:solidFill>
              <a:prstDash val="solid"/>
              <a:round/>
              <a:headEnd type="none" w="med" len="med"/>
              <a:tailEnd type="none" w="med" len="med"/>
            </a:ln>
          </p:spPr>
        </p:sp>
        <p:sp>
          <p:nvSpPr>
            <p:cNvPr id="12297" name="Line 32"/>
            <p:cNvSpPr/>
            <p:nvPr/>
          </p:nvSpPr>
          <p:spPr>
            <a:xfrm flipH="1" flipV="1">
              <a:off x="4128" y="3120"/>
              <a:ext cx="0" cy="1008"/>
            </a:xfrm>
            <a:prstGeom prst="line">
              <a:avLst/>
            </a:prstGeom>
            <a:ln w="38100" cap="flat" cmpd="sng">
              <a:solidFill>
                <a:srgbClr val="009900"/>
              </a:solidFill>
              <a:prstDash val="solid"/>
              <a:round/>
              <a:headEnd type="none" w="med" len="med"/>
              <a:tailEnd type="none" w="med" len="med"/>
            </a:ln>
          </p:spPr>
        </p:sp>
        <p:sp>
          <p:nvSpPr>
            <p:cNvPr id="12298" name="Line 33"/>
            <p:cNvSpPr/>
            <p:nvPr/>
          </p:nvSpPr>
          <p:spPr>
            <a:xfrm flipH="1" flipV="1">
              <a:off x="4176" y="3072"/>
              <a:ext cx="1104" cy="576"/>
            </a:xfrm>
            <a:prstGeom prst="line">
              <a:avLst/>
            </a:prstGeom>
            <a:ln w="38100" cap="flat" cmpd="sng">
              <a:solidFill>
                <a:srgbClr val="009900"/>
              </a:solidFill>
              <a:prstDash val="solid"/>
              <a:round/>
              <a:headEnd type="none" w="med" len="med"/>
              <a:tailEnd type="none" w="med" len="med"/>
            </a:ln>
          </p:spPr>
        </p:sp>
        <p:sp>
          <p:nvSpPr>
            <p:cNvPr id="12299" name="Line 34"/>
            <p:cNvSpPr/>
            <p:nvPr/>
          </p:nvSpPr>
          <p:spPr>
            <a:xfrm flipH="1" flipV="1">
              <a:off x="3792" y="3696"/>
              <a:ext cx="288" cy="432"/>
            </a:xfrm>
            <a:prstGeom prst="line">
              <a:avLst/>
            </a:prstGeom>
            <a:ln w="38100" cap="flat" cmpd="sng">
              <a:solidFill>
                <a:srgbClr val="009900"/>
              </a:solidFill>
              <a:prstDash val="solid"/>
              <a:round/>
              <a:headEnd type="none" w="med" len="med"/>
              <a:tailEnd type="none" w="med" len="med"/>
            </a:ln>
          </p:spPr>
        </p:sp>
        <p:sp>
          <p:nvSpPr>
            <p:cNvPr id="12300" name="Line 35"/>
            <p:cNvSpPr/>
            <p:nvPr/>
          </p:nvSpPr>
          <p:spPr>
            <a:xfrm flipH="1">
              <a:off x="4176" y="4176"/>
              <a:ext cx="720" cy="0"/>
            </a:xfrm>
            <a:prstGeom prst="line">
              <a:avLst/>
            </a:prstGeom>
            <a:ln w="38100" cap="flat" cmpd="sng">
              <a:solidFill>
                <a:srgbClr val="009900"/>
              </a:solidFill>
              <a:prstDash val="solid"/>
              <a:round/>
              <a:headEnd type="none" w="med" len="med"/>
              <a:tailEnd type="none" w="med" len="med"/>
            </a:ln>
          </p:spPr>
        </p:sp>
        <p:sp>
          <p:nvSpPr>
            <p:cNvPr id="12301" name="Line 36"/>
            <p:cNvSpPr/>
            <p:nvPr/>
          </p:nvSpPr>
          <p:spPr>
            <a:xfrm flipH="1">
              <a:off x="4224" y="3648"/>
              <a:ext cx="1056" cy="480"/>
            </a:xfrm>
            <a:prstGeom prst="line">
              <a:avLst/>
            </a:prstGeom>
            <a:ln w="38100" cap="flat" cmpd="sng">
              <a:solidFill>
                <a:srgbClr val="009900"/>
              </a:solidFill>
              <a:prstDash val="solid"/>
              <a:round/>
              <a:headEnd type="none" w="med" len="med"/>
              <a:tailEnd type="none" w="med" len="med"/>
            </a:ln>
          </p:spPr>
        </p:sp>
        <p:sp>
          <p:nvSpPr>
            <p:cNvPr id="12302" name="Line 37"/>
            <p:cNvSpPr/>
            <p:nvPr/>
          </p:nvSpPr>
          <p:spPr>
            <a:xfrm flipH="1">
              <a:off x="4992" y="3696"/>
              <a:ext cx="336" cy="480"/>
            </a:xfrm>
            <a:prstGeom prst="line">
              <a:avLst/>
            </a:prstGeom>
            <a:ln w="38100" cap="flat" cmpd="sng">
              <a:solidFill>
                <a:srgbClr val="009900"/>
              </a:solidFill>
              <a:prstDash val="solid"/>
              <a:round/>
              <a:headEnd type="none" w="med" len="med"/>
              <a:tailEnd type="none" w="med" len="med"/>
            </a:ln>
          </p:spPr>
        </p:sp>
        <p:grpSp>
          <p:nvGrpSpPr>
            <p:cNvPr id="12303" name="Group 38"/>
            <p:cNvGrpSpPr/>
            <p:nvPr/>
          </p:nvGrpSpPr>
          <p:grpSpPr>
            <a:xfrm>
              <a:off x="3648" y="2875"/>
              <a:ext cx="1824" cy="1440"/>
              <a:chOff x="3648" y="2880"/>
              <a:chExt cx="1824" cy="1440"/>
            </a:xfrm>
          </p:grpSpPr>
          <p:sp>
            <p:nvSpPr>
              <p:cNvPr id="12304" name="Oval 39"/>
              <p:cNvSpPr/>
              <p:nvPr/>
            </p:nvSpPr>
            <p:spPr>
              <a:xfrm>
                <a:off x="3984" y="2880"/>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12305" name="Oval 40"/>
              <p:cNvSpPr/>
              <p:nvPr/>
            </p:nvSpPr>
            <p:spPr>
              <a:xfrm>
                <a:off x="3984"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12306" name="Oval 41"/>
              <p:cNvSpPr/>
              <p:nvPr/>
            </p:nvSpPr>
            <p:spPr>
              <a:xfrm>
                <a:off x="3648" y="3456"/>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12307" name="Oval 42"/>
              <p:cNvSpPr/>
              <p:nvPr/>
            </p:nvSpPr>
            <p:spPr>
              <a:xfrm>
                <a:off x="5184" y="350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5</a:t>
                </a:r>
                <a:endParaRPr lang="en-US" altLang="zh-CN" sz="2400" dirty="0">
                  <a:solidFill>
                    <a:schemeClr val="bg1"/>
                  </a:solidFill>
                  <a:latin typeface="Tahoma" panose="020B0604030504040204" charset="0"/>
                  <a:ea typeface="宋体" panose="02010600030101010101" pitchFamily="2" charset="-122"/>
                </a:endParaRPr>
              </a:p>
            </p:txBody>
          </p:sp>
          <p:sp>
            <p:nvSpPr>
              <p:cNvPr id="12308" name="Oval 43"/>
              <p:cNvSpPr/>
              <p:nvPr/>
            </p:nvSpPr>
            <p:spPr>
              <a:xfrm>
                <a:off x="4800" y="405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12309" name="Oval 44"/>
              <p:cNvSpPr/>
              <p:nvPr/>
            </p:nvSpPr>
            <p:spPr>
              <a:xfrm>
                <a:off x="4800" y="288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图的分类</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有向图：用&lt;x,y&gt;表示从x到y的一条弧(Arc)，且称x为弧尾，y为弧头，&lt;x,y&gt;是有序的</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0" lvl="1" indent="457200" algn="l" eaLnBrk="1" hangingPunct="1">
              <a:buClrTx/>
              <a:buSzTx/>
              <a:buFont typeface="Wingdings" panose="05000000000000000000" charset="0"/>
              <a:buNone/>
            </a:pPr>
            <a:r>
              <a:rPr lang="zh-CN" altLang="en-US" sz="2400" dirty="0">
                <a:latin typeface="黑体" panose="02010609060101010101" pitchFamily="2" charset="-122"/>
                <a:ea typeface="黑体" panose="02010609060101010101" pitchFamily="2" charset="-122"/>
                <a:cs typeface="+mn-ea"/>
                <a:sym typeface="+mn-ea"/>
              </a:rPr>
              <a:t>例如</a:t>
            </a:r>
            <a:r>
              <a:rPr lang="en-US" altLang="zh-CN" sz="2400" dirty="0">
                <a:latin typeface="黑体" panose="02010609060101010101" pitchFamily="2" charset="-122"/>
                <a:ea typeface="黑体" panose="02010609060101010101" pitchFamily="2" charset="-122"/>
                <a:cs typeface="+mn-ea"/>
                <a:sym typeface="+mn-ea"/>
              </a:rPr>
              <a:t> G</a:t>
            </a:r>
            <a:r>
              <a:rPr lang="zh-CN" altLang="en-US" sz="2400" dirty="0">
                <a:latin typeface="黑体" panose="02010609060101010101" pitchFamily="2" charset="-122"/>
                <a:ea typeface="黑体" panose="02010609060101010101" pitchFamily="2" charset="-122"/>
                <a:cs typeface="+mn-ea"/>
                <a:sym typeface="+mn-ea"/>
              </a:rPr>
              <a:t>={V,E}</a:t>
            </a:r>
            <a:endParaRPr lang="zh-CN" altLang="en-US" sz="2400" dirty="0">
              <a:latin typeface="黑体" panose="02010609060101010101" pitchFamily="2" charset="-122"/>
              <a:ea typeface="黑体" panose="02010609060101010101" pitchFamily="2" charset="-122"/>
              <a:cs typeface="+mn-ea"/>
              <a:sym typeface="+mn-ea"/>
            </a:endParaRPr>
          </a:p>
          <a:p>
            <a:pPr marL="457200" lvl="2" indent="457200" algn="l" eaLnBrk="1" hangingPunct="1">
              <a:buClrTx/>
              <a:buSzTx/>
              <a:buFont typeface="Wingdings" panose="05000000000000000000" charset="0"/>
              <a:buNone/>
            </a:pPr>
            <a:r>
              <a:rPr lang="zh-CN" altLang="en-US" sz="2400" dirty="0">
                <a:latin typeface="黑体" panose="02010609060101010101" pitchFamily="2" charset="-122"/>
                <a:ea typeface="黑体" panose="02010609060101010101" pitchFamily="2" charset="-122"/>
                <a:cs typeface="+mn-ea"/>
                <a:sym typeface="+mn-ea"/>
              </a:rPr>
              <a:t>V={0,1,2,3,4}</a:t>
            </a:r>
            <a:endParaRPr lang="zh-CN" altLang="en-US" sz="2400" dirty="0">
              <a:latin typeface="黑体" panose="02010609060101010101" pitchFamily="2" charset="-122"/>
              <a:ea typeface="黑体" panose="02010609060101010101" pitchFamily="2" charset="-122"/>
              <a:cs typeface="+mn-ea"/>
              <a:sym typeface="+mn-ea"/>
            </a:endParaRPr>
          </a:p>
          <a:p>
            <a:pPr marL="457200" lvl="2" indent="457200" algn="l" eaLnBrk="1" hangingPunct="1">
              <a:buClrTx/>
              <a:buSzTx/>
              <a:buFont typeface="Wingdings" panose="05000000000000000000" charset="0"/>
              <a:buNone/>
            </a:pPr>
            <a:r>
              <a:rPr lang="zh-CN" altLang="en-US" sz="2400" dirty="0">
                <a:latin typeface="黑体" panose="02010609060101010101" pitchFamily="2" charset="-122"/>
                <a:ea typeface="黑体" panose="02010609060101010101" pitchFamily="2" charset="-122"/>
                <a:cs typeface="+mn-ea"/>
                <a:sym typeface="+mn-ea"/>
              </a:rPr>
              <a:t>E={&lt;0,1&gt;，&lt;0,3&gt;，&lt;0,4&gt;，&lt;1,2&gt;，&lt;2,4&gt;，&lt;3,2&gt; }</a:t>
            </a:r>
            <a:endParaRPr lang="zh-CN" altLang="en-US" sz="2400" b="0" dirty="0">
              <a:latin typeface="黑体" panose="02010609060101010101" pitchFamily="2" charset="-122"/>
              <a:ea typeface="黑体" panose="02010609060101010101" pitchFamily="2" charset="-122"/>
              <a:cs typeface="+mn-ea"/>
            </a:endParaRPr>
          </a:p>
          <a:p>
            <a:pPr marL="0" lvl="1" indent="0" algn="l" eaLnBrk="1" hangingPunct="1">
              <a:buClrTx/>
              <a:buSzTx/>
              <a:buFont typeface="Wingdings" panose="05000000000000000000" charset="0"/>
              <a:buNone/>
            </a:pPr>
            <a:endParaRPr lang="zh-CN" altLang="en-US" sz="2400" b="0" dirty="0">
              <a:latin typeface="黑体" panose="02010609060101010101" pitchFamily="2" charset="-122"/>
              <a:ea typeface="黑体" panose="02010609060101010101" pitchFamily="2" charset="-122"/>
              <a:cs typeface="+mn-ea"/>
            </a:endParaRPr>
          </a:p>
          <a:p>
            <a:pPr lvl="1" algn="l" eaLnBrk="1" hangingPunct="1">
              <a:spcBef>
                <a:spcPct val="20000"/>
              </a:spcBef>
              <a:buClrTx/>
              <a:buSzTx/>
              <a:buChar char="•"/>
            </a:pP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7.1 图的定义和术语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6" name="Group 22"/>
          <p:cNvGrpSpPr/>
          <p:nvPr/>
        </p:nvGrpSpPr>
        <p:grpSpPr>
          <a:xfrm>
            <a:off x="4511675" y="3428683"/>
            <a:ext cx="2819400" cy="2286000"/>
            <a:chOff x="3696" y="2784"/>
            <a:chExt cx="1920" cy="1536"/>
          </a:xfrm>
        </p:grpSpPr>
        <p:sp>
          <p:nvSpPr>
            <p:cNvPr id="13317" name="Line 23"/>
            <p:cNvSpPr/>
            <p:nvPr/>
          </p:nvSpPr>
          <p:spPr>
            <a:xfrm flipH="1" flipV="1">
              <a:off x="4752" y="2976"/>
              <a:ext cx="624" cy="384"/>
            </a:xfrm>
            <a:prstGeom prst="line">
              <a:avLst/>
            </a:prstGeom>
            <a:ln w="38100" cap="flat" cmpd="sng">
              <a:solidFill>
                <a:srgbClr val="009900"/>
              </a:solidFill>
              <a:prstDash val="solid"/>
              <a:round/>
              <a:headEnd type="triangle" w="med" len="med"/>
              <a:tailEnd type="none" w="med" len="med"/>
            </a:ln>
          </p:spPr>
        </p:sp>
        <p:sp>
          <p:nvSpPr>
            <p:cNvPr id="13318" name="Line 24"/>
            <p:cNvSpPr/>
            <p:nvPr/>
          </p:nvSpPr>
          <p:spPr>
            <a:xfrm>
              <a:off x="3888" y="3504"/>
              <a:ext cx="240" cy="576"/>
            </a:xfrm>
            <a:prstGeom prst="line">
              <a:avLst/>
            </a:prstGeom>
            <a:ln w="38100" cap="flat" cmpd="sng">
              <a:solidFill>
                <a:srgbClr val="009900"/>
              </a:solidFill>
              <a:prstDash val="solid"/>
              <a:round/>
              <a:headEnd type="none" w="med" len="med"/>
              <a:tailEnd type="triangle" w="med" len="med"/>
            </a:ln>
          </p:spPr>
        </p:sp>
        <p:sp>
          <p:nvSpPr>
            <p:cNvPr id="13319" name="Line 25"/>
            <p:cNvSpPr/>
            <p:nvPr/>
          </p:nvSpPr>
          <p:spPr>
            <a:xfrm flipH="1">
              <a:off x="3936" y="2928"/>
              <a:ext cx="672" cy="384"/>
            </a:xfrm>
            <a:prstGeom prst="line">
              <a:avLst/>
            </a:prstGeom>
            <a:ln w="38100" cap="flat" cmpd="sng">
              <a:solidFill>
                <a:srgbClr val="009900"/>
              </a:solidFill>
              <a:prstDash val="solid"/>
              <a:round/>
              <a:headEnd type="none" w="med" len="med"/>
              <a:tailEnd type="triangle" w="med" len="med"/>
            </a:ln>
          </p:spPr>
        </p:sp>
        <p:sp>
          <p:nvSpPr>
            <p:cNvPr id="13320" name="Line 26"/>
            <p:cNvSpPr/>
            <p:nvPr/>
          </p:nvSpPr>
          <p:spPr>
            <a:xfrm flipH="1" flipV="1">
              <a:off x="4704" y="2976"/>
              <a:ext cx="384" cy="1056"/>
            </a:xfrm>
            <a:prstGeom prst="line">
              <a:avLst/>
            </a:prstGeom>
            <a:ln w="38100" cap="flat" cmpd="sng">
              <a:solidFill>
                <a:srgbClr val="009900"/>
              </a:solidFill>
              <a:prstDash val="solid"/>
              <a:round/>
              <a:headEnd type="triangle" w="med" len="med"/>
              <a:tailEnd type="none" w="med" len="med"/>
            </a:ln>
          </p:spPr>
        </p:sp>
        <p:sp>
          <p:nvSpPr>
            <p:cNvPr id="13321" name="Line 27"/>
            <p:cNvSpPr/>
            <p:nvPr/>
          </p:nvSpPr>
          <p:spPr>
            <a:xfrm flipH="1">
              <a:off x="4272" y="4176"/>
              <a:ext cx="720" cy="0"/>
            </a:xfrm>
            <a:prstGeom prst="line">
              <a:avLst/>
            </a:prstGeom>
            <a:ln w="38100" cap="flat" cmpd="sng">
              <a:solidFill>
                <a:srgbClr val="009900"/>
              </a:solidFill>
              <a:prstDash val="solid"/>
              <a:round/>
              <a:headEnd type="none" w="med" len="med"/>
              <a:tailEnd type="triangle" w="med" len="med"/>
            </a:ln>
          </p:spPr>
        </p:sp>
        <p:sp>
          <p:nvSpPr>
            <p:cNvPr id="13322" name="Line 28"/>
            <p:cNvSpPr/>
            <p:nvPr/>
          </p:nvSpPr>
          <p:spPr>
            <a:xfrm flipH="1">
              <a:off x="4272" y="3552"/>
              <a:ext cx="1152" cy="576"/>
            </a:xfrm>
            <a:prstGeom prst="line">
              <a:avLst/>
            </a:prstGeom>
            <a:ln w="38100" cap="flat" cmpd="sng">
              <a:solidFill>
                <a:srgbClr val="009900"/>
              </a:solidFill>
              <a:prstDash val="solid"/>
              <a:round/>
              <a:headEnd type="triangle" w="med" len="med"/>
              <a:tailEnd type="none" w="med" len="med"/>
            </a:ln>
          </p:spPr>
        </p:sp>
        <p:sp>
          <p:nvSpPr>
            <p:cNvPr id="13323" name="Oval 29"/>
            <p:cNvSpPr/>
            <p:nvPr/>
          </p:nvSpPr>
          <p:spPr>
            <a:xfrm>
              <a:off x="3696" y="326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13324" name="Oval 30"/>
            <p:cNvSpPr/>
            <p:nvPr/>
          </p:nvSpPr>
          <p:spPr>
            <a:xfrm>
              <a:off x="4992"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13325" name="Oval 31"/>
            <p:cNvSpPr/>
            <p:nvPr/>
          </p:nvSpPr>
          <p:spPr>
            <a:xfrm>
              <a:off x="4032"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13326" name="Oval 32"/>
            <p:cNvSpPr/>
            <p:nvPr/>
          </p:nvSpPr>
          <p:spPr>
            <a:xfrm>
              <a:off x="5328" y="3312"/>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13327" name="Oval 33"/>
            <p:cNvSpPr/>
            <p:nvPr/>
          </p:nvSpPr>
          <p:spPr>
            <a:xfrm>
              <a:off x="4512" y="2784"/>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ppt_x</p:attrName>
                                        </p:attrNameLst>
                                      </p:cBhvr>
                                      <p:tavLst>
                                        <p:tav tm="0">
                                          <p:val>
                                            <p:strVal val="1+#ppt_w/2"/>
                                          </p:val>
                                        </p:tav>
                                        <p:tav tm="100000">
                                          <p:val>
                                            <p:strVal val="#ppt_x"/>
                                          </p:val>
                                        </p:tav>
                                      </p:tavLst>
                                    </p:anim>
                                    <p:anim calcmode="lin" valueType="num">
                                      <p:cBhvr>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有向完全图：如果有向图有</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n(n-1)</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条弧，则称为</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有向完全图</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有向完全图是指图的任意两个顶点都有两条弧</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7.1 图的定义和术语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4340" name="Group 16"/>
          <p:cNvGrpSpPr/>
          <p:nvPr/>
        </p:nvGrpSpPr>
        <p:grpSpPr>
          <a:xfrm>
            <a:off x="4511675" y="2852738"/>
            <a:ext cx="2362200" cy="1981200"/>
            <a:chOff x="1968" y="2431"/>
            <a:chExt cx="1488" cy="1248"/>
          </a:xfrm>
        </p:grpSpPr>
        <p:grpSp>
          <p:nvGrpSpPr>
            <p:cNvPr id="14341" name="Group 17"/>
            <p:cNvGrpSpPr/>
            <p:nvPr/>
          </p:nvGrpSpPr>
          <p:grpSpPr>
            <a:xfrm>
              <a:off x="2160" y="3456"/>
              <a:ext cx="1152" cy="192"/>
              <a:chOff x="2256" y="3696"/>
              <a:chExt cx="864" cy="288"/>
            </a:xfrm>
          </p:grpSpPr>
          <p:sp>
            <p:nvSpPr>
              <p:cNvPr id="14342" name="Oval 18"/>
              <p:cNvSpPr/>
              <p:nvPr/>
            </p:nvSpPr>
            <p:spPr>
              <a:xfrm>
                <a:off x="2256" y="3696"/>
                <a:ext cx="864" cy="288"/>
              </a:xfrm>
              <a:prstGeom prst="ellipse">
                <a:avLst/>
              </a:prstGeom>
              <a:noFill/>
              <a:ln w="28575" cap="flat" cmpd="sng">
                <a:solidFill>
                  <a:srgbClr val="00FF00"/>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4343" name="Line 19"/>
              <p:cNvSpPr/>
              <p:nvPr/>
            </p:nvSpPr>
            <p:spPr>
              <a:xfrm>
                <a:off x="2880" y="3705"/>
                <a:ext cx="144" cy="48"/>
              </a:xfrm>
              <a:prstGeom prst="line">
                <a:avLst/>
              </a:prstGeom>
              <a:ln w="19050" cap="flat" cmpd="sng">
                <a:solidFill>
                  <a:srgbClr val="00FF00"/>
                </a:solidFill>
                <a:prstDash val="solid"/>
                <a:miter/>
                <a:headEnd type="none" w="med" len="med"/>
                <a:tailEnd type="triangle" w="lg" len="lg"/>
              </a:ln>
            </p:spPr>
          </p:sp>
          <p:sp>
            <p:nvSpPr>
              <p:cNvPr id="14344" name="Line 20"/>
              <p:cNvSpPr/>
              <p:nvPr/>
            </p:nvSpPr>
            <p:spPr>
              <a:xfrm flipH="1" flipV="1">
                <a:off x="2334" y="3909"/>
                <a:ext cx="144" cy="48"/>
              </a:xfrm>
              <a:prstGeom prst="line">
                <a:avLst/>
              </a:prstGeom>
              <a:ln w="19050" cap="flat" cmpd="sng">
                <a:solidFill>
                  <a:srgbClr val="00FF00"/>
                </a:solidFill>
                <a:prstDash val="solid"/>
                <a:miter/>
                <a:headEnd type="none" w="med" len="med"/>
                <a:tailEnd type="triangle" w="lg" len="lg"/>
              </a:ln>
            </p:spPr>
          </p:sp>
        </p:grpSp>
        <p:grpSp>
          <p:nvGrpSpPr>
            <p:cNvPr id="14345" name="Group 21"/>
            <p:cNvGrpSpPr/>
            <p:nvPr/>
          </p:nvGrpSpPr>
          <p:grpSpPr>
            <a:xfrm rot="-3600000">
              <a:off x="1811" y="2911"/>
              <a:ext cx="1152" cy="192"/>
              <a:chOff x="2256" y="3696"/>
              <a:chExt cx="864" cy="288"/>
            </a:xfrm>
          </p:grpSpPr>
          <p:sp>
            <p:nvSpPr>
              <p:cNvPr id="14346" name="Oval 22"/>
              <p:cNvSpPr/>
              <p:nvPr/>
            </p:nvSpPr>
            <p:spPr>
              <a:xfrm>
                <a:off x="2256" y="3696"/>
                <a:ext cx="864" cy="288"/>
              </a:xfrm>
              <a:prstGeom prst="ellipse">
                <a:avLst/>
              </a:prstGeom>
              <a:noFill/>
              <a:ln w="28575" cap="flat" cmpd="sng">
                <a:solidFill>
                  <a:srgbClr val="00FF00"/>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4347" name="Line 23"/>
              <p:cNvSpPr/>
              <p:nvPr/>
            </p:nvSpPr>
            <p:spPr>
              <a:xfrm>
                <a:off x="2880" y="3705"/>
                <a:ext cx="144" cy="48"/>
              </a:xfrm>
              <a:prstGeom prst="line">
                <a:avLst/>
              </a:prstGeom>
              <a:ln w="19050" cap="flat" cmpd="sng">
                <a:solidFill>
                  <a:srgbClr val="00FF00"/>
                </a:solidFill>
                <a:prstDash val="solid"/>
                <a:miter/>
                <a:headEnd type="none" w="med" len="med"/>
                <a:tailEnd type="triangle" w="lg" len="lg"/>
              </a:ln>
            </p:spPr>
          </p:sp>
          <p:sp>
            <p:nvSpPr>
              <p:cNvPr id="14348" name="Line 24"/>
              <p:cNvSpPr/>
              <p:nvPr/>
            </p:nvSpPr>
            <p:spPr>
              <a:xfrm flipH="1" flipV="1">
                <a:off x="2334" y="3909"/>
                <a:ext cx="144" cy="48"/>
              </a:xfrm>
              <a:prstGeom prst="line">
                <a:avLst/>
              </a:prstGeom>
              <a:ln w="19050" cap="flat" cmpd="sng">
                <a:solidFill>
                  <a:srgbClr val="00FF00"/>
                </a:solidFill>
                <a:prstDash val="solid"/>
                <a:miter/>
                <a:headEnd type="none" w="med" len="med"/>
                <a:tailEnd type="triangle" w="lg" len="lg"/>
              </a:ln>
            </p:spPr>
          </p:sp>
        </p:grpSp>
        <p:grpSp>
          <p:nvGrpSpPr>
            <p:cNvPr id="14349" name="Group 25"/>
            <p:cNvGrpSpPr/>
            <p:nvPr/>
          </p:nvGrpSpPr>
          <p:grpSpPr>
            <a:xfrm rot="3600000">
              <a:off x="2477" y="2935"/>
              <a:ext cx="1077" cy="187"/>
              <a:chOff x="2256" y="3696"/>
              <a:chExt cx="864" cy="288"/>
            </a:xfrm>
          </p:grpSpPr>
          <p:sp>
            <p:nvSpPr>
              <p:cNvPr id="14350" name="Oval 26"/>
              <p:cNvSpPr/>
              <p:nvPr/>
            </p:nvSpPr>
            <p:spPr>
              <a:xfrm>
                <a:off x="2256" y="3696"/>
                <a:ext cx="864" cy="288"/>
              </a:xfrm>
              <a:prstGeom prst="ellipse">
                <a:avLst/>
              </a:prstGeom>
              <a:noFill/>
              <a:ln w="28575" cap="flat" cmpd="sng">
                <a:solidFill>
                  <a:srgbClr val="00FF00"/>
                </a:solidFill>
                <a:prstDash val="solid"/>
                <a:round/>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14351" name="Line 27"/>
              <p:cNvSpPr/>
              <p:nvPr/>
            </p:nvSpPr>
            <p:spPr>
              <a:xfrm>
                <a:off x="2880" y="3705"/>
                <a:ext cx="144" cy="48"/>
              </a:xfrm>
              <a:prstGeom prst="line">
                <a:avLst/>
              </a:prstGeom>
              <a:ln w="19050" cap="flat" cmpd="sng">
                <a:solidFill>
                  <a:srgbClr val="00FF00"/>
                </a:solidFill>
                <a:prstDash val="solid"/>
                <a:miter/>
                <a:headEnd type="none" w="med" len="med"/>
                <a:tailEnd type="triangle" w="lg" len="lg"/>
              </a:ln>
            </p:spPr>
          </p:sp>
          <p:sp>
            <p:nvSpPr>
              <p:cNvPr id="14352" name="Line 28"/>
              <p:cNvSpPr/>
              <p:nvPr/>
            </p:nvSpPr>
            <p:spPr>
              <a:xfrm flipH="1" flipV="1">
                <a:off x="2334" y="3909"/>
                <a:ext cx="144" cy="48"/>
              </a:xfrm>
              <a:prstGeom prst="line">
                <a:avLst/>
              </a:prstGeom>
              <a:ln w="19050" cap="flat" cmpd="sng">
                <a:solidFill>
                  <a:srgbClr val="00FF00"/>
                </a:solidFill>
                <a:prstDash val="solid"/>
                <a:miter/>
                <a:headEnd type="none" w="med" len="med"/>
                <a:tailEnd type="triangle" w="lg" len="lg"/>
              </a:ln>
            </p:spPr>
          </p:sp>
        </p:grpSp>
        <p:sp>
          <p:nvSpPr>
            <p:cNvPr id="14353" name="Oval 29"/>
            <p:cNvSpPr/>
            <p:nvPr/>
          </p:nvSpPr>
          <p:spPr>
            <a:xfrm>
              <a:off x="1968" y="3408"/>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14354" name="Oval 30"/>
            <p:cNvSpPr/>
            <p:nvPr/>
          </p:nvSpPr>
          <p:spPr>
            <a:xfrm>
              <a:off x="3168" y="3408"/>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14355" name="Oval 31"/>
            <p:cNvSpPr/>
            <p:nvPr/>
          </p:nvSpPr>
          <p:spPr>
            <a:xfrm>
              <a:off x="2544" y="2448"/>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有向图的</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术语</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邻接：如果&lt;x,y&gt;</a:t>
            </a:r>
            <a:r>
              <a:rPr lang="zh-CN" altLang="en-US" dirty="0">
                <a:latin typeface="黑体" panose="02010609060101010101" pitchFamily="2" charset="-122"/>
                <a:ea typeface="黑体" panose="02010609060101010101" pitchFamily="2" charset="-122"/>
                <a:cs typeface="+mn-ea"/>
                <a:sym typeface="Symbol" panose="05050102010706020507" pitchFamily="18" charset="2"/>
              </a:rPr>
              <a:t>E,称x邻接到y,或y邻接自x</a:t>
            </a:r>
            <a:endParaRPr lang="zh-CN" altLang="en-US" b="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Symbol" panose="05050102010706020507" pitchFamily="18" charset="2"/>
              </a:rPr>
              <a:t>相关联：弧&lt;x,y&gt;与x,y相关联</a:t>
            </a:r>
            <a:endParaRPr lang="zh-CN" altLang="en-US" b="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Symbol" panose="05050102010706020507" pitchFamily="18" charset="2"/>
              </a:rPr>
              <a:t>入度：以顶点为头的弧的数目，记为ID(x)</a:t>
            </a:r>
            <a:endParaRPr lang="zh-CN" altLang="en-US" b="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Symbol" panose="05050102010706020507" pitchFamily="18" charset="2"/>
              </a:rPr>
              <a:t>出度：以顶点为尾的弧的数目，记为OD(x)</a:t>
            </a:r>
            <a:endParaRPr lang="zh-CN" altLang="en-US" b="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Symbol" panose="05050102010706020507" pitchFamily="18" charset="2"/>
              </a:rPr>
              <a:t>度：TD(x)=ID(x)+OD(x)</a:t>
            </a:r>
            <a:endParaRPr lang="zh-CN" altLang="en-US" b="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7.1 图的定义和术语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5364" name="Group 20"/>
          <p:cNvGrpSpPr/>
          <p:nvPr/>
        </p:nvGrpSpPr>
        <p:grpSpPr>
          <a:xfrm>
            <a:off x="8256270" y="3500438"/>
            <a:ext cx="2819400" cy="2286000"/>
            <a:chOff x="3696" y="2784"/>
            <a:chExt cx="1920" cy="1536"/>
          </a:xfrm>
        </p:grpSpPr>
        <p:sp>
          <p:nvSpPr>
            <p:cNvPr id="15365" name="Line 21"/>
            <p:cNvSpPr/>
            <p:nvPr/>
          </p:nvSpPr>
          <p:spPr>
            <a:xfrm flipH="1" flipV="1">
              <a:off x="4752" y="2976"/>
              <a:ext cx="624" cy="384"/>
            </a:xfrm>
            <a:prstGeom prst="line">
              <a:avLst/>
            </a:prstGeom>
            <a:ln w="38100" cap="flat" cmpd="sng">
              <a:solidFill>
                <a:srgbClr val="009900"/>
              </a:solidFill>
              <a:prstDash val="solid"/>
              <a:round/>
              <a:headEnd type="triangle" w="med" len="med"/>
              <a:tailEnd type="none" w="med" len="med"/>
            </a:ln>
          </p:spPr>
        </p:sp>
        <p:sp>
          <p:nvSpPr>
            <p:cNvPr id="15366" name="Line 22"/>
            <p:cNvSpPr/>
            <p:nvPr/>
          </p:nvSpPr>
          <p:spPr>
            <a:xfrm>
              <a:off x="3888" y="3504"/>
              <a:ext cx="240" cy="576"/>
            </a:xfrm>
            <a:prstGeom prst="line">
              <a:avLst/>
            </a:prstGeom>
            <a:ln w="38100" cap="flat" cmpd="sng">
              <a:solidFill>
                <a:srgbClr val="009900"/>
              </a:solidFill>
              <a:prstDash val="solid"/>
              <a:round/>
              <a:headEnd type="none" w="med" len="med"/>
              <a:tailEnd type="triangle" w="med" len="med"/>
            </a:ln>
          </p:spPr>
        </p:sp>
        <p:sp>
          <p:nvSpPr>
            <p:cNvPr id="15367" name="Line 23"/>
            <p:cNvSpPr/>
            <p:nvPr/>
          </p:nvSpPr>
          <p:spPr>
            <a:xfrm flipH="1">
              <a:off x="3936" y="2928"/>
              <a:ext cx="672" cy="384"/>
            </a:xfrm>
            <a:prstGeom prst="line">
              <a:avLst/>
            </a:prstGeom>
            <a:ln w="38100" cap="flat" cmpd="sng">
              <a:solidFill>
                <a:srgbClr val="009900"/>
              </a:solidFill>
              <a:prstDash val="solid"/>
              <a:round/>
              <a:headEnd type="none" w="med" len="med"/>
              <a:tailEnd type="triangle" w="med" len="med"/>
            </a:ln>
          </p:spPr>
        </p:sp>
        <p:sp>
          <p:nvSpPr>
            <p:cNvPr id="15368" name="Line 24"/>
            <p:cNvSpPr/>
            <p:nvPr/>
          </p:nvSpPr>
          <p:spPr>
            <a:xfrm flipH="1" flipV="1">
              <a:off x="4704" y="2976"/>
              <a:ext cx="384" cy="1056"/>
            </a:xfrm>
            <a:prstGeom prst="line">
              <a:avLst/>
            </a:prstGeom>
            <a:ln w="38100" cap="flat" cmpd="sng">
              <a:solidFill>
                <a:srgbClr val="009900"/>
              </a:solidFill>
              <a:prstDash val="solid"/>
              <a:round/>
              <a:headEnd type="triangle" w="med" len="med"/>
              <a:tailEnd type="none" w="med" len="med"/>
            </a:ln>
          </p:spPr>
        </p:sp>
        <p:sp>
          <p:nvSpPr>
            <p:cNvPr id="15369" name="Line 25"/>
            <p:cNvSpPr/>
            <p:nvPr/>
          </p:nvSpPr>
          <p:spPr>
            <a:xfrm flipH="1">
              <a:off x="4272" y="4176"/>
              <a:ext cx="720" cy="0"/>
            </a:xfrm>
            <a:prstGeom prst="line">
              <a:avLst/>
            </a:prstGeom>
            <a:ln w="38100" cap="flat" cmpd="sng">
              <a:solidFill>
                <a:srgbClr val="009900"/>
              </a:solidFill>
              <a:prstDash val="solid"/>
              <a:round/>
              <a:headEnd type="none" w="med" len="med"/>
              <a:tailEnd type="triangle" w="med" len="med"/>
            </a:ln>
          </p:spPr>
        </p:sp>
        <p:sp>
          <p:nvSpPr>
            <p:cNvPr id="15370" name="Line 26"/>
            <p:cNvSpPr/>
            <p:nvPr/>
          </p:nvSpPr>
          <p:spPr>
            <a:xfrm flipH="1">
              <a:off x="4272" y="3552"/>
              <a:ext cx="1152" cy="576"/>
            </a:xfrm>
            <a:prstGeom prst="line">
              <a:avLst/>
            </a:prstGeom>
            <a:ln w="38100" cap="flat" cmpd="sng">
              <a:solidFill>
                <a:srgbClr val="009900"/>
              </a:solidFill>
              <a:prstDash val="solid"/>
              <a:round/>
              <a:headEnd type="triangle" w="med" len="med"/>
              <a:tailEnd type="none" w="med" len="med"/>
            </a:ln>
          </p:spPr>
        </p:sp>
        <p:sp>
          <p:nvSpPr>
            <p:cNvPr id="15371" name="Oval 27"/>
            <p:cNvSpPr/>
            <p:nvPr/>
          </p:nvSpPr>
          <p:spPr>
            <a:xfrm>
              <a:off x="3696" y="326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15372" name="Oval 28"/>
            <p:cNvSpPr/>
            <p:nvPr/>
          </p:nvSpPr>
          <p:spPr>
            <a:xfrm>
              <a:off x="4992"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15373" name="Oval 29"/>
            <p:cNvSpPr/>
            <p:nvPr/>
          </p:nvSpPr>
          <p:spPr>
            <a:xfrm>
              <a:off x="4032"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15374" name="Oval 30"/>
            <p:cNvSpPr/>
            <p:nvPr/>
          </p:nvSpPr>
          <p:spPr>
            <a:xfrm>
              <a:off x="5328" y="3312"/>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15375" name="Oval 31"/>
            <p:cNvSpPr/>
            <p:nvPr/>
          </p:nvSpPr>
          <p:spPr>
            <a:xfrm>
              <a:off x="4512" y="2784"/>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图的分类</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带权图，又称为网，是指图的边或弧带有</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权值</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rPr>
              <a:t>无向带权图</a:t>
            </a:r>
            <a:endParaRPr lang="zh-CN" altLang="en-US" sz="2800" dirty="0">
              <a:latin typeface="黑体" panose="02010609060101010101" pitchFamily="2" charset="-122"/>
              <a:ea typeface="黑体" panose="02010609060101010101" pitchFamily="2" charset="-122"/>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sym typeface="+mn-ea"/>
              </a:rPr>
              <a:t>有向带权图</a:t>
            </a:r>
            <a:endParaRPr lang="zh-CN" altLang="en-US" sz="2800" dirty="0">
              <a:latin typeface="黑体" panose="02010609060101010101" pitchFamily="2" charset="-122"/>
              <a:ea typeface="黑体" panose="02010609060101010101" pitchFamily="2" charset="-122"/>
            </a:endParaRPr>
          </a:p>
          <a:p>
            <a:pPr lvl="1" algn="l" eaLnBrk="1" hangingPunct="1">
              <a:spcBef>
                <a:spcPct val="20000"/>
              </a:spcBef>
              <a:buClrTx/>
              <a:buSzTx/>
              <a:buChar char="•"/>
            </a:pPr>
            <a:endParaRPr lang="zh-CN" altLang="en-US" sz="280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8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7.1 图的定义和术语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6388" name="Group 16"/>
          <p:cNvGrpSpPr/>
          <p:nvPr/>
        </p:nvGrpSpPr>
        <p:grpSpPr>
          <a:xfrm>
            <a:off x="6959600" y="3357563"/>
            <a:ext cx="2362200" cy="2095500"/>
            <a:chOff x="4032" y="3259"/>
            <a:chExt cx="1296" cy="1056"/>
          </a:xfrm>
        </p:grpSpPr>
        <p:grpSp>
          <p:nvGrpSpPr>
            <p:cNvPr id="16389" name="Group 17"/>
            <p:cNvGrpSpPr/>
            <p:nvPr/>
          </p:nvGrpSpPr>
          <p:grpSpPr>
            <a:xfrm>
              <a:off x="4032" y="3259"/>
              <a:ext cx="1296" cy="1056"/>
              <a:chOff x="3696" y="2784"/>
              <a:chExt cx="1920" cy="1536"/>
            </a:xfrm>
          </p:grpSpPr>
          <p:sp>
            <p:nvSpPr>
              <p:cNvPr id="16390" name="Line 18"/>
              <p:cNvSpPr/>
              <p:nvPr/>
            </p:nvSpPr>
            <p:spPr>
              <a:xfrm flipH="1" flipV="1">
                <a:off x="4752" y="2976"/>
                <a:ext cx="624" cy="384"/>
              </a:xfrm>
              <a:prstGeom prst="line">
                <a:avLst/>
              </a:prstGeom>
              <a:ln w="38100" cap="flat" cmpd="sng">
                <a:solidFill>
                  <a:srgbClr val="009900"/>
                </a:solidFill>
                <a:prstDash val="solid"/>
                <a:round/>
                <a:headEnd type="triangle" w="med" len="med"/>
                <a:tailEnd type="none" w="med" len="med"/>
              </a:ln>
            </p:spPr>
          </p:sp>
          <p:sp>
            <p:nvSpPr>
              <p:cNvPr id="16391" name="Line 19"/>
              <p:cNvSpPr/>
              <p:nvPr/>
            </p:nvSpPr>
            <p:spPr>
              <a:xfrm>
                <a:off x="3888" y="3504"/>
                <a:ext cx="240" cy="576"/>
              </a:xfrm>
              <a:prstGeom prst="line">
                <a:avLst/>
              </a:prstGeom>
              <a:ln w="38100" cap="flat" cmpd="sng">
                <a:solidFill>
                  <a:srgbClr val="009900"/>
                </a:solidFill>
                <a:prstDash val="solid"/>
                <a:round/>
                <a:headEnd type="none" w="med" len="med"/>
                <a:tailEnd type="triangle" w="med" len="med"/>
              </a:ln>
            </p:spPr>
          </p:sp>
          <p:sp>
            <p:nvSpPr>
              <p:cNvPr id="16392" name="Line 20"/>
              <p:cNvSpPr/>
              <p:nvPr/>
            </p:nvSpPr>
            <p:spPr>
              <a:xfrm flipH="1">
                <a:off x="3936" y="2928"/>
                <a:ext cx="672" cy="384"/>
              </a:xfrm>
              <a:prstGeom prst="line">
                <a:avLst/>
              </a:prstGeom>
              <a:ln w="38100" cap="flat" cmpd="sng">
                <a:solidFill>
                  <a:srgbClr val="009900"/>
                </a:solidFill>
                <a:prstDash val="solid"/>
                <a:round/>
                <a:headEnd type="none" w="med" len="med"/>
                <a:tailEnd type="triangle" w="med" len="med"/>
              </a:ln>
            </p:spPr>
          </p:sp>
          <p:sp>
            <p:nvSpPr>
              <p:cNvPr id="16393" name="Line 21"/>
              <p:cNvSpPr/>
              <p:nvPr/>
            </p:nvSpPr>
            <p:spPr>
              <a:xfrm flipH="1" flipV="1">
                <a:off x="4704" y="2976"/>
                <a:ext cx="384" cy="1056"/>
              </a:xfrm>
              <a:prstGeom prst="line">
                <a:avLst/>
              </a:prstGeom>
              <a:ln w="38100" cap="flat" cmpd="sng">
                <a:solidFill>
                  <a:srgbClr val="009900"/>
                </a:solidFill>
                <a:prstDash val="solid"/>
                <a:round/>
                <a:headEnd type="triangle" w="med" len="med"/>
                <a:tailEnd type="none" w="med" len="med"/>
              </a:ln>
            </p:spPr>
          </p:sp>
          <p:sp>
            <p:nvSpPr>
              <p:cNvPr id="16394" name="Line 22"/>
              <p:cNvSpPr/>
              <p:nvPr/>
            </p:nvSpPr>
            <p:spPr>
              <a:xfrm flipH="1">
                <a:off x="4272" y="4176"/>
                <a:ext cx="720" cy="0"/>
              </a:xfrm>
              <a:prstGeom prst="line">
                <a:avLst/>
              </a:prstGeom>
              <a:ln w="38100" cap="flat" cmpd="sng">
                <a:solidFill>
                  <a:srgbClr val="009900"/>
                </a:solidFill>
                <a:prstDash val="solid"/>
                <a:round/>
                <a:headEnd type="none" w="med" len="med"/>
                <a:tailEnd type="triangle" w="med" len="med"/>
              </a:ln>
            </p:spPr>
          </p:sp>
          <p:sp>
            <p:nvSpPr>
              <p:cNvPr id="16395" name="Line 23"/>
              <p:cNvSpPr/>
              <p:nvPr/>
            </p:nvSpPr>
            <p:spPr>
              <a:xfrm flipH="1">
                <a:off x="4272" y="3552"/>
                <a:ext cx="1152" cy="576"/>
              </a:xfrm>
              <a:prstGeom prst="line">
                <a:avLst/>
              </a:prstGeom>
              <a:ln w="38100" cap="flat" cmpd="sng">
                <a:solidFill>
                  <a:srgbClr val="009900"/>
                </a:solidFill>
                <a:prstDash val="solid"/>
                <a:round/>
                <a:headEnd type="triangle" w="med" len="med"/>
                <a:tailEnd type="none" w="med" len="med"/>
              </a:ln>
            </p:spPr>
          </p:sp>
          <p:sp>
            <p:nvSpPr>
              <p:cNvPr id="16396" name="Oval 24"/>
              <p:cNvSpPr/>
              <p:nvPr/>
            </p:nvSpPr>
            <p:spPr>
              <a:xfrm>
                <a:off x="3696" y="326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1</a:t>
                </a:r>
                <a:endParaRPr lang="en-US" altLang="zh-CN" sz="2000" dirty="0">
                  <a:solidFill>
                    <a:schemeClr val="bg1"/>
                  </a:solidFill>
                  <a:latin typeface="Tahoma" panose="020B0604030504040204" charset="0"/>
                  <a:ea typeface="宋体" panose="02010600030101010101" pitchFamily="2" charset="-122"/>
                </a:endParaRPr>
              </a:p>
            </p:txBody>
          </p:sp>
          <p:sp>
            <p:nvSpPr>
              <p:cNvPr id="16397" name="Oval 25"/>
              <p:cNvSpPr/>
              <p:nvPr/>
            </p:nvSpPr>
            <p:spPr>
              <a:xfrm>
                <a:off x="4992"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3</a:t>
                </a:r>
                <a:endParaRPr lang="en-US" altLang="zh-CN" sz="2000" dirty="0">
                  <a:solidFill>
                    <a:schemeClr val="bg1"/>
                  </a:solidFill>
                  <a:latin typeface="Tahoma" panose="020B0604030504040204" charset="0"/>
                  <a:ea typeface="宋体" panose="02010600030101010101" pitchFamily="2" charset="-122"/>
                </a:endParaRPr>
              </a:p>
            </p:txBody>
          </p:sp>
          <p:sp>
            <p:nvSpPr>
              <p:cNvPr id="16398" name="Oval 26"/>
              <p:cNvSpPr/>
              <p:nvPr/>
            </p:nvSpPr>
            <p:spPr>
              <a:xfrm>
                <a:off x="4032"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2</a:t>
                </a:r>
                <a:endParaRPr lang="en-US" altLang="zh-CN" sz="2000" dirty="0">
                  <a:solidFill>
                    <a:schemeClr val="bg1"/>
                  </a:solidFill>
                  <a:latin typeface="Tahoma" panose="020B0604030504040204" charset="0"/>
                  <a:ea typeface="宋体" panose="02010600030101010101" pitchFamily="2" charset="-122"/>
                </a:endParaRPr>
              </a:p>
            </p:txBody>
          </p:sp>
          <p:sp>
            <p:nvSpPr>
              <p:cNvPr id="16399" name="Oval 27"/>
              <p:cNvSpPr/>
              <p:nvPr/>
            </p:nvSpPr>
            <p:spPr>
              <a:xfrm>
                <a:off x="5328" y="3312"/>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4</a:t>
                </a:r>
                <a:endParaRPr lang="en-US" altLang="zh-CN" sz="2000" dirty="0">
                  <a:solidFill>
                    <a:schemeClr val="bg1"/>
                  </a:solidFill>
                  <a:latin typeface="Tahoma" panose="020B0604030504040204" charset="0"/>
                  <a:ea typeface="宋体" panose="02010600030101010101" pitchFamily="2" charset="-122"/>
                </a:endParaRPr>
              </a:p>
            </p:txBody>
          </p:sp>
          <p:sp>
            <p:nvSpPr>
              <p:cNvPr id="16400" name="Oval 28"/>
              <p:cNvSpPr/>
              <p:nvPr/>
            </p:nvSpPr>
            <p:spPr>
              <a:xfrm>
                <a:off x="4512" y="2784"/>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0</a:t>
                </a:r>
                <a:endParaRPr lang="en-US" altLang="zh-CN" sz="2000" dirty="0">
                  <a:solidFill>
                    <a:schemeClr val="bg1"/>
                  </a:solidFill>
                  <a:latin typeface="Tahoma" panose="020B0604030504040204" charset="0"/>
                  <a:ea typeface="宋体" panose="02010600030101010101" pitchFamily="2" charset="-122"/>
                </a:endParaRPr>
              </a:p>
            </p:txBody>
          </p:sp>
        </p:grpSp>
        <p:sp>
          <p:nvSpPr>
            <p:cNvPr id="16401" name="Text Box 29"/>
            <p:cNvSpPr txBox="1"/>
            <p:nvPr/>
          </p:nvSpPr>
          <p:spPr>
            <a:xfrm>
              <a:off x="4224" y="3264"/>
              <a:ext cx="240" cy="201"/>
            </a:xfrm>
            <a:prstGeom prst="rect">
              <a:avLst/>
            </a:prstGeom>
            <a:noFill/>
            <a:ln w="9525">
              <a:noFill/>
            </a:ln>
          </p:spPr>
          <p:txBody>
            <a:bodyPr anchor="t" anchorCtr="0">
              <a:spAutoFit/>
            </a:bodyPr>
            <a:p>
              <a:pPr algn="ctr">
                <a:spcBef>
                  <a:spcPct val="50000"/>
                </a:spcBef>
              </a:pPr>
              <a:r>
                <a:rPr lang="en-US" altLang="zh-CN" sz="2000" dirty="0">
                  <a:latin typeface="Tahoma" panose="020B0604030504040204" charset="0"/>
                  <a:ea typeface="宋体" panose="02010600030101010101" pitchFamily="2" charset="-122"/>
                </a:rPr>
                <a:t>5</a:t>
              </a:r>
              <a:endParaRPr lang="en-US" altLang="zh-CN" sz="2000" dirty="0">
                <a:latin typeface="Tahoma" panose="020B0604030504040204" charset="0"/>
                <a:ea typeface="宋体" panose="02010600030101010101" pitchFamily="2" charset="-122"/>
              </a:endParaRPr>
            </a:p>
          </p:txBody>
        </p:sp>
        <p:sp>
          <p:nvSpPr>
            <p:cNvPr id="16402" name="Text Box 30"/>
            <p:cNvSpPr txBox="1"/>
            <p:nvPr/>
          </p:nvSpPr>
          <p:spPr>
            <a:xfrm>
              <a:off x="4032" y="3840"/>
              <a:ext cx="240" cy="201"/>
            </a:xfrm>
            <a:prstGeom prst="rect">
              <a:avLst/>
            </a:prstGeom>
            <a:noFill/>
            <a:ln w="9525">
              <a:noFill/>
            </a:ln>
          </p:spPr>
          <p:txBody>
            <a:bodyPr anchor="t" anchorCtr="0">
              <a:spAutoFit/>
            </a:bodyPr>
            <a:p>
              <a:pPr algn="ctr">
                <a:spcBef>
                  <a:spcPct val="50000"/>
                </a:spcBef>
              </a:pPr>
              <a:r>
                <a:rPr lang="en-US" altLang="zh-CN" sz="2000" dirty="0">
                  <a:latin typeface="Tahoma" panose="020B0604030504040204" charset="0"/>
                  <a:ea typeface="宋体" panose="02010600030101010101" pitchFamily="2" charset="-122"/>
                </a:rPr>
                <a:t>5</a:t>
              </a:r>
              <a:endParaRPr lang="en-US" altLang="zh-CN" sz="2000" dirty="0">
                <a:latin typeface="Tahoma" panose="020B0604030504040204" charset="0"/>
                <a:ea typeface="宋体" panose="02010600030101010101" pitchFamily="2" charset="-122"/>
              </a:endParaRPr>
            </a:p>
          </p:txBody>
        </p:sp>
        <p:sp>
          <p:nvSpPr>
            <p:cNvPr id="16403" name="Text Box 31"/>
            <p:cNvSpPr txBox="1"/>
            <p:nvPr/>
          </p:nvSpPr>
          <p:spPr>
            <a:xfrm>
              <a:off x="4848" y="3264"/>
              <a:ext cx="384" cy="201"/>
            </a:xfrm>
            <a:prstGeom prst="rect">
              <a:avLst/>
            </a:prstGeom>
            <a:noFill/>
            <a:ln w="9525">
              <a:noFill/>
            </a:ln>
          </p:spPr>
          <p:txBody>
            <a:bodyPr anchor="t" anchorCtr="0">
              <a:spAutoFit/>
            </a:bodyPr>
            <a:p>
              <a:pPr algn="ctr">
                <a:spcBef>
                  <a:spcPct val="50000"/>
                </a:spcBef>
              </a:pPr>
              <a:r>
                <a:rPr lang="en-US" altLang="zh-CN" sz="2000" dirty="0">
                  <a:latin typeface="Tahoma" panose="020B0604030504040204" charset="0"/>
                  <a:ea typeface="宋体" panose="02010600030101010101" pitchFamily="2" charset="-122"/>
                </a:rPr>
                <a:t>15</a:t>
              </a:r>
              <a:endParaRPr lang="en-US" altLang="zh-CN" sz="2000" dirty="0">
                <a:latin typeface="Tahoma" panose="020B0604030504040204" charset="0"/>
                <a:ea typeface="宋体" panose="02010600030101010101" pitchFamily="2" charset="-122"/>
              </a:endParaRPr>
            </a:p>
          </p:txBody>
        </p:sp>
        <p:sp>
          <p:nvSpPr>
            <p:cNvPr id="16404" name="Text Box 32"/>
            <p:cNvSpPr txBox="1"/>
            <p:nvPr/>
          </p:nvSpPr>
          <p:spPr>
            <a:xfrm>
              <a:off x="4560" y="3840"/>
              <a:ext cx="240" cy="201"/>
            </a:xfrm>
            <a:prstGeom prst="rect">
              <a:avLst/>
            </a:prstGeom>
            <a:noFill/>
            <a:ln w="9525">
              <a:noFill/>
            </a:ln>
          </p:spPr>
          <p:txBody>
            <a:bodyPr anchor="t" anchorCtr="0">
              <a:spAutoFit/>
            </a:bodyPr>
            <a:p>
              <a:pPr algn="ctr">
                <a:spcBef>
                  <a:spcPct val="50000"/>
                </a:spcBef>
              </a:pPr>
              <a:r>
                <a:rPr lang="en-US" altLang="zh-CN" sz="2000" dirty="0">
                  <a:latin typeface="Tahoma" panose="020B0604030504040204" charset="0"/>
                  <a:ea typeface="宋体" panose="02010600030101010101" pitchFamily="2" charset="-122"/>
                </a:rPr>
                <a:t>1</a:t>
              </a:r>
              <a:endParaRPr lang="en-US" altLang="zh-CN" sz="2000" dirty="0">
                <a:latin typeface="Tahoma" panose="020B0604030504040204" charset="0"/>
                <a:ea typeface="宋体" panose="02010600030101010101" pitchFamily="2" charset="-122"/>
              </a:endParaRPr>
            </a:p>
          </p:txBody>
        </p:sp>
        <p:sp>
          <p:nvSpPr>
            <p:cNvPr id="16405" name="Text Box 33"/>
            <p:cNvSpPr txBox="1"/>
            <p:nvPr/>
          </p:nvSpPr>
          <p:spPr>
            <a:xfrm>
              <a:off x="4608" y="3552"/>
              <a:ext cx="240" cy="201"/>
            </a:xfrm>
            <a:prstGeom prst="rect">
              <a:avLst/>
            </a:prstGeom>
            <a:noFill/>
            <a:ln w="9525">
              <a:noFill/>
            </a:ln>
          </p:spPr>
          <p:txBody>
            <a:bodyPr anchor="t" anchorCtr="0">
              <a:spAutoFit/>
            </a:bodyPr>
            <a:p>
              <a:pPr algn="ctr">
                <a:spcBef>
                  <a:spcPct val="50000"/>
                </a:spcBef>
              </a:pPr>
              <a:r>
                <a:rPr lang="en-US" altLang="zh-CN" sz="2000" dirty="0">
                  <a:latin typeface="Tahoma" panose="020B0604030504040204" charset="0"/>
                  <a:ea typeface="宋体" panose="02010600030101010101" pitchFamily="2" charset="-122"/>
                </a:rPr>
                <a:t>7</a:t>
              </a:r>
              <a:endParaRPr lang="en-US" altLang="zh-CN" sz="2000" dirty="0">
                <a:latin typeface="Tahoma" panose="020B0604030504040204" charset="0"/>
                <a:ea typeface="宋体" panose="02010600030101010101" pitchFamily="2" charset="-122"/>
              </a:endParaRPr>
            </a:p>
          </p:txBody>
        </p:sp>
        <p:sp>
          <p:nvSpPr>
            <p:cNvPr id="16406" name="Text Box 34"/>
            <p:cNvSpPr txBox="1"/>
            <p:nvPr/>
          </p:nvSpPr>
          <p:spPr>
            <a:xfrm>
              <a:off x="4656" y="3989"/>
              <a:ext cx="240" cy="201"/>
            </a:xfrm>
            <a:prstGeom prst="rect">
              <a:avLst/>
            </a:prstGeom>
            <a:noFill/>
            <a:ln w="9525">
              <a:noFill/>
            </a:ln>
          </p:spPr>
          <p:txBody>
            <a:bodyPr anchor="t" anchorCtr="0">
              <a:spAutoFit/>
            </a:bodyPr>
            <a:p>
              <a:pPr algn="ctr">
                <a:spcBef>
                  <a:spcPct val="50000"/>
                </a:spcBef>
              </a:pPr>
              <a:r>
                <a:rPr lang="en-US" altLang="zh-CN" sz="2000" dirty="0">
                  <a:latin typeface="Tahoma" panose="020B0604030504040204" charset="0"/>
                  <a:ea typeface="宋体" panose="02010600030101010101" pitchFamily="2" charset="-122"/>
                </a:rPr>
                <a:t>2</a:t>
              </a:r>
              <a:endParaRPr lang="en-US" altLang="zh-CN" sz="2000" dirty="0">
                <a:latin typeface="Tahoma" panose="020B0604030504040204" charset="0"/>
                <a:ea typeface="宋体" panose="02010600030101010101" pitchFamily="2" charset="-122"/>
              </a:endParaRPr>
            </a:p>
          </p:txBody>
        </p:sp>
      </p:grpSp>
      <p:grpSp>
        <p:nvGrpSpPr>
          <p:cNvPr id="16407" name="Group 35"/>
          <p:cNvGrpSpPr/>
          <p:nvPr/>
        </p:nvGrpSpPr>
        <p:grpSpPr>
          <a:xfrm>
            <a:off x="2473008" y="3073718"/>
            <a:ext cx="2654300" cy="2413511"/>
            <a:chOff x="336" y="1632"/>
            <a:chExt cx="1326" cy="1150"/>
          </a:xfrm>
        </p:grpSpPr>
        <p:sp>
          <p:nvSpPr>
            <p:cNvPr id="16408" name="Text Box 36"/>
            <p:cNvSpPr txBox="1"/>
            <p:nvPr/>
          </p:nvSpPr>
          <p:spPr>
            <a:xfrm>
              <a:off x="864" y="1632"/>
              <a:ext cx="218" cy="190"/>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28</a:t>
              </a:r>
              <a:endParaRPr lang="en-US" altLang="zh-CN" sz="2000" b="1" dirty="0">
                <a:solidFill>
                  <a:srgbClr val="2BDC08"/>
                </a:solidFill>
                <a:latin typeface="Times New Roman" panose="02020603050405020304" pitchFamily="18" charset="0"/>
                <a:ea typeface="宋体" panose="02010600030101010101" pitchFamily="2" charset="-122"/>
              </a:endParaRPr>
            </a:p>
          </p:txBody>
        </p:sp>
        <p:sp>
          <p:nvSpPr>
            <p:cNvPr id="16409" name="Line 37"/>
            <p:cNvSpPr/>
            <p:nvPr/>
          </p:nvSpPr>
          <p:spPr>
            <a:xfrm>
              <a:off x="1293" y="1932"/>
              <a:ext cx="221" cy="311"/>
            </a:xfrm>
            <a:prstGeom prst="line">
              <a:avLst/>
            </a:prstGeom>
            <a:ln w="28575" cap="flat" cmpd="sng">
              <a:solidFill>
                <a:schemeClr val="tx1"/>
              </a:solidFill>
              <a:prstDash val="solid"/>
              <a:round/>
              <a:headEnd type="none" w="med" len="med"/>
              <a:tailEnd type="none" w="med" len="med"/>
            </a:ln>
          </p:spPr>
        </p:sp>
        <p:sp>
          <p:nvSpPr>
            <p:cNvPr id="16410" name="Line 38"/>
            <p:cNvSpPr/>
            <p:nvPr/>
          </p:nvSpPr>
          <p:spPr>
            <a:xfrm>
              <a:off x="999" y="2274"/>
              <a:ext cx="221" cy="311"/>
            </a:xfrm>
            <a:prstGeom prst="line">
              <a:avLst/>
            </a:prstGeom>
            <a:ln w="28575" cap="flat" cmpd="sng">
              <a:solidFill>
                <a:schemeClr val="tx1"/>
              </a:solidFill>
              <a:prstDash val="solid"/>
              <a:round/>
              <a:headEnd type="none" w="med" len="med"/>
              <a:tailEnd type="none" w="med" len="med"/>
            </a:ln>
          </p:spPr>
        </p:sp>
        <p:sp>
          <p:nvSpPr>
            <p:cNvPr id="16411" name="Line 39"/>
            <p:cNvSpPr/>
            <p:nvPr/>
          </p:nvSpPr>
          <p:spPr>
            <a:xfrm>
              <a:off x="446" y="2274"/>
              <a:ext cx="258" cy="342"/>
            </a:xfrm>
            <a:prstGeom prst="line">
              <a:avLst/>
            </a:prstGeom>
            <a:ln w="28575" cap="flat" cmpd="sng">
              <a:solidFill>
                <a:schemeClr val="tx1"/>
              </a:solidFill>
              <a:prstDash val="solid"/>
              <a:round/>
              <a:headEnd type="none" w="med" len="med"/>
              <a:tailEnd type="none" w="med" len="med"/>
            </a:ln>
          </p:spPr>
        </p:sp>
        <p:sp>
          <p:nvSpPr>
            <p:cNvPr id="16412" name="Line 40"/>
            <p:cNvSpPr/>
            <p:nvPr/>
          </p:nvSpPr>
          <p:spPr>
            <a:xfrm flipH="1">
              <a:off x="446" y="1901"/>
              <a:ext cx="221" cy="342"/>
            </a:xfrm>
            <a:prstGeom prst="line">
              <a:avLst/>
            </a:prstGeom>
            <a:ln w="28575" cap="flat" cmpd="sng">
              <a:solidFill>
                <a:schemeClr val="tx1"/>
              </a:solidFill>
              <a:prstDash val="solid"/>
              <a:round/>
              <a:headEnd type="none" w="med" len="med"/>
              <a:tailEnd type="none" w="med" len="med"/>
            </a:ln>
          </p:spPr>
        </p:sp>
        <p:sp>
          <p:nvSpPr>
            <p:cNvPr id="16413" name="Line 41"/>
            <p:cNvSpPr/>
            <p:nvPr/>
          </p:nvSpPr>
          <p:spPr>
            <a:xfrm>
              <a:off x="815" y="2647"/>
              <a:ext cx="331" cy="0"/>
            </a:xfrm>
            <a:prstGeom prst="line">
              <a:avLst/>
            </a:prstGeom>
            <a:ln w="28575" cap="flat" cmpd="sng">
              <a:solidFill>
                <a:schemeClr val="tx1"/>
              </a:solidFill>
              <a:prstDash val="solid"/>
              <a:round/>
              <a:headEnd type="none" w="med" len="med"/>
              <a:tailEnd type="none" w="med" len="med"/>
            </a:ln>
          </p:spPr>
        </p:sp>
        <p:sp>
          <p:nvSpPr>
            <p:cNvPr id="16414" name="Line 42"/>
            <p:cNvSpPr/>
            <p:nvPr/>
          </p:nvSpPr>
          <p:spPr>
            <a:xfrm flipH="1">
              <a:off x="1293" y="2305"/>
              <a:ext cx="221" cy="342"/>
            </a:xfrm>
            <a:prstGeom prst="line">
              <a:avLst/>
            </a:prstGeom>
            <a:ln w="28575" cap="flat" cmpd="sng">
              <a:solidFill>
                <a:schemeClr val="tx1"/>
              </a:solidFill>
              <a:prstDash val="solid"/>
              <a:round/>
              <a:headEnd type="none" w="med" len="med"/>
              <a:tailEnd type="none" w="med" len="med"/>
            </a:ln>
          </p:spPr>
        </p:sp>
        <p:sp>
          <p:nvSpPr>
            <p:cNvPr id="16415" name="Line 43"/>
            <p:cNvSpPr/>
            <p:nvPr/>
          </p:nvSpPr>
          <p:spPr>
            <a:xfrm flipV="1">
              <a:off x="778" y="1870"/>
              <a:ext cx="479" cy="746"/>
            </a:xfrm>
            <a:prstGeom prst="line">
              <a:avLst/>
            </a:prstGeom>
            <a:ln w="28575" cap="flat" cmpd="sng">
              <a:solidFill>
                <a:schemeClr val="tx1"/>
              </a:solidFill>
              <a:prstDash val="solid"/>
              <a:round/>
              <a:headEnd type="none" w="med" len="med"/>
              <a:tailEnd type="none" w="med" len="med"/>
            </a:ln>
          </p:spPr>
        </p:sp>
        <p:sp>
          <p:nvSpPr>
            <p:cNvPr id="842796" name="Oval 44" descr="羊皮纸"/>
            <p:cNvSpPr>
              <a:spLocks noChangeArrowheads="1"/>
            </p:cNvSpPr>
            <p:nvPr/>
          </p:nvSpPr>
          <p:spPr bwMode="auto">
            <a:xfrm>
              <a:off x="336" y="2181"/>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5</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6417" name="Oval 45" descr="羊皮纸"/>
            <p:cNvSpPr/>
            <p:nvPr/>
          </p:nvSpPr>
          <p:spPr>
            <a:xfrm>
              <a:off x="594" y="1776"/>
              <a:ext cx="221" cy="188"/>
            </a:xfrm>
            <a:prstGeom prst="ellipse">
              <a:avLst/>
            </a:prstGeom>
            <a:blipFill rotWithShape="0">
              <a:blip r:embed="rId1"/>
            </a:blipFill>
            <a:ln w="9525" cap="flat" cmpd="sng">
              <a:solidFill>
                <a:schemeClr val="tx1"/>
              </a:solidFill>
              <a:prstDash val="solid"/>
              <a:round/>
              <a:headEnd type="none" w="med" len="med"/>
              <a:tailEnd type="none" w="med" len="med"/>
            </a:ln>
            <a:effectLst>
              <a:outerShdw dist="35921" dir="2699999" algn="ctr" rotWithShape="0">
                <a:schemeClr val="bg2"/>
              </a:outerShdw>
            </a:effectLst>
          </p:spPr>
          <p:txBody>
            <a:bodyPr wrap="none" anchor="ctr" anchorCtr="0"/>
            <a:p>
              <a:pPr algn="ctr"/>
              <a:r>
                <a:rPr lang="en-US" altLang="zh-CN" sz="2000" b="1" dirty="0">
                  <a:solidFill>
                    <a:schemeClr val="hlink"/>
                  </a:solidFill>
                  <a:latin typeface="Times New Roman" panose="02020603050405020304" pitchFamily="18" charset="0"/>
                  <a:ea typeface="宋体" panose="02010600030101010101" pitchFamily="2" charset="-122"/>
                </a:rPr>
                <a:t>0</a:t>
              </a:r>
              <a:endParaRPr lang="en-US" altLang="zh-CN" sz="2000" b="1" dirty="0">
                <a:solidFill>
                  <a:schemeClr val="hlink"/>
                </a:solidFill>
                <a:latin typeface="Times New Roman" panose="02020603050405020304" pitchFamily="18" charset="0"/>
                <a:ea typeface="宋体" panose="02010600030101010101" pitchFamily="2" charset="-122"/>
              </a:endParaRPr>
            </a:p>
          </p:txBody>
        </p:sp>
        <p:sp>
          <p:nvSpPr>
            <p:cNvPr id="842798" name="Oval 46" descr="羊皮纸"/>
            <p:cNvSpPr>
              <a:spLocks noChangeArrowheads="1"/>
            </p:cNvSpPr>
            <p:nvPr/>
          </p:nvSpPr>
          <p:spPr bwMode="auto">
            <a:xfrm>
              <a:off x="594" y="2554"/>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4</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42799" name="Oval 47" descr="羊皮纸"/>
            <p:cNvSpPr>
              <a:spLocks noChangeArrowheads="1"/>
            </p:cNvSpPr>
            <p:nvPr/>
          </p:nvSpPr>
          <p:spPr bwMode="auto">
            <a:xfrm>
              <a:off x="888" y="2181"/>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6</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42800" name="Oval 48" descr="羊皮纸"/>
            <p:cNvSpPr>
              <a:spLocks noChangeArrowheads="1"/>
            </p:cNvSpPr>
            <p:nvPr/>
          </p:nvSpPr>
          <p:spPr bwMode="auto">
            <a:xfrm>
              <a:off x="1146" y="1776"/>
              <a:ext cx="221" cy="188"/>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1</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42801" name="Oval 49" descr="羊皮纸"/>
            <p:cNvSpPr>
              <a:spLocks noChangeArrowheads="1"/>
            </p:cNvSpPr>
            <p:nvPr/>
          </p:nvSpPr>
          <p:spPr bwMode="auto">
            <a:xfrm>
              <a:off x="1146" y="2554"/>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3</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42802" name="Oval 50" descr="羊皮纸"/>
            <p:cNvSpPr>
              <a:spLocks noChangeArrowheads="1"/>
            </p:cNvSpPr>
            <p:nvPr/>
          </p:nvSpPr>
          <p:spPr bwMode="auto">
            <a:xfrm flipH="1">
              <a:off x="1441" y="2181"/>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2</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6423" name="Text Box 51"/>
            <p:cNvSpPr txBox="1"/>
            <p:nvPr/>
          </p:nvSpPr>
          <p:spPr>
            <a:xfrm>
              <a:off x="336" y="1920"/>
              <a:ext cx="218" cy="190"/>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10</a:t>
              </a:r>
              <a:endParaRPr lang="en-US" altLang="zh-CN" sz="2000" b="1" dirty="0">
                <a:solidFill>
                  <a:srgbClr val="2BDC08"/>
                </a:solidFill>
                <a:latin typeface="Times New Roman" panose="02020603050405020304" pitchFamily="18" charset="0"/>
                <a:ea typeface="宋体" panose="02010600030101010101" pitchFamily="2" charset="-122"/>
              </a:endParaRPr>
            </a:p>
          </p:txBody>
        </p:sp>
        <p:sp>
          <p:nvSpPr>
            <p:cNvPr id="16424" name="Text Box 52"/>
            <p:cNvSpPr txBox="1"/>
            <p:nvPr/>
          </p:nvSpPr>
          <p:spPr>
            <a:xfrm>
              <a:off x="336" y="2400"/>
              <a:ext cx="218" cy="190"/>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25</a:t>
              </a:r>
              <a:endParaRPr lang="en-US" altLang="zh-CN" sz="2000" dirty="0">
                <a:solidFill>
                  <a:srgbClr val="2BDC08"/>
                </a:solidFill>
                <a:latin typeface="Times New Roman" panose="02020603050405020304" pitchFamily="18" charset="0"/>
                <a:ea typeface="宋体" panose="02010600030101010101" pitchFamily="2" charset="-122"/>
              </a:endParaRPr>
            </a:p>
          </p:txBody>
        </p:sp>
        <p:sp>
          <p:nvSpPr>
            <p:cNvPr id="16425" name="Text Box 53"/>
            <p:cNvSpPr txBox="1"/>
            <p:nvPr/>
          </p:nvSpPr>
          <p:spPr>
            <a:xfrm>
              <a:off x="864" y="1920"/>
              <a:ext cx="218" cy="190"/>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14</a:t>
              </a:r>
              <a:endParaRPr lang="en-US" altLang="zh-CN" sz="2000" dirty="0">
                <a:solidFill>
                  <a:srgbClr val="2BDC08"/>
                </a:solidFill>
                <a:latin typeface="Times New Roman" panose="02020603050405020304" pitchFamily="18" charset="0"/>
                <a:ea typeface="宋体" panose="02010600030101010101" pitchFamily="2" charset="-122"/>
              </a:endParaRPr>
            </a:p>
          </p:txBody>
        </p:sp>
        <p:sp>
          <p:nvSpPr>
            <p:cNvPr id="16426" name="Text Box 54"/>
            <p:cNvSpPr txBox="1"/>
            <p:nvPr/>
          </p:nvSpPr>
          <p:spPr>
            <a:xfrm>
              <a:off x="631" y="2352"/>
              <a:ext cx="218" cy="190"/>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24</a:t>
              </a:r>
              <a:endParaRPr lang="en-US" altLang="zh-CN" sz="2000" dirty="0">
                <a:solidFill>
                  <a:srgbClr val="2BDC08"/>
                </a:solidFill>
                <a:latin typeface="Times New Roman" panose="02020603050405020304" pitchFamily="18" charset="0"/>
                <a:ea typeface="宋体" panose="02010600030101010101" pitchFamily="2" charset="-122"/>
              </a:endParaRPr>
            </a:p>
          </p:txBody>
        </p:sp>
        <p:sp>
          <p:nvSpPr>
            <p:cNvPr id="16427" name="Text Box 55"/>
            <p:cNvSpPr txBox="1"/>
            <p:nvPr/>
          </p:nvSpPr>
          <p:spPr>
            <a:xfrm>
              <a:off x="864" y="2592"/>
              <a:ext cx="218" cy="190"/>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22</a:t>
              </a:r>
              <a:endParaRPr lang="en-US" altLang="zh-CN" sz="2000" dirty="0">
                <a:solidFill>
                  <a:srgbClr val="2BDC08"/>
                </a:solidFill>
                <a:latin typeface="Times New Roman" panose="02020603050405020304" pitchFamily="18" charset="0"/>
                <a:ea typeface="宋体" panose="02010600030101010101" pitchFamily="2" charset="-122"/>
              </a:endParaRPr>
            </a:p>
          </p:txBody>
        </p:sp>
        <p:sp>
          <p:nvSpPr>
            <p:cNvPr id="16428" name="Text Box 56"/>
            <p:cNvSpPr txBox="1"/>
            <p:nvPr/>
          </p:nvSpPr>
          <p:spPr>
            <a:xfrm>
              <a:off x="1344" y="1920"/>
              <a:ext cx="218" cy="190"/>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16</a:t>
              </a:r>
              <a:endParaRPr lang="en-US" altLang="zh-CN" sz="2000" b="1" dirty="0">
                <a:solidFill>
                  <a:srgbClr val="2BDC08"/>
                </a:solidFill>
                <a:latin typeface="Times New Roman" panose="02020603050405020304" pitchFamily="18" charset="0"/>
                <a:ea typeface="宋体" panose="02010600030101010101" pitchFamily="2" charset="-122"/>
              </a:endParaRPr>
            </a:p>
          </p:txBody>
        </p:sp>
        <p:sp>
          <p:nvSpPr>
            <p:cNvPr id="16429" name="Text Box 57"/>
            <p:cNvSpPr txBox="1"/>
            <p:nvPr/>
          </p:nvSpPr>
          <p:spPr>
            <a:xfrm>
              <a:off x="1106" y="2346"/>
              <a:ext cx="218" cy="190"/>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18</a:t>
              </a:r>
              <a:endParaRPr lang="en-US" altLang="zh-CN" sz="2000" dirty="0">
                <a:solidFill>
                  <a:srgbClr val="2BDC08"/>
                </a:solidFill>
                <a:latin typeface="Times New Roman" panose="02020603050405020304" pitchFamily="18" charset="0"/>
                <a:ea typeface="宋体" panose="02010600030101010101" pitchFamily="2" charset="-122"/>
              </a:endParaRPr>
            </a:p>
          </p:txBody>
        </p:sp>
        <p:sp>
          <p:nvSpPr>
            <p:cNvPr id="16430" name="Text Box 58"/>
            <p:cNvSpPr txBox="1"/>
            <p:nvPr/>
          </p:nvSpPr>
          <p:spPr>
            <a:xfrm>
              <a:off x="1392" y="2352"/>
              <a:ext cx="218" cy="190"/>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12</a:t>
              </a:r>
              <a:endParaRPr lang="en-US" altLang="zh-CN" sz="2000" b="1" dirty="0">
                <a:solidFill>
                  <a:srgbClr val="2BDC08"/>
                </a:solidFill>
                <a:latin typeface="Times New Roman" panose="02020603050405020304" pitchFamily="18" charset="0"/>
                <a:ea typeface="宋体" panose="02010600030101010101" pitchFamily="2" charset="-122"/>
              </a:endParaRPr>
            </a:p>
          </p:txBody>
        </p:sp>
        <p:sp>
          <p:nvSpPr>
            <p:cNvPr id="16431" name="Line 59"/>
            <p:cNvSpPr/>
            <p:nvPr/>
          </p:nvSpPr>
          <p:spPr>
            <a:xfrm>
              <a:off x="815" y="1870"/>
              <a:ext cx="331" cy="0"/>
            </a:xfrm>
            <a:prstGeom prst="line">
              <a:avLst/>
            </a:prstGeom>
            <a:ln w="28575" cap="flat" cmpd="sng">
              <a:solidFill>
                <a:schemeClr val="tx1"/>
              </a:solidFill>
              <a:prstDash val="solid"/>
              <a:round/>
              <a:headEnd type="none" w="med" len="med"/>
              <a:tailEnd type="none" w="med" len="med"/>
            </a:ln>
          </p:spPr>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lvl="0"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设无向图G=(V,E)，其中V={a,b,c,d,e}， E={(a,b),(a,d),(b,c),(c,d),(d,e),(e,b),(e,c)}</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画出该图</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求各顶点的度</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lvl="0"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设一有向图G=(V,E)，其中V={a,b,c,d,e} ， E={&lt;a,b&gt;, &lt;a,d&gt;, &lt;b,a&gt;, &lt;c,b&gt;, &lt;c,d&gt;, &lt;d,e&gt;,&lt;e,a&gt;, &lt;e,b&gt;, &lt;e,c&gt;}</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画出该图</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求各顶点的入度和出度</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endParaRPr lang="zh-CN" altLang="en-US">
              <a:latin typeface="黑体" panose="02010609060101010101" pitchFamily="2" charset="-122"/>
              <a:ea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顶点连通的概念：如果图的顶点</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x</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到顶点</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y</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存在路径，则称</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x</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到</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y</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是连通的。</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路径：是一个从顶点</a:t>
            </a:r>
            <a:r>
              <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x</a:t>
            </a:r>
            <a:r>
              <a:rPr lang="zh-CN" altLang="en-US"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到</a:t>
            </a:r>
            <a:r>
              <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y</a:t>
            </a:r>
            <a:r>
              <a:rPr lang="zh-CN" altLang="en-US"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的顶点序列</a:t>
            </a:r>
            <a:r>
              <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(x, v</a:t>
            </a:r>
            <a:r>
              <a:rPr lang="en-US" altLang="zh-CN" sz="2800" baseline="-250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i1</a:t>
            </a:r>
            <a:r>
              <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 v</a:t>
            </a:r>
            <a:r>
              <a:rPr lang="en-US" altLang="zh-CN" sz="2800" baseline="-250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i2</a:t>
            </a:r>
            <a:r>
              <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 v</a:t>
            </a:r>
            <a:r>
              <a:rPr lang="en-US" altLang="zh-CN" sz="2800" baseline="-250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im</a:t>
            </a:r>
            <a:r>
              <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 y)</a:t>
            </a:r>
            <a:r>
              <a:rPr lang="zh-CN" altLang="en-US"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，其中</a:t>
            </a:r>
            <a:r>
              <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,(x,v</a:t>
            </a:r>
            <a:r>
              <a:rPr lang="en-US" altLang="zh-CN" sz="2800" baseline="-250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i1</a:t>
            </a:r>
            <a:r>
              <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),…(v</a:t>
            </a:r>
            <a:r>
              <a:rPr lang="en-US" altLang="zh-CN" sz="2800" baseline="-250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ij-1</a:t>
            </a:r>
            <a:r>
              <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,v</a:t>
            </a:r>
            <a:r>
              <a:rPr lang="en-US" altLang="zh-CN" sz="2800" baseline="-250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ij</a:t>
            </a:r>
            <a:r>
              <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),…(v</a:t>
            </a:r>
            <a:r>
              <a:rPr lang="en-US" altLang="zh-CN" sz="2800" baseline="-250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im</a:t>
            </a:r>
            <a:r>
              <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,y)</a:t>
            </a:r>
            <a:r>
              <a:rPr lang="zh-CN" altLang="en-US"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皆属于</a:t>
            </a:r>
            <a:r>
              <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E</a:t>
            </a:r>
            <a:endPar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路径上边或弧的数目称为该路径的长度</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7.1 图的定义和术语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8436" name="Group 53"/>
          <p:cNvGrpSpPr/>
          <p:nvPr/>
        </p:nvGrpSpPr>
        <p:grpSpPr>
          <a:xfrm>
            <a:off x="551181" y="3638550"/>
            <a:ext cx="4870449" cy="2286001"/>
            <a:chOff x="-314" y="1842"/>
            <a:chExt cx="3068" cy="1440"/>
          </a:xfrm>
        </p:grpSpPr>
        <p:grpSp>
          <p:nvGrpSpPr>
            <p:cNvPr id="18437" name="Group 32"/>
            <p:cNvGrpSpPr/>
            <p:nvPr/>
          </p:nvGrpSpPr>
          <p:grpSpPr>
            <a:xfrm>
              <a:off x="930" y="1842"/>
              <a:ext cx="1824" cy="1440"/>
              <a:chOff x="1056" y="2880"/>
              <a:chExt cx="1824" cy="1440"/>
            </a:xfrm>
          </p:grpSpPr>
          <p:sp>
            <p:nvSpPr>
              <p:cNvPr id="18438" name="Line 33"/>
              <p:cNvSpPr/>
              <p:nvPr/>
            </p:nvSpPr>
            <p:spPr>
              <a:xfrm flipH="1">
                <a:off x="1680" y="3029"/>
                <a:ext cx="576" cy="0"/>
              </a:xfrm>
              <a:prstGeom prst="line">
                <a:avLst/>
              </a:prstGeom>
              <a:ln w="38100" cap="flat" cmpd="sng">
                <a:solidFill>
                  <a:schemeClr val="hlink"/>
                </a:solidFill>
                <a:prstDash val="solid"/>
                <a:round/>
                <a:headEnd type="none" w="med" len="med"/>
                <a:tailEnd type="none" w="med" len="med"/>
              </a:ln>
            </p:spPr>
          </p:sp>
          <p:sp>
            <p:nvSpPr>
              <p:cNvPr id="18439" name="Line 34"/>
              <p:cNvSpPr/>
              <p:nvPr/>
            </p:nvSpPr>
            <p:spPr>
              <a:xfrm>
                <a:off x="2352" y="3125"/>
                <a:ext cx="0" cy="960"/>
              </a:xfrm>
              <a:prstGeom prst="line">
                <a:avLst/>
              </a:prstGeom>
              <a:ln w="38100" cap="flat" cmpd="sng">
                <a:solidFill>
                  <a:schemeClr val="hlink"/>
                </a:solidFill>
                <a:prstDash val="solid"/>
                <a:round/>
                <a:headEnd type="none" w="med" len="med"/>
                <a:tailEnd type="none" w="med" len="med"/>
              </a:ln>
            </p:spPr>
          </p:sp>
          <p:sp>
            <p:nvSpPr>
              <p:cNvPr id="18440" name="Line 35"/>
              <p:cNvSpPr/>
              <p:nvPr/>
            </p:nvSpPr>
            <p:spPr>
              <a:xfrm>
                <a:off x="2400" y="3077"/>
                <a:ext cx="336" cy="480"/>
              </a:xfrm>
              <a:prstGeom prst="line">
                <a:avLst/>
              </a:prstGeom>
              <a:ln w="38100" cap="flat" cmpd="sng">
                <a:solidFill>
                  <a:srgbClr val="009900"/>
                </a:solidFill>
                <a:prstDash val="solid"/>
                <a:round/>
                <a:headEnd type="none" w="med" len="med"/>
                <a:tailEnd type="none" w="med" len="med"/>
              </a:ln>
            </p:spPr>
          </p:sp>
          <p:sp>
            <p:nvSpPr>
              <p:cNvPr id="18441" name="Line 36"/>
              <p:cNvSpPr/>
              <p:nvPr/>
            </p:nvSpPr>
            <p:spPr>
              <a:xfrm flipH="1">
                <a:off x="1248" y="3077"/>
                <a:ext cx="240" cy="432"/>
              </a:xfrm>
              <a:prstGeom prst="line">
                <a:avLst/>
              </a:prstGeom>
              <a:ln w="38100" cap="flat" cmpd="sng">
                <a:solidFill>
                  <a:srgbClr val="009900"/>
                </a:solidFill>
                <a:prstDash val="solid"/>
                <a:round/>
                <a:headEnd type="none" w="med" len="med"/>
                <a:tailEnd type="none" w="med" len="med"/>
              </a:ln>
            </p:spPr>
          </p:sp>
          <p:sp>
            <p:nvSpPr>
              <p:cNvPr id="18442" name="Line 37"/>
              <p:cNvSpPr/>
              <p:nvPr/>
            </p:nvSpPr>
            <p:spPr>
              <a:xfrm flipH="1" flipV="1">
                <a:off x="1536" y="3125"/>
                <a:ext cx="0" cy="1008"/>
              </a:xfrm>
              <a:prstGeom prst="line">
                <a:avLst/>
              </a:prstGeom>
              <a:ln w="38100" cap="flat" cmpd="sng">
                <a:solidFill>
                  <a:srgbClr val="009900"/>
                </a:solidFill>
                <a:prstDash val="solid"/>
                <a:round/>
                <a:headEnd type="none" w="med" len="med"/>
                <a:tailEnd type="none" w="med" len="med"/>
              </a:ln>
            </p:spPr>
          </p:sp>
          <p:sp>
            <p:nvSpPr>
              <p:cNvPr id="18443" name="Line 38"/>
              <p:cNvSpPr/>
              <p:nvPr/>
            </p:nvSpPr>
            <p:spPr>
              <a:xfrm flipH="1" flipV="1">
                <a:off x="1584" y="3077"/>
                <a:ext cx="1104" cy="576"/>
              </a:xfrm>
              <a:prstGeom prst="line">
                <a:avLst/>
              </a:prstGeom>
              <a:ln w="38100" cap="flat" cmpd="sng">
                <a:solidFill>
                  <a:srgbClr val="009900"/>
                </a:solidFill>
                <a:prstDash val="solid"/>
                <a:round/>
                <a:headEnd type="none" w="med" len="med"/>
                <a:tailEnd type="none" w="med" len="med"/>
              </a:ln>
            </p:spPr>
          </p:sp>
          <p:sp>
            <p:nvSpPr>
              <p:cNvPr id="18444" name="Line 39"/>
              <p:cNvSpPr/>
              <p:nvPr/>
            </p:nvSpPr>
            <p:spPr>
              <a:xfrm flipH="1" flipV="1">
                <a:off x="1200" y="3701"/>
                <a:ext cx="288" cy="432"/>
              </a:xfrm>
              <a:prstGeom prst="line">
                <a:avLst/>
              </a:prstGeom>
              <a:ln w="38100" cap="flat" cmpd="sng">
                <a:solidFill>
                  <a:srgbClr val="009900"/>
                </a:solidFill>
                <a:prstDash val="solid"/>
                <a:round/>
                <a:headEnd type="none" w="med" len="med"/>
                <a:tailEnd type="none" w="med" len="med"/>
              </a:ln>
            </p:spPr>
          </p:sp>
          <p:sp>
            <p:nvSpPr>
              <p:cNvPr id="18445" name="Line 40"/>
              <p:cNvSpPr/>
              <p:nvPr/>
            </p:nvSpPr>
            <p:spPr>
              <a:xfrm flipH="1">
                <a:off x="1584" y="4181"/>
                <a:ext cx="720" cy="0"/>
              </a:xfrm>
              <a:prstGeom prst="line">
                <a:avLst/>
              </a:prstGeom>
              <a:ln w="38100" cap="flat" cmpd="sng">
                <a:solidFill>
                  <a:schemeClr val="hlink"/>
                </a:solidFill>
                <a:prstDash val="solid"/>
                <a:round/>
                <a:headEnd type="none" w="med" len="med"/>
                <a:tailEnd type="none" w="med" len="med"/>
              </a:ln>
            </p:spPr>
          </p:sp>
          <p:sp>
            <p:nvSpPr>
              <p:cNvPr id="18446" name="Line 41"/>
              <p:cNvSpPr/>
              <p:nvPr/>
            </p:nvSpPr>
            <p:spPr>
              <a:xfrm flipH="1">
                <a:off x="1632" y="3653"/>
                <a:ext cx="1056" cy="480"/>
              </a:xfrm>
              <a:prstGeom prst="line">
                <a:avLst/>
              </a:prstGeom>
              <a:ln w="38100" cap="flat" cmpd="sng">
                <a:solidFill>
                  <a:srgbClr val="009900"/>
                </a:solidFill>
                <a:prstDash val="solid"/>
                <a:round/>
                <a:headEnd type="none" w="med" len="med"/>
                <a:tailEnd type="none" w="med" len="med"/>
              </a:ln>
            </p:spPr>
          </p:sp>
          <p:sp>
            <p:nvSpPr>
              <p:cNvPr id="18447" name="Line 42"/>
              <p:cNvSpPr/>
              <p:nvPr/>
            </p:nvSpPr>
            <p:spPr>
              <a:xfrm flipH="1">
                <a:off x="2400" y="3701"/>
                <a:ext cx="336" cy="480"/>
              </a:xfrm>
              <a:prstGeom prst="line">
                <a:avLst/>
              </a:prstGeom>
              <a:ln w="38100" cap="flat" cmpd="sng">
                <a:solidFill>
                  <a:srgbClr val="009900"/>
                </a:solidFill>
                <a:prstDash val="solid"/>
                <a:round/>
                <a:headEnd type="none" w="med" len="med"/>
                <a:tailEnd type="none" w="med" len="med"/>
              </a:ln>
            </p:spPr>
          </p:sp>
          <p:grpSp>
            <p:nvGrpSpPr>
              <p:cNvPr id="18448" name="Group 43"/>
              <p:cNvGrpSpPr/>
              <p:nvPr/>
            </p:nvGrpSpPr>
            <p:grpSpPr>
              <a:xfrm>
                <a:off x="1056" y="2880"/>
                <a:ext cx="1824" cy="1440"/>
                <a:chOff x="3648" y="2880"/>
                <a:chExt cx="1824" cy="1440"/>
              </a:xfrm>
            </p:grpSpPr>
            <p:sp>
              <p:nvSpPr>
                <p:cNvPr id="18449" name="Oval 44"/>
                <p:cNvSpPr/>
                <p:nvPr/>
              </p:nvSpPr>
              <p:spPr>
                <a:xfrm>
                  <a:off x="3984" y="2880"/>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18450" name="Oval 45"/>
                <p:cNvSpPr/>
                <p:nvPr/>
              </p:nvSpPr>
              <p:spPr>
                <a:xfrm>
                  <a:off x="3984"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18451" name="Oval 46"/>
                <p:cNvSpPr/>
                <p:nvPr/>
              </p:nvSpPr>
              <p:spPr>
                <a:xfrm>
                  <a:off x="3648" y="3456"/>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18452" name="Oval 47"/>
                <p:cNvSpPr/>
                <p:nvPr/>
              </p:nvSpPr>
              <p:spPr>
                <a:xfrm>
                  <a:off x="5184" y="350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5</a:t>
                  </a:r>
                  <a:endParaRPr lang="en-US" altLang="zh-CN" sz="2400" dirty="0">
                    <a:solidFill>
                      <a:schemeClr val="bg1"/>
                    </a:solidFill>
                    <a:latin typeface="Tahoma" panose="020B0604030504040204" charset="0"/>
                    <a:ea typeface="宋体" panose="02010600030101010101" pitchFamily="2" charset="-122"/>
                  </a:endParaRPr>
                </a:p>
              </p:txBody>
            </p:sp>
            <p:sp>
              <p:nvSpPr>
                <p:cNvPr id="18453" name="Oval 48"/>
                <p:cNvSpPr/>
                <p:nvPr/>
              </p:nvSpPr>
              <p:spPr>
                <a:xfrm>
                  <a:off x="4800" y="405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18454" name="Oval 49"/>
                <p:cNvSpPr/>
                <p:nvPr/>
              </p:nvSpPr>
              <p:spPr>
                <a:xfrm>
                  <a:off x="4800" y="288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grpSp>
        <p:sp>
          <p:nvSpPr>
            <p:cNvPr id="18455" name="Text Box 50"/>
            <p:cNvSpPr txBox="1"/>
            <p:nvPr/>
          </p:nvSpPr>
          <p:spPr>
            <a:xfrm>
              <a:off x="-314" y="2340"/>
              <a:ext cx="1152" cy="523"/>
            </a:xfrm>
            <a:prstGeom prst="rect">
              <a:avLst/>
            </a:prstGeom>
            <a:noFill/>
            <a:ln w="9525">
              <a:noFill/>
            </a:ln>
          </p:spPr>
          <p:txBody>
            <a:bodyPr anchor="t" anchorCtr="0">
              <a:spAutoFit/>
            </a:bodyPr>
            <a:p>
              <a:pPr>
                <a:spcBef>
                  <a:spcPct val="50000"/>
                </a:spcBef>
              </a:pPr>
              <a:r>
                <a:rPr lang="en-US" altLang="zh-CN" sz="2400" dirty="0">
                  <a:latin typeface="Tahoma" panose="020B0604030504040204" charset="0"/>
                  <a:ea typeface="宋体" panose="02010600030101010101" pitchFamily="2" charset="-122"/>
                </a:rPr>
                <a:t>1</a:t>
              </a:r>
              <a:r>
                <a:rPr lang="zh-CN" altLang="en-US" sz="2400" dirty="0">
                  <a:latin typeface="Tahoma" panose="020B0604030504040204" charset="0"/>
                  <a:ea typeface="宋体" panose="02010600030101010101" pitchFamily="2" charset="-122"/>
                </a:rPr>
                <a:t>到</a:t>
              </a:r>
              <a:r>
                <a:rPr lang="en-US" altLang="zh-CN" sz="2400" dirty="0">
                  <a:latin typeface="Tahoma" panose="020B0604030504040204" charset="0"/>
                  <a:ea typeface="宋体" panose="02010600030101010101" pitchFamily="2" charset="-122"/>
                </a:rPr>
                <a:t>3</a:t>
              </a:r>
              <a:r>
                <a:rPr lang="zh-CN" altLang="en-US" sz="2400" dirty="0">
                  <a:latin typeface="Tahoma" panose="020B0604030504040204" charset="0"/>
                  <a:ea typeface="宋体" panose="02010600030101010101" pitchFamily="2" charset="-122"/>
                </a:rPr>
                <a:t>有路径</a:t>
              </a:r>
              <a:r>
                <a:rPr lang="en-US" altLang="zh-CN" sz="2400" dirty="0">
                  <a:latin typeface="Tahoma" panose="020B0604030504040204" charset="0"/>
                  <a:ea typeface="宋体" panose="02010600030101010101" pitchFamily="2" charset="-122"/>
                </a:rPr>
                <a:t>(1,0,4,3)</a:t>
              </a:r>
              <a:endParaRPr lang="en-US" altLang="zh-CN" sz="2400" dirty="0">
                <a:latin typeface="Tahoma" panose="020B0604030504040204" charset="0"/>
                <a:ea typeface="宋体" panose="02010600030101010101" pitchFamily="2" charset="-122"/>
              </a:endParaRPr>
            </a:p>
          </p:txBody>
        </p:sp>
      </p:grpSp>
      <p:grpSp>
        <p:nvGrpSpPr>
          <p:cNvPr id="18456" name="Group 52"/>
          <p:cNvGrpSpPr/>
          <p:nvPr/>
        </p:nvGrpSpPr>
        <p:grpSpPr>
          <a:xfrm>
            <a:off x="8335645" y="2926080"/>
            <a:ext cx="2819400" cy="3206751"/>
            <a:chOff x="3858" y="1842"/>
            <a:chExt cx="1776" cy="2020"/>
          </a:xfrm>
        </p:grpSpPr>
        <p:grpSp>
          <p:nvGrpSpPr>
            <p:cNvPr id="18457" name="Group 20"/>
            <p:cNvGrpSpPr/>
            <p:nvPr/>
          </p:nvGrpSpPr>
          <p:grpSpPr>
            <a:xfrm>
              <a:off x="3858" y="1842"/>
              <a:ext cx="1776" cy="1440"/>
              <a:chOff x="3984" y="2880"/>
              <a:chExt cx="1776" cy="1440"/>
            </a:xfrm>
          </p:grpSpPr>
          <p:sp>
            <p:nvSpPr>
              <p:cNvPr id="18458" name="Line 21"/>
              <p:cNvSpPr/>
              <p:nvPr/>
            </p:nvSpPr>
            <p:spPr>
              <a:xfrm flipH="1" flipV="1">
                <a:off x="4961" y="3060"/>
                <a:ext cx="577" cy="360"/>
              </a:xfrm>
              <a:prstGeom prst="line">
                <a:avLst/>
              </a:prstGeom>
              <a:ln w="38100" cap="flat" cmpd="sng">
                <a:solidFill>
                  <a:srgbClr val="009900"/>
                </a:solidFill>
                <a:prstDash val="solid"/>
                <a:round/>
                <a:headEnd type="triangle" w="med" len="med"/>
                <a:tailEnd type="none" w="med" len="med"/>
              </a:ln>
            </p:spPr>
          </p:sp>
          <p:sp>
            <p:nvSpPr>
              <p:cNvPr id="18459" name="Line 22"/>
              <p:cNvSpPr/>
              <p:nvPr/>
            </p:nvSpPr>
            <p:spPr>
              <a:xfrm>
                <a:off x="4162" y="3555"/>
                <a:ext cx="222" cy="540"/>
              </a:xfrm>
              <a:prstGeom prst="line">
                <a:avLst/>
              </a:prstGeom>
              <a:ln w="38100" cap="flat" cmpd="sng">
                <a:solidFill>
                  <a:schemeClr val="hlink"/>
                </a:solidFill>
                <a:prstDash val="solid"/>
                <a:round/>
                <a:headEnd type="none" w="med" len="med"/>
                <a:tailEnd type="triangle" w="med" len="med"/>
              </a:ln>
            </p:spPr>
          </p:sp>
          <p:sp>
            <p:nvSpPr>
              <p:cNvPr id="18460" name="Line 23"/>
              <p:cNvSpPr/>
              <p:nvPr/>
            </p:nvSpPr>
            <p:spPr>
              <a:xfrm flipH="1">
                <a:off x="4206" y="3015"/>
                <a:ext cx="622" cy="360"/>
              </a:xfrm>
              <a:prstGeom prst="line">
                <a:avLst/>
              </a:prstGeom>
              <a:ln w="38100" cap="flat" cmpd="sng">
                <a:solidFill>
                  <a:srgbClr val="009900"/>
                </a:solidFill>
                <a:prstDash val="solid"/>
                <a:round/>
                <a:headEnd type="none" w="med" len="med"/>
                <a:tailEnd type="triangle" w="med" len="med"/>
              </a:ln>
            </p:spPr>
          </p:sp>
          <p:sp>
            <p:nvSpPr>
              <p:cNvPr id="18461" name="Line 24"/>
              <p:cNvSpPr/>
              <p:nvPr/>
            </p:nvSpPr>
            <p:spPr>
              <a:xfrm flipH="1" flipV="1">
                <a:off x="4916" y="3060"/>
                <a:ext cx="356" cy="990"/>
              </a:xfrm>
              <a:prstGeom prst="line">
                <a:avLst/>
              </a:prstGeom>
              <a:ln w="38100" cap="flat" cmpd="sng">
                <a:solidFill>
                  <a:srgbClr val="009900"/>
                </a:solidFill>
                <a:prstDash val="solid"/>
                <a:round/>
                <a:headEnd type="triangle" w="med" len="med"/>
                <a:tailEnd type="none" w="med" len="med"/>
              </a:ln>
            </p:spPr>
          </p:sp>
          <p:sp>
            <p:nvSpPr>
              <p:cNvPr id="18462" name="Line 25"/>
              <p:cNvSpPr/>
              <p:nvPr/>
            </p:nvSpPr>
            <p:spPr>
              <a:xfrm flipH="1">
                <a:off x="4517" y="4185"/>
                <a:ext cx="666" cy="0"/>
              </a:xfrm>
              <a:prstGeom prst="line">
                <a:avLst/>
              </a:prstGeom>
              <a:ln w="38100" cap="flat" cmpd="sng">
                <a:solidFill>
                  <a:srgbClr val="009900"/>
                </a:solidFill>
                <a:prstDash val="solid"/>
                <a:round/>
                <a:headEnd type="none" w="med" len="med"/>
                <a:tailEnd type="triangle" w="med" len="med"/>
              </a:ln>
            </p:spPr>
          </p:sp>
          <p:sp>
            <p:nvSpPr>
              <p:cNvPr id="18463" name="Line 26"/>
              <p:cNvSpPr/>
              <p:nvPr/>
            </p:nvSpPr>
            <p:spPr>
              <a:xfrm flipH="1">
                <a:off x="4517" y="3600"/>
                <a:ext cx="1065" cy="540"/>
              </a:xfrm>
              <a:prstGeom prst="line">
                <a:avLst/>
              </a:prstGeom>
              <a:ln w="38100" cap="flat" cmpd="sng">
                <a:solidFill>
                  <a:schemeClr val="hlink"/>
                </a:solidFill>
                <a:prstDash val="solid"/>
                <a:round/>
                <a:headEnd type="triangle" w="med" len="med"/>
                <a:tailEnd type="none" w="med" len="med"/>
              </a:ln>
            </p:spPr>
          </p:sp>
          <p:sp>
            <p:nvSpPr>
              <p:cNvPr id="18464" name="Oval 27"/>
              <p:cNvSpPr/>
              <p:nvPr/>
            </p:nvSpPr>
            <p:spPr>
              <a:xfrm>
                <a:off x="3984" y="3330"/>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18465" name="Oval 28"/>
              <p:cNvSpPr/>
              <p:nvPr/>
            </p:nvSpPr>
            <p:spPr>
              <a:xfrm>
                <a:off x="5183" y="4066"/>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18466" name="Oval 29"/>
              <p:cNvSpPr/>
              <p:nvPr/>
            </p:nvSpPr>
            <p:spPr>
              <a:xfrm>
                <a:off x="4295" y="4066"/>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18467" name="Oval 30"/>
              <p:cNvSpPr/>
              <p:nvPr/>
            </p:nvSpPr>
            <p:spPr>
              <a:xfrm>
                <a:off x="5494" y="3375"/>
                <a:ext cx="266" cy="253"/>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18468" name="Oval 31"/>
              <p:cNvSpPr/>
              <p:nvPr/>
            </p:nvSpPr>
            <p:spPr>
              <a:xfrm>
                <a:off x="4739" y="2880"/>
                <a:ext cx="266" cy="253"/>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sp>
          <p:nvSpPr>
            <p:cNvPr id="18469" name="Text Box 51"/>
            <p:cNvSpPr txBox="1"/>
            <p:nvPr/>
          </p:nvSpPr>
          <p:spPr>
            <a:xfrm>
              <a:off x="4105" y="3339"/>
              <a:ext cx="1152" cy="523"/>
            </a:xfrm>
            <a:prstGeom prst="rect">
              <a:avLst/>
            </a:prstGeom>
            <a:noFill/>
            <a:ln w="9525">
              <a:noFill/>
            </a:ln>
          </p:spPr>
          <p:txBody>
            <a:bodyPr anchor="t" anchorCtr="0">
              <a:spAutoFit/>
            </a:bodyPr>
            <a:p>
              <a:pPr>
                <a:spcBef>
                  <a:spcPct val="50000"/>
                </a:spcBef>
              </a:pPr>
              <a:r>
                <a:rPr lang="en-US" altLang="zh-CN" sz="2400" dirty="0">
                  <a:latin typeface="Tahoma" panose="020B0604030504040204" charset="0"/>
                  <a:ea typeface="宋体" panose="02010600030101010101" pitchFamily="2" charset="-122"/>
                </a:rPr>
                <a:t>1</a:t>
              </a:r>
              <a:r>
                <a:rPr lang="zh-CN" altLang="en-US" sz="2400" dirty="0">
                  <a:latin typeface="Tahoma" panose="020B0604030504040204" charset="0"/>
                  <a:ea typeface="宋体" panose="02010600030101010101" pitchFamily="2" charset="-122"/>
                </a:rPr>
                <a:t>到</a:t>
              </a:r>
              <a:r>
                <a:rPr lang="en-US" altLang="zh-CN" sz="2400" dirty="0">
                  <a:latin typeface="Tahoma" panose="020B0604030504040204" charset="0"/>
                  <a:ea typeface="宋体" panose="02010600030101010101" pitchFamily="2" charset="-122"/>
                </a:rPr>
                <a:t>4</a:t>
              </a:r>
              <a:r>
                <a:rPr lang="zh-CN" altLang="en-US" sz="2400" dirty="0">
                  <a:latin typeface="Tahoma" panose="020B0604030504040204" charset="0"/>
                  <a:ea typeface="宋体" panose="02010600030101010101" pitchFamily="2" charset="-122"/>
                </a:rPr>
                <a:t>有路径</a:t>
              </a:r>
              <a:r>
                <a:rPr lang="en-US" altLang="zh-CN" sz="2400" dirty="0">
                  <a:latin typeface="Tahoma" panose="020B0604030504040204" charset="0"/>
                  <a:ea typeface="宋体" panose="02010600030101010101" pitchFamily="2" charset="-122"/>
                </a:rPr>
                <a:t>(1,2,4)</a:t>
              </a:r>
              <a:endParaRPr lang="en-US" altLang="zh-CN" sz="2400" dirty="0">
                <a:latin typeface="Tahoma" panose="020B0604030504040204" charset="0"/>
                <a:ea typeface="宋体" panose="02010600030101010101" pitchFamily="2" charset="-122"/>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图连通的</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术语</a:t>
            </a:r>
            <a:endPar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回路或环：路径的开始顶点与最后一个顶点相同，即路径中(x, v</a:t>
            </a:r>
            <a:r>
              <a:rPr lang="zh-CN" altLang="en-US" sz="2400" baseline="-25000" dirty="0">
                <a:latin typeface="黑体" panose="02010609060101010101" pitchFamily="2" charset="-122"/>
                <a:ea typeface="黑体" panose="02010609060101010101" pitchFamily="2" charset="-122"/>
                <a:cs typeface="+mn-ea"/>
                <a:sym typeface="Symbol" panose="05050102010706020507" pitchFamily="18" charset="2"/>
              </a:rPr>
              <a:t>i1</a:t>
            </a: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 v</a:t>
            </a:r>
            <a:r>
              <a:rPr lang="zh-CN" altLang="en-US" sz="2400" baseline="-25000" dirty="0">
                <a:latin typeface="黑体" panose="02010609060101010101" pitchFamily="2" charset="-122"/>
                <a:ea typeface="黑体" panose="02010609060101010101" pitchFamily="2" charset="-122"/>
                <a:cs typeface="+mn-ea"/>
                <a:sym typeface="Symbol" panose="05050102010706020507" pitchFamily="18" charset="2"/>
              </a:rPr>
              <a:t>i2</a:t>
            </a: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 v</a:t>
            </a:r>
            <a:r>
              <a:rPr lang="zh-CN" altLang="en-US" sz="2400" baseline="-25000" dirty="0">
                <a:latin typeface="黑体" panose="02010609060101010101" pitchFamily="2" charset="-122"/>
                <a:ea typeface="黑体" panose="02010609060101010101" pitchFamily="2" charset="-122"/>
                <a:cs typeface="+mn-ea"/>
                <a:sym typeface="Symbol" panose="05050102010706020507" pitchFamily="18" charset="2"/>
              </a:rPr>
              <a:t>im</a:t>
            </a: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 y)，x=</a:t>
            </a:r>
            <a:r>
              <a:rPr lang="en-US" altLang="zh-CN" sz="2400" dirty="0">
                <a:latin typeface="黑体" panose="02010609060101010101" pitchFamily="2" charset="-122"/>
                <a:ea typeface="黑体" panose="02010609060101010101" pitchFamily="2" charset="-122"/>
                <a:cs typeface="+mn-ea"/>
                <a:sym typeface="Symbol" panose="05050102010706020507" pitchFamily="18" charset="2"/>
              </a:rPr>
              <a:t>=</a:t>
            </a: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y</a:t>
            </a:r>
            <a:endParaRPr lang="zh-CN" altLang="en-US" sz="240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简单路径：路径的顶点序列中，顶点不重复出现</a:t>
            </a:r>
            <a:endParaRPr lang="zh-CN" altLang="en-US" sz="240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7.1 图的定义和术语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9460" name="Group 4"/>
          <p:cNvGrpSpPr/>
          <p:nvPr/>
        </p:nvGrpSpPr>
        <p:grpSpPr>
          <a:xfrm>
            <a:off x="2855595" y="2996565"/>
            <a:ext cx="2895600" cy="2286000"/>
            <a:chOff x="3552" y="2880"/>
            <a:chExt cx="1824" cy="1440"/>
          </a:xfrm>
        </p:grpSpPr>
        <p:sp>
          <p:nvSpPr>
            <p:cNvPr id="19461" name="Line 5"/>
            <p:cNvSpPr/>
            <p:nvPr/>
          </p:nvSpPr>
          <p:spPr>
            <a:xfrm flipH="1">
              <a:off x="4176" y="3029"/>
              <a:ext cx="576" cy="0"/>
            </a:xfrm>
            <a:prstGeom prst="line">
              <a:avLst/>
            </a:prstGeom>
            <a:ln w="38100" cap="flat" cmpd="sng">
              <a:solidFill>
                <a:schemeClr val="hlink"/>
              </a:solidFill>
              <a:prstDash val="solid"/>
              <a:round/>
              <a:headEnd type="none" w="med" len="med"/>
              <a:tailEnd type="none" w="med" len="med"/>
            </a:ln>
          </p:spPr>
        </p:sp>
        <p:sp>
          <p:nvSpPr>
            <p:cNvPr id="19462" name="Line 6"/>
            <p:cNvSpPr/>
            <p:nvPr/>
          </p:nvSpPr>
          <p:spPr>
            <a:xfrm>
              <a:off x="4848" y="3125"/>
              <a:ext cx="0" cy="960"/>
            </a:xfrm>
            <a:prstGeom prst="line">
              <a:avLst/>
            </a:prstGeom>
            <a:ln w="38100" cap="flat" cmpd="sng">
              <a:solidFill>
                <a:schemeClr val="hlink"/>
              </a:solidFill>
              <a:prstDash val="solid"/>
              <a:round/>
              <a:headEnd type="none" w="med" len="med"/>
              <a:tailEnd type="none" w="med" len="med"/>
            </a:ln>
          </p:spPr>
        </p:sp>
        <p:sp>
          <p:nvSpPr>
            <p:cNvPr id="19463" name="Line 7"/>
            <p:cNvSpPr/>
            <p:nvPr/>
          </p:nvSpPr>
          <p:spPr>
            <a:xfrm>
              <a:off x="4896" y="3077"/>
              <a:ext cx="336" cy="480"/>
            </a:xfrm>
            <a:prstGeom prst="line">
              <a:avLst/>
            </a:prstGeom>
            <a:ln w="38100" cap="flat" cmpd="sng">
              <a:solidFill>
                <a:srgbClr val="009900"/>
              </a:solidFill>
              <a:prstDash val="solid"/>
              <a:round/>
              <a:headEnd type="none" w="med" len="med"/>
              <a:tailEnd type="none" w="med" len="med"/>
            </a:ln>
          </p:spPr>
        </p:sp>
        <p:sp>
          <p:nvSpPr>
            <p:cNvPr id="19464" name="Line 8"/>
            <p:cNvSpPr/>
            <p:nvPr/>
          </p:nvSpPr>
          <p:spPr>
            <a:xfrm flipH="1">
              <a:off x="3744" y="3077"/>
              <a:ext cx="240" cy="432"/>
            </a:xfrm>
            <a:prstGeom prst="line">
              <a:avLst/>
            </a:prstGeom>
            <a:ln w="38100" cap="flat" cmpd="sng">
              <a:solidFill>
                <a:srgbClr val="009900"/>
              </a:solidFill>
              <a:prstDash val="solid"/>
              <a:round/>
              <a:headEnd type="none" w="med" len="med"/>
              <a:tailEnd type="none" w="med" len="med"/>
            </a:ln>
          </p:spPr>
        </p:sp>
        <p:sp>
          <p:nvSpPr>
            <p:cNvPr id="19465" name="Line 9"/>
            <p:cNvSpPr/>
            <p:nvPr/>
          </p:nvSpPr>
          <p:spPr>
            <a:xfrm flipH="1" flipV="1">
              <a:off x="4032" y="3125"/>
              <a:ext cx="0" cy="1008"/>
            </a:xfrm>
            <a:prstGeom prst="line">
              <a:avLst/>
            </a:prstGeom>
            <a:ln w="38100" cap="flat" cmpd="sng">
              <a:solidFill>
                <a:schemeClr val="hlink"/>
              </a:solidFill>
              <a:prstDash val="solid"/>
              <a:round/>
              <a:headEnd type="none" w="med" len="med"/>
              <a:tailEnd type="none" w="med" len="med"/>
            </a:ln>
          </p:spPr>
        </p:sp>
        <p:sp>
          <p:nvSpPr>
            <p:cNvPr id="19466" name="Line 10"/>
            <p:cNvSpPr/>
            <p:nvPr/>
          </p:nvSpPr>
          <p:spPr>
            <a:xfrm flipH="1" flipV="1">
              <a:off x="4080" y="3077"/>
              <a:ext cx="1104" cy="576"/>
            </a:xfrm>
            <a:prstGeom prst="line">
              <a:avLst/>
            </a:prstGeom>
            <a:ln w="38100" cap="flat" cmpd="sng">
              <a:solidFill>
                <a:srgbClr val="009900"/>
              </a:solidFill>
              <a:prstDash val="solid"/>
              <a:round/>
              <a:headEnd type="none" w="med" len="med"/>
              <a:tailEnd type="none" w="med" len="med"/>
            </a:ln>
          </p:spPr>
        </p:sp>
        <p:sp>
          <p:nvSpPr>
            <p:cNvPr id="19467" name="Line 11"/>
            <p:cNvSpPr/>
            <p:nvPr/>
          </p:nvSpPr>
          <p:spPr>
            <a:xfrm flipH="1" flipV="1">
              <a:off x="3696" y="3701"/>
              <a:ext cx="288" cy="432"/>
            </a:xfrm>
            <a:prstGeom prst="line">
              <a:avLst/>
            </a:prstGeom>
            <a:ln w="38100" cap="flat" cmpd="sng">
              <a:solidFill>
                <a:srgbClr val="009900"/>
              </a:solidFill>
              <a:prstDash val="solid"/>
              <a:round/>
              <a:headEnd type="none" w="med" len="med"/>
              <a:tailEnd type="none" w="med" len="med"/>
            </a:ln>
          </p:spPr>
        </p:sp>
        <p:sp>
          <p:nvSpPr>
            <p:cNvPr id="19468" name="Line 12"/>
            <p:cNvSpPr/>
            <p:nvPr/>
          </p:nvSpPr>
          <p:spPr>
            <a:xfrm flipH="1">
              <a:off x="4080" y="4181"/>
              <a:ext cx="720" cy="0"/>
            </a:xfrm>
            <a:prstGeom prst="line">
              <a:avLst/>
            </a:prstGeom>
            <a:ln w="38100" cap="flat" cmpd="sng">
              <a:solidFill>
                <a:schemeClr val="hlink"/>
              </a:solidFill>
              <a:prstDash val="solid"/>
              <a:round/>
              <a:headEnd type="none" w="med" len="med"/>
              <a:tailEnd type="none" w="med" len="med"/>
            </a:ln>
          </p:spPr>
        </p:sp>
        <p:sp>
          <p:nvSpPr>
            <p:cNvPr id="19469" name="Line 13"/>
            <p:cNvSpPr/>
            <p:nvPr/>
          </p:nvSpPr>
          <p:spPr>
            <a:xfrm flipH="1">
              <a:off x="4128" y="3653"/>
              <a:ext cx="1056" cy="480"/>
            </a:xfrm>
            <a:prstGeom prst="line">
              <a:avLst/>
            </a:prstGeom>
            <a:ln w="38100" cap="flat" cmpd="sng">
              <a:solidFill>
                <a:srgbClr val="009900"/>
              </a:solidFill>
              <a:prstDash val="solid"/>
              <a:round/>
              <a:headEnd type="none" w="med" len="med"/>
              <a:tailEnd type="none" w="med" len="med"/>
            </a:ln>
          </p:spPr>
        </p:sp>
        <p:sp>
          <p:nvSpPr>
            <p:cNvPr id="19470" name="Line 14"/>
            <p:cNvSpPr/>
            <p:nvPr/>
          </p:nvSpPr>
          <p:spPr>
            <a:xfrm flipH="1">
              <a:off x="4896" y="3701"/>
              <a:ext cx="336" cy="480"/>
            </a:xfrm>
            <a:prstGeom prst="line">
              <a:avLst/>
            </a:prstGeom>
            <a:ln w="38100" cap="flat" cmpd="sng">
              <a:solidFill>
                <a:srgbClr val="009900"/>
              </a:solidFill>
              <a:prstDash val="solid"/>
              <a:round/>
              <a:headEnd type="none" w="med" len="med"/>
              <a:tailEnd type="none" w="med" len="med"/>
            </a:ln>
          </p:spPr>
        </p:sp>
        <p:grpSp>
          <p:nvGrpSpPr>
            <p:cNvPr id="19471" name="Group 15"/>
            <p:cNvGrpSpPr/>
            <p:nvPr/>
          </p:nvGrpSpPr>
          <p:grpSpPr>
            <a:xfrm>
              <a:off x="3552" y="2880"/>
              <a:ext cx="1824" cy="1440"/>
              <a:chOff x="3648" y="2880"/>
              <a:chExt cx="1824" cy="1440"/>
            </a:xfrm>
          </p:grpSpPr>
          <p:sp>
            <p:nvSpPr>
              <p:cNvPr id="19472" name="Oval 16"/>
              <p:cNvSpPr/>
              <p:nvPr/>
            </p:nvSpPr>
            <p:spPr>
              <a:xfrm>
                <a:off x="3984" y="2880"/>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19473" name="Oval 17"/>
              <p:cNvSpPr/>
              <p:nvPr/>
            </p:nvSpPr>
            <p:spPr>
              <a:xfrm>
                <a:off x="3984"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19474" name="Oval 18"/>
              <p:cNvSpPr/>
              <p:nvPr/>
            </p:nvSpPr>
            <p:spPr>
              <a:xfrm>
                <a:off x="3648" y="3456"/>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19475" name="Oval 19"/>
              <p:cNvSpPr/>
              <p:nvPr/>
            </p:nvSpPr>
            <p:spPr>
              <a:xfrm>
                <a:off x="5184" y="350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5</a:t>
                </a:r>
                <a:endParaRPr lang="en-US" altLang="zh-CN" sz="2400" dirty="0">
                  <a:solidFill>
                    <a:schemeClr val="bg1"/>
                  </a:solidFill>
                  <a:latin typeface="Tahoma" panose="020B0604030504040204" charset="0"/>
                  <a:ea typeface="宋体" panose="02010600030101010101" pitchFamily="2" charset="-122"/>
                </a:endParaRPr>
              </a:p>
            </p:txBody>
          </p:sp>
          <p:sp>
            <p:nvSpPr>
              <p:cNvPr id="19476" name="Oval 20"/>
              <p:cNvSpPr/>
              <p:nvPr/>
            </p:nvSpPr>
            <p:spPr>
              <a:xfrm>
                <a:off x="4800" y="405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19477" name="Oval 21"/>
              <p:cNvSpPr/>
              <p:nvPr/>
            </p:nvSpPr>
            <p:spPr>
              <a:xfrm>
                <a:off x="4800" y="288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grpSp>
      <p:sp>
        <p:nvSpPr>
          <p:cNvPr id="19478" name="Text Box 22"/>
          <p:cNvSpPr txBox="1"/>
          <p:nvPr/>
        </p:nvSpPr>
        <p:spPr>
          <a:xfrm>
            <a:off x="6671945" y="4652963"/>
            <a:ext cx="1828800" cy="829945"/>
          </a:xfrm>
          <a:prstGeom prst="rect">
            <a:avLst/>
          </a:prstGeom>
          <a:noFill/>
          <a:ln w="9525">
            <a:noFill/>
          </a:ln>
        </p:spPr>
        <p:txBody>
          <a:bodyPr anchor="t" anchorCtr="0">
            <a:spAutoFit/>
          </a:bodyPr>
          <a:p>
            <a:pPr>
              <a:spcBef>
                <a:spcPct val="50000"/>
              </a:spcBef>
            </a:pPr>
            <a:r>
              <a:rPr lang="en-US" altLang="zh-CN" sz="2400" b="1" dirty="0">
                <a:latin typeface="Tahoma" panose="020B0604030504040204" charset="0"/>
                <a:ea typeface="宋体" panose="02010600030101010101" pitchFamily="2" charset="-122"/>
              </a:rPr>
              <a:t>1</a:t>
            </a:r>
            <a:r>
              <a:rPr lang="zh-CN" altLang="en-US" sz="2400" b="1" dirty="0">
                <a:latin typeface="Tahoma" panose="020B0604030504040204" charset="0"/>
                <a:ea typeface="宋体" panose="02010600030101010101" pitchFamily="2" charset="-122"/>
              </a:rPr>
              <a:t>到</a:t>
            </a:r>
            <a:r>
              <a:rPr lang="en-US" altLang="zh-CN" sz="2400" b="1" dirty="0">
                <a:latin typeface="Tahoma" panose="020B0604030504040204" charset="0"/>
                <a:ea typeface="宋体" panose="02010600030101010101" pitchFamily="2" charset="-122"/>
              </a:rPr>
              <a:t>1</a:t>
            </a:r>
            <a:r>
              <a:rPr lang="zh-CN" altLang="en-US" sz="2400" b="1" dirty="0">
                <a:latin typeface="Tahoma" panose="020B0604030504040204" charset="0"/>
                <a:ea typeface="宋体" panose="02010600030101010101" pitchFamily="2" charset="-122"/>
              </a:rPr>
              <a:t>构成环</a:t>
            </a:r>
            <a:r>
              <a:rPr lang="en-US" altLang="zh-CN" sz="2400" b="1" dirty="0">
                <a:latin typeface="Tahoma" panose="020B0604030504040204" charset="0"/>
                <a:ea typeface="宋体" panose="02010600030101010101" pitchFamily="2" charset="-122"/>
              </a:rPr>
              <a:t>(1,0,4,3,1)</a:t>
            </a:r>
            <a:endParaRPr lang="en-US" altLang="zh-CN" sz="2400" b="1" dirty="0">
              <a:latin typeface="Tahoma" panose="020B0604030504040204" charset="0"/>
              <a:ea typeface="宋体" panose="02010600030101010101" pitchFamily="2" charset="-122"/>
            </a:endParaRPr>
          </a:p>
        </p:txBody>
      </p:sp>
      <p:sp>
        <p:nvSpPr>
          <p:cNvPr id="19479" name="Text Box 23"/>
          <p:cNvSpPr txBox="1"/>
          <p:nvPr/>
        </p:nvSpPr>
        <p:spPr>
          <a:xfrm>
            <a:off x="6665278" y="3014345"/>
            <a:ext cx="2514600" cy="829945"/>
          </a:xfrm>
          <a:prstGeom prst="rect">
            <a:avLst/>
          </a:prstGeom>
          <a:noFill/>
          <a:ln w="9525">
            <a:noFill/>
          </a:ln>
        </p:spPr>
        <p:txBody>
          <a:bodyPr anchor="t" anchorCtr="0">
            <a:spAutoFit/>
          </a:bodyPr>
          <a:p>
            <a:pPr>
              <a:spcBef>
                <a:spcPct val="50000"/>
              </a:spcBef>
            </a:pPr>
            <a:r>
              <a:rPr lang="en-US" altLang="zh-CN" sz="2400" b="1" dirty="0">
                <a:latin typeface="Tahoma" panose="020B0604030504040204" charset="0"/>
                <a:ea typeface="宋体" panose="02010600030101010101" pitchFamily="2" charset="-122"/>
              </a:rPr>
              <a:t>1</a:t>
            </a:r>
            <a:r>
              <a:rPr lang="zh-CN" altLang="en-US" sz="2400" b="1" dirty="0">
                <a:latin typeface="Tahoma" panose="020B0604030504040204" charset="0"/>
                <a:ea typeface="宋体" panose="02010600030101010101" pitchFamily="2" charset="-122"/>
              </a:rPr>
              <a:t>到</a:t>
            </a:r>
            <a:r>
              <a:rPr lang="en-US" altLang="zh-CN" sz="2400" b="1" dirty="0">
                <a:latin typeface="Tahoma" panose="020B0604030504040204" charset="0"/>
                <a:ea typeface="宋体" panose="02010600030101010101" pitchFamily="2" charset="-122"/>
              </a:rPr>
              <a:t>3</a:t>
            </a:r>
            <a:r>
              <a:rPr lang="zh-CN" altLang="en-US" sz="2400" b="1" dirty="0">
                <a:latin typeface="Tahoma" panose="020B0604030504040204" charset="0"/>
                <a:ea typeface="宋体" panose="02010600030101010101" pitchFamily="2" charset="-122"/>
              </a:rPr>
              <a:t>是简单路径</a:t>
            </a:r>
            <a:r>
              <a:rPr lang="en-US" altLang="zh-CN" sz="2400" b="1" dirty="0">
                <a:latin typeface="Tahoma" panose="020B0604030504040204" charset="0"/>
                <a:ea typeface="宋体" panose="02010600030101010101" pitchFamily="2" charset="-122"/>
              </a:rPr>
              <a:t>(1,0,4,3)</a:t>
            </a:r>
            <a:endParaRPr lang="en-US" altLang="zh-CN" sz="2400" b="1" dirty="0">
              <a:latin typeface="Tahoma" panose="020B0604030504040204" charset="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子图的概念：</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设有两个图 </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G</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(V, E) </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和 </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G'</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(V', E')</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。若 </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V'</a:t>
            </a:r>
            <a:r>
              <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 V </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且 </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E'</a:t>
            </a:r>
            <a:r>
              <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E, </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称图</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G'</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是图</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G</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的子图</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极大：指的是对子图再增加图G中的其它顶点，子图就不再连通</a:t>
            </a:r>
            <a:endParaRPr lang="zh-CN" altLang="en-US" sz="2800" dirty="0">
              <a:latin typeface="黑体" panose="02010609060101010101" pitchFamily="2" charset="-122"/>
              <a:ea typeface="黑体" panose="02010609060101010101" pitchFamily="2" charset="-122"/>
              <a:cs typeface="+mn-ea"/>
              <a:sym typeface="+mn-ea"/>
            </a:endParaRPr>
          </a:p>
          <a:p>
            <a:pPr marL="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极大实际上就是子图尽可能包含多的点和多的边或</a:t>
            </a:r>
            <a:r>
              <a:rPr lang="zh-CN" altLang="en-US" sz="2800" dirty="0">
                <a:latin typeface="黑体" panose="02010609060101010101" pitchFamily="2" charset="-122"/>
                <a:ea typeface="黑体" panose="02010609060101010101" pitchFamily="2" charset="-122"/>
                <a:cs typeface="+mn-ea"/>
                <a:sym typeface="+mn-ea"/>
              </a:rPr>
              <a:t>弧</a:t>
            </a:r>
            <a:endParaRPr lang="zh-CN" altLang="en-US" sz="2800" dirty="0">
              <a:latin typeface="黑体" panose="02010609060101010101" pitchFamily="2" charset="-122"/>
              <a:ea typeface="黑体" panose="02010609060101010101" pitchFamily="2" charset="-122"/>
              <a:cs typeface="+mn-ea"/>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endPar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7.1 图的定义和术语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23556" name="Group 4"/>
          <p:cNvGrpSpPr/>
          <p:nvPr/>
        </p:nvGrpSpPr>
        <p:grpSpPr>
          <a:xfrm>
            <a:off x="352743" y="3596958"/>
            <a:ext cx="2895600" cy="2286000"/>
            <a:chOff x="864" y="2784"/>
            <a:chExt cx="1824" cy="1440"/>
          </a:xfrm>
        </p:grpSpPr>
        <p:sp>
          <p:nvSpPr>
            <p:cNvPr id="23557" name="Line 5"/>
            <p:cNvSpPr/>
            <p:nvPr/>
          </p:nvSpPr>
          <p:spPr>
            <a:xfrm flipH="1">
              <a:off x="1488" y="2933"/>
              <a:ext cx="576" cy="0"/>
            </a:xfrm>
            <a:prstGeom prst="line">
              <a:avLst/>
            </a:prstGeom>
            <a:ln w="38100" cap="flat" cmpd="sng">
              <a:solidFill>
                <a:srgbClr val="009900"/>
              </a:solidFill>
              <a:prstDash val="solid"/>
              <a:round/>
              <a:headEnd type="none" w="med" len="med"/>
              <a:tailEnd type="none" w="med" len="med"/>
            </a:ln>
          </p:spPr>
        </p:sp>
        <p:sp>
          <p:nvSpPr>
            <p:cNvPr id="23558" name="Line 6"/>
            <p:cNvSpPr/>
            <p:nvPr/>
          </p:nvSpPr>
          <p:spPr>
            <a:xfrm>
              <a:off x="2160" y="3029"/>
              <a:ext cx="0" cy="960"/>
            </a:xfrm>
            <a:prstGeom prst="line">
              <a:avLst/>
            </a:prstGeom>
            <a:ln w="38100" cap="flat" cmpd="sng">
              <a:solidFill>
                <a:schemeClr val="hlink"/>
              </a:solidFill>
              <a:prstDash val="solid"/>
              <a:round/>
              <a:headEnd type="none" w="med" len="med"/>
              <a:tailEnd type="none" w="med" len="med"/>
            </a:ln>
          </p:spPr>
        </p:sp>
        <p:sp>
          <p:nvSpPr>
            <p:cNvPr id="23559" name="Line 7"/>
            <p:cNvSpPr/>
            <p:nvPr/>
          </p:nvSpPr>
          <p:spPr>
            <a:xfrm>
              <a:off x="2208" y="2981"/>
              <a:ext cx="336" cy="480"/>
            </a:xfrm>
            <a:prstGeom prst="line">
              <a:avLst/>
            </a:prstGeom>
            <a:ln w="38100" cap="flat" cmpd="sng">
              <a:solidFill>
                <a:srgbClr val="009900"/>
              </a:solidFill>
              <a:prstDash val="solid"/>
              <a:round/>
              <a:headEnd type="none" w="med" len="med"/>
              <a:tailEnd type="none" w="med" len="med"/>
            </a:ln>
          </p:spPr>
        </p:sp>
        <p:sp>
          <p:nvSpPr>
            <p:cNvPr id="23560" name="Line 8"/>
            <p:cNvSpPr/>
            <p:nvPr/>
          </p:nvSpPr>
          <p:spPr>
            <a:xfrm flipH="1">
              <a:off x="1056" y="2981"/>
              <a:ext cx="240" cy="432"/>
            </a:xfrm>
            <a:prstGeom prst="line">
              <a:avLst/>
            </a:prstGeom>
            <a:ln w="38100" cap="flat" cmpd="sng">
              <a:solidFill>
                <a:srgbClr val="009900"/>
              </a:solidFill>
              <a:prstDash val="solid"/>
              <a:round/>
              <a:headEnd type="none" w="med" len="med"/>
              <a:tailEnd type="none" w="med" len="med"/>
            </a:ln>
          </p:spPr>
        </p:sp>
        <p:sp>
          <p:nvSpPr>
            <p:cNvPr id="23561" name="Line 9"/>
            <p:cNvSpPr/>
            <p:nvPr/>
          </p:nvSpPr>
          <p:spPr>
            <a:xfrm flipH="1" flipV="1">
              <a:off x="1344" y="3029"/>
              <a:ext cx="0" cy="1008"/>
            </a:xfrm>
            <a:prstGeom prst="line">
              <a:avLst/>
            </a:prstGeom>
            <a:ln w="38100" cap="flat" cmpd="sng">
              <a:solidFill>
                <a:srgbClr val="009900"/>
              </a:solidFill>
              <a:prstDash val="solid"/>
              <a:round/>
              <a:headEnd type="none" w="med" len="med"/>
              <a:tailEnd type="none" w="med" len="med"/>
            </a:ln>
          </p:spPr>
        </p:sp>
        <p:sp>
          <p:nvSpPr>
            <p:cNvPr id="23562" name="Line 10"/>
            <p:cNvSpPr/>
            <p:nvPr/>
          </p:nvSpPr>
          <p:spPr>
            <a:xfrm flipH="1" flipV="1">
              <a:off x="1392" y="2981"/>
              <a:ext cx="1104" cy="576"/>
            </a:xfrm>
            <a:prstGeom prst="line">
              <a:avLst/>
            </a:prstGeom>
            <a:ln w="38100" cap="flat" cmpd="sng">
              <a:solidFill>
                <a:srgbClr val="009900"/>
              </a:solidFill>
              <a:prstDash val="solid"/>
              <a:round/>
              <a:headEnd type="none" w="med" len="med"/>
              <a:tailEnd type="none" w="med" len="med"/>
            </a:ln>
          </p:spPr>
        </p:sp>
        <p:sp>
          <p:nvSpPr>
            <p:cNvPr id="23563" name="Line 11"/>
            <p:cNvSpPr/>
            <p:nvPr/>
          </p:nvSpPr>
          <p:spPr>
            <a:xfrm flipH="1" flipV="1">
              <a:off x="1008" y="3605"/>
              <a:ext cx="288" cy="432"/>
            </a:xfrm>
            <a:prstGeom prst="line">
              <a:avLst/>
            </a:prstGeom>
            <a:ln w="38100" cap="flat" cmpd="sng">
              <a:solidFill>
                <a:schemeClr val="hlink"/>
              </a:solidFill>
              <a:prstDash val="solid"/>
              <a:round/>
              <a:headEnd type="none" w="med" len="med"/>
              <a:tailEnd type="none" w="med" len="med"/>
            </a:ln>
          </p:spPr>
        </p:sp>
        <p:sp>
          <p:nvSpPr>
            <p:cNvPr id="23564" name="Line 12"/>
            <p:cNvSpPr/>
            <p:nvPr/>
          </p:nvSpPr>
          <p:spPr>
            <a:xfrm flipH="1">
              <a:off x="1392" y="4085"/>
              <a:ext cx="720" cy="0"/>
            </a:xfrm>
            <a:prstGeom prst="line">
              <a:avLst/>
            </a:prstGeom>
            <a:ln w="38100" cap="flat" cmpd="sng">
              <a:solidFill>
                <a:schemeClr val="hlink"/>
              </a:solidFill>
              <a:prstDash val="solid"/>
              <a:round/>
              <a:headEnd type="none" w="med" len="med"/>
              <a:tailEnd type="none" w="med" len="med"/>
            </a:ln>
          </p:spPr>
        </p:sp>
        <p:sp>
          <p:nvSpPr>
            <p:cNvPr id="23565" name="Line 13"/>
            <p:cNvSpPr/>
            <p:nvPr/>
          </p:nvSpPr>
          <p:spPr>
            <a:xfrm flipH="1">
              <a:off x="1440" y="3557"/>
              <a:ext cx="1056" cy="480"/>
            </a:xfrm>
            <a:prstGeom prst="line">
              <a:avLst/>
            </a:prstGeom>
            <a:ln w="38100" cap="flat" cmpd="sng">
              <a:solidFill>
                <a:srgbClr val="009900"/>
              </a:solidFill>
              <a:prstDash val="solid"/>
              <a:round/>
              <a:headEnd type="none" w="med" len="med"/>
              <a:tailEnd type="none" w="med" len="med"/>
            </a:ln>
          </p:spPr>
        </p:sp>
        <p:sp>
          <p:nvSpPr>
            <p:cNvPr id="23566" name="Line 14"/>
            <p:cNvSpPr/>
            <p:nvPr/>
          </p:nvSpPr>
          <p:spPr>
            <a:xfrm flipH="1">
              <a:off x="2208" y="3605"/>
              <a:ext cx="336" cy="480"/>
            </a:xfrm>
            <a:prstGeom prst="line">
              <a:avLst/>
            </a:prstGeom>
            <a:ln w="38100" cap="flat" cmpd="sng">
              <a:solidFill>
                <a:srgbClr val="009900"/>
              </a:solidFill>
              <a:prstDash val="solid"/>
              <a:round/>
              <a:headEnd type="none" w="med" len="med"/>
              <a:tailEnd type="none" w="med" len="med"/>
            </a:ln>
          </p:spPr>
        </p:sp>
        <p:grpSp>
          <p:nvGrpSpPr>
            <p:cNvPr id="23567" name="Group 15"/>
            <p:cNvGrpSpPr/>
            <p:nvPr/>
          </p:nvGrpSpPr>
          <p:grpSpPr>
            <a:xfrm>
              <a:off x="864" y="2784"/>
              <a:ext cx="1824" cy="1440"/>
              <a:chOff x="3648" y="2880"/>
              <a:chExt cx="1824" cy="1440"/>
            </a:xfrm>
          </p:grpSpPr>
          <p:sp>
            <p:nvSpPr>
              <p:cNvPr id="23568" name="Oval 16"/>
              <p:cNvSpPr/>
              <p:nvPr/>
            </p:nvSpPr>
            <p:spPr>
              <a:xfrm>
                <a:off x="3984" y="2880"/>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23569" name="Oval 17"/>
              <p:cNvSpPr/>
              <p:nvPr/>
            </p:nvSpPr>
            <p:spPr>
              <a:xfrm>
                <a:off x="3984"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23570" name="Oval 18"/>
              <p:cNvSpPr/>
              <p:nvPr/>
            </p:nvSpPr>
            <p:spPr>
              <a:xfrm>
                <a:off x="3648" y="3456"/>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23571" name="Oval 19"/>
              <p:cNvSpPr/>
              <p:nvPr/>
            </p:nvSpPr>
            <p:spPr>
              <a:xfrm>
                <a:off x="5184" y="350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5</a:t>
                </a:r>
                <a:endParaRPr lang="en-US" altLang="zh-CN" sz="2400" dirty="0">
                  <a:solidFill>
                    <a:schemeClr val="bg1"/>
                  </a:solidFill>
                  <a:latin typeface="Tahoma" panose="020B0604030504040204" charset="0"/>
                  <a:ea typeface="宋体" panose="02010600030101010101" pitchFamily="2" charset="-122"/>
                </a:endParaRPr>
              </a:p>
            </p:txBody>
          </p:sp>
          <p:sp>
            <p:nvSpPr>
              <p:cNvPr id="23572" name="Oval 20"/>
              <p:cNvSpPr/>
              <p:nvPr/>
            </p:nvSpPr>
            <p:spPr>
              <a:xfrm>
                <a:off x="4800" y="405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23573" name="Oval 21"/>
              <p:cNvSpPr/>
              <p:nvPr/>
            </p:nvSpPr>
            <p:spPr>
              <a:xfrm>
                <a:off x="4800" y="288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grpSp>
      <p:grpSp>
        <p:nvGrpSpPr>
          <p:cNvPr id="23574" name="Group 22"/>
          <p:cNvGrpSpPr/>
          <p:nvPr/>
        </p:nvGrpSpPr>
        <p:grpSpPr>
          <a:xfrm>
            <a:off x="3389948" y="3651568"/>
            <a:ext cx="2286000" cy="2286000"/>
            <a:chOff x="3504" y="2880"/>
            <a:chExt cx="1440" cy="1440"/>
          </a:xfrm>
        </p:grpSpPr>
        <p:sp>
          <p:nvSpPr>
            <p:cNvPr id="23575" name="Line 23"/>
            <p:cNvSpPr/>
            <p:nvPr/>
          </p:nvSpPr>
          <p:spPr>
            <a:xfrm>
              <a:off x="4800" y="3125"/>
              <a:ext cx="0" cy="960"/>
            </a:xfrm>
            <a:prstGeom prst="line">
              <a:avLst/>
            </a:prstGeom>
            <a:ln w="38100" cap="flat" cmpd="sng">
              <a:solidFill>
                <a:srgbClr val="009900"/>
              </a:solidFill>
              <a:prstDash val="solid"/>
              <a:round/>
              <a:headEnd type="none" w="med" len="med"/>
              <a:tailEnd type="none" w="med" len="med"/>
            </a:ln>
          </p:spPr>
        </p:sp>
        <p:sp>
          <p:nvSpPr>
            <p:cNvPr id="23576" name="Line 24"/>
            <p:cNvSpPr/>
            <p:nvPr/>
          </p:nvSpPr>
          <p:spPr>
            <a:xfrm flipH="1" flipV="1">
              <a:off x="3648" y="3701"/>
              <a:ext cx="288" cy="432"/>
            </a:xfrm>
            <a:prstGeom prst="line">
              <a:avLst/>
            </a:prstGeom>
            <a:ln w="38100" cap="flat" cmpd="sng">
              <a:solidFill>
                <a:srgbClr val="009900"/>
              </a:solidFill>
              <a:prstDash val="solid"/>
              <a:round/>
              <a:headEnd type="none" w="med" len="med"/>
              <a:tailEnd type="none" w="med" len="med"/>
            </a:ln>
          </p:spPr>
        </p:sp>
        <p:sp>
          <p:nvSpPr>
            <p:cNvPr id="23577" name="Line 25"/>
            <p:cNvSpPr/>
            <p:nvPr/>
          </p:nvSpPr>
          <p:spPr>
            <a:xfrm flipH="1">
              <a:off x="4032" y="4181"/>
              <a:ext cx="720" cy="0"/>
            </a:xfrm>
            <a:prstGeom prst="line">
              <a:avLst/>
            </a:prstGeom>
            <a:ln w="38100" cap="flat" cmpd="sng">
              <a:solidFill>
                <a:srgbClr val="009900"/>
              </a:solidFill>
              <a:prstDash val="solid"/>
              <a:round/>
              <a:headEnd type="none" w="med" len="med"/>
              <a:tailEnd type="none" w="med" len="med"/>
            </a:ln>
          </p:spPr>
        </p:sp>
        <p:grpSp>
          <p:nvGrpSpPr>
            <p:cNvPr id="23578" name="Group 26"/>
            <p:cNvGrpSpPr/>
            <p:nvPr/>
          </p:nvGrpSpPr>
          <p:grpSpPr>
            <a:xfrm>
              <a:off x="3504" y="2880"/>
              <a:ext cx="1440" cy="1440"/>
              <a:chOff x="3504" y="2880"/>
              <a:chExt cx="1440" cy="1440"/>
            </a:xfrm>
          </p:grpSpPr>
          <p:sp>
            <p:nvSpPr>
              <p:cNvPr id="23579" name="Oval 27"/>
              <p:cNvSpPr/>
              <p:nvPr/>
            </p:nvSpPr>
            <p:spPr>
              <a:xfrm>
                <a:off x="3840"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23580" name="Oval 28"/>
              <p:cNvSpPr/>
              <p:nvPr/>
            </p:nvSpPr>
            <p:spPr>
              <a:xfrm>
                <a:off x="3504" y="3456"/>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23581" name="Oval 29"/>
              <p:cNvSpPr/>
              <p:nvPr/>
            </p:nvSpPr>
            <p:spPr>
              <a:xfrm>
                <a:off x="4656" y="405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23582" name="Oval 30"/>
              <p:cNvSpPr/>
              <p:nvPr/>
            </p:nvSpPr>
            <p:spPr>
              <a:xfrm>
                <a:off x="4656" y="288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grpSp>
      <p:grpSp>
        <p:nvGrpSpPr>
          <p:cNvPr id="18457" name="Group 20"/>
          <p:cNvGrpSpPr/>
          <p:nvPr/>
        </p:nvGrpSpPr>
        <p:grpSpPr>
          <a:xfrm rot="0">
            <a:off x="6319520" y="3199765"/>
            <a:ext cx="2819400" cy="2286000"/>
            <a:chOff x="3984" y="2880"/>
            <a:chExt cx="1776" cy="1440"/>
          </a:xfrm>
        </p:grpSpPr>
        <p:sp>
          <p:nvSpPr>
            <p:cNvPr id="18458" name="Line 21"/>
            <p:cNvSpPr/>
            <p:nvPr/>
          </p:nvSpPr>
          <p:spPr>
            <a:xfrm flipH="1" flipV="1">
              <a:off x="4961" y="3060"/>
              <a:ext cx="577" cy="360"/>
            </a:xfrm>
            <a:prstGeom prst="line">
              <a:avLst/>
            </a:prstGeom>
            <a:ln w="38100" cap="flat" cmpd="sng">
              <a:solidFill>
                <a:srgbClr val="009900"/>
              </a:solidFill>
              <a:prstDash val="solid"/>
              <a:round/>
              <a:headEnd type="triangle" w="med" len="med"/>
              <a:tailEnd type="none" w="med" len="med"/>
            </a:ln>
          </p:spPr>
        </p:sp>
        <p:sp>
          <p:nvSpPr>
            <p:cNvPr id="18459" name="Line 22"/>
            <p:cNvSpPr/>
            <p:nvPr/>
          </p:nvSpPr>
          <p:spPr>
            <a:xfrm>
              <a:off x="4162" y="3555"/>
              <a:ext cx="222" cy="540"/>
            </a:xfrm>
            <a:prstGeom prst="line">
              <a:avLst/>
            </a:prstGeom>
            <a:ln w="38100" cap="flat" cmpd="sng">
              <a:solidFill>
                <a:schemeClr val="hlink"/>
              </a:solidFill>
              <a:prstDash val="solid"/>
              <a:round/>
              <a:headEnd type="none" w="med" len="med"/>
              <a:tailEnd type="triangle" w="med" len="med"/>
            </a:ln>
          </p:spPr>
        </p:sp>
        <p:sp>
          <p:nvSpPr>
            <p:cNvPr id="18460" name="Line 23"/>
            <p:cNvSpPr/>
            <p:nvPr/>
          </p:nvSpPr>
          <p:spPr>
            <a:xfrm flipH="1">
              <a:off x="4206" y="3015"/>
              <a:ext cx="622" cy="360"/>
            </a:xfrm>
            <a:prstGeom prst="line">
              <a:avLst/>
            </a:prstGeom>
            <a:ln w="38100" cap="flat" cmpd="sng">
              <a:solidFill>
                <a:srgbClr val="009900"/>
              </a:solidFill>
              <a:prstDash val="solid"/>
              <a:round/>
              <a:headEnd type="none" w="med" len="med"/>
              <a:tailEnd type="triangle" w="med" len="med"/>
            </a:ln>
          </p:spPr>
        </p:sp>
        <p:sp>
          <p:nvSpPr>
            <p:cNvPr id="18461" name="Line 24"/>
            <p:cNvSpPr/>
            <p:nvPr/>
          </p:nvSpPr>
          <p:spPr>
            <a:xfrm flipH="1" flipV="1">
              <a:off x="4916" y="3060"/>
              <a:ext cx="356" cy="990"/>
            </a:xfrm>
            <a:prstGeom prst="line">
              <a:avLst/>
            </a:prstGeom>
            <a:ln w="38100" cap="flat" cmpd="sng">
              <a:solidFill>
                <a:srgbClr val="009900"/>
              </a:solidFill>
              <a:prstDash val="solid"/>
              <a:round/>
              <a:headEnd type="triangle" w="med" len="med"/>
              <a:tailEnd type="none" w="med" len="med"/>
            </a:ln>
          </p:spPr>
        </p:sp>
        <p:sp>
          <p:nvSpPr>
            <p:cNvPr id="18462" name="Line 25"/>
            <p:cNvSpPr/>
            <p:nvPr/>
          </p:nvSpPr>
          <p:spPr>
            <a:xfrm flipH="1">
              <a:off x="4517" y="4185"/>
              <a:ext cx="666" cy="0"/>
            </a:xfrm>
            <a:prstGeom prst="line">
              <a:avLst/>
            </a:prstGeom>
            <a:ln w="38100" cap="flat" cmpd="sng">
              <a:solidFill>
                <a:srgbClr val="009900"/>
              </a:solidFill>
              <a:prstDash val="solid"/>
              <a:round/>
              <a:headEnd type="none" w="med" len="med"/>
              <a:tailEnd type="triangle" w="med" len="med"/>
            </a:ln>
          </p:spPr>
        </p:sp>
        <p:sp>
          <p:nvSpPr>
            <p:cNvPr id="18463" name="Line 26"/>
            <p:cNvSpPr/>
            <p:nvPr/>
          </p:nvSpPr>
          <p:spPr>
            <a:xfrm flipH="1">
              <a:off x="4517" y="3600"/>
              <a:ext cx="1065" cy="540"/>
            </a:xfrm>
            <a:prstGeom prst="line">
              <a:avLst/>
            </a:prstGeom>
            <a:ln w="38100" cap="flat" cmpd="sng">
              <a:solidFill>
                <a:schemeClr val="hlink"/>
              </a:solidFill>
              <a:prstDash val="solid"/>
              <a:round/>
              <a:headEnd type="triangle" w="med" len="med"/>
              <a:tailEnd type="none" w="med" len="med"/>
            </a:ln>
          </p:spPr>
        </p:sp>
        <p:sp>
          <p:nvSpPr>
            <p:cNvPr id="18464" name="Oval 27"/>
            <p:cNvSpPr/>
            <p:nvPr/>
          </p:nvSpPr>
          <p:spPr>
            <a:xfrm>
              <a:off x="3984" y="3330"/>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18465" name="Oval 28"/>
            <p:cNvSpPr/>
            <p:nvPr/>
          </p:nvSpPr>
          <p:spPr>
            <a:xfrm>
              <a:off x="5183" y="4066"/>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18466" name="Oval 29"/>
            <p:cNvSpPr/>
            <p:nvPr/>
          </p:nvSpPr>
          <p:spPr>
            <a:xfrm>
              <a:off x="4295" y="4066"/>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18467" name="Oval 30"/>
            <p:cNvSpPr/>
            <p:nvPr/>
          </p:nvSpPr>
          <p:spPr>
            <a:xfrm>
              <a:off x="5494" y="3375"/>
              <a:ext cx="266" cy="253"/>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18468" name="Oval 31"/>
            <p:cNvSpPr/>
            <p:nvPr/>
          </p:nvSpPr>
          <p:spPr>
            <a:xfrm>
              <a:off x="4739" y="2880"/>
              <a:ext cx="266" cy="253"/>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grpSp>
        <p:nvGrpSpPr>
          <p:cNvPr id="5" name="Group 20"/>
          <p:cNvGrpSpPr/>
          <p:nvPr/>
        </p:nvGrpSpPr>
        <p:grpSpPr>
          <a:xfrm rot="0">
            <a:off x="9152890" y="3654425"/>
            <a:ext cx="2819400" cy="2286000"/>
            <a:chOff x="3984" y="2880"/>
            <a:chExt cx="1776" cy="1440"/>
          </a:xfrm>
        </p:grpSpPr>
        <p:sp>
          <p:nvSpPr>
            <p:cNvPr id="6" name="Line 21"/>
            <p:cNvSpPr/>
            <p:nvPr/>
          </p:nvSpPr>
          <p:spPr>
            <a:xfrm flipH="1" flipV="1">
              <a:off x="4961" y="3060"/>
              <a:ext cx="577" cy="360"/>
            </a:xfrm>
            <a:prstGeom prst="line">
              <a:avLst/>
            </a:prstGeom>
            <a:ln w="38100" cap="flat" cmpd="sng">
              <a:solidFill>
                <a:srgbClr val="009900"/>
              </a:solidFill>
              <a:prstDash val="solid"/>
              <a:round/>
              <a:headEnd type="triangle" w="med" len="med"/>
              <a:tailEnd type="none" w="med" len="med"/>
            </a:ln>
          </p:spPr>
        </p:sp>
        <p:sp>
          <p:nvSpPr>
            <p:cNvPr id="8" name="Line 23"/>
            <p:cNvSpPr/>
            <p:nvPr/>
          </p:nvSpPr>
          <p:spPr>
            <a:xfrm flipH="1">
              <a:off x="4206" y="3015"/>
              <a:ext cx="622" cy="360"/>
            </a:xfrm>
            <a:prstGeom prst="line">
              <a:avLst/>
            </a:prstGeom>
            <a:ln w="38100" cap="flat" cmpd="sng">
              <a:solidFill>
                <a:srgbClr val="009900"/>
              </a:solidFill>
              <a:prstDash val="solid"/>
              <a:round/>
              <a:headEnd type="none" w="med" len="med"/>
              <a:tailEnd type="triangle" w="med" len="med"/>
            </a:ln>
          </p:spPr>
        </p:sp>
        <p:sp>
          <p:nvSpPr>
            <p:cNvPr id="9" name="Line 24"/>
            <p:cNvSpPr/>
            <p:nvPr/>
          </p:nvSpPr>
          <p:spPr>
            <a:xfrm flipH="1" flipV="1">
              <a:off x="4916" y="3060"/>
              <a:ext cx="356" cy="990"/>
            </a:xfrm>
            <a:prstGeom prst="line">
              <a:avLst/>
            </a:prstGeom>
            <a:ln w="38100" cap="flat" cmpd="sng">
              <a:solidFill>
                <a:srgbClr val="009900"/>
              </a:solidFill>
              <a:prstDash val="solid"/>
              <a:round/>
              <a:headEnd type="triangle" w="med" len="med"/>
              <a:tailEnd type="none" w="med" len="med"/>
            </a:ln>
          </p:spPr>
        </p:sp>
        <p:sp>
          <p:nvSpPr>
            <p:cNvPr id="12" name="Oval 27"/>
            <p:cNvSpPr/>
            <p:nvPr/>
          </p:nvSpPr>
          <p:spPr>
            <a:xfrm>
              <a:off x="3984" y="3330"/>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13" name="Oval 28"/>
            <p:cNvSpPr/>
            <p:nvPr/>
          </p:nvSpPr>
          <p:spPr>
            <a:xfrm>
              <a:off x="5183" y="4066"/>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15" name="Oval 30"/>
            <p:cNvSpPr/>
            <p:nvPr/>
          </p:nvSpPr>
          <p:spPr>
            <a:xfrm>
              <a:off x="5494" y="3375"/>
              <a:ext cx="266" cy="253"/>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16" name="Oval 31"/>
            <p:cNvSpPr/>
            <p:nvPr/>
          </p:nvSpPr>
          <p:spPr>
            <a:xfrm>
              <a:off x="4739" y="2880"/>
              <a:ext cx="266" cy="253"/>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无向图连通的</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术语</a:t>
            </a:r>
            <a:endPar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如果顶点x到y有路径，称x和y是连通的</a:t>
            </a:r>
            <a:endParaRPr lang="zh-CN" altLang="en-US" sz="240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Symbol" panose="05050102010706020507" pitchFamily="18" charset="2"/>
              </a:rPr>
              <a:t>无向图的连通分量是指无向图中的极大连通子图</a:t>
            </a:r>
            <a:endParaRPr lang="zh-CN" altLang="en-US"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7.1 图的定义和术语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40" name="图片 39"/>
          <p:cNvPicPr>
            <a:picLocks noChangeAspect="1"/>
          </p:cNvPicPr>
          <p:nvPr/>
        </p:nvPicPr>
        <p:blipFill>
          <a:blip r:embed="rId1"/>
          <a:stretch>
            <a:fillRect/>
          </a:stretch>
        </p:blipFill>
        <p:spPr>
          <a:xfrm>
            <a:off x="1127125" y="2348865"/>
            <a:ext cx="6066155" cy="365315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无向图连通的</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术语</a:t>
            </a:r>
            <a:endPar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连通图：无向图中任意两个顶点都连通</a:t>
            </a:r>
            <a:endParaRPr lang="zh-CN" altLang="en-US" sz="240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连通图的任意两个顶点都存在</a:t>
            </a: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路径</a:t>
            </a:r>
            <a:endParaRPr lang="zh-CN" altLang="en-US" sz="240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连通图的连通分量只有一个，就是它</a:t>
            </a: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本身</a:t>
            </a:r>
            <a:endParaRPr lang="zh-CN" altLang="en-US" sz="240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endParaRPr lang="zh-CN" altLang="en-US"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连通”概念往往用于无向图，连通分量和连通图都是用在无向图</a:t>
            </a:r>
            <a:endParaRPr lang="zh-CN" altLang="en-US" sz="240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7.1 图的定义和术语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48" name="组合 47"/>
          <p:cNvGrpSpPr/>
          <p:nvPr/>
        </p:nvGrpSpPr>
        <p:grpSpPr>
          <a:xfrm>
            <a:off x="7607935" y="1602740"/>
            <a:ext cx="3600450" cy="3397250"/>
            <a:chOff x="11981" y="2524"/>
            <a:chExt cx="5670" cy="5350"/>
          </a:xfrm>
        </p:grpSpPr>
        <p:grpSp>
          <p:nvGrpSpPr>
            <p:cNvPr id="32" name="组合 31"/>
            <p:cNvGrpSpPr/>
            <p:nvPr/>
          </p:nvGrpSpPr>
          <p:grpSpPr>
            <a:xfrm>
              <a:off x="11981" y="3112"/>
              <a:ext cx="5670" cy="4762"/>
              <a:chOff x="755" y="4039"/>
              <a:chExt cx="5670" cy="4762"/>
            </a:xfrm>
          </p:grpSpPr>
          <p:grpSp>
            <p:nvGrpSpPr>
              <p:cNvPr id="33" name="Group 4"/>
              <p:cNvGrpSpPr/>
              <p:nvPr/>
            </p:nvGrpSpPr>
            <p:grpSpPr>
              <a:xfrm>
                <a:off x="1189" y="4482"/>
                <a:ext cx="4560" cy="3600"/>
                <a:chOff x="864" y="2784"/>
                <a:chExt cx="1824" cy="1440"/>
              </a:xfrm>
            </p:grpSpPr>
            <p:sp>
              <p:nvSpPr>
                <p:cNvPr id="34" name="Line 5"/>
                <p:cNvSpPr/>
                <p:nvPr/>
              </p:nvSpPr>
              <p:spPr>
                <a:xfrm flipH="1">
                  <a:off x="1488" y="2933"/>
                  <a:ext cx="576" cy="0"/>
                </a:xfrm>
                <a:prstGeom prst="line">
                  <a:avLst/>
                </a:prstGeom>
                <a:ln w="38100" cap="flat" cmpd="sng">
                  <a:solidFill>
                    <a:srgbClr val="009900"/>
                  </a:solidFill>
                  <a:prstDash val="solid"/>
                  <a:round/>
                  <a:headEnd type="none" w="med" len="med"/>
                  <a:tailEnd type="none" w="med" len="med"/>
                </a:ln>
              </p:spPr>
            </p:sp>
            <p:sp>
              <p:nvSpPr>
                <p:cNvPr id="35" name="Line 6"/>
                <p:cNvSpPr/>
                <p:nvPr/>
              </p:nvSpPr>
              <p:spPr>
                <a:xfrm>
                  <a:off x="2160" y="3029"/>
                  <a:ext cx="0" cy="960"/>
                </a:xfrm>
                <a:prstGeom prst="line">
                  <a:avLst/>
                </a:prstGeom>
                <a:ln w="38100" cap="flat" cmpd="sng">
                  <a:solidFill>
                    <a:schemeClr val="hlink"/>
                  </a:solidFill>
                  <a:prstDash val="solid"/>
                  <a:round/>
                  <a:headEnd type="none" w="med" len="med"/>
                  <a:tailEnd type="none" w="med" len="med"/>
                </a:ln>
              </p:spPr>
            </p:sp>
            <p:sp>
              <p:nvSpPr>
                <p:cNvPr id="36" name="Line 7"/>
                <p:cNvSpPr/>
                <p:nvPr/>
              </p:nvSpPr>
              <p:spPr>
                <a:xfrm>
                  <a:off x="2208" y="2981"/>
                  <a:ext cx="336" cy="480"/>
                </a:xfrm>
                <a:prstGeom prst="line">
                  <a:avLst/>
                </a:prstGeom>
                <a:ln w="38100" cap="flat" cmpd="sng">
                  <a:solidFill>
                    <a:srgbClr val="009900"/>
                  </a:solidFill>
                  <a:prstDash val="solid"/>
                  <a:round/>
                  <a:headEnd type="none" w="med" len="med"/>
                  <a:tailEnd type="none" w="med" len="med"/>
                </a:ln>
              </p:spPr>
            </p:sp>
            <p:sp>
              <p:nvSpPr>
                <p:cNvPr id="37" name="Line 10"/>
                <p:cNvSpPr/>
                <p:nvPr/>
              </p:nvSpPr>
              <p:spPr>
                <a:xfrm flipH="1" flipV="1">
                  <a:off x="1392" y="2981"/>
                  <a:ext cx="1104" cy="576"/>
                </a:xfrm>
                <a:prstGeom prst="line">
                  <a:avLst/>
                </a:prstGeom>
                <a:ln w="38100" cap="flat" cmpd="sng">
                  <a:solidFill>
                    <a:srgbClr val="009900"/>
                  </a:solidFill>
                  <a:prstDash val="solid"/>
                  <a:round/>
                  <a:headEnd type="none" w="med" len="med"/>
                  <a:tailEnd type="none" w="med" len="med"/>
                </a:ln>
              </p:spPr>
            </p:sp>
            <p:sp>
              <p:nvSpPr>
                <p:cNvPr id="38" name="Line 11"/>
                <p:cNvSpPr/>
                <p:nvPr/>
              </p:nvSpPr>
              <p:spPr>
                <a:xfrm flipH="1" flipV="1">
                  <a:off x="1008" y="3605"/>
                  <a:ext cx="288" cy="432"/>
                </a:xfrm>
                <a:prstGeom prst="line">
                  <a:avLst/>
                </a:prstGeom>
                <a:ln w="38100" cap="flat" cmpd="sng">
                  <a:solidFill>
                    <a:schemeClr val="hlink"/>
                  </a:solidFill>
                  <a:prstDash val="solid"/>
                  <a:round/>
                  <a:headEnd type="none" w="med" len="med"/>
                  <a:tailEnd type="none" w="med" len="med"/>
                </a:ln>
              </p:spPr>
            </p:sp>
            <p:sp>
              <p:nvSpPr>
                <p:cNvPr id="39" name="Line 14"/>
                <p:cNvSpPr/>
                <p:nvPr/>
              </p:nvSpPr>
              <p:spPr>
                <a:xfrm flipH="1">
                  <a:off x="2208" y="3605"/>
                  <a:ext cx="336" cy="480"/>
                </a:xfrm>
                <a:prstGeom prst="line">
                  <a:avLst/>
                </a:prstGeom>
                <a:ln w="38100" cap="flat" cmpd="sng">
                  <a:solidFill>
                    <a:srgbClr val="009900"/>
                  </a:solidFill>
                  <a:prstDash val="solid"/>
                  <a:round/>
                  <a:headEnd type="none" w="med" len="med"/>
                  <a:tailEnd type="none" w="med" len="med"/>
                </a:ln>
              </p:spPr>
            </p:sp>
            <p:grpSp>
              <p:nvGrpSpPr>
                <p:cNvPr id="40" name="Group 15"/>
                <p:cNvGrpSpPr/>
                <p:nvPr/>
              </p:nvGrpSpPr>
              <p:grpSpPr>
                <a:xfrm>
                  <a:off x="864" y="2784"/>
                  <a:ext cx="1824" cy="1440"/>
                  <a:chOff x="3648" y="2880"/>
                  <a:chExt cx="1824" cy="1440"/>
                </a:xfrm>
              </p:grpSpPr>
              <p:sp>
                <p:nvSpPr>
                  <p:cNvPr id="41" name="Oval 16"/>
                  <p:cNvSpPr/>
                  <p:nvPr/>
                </p:nvSpPr>
                <p:spPr>
                  <a:xfrm>
                    <a:off x="3984" y="2880"/>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42" name="Oval 17"/>
                  <p:cNvSpPr/>
                  <p:nvPr/>
                </p:nvSpPr>
                <p:spPr>
                  <a:xfrm>
                    <a:off x="3984"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43" name="Oval 18"/>
                  <p:cNvSpPr/>
                  <p:nvPr/>
                </p:nvSpPr>
                <p:spPr>
                  <a:xfrm>
                    <a:off x="3648" y="3456"/>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44" name="Oval 19"/>
                  <p:cNvSpPr/>
                  <p:nvPr/>
                </p:nvSpPr>
                <p:spPr>
                  <a:xfrm>
                    <a:off x="5184" y="350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5</a:t>
                    </a:r>
                    <a:endParaRPr lang="en-US" altLang="zh-CN" sz="2400" dirty="0">
                      <a:solidFill>
                        <a:schemeClr val="bg1"/>
                      </a:solidFill>
                      <a:latin typeface="Tahoma" panose="020B0604030504040204" charset="0"/>
                      <a:ea typeface="宋体" panose="02010600030101010101" pitchFamily="2" charset="-122"/>
                    </a:endParaRPr>
                  </a:p>
                </p:txBody>
              </p:sp>
              <p:sp>
                <p:nvSpPr>
                  <p:cNvPr id="45" name="Oval 20"/>
                  <p:cNvSpPr/>
                  <p:nvPr/>
                </p:nvSpPr>
                <p:spPr>
                  <a:xfrm>
                    <a:off x="4800" y="405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46" name="Oval 21"/>
                  <p:cNvSpPr/>
                  <p:nvPr/>
                </p:nvSpPr>
                <p:spPr>
                  <a:xfrm>
                    <a:off x="4800" y="288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grpSp>
          <p:sp>
            <p:nvSpPr>
              <p:cNvPr id="47" name="椭圆 46"/>
              <p:cNvSpPr/>
              <p:nvPr/>
            </p:nvSpPr>
            <p:spPr>
              <a:xfrm>
                <a:off x="755" y="4039"/>
                <a:ext cx="5670" cy="4763"/>
              </a:xfrm>
              <a:prstGeom prst="ellipse">
                <a:avLst/>
              </a:prstGeom>
              <a:noFill/>
              <a:ln w="12700" cap="flat" cmpd="sng" algn="ctr">
                <a:solidFill>
                  <a:srgbClr val="FF0000"/>
                </a:solidFill>
                <a:prstDash val="dashDot"/>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sp>
          <p:nvSpPr>
            <p:cNvPr id="21530" name="Text Box 100"/>
            <p:cNvSpPr txBox="1"/>
            <p:nvPr/>
          </p:nvSpPr>
          <p:spPr>
            <a:xfrm>
              <a:off x="12533" y="2524"/>
              <a:ext cx="4566" cy="725"/>
            </a:xfrm>
            <a:prstGeom prst="rect">
              <a:avLst/>
            </a:prstGeom>
            <a:noFill/>
            <a:ln w="9525">
              <a:noFill/>
            </a:ln>
          </p:spPr>
          <p:txBody>
            <a:bodyPr wrap="square" anchor="t" anchorCtr="0">
              <a:spAutoFit/>
            </a:bodyPr>
            <a:p>
              <a:pPr algn="ctr">
                <a:spcBef>
                  <a:spcPct val="50000"/>
                </a:spcBef>
              </a:pPr>
              <a:r>
                <a:rPr lang="zh-CN" altLang="en-US" sz="2400" b="1" dirty="0">
                  <a:latin typeface="Tahoma" panose="020B0604030504040204" charset="0"/>
                  <a:ea typeface="宋体" panose="02010600030101010101" pitchFamily="2" charset="-122"/>
                </a:rPr>
                <a:t>非连通</a:t>
              </a:r>
              <a:r>
                <a:rPr lang="zh-CN" altLang="en-US" sz="2400" b="1" dirty="0">
                  <a:latin typeface="Tahoma" panose="020B0604030504040204" charset="0"/>
                  <a:ea typeface="宋体" panose="02010600030101010101" pitchFamily="2" charset="-122"/>
                </a:rPr>
                <a:t>图</a:t>
              </a:r>
              <a:endParaRPr lang="zh-CN" altLang="en-US" sz="2400" b="1" dirty="0">
                <a:latin typeface="Tahoma" panose="020B0604030504040204" charset="0"/>
                <a:ea typeface="宋体" panose="02010600030101010101" pitchFamily="2" charset="-122"/>
              </a:endParaRPr>
            </a:p>
          </p:txBody>
        </p:sp>
      </p:grpSp>
      <p:grpSp>
        <p:nvGrpSpPr>
          <p:cNvPr id="50" name="组合 49"/>
          <p:cNvGrpSpPr/>
          <p:nvPr/>
        </p:nvGrpSpPr>
        <p:grpSpPr>
          <a:xfrm>
            <a:off x="479425" y="2832418"/>
            <a:ext cx="4785043" cy="2286000"/>
            <a:chOff x="755" y="4461"/>
            <a:chExt cx="7536" cy="3600"/>
          </a:xfrm>
        </p:grpSpPr>
        <p:grpSp>
          <p:nvGrpSpPr>
            <p:cNvPr id="7" name="Group 4"/>
            <p:cNvGrpSpPr/>
            <p:nvPr/>
          </p:nvGrpSpPr>
          <p:grpSpPr>
            <a:xfrm>
              <a:off x="3731" y="4461"/>
              <a:ext cx="4560" cy="3600"/>
              <a:chOff x="864" y="2784"/>
              <a:chExt cx="1824" cy="1440"/>
            </a:xfrm>
          </p:grpSpPr>
          <p:sp>
            <p:nvSpPr>
              <p:cNvPr id="13" name="Line 5"/>
              <p:cNvSpPr/>
              <p:nvPr/>
            </p:nvSpPr>
            <p:spPr>
              <a:xfrm flipH="1">
                <a:off x="1488" y="2933"/>
                <a:ext cx="576" cy="0"/>
              </a:xfrm>
              <a:prstGeom prst="line">
                <a:avLst/>
              </a:prstGeom>
              <a:ln w="38100" cap="flat" cmpd="sng">
                <a:solidFill>
                  <a:srgbClr val="009900"/>
                </a:solidFill>
                <a:prstDash val="solid"/>
                <a:round/>
                <a:headEnd type="none" w="med" len="med"/>
                <a:tailEnd type="none" w="med" len="med"/>
              </a:ln>
            </p:spPr>
          </p:sp>
          <p:sp>
            <p:nvSpPr>
              <p:cNvPr id="17" name="Line 6"/>
              <p:cNvSpPr/>
              <p:nvPr/>
            </p:nvSpPr>
            <p:spPr>
              <a:xfrm>
                <a:off x="2160" y="3029"/>
                <a:ext cx="0" cy="960"/>
              </a:xfrm>
              <a:prstGeom prst="line">
                <a:avLst/>
              </a:prstGeom>
              <a:ln w="38100" cap="flat" cmpd="sng">
                <a:solidFill>
                  <a:schemeClr val="hlink"/>
                </a:solidFill>
                <a:prstDash val="solid"/>
                <a:round/>
                <a:headEnd type="none" w="med" len="med"/>
                <a:tailEnd type="none" w="med" len="med"/>
              </a:ln>
            </p:spPr>
          </p:sp>
          <p:sp>
            <p:nvSpPr>
              <p:cNvPr id="18" name="Line 7"/>
              <p:cNvSpPr/>
              <p:nvPr/>
            </p:nvSpPr>
            <p:spPr>
              <a:xfrm>
                <a:off x="2208" y="2981"/>
                <a:ext cx="336" cy="480"/>
              </a:xfrm>
              <a:prstGeom prst="line">
                <a:avLst/>
              </a:prstGeom>
              <a:ln w="38100" cap="flat" cmpd="sng">
                <a:solidFill>
                  <a:srgbClr val="009900"/>
                </a:solidFill>
                <a:prstDash val="solid"/>
                <a:round/>
                <a:headEnd type="none" w="med" len="med"/>
                <a:tailEnd type="none" w="med" len="med"/>
              </a:ln>
            </p:spPr>
          </p:sp>
          <p:sp>
            <p:nvSpPr>
              <p:cNvPr id="23560" name="Line 8"/>
              <p:cNvSpPr/>
              <p:nvPr/>
            </p:nvSpPr>
            <p:spPr>
              <a:xfrm flipH="1">
                <a:off x="1056" y="2981"/>
                <a:ext cx="240" cy="432"/>
              </a:xfrm>
              <a:prstGeom prst="line">
                <a:avLst/>
              </a:prstGeom>
              <a:ln w="38100" cap="flat" cmpd="sng">
                <a:solidFill>
                  <a:srgbClr val="009900"/>
                </a:solidFill>
                <a:prstDash val="solid"/>
                <a:round/>
                <a:headEnd type="none" w="med" len="med"/>
                <a:tailEnd type="none" w="med" len="med"/>
              </a:ln>
            </p:spPr>
          </p:sp>
          <p:sp>
            <p:nvSpPr>
              <p:cNvPr id="23561" name="Line 9"/>
              <p:cNvSpPr/>
              <p:nvPr/>
            </p:nvSpPr>
            <p:spPr>
              <a:xfrm flipH="1" flipV="1">
                <a:off x="1344" y="3029"/>
                <a:ext cx="0" cy="1008"/>
              </a:xfrm>
              <a:prstGeom prst="line">
                <a:avLst/>
              </a:prstGeom>
              <a:ln w="38100" cap="flat" cmpd="sng">
                <a:solidFill>
                  <a:srgbClr val="009900"/>
                </a:solidFill>
                <a:prstDash val="solid"/>
                <a:round/>
                <a:headEnd type="none" w="med" len="med"/>
                <a:tailEnd type="none" w="med" len="med"/>
              </a:ln>
            </p:spPr>
          </p:sp>
          <p:sp>
            <p:nvSpPr>
              <p:cNvPr id="22" name="Line 10"/>
              <p:cNvSpPr/>
              <p:nvPr/>
            </p:nvSpPr>
            <p:spPr>
              <a:xfrm flipH="1" flipV="1">
                <a:off x="1392" y="2981"/>
                <a:ext cx="1104" cy="576"/>
              </a:xfrm>
              <a:prstGeom prst="line">
                <a:avLst/>
              </a:prstGeom>
              <a:ln w="38100" cap="flat" cmpd="sng">
                <a:solidFill>
                  <a:srgbClr val="009900"/>
                </a:solidFill>
                <a:prstDash val="solid"/>
                <a:round/>
                <a:headEnd type="none" w="med" len="med"/>
                <a:tailEnd type="none" w="med" len="med"/>
              </a:ln>
            </p:spPr>
          </p:sp>
          <p:sp>
            <p:nvSpPr>
              <p:cNvPr id="23" name="Line 11"/>
              <p:cNvSpPr/>
              <p:nvPr/>
            </p:nvSpPr>
            <p:spPr>
              <a:xfrm flipH="1" flipV="1">
                <a:off x="1008" y="3605"/>
                <a:ext cx="288" cy="432"/>
              </a:xfrm>
              <a:prstGeom prst="line">
                <a:avLst/>
              </a:prstGeom>
              <a:ln w="38100" cap="flat" cmpd="sng">
                <a:solidFill>
                  <a:schemeClr val="hlink"/>
                </a:solidFill>
                <a:prstDash val="solid"/>
                <a:round/>
                <a:headEnd type="none" w="med" len="med"/>
                <a:tailEnd type="none" w="med" len="med"/>
              </a:ln>
            </p:spPr>
          </p:sp>
          <p:sp>
            <p:nvSpPr>
              <p:cNvPr id="23564" name="Line 12"/>
              <p:cNvSpPr/>
              <p:nvPr/>
            </p:nvSpPr>
            <p:spPr>
              <a:xfrm flipH="1">
                <a:off x="1392" y="4085"/>
                <a:ext cx="720" cy="0"/>
              </a:xfrm>
              <a:prstGeom prst="line">
                <a:avLst/>
              </a:prstGeom>
              <a:ln w="38100" cap="flat" cmpd="sng">
                <a:solidFill>
                  <a:schemeClr val="hlink"/>
                </a:solidFill>
                <a:prstDash val="solid"/>
                <a:round/>
                <a:headEnd type="none" w="med" len="med"/>
                <a:tailEnd type="none" w="med" len="med"/>
              </a:ln>
            </p:spPr>
          </p:sp>
          <p:sp>
            <p:nvSpPr>
              <p:cNvPr id="23565" name="Line 13"/>
              <p:cNvSpPr/>
              <p:nvPr/>
            </p:nvSpPr>
            <p:spPr>
              <a:xfrm flipH="1">
                <a:off x="1440" y="3557"/>
                <a:ext cx="1056" cy="480"/>
              </a:xfrm>
              <a:prstGeom prst="line">
                <a:avLst/>
              </a:prstGeom>
              <a:ln w="38100" cap="flat" cmpd="sng">
                <a:solidFill>
                  <a:srgbClr val="009900"/>
                </a:solidFill>
                <a:prstDash val="solid"/>
                <a:round/>
                <a:headEnd type="none" w="med" len="med"/>
                <a:tailEnd type="none" w="med" len="med"/>
              </a:ln>
            </p:spPr>
          </p:sp>
          <p:sp>
            <p:nvSpPr>
              <p:cNvPr id="24" name="Line 14"/>
              <p:cNvSpPr/>
              <p:nvPr/>
            </p:nvSpPr>
            <p:spPr>
              <a:xfrm flipH="1">
                <a:off x="2208" y="3605"/>
                <a:ext cx="336" cy="480"/>
              </a:xfrm>
              <a:prstGeom prst="line">
                <a:avLst/>
              </a:prstGeom>
              <a:ln w="38100" cap="flat" cmpd="sng">
                <a:solidFill>
                  <a:srgbClr val="009900"/>
                </a:solidFill>
                <a:prstDash val="solid"/>
                <a:round/>
                <a:headEnd type="none" w="med" len="med"/>
                <a:tailEnd type="none" w="med" len="med"/>
              </a:ln>
            </p:spPr>
          </p:sp>
          <p:grpSp>
            <p:nvGrpSpPr>
              <p:cNvPr id="25" name="Group 15"/>
              <p:cNvGrpSpPr/>
              <p:nvPr/>
            </p:nvGrpSpPr>
            <p:grpSpPr>
              <a:xfrm>
                <a:off x="864" y="2784"/>
                <a:ext cx="1824" cy="1440"/>
                <a:chOff x="3648" y="2880"/>
                <a:chExt cx="1824" cy="1440"/>
              </a:xfrm>
            </p:grpSpPr>
            <p:sp>
              <p:nvSpPr>
                <p:cNvPr id="26" name="Oval 16"/>
                <p:cNvSpPr/>
                <p:nvPr/>
              </p:nvSpPr>
              <p:spPr>
                <a:xfrm>
                  <a:off x="3984" y="2880"/>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27" name="Oval 17"/>
                <p:cNvSpPr/>
                <p:nvPr/>
              </p:nvSpPr>
              <p:spPr>
                <a:xfrm>
                  <a:off x="3984"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28" name="Oval 18"/>
                <p:cNvSpPr/>
                <p:nvPr/>
              </p:nvSpPr>
              <p:spPr>
                <a:xfrm>
                  <a:off x="3648" y="3456"/>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29" name="Oval 19"/>
                <p:cNvSpPr/>
                <p:nvPr/>
              </p:nvSpPr>
              <p:spPr>
                <a:xfrm>
                  <a:off x="5184" y="350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5</a:t>
                  </a:r>
                  <a:endParaRPr lang="en-US" altLang="zh-CN" sz="2400" dirty="0">
                    <a:solidFill>
                      <a:schemeClr val="bg1"/>
                    </a:solidFill>
                    <a:latin typeface="Tahoma" panose="020B0604030504040204" charset="0"/>
                    <a:ea typeface="宋体" panose="02010600030101010101" pitchFamily="2" charset="-122"/>
                  </a:endParaRPr>
                </a:p>
              </p:txBody>
            </p:sp>
            <p:sp>
              <p:nvSpPr>
                <p:cNvPr id="30" name="Oval 20"/>
                <p:cNvSpPr/>
                <p:nvPr/>
              </p:nvSpPr>
              <p:spPr>
                <a:xfrm>
                  <a:off x="4800" y="405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31" name="Oval 21"/>
                <p:cNvSpPr/>
                <p:nvPr/>
              </p:nvSpPr>
              <p:spPr>
                <a:xfrm>
                  <a:off x="4800" y="288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grpSp>
        <p:sp>
          <p:nvSpPr>
            <p:cNvPr id="49" name="Text Box 100"/>
            <p:cNvSpPr txBox="1"/>
            <p:nvPr/>
          </p:nvSpPr>
          <p:spPr>
            <a:xfrm>
              <a:off x="755" y="5877"/>
              <a:ext cx="2949" cy="725"/>
            </a:xfrm>
            <a:prstGeom prst="rect">
              <a:avLst/>
            </a:prstGeom>
            <a:noFill/>
            <a:ln w="9525">
              <a:noFill/>
            </a:ln>
          </p:spPr>
          <p:txBody>
            <a:bodyPr wrap="square" anchor="t" anchorCtr="0">
              <a:spAutoFit/>
            </a:bodyPr>
            <a:p>
              <a:pPr algn="ctr">
                <a:spcBef>
                  <a:spcPct val="50000"/>
                </a:spcBef>
              </a:pPr>
              <a:r>
                <a:rPr lang="zh-CN" altLang="en-US" sz="2400" b="1" dirty="0">
                  <a:latin typeface="Tahoma" panose="020B0604030504040204" charset="0"/>
                  <a:ea typeface="宋体" panose="02010600030101010101" pitchFamily="2" charset="-122"/>
                </a:rPr>
                <a:t>连通</a:t>
              </a:r>
              <a:r>
                <a:rPr lang="zh-CN" altLang="en-US" sz="2400" b="1" dirty="0">
                  <a:latin typeface="Tahoma" panose="020B0604030504040204" charset="0"/>
                  <a:ea typeface="宋体" panose="02010600030101010101" pitchFamily="2" charset="-122"/>
                </a:rPr>
                <a:t>图</a:t>
              </a:r>
              <a:endParaRPr lang="zh-CN" altLang="en-US" sz="2400" b="1" dirty="0">
                <a:latin typeface="Tahoma" panose="020B0604030504040204" charset="0"/>
                <a:ea typeface="宋体" panose="02010600030101010101" pitchFamily="2" charset="-122"/>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有向图连通的</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术语</a:t>
            </a:r>
            <a:endPar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强连通：如果顶点</a:t>
            </a:r>
            <a:r>
              <a:rPr lang="en-US" altLang="zh-CN" sz="2400" dirty="0">
                <a:latin typeface="黑体" panose="02010609060101010101" pitchFamily="2" charset="-122"/>
                <a:ea typeface="黑体" panose="02010609060101010101" pitchFamily="2" charset="-122"/>
                <a:cs typeface="+mn-ea"/>
                <a:sym typeface="Symbol" panose="05050102010706020507" pitchFamily="18" charset="2"/>
              </a:rPr>
              <a:t>x</a:t>
            </a: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到</a:t>
            </a:r>
            <a:r>
              <a:rPr lang="en-US" altLang="zh-CN" sz="2400" dirty="0">
                <a:latin typeface="黑体" panose="02010609060101010101" pitchFamily="2" charset="-122"/>
                <a:ea typeface="黑体" panose="02010609060101010101" pitchFamily="2" charset="-122"/>
                <a:cs typeface="+mn-ea"/>
                <a:sym typeface="Symbol" panose="05050102010706020507" pitchFamily="18" charset="2"/>
              </a:rPr>
              <a:t>y</a:t>
            </a: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a:t>
            </a:r>
            <a:r>
              <a:rPr lang="en-US" altLang="zh-CN" sz="2400" dirty="0">
                <a:latin typeface="黑体" panose="02010609060101010101" pitchFamily="2" charset="-122"/>
                <a:ea typeface="黑体" panose="02010609060101010101" pitchFamily="2" charset="-122"/>
                <a:cs typeface="+mn-ea"/>
                <a:sym typeface="Symbol" panose="05050102010706020507" pitchFamily="18" charset="2"/>
              </a:rPr>
              <a:t>y</a:t>
            </a: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到</a:t>
            </a:r>
            <a:r>
              <a:rPr lang="en-US" altLang="zh-CN" sz="2400" dirty="0">
                <a:latin typeface="黑体" panose="02010609060101010101" pitchFamily="2" charset="-122"/>
                <a:ea typeface="黑体" panose="02010609060101010101" pitchFamily="2" charset="-122"/>
                <a:cs typeface="+mn-ea"/>
                <a:sym typeface="Symbol" panose="05050102010706020507" pitchFamily="18" charset="2"/>
              </a:rPr>
              <a:t>x</a:t>
            </a: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都存在路径，我们称顶点</a:t>
            </a:r>
            <a:r>
              <a:rPr lang="en-US" altLang="zh-CN" sz="2400" dirty="0">
                <a:latin typeface="黑体" panose="02010609060101010101" pitchFamily="2" charset="-122"/>
                <a:ea typeface="黑体" panose="02010609060101010101" pitchFamily="2" charset="-122"/>
                <a:cs typeface="+mn-ea"/>
                <a:sym typeface="Symbol" panose="05050102010706020507" pitchFamily="18" charset="2"/>
              </a:rPr>
              <a:t>x</a:t>
            </a: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和</a:t>
            </a:r>
            <a:r>
              <a:rPr lang="en-US" altLang="zh-CN" sz="2400" dirty="0">
                <a:latin typeface="黑体" panose="02010609060101010101" pitchFamily="2" charset="-122"/>
                <a:ea typeface="黑体" panose="02010609060101010101" pitchFamily="2" charset="-122"/>
                <a:cs typeface="+mn-ea"/>
                <a:sym typeface="Symbol" panose="05050102010706020507" pitchFamily="18" charset="2"/>
              </a:rPr>
              <a:t>y</a:t>
            </a: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是强连通</a:t>
            </a:r>
            <a:endParaRPr lang="zh-CN" altLang="en-US" sz="240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强连通分量：有向图中极大的</a:t>
            </a: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强连通子图</a:t>
            </a:r>
            <a:endParaRPr lang="zh-CN" altLang="en-US" sz="240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强连通图：有向图中任意两结点都存在路径</a:t>
            </a:r>
            <a:endParaRPr lang="zh-CN" altLang="en-US" sz="240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“强连通”概念往往用于有向图，强连通分量和强连通图都是用在有向图</a:t>
            </a: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7.1 图的定义和术语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7" name="Group 4"/>
          <p:cNvGrpSpPr/>
          <p:nvPr/>
        </p:nvGrpSpPr>
        <p:grpSpPr>
          <a:xfrm>
            <a:off x="1625600" y="3333750"/>
            <a:ext cx="2819400" cy="2913063"/>
            <a:chOff x="158" y="1752"/>
            <a:chExt cx="1776" cy="1835"/>
          </a:xfrm>
        </p:grpSpPr>
        <p:grpSp>
          <p:nvGrpSpPr>
            <p:cNvPr id="13" name="Group 5"/>
            <p:cNvGrpSpPr/>
            <p:nvPr/>
          </p:nvGrpSpPr>
          <p:grpSpPr>
            <a:xfrm>
              <a:off x="158" y="1752"/>
              <a:ext cx="1776" cy="1440"/>
              <a:chOff x="158" y="1752"/>
              <a:chExt cx="1776" cy="1440"/>
            </a:xfrm>
          </p:grpSpPr>
          <p:sp>
            <p:nvSpPr>
              <p:cNvPr id="17" name="Line 6"/>
              <p:cNvSpPr/>
              <p:nvPr/>
            </p:nvSpPr>
            <p:spPr>
              <a:xfrm>
                <a:off x="431" y="2341"/>
                <a:ext cx="1224" cy="0"/>
              </a:xfrm>
              <a:prstGeom prst="line">
                <a:avLst/>
              </a:prstGeom>
              <a:ln w="38100" cap="flat" cmpd="sng">
                <a:solidFill>
                  <a:srgbClr val="009900"/>
                </a:solidFill>
                <a:prstDash val="solid"/>
                <a:round/>
                <a:headEnd type="triangle" w="med" len="med"/>
                <a:tailEnd type="none" w="med" len="med"/>
              </a:ln>
            </p:spPr>
          </p:sp>
          <p:sp>
            <p:nvSpPr>
              <p:cNvPr id="18" name="Line 7"/>
              <p:cNvSpPr/>
              <p:nvPr/>
            </p:nvSpPr>
            <p:spPr>
              <a:xfrm>
                <a:off x="336" y="2427"/>
                <a:ext cx="222" cy="540"/>
              </a:xfrm>
              <a:prstGeom prst="line">
                <a:avLst/>
              </a:prstGeom>
              <a:ln w="38100" cap="flat" cmpd="sng">
                <a:solidFill>
                  <a:srgbClr val="009900"/>
                </a:solidFill>
                <a:prstDash val="solid"/>
                <a:round/>
                <a:headEnd type="none" w="med" len="med"/>
                <a:tailEnd type="triangle" w="med" len="med"/>
              </a:ln>
            </p:spPr>
          </p:sp>
          <p:sp>
            <p:nvSpPr>
              <p:cNvPr id="22" name="Line 8"/>
              <p:cNvSpPr/>
              <p:nvPr/>
            </p:nvSpPr>
            <p:spPr>
              <a:xfrm flipH="1">
                <a:off x="380" y="1887"/>
                <a:ext cx="622" cy="360"/>
              </a:xfrm>
              <a:prstGeom prst="line">
                <a:avLst/>
              </a:prstGeom>
              <a:ln w="38100" cap="flat" cmpd="sng">
                <a:solidFill>
                  <a:srgbClr val="009900"/>
                </a:solidFill>
                <a:prstDash val="solid"/>
                <a:round/>
                <a:headEnd type="none" w="med" len="med"/>
                <a:tailEnd type="triangle" w="med" len="med"/>
              </a:ln>
            </p:spPr>
          </p:sp>
          <p:sp>
            <p:nvSpPr>
              <p:cNvPr id="23" name="Line 9"/>
              <p:cNvSpPr/>
              <p:nvPr/>
            </p:nvSpPr>
            <p:spPr>
              <a:xfrm>
                <a:off x="1080" y="1965"/>
                <a:ext cx="360" cy="945"/>
              </a:xfrm>
              <a:prstGeom prst="line">
                <a:avLst/>
              </a:prstGeom>
              <a:ln w="38100" cap="flat" cmpd="sng">
                <a:solidFill>
                  <a:srgbClr val="009900"/>
                </a:solidFill>
                <a:prstDash val="solid"/>
                <a:round/>
                <a:headEnd type="triangle" w="med" len="med"/>
                <a:tailEnd type="none" w="med" len="med"/>
              </a:ln>
            </p:spPr>
          </p:sp>
          <p:sp>
            <p:nvSpPr>
              <p:cNvPr id="25" name="Line 10"/>
              <p:cNvSpPr/>
              <p:nvPr/>
            </p:nvSpPr>
            <p:spPr>
              <a:xfrm>
                <a:off x="748" y="3067"/>
                <a:ext cx="590" cy="0"/>
              </a:xfrm>
              <a:prstGeom prst="line">
                <a:avLst/>
              </a:prstGeom>
              <a:ln w="38100" cap="flat" cmpd="sng">
                <a:solidFill>
                  <a:srgbClr val="009900"/>
                </a:solidFill>
                <a:prstDash val="solid"/>
                <a:round/>
                <a:headEnd type="none" w="med" len="med"/>
                <a:tailEnd type="triangle" w="med" len="med"/>
              </a:ln>
            </p:spPr>
          </p:sp>
          <p:sp>
            <p:nvSpPr>
              <p:cNvPr id="26" name="Line 11"/>
              <p:cNvSpPr/>
              <p:nvPr/>
            </p:nvSpPr>
            <p:spPr>
              <a:xfrm flipH="1">
                <a:off x="1519" y="2478"/>
                <a:ext cx="237" cy="504"/>
              </a:xfrm>
              <a:prstGeom prst="line">
                <a:avLst/>
              </a:prstGeom>
              <a:ln w="38100" cap="flat" cmpd="sng">
                <a:solidFill>
                  <a:srgbClr val="009900"/>
                </a:solidFill>
                <a:prstDash val="solid"/>
                <a:round/>
                <a:headEnd type="triangle" w="med" len="med"/>
                <a:tailEnd type="none" w="med" len="med"/>
              </a:ln>
            </p:spPr>
          </p:sp>
          <p:sp>
            <p:nvSpPr>
              <p:cNvPr id="27" name="Oval 12"/>
              <p:cNvSpPr/>
              <p:nvPr/>
            </p:nvSpPr>
            <p:spPr>
              <a:xfrm>
                <a:off x="158" y="2202"/>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28" name="Oval 13"/>
              <p:cNvSpPr/>
              <p:nvPr/>
            </p:nvSpPr>
            <p:spPr>
              <a:xfrm>
                <a:off x="1357" y="2938"/>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30" name="Oval 14"/>
              <p:cNvSpPr/>
              <p:nvPr/>
            </p:nvSpPr>
            <p:spPr>
              <a:xfrm>
                <a:off x="469" y="2938"/>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32" name="Oval 15"/>
              <p:cNvSpPr/>
              <p:nvPr/>
            </p:nvSpPr>
            <p:spPr>
              <a:xfrm>
                <a:off x="1668" y="2247"/>
                <a:ext cx="266" cy="253"/>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35" name="Oval 16"/>
              <p:cNvSpPr/>
              <p:nvPr/>
            </p:nvSpPr>
            <p:spPr>
              <a:xfrm>
                <a:off x="913" y="1752"/>
                <a:ext cx="266" cy="253"/>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sp>
          <p:nvSpPr>
            <p:cNvPr id="36" name="Text Box 17"/>
            <p:cNvSpPr txBox="1"/>
            <p:nvPr/>
          </p:nvSpPr>
          <p:spPr>
            <a:xfrm>
              <a:off x="683" y="3297"/>
              <a:ext cx="1008" cy="290"/>
            </a:xfrm>
            <a:prstGeom prst="rect">
              <a:avLst/>
            </a:prstGeom>
            <a:noFill/>
            <a:ln w="9525">
              <a:noFill/>
            </a:ln>
          </p:spPr>
          <p:txBody>
            <a:bodyPr anchor="t" anchorCtr="0">
              <a:spAutoFit/>
            </a:bodyPr>
            <a:p>
              <a:pPr algn="ctr">
                <a:spcBef>
                  <a:spcPct val="50000"/>
                </a:spcBef>
              </a:pPr>
              <a:r>
                <a:rPr lang="zh-CN" altLang="en-US" sz="2400" b="1" dirty="0">
                  <a:latin typeface="Tahoma" panose="020B0604030504040204" charset="0"/>
                  <a:ea typeface="宋体" panose="02010600030101010101" pitchFamily="2" charset="-122"/>
                </a:rPr>
                <a:t>强连通图</a:t>
              </a:r>
              <a:endParaRPr lang="zh-CN" altLang="en-US" sz="2400" b="1" dirty="0">
                <a:latin typeface="Tahoma" panose="020B0604030504040204" charset="0"/>
                <a:ea typeface="宋体" panose="02010600030101010101" pitchFamily="2" charset="-122"/>
              </a:endParaRPr>
            </a:p>
          </p:txBody>
        </p:sp>
      </p:grpSp>
      <p:grpSp>
        <p:nvGrpSpPr>
          <p:cNvPr id="37" name="组合 36"/>
          <p:cNvGrpSpPr/>
          <p:nvPr/>
        </p:nvGrpSpPr>
        <p:grpSpPr>
          <a:xfrm>
            <a:off x="4943475" y="3357880"/>
            <a:ext cx="2818130" cy="2839085"/>
            <a:chOff x="7785" y="5288"/>
            <a:chExt cx="4438" cy="4471"/>
          </a:xfrm>
        </p:grpSpPr>
        <p:sp>
          <p:nvSpPr>
            <p:cNvPr id="22556" name="Text Box 29"/>
            <p:cNvSpPr txBox="1"/>
            <p:nvPr/>
          </p:nvSpPr>
          <p:spPr>
            <a:xfrm>
              <a:off x="9098" y="9035"/>
              <a:ext cx="2520" cy="725"/>
            </a:xfrm>
            <a:prstGeom prst="rect">
              <a:avLst/>
            </a:prstGeom>
            <a:noFill/>
            <a:ln w="9525">
              <a:noFill/>
            </a:ln>
          </p:spPr>
          <p:txBody>
            <a:bodyPr anchor="t" anchorCtr="0">
              <a:spAutoFit/>
            </a:bodyPr>
            <a:p>
              <a:pPr algn="ctr">
                <a:spcBef>
                  <a:spcPct val="50000"/>
                </a:spcBef>
              </a:pPr>
              <a:r>
                <a:rPr lang="zh-CN" altLang="en-US" sz="2400" b="1" dirty="0">
                  <a:latin typeface="Tahoma" panose="020B0604030504040204" charset="0"/>
                  <a:ea typeface="宋体" panose="02010600030101010101" pitchFamily="2" charset="-122"/>
                </a:rPr>
                <a:t>非连通图</a:t>
              </a:r>
              <a:endParaRPr lang="zh-CN" altLang="en-US" sz="2400" b="1" dirty="0">
                <a:latin typeface="Tahoma" panose="020B0604030504040204" charset="0"/>
                <a:ea typeface="宋体" panose="02010600030101010101" pitchFamily="2" charset="-122"/>
              </a:endParaRPr>
            </a:p>
          </p:txBody>
        </p:sp>
        <p:grpSp>
          <p:nvGrpSpPr>
            <p:cNvPr id="38" name="组合 37"/>
            <p:cNvGrpSpPr/>
            <p:nvPr/>
          </p:nvGrpSpPr>
          <p:grpSpPr>
            <a:xfrm>
              <a:off x="7785" y="5288"/>
              <a:ext cx="4439" cy="3599"/>
              <a:chOff x="7785" y="5288"/>
              <a:chExt cx="4439" cy="3599"/>
            </a:xfrm>
          </p:grpSpPr>
          <p:sp>
            <p:nvSpPr>
              <p:cNvPr id="22546" name="Line 19"/>
              <p:cNvSpPr/>
              <p:nvPr/>
            </p:nvSpPr>
            <p:spPr>
              <a:xfrm flipH="1">
                <a:off x="9038" y="5963"/>
                <a:ext cx="1125" cy="2362"/>
              </a:xfrm>
              <a:prstGeom prst="line">
                <a:avLst/>
              </a:prstGeom>
              <a:ln w="38100" cap="flat" cmpd="sng">
                <a:solidFill>
                  <a:srgbClr val="009900"/>
                </a:solidFill>
                <a:prstDash val="solid"/>
                <a:round/>
                <a:headEnd type="triangle" w="med" len="med"/>
                <a:tailEnd type="none" w="med" len="med"/>
              </a:ln>
            </p:spPr>
          </p:sp>
          <p:sp>
            <p:nvSpPr>
              <p:cNvPr id="22547" name="Line 20"/>
              <p:cNvSpPr/>
              <p:nvPr/>
            </p:nvSpPr>
            <p:spPr>
              <a:xfrm>
                <a:off x="8230" y="6975"/>
                <a:ext cx="555" cy="1350"/>
              </a:xfrm>
              <a:prstGeom prst="line">
                <a:avLst/>
              </a:prstGeom>
              <a:ln w="38100" cap="flat" cmpd="sng">
                <a:solidFill>
                  <a:srgbClr val="009900"/>
                </a:solidFill>
                <a:prstDash val="solid"/>
                <a:round/>
                <a:headEnd type="none" w="med" len="med"/>
                <a:tailEnd type="triangle" w="med" len="med"/>
              </a:ln>
            </p:spPr>
          </p:sp>
          <p:sp>
            <p:nvSpPr>
              <p:cNvPr id="39" name="Line 21"/>
              <p:cNvSpPr/>
              <p:nvPr/>
            </p:nvSpPr>
            <p:spPr>
              <a:xfrm flipH="1">
                <a:off x="8340" y="5625"/>
                <a:ext cx="1555" cy="900"/>
              </a:xfrm>
              <a:prstGeom prst="line">
                <a:avLst/>
              </a:prstGeom>
              <a:ln w="38100" cap="flat" cmpd="sng">
                <a:solidFill>
                  <a:srgbClr val="009900"/>
                </a:solidFill>
                <a:prstDash val="solid"/>
                <a:round/>
                <a:headEnd type="none" w="med" len="med"/>
                <a:tailEnd type="triangle" w="med" len="med"/>
              </a:ln>
            </p:spPr>
          </p:sp>
          <p:sp>
            <p:nvSpPr>
              <p:cNvPr id="22549" name="Line 22"/>
              <p:cNvSpPr/>
              <p:nvPr/>
            </p:nvSpPr>
            <p:spPr>
              <a:xfrm flipH="1">
                <a:off x="9118" y="8550"/>
                <a:ext cx="1665" cy="0"/>
              </a:xfrm>
              <a:prstGeom prst="line">
                <a:avLst/>
              </a:prstGeom>
              <a:ln w="38100" cap="flat" cmpd="sng">
                <a:solidFill>
                  <a:srgbClr val="009900"/>
                </a:solidFill>
                <a:prstDash val="solid"/>
                <a:round/>
                <a:headEnd type="none" w="med" len="med"/>
                <a:tailEnd type="triangle" w="med" len="med"/>
              </a:ln>
            </p:spPr>
          </p:sp>
          <p:sp>
            <p:nvSpPr>
              <p:cNvPr id="22550" name="Line 23"/>
              <p:cNvSpPr/>
              <p:nvPr/>
            </p:nvSpPr>
            <p:spPr>
              <a:xfrm flipH="1">
                <a:off x="11063" y="6975"/>
                <a:ext cx="595" cy="1350"/>
              </a:xfrm>
              <a:prstGeom prst="line">
                <a:avLst/>
              </a:prstGeom>
              <a:ln w="38100" cap="flat" cmpd="sng">
                <a:solidFill>
                  <a:srgbClr val="009900"/>
                </a:solidFill>
                <a:prstDash val="solid"/>
                <a:round/>
                <a:headEnd type="triangle" w="med" len="med"/>
                <a:tailEnd type="none" w="med" len="med"/>
              </a:ln>
            </p:spPr>
          </p:sp>
          <p:sp>
            <p:nvSpPr>
              <p:cNvPr id="22551" name="Oval 24"/>
              <p:cNvSpPr/>
              <p:nvPr/>
            </p:nvSpPr>
            <p:spPr>
              <a:xfrm>
                <a:off x="7785" y="6413"/>
                <a:ext cx="665" cy="635"/>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22552" name="Oval 25"/>
              <p:cNvSpPr/>
              <p:nvPr/>
            </p:nvSpPr>
            <p:spPr>
              <a:xfrm>
                <a:off x="10783" y="8253"/>
                <a:ext cx="665" cy="635"/>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22553" name="Oval 26"/>
              <p:cNvSpPr/>
              <p:nvPr/>
            </p:nvSpPr>
            <p:spPr>
              <a:xfrm>
                <a:off x="8563" y="8253"/>
                <a:ext cx="665" cy="635"/>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22554" name="Oval 27"/>
              <p:cNvSpPr/>
              <p:nvPr/>
            </p:nvSpPr>
            <p:spPr>
              <a:xfrm>
                <a:off x="11560" y="6525"/>
                <a:ext cx="665" cy="633"/>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22555" name="Oval 28"/>
              <p:cNvSpPr/>
              <p:nvPr/>
            </p:nvSpPr>
            <p:spPr>
              <a:xfrm>
                <a:off x="9673" y="5288"/>
                <a:ext cx="665" cy="632"/>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sp>
            <p:nvSpPr>
              <p:cNvPr id="22569" name="Line 23"/>
              <p:cNvSpPr/>
              <p:nvPr/>
            </p:nvSpPr>
            <p:spPr>
              <a:xfrm flipV="1">
                <a:off x="11288" y="7200"/>
                <a:ext cx="562" cy="1238"/>
              </a:xfrm>
              <a:prstGeom prst="line">
                <a:avLst/>
              </a:prstGeom>
              <a:ln w="38100" cap="flat" cmpd="sng">
                <a:solidFill>
                  <a:srgbClr val="009900"/>
                </a:solidFill>
                <a:prstDash val="solid"/>
                <a:round/>
                <a:headEnd type="triangle" w="med" len="med"/>
                <a:tailEnd type="none" w="med" len="med"/>
              </a:ln>
            </p:spPr>
          </p:sp>
        </p:grpSp>
      </p:grpSp>
      <p:grpSp>
        <p:nvGrpSpPr>
          <p:cNvPr id="40" name="组合 39"/>
          <p:cNvGrpSpPr/>
          <p:nvPr/>
        </p:nvGrpSpPr>
        <p:grpSpPr>
          <a:xfrm>
            <a:off x="8112125" y="3429000"/>
            <a:ext cx="2355850" cy="2764790"/>
            <a:chOff x="12775" y="5400"/>
            <a:chExt cx="3710" cy="4354"/>
          </a:xfrm>
        </p:grpSpPr>
        <p:sp>
          <p:nvSpPr>
            <p:cNvPr id="22568" name="Text Box 40"/>
            <p:cNvSpPr txBox="1"/>
            <p:nvPr/>
          </p:nvSpPr>
          <p:spPr>
            <a:xfrm>
              <a:off x="13230" y="9030"/>
              <a:ext cx="3060" cy="725"/>
            </a:xfrm>
            <a:prstGeom prst="rect">
              <a:avLst/>
            </a:prstGeom>
            <a:noFill/>
            <a:ln w="9525">
              <a:noFill/>
            </a:ln>
          </p:spPr>
          <p:txBody>
            <a:bodyPr anchor="t" anchorCtr="0">
              <a:spAutoFit/>
            </a:bodyPr>
            <a:p>
              <a:pPr algn="ctr">
                <a:spcBef>
                  <a:spcPct val="50000"/>
                </a:spcBef>
              </a:pPr>
              <a:r>
                <a:rPr lang="zh-CN" altLang="en-US" sz="2400" b="1" dirty="0">
                  <a:latin typeface="Tahoma" panose="020B0604030504040204" charset="0"/>
                  <a:ea typeface="宋体" panose="02010600030101010101" pitchFamily="2" charset="-122"/>
                </a:rPr>
                <a:t>强连通分量</a:t>
              </a:r>
              <a:endParaRPr lang="zh-CN" altLang="en-US" sz="2400" b="1" dirty="0">
                <a:latin typeface="Tahoma" panose="020B0604030504040204" charset="0"/>
                <a:ea typeface="宋体" panose="02010600030101010101" pitchFamily="2" charset="-122"/>
              </a:endParaRPr>
            </a:p>
          </p:txBody>
        </p:sp>
        <p:grpSp>
          <p:nvGrpSpPr>
            <p:cNvPr id="41" name="组合 40"/>
            <p:cNvGrpSpPr/>
            <p:nvPr/>
          </p:nvGrpSpPr>
          <p:grpSpPr>
            <a:xfrm>
              <a:off x="12775" y="5400"/>
              <a:ext cx="3710" cy="3600"/>
              <a:chOff x="12775" y="5400"/>
              <a:chExt cx="3710" cy="3600"/>
            </a:xfrm>
          </p:grpSpPr>
          <p:sp>
            <p:nvSpPr>
              <p:cNvPr id="22570" name="Line 23"/>
              <p:cNvSpPr/>
              <p:nvPr/>
            </p:nvSpPr>
            <p:spPr>
              <a:xfrm flipV="1">
                <a:off x="15675" y="7088"/>
                <a:ext cx="563" cy="1237"/>
              </a:xfrm>
              <a:prstGeom prst="line">
                <a:avLst/>
              </a:prstGeom>
              <a:ln w="38100" cap="flat" cmpd="sng">
                <a:solidFill>
                  <a:srgbClr val="009900"/>
                </a:solidFill>
                <a:prstDash val="solid"/>
                <a:round/>
                <a:headEnd type="triangle" w="med" len="med"/>
                <a:tailEnd type="none" w="med" len="med"/>
              </a:ln>
            </p:spPr>
          </p:sp>
          <p:grpSp>
            <p:nvGrpSpPr>
              <p:cNvPr id="42" name="组合 41"/>
              <p:cNvGrpSpPr/>
              <p:nvPr/>
            </p:nvGrpSpPr>
            <p:grpSpPr>
              <a:xfrm>
                <a:off x="12775" y="5400"/>
                <a:ext cx="3710" cy="3600"/>
                <a:chOff x="12775" y="5400"/>
                <a:chExt cx="3710" cy="3600"/>
              </a:xfrm>
            </p:grpSpPr>
            <p:grpSp>
              <p:nvGrpSpPr>
                <p:cNvPr id="22557" name="组合 41"/>
                <p:cNvGrpSpPr/>
                <p:nvPr/>
              </p:nvGrpSpPr>
              <p:grpSpPr>
                <a:xfrm>
                  <a:off x="12775" y="5400"/>
                  <a:ext cx="3710" cy="3600"/>
                  <a:chOff x="6588125" y="3284538"/>
                  <a:chExt cx="2355850" cy="2286000"/>
                </a:xfrm>
              </p:grpSpPr>
              <p:grpSp>
                <p:nvGrpSpPr>
                  <p:cNvPr id="22558" name="Group 30"/>
                  <p:cNvGrpSpPr/>
                  <p:nvPr/>
                </p:nvGrpSpPr>
                <p:grpSpPr>
                  <a:xfrm>
                    <a:off x="8027988" y="3933825"/>
                    <a:ext cx="915987" cy="1500188"/>
                    <a:chOff x="5012" y="2558"/>
                    <a:chExt cx="577" cy="945"/>
                  </a:xfrm>
                </p:grpSpPr>
                <p:sp>
                  <p:nvSpPr>
                    <p:cNvPr id="22559" name="Line 31"/>
                    <p:cNvSpPr/>
                    <p:nvPr/>
                  </p:nvSpPr>
                  <p:spPr>
                    <a:xfrm flipH="1">
                      <a:off x="5173" y="2783"/>
                      <a:ext cx="238" cy="459"/>
                    </a:xfrm>
                    <a:prstGeom prst="line">
                      <a:avLst/>
                    </a:prstGeom>
                    <a:ln w="38100" cap="flat" cmpd="sng">
                      <a:solidFill>
                        <a:srgbClr val="009900"/>
                      </a:solidFill>
                      <a:prstDash val="solid"/>
                      <a:round/>
                      <a:headEnd type="triangle" w="med" len="med"/>
                      <a:tailEnd type="none" w="med" len="med"/>
                    </a:ln>
                  </p:spPr>
                </p:sp>
                <p:sp>
                  <p:nvSpPr>
                    <p:cNvPr id="22560" name="Oval 32"/>
                    <p:cNvSpPr/>
                    <p:nvPr/>
                  </p:nvSpPr>
                  <p:spPr>
                    <a:xfrm>
                      <a:off x="5012" y="3249"/>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22561" name="Oval 33"/>
                    <p:cNvSpPr/>
                    <p:nvPr/>
                  </p:nvSpPr>
                  <p:spPr>
                    <a:xfrm>
                      <a:off x="5323" y="2558"/>
                      <a:ext cx="266" cy="253"/>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grpSp>
              <p:grpSp>
                <p:nvGrpSpPr>
                  <p:cNvPr id="22562" name="Group 34"/>
                  <p:cNvGrpSpPr/>
                  <p:nvPr/>
                </p:nvGrpSpPr>
                <p:grpSpPr>
                  <a:xfrm>
                    <a:off x="6588125" y="3284538"/>
                    <a:ext cx="1692275" cy="2286000"/>
                    <a:chOff x="4030" y="1797"/>
                    <a:chExt cx="1066" cy="1440"/>
                  </a:xfrm>
                </p:grpSpPr>
                <p:sp>
                  <p:nvSpPr>
                    <p:cNvPr id="22563" name="Line 35"/>
                    <p:cNvSpPr/>
                    <p:nvPr/>
                  </p:nvSpPr>
                  <p:spPr>
                    <a:xfrm>
                      <a:off x="4208" y="2472"/>
                      <a:ext cx="222" cy="540"/>
                    </a:xfrm>
                    <a:prstGeom prst="line">
                      <a:avLst/>
                    </a:prstGeom>
                    <a:ln w="38100" cap="flat" cmpd="sng">
                      <a:solidFill>
                        <a:srgbClr val="009900"/>
                      </a:solidFill>
                      <a:prstDash val="solid"/>
                      <a:round/>
                      <a:headEnd type="none" w="med" len="med"/>
                      <a:tailEnd type="triangle" w="med" len="med"/>
                    </a:ln>
                  </p:spPr>
                </p:sp>
                <p:sp>
                  <p:nvSpPr>
                    <p:cNvPr id="22564" name="Oval 36"/>
                    <p:cNvSpPr/>
                    <p:nvPr/>
                  </p:nvSpPr>
                  <p:spPr>
                    <a:xfrm>
                      <a:off x="4030" y="2247"/>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22565" name="Oval 37"/>
                    <p:cNvSpPr/>
                    <p:nvPr/>
                  </p:nvSpPr>
                  <p:spPr>
                    <a:xfrm>
                      <a:off x="4341" y="2983"/>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22566" name="Oval 38"/>
                    <p:cNvSpPr/>
                    <p:nvPr/>
                  </p:nvSpPr>
                  <p:spPr>
                    <a:xfrm>
                      <a:off x="4830" y="1797"/>
                      <a:ext cx="266" cy="253"/>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sp>
                  <p:nvSpPr>
                    <p:cNvPr id="22567" name="Line 39"/>
                    <p:cNvSpPr/>
                    <p:nvPr/>
                  </p:nvSpPr>
                  <p:spPr>
                    <a:xfrm flipH="1">
                      <a:off x="4241" y="1979"/>
                      <a:ext cx="622" cy="360"/>
                    </a:xfrm>
                    <a:prstGeom prst="line">
                      <a:avLst/>
                    </a:prstGeom>
                    <a:ln w="38100" cap="flat" cmpd="sng">
                      <a:solidFill>
                        <a:srgbClr val="009900"/>
                      </a:solidFill>
                      <a:prstDash val="solid"/>
                      <a:round/>
                      <a:headEnd type="none" w="med" len="med"/>
                      <a:tailEnd type="triangle" w="med" len="med"/>
                    </a:ln>
                  </p:spPr>
                </p:sp>
              </p:grpSp>
            </p:grpSp>
            <p:sp>
              <p:nvSpPr>
                <p:cNvPr id="22571" name="Line 19"/>
                <p:cNvSpPr/>
                <p:nvPr/>
              </p:nvSpPr>
              <p:spPr>
                <a:xfrm flipH="1">
                  <a:off x="13875" y="5963"/>
                  <a:ext cx="1125" cy="2362"/>
                </a:xfrm>
                <a:prstGeom prst="line">
                  <a:avLst/>
                </a:prstGeom>
                <a:ln w="38100" cap="flat" cmpd="sng">
                  <a:solidFill>
                    <a:srgbClr val="009900"/>
                  </a:solidFill>
                  <a:prstDash val="solid"/>
                  <a:round/>
                  <a:headEnd type="triangle" w="med" len="med"/>
                  <a:tailEnd type="none" w="med" len="med"/>
                </a:ln>
              </p:spPr>
            </p:sp>
          </p:grpSp>
        </p:gr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lvl="0"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设无向图G=(V,E)，其中V={a,b,c,d,e,f}， E={(a,b),(a,d),(b,c),(c,d),(e,f)}</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判断该图是否为连通图，画出连通分量</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lvl="0"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设一有向图G=(V,E)，其中V={a,b,c,d,e} ， E={&lt;a,b&gt;, &lt;a,d&gt;, &lt;b,c&gt;, &lt;b,e&gt;, &lt;c,d&gt;, &lt;c,e&gt;, &lt;d,e&gt;, &lt;d,b&gt;,&lt;e,a&gt;,&lt;e,c&gt;}</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画出a到c的所有简单路径、</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判断该图是否为强连通图，画出</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强</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连通分量</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lvl="0"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有一图G=(V,E)，其中V={a,b,c,d,e} ， E={&lt;a,b,3&gt;, &lt;a,d,4&gt;, &lt;b,a,3&gt;, &lt;c,b,2&gt;, &lt;c,d,5&gt;, &lt;d,e,12&gt;,&lt;e,a,27&gt;, &lt;e,b,9&gt;, &lt;e,c,6&gt;}</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请找出d到a的最短路径</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hangingPunct="1">
              <a:buFont typeface="Wingdings" panose="05000000000000000000" pitchFamily="2" charset="2"/>
              <a:buChar char="•"/>
            </a:pPr>
            <a:endParaRPr lang="en-US" altLang="zh-CN" sz="2800" dirty="0">
              <a:latin typeface="宋体" panose="02010600030101010101" pitchFamily="2" charset="-122"/>
            </a:endParaRPr>
          </a:p>
          <a:p>
            <a:endParaRPr lang="zh-CN" altLang="en-US">
              <a:latin typeface="黑体" panose="02010609060101010101" pitchFamily="2" charset="-122"/>
              <a:ea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一个非连通图包含多个连通分量，每个连通分量的</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生成树是一个极小连通子图，它含有图中全部n个顶点，但只有足以构成一棵树的n-1条边</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生成树概念：一个连通分量的极小连通子图，即尽可能多的点含尽可能少的边</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生成树往往用于无向图，生成森林往往用于有向图</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7.1 图的定义和术语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无</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向图的生成</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树：</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一棵有n个顶点的生成树有且仅有n-1条边</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如果</a:t>
            </a:r>
            <a:r>
              <a:rPr lang="zh-CN" altLang="en-US" dirty="0">
                <a:latin typeface="黑体" panose="02010609060101010101" pitchFamily="2" charset="-122"/>
                <a:ea typeface="黑体" panose="02010609060101010101" pitchFamily="2" charset="-122"/>
                <a:cs typeface="+mn-ea"/>
                <a:sym typeface="+mn-ea"/>
              </a:rPr>
              <a:t>一个图有n个顶点和</a:t>
            </a:r>
            <a:r>
              <a:rPr lang="zh-CN" altLang="en-US" dirty="0">
                <a:latin typeface="黑体" panose="02010609060101010101" pitchFamily="2" charset="-122"/>
                <a:ea typeface="黑体" panose="02010609060101010101" pitchFamily="2" charset="-122"/>
                <a:cs typeface="+mn-ea"/>
                <a:sym typeface="+mn-ea"/>
              </a:rPr>
              <a:t>多于n-1条边，则一定有环</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连通图只包含一个连通分量，因此只有一棵</a:t>
            </a:r>
            <a:r>
              <a:rPr lang="zh-CN" altLang="en-US" dirty="0">
                <a:latin typeface="黑体" panose="02010609060101010101" pitchFamily="2" charset="-122"/>
                <a:ea typeface="黑体" panose="02010609060101010101" pitchFamily="2" charset="-122"/>
                <a:cs typeface="+mn-ea"/>
                <a:sym typeface="+mn-ea"/>
              </a:rPr>
              <a:t>生成树</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7.1 图的定义和术语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25604" name="Group 31"/>
          <p:cNvGrpSpPr/>
          <p:nvPr/>
        </p:nvGrpSpPr>
        <p:grpSpPr>
          <a:xfrm>
            <a:off x="8633143" y="1176020"/>
            <a:ext cx="2895600" cy="2286000"/>
            <a:chOff x="864" y="2784"/>
            <a:chExt cx="1824" cy="1440"/>
          </a:xfrm>
        </p:grpSpPr>
        <p:sp>
          <p:nvSpPr>
            <p:cNvPr id="25605" name="Line 32"/>
            <p:cNvSpPr/>
            <p:nvPr/>
          </p:nvSpPr>
          <p:spPr>
            <a:xfrm flipH="1">
              <a:off x="1488" y="2933"/>
              <a:ext cx="576" cy="0"/>
            </a:xfrm>
            <a:prstGeom prst="line">
              <a:avLst/>
            </a:prstGeom>
            <a:ln w="38100" cap="flat" cmpd="sng">
              <a:solidFill>
                <a:srgbClr val="009900"/>
              </a:solidFill>
              <a:prstDash val="solid"/>
              <a:round/>
              <a:headEnd type="none" w="med" len="med"/>
              <a:tailEnd type="none" w="med" len="med"/>
            </a:ln>
          </p:spPr>
        </p:sp>
        <p:sp>
          <p:nvSpPr>
            <p:cNvPr id="25606" name="Line 33"/>
            <p:cNvSpPr/>
            <p:nvPr/>
          </p:nvSpPr>
          <p:spPr>
            <a:xfrm>
              <a:off x="2160" y="3029"/>
              <a:ext cx="0" cy="960"/>
            </a:xfrm>
            <a:prstGeom prst="line">
              <a:avLst/>
            </a:prstGeom>
            <a:ln w="38100" cap="flat" cmpd="sng">
              <a:solidFill>
                <a:schemeClr val="hlink"/>
              </a:solidFill>
              <a:prstDash val="solid"/>
              <a:round/>
              <a:headEnd type="none" w="med" len="med"/>
              <a:tailEnd type="none" w="med" len="med"/>
            </a:ln>
          </p:spPr>
        </p:sp>
        <p:sp>
          <p:nvSpPr>
            <p:cNvPr id="25607" name="Line 34"/>
            <p:cNvSpPr/>
            <p:nvPr/>
          </p:nvSpPr>
          <p:spPr>
            <a:xfrm>
              <a:off x="2208" y="2981"/>
              <a:ext cx="336" cy="480"/>
            </a:xfrm>
            <a:prstGeom prst="line">
              <a:avLst/>
            </a:prstGeom>
            <a:ln w="38100" cap="flat" cmpd="sng">
              <a:solidFill>
                <a:srgbClr val="009900"/>
              </a:solidFill>
              <a:prstDash val="solid"/>
              <a:round/>
              <a:headEnd type="none" w="med" len="med"/>
              <a:tailEnd type="none" w="med" len="med"/>
            </a:ln>
          </p:spPr>
        </p:sp>
        <p:sp>
          <p:nvSpPr>
            <p:cNvPr id="25608" name="Line 35"/>
            <p:cNvSpPr/>
            <p:nvPr/>
          </p:nvSpPr>
          <p:spPr>
            <a:xfrm flipH="1">
              <a:off x="1056" y="2981"/>
              <a:ext cx="240" cy="432"/>
            </a:xfrm>
            <a:prstGeom prst="line">
              <a:avLst/>
            </a:prstGeom>
            <a:ln w="38100" cap="flat" cmpd="sng">
              <a:solidFill>
                <a:schemeClr val="hlink"/>
              </a:solidFill>
              <a:prstDash val="solid"/>
              <a:round/>
              <a:headEnd type="none" w="med" len="med"/>
              <a:tailEnd type="none" w="med" len="med"/>
            </a:ln>
          </p:spPr>
        </p:sp>
        <p:sp>
          <p:nvSpPr>
            <p:cNvPr id="25609" name="Line 36"/>
            <p:cNvSpPr/>
            <p:nvPr/>
          </p:nvSpPr>
          <p:spPr>
            <a:xfrm flipH="1" flipV="1">
              <a:off x="1344" y="3029"/>
              <a:ext cx="0" cy="1008"/>
            </a:xfrm>
            <a:prstGeom prst="line">
              <a:avLst/>
            </a:prstGeom>
            <a:ln w="38100" cap="flat" cmpd="sng">
              <a:solidFill>
                <a:srgbClr val="009900"/>
              </a:solidFill>
              <a:prstDash val="solid"/>
              <a:round/>
              <a:headEnd type="none" w="med" len="med"/>
              <a:tailEnd type="none" w="med" len="med"/>
            </a:ln>
          </p:spPr>
        </p:sp>
        <p:sp>
          <p:nvSpPr>
            <p:cNvPr id="25610" name="Line 37"/>
            <p:cNvSpPr/>
            <p:nvPr/>
          </p:nvSpPr>
          <p:spPr>
            <a:xfrm flipH="1" flipV="1">
              <a:off x="1392" y="2981"/>
              <a:ext cx="1104" cy="576"/>
            </a:xfrm>
            <a:prstGeom prst="line">
              <a:avLst/>
            </a:prstGeom>
            <a:ln w="38100" cap="flat" cmpd="sng">
              <a:solidFill>
                <a:srgbClr val="009900"/>
              </a:solidFill>
              <a:prstDash val="solid"/>
              <a:round/>
              <a:headEnd type="none" w="med" len="med"/>
              <a:tailEnd type="none" w="med" len="med"/>
            </a:ln>
          </p:spPr>
        </p:sp>
        <p:sp>
          <p:nvSpPr>
            <p:cNvPr id="25611" name="Line 38"/>
            <p:cNvSpPr/>
            <p:nvPr/>
          </p:nvSpPr>
          <p:spPr>
            <a:xfrm flipH="1" flipV="1">
              <a:off x="1008" y="3605"/>
              <a:ext cx="288" cy="432"/>
            </a:xfrm>
            <a:prstGeom prst="line">
              <a:avLst/>
            </a:prstGeom>
            <a:ln w="38100" cap="flat" cmpd="sng">
              <a:solidFill>
                <a:schemeClr val="hlink"/>
              </a:solidFill>
              <a:prstDash val="solid"/>
              <a:round/>
              <a:headEnd type="none" w="med" len="med"/>
              <a:tailEnd type="none" w="med" len="med"/>
            </a:ln>
          </p:spPr>
        </p:sp>
        <p:sp>
          <p:nvSpPr>
            <p:cNvPr id="25612" name="Line 39"/>
            <p:cNvSpPr/>
            <p:nvPr/>
          </p:nvSpPr>
          <p:spPr>
            <a:xfrm flipH="1">
              <a:off x="1392" y="4085"/>
              <a:ext cx="720" cy="0"/>
            </a:xfrm>
            <a:prstGeom prst="line">
              <a:avLst/>
            </a:prstGeom>
            <a:ln w="38100" cap="flat" cmpd="sng">
              <a:solidFill>
                <a:schemeClr val="hlink"/>
              </a:solidFill>
              <a:prstDash val="solid"/>
              <a:round/>
              <a:headEnd type="none" w="med" len="med"/>
              <a:tailEnd type="none" w="med" len="med"/>
            </a:ln>
          </p:spPr>
        </p:sp>
        <p:sp>
          <p:nvSpPr>
            <p:cNvPr id="25613" name="Line 40"/>
            <p:cNvSpPr/>
            <p:nvPr/>
          </p:nvSpPr>
          <p:spPr>
            <a:xfrm flipH="1">
              <a:off x="1440" y="3557"/>
              <a:ext cx="1056" cy="480"/>
            </a:xfrm>
            <a:prstGeom prst="line">
              <a:avLst/>
            </a:prstGeom>
            <a:ln w="38100" cap="flat" cmpd="sng">
              <a:solidFill>
                <a:srgbClr val="009900"/>
              </a:solidFill>
              <a:prstDash val="solid"/>
              <a:round/>
              <a:headEnd type="none" w="med" len="med"/>
              <a:tailEnd type="none" w="med" len="med"/>
            </a:ln>
          </p:spPr>
        </p:sp>
        <p:sp>
          <p:nvSpPr>
            <p:cNvPr id="25614" name="Line 41"/>
            <p:cNvSpPr/>
            <p:nvPr/>
          </p:nvSpPr>
          <p:spPr>
            <a:xfrm flipH="1">
              <a:off x="2208" y="3605"/>
              <a:ext cx="336" cy="480"/>
            </a:xfrm>
            <a:prstGeom prst="line">
              <a:avLst/>
            </a:prstGeom>
            <a:ln w="38100" cap="flat" cmpd="sng">
              <a:solidFill>
                <a:schemeClr val="hlink"/>
              </a:solidFill>
              <a:prstDash val="solid"/>
              <a:round/>
              <a:headEnd type="none" w="med" len="med"/>
              <a:tailEnd type="none" w="med" len="med"/>
            </a:ln>
          </p:spPr>
        </p:sp>
        <p:grpSp>
          <p:nvGrpSpPr>
            <p:cNvPr id="25615" name="Group 42"/>
            <p:cNvGrpSpPr/>
            <p:nvPr/>
          </p:nvGrpSpPr>
          <p:grpSpPr>
            <a:xfrm>
              <a:off x="864" y="2784"/>
              <a:ext cx="1824" cy="1440"/>
              <a:chOff x="3648" y="2880"/>
              <a:chExt cx="1824" cy="1440"/>
            </a:xfrm>
          </p:grpSpPr>
          <p:sp>
            <p:nvSpPr>
              <p:cNvPr id="25616" name="Oval 43"/>
              <p:cNvSpPr/>
              <p:nvPr/>
            </p:nvSpPr>
            <p:spPr>
              <a:xfrm>
                <a:off x="3984" y="2880"/>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25617" name="Oval 44"/>
              <p:cNvSpPr/>
              <p:nvPr/>
            </p:nvSpPr>
            <p:spPr>
              <a:xfrm>
                <a:off x="3984"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25618" name="Oval 45"/>
              <p:cNvSpPr/>
              <p:nvPr/>
            </p:nvSpPr>
            <p:spPr>
              <a:xfrm>
                <a:off x="3648" y="3456"/>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25619" name="Oval 46"/>
              <p:cNvSpPr/>
              <p:nvPr/>
            </p:nvSpPr>
            <p:spPr>
              <a:xfrm>
                <a:off x="5184" y="350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5</a:t>
                </a:r>
                <a:endParaRPr lang="en-US" altLang="zh-CN" sz="2400" dirty="0">
                  <a:solidFill>
                    <a:schemeClr val="bg1"/>
                  </a:solidFill>
                  <a:latin typeface="Tahoma" panose="020B0604030504040204" charset="0"/>
                  <a:ea typeface="宋体" panose="02010600030101010101" pitchFamily="2" charset="-122"/>
                </a:endParaRPr>
              </a:p>
            </p:txBody>
          </p:sp>
          <p:sp>
            <p:nvSpPr>
              <p:cNvPr id="25620" name="Oval 47"/>
              <p:cNvSpPr/>
              <p:nvPr/>
            </p:nvSpPr>
            <p:spPr>
              <a:xfrm>
                <a:off x="4800" y="405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25621" name="Oval 48"/>
              <p:cNvSpPr/>
              <p:nvPr/>
            </p:nvSpPr>
            <p:spPr>
              <a:xfrm>
                <a:off x="4800" y="288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grpSp>
      <p:grpSp>
        <p:nvGrpSpPr>
          <p:cNvPr id="25622" name="Group 49"/>
          <p:cNvGrpSpPr/>
          <p:nvPr/>
        </p:nvGrpSpPr>
        <p:grpSpPr>
          <a:xfrm>
            <a:off x="8861743" y="3831908"/>
            <a:ext cx="2895600" cy="2286000"/>
            <a:chOff x="3360" y="2784"/>
            <a:chExt cx="1824" cy="1440"/>
          </a:xfrm>
        </p:grpSpPr>
        <p:sp>
          <p:nvSpPr>
            <p:cNvPr id="25623" name="Line 50"/>
            <p:cNvSpPr/>
            <p:nvPr/>
          </p:nvSpPr>
          <p:spPr>
            <a:xfrm>
              <a:off x="4656" y="3029"/>
              <a:ext cx="0" cy="960"/>
            </a:xfrm>
            <a:prstGeom prst="line">
              <a:avLst/>
            </a:prstGeom>
            <a:ln w="38100" cap="flat" cmpd="sng">
              <a:solidFill>
                <a:srgbClr val="009900"/>
              </a:solidFill>
              <a:prstDash val="solid"/>
              <a:round/>
              <a:headEnd type="none" w="med" len="med"/>
              <a:tailEnd type="none" w="med" len="med"/>
            </a:ln>
          </p:spPr>
        </p:sp>
        <p:sp>
          <p:nvSpPr>
            <p:cNvPr id="25624" name="Line 51"/>
            <p:cNvSpPr/>
            <p:nvPr/>
          </p:nvSpPr>
          <p:spPr>
            <a:xfrm flipH="1">
              <a:off x="3552" y="2981"/>
              <a:ext cx="240" cy="432"/>
            </a:xfrm>
            <a:prstGeom prst="line">
              <a:avLst/>
            </a:prstGeom>
            <a:ln w="38100" cap="flat" cmpd="sng">
              <a:solidFill>
                <a:srgbClr val="009900"/>
              </a:solidFill>
              <a:prstDash val="solid"/>
              <a:round/>
              <a:headEnd type="none" w="med" len="med"/>
              <a:tailEnd type="none" w="med" len="med"/>
            </a:ln>
          </p:spPr>
        </p:sp>
        <p:sp>
          <p:nvSpPr>
            <p:cNvPr id="25625" name="Line 52"/>
            <p:cNvSpPr/>
            <p:nvPr/>
          </p:nvSpPr>
          <p:spPr>
            <a:xfrm flipH="1" flipV="1">
              <a:off x="3504" y="3605"/>
              <a:ext cx="288" cy="432"/>
            </a:xfrm>
            <a:prstGeom prst="line">
              <a:avLst/>
            </a:prstGeom>
            <a:ln w="38100" cap="flat" cmpd="sng">
              <a:solidFill>
                <a:srgbClr val="009900"/>
              </a:solidFill>
              <a:prstDash val="solid"/>
              <a:round/>
              <a:headEnd type="none" w="med" len="med"/>
              <a:tailEnd type="none" w="med" len="med"/>
            </a:ln>
          </p:spPr>
        </p:sp>
        <p:sp>
          <p:nvSpPr>
            <p:cNvPr id="25626" name="Line 53"/>
            <p:cNvSpPr/>
            <p:nvPr/>
          </p:nvSpPr>
          <p:spPr>
            <a:xfrm flipH="1">
              <a:off x="3888" y="4085"/>
              <a:ext cx="720" cy="0"/>
            </a:xfrm>
            <a:prstGeom prst="line">
              <a:avLst/>
            </a:prstGeom>
            <a:ln w="38100" cap="flat" cmpd="sng">
              <a:solidFill>
                <a:srgbClr val="009900"/>
              </a:solidFill>
              <a:prstDash val="solid"/>
              <a:round/>
              <a:headEnd type="none" w="med" len="med"/>
              <a:tailEnd type="none" w="med" len="med"/>
            </a:ln>
          </p:spPr>
        </p:sp>
        <p:sp>
          <p:nvSpPr>
            <p:cNvPr id="25627" name="Line 54"/>
            <p:cNvSpPr/>
            <p:nvPr/>
          </p:nvSpPr>
          <p:spPr>
            <a:xfrm flipH="1">
              <a:off x="4704" y="3605"/>
              <a:ext cx="336" cy="480"/>
            </a:xfrm>
            <a:prstGeom prst="line">
              <a:avLst/>
            </a:prstGeom>
            <a:ln w="38100" cap="flat" cmpd="sng">
              <a:solidFill>
                <a:srgbClr val="009900"/>
              </a:solidFill>
              <a:prstDash val="solid"/>
              <a:round/>
              <a:headEnd type="none" w="med" len="med"/>
              <a:tailEnd type="none" w="med" len="med"/>
            </a:ln>
          </p:spPr>
        </p:sp>
        <p:grpSp>
          <p:nvGrpSpPr>
            <p:cNvPr id="25628" name="Group 55"/>
            <p:cNvGrpSpPr/>
            <p:nvPr/>
          </p:nvGrpSpPr>
          <p:grpSpPr>
            <a:xfrm>
              <a:off x="3360" y="2784"/>
              <a:ext cx="1824" cy="1440"/>
              <a:chOff x="3648" y="2880"/>
              <a:chExt cx="1824" cy="1440"/>
            </a:xfrm>
          </p:grpSpPr>
          <p:sp>
            <p:nvSpPr>
              <p:cNvPr id="25629" name="Oval 56"/>
              <p:cNvSpPr/>
              <p:nvPr/>
            </p:nvSpPr>
            <p:spPr>
              <a:xfrm>
                <a:off x="3984" y="2880"/>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25630" name="Oval 57"/>
              <p:cNvSpPr/>
              <p:nvPr/>
            </p:nvSpPr>
            <p:spPr>
              <a:xfrm>
                <a:off x="3984"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25631" name="Oval 58"/>
              <p:cNvSpPr/>
              <p:nvPr/>
            </p:nvSpPr>
            <p:spPr>
              <a:xfrm>
                <a:off x="3648" y="3456"/>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25632" name="Oval 59"/>
              <p:cNvSpPr/>
              <p:nvPr/>
            </p:nvSpPr>
            <p:spPr>
              <a:xfrm>
                <a:off x="5184" y="350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5</a:t>
                </a:r>
                <a:endParaRPr lang="en-US" altLang="zh-CN" sz="2400" dirty="0">
                  <a:solidFill>
                    <a:schemeClr val="bg1"/>
                  </a:solidFill>
                  <a:latin typeface="Tahoma" panose="020B0604030504040204" charset="0"/>
                  <a:ea typeface="宋体" panose="02010600030101010101" pitchFamily="2" charset="-122"/>
                </a:endParaRPr>
              </a:p>
            </p:txBody>
          </p:sp>
          <p:sp>
            <p:nvSpPr>
              <p:cNvPr id="25633" name="Oval 60"/>
              <p:cNvSpPr/>
              <p:nvPr/>
            </p:nvSpPr>
            <p:spPr>
              <a:xfrm>
                <a:off x="4800" y="405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25634" name="Oval 61"/>
              <p:cNvSpPr/>
              <p:nvPr/>
            </p:nvSpPr>
            <p:spPr>
              <a:xfrm>
                <a:off x="4800" y="288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grpSp>
      <p:grpSp>
        <p:nvGrpSpPr>
          <p:cNvPr id="48" name="组合 47"/>
          <p:cNvGrpSpPr/>
          <p:nvPr/>
        </p:nvGrpSpPr>
        <p:grpSpPr>
          <a:xfrm>
            <a:off x="378460" y="3089275"/>
            <a:ext cx="3251835" cy="3041015"/>
            <a:chOff x="11981" y="2524"/>
            <a:chExt cx="5670" cy="5350"/>
          </a:xfrm>
        </p:grpSpPr>
        <p:grpSp>
          <p:nvGrpSpPr>
            <p:cNvPr id="32" name="组合 31"/>
            <p:cNvGrpSpPr/>
            <p:nvPr/>
          </p:nvGrpSpPr>
          <p:grpSpPr>
            <a:xfrm>
              <a:off x="11981" y="3112"/>
              <a:ext cx="5670" cy="4762"/>
              <a:chOff x="755" y="4039"/>
              <a:chExt cx="5670" cy="4762"/>
            </a:xfrm>
          </p:grpSpPr>
          <p:grpSp>
            <p:nvGrpSpPr>
              <p:cNvPr id="33" name="Group 4"/>
              <p:cNvGrpSpPr/>
              <p:nvPr/>
            </p:nvGrpSpPr>
            <p:grpSpPr>
              <a:xfrm>
                <a:off x="1189" y="4482"/>
                <a:ext cx="4560" cy="3600"/>
                <a:chOff x="864" y="2784"/>
                <a:chExt cx="1824" cy="1440"/>
              </a:xfrm>
            </p:grpSpPr>
            <p:sp>
              <p:nvSpPr>
                <p:cNvPr id="34" name="Line 5"/>
                <p:cNvSpPr/>
                <p:nvPr/>
              </p:nvSpPr>
              <p:spPr>
                <a:xfrm flipH="1">
                  <a:off x="1488" y="2933"/>
                  <a:ext cx="576" cy="0"/>
                </a:xfrm>
                <a:prstGeom prst="line">
                  <a:avLst/>
                </a:prstGeom>
                <a:ln w="38100" cap="flat" cmpd="sng">
                  <a:solidFill>
                    <a:srgbClr val="009900"/>
                  </a:solidFill>
                  <a:prstDash val="solid"/>
                  <a:round/>
                  <a:headEnd type="none" w="med" len="med"/>
                  <a:tailEnd type="none" w="med" len="med"/>
                </a:ln>
              </p:spPr>
            </p:sp>
            <p:sp>
              <p:nvSpPr>
                <p:cNvPr id="35" name="Line 6"/>
                <p:cNvSpPr/>
                <p:nvPr/>
              </p:nvSpPr>
              <p:spPr>
                <a:xfrm>
                  <a:off x="2160" y="3029"/>
                  <a:ext cx="0" cy="960"/>
                </a:xfrm>
                <a:prstGeom prst="line">
                  <a:avLst/>
                </a:prstGeom>
                <a:ln w="38100" cap="flat" cmpd="sng">
                  <a:solidFill>
                    <a:schemeClr val="hlink"/>
                  </a:solidFill>
                  <a:prstDash val="solid"/>
                  <a:round/>
                  <a:headEnd type="none" w="med" len="med"/>
                  <a:tailEnd type="none" w="med" len="med"/>
                </a:ln>
              </p:spPr>
            </p:sp>
            <p:sp>
              <p:nvSpPr>
                <p:cNvPr id="36" name="Line 7"/>
                <p:cNvSpPr/>
                <p:nvPr/>
              </p:nvSpPr>
              <p:spPr>
                <a:xfrm>
                  <a:off x="2208" y="2981"/>
                  <a:ext cx="336" cy="480"/>
                </a:xfrm>
                <a:prstGeom prst="line">
                  <a:avLst/>
                </a:prstGeom>
                <a:ln w="38100" cap="flat" cmpd="sng">
                  <a:solidFill>
                    <a:srgbClr val="009900"/>
                  </a:solidFill>
                  <a:prstDash val="solid"/>
                  <a:round/>
                  <a:headEnd type="none" w="med" len="med"/>
                  <a:tailEnd type="none" w="med" len="med"/>
                </a:ln>
              </p:spPr>
            </p:sp>
            <p:sp>
              <p:nvSpPr>
                <p:cNvPr id="37" name="Line 10"/>
                <p:cNvSpPr/>
                <p:nvPr/>
              </p:nvSpPr>
              <p:spPr>
                <a:xfrm flipH="1" flipV="1">
                  <a:off x="1392" y="2981"/>
                  <a:ext cx="1104" cy="576"/>
                </a:xfrm>
                <a:prstGeom prst="line">
                  <a:avLst/>
                </a:prstGeom>
                <a:ln w="38100" cap="flat" cmpd="sng">
                  <a:solidFill>
                    <a:srgbClr val="009900"/>
                  </a:solidFill>
                  <a:prstDash val="solid"/>
                  <a:round/>
                  <a:headEnd type="none" w="med" len="med"/>
                  <a:tailEnd type="none" w="med" len="med"/>
                </a:ln>
              </p:spPr>
            </p:sp>
            <p:sp>
              <p:nvSpPr>
                <p:cNvPr id="38" name="Line 11"/>
                <p:cNvSpPr/>
                <p:nvPr/>
              </p:nvSpPr>
              <p:spPr>
                <a:xfrm flipH="1" flipV="1">
                  <a:off x="1008" y="3605"/>
                  <a:ext cx="288" cy="432"/>
                </a:xfrm>
                <a:prstGeom prst="line">
                  <a:avLst/>
                </a:prstGeom>
                <a:ln w="38100" cap="flat" cmpd="sng">
                  <a:solidFill>
                    <a:schemeClr val="hlink"/>
                  </a:solidFill>
                  <a:prstDash val="solid"/>
                  <a:round/>
                  <a:headEnd type="none" w="med" len="med"/>
                  <a:tailEnd type="none" w="med" len="med"/>
                </a:ln>
              </p:spPr>
            </p:sp>
            <p:sp>
              <p:nvSpPr>
                <p:cNvPr id="39" name="Line 14"/>
                <p:cNvSpPr/>
                <p:nvPr/>
              </p:nvSpPr>
              <p:spPr>
                <a:xfrm flipH="1">
                  <a:off x="2208" y="3605"/>
                  <a:ext cx="336" cy="480"/>
                </a:xfrm>
                <a:prstGeom prst="line">
                  <a:avLst/>
                </a:prstGeom>
                <a:ln w="38100" cap="flat" cmpd="sng">
                  <a:solidFill>
                    <a:srgbClr val="009900"/>
                  </a:solidFill>
                  <a:prstDash val="solid"/>
                  <a:round/>
                  <a:headEnd type="none" w="med" len="med"/>
                  <a:tailEnd type="none" w="med" len="med"/>
                </a:ln>
              </p:spPr>
            </p:sp>
            <p:grpSp>
              <p:nvGrpSpPr>
                <p:cNvPr id="40" name="Group 15"/>
                <p:cNvGrpSpPr/>
                <p:nvPr/>
              </p:nvGrpSpPr>
              <p:grpSpPr>
                <a:xfrm>
                  <a:off x="864" y="2784"/>
                  <a:ext cx="1824" cy="1440"/>
                  <a:chOff x="3648" y="2880"/>
                  <a:chExt cx="1824" cy="1440"/>
                </a:xfrm>
              </p:grpSpPr>
              <p:sp>
                <p:nvSpPr>
                  <p:cNvPr id="41" name="Oval 16"/>
                  <p:cNvSpPr/>
                  <p:nvPr/>
                </p:nvSpPr>
                <p:spPr>
                  <a:xfrm>
                    <a:off x="3984" y="2880"/>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42" name="Oval 17"/>
                  <p:cNvSpPr/>
                  <p:nvPr/>
                </p:nvSpPr>
                <p:spPr>
                  <a:xfrm>
                    <a:off x="3984"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43" name="Oval 18"/>
                  <p:cNvSpPr/>
                  <p:nvPr/>
                </p:nvSpPr>
                <p:spPr>
                  <a:xfrm>
                    <a:off x="3648" y="3456"/>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44" name="Oval 19"/>
                  <p:cNvSpPr/>
                  <p:nvPr/>
                </p:nvSpPr>
                <p:spPr>
                  <a:xfrm>
                    <a:off x="5184" y="350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5</a:t>
                    </a:r>
                    <a:endParaRPr lang="en-US" altLang="zh-CN" sz="2400" dirty="0">
                      <a:solidFill>
                        <a:schemeClr val="bg1"/>
                      </a:solidFill>
                      <a:latin typeface="Tahoma" panose="020B0604030504040204" charset="0"/>
                      <a:ea typeface="宋体" panose="02010600030101010101" pitchFamily="2" charset="-122"/>
                    </a:endParaRPr>
                  </a:p>
                </p:txBody>
              </p:sp>
              <p:sp>
                <p:nvSpPr>
                  <p:cNvPr id="45" name="Oval 20"/>
                  <p:cNvSpPr/>
                  <p:nvPr/>
                </p:nvSpPr>
                <p:spPr>
                  <a:xfrm>
                    <a:off x="4800" y="405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46" name="Oval 21"/>
                  <p:cNvSpPr/>
                  <p:nvPr/>
                </p:nvSpPr>
                <p:spPr>
                  <a:xfrm>
                    <a:off x="4800" y="288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grpSp>
          <p:sp>
            <p:nvSpPr>
              <p:cNvPr id="47" name="椭圆 46"/>
              <p:cNvSpPr/>
              <p:nvPr/>
            </p:nvSpPr>
            <p:spPr>
              <a:xfrm>
                <a:off x="755" y="4039"/>
                <a:ext cx="5670" cy="4763"/>
              </a:xfrm>
              <a:prstGeom prst="ellipse">
                <a:avLst/>
              </a:prstGeom>
              <a:noFill/>
              <a:ln w="12700" cap="flat" cmpd="sng" algn="ctr">
                <a:solidFill>
                  <a:srgbClr val="FF0000"/>
                </a:solidFill>
                <a:prstDash val="dashDot"/>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sp>
          <p:nvSpPr>
            <p:cNvPr id="21530" name="Text Box 100"/>
            <p:cNvSpPr txBox="1"/>
            <p:nvPr/>
          </p:nvSpPr>
          <p:spPr>
            <a:xfrm>
              <a:off x="12533" y="2524"/>
              <a:ext cx="4566" cy="810"/>
            </a:xfrm>
            <a:prstGeom prst="rect">
              <a:avLst/>
            </a:prstGeom>
            <a:noFill/>
            <a:ln w="9525">
              <a:noFill/>
            </a:ln>
          </p:spPr>
          <p:txBody>
            <a:bodyPr wrap="square" anchor="t" anchorCtr="0">
              <a:spAutoFit/>
            </a:bodyPr>
            <a:p>
              <a:pPr algn="ctr">
                <a:spcBef>
                  <a:spcPct val="50000"/>
                </a:spcBef>
              </a:pPr>
              <a:r>
                <a:rPr lang="zh-CN" altLang="en-US" sz="2400" b="1" dirty="0">
                  <a:latin typeface="Tahoma" panose="020B0604030504040204" charset="0"/>
                  <a:ea typeface="宋体" panose="02010600030101010101" pitchFamily="2" charset="-122"/>
                </a:rPr>
                <a:t>非连通</a:t>
              </a:r>
              <a:r>
                <a:rPr lang="zh-CN" altLang="en-US" sz="2400" b="1" dirty="0">
                  <a:latin typeface="Tahoma" panose="020B0604030504040204" charset="0"/>
                  <a:ea typeface="宋体" panose="02010600030101010101" pitchFamily="2" charset="-122"/>
                </a:rPr>
                <a:t>图</a:t>
              </a:r>
              <a:endParaRPr lang="zh-CN" altLang="en-US" sz="2400" b="1" dirty="0">
                <a:latin typeface="Tahoma" panose="020B0604030504040204" charset="0"/>
                <a:ea typeface="宋体" panose="02010600030101010101" pitchFamily="2" charset="-122"/>
              </a:endParaRPr>
            </a:p>
          </p:txBody>
        </p:sp>
      </p:grpSp>
      <p:grpSp>
        <p:nvGrpSpPr>
          <p:cNvPr id="5" name="组合 4"/>
          <p:cNvGrpSpPr/>
          <p:nvPr/>
        </p:nvGrpSpPr>
        <p:grpSpPr>
          <a:xfrm>
            <a:off x="3791585" y="3089910"/>
            <a:ext cx="3251835" cy="3041015"/>
            <a:chOff x="11981" y="2524"/>
            <a:chExt cx="5670" cy="5350"/>
          </a:xfrm>
        </p:grpSpPr>
        <p:grpSp>
          <p:nvGrpSpPr>
            <p:cNvPr id="6" name="组合 5"/>
            <p:cNvGrpSpPr/>
            <p:nvPr/>
          </p:nvGrpSpPr>
          <p:grpSpPr>
            <a:xfrm>
              <a:off x="11981" y="3112"/>
              <a:ext cx="5670" cy="4762"/>
              <a:chOff x="755" y="4039"/>
              <a:chExt cx="5670" cy="4762"/>
            </a:xfrm>
          </p:grpSpPr>
          <p:grpSp>
            <p:nvGrpSpPr>
              <p:cNvPr id="7" name="Group 4"/>
              <p:cNvGrpSpPr/>
              <p:nvPr/>
            </p:nvGrpSpPr>
            <p:grpSpPr>
              <a:xfrm>
                <a:off x="1189" y="4482"/>
                <a:ext cx="4560" cy="3600"/>
                <a:chOff x="864" y="2784"/>
                <a:chExt cx="1824" cy="1440"/>
              </a:xfrm>
            </p:grpSpPr>
            <p:sp>
              <p:nvSpPr>
                <p:cNvPr id="8" name="Line 5"/>
                <p:cNvSpPr/>
                <p:nvPr/>
              </p:nvSpPr>
              <p:spPr>
                <a:xfrm flipH="1">
                  <a:off x="1488" y="2933"/>
                  <a:ext cx="576" cy="0"/>
                </a:xfrm>
                <a:prstGeom prst="line">
                  <a:avLst/>
                </a:prstGeom>
                <a:ln w="38100" cap="flat" cmpd="sng">
                  <a:solidFill>
                    <a:srgbClr val="009900"/>
                  </a:solidFill>
                  <a:prstDash val="solid"/>
                  <a:round/>
                  <a:headEnd type="none" w="med" len="med"/>
                  <a:tailEnd type="none" w="med" len="med"/>
                </a:ln>
              </p:spPr>
            </p:sp>
            <p:sp>
              <p:nvSpPr>
                <p:cNvPr id="10" name="Line 7"/>
                <p:cNvSpPr/>
                <p:nvPr/>
              </p:nvSpPr>
              <p:spPr>
                <a:xfrm>
                  <a:off x="2208" y="2981"/>
                  <a:ext cx="336" cy="480"/>
                </a:xfrm>
                <a:prstGeom prst="line">
                  <a:avLst/>
                </a:prstGeom>
                <a:ln w="38100" cap="flat" cmpd="sng">
                  <a:solidFill>
                    <a:srgbClr val="009900"/>
                  </a:solidFill>
                  <a:prstDash val="solid"/>
                  <a:round/>
                  <a:headEnd type="none" w="med" len="med"/>
                  <a:tailEnd type="none" w="med" len="med"/>
                </a:ln>
              </p:spPr>
            </p:sp>
            <p:sp>
              <p:nvSpPr>
                <p:cNvPr id="12" name="Line 11"/>
                <p:cNvSpPr/>
                <p:nvPr/>
              </p:nvSpPr>
              <p:spPr>
                <a:xfrm flipH="1" flipV="1">
                  <a:off x="1008" y="3605"/>
                  <a:ext cx="288" cy="432"/>
                </a:xfrm>
                <a:prstGeom prst="line">
                  <a:avLst/>
                </a:prstGeom>
                <a:ln w="38100" cap="flat" cmpd="sng">
                  <a:solidFill>
                    <a:schemeClr val="hlink"/>
                  </a:solidFill>
                  <a:prstDash val="solid"/>
                  <a:round/>
                  <a:headEnd type="none" w="med" len="med"/>
                  <a:tailEnd type="none" w="med" len="med"/>
                </a:ln>
              </p:spPr>
            </p:sp>
            <p:sp>
              <p:nvSpPr>
                <p:cNvPr id="13" name="Line 14"/>
                <p:cNvSpPr/>
                <p:nvPr/>
              </p:nvSpPr>
              <p:spPr>
                <a:xfrm flipH="1">
                  <a:off x="2208" y="3605"/>
                  <a:ext cx="336" cy="480"/>
                </a:xfrm>
                <a:prstGeom prst="line">
                  <a:avLst/>
                </a:prstGeom>
                <a:ln w="38100" cap="flat" cmpd="sng">
                  <a:solidFill>
                    <a:srgbClr val="009900"/>
                  </a:solidFill>
                  <a:prstDash val="solid"/>
                  <a:round/>
                  <a:headEnd type="none" w="med" len="med"/>
                  <a:tailEnd type="none" w="med" len="med"/>
                </a:ln>
              </p:spPr>
            </p:sp>
            <p:grpSp>
              <p:nvGrpSpPr>
                <p:cNvPr id="14" name="Group 15"/>
                <p:cNvGrpSpPr/>
                <p:nvPr/>
              </p:nvGrpSpPr>
              <p:grpSpPr>
                <a:xfrm>
                  <a:off x="864" y="2784"/>
                  <a:ext cx="1824" cy="1440"/>
                  <a:chOff x="3648" y="2880"/>
                  <a:chExt cx="1824" cy="1440"/>
                </a:xfrm>
              </p:grpSpPr>
              <p:sp>
                <p:nvSpPr>
                  <p:cNvPr id="15" name="Oval 16"/>
                  <p:cNvSpPr/>
                  <p:nvPr/>
                </p:nvSpPr>
                <p:spPr>
                  <a:xfrm>
                    <a:off x="3984" y="2880"/>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16" name="Oval 17"/>
                  <p:cNvSpPr/>
                  <p:nvPr/>
                </p:nvSpPr>
                <p:spPr>
                  <a:xfrm>
                    <a:off x="3984"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17" name="Oval 18"/>
                  <p:cNvSpPr/>
                  <p:nvPr/>
                </p:nvSpPr>
                <p:spPr>
                  <a:xfrm>
                    <a:off x="3648" y="3456"/>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18" name="Oval 19"/>
                  <p:cNvSpPr/>
                  <p:nvPr/>
                </p:nvSpPr>
                <p:spPr>
                  <a:xfrm>
                    <a:off x="5184" y="350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5</a:t>
                    </a:r>
                    <a:endParaRPr lang="en-US" altLang="zh-CN" sz="2400" dirty="0">
                      <a:solidFill>
                        <a:schemeClr val="bg1"/>
                      </a:solidFill>
                      <a:latin typeface="Tahoma" panose="020B0604030504040204" charset="0"/>
                      <a:ea typeface="宋体" panose="02010600030101010101" pitchFamily="2" charset="-122"/>
                    </a:endParaRPr>
                  </a:p>
                </p:txBody>
              </p:sp>
              <p:sp>
                <p:nvSpPr>
                  <p:cNvPr id="19" name="Oval 20"/>
                  <p:cNvSpPr/>
                  <p:nvPr/>
                </p:nvSpPr>
                <p:spPr>
                  <a:xfrm>
                    <a:off x="4800" y="405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20" name="Oval 21"/>
                  <p:cNvSpPr/>
                  <p:nvPr/>
                </p:nvSpPr>
                <p:spPr>
                  <a:xfrm>
                    <a:off x="4800" y="288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grpSp>
          <p:sp>
            <p:nvSpPr>
              <p:cNvPr id="21" name="椭圆 20"/>
              <p:cNvSpPr/>
              <p:nvPr/>
            </p:nvSpPr>
            <p:spPr>
              <a:xfrm>
                <a:off x="755" y="4039"/>
                <a:ext cx="5670" cy="4763"/>
              </a:xfrm>
              <a:prstGeom prst="ellipse">
                <a:avLst/>
              </a:prstGeom>
              <a:noFill/>
              <a:ln w="12700" cap="flat" cmpd="sng" algn="ctr">
                <a:solidFill>
                  <a:srgbClr val="FF0000"/>
                </a:solidFill>
                <a:prstDash val="dashDot"/>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sp>
          <p:nvSpPr>
            <p:cNvPr id="22" name="Text Box 100"/>
            <p:cNvSpPr txBox="1"/>
            <p:nvPr/>
          </p:nvSpPr>
          <p:spPr>
            <a:xfrm>
              <a:off x="12533" y="2524"/>
              <a:ext cx="4566" cy="810"/>
            </a:xfrm>
            <a:prstGeom prst="rect">
              <a:avLst/>
            </a:prstGeom>
            <a:noFill/>
            <a:ln w="9525">
              <a:noFill/>
            </a:ln>
          </p:spPr>
          <p:txBody>
            <a:bodyPr wrap="square" anchor="t" anchorCtr="0">
              <a:spAutoFit/>
            </a:bodyPr>
            <a:p>
              <a:pPr algn="ctr">
                <a:spcBef>
                  <a:spcPct val="50000"/>
                </a:spcBef>
              </a:pPr>
              <a:r>
                <a:rPr lang="zh-CN" altLang="en-US" sz="2400" b="1" dirty="0">
                  <a:latin typeface="Tahoma" panose="020B0604030504040204" charset="0"/>
                  <a:ea typeface="宋体" panose="02010600030101010101" pitchFamily="2" charset="-122"/>
                </a:rPr>
                <a:t>生成树</a:t>
              </a:r>
              <a:endParaRPr lang="zh-CN" altLang="en-US" sz="2400" b="1" dirty="0">
                <a:latin typeface="Tahoma" panose="020B0604030504040204" charset="0"/>
                <a:ea typeface="宋体" panose="02010600030101010101" pitchFamily="2" charset="-122"/>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有向图的生成</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森林：</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有向图往往</a:t>
            </a:r>
            <a:r>
              <a:rPr lang="zh-CN" altLang="en-US" dirty="0">
                <a:latin typeface="黑体" panose="02010609060101010101" pitchFamily="2" charset="-122"/>
                <a:ea typeface="黑体" panose="02010609060101010101" pitchFamily="2" charset="-122"/>
                <a:cs typeface="+mn-ea"/>
                <a:sym typeface="+mn-ea"/>
              </a:rPr>
              <a:t>是生成森林，由若干棵有向树组成，含有图中全部顶点</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有向树是只有一个顶点的入度为0 ，其余顶点的入度均为1的有向图</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7.1 图的定义和术语</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nvPicPr>
        <p:blipFill>
          <a:blip r:embed="rId1"/>
          <a:stretch>
            <a:fillRect/>
          </a:stretch>
        </p:blipFill>
        <p:spPr>
          <a:xfrm>
            <a:off x="2783840" y="2636520"/>
            <a:ext cx="5683885" cy="320992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lvl="0"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已知无向图G=(V,E)，其中V={a,b,c,d,e,f,g}， E={(a,b),(a,c),(c,d), (d,e), (d,f), (b,f),(e,f),(f,g), (g,c)}</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请画出该图的连通分量</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请画出该图的生成树</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lvl="0"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设有向图如图所示，请画出该图的生成森林</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0" lvl="0" indent="0" algn="l" eaLnBrk="1" hangingPunct="1">
              <a:buClrTx/>
              <a:buSzTx/>
              <a:buNone/>
            </a:pPr>
            <a:r>
              <a:rPr lang="zh-CN" altLang="en-US" dirty="0">
                <a:latin typeface="黑体" panose="02010609060101010101" pitchFamily="2" charset="-122"/>
                <a:ea typeface="黑体" panose="02010609060101010101" pitchFamily="2" charset="-122"/>
                <a:cs typeface="黑体" panose="02010609060101010101" pitchFamily="2" charset="-122"/>
              </a:rPr>
              <a:t>（</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生成过程中以编号小的顶点优先</a:t>
            </a:r>
            <a:r>
              <a:rPr lang="zh-CN" altLang="en-US" dirty="0">
                <a:latin typeface="黑体" panose="02010609060101010101" pitchFamily="2" charset="-122"/>
                <a:ea typeface="黑体" panose="02010609060101010101" pitchFamily="2" charset="-122"/>
                <a:cs typeface="黑体" panose="02010609060101010101" pitchFamily="2" charset="-122"/>
              </a:rPr>
              <a:t>）</a:t>
            </a: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grpSp>
        <p:nvGrpSpPr>
          <p:cNvPr id="5" name="组合 4"/>
          <p:cNvGrpSpPr/>
          <p:nvPr/>
        </p:nvGrpSpPr>
        <p:grpSpPr>
          <a:xfrm>
            <a:off x="8112125" y="2851785"/>
            <a:ext cx="2484120" cy="2717800"/>
            <a:chOff x="10508" y="3925"/>
            <a:chExt cx="3912" cy="4280"/>
          </a:xfrm>
        </p:grpSpPr>
        <p:sp>
          <p:nvSpPr>
            <p:cNvPr id="28677" name="Oval 8"/>
            <p:cNvSpPr/>
            <p:nvPr/>
          </p:nvSpPr>
          <p:spPr>
            <a:xfrm>
              <a:off x="11948" y="5045"/>
              <a:ext cx="792" cy="680"/>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000" dirty="0">
                  <a:latin typeface="Times New Roman" panose="02020603050405020304" pitchFamily="18" charset="0"/>
                  <a:ea typeface="宋体" panose="02010600030101010101" pitchFamily="2" charset="-122"/>
                </a:rPr>
                <a:t>V</a:t>
              </a:r>
              <a:r>
                <a:rPr lang="en-US" altLang="zh-CN" sz="2000" baseline="-18000" dirty="0">
                  <a:latin typeface="Times New Roman" panose="02020603050405020304" pitchFamily="18" charset="0"/>
                  <a:ea typeface="宋体" panose="02010600030101010101" pitchFamily="2" charset="-122"/>
                </a:rPr>
                <a:t>3</a:t>
              </a:r>
              <a:endParaRPr lang="en-US" altLang="zh-CN" sz="2000" baseline="-18000" dirty="0">
                <a:latin typeface="Times New Roman" panose="02020603050405020304" pitchFamily="18" charset="0"/>
                <a:ea typeface="宋体" panose="02010600030101010101" pitchFamily="2" charset="-122"/>
              </a:endParaRPr>
            </a:p>
          </p:txBody>
        </p:sp>
        <p:sp>
          <p:nvSpPr>
            <p:cNvPr id="28678" name="Oval 9"/>
            <p:cNvSpPr/>
            <p:nvPr/>
          </p:nvSpPr>
          <p:spPr>
            <a:xfrm>
              <a:off x="13570" y="7328"/>
              <a:ext cx="793" cy="680"/>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000" dirty="0">
                  <a:latin typeface="Times New Roman" panose="02020603050405020304" pitchFamily="18" charset="0"/>
                  <a:ea typeface="宋体" panose="02010600030101010101" pitchFamily="2" charset="-122"/>
                </a:rPr>
                <a:t>V</a:t>
              </a:r>
              <a:r>
                <a:rPr lang="en-US" altLang="zh-CN" sz="2000" baseline="-18000" dirty="0">
                  <a:latin typeface="Times New Roman" panose="02020603050405020304" pitchFamily="18" charset="0"/>
                  <a:ea typeface="宋体" panose="02010600030101010101" pitchFamily="2" charset="-122"/>
                </a:rPr>
                <a:t>7</a:t>
              </a:r>
              <a:endParaRPr lang="en-US" altLang="zh-CN" sz="2000" baseline="-18000" dirty="0">
                <a:latin typeface="Times New Roman" panose="02020603050405020304" pitchFamily="18" charset="0"/>
                <a:ea typeface="宋体" panose="02010600030101010101" pitchFamily="2" charset="-122"/>
              </a:endParaRPr>
            </a:p>
          </p:txBody>
        </p:sp>
        <p:sp>
          <p:nvSpPr>
            <p:cNvPr id="28679" name="Oval 10"/>
            <p:cNvSpPr/>
            <p:nvPr/>
          </p:nvSpPr>
          <p:spPr>
            <a:xfrm>
              <a:off x="11948" y="6485"/>
              <a:ext cx="792" cy="680"/>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000" dirty="0">
                  <a:latin typeface="Times New Roman" panose="02020603050405020304" pitchFamily="18" charset="0"/>
                  <a:ea typeface="宋体" panose="02010600030101010101" pitchFamily="2" charset="-122"/>
                </a:rPr>
                <a:t>V</a:t>
              </a:r>
              <a:r>
                <a:rPr lang="en-US" altLang="zh-CN" sz="2000" baseline="-18000" dirty="0">
                  <a:latin typeface="Times New Roman" panose="02020603050405020304" pitchFamily="18" charset="0"/>
                  <a:ea typeface="宋体" panose="02010600030101010101" pitchFamily="2" charset="-122"/>
                </a:rPr>
                <a:t>6</a:t>
              </a:r>
              <a:endParaRPr lang="en-US" altLang="zh-CN" sz="2000" baseline="-18000" dirty="0">
                <a:latin typeface="Times New Roman" panose="02020603050405020304" pitchFamily="18" charset="0"/>
                <a:ea typeface="宋体" panose="02010600030101010101" pitchFamily="2" charset="-122"/>
              </a:endParaRPr>
            </a:p>
          </p:txBody>
        </p:sp>
        <p:sp>
          <p:nvSpPr>
            <p:cNvPr id="28680" name="Oval 11"/>
            <p:cNvSpPr/>
            <p:nvPr/>
          </p:nvSpPr>
          <p:spPr>
            <a:xfrm>
              <a:off x="10528" y="5885"/>
              <a:ext cx="792" cy="680"/>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000" dirty="0">
                  <a:latin typeface="Times New Roman" panose="02020603050405020304" pitchFamily="18" charset="0"/>
                  <a:ea typeface="宋体" panose="02010600030101010101" pitchFamily="2" charset="-122"/>
                </a:rPr>
                <a:t>V</a:t>
              </a:r>
              <a:r>
                <a:rPr lang="en-US" altLang="zh-CN" sz="2000" baseline="-18000" dirty="0">
                  <a:latin typeface="Times New Roman" panose="02020603050405020304" pitchFamily="18" charset="0"/>
                  <a:ea typeface="宋体" panose="02010600030101010101" pitchFamily="2" charset="-122"/>
                </a:rPr>
                <a:t>5</a:t>
              </a:r>
              <a:endParaRPr lang="en-US" altLang="zh-CN" sz="2000" baseline="-18000" dirty="0">
                <a:latin typeface="Times New Roman" panose="02020603050405020304" pitchFamily="18" charset="0"/>
                <a:ea typeface="宋体" panose="02010600030101010101" pitchFamily="2" charset="-122"/>
              </a:endParaRPr>
            </a:p>
          </p:txBody>
        </p:sp>
        <p:sp>
          <p:nvSpPr>
            <p:cNvPr id="28681" name="Oval 12"/>
            <p:cNvSpPr/>
            <p:nvPr/>
          </p:nvSpPr>
          <p:spPr>
            <a:xfrm>
              <a:off x="13628" y="5645"/>
              <a:ext cx="792" cy="680"/>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000" dirty="0">
                  <a:latin typeface="Times New Roman" panose="02020603050405020304" pitchFamily="18" charset="0"/>
                  <a:ea typeface="宋体" panose="02010600030101010101" pitchFamily="2" charset="-122"/>
                </a:rPr>
                <a:t>V</a:t>
              </a:r>
              <a:r>
                <a:rPr lang="en-US" altLang="zh-CN" sz="2000" baseline="-18000" dirty="0">
                  <a:latin typeface="Times New Roman" panose="02020603050405020304" pitchFamily="18" charset="0"/>
                  <a:ea typeface="宋体" panose="02010600030101010101" pitchFamily="2" charset="-122"/>
                </a:rPr>
                <a:t>4</a:t>
              </a:r>
              <a:endParaRPr lang="en-US" altLang="zh-CN" sz="2000" baseline="-18000" dirty="0">
                <a:latin typeface="Times New Roman" panose="02020603050405020304" pitchFamily="18" charset="0"/>
                <a:ea typeface="宋体" panose="02010600030101010101" pitchFamily="2" charset="-122"/>
              </a:endParaRPr>
            </a:p>
          </p:txBody>
        </p:sp>
        <p:sp>
          <p:nvSpPr>
            <p:cNvPr id="28682" name="Oval 13"/>
            <p:cNvSpPr/>
            <p:nvPr/>
          </p:nvSpPr>
          <p:spPr>
            <a:xfrm>
              <a:off x="13628" y="4445"/>
              <a:ext cx="792" cy="680"/>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000" dirty="0">
                  <a:latin typeface="Times New Roman" panose="02020603050405020304" pitchFamily="18" charset="0"/>
                  <a:ea typeface="宋体" panose="02010600030101010101" pitchFamily="2" charset="-122"/>
                </a:rPr>
                <a:t>V</a:t>
              </a:r>
              <a:r>
                <a:rPr lang="en-US" altLang="zh-CN" sz="2000" baseline="-18000" dirty="0">
                  <a:latin typeface="Times New Roman" panose="02020603050405020304" pitchFamily="18" charset="0"/>
                  <a:ea typeface="宋体" panose="02010600030101010101" pitchFamily="2" charset="-122"/>
                </a:rPr>
                <a:t>2</a:t>
              </a:r>
              <a:endParaRPr lang="en-US" altLang="zh-CN" sz="2000" baseline="-18000" dirty="0">
                <a:latin typeface="Times New Roman" panose="02020603050405020304" pitchFamily="18" charset="0"/>
                <a:ea typeface="宋体" panose="02010600030101010101" pitchFamily="2" charset="-122"/>
              </a:endParaRPr>
            </a:p>
          </p:txBody>
        </p:sp>
        <p:sp>
          <p:nvSpPr>
            <p:cNvPr id="28683" name="Oval 14"/>
            <p:cNvSpPr/>
            <p:nvPr/>
          </p:nvSpPr>
          <p:spPr>
            <a:xfrm>
              <a:off x="11948" y="3925"/>
              <a:ext cx="792" cy="680"/>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000" dirty="0">
                  <a:latin typeface="Times New Roman" panose="02020603050405020304" pitchFamily="18" charset="0"/>
                  <a:ea typeface="宋体" panose="02010600030101010101" pitchFamily="2" charset="-122"/>
                </a:rPr>
                <a:t>V</a:t>
              </a:r>
              <a:r>
                <a:rPr lang="en-US" altLang="zh-CN" sz="2000" baseline="-18000" dirty="0">
                  <a:latin typeface="Times New Roman" panose="02020603050405020304" pitchFamily="18" charset="0"/>
                  <a:ea typeface="宋体" panose="02010600030101010101" pitchFamily="2" charset="-122"/>
                </a:rPr>
                <a:t>1</a:t>
              </a:r>
              <a:endParaRPr lang="en-US" altLang="zh-CN" sz="2000" baseline="-18000" dirty="0">
                <a:latin typeface="Times New Roman" panose="02020603050405020304" pitchFamily="18" charset="0"/>
                <a:ea typeface="宋体" panose="02010600030101010101" pitchFamily="2" charset="-122"/>
              </a:endParaRPr>
            </a:p>
          </p:txBody>
        </p:sp>
        <p:sp>
          <p:nvSpPr>
            <p:cNvPr id="28684" name="Oval 15"/>
            <p:cNvSpPr/>
            <p:nvPr/>
          </p:nvSpPr>
          <p:spPr>
            <a:xfrm>
              <a:off x="12075" y="7525"/>
              <a:ext cx="793" cy="680"/>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000" dirty="0">
                  <a:latin typeface="Times New Roman" panose="02020603050405020304" pitchFamily="18" charset="0"/>
                  <a:ea typeface="宋体" panose="02010600030101010101" pitchFamily="2" charset="-122"/>
                </a:rPr>
                <a:t>V</a:t>
              </a:r>
              <a:r>
                <a:rPr lang="en-US" altLang="zh-CN" sz="2000" baseline="-18000" dirty="0">
                  <a:latin typeface="Times New Roman" panose="02020603050405020304" pitchFamily="18" charset="0"/>
                  <a:ea typeface="宋体" panose="02010600030101010101" pitchFamily="2" charset="-122"/>
                </a:rPr>
                <a:t>9</a:t>
              </a:r>
              <a:endParaRPr lang="en-US" altLang="zh-CN" sz="2000" baseline="-18000" dirty="0">
                <a:latin typeface="Times New Roman" panose="02020603050405020304" pitchFamily="18" charset="0"/>
                <a:ea typeface="宋体" panose="02010600030101010101" pitchFamily="2" charset="-122"/>
              </a:endParaRPr>
            </a:p>
          </p:txBody>
        </p:sp>
        <p:sp>
          <p:nvSpPr>
            <p:cNvPr id="28685" name="Oval 16"/>
            <p:cNvSpPr/>
            <p:nvPr/>
          </p:nvSpPr>
          <p:spPr>
            <a:xfrm>
              <a:off x="10508" y="7285"/>
              <a:ext cx="792" cy="680"/>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000" dirty="0">
                  <a:latin typeface="Times New Roman" panose="02020603050405020304" pitchFamily="18" charset="0"/>
                  <a:ea typeface="宋体" panose="02010600030101010101" pitchFamily="2" charset="-122"/>
                </a:rPr>
                <a:t>V</a:t>
              </a:r>
              <a:r>
                <a:rPr lang="en-US" altLang="zh-CN" sz="2000" baseline="-18000" dirty="0">
                  <a:latin typeface="Times New Roman" panose="02020603050405020304" pitchFamily="18" charset="0"/>
                  <a:ea typeface="宋体" panose="02010600030101010101" pitchFamily="2" charset="-122"/>
                </a:rPr>
                <a:t>8</a:t>
              </a:r>
              <a:endParaRPr lang="en-US" altLang="zh-CN" sz="2000" baseline="-18000" dirty="0">
                <a:latin typeface="Times New Roman" panose="02020603050405020304" pitchFamily="18" charset="0"/>
                <a:ea typeface="宋体" panose="02010600030101010101" pitchFamily="2" charset="-122"/>
              </a:endParaRPr>
            </a:p>
          </p:txBody>
        </p:sp>
        <p:sp>
          <p:nvSpPr>
            <p:cNvPr id="28686" name="Line 17"/>
            <p:cNvSpPr/>
            <p:nvPr/>
          </p:nvSpPr>
          <p:spPr>
            <a:xfrm flipH="1" flipV="1">
              <a:off x="12663" y="4380"/>
              <a:ext cx="1020" cy="225"/>
            </a:xfrm>
            <a:prstGeom prst="line">
              <a:avLst/>
            </a:prstGeom>
            <a:ln w="28575" cap="flat" cmpd="sng">
              <a:solidFill>
                <a:schemeClr val="tx1"/>
              </a:solidFill>
              <a:prstDash val="solid"/>
              <a:round/>
              <a:headEnd type="none" w="med" len="med"/>
              <a:tailEnd type="triangle" w="med" len="med"/>
            </a:ln>
          </p:spPr>
        </p:sp>
        <p:sp>
          <p:nvSpPr>
            <p:cNvPr id="28687" name="Line 18"/>
            <p:cNvSpPr/>
            <p:nvPr/>
          </p:nvSpPr>
          <p:spPr>
            <a:xfrm>
              <a:off x="12748" y="5433"/>
              <a:ext cx="907" cy="452"/>
            </a:xfrm>
            <a:prstGeom prst="line">
              <a:avLst/>
            </a:prstGeom>
            <a:ln w="28575" cap="flat" cmpd="sng">
              <a:solidFill>
                <a:schemeClr val="tx1"/>
              </a:solidFill>
              <a:prstDash val="solid"/>
              <a:round/>
              <a:headEnd type="triangle" w="med" len="med"/>
              <a:tailEnd type="none" w="med" len="med"/>
            </a:ln>
          </p:spPr>
        </p:sp>
        <p:sp>
          <p:nvSpPr>
            <p:cNvPr id="28688" name="Line 19"/>
            <p:cNvSpPr/>
            <p:nvPr/>
          </p:nvSpPr>
          <p:spPr>
            <a:xfrm flipH="1" flipV="1">
              <a:off x="12413" y="5738"/>
              <a:ext cx="1237" cy="1687"/>
            </a:xfrm>
            <a:prstGeom prst="line">
              <a:avLst/>
            </a:prstGeom>
            <a:ln w="28575" cap="flat" cmpd="sng">
              <a:solidFill>
                <a:schemeClr val="tx1"/>
              </a:solidFill>
              <a:prstDash val="solid"/>
              <a:round/>
              <a:headEnd type="none" w="med" len="med"/>
              <a:tailEnd type="triangle" w="med" len="med"/>
            </a:ln>
          </p:spPr>
        </p:sp>
        <p:sp>
          <p:nvSpPr>
            <p:cNvPr id="28689" name="Line 20"/>
            <p:cNvSpPr/>
            <p:nvPr/>
          </p:nvSpPr>
          <p:spPr>
            <a:xfrm flipV="1">
              <a:off x="12775" y="4948"/>
              <a:ext cx="908" cy="340"/>
            </a:xfrm>
            <a:prstGeom prst="line">
              <a:avLst/>
            </a:prstGeom>
            <a:ln w="28575" cap="flat" cmpd="sng">
              <a:solidFill>
                <a:schemeClr val="tx1"/>
              </a:solidFill>
              <a:prstDash val="solid"/>
              <a:round/>
              <a:headEnd type="none" w="med" len="med"/>
              <a:tailEnd type="triangle" w="med" len="med"/>
            </a:ln>
          </p:spPr>
        </p:sp>
        <p:sp>
          <p:nvSpPr>
            <p:cNvPr id="28690" name="Line 21"/>
            <p:cNvSpPr/>
            <p:nvPr/>
          </p:nvSpPr>
          <p:spPr>
            <a:xfrm>
              <a:off x="11308" y="6293"/>
              <a:ext cx="680" cy="397"/>
            </a:xfrm>
            <a:prstGeom prst="line">
              <a:avLst/>
            </a:prstGeom>
            <a:ln w="28575" cap="flat" cmpd="sng">
              <a:solidFill>
                <a:schemeClr val="tx1"/>
              </a:solidFill>
              <a:prstDash val="solid"/>
              <a:round/>
              <a:headEnd type="triangle" w="med" len="med"/>
              <a:tailEnd type="none" w="med" len="med"/>
            </a:ln>
          </p:spPr>
        </p:sp>
        <p:sp>
          <p:nvSpPr>
            <p:cNvPr id="28691" name="Line 22"/>
            <p:cNvSpPr/>
            <p:nvPr/>
          </p:nvSpPr>
          <p:spPr>
            <a:xfrm flipH="1" flipV="1">
              <a:off x="14023" y="6308"/>
              <a:ext cx="0" cy="1020"/>
            </a:xfrm>
            <a:prstGeom prst="line">
              <a:avLst/>
            </a:prstGeom>
            <a:ln w="28575" cap="flat" cmpd="sng">
              <a:solidFill>
                <a:schemeClr val="tx1"/>
              </a:solidFill>
              <a:prstDash val="solid"/>
              <a:round/>
              <a:headEnd type="none" w="med" len="med"/>
              <a:tailEnd type="triangle" w="med" len="med"/>
            </a:ln>
          </p:spPr>
        </p:sp>
        <p:sp>
          <p:nvSpPr>
            <p:cNvPr id="28692" name="Line 24"/>
            <p:cNvSpPr/>
            <p:nvPr/>
          </p:nvSpPr>
          <p:spPr>
            <a:xfrm flipV="1">
              <a:off x="11168" y="7025"/>
              <a:ext cx="840" cy="360"/>
            </a:xfrm>
            <a:prstGeom prst="line">
              <a:avLst/>
            </a:prstGeom>
            <a:ln w="28575" cap="flat" cmpd="sng">
              <a:solidFill>
                <a:schemeClr val="tx1"/>
              </a:solidFill>
              <a:prstDash val="solid"/>
              <a:round/>
              <a:headEnd type="none" w="med" len="med"/>
              <a:tailEnd type="triangle" w="med" len="med"/>
            </a:ln>
          </p:spPr>
        </p:sp>
        <p:sp>
          <p:nvSpPr>
            <p:cNvPr id="28693" name="Line 25"/>
            <p:cNvSpPr/>
            <p:nvPr/>
          </p:nvSpPr>
          <p:spPr>
            <a:xfrm>
              <a:off x="11288" y="7645"/>
              <a:ext cx="792" cy="283"/>
            </a:xfrm>
            <a:prstGeom prst="line">
              <a:avLst/>
            </a:prstGeom>
            <a:ln w="28575" cap="flat" cmpd="sng">
              <a:solidFill>
                <a:schemeClr val="tx1"/>
              </a:solidFill>
              <a:prstDash val="solid"/>
              <a:round/>
              <a:headEnd type="triangle" w="med" len="med"/>
              <a:tailEnd type="none" w="med" len="med"/>
            </a:ln>
          </p:spPr>
        </p:sp>
        <p:sp>
          <p:nvSpPr>
            <p:cNvPr id="28694" name="Line 26"/>
            <p:cNvSpPr/>
            <p:nvPr/>
          </p:nvSpPr>
          <p:spPr>
            <a:xfrm flipV="1">
              <a:off x="10838" y="6525"/>
              <a:ext cx="112" cy="788"/>
            </a:xfrm>
            <a:prstGeom prst="line">
              <a:avLst/>
            </a:prstGeom>
            <a:ln w="28575" cap="flat" cmpd="sng">
              <a:solidFill>
                <a:schemeClr val="tx1"/>
              </a:solidFill>
              <a:prstDash val="solid"/>
              <a:round/>
              <a:headEnd type="none" w="med" len="med"/>
              <a:tailEnd type="triangle" w="med" len="med"/>
            </a:ln>
          </p:spPr>
        </p:sp>
        <p:sp>
          <p:nvSpPr>
            <p:cNvPr id="28695" name="Line 27"/>
            <p:cNvSpPr/>
            <p:nvPr/>
          </p:nvSpPr>
          <p:spPr>
            <a:xfrm flipV="1">
              <a:off x="11063" y="5625"/>
              <a:ext cx="1012" cy="338"/>
            </a:xfrm>
            <a:prstGeom prst="line">
              <a:avLst/>
            </a:prstGeom>
            <a:ln w="28575" cap="flat" cmpd="sng">
              <a:solidFill>
                <a:schemeClr val="tx1"/>
              </a:solidFill>
              <a:prstDash val="solid"/>
              <a:round/>
              <a:headEnd type="none" w="med" len="med"/>
              <a:tailEnd type="triangle" w="med" len="med"/>
            </a:ln>
          </p:spPr>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lvl="0" algn="l" eaLnBrk="1" hangingPunct="1">
              <a:lnSpc>
                <a:spcPct val="100000"/>
              </a:lnSpc>
              <a:buClrTx/>
              <a:buSzTx/>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图的数据结构：G＝(V, E) ，V是顶点，E是边或弧</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marL="914400" lvl="2" indent="-457200" algn="l" eaLnBrk="1" hangingPunct="1">
              <a:lnSpc>
                <a:spcPct val="100000"/>
              </a:lnSpc>
              <a:buClrTx/>
              <a:buSzTx/>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无向图的边(x,y)，有向图的弧&lt;x,y&gt;，带权值的图称为网</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0" algn="l" eaLnBrk="1" hangingPunct="1">
              <a:lnSpc>
                <a:spcPct val="100000"/>
              </a:lnSpc>
              <a:buClrTx/>
              <a:buSzTx/>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图的结构术语：</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marL="914400" lvl="2" indent="-457200" algn="l" eaLnBrk="1" hangingPunct="1">
              <a:lnSpc>
                <a:spcPct val="100000"/>
              </a:lnSpc>
              <a:buClrTx/>
              <a:buSzTx/>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无向完全图、有向完全图</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914400" lvl="2" indent="-457200" algn="l" eaLnBrk="1" hangingPunct="1">
              <a:lnSpc>
                <a:spcPct val="100000"/>
              </a:lnSpc>
              <a:buClrTx/>
              <a:buSzTx/>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邻接、度、入度、出度</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914400" lvl="2" indent="-457200" algn="l" eaLnBrk="1" hangingPunct="1">
              <a:lnSpc>
                <a:spcPct val="100000"/>
              </a:lnSpc>
              <a:buClrTx/>
              <a:buSzTx/>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路径、回路（环）、简单路径</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0" algn="l" eaLnBrk="1" hangingPunct="1">
              <a:lnSpc>
                <a:spcPct val="100000"/>
              </a:lnSpc>
              <a:buClrTx/>
              <a:buSzTx/>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图的连通术语：</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914400" lvl="2" indent="-457200" algn="l" eaLnBrk="1" hangingPunct="1">
              <a:lnSpc>
                <a:spcPct val="100000"/>
              </a:lnSpc>
              <a:buClrTx/>
              <a:buSzTx/>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无向图：点的连通，连通分量、连通图</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914400" lvl="2" indent="-457200" algn="l" eaLnBrk="1" hangingPunct="1">
              <a:lnSpc>
                <a:spcPct val="100000"/>
              </a:lnSpc>
              <a:buClrTx/>
              <a:buSzTx/>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有向图：点的强连通，强连通分量、强连通图</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914400" lvl="2" indent="-457200" algn="l" eaLnBrk="1" hangingPunct="1">
              <a:lnSpc>
                <a:spcPct val="100000"/>
              </a:lnSpc>
              <a:buClrTx/>
              <a:buSzTx/>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生成树，往往用于无向图</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914400" lvl="2" indent="-457200" algn="l" eaLnBrk="1" hangingPunct="1">
              <a:lnSpc>
                <a:spcPct val="100000"/>
              </a:lnSpc>
              <a:buClrTx/>
              <a:buSzTx/>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生成森林，往往用于有向图</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914400" lvl="2" indent="-457200" algn="l">
              <a:buClrTx/>
              <a:buSzTx/>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sym typeface="+mn-ea"/>
              </a:rPr>
              <a:t>上节课</a:t>
            </a:r>
            <a:r>
              <a:rPr lang="zh-CN" altLang="en-US" sz="4000">
                <a:solidFill>
                  <a:srgbClr val="FF0000"/>
                </a:solidFill>
                <a:latin typeface="楷体" panose="02010609060101010101" charset="-122"/>
                <a:ea typeface="楷体" panose="02010609060101010101" charset="-122"/>
              </a:rPr>
              <a:t>复习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469640" y="1268730"/>
            <a:ext cx="6001385" cy="3540760"/>
          </a:xfrm>
          <a:prstGeom prst="rect">
            <a:avLst/>
          </a:prstGeom>
        </p:spPr>
        <p:txBody>
          <a:bodyPr vert="horz" lIns="91440" tIns="45720" rIns="91440" bIns="45720" rtlCol="0"/>
          <a:lstStyle/>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图的定义和术语</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图的存储结构</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图的遍历</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图的连通</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有向无环图及其应用</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最短路径</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endParaRPr kumimoji="0" lang="zh-CN" altLang="en-US" sz="3200" b="0" i="0" u="none" strike="noStrike" kern="1200" cap="none" spc="0" normalizeH="0" baseline="0" noProof="0" dirty="0" err="1" smtClean="0">
              <a:ln>
                <a:noFill/>
              </a:ln>
              <a:solidFill>
                <a:schemeClr val="tx1"/>
              </a:solidFill>
              <a:effectLst/>
              <a:uLnTx/>
              <a:uFillTx/>
              <a:latin typeface="楷体" panose="02010609060101010101" charset="-122"/>
              <a:ea typeface="楷体" panose="02010609060101010101" charset="-122"/>
              <a:cs typeface="+mn-cs"/>
              <a:sym typeface="+mn-lt"/>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
        <p:nvSpPr>
          <p:cNvPr id="8" name="矩形 7"/>
          <p:cNvSpPr/>
          <p:nvPr/>
        </p:nvSpPr>
        <p:spPr>
          <a:xfrm>
            <a:off x="4088130" y="1826260"/>
            <a:ext cx="2630805" cy="5308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46" name="Text Box 2"/>
          <p:cNvSpPr txBox="1"/>
          <p:nvPr/>
        </p:nvSpPr>
        <p:spPr>
          <a:xfrm>
            <a:off x="2712085" y="170815"/>
            <a:ext cx="6443980" cy="768350"/>
          </a:xfrm>
          <a:prstGeom prst="rect">
            <a:avLst/>
          </a:prstGeom>
          <a:noFill/>
          <a:ln w="9525">
            <a:noFill/>
          </a:ln>
        </p:spPr>
        <p:txBody>
          <a:bodyPr wrap="square" anchor="t" anchorCtr="0">
            <a:spAutoFit/>
          </a:bodyPr>
          <a:p>
            <a:pPr algn="ctr"/>
            <a:r>
              <a:rPr lang="zh-CN" altLang="en-US" sz="4400" b="1" dirty="0">
                <a:solidFill>
                  <a:srgbClr val="0000CC"/>
                </a:solidFill>
                <a:latin typeface="楷体" panose="02010609060101010101" charset="-122"/>
                <a:ea typeface="楷体" panose="02010609060101010101" charset="-122"/>
              </a:rPr>
              <a:t>第七章	</a:t>
            </a:r>
            <a:r>
              <a:rPr lang="zh-CN" altLang="en-US" sz="4400" b="1" dirty="0">
                <a:solidFill>
                  <a:srgbClr val="0000CC"/>
                </a:solidFill>
                <a:latin typeface="楷体" panose="02010609060101010101" charset="-122"/>
                <a:ea typeface="楷体" panose="02010609060101010101" charset="-122"/>
              </a:rPr>
              <a:t>图</a:t>
            </a:r>
            <a:endParaRPr lang="zh-CN" altLang="en-US" sz="4400" b="1" dirty="0">
              <a:solidFill>
                <a:srgbClr val="0000CC"/>
              </a:solidFill>
              <a:latin typeface="楷体" panose="02010609060101010101" charset="-122"/>
              <a:ea typeface="楷体" panose="02010609060101010101" charset="-122"/>
            </a:endParaRPr>
          </a:p>
        </p:txBody>
      </p:sp>
    </p:spTree>
  </p:cSld>
  <p:clrMapOvr>
    <a:masterClrMapping/>
  </p:clrMapOvr>
  <p:transition spd="med">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图是逻辑结构</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图的存储结构有：</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rPr>
              <a:t>邻接矩阵</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rPr>
              <a:t>邻接表</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rPr>
              <a:t>逆邻接表，只适用</a:t>
            </a:r>
            <a:r>
              <a:rPr lang="zh-CN" altLang="en-US" dirty="0">
                <a:latin typeface="黑体" panose="02010609060101010101" pitchFamily="2" charset="-122"/>
                <a:ea typeface="黑体" panose="02010609060101010101" pitchFamily="2" charset="-122"/>
                <a:cs typeface="+mn-ea"/>
              </a:rPr>
              <a:t>有向图</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十字邻接表（</a:t>
            </a:r>
            <a:r>
              <a:rPr lang="zh-CN" altLang="en-US" sz="2400" dirty="0">
                <a:solidFill>
                  <a:srgbClr val="FF0000"/>
                </a:solidFill>
                <a:latin typeface="黑体" panose="02010609060101010101" pitchFamily="2" charset="-122"/>
                <a:ea typeface="黑体" panose="02010609060101010101" pitchFamily="2" charset="-122"/>
                <a:cs typeface="+mn-ea"/>
                <a:sym typeface="+mn-ea"/>
              </a:rPr>
              <a:t>自学</a:t>
            </a:r>
            <a:r>
              <a:rPr lang="zh-CN" altLang="en-US" sz="2400" dirty="0">
                <a:latin typeface="黑体" panose="02010609060101010101" pitchFamily="2" charset="-122"/>
                <a:ea typeface="黑体" panose="02010609060101010101" pitchFamily="2" charset="-122"/>
                <a:cs typeface="+mn-ea"/>
                <a:sym typeface="+mn-ea"/>
              </a:rPr>
              <a:t>）</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邻接多重表</a:t>
            </a:r>
            <a:r>
              <a:rPr lang="zh-CN" altLang="en-US" dirty="0">
                <a:latin typeface="黑体" panose="02010609060101010101" pitchFamily="2" charset="-122"/>
                <a:ea typeface="黑体" panose="02010609060101010101" pitchFamily="2" charset="-122"/>
                <a:cs typeface="+mn-ea"/>
                <a:sym typeface="+mn-ea"/>
              </a:rPr>
              <a:t>（</a:t>
            </a:r>
            <a:r>
              <a:rPr lang="zh-CN" altLang="en-US" dirty="0">
                <a:solidFill>
                  <a:srgbClr val="FF0000"/>
                </a:solidFill>
                <a:latin typeface="黑体" panose="02010609060101010101" pitchFamily="2" charset="-122"/>
                <a:ea typeface="黑体" panose="02010609060101010101" pitchFamily="2" charset="-122"/>
                <a:cs typeface="+mn-ea"/>
                <a:sym typeface="+mn-ea"/>
              </a:rPr>
              <a:t>自学</a:t>
            </a:r>
            <a:r>
              <a:rPr lang="zh-CN" altLang="en-US" dirty="0">
                <a:latin typeface="黑体" panose="02010609060101010101" pitchFamily="2" charset="-122"/>
                <a:ea typeface="黑体" panose="02010609060101010101" pitchFamily="2" charset="-122"/>
                <a:cs typeface="+mn-ea"/>
                <a:sym typeface="+mn-ea"/>
              </a:rPr>
              <a:t>）</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7.2 图的</a:t>
            </a:r>
            <a:r>
              <a:rPr lang="zh-CN" altLang="en-US">
                <a:latin typeface="楷体" panose="02010609060101010101" charset="-122"/>
                <a:ea typeface="楷体" panose="02010609060101010101" charset="-122"/>
                <a:cs typeface="楷体" panose="02010609060101010101" charset="-122"/>
                <a:sym typeface="+mn-ea"/>
              </a:rPr>
              <a:t>存储</a:t>
            </a:r>
            <a:r>
              <a:rPr lang="zh-CN" altLang="en-US">
                <a:latin typeface="楷体" panose="02010609060101010101" charset="-122"/>
                <a:ea typeface="楷体" panose="02010609060101010101" charset="-122"/>
                <a:cs typeface="楷体" panose="02010609060101010101" charset="-122"/>
                <a:sym typeface="+mn-ea"/>
              </a:rPr>
              <a:t>结构</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邻接矩阵</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Adjacency Matrix</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，是图的一种顺序存储</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结构，记录各顶点之间关系的二维数组</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在邻接</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矩阵中，以1表示两顶点存在边(或弧)(相邻接)，以0表示两顶点不邻接，即</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spcBef>
                <a:spcPct val="30000"/>
              </a:spcBef>
              <a:buClr>
                <a:schemeClr val="accent1"/>
              </a:buClr>
              <a:buSzTx/>
              <a:buFont typeface="Wingdings" panose="05000000000000000000" pitchFamily="2" charset="2"/>
            </a:pPr>
            <a:endParaRPr lang="zh-CN" altLang="en-US" sz="2400" dirty="0">
              <a:latin typeface="宋体" panose="02010600030101010101" pitchFamily="2" charset="-122"/>
            </a:endParaRPr>
          </a:p>
          <a:p>
            <a:pPr marL="609600" indent="-609600" eaLnBrk="1" hangingPunct="1">
              <a:spcBef>
                <a:spcPct val="0"/>
              </a:spcBef>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1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如果</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(i,j)</a:t>
            </a:r>
            <a:r>
              <a:rPr lang="en-US" altLang="zh-CN" sz="24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E </a:t>
            </a:r>
            <a:r>
              <a:rPr lang="zh-CN" altLang="en-US" sz="24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或 </a:t>
            </a:r>
            <a:r>
              <a:rPr lang="en-US" altLang="zh-CN" sz="24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&lt;i,j&gt;E</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spcBef>
                <a:spcPct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A[i][j] = </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spcBef>
                <a:spcPct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0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其它</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7.2 图的</a:t>
            </a:r>
            <a:r>
              <a:rPr lang="zh-CN" altLang="en-US">
                <a:latin typeface="楷体" panose="02010609060101010101" charset="-122"/>
                <a:ea typeface="楷体" panose="02010609060101010101" charset="-122"/>
                <a:cs typeface="楷体" panose="02010609060101010101" charset="-122"/>
                <a:sym typeface="+mn-ea"/>
              </a:rPr>
              <a:t>存储</a:t>
            </a:r>
            <a:r>
              <a:rPr lang="zh-CN" altLang="en-US">
                <a:latin typeface="楷体" panose="02010609060101010101" charset="-122"/>
                <a:ea typeface="楷体" panose="02010609060101010101" charset="-122"/>
                <a:cs typeface="楷体" panose="02010609060101010101" charset="-122"/>
                <a:sym typeface="+mn-ea"/>
              </a:rPr>
              <a:t>结构</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邻接矩阵示例</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7.2 图的</a:t>
            </a:r>
            <a:r>
              <a:rPr lang="zh-CN" altLang="en-US">
                <a:latin typeface="楷体" panose="02010609060101010101" charset="-122"/>
                <a:ea typeface="楷体" panose="02010609060101010101" charset="-122"/>
                <a:cs typeface="楷体" panose="02010609060101010101" charset="-122"/>
                <a:sym typeface="+mn-ea"/>
              </a:rPr>
              <a:t>存储</a:t>
            </a:r>
            <a:r>
              <a:rPr lang="zh-CN" altLang="en-US">
                <a:latin typeface="楷体" panose="02010609060101010101" charset="-122"/>
                <a:ea typeface="楷体" panose="02010609060101010101" charset="-122"/>
                <a:cs typeface="楷体" panose="02010609060101010101" charset="-122"/>
                <a:sym typeface="+mn-ea"/>
              </a:rPr>
              <a:t>结构</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30724" name="Group 4"/>
          <p:cNvGrpSpPr/>
          <p:nvPr/>
        </p:nvGrpSpPr>
        <p:grpSpPr>
          <a:xfrm>
            <a:off x="2439988" y="4107815"/>
            <a:ext cx="2057400" cy="1600200"/>
            <a:chOff x="3648" y="2875"/>
            <a:chExt cx="1824" cy="1440"/>
          </a:xfrm>
        </p:grpSpPr>
        <p:sp>
          <p:nvSpPr>
            <p:cNvPr id="30725" name="Line 5"/>
            <p:cNvSpPr/>
            <p:nvPr/>
          </p:nvSpPr>
          <p:spPr>
            <a:xfrm flipH="1">
              <a:off x="4272" y="3024"/>
              <a:ext cx="576" cy="0"/>
            </a:xfrm>
            <a:prstGeom prst="line">
              <a:avLst/>
            </a:prstGeom>
            <a:ln w="38100" cap="flat" cmpd="sng">
              <a:solidFill>
                <a:srgbClr val="009900"/>
              </a:solidFill>
              <a:prstDash val="solid"/>
              <a:round/>
              <a:headEnd type="none" w="med" len="med"/>
              <a:tailEnd type="none" w="med" len="med"/>
            </a:ln>
          </p:spPr>
        </p:sp>
        <p:sp>
          <p:nvSpPr>
            <p:cNvPr id="30726" name="Line 6"/>
            <p:cNvSpPr/>
            <p:nvPr/>
          </p:nvSpPr>
          <p:spPr>
            <a:xfrm>
              <a:off x="4944" y="3120"/>
              <a:ext cx="0" cy="960"/>
            </a:xfrm>
            <a:prstGeom prst="line">
              <a:avLst/>
            </a:prstGeom>
            <a:ln w="38100" cap="flat" cmpd="sng">
              <a:solidFill>
                <a:srgbClr val="009900"/>
              </a:solidFill>
              <a:prstDash val="solid"/>
              <a:round/>
              <a:headEnd type="none" w="med" len="med"/>
              <a:tailEnd type="none" w="med" len="med"/>
            </a:ln>
          </p:spPr>
        </p:sp>
        <p:sp>
          <p:nvSpPr>
            <p:cNvPr id="30727" name="Line 7"/>
            <p:cNvSpPr/>
            <p:nvPr/>
          </p:nvSpPr>
          <p:spPr>
            <a:xfrm>
              <a:off x="4992" y="3072"/>
              <a:ext cx="336" cy="480"/>
            </a:xfrm>
            <a:prstGeom prst="line">
              <a:avLst/>
            </a:prstGeom>
            <a:ln w="38100" cap="flat" cmpd="sng">
              <a:solidFill>
                <a:srgbClr val="009900"/>
              </a:solidFill>
              <a:prstDash val="solid"/>
              <a:round/>
              <a:headEnd type="none" w="med" len="med"/>
              <a:tailEnd type="none" w="med" len="med"/>
            </a:ln>
          </p:spPr>
        </p:sp>
        <p:sp>
          <p:nvSpPr>
            <p:cNvPr id="30728" name="Line 8"/>
            <p:cNvSpPr/>
            <p:nvPr/>
          </p:nvSpPr>
          <p:spPr>
            <a:xfrm flipH="1">
              <a:off x="3840" y="3072"/>
              <a:ext cx="240" cy="432"/>
            </a:xfrm>
            <a:prstGeom prst="line">
              <a:avLst/>
            </a:prstGeom>
            <a:ln w="38100" cap="flat" cmpd="sng">
              <a:solidFill>
                <a:srgbClr val="009900"/>
              </a:solidFill>
              <a:prstDash val="solid"/>
              <a:round/>
              <a:headEnd type="none" w="med" len="med"/>
              <a:tailEnd type="none" w="med" len="med"/>
            </a:ln>
          </p:spPr>
        </p:sp>
        <p:sp>
          <p:nvSpPr>
            <p:cNvPr id="30729" name="Line 9"/>
            <p:cNvSpPr/>
            <p:nvPr/>
          </p:nvSpPr>
          <p:spPr>
            <a:xfrm flipH="1" flipV="1">
              <a:off x="4128" y="3120"/>
              <a:ext cx="0" cy="1008"/>
            </a:xfrm>
            <a:prstGeom prst="line">
              <a:avLst/>
            </a:prstGeom>
            <a:ln w="38100" cap="flat" cmpd="sng">
              <a:solidFill>
                <a:srgbClr val="009900"/>
              </a:solidFill>
              <a:prstDash val="solid"/>
              <a:round/>
              <a:headEnd type="none" w="med" len="med"/>
              <a:tailEnd type="none" w="med" len="med"/>
            </a:ln>
          </p:spPr>
        </p:sp>
        <p:sp>
          <p:nvSpPr>
            <p:cNvPr id="30730" name="Line 10"/>
            <p:cNvSpPr/>
            <p:nvPr/>
          </p:nvSpPr>
          <p:spPr>
            <a:xfrm flipH="1" flipV="1">
              <a:off x="4176" y="3072"/>
              <a:ext cx="1104" cy="576"/>
            </a:xfrm>
            <a:prstGeom prst="line">
              <a:avLst/>
            </a:prstGeom>
            <a:ln w="38100" cap="flat" cmpd="sng">
              <a:solidFill>
                <a:srgbClr val="009900"/>
              </a:solidFill>
              <a:prstDash val="solid"/>
              <a:round/>
              <a:headEnd type="none" w="med" len="med"/>
              <a:tailEnd type="none" w="med" len="med"/>
            </a:ln>
          </p:spPr>
        </p:sp>
        <p:sp>
          <p:nvSpPr>
            <p:cNvPr id="30731" name="Line 11"/>
            <p:cNvSpPr/>
            <p:nvPr/>
          </p:nvSpPr>
          <p:spPr>
            <a:xfrm flipH="1" flipV="1">
              <a:off x="3792" y="3696"/>
              <a:ext cx="288" cy="432"/>
            </a:xfrm>
            <a:prstGeom prst="line">
              <a:avLst/>
            </a:prstGeom>
            <a:ln w="38100" cap="flat" cmpd="sng">
              <a:solidFill>
                <a:srgbClr val="009900"/>
              </a:solidFill>
              <a:prstDash val="solid"/>
              <a:round/>
              <a:headEnd type="none" w="med" len="med"/>
              <a:tailEnd type="none" w="med" len="med"/>
            </a:ln>
          </p:spPr>
        </p:sp>
        <p:sp>
          <p:nvSpPr>
            <p:cNvPr id="30732" name="Line 12"/>
            <p:cNvSpPr/>
            <p:nvPr/>
          </p:nvSpPr>
          <p:spPr>
            <a:xfrm flipH="1">
              <a:off x="4176" y="4176"/>
              <a:ext cx="720" cy="0"/>
            </a:xfrm>
            <a:prstGeom prst="line">
              <a:avLst/>
            </a:prstGeom>
            <a:ln w="38100" cap="flat" cmpd="sng">
              <a:solidFill>
                <a:srgbClr val="009900"/>
              </a:solidFill>
              <a:prstDash val="solid"/>
              <a:round/>
              <a:headEnd type="none" w="med" len="med"/>
              <a:tailEnd type="none" w="med" len="med"/>
            </a:ln>
          </p:spPr>
        </p:sp>
        <p:sp>
          <p:nvSpPr>
            <p:cNvPr id="30733" name="Line 13"/>
            <p:cNvSpPr/>
            <p:nvPr/>
          </p:nvSpPr>
          <p:spPr>
            <a:xfrm flipH="1">
              <a:off x="4224" y="3648"/>
              <a:ext cx="1056" cy="480"/>
            </a:xfrm>
            <a:prstGeom prst="line">
              <a:avLst/>
            </a:prstGeom>
            <a:ln w="38100" cap="flat" cmpd="sng">
              <a:solidFill>
                <a:srgbClr val="009900"/>
              </a:solidFill>
              <a:prstDash val="solid"/>
              <a:round/>
              <a:headEnd type="none" w="med" len="med"/>
              <a:tailEnd type="none" w="med" len="med"/>
            </a:ln>
          </p:spPr>
        </p:sp>
        <p:sp>
          <p:nvSpPr>
            <p:cNvPr id="30734" name="Line 14"/>
            <p:cNvSpPr/>
            <p:nvPr/>
          </p:nvSpPr>
          <p:spPr>
            <a:xfrm flipH="1">
              <a:off x="4992" y="3696"/>
              <a:ext cx="336" cy="480"/>
            </a:xfrm>
            <a:prstGeom prst="line">
              <a:avLst/>
            </a:prstGeom>
            <a:ln w="38100" cap="flat" cmpd="sng">
              <a:solidFill>
                <a:srgbClr val="009900"/>
              </a:solidFill>
              <a:prstDash val="solid"/>
              <a:round/>
              <a:headEnd type="none" w="med" len="med"/>
              <a:tailEnd type="none" w="med" len="med"/>
            </a:ln>
          </p:spPr>
        </p:sp>
        <p:grpSp>
          <p:nvGrpSpPr>
            <p:cNvPr id="30735" name="Group 15"/>
            <p:cNvGrpSpPr/>
            <p:nvPr/>
          </p:nvGrpSpPr>
          <p:grpSpPr>
            <a:xfrm>
              <a:off x="3648" y="2875"/>
              <a:ext cx="1824" cy="1440"/>
              <a:chOff x="3648" y="2880"/>
              <a:chExt cx="1824" cy="1440"/>
            </a:xfrm>
          </p:grpSpPr>
          <p:sp>
            <p:nvSpPr>
              <p:cNvPr id="30736" name="Oval 16"/>
              <p:cNvSpPr/>
              <p:nvPr/>
            </p:nvSpPr>
            <p:spPr>
              <a:xfrm>
                <a:off x="3984" y="2880"/>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1</a:t>
                </a:r>
                <a:endParaRPr lang="en-US" altLang="zh-CN" sz="2000" dirty="0">
                  <a:solidFill>
                    <a:schemeClr val="bg1"/>
                  </a:solidFill>
                  <a:latin typeface="Tahoma" panose="020B0604030504040204" charset="0"/>
                  <a:ea typeface="宋体" panose="02010600030101010101" pitchFamily="2" charset="-122"/>
                </a:endParaRPr>
              </a:p>
            </p:txBody>
          </p:sp>
          <p:sp>
            <p:nvSpPr>
              <p:cNvPr id="30737" name="Oval 17"/>
              <p:cNvSpPr/>
              <p:nvPr/>
            </p:nvSpPr>
            <p:spPr>
              <a:xfrm>
                <a:off x="3984"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3</a:t>
                </a:r>
                <a:endParaRPr lang="en-US" altLang="zh-CN" sz="2000" dirty="0">
                  <a:solidFill>
                    <a:schemeClr val="bg1"/>
                  </a:solidFill>
                  <a:latin typeface="Tahoma" panose="020B0604030504040204" charset="0"/>
                  <a:ea typeface="宋体" panose="02010600030101010101" pitchFamily="2" charset="-122"/>
                </a:endParaRPr>
              </a:p>
            </p:txBody>
          </p:sp>
          <p:sp>
            <p:nvSpPr>
              <p:cNvPr id="30738" name="Oval 18"/>
              <p:cNvSpPr/>
              <p:nvPr/>
            </p:nvSpPr>
            <p:spPr>
              <a:xfrm>
                <a:off x="3648" y="3456"/>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2</a:t>
                </a:r>
                <a:endParaRPr lang="en-US" altLang="zh-CN" sz="2000" dirty="0">
                  <a:solidFill>
                    <a:schemeClr val="bg1"/>
                  </a:solidFill>
                  <a:latin typeface="Tahoma" panose="020B0604030504040204" charset="0"/>
                  <a:ea typeface="宋体" panose="02010600030101010101" pitchFamily="2" charset="-122"/>
                </a:endParaRPr>
              </a:p>
            </p:txBody>
          </p:sp>
          <p:sp>
            <p:nvSpPr>
              <p:cNvPr id="30739" name="Oval 19"/>
              <p:cNvSpPr/>
              <p:nvPr/>
            </p:nvSpPr>
            <p:spPr>
              <a:xfrm>
                <a:off x="5184" y="350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5</a:t>
                </a:r>
                <a:endParaRPr lang="en-US" altLang="zh-CN" sz="2000" dirty="0">
                  <a:solidFill>
                    <a:schemeClr val="bg1"/>
                  </a:solidFill>
                  <a:latin typeface="Tahoma" panose="020B0604030504040204" charset="0"/>
                  <a:ea typeface="宋体" panose="02010600030101010101" pitchFamily="2" charset="-122"/>
                </a:endParaRPr>
              </a:p>
            </p:txBody>
          </p:sp>
          <p:sp>
            <p:nvSpPr>
              <p:cNvPr id="30740" name="Oval 20"/>
              <p:cNvSpPr/>
              <p:nvPr/>
            </p:nvSpPr>
            <p:spPr>
              <a:xfrm>
                <a:off x="4800" y="405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4</a:t>
                </a:r>
                <a:endParaRPr lang="en-US" altLang="zh-CN" sz="2000" dirty="0">
                  <a:solidFill>
                    <a:schemeClr val="bg1"/>
                  </a:solidFill>
                  <a:latin typeface="Tahoma" panose="020B0604030504040204" charset="0"/>
                  <a:ea typeface="宋体" panose="02010600030101010101" pitchFamily="2" charset="-122"/>
                </a:endParaRPr>
              </a:p>
            </p:txBody>
          </p:sp>
          <p:sp>
            <p:nvSpPr>
              <p:cNvPr id="30741" name="Oval 21"/>
              <p:cNvSpPr/>
              <p:nvPr/>
            </p:nvSpPr>
            <p:spPr>
              <a:xfrm>
                <a:off x="4800" y="288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0</a:t>
                </a:r>
                <a:endParaRPr lang="en-US" altLang="zh-CN" sz="2000" dirty="0">
                  <a:solidFill>
                    <a:schemeClr val="bg1"/>
                  </a:solidFill>
                  <a:latin typeface="Tahoma" panose="020B0604030504040204" charset="0"/>
                  <a:ea typeface="宋体" panose="02010600030101010101" pitchFamily="2" charset="-122"/>
                </a:endParaRPr>
              </a:p>
            </p:txBody>
          </p:sp>
        </p:grpSp>
      </p:grpSp>
      <p:grpSp>
        <p:nvGrpSpPr>
          <p:cNvPr id="5" name="组合 4"/>
          <p:cNvGrpSpPr/>
          <p:nvPr/>
        </p:nvGrpSpPr>
        <p:grpSpPr>
          <a:xfrm>
            <a:off x="2135188" y="1700530"/>
            <a:ext cx="2514600" cy="2364423"/>
            <a:chOff x="3818" y="2689"/>
            <a:chExt cx="3960" cy="3724"/>
          </a:xfrm>
        </p:grpSpPr>
        <p:grpSp>
          <p:nvGrpSpPr>
            <p:cNvPr id="6" name="Group 22"/>
            <p:cNvGrpSpPr/>
            <p:nvPr/>
          </p:nvGrpSpPr>
          <p:grpSpPr>
            <a:xfrm>
              <a:off x="3818" y="3360"/>
              <a:ext cx="3960" cy="3053"/>
              <a:chOff x="624" y="4320"/>
              <a:chExt cx="1584" cy="1221"/>
            </a:xfrm>
          </p:grpSpPr>
          <p:grpSp>
            <p:nvGrpSpPr>
              <p:cNvPr id="30743" name="Group 23"/>
              <p:cNvGrpSpPr/>
              <p:nvPr/>
            </p:nvGrpSpPr>
            <p:grpSpPr>
              <a:xfrm>
                <a:off x="624" y="4416"/>
                <a:ext cx="1584" cy="1008"/>
                <a:chOff x="624" y="4416"/>
                <a:chExt cx="1584" cy="1008"/>
              </a:xfrm>
            </p:grpSpPr>
            <p:sp>
              <p:nvSpPr>
                <p:cNvPr id="30744" name="AutoShape 24"/>
                <p:cNvSpPr/>
                <p:nvPr/>
              </p:nvSpPr>
              <p:spPr>
                <a:xfrm>
                  <a:off x="624" y="4464"/>
                  <a:ext cx="48" cy="960"/>
                </a:xfrm>
                <a:prstGeom prst="leftBracket">
                  <a:avLst>
                    <a:gd name="adj" fmla="val 166574"/>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0745" name="AutoShape 25"/>
                <p:cNvSpPr/>
                <p:nvPr/>
              </p:nvSpPr>
              <p:spPr>
                <a:xfrm flipH="1">
                  <a:off x="2160" y="4416"/>
                  <a:ext cx="48" cy="1008"/>
                </a:xfrm>
                <a:prstGeom prst="leftBracket">
                  <a:avLst>
                    <a:gd name="adj" fmla="val 175000"/>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grpSp>
          <p:sp>
            <p:nvSpPr>
              <p:cNvPr id="30746" name="Text Box 26"/>
              <p:cNvSpPr txBox="1"/>
              <p:nvPr/>
            </p:nvSpPr>
            <p:spPr>
              <a:xfrm>
                <a:off x="720" y="4320"/>
                <a:ext cx="1488" cy="1221"/>
              </a:xfrm>
              <a:prstGeom prst="rect">
                <a:avLst/>
              </a:prstGeom>
              <a:noFill/>
              <a:ln w="9525">
                <a:noFill/>
              </a:ln>
            </p:spPr>
            <p:txBody>
              <a:bodyPr anchor="t" anchorCtr="0">
                <a:spAutoFit/>
              </a:bodyPr>
              <a:p>
                <a:pPr>
                  <a:buClr>
                    <a:schemeClr val="folHlink"/>
                  </a:buClr>
                  <a:buSzPct val="60000"/>
                  <a:buFont typeface="Wingdings" panose="05000000000000000000" pitchFamily="2" charset="2"/>
                </a:pPr>
                <a:r>
                  <a:rPr lang="en-US" altLang="zh-CN" sz="2000" dirty="0">
                    <a:latin typeface="黑体" panose="02010609060101010101" pitchFamily="2" charset="-122"/>
                    <a:ea typeface="黑体" panose="02010609060101010101" pitchFamily="2" charset="-122"/>
                  </a:rPr>
                  <a:t>0  1  0  0  1  1                      </a:t>
                </a:r>
                <a:endParaRPr lang="en-US" altLang="zh-CN" sz="2000" dirty="0">
                  <a:latin typeface="黑体" panose="02010609060101010101" pitchFamily="2" charset="-122"/>
                  <a:ea typeface="黑体" panose="02010609060101010101" pitchFamily="2" charset="-122"/>
                </a:endParaRPr>
              </a:p>
              <a:p>
                <a:pPr>
                  <a:buClr>
                    <a:schemeClr val="folHlink"/>
                  </a:buClr>
                  <a:buSzPct val="60000"/>
                  <a:buFont typeface="Wingdings" panose="05000000000000000000" pitchFamily="2" charset="2"/>
                </a:pPr>
                <a:r>
                  <a:rPr lang="en-US" altLang="zh-CN" sz="2000" dirty="0">
                    <a:latin typeface="黑体" panose="02010609060101010101" pitchFamily="2" charset="-122"/>
                    <a:ea typeface="黑体" panose="02010609060101010101" pitchFamily="2" charset="-122"/>
                  </a:rPr>
                  <a:t>1  0  1  1  0  1</a:t>
                </a:r>
                <a:endParaRPr lang="en-US" altLang="zh-CN" sz="2000" dirty="0">
                  <a:latin typeface="黑体" panose="02010609060101010101" pitchFamily="2" charset="-122"/>
                  <a:ea typeface="黑体" panose="02010609060101010101" pitchFamily="2" charset="-122"/>
                </a:endParaRPr>
              </a:p>
              <a:p>
                <a:pPr>
                  <a:buClr>
                    <a:schemeClr val="folHlink"/>
                  </a:buClr>
                  <a:buSzPct val="60000"/>
                  <a:buFont typeface="Wingdings" panose="05000000000000000000" pitchFamily="2" charset="2"/>
                </a:pPr>
                <a:r>
                  <a:rPr lang="en-US" altLang="zh-CN" sz="2000" dirty="0">
                    <a:latin typeface="黑体" panose="02010609060101010101" pitchFamily="2" charset="-122"/>
                    <a:ea typeface="黑体" panose="02010609060101010101" pitchFamily="2" charset="-122"/>
                  </a:rPr>
                  <a:t>0  1  0  1  0  0</a:t>
                </a:r>
                <a:endParaRPr lang="en-US" altLang="zh-CN" sz="2000" dirty="0">
                  <a:latin typeface="黑体" panose="02010609060101010101" pitchFamily="2" charset="-122"/>
                  <a:ea typeface="黑体" panose="02010609060101010101" pitchFamily="2" charset="-122"/>
                </a:endParaRPr>
              </a:p>
              <a:p>
                <a:pPr>
                  <a:buClr>
                    <a:schemeClr val="folHlink"/>
                  </a:buClr>
                  <a:buSzPct val="60000"/>
                  <a:buFont typeface="Wingdings" panose="05000000000000000000" pitchFamily="2" charset="2"/>
                </a:pPr>
                <a:r>
                  <a:rPr lang="en-US" altLang="zh-CN" sz="2000" dirty="0">
                    <a:latin typeface="黑体" panose="02010609060101010101" pitchFamily="2" charset="-122"/>
                    <a:ea typeface="黑体" panose="02010609060101010101" pitchFamily="2" charset="-122"/>
                  </a:rPr>
                  <a:t>0  1  1  0  1  1</a:t>
                </a:r>
                <a:endParaRPr lang="en-US" altLang="zh-CN" sz="2000" dirty="0">
                  <a:latin typeface="黑体" panose="02010609060101010101" pitchFamily="2" charset="-122"/>
                  <a:ea typeface="黑体" panose="02010609060101010101" pitchFamily="2" charset="-122"/>
                </a:endParaRPr>
              </a:p>
              <a:p>
                <a:pPr>
                  <a:buClr>
                    <a:schemeClr val="folHlink"/>
                  </a:buClr>
                  <a:buSzPct val="60000"/>
                  <a:buFont typeface="Wingdings" panose="05000000000000000000" pitchFamily="2" charset="2"/>
                </a:pPr>
                <a:r>
                  <a:rPr lang="en-US" altLang="zh-CN" sz="2000" dirty="0">
                    <a:latin typeface="黑体" panose="02010609060101010101" pitchFamily="2" charset="-122"/>
                    <a:ea typeface="黑体" panose="02010609060101010101" pitchFamily="2" charset="-122"/>
                  </a:rPr>
                  <a:t>1  0  0  1  0  1</a:t>
                </a:r>
                <a:endParaRPr lang="en-US" altLang="zh-CN" sz="2000" dirty="0">
                  <a:latin typeface="黑体" panose="02010609060101010101" pitchFamily="2" charset="-122"/>
                  <a:ea typeface="黑体" panose="02010609060101010101" pitchFamily="2" charset="-122"/>
                </a:endParaRPr>
              </a:p>
              <a:p>
                <a:pPr>
                  <a:buClr>
                    <a:schemeClr val="folHlink"/>
                  </a:buClr>
                  <a:buSzPct val="60000"/>
                  <a:buFont typeface="Wingdings" panose="05000000000000000000" pitchFamily="2" charset="2"/>
                </a:pPr>
                <a:r>
                  <a:rPr lang="en-US" altLang="zh-CN" sz="2000" dirty="0">
                    <a:latin typeface="黑体" panose="02010609060101010101" pitchFamily="2" charset="-122"/>
                    <a:ea typeface="黑体" panose="02010609060101010101" pitchFamily="2" charset="-122"/>
                  </a:rPr>
                  <a:t>1  1  0  1  1  0</a:t>
                </a:r>
                <a:endParaRPr lang="en-US" altLang="zh-CN" sz="2400" dirty="0">
                  <a:latin typeface="Tahoma" panose="020B0604030504040204" charset="0"/>
                  <a:ea typeface="宋体" panose="02010600030101010101" pitchFamily="2" charset="-122"/>
                </a:endParaRPr>
              </a:p>
            </p:txBody>
          </p:sp>
        </p:grpSp>
        <p:sp>
          <p:nvSpPr>
            <p:cNvPr id="7" name="文本框 6"/>
            <p:cNvSpPr txBox="1"/>
            <p:nvPr/>
          </p:nvSpPr>
          <p:spPr>
            <a:xfrm>
              <a:off x="3838" y="2689"/>
              <a:ext cx="3819" cy="667"/>
            </a:xfrm>
            <a:prstGeom prst="rect">
              <a:avLst/>
            </a:prstGeom>
          </p:spPr>
          <p:txBody>
            <a:bodyPr vert="horz" wrap="square" lIns="91440" tIns="45720" rIns="91440" bIns="45720" rtlCol="0" anchor="t">
              <a:spAutoFit/>
            </a:bodyPr>
            <a:p>
              <a:pPr marL="0" lvl="0" indent="0">
                <a:lnSpc>
                  <a:spcPct val="90000"/>
                </a:lnSpc>
                <a:spcBef>
                  <a:spcPts val="1000"/>
                </a:spcBef>
                <a:buClr>
                  <a:schemeClr val="accent2"/>
                </a:buClr>
                <a:buFont typeface="Wingdings" panose="05000000000000000000" pitchFamily="2" charset="2"/>
                <a:buNone/>
              </a:pPr>
              <a:r>
                <a:rPr lang="zh-CN" altLang="en-US" sz="2400" b="1" dirty="0">
                  <a:latin typeface="宋体" panose="02010600030101010101" pitchFamily="2" charset="-122"/>
                  <a:sym typeface="+mn-ea"/>
                </a:rPr>
                <a:t>无向图邻接矩阵</a:t>
              </a:r>
              <a:endParaRPr lang="zh-CN" altLang="en-US" sz="2400" b="1" dirty="0">
                <a:latin typeface="宋体" panose="02010600030101010101" pitchFamily="2" charset="-122"/>
                <a:sym typeface="+mn-ea"/>
              </a:endParaRPr>
            </a:p>
          </p:txBody>
        </p:sp>
      </p:grpSp>
      <p:grpSp>
        <p:nvGrpSpPr>
          <p:cNvPr id="30747" name="Group 27"/>
          <p:cNvGrpSpPr/>
          <p:nvPr/>
        </p:nvGrpSpPr>
        <p:grpSpPr>
          <a:xfrm>
            <a:off x="6830060" y="3809683"/>
            <a:ext cx="2057400" cy="1676400"/>
            <a:chOff x="3696" y="2784"/>
            <a:chExt cx="1920" cy="1536"/>
          </a:xfrm>
        </p:grpSpPr>
        <p:sp>
          <p:nvSpPr>
            <p:cNvPr id="30748" name="Line 28"/>
            <p:cNvSpPr/>
            <p:nvPr/>
          </p:nvSpPr>
          <p:spPr>
            <a:xfrm flipH="1" flipV="1">
              <a:off x="4752" y="2976"/>
              <a:ext cx="624" cy="384"/>
            </a:xfrm>
            <a:prstGeom prst="line">
              <a:avLst/>
            </a:prstGeom>
            <a:ln w="38100" cap="flat" cmpd="sng">
              <a:solidFill>
                <a:srgbClr val="009900"/>
              </a:solidFill>
              <a:prstDash val="solid"/>
              <a:round/>
              <a:headEnd type="triangle" w="med" len="med"/>
              <a:tailEnd type="none" w="med" len="med"/>
            </a:ln>
          </p:spPr>
        </p:sp>
        <p:sp>
          <p:nvSpPr>
            <p:cNvPr id="30749" name="Line 29"/>
            <p:cNvSpPr/>
            <p:nvPr/>
          </p:nvSpPr>
          <p:spPr>
            <a:xfrm>
              <a:off x="3888" y="3504"/>
              <a:ext cx="240" cy="576"/>
            </a:xfrm>
            <a:prstGeom prst="line">
              <a:avLst/>
            </a:prstGeom>
            <a:ln w="38100" cap="flat" cmpd="sng">
              <a:solidFill>
                <a:srgbClr val="009900"/>
              </a:solidFill>
              <a:prstDash val="solid"/>
              <a:round/>
              <a:headEnd type="none" w="med" len="med"/>
              <a:tailEnd type="triangle" w="med" len="med"/>
            </a:ln>
          </p:spPr>
        </p:sp>
        <p:sp>
          <p:nvSpPr>
            <p:cNvPr id="30750" name="Line 30"/>
            <p:cNvSpPr/>
            <p:nvPr/>
          </p:nvSpPr>
          <p:spPr>
            <a:xfrm flipH="1">
              <a:off x="3936" y="2928"/>
              <a:ext cx="672" cy="384"/>
            </a:xfrm>
            <a:prstGeom prst="line">
              <a:avLst/>
            </a:prstGeom>
            <a:ln w="38100" cap="flat" cmpd="sng">
              <a:solidFill>
                <a:srgbClr val="009900"/>
              </a:solidFill>
              <a:prstDash val="solid"/>
              <a:round/>
              <a:headEnd type="none" w="med" len="med"/>
              <a:tailEnd type="triangle" w="med" len="med"/>
            </a:ln>
          </p:spPr>
        </p:sp>
        <p:sp>
          <p:nvSpPr>
            <p:cNvPr id="30751" name="Line 31"/>
            <p:cNvSpPr/>
            <p:nvPr/>
          </p:nvSpPr>
          <p:spPr>
            <a:xfrm flipH="1" flipV="1">
              <a:off x="4704" y="2976"/>
              <a:ext cx="384" cy="1056"/>
            </a:xfrm>
            <a:prstGeom prst="line">
              <a:avLst/>
            </a:prstGeom>
            <a:ln w="38100" cap="flat" cmpd="sng">
              <a:solidFill>
                <a:srgbClr val="009900"/>
              </a:solidFill>
              <a:prstDash val="solid"/>
              <a:round/>
              <a:headEnd type="triangle" w="med" len="med"/>
              <a:tailEnd type="none" w="med" len="med"/>
            </a:ln>
          </p:spPr>
        </p:sp>
        <p:sp>
          <p:nvSpPr>
            <p:cNvPr id="30752" name="Line 32"/>
            <p:cNvSpPr/>
            <p:nvPr/>
          </p:nvSpPr>
          <p:spPr>
            <a:xfrm flipH="1">
              <a:off x="4272" y="4176"/>
              <a:ext cx="720" cy="0"/>
            </a:xfrm>
            <a:prstGeom prst="line">
              <a:avLst/>
            </a:prstGeom>
            <a:ln w="38100" cap="flat" cmpd="sng">
              <a:solidFill>
                <a:srgbClr val="009900"/>
              </a:solidFill>
              <a:prstDash val="solid"/>
              <a:round/>
              <a:headEnd type="none" w="med" len="med"/>
              <a:tailEnd type="triangle" w="med" len="med"/>
            </a:ln>
          </p:spPr>
        </p:sp>
        <p:sp>
          <p:nvSpPr>
            <p:cNvPr id="30753" name="Line 33"/>
            <p:cNvSpPr/>
            <p:nvPr/>
          </p:nvSpPr>
          <p:spPr>
            <a:xfrm flipH="1">
              <a:off x="4272" y="3552"/>
              <a:ext cx="1152" cy="576"/>
            </a:xfrm>
            <a:prstGeom prst="line">
              <a:avLst/>
            </a:prstGeom>
            <a:ln w="38100" cap="flat" cmpd="sng">
              <a:solidFill>
                <a:srgbClr val="009900"/>
              </a:solidFill>
              <a:prstDash val="solid"/>
              <a:round/>
              <a:headEnd type="triangle" w="med" len="med"/>
              <a:tailEnd type="none" w="med" len="med"/>
            </a:ln>
          </p:spPr>
        </p:sp>
        <p:sp>
          <p:nvSpPr>
            <p:cNvPr id="30754" name="Oval 34"/>
            <p:cNvSpPr/>
            <p:nvPr/>
          </p:nvSpPr>
          <p:spPr>
            <a:xfrm>
              <a:off x="3696" y="326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1</a:t>
              </a:r>
              <a:endParaRPr lang="en-US" altLang="zh-CN" sz="2000" dirty="0">
                <a:solidFill>
                  <a:schemeClr val="bg1"/>
                </a:solidFill>
                <a:latin typeface="Tahoma" panose="020B0604030504040204" charset="0"/>
                <a:ea typeface="宋体" panose="02010600030101010101" pitchFamily="2" charset="-122"/>
              </a:endParaRPr>
            </a:p>
          </p:txBody>
        </p:sp>
        <p:sp>
          <p:nvSpPr>
            <p:cNvPr id="30755" name="Oval 35"/>
            <p:cNvSpPr/>
            <p:nvPr/>
          </p:nvSpPr>
          <p:spPr>
            <a:xfrm>
              <a:off x="4992"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3</a:t>
              </a:r>
              <a:endParaRPr lang="en-US" altLang="zh-CN" sz="2000" dirty="0">
                <a:solidFill>
                  <a:schemeClr val="bg1"/>
                </a:solidFill>
                <a:latin typeface="Tahoma" panose="020B0604030504040204" charset="0"/>
                <a:ea typeface="宋体" panose="02010600030101010101" pitchFamily="2" charset="-122"/>
              </a:endParaRPr>
            </a:p>
          </p:txBody>
        </p:sp>
        <p:sp>
          <p:nvSpPr>
            <p:cNvPr id="30756" name="Oval 36"/>
            <p:cNvSpPr/>
            <p:nvPr/>
          </p:nvSpPr>
          <p:spPr>
            <a:xfrm>
              <a:off x="4032"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2</a:t>
              </a:r>
              <a:endParaRPr lang="en-US" altLang="zh-CN" sz="2000" dirty="0">
                <a:solidFill>
                  <a:schemeClr val="bg1"/>
                </a:solidFill>
                <a:latin typeface="Tahoma" panose="020B0604030504040204" charset="0"/>
                <a:ea typeface="宋体" panose="02010600030101010101" pitchFamily="2" charset="-122"/>
              </a:endParaRPr>
            </a:p>
          </p:txBody>
        </p:sp>
        <p:sp>
          <p:nvSpPr>
            <p:cNvPr id="30757" name="Oval 37"/>
            <p:cNvSpPr/>
            <p:nvPr/>
          </p:nvSpPr>
          <p:spPr>
            <a:xfrm>
              <a:off x="5328" y="3312"/>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4</a:t>
              </a:r>
              <a:endParaRPr lang="en-US" altLang="zh-CN" sz="2000" dirty="0">
                <a:solidFill>
                  <a:schemeClr val="bg1"/>
                </a:solidFill>
                <a:latin typeface="Tahoma" panose="020B0604030504040204" charset="0"/>
                <a:ea typeface="宋体" panose="02010600030101010101" pitchFamily="2" charset="-122"/>
              </a:endParaRPr>
            </a:p>
          </p:txBody>
        </p:sp>
        <p:sp>
          <p:nvSpPr>
            <p:cNvPr id="30758" name="Oval 38"/>
            <p:cNvSpPr/>
            <p:nvPr/>
          </p:nvSpPr>
          <p:spPr>
            <a:xfrm>
              <a:off x="4512" y="2784"/>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0</a:t>
              </a:r>
              <a:endParaRPr lang="en-US" altLang="zh-CN" sz="2000" dirty="0">
                <a:solidFill>
                  <a:schemeClr val="bg1"/>
                </a:solidFill>
                <a:latin typeface="Tahoma" panose="020B0604030504040204" charset="0"/>
                <a:ea typeface="宋体" panose="02010600030101010101" pitchFamily="2" charset="-122"/>
              </a:endParaRPr>
            </a:p>
          </p:txBody>
        </p:sp>
      </p:grpSp>
      <p:grpSp>
        <p:nvGrpSpPr>
          <p:cNvPr id="8" name="组合 7"/>
          <p:cNvGrpSpPr/>
          <p:nvPr/>
        </p:nvGrpSpPr>
        <p:grpSpPr>
          <a:xfrm>
            <a:off x="6528435" y="1663700"/>
            <a:ext cx="2421890" cy="2100580"/>
            <a:chOff x="10620" y="2733"/>
            <a:chExt cx="3814" cy="3308"/>
          </a:xfrm>
        </p:grpSpPr>
        <p:grpSp>
          <p:nvGrpSpPr>
            <p:cNvPr id="9" name="Group 39"/>
            <p:cNvGrpSpPr/>
            <p:nvPr/>
          </p:nvGrpSpPr>
          <p:grpSpPr>
            <a:xfrm>
              <a:off x="10735" y="3473"/>
              <a:ext cx="3360" cy="2568"/>
              <a:chOff x="3216" y="4608"/>
              <a:chExt cx="1344" cy="1027"/>
            </a:xfrm>
          </p:grpSpPr>
          <p:sp>
            <p:nvSpPr>
              <p:cNvPr id="30760" name="AutoShape 40"/>
              <p:cNvSpPr/>
              <p:nvPr/>
            </p:nvSpPr>
            <p:spPr>
              <a:xfrm>
                <a:off x="3216" y="4752"/>
                <a:ext cx="48" cy="816"/>
              </a:xfrm>
              <a:prstGeom prst="leftBracket">
                <a:avLst>
                  <a:gd name="adj" fmla="val 141587"/>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0761" name="AutoShape 41"/>
              <p:cNvSpPr/>
              <p:nvPr/>
            </p:nvSpPr>
            <p:spPr>
              <a:xfrm flipH="1">
                <a:off x="4416" y="4752"/>
                <a:ext cx="96" cy="816"/>
              </a:xfrm>
              <a:prstGeom prst="leftBracket">
                <a:avLst>
                  <a:gd name="adj" fmla="val 70793"/>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0762" name="Text Box 42"/>
              <p:cNvSpPr txBox="1"/>
              <p:nvPr/>
            </p:nvSpPr>
            <p:spPr>
              <a:xfrm>
                <a:off x="3264" y="4608"/>
                <a:ext cx="1296" cy="1027"/>
              </a:xfrm>
              <a:prstGeom prst="rect">
                <a:avLst/>
              </a:prstGeom>
              <a:noFill/>
              <a:ln w="9525">
                <a:noFill/>
              </a:ln>
            </p:spPr>
            <p:txBody>
              <a:bodyPr anchor="t" anchorCtr="0">
                <a:spAutoFit/>
              </a:bodyPr>
              <a:p>
                <a:pPr>
                  <a:spcBef>
                    <a:spcPct val="50000"/>
                  </a:spcBef>
                </a:pPr>
                <a:r>
                  <a:rPr lang="en-US" altLang="zh-CN" sz="2000" dirty="0">
                    <a:latin typeface="黑体" panose="02010609060101010101" pitchFamily="2" charset="-122"/>
                    <a:ea typeface="黑体" panose="02010609060101010101" pitchFamily="2" charset="-122"/>
                  </a:rPr>
                  <a:t>0  1  0  1  1</a:t>
                </a:r>
                <a:endParaRPr lang="en-US" altLang="zh-CN" sz="2000" dirty="0">
                  <a:latin typeface="黑体" panose="02010609060101010101" pitchFamily="2" charset="-122"/>
                  <a:ea typeface="黑体" panose="02010609060101010101" pitchFamily="2" charset="-122"/>
                </a:endParaRPr>
              </a:p>
              <a:p>
                <a:pPr>
                  <a:buClr>
                    <a:schemeClr val="folHlink"/>
                  </a:buClr>
                  <a:buSzPct val="60000"/>
                  <a:buFont typeface="Wingdings" panose="05000000000000000000" pitchFamily="2" charset="2"/>
                </a:pPr>
                <a:r>
                  <a:rPr lang="en-US" altLang="zh-CN" sz="2000" dirty="0">
                    <a:latin typeface="黑体" panose="02010609060101010101" pitchFamily="2" charset="-122"/>
                    <a:ea typeface="黑体" panose="02010609060101010101" pitchFamily="2" charset="-122"/>
                  </a:rPr>
                  <a:t>0  0  1  0  0</a:t>
                </a:r>
                <a:endParaRPr lang="en-US" altLang="zh-CN" sz="2000" dirty="0">
                  <a:latin typeface="黑体" panose="02010609060101010101" pitchFamily="2" charset="-122"/>
                  <a:ea typeface="黑体" panose="02010609060101010101" pitchFamily="2" charset="-122"/>
                </a:endParaRPr>
              </a:p>
              <a:p>
                <a:pPr>
                  <a:buClr>
                    <a:schemeClr val="folHlink"/>
                  </a:buClr>
                  <a:buSzPct val="60000"/>
                  <a:buFont typeface="Wingdings" panose="05000000000000000000" pitchFamily="2" charset="2"/>
                </a:pPr>
                <a:r>
                  <a:rPr lang="en-US" altLang="zh-CN" sz="2000" dirty="0">
                    <a:latin typeface="黑体" panose="02010609060101010101" pitchFamily="2" charset="-122"/>
                    <a:ea typeface="黑体" panose="02010609060101010101" pitchFamily="2" charset="-122"/>
                  </a:rPr>
                  <a:t>0  0  0  0  1</a:t>
                </a:r>
                <a:endParaRPr lang="en-US" altLang="zh-CN" sz="2000" dirty="0">
                  <a:latin typeface="黑体" panose="02010609060101010101" pitchFamily="2" charset="-122"/>
                  <a:ea typeface="黑体" panose="02010609060101010101" pitchFamily="2" charset="-122"/>
                </a:endParaRPr>
              </a:p>
              <a:p>
                <a:pPr>
                  <a:buClr>
                    <a:schemeClr val="folHlink"/>
                  </a:buClr>
                  <a:buSzPct val="60000"/>
                  <a:buFont typeface="Wingdings" panose="05000000000000000000" pitchFamily="2" charset="2"/>
                </a:pPr>
                <a:r>
                  <a:rPr lang="en-US" altLang="zh-CN" sz="2000" dirty="0">
                    <a:latin typeface="黑体" panose="02010609060101010101" pitchFamily="2" charset="-122"/>
                    <a:ea typeface="黑体" panose="02010609060101010101" pitchFamily="2" charset="-122"/>
                  </a:rPr>
                  <a:t>0  0  1  0  0</a:t>
                </a:r>
                <a:endParaRPr lang="en-US" altLang="zh-CN" sz="2000" dirty="0">
                  <a:latin typeface="黑体" panose="02010609060101010101" pitchFamily="2" charset="-122"/>
                  <a:ea typeface="黑体" panose="02010609060101010101" pitchFamily="2" charset="-122"/>
                </a:endParaRPr>
              </a:p>
              <a:p>
                <a:pPr>
                  <a:buClr>
                    <a:schemeClr val="folHlink"/>
                  </a:buClr>
                  <a:buSzPct val="60000"/>
                  <a:buFont typeface="Wingdings" panose="05000000000000000000" pitchFamily="2" charset="2"/>
                </a:pPr>
                <a:r>
                  <a:rPr lang="en-US" altLang="zh-CN" sz="2000" dirty="0">
                    <a:latin typeface="黑体" panose="02010609060101010101" pitchFamily="2" charset="-122"/>
                    <a:ea typeface="黑体" panose="02010609060101010101" pitchFamily="2" charset="-122"/>
                  </a:rPr>
                  <a:t>0  0  0  0  0</a:t>
                </a:r>
                <a:endParaRPr lang="en-US" altLang="zh-CN" sz="2000" dirty="0">
                  <a:latin typeface="黑体" panose="02010609060101010101" pitchFamily="2" charset="-122"/>
                  <a:ea typeface="黑体" panose="02010609060101010101" pitchFamily="2" charset="-122"/>
                </a:endParaRPr>
              </a:p>
            </p:txBody>
          </p:sp>
        </p:grpSp>
        <p:sp>
          <p:nvSpPr>
            <p:cNvPr id="10" name="文本框 9"/>
            <p:cNvSpPr txBox="1"/>
            <p:nvPr/>
          </p:nvSpPr>
          <p:spPr>
            <a:xfrm>
              <a:off x="10620" y="2733"/>
              <a:ext cx="3814" cy="667"/>
            </a:xfrm>
            <a:prstGeom prst="rect">
              <a:avLst/>
            </a:prstGeom>
          </p:spPr>
          <p:txBody>
            <a:bodyPr vert="horz" wrap="square" lIns="91440" tIns="45720" rIns="91440" bIns="45720" rtlCol="0" anchor="t">
              <a:spAutoFit/>
            </a:bodyPr>
            <a:p>
              <a:pPr marL="0" lvl="0" indent="0">
                <a:lnSpc>
                  <a:spcPct val="90000"/>
                </a:lnSpc>
                <a:spcBef>
                  <a:spcPts val="1000"/>
                </a:spcBef>
                <a:buClr>
                  <a:schemeClr val="accent2"/>
                </a:buClr>
                <a:buFont typeface="Wingdings" panose="05000000000000000000" pitchFamily="2" charset="2"/>
                <a:buNone/>
              </a:pPr>
              <a:r>
                <a:rPr lang="zh-CN" altLang="en-US" sz="2400" b="1" dirty="0">
                  <a:latin typeface="宋体" panose="02010600030101010101" pitchFamily="2" charset="-122"/>
                  <a:sym typeface="+mn-ea"/>
                </a:rPr>
                <a:t>有向图邻接矩阵</a:t>
              </a:r>
              <a:endParaRPr lang="zh-CN" altLang="en-US" sz="2400" b="1" dirty="0">
                <a:latin typeface="宋体" panose="02010600030101010101" pitchFamily="2" charset="-122"/>
                <a:sym typeface="+mn-ea"/>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无向图邻接矩阵的性质：</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判断顶点</a:t>
            </a:r>
            <a:r>
              <a:rPr lang="en-US" altLang="zh-CN" sz="2400" dirty="0">
                <a:latin typeface="黑体" panose="02010609060101010101" pitchFamily="2" charset="-122"/>
                <a:ea typeface="黑体" panose="02010609060101010101" pitchFamily="2" charset="-122"/>
                <a:cs typeface="+mn-ea"/>
                <a:sym typeface="+mn-ea"/>
              </a:rPr>
              <a:t>i</a:t>
            </a:r>
            <a:r>
              <a:rPr lang="zh-CN" altLang="en-US" sz="2400" dirty="0">
                <a:latin typeface="黑体" panose="02010609060101010101" pitchFamily="2" charset="-122"/>
                <a:ea typeface="黑体" panose="02010609060101010101" pitchFamily="2" charset="-122"/>
                <a:cs typeface="+mn-ea"/>
                <a:sym typeface="+mn-ea"/>
              </a:rPr>
              <a:t>和顶点</a:t>
            </a:r>
            <a:r>
              <a:rPr lang="en-US" altLang="zh-CN" sz="2400" dirty="0">
                <a:latin typeface="黑体" panose="02010609060101010101" pitchFamily="2" charset="-122"/>
                <a:ea typeface="黑体" panose="02010609060101010101" pitchFamily="2" charset="-122"/>
                <a:cs typeface="+mn-ea"/>
                <a:sym typeface="+mn-ea"/>
              </a:rPr>
              <a:t>j</a:t>
            </a:r>
            <a:r>
              <a:rPr lang="zh-CN" altLang="en-US" sz="2400" dirty="0">
                <a:latin typeface="黑体" panose="02010609060101010101" pitchFamily="2" charset="-122"/>
                <a:ea typeface="黑体" panose="02010609060101010101" pitchFamily="2" charset="-122"/>
                <a:cs typeface="+mn-ea"/>
                <a:sym typeface="+mn-ea"/>
              </a:rPr>
              <a:t>是否邻接，看</a:t>
            </a:r>
            <a:r>
              <a:rPr lang="en-US" altLang="zh-CN" sz="2400" dirty="0">
                <a:latin typeface="黑体" panose="02010609060101010101" pitchFamily="2" charset="-122"/>
                <a:ea typeface="黑体" panose="02010609060101010101" pitchFamily="2" charset="-122"/>
                <a:cs typeface="+mn-ea"/>
                <a:sym typeface="+mn-ea"/>
              </a:rPr>
              <a:t>A[i][j]</a:t>
            </a:r>
            <a:r>
              <a:rPr lang="zh-CN" altLang="en-US" sz="2400" dirty="0">
                <a:latin typeface="黑体" panose="02010609060101010101" pitchFamily="2" charset="-122"/>
                <a:ea typeface="黑体" panose="02010609060101010101" pitchFamily="2" charset="-122"/>
                <a:cs typeface="+mn-ea"/>
                <a:sym typeface="+mn-ea"/>
              </a:rPr>
              <a:t>或</a:t>
            </a:r>
            <a:r>
              <a:rPr lang="en-US" altLang="zh-CN" sz="2400" dirty="0">
                <a:latin typeface="黑体" panose="02010609060101010101" pitchFamily="2" charset="-122"/>
                <a:ea typeface="黑体" panose="02010609060101010101" pitchFamily="2" charset="-122"/>
                <a:cs typeface="+mn-ea"/>
                <a:sym typeface="+mn-ea"/>
              </a:rPr>
              <a:t>A</a:t>
            </a:r>
            <a:r>
              <a:rPr lang="en-US" altLang="zh-CN" dirty="0">
                <a:latin typeface="黑体" panose="02010609060101010101" pitchFamily="2" charset="-122"/>
                <a:ea typeface="黑体" panose="02010609060101010101" pitchFamily="2" charset="-122"/>
                <a:cs typeface="+mn-ea"/>
                <a:sym typeface="+mn-ea"/>
              </a:rPr>
              <a:t>[j][i]</a:t>
            </a:r>
            <a:r>
              <a:rPr lang="zh-CN" altLang="en-US" sz="2400" dirty="0">
                <a:latin typeface="黑体" panose="02010609060101010101" pitchFamily="2" charset="-122"/>
                <a:ea typeface="黑体" panose="02010609060101010101" pitchFamily="2" charset="-122"/>
                <a:cs typeface="+mn-ea"/>
                <a:sym typeface="+mn-ea"/>
              </a:rPr>
              <a:t>是否等于</a:t>
            </a:r>
            <a:r>
              <a:rPr lang="en-US" altLang="zh-CN" sz="2400" dirty="0">
                <a:latin typeface="黑体" panose="02010609060101010101" pitchFamily="2" charset="-122"/>
                <a:ea typeface="黑体" panose="02010609060101010101" pitchFamily="2" charset="-122"/>
                <a:cs typeface="+mn-ea"/>
                <a:sym typeface="+mn-ea"/>
              </a:rPr>
              <a:t>1</a:t>
            </a: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无向图邻接矩阵是对称的</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其第i行1的个数或第i列1的个数，等于顶点i的度TD(i)</a:t>
            </a:r>
            <a:endParaRPr lang="zh-CN" altLang="en-US" sz="2400" b="0" dirty="0">
              <a:latin typeface="黑体" panose="02010609060101010101" pitchFamily="2" charset="-122"/>
              <a:ea typeface="黑体" panose="02010609060101010101" pitchFamily="2" charset="-122"/>
              <a:cs typeface="+mn-ea"/>
            </a:endParaRPr>
          </a:p>
          <a:p>
            <a:pPr marL="457200" lvl="1" indent="-457200" algn="l" eaLnBrk="1" hangingPunct="1">
              <a:buClrTx/>
              <a:buSzTx/>
              <a:buFont typeface="Wingdings" panose="05000000000000000000" charset="0"/>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有向图邻接矩阵的性质：</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判断顶点</a:t>
            </a:r>
            <a:r>
              <a:rPr lang="en-US" altLang="zh-CN" dirty="0">
                <a:latin typeface="黑体" panose="02010609060101010101" pitchFamily="2" charset="-122"/>
                <a:ea typeface="黑体" panose="02010609060101010101" pitchFamily="2" charset="-122"/>
                <a:cs typeface="+mn-ea"/>
                <a:sym typeface="+mn-ea"/>
              </a:rPr>
              <a:t>i</a:t>
            </a:r>
            <a:r>
              <a:rPr lang="zh-CN" altLang="en-US" dirty="0">
                <a:latin typeface="黑体" panose="02010609060101010101" pitchFamily="2" charset="-122"/>
                <a:ea typeface="黑体" panose="02010609060101010101" pitchFamily="2" charset="-122"/>
                <a:cs typeface="+mn-ea"/>
                <a:sym typeface="+mn-ea"/>
              </a:rPr>
              <a:t>到顶点</a:t>
            </a:r>
            <a:r>
              <a:rPr lang="en-US" altLang="zh-CN" dirty="0">
                <a:latin typeface="黑体" panose="02010609060101010101" pitchFamily="2" charset="-122"/>
                <a:ea typeface="黑体" panose="02010609060101010101" pitchFamily="2" charset="-122"/>
                <a:cs typeface="+mn-ea"/>
                <a:sym typeface="+mn-ea"/>
              </a:rPr>
              <a:t>j</a:t>
            </a:r>
            <a:r>
              <a:rPr lang="zh-CN" altLang="en-US" dirty="0">
                <a:latin typeface="黑体" panose="02010609060101010101" pitchFamily="2" charset="-122"/>
                <a:ea typeface="黑体" panose="02010609060101010101" pitchFamily="2" charset="-122"/>
                <a:cs typeface="+mn-ea"/>
                <a:sym typeface="+mn-ea"/>
              </a:rPr>
              <a:t>是否邻接，看</a:t>
            </a:r>
            <a:r>
              <a:rPr lang="en-US" altLang="zh-CN" dirty="0">
                <a:latin typeface="黑体" panose="02010609060101010101" pitchFamily="2" charset="-122"/>
                <a:ea typeface="黑体" panose="02010609060101010101" pitchFamily="2" charset="-122"/>
                <a:cs typeface="+mn-ea"/>
                <a:sym typeface="+mn-ea"/>
              </a:rPr>
              <a:t>A[i][j]</a:t>
            </a:r>
            <a:r>
              <a:rPr lang="zh-CN" altLang="en-US" dirty="0">
                <a:latin typeface="黑体" panose="02010609060101010101" pitchFamily="2" charset="-122"/>
                <a:ea typeface="黑体" panose="02010609060101010101" pitchFamily="2" charset="-122"/>
                <a:cs typeface="+mn-ea"/>
                <a:sym typeface="+mn-ea"/>
              </a:rPr>
              <a:t>是否等于</a:t>
            </a:r>
            <a:r>
              <a:rPr lang="en-US" altLang="zh-CN" dirty="0">
                <a:latin typeface="黑体" panose="02010609060101010101" pitchFamily="2" charset="-122"/>
                <a:ea typeface="黑体" panose="02010609060101010101" pitchFamily="2" charset="-122"/>
                <a:cs typeface="+mn-ea"/>
                <a:sym typeface="+mn-ea"/>
              </a:rPr>
              <a:t>1</a:t>
            </a:r>
            <a:endParaRPr lang="en-US" altLang="zh-CN"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判断顶点</a:t>
            </a:r>
            <a:r>
              <a:rPr lang="en-US" altLang="zh-CN" dirty="0">
                <a:latin typeface="黑体" panose="02010609060101010101" pitchFamily="2" charset="-122"/>
                <a:ea typeface="黑体" panose="02010609060101010101" pitchFamily="2" charset="-122"/>
                <a:cs typeface="+mn-ea"/>
                <a:sym typeface="+mn-ea"/>
              </a:rPr>
              <a:t>j</a:t>
            </a:r>
            <a:r>
              <a:rPr lang="zh-CN" altLang="en-US" dirty="0">
                <a:latin typeface="黑体" panose="02010609060101010101" pitchFamily="2" charset="-122"/>
                <a:ea typeface="黑体" panose="02010609060101010101" pitchFamily="2" charset="-122"/>
                <a:cs typeface="+mn-ea"/>
                <a:sym typeface="+mn-ea"/>
              </a:rPr>
              <a:t>到顶点</a:t>
            </a:r>
            <a:r>
              <a:rPr lang="en-US" altLang="zh-CN" dirty="0">
                <a:latin typeface="黑体" panose="02010609060101010101" pitchFamily="2" charset="-122"/>
                <a:ea typeface="黑体" panose="02010609060101010101" pitchFamily="2" charset="-122"/>
                <a:cs typeface="+mn-ea"/>
                <a:sym typeface="+mn-ea"/>
              </a:rPr>
              <a:t>i</a:t>
            </a:r>
            <a:r>
              <a:rPr lang="zh-CN" altLang="en-US" dirty="0">
                <a:latin typeface="黑体" panose="02010609060101010101" pitchFamily="2" charset="-122"/>
                <a:ea typeface="黑体" panose="02010609060101010101" pitchFamily="2" charset="-122"/>
                <a:cs typeface="+mn-ea"/>
                <a:sym typeface="+mn-ea"/>
              </a:rPr>
              <a:t>是否邻接，看</a:t>
            </a:r>
            <a:r>
              <a:rPr lang="en-US" altLang="zh-CN" dirty="0">
                <a:latin typeface="黑体" panose="02010609060101010101" pitchFamily="2" charset="-122"/>
                <a:ea typeface="黑体" panose="02010609060101010101" pitchFamily="2" charset="-122"/>
                <a:cs typeface="+mn-ea"/>
                <a:sym typeface="+mn-ea"/>
              </a:rPr>
              <a:t>A[j][i]</a:t>
            </a:r>
            <a:r>
              <a:rPr lang="zh-CN" altLang="en-US" dirty="0">
                <a:latin typeface="黑体" panose="02010609060101010101" pitchFamily="2" charset="-122"/>
                <a:ea typeface="黑体" panose="02010609060101010101" pitchFamily="2" charset="-122"/>
                <a:cs typeface="+mn-ea"/>
                <a:sym typeface="+mn-ea"/>
              </a:rPr>
              <a:t>是否等于</a:t>
            </a:r>
            <a:r>
              <a:rPr lang="en-US" altLang="zh-CN" dirty="0">
                <a:latin typeface="黑体" panose="02010609060101010101" pitchFamily="2" charset="-122"/>
                <a:ea typeface="黑体" panose="02010609060101010101" pitchFamily="2" charset="-122"/>
                <a:cs typeface="+mn-ea"/>
                <a:sym typeface="+mn-ea"/>
              </a:rPr>
              <a:t>1</a:t>
            </a:r>
            <a:endParaRPr lang="zh-CN" altLang="en-US"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有向图邻接矩阵可能是不对称的</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对于顶点</a:t>
            </a:r>
            <a:r>
              <a:rPr lang="en-US" altLang="zh-CN" dirty="0">
                <a:latin typeface="黑体" panose="02010609060101010101" pitchFamily="2" charset="-122"/>
                <a:ea typeface="黑体" panose="02010609060101010101" pitchFamily="2" charset="-122"/>
                <a:cs typeface="+mn-ea"/>
                <a:sym typeface="+mn-ea"/>
              </a:rPr>
              <a:t>i</a:t>
            </a:r>
            <a:r>
              <a:rPr lang="zh-CN" altLang="en-US" dirty="0">
                <a:latin typeface="黑体" panose="02010609060101010101" pitchFamily="2" charset="-122"/>
                <a:ea typeface="黑体" panose="02010609060101010101" pitchFamily="2" charset="-122"/>
                <a:cs typeface="+mn-ea"/>
                <a:sym typeface="+mn-ea"/>
              </a:rPr>
              <a:t>，</a:t>
            </a:r>
            <a:r>
              <a:rPr lang="zh-CN" altLang="en-US" sz="2400" dirty="0">
                <a:latin typeface="黑体" panose="02010609060101010101" pitchFamily="2" charset="-122"/>
                <a:ea typeface="黑体" panose="02010609060101010101" pitchFamily="2" charset="-122"/>
                <a:cs typeface="+mn-ea"/>
                <a:sym typeface="+mn-ea"/>
              </a:rPr>
              <a:t>第i行</a:t>
            </a:r>
            <a:r>
              <a:rPr lang="zh-CN" altLang="en-US" sz="2400" dirty="0">
                <a:latin typeface="黑体" panose="02010609060101010101" pitchFamily="2" charset="-122"/>
                <a:ea typeface="黑体" panose="02010609060101010101" pitchFamily="2" charset="-122"/>
                <a:cs typeface="+mn-ea"/>
                <a:sym typeface="+mn-ea"/>
              </a:rPr>
              <a:t>的1的个数等于顶点i的出度OD(i)</a:t>
            </a: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对于顶点</a:t>
            </a:r>
            <a:r>
              <a:rPr lang="en-US" altLang="zh-CN" dirty="0">
                <a:latin typeface="黑体" panose="02010609060101010101" pitchFamily="2" charset="-122"/>
                <a:ea typeface="黑体" panose="02010609060101010101" pitchFamily="2" charset="-122"/>
                <a:cs typeface="+mn-ea"/>
                <a:sym typeface="+mn-ea"/>
              </a:rPr>
              <a:t>i</a:t>
            </a:r>
            <a:r>
              <a:rPr lang="zh-CN" altLang="en-US" dirty="0">
                <a:latin typeface="黑体" panose="02010609060101010101" pitchFamily="2" charset="-122"/>
                <a:ea typeface="黑体" panose="02010609060101010101" pitchFamily="2" charset="-122"/>
                <a:cs typeface="+mn-ea"/>
                <a:sym typeface="+mn-ea"/>
              </a:rPr>
              <a:t>，</a:t>
            </a:r>
            <a:r>
              <a:rPr lang="zh-CN" altLang="en-US" sz="2400" dirty="0">
                <a:latin typeface="黑体" panose="02010609060101010101" pitchFamily="2" charset="-122"/>
                <a:ea typeface="黑体" panose="02010609060101010101" pitchFamily="2" charset="-122"/>
                <a:cs typeface="+mn-ea"/>
                <a:sym typeface="+mn-ea"/>
              </a:rPr>
              <a:t>第</a:t>
            </a:r>
            <a:r>
              <a:rPr lang="en-US" altLang="zh-CN" sz="2400" dirty="0">
                <a:latin typeface="黑体" panose="02010609060101010101" pitchFamily="2" charset="-122"/>
                <a:ea typeface="黑体" panose="02010609060101010101" pitchFamily="2" charset="-122"/>
                <a:cs typeface="+mn-ea"/>
                <a:sym typeface="+mn-ea"/>
              </a:rPr>
              <a:t>i</a:t>
            </a:r>
            <a:r>
              <a:rPr lang="zh-CN" altLang="en-US" sz="2400" dirty="0">
                <a:latin typeface="黑体" panose="02010609060101010101" pitchFamily="2" charset="-122"/>
                <a:ea typeface="黑体" panose="02010609060101010101" pitchFamily="2" charset="-122"/>
                <a:cs typeface="+mn-ea"/>
                <a:sym typeface="+mn-ea"/>
              </a:rPr>
              <a:t>列的</a:t>
            </a:r>
            <a:r>
              <a:rPr lang="en-US" altLang="zh-CN" sz="2400" dirty="0">
                <a:latin typeface="黑体" panose="02010609060101010101" pitchFamily="2" charset="-122"/>
                <a:ea typeface="黑体" panose="02010609060101010101" pitchFamily="2" charset="-122"/>
                <a:cs typeface="+mn-ea"/>
                <a:sym typeface="+mn-ea"/>
              </a:rPr>
              <a:t>1</a:t>
            </a:r>
            <a:r>
              <a:rPr lang="zh-CN" altLang="en-US" sz="2400" dirty="0">
                <a:latin typeface="黑体" panose="02010609060101010101" pitchFamily="2" charset="-122"/>
                <a:ea typeface="黑体" panose="02010609060101010101" pitchFamily="2" charset="-122"/>
                <a:cs typeface="+mn-ea"/>
                <a:sym typeface="+mn-ea"/>
              </a:rPr>
              <a:t>的个数等于顶点</a:t>
            </a:r>
            <a:r>
              <a:rPr lang="en-US" altLang="zh-CN" sz="2400" dirty="0">
                <a:latin typeface="黑体" panose="02010609060101010101" pitchFamily="2" charset="-122"/>
                <a:ea typeface="黑体" panose="02010609060101010101" pitchFamily="2" charset="-122"/>
                <a:cs typeface="+mn-ea"/>
                <a:sym typeface="+mn-ea"/>
              </a:rPr>
              <a:t>i</a:t>
            </a:r>
            <a:r>
              <a:rPr lang="zh-CN" altLang="en-US" sz="2400" dirty="0">
                <a:latin typeface="黑体" panose="02010609060101010101" pitchFamily="2" charset="-122"/>
                <a:ea typeface="黑体" panose="02010609060101010101" pitchFamily="2" charset="-122"/>
                <a:cs typeface="+mn-ea"/>
                <a:sym typeface="+mn-ea"/>
              </a:rPr>
              <a:t>的入度ID(j)</a:t>
            </a:r>
            <a:endParaRPr lang="zh-CN" altLang="en-US" sz="240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7.2 图的</a:t>
            </a:r>
            <a:r>
              <a:rPr lang="zh-CN" altLang="en-US">
                <a:latin typeface="楷体" panose="02010609060101010101" charset="-122"/>
                <a:ea typeface="楷体" panose="02010609060101010101" charset="-122"/>
                <a:cs typeface="楷体" panose="02010609060101010101" charset="-122"/>
                <a:sym typeface="+mn-ea"/>
              </a:rPr>
              <a:t>存储</a:t>
            </a:r>
            <a:r>
              <a:rPr lang="zh-CN" altLang="en-US">
                <a:latin typeface="楷体" panose="02010609060101010101" charset="-122"/>
                <a:ea typeface="楷体" panose="02010609060101010101" charset="-122"/>
                <a:cs typeface="楷体" panose="02010609060101010101" charset="-122"/>
                <a:sym typeface="+mn-ea"/>
              </a:rPr>
              <a:t>结构</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带权图，又称为网。在带权</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图中，两个顶点如果不邻接，则被视为距离为无穷大；如果邻接，则两个顶点之间存在一个距离值(即权值)</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spcBef>
                <a:spcPct val="0"/>
              </a:spcBef>
              <a:buClr>
                <a:schemeClr val="accent1"/>
              </a:buClr>
              <a:buSzTx/>
              <a:buFont typeface="Wingdings" panose="05000000000000000000" pitchFamily="2" charset="2"/>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	   	   	w</a:t>
            </a:r>
            <a:r>
              <a:rPr lang="en-US" altLang="zh-CN" baseline="-25000" dirty="0">
                <a:latin typeface="黑体" panose="02010609060101010101" pitchFamily="2" charset="-122"/>
                <a:ea typeface="黑体" panose="02010609060101010101" pitchFamily="2" charset="-122"/>
                <a:cs typeface="黑体" panose="02010609060101010101" pitchFamily="2" charset="-122"/>
                <a:sym typeface="+mn-ea"/>
              </a:rPr>
              <a:t>i,j</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  </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如果</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(i,j)</a:t>
            </a:r>
            <a:r>
              <a:rPr lang="en-US" altLang="zh-CN"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E </a:t>
            </a:r>
            <a:r>
              <a:rPr lang="zh-CN" altLang="en-US"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或 </a:t>
            </a:r>
            <a:r>
              <a:rPr lang="en-US" altLang="zh-CN"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&lt;i,j&gt;E</a:t>
            </a:r>
            <a:endParaRPr lang="en-US" altLang="zh-CN" dirty="0">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spcBef>
                <a:spcPct val="0"/>
              </a:spcBef>
              <a:buClr>
                <a:schemeClr val="accent1"/>
              </a:buClr>
              <a:buSzTx/>
              <a:buFont typeface="Wingdings" panose="05000000000000000000" pitchFamily="2" charset="2"/>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  A[i][j] = </a:t>
            </a:r>
            <a:endParaRPr lang="en-US" altLang="zh-CN" dirty="0">
              <a:latin typeface="黑体" panose="02010609060101010101" pitchFamily="2" charset="-122"/>
              <a:ea typeface="黑体" panose="02010609060101010101" pitchFamily="2" charset="-122"/>
              <a:cs typeface="黑体" panose="02010609060101010101" pitchFamily="2" charset="-122"/>
            </a:endParaRPr>
          </a:p>
          <a:p>
            <a:pPr marL="609600" indent="-609600" eaLnBrk="1" hangingPunct="1">
              <a:spcBef>
                <a:spcPct val="0"/>
              </a:spcBef>
              <a:buClr>
                <a:schemeClr val="accent1"/>
              </a:buClr>
              <a:buSzTx/>
              <a:buFont typeface="Wingdings" panose="05000000000000000000" pitchFamily="2" charset="2"/>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			∞   </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不</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邻接</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spcBef>
                <a:spcPct val="20000"/>
              </a:spcBef>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rPr>
              <a:t>在带权图中，用</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表示两点的不邻接</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在非</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带权图中，即一般的无向图或有向图，用</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0</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表示两点的不邻接</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7.2 图的</a:t>
            </a:r>
            <a:r>
              <a:rPr lang="zh-CN" altLang="en-US">
                <a:latin typeface="楷体" panose="02010609060101010101" charset="-122"/>
                <a:ea typeface="楷体" panose="02010609060101010101" charset="-122"/>
                <a:cs typeface="楷体" panose="02010609060101010101" charset="-122"/>
                <a:sym typeface="+mn-ea"/>
              </a:rPr>
              <a:t>存储</a:t>
            </a:r>
            <a:r>
              <a:rPr lang="zh-CN" altLang="en-US">
                <a:latin typeface="楷体" panose="02010609060101010101" charset="-122"/>
                <a:ea typeface="楷体" panose="02010609060101010101" charset="-122"/>
                <a:cs typeface="楷体" panose="02010609060101010101" charset="-122"/>
                <a:sym typeface="+mn-ea"/>
              </a:rPr>
              <a:t>结构</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带权图的邻接矩阵</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示例</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0" lvl="1" indent="0" algn="l" eaLnBrk="1" hangingPunct="1">
              <a:buClrTx/>
              <a:buSzTx/>
              <a:buFont typeface="Wingdings" panose="05000000000000000000" charset="0"/>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无向网</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N={V,E}</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V={0,1,2,3,4}</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E={(0,1,5)</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(0,3,7)</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(0,4,15)</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(1,2,5)</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(2,4,1)</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(3,2,2) }</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E</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中每个元组的第三个元素表示权值</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7.2 图的</a:t>
            </a:r>
            <a:r>
              <a:rPr lang="zh-CN" altLang="en-US">
                <a:latin typeface="楷体" panose="02010609060101010101" charset="-122"/>
                <a:ea typeface="楷体" panose="02010609060101010101" charset="-122"/>
                <a:cs typeface="楷体" panose="02010609060101010101" charset="-122"/>
                <a:sym typeface="+mn-ea"/>
              </a:rPr>
              <a:t>存储</a:t>
            </a:r>
            <a:r>
              <a:rPr lang="zh-CN" altLang="en-US">
                <a:latin typeface="楷体" panose="02010609060101010101" charset="-122"/>
                <a:ea typeface="楷体" panose="02010609060101010101" charset="-122"/>
                <a:cs typeface="楷体" panose="02010609060101010101" charset="-122"/>
                <a:sym typeface="+mn-ea"/>
              </a:rPr>
              <a:t>结构</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5" name="Group 27"/>
          <p:cNvGrpSpPr/>
          <p:nvPr/>
        </p:nvGrpSpPr>
        <p:grpSpPr>
          <a:xfrm>
            <a:off x="1956435" y="3059430"/>
            <a:ext cx="2663825" cy="2089150"/>
            <a:chOff x="567" y="2432"/>
            <a:chExt cx="1678" cy="1316"/>
          </a:xfrm>
        </p:grpSpPr>
        <p:sp>
          <p:nvSpPr>
            <p:cNvPr id="33797" name="Line 6"/>
            <p:cNvSpPr/>
            <p:nvPr/>
          </p:nvSpPr>
          <p:spPr>
            <a:xfrm flipH="1" flipV="1">
              <a:off x="1490" y="2597"/>
              <a:ext cx="545" cy="329"/>
            </a:xfrm>
            <a:prstGeom prst="line">
              <a:avLst/>
            </a:prstGeom>
            <a:ln w="38100" cap="flat" cmpd="sng">
              <a:solidFill>
                <a:srgbClr val="009900"/>
              </a:solidFill>
              <a:prstDash val="solid"/>
              <a:round/>
              <a:headEnd type="none" w="med" len="med"/>
              <a:tailEnd type="none" w="med" len="med"/>
            </a:ln>
          </p:spPr>
        </p:sp>
        <p:sp>
          <p:nvSpPr>
            <p:cNvPr id="33798" name="Line 7"/>
            <p:cNvSpPr/>
            <p:nvPr/>
          </p:nvSpPr>
          <p:spPr>
            <a:xfrm>
              <a:off x="735" y="3049"/>
              <a:ext cx="210" cy="493"/>
            </a:xfrm>
            <a:prstGeom prst="line">
              <a:avLst/>
            </a:prstGeom>
            <a:ln w="38100" cap="flat" cmpd="sng">
              <a:solidFill>
                <a:srgbClr val="009900"/>
              </a:solidFill>
              <a:prstDash val="solid"/>
              <a:round/>
              <a:headEnd type="none" w="med" len="med"/>
              <a:tailEnd type="none" w="med" len="med"/>
            </a:ln>
          </p:spPr>
        </p:sp>
        <p:sp>
          <p:nvSpPr>
            <p:cNvPr id="33799" name="Line 8"/>
            <p:cNvSpPr/>
            <p:nvPr/>
          </p:nvSpPr>
          <p:spPr>
            <a:xfrm flipH="1">
              <a:off x="777" y="2555"/>
              <a:ext cx="587" cy="329"/>
            </a:xfrm>
            <a:prstGeom prst="line">
              <a:avLst/>
            </a:prstGeom>
            <a:ln w="38100" cap="flat" cmpd="sng">
              <a:solidFill>
                <a:srgbClr val="009900"/>
              </a:solidFill>
              <a:prstDash val="solid"/>
              <a:round/>
              <a:headEnd type="none" w="med" len="med"/>
              <a:tailEnd type="none" w="med" len="med"/>
            </a:ln>
          </p:spPr>
        </p:sp>
        <p:sp>
          <p:nvSpPr>
            <p:cNvPr id="33800" name="Line 9"/>
            <p:cNvSpPr/>
            <p:nvPr/>
          </p:nvSpPr>
          <p:spPr>
            <a:xfrm flipH="1" flipV="1">
              <a:off x="1448" y="2597"/>
              <a:ext cx="336" cy="904"/>
            </a:xfrm>
            <a:prstGeom prst="line">
              <a:avLst/>
            </a:prstGeom>
            <a:ln w="38100" cap="flat" cmpd="sng">
              <a:solidFill>
                <a:srgbClr val="009900"/>
              </a:solidFill>
              <a:prstDash val="solid"/>
              <a:round/>
              <a:headEnd type="none" w="med" len="med"/>
              <a:tailEnd type="none" w="med" len="med"/>
            </a:ln>
          </p:spPr>
        </p:sp>
        <p:sp>
          <p:nvSpPr>
            <p:cNvPr id="33801" name="Line 10"/>
            <p:cNvSpPr/>
            <p:nvPr/>
          </p:nvSpPr>
          <p:spPr>
            <a:xfrm flipH="1">
              <a:off x="1070" y="3625"/>
              <a:ext cx="630" cy="0"/>
            </a:xfrm>
            <a:prstGeom prst="line">
              <a:avLst/>
            </a:prstGeom>
            <a:ln w="38100" cap="flat" cmpd="sng">
              <a:solidFill>
                <a:srgbClr val="009900"/>
              </a:solidFill>
              <a:prstDash val="solid"/>
              <a:round/>
              <a:headEnd type="none" w="med" len="med"/>
              <a:tailEnd type="none" w="med" len="med"/>
            </a:ln>
          </p:spPr>
        </p:sp>
        <p:sp>
          <p:nvSpPr>
            <p:cNvPr id="33802" name="Line 11"/>
            <p:cNvSpPr/>
            <p:nvPr/>
          </p:nvSpPr>
          <p:spPr>
            <a:xfrm flipH="1">
              <a:off x="1070" y="3090"/>
              <a:ext cx="1007" cy="494"/>
            </a:xfrm>
            <a:prstGeom prst="line">
              <a:avLst/>
            </a:prstGeom>
            <a:ln w="38100" cap="flat" cmpd="sng">
              <a:solidFill>
                <a:srgbClr val="009900"/>
              </a:solidFill>
              <a:prstDash val="solid"/>
              <a:round/>
              <a:headEnd type="none" w="med" len="med"/>
              <a:tailEnd type="none" w="med" len="med"/>
            </a:ln>
          </p:spPr>
        </p:sp>
        <p:sp>
          <p:nvSpPr>
            <p:cNvPr id="33803" name="Oval 12"/>
            <p:cNvSpPr/>
            <p:nvPr/>
          </p:nvSpPr>
          <p:spPr>
            <a:xfrm>
              <a:off x="567" y="2843"/>
              <a:ext cx="252" cy="232"/>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1</a:t>
              </a:r>
              <a:endParaRPr lang="en-US" altLang="zh-CN" sz="2000" dirty="0">
                <a:solidFill>
                  <a:schemeClr val="bg1"/>
                </a:solidFill>
                <a:latin typeface="Tahoma" panose="020B0604030504040204" charset="0"/>
                <a:ea typeface="宋体" panose="02010600030101010101" pitchFamily="2" charset="-122"/>
              </a:endParaRPr>
            </a:p>
          </p:txBody>
        </p:sp>
        <p:sp>
          <p:nvSpPr>
            <p:cNvPr id="33804" name="Oval 13"/>
            <p:cNvSpPr/>
            <p:nvPr/>
          </p:nvSpPr>
          <p:spPr>
            <a:xfrm>
              <a:off x="1700" y="3516"/>
              <a:ext cx="251" cy="232"/>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3</a:t>
              </a:r>
              <a:endParaRPr lang="en-US" altLang="zh-CN" sz="2000" dirty="0">
                <a:solidFill>
                  <a:schemeClr val="bg1"/>
                </a:solidFill>
                <a:latin typeface="Tahoma" panose="020B0604030504040204" charset="0"/>
                <a:ea typeface="宋体" panose="02010600030101010101" pitchFamily="2" charset="-122"/>
              </a:endParaRPr>
            </a:p>
          </p:txBody>
        </p:sp>
        <p:sp>
          <p:nvSpPr>
            <p:cNvPr id="33805" name="Oval 14"/>
            <p:cNvSpPr/>
            <p:nvPr/>
          </p:nvSpPr>
          <p:spPr>
            <a:xfrm>
              <a:off x="861" y="3516"/>
              <a:ext cx="251" cy="232"/>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2</a:t>
              </a:r>
              <a:endParaRPr lang="en-US" altLang="zh-CN" sz="2000" dirty="0">
                <a:solidFill>
                  <a:schemeClr val="bg1"/>
                </a:solidFill>
                <a:latin typeface="Tahoma" panose="020B0604030504040204" charset="0"/>
                <a:ea typeface="宋体" panose="02010600030101010101" pitchFamily="2" charset="-122"/>
              </a:endParaRPr>
            </a:p>
          </p:txBody>
        </p:sp>
        <p:sp>
          <p:nvSpPr>
            <p:cNvPr id="33806" name="Oval 15"/>
            <p:cNvSpPr/>
            <p:nvPr/>
          </p:nvSpPr>
          <p:spPr>
            <a:xfrm>
              <a:off x="1993" y="2884"/>
              <a:ext cx="252" cy="232"/>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4</a:t>
              </a:r>
              <a:endParaRPr lang="en-US" altLang="zh-CN" sz="2000" dirty="0">
                <a:solidFill>
                  <a:schemeClr val="bg1"/>
                </a:solidFill>
                <a:latin typeface="Tahoma" panose="020B0604030504040204" charset="0"/>
                <a:ea typeface="宋体" panose="02010600030101010101" pitchFamily="2" charset="-122"/>
              </a:endParaRPr>
            </a:p>
          </p:txBody>
        </p:sp>
        <p:sp>
          <p:nvSpPr>
            <p:cNvPr id="33807" name="Oval 16"/>
            <p:cNvSpPr/>
            <p:nvPr/>
          </p:nvSpPr>
          <p:spPr>
            <a:xfrm>
              <a:off x="1280" y="2432"/>
              <a:ext cx="252" cy="23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0</a:t>
              </a:r>
              <a:endParaRPr lang="en-US" altLang="zh-CN" sz="2000" dirty="0">
                <a:solidFill>
                  <a:schemeClr val="bg1"/>
                </a:solidFill>
                <a:latin typeface="Tahoma" panose="020B0604030504040204" charset="0"/>
                <a:ea typeface="宋体" panose="02010600030101010101" pitchFamily="2" charset="-122"/>
              </a:endParaRPr>
            </a:p>
          </p:txBody>
        </p:sp>
        <p:sp>
          <p:nvSpPr>
            <p:cNvPr id="33808" name="Text Box 17"/>
            <p:cNvSpPr txBox="1"/>
            <p:nvPr/>
          </p:nvSpPr>
          <p:spPr>
            <a:xfrm>
              <a:off x="816" y="2438"/>
              <a:ext cx="310" cy="251"/>
            </a:xfrm>
            <a:prstGeom prst="rect">
              <a:avLst/>
            </a:prstGeom>
            <a:noFill/>
            <a:ln w="9525">
              <a:noFill/>
            </a:ln>
          </p:spPr>
          <p:txBody>
            <a:bodyPr anchor="t" anchorCtr="0">
              <a:spAutoFit/>
            </a:bodyPr>
            <a:p>
              <a:pPr algn="ctr">
                <a:spcBef>
                  <a:spcPct val="50000"/>
                </a:spcBef>
              </a:pPr>
              <a:r>
                <a:rPr lang="en-US" altLang="zh-CN" sz="2000" dirty="0">
                  <a:latin typeface="Tahoma" panose="020B0604030504040204" charset="0"/>
                  <a:ea typeface="宋体" panose="02010600030101010101" pitchFamily="2" charset="-122"/>
                </a:rPr>
                <a:t>5</a:t>
              </a:r>
              <a:endParaRPr lang="en-US" altLang="zh-CN" sz="2000" dirty="0">
                <a:latin typeface="Tahoma" panose="020B0604030504040204" charset="0"/>
                <a:ea typeface="宋体" panose="02010600030101010101" pitchFamily="2" charset="-122"/>
              </a:endParaRPr>
            </a:p>
          </p:txBody>
        </p:sp>
        <p:sp>
          <p:nvSpPr>
            <p:cNvPr id="33809" name="Text Box 18"/>
            <p:cNvSpPr txBox="1"/>
            <p:nvPr/>
          </p:nvSpPr>
          <p:spPr>
            <a:xfrm>
              <a:off x="567" y="3156"/>
              <a:ext cx="311" cy="251"/>
            </a:xfrm>
            <a:prstGeom prst="rect">
              <a:avLst/>
            </a:prstGeom>
            <a:noFill/>
            <a:ln w="9525">
              <a:noFill/>
            </a:ln>
          </p:spPr>
          <p:txBody>
            <a:bodyPr anchor="t" anchorCtr="0">
              <a:spAutoFit/>
            </a:bodyPr>
            <a:p>
              <a:pPr algn="ctr">
                <a:spcBef>
                  <a:spcPct val="50000"/>
                </a:spcBef>
              </a:pPr>
              <a:r>
                <a:rPr lang="en-US" altLang="zh-CN" sz="2000" dirty="0">
                  <a:latin typeface="Tahoma" panose="020B0604030504040204" charset="0"/>
                  <a:ea typeface="宋体" panose="02010600030101010101" pitchFamily="2" charset="-122"/>
                </a:rPr>
                <a:t>5</a:t>
              </a:r>
              <a:endParaRPr lang="en-US" altLang="zh-CN" sz="2000" dirty="0">
                <a:latin typeface="Tahoma" panose="020B0604030504040204" charset="0"/>
                <a:ea typeface="宋体" panose="02010600030101010101" pitchFamily="2" charset="-122"/>
              </a:endParaRPr>
            </a:p>
          </p:txBody>
        </p:sp>
        <p:sp>
          <p:nvSpPr>
            <p:cNvPr id="33810" name="Text Box 19"/>
            <p:cNvSpPr txBox="1"/>
            <p:nvPr/>
          </p:nvSpPr>
          <p:spPr>
            <a:xfrm>
              <a:off x="1624" y="2438"/>
              <a:ext cx="497" cy="251"/>
            </a:xfrm>
            <a:prstGeom prst="rect">
              <a:avLst/>
            </a:prstGeom>
            <a:noFill/>
            <a:ln w="9525">
              <a:noFill/>
            </a:ln>
          </p:spPr>
          <p:txBody>
            <a:bodyPr anchor="t" anchorCtr="0">
              <a:spAutoFit/>
            </a:bodyPr>
            <a:p>
              <a:pPr algn="ctr">
                <a:spcBef>
                  <a:spcPct val="50000"/>
                </a:spcBef>
              </a:pPr>
              <a:r>
                <a:rPr lang="en-US" altLang="zh-CN" sz="2000" dirty="0">
                  <a:latin typeface="Tahoma" panose="020B0604030504040204" charset="0"/>
                  <a:ea typeface="宋体" panose="02010600030101010101" pitchFamily="2" charset="-122"/>
                </a:rPr>
                <a:t>15</a:t>
              </a:r>
              <a:endParaRPr lang="en-US" altLang="zh-CN" sz="2000" dirty="0">
                <a:latin typeface="Tahoma" panose="020B0604030504040204" charset="0"/>
                <a:ea typeface="宋体" panose="02010600030101010101" pitchFamily="2" charset="-122"/>
              </a:endParaRPr>
            </a:p>
          </p:txBody>
        </p:sp>
        <p:sp>
          <p:nvSpPr>
            <p:cNvPr id="33811" name="Text Box 20"/>
            <p:cNvSpPr txBox="1"/>
            <p:nvPr/>
          </p:nvSpPr>
          <p:spPr>
            <a:xfrm>
              <a:off x="1251" y="3156"/>
              <a:ext cx="310" cy="251"/>
            </a:xfrm>
            <a:prstGeom prst="rect">
              <a:avLst/>
            </a:prstGeom>
            <a:noFill/>
            <a:ln w="9525">
              <a:noFill/>
            </a:ln>
          </p:spPr>
          <p:txBody>
            <a:bodyPr anchor="t" anchorCtr="0">
              <a:spAutoFit/>
            </a:bodyPr>
            <a:p>
              <a:pPr algn="ctr">
                <a:spcBef>
                  <a:spcPct val="50000"/>
                </a:spcBef>
              </a:pPr>
              <a:r>
                <a:rPr lang="en-US" altLang="zh-CN" sz="2000" dirty="0">
                  <a:latin typeface="Tahoma" panose="020B0604030504040204" charset="0"/>
                  <a:ea typeface="宋体" panose="02010600030101010101" pitchFamily="2" charset="-122"/>
                </a:rPr>
                <a:t>1</a:t>
              </a:r>
              <a:endParaRPr lang="en-US" altLang="zh-CN" sz="2000" dirty="0">
                <a:latin typeface="Tahoma" panose="020B0604030504040204" charset="0"/>
                <a:ea typeface="宋体" panose="02010600030101010101" pitchFamily="2" charset="-122"/>
              </a:endParaRPr>
            </a:p>
          </p:txBody>
        </p:sp>
        <p:sp>
          <p:nvSpPr>
            <p:cNvPr id="33812" name="Text Box 21"/>
            <p:cNvSpPr txBox="1"/>
            <p:nvPr/>
          </p:nvSpPr>
          <p:spPr>
            <a:xfrm>
              <a:off x="1313" y="2797"/>
              <a:ext cx="311" cy="251"/>
            </a:xfrm>
            <a:prstGeom prst="rect">
              <a:avLst/>
            </a:prstGeom>
            <a:noFill/>
            <a:ln w="9525">
              <a:noFill/>
            </a:ln>
          </p:spPr>
          <p:txBody>
            <a:bodyPr anchor="t" anchorCtr="0">
              <a:spAutoFit/>
            </a:bodyPr>
            <a:p>
              <a:pPr algn="ctr">
                <a:spcBef>
                  <a:spcPct val="50000"/>
                </a:spcBef>
              </a:pPr>
              <a:r>
                <a:rPr lang="en-US" altLang="zh-CN" sz="2000" dirty="0">
                  <a:latin typeface="Tahoma" panose="020B0604030504040204" charset="0"/>
                  <a:ea typeface="宋体" panose="02010600030101010101" pitchFamily="2" charset="-122"/>
                </a:rPr>
                <a:t>7</a:t>
              </a:r>
              <a:endParaRPr lang="en-US" altLang="zh-CN" sz="2000" dirty="0">
                <a:latin typeface="Tahoma" panose="020B0604030504040204" charset="0"/>
                <a:ea typeface="宋体" panose="02010600030101010101" pitchFamily="2" charset="-122"/>
              </a:endParaRPr>
            </a:p>
          </p:txBody>
        </p:sp>
        <p:sp>
          <p:nvSpPr>
            <p:cNvPr id="33813" name="Text Box 22"/>
            <p:cNvSpPr txBox="1"/>
            <p:nvPr/>
          </p:nvSpPr>
          <p:spPr>
            <a:xfrm>
              <a:off x="1375" y="3342"/>
              <a:ext cx="311" cy="251"/>
            </a:xfrm>
            <a:prstGeom prst="rect">
              <a:avLst/>
            </a:prstGeom>
            <a:noFill/>
            <a:ln w="9525">
              <a:noFill/>
            </a:ln>
          </p:spPr>
          <p:txBody>
            <a:bodyPr anchor="t" anchorCtr="0">
              <a:spAutoFit/>
            </a:bodyPr>
            <a:p>
              <a:pPr algn="ctr">
                <a:spcBef>
                  <a:spcPct val="50000"/>
                </a:spcBef>
              </a:pPr>
              <a:r>
                <a:rPr lang="en-US" altLang="zh-CN" sz="2000" dirty="0">
                  <a:latin typeface="Tahoma" panose="020B0604030504040204" charset="0"/>
                  <a:ea typeface="宋体" panose="02010600030101010101" pitchFamily="2" charset="-122"/>
                </a:rPr>
                <a:t>2</a:t>
              </a:r>
              <a:endParaRPr lang="en-US" altLang="zh-CN" sz="2000" dirty="0">
                <a:latin typeface="Tahoma" panose="020B0604030504040204" charset="0"/>
                <a:ea typeface="宋体" panose="02010600030101010101" pitchFamily="2" charset="-122"/>
              </a:endParaRPr>
            </a:p>
          </p:txBody>
        </p:sp>
      </p:grpSp>
      <p:grpSp>
        <p:nvGrpSpPr>
          <p:cNvPr id="6" name="Group 28"/>
          <p:cNvGrpSpPr/>
          <p:nvPr/>
        </p:nvGrpSpPr>
        <p:grpSpPr>
          <a:xfrm>
            <a:off x="6139180" y="3247390"/>
            <a:ext cx="3455988" cy="1778000"/>
            <a:chOff x="720" y="3192"/>
            <a:chExt cx="1968" cy="984"/>
          </a:xfrm>
        </p:grpSpPr>
        <p:sp>
          <p:nvSpPr>
            <p:cNvPr id="33815" name="AutoShape 29"/>
            <p:cNvSpPr/>
            <p:nvPr/>
          </p:nvSpPr>
          <p:spPr>
            <a:xfrm>
              <a:off x="720" y="3264"/>
              <a:ext cx="48" cy="864"/>
            </a:xfrm>
            <a:prstGeom prst="leftBracket">
              <a:avLst>
                <a:gd name="adj" fmla="val 150000"/>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3816" name="AutoShape 30"/>
            <p:cNvSpPr/>
            <p:nvPr/>
          </p:nvSpPr>
          <p:spPr>
            <a:xfrm>
              <a:off x="2640" y="3264"/>
              <a:ext cx="48" cy="912"/>
            </a:xfrm>
            <a:prstGeom prst="rightBracket">
              <a:avLst>
                <a:gd name="adj" fmla="val 158245"/>
              </a:avLst>
            </a:prstGeom>
            <a:noFill/>
            <a:ln w="9525" cap="flat" cmpd="sng">
              <a:solidFill>
                <a:schemeClr val="tx1"/>
              </a:solidFill>
              <a:prstDash val="solid"/>
              <a:miter/>
              <a:headEnd type="none" w="med" len="med"/>
              <a:tailEnd type="none" w="med" len="med"/>
            </a:ln>
          </p:spPr>
          <p:txBody>
            <a:bodyPr wrap="none" anchor="ctr" anchorCtr="0"/>
            <a:p>
              <a:endParaRPr lang="zh-CN" altLang="en-US" dirty="0">
                <a:latin typeface="Arial" panose="020B0604020202020204" pitchFamily="34" charset="0"/>
                <a:ea typeface="宋体" panose="02010600030101010101" pitchFamily="2" charset="-122"/>
              </a:endParaRPr>
            </a:p>
          </p:txBody>
        </p:sp>
        <p:sp>
          <p:nvSpPr>
            <p:cNvPr id="33817" name="Rectangle 31"/>
            <p:cNvSpPr/>
            <p:nvPr/>
          </p:nvSpPr>
          <p:spPr>
            <a:xfrm>
              <a:off x="864" y="3192"/>
              <a:ext cx="1728" cy="953"/>
            </a:xfrm>
            <a:prstGeom prst="rect">
              <a:avLst/>
            </a:prstGeom>
            <a:noFill/>
            <a:ln w="9525">
              <a:noFill/>
            </a:ln>
          </p:spPr>
          <p:txBody>
            <a:bodyPr anchor="t" anchorCtr="0">
              <a:spAutoFit/>
            </a:bodyPr>
            <a:p>
              <a:pPr>
                <a:lnSpc>
                  <a:spcPct val="90000"/>
                </a:lnSpc>
                <a:spcBef>
                  <a:spcPct val="20000"/>
                </a:spcBef>
                <a:buClr>
                  <a:schemeClr val="folHlink"/>
                </a:buClr>
                <a:buSzPct val="60000"/>
                <a:buFont typeface="Wingdings" panose="05000000000000000000" pitchFamily="2" charset="2"/>
              </a:pPr>
              <a:r>
                <a:rPr lang="en-US" altLang="zh-CN" sz="2000" dirty="0">
                  <a:latin typeface="黑体" panose="02010609060101010101" pitchFamily="2" charset="-122"/>
                  <a:ea typeface="黑体" panose="02010609060101010101" pitchFamily="2" charset="-122"/>
                </a:rPr>
                <a:t>∞   5  ∞   7  15</a:t>
              </a:r>
              <a:endParaRPr lang="en-US" altLang="zh-CN" sz="2000" dirty="0">
                <a:latin typeface="黑体" panose="02010609060101010101" pitchFamily="2" charset="-122"/>
                <a:ea typeface="黑体" panose="02010609060101010101" pitchFamily="2" charset="-122"/>
              </a:endParaRPr>
            </a:p>
            <a:p>
              <a:pPr>
                <a:lnSpc>
                  <a:spcPct val="90000"/>
                </a:lnSpc>
                <a:spcBef>
                  <a:spcPct val="20000"/>
                </a:spcBef>
                <a:buClr>
                  <a:schemeClr val="folHlink"/>
                </a:buClr>
                <a:buSzPct val="60000"/>
                <a:buFont typeface="Wingdings" panose="05000000000000000000" pitchFamily="2" charset="2"/>
              </a:pPr>
              <a:r>
                <a:rPr lang="en-US" altLang="zh-CN" sz="2000" dirty="0">
                  <a:latin typeface="黑体" panose="02010609060101010101" pitchFamily="2" charset="-122"/>
                  <a:ea typeface="黑体" panose="02010609060101010101" pitchFamily="2" charset="-122"/>
                </a:rPr>
                <a:t> 5  ∞   5  ∞  ∞</a:t>
              </a:r>
              <a:endParaRPr lang="en-US" altLang="zh-CN" sz="2000" dirty="0">
                <a:latin typeface="黑体" panose="02010609060101010101" pitchFamily="2" charset="-122"/>
                <a:ea typeface="黑体" panose="02010609060101010101" pitchFamily="2" charset="-122"/>
              </a:endParaRPr>
            </a:p>
            <a:p>
              <a:pPr>
                <a:lnSpc>
                  <a:spcPct val="90000"/>
                </a:lnSpc>
                <a:spcBef>
                  <a:spcPct val="20000"/>
                </a:spcBef>
                <a:buClr>
                  <a:schemeClr val="folHlink"/>
                </a:buClr>
                <a:buSzPct val="60000"/>
                <a:buFont typeface="Wingdings" panose="05000000000000000000" pitchFamily="2" charset="2"/>
              </a:pPr>
              <a:r>
                <a:rPr lang="en-US" altLang="zh-CN" sz="2000" dirty="0">
                  <a:latin typeface="黑体" panose="02010609060101010101" pitchFamily="2" charset="-122"/>
                  <a:ea typeface="黑体" panose="02010609060101010101" pitchFamily="2" charset="-122"/>
                </a:rPr>
                <a:t>∞   5  ∞   2   1</a:t>
              </a:r>
              <a:endParaRPr lang="en-US" altLang="zh-CN" sz="2000" dirty="0">
                <a:latin typeface="黑体" panose="02010609060101010101" pitchFamily="2" charset="-122"/>
                <a:ea typeface="黑体" panose="02010609060101010101" pitchFamily="2" charset="-122"/>
              </a:endParaRPr>
            </a:p>
            <a:p>
              <a:pPr>
                <a:lnSpc>
                  <a:spcPct val="90000"/>
                </a:lnSpc>
                <a:spcBef>
                  <a:spcPct val="20000"/>
                </a:spcBef>
                <a:buClr>
                  <a:schemeClr val="folHlink"/>
                </a:buClr>
                <a:buSzPct val="60000"/>
                <a:buFont typeface="Wingdings" panose="05000000000000000000" pitchFamily="2" charset="2"/>
              </a:pPr>
              <a:r>
                <a:rPr lang="en-US" altLang="zh-CN" sz="2000" dirty="0">
                  <a:latin typeface="黑体" panose="02010609060101010101" pitchFamily="2" charset="-122"/>
                  <a:ea typeface="黑体" panose="02010609060101010101" pitchFamily="2" charset="-122"/>
                </a:rPr>
                <a:t> 7  ∞   2   1  ∞</a:t>
              </a:r>
              <a:endParaRPr lang="en-US" altLang="zh-CN" sz="2000" dirty="0">
                <a:latin typeface="黑体" panose="02010609060101010101" pitchFamily="2" charset="-122"/>
                <a:ea typeface="黑体" panose="02010609060101010101" pitchFamily="2" charset="-122"/>
              </a:endParaRPr>
            </a:p>
            <a:p>
              <a:pPr>
                <a:lnSpc>
                  <a:spcPct val="90000"/>
                </a:lnSpc>
                <a:spcBef>
                  <a:spcPct val="20000"/>
                </a:spcBef>
                <a:buClr>
                  <a:schemeClr val="folHlink"/>
                </a:buClr>
                <a:buSzPct val="60000"/>
                <a:buFont typeface="Wingdings" panose="05000000000000000000" pitchFamily="2" charset="2"/>
              </a:pPr>
              <a:r>
                <a:rPr lang="en-US" altLang="zh-CN" sz="2000" dirty="0">
                  <a:latin typeface="黑体" panose="02010609060101010101" pitchFamily="2" charset="-122"/>
                  <a:ea typeface="黑体" panose="02010609060101010101" pitchFamily="2" charset="-122"/>
                </a:rPr>
                <a:t>15  ∞  ∞  ∞  ∞</a:t>
              </a:r>
              <a:endParaRPr lang="en-US" altLang="zh-CN" sz="2000" dirty="0">
                <a:latin typeface="黑体" panose="02010609060101010101" pitchFamily="2" charset="-122"/>
                <a:ea typeface="黑体" panose="02010609060101010101" pitchFamily="2" charset="-122"/>
              </a:endParaRPr>
            </a:p>
          </p:txBody>
        </p:sp>
      </p:gr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邻接表，Adjacency List，是图的一种链式存储结构</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在邻接表中，每个顶点设置一个单链表，其每个结点都是依附于该顶点的边（或以该顶点为尾的弧）</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对于无向图，邻接表只有一种，不分入度或出度</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对于有向图，邻接表按出度来构建，还有逆邻接表按入度构建</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7.2 图的</a:t>
            </a:r>
            <a:r>
              <a:rPr lang="zh-CN" altLang="en-US">
                <a:latin typeface="楷体" panose="02010609060101010101" charset="-122"/>
                <a:ea typeface="楷体" panose="02010609060101010101" charset="-122"/>
                <a:cs typeface="楷体" panose="02010609060101010101" charset="-122"/>
                <a:sym typeface="+mn-ea"/>
              </a:rPr>
              <a:t>存储</a:t>
            </a:r>
            <a:r>
              <a:rPr lang="zh-CN" altLang="en-US">
                <a:latin typeface="楷体" panose="02010609060101010101" charset="-122"/>
                <a:ea typeface="楷体" panose="02010609060101010101" charset="-122"/>
                <a:cs typeface="楷体" panose="02010609060101010101" charset="-122"/>
                <a:sym typeface="+mn-ea"/>
              </a:rPr>
              <a:t>结构</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邻接表的边或弧的</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结点结构</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adjvex; // 该边(弧)所指向的顶点的位置</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nextarc;// 指向下一条边(弧)指针</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info;   // 该边(弧)相关信息的指针或权值</a:t>
            </a:r>
            <a:endParaRPr lang="zh-CN" altLang="en-US" sz="2400" b="0" dirty="0">
              <a:latin typeface="黑体" panose="02010609060101010101" pitchFamily="2" charset="-122"/>
              <a:ea typeface="黑体" panose="02010609060101010101" pitchFamily="2" charset="-122"/>
              <a:cs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邻接表的</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结点结构</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data;    // 顶点信息</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firstarc;//指向第一条依附该顶点的边(弧)</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7.2 图的</a:t>
            </a:r>
            <a:r>
              <a:rPr lang="zh-CN" altLang="en-US">
                <a:latin typeface="楷体" panose="02010609060101010101" charset="-122"/>
                <a:ea typeface="楷体" panose="02010609060101010101" charset="-122"/>
                <a:cs typeface="楷体" panose="02010609060101010101" charset="-122"/>
                <a:sym typeface="+mn-ea"/>
              </a:rPr>
              <a:t>存储</a:t>
            </a:r>
            <a:r>
              <a:rPr lang="zh-CN" altLang="en-US">
                <a:latin typeface="楷体" panose="02010609060101010101" charset="-122"/>
                <a:ea typeface="楷体" panose="02010609060101010101" charset="-122"/>
                <a:cs typeface="楷体" panose="02010609060101010101" charset="-122"/>
                <a:sym typeface="+mn-ea"/>
              </a:rPr>
              <a:t>结构</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无向图</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的邻接表</a:t>
            </a: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7.2 图的</a:t>
            </a:r>
            <a:r>
              <a:rPr lang="zh-CN" altLang="en-US">
                <a:latin typeface="楷体" panose="02010609060101010101" charset="-122"/>
                <a:ea typeface="楷体" panose="02010609060101010101" charset="-122"/>
                <a:cs typeface="楷体" panose="02010609060101010101" charset="-122"/>
                <a:sym typeface="+mn-ea"/>
              </a:rPr>
              <a:t>存储</a:t>
            </a:r>
            <a:r>
              <a:rPr lang="zh-CN" altLang="en-US">
                <a:latin typeface="楷体" panose="02010609060101010101" charset="-122"/>
                <a:ea typeface="楷体" panose="02010609060101010101" charset="-122"/>
                <a:cs typeface="楷体" panose="02010609060101010101" charset="-122"/>
                <a:sym typeface="+mn-ea"/>
              </a:rPr>
              <a:t>结构</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37996" name="Group 231"/>
          <p:cNvGrpSpPr/>
          <p:nvPr/>
        </p:nvGrpSpPr>
        <p:grpSpPr>
          <a:xfrm>
            <a:off x="7772400" y="2781300"/>
            <a:ext cx="2895600" cy="2292350"/>
            <a:chOff x="3648" y="2875"/>
            <a:chExt cx="1824" cy="1444"/>
          </a:xfrm>
        </p:grpSpPr>
        <p:sp>
          <p:nvSpPr>
            <p:cNvPr id="37997" name="Line 232"/>
            <p:cNvSpPr/>
            <p:nvPr/>
          </p:nvSpPr>
          <p:spPr>
            <a:xfrm flipH="1">
              <a:off x="4272" y="3024"/>
              <a:ext cx="576" cy="0"/>
            </a:xfrm>
            <a:prstGeom prst="line">
              <a:avLst/>
            </a:prstGeom>
            <a:ln w="38100" cap="flat" cmpd="sng">
              <a:solidFill>
                <a:srgbClr val="009900"/>
              </a:solidFill>
              <a:prstDash val="solid"/>
              <a:round/>
              <a:headEnd type="none" w="med" len="med"/>
              <a:tailEnd type="none" w="med" len="med"/>
            </a:ln>
          </p:spPr>
        </p:sp>
        <p:sp>
          <p:nvSpPr>
            <p:cNvPr id="37998" name="Line 233"/>
            <p:cNvSpPr/>
            <p:nvPr/>
          </p:nvSpPr>
          <p:spPr>
            <a:xfrm>
              <a:off x="4944" y="3120"/>
              <a:ext cx="0" cy="960"/>
            </a:xfrm>
            <a:prstGeom prst="line">
              <a:avLst/>
            </a:prstGeom>
            <a:ln w="38100" cap="flat" cmpd="sng">
              <a:solidFill>
                <a:srgbClr val="009900"/>
              </a:solidFill>
              <a:prstDash val="solid"/>
              <a:round/>
              <a:headEnd type="none" w="med" len="med"/>
              <a:tailEnd type="none" w="med" len="med"/>
            </a:ln>
          </p:spPr>
        </p:sp>
        <p:sp>
          <p:nvSpPr>
            <p:cNvPr id="37999" name="Line 234"/>
            <p:cNvSpPr/>
            <p:nvPr/>
          </p:nvSpPr>
          <p:spPr>
            <a:xfrm>
              <a:off x="4992" y="3072"/>
              <a:ext cx="336" cy="480"/>
            </a:xfrm>
            <a:prstGeom prst="line">
              <a:avLst/>
            </a:prstGeom>
            <a:ln w="38100" cap="flat" cmpd="sng">
              <a:solidFill>
                <a:srgbClr val="009900"/>
              </a:solidFill>
              <a:prstDash val="solid"/>
              <a:round/>
              <a:headEnd type="none" w="med" len="med"/>
              <a:tailEnd type="none" w="med" len="med"/>
            </a:ln>
          </p:spPr>
        </p:sp>
        <p:sp>
          <p:nvSpPr>
            <p:cNvPr id="38000" name="Line 235"/>
            <p:cNvSpPr/>
            <p:nvPr/>
          </p:nvSpPr>
          <p:spPr>
            <a:xfrm flipH="1">
              <a:off x="3840" y="3072"/>
              <a:ext cx="240" cy="432"/>
            </a:xfrm>
            <a:prstGeom prst="line">
              <a:avLst/>
            </a:prstGeom>
            <a:ln w="38100" cap="flat" cmpd="sng">
              <a:solidFill>
                <a:srgbClr val="009900"/>
              </a:solidFill>
              <a:prstDash val="solid"/>
              <a:round/>
              <a:headEnd type="none" w="med" len="med"/>
              <a:tailEnd type="none" w="med" len="med"/>
            </a:ln>
          </p:spPr>
        </p:sp>
        <p:sp>
          <p:nvSpPr>
            <p:cNvPr id="38001" name="Line 236"/>
            <p:cNvSpPr/>
            <p:nvPr/>
          </p:nvSpPr>
          <p:spPr>
            <a:xfrm flipH="1" flipV="1">
              <a:off x="4128" y="3120"/>
              <a:ext cx="0" cy="1008"/>
            </a:xfrm>
            <a:prstGeom prst="line">
              <a:avLst/>
            </a:prstGeom>
            <a:ln w="38100" cap="flat" cmpd="sng">
              <a:solidFill>
                <a:srgbClr val="009900"/>
              </a:solidFill>
              <a:prstDash val="solid"/>
              <a:round/>
              <a:headEnd type="none" w="med" len="med"/>
              <a:tailEnd type="none" w="med" len="med"/>
            </a:ln>
          </p:spPr>
        </p:sp>
        <p:sp>
          <p:nvSpPr>
            <p:cNvPr id="38002" name="Line 237"/>
            <p:cNvSpPr/>
            <p:nvPr/>
          </p:nvSpPr>
          <p:spPr>
            <a:xfrm flipH="1" flipV="1">
              <a:off x="4176" y="3072"/>
              <a:ext cx="1104" cy="576"/>
            </a:xfrm>
            <a:prstGeom prst="line">
              <a:avLst/>
            </a:prstGeom>
            <a:ln w="38100" cap="flat" cmpd="sng">
              <a:solidFill>
                <a:srgbClr val="009900"/>
              </a:solidFill>
              <a:prstDash val="solid"/>
              <a:round/>
              <a:headEnd type="none" w="med" len="med"/>
              <a:tailEnd type="none" w="med" len="med"/>
            </a:ln>
          </p:spPr>
        </p:sp>
        <p:sp>
          <p:nvSpPr>
            <p:cNvPr id="38003" name="Line 238"/>
            <p:cNvSpPr/>
            <p:nvPr/>
          </p:nvSpPr>
          <p:spPr>
            <a:xfrm flipH="1" flipV="1">
              <a:off x="3792" y="3696"/>
              <a:ext cx="288" cy="432"/>
            </a:xfrm>
            <a:prstGeom prst="line">
              <a:avLst/>
            </a:prstGeom>
            <a:ln w="38100" cap="flat" cmpd="sng">
              <a:solidFill>
                <a:srgbClr val="009900"/>
              </a:solidFill>
              <a:prstDash val="solid"/>
              <a:round/>
              <a:headEnd type="none" w="med" len="med"/>
              <a:tailEnd type="none" w="med" len="med"/>
            </a:ln>
          </p:spPr>
        </p:sp>
        <p:sp>
          <p:nvSpPr>
            <p:cNvPr id="38004" name="Line 239"/>
            <p:cNvSpPr/>
            <p:nvPr/>
          </p:nvSpPr>
          <p:spPr>
            <a:xfrm flipH="1">
              <a:off x="4176" y="4176"/>
              <a:ext cx="720" cy="0"/>
            </a:xfrm>
            <a:prstGeom prst="line">
              <a:avLst/>
            </a:prstGeom>
            <a:ln w="38100" cap="flat" cmpd="sng">
              <a:solidFill>
                <a:srgbClr val="009900"/>
              </a:solidFill>
              <a:prstDash val="solid"/>
              <a:round/>
              <a:headEnd type="none" w="med" len="med"/>
              <a:tailEnd type="none" w="med" len="med"/>
            </a:ln>
          </p:spPr>
        </p:sp>
        <p:sp>
          <p:nvSpPr>
            <p:cNvPr id="38005" name="Line 240"/>
            <p:cNvSpPr/>
            <p:nvPr/>
          </p:nvSpPr>
          <p:spPr>
            <a:xfrm flipH="1">
              <a:off x="4224" y="3648"/>
              <a:ext cx="1056" cy="480"/>
            </a:xfrm>
            <a:prstGeom prst="line">
              <a:avLst/>
            </a:prstGeom>
            <a:ln w="38100" cap="flat" cmpd="sng">
              <a:solidFill>
                <a:srgbClr val="009900"/>
              </a:solidFill>
              <a:prstDash val="solid"/>
              <a:round/>
              <a:headEnd type="none" w="med" len="med"/>
              <a:tailEnd type="none" w="med" len="med"/>
            </a:ln>
          </p:spPr>
        </p:sp>
        <p:sp>
          <p:nvSpPr>
            <p:cNvPr id="38006" name="Line 241"/>
            <p:cNvSpPr/>
            <p:nvPr/>
          </p:nvSpPr>
          <p:spPr>
            <a:xfrm flipH="1">
              <a:off x="4992" y="3696"/>
              <a:ext cx="336" cy="480"/>
            </a:xfrm>
            <a:prstGeom prst="line">
              <a:avLst/>
            </a:prstGeom>
            <a:ln w="38100" cap="flat" cmpd="sng">
              <a:solidFill>
                <a:srgbClr val="009900"/>
              </a:solidFill>
              <a:prstDash val="solid"/>
              <a:round/>
              <a:headEnd type="none" w="med" len="med"/>
              <a:tailEnd type="none" w="med" len="med"/>
            </a:ln>
          </p:spPr>
        </p:sp>
        <p:grpSp>
          <p:nvGrpSpPr>
            <p:cNvPr id="38007" name="Group 242"/>
            <p:cNvGrpSpPr/>
            <p:nvPr/>
          </p:nvGrpSpPr>
          <p:grpSpPr>
            <a:xfrm>
              <a:off x="3648" y="2875"/>
              <a:ext cx="1824" cy="1444"/>
              <a:chOff x="3648" y="2880"/>
              <a:chExt cx="1824" cy="1444"/>
            </a:xfrm>
          </p:grpSpPr>
          <p:sp>
            <p:nvSpPr>
              <p:cNvPr id="38008" name="Oval 243"/>
              <p:cNvSpPr/>
              <p:nvPr/>
            </p:nvSpPr>
            <p:spPr>
              <a:xfrm>
                <a:off x="3984" y="2880"/>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38009" name="Oval 244"/>
              <p:cNvSpPr/>
              <p:nvPr/>
            </p:nvSpPr>
            <p:spPr>
              <a:xfrm>
                <a:off x="3987" y="4053"/>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38010" name="Oval 245"/>
              <p:cNvSpPr/>
              <p:nvPr/>
            </p:nvSpPr>
            <p:spPr>
              <a:xfrm>
                <a:off x="3648" y="3456"/>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sp>
            <p:nvSpPr>
              <p:cNvPr id="38011" name="Oval 246"/>
              <p:cNvSpPr/>
              <p:nvPr/>
            </p:nvSpPr>
            <p:spPr>
              <a:xfrm>
                <a:off x="5184" y="350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F</a:t>
                </a:r>
                <a:endParaRPr lang="en-US" altLang="zh-CN" sz="2400" dirty="0">
                  <a:solidFill>
                    <a:schemeClr val="bg1"/>
                  </a:solidFill>
                  <a:latin typeface="Tahoma" panose="020B0604030504040204" charset="0"/>
                  <a:ea typeface="宋体" panose="02010600030101010101" pitchFamily="2" charset="-122"/>
                </a:endParaRPr>
              </a:p>
            </p:txBody>
          </p:sp>
          <p:sp>
            <p:nvSpPr>
              <p:cNvPr id="38012" name="Oval 247"/>
              <p:cNvSpPr/>
              <p:nvPr/>
            </p:nvSpPr>
            <p:spPr>
              <a:xfrm>
                <a:off x="4800" y="405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sp>
            <p:nvSpPr>
              <p:cNvPr id="38013" name="Oval 248"/>
              <p:cNvSpPr/>
              <p:nvPr/>
            </p:nvSpPr>
            <p:spPr>
              <a:xfrm>
                <a:off x="4800" y="288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grpSp>
      </p:grpSp>
      <p:graphicFrame>
        <p:nvGraphicFramePr>
          <p:cNvPr id="35845" name="表格 35844"/>
          <p:cNvGraphicFramePr/>
          <p:nvPr>
            <p:custDataLst>
              <p:tags r:id="rId1"/>
            </p:custDataLst>
          </p:nvPr>
        </p:nvGraphicFramePr>
        <p:xfrm>
          <a:off x="1608138" y="2204403"/>
          <a:ext cx="1058545" cy="3657600"/>
        </p:xfrm>
        <a:graphic>
          <a:graphicData uri="http://schemas.openxmlformats.org/drawingml/2006/table">
            <a:tbl>
              <a:tblPr/>
              <a:tblGrid>
                <a:gridCol w="601345"/>
                <a:gridCol w="457200"/>
              </a:tblGrid>
              <a:tr h="609600">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A</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609600">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B</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609600">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C</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609600">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D</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609600">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E</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609600">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F</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bl>
          </a:graphicData>
        </a:graphic>
      </p:graphicFrame>
      <p:grpSp>
        <p:nvGrpSpPr>
          <p:cNvPr id="5" name="Group 150"/>
          <p:cNvGrpSpPr/>
          <p:nvPr/>
        </p:nvGrpSpPr>
        <p:grpSpPr>
          <a:xfrm>
            <a:off x="2514283" y="2204403"/>
            <a:ext cx="4724400" cy="3660927"/>
            <a:chOff x="912" y="1824"/>
            <a:chExt cx="3744" cy="2306"/>
          </a:xfrm>
        </p:grpSpPr>
        <p:grpSp>
          <p:nvGrpSpPr>
            <p:cNvPr id="37916" name="Group 151"/>
            <p:cNvGrpSpPr/>
            <p:nvPr/>
          </p:nvGrpSpPr>
          <p:grpSpPr>
            <a:xfrm>
              <a:off x="1296" y="1824"/>
              <a:ext cx="624" cy="290"/>
              <a:chOff x="3956" y="1776"/>
              <a:chExt cx="1516" cy="459"/>
            </a:xfrm>
          </p:grpSpPr>
          <p:sp>
            <p:nvSpPr>
              <p:cNvPr id="37917" name="Text Box 152"/>
              <p:cNvSpPr txBox="1"/>
              <p:nvPr/>
            </p:nvSpPr>
            <p:spPr>
              <a:xfrm>
                <a:off x="3956" y="1776"/>
                <a:ext cx="889"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1</a:t>
                </a:r>
                <a:endParaRPr lang="en-US" altLang="zh-CN" sz="2400" dirty="0">
                  <a:latin typeface="Tahoma" panose="020B0604030504040204" charset="0"/>
                  <a:ea typeface="宋体" panose="02010600030101010101" pitchFamily="2" charset="-122"/>
                </a:endParaRPr>
              </a:p>
            </p:txBody>
          </p:sp>
          <p:sp>
            <p:nvSpPr>
              <p:cNvPr id="37918" name="Text Box 153"/>
              <p:cNvSpPr txBox="1"/>
              <p:nvPr/>
            </p:nvSpPr>
            <p:spPr>
              <a:xfrm>
                <a:off x="4845" y="1776"/>
                <a:ext cx="627"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endParaRPr lang="zh-CN" altLang="zh-CN" sz="2400" dirty="0">
                  <a:latin typeface="Tahoma" panose="020B0604030504040204" charset="0"/>
                  <a:ea typeface="宋体" panose="02010600030101010101" pitchFamily="2" charset="-122"/>
                </a:endParaRPr>
              </a:p>
            </p:txBody>
          </p:sp>
        </p:grpSp>
        <p:grpSp>
          <p:nvGrpSpPr>
            <p:cNvPr id="37919" name="Group 154"/>
            <p:cNvGrpSpPr/>
            <p:nvPr/>
          </p:nvGrpSpPr>
          <p:grpSpPr>
            <a:xfrm>
              <a:off x="2208" y="1824"/>
              <a:ext cx="624" cy="290"/>
              <a:chOff x="3956" y="1776"/>
              <a:chExt cx="1516" cy="459"/>
            </a:xfrm>
          </p:grpSpPr>
          <p:sp>
            <p:nvSpPr>
              <p:cNvPr id="37920" name="Text Box 155"/>
              <p:cNvSpPr txBox="1"/>
              <p:nvPr/>
            </p:nvSpPr>
            <p:spPr>
              <a:xfrm>
                <a:off x="3956" y="1776"/>
                <a:ext cx="889"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4</a:t>
                </a:r>
                <a:endParaRPr lang="en-US" altLang="zh-CN" sz="2400" dirty="0">
                  <a:latin typeface="Tahoma" panose="020B0604030504040204" charset="0"/>
                  <a:ea typeface="宋体" panose="02010600030101010101" pitchFamily="2" charset="-122"/>
                </a:endParaRPr>
              </a:p>
            </p:txBody>
          </p:sp>
          <p:sp>
            <p:nvSpPr>
              <p:cNvPr id="37921" name="Text Box 156"/>
              <p:cNvSpPr txBox="1"/>
              <p:nvPr/>
            </p:nvSpPr>
            <p:spPr>
              <a:xfrm>
                <a:off x="4845" y="1776"/>
                <a:ext cx="627"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endParaRPr lang="zh-CN" altLang="zh-CN" sz="2400" dirty="0">
                  <a:latin typeface="Tahoma" panose="020B0604030504040204" charset="0"/>
                  <a:ea typeface="宋体" panose="02010600030101010101" pitchFamily="2" charset="-122"/>
                </a:endParaRPr>
              </a:p>
            </p:txBody>
          </p:sp>
        </p:grpSp>
        <p:grpSp>
          <p:nvGrpSpPr>
            <p:cNvPr id="37922" name="Group 157"/>
            <p:cNvGrpSpPr/>
            <p:nvPr/>
          </p:nvGrpSpPr>
          <p:grpSpPr>
            <a:xfrm>
              <a:off x="3120" y="1824"/>
              <a:ext cx="624" cy="290"/>
              <a:chOff x="3956" y="1776"/>
              <a:chExt cx="1516" cy="459"/>
            </a:xfrm>
          </p:grpSpPr>
          <p:sp>
            <p:nvSpPr>
              <p:cNvPr id="37923" name="Text Box 158"/>
              <p:cNvSpPr txBox="1"/>
              <p:nvPr/>
            </p:nvSpPr>
            <p:spPr>
              <a:xfrm>
                <a:off x="3956" y="1776"/>
                <a:ext cx="889"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5</a:t>
                </a:r>
                <a:endParaRPr lang="en-US" altLang="zh-CN" sz="2400" dirty="0">
                  <a:latin typeface="Tahoma" panose="020B0604030504040204" charset="0"/>
                  <a:ea typeface="宋体" panose="02010600030101010101" pitchFamily="2" charset="-122"/>
                </a:endParaRPr>
              </a:p>
            </p:txBody>
          </p:sp>
          <p:sp>
            <p:nvSpPr>
              <p:cNvPr id="37924" name="Text Box 159"/>
              <p:cNvSpPr txBox="1"/>
              <p:nvPr/>
            </p:nvSpPr>
            <p:spPr>
              <a:xfrm>
                <a:off x="4845" y="1776"/>
                <a:ext cx="627"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a:t>
                </a:r>
                <a:endParaRPr lang="en-US" altLang="zh-CN" sz="2400" dirty="0">
                  <a:latin typeface="Tahoma" panose="020B0604030504040204" charset="0"/>
                  <a:ea typeface="宋体" panose="02010600030101010101" pitchFamily="2" charset="-122"/>
                </a:endParaRPr>
              </a:p>
            </p:txBody>
          </p:sp>
        </p:grpSp>
        <p:sp>
          <p:nvSpPr>
            <p:cNvPr id="37925" name="Line 160"/>
            <p:cNvSpPr/>
            <p:nvPr/>
          </p:nvSpPr>
          <p:spPr>
            <a:xfrm>
              <a:off x="912" y="2016"/>
              <a:ext cx="384" cy="0"/>
            </a:xfrm>
            <a:prstGeom prst="line">
              <a:avLst/>
            </a:prstGeom>
            <a:ln w="28575" cap="flat" cmpd="sng">
              <a:solidFill>
                <a:srgbClr val="00FF00"/>
              </a:solidFill>
              <a:prstDash val="solid"/>
              <a:miter/>
              <a:headEnd type="none" w="med" len="med"/>
              <a:tailEnd type="triangle" w="med" len="med"/>
            </a:ln>
          </p:spPr>
        </p:sp>
        <p:sp>
          <p:nvSpPr>
            <p:cNvPr id="37926" name="Line 161"/>
            <p:cNvSpPr/>
            <p:nvPr/>
          </p:nvSpPr>
          <p:spPr>
            <a:xfrm>
              <a:off x="1824" y="2016"/>
              <a:ext cx="384" cy="0"/>
            </a:xfrm>
            <a:prstGeom prst="line">
              <a:avLst/>
            </a:prstGeom>
            <a:ln w="28575" cap="flat" cmpd="sng">
              <a:solidFill>
                <a:srgbClr val="00FF00"/>
              </a:solidFill>
              <a:prstDash val="solid"/>
              <a:miter/>
              <a:headEnd type="none" w="med" len="med"/>
              <a:tailEnd type="triangle" w="med" len="med"/>
            </a:ln>
          </p:spPr>
        </p:sp>
        <p:sp>
          <p:nvSpPr>
            <p:cNvPr id="37927" name="Line 162"/>
            <p:cNvSpPr/>
            <p:nvPr/>
          </p:nvSpPr>
          <p:spPr>
            <a:xfrm>
              <a:off x="2736" y="2016"/>
              <a:ext cx="384" cy="0"/>
            </a:xfrm>
            <a:prstGeom prst="line">
              <a:avLst/>
            </a:prstGeom>
            <a:ln w="28575" cap="flat" cmpd="sng">
              <a:solidFill>
                <a:srgbClr val="00FF00"/>
              </a:solidFill>
              <a:prstDash val="solid"/>
              <a:miter/>
              <a:headEnd type="none" w="med" len="med"/>
              <a:tailEnd type="triangle" w="med" len="med"/>
            </a:ln>
          </p:spPr>
        </p:sp>
        <p:grpSp>
          <p:nvGrpSpPr>
            <p:cNvPr id="37928" name="Group 163"/>
            <p:cNvGrpSpPr/>
            <p:nvPr/>
          </p:nvGrpSpPr>
          <p:grpSpPr>
            <a:xfrm>
              <a:off x="1296" y="2256"/>
              <a:ext cx="624" cy="290"/>
              <a:chOff x="3956" y="1776"/>
              <a:chExt cx="1516" cy="459"/>
            </a:xfrm>
          </p:grpSpPr>
          <p:sp>
            <p:nvSpPr>
              <p:cNvPr id="37929" name="Text Box 164"/>
              <p:cNvSpPr txBox="1"/>
              <p:nvPr/>
            </p:nvSpPr>
            <p:spPr>
              <a:xfrm>
                <a:off x="3956" y="1776"/>
                <a:ext cx="889"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0</a:t>
                </a:r>
                <a:endParaRPr lang="en-US" altLang="zh-CN" sz="2400" dirty="0">
                  <a:latin typeface="Tahoma" panose="020B0604030504040204" charset="0"/>
                  <a:ea typeface="宋体" panose="02010600030101010101" pitchFamily="2" charset="-122"/>
                </a:endParaRPr>
              </a:p>
            </p:txBody>
          </p:sp>
          <p:sp>
            <p:nvSpPr>
              <p:cNvPr id="37930" name="Text Box 165"/>
              <p:cNvSpPr txBox="1"/>
              <p:nvPr/>
            </p:nvSpPr>
            <p:spPr>
              <a:xfrm>
                <a:off x="4845" y="1776"/>
                <a:ext cx="627"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endParaRPr lang="zh-CN" altLang="zh-CN" sz="2400" dirty="0">
                  <a:latin typeface="Tahoma" panose="020B0604030504040204" charset="0"/>
                  <a:ea typeface="宋体" panose="02010600030101010101" pitchFamily="2" charset="-122"/>
                </a:endParaRPr>
              </a:p>
            </p:txBody>
          </p:sp>
        </p:grpSp>
        <p:grpSp>
          <p:nvGrpSpPr>
            <p:cNvPr id="37931" name="Group 166"/>
            <p:cNvGrpSpPr/>
            <p:nvPr/>
          </p:nvGrpSpPr>
          <p:grpSpPr>
            <a:xfrm>
              <a:off x="2208" y="2256"/>
              <a:ext cx="624" cy="290"/>
              <a:chOff x="3956" y="1776"/>
              <a:chExt cx="1516" cy="459"/>
            </a:xfrm>
          </p:grpSpPr>
          <p:sp>
            <p:nvSpPr>
              <p:cNvPr id="37932" name="Text Box 167"/>
              <p:cNvSpPr txBox="1"/>
              <p:nvPr/>
            </p:nvSpPr>
            <p:spPr>
              <a:xfrm>
                <a:off x="3956" y="1776"/>
                <a:ext cx="889"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2</a:t>
                </a:r>
                <a:endParaRPr lang="en-US" altLang="zh-CN" sz="2400" dirty="0">
                  <a:latin typeface="Tahoma" panose="020B0604030504040204" charset="0"/>
                  <a:ea typeface="宋体" panose="02010600030101010101" pitchFamily="2" charset="-122"/>
                </a:endParaRPr>
              </a:p>
            </p:txBody>
          </p:sp>
          <p:sp>
            <p:nvSpPr>
              <p:cNvPr id="37933" name="Text Box 168"/>
              <p:cNvSpPr txBox="1"/>
              <p:nvPr/>
            </p:nvSpPr>
            <p:spPr>
              <a:xfrm>
                <a:off x="4845" y="1776"/>
                <a:ext cx="627"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endParaRPr lang="zh-CN" altLang="zh-CN" sz="2400" dirty="0">
                  <a:latin typeface="Tahoma" panose="020B0604030504040204" charset="0"/>
                  <a:ea typeface="宋体" panose="02010600030101010101" pitchFamily="2" charset="-122"/>
                </a:endParaRPr>
              </a:p>
            </p:txBody>
          </p:sp>
        </p:grpSp>
        <p:grpSp>
          <p:nvGrpSpPr>
            <p:cNvPr id="37934" name="Group 169"/>
            <p:cNvGrpSpPr/>
            <p:nvPr/>
          </p:nvGrpSpPr>
          <p:grpSpPr>
            <a:xfrm>
              <a:off x="3120" y="2256"/>
              <a:ext cx="624" cy="290"/>
              <a:chOff x="3956" y="1776"/>
              <a:chExt cx="1516" cy="459"/>
            </a:xfrm>
          </p:grpSpPr>
          <p:sp>
            <p:nvSpPr>
              <p:cNvPr id="37935" name="Text Box 170"/>
              <p:cNvSpPr txBox="1"/>
              <p:nvPr/>
            </p:nvSpPr>
            <p:spPr>
              <a:xfrm>
                <a:off x="3956" y="1776"/>
                <a:ext cx="889"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3</a:t>
                </a:r>
                <a:endParaRPr lang="en-US" altLang="zh-CN" sz="2400" dirty="0">
                  <a:latin typeface="Tahoma" panose="020B0604030504040204" charset="0"/>
                  <a:ea typeface="宋体" panose="02010600030101010101" pitchFamily="2" charset="-122"/>
                </a:endParaRPr>
              </a:p>
            </p:txBody>
          </p:sp>
          <p:sp>
            <p:nvSpPr>
              <p:cNvPr id="37936" name="Text Box 171"/>
              <p:cNvSpPr txBox="1"/>
              <p:nvPr/>
            </p:nvSpPr>
            <p:spPr>
              <a:xfrm>
                <a:off x="4845" y="1776"/>
                <a:ext cx="627"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endParaRPr lang="zh-CN" altLang="zh-CN" sz="2400" dirty="0">
                  <a:latin typeface="Tahoma" panose="020B0604030504040204" charset="0"/>
                  <a:ea typeface="宋体" panose="02010600030101010101" pitchFamily="2" charset="-122"/>
                </a:endParaRPr>
              </a:p>
            </p:txBody>
          </p:sp>
        </p:grpSp>
        <p:sp>
          <p:nvSpPr>
            <p:cNvPr id="37937" name="Line 172"/>
            <p:cNvSpPr/>
            <p:nvPr/>
          </p:nvSpPr>
          <p:spPr>
            <a:xfrm>
              <a:off x="912" y="2448"/>
              <a:ext cx="384" cy="0"/>
            </a:xfrm>
            <a:prstGeom prst="line">
              <a:avLst/>
            </a:prstGeom>
            <a:ln w="28575" cap="flat" cmpd="sng">
              <a:solidFill>
                <a:srgbClr val="00FF00"/>
              </a:solidFill>
              <a:prstDash val="solid"/>
              <a:miter/>
              <a:headEnd type="none" w="med" len="med"/>
              <a:tailEnd type="triangle" w="med" len="med"/>
            </a:ln>
          </p:spPr>
        </p:sp>
        <p:sp>
          <p:nvSpPr>
            <p:cNvPr id="37938" name="Line 173"/>
            <p:cNvSpPr/>
            <p:nvPr/>
          </p:nvSpPr>
          <p:spPr>
            <a:xfrm>
              <a:off x="1824" y="2448"/>
              <a:ext cx="384" cy="0"/>
            </a:xfrm>
            <a:prstGeom prst="line">
              <a:avLst/>
            </a:prstGeom>
            <a:ln w="28575" cap="flat" cmpd="sng">
              <a:solidFill>
                <a:srgbClr val="00FF00"/>
              </a:solidFill>
              <a:prstDash val="solid"/>
              <a:miter/>
              <a:headEnd type="none" w="med" len="med"/>
              <a:tailEnd type="triangle" w="med" len="med"/>
            </a:ln>
          </p:spPr>
        </p:sp>
        <p:sp>
          <p:nvSpPr>
            <p:cNvPr id="37939" name="Line 174"/>
            <p:cNvSpPr/>
            <p:nvPr/>
          </p:nvSpPr>
          <p:spPr>
            <a:xfrm>
              <a:off x="2736" y="2448"/>
              <a:ext cx="384" cy="0"/>
            </a:xfrm>
            <a:prstGeom prst="line">
              <a:avLst/>
            </a:prstGeom>
            <a:ln w="28575" cap="flat" cmpd="sng">
              <a:solidFill>
                <a:srgbClr val="00FF00"/>
              </a:solidFill>
              <a:prstDash val="solid"/>
              <a:miter/>
              <a:headEnd type="none" w="med" len="med"/>
              <a:tailEnd type="triangle" w="med" len="med"/>
            </a:ln>
          </p:spPr>
        </p:sp>
        <p:grpSp>
          <p:nvGrpSpPr>
            <p:cNvPr id="37940" name="Group 175"/>
            <p:cNvGrpSpPr/>
            <p:nvPr/>
          </p:nvGrpSpPr>
          <p:grpSpPr>
            <a:xfrm>
              <a:off x="1296" y="2640"/>
              <a:ext cx="624" cy="290"/>
              <a:chOff x="3956" y="1776"/>
              <a:chExt cx="1516" cy="459"/>
            </a:xfrm>
          </p:grpSpPr>
          <p:sp>
            <p:nvSpPr>
              <p:cNvPr id="37941" name="Text Box 176"/>
              <p:cNvSpPr txBox="1"/>
              <p:nvPr/>
            </p:nvSpPr>
            <p:spPr>
              <a:xfrm>
                <a:off x="3956" y="1776"/>
                <a:ext cx="889"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1</a:t>
                </a:r>
                <a:endParaRPr lang="en-US" altLang="zh-CN" sz="2400" dirty="0">
                  <a:latin typeface="Tahoma" panose="020B0604030504040204" charset="0"/>
                  <a:ea typeface="宋体" panose="02010600030101010101" pitchFamily="2" charset="-122"/>
                </a:endParaRPr>
              </a:p>
            </p:txBody>
          </p:sp>
          <p:sp>
            <p:nvSpPr>
              <p:cNvPr id="37942" name="Text Box 177"/>
              <p:cNvSpPr txBox="1"/>
              <p:nvPr/>
            </p:nvSpPr>
            <p:spPr>
              <a:xfrm>
                <a:off x="4845" y="1776"/>
                <a:ext cx="627"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endParaRPr lang="zh-CN" altLang="zh-CN" sz="2400" dirty="0">
                  <a:latin typeface="Tahoma" panose="020B0604030504040204" charset="0"/>
                  <a:ea typeface="宋体" panose="02010600030101010101" pitchFamily="2" charset="-122"/>
                </a:endParaRPr>
              </a:p>
            </p:txBody>
          </p:sp>
        </p:grpSp>
        <p:grpSp>
          <p:nvGrpSpPr>
            <p:cNvPr id="37943" name="Group 178"/>
            <p:cNvGrpSpPr/>
            <p:nvPr/>
          </p:nvGrpSpPr>
          <p:grpSpPr>
            <a:xfrm>
              <a:off x="2208" y="2640"/>
              <a:ext cx="624" cy="290"/>
              <a:chOff x="3956" y="1776"/>
              <a:chExt cx="1516" cy="459"/>
            </a:xfrm>
          </p:grpSpPr>
          <p:sp>
            <p:nvSpPr>
              <p:cNvPr id="37944" name="Text Box 179"/>
              <p:cNvSpPr txBox="1"/>
              <p:nvPr/>
            </p:nvSpPr>
            <p:spPr>
              <a:xfrm>
                <a:off x="3956" y="1776"/>
                <a:ext cx="889"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3</a:t>
                </a:r>
                <a:endParaRPr lang="en-US" altLang="zh-CN" sz="2400" dirty="0">
                  <a:latin typeface="Tahoma" panose="020B0604030504040204" charset="0"/>
                  <a:ea typeface="宋体" panose="02010600030101010101" pitchFamily="2" charset="-122"/>
                </a:endParaRPr>
              </a:p>
            </p:txBody>
          </p:sp>
          <p:sp>
            <p:nvSpPr>
              <p:cNvPr id="37945" name="Text Box 180"/>
              <p:cNvSpPr txBox="1"/>
              <p:nvPr/>
            </p:nvSpPr>
            <p:spPr>
              <a:xfrm>
                <a:off x="4845" y="1776"/>
                <a:ext cx="627"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a:t>
                </a:r>
                <a:endParaRPr lang="en-US" altLang="zh-CN" sz="2400" dirty="0">
                  <a:latin typeface="Tahoma" panose="020B0604030504040204" charset="0"/>
                  <a:ea typeface="宋体" panose="02010600030101010101" pitchFamily="2" charset="-122"/>
                </a:endParaRPr>
              </a:p>
            </p:txBody>
          </p:sp>
        </p:grpSp>
        <p:sp>
          <p:nvSpPr>
            <p:cNvPr id="37946" name="Line 181"/>
            <p:cNvSpPr/>
            <p:nvPr/>
          </p:nvSpPr>
          <p:spPr>
            <a:xfrm>
              <a:off x="912" y="2832"/>
              <a:ext cx="384" cy="0"/>
            </a:xfrm>
            <a:prstGeom prst="line">
              <a:avLst/>
            </a:prstGeom>
            <a:ln w="28575" cap="flat" cmpd="sng">
              <a:solidFill>
                <a:srgbClr val="00FF00"/>
              </a:solidFill>
              <a:prstDash val="solid"/>
              <a:miter/>
              <a:headEnd type="none" w="med" len="med"/>
              <a:tailEnd type="triangle" w="med" len="med"/>
            </a:ln>
          </p:spPr>
        </p:sp>
        <p:sp>
          <p:nvSpPr>
            <p:cNvPr id="37947" name="Line 182"/>
            <p:cNvSpPr/>
            <p:nvPr/>
          </p:nvSpPr>
          <p:spPr>
            <a:xfrm>
              <a:off x="1824" y="2832"/>
              <a:ext cx="384" cy="0"/>
            </a:xfrm>
            <a:prstGeom prst="line">
              <a:avLst/>
            </a:prstGeom>
            <a:ln w="28575" cap="flat" cmpd="sng">
              <a:solidFill>
                <a:srgbClr val="00FF00"/>
              </a:solidFill>
              <a:prstDash val="solid"/>
              <a:miter/>
              <a:headEnd type="none" w="med" len="med"/>
              <a:tailEnd type="triangle" w="med" len="med"/>
            </a:ln>
          </p:spPr>
        </p:sp>
        <p:grpSp>
          <p:nvGrpSpPr>
            <p:cNvPr id="37948" name="Group 183"/>
            <p:cNvGrpSpPr/>
            <p:nvPr/>
          </p:nvGrpSpPr>
          <p:grpSpPr>
            <a:xfrm>
              <a:off x="1296" y="3072"/>
              <a:ext cx="624" cy="290"/>
              <a:chOff x="3956" y="1776"/>
              <a:chExt cx="1516" cy="459"/>
            </a:xfrm>
          </p:grpSpPr>
          <p:sp>
            <p:nvSpPr>
              <p:cNvPr id="37949" name="Text Box 184"/>
              <p:cNvSpPr txBox="1"/>
              <p:nvPr/>
            </p:nvSpPr>
            <p:spPr>
              <a:xfrm>
                <a:off x="3956" y="1776"/>
                <a:ext cx="889"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1</a:t>
                </a:r>
                <a:endParaRPr lang="en-US" altLang="zh-CN" sz="2400" dirty="0">
                  <a:latin typeface="Tahoma" panose="020B0604030504040204" charset="0"/>
                  <a:ea typeface="宋体" panose="02010600030101010101" pitchFamily="2" charset="-122"/>
                </a:endParaRPr>
              </a:p>
            </p:txBody>
          </p:sp>
          <p:sp>
            <p:nvSpPr>
              <p:cNvPr id="37950" name="Text Box 185"/>
              <p:cNvSpPr txBox="1"/>
              <p:nvPr/>
            </p:nvSpPr>
            <p:spPr>
              <a:xfrm>
                <a:off x="4845" y="1776"/>
                <a:ext cx="627"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endParaRPr lang="zh-CN" altLang="zh-CN" sz="2400" dirty="0">
                  <a:latin typeface="Tahoma" panose="020B0604030504040204" charset="0"/>
                  <a:ea typeface="宋体" panose="02010600030101010101" pitchFamily="2" charset="-122"/>
                </a:endParaRPr>
              </a:p>
            </p:txBody>
          </p:sp>
        </p:grpSp>
        <p:grpSp>
          <p:nvGrpSpPr>
            <p:cNvPr id="37951" name="Group 186"/>
            <p:cNvGrpSpPr/>
            <p:nvPr/>
          </p:nvGrpSpPr>
          <p:grpSpPr>
            <a:xfrm>
              <a:off x="2208" y="3072"/>
              <a:ext cx="624" cy="290"/>
              <a:chOff x="3956" y="1776"/>
              <a:chExt cx="1516" cy="459"/>
            </a:xfrm>
          </p:grpSpPr>
          <p:sp>
            <p:nvSpPr>
              <p:cNvPr id="37952" name="Text Box 187"/>
              <p:cNvSpPr txBox="1"/>
              <p:nvPr/>
            </p:nvSpPr>
            <p:spPr>
              <a:xfrm>
                <a:off x="3956" y="1776"/>
                <a:ext cx="889"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2</a:t>
                </a:r>
                <a:endParaRPr lang="en-US" altLang="zh-CN" sz="2400" dirty="0">
                  <a:latin typeface="Tahoma" panose="020B0604030504040204" charset="0"/>
                  <a:ea typeface="宋体" panose="02010600030101010101" pitchFamily="2" charset="-122"/>
                </a:endParaRPr>
              </a:p>
            </p:txBody>
          </p:sp>
          <p:sp>
            <p:nvSpPr>
              <p:cNvPr id="37953" name="Text Box 188"/>
              <p:cNvSpPr txBox="1"/>
              <p:nvPr/>
            </p:nvSpPr>
            <p:spPr>
              <a:xfrm>
                <a:off x="4845" y="1776"/>
                <a:ext cx="627"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endParaRPr lang="zh-CN" altLang="zh-CN" sz="2400" dirty="0">
                  <a:latin typeface="Tahoma" panose="020B0604030504040204" charset="0"/>
                  <a:ea typeface="宋体" panose="02010600030101010101" pitchFamily="2" charset="-122"/>
                </a:endParaRPr>
              </a:p>
            </p:txBody>
          </p:sp>
        </p:grpSp>
        <p:grpSp>
          <p:nvGrpSpPr>
            <p:cNvPr id="37954" name="Group 189"/>
            <p:cNvGrpSpPr/>
            <p:nvPr/>
          </p:nvGrpSpPr>
          <p:grpSpPr>
            <a:xfrm>
              <a:off x="3120" y="3072"/>
              <a:ext cx="624" cy="290"/>
              <a:chOff x="3956" y="1776"/>
              <a:chExt cx="1516" cy="459"/>
            </a:xfrm>
          </p:grpSpPr>
          <p:sp>
            <p:nvSpPr>
              <p:cNvPr id="37955" name="Text Box 190"/>
              <p:cNvSpPr txBox="1"/>
              <p:nvPr/>
            </p:nvSpPr>
            <p:spPr>
              <a:xfrm>
                <a:off x="3956" y="1776"/>
                <a:ext cx="889"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4</a:t>
                </a:r>
                <a:endParaRPr lang="en-US" altLang="zh-CN" sz="2400" dirty="0">
                  <a:latin typeface="Tahoma" panose="020B0604030504040204" charset="0"/>
                  <a:ea typeface="宋体" panose="02010600030101010101" pitchFamily="2" charset="-122"/>
                </a:endParaRPr>
              </a:p>
            </p:txBody>
          </p:sp>
          <p:sp>
            <p:nvSpPr>
              <p:cNvPr id="37956" name="Text Box 191"/>
              <p:cNvSpPr txBox="1"/>
              <p:nvPr/>
            </p:nvSpPr>
            <p:spPr>
              <a:xfrm>
                <a:off x="4845" y="1776"/>
                <a:ext cx="627"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endParaRPr lang="zh-CN" altLang="zh-CN" sz="2400" dirty="0">
                  <a:latin typeface="Tahoma" panose="020B0604030504040204" charset="0"/>
                  <a:ea typeface="宋体" panose="02010600030101010101" pitchFamily="2" charset="-122"/>
                </a:endParaRPr>
              </a:p>
            </p:txBody>
          </p:sp>
        </p:grpSp>
        <p:sp>
          <p:nvSpPr>
            <p:cNvPr id="37957" name="Line 192"/>
            <p:cNvSpPr/>
            <p:nvPr/>
          </p:nvSpPr>
          <p:spPr>
            <a:xfrm>
              <a:off x="912" y="3264"/>
              <a:ext cx="384" cy="0"/>
            </a:xfrm>
            <a:prstGeom prst="line">
              <a:avLst/>
            </a:prstGeom>
            <a:ln w="28575" cap="flat" cmpd="sng">
              <a:solidFill>
                <a:srgbClr val="00FF00"/>
              </a:solidFill>
              <a:prstDash val="solid"/>
              <a:miter/>
              <a:headEnd type="none" w="med" len="med"/>
              <a:tailEnd type="triangle" w="med" len="med"/>
            </a:ln>
          </p:spPr>
        </p:sp>
        <p:sp>
          <p:nvSpPr>
            <p:cNvPr id="37958" name="Line 193"/>
            <p:cNvSpPr/>
            <p:nvPr/>
          </p:nvSpPr>
          <p:spPr>
            <a:xfrm>
              <a:off x="1824" y="3264"/>
              <a:ext cx="384" cy="0"/>
            </a:xfrm>
            <a:prstGeom prst="line">
              <a:avLst/>
            </a:prstGeom>
            <a:ln w="28575" cap="flat" cmpd="sng">
              <a:solidFill>
                <a:srgbClr val="00FF00"/>
              </a:solidFill>
              <a:prstDash val="solid"/>
              <a:miter/>
              <a:headEnd type="none" w="med" len="med"/>
              <a:tailEnd type="triangle" w="med" len="med"/>
            </a:ln>
          </p:spPr>
        </p:sp>
        <p:sp>
          <p:nvSpPr>
            <p:cNvPr id="37959" name="Line 194"/>
            <p:cNvSpPr/>
            <p:nvPr/>
          </p:nvSpPr>
          <p:spPr>
            <a:xfrm>
              <a:off x="2736" y="3264"/>
              <a:ext cx="384" cy="0"/>
            </a:xfrm>
            <a:prstGeom prst="line">
              <a:avLst/>
            </a:prstGeom>
            <a:ln w="28575" cap="flat" cmpd="sng">
              <a:solidFill>
                <a:srgbClr val="00FF00"/>
              </a:solidFill>
              <a:prstDash val="solid"/>
              <a:miter/>
              <a:headEnd type="none" w="med" len="med"/>
              <a:tailEnd type="triangle" w="med" len="med"/>
            </a:ln>
          </p:spPr>
        </p:sp>
        <p:grpSp>
          <p:nvGrpSpPr>
            <p:cNvPr id="37960" name="Group 195"/>
            <p:cNvGrpSpPr/>
            <p:nvPr/>
          </p:nvGrpSpPr>
          <p:grpSpPr>
            <a:xfrm>
              <a:off x="4032" y="3072"/>
              <a:ext cx="624" cy="290"/>
              <a:chOff x="3956" y="1776"/>
              <a:chExt cx="1516" cy="459"/>
            </a:xfrm>
          </p:grpSpPr>
          <p:sp>
            <p:nvSpPr>
              <p:cNvPr id="37961" name="Text Box 196"/>
              <p:cNvSpPr txBox="1"/>
              <p:nvPr/>
            </p:nvSpPr>
            <p:spPr>
              <a:xfrm>
                <a:off x="3956" y="1776"/>
                <a:ext cx="889"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5</a:t>
                </a:r>
                <a:endParaRPr lang="en-US" altLang="zh-CN" sz="2400" dirty="0">
                  <a:latin typeface="Tahoma" panose="020B0604030504040204" charset="0"/>
                  <a:ea typeface="宋体" panose="02010600030101010101" pitchFamily="2" charset="-122"/>
                </a:endParaRPr>
              </a:p>
            </p:txBody>
          </p:sp>
          <p:sp>
            <p:nvSpPr>
              <p:cNvPr id="37962" name="Text Box 197"/>
              <p:cNvSpPr txBox="1"/>
              <p:nvPr/>
            </p:nvSpPr>
            <p:spPr>
              <a:xfrm>
                <a:off x="4845" y="1776"/>
                <a:ext cx="627"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a:t>
                </a:r>
                <a:endParaRPr lang="en-US" altLang="zh-CN" sz="2400" dirty="0">
                  <a:latin typeface="Tahoma" panose="020B0604030504040204" charset="0"/>
                  <a:ea typeface="宋体" panose="02010600030101010101" pitchFamily="2" charset="-122"/>
                </a:endParaRPr>
              </a:p>
            </p:txBody>
          </p:sp>
        </p:grpSp>
        <p:sp>
          <p:nvSpPr>
            <p:cNvPr id="37963" name="Line 198"/>
            <p:cNvSpPr/>
            <p:nvPr/>
          </p:nvSpPr>
          <p:spPr>
            <a:xfrm>
              <a:off x="3648" y="3264"/>
              <a:ext cx="384" cy="0"/>
            </a:xfrm>
            <a:prstGeom prst="line">
              <a:avLst/>
            </a:prstGeom>
            <a:ln w="28575" cap="flat" cmpd="sng">
              <a:solidFill>
                <a:srgbClr val="00FF00"/>
              </a:solidFill>
              <a:prstDash val="solid"/>
              <a:miter/>
              <a:headEnd type="none" w="med" len="med"/>
              <a:tailEnd type="triangle" w="med" len="med"/>
            </a:ln>
          </p:spPr>
        </p:sp>
        <p:grpSp>
          <p:nvGrpSpPr>
            <p:cNvPr id="37964" name="Group 199"/>
            <p:cNvGrpSpPr/>
            <p:nvPr/>
          </p:nvGrpSpPr>
          <p:grpSpPr>
            <a:xfrm>
              <a:off x="1296" y="3456"/>
              <a:ext cx="624" cy="290"/>
              <a:chOff x="3956" y="1776"/>
              <a:chExt cx="1516" cy="459"/>
            </a:xfrm>
          </p:grpSpPr>
          <p:sp>
            <p:nvSpPr>
              <p:cNvPr id="37965" name="Text Box 200"/>
              <p:cNvSpPr txBox="1"/>
              <p:nvPr/>
            </p:nvSpPr>
            <p:spPr>
              <a:xfrm>
                <a:off x="3956" y="1776"/>
                <a:ext cx="889"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0</a:t>
                </a:r>
                <a:endParaRPr lang="en-US" altLang="zh-CN" sz="2400" dirty="0">
                  <a:latin typeface="Tahoma" panose="020B0604030504040204" charset="0"/>
                  <a:ea typeface="宋体" panose="02010600030101010101" pitchFamily="2" charset="-122"/>
                </a:endParaRPr>
              </a:p>
            </p:txBody>
          </p:sp>
          <p:sp>
            <p:nvSpPr>
              <p:cNvPr id="37966" name="Text Box 201"/>
              <p:cNvSpPr txBox="1"/>
              <p:nvPr/>
            </p:nvSpPr>
            <p:spPr>
              <a:xfrm>
                <a:off x="4845" y="1776"/>
                <a:ext cx="627"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endParaRPr lang="zh-CN" altLang="zh-CN" sz="2400" dirty="0">
                  <a:latin typeface="Tahoma" panose="020B0604030504040204" charset="0"/>
                  <a:ea typeface="宋体" panose="02010600030101010101" pitchFamily="2" charset="-122"/>
                </a:endParaRPr>
              </a:p>
            </p:txBody>
          </p:sp>
        </p:grpSp>
        <p:grpSp>
          <p:nvGrpSpPr>
            <p:cNvPr id="37967" name="Group 202"/>
            <p:cNvGrpSpPr/>
            <p:nvPr/>
          </p:nvGrpSpPr>
          <p:grpSpPr>
            <a:xfrm>
              <a:off x="2208" y="3456"/>
              <a:ext cx="624" cy="290"/>
              <a:chOff x="3956" y="1776"/>
              <a:chExt cx="1516" cy="459"/>
            </a:xfrm>
          </p:grpSpPr>
          <p:sp>
            <p:nvSpPr>
              <p:cNvPr id="37968" name="Text Box 203"/>
              <p:cNvSpPr txBox="1"/>
              <p:nvPr/>
            </p:nvSpPr>
            <p:spPr>
              <a:xfrm>
                <a:off x="3956" y="1776"/>
                <a:ext cx="889"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3</a:t>
                </a:r>
                <a:endParaRPr lang="en-US" altLang="zh-CN" sz="2400" dirty="0">
                  <a:latin typeface="Tahoma" panose="020B0604030504040204" charset="0"/>
                  <a:ea typeface="宋体" panose="02010600030101010101" pitchFamily="2" charset="-122"/>
                </a:endParaRPr>
              </a:p>
            </p:txBody>
          </p:sp>
          <p:sp>
            <p:nvSpPr>
              <p:cNvPr id="37969" name="Text Box 204"/>
              <p:cNvSpPr txBox="1"/>
              <p:nvPr/>
            </p:nvSpPr>
            <p:spPr>
              <a:xfrm>
                <a:off x="4845" y="1776"/>
                <a:ext cx="627"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endParaRPr lang="zh-CN" altLang="zh-CN" sz="2400" dirty="0">
                  <a:latin typeface="Tahoma" panose="020B0604030504040204" charset="0"/>
                  <a:ea typeface="宋体" panose="02010600030101010101" pitchFamily="2" charset="-122"/>
                </a:endParaRPr>
              </a:p>
            </p:txBody>
          </p:sp>
        </p:grpSp>
        <p:grpSp>
          <p:nvGrpSpPr>
            <p:cNvPr id="37970" name="Group 205"/>
            <p:cNvGrpSpPr/>
            <p:nvPr/>
          </p:nvGrpSpPr>
          <p:grpSpPr>
            <a:xfrm>
              <a:off x="3120" y="3456"/>
              <a:ext cx="624" cy="290"/>
              <a:chOff x="3956" y="1776"/>
              <a:chExt cx="1516" cy="459"/>
            </a:xfrm>
          </p:grpSpPr>
          <p:sp>
            <p:nvSpPr>
              <p:cNvPr id="37971" name="Text Box 206"/>
              <p:cNvSpPr txBox="1"/>
              <p:nvPr/>
            </p:nvSpPr>
            <p:spPr>
              <a:xfrm>
                <a:off x="3956" y="1776"/>
                <a:ext cx="889"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5</a:t>
                </a:r>
                <a:endParaRPr lang="en-US" altLang="zh-CN" sz="2400" dirty="0">
                  <a:latin typeface="Tahoma" panose="020B0604030504040204" charset="0"/>
                  <a:ea typeface="宋体" panose="02010600030101010101" pitchFamily="2" charset="-122"/>
                </a:endParaRPr>
              </a:p>
            </p:txBody>
          </p:sp>
          <p:sp>
            <p:nvSpPr>
              <p:cNvPr id="37972" name="Text Box 207"/>
              <p:cNvSpPr txBox="1"/>
              <p:nvPr/>
            </p:nvSpPr>
            <p:spPr>
              <a:xfrm>
                <a:off x="4845" y="1776"/>
                <a:ext cx="627"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a:t>
                </a:r>
                <a:endParaRPr lang="en-US" altLang="zh-CN" sz="2400" dirty="0">
                  <a:latin typeface="Tahoma" panose="020B0604030504040204" charset="0"/>
                  <a:ea typeface="宋体" panose="02010600030101010101" pitchFamily="2" charset="-122"/>
                </a:endParaRPr>
              </a:p>
            </p:txBody>
          </p:sp>
        </p:grpSp>
        <p:sp>
          <p:nvSpPr>
            <p:cNvPr id="37973" name="Line 208"/>
            <p:cNvSpPr/>
            <p:nvPr/>
          </p:nvSpPr>
          <p:spPr>
            <a:xfrm>
              <a:off x="912" y="3648"/>
              <a:ext cx="384" cy="0"/>
            </a:xfrm>
            <a:prstGeom prst="line">
              <a:avLst/>
            </a:prstGeom>
            <a:ln w="28575" cap="flat" cmpd="sng">
              <a:solidFill>
                <a:srgbClr val="00FF00"/>
              </a:solidFill>
              <a:prstDash val="solid"/>
              <a:miter/>
              <a:headEnd type="none" w="med" len="med"/>
              <a:tailEnd type="triangle" w="med" len="med"/>
            </a:ln>
          </p:spPr>
        </p:sp>
        <p:sp>
          <p:nvSpPr>
            <p:cNvPr id="37974" name="Line 209"/>
            <p:cNvSpPr/>
            <p:nvPr/>
          </p:nvSpPr>
          <p:spPr>
            <a:xfrm>
              <a:off x="1824" y="3648"/>
              <a:ext cx="384" cy="0"/>
            </a:xfrm>
            <a:prstGeom prst="line">
              <a:avLst/>
            </a:prstGeom>
            <a:ln w="28575" cap="flat" cmpd="sng">
              <a:solidFill>
                <a:srgbClr val="00FF00"/>
              </a:solidFill>
              <a:prstDash val="solid"/>
              <a:miter/>
              <a:headEnd type="none" w="med" len="med"/>
              <a:tailEnd type="triangle" w="med" len="med"/>
            </a:ln>
          </p:spPr>
        </p:sp>
        <p:sp>
          <p:nvSpPr>
            <p:cNvPr id="37975" name="Line 210"/>
            <p:cNvSpPr/>
            <p:nvPr/>
          </p:nvSpPr>
          <p:spPr>
            <a:xfrm>
              <a:off x="2736" y="3648"/>
              <a:ext cx="384" cy="0"/>
            </a:xfrm>
            <a:prstGeom prst="line">
              <a:avLst/>
            </a:prstGeom>
            <a:ln w="28575" cap="flat" cmpd="sng">
              <a:solidFill>
                <a:srgbClr val="00FF00"/>
              </a:solidFill>
              <a:prstDash val="solid"/>
              <a:miter/>
              <a:headEnd type="none" w="med" len="med"/>
              <a:tailEnd type="triangle" w="med" len="med"/>
            </a:ln>
          </p:spPr>
        </p:sp>
        <p:grpSp>
          <p:nvGrpSpPr>
            <p:cNvPr id="37976" name="Group 211"/>
            <p:cNvGrpSpPr/>
            <p:nvPr/>
          </p:nvGrpSpPr>
          <p:grpSpPr>
            <a:xfrm>
              <a:off x="1296" y="3840"/>
              <a:ext cx="624" cy="290"/>
              <a:chOff x="3956" y="1776"/>
              <a:chExt cx="1516" cy="459"/>
            </a:xfrm>
          </p:grpSpPr>
          <p:sp>
            <p:nvSpPr>
              <p:cNvPr id="37977" name="Text Box 212"/>
              <p:cNvSpPr txBox="1"/>
              <p:nvPr/>
            </p:nvSpPr>
            <p:spPr>
              <a:xfrm>
                <a:off x="3956" y="1776"/>
                <a:ext cx="889"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0</a:t>
                </a:r>
                <a:endParaRPr lang="en-US" altLang="zh-CN" sz="2400" dirty="0">
                  <a:latin typeface="Tahoma" panose="020B0604030504040204" charset="0"/>
                  <a:ea typeface="宋体" panose="02010600030101010101" pitchFamily="2" charset="-122"/>
                </a:endParaRPr>
              </a:p>
            </p:txBody>
          </p:sp>
          <p:sp>
            <p:nvSpPr>
              <p:cNvPr id="37978" name="Text Box 213"/>
              <p:cNvSpPr txBox="1"/>
              <p:nvPr/>
            </p:nvSpPr>
            <p:spPr>
              <a:xfrm>
                <a:off x="4845" y="1776"/>
                <a:ext cx="627"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endParaRPr lang="zh-CN" altLang="zh-CN" sz="2400" dirty="0">
                  <a:latin typeface="Tahoma" panose="020B0604030504040204" charset="0"/>
                  <a:ea typeface="宋体" panose="02010600030101010101" pitchFamily="2" charset="-122"/>
                </a:endParaRPr>
              </a:p>
            </p:txBody>
          </p:sp>
        </p:grpSp>
        <p:grpSp>
          <p:nvGrpSpPr>
            <p:cNvPr id="37979" name="Group 214"/>
            <p:cNvGrpSpPr/>
            <p:nvPr/>
          </p:nvGrpSpPr>
          <p:grpSpPr>
            <a:xfrm>
              <a:off x="2208" y="3840"/>
              <a:ext cx="624" cy="290"/>
              <a:chOff x="3956" y="1776"/>
              <a:chExt cx="1516" cy="459"/>
            </a:xfrm>
          </p:grpSpPr>
          <p:sp>
            <p:nvSpPr>
              <p:cNvPr id="37980" name="Text Box 215"/>
              <p:cNvSpPr txBox="1"/>
              <p:nvPr/>
            </p:nvSpPr>
            <p:spPr>
              <a:xfrm>
                <a:off x="3956" y="1776"/>
                <a:ext cx="889"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1</a:t>
                </a:r>
                <a:endParaRPr lang="en-US" altLang="zh-CN" sz="2400" dirty="0">
                  <a:latin typeface="Tahoma" panose="020B0604030504040204" charset="0"/>
                  <a:ea typeface="宋体" panose="02010600030101010101" pitchFamily="2" charset="-122"/>
                </a:endParaRPr>
              </a:p>
            </p:txBody>
          </p:sp>
          <p:sp>
            <p:nvSpPr>
              <p:cNvPr id="37981" name="Text Box 216"/>
              <p:cNvSpPr txBox="1"/>
              <p:nvPr/>
            </p:nvSpPr>
            <p:spPr>
              <a:xfrm>
                <a:off x="4845" y="1776"/>
                <a:ext cx="627"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endParaRPr lang="zh-CN" altLang="zh-CN" sz="2400" dirty="0">
                  <a:latin typeface="Tahoma" panose="020B0604030504040204" charset="0"/>
                  <a:ea typeface="宋体" panose="02010600030101010101" pitchFamily="2" charset="-122"/>
                </a:endParaRPr>
              </a:p>
            </p:txBody>
          </p:sp>
        </p:grpSp>
        <p:grpSp>
          <p:nvGrpSpPr>
            <p:cNvPr id="37982" name="Group 217"/>
            <p:cNvGrpSpPr/>
            <p:nvPr/>
          </p:nvGrpSpPr>
          <p:grpSpPr>
            <a:xfrm>
              <a:off x="3120" y="3840"/>
              <a:ext cx="624" cy="290"/>
              <a:chOff x="3956" y="1776"/>
              <a:chExt cx="1516" cy="459"/>
            </a:xfrm>
          </p:grpSpPr>
          <p:sp>
            <p:nvSpPr>
              <p:cNvPr id="37983" name="Text Box 218"/>
              <p:cNvSpPr txBox="1"/>
              <p:nvPr/>
            </p:nvSpPr>
            <p:spPr>
              <a:xfrm>
                <a:off x="3956" y="1776"/>
                <a:ext cx="889"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3</a:t>
                </a:r>
                <a:endParaRPr lang="en-US" altLang="zh-CN" sz="2400" dirty="0">
                  <a:latin typeface="Tahoma" panose="020B0604030504040204" charset="0"/>
                  <a:ea typeface="宋体" panose="02010600030101010101" pitchFamily="2" charset="-122"/>
                </a:endParaRPr>
              </a:p>
            </p:txBody>
          </p:sp>
          <p:sp>
            <p:nvSpPr>
              <p:cNvPr id="37984" name="Text Box 219"/>
              <p:cNvSpPr txBox="1"/>
              <p:nvPr/>
            </p:nvSpPr>
            <p:spPr>
              <a:xfrm>
                <a:off x="4845" y="1776"/>
                <a:ext cx="627"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endParaRPr lang="zh-CN" altLang="zh-CN" sz="2400" dirty="0">
                  <a:latin typeface="Tahoma" panose="020B0604030504040204" charset="0"/>
                  <a:ea typeface="宋体" panose="02010600030101010101" pitchFamily="2" charset="-122"/>
                </a:endParaRPr>
              </a:p>
            </p:txBody>
          </p:sp>
        </p:grpSp>
        <p:sp>
          <p:nvSpPr>
            <p:cNvPr id="37985" name="Line 220"/>
            <p:cNvSpPr/>
            <p:nvPr/>
          </p:nvSpPr>
          <p:spPr>
            <a:xfrm>
              <a:off x="912" y="4032"/>
              <a:ext cx="384" cy="0"/>
            </a:xfrm>
            <a:prstGeom prst="line">
              <a:avLst/>
            </a:prstGeom>
            <a:ln w="28575" cap="flat" cmpd="sng">
              <a:solidFill>
                <a:srgbClr val="00FF00"/>
              </a:solidFill>
              <a:prstDash val="solid"/>
              <a:miter/>
              <a:headEnd type="none" w="med" len="med"/>
              <a:tailEnd type="triangle" w="med" len="med"/>
            </a:ln>
          </p:spPr>
        </p:sp>
        <p:sp>
          <p:nvSpPr>
            <p:cNvPr id="37986" name="Line 221"/>
            <p:cNvSpPr/>
            <p:nvPr/>
          </p:nvSpPr>
          <p:spPr>
            <a:xfrm>
              <a:off x="1824" y="4032"/>
              <a:ext cx="384" cy="0"/>
            </a:xfrm>
            <a:prstGeom prst="line">
              <a:avLst/>
            </a:prstGeom>
            <a:ln w="28575" cap="flat" cmpd="sng">
              <a:solidFill>
                <a:srgbClr val="00FF00"/>
              </a:solidFill>
              <a:prstDash val="solid"/>
              <a:miter/>
              <a:headEnd type="none" w="med" len="med"/>
              <a:tailEnd type="triangle" w="med" len="med"/>
            </a:ln>
          </p:spPr>
        </p:sp>
        <p:sp>
          <p:nvSpPr>
            <p:cNvPr id="37987" name="Line 222"/>
            <p:cNvSpPr/>
            <p:nvPr/>
          </p:nvSpPr>
          <p:spPr>
            <a:xfrm>
              <a:off x="2736" y="4032"/>
              <a:ext cx="384" cy="0"/>
            </a:xfrm>
            <a:prstGeom prst="line">
              <a:avLst/>
            </a:prstGeom>
            <a:ln w="28575" cap="flat" cmpd="sng">
              <a:solidFill>
                <a:srgbClr val="00FF00"/>
              </a:solidFill>
              <a:prstDash val="solid"/>
              <a:miter/>
              <a:headEnd type="none" w="med" len="med"/>
              <a:tailEnd type="triangle" w="med" len="med"/>
            </a:ln>
          </p:spPr>
        </p:sp>
        <p:grpSp>
          <p:nvGrpSpPr>
            <p:cNvPr id="37988" name="Group 223"/>
            <p:cNvGrpSpPr/>
            <p:nvPr/>
          </p:nvGrpSpPr>
          <p:grpSpPr>
            <a:xfrm>
              <a:off x="4032" y="3840"/>
              <a:ext cx="624" cy="290"/>
              <a:chOff x="3956" y="1776"/>
              <a:chExt cx="1516" cy="459"/>
            </a:xfrm>
          </p:grpSpPr>
          <p:sp>
            <p:nvSpPr>
              <p:cNvPr id="37989" name="Text Box 224"/>
              <p:cNvSpPr txBox="1"/>
              <p:nvPr/>
            </p:nvSpPr>
            <p:spPr>
              <a:xfrm>
                <a:off x="3956" y="1776"/>
                <a:ext cx="889"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4</a:t>
                </a:r>
                <a:endParaRPr lang="en-US" altLang="zh-CN" sz="2400" dirty="0">
                  <a:latin typeface="Tahoma" panose="020B0604030504040204" charset="0"/>
                  <a:ea typeface="宋体" panose="02010600030101010101" pitchFamily="2" charset="-122"/>
                </a:endParaRPr>
              </a:p>
            </p:txBody>
          </p:sp>
          <p:sp>
            <p:nvSpPr>
              <p:cNvPr id="37990" name="Text Box 225"/>
              <p:cNvSpPr txBox="1"/>
              <p:nvPr/>
            </p:nvSpPr>
            <p:spPr>
              <a:xfrm>
                <a:off x="4845" y="1776"/>
                <a:ext cx="627"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a:t>
                </a:r>
                <a:endParaRPr lang="en-US" altLang="zh-CN" sz="2400" dirty="0">
                  <a:latin typeface="Tahoma" panose="020B0604030504040204" charset="0"/>
                  <a:ea typeface="宋体" panose="02010600030101010101" pitchFamily="2" charset="-122"/>
                </a:endParaRPr>
              </a:p>
            </p:txBody>
          </p:sp>
        </p:grpSp>
        <p:sp>
          <p:nvSpPr>
            <p:cNvPr id="37991" name="Line 226"/>
            <p:cNvSpPr/>
            <p:nvPr/>
          </p:nvSpPr>
          <p:spPr>
            <a:xfrm>
              <a:off x="3648" y="4032"/>
              <a:ext cx="384" cy="0"/>
            </a:xfrm>
            <a:prstGeom prst="line">
              <a:avLst/>
            </a:prstGeom>
            <a:ln w="28575" cap="flat" cmpd="sng">
              <a:solidFill>
                <a:srgbClr val="00FF00"/>
              </a:solidFill>
              <a:prstDash val="solid"/>
              <a:miter/>
              <a:headEnd type="none" w="med" len="med"/>
              <a:tailEnd type="triangle" w="med" len="med"/>
            </a:ln>
          </p:spPr>
        </p:sp>
        <p:grpSp>
          <p:nvGrpSpPr>
            <p:cNvPr id="37992" name="Group 227"/>
            <p:cNvGrpSpPr/>
            <p:nvPr/>
          </p:nvGrpSpPr>
          <p:grpSpPr>
            <a:xfrm>
              <a:off x="4032" y="2256"/>
              <a:ext cx="624" cy="290"/>
              <a:chOff x="3956" y="1776"/>
              <a:chExt cx="1516" cy="459"/>
            </a:xfrm>
          </p:grpSpPr>
          <p:sp>
            <p:nvSpPr>
              <p:cNvPr id="37993" name="Text Box 228"/>
              <p:cNvSpPr txBox="1"/>
              <p:nvPr/>
            </p:nvSpPr>
            <p:spPr>
              <a:xfrm>
                <a:off x="3956" y="1776"/>
                <a:ext cx="889"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5</a:t>
                </a:r>
                <a:endParaRPr lang="en-US" altLang="zh-CN" sz="2400" dirty="0">
                  <a:latin typeface="Tahoma" panose="020B0604030504040204" charset="0"/>
                  <a:ea typeface="宋体" panose="02010600030101010101" pitchFamily="2" charset="-122"/>
                </a:endParaRPr>
              </a:p>
            </p:txBody>
          </p:sp>
          <p:sp>
            <p:nvSpPr>
              <p:cNvPr id="37994" name="Text Box 229"/>
              <p:cNvSpPr txBox="1"/>
              <p:nvPr/>
            </p:nvSpPr>
            <p:spPr>
              <a:xfrm>
                <a:off x="4845" y="1776"/>
                <a:ext cx="627" cy="459"/>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a:t>
                </a:r>
                <a:endParaRPr lang="en-US" altLang="zh-CN" sz="2400" dirty="0">
                  <a:latin typeface="Tahoma" panose="020B0604030504040204" charset="0"/>
                  <a:ea typeface="宋体" panose="02010600030101010101" pitchFamily="2" charset="-122"/>
                </a:endParaRPr>
              </a:p>
            </p:txBody>
          </p:sp>
        </p:grpSp>
        <p:sp>
          <p:nvSpPr>
            <p:cNvPr id="37995" name="Line 230"/>
            <p:cNvSpPr/>
            <p:nvPr/>
          </p:nvSpPr>
          <p:spPr>
            <a:xfrm>
              <a:off x="3648" y="2448"/>
              <a:ext cx="384" cy="0"/>
            </a:xfrm>
            <a:prstGeom prst="line">
              <a:avLst/>
            </a:prstGeom>
            <a:ln w="28575" cap="flat" cmpd="sng">
              <a:solidFill>
                <a:srgbClr val="00FF00"/>
              </a:solidFill>
              <a:prstDash val="solid"/>
              <a:miter/>
              <a:headEnd type="none" w="med" len="med"/>
              <a:tailEnd type="triangl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5845"/>
                                        </p:tgtEl>
                                        <p:attrNameLst>
                                          <p:attrName>style.visibility</p:attrName>
                                        </p:attrNameLst>
                                      </p:cBhvr>
                                      <p:to>
                                        <p:strVal val="visible"/>
                                      </p:to>
                                    </p:set>
                                    <p:anim calcmode="lin" valueType="num">
                                      <p:cBhvr>
                                        <p:cTn id="7" dur="500" fill="hold"/>
                                        <p:tgtEl>
                                          <p:spTgt spid="35845"/>
                                        </p:tgtEl>
                                        <p:attrNameLst>
                                          <p:attrName>ppt_x</p:attrName>
                                        </p:attrNameLst>
                                      </p:cBhvr>
                                      <p:tavLst>
                                        <p:tav tm="0">
                                          <p:val>
                                            <p:strVal val="0-#ppt_w/2"/>
                                          </p:val>
                                        </p:tav>
                                        <p:tav tm="100000">
                                          <p:val>
                                            <p:strVal val="#ppt_x"/>
                                          </p:val>
                                        </p:tav>
                                      </p:tavLst>
                                    </p:anim>
                                    <p:anim calcmode="lin" valueType="num">
                                      <p:cBhvr>
                                        <p:cTn id="8" dur="500" fill="hold"/>
                                        <p:tgtEl>
                                          <p:spTgt spid="3584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0-#ppt_w/2"/>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799465"/>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有向图的邻接表，按出度来</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构建</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7.2 图的</a:t>
            </a:r>
            <a:r>
              <a:rPr lang="zh-CN" altLang="en-US">
                <a:latin typeface="楷体" panose="02010609060101010101" charset="-122"/>
                <a:ea typeface="楷体" panose="02010609060101010101" charset="-122"/>
                <a:cs typeface="楷体" panose="02010609060101010101" charset="-122"/>
                <a:sym typeface="+mn-ea"/>
              </a:rPr>
              <a:t>存储</a:t>
            </a:r>
            <a:r>
              <a:rPr lang="zh-CN" altLang="en-US">
                <a:latin typeface="楷体" panose="02010609060101010101" charset="-122"/>
                <a:ea typeface="楷体" panose="02010609060101010101" charset="-122"/>
                <a:cs typeface="楷体" panose="02010609060101010101" charset="-122"/>
                <a:sym typeface="+mn-ea"/>
              </a:rPr>
              <a:t>结构</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36869" name="表格 36868"/>
          <p:cNvGraphicFramePr/>
          <p:nvPr>
            <p:custDataLst>
              <p:tags r:id="rId1"/>
            </p:custDataLst>
          </p:nvPr>
        </p:nvGraphicFramePr>
        <p:xfrm>
          <a:off x="1426528" y="2133283"/>
          <a:ext cx="1295400" cy="2971800"/>
        </p:xfrm>
        <a:graphic>
          <a:graphicData uri="http://schemas.openxmlformats.org/drawingml/2006/table">
            <a:tbl>
              <a:tblPr/>
              <a:tblGrid>
                <a:gridCol w="739775"/>
                <a:gridCol w="555625"/>
              </a:tblGrid>
              <a:tr h="593725">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A</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595313">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B</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593725">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C</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595312">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D</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593725">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E</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bl>
          </a:graphicData>
        </a:graphic>
      </p:graphicFrame>
      <p:grpSp>
        <p:nvGrpSpPr>
          <p:cNvPr id="8" name="Group 146"/>
          <p:cNvGrpSpPr/>
          <p:nvPr/>
        </p:nvGrpSpPr>
        <p:grpSpPr>
          <a:xfrm>
            <a:off x="2569528" y="2133283"/>
            <a:ext cx="4495800" cy="2289175"/>
            <a:chOff x="1104" y="2016"/>
            <a:chExt cx="2832" cy="1442"/>
          </a:xfrm>
        </p:grpSpPr>
        <p:grpSp>
          <p:nvGrpSpPr>
            <p:cNvPr id="38937" name="Group 147"/>
            <p:cNvGrpSpPr/>
            <p:nvPr/>
          </p:nvGrpSpPr>
          <p:grpSpPr>
            <a:xfrm>
              <a:off x="1488" y="2016"/>
              <a:ext cx="624" cy="290"/>
              <a:chOff x="2660" y="2064"/>
              <a:chExt cx="1516" cy="290"/>
            </a:xfrm>
          </p:grpSpPr>
          <p:sp>
            <p:nvSpPr>
              <p:cNvPr id="38938" name="Text Box 148"/>
              <p:cNvSpPr txBox="1"/>
              <p:nvPr/>
            </p:nvSpPr>
            <p:spPr>
              <a:xfrm>
                <a:off x="2660" y="2064"/>
                <a:ext cx="889"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1</a:t>
                </a:r>
                <a:endParaRPr lang="en-US" altLang="zh-CN" sz="2400" dirty="0">
                  <a:latin typeface="Tahoma" panose="020B0604030504040204" charset="0"/>
                  <a:ea typeface="宋体" panose="02010600030101010101" pitchFamily="2" charset="-122"/>
                </a:endParaRPr>
              </a:p>
            </p:txBody>
          </p:sp>
          <p:sp>
            <p:nvSpPr>
              <p:cNvPr id="38939" name="Text Box 149"/>
              <p:cNvSpPr txBox="1"/>
              <p:nvPr/>
            </p:nvSpPr>
            <p:spPr>
              <a:xfrm>
                <a:off x="3549" y="2064"/>
                <a:ext cx="627"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endParaRPr lang="zh-CN" altLang="zh-CN" sz="2400" dirty="0">
                  <a:latin typeface="Tahoma" panose="020B0604030504040204" charset="0"/>
                  <a:ea typeface="宋体" panose="02010600030101010101" pitchFamily="2" charset="-122"/>
                </a:endParaRPr>
              </a:p>
            </p:txBody>
          </p:sp>
        </p:grpSp>
        <p:sp>
          <p:nvSpPr>
            <p:cNvPr id="38940" name="Line 150"/>
            <p:cNvSpPr/>
            <p:nvPr/>
          </p:nvSpPr>
          <p:spPr>
            <a:xfrm>
              <a:off x="1104" y="2208"/>
              <a:ext cx="384" cy="0"/>
            </a:xfrm>
            <a:prstGeom prst="line">
              <a:avLst/>
            </a:prstGeom>
            <a:ln w="28575" cap="flat" cmpd="sng">
              <a:solidFill>
                <a:srgbClr val="00FF00"/>
              </a:solidFill>
              <a:prstDash val="solid"/>
              <a:miter/>
              <a:headEnd type="none" w="med" len="med"/>
              <a:tailEnd type="triangle" w="med" len="med"/>
            </a:ln>
          </p:spPr>
        </p:sp>
        <p:grpSp>
          <p:nvGrpSpPr>
            <p:cNvPr id="38941" name="Group 151"/>
            <p:cNvGrpSpPr/>
            <p:nvPr/>
          </p:nvGrpSpPr>
          <p:grpSpPr>
            <a:xfrm>
              <a:off x="2400" y="2016"/>
              <a:ext cx="624" cy="290"/>
              <a:chOff x="2660" y="2064"/>
              <a:chExt cx="1516" cy="290"/>
            </a:xfrm>
          </p:grpSpPr>
          <p:sp>
            <p:nvSpPr>
              <p:cNvPr id="38942" name="Text Box 152"/>
              <p:cNvSpPr txBox="1"/>
              <p:nvPr/>
            </p:nvSpPr>
            <p:spPr>
              <a:xfrm>
                <a:off x="2660" y="2064"/>
                <a:ext cx="889"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3</a:t>
                </a:r>
                <a:endParaRPr lang="en-US" altLang="zh-CN" sz="2400" dirty="0">
                  <a:latin typeface="Tahoma" panose="020B0604030504040204" charset="0"/>
                  <a:ea typeface="宋体" panose="02010600030101010101" pitchFamily="2" charset="-122"/>
                </a:endParaRPr>
              </a:p>
            </p:txBody>
          </p:sp>
          <p:sp>
            <p:nvSpPr>
              <p:cNvPr id="38943" name="Text Box 153"/>
              <p:cNvSpPr txBox="1"/>
              <p:nvPr/>
            </p:nvSpPr>
            <p:spPr>
              <a:xfrm>
                <a:off x="3549" y="2064"/>
                <a:ext cx="627"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endParaRPr lang="zh-CN" altLang="zh-CN" sz="2400" dirty="0">
                  <a:latin typeface="Tahoma" panose="020B0604030504040204" charset="0"/>
                  <a:ea typeface="宋体" panose="02010600030101010101" pitchFamily="2" charset="-122"/>
                </a:endParaRPr>
              </a:p>
            </p:txBody>
          </p:sp>
        </p:grpSp>
        <p:sp>
          <p:nvSpPr>
            <p:cNvPr id="38944" name="Line 154"/>
            <p:cNvSpPr/>
            <p:nvPr/>
          </p:nvSpPr>
          <p:spPr>
            <a:xfrm>
              <a:off x="2016" y="2208"/>
              <a:ext cx="384" cy="0"/>
            </a:xfrm>
            <a:prstGeom prst="line">
              <a:avLst/>
            </a:prstGeom>
            <a:ln w="28575" cap="flat" cmpd="sng">
              <a:solidFill>
                <a:srgbClr val="00FF00"/>
              </a:solidFill>
              <a:prstDash val="solid"/>
              <a:miter/>
              <a:headEnd type="none" w="med" len="med"/>
              <a:tailEnd type="triangle" w="med" len="med"/>
            </a:ln>
          </p:spPr>
        </p:sp>
        <p:grpSp>
          <p:nvGrpSpPr>
            <p:cNvPr id="38945" name="Group 155"/>
            <p:cNvGrpSpPr/>
            <p:nvPr/>
          </p:nvGrpSpPr>
          <p:grpSpPr>
            <a:xfrm>
              <a:off x="3312" y="2016"/>
              <a:ext cx="624" cy="290"/>
              <a:chOff x="2660" y="2064"/>
              <a:chExt cx="1516" cy="290"/>
            </a:xfrm>
          </p:grpSpPr>
          <p:sp>
            <p:nvSpPr>
              <p:cNvPr id="38946" name="Text Box 156"/>
              <p:cNvSpPr txBox="1"/>
              <p:nvPr/>
            </p:nvSpPr>
            <p:spPr>
              <a:xfrm>
                <a:off x="2660" y="2064"/>
                <a:ext cx="889"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4</a:t>
                </a:r>
                <a:endParaRPr lang="en-US" altLang="zh-CN" sz="2400" dirty="0">
                  <a:latin typeface="Tahoma" panose="020B0604030504040204" charset="0"/>
                  <a:ea typeface="宋体" panose="02010600030101010101" pitchFamily="2" charset="-122"/>
                </a:endParaRPr>
              </a:p>
            </p:txBody>
          </p:sp>
          <p:sp>
            <p:nvSpPr>
              <p:cNvPr id="38947" name="Text Box 157"/>
              <p:cNvSpPr txBox="1"/>
              <p:nvPr/>
            </p:nvSpPr>
            <p:spPr>
              <a:xfrm>
                <a:off x="3549" y="2064"/>
                <a:ext cx="627"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a:t>
                </a:r>
                <a:endParaRPr lang="en-US" altLang="zh-CN" sz="2400" dirty="0">
                  <a:latin typeface="Tahoma" panose="020B0604030504040204" charset="0"/>
                  <a:ea typeface="宋体" panose="02010600030101010101" pitchFamily="2" charset="-122"/>
                </a:endParaRPr>
              </a:p>
            </p:txBody>
          </p:sp>
        </p:grpSp>
        <p:sp>
          <p:nvSpPr>
            <p:cNvPr id="38948" name="Line 158"/>
            <p:cNvSpPr/>
            <p:nvPr/>
          </p:nvSpPr>
          <p:spPr>
            <a:xfrm>
              <a:off x="2928" y="2208"/>
              <a:ext cx="384" cy="0"/>
            </a:xfrm>
            <a:prstGeom prst="line">
              <a:avLst/>
            </a:prstGeom>
            <a:ln w="28575" cap="flat" cmpd="sng">
              <a:solidFill>
                <a:srgbClr val="00FF00"/>
              </a:solidFill>
              <a:prstDash val="solid"/>
              <a:miter/>
              <a:headEnd type="none" w="med" len="med"/>
              <a:tailEnd type="triangle" w="med" len="med"/>
            </a:ln>
          </p:spPr>
        </p:sp>
        <p:grpSp>
          <p:nvGrpSpPr>
            <p:cNvPr id="38949" name="Group 159"/>
            <p:cNvGrpSpPr/>
            <p:nvPr/>
          </p:nvGrpSpPr>
          <p:grpSpPr>
            <a:xfrm>
              <a:off x="1488" y="2400"/>
              <a:ext cx="624" cy="290"/>
              <a:chOff x="2660" y="2064"/>
              <a:chExt cx="1516" cy="290"/>
            </a:xfrm>
          </p:grpSpPr>
          <p:sp>
            <p:nvSpPr>
              <p:cNvPr id="38950" name="Text Box 160"/>
              <p:cNvSpPr txBox="1"/>
              <p:nvPr/>
            </p:nvSpPr>
            <p:spPr>
              <a:xfrm>
                <a:off x="2660" y="2064"/>
                <a:ext cx="889"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2</a:t>
                </a:r>
                <a:endParaRPr lang="en-US" altLang="zh-CN" sz="2400" dirty="0">
                  <a:latin typeface="Tahoma" panose="020B0604030504040204" charset="0"/>
                  <a:ea typeface="宋体" panose="02010600030101010101" pitchFamily="2" charset="-122"/>
                </a:endParaRPr>
              </a:p>
            </p:txBody>
          </p:sp>
          <p:sp>
            <p:nvSpPr>
              <p:cNvPr id="38951" name="Text Box 161"/>
              <p:cNvSpPr txBox="1"/>
              <p:nvPr/>
            </p:nvSpPr>
            <p:spPr>
              <a:xfrm>
                <a:off x="3549" y="2064"/>
                <a:ext cx="627"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a:t>
                </a:r>
                <a:endParaRPr lang="en-US" altLang="zh-CN" sz="2400" dirty="0">
                  <a:latin typeface="Tahoma" panose="020B0604030504040204" charset="0"/>
                  <a:ea typeface="宋体" panose="02010600030101010101" pitchFamily="2" charset="-122"/>
                </a:endParaRPr>
              </a:p>
            </p:txBody>
          </p:sp>
        </p:grpSp>
        <p:sp>
          <p:nvSpPr>
            <p:cNvPr id="38952" name="Line 162"/>
            <p:cNvSpPr/>
            <p:nvPr/>
          </p:nvSpPr>
          <p:spPr>
            <a:xfrm>
              <a:off x="1104" y="2592"/>
              <a:ext cx="384" cy="0"/>
            </a:xfrm>
            <a:prstGeom prst="line">
              <a:avLst/>
            </a:prstGeom>
            <a:ln w="28575" cap="flat" cmpd="sng">
              <a:solidFill>
                <a:srgbClr val="00FF00"/>
              </a:solidFill>
              <a:prstDash val="solid"/>
              <a:miter/>
              <a:headEnd type="none" w="med" len="med"/>
              <a:tailEnd type="triangle" w="med" len="med"/>
            </a:ln>
          </p:spPr>
        </p:sp>
        <p:grpSp>
          <p:nvGrpSpPr>
            <p:cNvPr id="38953" name="Group 163"/>
            <p:cNvGrpSpPr/>
            <p:nvPr/>
          </p:nvGrpSpPr>
          <p:grpSpPr>
            <a:xfrm>
              <a:off x="1488" y="2784"/>
              <a:ext cx="624" cy="290"/>
              <a:chOff x="2660" y="2064"/>
              <a:chExt cx="1516" cy="290"/>
            </a:xfrm>
          </p:grpSpPr>
          <p:sp>
            <p:nvSpPr>
              <p:cNvPr id="38954" name="Text Box 164"/>
              <p:cNvSpPr txBox="1"/>
              <p:nvPr/>
            </p:nvSpPr>
            <p:spPr>
              <a:xfrm>
                <a:off x="2660" y="2064"/>
                <a:ext cx="889"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4</a:t>
                </a:r>
                <a:endParaRPr lang="en-US" altLang="zh-CN" sz="2400" dirty="0">
                  <a:latin typeface="Tahoma" panose="020B0604030504040204" charset="0"/>
                  <a:ea typeface="宋体" panose="02010600030101010101" pitchFamily="2" charset="-122"/>
                </a:endParaRPr>
              </a:p>
            </p:txBody>
          </p:sp>
          <p:sp>
            <p:nvSpPr>
              <p:cNvPr id="38955" name="Text Box 165"/>
              <p:cNvSpPr txBox="1"/>
              <p:nvPr/>
            </p:nvSpPr>
            <p:spPr>
              <a:xfrm>
                <a:off x="3549" y="2064"/>
                <a:ext cx="627"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a:t>
                </a:r>
                <a:endParaRPr lang="en-US" altLang="zh-CN" sz="2400" dirty="0">
                  <a:latin typeface="Tahoma" panose="020B0604030504040204" charset="0"/>
                  <a:ea typeface="宋体" panose="02010600030101010101" pitchFamily="2" charset="-122"/>
                </a:endParaRPr>
              </a:p>
            </p:txBody>
          </p:sp>
        </p:grpSp>
        <p:sp>
          <p:nvSpPr>
            <p:cNvPr id="38956" name="Line 166"/>
            <p:cNvSpPr/>
            <p:nvPr/>
          </p:nvSpPr>
          <p:spPr>
            <a:xfrm>
              <a:off x="1104" y="2976"/>
              <a:ext cx="384" cy="0"/>
            </a:xfrm>
            <a:prstGeom prst="line">
              <a:avLst/>
            </a:prstGeom>
            <a:ln w="28575" cap="flat" cmpd="sng">
              <a:solidFill>
                <a:srgbClr val="00FF00"/>
              </a:solidFill>
              <a:prstDash val="solid"/>
              <a:miter/>
              <a:headEnd type="none" w="med" len="med"/>
              <a:tailEnd type="triangle" w="med" len="med"/>
            </a:ln>
          </p:spPr>
        </p:sp>
        <p:grpSp>
          <p:nvGrpSpPr>
            <p:cNvPr id="38957" name="Group 167"/>
            <p:cNvGrpSpPr/>
            <p:nvPr/>
          </p:nvGrpSpPr>
          <p:grpSpPr>
            <a:xfrm>
              <a:off x="1488" y="3168"/>
              <a:ext cx="624" cy="290"/>
              <a:chOff x="2660" y="2064"/>
              <a:chExt cx="1516" cy="290"/>
            </a:xfrm>
          </p:grpSpPr>
          <p:sp>
            <p:nvSpPr>
              <p:cNvPr id="38958" name="Text Box 168"/>
              <p:cNvSpPr txBox="1"/>
              <p:nvPr/>
            </p:nvSpPr>
            <p:spPr>
              <a:xfrm>
                <a:off x="2660" y="2064"/>
                <a:ext cx="889"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2</a:t>
                </a:r>
                <a:endParaRPr lang="en-US" altLang="zh-CN" sz="2400" dirty="0">
                  <a:latin typeface="Tahoma" panose="020B0604030504040204" charset="0"/>
                  <a:ea typeface="宋体" panose="02010600030101010101" pitchFamily="2" charset="-122"/>
                </a:endParaRPr>
              </a:p>
            </p:txBody>
          </p:sp>
          <p:sp>
            <p:nvSpPr>
              <p:cNvPr id="38959" name="Text Box 169"/>
              <p:cNvSpPr txBox="1"/>
              <p:nvPr/>
            </p:nvSpPr>
            <p:spPr>
              <a:xfrm>
                <a:off x="3549" y="2064"/>
                <a:ext cx="627"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a:t>
                </a:r>
                <a:endParaRPr lang="en-US" altLang="zh-CN" sz="2400" dirty="0">
                  <a:latin typeface="Tahoma" panose="020B0604030504040204" charset="0"/>
                  <a:ea typeface="宋体" panose="02010600030101010101" pitchFamily="2" charset="-122"/>
                </a:endParaRPr>
              </a:p>
            </p:txBody>
          </p:sp>
        </p:grpSp>
        <p:sp>
          <p:nvSpPr>
            <p:cNvPr id="38960" name="Line 170"/>
            <p:cNvSpPr/>
            <p:nvPr/>
          </p:nvSpPr>
          <p:spPr>
            <a:xfrm>
              <a:off x="1104" y="3360"/>
              <a:ext cx="384" cy="0"/>
            </a:xfrm>
            <a:prstGeom prst="line">
              <a:avLst/>
            </a:prstGeom>
            <a:ln w="28575" cap="flat" cmpd="sng">
              <a:solidFill>
                <a:srgbClr val="00FF00"/>
              </a:solidFill>
              <a:prstDash val="solid"/>
              <a:miter/>
              <a:headEnd type="none" w="med" len="med"/>
              <a:tailEnd type="triangle" w="med" len="med"/>
            </a:ln>
          </p:spPr>
        </p:sp>
      </p:grpSp>
      <p:grpSp>
        <p:nvGrpSpPr>
          <p:cNvPr id="38961" name="Group 171"/>
          <p:cNvGrpSpPr/>
          <p:nvPr/>
        </p:nvGrpSpPr>
        <p:grpSpPr>
          <a:xfrm>
            <a:off x="6385878" y="3285808"/>
            <a:ext cx="2819400" cy="2286000"/>
            <a:chOff x="3696" y="2784"/>
            <a:chExt cx="1920" cy="1536"/>
          </a:xfrm>
        </p:grpSpPr>
        <p:sp>
          <p:nvSpPr>
            <p:cNvPr id="38962" name="Line 172"/>
            <p:cNvSpPr/>
            <p:nvPr/>
          </p:nvSpPr>
          <p:spPr>
            <a:xfrm flipH="1" flipV="1">
              <a:off x="4752" y="2976"/>
              <a:ext cx="624" cy="384"/>
            </a:xfrm>
            <a:prstGeom prst="line">
              <a:avLst/>
            </a:prstGeom>
            <a:ln w="38100" cap="flat" cmpd="sng">
              <a:solidFill>
                <a:srgbClr val="009900"/>
              </a:solidFill>
              <a:prstDash val="solid"/>
              <a:round/>
              <a:headEnd type="triangle" w="med" len="med"/>
              <a:tailEnd type="none" w="med" len="med"/>
            </a:ln>
          </p:spPr>
        </p:sp>
        <p:sp>
          <p:nvSpPr>
            <p:cNvPr id="38963" name="Line 173"/>
            <p:cNvSpPr/>
            <p:nvPr/>
          </p:nvSpPr>
          <p:spPr>
            <a:xfrm>
              <a:off x="3888" y="3504"/>
              <a:ext cx="240" cy="576"/>
            </a:xfrm>
            <a:prstGeom prst="line">
              <a:avLst/>
            </a:prstGeom>
            <a:ln w="38100" cap="flat" cmpd="sng">
              <a:solidFill>
                <a:srgbClr val="009900"/>
              </a:solidFill>
              <a:prstDash val="solid"/>
              <a:round/>
              <a:headEnd type="none" w="med" len="med"/>
              <a:tailEnd type="triangle" w="med" len="med"/>
            </a:ln>
          </p:spPr>
        </p:sp>
        <p:sp>
          <p:nvSpPr>
            <p:cNvPr id="38964" name="Line 174"/>
            <p:cNvSpPr/>
            <p:nvPr/>
          </p:nvSpPr>
          <p:spPr>
            <a:xfrm flipH="1">
              <a:off x="3936" y="2928"/>
              <a:ext cx="672" cy="384"/>
            </a:xfrm>
            <a:prstGeom prst="line">
              <a:avLst/>
            </a:prstGeom>
            <a:ln w="38100" cap="flat" cmpd="sng">
              <a:solidFill>
                <a:srgbClr val="009900"/>
              </a:solidFill>
              <a:prstDash val="solid"/>
              <a:round/>
              <a:headEnd type="none" w="med" len="med"/>
              <a:tailEnd type="triangle" w="med" len="med"/>
            </a:ln>
          </p:spPr>
        </p:sp>
        <p:sp>
          <p:nvSpPr>
            <p:cNvPr id="38965" name="Line 175"/>
            <p:cNvSpPr/>
            <p:nvPr/>
          </p:nvSpPr>
          <p:spPr>
            <a:xfrm flipH="1" flipV="1">
              <a:off x="4704" y="2976"/>
              <a:ext cx="384" cy="1056"/>
            </a:xfrm>
            <a:prstGeom prst="line">
              <a:avLst/>
            </a:prstGeom>
            <a:ln w="38100" cap="flat" cmpd="sng">
              <a:solidFill>
                <a:srgbClr val="009900"/>
              </a:solidFill>
              <a:prstDash val="solid"/>
              <a:round/>
              <a:headEnd type="triangle" w="med" len="med"/>
              <a:tailEnd type="none" w="med" len="med"/>
            </a:ln>
          </p:spPr>
        </p:sp>
        <p:sp>
          <p:nvSpPr>
            <p:cNvPr id="38966" name="Line 176"/>
            <p:cNvSpPr/>
            <p:nvPr/>
          </p:nvSpPr>
          <p:spPr>
            <a:xfrm flipH="1">
              <a:off x="4272" y="4176"/>
              <a:ext cx="720" cy="0"/>
            </a:xfrm>
            <a:prstGeom prst="line">
              <a:avLst/>
            </a:prstGeom>
            <a:ln w="38100" cap="flat" cmpd="sng">
              <a:solidFill>
                <a:srgbClr val="009900"/>
              </a:solidFill>
              <a:prstDash val="solid"/>
              <a:round/>
              <a:headEnd type="none" w="med" len="med"/>
              <a:tailEnd type="triangle" w="med" len="med"/>
            </a:ln>
          </p:spPr>
        </p:sp>
        <p:sp>
          <p:nvSpPr>
            <p:cNvPr id="38967" name="Line 177"/>
            <p:cNvSpPr/>
            <p:nvPr/>
          </p:nvSpPr>
          <p:spPr>
            <a:xfrm flipH="1">
              <a:off x="4272" y="3552"/>
              <a:ext cx="1152" cy="576"/>
            </a:xfrm>
            <a:prstGeom prst="line">
              <a:avLst/>
            </a:prstGeom>
            <a:ln w="38100" cap="flat" cmpd="sng">
              <a:solidFill>
                <a:srgbClr val="009900"/>
              </a:solidFill>
              <a:prstDash val="solid"/>
              <a:round/>
              <a:headEnd type="triangle" w="med" len="med"/>
              <a:tailEnd type="none" w="med" len="med"/>
            </a:ln>
          </p:spPr>
        </p:sp>
        <p:sp>
          <p:nvSpPr>
            <p:cNvPr id="38968" name="Oval 178"/>
            <p:cNvSpPr/>
            <p:nvPr/>
          </p:nvSpPr>
          <p:spPr>
            <a:xfrm>
              <a:off x="3696" y="326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38969" name="Oval 179"/>
            <p:cNvSpPr/>
            <p:nvPr/>
          </p:nvSpPr>
          <p:spPr>
            <a:xfrm>
              <a:off x="4992"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38970" name="Oval 180"/>
            <p:cNvSpPr/>
            <p:nvPr/>
          </p:nvSpPr>
          <p:spPr>
            <a:xfrm>
              <a:off x="4032"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sp>
          <p:nvSpPr>
            <p:cNvPr id="38971" name="Oval 181"/>
            <p:cNvSpPr/>
            <p:nvPr/>
          </p:nvSpPr>
          <p:spPr>
            <a:xfrm>
              <a:off x="5328" y="3312"/>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sp>
          <p:nvSpPr>
            <p:cNvPr id="38972" name="Oval 182"/>
            <p:cNvSpPr/>
            <p:nvPr/>
          </p:nvSpPr>
          <p:spPr>
            <a:xfrm>
              <a:off x="4512" y="2784"/>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68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925195"/>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带权有向图的邻接表，按出度来</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构建</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7.2 图的</a:t>
            </a:r>
            <a:r>
              <a:rPr lang="zh-CN" altLang="en-US">
                <a:latin typeface="楷体" panose="02010609060101010101" charset="-122"/>
                <a:ea typeface="楷体" panose="02010609060101010101" charset="-122"/>
                <a:cs typeface="楷体" panose="02010609060101010101" charset="-122"/>
                <a:sym typeface="+mn-ea"/>
              </a:rPr>
              <a:t>存储</a:t>
            </a:r>
            <a:r>
              <a:rPr lang="zh-CN" altLang="en-US">
                <a:latin typeface="楷体" panose="02010609060101010101" charset="-122"/>
                <a:ea typeface="楷体" panose="02010609060101010101" charset="-122"/>
                <a:cs typeface="楷体" panose="02010609060101010101" charset="-122"/>
                <a:sym typeface="+mn-ea"/>
              </a:rPr>
              <a:t>结构</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37893" name="表格 37892"/>
          <p:cNvGraphicFramePr/>
          <p:nvPr>
            <p:custDataLst>
              <p:tags r:id="rId1"/>
            </p:custDataLst>
          </p:nvPr>
        </p:nvGraphicFramePr>
        <p:xfrm>
          <a:off x="1919288" y="2205038"/>
          <a:ext cx="1295400" cy="2971800"/>
        </p:xfrm>
        <a:graphic>
          <a:graphicData uri="http://schemas.openxmlformats.org/drawingml/2006/table">
            <a:tbl>
              <a:tblPr/>
              <a:tblGrid>
                <a:gridCol w="739775"/>
                <a:gridCol w="555625"/>
              </a:tblGrid>
              <a:tr h="593725">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A</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595313">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B</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593725">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C</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595312">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D</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593725">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E</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bl>
          </a:graphicData>
        </a:graphic>
      </p:graphicFrame>
      <p:grpSp>
        <p:nvGrpSpPr>
          <p:cNvPr id="39960" name="Group 81"/>
          <p:cNvGrpSpPr/>
          <p:nvPr/>
        </p:nvGrpSpPr>
        <p:grpSpPr>
          <a:xfrm>
            <a:off x="3062288" y="2205038"/>
            <a:ext cx="5181600" cy="2517775"/>
            <a:chOff x="1104" y="2016"/>
            <a:chExt cx="3264" cy="1586"/>
          </a:xfrm>
        </p:grpSpPr>
        <p:grpSp>
          <p:nvGrpSpPr>
            <p:cNvPr id="39961" name="Group 82"/>
            <p:cNvGrpSpPr/>
            <p:nvPr/>
          </p:nvGrpSpPr>
          <p:grpSpPr>
            <a:xfrm>
              <a:off x="1440" y="2016"/>
              <a:ext cx="816" cy="290"/>
              <a:chOff x="2784" y="1680"/>
              <a:chExt cx="2160" cy="290"/>
            </a:xfrm>
          </p:grpSpPr>
          <p:sp>
            <p:nvSpPr>
              <p:cNvPr id="39962" name="Text Box 83"/>
              <p:cNvSpPr txBox="1"/>
              <p:nvPr/>
            </p:nvSpPr>
            <p:spPr>
              <a:xfrm>
                <a:off x="2784" y="1680"/>
                <a:ext cx="768"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1</a:t>
                </a:r>
                <a:endParaRPr lang="en-US" altLang="zh-CN" sz="2400" dirty="0">
                  <a:latin typeface="Tahoma" panose="020B0604030504040204" charset="0"/>
                  <a:ea typeface="宋体" panose="02010600030101010101" pitchFamily="2" charset="-122"/>
                </a:endParaRPr>
              </a:p>
            </p:txBody>
          </p:sp>
          <p:sp>
            <p:nvSpPr>
              <p:cNvPr id="39963" name="Text Box 84"/>
              <p:cNvSpPr txBox="1"/>
              <p:nvPr/>
            </p:nvSpPr>
            <p:spPr>
              <a:xfrm>
                <a:off x="3552" y="1680"/>
                <a:ext cx="816"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solidFill>
                      <a:schemeClr val="hlink"/>
                    </a:solidFill>
                    <a:latin typeface="Tahoma" panose="020B0604030504040204" charset="0"/>
                    <a:ea typeface="宋体" panose="02010600030101010101" pitchFamily="2" charset="-122"/>
                  </a:rPr>
                  <a:t>5</a:t>
                </a:r>
                <a:endParaRPr lang="en-US" altLang="zh-CN" sz="2400" dirty="0">
                  <a:solidFill>
                    <a:schemeClr val="hlink"/>
                  </a:solidFill>
                  <a:latin typeface="Tahoma" panose="020B0604030504040204" charset="0"/>
                  <a:ea typeface="宋体" panose="02010600030101010101" pitchFamily="2" charset="-122"/>
                </a:endParaRPr>
              </a:p>
            </p:txBody>
          </p:sp>
          <p:sp>
            <p:nvSpPr>
              <p:cNvPr id="39964" name="Text Box 85"/>
              <p:cNvSpPr txBox="1"/>
              <p:nvPr/>
            </p:nvSpPr>
            <p:spPr>
              <a:xfrm>
                <a:off x="4368" y="1680"/>
                <a:ext cx="576"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endParaRPr lang="zh-CN" altLang="zh-CN" sz="2400" dirty="0">
                  <a:latin typeface="Tahoma" panose="020B0604030504040204" charset="0"/>
                  <a:ea typeface="宋体" panose="02010600030101010101" pitchFamily="2" charset="-122"/>
                </a:endParaRPr>
              </a:p>
            </p:txBody>
          </p:sp>
        </p:grpSp>
        <p:sp>
          <p:nvSpPr>
            <p:cNvPr id="39965" name="Line 86"/>
            <p:cNvSpPr/>
            <p:nvPr/>
          </p:nvSpPr>
          <p:spPr>
            <a:xfrm>
              <a:off x="1104" y="2160"/>
              <a:ext cx="336" cy="0"/>
            </a:xfrm>
            <a:prstGeom prst="line">
              <a:avLst/>
            </a:prstGeom>
            <a:ln w="28575" cap="flat" cmpd="sng">
              <a:solidFill>
                <a:srgbClr val="00FF00"/>
              </a:solidFill>
              <a:prstDash val="solid"/>
              <a:miter/>
              <a:headEnd type="none" w="med" len="med"/>
              <a:tailEnd type="triangle" w="med" len="med"/>
            </a:ln>
          </p:spPr>
        </p:sp>
        <p:grpSp>
          <p:nvGrpSpPr>
            <p:cNvPr id="39966" name="Group 87"/>
            <p:cNvGrpSpPr/>
            <p:nvPr/>
          </p:nvGrpSpPr>
          <p:grpSpPr>
            <a:xfrm>
              <a:off x="2496" y="2016"/>
              <a:ext cx="816" cy="290"/>
              <a:chOff x="2784" y="1680"/>
              <a:chExt cx="2160" cy="290"/>
            </a:xfrm>
          </p:grpSpPr>
          <p:sp>
            <p:nvSpPr>
              <p:cNvPr id="39967" name="Text Box 88"/>
              <p:cNvSpPr txBox="1"/>
              <p:nvPr/>
            </p:nvSpPr>
            <p:spPr>
              <a:xfrm>
                <a:off x="2784" y="1680"/>
                <a:ext cx="768"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3</a:t>
                </a:r>
                <a:endParaRPr lang="en-US" altLang="zh-CN" sz="2400" dirty="0">
                  <a:latin typeface="Tahoma" panose="020B0604030504040204" charset="0"/>
                  <a:ea typeface="宋体" panose="02010600030101010101" pitchFamily="2" charset="-122"/>
                </a:endParaRPr>
              </a:p>
            </p:txBody>
          </p:sp>
          <p:sp>
            <p:nvSpPr>
              <p:cNvPr id="39968" name="Text Box 89"/>
              <p:cNvSpPr txBox="1"/>
              <p:nvPr/>
            </p:nvSpPr>
            <p:spPr>
              <a:xfrm>
                <a:off x="3552" y="1680"/>
                <a:ext cx="816"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solidFill>
                      <a:schemeClr val="hlink"/>
                    </a:solidFill>
                    <a:latin typeface="Tahoma" panose="020B0604030504040204" charset="0"/>
                    <a:ea typeface="宋体" panose="02010600030101010101" pitchFamily="2" charset="-122"/>
                  </a:rPr>
                  <a:t>7</a:t>
                </a:r>
                <a:endParaRPr lang="en-US" altLang="zh-CN" sz="2400" dirty="0">
                  <a:solidFill>
                    <a:schemeClr val="hlink"/>
                  </a:solidFill>
                  <a:latin typeface="Tahoma" panose="020B0604030504040204" charset="0"/>
                  <a:ea typeface="宋体" panose="02010600030101010101" pitchFamily="2" charset="-122"/>
                </a:endParaRPr>
              </a:p>
            </p:txBody>
          </p:sp>
          <p:sp>
            <p:nvSpPr>
              <p:cNvPr id="39969" name="Text Box 90"/>
              <p:cNvSpPr txBox="1"/>
              <p:nvPr/>
            </p:nvSpPr>
            <p:spPr>
              <a:xfrm>
                <a:off x="4368" y="1680"/>
                <a:ext cx="576"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endParaRPr lang="zh-CN" altLang="zh-CN" sz="2400" dirty="0">
                  <a:latin typeface="Tahoma" panose="020B0604030504040204" charset="0"/>
                  <a:ea typeface="宋体" panose="02010600030101010101" pitchFamily="2" charset="-122"/>
                </a:endParaRPr>
              </a:p>
            </p:txBody>
          </p:sp>
        </p:grpSp>
        <p:sp>
          <p:nvSpPr>
            <p:cNvPr id="39970" name="Line 91"/>
            <p:cNvSpPr/>
            <p:nvPr/>
          </p:nvSpPr>
          <p:spPr>
            <a:xfrm>
              <a:off x="2160" y="2160"/>
              <a:ext cx="336" cy="0"/>
            </a:xfrm>
            <a:prstGeom prst="line">
              <a:avLst/>
            </a:prstGeom>
            <a:ln w="28575" cap="flat" cmpd="sng">
              <a:solidFill>
                <a:srgbClr val="00FF00"/>
              </a:solidFill>
              <a:prstDash val="solid"/>
              <a:miter/>
              <a:headEnd type="none" w="med" len="med"/>
              <a:tailEnd type="triangle" w="med" len="med"/>
            </a:ln>
          </p:spPr>
        </p:sp>
        <p:grpSp>
          <p:nvGrpSpPr>
            <p:cNvPr id="39971" name="Group 92"/>
            <p:cNvGrpSpPr/>
            <p:nvPr/>
          </p:nvGrpSpPr>
          <p:grpSpPr>
            <a:xfrm>
              <a:off x="3552" y="2016"/>
              <a:ext cx="816" cy="290"/>
              <a:chOff x="2784" y="1680"/>
              <a:chExt cx="2160" cy="290"/>
            </a:xfrm>
          </p:grpSpPr>
          <p:sp>
            <p:nvSpPr>
              <p:cNvPr id="39972" name="Text Box 93"/>
              <p:cNvSpPr txBox="1"/>
              <p:nvPr/>
            </p:nvSpPr>
            <p:spPr>
              <a:xfrm>
                <a:off x="2784" y="1680"/>
                <a:ext cx="768" cy="290"/>
              </a:xfrm>
              <a:prstGeom prst="rect">
                <a:avLst/>
              </a:prstGeom>
              <a:noFill/>
              <a:ln w="25400" cap="flat" cmpd="sng">
                <a:solidFill>
                  <a:srgbClr val="0000FF"/>
                </a:solidFill>
                <a:prstDash val="solid"/>
                <a:miter/>
                <a:headEnd type="none" w="med" len="med"/>
                <a:tailEnd type="none" w="med" len="med"/>
              </a:ln>
            </p:spPr>
            <p:txBody>
              <a:bodyPr lIns="0" rIns="0" anchor="t" anchorCtr="0">
                <a:spAutoFit/>
              </a:bodyPr>
              <a:p>
                <a:pPr algn="ctr"/>
                <a:r>
                  <a:rPr lang="en-US" altLang="zh-CN" sz="2400" dirty="0">
                    <a:latin typeface="Tahoma" panose="020B0604030504040204" charset="0"/>
                    <a:ea typeface="宋体" panose="02010600030101010101" pitchFamily="2" charset="-122"/>
                  </a:rPr>
                  <a:t>4</a:t>
                </a:r>
                <a:endParaRPr lang="en-US" altLang="zh-CN" sz="2400" dirty="0">
                  <a:latin typeface="Tahoma" panose="020B0604030504040204" charset="0"/>
                  <a:ea typeface="宋体" panose="02010600030101010101" pitchFamily="2" charset="-122"/>
                </a:endParaRPr>
              </a:p>
            </p:txBody>
          </p:sp>
          <p:sp>
            <p:nvSpPr>
              <p:cNvPr id="39973" name="Text Box 94"/>
              <p:cNvSpPr txBox="1"/>
              <p:nvPr/>
            </p:nvSpPr>
            <p:spPr>
              <a:xfrm>
                <a:off x="3552" y="1680"/>
                <a:ext cx="815" cy="290"/>
              </a:xfrm>
              <a:prstGeom prst="rect">
                <a:avLst/>
              </a:prstGeom>
              <a:noFill/>
              <a:ln w="25400" cap="flat" cmpd="sng">
                <a:solidFill>
                  <a:srgbClr val="0000FF"/>
                </a:solidFill>
                <a:prstDash val="solid"/>
                <a:miter/>
                <a:headEnd type="none" w="med" len="med"/>
                <a:tailEnd type="none" w="med" len="med"/>
              </a:ln>
            </p:spPr>
            <p:txBody>
              <a:bodyPr lIns="0" rIns="0" anchor="t" anchorCtr="0">
                <a:spAutoFit/>
              </a:bodyPr>
              <a:p>
                <a:pPr algn="ctr"/>
                <a:r>
                  <a:rPr lang="en-US" altLang="zh-CN" sz="2400" dirty="0">
                    <a:solidFill>
                      <a:schemeClr val="hlink"/>
                    </a:solidFill>
                    <a:latin typeface="Tahoma" panose="020B0604030504040204" charset="0"/>
                    <a:ea typeface="宋体" panose="02010600030101010101" pitchFamily="2" charset="-122"/>
                  </a:rPr>
                  <a:t>15</a:t>
                </a:r>
                <a:endParaRPr lang="en-US" altLang="zh-CN" sz="2400" dirty="0">
                  <a:solidFill>
                    <a:schemeClr val="hlink"/>
                  </a:solidFill>
                  <a:latin typeface="Tahoma" panose="020B0604030504040204" charset="0"/>
                  <a:ea typeface="宋体" panose="02010600030101010101" pitchFamily="2" charset="-122"/>
                </a:endParaRPr>
              </a:p>
            </p:txBody>
          </p:sp>
          <p:sp>
            <p:nvSpPr>
              <p:cNvPr id="39974" name="Text Box 95"/>
              <p:cNvSpPr txBox="1"/>
              <p:nvPr/>
            </p:nvSpPr>
            <p:spPr>
              <a:xfrm>
                <a:off x="4368" y="1680"/>
                <a:ext cx="576" cy="290"/>
              </a:xfrm>
              <a:prstGeom prst="rect">
                <a:avLst/>
              </a:prstGeom>
              <a:noFill/>
              <a:ln w="25400" cap="flat" cmpd="sng">
                <a:solidFill>
                  <a:srgbClr val="0000FF"/>
                </a:solidFill>
                <a:prstDash val="solid"/>
                <a:miter/>
                <a:headEnd type="none" w="med" len="med"/>
                <a:tailEnd type="none" w="med" len="med"/>
              </a:ln>
            </p:spPr>
            <p:txBody>
              <a:bodyPr lIns="0" rIns="0" anchor="t" anchorCtr="0">
                <a:spAutoFit/>
              </a:bodyPr>
              <a:p>
                <a:pPr algn="ctr"/>
                <a:r>
                  <a:rPr lang="en-US" altLang="zh-CN" sz="2400" dirty="0">
                    <a:latin typeface="Tahoma" panose="020B0604030504040204" charset="0"/>
                    <a:ea typeface="宋体" panose="02010600030101010101" pitchFamily="2" charset="-122"/>
                  </a:rPr>
                  <a:t>^</a:t>
                </a:r>
                <a:endParaRPr lang="en-US" altLang="zh-CN" sz="2400" dirty="0">
                  <a:latin typeface="Tahoma" panose="020B0604030504040204" charset="0"/>
                  <a:ea typeface="宋体" panose="02010600030101010101" pitchFamily="2" charset="-122"/>
                </a:endParaRPr>
              </a:p>
            </p:txBody>
          </p:sp>
        </p:grpSp>
        <p:sp>
          <p:nvSpPr>
            <p:cNvPr id="39975" name="Line 96"/>
            <p:cNvSpPr/>
            <p:nvPr/>
          </p:nvSpPr>
          <p:spPr>
            <a:xfrm>
              <a:off x="3216" y="2160"/>
              <a:ext cx="336" cy="0"/>
            </a:xfrm>
            <a:prstGeom prst="line">
              <a:avLst/>
            </a:prstGeom>
            <a:ln w="28575" cap="flat" cmpd="sng">
              <a:solidFill>
                <a:srgbClr val="00FF00"/>
              </a:solidFill>
              <a:prstDash val="solid"/>
              <a:miter/>
              <a:headEnd type="none" w="med" len="med"/>
              <a:tailEnd type="triangle" w="med" len="med"/>
            </a:ln>
          </p:spPr>
        </p:sp>
        <p:grpSp>
          <p:nvGrpSpPr>
            <p:cNvPr id="39976" name="Group 97"/>
            <p:cNvGrpSpPr/>
            <p:nvPr/>
          </p:nvGrpSpPr>
          <p:grpSpPr>
            <a:xfrm>
              <a:off x="1440" y="2448"/>
              <a:ext cx="816" cy="290"/>
              <a:chOff x="2784" y="1680"/>
              <a:chExt cx="2160" cy="290"/>
            </a:xfrm>
          </p:grpSpPr>
          <p:sp>
            <p:nvSpPr>
              <p:cNvPr id="39977" name="Text Box 98"/>
              <p:cNvSpPr txBox="1"/>
              <p:nvPr/>
            </p:nvSpPr>
            <p:spPr>
              <a:xfrm>
                <a:off x="2784" y="1680"/>
                <a:ext cx="768" cy="290"/>
              </a:xfrm>
              <a:prstGeom prst="rect">
                <a:avLst/>
              </a:prstGeom>
              <a:noFill/>
              <a:ln w="25400" cap="flat" cmpd="sng">
                <a:solidFill>
                  <a:srgbClr val="0000FF"/>
                </a:solidFill>
                <a:prstDash val="solid"/>
                <a:miter/>
                <a:headEnd type="none" w="med" len="med"/>
                <a:tailEnd type="none" w="med" len="med"/>
              </a:ln>
            </p:spPr>
            <p:txBody>
              <a:bodyPr lIns="0" rIns="0" anchor="t" anchorCtr="0">
                <a:spAutoFit/>
              </a:bodyPr>
              <a:p>
                <a:pPr algn="ctr"/>
                <a:r>
                  <a:rPr lang="en-US" altLang="zh-CN" sz="2400" dirty="0">
                    <a:latin typeface="Tahoma" panose="020B0604030504040204" charset="0"/>
                    <a:ea typeface="宋体" panose="02010600030101010101" pitchFamily="2" charset="-122"/>
                  </a:rPr>
                  <a:t>2</a:t>
                </a:r>
                <a:endParaRPr lang="en-US" altLang="zh-CN" sz="2400" dirty="0">
                  <a:latin typeface="Tahoma" panose="020B0604030504040204" charset="0"/>
                  <a:ea typeface="宋体" panose="02010600030101010101" pitchFamily="2" charset="-122"/>
                </a:endParaRPr>
              </a:p>
            </p:txBody>
          </p:sp>
          <p:sp>
            <p:nvSpPr>
              <p:cNvPr id="39978" name="Text Box 99"/>
              <p:cNvSpPr txBox="1"/>
              <p:nvPr/>
            </p:nvSpPr>
            <p:spPr>
              <a:xfrm>
                <a:off x="3552" y="1680"/>
                <a:ext cx="815" cy="290"/>
              </a:xfrm>
              <a:prstGeom prst="rect">
                <a:avLst/>
              </a:prstGeom>
              <a:noFill/>
              <a:ln w="25400" cap="flat" cmpd="sng">
                <a:solidFill>
                  <a:srgbClr val="0000FF"/>
                </a:solidFill>
                <a:prstDash val="solid"/>
                <a:miter/>
                <a:headEnd type="none" w="med" len="med"/>
                <a:tailEnd type="none" w="med" len="med"/>
              </a:ln>
            </p:spPr>
            <p:txBody>
              <a:bodyPr lIns="0" rIns="0" anchor="t" anchorCtr="0">
                <a:spAutoFit/>
              </a:bodyPr>
              <a:p>
                <a:pPr algn="ctr"/>
                <a:r>
                  <a:rPr lang="en-US" altLang="zh-CN" sz="2400" dirty="0">
                    <a:solidFill>
                      <a:schemeClr val="hlink"/>
                    </a:solidFill>
                    <a:latin typeface="Tahoma" panose="020B0604030504040204" charset="0"/>
                    <a:ea typeface="宋体" panose="02010600030101010101" pitchFamily="2" charset="-122"/>
                  </a:rPr>
                  <a:t>5</a:t>
                </a:r>
                <a:endParaRPr lang="en-US" altLang="zh-CN" sz="2400" dirty="0">
                  <a:solidFill>
                    <a:schemeClr val="hlink"/>
                  </a:solidFill>
                  <a:latin typeface="Tahoma" panose="020B0604030504040204" charset="0"/>
                  <a:ea typeface="宋体" panose="02010600030101010101" pitchFamily="2" charset="-122"/>
                </a:endParaRPr>
              </a:p>
            </p:txBody>
          </p:sp>
          <p:sp>
            <p:nvSpPr>
              <p:cNvPr id="39979" name="Text Box 100"/>
              <p:cNvSpPr txBox="1"/>
              <p:nvPr/>
            </p:nvSpPr>
            <p:spPr>
              <a:xfrm>
                <a:off x="4368" y="1680"/>
                <a:ext cx="576" cy="290"/>
              </a:xfrm>
              <a:prstGeom prst="rect">
                <a:avLst/>
              </a:prstGeom>
              <a:noFill/>
              <a:ln w="25400" cap="flat" cmpd="sng">
                <a:solidFill>
                  <a:srgbClr val="0000FF"/>
                </a:solidFill>
                <a:prstDash val="solid"/>
                <a:miter/>
                <a:headEnd type="none" w="med" len="med"/>
                <a:tailEnd type="none" w="med" len="med"/>
              </a:ln>
            </p:spPr>
            <p:txBody>
              <a:bodyPr lIns="0" rIns="0" anchor="t" anchorCtr="0">
                <a:spAutoFit/>
              </a:bodyPr>
              <a:p>
                <a:pPr algn="ctr"/>
                <a:r>
                  <a:rPr lang="en-US" altLang="zh-CN" sz="2400" dirty="0">
                    <a:latin typeface="Tahoma" panose="020B0604030504040204" charset="0"/>
                    <a:ea typeface="宋体" panose="02010600030101010101" pitchFamily="2" charset="-122"/>
                  </a:rPr>
                  <a:t>^</a:t>
                </a:r>
                <a:endParaRPr lang="en-US" altLang="zh-CN" sz="2400" dirty="0">
                  <a:latin typeface="Tahoma" panose="020B0604030504040204" charset="0"/>
                  <a:ea typeface="宋体" panose="02010600030101010101" pitchFamily="2" charset="-122"/>
                </a:endParaRPr>
              </a:p>
            </p:txBody>
          </p:sp>
        </p:grpSp>
        <p:sp>
          <p:nvSpPr>
            <p:cNvPr id="39980" name="Line 101"/>
            <p:cNvSpPr/>
            <p:nvPr/>
          </p:nvSpPr>
          <p:spPr>
            <a:xfrm>
              <a:off x="1104" y="2592"/>
              <a:ext cx="336" cy="0"/>
            </a:xfrm>
            <a:prstGeom prst="line">
              <a:avLst/>
            </a:prstGeom>
            <a:ln w="28575" cap="flat" cmpd="sng">
              <a:solidFill>
                <a:srgbClr val="00FF00"/>
              </a:solidFill>
              <a:prstDash val="solid"/>
              <a:miter/>
              <a:headEnd type="none" w="med" len="med"/>
              <a:tailEnd type="triangle" w="med" len="med"/>
            </a:ln>
          </p:spPr>
        </p:sp>
        <p:grpSp>
          <p:nvGrpSpPr>
            <p:cNvPr id="39981" name="Group 102"/>
            <p:cNvGrpSpPr/>
            <p:nvPr/>
          </p:nvGrpSpPr>
          <p:grpSpPr>
            <a:xfrm>
              <a:off x="1440" y="2880"/>
              <a:ext cx="816" cy="290"/>
              <a:chOff x="2784" y="1680"/>
              <a:chExt cx="2160" cy="290"/>
            </a:xfrm>
          </p:grpSpPr>
          <p:sp>
            <p:nvSpPr>
              <p:cNvPr id="39982" name="Text Box 103"/>
              <p:cNvSpPr txBox="1"/>
              <p:nvPr/>
            </p:nvSpPr>
            <p:spPr>
              <a:xfrm>
                <a:off x="2784" y="1680"/>
                <a:ext cx="768" cy="290"/>
              </a:xfrm>
              <a:prstGeom prst="rect">
                <a:avLst/>
              </a:prstGeom>
              <a:noFill/>
              <a:ln w="25400" cap="flat" cmpd="sng">
                <a:solidFill>
                  <a:srgbClr val="0000FF"/>
                </a:solidFill>
                <a:prstDash val="solid"/>
                <a:miter/>
                <a:headEnd type="none" w="med" len="med"/>
                <a:tailEnd type="none" w="med" len="med"/>
              </a:ln>
            </p:spPr>
            <p:txBody>
              <a:bodyPr lIns="0" rIns="0" anchor="t" anchorCtr="0">
                <a:spAutoFit/>
              </a:bodyPr>
              <a:p>
                <a:pPr algn="ctr"/>
                <a:r>
                  <a:rPr lang="en-US" altLang="zh-CN" sz="2400" dirty="0">
                    <a:latin typeface="Tahoma" panose="020B0604030504040204" charset="0"/>
                    <a:ea typeface="宋体" panose="02010600030101010101" pitchFamily="2" charset="-122"/>
                  </a:rPr>
                  <a:t>4</a:t>
                </a:r>
                <a:endParaRPr lang="en-US" altLang="zh-CN" sz="2400" dirty="0">
                  <a:latin typeface="Tahoma" panose="020B0604030504040204" charset="0"/>
                  <a:ea typeface="宋体" panose="02010600030101010101" pitchFamily="2" charset="-122"/>
                </a:endParaRPr>
              </a:p>
            </p:txBody>
          </p:sp>
          <p:sp>
            <p:nvSpPr>
              <p:cNvPr id="39983" name="Text Box 104"/>
              <p:cNvSpPr txBox="1"/>
              <p:nvPr/>
            </p:nvSpPr>
            <p:spPr>
              <a:xfrm>
                <a:off x="3552" y="1680"/>
                <a:ext cx="815" cy="290"/>
              </a:xfrm>
              <a:prstGeom prst="rect">
                <a:avLst/>
              </a:prstGeom>
              <a:noFill/>
              <a:ln w="25400" cap="flat" cmpd="sng">
                <a:solidFill>
                  <a:srgbClr val="0000FF"/>
                </a:solidFill>
                <a:prstDash val="solid"/>
                <a:miter/>
                <a:headEnd type="none" w="med" len="med"/>
                <a:tailEnd type="none" w="med" len="med"/>
              </a:ln>
            </p:spPr>
            <p:txBody>
              <a:bodyPr lIns="0" rIns="0" anchor="t" anchorCtr="0">
                <a:spAutoFit/>
              </a:bodyPr>
              <a:p>
                <a:pPr algn="ctr"/>
                <a:r>
                  <a:rPr lang="en-US" altLang="zh-CN" sz="2400" dirty="0">
                    <a:solidFill>
                      <a:schemeClr val="hlink"/>
                    </a:solidFill>
                    <a:latin typeface="Tahoma" panose="020B0604030504040204" charset="0"/>
                    <a:ea typeface="宋体" panose="02010600030101010101" pitchFamily="2" charset="-122"/>
                  </a:rPr>
                  <a:t>1</a:t>
                </a:r>
                <a:endParaRPr lang="en-US" altLang="zh-CN" sz="2400" dirty="0">
                  <a:solidFill>
                    <a:schemeClr val="hlink"/>
                  </a:solidFill>
                  <a:latin typeface="Tahoma" panose="020B0604030504040204" charset="0"/>
                  <a:ea typeface="宋体" panose="02010600030101010101" pitchFamily="2" charset="-122"/>
                </a:endParaRPr>
              </a:p>
            </p:txBody>
          </p:sp>
          <p:sp>
            <p:nvSpPr>
              <p:cNvPr id="39984" name="Text Box 105"/>
              <p:cNvSpPr txBox="1"/>
              <p:nvPr/>
            </p:nvSpPr>
            <p:spPr>
              <a:xfrm>
                <a:off x="4368" y="1680"/>
                <a:ext cx="576" cy="290"/>
              </a:xfrm>
              <a:prstGeom prst="rect">
                <a:avLst/>
              </a:prstGeom>
              <a:noFill/>
              <a:ln w="25400" cap="flat" cmpd="sng">
                <a:solidFill>
                  <a:srgbClr val="0000FF"/>
                </a:solidFill>
                <a:prstDash val="solid"/>
                <a:miter/>
                <a:headEnd type="none" w="med" len="med"/>
                <a:tailEnd type="none" w="med" len="med"/>
              </a:ln>
            </p:spPr>
            <p:txBody>
              <a:bodyPr lIns="0" rIns="0" anchor="t" anchorCtr="0">
                <a:spAutoFit/>
              </a:bodyPr>
              <a:p>
                <a:pPr algn="ctr"/>
                <a:r>
                  <a:rPr lang="en-US" altLang="zh-CN" sz="2400" dirty="0">
                    <a:latin typeface="Tahoma" panose="020B0604030504040204" charset="0"/>
                    <a:ea typeface="宋体" panose="02010600030101010101" pitchFamily="2" charset="-122"/>
                  </a:rPr>
                  <a:t>^</a:t>
                </a:r>
                <a:endParaRPr lang="en-US" altLang="zh-CN" sz="2400" dirty="0">
                  <a:latin typeface="Tahoma" panose="020B0604030504040204" charset="0"/>
                  <a:ea typeface="宋体" panose="02010600030101010101" pitchFamily="2" charset="-122"/>
                </a:endParaRPr>
              </a:p>
            </p:txBody>
          </p:sp>
        </p:grpSp>
        <p:sp>
          <p:nvSpPr>
            <p:cNvPr id="39985" name="Line 106"/>
            <p:cNvSpPr/>
            <p:nvPr/>
          </p:nvSpPr>
          <p:spPr>
            <a:xfrm>
              <a:off x="1104" y="3024"/>
              <a:ext cx="336" cy="0"/>
            </a:xfrm>
            <a:prstGeom prst="line">
              <a:avLst/>
            </a:prstGeom>
            <a:ln w="28575" cap="flat" cmpd="sng">
              <a:solidFill>
                <a:srgbClr val="00FF00"/>
              </a:solidFill>
              <a:prstDash val="solid"/>
              <a:miter/>
              <a:headEnd type="none" w="med" len="med"/>
              <a:tailEnd type="triangle" w="med" len="med"/>
            </a:ln>
          </p:spPr>
        </p:sp>
        <p:grpSp>
          <p:nvGrpSpPr>
            <p:cNvPr id="39986" name="Group 107"/>
            <p:cNvGrpSpPr/>
            <p:nvPr/>
          </p:nvGrpSpPr>
          <p:grpSpPr>
            <a:xfrm>
              <a:off x="1440" y="3312"/>
              <a:ext cx="816" cy="290"/>
              <a:chOff x="2784" y="1680"/>
              <a:chExt cx="2160" cy="290"/>
            </a:xfrm>
          </p:grpSpPr>
          <p:sp>
            <p:nvSpPr>
              <p:cNvPr id="39987" name="Text Box 108"/>
              <p:cNvSpPr txBox="1"/>
              <p:nvPr/>
            </p:nvSpPr>
            <p:spPr>
              <a:xfrm>
                <a:off x="2784" y="1680"/>
                <a:ext cx="768" cy="290"/>
              </a:xfrm>
              <a:prstGeom prst="rect">
                <a:avLst/>
              </a:prstGeom>
              <a:noFill/>
              <a:ln w="25400" cap="flat" cmpd="sng">
                <a:solidFill>
                  <a:srgbClr val="0000FF"/>
                </a:solidFill>
                <a:prstDash val="solid"/>
                <a:miter/>
                <a:headEnd type="none" w="med" len="med"/>
                <a:tailEnd type="none" w="med" len="med"/>
              </a:ln>
            </p:spPr>
            <p:txBody>
              <a:bodyPr lIns="0" rIns="0" anchor="t" anchorCtr="0">
                <a:spAutoFit/>
              </a:bodyPr>
              <a:p>
                <a:pPr algn="ctr"/>
                <a:r>
                  <a:rPr lang="en-US" altLang="zh-CN" sz="2400" dirty="0">
                    <a:latin typeface="Tahoma" panose="020B0604030504040204" charset="0"/>
                    <a:ea typeface="宋体" panose="02010600030101010101" pitchFamily="2" charset="-122"/>
                  </a:rPr>
                  <a:t>2</a:t>
                </a:r>
                <a:endParaRPr lang="en-US" altLang="zh-CN" sz="2400" dirty="0">
                  <a:latin typeface="Tahoma" panose="020B0604030504040204" charset="0"/>
                  <a:ea typeface="宋体" panose="02010600030101010101" pitchFamily="2" charset="-122"/>
                </a:endParaRPr>
              </a:p>
            </p:txBody>
          </p:sp>
          <p:sp>
            <p:nvSpPr>
              <p:cNvPr id="39988" name="Text Box 109"/>
              <p:cNvSpPr txBox="1"/>
              <p:nvPr/>
            </p:nvSpPr>
            <p:spPr>
              <a:xfrm>
                <a:off x="3552" y="1680"/>
                <a:ext cx="815" cy="290"/>
              </a:xfrm>
              <a:prstGeom prst="rect">
                <a:avLst/>
              </a:prstGeom>
              <a:noFill/>
              <a:ln w="25400" cap="flat" cmpd="sng">
                <a:solidFill>
                  <a:srgbClr val="0000FF"/>
                </a:solidFill>
                <a:prstDash val="solid"/>
                <a:miter/>
                <a:headEnd type="none" w="med" len="med"/>
                <a:tailEnd type="none" w="med" len="med"/>
              </a:ln>
            </p:spPr>
            <p:txBody>
              <a:bodyPr lIns="0" rIns="0" anchor="t" anchorCtr="0">
                <a:spAutoFit/>
              </a:bodyPr>
              <a:p>
                <a:pPr algn="ctr"/>
                <a:r>
                  <a:rPr lang="en-US" altLang="zh-CN" sz="2400" dirty="0">
                    <a:solidFill>
                      <a:schemeClr val="hlink"/>
                    </a:solidFill>
                    <a:latin typeface="Tahoma" panose="020B0604030504040204" charset="0"/>
                    <a:ea typeface="宋体" panose="02010600030101010101" pitchFamily="2" charset="-122"/>
                  </a:rPr>
                  <a:t>2</a:t>
                </a:r>
                <a:endParaRPr lang="en-US" altLang="zh-CN" sz="2400" dirty="0">
                  <a:solidFill>
                    <a:schemeClr val="hlink"/>
                  </a:solidFill>
                  <a:latin typeface="Tahoma" panose="020B0604030504040204" charset="0"/>
                  <a:ea typeface="宋体" panose="02010600030101010101" pitchFamily="2" charset="-122"/>
                </a:endParaRPr>
              </a:p>
            </p:txBody>
          </p:sp>
          <p:sp>
            <p:nvSpPr>
              <p:cNvPr id="39989" name="Text Box 110"/>
              <p:cNvSpPr txBox="1"/>
              <p:nvPr/>
            </p:nvSpPr>
            <p:spPr>
              <a:xfrm>
                <a:off x="4368" y="1680"/>
                <a:ext cx="576" cy="290"/>
              </a:xfrm>
              <a:prstGeom prst="rect">
                <a:avLst/>
              </a:prstGeom>
              <a:noFill/>
              <a:ln w="25400" cap="flat" cmpd="sng">
                <a:solidFill>
                  <a:srgbClr val="0000FF"/>
                </a:solidFill>
                <a:prstDash val="solid"/>
                <a:miter/>
                <a:headEnd type="none" w="med" len="med"/>
                <a:tailEnd type="none" w="med" len="med"/>
              </a:ln>
            </p:spPr>
            <p:txBody>
              <a:bodyPr lIns="0" rIns="0" anchor="t" anchorCtr="0">
                <a:spAutoFit/>
              </a:bodyPr>
              <a:p>
                <a:pPr algn="ctr"/>
                <a:r>
                  <a:rPr lang="en-US" altLang="zh-CN" sz="2400" dirty="0">
                    <a:latin typeface="Tahoma" panose="020B0604030504040204" charset="0"/>
                    <a:ea typeface="宋体" panose="02010600030101010101" pitchFamily="2" charset="-122"/>
                  </a:rPr>
                  <a:t>^</a:t>
                </a:r>
                <a:endParaRPr lang="en-US" altLang="zh-CN" sz="2400" dirty="0">
                  <a:latin typeface="Tahoma" panose="020B0604030504040204" charset="0"/>
                  <a:ea typeface="宋体" panose="02010600030101010101" pitchFamily="2" charset="-122"/>
                </a:endParaRPr>
              </a:p>
            </p:txBody>
          </p:sp>
        </p:grpSp>
        <p:sp>
          <p:nvSpPr>
            <p:cNvPr id="39990" name="Line 111"/>
            <p:cNvSpPr/>
            <p:nvPr/>
          </p:nvSpPr>
          <p:spPr>
            <a:xfrm>
              <a:off x="1104" y="3456"/>
              <a:ext cx="336" cy="0"/>
            </a:xfrm>
            <a:prstGeom prst="line">
              <a:avLst/>
            </a:prstGeom>
            <a:ln w="28575" cap="flat" cmpd="sng">
              <a:solidFill>
                <a:srgbClr val="00FF00"/>
              </a:solidFill>
              <a:prstDash val="solid"/>
              <a:miter/>
              <a:headEnd type="none" w="med" len="med"/>
              <a:tailEnd type="triangle" w="med" len="med"/>
            </a:ln>
          </p:spPr>
        </p:sp>
      </p:grpSp>
      <p:grpSp>
        <p:nvGrpSpPr>
          <p:cNvPr id="39991" name="Group 112"/>
          <p:cNvGrpSpPr/>
          <p:nvPr/>
        </p:nvGrpSpPr>
        <p:grpSpPr>
          <a:xfrm>
            <a:off x="6600825" y="3429000"/>
            <a:ext cx="2819400" cy="2324100"/>
            <a:chOff x="4032" y="3259"/>
            <a:chExt cx="1296" cy="1056"/>
          </a:xfrm>
        </p:grpSpPr>
        <p:grpSp>
          <p:nvGrpSpPr>
            <p:cNvPr id="39992" name="Group 113"/>
            <p:cNvGrpSpPr/>
            <p:nvPr/>
          </p:nvGrpSpPr>
          <p:grpSpPr>
            <a:xfrm>
              <a:off x="4032" y="3259"/>
              <a:ext cx="1296" cy="1056"/>
              <a:chOff x="3696" y="2784"/>
              <a:chExt cx="1920" cy="1536"/>
            </a:xfrm>
          </p:grpSpPr>
          <p:sp>
            <p:nvSpPr>
              <p:cNvPr id="39993" name="Line 114"/>
              <p:cNvSpPr/>
              <p:nvPr/>
            </p:nvSpPr>
            <p:spPr>
              <a:xfrm flipH="1" flipV="1">
                <a:off x="4752" y="2976"/>
                <a:ext cx="624" cy="384"/>
              </a:xfrm>
              <a:prstGeom prst="line">
                <a:avLst/>
              </a:prstGeom>
              <a:ln w="38100" cap="flat" cmpd="sng">
                <a:solidFill>
                  <a:srgbClr val="009900"/>
                </a:solidFill>
                <a:prstDash val="solid"/>
                <a:round/>
                <a:headEnd type="triangle" w="med" len="med"/>
                <a:tailEnd type="none" w="med" len="med"/>
              </a:ln>
            </p:spPr>
          </p:sp>
          <p:sp>
            <p:nvSpPr>
              <p:cNvPr id="39994" name="Line 115"/>
              <p:cNvSpPr/>
              <p:nvPr/>
            </p:nvSpPr>
            <p:spPr>
              <a:xfrm>
                <a:off x="3888" y="3504"/>
                <a:ext cx="240" cy="576"/>
              </a:xfrm>
              <a:prstGeom prst="line">
                <a:avLst/>
              </a:prstGeom>
              <a:ln w="38100" cap="flat" cmpd="sng">
                <a:solidFill>
                  <a:srgbClr val="009900"/>
                </a:solidFill>
                <a:prstDash val="solid"/>
                <a:round/>
                <a:headEnd type="none" w="med" len="med"/>
                <a:tailEnd type="triangle" w="med" len="med"/>
              </a:ln>
            </p:spPr>
          </p:sp>
          <p:sp>
            <p:nvSpPr>
              <p:cNvPr id="39995" name="Line 116"/>
              <p:cNvSpPr/>
              <p:nvPr/>
            </p:nvSpPr>
            <p:spPr>
              <a:xfrm flipH="1">
                <a:off x="3936" y="2928"/>
                <a:ext cx="672" cy="384"/>
              </a:xfrm>
              <a:prstGeom prst="line">
                <a:avLst/>
              </a:prstGeom>
              <a:ln w="38100" cap="flat" cmpd="sng">
                <a:solidFill>
                  <a:srgbClr val="009900"/>
                </a:solidFill>
                <a:prstDash val="solid"/>
                <a:round/>
                <a:headEnd type="none" w="med" len="med"/>
                <a:tailEnd type="triangle" w="med" len="med"/>
              </a:ln>
            </p:spPr>
          </p:sp>
          <p:sp>
            <p:nvSpPr>
              <p:cNvPr id="39996" name="Line 117"/>
              <p:cNvSpPr/>
              <p:nvPr/>
            </p:nvSpPr>
            <p:spPr>
              <a:xfrm flipH="1" flipV="1">
                <a:off x="4704" y="2976"/>
                <a:ext cx="384" cy="1056"/>
              </a:xfrm>
              <a:prstGeom prst="line">
                <a:avLst/>
              </a:prstGeom>
              <a:ln w="38100" cap="flat" cmpd="sng">
                <a:solidFill>
                  <a:srgbClr val="009900"/>
                </a:solidFill>
                <a:prstDash val="solid"/>
                <a:round/>
                <a:headEnd type="triangle" w="med" len="med"/>
                <a:tailEnd type="none" w="med" len="med"/>
              </a:ln>
            </p:spPr>
          </p:sp>
          <p:sp>
            <p:nvSpPr>
              <p:cNvPr id="39997" name="Line 118"/>
              <p:cNvSpPr/>
              <p:nvPr/>
            </p:nvSpPr>
            <p:spPr>
              <a:xfrm flipH="1">
                <a:off x="4272" y="4176"/>
                <a:ext cx="720" cy="0"/>
              </a:xfrm>
              <a:prstGeom prst="line">
                <a:avLst/>
              </a:prstGeom>
              <a:ln w="38100" cap="flat" cmpd="sng">
                <a:solidFill>
                  <a:srgbClr val="009900"/>
                </a:solidFill>
                <a:prstDash val="solid"/>
                <a:round/>
                <a:headEnd type="none" w="med" len="med"/>
                <a:tailEnd type="triangle" w="med" len="med"/>
              </a:ln>
            </p:spPr>
          </p:sp>
          <p:sp>
            <p:nvSpPr>
              <p:cNvPr id="39998" name="Line 119"/>
              <p:cNvSpPr/>
              <p:nvPr/>
            </p:nvSpPr>
            <p:spPr>
              <a:xfrm flipH="1">
                <a:off x="4272" y="3552"/>
                <a:ext cx="1152" cy="576"/>
              </a:xfrm>
              <a:prstGeom prst="line">
                <a:avLst/>
              </a:prstGeom>
              <a:ln w="38100" cap="flat" cmpd="sng">
                <a:solidFill>
                  <a:srgbClr val="009900"/>
                </a:solidFill>
                <a:prstDash val="solid"/>
                <a:round/>
                <a:headEnd type="triangle" w="med" len="med"/>
                <a:tailEnd type="none" w="med" len="med"/>
              </a:ln>
            </p:spPr>
          </p:sp>
          <p:sp>
            <p:nvSpPr>
              <p:cNvPr id="39999" name="Oval 120"/>
              <p:cNvSpPr/>
              <p:nvPr/>
            </p:nvSpPr>
            <p:spPr>
              <a:xfrm>
                <a:off x="3696" y="326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40000" name="Oval 121"/>
              <p:cNvSpPr/>
              <p:nvPr/>
            </p:nvSpPr>
            <p:spPr>
              <a:xfrm>
                <a:off x="4992"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40001" name="Oval 122"/>
              <p:cNvSpPr/>
              <p:nvPr/>
            </p:nvSpPr>
            <p:spPr>
              <a:xfrm>
                <a:off x="4032"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sp>
            <p:nvSpPr>
              <p:cNvPr id="40002" name="Oval 123"/>
              <p:cNvSpPr/>
              <p:nvPr/>
            </p:nvSpPr>
            <p:spPr>
              <a:xfrm>
                <a:off x="5328" y="3312"/>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sp>
            <p:nvSpPr>
              <p:cNvPr id="40003" name="Oval 124"/>
              <p:cNvSpPr/>
              <p:nvPr/>
            </p:nvSpPr>
            <p:spPr>
              <a:xfrm>
                <a:off x="4512" y="2784"/>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grpSp>
        <p:sp>
          <p:nvSpPr>
            <p:cNvPr id="40004" name="Text Box 125"/>
            <p:cNvSpPr txBox="1"/>
            <p:nvPr/>
          </p:nvSpPr>
          <p:spPr>
            <a:xfrm>
              <a:off x="4224" y="3264"/>
              <a:ext cx="240" cy="209"/>
            </a:xfrm>
            <a:prstGeom prst="rect">
              <a:avLst/>
            </a:prstGeom>
            <a:noFill/>
            <a:ln w="9525">
              <a:noFill/>
            </a:ln>
          </p:spPr>
          <p:txBody>
            <a:bodyPr anchor="t" anchorCtr="0">
              <a:spAutoFit/>
            </a:bodyPr>
            <a:p>
              <a:pPr algn="ctr">
                <a:spcBef>
                  <a:spcPct val="50000"/>
                </a:spcBef>
              </a:pPr>
              <a:r>
                <a:rPr lang="en-US" altLang="zh-CN" sz="2400" dirty="0">
                  <a:latin typeface="Tahoma" panose="020B0604030504040204" charset="0"/>
                  <a:ea typeface="宋体" panose="02010600030101010101" pitchFamily="2" charset="-122"/>
                </a:rPr>
                <a:t>5</a:t>
              </a:r>
              <a:endParaRPr lang="en-US" altLang="zh-CN" sz="2400" dirty="0">
                <a:latin typeface="Tahoma" panose="020B0604030504040204" charset="0"/>
                <a:ea typeface="宋体" panose="02010600030101010101" pitchFamily="2" charset="-122"/>
              </a:endParaRPr>
            </a:p>
          </p:txBody>
        </p:sp>
        <p:sp>
          <p:nvSpPr>
            <p:cNvPr id="40005" name="Text Box 126"/>
            <p:cNvSpPr txBox="1"/>
            <p:nvPr/>
          </p:nvSpPr>
          <p:spPr>
            <a:xfrm>
              <a:off x="4032" y="3840"/>
              <a:ext cx="240" cy="209"/>
            </a:xfrm>
            <a:prstGeom prst="rect">
              <a:avLst/>
            </a:prstGeom>
            <a:noFill/>
            <a:ln w="9525">
              <a:noFill/>
            </a:ln>
          </p:spPr>
          <p:txBody>
            <a:bodyPr anchor="t" anchorCtr="0">
              <a:spAutoFit/>
            </a:bodyPr>
            <a:p>
              <a:pPr algn="ctr">
                <a:spcBef>
                  <a:spcPct val="50000"/>
                </a:spcBef>
              </a:pPr>
              <a:r>
                <a:rPr lang="en-US" altLang="zh-CN" sz="2400" dirty="0">
                  <a:latin typeface="Tahoma" panose="020B0604030504040204" charset="0"/>
                  <a:ea typeface="宋体" panose="02010600030101010101" pitchFamily="2" charset="-122"/>
                </a:rPr>
                <a:t>5</a:t>
              </a:r>
              <a:endParaRPr lang="en-US" altLang="zh-CN" sz="2400" dirty="0">
                <a:latin typeface="Tahoma" panose="020B0604030504040204" charset="0"/>
                <a:ea typeface="宋体" panose="02010600030101010101" pitchFamily="2" charset="-122"/>
              </a:endParaRPr>
            </a:p>
          </p:txBody>
        </p:sp>
        <p:sp>
          <p:nvSpPr>
            <p:cNvPr id="40006" name="Text Box 127"/>
            <p:cNvSpPr txBox="1"/>
            <p:nvPr/>
          </p:nvSpPr>
          <p:spPr>
            <a:xfrm>
              <a:off x="4848" y="3264"/>
              <a:ext cx="384" cy="209"/>
            </a:xfrm>
            <a:prstGeom prst="rect">
              <a:avLst/>
            </a:prstGeom>
            <a:noFill/>
            <a:ln w="9525">
              <a:noFill/>
            </a:ln>
          </p:spPr>
          <p:txBody>
            <a:bodyPr anchor="t" anchorCtr="0">
              <a:spAutoFit/>
            </a:bodyPr>
            <a:p>
              <a:pPr algn="ctr">
                <a:spcBef>
                  <a:spcPct val="50000"/>
                </a:spcBef>
              </a:pPr>
              <a:r>
                <a:rPr lang="en-US" altLang="zh-CN" sz="2400" dirty="0">
                  <a:latin typeface="Tahoma" panose="020B0604030504040204" charset="0"/>
                  <a:ea typeface="宋体" panose="02010600030101010101" pitchFamily="2" charset="-122"/>
                </a:rPr>
                <a:t>15</a:t>
              </a:r>
              <a:endParaRPr lang="en-US" altLang="zh-CN" sz="2400" dirty="0">
                <a:latin typeface="Tahoma" panose="020B0604030504040204" charset="0"/>
                <a:ea typeface="宋体" panose="02010600030101010101" pitchFamily="2" charset="-122"/>
              </a:endParaRPr>
            </a:p>
          </p:txBody>
        </p:sp>
        <p:sp>
          <p:nvSpPr>
            <p:cNvPr id="40007" name="Text Box 128"/>
            <p:cNvSpPr txBox="1"/>
            <p:nvPr/>
          </p:nvSpPr>
          <p:spPr>
            <a:xfrm>
              <a:off x="4560" y="3840"/>
              <a:ext cx="240" cy="209"/>
            </a:xfrm>
            <a:prstGeom prst="rect">
              <a:avLst/>
            </a:prstGeom>
            <a:noFill/>
            <a:ln w="9525">
              <a:noFill/>
            </a:ln>
          </p:spPr>
          <p:txBody>
            <a:bodyPr anchor="t" anchorCtr="0">
              <a:spAutoFit/>
            </a:bodyPr>
            <a:p>
              <a:pPr algn="ctr">
                <a:spcBef>
                  <a:spcPct val="50000"/>
                </a:spcBef>
              </a:pPr>
              <a:r>
                <a:rPr lang="en-US" altLang="zh-CN" sz="2400" dirty="0">
                  <a:latin typeface="Tahoma" panose="020B0604030504040204" charset="0"/>
                  <a:ea typeface="宋体" panose="02010600030101010101" pitchFamily="2" charset="-122"/>
                </a:rPr>
                <a:t>1</a:t>
              </a:r>
              <a:endParaRPr lang="en-US" altLang="zh-CN" sz="2400" dirty="0">
                <a:latin typeface="Tahoma" panose="020B0604030504040204" charset="0"/>
                <a:ea typeface="宋体" panose="02010600030101010101" pitchFamily="2" charset="-122"/>
              </a:endParaRPr>
            </a:p>
          </p:txBody>
        </p:sp>
        <p:sp>
          <p:nvSpPr>
            <p:cNvPr id="40008" name="Text Box 129"/>
            <p:cNvSpPr txBox="1"/>
            <p:nvPr/>
          </p:nvSpPr>
          <p:spPr>
            <a:xfrm>
              <a:off x="4608" y="3552"/>
              <a:ext cx="240" cy="209"/>
            </a:xfrm>
            <a:prstGeom prst="rect">
              <a:avLst/>
            </a:prstGeom>
            <a:noFill/>
            <a:ln w="9525">
              <a:noFill/>
            </a:ln>
          </p:spPr>
          <p:txBody>
            <a:bodyPr anchor="t" anchorCtr="0">
              <a:spAutoFit/>
            </a:bodyPr>
            <a:p>
              <a:pPr algn="ctr">
                <a:spcBef>
                  <a:spcPct val="50000"/>
                </a:spcBef>
              </a:pPr>
              <a:r>
                <a:rPr lang="en-US" altLang="zh-CN" sz="2400" dirty="0">
                  <a:latin typeface="Tahoma" panose="020B0604030504040204" charset="0"/>
                  <a:ea typeface="宋体" panose="02010600030101010101" pitchFamily="2" charset="-122"/>
                </a:rPr>
                <a:t>7</a:t>
              </a:r>
              <a:endParaRPr lang="en-US" altLang="zh-CN" sz="2400" dirty="0">
                <a:latin typeface="Tahoma" panose="020B0604030504040204" charset="0"/>
                <a:ea typeface="宋体" panose="02010600030101010101" pitchFamily="2" charset="-122"/>
              </a:endParaRPr>
            </a:p>
          </p:txBody>
        </p:sp>
        <p:sp>
          <p:nvSpPr>
            <p:cNvPr id="40009" name="Text Box 130"/>
            <p:cNvSpPr txBox="1"/>
            <p:nvPr/>
          </p:nvSpPr>
          <p:spPr>
            <a:xfrm>
              <a:off x="4656" y="3989"/>
              <a:ext cx="240" cy="209"/>
            </a:xfrm>
            <a:prstGeom prst="rect">
              <a:avLst/>
            </a:prstGeom>
            <a:noFill/>
            <a:ln w="9525">
              <a:noFill/>
            </a:ln>
          </p:spPr>
          <p:txBody>
            <a:bodyPr anchor="t" anchorCtr="0">
              <a:spAutoFit/>
            </a:bodyPr>
            <a:p>
              <a:pPr algn="ctr">
                <a:spcBef>
                  <a:spcPct val="50000"/>
                </a:spcBef>
              </a:pPr>
              <a:r>
                <a:rPr lang="en-US" altLang="zh-CN" sz="2400" dirty="0">
                  <a:latin typeface="Tahoma" panose="020B0604030504040204" charset="0"/>
                  <a:ea typeface="宋体" panose="02010600030101010101" pitchFamily="2" charset="-122"/>
                </a:rPr>
                <a:t>2</a:t>
              </a:r>
              <a:endParaRPr lang="en-US" altLang="zh-CN" sz="2400" dirty="0">
                <a:latin typeface="Tahoma" panose="020B0604030504040204" charset="0"/>
                <a:ea typeface="宋体" panose="02010600030101010101" pitchFamily="2" charset="-122"/>
              </a:endParaRPr>
            </a:p>
          </p:txBody>
        </p:sp>
      </p:gr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799465"/>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有向图的逆邻接表，按</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入度来</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构建</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7.2 图的</a:t>
            </a:r>
            <a:r>
              <a:rPr lang="zh-CN" altLang="en-US">
                <a:latin typeface="楷体" panose="02010609060101010101" charset="-122"/>
                <a:ea typeface="楷体" panose="02010609060101010101" charset="-122"/>
                <a:cs typeface="楷体" panose="02010609060101010101" charset="-122"/>
                <a:sym typeface="+mn-ea"/>
              </a:rPr>
              <a:t>存储</a:t>
            </a:r>
            <a:r>
              <a:rPr lang="zh-CN" altLang="en-US">
                <a:latin typeface="楷体" panose="02010609060101010101" charset="-122"/>
                <a:ea typeface="楷体" panose="02010609060101010101" charset="-122"/>
                <a:cs typeface="楷体" panose="02010609060101010101" charset="-122"/>
                <a:sym typeface="+mn-ea"/>
              </a:rPr>
              <a:t>结构</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40964" name="Group 49"/>
          <p:cNvGrpSpPr/>
          <p:nvPr/>
        </p:nvGrpSpPr>
        <p:grpSpPr>
          <a:xfrm>
            <a:off x="6743700" y="2420938"/>
            <a:ext cx="2819400" cy="2286000"/>
            <a:chOff x="3696" y="2784"/>
            <a:chExt cx="1920" cy="1536"/>
          </a:xfrm>
        </p:grpSpPr>
        <p:sp>
          <p:nvSpPr>
            <p:cNvPr id="40965" name="Line 50"/>
            <p:cNvSpPr/>
            <p:nvPr/>
          </p:nvSpPr>
          <p:spPr>
            <a:xfrm flipH="1" flipV="1">
              <a:off x="4752" y="2976"/>
              <a:ext cx="624" cy="384"/>
            </a:xfrm>
            <a:prstGeom prst="line">
              <a:avLst/>
            </a:prstGeom>
            <a:ln w="38100" cap="flat" cmpd="sng">
              <a:solidFill>
                <a:srgbClr val="009900"/>
              </a:solidFill>
              <a:prstDash val="solid"/>
              <a:round/>
              <a:headEnd type="triangle" w="med" len="med"/>
              <a:tailEnd type="none" w="med" len="med"/>
            </a:ln>
          </p:spPr>
        </p:sp>
        <p:sp>
          <p:nvSpPr>
            <p:cNvPr id="40966" name="Line 51"/>
            <p:cNvSpPr/>
            <p:nvPr/>
          </p:nvSpPr>
          <p:spPr>
            <a:xfrm>
              <a:off x="3888" y="3504"/>
              <a:ext cx="240" cy="576"/>
            </a:xfrm>
            <a:prstGeom prst="line">
              <a:avLst/>
            </a:prstGeom>
            <a:ln w="38100" cap="flat" cmpd="sng">
              <a:solidFill>
                <a:srgbClr val="009900"/>
              </a:solidFill>
              <a:prstDash val="solid"/>
              <a:round/>
              <a:headEnd type="none" w="med" len="med"/>
              <a:tailEnd type="triangle" w="med" len="med"/>
            </a:ln>
          </p:spPr>
        </p:sp>
        <p:sp>
          <p:nvSpPr>
            <p:cNvPr id="40967" name="Line 52"/>
            <p:cNvSpPr/>
            <p:nvPr/>
          </p:nvSpPr>
          <p:spPr>
            <a:xfrm flipH="1">
              <a:off x="3936" y="2928"/>
              <a:ext cx="672" cy="384"/>
            </a:xfrm>
            <a:prstGeom prst="line">
              <a:avLst/>
            </a:prstGeom>
            <a:ln w="38100" cap="flat" cmpd="sng">
              <a:solidFill>
                <a:srgbClr val="009900"/>
              </a:solidFill>
              <a:prstDash val="solid"/>
              <a:round/>
              <a:headEnd type="none" w="med" len="med"/>
              <a:tailEnd type="triangle" w="med" len="med"/>
            </a:ln>
          </p:spPr>
        </p:sp>
        <p:sp>
          <p:nvSpPr>
            <p:cNvPr id="40968" name="Line 53"/>
            <p:cNvSpPr/>
            <p:nvPr/>
          </p:nvSpPr>
          <p:spPr>
            <a:xfrm flipH="1" flipV="1">
              <a:off x="4704" y="2976"/>
              <a:ext cx="384" cy="1056"/>
            </a:xfrm>
            <a:prstGeom prst="line">
              <a:avLst/>
            </a:prstGeom>
            <a:ln w="38100" cap="flat" cmpd="sng">
              <a:solidFill>
                <a:srgbClr val="009900"/>
              </a:solidFill>
              <a:prstDash val="solid"/>
              <a:round/>
              <a:headEnd type="triangle" w="med" len="med"/>
              <a:tailEnd type="none" w="med" len="med"/>
            </a:ln>
          </p:spPr>
        </p:sp>
        <p:sp>
          <p:nvSpPr>
            <p:cNvPr id="40969" name="Line 54"/>
            <p:cNvSpPr/>
            <p:nvPr/>
          </p:nvSpPr>
          <p:spPr>
            <a:xfrm flipH="1">
              <a:off x="4272" y="4176"/>
              <a:ext cx="720" cy="0"/>
            </a:xfrm>
            <a:prstGeom prst="line">
              <a:avLst/>
            </a:prstGeom>
            <a:ln w="38100" cap="flat" cmpd="sng">
              <a:solidFill>
                <a:srgbClr val="009900"/>
              </a:solidFill>
              <a:prstDash val="solid"/>
              <a:round/>
              <a:headEnd type="none" w="med" len="med"/>
              <a:tailEnd type="triangle" w="med" len="med"/>
            </a:ln>
          </p:spPr>
        </p:sp>
        <p:sp>
          <p:nvSpPr>
            <p:cNvPr id="40970" name="Line 55"/>
            <p:cNvSpPr/>
            <p:nvPr/>
          </p:nvSpPr>
          <p:spPr>
            <a:xfrm flipH="1">
              <a:off x="4272" y="3552"/>
              <a:ext cx="1152" cy="576"/>
            </a:xfrm>
            <a:prstGeom prst="line">
              <a:avLst/>
            </a:prstGeom>
            <a:ln w="38100" cap="flat" cmpd="sng">
              <a:solidFill>
                <a:srgbClr val="009900"/>
              </a:solidFill>
              <a:prstDash val="solid"/>
              <a:round/>
              <a:headEnd type="triangle" w="med" len="med"/>
              <a:tailEnd type="none" w="med" len="med"/>
            </a:ln>
          </p:spPr>
        </p:sp>
        <p:sp>
          <p:nvSpPr>
            <p:cNvPr id="40971" name="Oval 56"/>
            <p:cNvSpPr/>
            <p:nvPr/>
          </p:nvSpPr>
          <p:spPr>
            <a:xfrm>
              <a:off x="3696" y="326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40972" name="Oval 57"/>
            <p:cNvSpPr/>
            <p:nvPr/>
          </p:nvSpPr>
          <p:spPr>
            <a:xfrm>
              <a:off x="4992"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40973" name="Oval 58"/>
            <p:cNvSpPr/>
            <p:nvPr/>
          </p:nvSpPr>
          <p:spPr>
            <a:xfrm>
              <a:off x="4032"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sp>
          <p:nvSpPr>
            <p:cNvPr id="40974" name="Oval 59"/>
            <p:cNvSpPr/>
            <p:nvPr/>
          </p:nvSpPr>
          <p:spPr>
            <a:xfrm>
              <a:off x="5328" y="3312"/>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sp>
          <p:nvSpPr>
            <p:cNvPr id="40975" name="Oval 60"/>
            <p:cNvSpPr/>
            <p:nvPr/>
          </p:nvSpPr>
          <p:spPr>
            <a:xfrm>
              <a:off x="4512" y="2784"/>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grpSp>
      <p:graphicFrame>
        <p:nvGraphicFramePr>
          <p:cNvPr id="38918" name="表格 38917"/>
          <p:cNvGraphicFramePr/>
          <p:nvPr>
            <p:custDataLst>
              <p:tags r:id="rId1"/>
            </p:custDataLst>
          </p:nvPr>
        </p:nvGraphicFramePr>
        <p:xfrm>
          <a:off x="1919288" y="2205038"/>
          <a:ext cx="1295400" cy="2971800"/>
        </p:xfrm>
        <a:graphic>
          <a:graphicData uri="http://schemas.openxmlformats.org/drawingml/2006/table">
            <a:tbl>
              <a:tblPr/>
              <a:tblGrid>
                <a:gridCol w="739775"/>
                <a:gridCol w="555625"/>
              </a:tblGrid>
              <a:tr h="593725">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A</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595313">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B</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593725">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C</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595312">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D</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593725">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E</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bl>
          </a:graphicData>
        </a:graphic>
      </p:graphicFrame>
      <p:grpSp>
        <p:nvGrpSpPr>
          <p:cNvPr id="40996" name="Group 81"/>
          <p:cNvGrpSpPr/>
          <p:nvPr/>
        </p:nvGrpSpPr>
        <p:grpSpPr>
          <a:xfrm>
            <a:off x="3062288" y="2814638"/>
            <a:ext cx="3048000" cy="2289175"/>
            <a:chOff x="1104" y="2688"/>
            <a:chExt cx="1920" cy="1442"/>
          </a:xfrm>
        </p:grpSpPr>
        <p:grpSp>
          <p:nvGrpSpPr>
            <p:cNvPr id="40997" name="Group 82"/>
            <p:cNvGrpSpPr/>
            <p:nvPr/>
          </p:nvGrpSpPr>
          <p:grpSpPr>
            <a:xfrm>
              <a:off x="2400" y="3072"/>
              <a:ext cx="624" cy="290"/>
              <a:chOff x="2660" y="2064"/>
              <a:chExt cx="1516" cy="290"/>
            </a:xfrm>
          </p:grpSpPr>
          <p:sp>
            <p:nvSpPr>
              <p:cNvPr id="40998" name="Text Box 83"/>
              <p:cNvSpPr txBox="1"/>
              <p:nvPr/>
            </p:nvSpPr>
            <p:spPr>
              <a:xfrm>
                <a:off x="2660" y="2064"/>
                <a:ext cx="889"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3</a:t>
                </a:r>
                <a:endParaRPr lang="en-US" altLang="zh-CN" sz="2400" dirty="0">
                  <a:latin typeface="Tahoma" panose="020B0604030504040204" charset="0"/>
                  <a:ea typeface="宋体" panose="02010600030101010101" pitchFamily="2" charset="-122"/>
                </a:endParaRPr>
              </a:p>
            </p:txBody>
          </p:sp>
          <p:sp>
            <p:nvSpPr>
              <p:cNvPr id="40999" name="Text Box 84"/>
              <p:cNvSpPr txBox="1"/>
              <p:nvPr/>
            </p:nvSpPr>
            <p:spPr>
              <a:xfrm>
                <a:off x="3549" y="2064"/>
                <a:ext cx="627"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a:t>
                </a:r>
                <a:endParaRPr lang="en-US" altLang="zh-CN" sz="2400" dirty="0">
                  <a:latin typeface="Tahoma" panose="020B0604030504040204" charset="0"/>
                  <a:ea typeface="宋体" panose="02010600030101010101" pitchFamily="2" charset="-122"/>
                </a:endParaRPr>
              </a:p>
            </p:txBody>
          </p:sp>
        </p:grpSp>
        <p:sp>
          <p:nvSpPr>
            <p:cNvPr id="41000" name="Line 85"/>
            <p:cNvSpPr/>
            <p:nvPr/>
          </p:nvSpPr>
          <p:spPr>
            <a:xfrm>
              <a:off x="2016" y="3264"/>
              <a:ext cx="384" cy="0"/>
            </a:xfrm>
            <a:prstGeom prst="line">
              <a:avLst/>
            </a:prstGeom>
            <a:ln w="28575" cap="flat" cmpd="sng">
              <a:solidFill>
                <a:srgbClr val="00FF00"/>
              </a:solidFill>
              <a:prstDash val="solid"/>
              <a:miter/>
              <a:headEnd type="none" w="med" len="med"/>
              <a:tailEnd type="triangle" w="med" len="med"/>
            </a:ln>
          </p:spPr>
        </p:sp>
        <p:grpSp>
          <p:nvGrpSpPr>
            <p:cNvPr id="41001" name="Group 86"/>
            <p:cNvGrpSpPr/>
            <p:nvPr/>
          </p:nvGrpSpPr>
          <p:grpSpPr>
            <a:xfrm>
              <a:off x="1488" y="3840"/>
              <a:ext cx="624" cy="290"/>
              <a:chOff x="2660" y="2064"/>
              <a:chExt cx="1516" cy="290"/>
            </a:xfrm>
          </p:grpSpPr>
          <p:sp>
            <p:nvSpPr>
              <p:cNvPr id="41002" name="Text Box 87"/>
              <p:cNvSpPr txBox="1"/>
              <p:nvPr/>
            </p:nvSpPr>
            <p:spPr>
              <a:xfrm>
                <a:off x="2660" y="2064"/>
                <a:ext cx="889"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0</a:t>
                </a:r>
                <a:endParaRPr lang="en-US" altLang="zh-CN" sz="2400" dirty="0">
                  <a:latin typeface="Tahoma" panose="020B0604030504040204" charset="0"/>
                  <a:ea typeface="宋体" panose="02010600030101010101" pitchFamily="2" charset="-122"/>
                </a:endParaRPr>
              </a:p>
            </p:txBody>
          </p:sp>
          <p:sp>
            <p:nvSpPr>
              <p:cNvPr id="41003" name="Text Box 88"/>
              <p:cNvSpPr txBox="1"/>
              <p:nvPr/>
            </p:nvSpPr>
            <p:spPr>
              <a:xfrm>
                <a:off x="3549" y="2064"/>
                <a:ext cx="627"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endParaRPr lang="zh-CN" altLang="zh-CN" sz="2400" dirty="0">
                  <a:latin typeface="Tahoma" panose="020B0604030504040204" charset="0"/>
                  <a:ea typeface="宋体" panose="02010600030101010101" pitchFamily="2" charset="-122"/>
                </a:endParaRPr>
              </a:p>
            </p:txBody>
          </p:sp>
        </p:grpSp>
        <p:sp>
          <p:nvSpPr>
            <p:cNvPr id="41004" name="Line 89"/>
            <p:cNvSpPr/>
            <p:nvPr/>
          </p:nvSpPr>
          <p:spPr>
            <a:xfrm>
              <a:off x="1104" y="4032"/>
              <a:ext cx="384" cy="0"/>
            </a:xfrm>
            <a:prstGeom prst="line">
              <a:avLst/>
            </a:prstGeom>
            <a:ln w="28575" cap="flat" cmpd="sng">
              <a:solidFill>
                <a:srgbClr val="00FF00"/>
              </a:solidFill>
              <a:prstDash val="solid"/>
              <a:miter/>
              <a:headEnd type="none" w="med" len="med"/>
              <a:tailEnd type="triangle" w="med" len="med"/>
            </a:ln>
          </p:spPr>
        </p:sp>
        <p:grpSp>
          <p:nvGrpSpPr>
            <p:cNvPr id="41005" name="Group 90"/>
            <p:cNvGrpSpPr/>
            <p:nvPr/>
          </p:nvGrpSpPr>
          <p:grpSpPr>
            <a:xfrm>
              <a:off x="2400" y="3840"/>
              <a:ext cx="624" cy="290"/>
              <a:chOff x="2660" y="2064"/>
              <a:chExt cx="1516" cy="290"/>
            </a:xfrm>
          </p:grpSpPr>
          <p:sp>
            <p:nvSpPr>
              <p:cNvPr id="41006" name="Text Box 91"/>
              <p:cNvSpPr txBox="1"/>
              <p:nvPr/>
            </p:nvSpPr>
            <p:spPr>
              <a:xfrm>
                <a:off x="2660" y="2064"/>
                <a:ext cx="889"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2</a:t>
                </a:r>
                <a:endParaRPr lang="en-US" altLang="zh-CN" sz="2400" dirty="0">
                  <a:latin typeface="Tahoma" panose="020B0604030504040204" charset="0"/>
                  <a:ea typeface="宋体" panose="02010600030101010101" pitchFamily="2" charset="-122"/>
                </a:endParaRPr>
              </a:p>
            </p:txBody>
          </p:sp>
          <p:sp>
            <p:nvSpPr>
              <p:cNvPr id="41007" name="Text Box 92"/>
              <p:cNvSpPr txBox="1"/>
              <p:nvPr/>
            </p:nvSpPr>
            <p:spPr>
              <a:xfrm>
                <a:off x="3549" y="2064"/>
                <a:ext cx="627"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a:t>
                </a:r>
                <a:endParaRPr lang="en-US" altLang="zh-CN" sz="2400" dirty="0">
                  <a:latin typeface="Tahoma" panose="020B0604030504040204" charset="0"/>
                  <a:ea typeface="宋体" panose="02010600030101010101" pitchFamily="2" charset="-122"/>
                </a:endParaRPr>
              </a:p>
            </p:txBody>
          </p:sp>
        </p:grpSp>
        <p:sp>
          <p:nvSpPr>
            <p:cNvPr id="41008" name="Line 93"/>
            <p:cNvSpPr/>
            <p:nvPr/>
          </p:nvSpPr>
          <p:spPr>
            <a:xfrm>
              <a:off x="2016" y="4032"/>
              <a:ext cx="384" cy="0"/>
            </a:xfrm>
            <a:prstGeom prst="line">
              <a:avLst/>
            </a:prstGeom>
            <a:ln w="28575" cap="flat" cmpd="sng">
              <a:solidFill>
                <a:srgbClr val="00FF00"/>
              </a:solidFill>
              <a:prstDash val="solid"/>
              <a:miter/>
              <a:headEnd type="none" w="med" len="med"/>
              <a:tailEnd type="triangle" w="med" len="med"/>
            </a:ln>
          </p:spPr>
        </p:sp>
        <p:grpSp>
          <p:nvGrpSpPr>
            <p:cNvPr id="41009" name="Group 94"/>
            <p:cNvGrpSpPr/>
            <p:nvPr/>
          </p:nvGrpSpPr>
          <p:grpSpPr>
            <a:xfrm>
              <a:off x="1488" y="2688"/>
              <a:ext cx="624" cy="290"/>
              <a:chOff x="2660" y="2064"/>
              <a:chExt cx="1516" cy="290"/>
            </a:xfrm>
          </p:grpSpPr>
          <p:sp>
            <p:nvSpPr>
              <p:cNvPr id="41010" name="Text Box 95"/>
              <p:cNvSpPr txBox="1"/>
              <p:nvPr/>
            </p:nvSpPr>
            <p:spPr>
              <a:xfrm>
                <a:off x="2660" y="2064"/>
                <a:ext cx="889"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0</a:t>
                </a:r>
                <a:endParaRPr lang="en-US" altLang="zh-CN" sz="2400" dirty="0">
                  <a:latin typeface="Tahoma" panose="020B0604030504040204" charset="0"/>
                  <a:ea typeface="宋体" panose="02010600030101010101" pitchFamily="2" charset="-122"/>
                </a:endParaRPr>
              </a:p>
            </p:txBody>
          </p:sp>
          <p:sp>
            <p:nvSpPr>
              <p:cNvPr id="41011" name="Text Box 96"/>
              <p:cNvSpPr txBox="1"/>
              <p:nvPr/>
            </p:nvSpPr>
            <p:spPr>
              <a:xfrm>
                <a:off x="3549" y="2064"/>
                <a:ext cx="627"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a:t>
                </a:r>
                <a:endParaRPr lang="en-US" altLang="zh-CN" sz="2400" dirty="0">
                  <a:latin typeface="Tahoma" panose="020B0604030504040204" charset="0"/>
                  <a:ea typeface="宋体" panose="02010600030101010101" pitchFamily="2" charset="-122"/>
                </a:endParaRPr>
              </a:p>
            </p:txBody>
          </p:sp>
        </p:grpSp>
        <p:sp>
          <p:nvSpPr>
            <p:cNvPr id="41012" name="Line 97"/>
            <p:cNvSpPr/>
            <p:nvPr/>
          </p:nvSpPr>
          <p:spPr>
            <a:xfrm>
              <a:off x="1104" y="2880"/>
              <a:ext cx="384" cy="0"/>
            </a:xfrm>
            <a:prstGeom prst="line">
              <a:avLst/>
            </a:prstGeom>
            <a:ln w="28575" cap="flat" cmpd="sng">
              <a:solidFill>
                <a:srgbClr val="00FF00"/>
              </a:solidFill>
              <a:prstDash val="solid"/>
              <a:miter/>
              <a:headEnd type="none" w="med" len="med"/>
              <a:tailEnd type="triangle" w="med" len="med"/>
            </a:ln>
          </p:spPr>
        </p:sp>
        <p:grpSp>
          <p:nvGrpSpPr>
            <p:cNvPr id="41013" name="Group 98"/>
            <p:cNvGrpSpPr/>
            <p:nvPr/>
          </p:nvGrpSpPr>
          <p:grpSpPr>
            <a:xfrm>
              <a:off x="1488" y="3072"/>
              <a:ext cx="624" cy="290"/>
              <a:chOff x="2660" y="2064"/>
              <a:chExt cx="1516" cy="290"/>
            </a:xfrm>
          </p:grpSpPr>
          <p:sp>
            <p:nvSpPr>
              <p:cNvPr id="41014" name="Text Box 99"/>
              <p:cNvSpPr txBox="1"/>
              <p:nvPr/>
            </p:nvSpPr>
            <p:spPr>
              <a:xfrm>
                <a:off x="2660" y="2064"/>
                <a:ext cx="889"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1</a:t>
                </a:r>
                <a:endParaRPr lang="en-US" altLang="zh-CN" sz="2400" dirty="0">
                  <a:latin typeface="Tahoma" panose="020B0604030504040204" charset="0"/>
                  <a:ea typeface="宋体" panose="02010600030101010101" pitchFamily="2" charset="-122"/>
                </a:endParaRPr>
              </a:p>
            </p:txBody>
          </p:sp>
          <p:sp>
            <p:nvSpPr>
              <p:cNvPr id="41015" name="Text Box 100"/>
              <p:cNvSpPr txBox="1"/>
              <p:nvPr/>
            </p:nvSpPr>
            <p:spPr>
              <a:xfrm>
                <a:off x="3549" y="2064"/>
                <a:ext cx="627"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endParaRPr lang="zh-CN" altLang="zh-CN" sz="2400" dirty="0">
                  <a:latin typeface="Tahoma" panose="020B0604030504040204" charset="0"/>
                  <a:ea typeface="宋体" panose="02010600030101010101" pitchFamily="2" charset="-122"/>
                </a:endParaRPr>
              </a:p>
            </p:txBody>
          </p:sp>
        </p:grpSp>
        <p:sp>
          <p:nvSpPr>
            <p:cNvPr id="41016" name="Line 101"/>
            <p:cNvSpPr/>
            <p:nvPr/>
          </p:nvSpPr>
          <p:spPr>
            <a:xfrm>
              <a:off x="1104" y="3264"/>
              <a:ext cx="384" cy="0"/>
            </a:xfrm>
            <a:prstGeom prst="line">
              <a:avLst/>
            </a:prstGeom>
            <a:ln w="28575" cap="flat" cmpd="sng">
              <a:solidFill>
                <a:srgbClr val="00FF00"/>
              </a:solidFill>
              <a:prstDash val="solid"/>
              <a:miter/>
              <a:headEnd type="none" w="med" len="med"/>
              <a:tailEnd type="triangle" w="med" len="med"/>
            </a:ln>
          </p:spPr>
        </p:sp>
        <p:grpSp>
          <p:nvGrpSpPr>
            <p:cNvPr id="41017" name="Group 102"/>
            <p:cNvGrpSpPr/>
            <p:nvPr/>
          </p:nvGrpSpPr>
          <p:grpSpPr>
            <a:xfrm>
              <a:off x="1488" y="3456"/>
              <a:ext cx="624" cy="290"/>
              <a:chOff x="2660" y="2064"/>
              <a:chExt cx="1516" cy="290"/>
            </a:xfrm>
          </p:grpSpPr>
          <p:sp>
            <p:nvSpPr>
              <p:cNvPr id="41018" name="Text Box 103"/>
              <p:cNvSpPr txBox="1"/>
              <p:nvPr/>
            </p:nvSpPr>
            <p:spPr>
              <a:xfrm>
                <a:off x="2660" y="2064"/>
                <a:ext cx="889"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0</a:t>
                </a:r>
                <a:endParaRPr lang="en-US" altLang="zh-CN" sz="2400" dirty="0">
                  <a:latin typeface="Tahoma" panose="020B0604030504040204" charset="0"/>
                  <a:ea typeface="宋体" panose="02010600030101010101" pitchFamily="2" charset="-122"/>
                </a:endParaRPr>
              </a:p>
            </p:txBody>
          </p:sp>
          <p:sp>
            <p:nvSpPr>
              <p:cNvPr id="41019" name="Text Box 104"/>
              <p:cNvSpPr txBox="1"/>
              <p:nvPr/>
            </p:nvSpPr>
            <p:spPr>
              <a:xfrm>
                <a:off x="3549" y="2064"/>
                <a:ext cx="627"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a:t>
                </a:r>
                <a:endParaRPr lang="en-US" altLang="zh-CN" sz="2400" dirty="0">
                  <a:latin typeface="Tahoma" panose="020B0604030504040204" charset="0"/>
                  <a:ea typeface="宋体" panose="02010600030101010101" pitchFamily="2" charset="-122"/>
                </a:endParaRPr>
              </a:p>
            </p:txBody>
          </p:sp>
        </p:grpSp>
        <p:sp>
          <p:nvSpPr>
            <p:cNvPr id="41020" name="Line 105"/>
            <p:cNvSpPr/>
            <p:nvPr/>
          </p:nvSpPr>
          <p:spPr>
            <a:xfrm>
              <a:off x="1104" y="3648"/>
              <a:ext cx="384" cy="0"/>
            </a:xfrm>
            <a:prstGeom prst="line">
              <a:avLst/>
            </a:prstGeom>
            <a:ln w="28575" cap="flat" cmpd="sng">
              <a:solidFill>
                <a:srgbClr val="00FF00"/>
              </a:solidFill>
              <a:prstDash val="solid"/>
              <a:miter/>
              <a:headEnd type="none" w="med" len="med"/>
              <a:tailEnd type="triangle" w="med" len="med"/>
            </a:ln>
          </p:spPr>
        </p:sp>
      </p:gr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邻接表的性质</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判断顶点</a:t>
            </a:r>
            <a:r>
              <a:rPr lang="en-US" altLang="zh-CN" dirty="0">
                <a:latin typeface="黑体" panose="02010609060101010101" pitchFamily="2" charset="-122"/>
                <a:ea typeface="黑体" panose="02010609060101010101" pitchFamily="2" charset="-122"/>
                <a:cs typeface="+mn-ea"/>
                <a:sym typeface="+mn-ea"/>
              </a:rPr>
              <a:t>i</a:t>
            </a:r>
            <a:r>
              <a:rPr lang="zh-CN" altLang="en-US" dirty="0">
                <a:latin typeface="黑体" panose="02010609060101010101" pitchFamily="2" charset="-122"/>
                <a:ea typeface="黑体" panose="02010609060101010101" pitchFamily="2" charset="-122"/>
                <a:cs typeface="+mn-ea"/>
                <a:sym typeface="+mn-ea"/>
              </a:rPr>
              <a:t>和顶点</a:t>
            </a:r>
            <a:r>
              <a:rPr lang="en-US" altLang="zh-CN" dirty="0">
                <a:latin typeface="黑体" panose="02010609060101010101" pitchFamily="2" charset="-122"/>
                <a:ea typeface="黑体" panose="02010609060101010101" pitchFamily="2" charset="-122"/>
                <a:cs typeface="+mn-ea"/>
                <a:sym typeface="+mn-ea"/>
              </a:rPr>
              <a:t>j</a:t>
            </a:r>
            <a:r>
              <a:rPr lang="zh-CN" altLang="en-US" dirty="0">
                <a:latin typeface="黑体" panose="02010609060101010101" pitchFamily="2" charset="-122"/>
                <a:ea typeface="黑体" panose="02010609060101010101" pitchFamily="2" charset="-122"/>
                <a:cs typeface="+mn-ea"/>
                <a:sym typeface="+mn-ea"/>
              </a:rPr>
              <a:t>是否邻接，找第</a:t>
            </a:r>
            <a:r>
              <a:rPr lang="en-US" altLang="zh-CN" dirty="0">
                <a:latin typeface="黑体" panose="02010609060101010101" pitchFamily="2" charset="-122"/>
                <a:ea typeface="黑体" panose="02010609060101010101" pitchFamily="2" charset="-122"/>
                <a:cs typeface="+mn-ea"/>
                <a:sym typeface="+mn-ea"/>
              </a:rPr>
              <a:t>i</a:t>
            </a:r>
            <a:r>
              <a:rPr lang="zh-CN" altLang="en-US" dirty="0">
                <a:latin typeface="黑体" panose="02010609060101010101" pitchFamily="2" charset="-122"/>
                <a:ea typeface="黑体" panose="02010609060101010101" pitchFamily="2" charset="-122"/>
                <a:cs typeface="+mn-ea"/>
                <a:sym typeface="+mn-ea"/>
              </a:rPr>
              <a:t>个链表是否包含下标</a:t>
            </a:r>
            <a:r>
              <a:rPr lang="en-US" altLang="zh-CN" dirty="0">
                <a:latin typeface="黑体" panose="02010609060101010101" pitchFamily="2" charset="-122"/>
                <a:ea typeface="黑体" panose="02010609060101010101" pitchFamily="2" charset="-122"/>
                <a:cs typeface="+mn-ea"/>
                <a:sym typeface="+mn-ea"/>
              </a:rPr>
              <a:t>j</a:t>
            </a:r>
            <a:endParaRPr lang="zh-CN" altLang="en-US"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对于无向图的邻接表，第i个链表中结点的个数只是顶点</a:t>
            </a:r>
            <a:r>
              <a:rPr lang="en-US" altLang="zh-CN" dirty="0">
                <a:latin typeface="黑体" panose="02010609060101010101" pitchFamily="2" charset="-122"/>
                <a:ea typeface="黑体" panose="02010609060101010101" pitchFamily="2" charset="-122"/>
                <a:cs typeface="+mn-ea"/>
                <a:sym typeface="+mn-ea"/>
              </a:rPr>
              <a:t>i</a:t>
            </a:r>
            <a:r>
              <a:rPr lang="zh-CN" altLang="en-US" dirty="0">
                <a:latin typeface="黑体" panose="02010609060101010101" pitchFamily="2" charset="-122"/>
                <a:ea typeface="黑体" panose="02010609060101010101" pitchFamily="2" charset="-122"/>
                <a:cs typeface="+mn-ea"/>
                <a:sym typeface="+mn-ea"/>
              </a:rPr>
              <a:t>的度</a:t>
            </a: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对于有向图的邻接表，第i个链表中结点的个数只是顶点</a:t>
            </a:r>
            <a:r>
              <a:rPr lang="en-US" altLang="zh-CN" sz="2400" dirty="0">
                <a:latin typeface="黑体" panose="02010609060101010101" pitchFamily="2" charset="-122"/>
                <a:ea typeface="黑体" panose="02010609060101010101" pitchFamily="2" charset="-122"/>
                <a:cs typeface="+mn-ea"/>
                <a:sym typeface="+mn-ea"/>
              </a:rPr>
              <a:t>i</a:t>
            </a:r>
            <a:r>
              <a:rPr lang="zh-CN" altLang="en-US" sz="2400" dirty="0">
                <a:latin typeface="黑体" panose="02010609060101010101" pitchFamily="2" charset="-122"/>
                <a:ea typeface="黑体" panose="02010609060101010101" pitchFamily="2" charset="-122"/>
                <a:cs typeface="+mn-ea"/>
                <a:sym typeface="+mn-ea"/>
              </a:rPr>
              <a:t>的出度；逆邻接表则表示入度</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要判定两个顶点i和j是否有边（或弧），必须搜索整个第i个和第j个链表，比不上邻接矩阵方便</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7.2 图的</a:t>
            </a:r>
            <a:r>
              <a:rPr lang="zh-CN" altLang="en-US">
                <a:latin typeface="楷体" panose="02010609060101010101" charset="-122"/>
                <a:ea typeface="楷体" panose="02010609060101010101" charset="-122"/>
                <a:cs typeface="楷体" panose="02010609060101010101" charset="-122"/>
                <a:sym typeface="+mn-ea"/>
              </a:rPr>
              <a:t>存储</a:t>
            </a:r>
            <a:r>
              <a:rPr lang="zh-CN" altLang="en-US">
                <a:latin typeface="楷体" panose="02010609060101010101" charset="-122"/>
                <a:ea typeface="楷体" panose="02010609060101010101" charset="-122"/>
                <a:cs typeface="楷体" panose="02010609060101010101" charset="-122"/>
                <a:sym typeface="+mn-ea"/>
              </a:rPr>
              <a:t>结构</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邻接矩阵与邻接表的比较</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邻接矩阵优点：直接知道两顶点间是否有连线，时间复杂度</a:t>
            </a:r>
            <a:r>
              <a:rPr lang="en-US" altLang="zh-CN" dirty="0">
                <a:latin typeface="黑体" panose="02010609060101010101" pitchFamily="2" charset="-122"/>
                <a:ea typeface="黑体" panose="02010609060101010101" pitchFamily="2" charset="-122"/>
                <a:cs typeface="+mn-ea"/>
                <a:sym typeface="+mn-ea"/>
              </a:rPr>
              <a:t>O(1)</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邻接矩阵缺点：空间复杂度</a:t>
            </a:r>
            <a:r>
              <a:rPr lang="en-US" altLang="zh-CN" dirty="0">
                <a:latin typeface="黑体" panose="02010609060101010101" pitchFamily="2" charset="-122"/>
                <a:ea typeface="黑体" panose="02010609060101010101" pitchFamily="2" charset="-122"/>
                <a:cs typeface="+mn-ea"/>
                <a:sym typeface="+mn-ea"/>
              </a:rPr>
              <a:t>O(n</a:t>
            </a:r>
            <a:r>
              <a:rPr lang="en-US" altLang="zh-CN" baseline="30000" dirty="0">
                <a:latin typeface="黑体" panose="02010609060101010101" pitchFamily="2" charset="-122"/>
                <a:ea typeface="黑体" panose="02010609060101010101" pitchFamily="2" charset="-122"/>
                <a:cs typeface="+mn-ea"/>
                <a:sym typeface="+mn-ea"/>
              </a:rPr>
              <a:t>2</a:t>
            </a:r>
            <a:r>
              <a:rPr lang="en-US" altLang="zh-CN" dirty="0">
                <a:latin typeface="黑体" panose="02010609060101010101" pitchFamily="2" charset="-122"/>
                <a:ea typeface="黑体" panose="02010609060101010101" pitchFamily="2" charset="-122"/>
                <a:cs typeface="+mn-ea"/>
                <a:sym typeface="+mn-ea"/>
              </a:rPr>
              <a:t>)</a:t>
            </a:r>
            <a:r>
              <a:rPr lang="zh-CN" altLang="en-US" dirty="0">
                <a:latin typeface="黑体" panose="02010609060101010101" pitchFamily="2" charset="-122"/>
                <a:ea typeface="黑体" panose="02010609060101010101" pitchFamily="2" charset="-122"/>
                <a:cs typeface="+mn-ea"/>
                <a:sym typeface="+mn-ea"/>
              </a:rPr>
              <a:t>，对于稀疏图会浪费空间</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邻接表优点：对于大规模图或稀疏图，节省空间，空间复杂度</a:t>
            </a:r>
            <a:r>
              <a:rPr lang="en-US" altLang="zh-CN" sz="2400" dirty="0">
                <a:latin typeface="黑体" panose="02010609060101010101" pitchFamily="2" charset="-122"/>
                <a:ea typeface="黑体" panose="02010609060101010101" pitchFamily="2" charset="-122"/>
                <a:cs typeface="+mn-ea"/>
                <a:sym typeface="+mn-ea"/>
              </a:rPr>
              <a:t>O(n+e)</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邻接表缺点：要搜索才能知道两顶点间是否邻接，时间复杂度</a:t>
            </a:r>
            <a:r>
              <a:rPr lang="en-US" altLang="zh-CN" dirty="0">
                <a:latin typeface="黑体" panose="02010609060101010101" pitchFamily="2" charset="-122"/>
                <a:ea typeface="黑体" panose="02010609060101010101" pitchFamily="2" charset="-122"/>
                <a:cs typeface="+mn-ea"/>
                <a:sym typeface="+mn-ea"/>
              </a:rPr>
              <a:t>O(e)</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7.2 图的</a:t>
            </a:r>
            <a:r>
              <a:rPr lang="zh-CN" altLang="en-US">
                <a:latin typeface="楷体" panose="02010609060101010101" charset="-122"/>
                <a:ea typeface="楷体" panose="02010609060101010101" charset="-122"/>
                <a:cs typeface="楷体" panose="02010609060101010101" charset="-122"/>
                <a:sym typeface="+mn-ea"/>
              </a:rPr>
              <a:t>存储</a:t>
            </a:r>
            <a:r>
              <a:rPr lang="zh-CN" altLang="en-US">
                <a:latin typeface="楷体" panose="02010609060101010101" charset="-122"/>
                <a:ea typeface="楷体" panose="02010609060101010101" charset="-122"/>
                <a:cs typeface="楷体" panose="02010609060101010101" charset="-122"/>
                <a:sym typeface="+mn-ea"/>
              </a:rPr>
              <a:t>结构</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1228090"/>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十字链表是有向图的另一种存储结构（</a:t>
            </a:r>
            <a:r>
              <a:rPr lang="zh-CN" altLang="en-US"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自学</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它是将有向图的邻接表和逆邻接表结合起来的一种存储结构</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7.2 图的</a:t>
            </a:r>
            <a:r>
              <a:rPr lang="zh-CN" altLang="en-US">
                <a:latin typeface="楷体" panose="02010609060101010101" charset="-122"/>
                <a:ea typeface="楷体" panose="02010609060101010101" charset="-122"/>
                <a:cs typeface="楷体" panose="02010609060101010101" charset="-122"/>
                <a:sym typeface="+mn-ea"/>
              </a:rPr>
              <a:t>存储</a:t>
            </a:r>
            <a:r>
              <a:rPr lang="zh-CN" altLang="en-US">
                <a:latin typeface="楷体" panose="02010609060101010101" charset="-122"/>
                <a:ea typeface="楷体" panose="02010609060101010101" charset="-122"/>
                <a:cs typeface="楷体" panose="02010609060101010101" charset="-122"/>
                <a:sym typeface="+mn-ea"/>
              </a:rPr>
              <a:t>结构</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8" name="组合 7"/>
          <p:cNvGrpSpPr/>
          <p:nvPr/>
        </p:nvGrpSpPr>
        <p:grpSpPr>
          <a:xfrm>
            <a:off x="263208" y="1988820"/>
            <a:ext cx="6672262" cy="2709545"/>
            <a:chOff x="755" y="3359"/>
            <a:chExt cx="10507" cy="4267"/>
          </a:xfrm>
        </p:grpSpPr>
        <p:sp>
          <p:nvSpPr>
            <p:cNvPr id="5" name="文本框 4"/>
            <p:cNvSpPr txBox="1"/>
            <p:nvPr/>
          </p:nvSpPr>
          <p:spPr>
            <a:xfrm>
              <a:off x="1662" y="5059"/>
              <a:ext cx="9600" cy="2567"/>
            </a:xfrm>
            <a:prstGeom prst="rect">
              <a:avLst/>
            </a:prstGeom>
          </p:spPr>
          <p:txBody>
            <a:bodyPr vert="horz" wrap="square" lIns="91440" tIns="45720" rIns="91440" bIns="45720" rtlCol="0" anchor="t">
              <a:spAutoFit/>
            </a:bodyPr>
            <a:p>
              <a:pPr lvl="1" algn="l" eaLnBrk="1" hangingPunct="1">
                <a:buClrTx/>
                <a:buSzTx/>
                <a:buChar char="•"/>
              </a:pPr>
              <a:r>
                <a:rPr lang="zh-CN" altLang="en-US" sz="2000" dirty="0">
                  <a:latin typeface="黑体" panose="02010609060101010101" pitchFamily="2" charset="-122"/>
                  <a:ea typeface="黑体" panose="02010609060101010101" pitchFamily="2" charset="-122"/>
                  <a:cs typeface="+mn-ea"/>
                  <a:sym typeface="+mn-ea"/>
                </a:rPr>
                <a:t>tailvex;// 弧尾顶点的位置</a:t>
              </a:r>
              <a:endParaRPr lang="zh-CN" altLang="en-US" sz="20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000" dirty="0">
                  <a:latin typeface="黑体" panose="02010609060101010101" pitchFamily="2" charset="-122"/>
                  <a:ea typeface="黑体" panose="02010609060101010101" pitchFamily="2" charset="-122"/>
                  <a:cs typeface="+mn-ea"/>
                  <a:sym typeface="+mn-ea"/>
                </a:rPr>
                <a:t>headvex;// 弧头顶点的位置</a:t>
              </a:r>
              <a:endParaRPr lang="zh-CN" altLang="en-US" sz="20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000" dirty="0">
                  <a:latin typeface="黑体" panose="02010609060101010101" pitchFamily="2" charset="-122"/>
                  <a:ea typeface="黑体" panose="02010609060101010101" pitchFamily="2" charset="-122"/>
                  <a:cs typeface="+mn-ea"/>
                  <a:sym typeface="+mn-ea"/>
                </a:rPr>
                <a:t>hlink;  // 指向弧头相同的下一条弧</a:t>
              </a:r>
              <a:endParaRPr lang="zh-CN" altLang="en-US" sz="20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000" dirty="0">
                  <a:latin typeface="黑体" panose="02010609060101010101" pitchFamily="2" charset="-122"/>
                  <a:ea typeface="黑体" panose="02010609060101010101" pitchFamily="2" charset="-122"/>
                  <a:cs typeface="+mn-ea"/>
                  <a:sym typeface="+mn-ea"/>
                </a:rPr>
                <a:t>tlink;  // 指向弧尾相同的下一条弧</a:t>
              </a:r>
              <a:endParaRPr lang="zh-CN" altLang="en-US" sz="20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000" dirty="0">
                  <a:latin typeface="黑体" panose="02010609060101010101" pitchFamily="2" charset="-122"/>
                  <a:ea typeface="黑体" panose="02010609060101010101" pitchFamily="2" charset="-122"/>
                  <a:cs typeface="+mn-ea"/>
                  <a:sym typeface="+mn-ea"/>
                </a:rPr>
                <a:t>info;   // 该弧相关信息的指针或权值</a:t>
              </a:r>
              <a:endParaRPr lang="zh-CN" altLang="en-US" sz="2000" dirty="0">
                <a:latin typeface="黑体" panose="02010609060101010101" pitchFamily="2" charset="-122"/>
                <a:ea typeface="黑体" panose="02010609060101010101" pitchFamily="2" charset="-122"/>
                <a:cs typeface="+mn-ea"/>
                <a:sym typeface="+mn-ea"/>
              </a:endParaRPr>
            </a:p>
          </p:txBody>
        </p:sp>
        <p:grpSp>
          <p:nvGrpSpPr>
            <p:cNvPr id="7" name="组合 6"/>
            <p:cNvGrpSpPr/>
            <p:nvPr/>
          </p:nvGrpSpPr>
          <p:grpSpPr>
            <a:xfrm>
              <a:off x="755" y="3359"/>
              <a:ext cx="10440" cy="1547"/>
              <a:chOff x="3007" y="6846"/>
              <a:chExt cx="10440" cy="1547"/>
            </a:xfrm>
          </p:grpSpPr>
          <p:grpSp>
            <p:nvGrpSpPr>
              <p:cNvPr id="47108" name="Group 4"/>
              <p:cNvGrpSpPr/>
              <p:nvPr/>
            </p:nvGrpSpPr>
            <p:grpSpPr>
              <a:xfrm>
                <a:off x="3007" y="7668"/>
                <a:ext cx="10440" cy="725"/>
                <a:chOff x="1296" y="3840"/>
                <a:chExt cx="3648" cy="290"/>
              </a:xfrm>
            </p:grpSpPr>
            <p:sp>
              <p:nvSpPr>
                <p:cNvPr id="47109" name="Text Box 5"/>
                <p:cNvSpPr txBox="1"/>
                <p:nvPr/>
              </p:nvSpPr>
              <p:spPr>
                <a:xfrm>
                  <a:off x="1296" y="3840"/>
                  <a:ext cx="768" cy="290"/>
                </a:xfrm>
                <a:prstGeom prst="rect">
                  <a:avLst/>
                </a:prstGeom>
                <a:noFill/>
                <a:ln w="25400" cap="flat" cmpd="sng">
                  <a:solidFill>
                    <a:srgbClr val="0000FF"/>
                  </a:solidFill>
                  <a:prstDash val="solid"/>
                  <a:miter/>
                  <a:headEnd type="none" w="med" len="med"/>
                  <a:tailEnd type="none" w="med" len="med"/>
                </a:ln>
              </p:spPr>
              <p:txBody>
                <a:bodyPr lIns="0" rIns="0" anchor="t" anchorCtr="0">
                  <a:spAutoFit/>
                </a:bodyPr>
                <a:p>
                  <a:pPr algn="ctr"/>
                  <a:r>
                    <a:rPr lang="en-US" altLang="zh-CN" sz="2400" dirty="0">
                      <a:latin typeface="Tahoma" panose="020B0604030504040204" charset="0"/>
                      <a:ea typeface="宋体" panose="02010600030101010101" pitchFamily="2" charset="-122"/>
                    </a:rPr>
                    <a:t>tailvex</a:t>
                  </a:r>
                  <a:endParaRPr lang="en-US" altLang="zh-CN" sz="2400" dirty="0">
                    <a:latin typeface="Tahoma" panose="020B0604030504040204" charset="0"/>
                    <a:ea typeface="宋体" panose="02010600030101010101" pitchFamily="2" charset="-122"/>
                  </a:endParaRPr>
                </a:p>
              </p:txBody>
            </p:sp>
            <p:sp>
              <p:nvSpPr>
                <p:cNvPr id="47110" name="Text Box 6"/>
                <p:cNvSpPr txBox="1"/>
                <p:nvPr/>
              </p:nvSpPr>
              <p:spPr>
                <a:xfrm>
                  <a:off x="2064" y="3840"/>
                  <a:ext cx="768" cy="290"/>
                </a:xfrm>
                <a:prstGeom prst="rect">
                  <a:avLst/>
                </a:prstGeom>
                <a:noFill/>
                <a:ln w="25400" cap="flat" cmpd="sng">
                  <a:solidFill>
                    <a:srgbClr val="0000FF"/>
                  </a:solidFill>
                  <a:prstDash val="solid"/>
                  <a:miter/>
                  <a:headEnd type="none" w="med" len="med"/>
                  <a:tailEnd type="none" w="med" len="med"/>
                </a:ln>
              </p:spPr>
              <p:txBody>
                <a:bodyPr lIns="0" rIns="0" anchor="t" anchorCtr="0">
                  <a:spAutoFit/>
                </a:bodyPr>
                <a:p>
                  <a:pPr algn="ctr"/>
                  <a:r>
                    <a:rPr lang="en-US" altLang="zh-CN" sz="2400" dirty="0">
                      <a:latin typeface="Tahoma" panose="020B0604030504040204" charset="0"/>
                      <a:ea typeface="宋体" panose="02010600030101010101" pitchFamily="2" charset="-122"/>
                    </a:rPr>
                    <a:t>headvex</a:t>
                  </a:r>
                  <a:endParaRPr lang="en-US" altLang="zh-CN" sz="2400" dirty="0">
                    <a:latin typeface="Tahoma" panose="020B0604030504040204" charset="0"/>
                    <a:ea typeface="宋体" panose="02010600030101010101" pitchFamily="2" charset="-122"/>
                  </a:endParaRPr>
                </a:p>
              </p:txBody>
            </p:sp>
            <p:sp>
              <p:nvSpPr>
                <p:cNvPr id="47111" name="Text Box 7"/>
                <p:cNvSpPr txBox="1"/>
                <p:nvPr/>
              </p:nvSpPr>
              <p:spPr>
                <a:xfrm>
                  <a:off x="2832" y="3840"/>
                  <a:ext cx="768" cy="290"/>
                </a:xfrm>
                <a:prstGeom prst="rect">
                  <a:avLst/>
                </a:prstGeom>
                <a:noFill/>
                <a:ln w="25400" cap="flat" cmpd="sng">
                  <a:solidFill>
                    <a:srgbClr val="0000FF"/>
                  </a:solidFill>
                  <a:prstDash val="solid"/>
                  <a:miter/>
                  <a:headEnd type="none" w="med" len="med"/>
                  <a:tailEnd type="none" w="med" len="med"/>
                </a:ln>
              </p:spPr>
              <p:txBody>
                <a:bodyPr lIns="0" rIns="0" anchor="t" anchorCtr="0">
                  <a:spAutoFit/>
                </a:bodyPr>
                <a:p>
                  <a:pPr algn="ctr"/>
                  <a:r>
                    <a:rPr lang="en-US" altLang="zh-CN" sz="2400" dirty="0">
                      <a:latin typeface="Tahoma" panose="020B0604030504040204" charset="0"/>
                      <a:ea typeface="宋体" panose="02010600030101010101" pitchFamily="2" charset="-122"/>
                    </a:rPr>
                    <a:t>hlink</a:t>
                  </a:r>
                  <a:endParaRPr lang="en-US" altLang="zh-CN" sz="2400" dirty="0">
                    <a:latin typeface="Tahoma" panose="020B0604030504040204" charset="0"/>
                    <a:ea typeface="宋体" panose="02010600030101010101" pitchFamily="2" charset="-122"/>
                  </a:endParaRPr>
                </a:p>
              </p:txBody>
            </p:sp>
            <p:sp>
              <p:nvSpPr>
                <p:cNvPr id="47112" name="Text Box 8"/>
                <p:cNvSpPr txBox="1"/>
                <p:nvPr/>
              </p:nvSpPr>
              <p:spPr>
                <a:xfrm>
                  <a:off x="3600" y="3840"/>
                  <a:ext cx="768" cy="290"/>
                </a:xfrm>
                <a:prstGeom prst="rect">
                  <a:avLst/>
                </a:prstGeom>
                <a:noFill/>
                <a:ln w="25400" cap="flat" cmpd="sng">
                  <a:solidFill>
                    <a:srgbClr val="0000FF"/>
                  </a:solidFill>
                  <a:prstDash val="solid"/>
                  <a:miter/>
                  <a:headEnd type="none" w="med" len="med"/>
                  <a:tailEnd type="none" w="med" len="med"/>
                </a:ln>
              </p:spPr>
              <p:txBody>
                <a:bodyPr lIns="0" rIns="0" anchor="t" anchorCtr="0">
                  <a:spAutoFit/>
                </a:bodyPr>
                <a:p>
                  <a:pPr algn="ctr"/>
                  <a:r>
                    <a:rPr lang="en-US" altLang="zh-CN" sz="2400" dirty="0">
                      <a:latin typeface="Tahoma" panose="020B0604030504040204" charset="0"/>
                      <a:ea typeface="宋体" panose="02010600030101010101" pitchFamily="2" charset="-122"/>
                    </a:rPr>
                    <a:t>tlink</a:t>
                  </a:r>
                  <a:endParaRPr lang="en-US" altLang="zh-CN" sz="2400" dirty="0">
                    <a:latin typeface="Tahoma" panose="020B0604030504040204" charset="0"/>
                    <a:ea typeface="宋体" panose="02010600030101010101" pitchFamily="2" charset="-122"/>
                  </a:endParaRPr>
                </a:p>
              </p:txBody>
            </p:sp>
            <p:sp>
              <p:nvSpPr>
                <p:cNvPr id="47113" name="Text Box 9"/>
                <p:cNvSpPr txBox="1"/>
                <p:nvPr/>
              </p:nvSpPr>
              <p:spPr>
                <a:xfrm>
                  <a:off x="4368" y="3840"/>
                  <a:ext cx="576" cy="290"/>
                </a:xfrm>
                <a:prstGeom prst="rect">
                  <a:avLst/>
                </a:prstGeom>
                <a:noFill/>
                <a:ln w="25400" cap="flat" cmpd="sng">
                  <a:solidFill>
                    <a:srgbClr val="0000FF"/>
                  </a:solidFill>
                  <a:prstDash val="solid"/>
                  <a:miter/>
                  <a:headEnd type="none" w="med" len="med"/>
                  <a:tailEnd type="none" w="med" len="med"/>
                </a:ln>
              </p:spPr>
              <p:txBody>
                <a:bodyPr lIns="0" rIns="0" anchor="t" anchorCtr="0">
                  <a:spAutoFit/>
                </a:bodyPr>
                <a:p>
                  <a:pPr algn="ctr"/>
                  <a:r>
                    <a:rPr lang="en-US" altLang="zh-CN" sz="2400" dirty="0">
                      <a:latin typeface="Tahoma" panose="020B0604030504040204" charset="0"/>
                      <a:ea typeface="宋体" panose="02010600030101010101" pitchFamily="2" charset="-122"/>
                    </a:rPr>
                    <a:t>info</a:t>
                  </a:r>
                  <a:endParaRPr lang="en-US" altLang="zh-CN" sz="2400" dirty="0">
                    <a:latin typeface="Tahoma" panose="020B0604030504040204" charset="0"/>
                    <a:ea typeface="宋体" panose="02010600030101010101" pitchFamily="2" charset="-122"/>
                  </a:endParaRPr>
                </a:p>
              </p:txBody>
            </p:sp>
          </p:grpSp>
          <p:sp>
            <p:nvSpPr>
              <p:cNvPr id="6" name="文本框 5"/>
              <p:cNvSpPr txBox="1"/>
              <p:nvPr/>
            </p:nvSpPr>
            <p:spPr>
              <a:xfrm>
                <a:off x="6183" y="6846"/>
                <a:ext cx="3681" cy="822"/>
              </a:xfrm>
              <a:prstGeom prst="rect">
                <a:avLst/>
              </a:prstGeom>
            </p:spPr>
            <p:txBody>
              <a:bodyPr vert="horz" wrap="square" lIns="91440" tIns="45720" rIns="91440" bIns="45720" rtlCol="0" anchor="t">
                <a:spAutoFit/>
              </a:bodyPr>
              <a:p>
                <a:pPr marL="0" lvl="1" indent="0" algn="l" eaLnBrk="1" hangingPunct="1">
                  <a:buClrTx/>
                  <a:buSzTx/>
                  <a:buFont typeface="Wingdings" panose="05000000000000000000" charset="0"/>
                  <a:buNone/>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弧的结点结构</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grpSp>
      </p:grpSp>
      <p:grpSp>
        <p:nvGrpSpPr>
          <p:cNvPr id="11" name="组合 10"/>
          <p:cNvGrpSpPr/>
          <p:nvPr/>
        </p:nvGrpSpPr>
        <p:grpSpPr>
          <a:xfrm>
            <a:off x="5159375" y="3933190"/>
            <a:ext cx="6762750" cy="2022475"/>
            <a:chOff x="6992" y="6534"/>
            <a:chExt cx="10650" cy="3185"/>
          </a:xfrm>
        </p:grpSpPr>
        <p:grpSp>
          <p:nvGrpSpPr>
            <p:cNvPr id="48132" name="Group 10"/>
            <p:cNvGrpSpPr/>
            <p:nvPr/>
          </p:nvGrpSpPr>
          <p:grpSpPr>
            <a:xfrm>
              <a:off x="9827" y="7396"/>
              <a:ext cx="6593" cy="725"/>
              <a:chOff x="768" y="3840"/>
              <a:chExt cx="2637" cy="290"/>
            </a:xfrm>
          </p:grpSpPr>
          <p:sp>
            <p:nvSpPr>
              <p:cNvPr id="48133" name="Text Box 11"/>
              <p:cNvSpPr txBox="1"/>
              <p:nvPr/>
            </p:nvSpPr>
            <p:spPr>
              <a:xfrm>
                <a:off x="768" y="3840"/>
                <a:ext cx="879" cy="290"/>
              </a:xfrm>
              <a:prstGeom prst="rect">
                <a:avLst/>
              </a:prstGeom>
              <a:noFill/>
              <a:ln w="25400" cap="flat" cmpd="sng">
                <a:solidFill>
                  <a:srgbClr val="0000FF"/>
                </a:solidFill>
                <a:prstDash val="solid"/>
                <a:miter/>
                <a:headEnd type="none" w="med" len="med"/>
                <a:tailEnd type="none" w="med" len="med"/>
              </a:ln>
            </p:spPr>
            <p:txBody>
              <a:bodyPr lIns="0" rIns="0" anchor="t" anchorCtr="0">
                <a:spAutoFit/>
              </a:bodyPr>
              <a:p>
                <a:pPr algn="ctr"/>
                <a:r>
                  <a:rPr lang="en-US" altLang="zh-CN" sz="2400" dirty="0">
                    <a:latin typeface="Tahoma" panose="020B0604030504040204" charset="0"/>
                    <a:ea typeface="宋体" panose="02010600030101010101" pitchFamily="2" charset="-122"/>
                  </a:rPr>
                  <a:t>data</a:t>
                </a:r>
                <a:endParaRPr lang="en-US" altLang="zh-CN" sz="2400" dirty="0">
                  <a:latin typeface="Tahoma" panose="020B0604030504040204" charset="0"/>
                  <a:ea typeface="宋体" panose="02010600030101010101" pitchFamily="2" charset="-122"/>
                </a:endParaRPr>
              </a:p>
            </p:txBody>
          </p:sp>
          <p:sp>
            <p:nvSpPr>
              <p:cNvPr id="48134" name="Text Box 12"/>
              <p:cNvSpPr txBox="1"/>
              <p:nvPr/>
            </p:nvSpPr>
            <p:spPr>
              <a:xfrm>
                <a:off x="1647" y="3840"/>
                <a:ext cx="879" cy="290"/>
              </a:xfrm>
              <a:prstGeom prst="rect">
                <a:avLst/>
              </a:prstGeom>
              <a:noFill/>
              <a:ln w="25400" cap="flat" cmpd="sng">
                <a:solidFill>
                  <a:srgbClr val="0000FF"/>
                </a:solidFill>
                <a:prstDash val="solid"/>
                <a:miter/>
                <a:headEnd type="none" w="med" len="med"/>
                <a:tailEnd type="none" w="med" len="med"/>
              </a:ln>
            </p:spPr>
            <p:txBody>
              <a:bodyPr lIns="0" rIns="0" anchor="t" anchorCtr="0">
                <a:spAutoFit/>
              </a:bodyPr>
              <a:p>
                <a:pPr algn="ctr"/>
                <a:r>
                  <a:rPr lang="en-US" altLang="zh-CN" sz="2400" dirty="0">
                    <a:latin typeface="Tahoma" panose="020B0604030504040204" charset="0"/>
                    <a:ea typeface="宋体" panose="02010600030101010101" pitchFamily="2" charset="-122"/>
                  </a:rPr>
                  <a:t>firstin</a:t>
                </a:r>
                <a:endParaRPr lang="en-US" altLang="zh-CN" sz="2400" dirty="0">
                  <a:latin typeface="Tahoma" panose="020B0604030504040204" charset="0"/>
                  <a:ea typeface="宋体" panose="02010600030101010101" pitchFamily="2" charset="-122"/>
                </a:endParaRPr>
              </a:p>
            </p:txBody>
          </p:sp>
          <p:sp>
            <p:nvSpPr>
              <p:cNvPr id="48135" name="Text Box 13"/>
              <p:cNvSpPr txBox="1"/>
              <p:nvPr/>
            </p:nvSpPr>
            <p:spPr>
              <a:xfrm>
                <a:off x="2526" y="3840"/>
                <a:ext cx="879" cy="290"/>
              </a:xfrm>
              <a:prstGeom prst="rect">
                <a:avLst/>
              </a:prstGeom>
              <a:noFill/>
              <a:ln w="25400" cap="flat" cmpd="sng">
                <a:solidFill>
                  <a:srgbClr val="0000FF"/>
                </a:solidFill>
                <a:prstDash val="solid"/>
                <a:miter/>
                <a:headEnd type="none" w="med" len="med"/>
                <a:tailEnd type="none" w="med" len="med"/>
              </a:ln>
            </p:spPr>
            <p:txBody>
              <a:bodyPr lIns="0" rIns="0" anchor="t" anchorCtr="0">
                <a:spAutoFit/>
              </a:bodyPr>
              <a:p>
                <a:pPr algn="ctr"/>
                <a:r>
                  <a:rPr lang="en-US" altLang="zh-CN" sz="2400" dirty="0">
                    <a:latin typeface="Tahoma" panose="020B0604030504040204" charset="0"/>
                    <a:ea typeface="宋体" panose="02010600030101010101" pitchFamily="2" charset="-122"/>
                  </a:rPr>
                  <a:t>firstout</a:t>
                </a:r>
                <a:endParaRPr lang="en-US" altLang="zh-CN" sz="2400" dirty="0">
                  <a:latin typeface="Tahoma" panose="020B0604030504040204" charset="0"/>
                  <a:ea typeface="宋体" panose="02010600030101010101" pitchFamily="2" charset="-122"/>
                </a:endParaRPr>
              </a:p>
            </p:txBody>
          </p:sp>
        </p:grpSp>
        <p:sp>
          <p:nvSpPr>
            <p:cNvPr id="9" name="文本框 8"/>
            <p:cNvSpPr txBox="1"/>
            <p:nvPr/>
          </p:nvSpPr>
          <p:spPr>
            <a:xfrm>
              <a:off x="11074" y="6534"/>
              <a:ext cx="4400" cy="822"/>
            </a:xfrm>
            <a:prstGeom prst="rect">
              <a:avLst/>
            </a:prstGeom>
          </p:spPr>
          <p:txBody>
            <a:bodyPr vert="horz" wrap="square" lIns="91440" tIns="45720" rIns="91440" bIns="45720" rtlCol="0" anchor="t">
              <a:spAutoFit/>
            </a:bodyPr>
            <a:p>
              <a:pPr marL="0" lvl="1" indent="0" algn="l" eaLnBrk="1" hangingPunct="1">
                <a:buClrTx/>
                <a:buSzTx/>
                <a:buFont typeface="Wingdings" panose="05000000000000000000" charset="0"/>
                <a:buNone/>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顶点的结点结构</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10" name="文本框 9"/>
            <p:cNvSpPr txBox="1"/>
            <p:nvPr/>
          </p:nvSpPr>
          <p:spPr>
            <a:xfrm>
              <a:off x="6992" y="8121"/>
              <a:ext cx="10651" cy="1598"/>
            </a:xfrm>
            <a:prstGeom prst="rect">
              <a:avLst/>
            </a:prstGeom>
          </p:spPr>
          <p:txBody>
            <a:bodyPr vert="horz" wrap="square" lIns="91440" tIns="45720" rIns="91440" bIns="45720" rtlCol="0" anchor="t">
              <a:spAutoFit/>
            </a:bodyPr>
            <a:p>
              <a:pPr marL="965200" lvl="1" indent="-508000" eaLnBrk="1" hangingPunct="1">
                <a:buClr>
                  <a:srgbClr val="000000"/>
                </a:buClr>
                <a:buFont typeface="Arial" panose="020B0604020202020204" pitchFamily="34" charset="0"/>
                <a:buChar char="•"/>
              </a:pPr>
              <a:r>
                <a:rPr lang="en-US" altLang="zh-CN" sz="2000" dirty="0">
                  <a:latin typeface="黑体" panose="02010609060101010101" pitchFamily="2" charset="-122"/>
                  <a:ea typeface="黑体" panose="02010609060101010101" pitchFamily="2" charset="-122"/>
                  <a:sym typeface="+mn-ea"/>
                </a:rPr>
                <a:t>data;    // </a:t>
              </a:r>
              <a:r>
                <a:rPr lang="zh-CN" altLang="en-US" sz="2000" dirty="0">
                  <a:latin typeface="黑体" panose="02010609060101010101" pitchFamily="2" charset="-122"/>
                  <a:ea typeface="黑体" panose="02010609060101010101" pitchFamily="2" charset="-122"/>
                  <a:sym typeface="+mn-ea"/>
                </a:rPr>
                <a:t>与顶点相关的信息</a:t>
              </a:r>
              <a:endParaRPr lang="zh-CN" altLang="en-US" sz="2000" b="0" dirty="0">
                <a:latin typeface="黑体" panose="02010609060101010101" pitchFamily="2" charset="-122"/>
                <a:ea typeface="黑体" panose="02010609060101010101" pitchFamily="2" charset="-122"/>
              </a:endParaRPr>
            </a:p>
            <a:p>
              <a:pPr marL="965200" lvl="1" indent="-508000" eaLnBrk="1" hangingPunct="1">
                <a:buClr>
                  <a:srgbClr val="000000"/>
                </a:buClr>
                <a:buFont typeface="Arial" panose="020B0604020202020204" pitchFamily="34" charset="0"/>
                <a:buChar char="•"/>
              </a:pPr>
              <a:r>
                <a:rPr lang="en-US" altLang="zh-CN" sz="2000" dirty="0">
                  <a:latin typeface="黑体" panose="02010609060101010101" pitchFamily="2" charset="-122"/>
                  <a:ea typeface="黑体" panose="02010609060101010101" pitchFamily="2" charset="-122"/>
                  <a:sym typeface="+mn-ea"/>
                </a:rPr>
                <a:t>firstin; // </a:t>
              </a:r>
              <a:r>
                <a:rPr lang="zh-CN" altLang="en-US" sz="2000" dirty="0">
                  <a:latin typeface="黑体" panose="02010609060101010101" pitchFamily="2" charset="-122"/>
                  <a:ea typeface="黑体" panose="02010609060101010101" pitchFamily="2" charset="-122"/>
                  <a:sym typeface="+mn-ea"/>
                </a:rPr>
                <a:t>指向以顶点为弧头的第一个弧结点</a:t>
              </a:r>
              <a:endParaRPr lang="zh-CN" altLang="en-US" sz="2000" b="0" dirty="0">
                <a:latin typeface="黑体" panose="02010609060101010101" pitchFamily="2" charset="-122"/>
                <a:ea typeface="黑体" panose="02010609060101010101" pitchFamily="2" charset="-122"/>
              </a:endParaRPr>
            </a:p>
            <a:p>
              <a:pPr marL="965200" lvl="1" indent="-508000" eaLnBrk="1" hangingPunct="1">
                <a:buClr>
                  <a:srgbClr val="000000"/>
                </a:buClr>
                <a:buFont typeface="Arial" panose="020B0604020202020204" pitchFamily="34" charset="0"/>
                <a:buChar char="•"/>
              </a:pPr>
              <a:r>
                <a:rPr lang="en-US" altLang="zh-CN" sz="2000" dirty="0">
                  <a:latin typeface="黑体" panose="02010609060101010101" pitchFamily="2" charset="-122"/>
                  <a:ea typeface="黑体" panose="02010609060101010101" pitchFamily="2" charset="-122"/>
                  <a:sym typeface="+mn-ea"/>
                </a:rPr>
                <a:t>firstout;// </a:t>
              </a:r>
              <a:r>
                <a:rPr lang="zh-CN" altLang="en-US" sz="2000" dirty="0">
                  <a:latin typeface="黑体" panose="02010609060101010101" pitchFamily="2" charset="-122"/>
                  <a:ea typeface="黑体" panose="02010609060101010101" pitchFamily="2" charset="-122"/>
                  <a:sym typeface="+mn-ea"/>
                </a:rPr>
                <a:t>指向以顶点为弧尾的第一个弧结点</a:t>
              </a:r>
              <a:endParaRPr lang="zh-CN" altLang="en-US" sz="2000" dirty="0">
                <a:latin typeface="黑体" panose="02010609060101010101" pitchFamily="2" charset="-122"/>
                <a:ea typeface="黑体" panose="02010609060101010101" pitchFamily="2" charset="-122"/>
                <a:sym typeface="+mn-ea"/>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718185"/>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十字链表的</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示例（</a:t>
            </a:r>
            <a:r>
              <a:rPr lang="zh-CN" altLang="en-US"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自学</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7.2 图的</a:t>
            </a:r>
            <a:r>
              <a:rPr lang="zh-CN" altLang="en-US">
                <a:latin typeface="楷体" panose="02010609060101010101" charset="-122"/>
                <a:ea typeface="楷体" panose="02010609060101010101" charset="-122"/>
                <a:cs typeface="楷体" panose="02010609060101010101" charset="-122"/>
                <a:sym typeface="+mn-ea"/>
              </a:rPr>
              <a:t>存储</a:t>
            </a:r>
            <a:r>
              <a:rPr lang="zh-CN" altLang="en-US">
                <a:latin typeface="楷体" panose="02010609060101010101" charset="-122"/>
                <a:ea typeface="楷体" panose="02010609060101010101" charset="-122"/>
                <a:cs typeface="楷体" panose="02010609060101010101" charset="-122"/>
                <a:sym typeface="+mn-ea"/>
              </a:rPr>
              <a:t>结构</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49182" name="Group 34"/>
          <p:cNvGrpSpPr/>
          <p:nvPr/>
        </p:nvGrpSpPr>
        <p:grpSpPr>
          <a:xfrm>
            <a:off x="8327708" y="2564765"/>
            <a:ext cx="2819400" cy="2286000"/>
            <a:chOff x="3696" y="2784"/>
            <a:chExt cx="1920" cy="1536"/>
          </a:xfrm>
        </p:grpSpPr>
        <p:sp>
          <p:nvSpPr>
            <p:cNvPr id="49183" name="Line 35"/>
            <p:cNvSpPr/>
            <p:nvPr/>
          </p:nvSpPr>
          <p:spPr>
            <a:xfrm flipH="1" flipV="1">
              <a:off x="4752" y="2976"/>
              <a:ext cx="624" cy="384"/>
            </a:xfrm>
            <a:prstGeom prst="line">
              <a:avLst/>
            </a:prstGeom>
            <a:ln w="38100" cap="flat" cmpd="sng">
              <a:solidFill>
                <a:srgbClr val="009900"/>
              </a:solidFill>
              <a:prstDash val="solid"/>
              <a:round/>
              <a:headEnd type="triangle" w="med" len="med"/>
              <a:tailEnd type="none" w="med" len="med"/>
            </a:ln>
          </p:spPr>
        </p:sp>
        <p:sp>
          <p:nvSpPr>
            <p:cNvPr id="49184" name="Line 36"/>
            <p:cNvSpPr/>
            <p:nvPr/>
          </p:nvSpPr>
          <p:spPr>
            <a:xfrm>
              <a:off x="3888" y="3504"/>
              <a:ext cx="240" cy="576"/>
            </a:xfrm>
            <a:prstGeom prst="line">
              <a:avLst/>
            </a:prstGeom>
            <a:ln w="38100" cap="flat" cmpd="sng">
              <a:solidFill>
                <a:srgbClr val="009900"/>
              </a:solidFill>
              <a:prstDash val="solid"/>
              <a:round/>
              <a:headEnd type="none" w="med" len="med"/>
              <a:tailEnd type="triangle" w="med" len="med"/>
            </a:ln>
          </p:spPr>
        </p:sp>
        <p:sp>
          <p:nvSpPr>
            <p:cNvPr id="49185" name="Line 37"/>
            <p:cNvSpPr/>
            <p:nvPr/>
          </p:nvSpPr>
          <p:spPr>
            <a:xfrm flipH="1">
              <a:off x="3936" y="2928"/>
              <a:ext cx="672" cy="384"/>
            </a:xfrm>
            <a:prstGeom prst="line">
              <a:avLst/>
            </a:prstGeom>
            <a:ln w="38100" cap="flat" cmpd="sng">
              <a:solidFill>
                <a:srgbClr val="009900"/>
              </a:solidFill>
              <a:prstDash val="solid"/>
              <a:round/>
              <a:headEnd type="none" w="med" len="med"/>
              <a:tailEnd type="triangle" w="med" len="med"/>
            </a:ln>
          </p:spPr>
        </p:sp>
        <p:sp>
          <p:nvSpPr>
            <p:cNvPr id="49186" name="Line 38"/>
            <p:cNvSpPr/>
            <p:nvPr/>
          </p:nvSpPr>
          <p:spPr>
            <a:xfrm flipH="1" flipV="1">
              <a:off x="4704" y="2976"/>
              <a:ext cx="384" cy="1056"/>
            </a:xfrm>
            <a:prstGeom prst="line">
              <a:avLst/>
            </a:prstGeom>
            <a:ln w="38100" cap="flat" cmpd="sng">
              <a:solidFill>
                <a:srgbClr val="009900"/>
              </a:solidFill>
              <a:prstDash val="solid"/>
              <a:round/>
              <a:headEnd type="triangle" w="med" len="med"/>
              <a:tailEnd type="none" w="med" len="med"/>
            </a:ln>
          </p:spPr>
        </p:sp>
        <p:sp>
          <p:nvSpPr>
            <p:cNvPr id="49187" name="Line 39"/>
            <p:cNvSpPr/>
            <p:nvPr/>
          </p:nvSpPr>
          <p:spPr>
            <a:xfrm flipH="1">
              <a:off x="4272" y="4176"/>
              <a:ext cx="720" cy="0"/>
            </a:xfrm>
            <a:prstGeom prst="line">
              <a:avLst/>
            </a:prstGeom>
            <a:ln w="38100" cap="flat" cmpd="sng">
              <a:solidFill>
                <a:srgbClr val="009900"/>
              </a:solidFill>
              <a:prstDash val="solid"/>
              <a:round/>
              <a:headEnd type="none" w="med" len="med"/>
              <a:tailEnd type="triangle" w="med" len="med"/>
            </a:ln>
          </p:spPr>
        </p:sp>
        <p:sp>
          <p:nvSpPr>
            <p:cNvPr id="49188" name="Line 40"/>
            <p:cNvSpPr/>
            <p:nvPr/>
          </p:nvSpPr>
          <p:spPr>
            <a:xfrm flipH="1">
              <a:off x="4272" y="3552"/>
              <a:ext cx="1152" cy="576"/>
            </a:xfrm>
            <a:prstGeom prst="line">
              <a:avLst/>
            </a:prstGeom>
            <a:ln w="38100" cap="flat" cmpd="sng">
              <a:solidFill>
                <a:srgbClr val="009900"/>
              </a:solidFill>
              <a:prstDash val="solid"/>
              <a:round/>
              <a:headEnd type="triangle" w="med" len="med"/>
              <a:tailEnd type="none" w="med" len="med"/>
            </a:ln>
          </p:spPr>
        </p:sp>
        <p:sp>
          <p:nvSpPr>
            <p:cNvPr id="49189" name="Oval 41"/>
            <p:cNvSpPr/>
            <p:nvPr/>
          </p:nvSpPr>
          <p:spPr>
            <a:xfrm>
              <a:off x="3696" y="326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B</a:t>
              </a:r>
              <a:endParaRPr lang="en-US" altLang="zh-CN" sz="2400" dirty="0">
                <a:solidFill>
                  <a:schemeClr val="bg1"/>
                </a:solidFill>
                <a:latin typeface="Tahoma" panose="020B0604030504040204" charset="0"/>
                <a:ea typeface="宋体" panose="02010600030101010101" pitchFamily="2" charset="-122"/>
              </a:endParaRPr>
            </a:p>
          </p:txBody>
        </p:sp>
        <p:sp>
          <p:nvSpPr>
            <p:cNvPr id="49190" name="Oval 42"/>
            <p:cNvSpPr/>
            <p:nvPr/>
          </p:nvSpPr>
          <p:spPr>
            <a:xfrm>
              <a:off x="4992"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D</a:t>
              </a:r>
              <a:endParaRPr lang="en-US" altLang="zh-CN" sz="2400" dirty="0">
                <a:solidFill>
                  <a:schemeClr val="bg1"/>
                </a:solidFill>
                <a:latin typeface="Tahoma" panose="020B0604030504040204" charset="0"/>
                <a:ea typeface="宋体" panose="02010600030101010101" pitchFamily="2" charset="-122"/>
              </a:endParaRPr>
            </a:p>
          </p:txBody>
        </p:sp>
        <p:sp>
          <p:nvSpPr>
            <p:cNvPr id="49191" name="Oval 43"/>
            <p:cNvSpPr/>
            <p:nvPr/>
          </p:nvSpPr>
          <p:spPr>
            <a:xfrm>
              <a:off x="4032"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C</a:t>
              </a:r>
              <a:endParaRPr lang="en-US" altLang="zh-CN" sz="2400" dirty="0">
                <a:solidFill>
                  <a:schemeClr val="bg1"/>
                </a:solidFill>
                <a:latin typeface="Tahoma" panose="020B0604030504040204" charset="0"/>
                <a:ea typeface="宋体" panose="02010600030101010101" pitchFamily="2" charset="-122"/>
              </a:endParaRPr>
            </a:p>
          </p:txBody>
        </p:sp>
        <p:sp>
          <p:nvSpPr>
            <p:cNvPr id="49192" name="Oval 44"/>
            <p:cNvSpPr/>
            <p:nvPr/>
          </p:nvSpPr>
          <p:spPr>
            <a:xfrm>
              <a:off x="5328" y="3312"/>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E</a:t>
              </a:r>
              <a:endParaRPr lang="en-US" altLang="zh-CN" sz="2400" dirty="0">
                <a:solidFill>
                  <a:schemeClr val="bg1"/>
                </a:solidFill>
                <a:latin typeface="Tahoma" panose="020B0604030504040204" charset="0"/>
                <a:ea typeface="宋体" panose="02010600030101010101" pitchFamily="2" charset="-122"/>
              </a:endParaRPr>
            </a:p>
          </p:txBody>
        </p:sp>
        <p:sp>
          <p:nvSpPr>
            <p:cNvPr id="49193" name="Oval 45"/>
            <p:cNvSpPr/>
            <p:nvPr/>
          </p:nvSpPr>
          <p:spPr>
            <a:xfrm>
              <a:off x="4512" y="2784"/>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A</a:t>
              </a:r>
              <a:endParaRPr lang="en-US" altLang="zh-CN" sz="2400" dirty="0">
                <a:solidFill>
                  <a:schemeClr val="bg1"/>
                </a:solidFill>
                <a:latin typeface="Tahoma" panose="020B0604030504040204" charset="0"/>
                <a:ea typeface="宋体" panose="02010600030101010101" pitchFamily="2" charset="-122"/>
              </a:endParaRPr>
            </a:p>
          </p:txBody>
        </p:sp>
      </p:grpSp>
      <p:graphicFrame>
        <p:nvGraphicFramePr>
          <p:cNvPr id="12" name="表格 11"/>
          <p:cNvGraphicFramePr/>
          <p:nvPr>
            <p:custDataLst>
              <p:tags r:id="rId1"/>
            </p:custDataLst>
          </p:nvPr>
        </p:nvGraphicFramePr>
        <p:xfrm>
          <a:off x="1990408" y="2116138"/>
          <a:ext cx="1219200" cy="2966720"/>
        </p:xfrm>
        <a:graphic>
          <a:graphicData uri="http://schemas.openxmlformats.org/drawingml/2006/table">
            <a:tbl>
              <a:tblPr/>
              <a:tblGrid>
                <a:gridCol w="487680"/>
                <a:gridCol w="365125"/>
                <a:gridCol w="366395"/>
              </a:tblGrid>
              <a:tr h="589280">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A</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594995">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B</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593090">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C</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595630">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D</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593725">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E</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bl>
          </a:graphicData>
        </a:graphic>
      </p:graphicFrame>
      <p:grpSp>
        <p:nvGrpSpPr>
          <p:cNvPr id="49194" name="Group 46"/>
          <p:cNvGrpSpPr/>
          <p:nvPr/>
        </p:nvGrpSpPr>
        <p:grpSpPr>
          <a:xfrm>
            <a:off x="3666808" y="2116138"/>
            <a:ext cx="1219200" cy="307975"/>
            <a:chOff x="2544" y="3168"/>
            <a:chExt cx="768" cy="194"/>
          </a:xfrm>
        </p:grpSpPr>
        <p:sp>
          <p:nvSpPr>
            <p:cNvPr id="49195" name="Text Box 47"/>
            <p:cNvSpPr txBox="1"/>
            <p:nvPr/>
          </p:nvSpPr>
          <p:spPr>
            <a:xfrm>
              <a:off x="2544" y="3168"/>
              <a:ext cx="240"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0</a:t>
              </a:r>
              <a:endParaRPr lang="en-US" altLang="zh-CN" sz="2000" dirty="0">
                <a:latin typeface="Tahoma" panose="020B0604030504040204" charset="0"/>
                <a:ea typeface="宋体" panose="02010600030101010101" pitchFamily="2" charset="-122"/>
              </a:endParaRPr>
            </a:p>
          </p:txBody>
        </p:sp>
        <p:sp>
          <p:nvSpPr>
            <p:cNvPr id="49196" name="Text Box 48"/>
            <p:cNvSpPr txBox="1"/>
            <p:nvPr/>
          </p:nvSpPr>
          <p:spPr>
            <a:xfrm>
              <a:off x="3024" y="3168"/>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a:t>
              </a:r>
              <a:endParaRPr lang="en-US" altLang="zh-CN" sz="2000" dirty="0">
                <a:latin typeface="Tahoma" panose="020B0604030504040204" charset="0"/>
                <a:ea typeface="宋体" panose="02010600030101010101" pitchFamily="2" charset="-122"/>
              </a:endParaRPr>
            </a:p>
          </p:txBody>
        </p:sp>
        <p:sp>
          <p:nvSpPr>
            <p:cNvPr id="49197" name="Text Box 49"/>
            <p:cNvSpPr txBox="1"/>
            <p:nvPr/>
          </p:nvSpPr>
          <p:spPr>
            <a:xfrm>
              <a:off x="2784" y="3168"/>
              <a:ext cx="240"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1</a:t>
              </a:r>
              <a:endParaRPr lang="en-US" altLang="zh-CN" sz="2000" dirty="0">
                <a:latin typeface="Tahoma" panose="020B0604030504040204" charset="0"/>
                <a:ea typeface="宋体" panose="02010600030101010101" pitchFamily="2" charset="-122"/>
              </a:endParaRPr>
            </a:p>
          </p:txBody>
        </p:sp>
        <p:sp>
          <p:nvSpPr>
            <p:cNvPr id="49198" name="Text Box 50"/>
            <p:cNvSpPr txBox="1"/>
            <p:nvPr/>
          </p:nvSpPr>
          <p:spPr>
            <a:xfrm>
              <a:off x="3168" y="3168"/>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endParaRPr lang="zh-CN" altLang="zh-CN" sz="2000" dirty="0">
                <a:latin typeface="Tahoma" panose="020B0604030504040204" charset="0"/>
                <a:ea typeface="宋体" panose="02010600030101010101" pitchFamily="2" charset="-122"/>
              </a:endParaRPr>
            </a:p>
          </p:txBody>
        </p:sp>
      </p:grpSp>
      <p:grpSp>
        <p:nvGrpSpPr>
          <p:cNvPr id="49199" name="Group 51"/>
          <p:cNvGrpSpPr/>
          <p:nvPr/>
        </p:nvGrpSpPr>
        <p:grpSpPr>
          <a:xfrm>
            <a:off x="5419408" y="2116138"/>
            <a:ext cx="1219200" cy="307975"/>
            <a:chOff x="2544" y="3168"/>
            <a:chExt cx="768" cy="194"/>
          </a:xfrm>
        </p:grpSpPr>
        <p:sp>
          <p:nvSpPr>
            <p:cNvPr id="49200" name="Text Box 52"/>
            <p:cNvSpPr txBox="1"/>
            <p:nvPr/>
          </p:nvSpPr>
          <p:spPr>
            <a:xfrm>
              <a:off x="2544" y="3168"/>
              <a:ext cx="240"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0</a:t>
              </a:r>
              <a:endParaRPr lang="en-US" altLang="zh-CN" sz="2000" dirty="0">
                <a:latin typeface="Tahoma" panose="020B0604030504040204" charset="0"/>
                <a:ea typeface="宋体" panose="02010600030101010101" pitchFamily="2" charset="-122"/>
              </a:endParaRPr>
            </a:p>
          </p:txBody>
        </p:sp>
        <p:sp>
          <p:nvSpPr>
            <p:cNvPr id="49201" name="Text Box 53"/>
            <p:cNvSpPr txBox="1"/>
            <p:nvPr/>
          </p:nvSpPr>
          <p:spPr>
            <a:xfrm>
              <a:off x="3024" y="3168"/>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a:t>
              </a:r>
              <a:endParaRPr lang="en-US" altLang="zh-CN" sz="2000" dirty="0">
                <a:latin typeface="Tahoma" panose="020B0604030504040204" charset="0"/>
                <a:ea typeface="宋体" panose="02010600030101010101" pitchFamily="2" charset="-122"/>
              </a:endParaRPr>
            </a:p>
          </p:txBody>
        </p:sp>
        <p:sp>
          <p:nvSpPr>
            <p:cNvPr id="49202" name="Text Box 54"/>
            <p:cNvSpPr txBox="1"/>
            <p:nvPr/>
          </p:nvSpPr>
          <p:spPr>
            <a:xfrm>
              <a:off x="2784" y="3168"/>
              <a:ext cx="240"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3</a:t>
              </a:r>
              <a:endParaRPr lang="en-US" altLang="zh-CN" sz="2000" dirty="0">
                <a:latin typeface="Tahoma" panose="020B0604030504040204" charset="0"/>
                <a:ea typeface="宋体" panose="02010600030101010101" pitchFamily="2" charset="-122"/>
              </a:endParaRPr>
            </a:p>
          </p:txBody>
        </p:sp>
        <p:sp>
          <p:nvSpPr>
            <p:cNvPr id="49203" name="Text Box 55"/>
            <p:cNvSpPr txBox="1"/>
            <p:nvPr/>
          </p:nvSpPr>
          <p:spPr>
            <a:xfrm>
              <a:off x="3168" y="3168"/>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endParaRPr lang="zh-CN" altLang="zh-CN" sz="2000" dirty="0">
                <a:latin typeface="Tahoma" panose="020B0604030504040204" charset="0"/>
                <a:ea typeface="宋体" panose="02010600030101010101" pitchFamily="2" charset="-122"/>
              </a:endParaRPr>
            </a:p>
          </p:txBody>
        </p:sp>
      </p:grpSp>
      <p:grpSp>
        <p:nvGrpSpPr>
          <p:cNvPr id="49204" name="Group 56"/>
          <p:cNvGrpSpPr/>
          <p:nvPr/>
        </p:nvGrpSpPr>
        <p:grpSpPr>
          <a:xfrm>
            <a:off x="7172008" y="2116138"/>
            <a:ext cx="1219200" cy="307975"/>
            <a:chOff x="2544" y="3168"/>
            <a:chExt cx="768" cy="194"/>
          </a:xfrm>
        </p:grpSpPr>
        <p:sp>
          <p:nvSpPr>
            <p:cNvPr id="49205" name="Text Box 57"/>
            <p:cNvSpPr txBox="1"/>
            <p:nvPr/>
          </p:nvSpPr>
          <p:spPr>
            <a:xfrm>
              <a:off x="2544" y="3168"/>
              <a:ext cx="240"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0</a:t>
              </a:r>
              <a:endParaRPr lang="en-US" altLang="zh-CN" sz="2000" dirty="0">
                <a:latin typeface="Tahoma" panose="020B0604030504040204" charset="0"/>
                <a:ea typeface="宋体" panose="02010600030101010101" pitchFamily="2" charset="-122"/>
              </a:endParaRPr>
            </a:p>
          </p:txBody>
        </p:sp>
        <p:sp>
          <p:nvSpPr>
            <p:cNvPr id="49206" name="Text Box 58"/>
            <p:cNvSpPr txBox="1"/>
            <p:nvPr/>
          </p:nvSpPr>
          <p:spPr>
            <a:xfrm>
              <a:off x="3024" y="3168"/>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a:t>
              </a:r>
              <a:endParaRPr lang="en-US" altLang="zh-CN" sz="2000" dirty="0">
                <a:latin typeface="Tahoma" panose="020B0604030504040204" charset="0"/>
                <a:ea typeface="宋体" panose="02010600030101010101" pitchFamily="2" charset="-122"/>
              </a:endParaRPr>
            </a:p>
          </p:txBody>
        </p:sp>
        <p:sp>
          <p:nvSpPr>
            <p:cNvPr id="49207" name="Text Box 59"/>
            <p:cNvSpPr txBox="1"/>
            <p:nvPr/>
          </p:nvSpPr>
          <p:spPr>
            <a:xfrm>
              <a:off x="2784" y="3168"/>
              <a:ext cx="240"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4</a:t>
              </a:r>
              <a:endParaRPr lang="en-US" altLang="zh-CN" sz="2000" dirty="0">
                <a:latin typeface="Tahoma" panose="020B0604030504040204" charset="0"/>
                <a:ea typeface="宋体" panose="02010600030101010101" pitchFamily="2" charset="-122"/>
              </a:endParaRPr>
            </a:p>
          </p:txBody>
        </p:sp>
        <p:sp>
          <p:nvSpPr>
            <p:cNvPr id="49208" name="Text Box 60"/>
            <p:cNvSpPr txBox="1"/>
            <p:nvPr/>
          </p:nvSpPr>
          <p:spPr>
            <a:xfrm>
              <a:off x="3168" y="3168"/>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a:t>
              </a:r>
              <a:endParaRPr lang="en-US" altLang="zh-CN" sz="2000" dirty="0">
                <a:latin typeface="Tahoma" panose="020B0604030504040204" charset="0"/>
                <a:ea typeface="宋体" panose="02010600030101010101" pitchFamily="2" charset="-122"/>
              </a:endParaRPr>
            </a:p>
          </p:txBody>
        </p:sp>
      </p:grpSp>
      <p:grpSp>
        <p:nvGrpSpPr>
          <p:cNvPr id="49209" name="Group 61"/>
          <p:cNvGrpSpPr/>
          <p:nvPr/>
        </p:nvGrpSpPr>
        <p:grpSpPr>
          <a:xfrm>
            <a:off x="3666808" y="2954338"/>
            <a:ext cx="1219200" cy="307975"/>
            <a:chOff x="2544" y="3168"/>
            <a:chExt cx="768" cy="194"/>
          </a:xfrm>
        </p:grpSpPr>
        <p:sp>
          <p:nvSpPr>
            <p:cNvPr id="49210" name="Text Box 62"/>
            <p:cNvSpPr txBox="1"/>
            <p:nvPr/>
          </p:nvSpPr>
          <p:spPr>
            <a:xfrm>
              <a:off x="2544" y="3168"/>
              <a:ext cx="240"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1</a:t>
              </a:r>
              <a:endParaRPr lang="en-US" altLang="zh-CN" sz="2000" dirty="0">
                <a:latin typeface="Tahoma" panose="020B0604030504040204" charset="0"/>
                <a:ea typeface="宋体" panose="02010600030101010101" pitchFamily="2" charset="-122"/>
              </a:endParaRPr>
            </a:p>
          </p:txBody>
        </p:sp>
        <p:sp>
          <p:nvSpPr>
            <p:cNvPr id="49211" name="Text Box 63"/>
            <p:cNvSpPr txBox="1"/>
            <p:nvPr/>
          </p:nvSpPr>
          <p:spPr>
            <a:xfrm>
              <a:off x="3024" y="3168"/>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endParaRPr lang="zh-CN" altLang="zh-CN" sz="2000" dirty="0">
                <a:latin typeface="Tahoma" panose="020B0604030504040204" charset="0"/>
                <a:ea typeface="宋体" panose="02010600030101010101" pitchFamily="2" charset="-122"/>
              </a:endParaRPr>
            </a:p>
          </p:txBody>
        </p:sp>
        <p:sp>
          <p:nvSpPr>
            <p:cNvPr id="49212" name="Text Box 64"/>
            <p:cNvSpPr txBox="1"/>
            <p:nvPr/>
          </p:nvSpPr>
          <p:spPr>
            <a:xfrm>
              <a:off x="2784" y="3168"/>
              <a:ext cx="240"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2</a:t>
              </a:r>
              <a:endParaRPr lang="en-US" altLang="zh-CN" sz="2000" dirty="0">
                <a:latin typeface="Tahoma" panose="020B0604030504040204" charset="0"/>
                <a:ea typeface="宋体" panose="02010600030101010101" pitchFamily="2" charset="-122"/>
              </a:endParaRPr>
            </a:p>
          </p:txBody>
        </p:sp>
        <p:sp>
          <p:nvSpPr>
            <p:cNvPr id="49213" name="Text Box 65"/>
            <p:cNvSpPr txBox="1"/>
            <p:nvPr/>
          </p:nvSpPr>
          <p:spPr>
            <a:xfrm>
              <a:off x="3168" y="3168"/>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a:t>
              </a:r>
              <a:endParaRPr lang="en-US" altLang="zh-CN" sz="2000" dirty="0">
                <a:latin typeface="Tahoma" panose="020B0604030504040204" charset="0"/>
                <a:ea typeface="宋体" panose="02010600030101010101" pitchFamily="2" charset="-122"/>
              </a:endParaRPr>
            </a:p>
          </p:txBody>
        </p:sp>
      </p:grpSp>
      <p:grpSp>
        <p:nvGrpSpPr>
          <p:cNvPr id="49214" name="Group 66"/>
          <p:cNvGrpSpPr/>
          <p:nvPr/>
        </p:nvGrpSpPr>
        <p:grpSpPr>
          <a:xfrm>
            <a:off x="3666808" y="3563938"/>
            <a:ext cx="1219200" cy="307975"/>
            <a:chOff x="2544" y="3168"/>
            <a:chExt cx="768" cy="194"/>
          </a:xfrm>
        </p:grpSpPr>
        <p:sp>
          <p:nvSpPr>
            <p:cNvPr id="49215" name="Text Box 67"/>
            <p:cNvSpPr txBox="1"/>
            <p:nvPr/>
          </p:nvSpPr>
          <p:spPr>
            <a:xfrm>
              <a:off x="2544" y="3168"/>
              <a:ext cx="240"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2</a:t>
              </a:r>
              <a:endParaRPr lang="en-US" altLang="zh-CN" sz="2000" dirty="0">
                <a:latin typeface="Tahoma" panose="020B0604030504040204" charset="0"/>
                <a:ea typeface="宋体" panose="02010600030101010101" pitchFamily="2" charset="-122"/>
              </a:endParaRPr>
            </a:p>
          </p:txBody>
        </p:sp>
        <p:sp>
          <p:nvSpPr>
            <p:cNvPr id="49216" name="Text Box 68"/>
            <p:cNvSpPr txBox="1"/>
            <p:nvPr/>
          </p:nvSpPr>
          <p:spPr>
            <a:xfrm>
              <a:off x="3024" y="3168"/>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endParaRPr lang="zh-CN" altLang="zh-CN" sz="2000" dirty="0">
                <a:latin typeface="Tahoma" panose="020B0604030504040204" charset="0"/>
                <a:ea typeface="宋体" panose="02010600030101010101" pitchFamily="2" charset="-122"/>
              </a:endParaRPr>
            </a:p>
          </p:txBody>
        </p:sp>
        <p:sp>
          <p:nvSpPr>
            <p:cNvPr id="49217" name="Text Box 69"/>
            <p:cNvSpPr txBox="1"/>
            <p:nvPr/>
          </p:nvSpPr>
          <p:spPr>
            <a:xfrm>
              <a:off x="2784" y="3168"/>
              <a:ext cx="240"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4</a:t>
              </a:r>
              <a:endParaRPr lang="en-US" altLang="zh-CN" sz="2000" dirty="0">
                <a:latin typeface="Tahoma" panose="020B0604030504040204" charset="0"/>
                <a:ea typeface="宋体" panose="02010600030101010101" pitchFamily="2" charset="-122"/>
              </a:endParaRPr>
            </a:p>
          </p:txBody>
        </p:sp>
        <p:sp>
          <p:nvSpPr>
            <p:cNvPr id="49218" name="Text Box 70"/>
            <p:cNvSpPr txBox="1"/>
            <p:nvPr/>
          </p:nvSpPr>
          <p:spPr>
            <a:xfrm>
              <a:off x="3168" y="3168"/>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a:t>
              </a:r>
              <a:endParaRPr lang="en-US" altLang="zh-CN" sz="2000" dirty="0">
                <a:latin typeface="Tahoma" panose="020B0604030504040204" charset="0"/>
                <a:ea typeface="宋体" panose="02010600030101010101" pitchFamily="2" charset="-122"/>
              </a:endParaRPr>
            </a:p>
          </p:txBody>
        </p:sp>
      </p:grpSp>
      <p:grpSp>
        <p:nvGrpSpPr>
          <p:cNvPr id="49219" name="Group 71"/>
          <p:cNvGrpSpPr/>
          <p:nvPr/>
        </p:nvGrpSpPr>
        <p:grpSpPr>
          <a:xfrm>
            <a:off x="3666808" y="4249738"/>
            <a:ext cx="1219200" cy="307975"/>
            <a:chOff x="2544" y="3168"/>
            <a:chExt cx="768" cy="194"/>
          </a:xfrm>
        </p:grpSpPr>
        <p:sp>
          <p:nvSpPr>
            <p:cNvPr id="49220" name="Text Box 72"/>
            <p:cNvSpPr txBox="1"/>
            <p:nvPr/>
          </p:nvSpPr>
          <p:spPr>
            <a:xfrm>
              <a:off x="2544" y="3168"/>
              <a:ext cx="240"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3</a:t>
              </a:r>
              <a:endParaRPr lang="en-US" altLang="zh-CN" sz="2000" dirty="0">
                <a:latin typeface="Tahoma" panose="020B0604030504040204" charset="0"/>
                <a:ea typeface="宋体" panose="02010600030101010101" pitchFamily="2" charset="-122"/>
              </a:endParaRPr>
            </a:p>
          </p:txBody>
        </p:sp>
        <p:sp>
          <p:nvSpPr>
            <p:cNvPr id="49221" name="Text Box 73"/>
            <p:cNvSpPr txBox="1"/>
            <p:nvPr/>
          </p:nvSpPr>
          <p:spPr>
            <a:xfrm>
              <a:off x="3024" y="3168"/>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a:t>
              </a:r>
              <a:endParaRPr lang="en-US" altLang="zh-CN" sz="2000" dirty="0">
                <a:latin typeface="Tahoma" panose="020B0604030504040204" charset="0"/>
                <a:ea typeface="宋体" panose="02010600030101010101" pitchFamily="2" charset="-122"/>
              </a:endParaRPr>
            </a:p>
          </p:txBody>
        </p:sp>
        <p:sp>
          <p:nvSpPr>
            <p:cNvPr id="49222" name="Text Box 74"/>
            <p:cNvSpPr txBox="1"/>
            <p:nvPr/>
          </p:nvSpPr>
          <p:spPr>
            <a:xfrm>
              <a:off x="2784" y="3168"/>
              <a:ext cx="240"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2</a:t>
              </a:r>
              <a:endParaRPr lang="en-US" altLang="zh-CN" sz="2000" dirty="0">
                <a:latin typeface="Tahoma" panose="020B0604030504040204" charset="0"/>
                <a:ea typeface="宋体" panose="02010600030101010101" pitchFamily="2" charset="-122"/>
              </a:endParaRPr>
            </a:p>
          </p:txBody>
        </p:sp>
        <p:sp>
          <p:nvSpPr>
            <p:cNvPr id="49223" name="Text Box 75"/>
            <p:cNvSpPr txBox="1"/>
            <p:nvPr/>
          </p:nvSpPr>
          <p:spPr>
            <a:xfrm>
              <a:off x="3168" y="3168"/>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a:t>
              </a:r>
              <a:endParaRPr lang="en-US" altLang="zh-CN" sz="2000" dirty="0">
                <a:latin typeface="Tahoma" panose="020B0604030504040204" charset="0"/>
                <a:ea typeface="宋体" panose="02010600030101010101" pitchFamily="2" charset="-122"/>
              </a:endParaRPr>
            </a:p>
          </p:txBody>
        </p:sp>
      </p:grpSp>
      <p:sp>
        <p:nvSpPr>
          <p:cNvPr id="49224" name="Line 76"/>
          <p:cNvSpPr/>
          <p:nvPr/>
        </p:nvSpPr>
        <p:spPr>
          <a:xfrm>
            <a:off x="3057208" y="2268538"/>
            <a:ext cx="609600" cy="0"/>
          </a:xfrm>
          <a:prstGeom prst="line">
            <a:avLst/>
          </a:prstGeom>
          <a:ln w="28575" cap="flat" cmpd="sng">
            <a:solidFill>
              <a:srgbClr val="00FF00"/>
            </a:solidFill>
            <a:prstDash val="solid"/>
            <a:miter/>
            <a:headEnd type="none" w="med" len="med"/>
            <a:tailEnd type="triangle" w="sm" len="sm"/>
          </a:ln>
        </p:spPr>
      </p:sp>
      <p:sp>
        <p:nvSpPr>
          <p:cNvPr id="49225" name="Line 77"/>
          <p:cNvSpPr/>
          <p:nvPr/>
        </p:nvSpPr>
        <p:spPr>
          <a:xfrm>
            <a:off x="4809808" y="2268538"/>
            <a:ext cx="609600" cy="0"/>
          </a:xfrm>
          <a:prstGeom prst="line">
            <a:avLst/>
          </a:prstGeom>
          <a:ln w="28575" cap="flat" cmpd="sng">
            <a:solidFill>
              <a:srgbClr val="00FF00"/>
            </a:solidFill>
            <a:prstDash val="solid"/>
            <a:miter/>
            <a:headEnd type="none" w="med" len="med"/>
            <a:tailEnd type="triangle" w="sm" len="sm"/>
          </a:ln>
        </p:spPr>
      </p:sp>
      <p:sp>
        <p:nvSpPr>
          <p:cNvPr id="49226" name="Line 78"/>
          <p:cNvSpPr/>
          <p:nvPr/>
        </p:nvSpPr>
        <p:spPr>
          <a:xfrm>
            <a:off x="6562408" y="2268538"/>
            <a:ext cx="609600" cy="0"/>
          </a:xfrm>
          <a:prstGeom prst="line">
            <a:avLst/>
          </a:prstGeom>
          <a:ln w="28575" cap="flat" cmpd="sng">
            <a:solidFill>
              <a:srgbClr val="00FF00"/>
            </a:solidFill>
            <a:prstDash val="solid"/>
            <a:miter/>
            <a:headEnd type="none" w="med" len="med"/>
            <a:tailEnd type="triangle" w="sm" len="sm"/>
          </a:ln>
        </p:spPr>
      </p:sp>
      <p:sp>
        <p:nvSpPr>
          <p:cNvPr id="49227" name="Line 79"/>
          <p:cNvSpPr/>
          <p:nvPr/>
        </p:nvSpPr>
        <p:spPr>
          <a:xfrm>
            <a:off x="3057208" y="3106738"/>
            <a:ext cx="609600" cy="0"/>
          </a:xfrm>
          <a:prstGeom prst="line">
            <a:avLst/>
          </a:prstGeom>
          <a:ln w="28575" cap="flat" cmpd="sng">
            <a:solidFill>
              <a:srgbClr val="00FF00"/>
            </a:solidFill>
            <a:prstDash val="solid"/>
            <a:miter/>
            <a:headEnd type="none" w="med" len="med"/>
            <a:tailEnd type="triangle" w="sm" len="sm"/>
          </a:ln>
        </p:spPr>
      </p:sp>
      <p:sp>
        <p:nvSpPr>
          <p:cNvPr id="49228" name="Line 80"/>
          <p:cNvSpPr/>
          <p:nvPr/>
        </p:nvSpPr>
        <p:spPr>
          <a:xfrm>
            <a:off x="3057208" y="3716338"/>
            <a:ext cx="609600" cy="0"/>
          </a:xfrm>
          <a:prstGeom prst="line">
            <a:avLst/>
          </a:prstGeom>
          <a:ln w="28575" cap="flat" cmpd="sng">
            <a:solidFill>
              <a:srgbClr val="00FF00"/>
            </a:solidFill>
            <a:prstDash val="solid"/>
            <a:miter/>
            <a:headEnd type="none" w="med" len="med"/>
            <a:tailEnd type="triangle" w="sm" len="sm"/>
          </a:ln>
        </p:spPr>
      </p:sp>
      <p:sp>
        <p:nvSpPr>
          <p:cNvPr id="49229" name="Line 81"/>
          <p:cNvSpPr/>
          <p:nvPr/>
        </p:nvSpPr>
        <p:spPr>
          <a:xfrm>
            <a:off x="3057208" y="4402138"/>
            <a:ext cx="609600" cy="0"/>
          </a:xfrm>
          <a:prstGeom prst="line">
            <a:avLst/>
          </a:prstGeom>
          <a:ln w="28575" cap="flat" cmpd="sng">
            <a:solidFill>
              <a:srgbClr val="00FF00"/>
            </a:solidFill>
            <a:prstDash val="solid"/>
            <a:miter/>
            <a:headEnd type="none" w="med" len="med"/>
            <a:tailEnd type="triangle" w="sm" len="sm"/>
          </a:ln>
        </p:spPr>
      </p:sp>
      <p:sp>
        <p:nvSpPr>
          <p:cNvPr id="49230" name="Line 82"/>
          <p:cNvSpPr/>
          <p:nvPr/>
        </p:nvSpPr>
        <p:spPr>
          <a:xfrm>
            <a:off x="2676208" y="2801938"/>
            <a:ext cx="1600200" cy="0"/>
          </a:xfrm>
          <a:prstGeom prst="line">
            <a:avLst/>
          </a:prstGeom>
          <a:ln w="28575" cap="flat" cmpd="sng">
            <a:solidFill>
              <a:srgbClr val="FF0000"/>
            </a:solidFill>
            <a:prstDash val="solid"/>
            <a:miter/>
            <a:headEnd type="none" w="med" len="med"/>
            <a:tailEnd type="none" w="med" len="med"/>
          </a:ln>
        </p:spPr>
      </p:sp>
      <p:sp>
        <p:nvSpPr>
          <p:cNvPr id="49231" name="Line 83"/>
          <p:cNvSpPr/>
          <p:nvPr/>
        </p:nvSpPr>
        <p:spPr>
          <a:xfrm flipV="1">
            <a:off x="4276408" y="2420938"/>
            <a:ext cx="0" cy="381000"/>
          </a:xfrm>
          <a:prstGeom prst="line">
            <a:avLst/>
          </a:prstGeom>
          <a:ln w="28575" cap="flat" cmpd="sng">
            <a:solidFill>
              <a:srgbClr val="FF0000"/>
            </a:solidFill>
            <a:prstDash val="solid"/>
            <a:miter/>
            <a:headEnd type="none" w="med" len="med"/>
            <a:tailEnd type="triangle" w="sm" len="sm"/>
          </a:ln>
        </p:spPr>
      </p:sp>
      <p:sp>
        <p:nvSpPr>
          <p:cNvPr id="49232" name="Line 84"/>
          <p:cNvSpPr/>
          <p:nvPr/>
        </p:nvSpPr>
        <p:spPr>
          <a:xfrm>
            <a:off x="2676208" y="3411538"/>
            <a:ext cx="1600200" cy="0"/>
          </a:xfrm>
          <a:prstGeom prst="line">
            <a:avLst/>
          </a:prstGeom>
          <a:ln w="28575" cap="flat" cmpd="sng">
            <a:solidFill>
              <a:srgbClr val="FF0000"/>
            </a:solidFill>
            <a:prstDash val="solid"/>
            <a:miter/>
            <a:headEnd type="none" w="med" len="med"/>
            <a:tailEnd type="none" w="med" len="med"/>
          </a:ln>
        </p:spPr>
      </p:sp>
      <p:sp>
        <p:nvSpPr>
          <p:cNvPr id="49233" name="Line 85"/>
          <p:cNvSpPr/>
          <p:nvPr/>
        </p:nvSpPr>
        <p:spPr>
          <a:xfrm flipV="1">
            <a:off x="4276408" y="3259138"/>
            <a:ext cx="0" cy="152400"/>
          </a:xfrm>
          <a:prstGeom prst="line">
            <a:avLst/>
          </a:prstGeom>
          <a:ln w="28575" cap="flat" cmpd="sng">
            <a:solidFill>
              <a:srgbClr val="FF0000"/>
            </a:solidFill>
            <a:prstDash val="solid"/>
            <a:miter/>
            <a:headEnd type="none" w="med" len="med"/>
            <a:tailEnd type="triangle" w="sm" len="sm"/>
          </a:ln>
        </p:spPr>
      </p:sp>
      <p:sp>
        <p:nvSpPr>
          <p:cNvPr id="49234" name="Line 86"/>
          <p:cNvSpPr/>
          <p:nvPr/>
        </p:nvSpPr>
        <p:spPr>
          <a:xfrm>
            <a:off x="4581208" y="3411538"/>
            <a:ext cx="609600" cy="0"/>
          </a:xfrm>
          <a:prstGeom prst="line">
            <a:avLst/>
          </a:prstGeom>
          <a:ln w="28575" cap="flat" cmpd="sng">
            <a:solidFill>
              <a:srgbClr val="FF0000"/>
            </a:solidFill>
            <a:prstDash val="solid"/>
            <a:miter/>
            <a:headEnd type="none" w="med" len="med"/>
            <a:tailEnd type="none" w="med" len="med"/>
          </a:ln>
        </p:spPr>
      </p:sp>
      <p:sp>
        <p:nvSpPr>
          <p:cNvPr id="49235" name="Line 87"/>
          <p:cNvSpPr/>
          <p:nvPr/>
        </p:nvSpPr>
        <p:spPr>
          <a:xfrm flipH="1" flipV="1">
            <a:off x="4886008" y="4402138"/>
            <a:ext cx="304800" cy="0"/>
          </a:xfrm>
          <a:prstGeom prst="line">
            <a:avLst/>
          </a:prstGeom>
          <a:ln w="28575" cap="flat" cmpd="sng">
            <a:solidFill>
              <a:srgbClr val="FF0000"/>
            </a:solidFill>
            <a:prstDash val="solid"/>
            <a:miter/>
            <a:headEnd type="none" w="med" len="med"/>
            <a:tailEnd type="triangle" w="sm" len="sm"/>
          </a:ln>
        </p:spPr>
      </p:sp>
      <p:sp>
        <p:nvSpPr>
          <p:cNvPr id="49236" name="Line 88"/>
          <p:cNvSpPr/>
          <p:nvPr/>
        </p:nvSpPr>
        <p:spPr>
          <a:xfrm>
            <a:off x="4581208" y="3182938"/>
            <a:ext cx="0" cy="228600"/>
          </a:xfrm>
          <a:prstGeom prst="line">
            <a:avLst/>
          </a:prstGeom>
          <a:ln w="28575" cap="flat" cmpd="sng">
            <a:solidFill>
              <a:srgbClr val="FF0000"/>
            </a:solidFill>
            <a:prstDash val="solid"/>
            <a:miter/>
            <a:headEnd type="none" w="med" len="med"/>
            <a:tailEnd type="none" w="med" len="med"/>
          </a:ln>
        </p:spPr>
      </p:sp>
      <p:sp>
        <p:nvSpPr>
          <p:cNvPr id="49237" name="Line 89"/>
          <p:cNvSpPr/>
          <p:nvPr/>
        </p:nvSpPr>
        <p:spPr>
          <a:xfrm>
            <a:off x="5190808" y="3411538"/>
            <a:ext cx="0" cy="990600"/>
          </a:xfrm>
          <a:prstGeom prst="line">
            <a:avLst/>
          </a:prstGeom>
          <a:ln w="28575" cap="flat" cmpd="sng">
            <a:solidFill>
              <a:srgbClr val="FF0000"/>
            </a:solidFill>
            <a:prstDash val="solid"/>
            <a:miter/>
            <a:headEnd type="none" w="med" len="med"/>
            <a:tailEnd type="none" w="med" len="med"/>
          </a:ln>
        </p:spPr>
      </p:sp>
      <p:sp>
        <p:nvSpPr>
          <p:cNvPr id="49238" name="Line 90"/>
          <p:cNvSpPr/>
          <p:nvPr/>
        </p:nvSpPr>
        <p:spPr>
          <a:xfrm>
            <a:off x="2676208" y="4173538"/>
            <a:ext cx="3276600" cy="0"/>
          </a:xfrm>
          <a:prstGeom prst="line">
            <a:avLst/>
          </a:prstGeom>
          <a:ln w="28575" cap="flat" cmpd="sng">
            <a:solidFill>
              <a:srgbClr val="FF0000"/>
            </a:solidFill>
            <a:prstDash val="solid"/>
            <a:miter/>
            <a:headEnd type="none" w="med" len="med"/>
            <a:tailEnd type="none" w="med" len="med"/>
          </a:ln>
        </p:spPr>
      </p:sp>
      <p:sp>
        <p:nvSpPr>
          <p:cNvPr id="49239" name="Line 91"/>
          <p:cNvSpPr/>
          <p:nvPr/>
        </p:nvSpPr>
        <p:spPr>
          <a:xfrm flipV="1">
            <a:off x="5952808" y="2420938"/>
            <a:ext cx="0" cy="1752600"/>
          </a:xfrm>
          <a:prstGeom prst="line">
            <a:avLst/>
          </a:prstGeom>
          <a:ln w="28575" cap="flat" cmpd="sng">
            <a:solidFill>
              <a:srgbClr val="FF0000"/>
            </a:solidFill>
            <a:prstDash val="solid"/>
            <a:miter/>
            <a:headEnd type="none" w="med" len="med"/>
            <a:tailEnd type="triangle" w="sm" len="sm"/>
          </a:ln>
        </p:spPr>
      </p:sp>
      <p:sp>
        <p:nvSpPr>
          <p:cNvPr id="49240" name="Line 92"/>
          <p:cNvSpPr/>
          <p:nvPr/>
        </p:nvSpPr>
        <p:spPr>
          <a:xfrm>
            <a:off x="2676208" y="4935538"/>
            <a:ext cx="2895600" cy="0"/>
          </a:xfrm>
          <a:prstGeom prst="line">
            <a:avLst/>
          </a:prstGeom>
          <a:ln w="28575" cap="flat" cmpd="sng">
            <a:solidFill>
              <a:srgbClr val="FF00FF"/>
            </a:solidFill>
            <a:prstDash val="solid"/>
            <a:miter/>
            <a:headEnd type="none" w="med" len="med"/>
            <a:tailEnd type="none" w="med" len="med"/>
          </a:ln>
        </p:spPr>
      </p:sp>
      <p:sp>
        <p:nvSpPr>
          <p:cNvPr id="49241" name="Line 93"/>
          <p:cNvSpPr/>
          <p:nvPr/>
        </p:nvSpPr>
        <p:spPr>
          <a:xfrm flipV="1">
            <a:off x="5571808" y="4097338"/>
            <a:ext cx="0" cy="838200"/>
          </a:xfrm>
          <a:prstGeom prst="line">
            <a:avLst/>
          </a:prstGeom>
          <a:ln w="28575" cap="flat" cmpd="sng">
            <a:solidFill>
              <a:srgbClr val="FF00FF"/>
            </a:solidFill>
            <a:prstDash val="solid"/>
            <a:miter/>
            <a:headEnd type="none" w="med" len="med"/>
            <a:tailEnd type="none" w="med" len="med"/>
          </a:ln>
        </p:spPr>
      </p:sp>
      <p:sp>
        <p:nvSpPr>
          <p:cNvPr id="49242" name="Line 94"/>
          <p:cNvSpPr/>
          <p:nvPr/>
        </p:nvSpPr>
        <p:spPr>
          <a:xfrm>
            <a:off x="4276408" y="4097338"/>
            <a:ext cx="1295400" cy="0"/>
          </a:xfrm>
          <a:prstGeom prst="line">
            <a:avLst/>
          </a:prstGeom>
          <a:ln w="28575" cap="flat" cmpd="sng">
            <a:solidFill>
              <a:srgbClr val="FF00FF"/>
            </a:solidFill>
            <a:prstDash val="solid"/>
            <a:miter/>
            <a:headEnd type="none" w="med" len="med"/>
            <a:tailEnd type="none" w="med" len="med"/>
          </a:ln>
        </p:spPr>
      </p:sp>
      <p:sp>
        <p:nvSpPr>
          <p:cNvPr id="49243" name="Line 95"/>
          <p:cNvSpPr/>
          <p:nvPr/>
        </p:nvSpPr>
        <p:spPr>
          <a:xfrm flipV="1">
            <a:off x="4276408" y="3868738"/>
            <a:ext cx="0" cy="228600"/>
          </a:xfrm>
          <a:prstGeom prst="line">
            <a:avLst/>
          </a:prstGeom>
          <a:ln w="28575" cap="flat" cmpd="sng">
            <a:solidFill>
              <a:srgbClr val="FF00FF"/>
            </a:solidFill>
            <a:prstDash val="solid"/>
            <a:miter/>
            <a:headEnd type="none" w="med" len="med"/>
            <a:tailEnd type="triangle" w="sm" len="sm"/>
          </a:ln>
        </p:spPr>
      </p:sp>
      <p:sp>
        <p:nvSpPr>
          <p:cNvPr id="49244" name="Line 96"/>
          <p:cNvSpPr/>
          <p:nvPr/>
        </p:nvSpPr>
        <p:spPr>
          <a:xfrm>
            <a:off x="4505008" y="3792538"/>
            <a:ext cx="0" cy="228600"/>
          </a:xfrm>
          <a:prstGeom prst="line">
            <a:avLst/>
          </a:prstGeom>
          <a:ln w="28575" cap="flat" cmpd="sng">
            <a:solidFill>
              <a:srgbClr val="FF00FF"/>
            </a:solidFill>
            <a:prstDash val="solid"/>
            <a:miter/>
            <a:headEnd type="none" w="med" len="med"/>
            <a:tailEnd type="none" w="med" len="med"/>
          </a:ln>
        </p:spPr>
      </p:sp>
      <p:sp>
        <p:nvSpPr>
          <p:cNvPr id="49245" name="Line 97"/>
          <p:cNvSpPr/>
          <p:nvPr/>
        </p:nvSpPr>
        <p:spPr>
          <a:xfrm>
            <a:off x="4505008" y="4021138"/>
            <a:ext cx="1066800" cy="0"/>
          </a:xfrm>
          <a:prstGeom prst="line">
            <a:avLst/>
          </a:prstGeom>
          <a:ln w="28575" cap="flat" cmpd="sng">
            <a:solidFill>
              <a:srgbClr val="FF00FF"/>
            </a:solidFill>
            <a:prstDash val="solid"/>
            <a:miter/>
            <a:headEnd type="none" w="med" len="med"/>
            <a:tailEnd type="none" w="med" len="med"/>
          </a:ln>
        </p:spPr>
      </p:sp>
      <p:sp>
        <p:nvSpPr>
          <p:cNvPr id="49246" name="Line 98"/>
          <p:cNvSpPr/>
          <p:nvPr/>
        </p:nvSpPr>
        <p:spPr>
          <a:xfrm flipH="1">
            <a:off x="5571808" y="2801938"/>
            <a:ext cx="0" cy="1219200"/>
          </a:xfrm>
          <a:prstGeom prst="line">
            <a:avLst/>
          </a:prstGeom>
          <a:ln w="28575" cap="flat" cmpd="sng">
            <a:solidFill>
              <a:srgbClr val="FF00FF"/>
            </a:solidFill>
            <a:prstDash val="solid"/>
            <a:miter/>
            <a:headEnd type="none" w="med" len="med"/>
            <a:tailEnd type="none" w="med" len="med"/>
          </a:ln>
        </p:spPr>
      </p:sp>
      <p:sp>
        <p:nvSpPr>
          <p:cNvPr id="49247" name="Line 99"/>
          <p:cNvSpPr/>
          <p:nvPr/>
        </p:nvSpPr>
        <p:spPr>
          <a:xfrm>
            <a:off x="5571808" y="2801938"/>
            <a:ext cx="2362200" cy="0"/>
          </a:xfrm>
          <a:prstGeom prst="line">
            <a:avLst/>
          </a:prstGeom>
          <a:ln w="28575" cap="flat" cmpd="sng">
            <a:solidFill>
              <a:srgbClr val="FF00FF"/>
            </a:solidFill>
            <a:prstDash val="solid"/>
            <a:miter/>
            <a:headEnd type="none" w="med" len="med"/>
            <a:tailEnd type="none" w="med" len="med"/>
          </a:ln>
        </p:spPr>
      </p:sp>
      <p:sp>
        <p:nvSpPr>
          <p:cNvPr id="49248" name="Line 100"/>
          <p:cNvSpPr/>
          <p:nvPr/>
        </p:nvSpPr>
        <p:spPr>
          <a:xfrm flipV="1">
            <a:off x="7934008" y="2420938"/>
            <a:ext cx="0" cy="381000"/>
          </a:xfrm>
          <a:prstGeom prst="line">
            <a:avLst/>
          </a:prstGeom>
          <a:ln w="28575" cap="flat" cmpd="sng">
            <a:solidFill>
              <a:srgbClr val="FF00FF"/>
            </a:solidFill>
            <a:prstDash val="solid"/>
            <a:miter/>
            <a:headEnd type="none" w="med" len="med"/>
            <a:tailEnd type="triangle" w="sm" len="sm"/>
          </a:ln>
        </p:spPr>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1228090"/>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邻接多重表是无向图的另一种存储结构</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自学</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在邻接多重表中，一条边只用一个结点表示</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在无向图邻接表中，一条边要用2个结点表示(分别从2个顶点的角度看)</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7.2 图的</a:t>
            </a:r>
            <a:r>
              <a:rPr lang="zh-CN" altLang="en-US">
                <a:latin typeface="楷体" panose="02010609060101010101" charset="-122"/>
                <a:ea typeface="楷体" panose="02010609060101010101" charset="-122"/>
                <a:cs typeface="楷体" panose="02010609060101010101" charset="-122"/>
                <a:sym typeface="+mn-ea"/>
              </a:rPr>
              <a:t>存储</a:t>
            </a:r>
            <a:r>
              <a:rPr lang="zh-CN" altLang="en-US">
                <a:latin typeface="楷体" panose="02010609060101010101" charset="-122"/>
                <a:ea typeface="楷体" panose="02010609060101010101" charset="-122"/>
                <a:cs typeface="楷体" panose="02010609060101010101" charset="-122"/>
                <a:sym typeface="+mn-ea"/>
              </a:rPr>
              <a:t>结构</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4" name="组合 13"/>
          <p:cNvGrpSpPr/>
          <p:nvPr/>
        </p:nvGrpSpPr>
        <p:grpSpPr>
          <a:xfrm>
            <a:off x="2522220" y="2924810"/>
            <a:ext cx="6705600" cy="2637790"/>
            <a:chOff x="3972" y="4606"/>
            <a:chExt cx="10560" cy="4154"/>
          </a:xfrm>
        </p:grpSpPr>
        <p:grpSp>
          <p:nvGrpSpPr>
            <p:cNvPr id="51204" name="Group 4"/>
            <p:cNvGrpSpPr/>
            <p:nvPr/>
          </p:nvGrpSpPr>
          <p:grpSpPr>
            <a:xfrm>
              <a:off x="3972" y="5400"/>
              <a:ext cx="10560" cy="725"/>
              <a:chOff x="336" y="3552"/>
              <a:chExt cx="4224" cy="290"/>
            </a:xfrm>
          </p:grpSpPr>
          <p:sp>
            <p:nvSpPr>
              <p:cNvPr id="51205" name="Text Box 5"/>
              <p:cNvSpPr txBox="1"/>
              <p:nvPr/>
            </p:nvSpPr>
            <p:spPr>
              <a:xfrm>
                <a:off x="912" y="3552"/>
                <a:ext cx="768"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ivex</a:t>
                </a:r>
                <a:endParaRPr lang="en-US" altLang="zh-CN" sz="2400" dirty="0">
                  <a:latin typeface="Tahoma" panose="020B0604030504040204" charset="0"/>
                  <a:ea typeface="宋体" panose="02010600030101010101" pitchFamily="2" charset="-122"/>
                </a:endParaRPr>
              </a:p>
            </p:txBody>
          </p:sp>
          <p:sp>
            <p:nvSpPr>
              <p:cNvPr id="51206" name="Text Box 6"/>
              <p:cNvSpPr txBox="1"/>
              <p:nvPr/>
            </p:nvSpPr>
            <p:spPr>
              <a:xfrm>
                <a:off x="336" y="3552"/>
                <a:ext cx="576"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mark</a:t>
                </a:r>
                <a:endParaRPr lang="en-US" altLang="zh-CN" sz="2400" dirty="0">
                  <a:latin typeface="Tahoma" panose="020B0604030504040204" charset="0"/>
                  <a:ea typeface="宋体" panose="02010600030101010101" pitchFamily="2" charset="-122"/>
                </a:endParaRPr>
              </a:p>
            </p:txBody>
          </p:sp>
          <p:sp>
            <p:nvSpPr>
              <p:cNvPr id="51207" name="Text Box 7"/>
              <p:cNvSpPr txBox="1"/>
              <p:nvPr/>
            </p:nvSpPr>
            <p:spPr>
              <a:xfrm>
                <a:off x="1680" y="3552"/>
                <a:ext cx="768"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ilink</a:t>
                </a:r>
                <a:endParaRPr lang="en-US" altLang="zh-CN" sz="2400" dirty="0">
                  <a:latin typeface="Tahoma" panose="020B0604030504040204" charset="0"/>
                  <a:ea typeface="宋体" panose="02010600030101010101" pitchFamily="2" charset="-122"/>
                </a:endParaRPr>
              </a:p>
            </p:txBody>
          </p:sp>
          <p:sp>
            <p:nvSpPr>
              <p:cNvPr id="51208" name="Text Box 8"/>
              <p:cNvSpPr txBox="1"/>
              <p:nvPr/>
            </p:nvSpPr>
            <p:spPr>
              <a:xfrm>
                <a:off x="2448" y="3552"/>
                <a:ext cx="768"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jvex</a:t>
                </a:r>
                <a:endParaRPr lang="en-US" altLang="zh-CN" sz="2400" dirty="0">
                  <a:latin typeface="Tahoma" panose="020B0604030504040204" charset="0"/>
                  <a:ea typeface="宋体" panose="02010600030101010101" pitchFamily="2" charset="-122"/>
                </a:endParaRPr>
              </a:p>
            </p:txBody>
          </p:sp>
          <p:sp>
            <p:nvSpPr>
              <p:cNvPr id="51209" name="Text Box 9"/>
              <p:cNvSpPr txBox="1"/>
              <p:nvPr/>
            </p:nvSpPr>
            <p:spPr>
              <a:xfrm>
                <a:off x="3216" y="3552"/>
                <a:ext cx="768"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jlink</a:t>
                </a:r>
                <a:endParaRPr lang="en-US" altLang="zh-CN" sz="2400" dirty="0">
                  <a:latin typeface="Tahoma" panose="020B0604030504040204" charset="0"/>
                  <a:ea typeface="宋体" panose="02010600030101010101" pitchFamily="2" charset="-122"/>
                </a:endParaRPr>
              </a:p>
            </p:txBody>
          </p:sp>
          <p:sp>
            <p:nvSpPr>
              <p:cNvPr id="51210" name="Text Box 10"/>
              <p:cNvSpPr txBox="1"/>
              <p:nvPr/>
            </p:nvSpPr>
            <p:spPr>
              <a:xfrm>
                <a:off x="3984" y="3552"/>
                <a:ext cx="576" cy="290"/>
              </a:xfrm>
              <a:prstGeom prst="rect">
                <a:avLst/>
              </a:prstGeom>
              <a:noFill/>
              <a:ln w="25400" cap="flat" cmpd="sng">
                <a:solidFill>
                  <a:srgbClr val="0000FF"/>
                </a:solidFill>
                <a:prstDash val="solid"/>
                <a:miter/>
                <a:headEnd type="none" w="med" len="med"/>
                <a:tailEnd type="none" w="med" len="med"/>
              </a:ln>
            </p:spPr>
            <p:txBody>
              <a:bodyPr anchor="t" anchorCtr="0">
                <a:spAutoFit/>
              </a:bodyPr>
              <a:p>
                <a:pPr algn="ctr"/>
                <a:r>
                  <a:rPr lang="en-US" altLang="zh-CN" sz="2400" dirty="0">
                    <a:latin typeface="Tahoma" panose="020B0604030504040204" charset="0"/>
                    <a:ea typeface="宋体" panose="02010600030101010101" pitchFamily="2" charset="-122"/>
                  </a:rPr>
                  <a:t>info</a:t>
                </a:r>
                <a:endParaRPr lang="en-US" altLang="zh-CN" sz="2400" dirty="0">
                  <a:latin typeface="Tahoma" panose="020B0604030504040204" charset="0"/>
                  <a:ea typeface="宋体" panose="02010600030101010101" pitchFamily="2" charset="-122"/>
                </a:endParaRPr>
              </a:p>
            </p:txBody>
          </p:sp>
        </p:grpSp>
        <p:sp>
          <p:nvSpPr>
            <p:cNvPr id="12" name="文本框 11"/>
            <p:cNvSpPr txBox="1"/>
            <p:nvPr/>
          </p:nvSpPr>
          <p:spPr>
            <a:xfrm>
              <a:off x="7332" y="4606"/>
              <a:ext cx="3430" cy="667"/>
            </a:xfrm>
            <a:prstGeom prst="rect">
              <a:avLst/>
            </a:prstGeom>
          </p:spPr>
          <p:txBody>
            <a:bodyPr vert="horz" wrap="square" lIns="91440" tIns="45720" rIns="91440" bIns="45720" rtlCol="0" anchor="t">
              <a:spAutoFit/>
            </a:bodyPr>
            <a:p>
              <a:pPr marL="0" lvl="0" indent="0">
                <a:lnSpc>
                  <a:spcPct val="90000"/>
                </a:lnSpc>
                <a:spcBef>
                  <a:spcPts val="1000"/>
                </a:spcBef>
                <a:buClr>
                  <a:schemeClr val="accent2"/>
                </a:buClr>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边的结点结构</a:t>
              </a:r>
              <a:endParaRPr lang="zh-CN" altLang="en-US" sz="2400" dirty="0">
                <a:latin typeface="黑体" panose="02010609060101010101" pitchFamily="2" charset="-122"/>
                <a:ea typeface="黑体" panose="02010609060101010101" pitchFamily="2" charset="-122"/>
                <a:sym typeface="+mn-ea"/>
              </a:endParaRPr>
            </a:p>
          </p:txBody>
        </p:sp>
        <p:sp>
          <p:nvSpPr>
            <p:cNvPr id="13" name="文本框 12"/>
            <p:cNvSpPr txBox="1"/>
            <p:nvPr/>
          </p:nvSpPr>
          <p:spPr>
            <a:xfrm>
              <a:off x="4606" y="6194"/>
              <a:ext cx="9600" cy="2567"/>
            </a:xfrm>
            <a:prstGeom prst="rect">
              <a:avLst/>
            </a:prstGeom>
          </p:spPr>
          <p:txBody>
            <a:bodyPr vert="horz" wrap="square" lIns="91440" tIns="45720" rIns="91440" bIns="45720" rtlCol="0" anchor="t">
              <a:spAutoFit/>
            </a:bodyPr>
            <a:p>
              <a:pPr marL="965200" lvl="1" indent="-508000" eaLnBrk="1" hangingPunct="1">
                <a:buClr>
                  <a:schemeClr val="accent2"/>
                </a:buClr>
                <a:buFont typeface="Wingdings" panose="05000000000000000000" pitchFamily="2" charset="2"/>
              </a:pPr>
              <a:r>
                <a:rPr lang="en-US" altLang="zh-CN" sz="2000" dirty="0">
                  <a:latin typeface="黑体" panose="02010609060101010101" pitchFamily="2" charset="-122"/>
                  <a:ea typeface="黑体" panose="02010609060101010101" pitchFamily="2" charset="-122"/>
                  <a:sym typeface="+mn-ea"/>
                </a:rPr>
                <a:t>mark; // </a:t>
              </a:r>
              <a:r>
                <a:rPr lang="zh-CN" altLang="en-US" sz="2000" dirty="0">
                  <a:latin typeface="黑体" panose="02010609060101010101" pitchFamily="2" charset="-122"/>
                  <a:ea typeface="黑体" panose="02010609060101010101" pitchFamily="2" charset="-122"/>
                  <a:sym typeface="+mn-ea"/>
                </a:rPr>
                <a:t>标记域，如指示该边是否被搜索过</a:t>
              </a:r>
              <a:endParaRPr lang="zh-CN" altLang="en-US" sz="2000" b="0" dirty="0">
                <a:latin typeface="黑体" panose="02010609060101010101" pitchFamily="2" charset="-122"/>
                <a:ea typeface="黑体" panose="02010609060101010101" pitchFamily="2" charset="-122"/>
              </a:endParaRPr>
            </a:p>
            <a:p>
              <a:pPr marL="965200" lvl="1" indent="-508000" eaLnBrk="1" hangingPunct="1">
                <a:buClr>
                  <a:schemeClr val="accent2"/>
                </a:buClr>
                <a:buFont typeface="Wingdings" panose="05000000000000000000" pitchFamily="2" charset="2"/>
              </a:pPr>
              <a:r>
                <a:rPr lang="en-US" altLang="zh-CN" sz="2000" dirty="0">
                  <a:latin typeface="黑体" panose="02010609060101010101" pitchFamily="2" charset="-122"/>
                  <a:ea typeface="黑体" panose="02010609060101010101" pitchFamily="2" charset="-122"/>
                  <a:sym typeface="+mn-ea"/>
                </a:rPr>
                <a:t>ivex,jvex;// </a:t>
              </a:r>
              <a:r>
                <a:rPr lang="zh-CN" altLang="en-US" sz="2000" dirty="0">
                  <a:latin typeface="黑体" panose="02010609060101010101" pitchFamily="2" charset="-122"/>
                  <a:ea typeface="黑体" panose="02010609060101010101" pitchFamily="2" charset="-122"/>
                  <a:sym typeface="+mn-ea"/>
                </a:rPr>
                <a:t>该边所依附的两个顶点的位置</a:t>
              </a:r>
              <a:endParaRPr lang="zh-CN" altLang="en-US" sz="2000" b="0" dirty="0">
                <a:latin typeface="黑体" panose="02010609060101010101" pitchFamily="2" charset="-122"/>
                <a:ea typeface="黑体" panose="02010609060101010101" pitchFamily="2" charset="-122"/>
              </a:endParaRPr>
            </a:p>
            <a:p>
              <a:pPr marL="965200" lvl="1" indent="-508000" eaLnBrk="1" hangingPunct="1">
                <a:buClr>
                  <a:schemeClr val="accent2"/>
                </a:buClr>
                <a:buFont typeface="Wingdings" panose="05000000000000000000" pitchFamily="2" charset="2"/>
              </a:pPr>
              <a:r>
                <a:rPr lang="en-US" altLang="zh-CN" sz="2000" dirty="0">
                  <a:latin typeface="黑体" panose="02010609060101010101" pitchFamily="2" charset="-122"/>
                  <a:ea typeface="黑体" panose="02010609060101010101" pitchFamily="2" charset="-122"/>
                  <a:sym typeface="+mn-ea"/>
                </a:rPr>
                <a:t>ilink;// </a:t>
              </a:r>
              <a:r>
                <a:rPr lang="zh-CN" altLang="en-US" sz="2000" dirty="0">
                  <a:latin typeface="黑体" panose="02010609060101010101" pitchFamily="2" charset="-122"/>
                  <a:ea typeface="黑体" panose="02010609060101010101" pitchFamily="2" charset="-122"/>
                  <a:sym typeface="+mn-ea"/>
                </a:rPr>
                <a:t>指向下一条依附于</a:t>
              </a:r>
              <a:r>
                <a:rPr lang="en-US" altLang="zh-CN" sz="2000" dirty="0">
                  <a:latin typeface="黑体" panose="02010609060101010101" pitchFamily="2" charset="-122"/>
                  <a:ea typeface="黑体" panose="02010609060101010101" pitchFamily="2" charset="-122"/>
                  <a:sym typeface="+mn-ea"/>
                </a:rPr>
                <a:t>ivex</a:t>
              </a:r>
              <a:r>
                <a:rPr lang="zh-CN" altLang="en-US" sz="2000" dirty="0">
                  <a:latin typeface="黑体" panose="02010609060101010101" pitchFamily="2" charset="-122"/>
                  <a:ea typeface="黑体" panose="02010609060101010101" pitchFamily="2" charset="-122"/>
                  <a:sym typeface="+mn-ea"/>
                </a:rPr>
                <a:t>的边</a:t>
              </a:r>
              <a:endParaRPr lang="zh-CN" altLang="en-US" sz="2000" b="0" dirty="0">
                <a:latin typeface="黑体" panose="02010609060101010101" pitchFamily="2" charset="-122"/>
                <a:ea typeface="黑体" panose="02010609060101010101" pitchFamily="2" charset="-122"/>
              </a:endParaRPr>
            </a:p>
            <a:p>
              <a:pPr marL="965200" lvl="1" indent="-508000" eaLnBrk="1" hangingPunct="1">
                <a:buClr>
                  <a:schemeClr val="accent2"/>
                </a:buClr>
                <a:buFont typeface="Wingdings" panose="05000000000000000000" pitchFamily="2" charset="2"/>
              </a:pPr>
              <a:r>
                <a:rPr lang="en-US" altLang="zh-CN" sz="2000" dirty="0">
                  <a:latin typeface="黑体" panose="02010609060101010101" pitchFamily="2" charset="-122"/>
                  <a:ea typeface="黑体" panose="02010609060101010101" pitchFamily="2" charset="-122"/>
                  <a:sym typeface="+mn-ea"/>
                </a:rPr>
                <a:t>jlink;// </a:t>
              </a:r>
              <a:r>
                <a:rPr lang="zh-CN" altLang="en-US" sz="2000" dirty="0">
                  <a:latin typeface="黑体" panose="02010609060101010101" pitchFamily="2" charset="-122"/>
                  <a:ea typeface="黑体" panose="02010609060101010101" pitchFamily="2" charset="-122"/>
                  <a:sym typeface="+mn-ea"/>
                </a:rPr>
                <a:t>指向下一条依附于</a:t>
              </a:r>
              <a:r>
                <a:rPr lang="en-US" altLang="zh-CN" sz="2000" dirty="0">
                  <a:latin typeface="黑体" panose="02010609060101010101" pitchFamily="2" charset="-122"/>
                  <a:ea typeface="黑体" panose="02010609060101010101" pitchFamily="2" charset="-122"/>
                  <a:sym typeface="+mn-ea"/>
                </a:rPr>
                <a:t>jvex</a:t>
              </a:r>
              <a:r>
                <a:rPr lang="zh-CN" altLang="en-US" sz="2000" dirty="0">
                  <a:latin typeface="黑体" panose="02010609060101010101" pitchFamily="2" charset="-122"/>
                  <a:ea typeface="黑体" panose="02010609060101010101" pitchFamily="2" charset="-122"/>
                  <a:sym typeface="+mn-ea"/>
                </a:rPr>
                <a:t>的边</a:t>
              </a:r>
              <a:endParaRPr lang="zh-CN" altLang="en-US" sz="2000" b="0" dirty="0">
                <a:latin typeface="黑体" panose="02010609060101010101" pitchFamily="2" charset="-122"/>
                <a:ea typeface="黑体" panose="02010609060101010101" pitchFamily="2" charset="-122"/>
              </a:endParaRPr>
            </a:p>
            <a:p>
              <a:pPr marL="965200" lvl="1" indent="-508000" eaLnBrk="1" hangingPunct="1">
                <a:buClr>
                  <a:schemeClr val="accent2"/>
                </a:buClr>
                <a:buFont typeface="Wingdings" panose="05000000000000000000" pitchFamily="2" charset="2"/>
              </a:pPr>
              <a:r>
                <a:rPr lang="en-US" altLang="zh-CN" sz="2000" dirty="0">
                  <a:latin typeface="黑体" panose="02010609060101010101" pitchFamily="2" charset="-122"/>
                  <a:ea typeface="黑体" panose="02010609060101010101" pitchFamily="2" charset="-122"/>
                  <a:sym typeface="+mn-ea"/>
                </a:rPr>
                <a:t>info; // </a:t>
              </a:r>
              <a:r>
                <a:rPr lang="zh-CN" altLang="en-US" sz="2000" dirty="0">
                  <a:latin typeface="黑体" panose="02010609060101010101" pitchFamily="2" charset="-122"/>
                  <a:ea typeface="黑体" panose="02010609060101010101" pitchFamily="2" charset="-122"/>
                  <a:sym typeface="+mn-ea"/>
                </a:rPr>
                <a:t>该边相关信息的指针或权值</a:t>
              </a:r>
              <a:endParaRPr lang="zh-CN" altLang="en-US" sz="2000" dirty="0">
                <a:latin typeface="黑体" panose="02010609060101010101" pitchFamily="2" charset="-122"/>
                <a:ea typeface="黑体" panose="02010609060101010101" pitchFamily="2" charset="-122"/>
                <a:sym typeface="+mn-ea"/>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1228090"/>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邻接多重表的</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示例（</a:t>
            </a:r>
            <a:r>
              <a:rPr lang="zh-CN" altLang="en-US"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自学</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7.2 图的</a:t>
            </a:r>
            <a:r>
              <a:rPr lang="zh-CN" altLang="en-US">
                <a:latin typeface="楷体" panose="02010609060101010101" charset="-122"/>
                <a:ea typeface="楷体" panose="02010609060101010101" charset="-122"/>
                <a:cs typeface="楷体" panose="02010609060101010101" charset="-122"/>
                <a:sym typeface="+mn-ea"/>
              </a:rPr>
              <a:t>存储</a:t>
            </a:r>
            <a:r>
              <a:rPr lang="zh-CN" altLang="en-US">
                <a:latin typeface="楷体" panose="02010609060101010101" charset="-122"/>
                <a:ea typeface="楷体" panose="02010609060101010101" charset="-122"/>
                <a:cs typeface="楷体" panose="02010609060101010101" charset="-122"/>
                <a:sym typeface="+mn-ea"/>
              </a:rPr>
              <a:t>结构</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50181" name="表格 50180"/>
          <p:cNvGraphicFramePr/>
          <p:nvPr/>
        </p:nvGraphicFramePr>
        <p:xfrm>
          <a:off x="1698308" y="1592580"/>
          <a:ext cx="1066800" cy="3657600"/>
        </p:xfrm>
        <a:graphic>
          <a:graphicData uri="http://schemas.openxmlformats.org/drawingml/2006/table">
            <a:tbl>
              <a:tblPr/>
              <a:tblGrid>
                <a:gridCol w="609600"/>
                <a:gridCol w="457200"/>
              </a:tblGrid>
              <a:tr h="609600">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0</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609600">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1</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609600">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2</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609600">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3</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609600">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4</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609600">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5</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bl>
          </a:graphicData>
        </a:graphic>
      </p:graphicFrame>
      <p:sp>
        <p:nvSpPr>
          <p:cNvPr id="52251" name="Line 34"/>
          <p:cNvSpPr/>
          <p:nvPr/>
        </p:nvSpPr>
        <p:spPr>
          <a:xfrm>
            <a:off x="4289108" y="4343718"/>
            <a:ext cx="0" cy="457200"/>
          </a:xfrm>
          <a:prstGeom prst="line">
            <a:avLst/>
          </a:prstGeom>
          <a:ln w="28575" cap="flat" cmpd="sng">
            <a:solidFill>
              <a:schemeClr val="hlink"/>
            </a:solidFill>
            <a:prstDash val="solid"/>
            <a:miter/>
            <a:headEnd type="none" w="med" len="med"/>
            <a:tailEnd type="triangle" w="med" len="med"/>
          </a:ln>
        </p:spPr>
      </p:sp>
      <p:grpSp>
        <p:nvGrpSpPr>
          <p:cNvPr id="52252" name="Group 35"/>
          <p:cNvGrpSpPr/>
          <p:nvPr/>
        </p:nvGrpSpPr>
        <p:grpSpPr>
          <a:xfrm>
            <a:off x="3069908" y="2286318"/>
            <a:ext cx="1317625" cy="307975"/>
            <a:chOff x="1121" y="1824"/>
            <a:chExt cx="830" cy="194"/>
          </a:xfrm>
        </p:grpSpPr>
        <p:sp>
          <p:nvSpPr>
            <p:cNvPr id="52253" name="Text Box 36"/>
            <p:cNvSpPr txBox="1"/>
            <p:nvPr/>
          </p:nvSpPr>
          <p:spPr>
            <a:xfrm>
              <a:off x="1121" y="1824"/>
              <a:ext cx="271"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1</a:t>
              </a:r>
              <a:endParaRPr lang="en-US" altLang="zh-CN" sz="2000" dirty="0">
                <a:latin typeface="Tahoma" panose="020B0604030504040204" charset="0"/>
                <a:ea typeface="宋体" panose="02010600030101010101" pitchFamily="2" charset="-122"/>
              </a:endParaRPr>
            </a:p>
          </p:txBody>
        </p:sp>
        <p:sp>
          <p:nvSpPr>
            <p:cNvPr id="52254" name="Text Box 37"/>
            <p:cNvSpPr txBox="1"/>
            <p:nvPr/>
          </p:nvSpPr>
          <p:spPr>
            <a:xfrm>
              <a:off x="1392" y="1824"/>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endParaRPr lang="zh-CN" altLang="zh-CN" sz="2000" dirty="0">
                <a:latin typeface="Tahoma" panose="020B0604030504040204" charset="0"/>
                <a:ea typeface="宋体" panose="02010600030101010101" pitchFamily="2" charset="-122"/>
              </a:endParaRPr>
            </a:p>
          </p:txBody>
        </p:sp>
        <p:sp>
          <p:nvSpPr>
            <p:cNvPr id="52255" name="Text Box 38"/>
            <p:cNvSpPr txBox="1"/>
            <p:nvPr/>
          </p:nvSpPr>
          <p:spPr>
            <a:xfrm>
              <a:off x="1536" y="1824"/>
              <a:ext cx="271"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0</a:t>
              </a:r>
              <a:endParaRPr lang="en-US" altLang="zh-CN" sz="2000" dirty="0">
                <a:latin typeface="Tahoma" panose="020B0604030504040204" charset="0"/>
                <a:ea typeface="宋体" panose="02010600030101010101" pitchFamily="2" charset="-122"/>
              </a:endParaRPr>
            </a:p>
          </p:txBody>
        </p:sp>
        <p:sp>
          <p:nvSpPr>
            <p:cNvPr id="52256" name="Text Box 39"/>
            <p:cNvSpPr txBox="1"/>
            <p:nvPr/>
          </p:nvSpPr>
          <p:spPr>
            <a:xfrm>
              <a:off x="1807" y="1824"/>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endParaRPr lang="zh-CN" altLang="zh-CN" sz="2000" dirty="0">
                <a:latin typeface="Tahoma" panose="020B0604030504040204" charset="0"/>
                <a:ea typeface="宋体" panose="02010600030101010101" pitchFamily="2" charset="-122"/>
              </a:endParaRPr>
            </a:p>
          </p:txBody>
        </p:sp>
      </p:grpSp>
      <p:grpSp>
        <p:nvGrpSpPr>
          <p:cNvPr id="52257" name="Group 40"/>
          <p:cNvGrpSpPr/>
          <p:nvPr/>
        </p:nvGrpSpPr>
        <p:grpSpPr>
          <a:xfrm>
            <a:off x="8099108" y="2286318"/>
            <a:ext cx="1317625" cy="307975"/>
            <a:chOff x="1121" y="1824"/>
            <a:chExt cx="830" cy="194"/>
          </a:xfrm>
        </p:grpSpPr>
        <p:sp>
          <p:nvSpPr>
            <p:cNvPr id="52258" name="Text Box 41"/>
            <p:cNvSpPr txBox="1"/>
            <p:nvPr/>
          </p:nvSpPr>
          <p:spPr>
            <a:xfrm>
              <a:off x="1121" y="1824"/>
              <a:ext cx="271"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1</a:t>
              </a:r>
              <a:endParaRPr lang="en-US" altLang="zh-CN" sz="2000" dirty="0">
                <a:latin typeface="Tahoma" panose="020B0604030504040204" charset="0"/>
                <a:ea typeface="宋体" panose="02010600030101010101" pitchFamily="2" charset="-122"/>
              </a:endParaRPr>
            </a:p>
          </p:txBody>
        </p:sp>
        <p:sp>
          <p:nvSpPr>
            <p:cNvPr id="52259" name="Text Box 42"/>
            <p:cNvSpPr txBox="1"/>
            <p:nvPr/>
          </p:nvSpPr>
          <p:spPr>
            <a:xfrm>
              <a:off x="1392" y="1824"/>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a:t>
              </a:r>
              <a:endParaRPr lang="en-US" altLang="zh-CN" sz="2000" dirty="0">
                <a:latin typeface="Tahoma" panose="020B0604030504040204" charset="0"/>
                <a:ea typeface="宋体" panose="02010600030101010101" pitchFamily="2" charset="-122"/>
              </a:endParaRPr>
            </a:p>
          </p:txBody>
        </p:sp>
        <p:sp>
          <p:nvSpPr>
            <p:cNvPr id="52260" name="Text Box 43"/>
            <p:cNvSpPr txBox="1"/>
            <p:nvPr/>
          </p:nvSpPr>
          <p:spPr>
            <a:xfrm>
              <a:off x="1536" y="1824"/>
              <a:ext cx="271"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5</a:t>
              </a:r>
              <a:endParaRPr lang="en-US" altLang="zh-CN" sz="2000" dirty="0">
                <a:latin typeface="Tahoma" panose="020B0604030504040204" charset="0"/>
                <a:ea typeface="宋体" panose="02010600030101010101" pitchFamily="2" charset="-122"/>
              </a:endParaRPr>
            </a:p>
          </p:txBody>
        </p:sp>
        <p:sp>
          <p:nvSpPr>
            <p:cNvPr id="52261" name="Text Box 44"/>
            <p:cNvSpPr txBox="1"/>
            <p:nvPr/>
          </p:nvSpPr>
          <p:spPr>
            <a:xfrm>
              <a:off x="1807" y="1824"/>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a:t>
              </a:r>
              <a:endParaRPr lang="en-US" altLang="zh-CN" sz="2000" dirty="0">
                <a:latin typeface="Tahoma" panose="020B0604030504040204" charset="0"/>
                <a:ea typeface="宋体" panose="02010600030101010101" pitchFamily="2" charset="-122"/>
              </a:endParaRPr>
            </a:p>
          </p:txBody>
        </p:sp>
      </p:grpSp>
      <p:grpSp>
        <p:nvGrpSpPr>
          <p:cNvPr id="52262" name="Group 45"/>
          <p:cNvGrpSpPr/>
          <p:nvPr/>
        </p:nvGrpSpPr>
        <p:grpSpPr>
          <a:xfrm>
            <a:off x="6422708" y="3505518"/>
            <a:ext cx="1317625" cy="307975"/>
            <a:chOff x="1121" y="1824"/>
            <a:chExt cx="830" cy="194"/>
          </a:xfrm>
        </p:grpSpPr>
        <p:sp>
          <p:nvSpPr>
            <p:cNvPr id="52263" name="Text Box 46"/>
            <p:cNvSpPr txBox="1"/>
            <p:nvPr/>
          </p:nvSpPr>
          <p:spPr>
            <a:xfrm>
              <a:off x="1121" y="1824"/>
              <a:ext cx="271"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3</a:t>
              </a:r>
              <a:endParaRPr lang="en-US" altLang="zh-CN" sz="2000" dirty="0">
                <a:latin typeface="Tahoma" panose="020B0604030504040204" charset="0"/>
                <a:ea typeface="宋体" panose="02010600030101010101" pitchFamily="2" charset="-122"/>
              </a:endParaRPr>
            </a:p>
          </p:txBody>
        </p:sp>
        <p:sp>
          <p:nvSpPr>
            <p:cNvPr id="52264" name="Text Box 47"/>
            <p:cNvSpPr txBox="1"/>
            <p:nvPr/>
          </p:nvSpPr>
          <p:spPr>
            <a:xfrm>
              <a:off x="1392" y="1824"/>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endParaRPr lang="zh-CN" altLang="zh-CN" sz="2000" dirty="0">
                <a:latin typeface="Tahoma" panose="020B0604030504040204" charset="0"/>
                <a:ea typeface="宋体" panose="02010600030101010101" pitchFamily="2" charset="-122"/>
              </a:endParaRPr>
            </a:p>
          </p:txBody>
        </p:sp>
        <p:sp>
          <p:nvSpPr>
            <p:cNvPr id="52265" name="Text Box 48"/>
            <p:cNvSpPr txBox="1"/>
            <p:nvPr/>
          </p:nvSpPr>
          <p:spPr>
            <a:xfrm>
              <a:off x="1536" y="1824"/>
              <a:ext cx="271"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5</a:t>
              </a:r>
              <a:endParaRPr lang="en-US" altLang="zh-CN" sz="2000" dirty="0">
                <a:latin typeface="Tahoma" panose="020B0604030504040204" charset="0"/>
                <a:ea typeface="宋体" panose="02010600030101010101" pitchFamily="2" charset="-122"/>
              </a:endParaRPr>
            </a:p>
          </p:txBody>
        </p:sp>
        <p:sp>
          <p:nvSpPr>
            <p:cNvPr id="52266" name="Text Box 49"/>
            <p:cNvSpPr txBox="1"/>
            <p:nvPr/>
          </p:nvSpPr>
          <p:spPr>
            <a:xfrm>
              <a:off x="1807" y="1824"/>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endParaRPr lang="zh-CN" altLang="zh-CN" sz="2000" dirty="0">
                <a:latin typeface="Tahoma" panose="020B0604030504040204" charset="0"/>
                <a:ea typeface="宋体" panose="02010600030101010101" pitchFamily="2" charset="-122"/>
              </a:endParaRPr>
            </a:p>
          </p:txBody>
        </p:sp>
      </p:grpSp>
      <p:grpSp>
        <p:nvGrpSpPr>
          <p:cNvPr id="52267" name="Group 50"/>
          <p:cNvGrpSpPr/>
          <p:nvPr/>
        </p:nvGrpSpPr>
        <p:grpSpPr>
          <a:xfrm>
            <a:off x="4746308" y="2286318"/>
            <a:ext cx="1317625" cy="307975"/>
            <a:chOff x="1121" y="1824"/>
            <a:chExt cx="830" cy="194"/>
          </a:xfrm>
        </p:grpSpPr>
        <p:sp>
          <p:nvSpPr>
            <p:cNvPr id="52268" name="Text Box 51"/>
            <p:cNvSpPr txBox="1"/>
            <p:nvPr/>
          </p:nvSpPr>
          <p:spPr>
            <a:xfrm>
              <a:off x="1121" y="1824"/>
              <a:ext cx="271"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1</a:t>
              </a:r>
              <a:endParaRPr lang="en-US" altLang="zh-CN" sz="2000" dirty="0">
                <a:latin typeface="Tahoma" panose="020B0604030504040204" charset="0"/>
                <a:ea typeface="宋体" panose="02010600030101010101" pitchFamily="2" charset="-122"/>
              </a:endParaRPr>
            </a:p>
          </p:txBody>
        </p:sp>
        <p:sp>
          <p:nvSpPr>
            <p:cNvPr id="52269" name="Text Box 52"/>
            <p:cNvSpPr txBox="1"/>
            <p:nvPr/>
          </p:nvSpPr>
          <p:spPr>
            <a:xfrm>
              <a:off x="1392" y="1824"/>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endParaRPr lang="zh-CN" altLang="zh-CN" sz="2000" dirty="0">
                <a:latin typeface="Tahoma" panose="020B0604030504040204" charset="0"/>
                <a:ea typeface="宋体" panose="02010600030101010101" pitchFamily="2" charset="-122"/>
              </a:endParaRPr>
            </a:p>
          </p:txBody>
        </p:sp>
        <p:sp>
          <p:nvSpPr>
            <p:cNvPr id="52270" name="Text Box 53"/>
            <p:cNvSpPr txBox="1"/>
            <p:nvPr/>
          </p:nvSpPr>
          <p:spPr>
            <a:xfrm>
              <a:off x="1536" y="1824"/>
              <a:ext cx="271"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2</a:t>
              </a:r>
              <a:endParaRPr lang="en-US" altLang="zh-CN" sz="2000" dirty="0">
                <a:latin typeface="Tahoma" panose="020B0604030504040204" charset="0"/>
                <a:ea typeface="宋体" panose="02010600030101010101" pitchFamily="2" charset="-122"/>
              </a:endParaRPr>
            </a:p>
          </p:txBody>
        </p:sp>
        <p:sp>
          <p:nvSpPr>
            <p:cNvPr id="52271" name="Text Box 54"/>
            <p:cNvSpPr txBox="1"/>
            <p:nvPr/>
          </p:nvSpPr>
          <p:spPr>
            <a:xfrm>
              <a:off x="1807" y="1824"/>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endParaRPr lang="zh-CN" altLang="zh-CN" sz="2000" dirty="0">
                <a:latin typeface="Tahoma" panose="020B0604030504040204" charset="0"/>
                <a:ea typeface="宋体" panose="02010600030101010101" pitchFamily="2" charset="-122"/>
              </a:endParaRPr>
            </a:p>
          </p:txBody>
        </p:sp>
      </p:grpSp>
      <p:grpSp>
        <p:nvGrpSpPr>
          <p:cNvPr id="52272" name="Group 55"/>
          <p:cNvGrpSpPr/>
          <p:nvPr/>
        </p:nvGrpSpPr>
        <p:grpSpPr>
          <a:xfrm>
            <a:off x="3069908" y="4800918"/>
            <a:ext cx="1317625" cy="307975"/>
            <a:chOff x="1121" y="1824"/>
            <a:chExt cx="830" cy="194"/>
          </a:xfrm>
        </p:grpSpPr>
        <p:sp>
          <p:nvSpPr>
            <p:cNvPr id="52273" name="Text Box 56"/>
            <p:cNvSpPr txBox="1"/>
            <p:nvPr/>
          </p:nvSpPr>
          <p:spPr>
            <a:xfrm>
              <a:off x="1121" y="1824"/>
              <a:ext cx="271"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5</a:t>
              </a:r>
              <a:endParaRPr lang="en-US" altLang="zh-CN" sz="2000" dirty="0">
                <a:latin typeface="Tahoma" panose="020B0604030504040204" charset="0"/>
                <a:ea typeface="宋体" panose="02010600030101010101" pitchFamily="2" charset="-122"/>
              </a:endParaRPr>
            </a:p>
          </p:txBody>
        </p:sp>
        <p:sp>
          <p:nvSpPr>
            <p:cNvPr id="52274" name="Text Box 57"/>
            <p:cNvSpPr txBox="1"/>
            <p:nvPr/>
          </p:nvSpPr>
          <p:spPr>
            <a:xfrm>
              <a:off x="1392" y="1824"/>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endParaRPr lang="zh-CN" altLang="zh-CN" sz="2000" dirty="0">
                <a:latin typeface="Tahoma" panose="020B0604030504040204" charset="0"/>
                <a:ea typeface="宋体" panose="02010600030101010101" pitchFamily="2" charset="-122"/>
              </a:endParaRPr>
            </a:p>
          </p:txBody>
        </p:sp>
        <p:sp>
          <p:nvSpPr>
            <p:cNvPr id="52275" name="Text Box 58"/>
            <p:cNvSpPr txBox="1"/>
            <p:nvPr/>
          </p:nvSpPr>
          <p:spPr>
            <a:xfrm>
              <a:off x="1536" y="1824"/>
              <a:ext cx="271"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0</a:t>
              </a:r>
              <a:endParaRPr lang="en-US" altLang="zh-CN" sz="2000" dirty="0">
                <a:latin typeface="Tahoma" panose="020B0604030504040204" charset="0"/>
                <a:ea typeface="宋体" panose="02010600030101010101" pitchFamily="2" charset="-122"/>
              </a:endParaRPr>
            </a:p>
          </p:txBody>
        </p:sp>
        <p:sp>
          <p:nvSpPr>
            <p:cNvPr id="52276" name="Text Box 59"/>
            <p:cNvSpPr txBox="1"/>
            <p:nvPr/>
          </p:nvSpPr>
          <p:spPr>
            <a:xfrm>
              <a:off x="1807" y="1824"/>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a:t>
              </a:r>
              <a:endParaRPr lang="en-US" altLang="zh-CN" sz="2000" dirty="0">
                <a:latin typeface="Tahoma" panose="020B0604030504040204" charset="0"/>
                <a:ea typeface="宋体" panose="02010600030101010101" pitchFamily="2" charset="-122"/>
              </a:endParaRPr>
            </a:p>
          </p:txBody>
        </p:sp>
      </p:grpSp>
      <p:grpSp>
        <p:nvGrpSpPr>
          <p:cNvPr id="52277" name="Group 60"/>
          <p:cNvGrpSpPr/>
          <p:nvPr/>
        </p:nvGrpSpPr>
        <p:grpSpPr>
          <a:xfrm>
            <a:off x="3069908" y="4115118"/>
            <a:ext cx="1317625" cy="307975"/>
            <a:chOff x="1121" y="1824"/>
            <a:chExt cx="830" cy="194"/>
          </a:xfrm>
        </p:grpSpPr>
        <p:sp>
          <p:nvSpPr>
            <p:cNvPr id="52278" name="Text Box 61"/>
            <p:cNvSpPr txBox="1"/>
            <p:nvPr/>
          </p:nvSpPr>
          <p:spPr>
            <a:xfrm>
              <a:off x="1121" y="1824"/>
              <a:ext cx="271"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4</a:t>
              </a:r>
              <a:endParaRPr lang="en-US" altLang="zh-CN" sz="2000" dirty="0">
                <a:latin typeface="Tahoma" panose="020B0604030504040204" charset="0"/>
                <a:ea typeface="宋体" panose="02010600030101010101" pitchFamily="2" charset="-122"/>
              </a:endParaRPr>
            </a:p>
          </p:txBody>
        </p:sp>
        <p:sp>
          <p:nvSpPr>
            <p:cNvPr id="52279" name="Text Box 62"/>
            <p:cNvSpPr txBox="1"/>
            <p:nvPr/>
          </p:nvSpPr>
          <p:spPr>
            <a:xfrm>
              <a:off x="1392" y="1824"/>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endParaRPr lang="zh-CN" altLang="zh-CN" sz="2000" dirty="0">
                <a:latin typeface="Tahoma" panose="020B0604030504040204" charset="0"/>
                <a:ea typeface="宋体" panose="02010600030101010101" pitchFamily="2" charset="-122"/>
              </a:endParaRPr>
            </a:p>
          </p:txBody>
        </p:sp>
        <p:sp>
          <p:nvSpPr>
            <p:cNvPr id="52280" name="Text Box 63"/>
            <p:cNvSpPr txBox="1"/>
            <p:nvPr/>
          </p:nvSpPr>
          <p:spPr>
            <a:xfrm>
              <a:off x="1536" y="1824"/>
              <a:ext cx="271"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0</a:t>
              </a:r>
              <a:endParaRPr lang="en-US" altLang="zh-CN" sz="2000" dirty="0">
                <a:latin typeface="Tahoma" panose="020B0604030504040204" charset="0"/>
                <a:ea typeface="宋体" panose="02010600030101010101" pitchFamily="2" charset="-122"/>
              </a:endParaRPr>
            </a:p>
          </p:txBody>
        </p:sp>
        <p:sp>
          <p:nvSpPr>
            <p:cNvPr id="52281" name="Text Box 64"/>
            <p:cNvSpPr txBox="1"/>
            <p:nvPr/>
          </p:nvSpPr>
          <p:spPr>
            <a:xfrm>
              <a:off x="1807" y="1824"/>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endParaRPr lang="zh-CN" altLang="zh-CN" sz="2000" dirty="0">
                <a:latin typeface="Tahoma" panose="020B0604030504040204" charset="0"/>
                <a:ea typeface="宋体" panose="02010600030101010101" pitchFamily="2" charset="-122"/>
              </a:endParaRPr>
            </a:p>
          </p:txBody>
        </p:sp>
      </p:grpSp>
      <p:grpSp>
        <p:nvGrpSpPr>
          <p:cNvPr id="52282" name="Group 65"/>
          <p:cNvGrpSpPr/>
          <p:nvPr/>
        </p:nvGrpSpPr>
        <p:grpSpPr>
          <a:xfrm>
            <a:off x="3069908" y="3505518"/>
            <a:ext cx="1317625" cy="307975"/>
            <a:chOff x="1121" y="1824"/>
            <a:chExt cx="830" cy="194"/>
          </a:xfrm>
        </p:grpSpPr>
        <p:sp>
          <p:nvSpPr>
            <p:cNvPr id="52283" name="Text Box 66"/>
            <p:cNvSpPr txBox="1"/>
            <p:nvPr/>
          </p:nvSpPr>
          <p:spPr>
            <a:xfrm>
              <a:off x="1121" y="1824"/>
              <a:ext cx="271"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3</a:t>
              </a:r>
              <a:endParaRPr lang="en-US" altLang="zh-CN" sz="2000" dirty="0">
                <a:latin typeface="Tahoma" panose="020B0604030504040204" charset="0"/>
                <a:ea typeface="宋体" panose="02010600030101010101" pitchFamily="2" charset="-122"/>
              </a:endParaRPr>
            </a:p>
          </p:txBody>
        </p:sp>
        <p:sp>
          <p:nvSpPr>
            <p:cNvPr id="52284" name="Text Box 67"/>
            <p:cNvSpPr txBox="1"/>
            <p:nvPr/>
          </p:nvSpPr>
          <p:spPr>
            <a:xfrm>
              <a:off x="1392" y="1824"/>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endParaRPr lang="zh-CN" altLang="zh-CN" sz="2000" dirty="0">
                <a:latin typeface="Tahoma" panose="020B0604030504040204" charset="0"/>
                <a:ea typeface="宋体" panose="02010600030101010101" pitchFamily="2" charset="-122"/>
              </a:endParaRPr>
            </a:p>
          </p:txBody>
        </p:sp>
        <p:sp>
          <p:nvSpPr>
            <p:cNvPr id="52285" name="Text Box 68"/>
            <p:cNvSpPr txBox="1"/>
            <p:nvPr/>
          </p:nvSpPr>
          <p:spPr>
            <a:xfrm>
              <a:off x="1536" y="1824"/>
              <a:ext cx="271"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2</a:t>
              </a:r>
              <a:endParaRPr lang="en-US" altLang="zh-CN" sz="2000" dirty="0">
                <a:latin typeface="Tahoma" panose="020B0604030504040204" charset="0"/>
                <a:ea typeface="宋体" panose="02010600030101010101" pitchFamily="2" charset="-122"/>
              </a:endParaRPr>
            </a:p>
          </p:txBody>
        </p:sp>
        <p:sp>
          <p:nvSpPr>
            <p:cNvPr id="52286" name="Text Box 69"/>
            <p:cNvSpPr txBox="1"/>
            <p:nvPr/>
          </p:nvSpPr>
          <p:spPr>
            <a:xfrm>
              <a:off x="1807" y="1824"/>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a:t>
              </a:r>
              <a:endParaRPr lang="en-US" altLang="zh-CN" sz="2000" dirty="0">
                <a:latin typeface="Tahoma" panose="020B0604030504040204" charset="0"/>
                <a:ea typeface="宋体" panose="02010600030101010101" pitchFamily="2" charset="-122"/>
              </a:endParaRPr>
            </a:p>
          </p:txBody>
        </p:sp>
      </p:grpSp>
      <p:grpSp>
        <p:nvGrpSpPr>
          <p:cNvPr id="52287" name="Group 70"/>
          <p:cNvGrpSpPr/>
          <p:nvPr/>
        </p:nvGrpSpPr>
        <p:grpSpPr>
          <a:xfrm>
            <a:off x="4746308" y="3505518"/>
            <a:ext cx="1317625" cy="307975"/>
            <a:chOff x="1121" y="1824"/>
            <a:chExt cx="830" cy="194"/>
          </a:xfrm>
        </p:grpSpPr>
        <p:sp>
          <p:nvSpPr>
            <p:cNvPr id="52288" name="Text Box 71"/>
            <p:cNvSpPr txBox="1"/>
            <p:nvPr/>
          </p:nvSpPr>
          <p:spPr>
            <a:xfrm>
              <a:off x="1121" y="1824"/>
              <a:ext cx="271"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3</a:t>
              </a:r>
              <a:endParaRPr lang="en-US" altLang="zh-CN" sz="2000" dirty="0">
                <a:latin typeface="Tahoma" panose="020B0604030504040204" charset="0"/>
                <a:ea typeface="宋体" panose="02010600030101010101" pitchFamily="2" charset="-122"/>
              </a:endParaRPr>
            </a:p>
          </p:txBody>
        </p:sp>
        <p:sp>
          <p:nvSpPr>
            <p:cNvPr id="52289" name="Text Box 72"/>
            <p:cNvSpPr txBox="1"/>
            <p:nvPr/>
          </p:nvSpPr>
          <p:spPr>
            <a:xfrm>
              <a:off x="1392" y="1824"/>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endParaRPr lang="zh-CN" altLang="zh-CN" sz="2000" dirty="0">
                <a:latin typeface="Tahoma" panose="020B0604030504040204" charset="0"/>
                <a:ea typeface="宋体" panose="02010600030101010101" pitchFamily="2" charset="-122"/>
              </a:endParaRPr>
            </a:p>
          </p:txBody>
        </p:sp>
        <p:sp>
          <p:nvSpPr>
            <p:cNvPr id="52290" name="Text Box 73"/>
            <p:cNvSpPr txBox="1"/>
            <p:nvPr/>
          </p:nvSpPr>
          <p:spPr>
            <a:xfrm>
              <a:off x="1536" y="1824"/>
              <a:ext cx="271"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4</a:t>
              </a:r>
              <a:endParaRPr lang="en-US" altLang="zh-CN" sz="2000" dirty="0">
                <a:latin typeface="Tahoma" panose="020B0604030504040204" charset="0"/>
                <a:ea typeface="宋体" panose="02010600030101010101" pitchFamily="2" charset="-122"/>
              </a:endParaRPr>
            </a:p>
          </p:txBody>
        </p:sp>
        <p:sp>
          <p:nvSpPr>
            <p:cNvPr id="52291" name="Text Box 74"/>
            <p:cNvSpPr txBox="1"/>
            <p:nvPr/>
          </p:nvSpPr>
          <p:spPr>
            <a:xfrm>
              <a:off x="1807" y="1824"/>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endParaRPr lang="zh-CN" altLang="zh-CN" sz="2000" dirty="0">
                <a:latin typeface="Tahoma" panose="020B0604030504040204" charset="0"/>
                <a:ea typeface="宋体" panose="02010600030101010101" pitchFamily="2" charset="-122"/>
              </a:endParaRPr>
            </a:p>
          </p:txBody>
        </p:sp>
      </p:grpSp>
      <p:grpSp>
        <p:nvGrpSpPr>
          <p:cNvPr id="52292" name="Group 75"/>
          <p:cNvGrpSpPr/>
          <p:nvPr/>
        </p:nvGrpSpPr>
        <p:grpSpPr>
          <a:xfrm>
            <a:off x="4746308" y="4800918"/>
            <a:ext cx="1317625" cy="307975"/>
            <a:chOff x="1121" y="1824"/>
            <a:chExt cx="830" cy="194"/>
          </a:xfrm>
        </p:grpSpPr>
        <p:sp>
          <p:nvSpPr>
            <p:cNvPr id="52293" name="Text Box 76"/>
            <p:cNvSpPr txBox="1"/>
            <p:nvPr/>
          </p:nvSpPr>
          <p:spPr>
            <a:xfrm>
              <a:off x="1121" y="1824"/>
              <a:ext cx="271"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5</a:t>
              </a:r>
              <a:endParaRPr lang="en-US" altLang="zh-CN" sz="2000" dirty="0">
                <a:latin typeface="Tahoma" panose="020B0604030504040204" charset="0"/>
                <a:ea typeface="宋体" panose="02010600030101010101" pitchFamily="2" charset="-122"/>
              </a:endParaRPr>
            </a:p>
          </p:txBody>
        </p:sp>
        <p:sp>
          <p:nvSpPr>
            <p:cNvPr id="52294" name="Text Box 77"/>
            <p:cNvSpPr txBox="1"/>
            <p:nvPr/>
          </p:nvSpPr>
          <p:spPr>
            <a:xfrm>
              <a:off x="1392" y="1824"/>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endParaRPr lang="zh-CN" altLang="zh-CN" sz="2000" dirty="0">
                <a:latin typeface="Tahoma" panose="020B0604030504040204" charset="0"/>
                <a:ea typeface="宋体" panose="02010600030101010101" pitchFamily="2" charset="-122"/>
              </a:endParaRPr>
            </a:p>
          </p:txBody>
        </p:sp>
        <p:sp>
          <p:nvSpPr>
            <p:cNvPr id="52295" name="Text Box 78"/>
            <p:cNvSpPr txBox="1"/>
            <p:nvPr/>
          </p:nvSpPr>
          <p:spPr>
            <a:xfrm>
              <a:off x="1536" y="1824"/>
              <a:ext cx="271"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4</a:t>
              </a:r>
              <a:endParaRPr lang="en-US" altLang="zh-CN" sz="2000" dirty="0">
                <a:latin typeface="Tahoma" panose="020B0604030504040204" charset="0"/>
                <a:ea typeface="宋体" panose="02010600030101010101" pitchFamily="2" charset="-122"/>
              </a:endParaRPr>
            </a:p>
          </p:txBody>
        </p:sp>
        <p:sp>
          <p:nvSpPr>
            <p:cNvPr id="52296" name="Text Box 79"/>
            <p:cNvSpPr txBox="1"/>
            <p:nvPr/>
          </p:nvSpPr>
          <p:spPr>
            <a:xfrm>
              <a:off x="1807" y="1824"/>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a:t>
              </a:r>
              <a:endParaRPr lang="en-US" altLang="zh-CN" sz="2000" dirty="0">
                <a:latin typeface="Tahoma" panose="020B0604030504040204" charset="0"/>
                <a:ea typeface="宋体" panose="02010600030101010101" pitchFamily="2" charset="-122"/>
              </a:endParaRPr>
            </a:p>
          </p:txBody>
        </p:sp>
      </p:grpSp>
      <p:grpSp>
        <p:nvGrpSpPr>
          <p:cNvPr id="52297" name="Group 80"/>
          <p:cNvGrpSpPr/>
          <p:nvPr/>
        </p:nvGrpSpPr>
        <p:grpSpPr>
          <a:xfrm>
            <a:off x="6422708" y="2286318"/>
            <a:ext cx="1317625" cy="307975"/>
            <a:chOff x="1121" y="1824"/>
            <a:chExt cx="830" cy="194"/>
          </a:xfrm>
        </p:grpSpPr>
        <p:sp>
          <p:nvSpPr>
            <p:cNvPr id="52298" name="Text Box 81"/>
            <p:cNvSpPr txBox="1"/>
            <p:nvPr/>
          </p:nvSpPr>
          <p:spPr>
            <a:xfrm>
              <a:off x="1121" y="1824"/>
              <a:ext cx="271"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1</a:t>
              </a:r>
              <a:endParaRPr lang="en-US" altLang="zh-CN" sz="2000" dirty="0">
                <a:latin typeface="Tahoma" panose="020B0604030504040204" charset="0"/>
                <a:ea typeface="宋体" panose="02010600030101010101" pitchFamily="2" charset="-122"/>
              </a:endParaRPr>
            </a:p>
          </p:txBody>
        </p:sp>
        <p:sp>
          <p:nvSpPr>
            <p:cNvPr id="52299" name="Text Box 82"/>
            <p:cNvSpPr txBox="1"/>
            <p:nvPr/>
          </p:nvSpPr>
          <p:spPr>
            <a:xfrm>
              <a:off x="1392" y="1824"/>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endParaRPr lang="zh-CN" altLang="zh-CN" sz="2000" dirty="0">
                <a:latin typeface="Tahoma" panose="020B0604030504040204" charset="0"/>
                <a:ea typeface="宋体" panose="02010600030101010101" pitchFamily="2" charset="-122"/>
              </a:endParaRPr>
            </a:p>
          </p:txBody>
        </p:sp>
        <p:sp>
          <p:nvSpPr>
            <p:cNvPr id="52300" name="Text Box 83"/>
            <p:cNvSpPr txBox="1"/>
            <p:nvPr/>
          </p:nvSpPr>
          <p:spPr>
            <a:xfrm>
              <a:off x="1536" y="1824"/>
              <a:ext cx="271"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3</a:t>
              </a:r>
              <a:endParaRPr lang="en-US" altLang="zh-CN" sz="2000" dirty="0">
                <a:latin typeface="Tahoma" panose="020B0604030504040204" charset="0"/>
                <a:ea typeface="宋体" panose="02010600030101010101" pitchFamily="2" charset="-122"/>
              </a:endParaRPr>
            </a:p>
          </p:txBody>
        </p:sp>
        <p:sp>
          <p:nvSpPr>
            <p:cNvPr id="52301" name="Text Box 84"/>
            <p:cNvSpPr txBox="1"/>
            <p:nvPr/>
          </p:nvSpPr>
          <p:spPr>
            <a:xfrm>
              <a:off x="1807" y="1824"/>
              <a:ext cx="144" cy="194"/>
            </a:xfrm>
            <a:prstGeom prst="rect">
              <a:avLst/>
            </a:prstGeom>
            <a:noFill/>
            <a:ln w="25400" cap="flat" cmpd="sng">
              <a:solidFill>
                <a:srgbClr val="0000FF"/>
              </a:solidFill>
              <a:prstDash val="solid"/>
              <a:miter/>
              <a:headEnd type="none" w="med" len="med"/>
              <a:tailEnd type="none" w="med" len="med"/>
            </a:ln>
          </p:spPr>
          <p:txBody>
            <a:bodyPr lIns="0" tIns="0" rIns="0" bIns="0" anchor="t" anchorCtr="0">
              <a:spAutoFit/>
            </a:bodyPr>
            <a:p>
              <a:pPr algn="ctr"/>
              <a:r>
                <a:rPr lang="en-US" altLang="zh-CN" sz="2000" dirty="0">
                  <a:latin typeface="Tahoma" panose="020B0604030504040204" charset="0"/>
                  <a:ea typeface="宋体" panose="02010600030101010101" pitchFamily="2" charset="-122"/>
                </a:rPr>
                <a:t>^</a:t>
              </a:r>
              <a:endParaRPr lang="en-US" altLang="zh-CN" sz="2000" dirty="0">
                <a:latin typeface="Tahoma" panose="020B0604030504040204" charset="0"/>
                <a:ea typeface="宋体" panose="02010600030101010101" pitchFamily="2" charset="-122"/>
              </a:endParaRPr>
            </a:p>
          </p:txBody>
        </p:sp>
      </p:grpSp>
      <p:sp>
        <p:nvSpPr>
          <p:cNvPr id="52302" name="Line 85"/>
          <p:cNvSpPr/>
          <p:nvPr/>
        </p:nvSpPr>
        <p:spPr>
          <a:xfrm>
            <a:off x="2536508" y="2438718"/>
            <a:ext cx="484187" cy="0"/>
          </a:xfrm>
          <a:prstGeom prst="line">
            <a:avLst/>
          </a:prstGeom>
          <a:ln w="28575" cap="flat" cmpd="sng">
            <a:solidFill>
              <a:srgbClr val="00FF00"/>
            </a:solidFill>
            <a:prstDash val="solid"/>
            <a:miter/>
            <a:headEnd type="none" w="med" len="med"/>
            <a:tailEnd type="triangle" w="med" len="med"/>
          </a:ln>
        </p:spPr>
      </p:sp>
      <p:sp>
        <p:nvSpPr>
          <p:cNvPr id="52303" name="Line 86"/>
          <p:cNvSpPr/>
          <p:nvPr/>
        </p:nvSpPr>
        <p:spPr>
          <a:xfrm>
            <a:off x="2536508" y="2972118"/>
            <a:ext cx="3048000" cy="0"/>
          </a:xfrm>
          <a:prstGeom prst="line">
            <a:avLst/>
          </a:prstGeom>
          <a:ln w="28575" cap="flat" cmpd="sng">
            <a:solidFill>
              <a:srgbClr val="00FF00"/>
            </a:solidFill>
            <a:prstDash val="solid"/>
            <a:miter/>
            <a:headEnd type="none" w="med" len="med"/>
            <a:tailEnd type="none" w="med" len="med"/>
          </a:ln>
        </p:spPr>
      </p:sp>
      <p:sp>
        <p:nvSpPr>
          <p:cNvPr id="52304" name="Line 87"/>
          <p:cNvSpPr/>
          <p:nvPr/>
        </p:nvSpPr>
        <p:spPr>
          <a:xfrm>
            <a:off x="2536508" y="3657918"/>
            <a:ext cx="484187" cy="0"/>
          </a:xfrm>
          <a:prstGeom prst="line">
            <a:avLst/>
          </a:prstGeom>
          <a:ln w="28575" cap="flat" cmpd="sng">
            <a:solidFill>
              <a:srgbClr val="00FF00"/>
            </a:solidFill>
            <a:prstDash val="solid"/>
            <a:miter/>
            <a:headEnd type="none" w="med" len="med"/>
            <a:tailEnd type="triangle" w="med" len="med"/>
          </a:ln>
        </p:spPr>
      </p:sp>
      <p:sp>
        <p:nvSpPr>
          <p:cNvPr id="52305" name="Line 88"/>
          <p:cNvSpPr/>
          <p:nvPr/>
        </p:nvSpPr>
        <p:spPr>
          <a:xfrm>
            <a:off x="2536508" y="4343718"/>
            <a:ext cx="484187" cy="0"/>
          </a:xfrm>
          <a:prstGeom prst="line">
            <a:avLst/>
          </a:prstGeom>
          <a:ln w="28575" cap="flat" cmpd="sng">
            <a:solidFill>
              <a:srgbClr val="00FF00"/>
            </a:solidFill>
            <a:prstDash val="solid"/>
            <a:miter/>
            <a:headEnd type="none" w="med" len="med"/>
            <a:tailEnd type="triangle" w="med" len="med"/>
          </a:ln>
        </p:spPr>
      </p:sp>
      <p:sp>
        <p:nvSpPr>
          <p:cNvPr id="52306" name="Line 89"/>
          <p:cNvSpPr/>
          <p:nvPr/>
        </p:nvSpPr>
        <p:spPr>
          <a:xfrm>
            <a:off x="2536508" y="4953318"/>
            <a:ext cx="484187" cy="0"/>
          </a:xfrm>
          <a:prstGeom prst="line">
            <a:avLst/>
          </a:prstGeom>
          <a:ln w="28575" cap="flat" cmpd="sng">
            <a:solidFill>
              <a:srgbClr val="00FF00"/>
            </a:solidFill>
            <a:prstDash val="solid"/>
            <a:miter/>
            <a:headEnd type="none" w="med" len="med"/>
            <a:tailEnd type="triangle" w="med" len="med"/>
          </a:ln>
        </p:spPr>
      </p:sp>
      <p:grpSp>
        <p:nvGrpSpPr>
          <p:cNvPr id="52307" name="Group 90"/>
          <p:cNvGrpSpPr/>
          <p:nvPr/>
        </p:nvGrpSpPr>
        <p:grpSpPr>
          <a:xfrm>
            <a:off x="3603308" y="2133918"/>
            <a:ext cx="1600200" cy="304800"/>
            <a:chOff x="1440" y="1776"/>
            <a:chExt cx="1056" cy="192"/>
          </a:xfrm>
        </p:grpSpPr>
        <p:sp>
          <p:nvSpPr>
            <p:cNvPr id="52308" name="Line 91"/>
            <p:cNvSpPr/>
            <p:nvPr/>
          </p:nvSpPr>
          <p:spPr>
            <a:xfrm>
              <a:off x="2496" y="1776"/>
              <a:ext cx="0" cy="96"/>
            </a:xfrm>
            <a:prstGeom prst="line">
              <a:avLst/>
            </a:prstGeom>
            <a:ln w="28575" cap="flat" cmpd="sng">
              <a:solidFill>
                <a:srgbClr val="00FF00"/>
              </a:solidFill>
              <a:prstDash val="solid"/>
              <a:miter/>
              <a:headEnd type="none" w="med" len="med"/>
              <a:tailEnd type="triangle" w="sm" len="sm"/>
            </a:ln>
          </p:spPr>
        </p:sp>
        <p:sp>
          <p:nvSpPr>
            <p:cNvPr id="52309" name="Line 92"/>
            <p:cNvSpPr/>
            <p:nvPr/>
          </p:nvSpPr>
          <p:spPr>
            <a:xfrm flipV="1">
              <a:off x="1440" y="1776"/>
              <a:ext cx="0" cy="192"/>
            </a:xfrm>
            <a:prstGeom prst="line">
              <a:avLst/>
            </a:prstGeom>
            <a:ln w="28575" cap="flat" cmpd="sng">
              <a:solidFill>
                <a:srgbClr val="00FF00"/>
              </a:solidFill>
              <a:prstDash val="solid"/>
              <a:miter/>
              <a:headEnd type="none" w="med" len="med"/>
              <a:tailEnd type="none" w="med" len="med"/>
            </a:ln>
          </p:spPr>
        </p:sp>
        <p:sp>
          <p:nvSpPr>
            <p:cNvPr id="52310" name="Line 93"/>
            <p:cNvSpPr/>
            <p:nvPr/>
          </p:nvSpPr>
          <p:spPr>
            <a:xfrm flipV="1">
              <a:off x="1440" y="1776"/>
              <a:ext cx="1056" cy="0"/>
            </a:xfrm>
            <a:prstGeom prst="line">
              <a:avLst/>
            </a:prstGeom>
            <a:ln w="28575" cap="flat" cmpd="sng">
              <a:solidFill>
                <a:srgbClr val="00FF00"/>
              </a:solidFill>
              <a:prstDash val="solid"/>
              <a:miter/>
              <a:headEnd type="none" w="med" len="med"/>
              <a:tailEnd type="none" w="med" len="med"/>
            </a:ln>
          </p:spPr>
        </p:sp>
      </p:grpSp>
      <p:grpSp>
        <p:nvGrpSpPr>
          <p:cNvPr id="52311" name="Group 94"/>
          <p:cNvGrpSpPr/>
          <p:nvPr/>
        </p:nvGrpSpPr>
        <p:grpSpPr>
          <a:xfrm>
            <a:off x="5355908" y="2133918"/>
            <a:ext cx="1524000" cy="304800"/>
            <a:chOff x="1440" y="1776"/>
            <a:chExt cx="1056" cy="192"/>
          </a:xfrm>
        </p:grpSpPr>
        <p:sp>
          <p:nvSpPr>
            <p:cNvPr id="52312" name="Line 95"/>
            <p:cNvSpPr/>
            <p:nvPr/>
          </p:nvSpPr>
          <p:spPr>
            <a:xfrm>
              <a:off x="2496" y="1776"/>
              <a:ext cx="0" cy="96"/>
            </a:xfrm>
            <a:prstGeom prst="line">
              <a:avLst/>
            </a:prstGeom>
            <a:ln w="28575" cap="flat" cmpd="sng">
              <a:solidFill>
                <a:srgbClr val="00FF00"/>
              </a:solidFill>
              <a:prstDash val="solid"/>
              <a:miter/>
              <a:headEnd type="none" w="med" len="med"/>
              <a:tailEnd type="triangle" w="sm" len="sm"/>
            </a:ln>
          </p:spPr>
        </p:sp>
        <p:sp>
          <p:nvSpPr>
            <p:cNvPr id="52313" name="Line 96"/>
            <p:cNvSpPr/>
            <p:nvPr/>
          </p:nvSpPr>
          <p:spPr>
            <a:xfrm flipV="1">
              <a:off x="1440" y="1776"/>
              <a:ext cx="0" cy="192"/>
            </a:xfrm>
            <a:prstGeom prst="line">
              <a:avLst/>
            </a:prstGeom>
            <a:ln w="28575" cap="flat" cmpd="sng">
              <a:solidFill>
                <a:srgbClr val="00FF00"/>
              </a:solidFill>
              <a:prstDash val="solid"/>
              <a:miter/>
              <a:headEnd type="none" w="med" len="med"/>
              <a:tailEnd type="none" w="med" len="med"/>
            </a:ln>
          </p:spPr>
        </p:sp>
        <p:sp>
          <p:nvSpPr>
            <p:cNvPr id="52314" name="Line 97"/>
            <p:cNvSpPr/>
            <p:nvPr/>
          </p:nvSpPr>
          <p:spPr>
            <a:xfrm flipV="1">
              <a:off x="1440" y="1776"/>
              <a:ext cx="1056" cy="0"/>
            </a:xfrm>
            <a:prstGeom prst="line">
              <a:avLst/>
            </a:prstGeom>
            <a:ln w="28575" cap="flat" cmpd="sng">
              <a:solidFill>
                <a:srgbClr val="00FF00"/>
              </a:solidFill>
              <a:prstDash val="solid"/>
              <a:miter/>
              <a:headEnd type="none" w="med" len="med"/>
              <a:tailEnd type="none" w="med" len="med"/>
            </a:ln>
          </p:spPr>
        </p:sp>
      </p:grpSp>
      <p:grpSp>
        <p:nvGrpSpPr>
          <p:cNvPr id="52315" name="Group 98"/>
          <p:cNvGrpSpPr/>
          <p:nvPr/>
        </p:nvGrpSpPr>
        <p:grpSpPr>
          <a:xfrm>
            <a:off x="7032308" y="2133918"/>
            <a:ext cx="1524000" cy="304800"/>
            <a:chOff x="1440" y="1776"/>
            <a:chExt cx="1056" cy="192"/>
          </a:xfrm>
        </p:grpSpPr>
        <p:sp>
          <p:nvSpPr>
            <p:cNvPr id="52316" name="Line 99"/>
            <p:cNvSpPr/>
            <p:nvPr/>
          </p:nvSpPr>
          <p:spPr>
            <a:xfrm>
              <a:off x="2496" y="1776"/>
              <a:ext cx="0" cy="96"/>
            </a:xfrm>
            <a:prstGeom prst="line">
              <a:avLst/>
            </a:prstGeom>
            <a:ln w="28575" cap="flat" cmpd="sng">
              <a:solidFill>
                <a:srgbClr val="00FF00"/>
              </a:solidFill>
              <a:prstDash val="solid"/>
              <a:miter/>
              <a:headEnd type="none" w="med" len="med"/>
              <a:tailEnd type="triangle" w="sm" len="sm"/>
            </a:ln>
          </p:spPr>
        </p:sp>
        <p:sp>
          <p:nvSpPr>
            <p:cNvPr id="52317" name="Line 100"/>
            <p:cNvSpPr/>
            <p:nvPr/>
          </p:nvSpPr>
          <p:spPr>
            <a:xfrm flipV="1">
              <a:off x="1440" y="1776"/>
              <a:ext cx="0" cy="192"/>
            </a:xfrm>
            <a:prstGeom prst="line">
              <a:avLst/>
            </a:prstGeom>
            <a:ln w="28575" cap="flat" cmpd="sng">
              <a:solidFill>
                <a:srgbClr val="00FF00"/>
              </a:solidFill>
              <a:prstDash val="solid"/>
              <a:miter/>
              <a:headEnd type="none" w="med" len="med"/>
              <a:tailEnd type="none" w="med" len="med"/>
            </a:ln>
          </p:spPr>
        </p:sp>
        <p:sp>
          <p:nvSpPr>
            <p:cNvPr id="52318" name="Line 101"/>
            <p:cNvSpPr/>
            <p:nvPr/>
          </p:nvSpPr>
          <p:spPr>
            <a:xfrm flipV="1">
              <a:off x="1440" y="1776"/>
              <a:ext cx="1056" cy="0"/>
            </a:xfrm>
            <a:prstGeom prst="line">
              <a:avLst/>
            </a:prstGeom>
            <a:ln w="28575" cap="flat" cmpd="sng">
              <a:solidFill>
                <a:srgbClr val="00FF00"/>
              </a:solidFill>
              <a:prstDash val="solid"/>
              <a:miter/>
              <a:headEnd type="none" w="med" len="med"/>
              <a:tailEnd type="none" w="med" len="med"/>
            </a:ln>
          </p:spPr>
        </p:sp>
      </p:grpSp>
      <p:grpSp>
        <p:nvGrpSpPr>
          <p:cNvPr id="52319" name="Group 102"/>
          <p:cNvGrpSpPr/>
          <p:nvPr/>
        </p:nvGrpSpPr>
        <p:grpSpPr>
          <a:xfrm>
            <a:off x="3603308" y="3353118"/>
            <a:ext cx="1600200" cy="304800"/>
            <a:chOff x="1440" y="1776"/>
            <a:chExt cx="1056" cy="192"/>
          </a:xfrm>
        </p:grpSpPr>
        <p:sp>
          <p:nvSpPr>
            <p:cNvPr id="52320" name="Line 103"/>
            <p:cNvSpPr/>
            <p:nvPr/>
          </p:nvSpPr>
          <p:spPr>
            <a:xfrm>
              <a:off x="2496" y="1776"/>
              <a:ext cx="0" cy="96"/>
            </a:xfrm>
            <a:prstGeom prst="line">
              <a:avLst/>
            </a:prstGeom>
            <a:ln w="28575" cap="flat" cmpd="sng">
              <a:solidFill>
                <a:srgbClr val="00FF00"/>
              </a:solidFill>
              <a:prstDash val="solid"/>
              <a:miter/>
              <a:headEnd type="none" w="med" len="med"/>
              <a:tailEnd type="triangle" w="sm" len="sm"/>
            </a:ln>
          </p:spPr>
        </p:sp>
        <p:sp>
          <p:nvSpPr>
            <p:cNvPr id="52321" name="Line 104"/>
            <p:cNvSpPr/>
            <p:nvPr/>
          </p:nvSpPr>
          <p:spPr>
            <a:xfrm flipV="1">
              <a:off x="1440" y="1776"/>
              <a:ext cx="0" cy="192"/>
            </a:xfrm>
            <a:prstGeom prst="line">
              <a:avLst/>
            </a:prstGeom>
            <a:ln w="28575" cap="flat" cmpd="sng">
              <a:solidFill>
                <a:srgbClr val="00FF00"/>
              </a:solidFill>
              <a:prstDash val="solid"/>
              <a:miter/>
              <a:headEnd type="none" w="med" len="med"/>
              <a:tailEnd type="none" w="med" len="med"/>
            </a:ln>
          </p:spPr>
        </p:sp>
        <p:sp>
          <p:nvSpPr>
            <p:cNvPr id="52322" name="Line 105"/>
            <p:cNvSpPr/>
            <p:nvPr/>
          </p:nvSpPr>
          <p:spPr>
            <a:xfrm flipV="1">
              <a:off x="1440" y="1776"/>
              <a:ext cx="1056" cy="0"/>
            </a:xfrm>
            <a:prstGeom prst="line">
              <a:avLst/>
            </a:prstGeom>
            <a:ln w="28575" cap="flat" cmpd="sng">
              <a:solidFill>
                <a:srgbClr val="00FF00"/>
              </a:solidFill>
              <a:prstDash val="solid"/>
              <a:miter/>
              <a:headEnd type="none" w="med" len="med"/>
              <a:tailEnd type="none" w="med" len="med"/>
            </a:ln>
          </p:spPr>
        </p:sp>
      </p:grpSp>
      <p:grpSp>
        <p:nvGrpSpPr>
          <p:cNvPr id="52323" name="Group 106"/>
          <p:cNvGrpSpPr/>
          <p:nvPr/>
        </p:nvGrpSpPr>
        <p:grpSpPr>
          <a:xfrm>
            <a:off x="5355908" y="3353118"/>
            <a:ext cx="1524000" cy="304800"/>
            <a:chOff x="1440" y="1776"/>
            <a:chExt cx="1056" cy="192"/>
          </a:xfrm>
        </p:grpSpPr>
        <p:sp>
          <p:nvSpPr>
            <p:cNvPr id="52324" name="Line 107"/>
            <p:cNvSpPr/>
            <p:nvPr/>
          </p:nvSpPr>
          <p:spPr>
            <a:xfrm>
              <a:off x="2496" y="1776"/>
              <a:ext cx="0" cy="96"/>
            </a:xfrm>
            <a:prstGeom prst="line">
              <a:avLst/>
            </a:prstGeom>
            <a:ln w="28575" cap="flat" cmpd="sng">
              <a:solidFill>
                <a:srgbClr val="00FF00"/>
              </a:solidFill>
              <a:prstDash val="solid"/>
              <a:miter/>
              <a:headEnd type="none" w="med" len="med"/>
              <a:tailEnd type="triangle" w="sm" len="sm"/>
            </a:ln>
          </p:spPr>
        </p:sp>
        <p:sp>
          <p:nvSpPr>
            <p:cNvPr id="52325" name="Line 108"/>
            <p:cNvSpPr/>
            <p:nvPr/>
          </p:nvSpPr>
          <p:spPr>
            <a:xfrm flipV="1">
              <a:off x="1440" y="1776"/>
              <a:ext cx="0" cy="192"/>
            </a:xfrm>
            <a:prstGeom prst="line">
              <a:avLst/>
            </a:prstGeom>
            <a:ln w="28575" cap="flat" cmpd="sng">
              <a:solidFill>
                <a:srgbClr val="00FF00"/>
              </a:solidFill>
              <a:prstDash val="solid"/>
              <a:miter/>
              <a:headEnd type="none" w="med" len="med"/>
              <a:tailEnd type="none" w="med" len="med"/>
            </a:ln>
          </p:spPr>
        </p:sp>
        <p:sp>
          <p:nvSpPr>
            <p:cNvPr id="52326" name="Line 109"/>
            <p:cNvSpPr/>
            <p:nvPr/>
          </p:nvSpPr>
          <p:spPr>
            <a:xfrm flipV="1">
              <a:off x="1440" y="1776"/>
              <a:ext cx="1056" cy="0"/>
            </a:xfrm>
            <a:prstGeom prst="line">
              <a:avLst/>
            </a:prstGeom>
            <a:ln w="28575" cap="flat" cmpd="sng">
              <a:solidFill>
                <a:srgbClr val="00FF00"/>
              </a:solidFill>
              <a:prstDash val="solid"/>
              <a:miter/>
              <a:headEnd type="none" w="med" len="med"/>
              <a:tailEnd type="none" w="med" len="med"/>
            </a:ln>
          </p:spPr>
        </p:sp>
      </p:grpSp>
      <p:grpSp>
        <p:nvGrpSpPr>
          <p:cNvPr id="52327" name="Group 110"/>
          <p:cNvGrpSpPr/>
          <p:nvPr/>
        </p:nvGrpSpPr>
        <p:grpSpPr>
          <a:xfrm>
            <a:off x="3603308" y="4648518"/>
            <a:ext cx="1600200" cy="304800"/>
            <a:chOff x="1440" y="1776"/>
            <a:chExt cx="1056" cy="192"/>
          </a:xfrm>
        </p:grpSpPr>
        <p:sp>
          <p:nvSpPr>
            <p:cNvPr id="52328" name="Line 111"/>
            <p:cNvSpPr/>
            <p:nvPr/>
          </p:nvSpPr>
          <p:spPr>
            <a:xfrm>
              <a:off x="2496" y="1776"/>
              <a:ext cx="0" cy="96"/>
            </a:xfrm>
            <a:prstGeom prst="line">
              <a:avLst/>
            </a:prstGeom>
            <a:ln w="28575" cap="flat" cmpd="sng">
              <a:solidFill>
                <a:srgbClr val="00FF00"/>
              </a:solidFill>
              <a:prstDash val="solid"/>
              <a:miter/>
              <a:headEnd type="none" w="med" len="med"/>
              <a:tailEnd type="triangle" w="sm" len="sm"/>
            </a:ln>
          </p:spPr>
        </p:sp>
        <p:sp>
          <p:nvSpPr>
            <p:cNvPr id="52329" name="Line 112"/>
            <p:cNvSpPr/>
            <p:nvPr/>
          </p:nvSpPr>
          <p:spPr>
            <a:xfrm flipV="1">
              <a:off x="1440" y="1776"/>
              <a:ext cx="0" cy="192"/>
            </a:xfrm>
            <a:prstGeom prst="line">
              <a:avLst/>
            </a:prstGeom>
            <a:ln w="28575" cap="flat" cmpd="sng">
              <a:solidFill>
                <a:srgbClr val="00FF00"/>
              </a:solidFill>
              <a:prstDash val="solid"/>
              <a:miter/>
              <a:headEnd type="none" w="med" len="med"/>
              <a:tailEnd type="none" w="med" len="med"/>
            </a:ln>
          </p:spPr>
        </p:sp>
        <p:sp>
          <p:nvSpPr>
            <p:cNvPr id="52330" name="Line 113"/>
            <p:cNvSpPr/>
            <p:nvPr/>
          </p:nvSpPr>
          <p:spPr>
            <a:xfrm flipV="1">
              <a:off x="1440" y="1776"/>
              <a:ext cx="1056" cy="0"/>
            </a:xfrm>
            <a:prstGeom prst="line">
              <a:avLst/>
            </a:prstGeom>
            <a:ln w="28575" cap="flat" cmpd="sng">
              <a:solidFill>
                <a:srgbClr val="00FF00"/>
              </a:solidFill>
              <a:prstDash val="solid"/>
              <a:miter/>
              <a:headEnd type="none" w="med" len="med"/>
              <a:tailEnd type="none" w="med" len="med"/>
            </a:ln>
          </p:spPr>
        </p:sp>
      </p:grpSp>
      <p:sp>
        <p:nvSpPr>
          <p:cNvPr id="52331" name="Line 114"/>
          <p:cNvSpPr/>
          <p:nvPr/>
        </p:nvSpPr>
        <p:spPr>
          <a:xfrm>
            <a:off x="4289108" y="2514918"/>
            <a:ext cx="0" cy="1600200"/>
          </a:xfrm>
          <a:prstGeom prst="line">
            <a:avLst/>
          </a:prstGeom>
          <a:ln w="28575" cap="flat" cmpd="sng">
            <a:solidFill>
              <a:schemeClr val="hlink"/>
            </a:solidFill>
            <a:prstDash val="solid"/>
            <a:miter/>
            <a:headEnd type="none" w="med" len="med"/>
            <a:tailEnd type="triangle" w="med" len="med"/>
          </a:ln>
        </p:spPr>
      </p:sp>
      <p:sp>
        <p:nvSpPr>
          <p:cNvPr id="52332" name="Line 115"/>
          <p:cNvSpPr/>
          <p:nvPr/>
        </p:nvSpPr>
        <p:spPr>
          <a:xfrm>
            <a:off x="4289108" y="1829118"/>
            <a:ext cx="0" cy="457200"/>
          </a:xfrm>
          <a:prstGeom prst="line">
            <a:avLst/>
          </a:prstGeom>
          <a:ln w="28575" cap="flat" cmpd="sng">
            <a:solidFill>
              <a:schemeClr val="hlink"/>
            </a:solidFill>
            <a:prstDash val="solid"/>
            <a:miter/>
            <a:headEnd type="none" w="med" len="med"/>
            <a:tailEnd type="triangle" w="med" len="med"/>
          </a:ln>
        </p:spPr>
      </p:sp>
      <p:sp>
        <p:nvSpPr>
          <p:cNvPr id="52333" name="Line 116"/>
          <p:cNvSpPr/>
          <p:nvPr/>
        </p:nvSpPr>
        <p:spPr>
          <a:xfrm>
            <a:off x="2612708" y="1829118"/>
            <a:ext cx="1676400" cy="0"/>
          </a:xfrm>
          <a:prstGeom prst="line">
            <a:avLst/>
          </a:prstGeom>
          <a:ln w="28575" cap="flat" cmpd="sng">
            <a:solidFill>
              <a:schemeClr val="hlink"/>
            </a:solidFill>
            <a:prstDash val="solid"/>
            <a:miter/>
            <a:headEnd type="none" w="med" len="med"/>
            <a:tailEnd type="none" w="med" len="med"/>
          </a:ln>
        </p:spPr>
      </p:sp>
      <p:sp>
        <p:nvSpPr>
          <p:cNvPr id="52334" name="Line 117"/>
          <p:cNvSpPr/>
          <p:nvPr/>
        </p:nvSpPr>
        <p:spPr>
          <a:xfrm flipH="1" flipV="1">
            <a:off x="5584508" y="2591118"/>
            <a:ext cx="0" cy="381000"/>
          </a:xfrm>
          <a:prstGeom prst="line">
            <a:avLst/>
          </a:prstGeom>
          <a:ln w="28575" cap="flat" cmpd="sng">
            <a:solidFill>
              <a:srgbClr val="00FF00"/>
            </a:solidFill>
            <a:prstDash val="solid"/>
            <a:miter/>
            <a:headEnd type="none" w="med" len="med"/>
            <a:tailEnd type="triangle" w="sm" len="sm"/>
          </a:ln>
        </p:spPr>
      </p:sp>
      <p:sp>
        <p:nvSpPr>
          <p:cNvPr id="52335" name="Line 118"/>
          <p:cNvSpPr/>
          <p:nvPr/>
        </p:nvSpPr>
        <p:spPr>
          <a:xfrm flipH="1" flipV="1">
            <a:off x="5965508" y="2438718"/>
            <a:ext cx="0" cy="685800"/>
          </a:xfrm>
          <a:prstGeom prst="line">
            <a:avLst/>
          </a:prstGeom>
          <a:ln w="28575" cap="flat" cmpd="sng">
            <a:solidFill>
              <a:srgbClr val="00FF00"/>
            </a:solidFill>
            <a:prstDash val="solid"/>
            <a:miter/>
            <a:headEnd type="none" w="med" len="med"/>
            <a:tailEnd type="none" w="med" len="med"/>
          </a:ln>
        </p:spPr>
      </p:sp>
      <p:sp>
        <p:nvSpPr>
          <p:cNvPr id="52336" name="Line 119"/>
          <p:cNvSpPr/>
          <p:nvPr/>
        </p:nvSpPr>
        <p:spPr>
          <a:xfrm>
            <a:off x="3298508" y="3124518"/>
            <a:ext cx="2667000" cy="0"/>
          </a:xfrm>
          <a:prstGeom prst="line">
            <a:avLst/>
          </a:prstGeom>
          <a:ln w="28575" cap="flat" cmpd="sng">
            <a:solidFill>
              <a:srgbClr val="00FF00"/>
            </a:solidFill>
            <a:prstDash val="solid"/>
            <a:miter/>
            <a:headEnd type="none" w="med" len="med"/>
            <a:tailEnd type="none" w="med" len="med"/>
          </a:ln>
        </p:spPr>
      </p:sp>
      <p:sp>
        <p:nvSpPr>
          <p:cNvPr id="52337" name="Line 120"/>
          <p:cNvSpPr/>
          <p:nvPr/>
        </p:nvSpPr>
        <p:spPr>
          <a:xfrm>
            <a:off x="3298508" y="3124518"/>
            <a:ext cx="0" cy="381000"/>
          </a:xfrm>
          <a:prstGeom prst="line">
            <a:avLst/>
          </a:prstGeom>
          <a:ln w="28575" cap="flat" cmpd="sng">
            <a:solidFill>
              <a:srgbClr val="00FF00"/>
            </a:solidFill>
            <a:prstDash val="solid"/>
            <a:miter/>
            <a:headEnd type="none" w="med" len="med"/>
            <a:tailEnd type="triangle" w="med" len="med"/>
          </a:ln>
        </p:spPr>
      </p:sp>
      <p:sp>
        <p:nvSpPr>
          <p:cNvPr id="52338" name="Line 121"/>
          <p:cNvSpPr/>
          <p:nvPr/>
        </p:nvSpPr>
        <p:spPr>
          <a:xfrm flipV="1">
            <a:off x="7032308" y="2667318"/>
            <a:ext cx="0" cy="1066800"/>
          </a:xfrm>
          <a:prstGeom prst="line">
            <a:avLst/>
          </a:prstGeom>
          <a:ln w="28575" cap="flat" cmpd="sng">
            <a:solidFill>
              <a:schemeClr val="hlink"/>
            </a:solidFill>
            <a:prstDash val="solid"/>
            <a:miter/>
            <a:headEnd type="none" w="med" len="med"/>
            <a:tailEnd type="triangle" w="med" len="med"/>
          </a:ln>
        </p:spPr>
      </p:sp>
      <p:sp>
        <p:nvSpPr>
          <p:cNvPr id="52339" name="Line 122"/>
          <p:cNvSpPr/>
          <p:nvPr/>
        </p:nvSpPr>
        <p:spPr>
          <a:xfrm flipH="1" flipV="1">
            <a:off x="3603308" y="3962718"/>
            <a:ext cx="0" cy="381000"/>
          </a:xfrm>
          <a:prstGeom prst="line">
            <a:avLst/>
          </a:prstGeom>
          <a:ln w="28575" cap="flat" cmpd="sng">
            <a:solidFill>
              <a:srgbClr val="00FF00"/>
            </a:solidFill>
            <a:prstDash val="solid"/>
            <a:miter/>
            <a:headEnd type="none" w="med" len="med"/>
            <a:tailEnd type="none" w="med" len="med"/>
          </a:ln>
        </p:spPr>
      </p:sp>
      <p:sp>
        <p:nvSpPr>
          <p:cNvPr id="52340" name="Line 123"/>
          <p:cNvSpPr/>
          <p:nvPr/>
        </p:nvSpPr>
        <p:spPr>
          <a:xfrm flipH="1" flipV="1">
            <a:off x="3603308" y="3962718"/>
            <a:ext cx="1905000" cy="0"/>
          </a:xfrm>
          <a:prstGeom prst="line">
            <a:avLst/>
          </a:prstGeom>
          <a:ln w="28575" cap="flat" cmpd="sng">
            <a:solidFill>
              <a:srgbClr val="00FF00"/>
            </a:solidFill>
            <a:prstDash val="solid"/>
            <a:miter/>
            <a:headEnd type="none" w="med" len="med"/>
            <a:tailEnd type="none" w="med" len="med"/>
          </a:ln>
        </p:spPr>
      </p:sp>
      <p:sp>
        <p:nvSpPr>
          <p:cNvPr id="52341" name="Line 124"/>
          <p:cNvSpPr/>
          <p:nvPr/>
        </p:nvSpPr>
        <p:spPr>
          <a:xfrm flipH="1" flipV="1">
            <a:off x="5508308" y="3810318"/>
            <a:ext cx="0" cy="152400"/>
          </a:xfrm>
          <a:prstGeom prst="line">
            <a:avLst/>
          </a:prstGeom>
          <a:ln w="28575" cap="flat" cmpd="sng">
            <a:solidFill>
              <a:srgbClr val="00FF00"/>
            </a:solidFill>
            <a:prstDash val="solid"/>
            <a:miter/>
            <a:headEnd type="none" w="med" len="med"/>
            <a:tailEnd type="triangle" w="sm" len="sm"/>
          </a:ln>
        </p:spPr>
      </p:sp>
      <p:sp>
        <p:nvSpPr>
          <p:cNvPr id="52342" name="Line 125"/>
          <p:cNvSpPr/>
          <p:nvPr/>
        </p:nvSpPr>
        <p:spPr>
          <a:xfrm>
            <a:off x="5965508" y="3657918"/>
            <a:ext cx="0" cy="1143000"/>
          </a:xfrm>
          <a:prstGeom prst="line">
            <a:avLst/>
          </a:prstGeom>
          <a:ln w="28575" cap="flat" cmpd="sng">
            <a:solidFill>
              <a:schemeClr val="hlink"/>
            </a:solidFill>
            <a:prstDash val="solid"/>
            <a:miter/>
            <a:headEnd type="none" w="med" len="med"/>
            <a:tailEnd type="triangle" w="med" len="med"/>
          </a:ln>
        </p:spPr>
      </p:sp>
      <p:sp>
        <p:nvSpPr>
          <p:cNvPr id="52343" name="Line 126"/>
          <p:cNvSpPr/>
          <p:nvPr/>
        </p:nvSpPr>
        <p:spPr>
          <a:xfrm flipH="1" flipV="1">
            <a:off x="5279708" y="4953318"/>
            <a:ext cx="0" cy="381000"/>
          </a:xfrm>
          <a:prstGeom prst="line">
            <a:avLst/>
          </a:prstGeom>
          <a:ln w="28575" cap="flat" cmpd="sng">
            <a:solidFill>
              <a:srgbClr val="00FF00"/>
            </a:solidFill>
            <a:prstDash val="solid"/>
            <a:miter/>
            <a:headEnd type="none" w="med" len="med"/>
            <a:tailEnd type="none" w="med" len="med"/>
          </a:ln>
        </p:spPr>
      </p:sp>
      <p:sp>
        <p:nvSpPr>
          <p:cNvPr id="52344" name="Line 127"/>
          <p:cNvSpPr/>
          <p:nvPr/>
        </p:nvSpPr>
        <p:spPr>
          <a:xfrm flipH="1" flipV="1">
            <a:off x="5279708" y="5334318"/>
            <a:ext cx="1752600" cy="0"/>
          </a:xfrm>
          <a:prstGeom prst="line">
            <a:avLst/>
          </a:prstGeom>
          <a:ln w="28575" cap="flat" cmpd="sng">
            <a:solidFill>
              <a:srgbClr val="00FF00"/>
            </a:solidFill>
            <a:prstDash val="solid"/>
            <a:miter/>
            <a:headEnd type="none" w="med" len="med"/>
            <a:tailEnd type="none" w="med" len="med"/>
          </a:ln>
        </p:spPr>
      </p:sp>
      <p:sp>
        <p:nvSpPr>
          <p:cNvPr id="52345" name="Line 128"/>
          <p:cNvSpPr/>
          <p:nvPr/>
        </p:nvSpPr>
        <p:spPr>
          <a:xfrm flipH="1" flipV="1">
            <a:off x="7032308" y="3810318"/>
            <a:ext cx="0" cy="1524000"/>
          </a:xfrm>
          <a:prstGeom prst="line">
            <a:avLst/>
          </a:prstGeom>
          <a:ln w="28575" cap="flat" cmpd="sng">
            <a:solidFill>
              <a:srgbClr val="00FF00"/>
            </a:solidFill>
            <a:prstDash val="solid"/>
            <a:miter/>
            <a:headEnd type="none" w="med" len="med"/>
            <a:tailEnd type="triangle" w="sm" len="sm"/>
          </a:ln>
        </p:spPr>
      </p:sp>
      <p:sp>
        <p:nvSpPr>
          <p:cNvPr id="52346" name="Line 129"/>
          <p:cNvSpPr/>
          <p:nvPr/>
        </p:nvSpPr>
        <p:spPr>
          <a:xfrm flipH="1" flipV="1">
            <a:off x="9089708" y="2591118"/>
            <a:ext cx="0" cy="381000"/>
          </a:xfrm>
          <a:prstGeom prst="line">
            <a:avLst/>
          </a:prstGeom>
          <a:ln w="28575" cap="flat" cmpd="sng">
            <a:solidFill>
              <a:srgbClr val="00FF00"/>
            </a:solidFill>
            <a:prstDash val="solid"/>
            <a:miter/>
            <a:headEnd type="none" w="med" len="med"/>
            <a:tailEnd type="triangle" w="sm" len="sm"/>
          </a:ln>
        </p:spPr>
      </p:sp>
      <p:sp>
        <p:nvSpPr>
          <p:cNvPr id="52347" name="Line 130"/>
          <p:cNvSpPr/>
          <p:nvPr/>
        </p:nvSpPr>
        <p:spPr>
          <a:xfrm flipV="1">
            <a:off x="7641908" y="2972118"/>
            <a:ext cx="1447800" cy="0"/>
          </a:xfrm>
          <a:prstGeom prst="line">
            <a:avLst/>
          </a:prstGeom>
          <a:ln w="28575" cap="flat" cmpd="sng">
            <a:solidFill>
              <a:srgbClr val="00FF00"/>
            </a:solidFill>
            <a:prstDash val="solid"/>
            <a:miter/>
            <a:headEnd type="none" w="med" len="med"/>
            <a:tailEnd type="none" w="med" len="med"/>
          </a:ln>
        </p:spPr>
      </p:sp>
      <p:sp>
        <p:nvSpPr>
          <p:cNvPr id="52348" name="Line 131"/>
          <p:cNvSpPr/>
          <p:nvPr/>
        </p:nvSpPr>
        <p:spPr>
          <a:xfrm flipH="1" flipV="1">
            <a:off x="7641908" y="2972118"/>
            <a:ext cx="0" cy="685800"/>
          </a:xfrm>
          <a:prstGeom prst="line">
            <a:avLst/>
          </a:prstGeom>
          <a:ln w="28575" cap="flat" cmpd="sng">
            <a:solidFill>
              <a:srgbClr val="00FF00"/>
            </a:solidFill>
            <a:prstDash val="solid"/>
            <a:miter/>
            <a:headEnd type="none" w="med" len="med"/>
            <a:tailEnd type="none" w="med" len="med"/>
          </a:ln>
        </p:spPr>
      </p:sp>
      <p:grpSp>
        <p:nvGrpSpPr>
          <p:cNvPr id="52349" name="Group 132"/>
          <p:cNvGrpSpPr/>
          <p:nvPr/>
        </p:nvGrpSpPr>
        <p:grpSpPr>
          <a:xfrm>
            <a:off x="7700645" y="3665855"/>
            <a:ext cx="2895600" cy="2286000"/>
            <a:chOff x="3648" y="2875"/>
            <a:chExt cx="1824" cy="1440"/>
          </a:xfrm>
        </p:grpSpPr>
        <p:sp>
          <p:nvSpPr>
            <p:cNvPr id="52350" name="Line 133"/>
            <p:cNvSpPr/>
            <p:nvPr/>
          </p:nvSpPr>
          <p:spPr>
            <a:xfrm flipH="1">
              <a:off x="4272" y="3024"/>
              <a:ext cx="576" cy="0"/>
            </a:xfrm>
            <a:prstGeom prst="line">
              <a:avLst/>
            </a:prstGeom>
            <a:ln w="38100" cap="flat" cmpd="sng">
              <a:solidFill>
                <a:srgbClr val="009900"/>
              </a:solidFill>
              <a:prstDash val="solid"/>
              <a:round/>
              <a:headEnd type="none" w="med" len="med"/>
              <a:tailEnd type="none" w="med" len="med"/>
            </a:ln>
          </p:spPr>
        </p:sp>
        <p:sp>
          <p:nvSpPr>
            <p:cNvPr id="52351" name="Line 134"/>
            <p:cNvSpPr/>
            <p:nvPr/>
          </p:nvSpPr>
          <p:spPr>
            <a:xfrm>
              <a:off x="4944" y="3120"/>
              <a:ext cx="0" cy="960"/>
            </a:xfrm>
            <a:prstGeom prst="line">
              <a:avLst/>
            </a:prstGeom>
            <a:ln w="38100" cap="flat" cmpd="sng">
              <a:solidFill>
                <a:srgbClr val="009900"/>
              </a:solidFill>
              <a:prstDash val="solid"/>
              <a:round/>
              <a:headEnd type="none" w="med" len="med"/>
              <a:tailEnd type="none" w="med" len="med"/>
            </a:ln>
          </p:spPr>
        </p:sp>
        <p:sp>
          <p:nvSpPr>
            <p:cNvPr id="52352" name="Line 135"/>
            <p:cNvSpPr/>
            <p:nvPr/>
          </p:nvSpPr>
          <p:spPr>
            <a:xfrm>
              <a:off x="4992" y="3072"/>
              <a:ext cx="336" cy="480"/>
            </a:xfrm>
            <a:prstGeom prst="line">
              <a:avLst/>
            </a:prstGeom>
            <a:ln w="38100" cap="flat" cmpd="sng">
              <a:solidFill>
                <a:srgbClr val="009900"/>
              </a:solidFill>
              <a:prstDash val="solid"/>
              <a:round/>
              <a:headEnd type="none" w="med" len="med"/>
              <a:tailEnd type="none" w="med" len="med"/>
            </a:ln>
          </p:spPr>
        </p:sp>
        <p:sp>
          <p:nvSpPr>
            <p:cNvPr id="52353" name="Line 136"/>
            <p:cNvSpPr/>
            <p:nvPr/>
          </p:nvSpPr>
          <p:spPr>
            <a:xfrm flipH="1">
              <a:off x="3840" y="3072"/>
              <a:ext cx="240" cy="432"/>
            </a:xfrm>
            <a:prstGeom prst="line">
              <a:avLst/>
            </a:prstGeom>
            <a:ln w="38100" cap="flat" cmpd="sng">
              <a:solidFill>
                <a:srgbClr val="009900"/>
              </a:solidFill>
              <a:prstDash val="solid"/>
              <a:round/>
              <a:headEnd type="none" w="med" len="med"/>
              <a:tailEnd type="none" w="med" len="med"/>
            </a:ln>
          </p:spPr>
        </p:sp>
        <p:sp>
          <p:nvSpPr>
            <p:cNvPr id="52354" name="Line 137"/>
            <p:cNvSpPr/>
            <p:nvPr/>
          </p:nvSpPr>
          <p:spPr>
            <a:xfrm flipH="1" flipV="1">
              <a:off x="4128" y="3120"/>
              <a:ext cx="0" cy="1008"/>
            </a:xfrm>
            <a:prstGeom prst="line">
              <a:avLst/>
            </a:prstGeom>
            <a:ln w="38100" cap="flat" cmpd="sng">
              <a:solidFill>
                <a:srgbClr val="009900"/>
              </a:solidFill>
              <a:prstDash val="solid"/>
              <a:round/>
              <a:headEnd type="none" w="med" len="med"/>
              <a:tailEnd type="none" w="med" len="med"/>
            </a:ln>
          </p:spPr>
        </p:sp>
        <p:sp>
          <p:nvSpPr>
            <p:cNvPr id="52355" name="Line 138"/>
            <p:cNvSpPr/>
            <p:nvPr/>
          </p:nvSpPr>
          <p:spPr>
            <a:xfrm flipH="1" flipV="1">
              <a:off x="4176" y="3072"/>
              <a:ext cx="1104" cy="576"/>
            </a:xfrm>
            <a:prstGeom prst="line">
              <a:avLst/>
            </a:prstGeom>
            <a:ln w="38100" cap="flat" cmpd="sng">
              <a:solidFill>
                <a:srgbClr val="009900"/>
              </a:solidFill>
              <a:prstDash val="solid"/>
              <a:round/>
              <a:headEnd type="none" w="med" len="med"/>
              <a:tailEnd type="none" w="med" len="med"/>
            </a:ln>
          </p:spPr>
        </p:sp>
        <p:sp>
          <p:nvSpPr>
            <p:cNvPr id="52356" name="Line 139"/>
            <p:cNvSpPr/>
            <p:nvPr/>
          </p:nvSpPr>
          <p:spPr>
            <a:xfrm flipH="1" flipV="1">
              <a:off x="3792" y="3696"/>
              <a:ext cx="288" cy="432"/>
            </a:xfrm>
            <a:prstGeom prst="line">
              <a:avLst/>
            </a:prstGeom>
            <a:ln w="38100" cap="flat" cmpd="sng">
              <a:solidFill>
                <a:srgbClr val="009900"/>
              </a:solidFill>
              <a:prstDash val="solid"/>
              <a:round/>
              <a:headEnd type="none" w="med" len="med"/>
              <a:tailEnd type="none" w="med" len="med"/>
            </a:ln>
          </p:spPr>
        </p:sp>
        <p:sp>
          <p:nvSpPr>
            <p:cNvPr id="52357" name="Line 140"/>
            <p:cNvSpPr/>
            <p:nvPr/>
          </p:nvSpPr>
          <p:spPr>
            <a:xfrm flipH="1">
              <a:off x="4176" y="4176"/>
              <a:ext cx="720" cy="0"/>
            </a:xfrm>
            <a:prstGeom prst="line">
              <a:avLst/>
            </a:prstGeom>
            <a:ln w="38100" cap="flat" cmpd="sng">
              <a:solidFill>
                <a:srgbClr val="009900"/>
              </a:solidFill>
              <a:prstDash val="solid"/>
              <a:round/>
              <a:headEnd type="none" w="med" len="med"/>
              <a:tailEnd type="none" w="med" len="med"/>
            </a:ln>
          </p:spPr>
        </p:sp>
        <p:sp>
          <p:nvSpPr>
            <p:cNvPr id="52358" name="Line 141"/>
            <p:cNvSpPr/>
            <p:nvPr/>
          </p:nvSpPr>
          <p:spPr>
            <a:xfrm flipH="1">
              <a:off x="4224" y="3648"/>
              <a:ext cx="1056" cy="480"/>
            </a:xfrm>
            <a:prstGeom prst="line">
              <a:avLst/>
            </a:prstGeom>
            <a:ln w="38100" cap="flat" cmpd="sng">
              <a:solidFill>
                <a:srgbClr val="009900"/>
              </a:solidFill>
              <a:prstDash val="solid"/>
              <a:round/>
              <a:headEnd type="none" w="med" len="med"/>
              <a:tailEnd type="none" w="med" len="med"/>
            </a:ln>
          </p:spPr>
        </p:sp>
        <p:sp>
          <p:nvSpPr>
            <p:cNvPr id="52359" name="Line 142"/>
            <p:cNvSpPr/>
            <p:nvPr/>
          </p:nvSpPr>
          <p:spPr>
            <a:xfrm flipH="1">
              <a:off x="4992" y="3696"/>
              <a:ext cx="336" cy="480"/>
            </a:xfrm>
            <a:prstGeom prst="line">
              <a:avLst/>
            </a:prstGeom>
            <a:ln w="38100" cap="flat" cmpd="sng">
              <a:solidFill>
                <a:srgbClr val="009900"/>
              </a:solidFill>
              <a:prstDash val="solid"/>
              <a:round/>
              <a:headEnd type="none" w="med" len="med"/>
              <a:tailEnd type="none" w="med" len="med"/>
            </a:ln>
          </p:spPr>
        </p:sp>
        <p:grpSp>
          <p:nvGrpSpPr>
            <p:cNvPr id="52360" name="Group 143"/>
            <p:cNvGrpSpPr/>
            <p:nvPr/>
          </p:nvGrpSpPr>
          <p:grpSpPr>
            <a:xfrm>
              <a:off x="3648" y="2875"/>
              <a:ext cx="1824" cy="1440"/>
              <a:chOff x="3648" y="2880"/>
              <a:chExt cx="1824" cy="1440"/>
            </a:xfrm>
          </p:grpSpPr>
          <p:sp>
            <p:nvSpPr>
              <p:cNvPr id="52361" name="Oval 144"/>
              <p:cNvSpPr/>
              <p:nvPr/>
            </p:nvSpPr>
            <p:spPr>
              <a:xfrm>
                <a:off x="3984" y="2880"/>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52362" name="Oval 145"/>
              <p:cNvSpPr/>
              <p:nvPr/>
            </p:nvSpPr>
            <p:spPr>
              <a:xfrm>
                <a:off x="3984"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52363" name="Oval 146"/>
              <p:cNvSpPr/>
              <p:nvPr/>
            </p:nvSpPr>
            <p:spPr>
              <a:xfrm>
                <a:off x="3648" y="3456"/>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52364" name="Oval 147"/>
              <p:cNvSpPr/>
              <p:nvPr/>
            </p:nvSpPr>
            <p:spPr>
              <a:xfrm>
                <a:off x="5184" y="350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5</a:t>
                </a:r>
                <a:endParaRPr lang="en-US" altLang="zh-CN" sz="2400" dirty="0">
                  <a:solidFill>
                    <a:schemeClr val="bg1"/>
                  </a:solidFill>
                  <a:latin typeface="Tahoma" panose="020B0604030504040204" charset="0"/>
                  <a:ea typeface="宋体" panose="02010600030101010101" pitchFamily="2" charset="-122"/>
                </a:endParaRPr>
              </a:p>
            </p:txBody>
          </p:sp>
          <p:sp>
            <p:nvSpPr>
              <p:cNvPr id="52365" name="Oval 148"/>
              <p:cNvSpPr/>
              <p:nvPr/>
            </p:nvSpPr>
            <p:spPr>
              <a:xfrm>
                <a:off x="4800" y="405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52366" name="Oval 149"/>
              <p:cNvSpPr/>
              <p:nvPr/>
            </p:nvSpPr>
            <p:spPr>
              <a:xfrm>
                <a:off x="4800" y="288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lvl="0"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已知无向图G=(V,E)，其中V={a,b,c,d,e,f,g}， E={(a,b),(a,c),(c,d), (d,e), (d,f), (b,f),(e,f),(f,g), (g,c)}</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画出该图</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画出该图的</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邻接矩阵</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画出该图的</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邻接表</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rPr>
              <a:t>说明如何用邻接矩阵或邻接表计算顶点的度</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lvl="0" algn="l" eaLnBrk="1" hangingPunct="1">
              <a:buClrTx/>
              <a:buSzTx/>
            </a:pP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lvl="0"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已知有向图G=(V,E)，其中V={1,2,3,4,5,6,7,8,9}， E={&lt;2,1&gt;,&lt;3,2&gt;,&lt;4,3&gt;, &lt;5,3&gt;, &lt;6,5&gt;, &lt;6,7&gt;, &lt;7,3&gt;, &lt;7,4&gt;, &lt;8,5&gt;, &lt;8,6&gt;, &lt;9,8&gt;}</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画出该图</a:t>
            </a:r>
            <a:endParaRPr lang="en-US" altLang="zh-CN"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画出该图的</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邻接矩阵</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画出该图的</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邻接表和逆邻接表</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设计算法，</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基于邻接矩阵计算顶点的入度和出度</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设计算法，</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基于邻接表</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计算顶点的入度</a:t>
            </a:r>
            <a:endParaRPr lang="en-US" altLang="zh-CN"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pPr>
            <a:endParaRPr lang="en-US" altLang="zh-CN"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pPr>
            <a:endParaRPr lang="en-US" altLang="zh-CN"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已知有向图有n个结点，邻接表数组为adjList[]，数组结点和链表结点都是包含数据区data和指针区next</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求判断结点P出度为0的语句</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设计算法，</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找出入度为0结点</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设计算法，生成</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对应的逆邻接表</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设计算法，</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生成对应的邻接矩阵</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已知图G有n个结点，邻接矩阵为adjMx[]</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设计算法，</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生成对应的邻接表</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设计算法，</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生成对应的逆邻接表</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pPr>
            <a:endParaRPr lang="en-US" altLang="zh-CN"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469640" y="1268730"/>
            <a:ext cx="6001385" cy="3540760"/>
          </a:xfrm>
          <a:prstGeom prst="rect">
            <a:avLst/>
          </a:prstGeom>
        </p:spPr>
        <p:txBody>
          <a:bodyPr vert="horz" lIns="91440" tIns="45720" rIns="91440" bIns="45720" rtlCol="0"/>
          <a:lstStyle/>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图的定义和术语</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图的存储结构</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图的遍历</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图的连通</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有向无环图及其应用</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最短路径</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endParaRPr kumimoji="0" lang="zh-CN" altLang="en-US" sz="3200" b="0" i="0" u="none" strike="noStrike" kern="1200" cap="none" spc="0" normalizeH="0" baseline="0" noProof="0" dirty="0" err="1" smtClean="0">
              <a:ln>
                <a:noFill/>
              </a:ln>
              <a:solidFill>
                <a:schemeClr val="tx1"/>
              </a:solidFill>
              <a:effectLst/>
              <a:uLnTx/>
              <a:uFillTx/>
              <a:latin typeface="楷体" panose="02010609060101010101" charset="-122"/>
              <a:ea typeface="楷体" panose="02010609060101010101" charset="-122"/>
              <a:cs typeface="+mn-cs"/>
              <a:sym typeface="+mn-lt"/>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
        <p:nvSpPr>
          <p:cNvPr id="8" name="矩形 7"/>
          <p:cNvSpPr/>
          <p:nvPr/>
        </p:nvSpPr>
        <p:spPr>
          <a:xfrm>
            <a:off x="4088130" y="2383790"/>
            <a:ext cx="2630805" cy="5308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46" name="Text Box 2"/>
          <p:cNvSpPr txBox="1"/>
          <p:nvPr/>
        </p:nvSpPr>
        <p:spPr>
          <a:xfrm>
            <a:off x="2712085" y="170815"/>
            <a:ext cx="6443980" cy="768350"/>
          </a:xfrm>
          <a:prstGeom prst="rect">
            <a:avLst/>
          </a:prstGeom>
          <a:noFill/>
          <a:ln w="9525">
            <a:noFill/>
          </a:ln>
        </p:spPr>
        <p:txBody>
          <a:bodyPr wrap="square" anchor="t" anchorCtr="0">
            <a:spAutoFit/>
          </a:bodyPr>
          <a:p>
            <a:pPr algn="ctr"/>
            <a:r>
              <a:rPr lang="zh-CN" altLang="en-US" sz="4400" b="1" dirty="0">
                <a:solidFill>
                  <a:srgbClr val="0000CC"/>
                </a:solidFill>
                <a:latin typeface="楷体" panose="02010609060101010101" charset="-122"/>
                <a:ea typeface="楷体" panose="02010609060101010101" charset="-122"/>
              </a:rPr>
              <a:t>第七章	</a:t>
            </a:r>
            <a:r>
              <a:rPr lang="zh-CN" altLang="en-US" sz="4400" b="1" dirty="0">
                <a:solidFill>
                  <a:srgbClr val="0000CC"/>
                </a:solidFill>
                <a:latin typeface="楷体" panose="02010609060101010101" charset="-122"/>
                <a:ea typeface="楷体" panose="02010609060101010101" charset="-122"/>
              </a:rPr>
              <a:t>图</a:t>
            </a:r>
            <a:endParaRPr lang="zh-CN" altLang="en-US" sz="4400" b="1" dirty="0">
              <a:solidFill>
                <a:srgbClr val="0000CC"/>
              </a:solidFill>
              <a:latin typeface="楷体" panose="02010609060101010101" charset="-122"/>
              <a:ea typeface="楷体" panose="02010609060101010101" charset="-122"/>
            </a:endParaRPr>
          </a:p>
        </p:txBody>
      </p:sp>
    </p:spTree>
  </p:cSld>
  <p:clrMapOvr>
    <a:masterClrMapping/>
  </p:clrMapOvr>
  <p:transition spd="med">
    <p:fad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图的遍历</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是指从图的某一顶点开始，访遍图中其余顶点，且使每一个顶点仅被访问一次</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图的遍历主要应用于无向图</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rPr>
              <a:t>无向图的遍历主要两种</a:t>
            </a:r>
            <a:r>
              <a:rPr lang="zh-CN" altLang="en-US" sz="2800" dirty="0">
                <a:latin typeface="黑体" panose="02010609060101010101" pitchFamily="2" charset="-122"/>
                <a:ea typeface="黑体" panose="02010609060101010101" pitchFamily="2" charset="-122"/>
                <a:cs typeface="黑体" panose="02010609060101010101" pitchFamily="2" charset="-122"/>
              </a:rPr>
              <a:t>方法：</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rPr>
              <a:t>深度优先搜索，DFS</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广度优先搜索，BFS</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7.3 </a:t>
            </a:r>
            <a:r>
              <a:rPr lang="zh-CN" altLang="en-US" dirty="0">
                <a:latin typeface="楷体" panose="02010609060101010101" charset="-122"/>
                <a:ea typeface="楷体" panose="02010609060101010101" charset="-122"/>
                <a:sym typeface="+mn-ea"/>
              </a:rPr>
              <a:t>图的遍历</a:t>
            </a:r>
            <a:br>
              <a:rPr lang="zh-CN" altLang="en-US" b="1" dirty="0">
                <a:latin typeface="楷体" panose="02010609060101010101" charset="-122"/>
                <a:ea typeface="楷体" panose="02010609060101010101" charset="-122"/>
              </a:rPr>
            </a:b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图的深度优先搜索，DF</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S(</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Depth First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 Search</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，是树的先根遍历的推广</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DFS是一个递归过程，课本提供的递归算法</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图中可能存在回路，且图的任一顶点都可能与其它顶点相通，在访问完某个顶点之后可能会沿着某些边又回到了曾经访问过的顶点</a:t>
            </a:r>
            <a:endParaRPr lang="zh-CN" altLang="en-US"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为了避免重复访问，可设置一个标志顶点是否被访问过的辅助数组 visited[ ]</a:t>
            </a:r>
            <a:endParaRPr lang="zh-CN" altLang="en-US" dirty="0">
              <a:latin typeface="黑体" panose="02010609060101010101" pitchFamily="2" charset="-122"/>
              <a:ea typeface="黑体" panose="02010609060101010101" pitchFamily="2" charset="-122"/>
              <a:cs typeface="+mn-ea"/>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如果要实现非递归的DFS算法，需要显式地使用栈，请自行探索</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7.3 </a:t>
            </a:r>
            <a:r>
              <a:rPr lang="zh-CN" altLang="en-US" dirty="0">
                <a:latin typeface="楷体" panose="02010609060101010101" charset="-122"/>
                <a:ea typeface="楷体" panose="02010609060101010101" charset="-122"/>
                <a:sym typeface="+mn-ea"/>
              </a:rPr>
              <a:t>图的遍历</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DFS</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算法</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初始化，</a:t>
            </a:r>
            <a:r>
              <a:rPr lang="zh-CN" altLang="en-US" sz="2400" dirty="0">
                <a:latin typeface="黑体" panose="02010609060101010101" pitchFamily="2" charset="-122"/>
                <a:ea typeface="黑体" panose="02010609060101010101" pitchFamily="2" charset="-122"/>
                <a:sym typeface="+mn-ea"/>
              </a:rPr>
              <a:t>所有顶点访问标志</a:t>
            </a:r>
            <a:r>
              <a:rPr lang="en-US" altLang="zh-CN" sz="2400" dirty="0">
                <a:latin typeface="黑体" panose="02010609060101010101" pitchFamily="2" charset="-122"/>
                <a:ea typeface="黑体" panose="02010609060101010101" pitchFamily="2" charset="-122"/>
                <a:sym typeface="+mn-ea"/>
              </a:rPr>
              <a:t>visited[]</a:t>
            </a:r>
            <a:r>
              <a:rPr lang="zh-CN" altLang="en-US" sz="2400" dirty="0">
                <a:latin typeface="黑体" panose="02010609060101010101" pitchFamily="2" charset="-122"/>
                <a:ea typeface="黑体" panose="02010609060101010101" pitchFamily="2" charset="-122"/>
                <a:sym typeface="+mn-ea"/>
              </a:rPr>
              <a:t>设置为</a:t>
            </a:r>
            <a:r>
              <a:rPr lang="en-US" altLang="zh-CN" sz="2400" dirty="0">
                <a:latin typeface="黑体" panose="02010609060101010101" pitchFamily="2" charset="-122"/>
                <a:ea typeface="黑体" panose="02010609060101010101" pitchFamily="2" charset="-122"/>
                <a:sym typeface="+mn-ea"/>
              </a:rPr>
              <a:t>FALSE</a:t>
            </a:r>
            <a:endParaRPr lang="en-US" altLang="zh-CN" sz="2400" dirty="0">
              <a:latin typeface="黑体" panose="02010609060101010101" pitchFamily="2" charset="-122"/>
              <a:ea typeface="黑体" panose="02010609060101010101" pitchFamily="2" charset="-122"/>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sym typeface="+mn-ea"/>
              </a:rPr>
              <a:t>从某顶点</a:t>
            </a:r>
            <a:r>
              <a:rPr lang="en-US" altLang="zh-CN" sz="2400" dirty="0">
                <a:latin typeface="黑体" panose="02010609060101010101" pitchFamily="2" charset="-122"/>
                <a:ea typeface="黑体" panose="02010609060101010101" pitchFamily="2" charset="-122"/>
                <a:sym typeface="+mn-ea"/>
              </a:rPr>
              <a:t>v</a:t>
            </a:r>
            <a:r>
              <a:rPr lang="en-US" altLang="zh-CN" sz="2400" baseline="-25000" dirty="0">
                <a:latin typeface="黑体" panose="02010609060101010101" pitchFamily="2" charset="-122"/>
                <a:ea typeface="黑体" panose="02010609060101010101" pitchFamily="2" charset="-122"/>
                <a:sym typeface="+mn-ea"/>
              </a:rPr>
              <a:t>0</a:t>
            </a:r>
            <a:r>
              <a:rPr lang="zh-CN" altLang="en-US" sz="2400" dirty="0">
                <a:latin typeface="黑体" panose="02010609060101010101" pitchFamily="2" charset="-122"/>
                <a:ea typeface="黑体" panose="02010609060101010101" pitchFamily="2" charset="-122"/>
                <a:sym typeface="+mn-ea"/>
              </a:rPr>
              <a:t>开始，设</a:t>
            </a:r>
            <a:r>
              <a:rPr lang="en-US" altLang="zh-CN" sz="2400" dirty="0">
                <a:latin typeface="黑体" panose="02010609060101010101" pitchFamily="2" charset="-122"/>
                <a:ea typeface="黑体" panose="02010609060101010101" pitchFamily="2" charset="-122"/>
                <a:sym typeface="+mn-ea"/>
              </a:rPr>
              <a:t>v=v</a:t>
            </a:r>
            <a:r>
              <a:rPr lang="en-US" altLang="zh-CN" sz="2400" baseline="-25000" dirty="0">
                <a:latin typeface="黑体" panose="02010609060101010101" pitchFamily="2" charset="-122"/>
                <a:ea typeface="黑体" panose="02010609060101010101" pitchFamily="2" charset="-122"/>
                <a:sym typeface="+mn-ea"/>
              </a:rPr>
              <a:t>0</a:t>
            </a:r>
            <a:endParaRPr lang="en-US" altLang="zh-CN" sz="2400" b="0" baseline="-25000" dirty="0">
              <a:latin typeface="黑体" panose="02010609060101010101" pitchFamily="2" charset="-122"/>
              <a:ea typeface="黑体" panose="02010609060101010101" pitchFamily="2" charset="-122"/>
            </a:endParaRPr>
          </a:p>
          <a:p>
            <a:pPr marL="609600" lvl="0" indent="-609600" eaLnBrk="1" hangingPunct="1">
              <a:spcBef>
                <a:spcPct val="40000"/>
              </a:spcBef>
              <a:buNone/>
            </a:pPr>
            <a:r>
              <a:rPr lang="en-US" altLang="zh-CN" sz="2400" dirty="0">
                <a:latin typeface="黑体" panose="02010609060101010101" pitchFamily="2" charset="-122"/>
                <a:ea typeface="黑体" panose="02010609060101010101" pitchFamily="2" charset="-122"/>
                <a:sym typeface="+mn-ea"/>
              </a:rPr>
              <a:t>	1.</a:t>
            </a:r>
            <a:r>
              <a:rPr lang="zh-CN" altLang="en-US" sz="2400" dirty="0">
                <a:latin typeface="黑体" panose="02010609060101010101" pitchFamily="2" charset="-122"/>
                <a:ea typeface="黑体" panose="02010609060101010101" pitchFamily="2" charset="-122"/>
                <a:sym typeface="+mn-ea"/>
              </a:rPr>
              <a:t>如果</a:t>
            </a:r>
            <a:r>
              <a:rPr lang="en-US" altLang="zh-CN" sz="2400" dirty="0">
                <a:latin typeface="黑体" panose="02010609060101010101" pitchFamily="2" charset="-122"/>
                <a:ea typeface="黑体" panose="02010609060101010101" pitchFamily="2" charset="-122"/>
                <a:sym typeface="+mn-ea"/>
              </a:rPr>
              <a:t>visited[v]==FALSE</a:t>
            </a:r>
            <a:r>
              <a:rPr lang="zh-CN" altLang="en-US" sz="2400" dirty="0">
                <a:latin typeface="黑体" panose="02010609060101010101" pitchFamily="2" charset="-122"/>
                <a:ea typeface="黑体" panose="02010609060101010101" pitchFamily="2" charset="-122"/>
                <a:sym typeface="+mn-ea"/>
              </a:rPr>
              <a:t>，则访问该顶点</a:t>
            </a:r>
            <a:r>
              <a:rPr lang="en-US" altLang="zh-CN" sz="2400" dirty="0">
                <a:latin typeface="黑体" panose="02010609060101010101" pitchFamily="2" charset="-122"/>
                <a:ea typeface="黑体" panose="02010609060101010101" pitchFamily="2" charset="-122"/>
                <a:sym typeface="+mn-ea"/>
              </a:rPr>
              <a:t>v</a:t>
            </a:r>
            <a:r>
              <a:rPr lang="zh-CN" altLang="en-US" sz="2400" dirty="0">
                <a:latin typeface="黑体" panose="02010609060101010101" pitchFamily="2" charset="-122"/>
                <a:ea typeface="黑体" panose="02010609060101010101" pitchFamily="2" charset="-122"/>
                <a:sym typeface="+mn-ea"/>
              </a:rPr>
              <a:t>，并将顶点</a:t>
            </a:r>
            <a:r>
              <a:rPr lang="en-US" altLang="zh-CN" sz="2400" dirty="0">
                <a:latin typeface="黑体" panose="02010609060101010101" pitchFamily="2" charset="-122"/>
                <a:ea typeface="黑体" panose="02010609060101010101" pitchFamily="2" charset="-122"/>
                <a:sym typeface="+mn-ea"/>
              </a:rPr>
              <a:t>v</a:t>
            </a:r>
            <a:r>
              <a:rPr lang="zh-CN" altLang="en-US" sz="2400" dirty="0">
                <a:latin typeface="黑体" panose="02010609060101010101" pitchFamily="2" charset="-122"/>
                <a:ea typeface="黑体" panose="02010609060101010101" pitchFamily="2" charset="-122"/>
                <a:sym typeface="+mn-ea"/>
              </a:rPr>
              <a:t>压入栈中，且设</a:t>
            </a:r>
            <a:r>
              <a:rPr lang="en-US" altLang="zh-CN" sz="2400" dirty="0">
                <a:latin typeface="黑体" panose="02010609060101010101" pitchFamily="2" charset="-122"/>
                <a:ea typeface="黑体" panose="02010609060101010101" pitchFamily="2" charset="-122"/>
                <a:sym typeface="+mn-ea"/>
              </a:rPr>
              <a:t>visited[v]=TRUE</a:t>
            </a:r>
            <a:endParaRPr lang="en-US" altLang="zh-CN" sz="2400" b="0" dirty="0">
              <a:latin typeface="黑体" panose="02010609060101010101" pitchFamily="2" charset="-122"/>
              <a:ea typeface="黑体" panose="02010609060101010101" pitchFamily="2" charset="-122"/>
            </a:endParaRPr>
          </a:p>
          <a:p>
            <a:pPr marL="609600" lvl="0" indent="-609600" eaLnBrk="1" hangingPunct="1">
              <a:spcBef>
                <a:spcPct val="40000"/>
              </a:spcBef>
              <a:buNone/>
            </a:pPr>
            <a:r>
              <a:rPr lang="en-US" altLang="zh-CN" sz="2400" dirty="0">
                <a:latin typeface="黑体" panose="02010609060101010101" pitchFamily="2" charset="-122"/>
                <a:ea typeface="黑体" panose="02010609060101010101" pitchFamily="2" charset="-122"/>
                <a:sym typeface="+mn-ea"/>
              </a:rPr>
              <a:t>	2.</a:t>
            </a:r>
            <a:r>
              <a:rPr lang="zh-CN" altLang="en-US" sz="2400" dirty="0">
                <a:latin typeface="黑体" panose="02010609060101010101" pitchFamily="2" charset="-122"/>
                <a:ea typeface="黑体" panose="02010609060101010101" pitchFamily="2" charset="-122"/>
                <a:sym typeface="+mn-ea"/>
              </a:rPr>
              <a:t>如果找到当前顶点的一个新的相邻顶点</a:t>
            </a:r>
            <a:r>
              <a:rPr lang="en-US" altLang="zh-CN" sz="2400" dirty="0">
                <a:latin typeface="黑体" panose="02010609060101010101" pitchFamily="2" charset="-122"/>
                <a:ea typeface="黑体" panose="02010609060101010101" pitchFamily="2" charset="-122"/>
                <a:sym typeface="+mn-ea"/>
              </a:rPr>
              <a:t>w</a:t>
            </a:r>
            <a:r>
              <a:rPr lang="zh-CN" altLang="en-US" sz="2400" dirty="0">
                <a:latin typeface="黑体" panose="02010609060101010101" pitchFamily="2" charset="-122"/>
                <a:ea typeface="黑体" panose="02010609060101010101" pitchFamily="2" charset="-122"/>
                <a:sym typeface="+mn-ea"/>
              </a:rPr>
              <a:t>，设</a:t>
            </a:r>
            <a:r>
              <a:rPr lang="en-US" altLang="zh-CN" sz="2400" dirty="0">
                <a:latin typeface="黑体" panose="02010609060101010101" pitchFamily="2" charset="-122"/>
                <a:ea typeface="黑体" panose="02010609060101010101" pitchFamily="2" charset="-122"/>
                <a:sym typeface="+mn-ea"/>
              </a:rPr>
              <a:t>v=w,</a:t>
            </a:r>
            <a:r>
              <a:rPr lang="zh-CN" altLang="en-US" sz="2400" dirty="0">
                <a:latin typeface="黑体" panose="02010609060101010101" pitchFamily="2" charset="-122"/>
                <a:ea typeface="黑体" panose="02010609060101010101" pitchFamily="2" charset="-122"/>
                <a:sym typeface="+mn-ea"/>
              </a:rPr>
              <a:t>重复</a:t>
            </a:r>
            <a:r>
              <a:rPr lang="en-US" altLang="zh-CN" sz="2400" dirty="0">
                <a:latin typeface="黑体" panose="02010609060101010101" pitchFamily="2" charset="-122"/>
                <a:ea typeface="黑体" panose="02010609060101010101" pitchFamily="2" charset="-122"/>
                <a:sym typeface="+mn-ea"/>
              </a:rPr>
              <a:t>1</a:t>
            </a:r>
            <a:endParaRPr lang="en-US" altLang="zh-CN" sz="2400" b="0" dirty="0">
              <a:latin typeface="黑体" panose="02010609060101010101" pitchFamily="2" charset="-122"/>
              <a:ea typeface="黑体" panose="02010609060101010101" pitchFamily="2" charset="-122"/>
            </a:endParaRPr>
          </a:p>
          <a:p>
            <a:pPr marL="609600" lvl="0" indent="-609600" eaLnBrk="1" hangingPunct="1">
              <a:spcBef>
                <a:spcPct val="40000"/>
              </a:spcBef>
              <a:buNone/>
            </a:pPr>
            <a:r>
              <a:rPr lang="en-US" altLang="zh-CN" sz="2400" dirty="0">
                <a:latin typeface="黑体" panose="02010609060101010101" pitchFamily="2" charset="-122"/>
                <a:ea typeface="黑体" panose="02010609060101010101" pitchFamily="2" charset="-122"/>
                <a:sym typeface="+mn-ea"/>
              </a:rPr>
              <a:t>	3.</a:t>
            </a:r>
            <a:r>
              <a:rPr lang="zh-CN" altLang="en-US" sz="2400" dirty="0">
                <a:latin typeface="黑体" panose="02010609060101010101" pitchFamily="2" charset="-122"/>
                <a:ea typeface="黑体" panose="02010609060101010101" pitchFamily="2" charset="-122"/>
                <a:sym typeface="+mn-ea"/>
              </a:rPr>
              <a:t>否则</a:t>
            </a:r>
            <a:r>
              <a:rPr lang="en-US" altLang="zh-CN" sz="2400" dirty="0">
                <a:latin typeface="黑体" panose="02010609060101010101" pitchFamily="2" charset="-122"/>
                <a:ea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sym typeface="+mn-ea"/>
              </a:rPr>
              <a:t>说明当前顶点的所有相邻顶点都已被访问过，或者当前顶点没有相邻顶点</a:t>
            </a:r>
            <a:r>
              <a:rPr lang="en-US" altLang="zh-CN" sz="2400" dirty="0">
                <a:latin typeface="黑体" panose="02010609060101010101" pitchFamily="2" charset="-122"/>
                <a:ea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sym typeface="+mn-ea"/>
              </a:rPr>
              <a:t>，如果当前顶点是</a:t>
            </a:r>
            <a:r>
              <a:rPr lang="en-US" altLang="zh-CN" sz="2400" dirty="0">
                <a:latin typeface="黑体" panose="02010609060101010101" pitchFamily="2" charset="-122"/>
                <a:ea typeface="黑体" panose="02010609060101010101" pitchFamily="2" charset="-122"/>
                <a:sym typeface="+mn-ea"/>
              </a:rPr>
              <a:t>v</a:t>
            </a:r>
            <a:r>
              <a:rPr lang="en-US" altLang="zh-CN" sz="2400" baseline="-25000" dirty="0">
                <a:latin typeface="黑体" panose="02010609060101010101" pitchFamily="2" charset="-122"/>
                <a:ea typeface="黑体" panose="02010609060101010101" pitchFamily="2" charset="-122"/>
                <a:sym typeface="+mn-ea"/>
              </a:rPr>
              <a:t>0</a:t>
            </a:r>
            <a:r>
              <a:rPr lang="zh-CN" altLang="en-US" sz="2400" dirty="0">
                <a:latin typeface="黑体" panose="02010609060101010101" pitchFamily="2" charset="-122"/>
                <a:ea typeface="黑体" panose="02010609060101010101" pitchFamily="2" charset="-122"/>
                <a:sym typeface="+mn-ea"/>
              </a:rPr>
              <a:t>，退出</a:t>
            </a:r>
            <a:r>
              <a:rPr lang="en-US" altLang="zh-CN" sz="2400" dirty="0">
                <a:latin typeface="黑体" panose="02010609060101010101" pitchFamily="2" charset="-122"/>
                <a:ea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sym typeface="+mn-ea"/>
              </a:rPr>
              <a:t>否则返回上一级顶点</a:t>
            </a:r>
            <a:r>
              <a:rPr lang="en-US" altLang="zh-CN" sz="2400" dirty="0">
                <a:latin typeface="黑体" panose="02010609060101010101" pitchFamily="2" charset="-122"/>
                <a:ea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sym typeface="+mn-ea"/>
              </a:rPr>
              <a:t>即从栈中弹出一个顶点</a:t>
            </a:r>
            <a:r>
              <a:rPr lang="en-US" altLang="zh-CN" sz="2400" dirty="0">
                <a:latin typeface="黑体" panose="02010609060101010101" pitchFamily="2" charset="-122"/>
                <a:ea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sym typeface="+mn-ea"/>
              </a:rPr>
              <a:t>重复</a:t>
            </a:r>
            <a:r>
              <a:rPr lang="en-US" altLang="zh-CN" sz="2400" dirty="0">
                <a:latin typeface="黑体" panose="02010609060101010101" pitchFamily="2" charset="-122"/>
                <a:ea typeface="黑体" panose="02010609060101010101" pitchFamily="2" charset="-122"/>
                <a:sym typeface="+mn-ea"/>
              </a:rPr>
              <a:t>2</a:t>
            </a:r>
            <a:endParaRPr lang="en-US" altLang="zh-CN" sz="2400" b="0" dirty="0">
              <a:latin typeface="黑体" panose="02010609060101010101" pitchFamily="2" charset="-122"/>
              <a:ea typeface="黑体" panose="02010609060101010101" pitchFamily="2" charset="-122"/>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7.3 </a:t>
            </a:r>
            <a:r>
              <a:rPr lang="zh-CN" altLang="en-US" dirty="0">
                <a:latin typeface="楷体" panose="02010609060101010101" charset="-122"/>
                <a:ea typeface="楷体" panose="02010609060101010101" charset="-122"/>
                <a:sym typeface="+mn-ea"/>
              </a:rPr>
              <a:t>图的遍历</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3585210"/>
          </a:xfrm>
        </p:spPr>
        <p:txBody>
          <a:bodyPr/>
          <a:p>
            <a:pPr marL="457200" lvl="1" indent="-457200" algn="l" eaLnBrk="1" hangingPunct="1">
              <a:buClrTx/>
              <a:buSzTx/>
              <a:buFont typeface="Wingdings" panose="05000000000000000000" charset="0"/>
              <a:buChar char="l"/>
            </a:pP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DFS</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过程，</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DFS结果为V1,V2,V4,V8,V5,V3,V6,V7</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V1、V2、V4、V8、V5依次访问并压入堆栈</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弹出V5、V8、V4、V2，查找V1相邻的新结点，找到V3</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访问V3、V6</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弹出V6，查找V3相邻的新结点，找到V7</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访问V7</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弹出V7、V3</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最后弹出V1，结束遍历</a:t>
            </a:r>
            <a:endParaRPr lang="zh-CN" altLang="en-US" sz="2400" dirty="0">
              <a:latin typeface="黑体" panose="02010609060101010101" pitchFamily="2" charset="-122"/>
              <a:ea typeface="黑体" panose="02010609060101010101" pitchFamily="2" charset="-122"/>
              <a:cs typeface="+mn-ea"/>
            </a:endParaRPr>
          </a:p>
          <a:p>
            <a:pPr marL="609600" lvl="0" indent="-609600" eaLnBrk="1" hangingPunct="1">
              <a:spcBef>
                <a:spcPct val="40000"/>
              </a:spcBef>
              <a:buNone/>
            </a:pPr>
            <a:endParaRPr lang="zh-CN" altLang="en-US"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7.3 图的遍历</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76805" name="Group 132"/>
          <p:cNvGrpSpPr/>
          <p:nvPr/>
        </p:nvGrpSpPr>
        <p:grpSpPr>
          <a:xfrm>
            <a:off x="7823518" y="2780665"/>
            <a:ext cx="3276600" cy="2819400"/>
            <a:chOff x="1536" y="2448"/>
            <a:chExt cx="2064" cy="1776"/>
          </a:xfrm>
        </p:grpSpPr>
        <p:sp>
          <p:nvSpPr>
            <p:cNvPr id="76806" name="Line 133"/>
            <p:cNvSpPr/>
            <p:nvPr/>
          </p:nvSpPr>
          <p:spPr>
            <a:xfrm flipH="1">
              <a:off x="1680" y="3072"/>
              <a:ext cx="432" cy="480"/>
            </a:xfrm>
            <a:prstGeom prst="line">
              <a:avLst/>
            </a:prstGeom>
            <a:ln w="38100" cap="flat" cmpd="sng">
              <a:solidFill>
                <a:schemeClr val="hlink"/>
              </a:solidFill>
              <a:prstDash val="solid"/>
              <a:round/>
              <a:headEnd type="none" w="med" len="med"/>
              <a:tailEnd type="none" w="med" len="med"/>
            </a:ln>
          </p:spPr>
        </p:sp>
        <p:sp>
          <p:nvSpPr>
            <p:cNvPr id="76807" name="Line 134"/>
            <p:cNvSpPr/>
            <p:nvPr/>
          </p:nvSpPr>
          <p:spPr>
            <a:xfrm flipH="1">
              <a:off x="2112" y="2640"/>
              <a:ext cx="432" cy="432"/>
            </a:xfrm>
            <a:prstGeom prst="line">
              <a:avLst/>
            </a:prstGeom>
            <a:ln w="38100" cap="flat" cmpd="sng">
              <a:solidFill>
                <a:schemeClr val="hlink"/>
              </a:solidFill>
              <a:prstDash val="solid"/>
              <a:round/>
              <a:headEnd type="none" w="med" len="med"/>
              <a:tailEnd type="none" w="med" len="med"/>
            </a:ln>
          </p:spPr>
        </p:sp>
        <p:sp>
          <p:nvSpPr>
            <p:cNvPr id="76808" name="Line 135"/>
            <p:cNvSpPr/>
            <p:nvPr/>
          </p:nvSpPr>
          <p:spPr>
            <a:xfrm flipH="1" flipV="1">
              <a:off x="2112" y="3024"/>
              <a:ext cx="288" cy="672"/>
            </a:xfrm>
            <a:prstGeom prst="line">
              <a:avLst/>
            </a:prstGeom>
            <a:ln w="38100" cap="flat" cmpd="sng">
              <a:solidFill>
                <a:srgbClr val="009900"/>
              </a:solidFill>
              <a:prstDash val="solid"/>
              <a:round/>
              <a:headEnd type="none" w="med" len="med"/>
              <a:tailEnd type="none" w="med" len="med"/>
            </a:ln>
          </p:spPr>
        </p:sp>
        <p:sp>
          <p:nvSpPr>
            <p:cNvPr id="76809" name="Line 136"/>
            <p:cNvSpPr/>
            <p:nvPr/>
          </p:nvSpPr>
          <p:spPr>
            <a:xfrm flipH="1" flipV="1">
              <a:off x="1680" y="3600"/>
              <a:ext cx="960" cy="480"/>
            </a:xfrm>
            <a:prstGeom prst="line">
              <a:avLst/>
            </a:prstGeom>
            <a:ln w="38100" cap="flat" cmpd="sng">
              <a:solidFill>
                <a:schemeClr val="hlink"/>
              </a:solidFill>
              <a:prstDash val="solid"/>
              <a:round/>
              <a:headEnd type="none" w="med" len="med"/>
              <a:tailEnd type="none" w="med" len="med"/>
            </a:ln>
          </p:spPr>
        </p:sp>
        <p:sp>
          <p:nvSpPr>
            <p:cNvPr id="76810" name="Line 137"/>
            <p:cNvSpPr/>
            <p:nvPr/>
          </p:nvSpPr>
          <p:spPr>
            <a:xfrm flipH="1" flipV="1">
              <a:off x="2400" y="3696"/>
              <a:ext cx="240" cy="384"/>
            </a:xfrm>
            <a:prstGeom prst="line">
              <a:avLst/>
            </a:prstGeom>
            <a:ln w="38100" cap="flat" cmpd="sng">
              <a:solidFill>
                <a:schemeClr val="hlink"/>
              </a:solidFill>
              <a:prstDash val="solid"/>
              <a:round/>
              <a:headEnd type="none" w="med" len="med"/>
              <a:tailEnd type="none" w="med" len="med"/>
            </a:ln>
          </p:spPr>
        </p:sp>
        <p:sp>
          <p:nvSpPr>
            <p:cNvPr id="76811" name="Line 138"/>
            <p:cNvSpPr/>
            <p:nvPr/>
          </p:nvSpPr>
          <p:spPr>
            <a:xfrm>
              <a:off x="2640" y="2640"/>
              <a:ext cx="480" cy="384"/>
            </a:xfrm>
            <a:prstGeom prst="line">
              <a:avLst/>
            </a:prstGeom>
            <a:ln w="38100" cap="flat" cmpd="sng">
              <a:solidFill>
                <a:schemeClr val="hlink"/>
              </a:solidFill>
              <a:prstDash val="solid"/>
              <a:round/>
              <a:headEnd type="none" w="med" len="med"/>
              <a:tailEnd type="none" w="med" len="med"/>
            </a:ln>
          </p:spPr>
        </p:sp>
        <p:sp>
          <p:nvSpPr>
            <p:cNvPr id="76812" name="Line 139"/>
            <p:cNvSpPr/>
            <p:nvPr/>
          </p:nvSpPr>
          <p:spPr>
            <a:xfrm flipH="1">
              <a:off x="2880" y="3120"/>
              <a:ext cx="240" cy="480"/>
            </a:xfrm>
            <a:prstGeom prst="line">
              <a:avLst/>
            </a:prstGeom>
            <a:ln w="38100" cap="flat" cmpd="sng">
              <a:solidFill>
                <a:schemeClr val="hlink"/>
              </a:solidFill>
              <a:prstDash val="solid"/>
              <a:round/>
              <a:headEnd type="none" w="med" len="med"/>
              <a:tailEnd type="none" w="med" len="med"/>
            </a:ln>
          </p:spPr>
        </p:sp>
        <p:sp>
          <p:nvSpPr>
            <p:cNvPr id="76813" name="Line 140"/>
            <p:cNvSpPr/>
            <p:nvPr/>
          </p:nvSpPr>
          <p:spPr>
            <a:xfrm>
              <a:off x="3168" y="3168"/>
              <a:ext cx="288" cy="432"/>
            </a:xfrm>
            <a:prstGeom prst="line">
              <a:avLst/>
            </a:prstGeom>
            <a:ln w="38100" cap="flat" cmpd="sng">
              <a:solidFill>
                <a:schemeClr val="hlink"/>
              </a:solidFill>
              <a:prstDash val="solid"/>
              <a:round/>
              <a:headEnd type="none" w="med" len="med"/>
              <a:tailEnd type="none" w="med" len="med"/>
            </a:ln>
          </p:spPr>
        </p:sp>
        <p:grpSp>
          <p:nvGrpSpPr>
            <p:cNvPr id="76814" name="Group 141"/>
            <p:cNvGrpSpPr/>
            <p:nvPr/>
          </p:nvGrpSpPr>
          <p:grpSpPr>
            <a:xfrm>
              <a:off x="1536" y="2448"/>
              <a:ext cx="2064" cy="1776"/>
              <a:chOff x="1488" y="2544"/>
              <a:chExt cx="2064" cy="1776"/>
            </a:xfrm>
          </p:grpSpPr>
          <p:sp>
            <p:nvSpPr>
              <p:cNvPr id="76815" name="Oval 142"/>
              <p:cNvSpPr/>
              <p:nvPr/>
            </p:nvSpPr>
            <p:spPr>
              <a:xfrm>
                <a:off x="2400" y="254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V1</a:t>
                </a:r>
                <a:endParaRPr lang="en-US" altLang="zh-CN" sz="2000" dirty="0">
                  <a:solidFill>
                    <a:schemeClr val="bg1"/>
                  </a:solidFill>
                  <a:latin typeface="Tahoma" panose="020B0604030504040204" charset="0"/>
                  <a:ea typeface="宋体" panose="02010600030101010101" pitchFamily="2" charset="-122"/>
                </a:endParaRPr>
              </a:p>
            </p:txBody>
          </p:sp>
          <p:sp>
            <p:nvSpPr>
              <p:cNvPr id="76816" name="Oval 143"/>
              <p:cNvSpPr/>
              <p:nvPr/>
            </p:nvSpPr>
            <p:spPr>
              <a:xfrm>
                <a:off x="2928" y="3072"/>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V3</a:t>
                </a:r>
                <a:endParaRPr lang="en-US" altLang="zh-CN" sz="2000" dirty="0">
                  <a:solidFill>
                    <a:schemeClr val="bg1"/>
                  </a:solidFill>
                  <a:latin typeface="Tahoma" panose="020B0604030504040204" charset="0"/>
                  <a:ea typeface="宋体" panose="02010600030101010101" pitchFamily="2" charset="-122"/>
                </a:endParaRPr>
              </a:p>
            </p:txBody>
          </p:sp>
          <p:sp>
            <p:nvSpPr>
              <p:cNvPr id="76817" name="Oval 144"/>
              <p:cNvSpPr/>
              <p:nvPr/>
            </p:nvSpPr>
            <p:spPr>
              <a:xfrm>
                <a:off x="1920" y="302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V2</a:t>
                </a:r>
                <a:endParaRPr lang="en-US" altLang="zh-CN" sz="2000" dirty="0">
                  <a:solidFill>
                    <a:schemeClr val="bg1"/>
                  </a:solidFill>
                  <a:latin typeface="Tahoma" panose="020B0604030504040204" charset="0"/>
                  <a:ea typeface="宋体" panose="02010600030101010101" pitchFamily="2" charset="-122"/>
                </a:endParaRPr>
              </a:p>
            </p:txBody>
          </p:sp>
          <p:sp>
            <p:nvSpPr>
              <p:cNvPr id="76818" name="Oval 145"/>
              <p:cNvSpPr/>
              <p:nvPr/>
            </p:nvSpPr>
            <p:spPr>
              <a:xfrm>
                <a:off x="2208" y="3600"/>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V5</a:t>
                </a:r>
                <a:endParaRPr lang="en-US" altLang="zh-CN" sz="2000" dirty="0">
                  <a:solidFill>
                    <a:schemeClr val="bg1"/>
                  </a:solidFill>
                  <a:latin typeface="Tahoma" panose="020B0604030504040204" charset="0"/>
                  <a:ea typeface="宋体" panose="02010600030101010101" pitchFamily="2" charset="-122"/>
                </a:endParaRPr>
              </a:p>
            </p:txBody>
          </p:sp>
          <p:sp>
            <p:nvSpPr>
              <p:cNvPr id="76819" name="Oval 146"/>
              <p:cNvSpPr/>
              <p:nvPr/>
            </p:nvSpPr>
            <p:spPr>
              <a:xfrm>
                <a:off x="1488" y="3552"/>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V4</a:t>
                </a:r>
                <a:endParaRPr lang="en-US" altLang="zh-CN" sz="2000" dirty="0">
                  <a:solidFill>
                    <a:schemeClr val="bg1"/>
                  </a:solidFill>
                  <a:latin typeface="Tahoma" panose="020B0604030504040204" charset="0"/>
                  <a:ea typeface="宋体" panose="02010600030101010101" pitchFamily="2" charset="-122"/>
                </a:endParaRPr>
              </a:p>
            </p:txBody>
          </p:sp>
          <p:sp>
            <p:nvSpPr>
              <p:cNvPr id="76820" name="Oval 147"/>
              <p:cNvSpPr/>
              <p:nvPr/>
            </p:nvSpPr>
            <p:spPr>
              <a:xfrm>
                <a:off x="2688" y="360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V6</a:t>
                </a:r>
                <a:endParaRPr lang="en-US" altLang="zh-CN" sz="2000" dirty="0">
                  <a:solidFill>
                    <a:schemeClr val="bg1"/>
                  </a:solidFill>
                  <a:latin typeface="Tahoma" panose="020B0604030504040204" charset="0"/>
                  <a:ea typeface="宋体" panose="02010600030101010101" pitchFamily="2" charset="-122"/>
                </a:endParaRPr>
              </a:p>
            </p:txBody>
          </p:sp>
          <p:sp>
            <p:nvSpPr>
              <p:cNvPr id="76821" name="Oval 148"/>
              <p:cNvSpPr/>
              <p:nvPr/>
            </p:nvSpPr>
            <p:spPr>
              <a:xfrm>
                <a:off x="3264" y="360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V7</a:t>
                </a:r>
                <a:endParaRPr lang="en-US" altLang="zh-CN" sz="2000" dirty="0">
                  <a:solidFill>
                    <a:schemeClr val="bg1"/>
                  </a:solidFill>
                  <a:latin typeface="Tahoma" panose="020B0604030504040204" charset="0"/>
                  <a:ea typeface="宋体" panose="02010600030101010101" pitchFamily="2" charset="-122"/>
                </a:endParaRPr>
              </a:p>
            </p:txBody>
          </p:sp>
          <p:sp>
            <p:nvSpPr>
              <p:cNvPr id="76822" name="Oval 149"/>
              <p:cNvSpPr/>
              <p:nvPr/>
            </p:nvSpPr>
            <p:spPr>
              <a:xfrm>
                <a:off x="2448" y="405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V8</a:t>
                </a:r>
                <a:endParaRPr lang="en-US" altLang="zh-CN" sz="2000" dirty="0">
                  <a:solidFill>
                    <a:schemeClr val="bg1"/>
                  </a:solidFill>
                  <a:latin typeface="Tahoma" panose="020B0604030504040204" charset="0"/>
                  <a:ea typeface="宋体" panose="02010600030101010101" pitchFamily="2" charset="-122"/>
                </a:endParaRPr>
              </a:p>
            </p:txBody>
          </p:sp>
        </p:gr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基于邻接表的</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DFS</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示例，遍历结果为</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0,1,2,3,4,5</a:t>
            </a:r>
            <a:endParaRPr lang="en-US"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7.3 图的遍历</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26630" name="表格 26629"/>
          <p:cNvGraphicFramePr/>
          <p:nvPr/>
        </p:nvGraphicFramePr>
        <p:xfrm>
          <a:off x="1725613" y="1909763"/>
          <a:ext cx="1066800" cy="2825750"/>
        </p:xfrm>
        <a:graphic>
          <a:graphicData uri="http://schemas.openxmlformats.org/drawingml/2006/table">
            <a:tbl>
              <a:tblPr/>
              <a:tblGrid>
                <a:gridCol w="387350"/>
                <a:gridCol w="389255"/>
                <a:gridCol w="290195"/>
              </a:tblGrid>
              <a:tr h="471488">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0</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F</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469900">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1</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F</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471487">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2</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F</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471488">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3</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F</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469900">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4</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F</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r h="471487">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5</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F</a:t>
                      </a:r>
                      <a:endParaRPr lang="en-US"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sz="2000" b="1" dirty="0">
                        <a:latin typeface="Arial" panose="020B0604020202020204" pitchFamily="34" charset="0"/>
                        <a:ea typeface="宋体" panose="02010600030101010101" pitchFamily="2" charset="-122"/>
                      </a:endParaRPr>
                    </a:p>
                  </a:txBody>
                  <a:tcPr>
                    <a:lnL w="28575" cap="flat" cmpd="sng">
                      <a:solidFill>
                        <a:schemeClr val="folHlink"/>
                      </a:solidFill>
                      <a:prstDash val="solid"/>
                      <a:miter/>
                      <a:headEnd type="none" w="med" len="med"/>
                      <a:tailEnd type="none" w="med" len="med"/>
                    </a:lnL>
                    <a:lnR w="28575" cap="flat" cmpd="sng">
                      <a:solidFill>
                        <a:schemeClr val="folHlink"/>
                      </a:solidFill>
                      <a:prstDash val="solid"/>
                      <a:miter/>
                      <a:headEnd type="none" w="med" len="med"/>
                      <a:tailEnd type="none" w="med" len="med"/>
                    </a:lnR>
                    <a:lnT w="28575" cap="flat" cmpd="sng">
                      <a:solidFill>
                        <a:schemeClr val="folHlink"/>
                      </a:solidFill>
                      <a:prstDash val="solid"/>
                      <a:miter/>
                      <a:headEnd type="none" w="med" len="med"/>
                      <a:tailEnd type="none" w="med" len="med"/>
                    </a:lnT>
                    <a:lnB w="28575" cap="flat" cmpd="sng">
                      <a:solidFill>
                        <a:schemeClr val="folHlink"/>
                      </a:solidFill>
                      <a:prstDash val="solid"/>
                      <a:miter/>
                      <a:headEnd type="none" w="med" len="med"/>
                      <a:tailEnd type="none" w="med" len="med"/>
                    </a:lnB>
                    <a:lnTlToBr>
                      <a:noFill/>
                    </a:lnTlToBr>
                    <a:lnBlToTr>
                      <a:noFill/>
                    </a:lnBlToTr>
                    <a:noFill/>
                  </a:tcPr>
                </a:tc>
              </a:tr>
            </a:tbl>
          </a:graphicData>
        </a:graphic>
      </p:graphicFrame>
      <p:grpSp>
        <p:nvGrpSpPr>
          <p:cNvPr id="75811" name="Group 34"/>
          <p:cNvGrpSpPr/>
          <p:nvPr/>
        </p:nvGrpSpPr>
        <p:grpSpPr>
          <a:xfrm>
            <a:off x="2640013" y="1916113"/>
            <a:ext cx="4724400" cy="2781058"/>
            <a:chOff x="912" y="1824"/>
            <a:chExt cx="3744" cy="2268"/>
          </a:xfrm>
        </p:grpSpPr>
        <p:grpSp>
          <p:nvGrpSpPr>
            <p:cNvPr id="75812" name="Group 35"/>
            <p:cNvGrpSpPr/>
            <p:nvPr/>
          </p:nvGrpSpPr>
          <p:grpSpPr>
            <a:xfrm>
              <a:off x="1296" y="1824"/>
              <a:ext cx="624" cy="251"/>
              <a:chOff x="3956" y="1776"/>
              <a:chExt cx="1516" cy="396"/>
            </a:xfrm>
          </p:grpSpPr>
          <p:sp>
            <p:nvSpPr>
              <p:cNvPr id="75813" name="Text Box 36"/>
              <p:cNvSpPr txBox="1"/>
              <p:nvPr/>
            </p:nvSpPr>
            <p:spPr>
              <a:xfrm>
                <a:off x="3956" y="1776"/>
                <a:ext cx="889"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1</a:t>
                </a:r>
                <a:endParaRPr lang="en-US" altLang="zh-CN" sz="2000" dirty="0">
                  <a:latin typeface="Tahoma" panose="020B0604030504040204" charset="0"/>
                  <a:ea typeface="宋体" panose="02010600030101010101" pitchFamily="2" charset="-122"/>
                </a:endParaRPr>
              </a:p>
            </p:txBody>
          </p:sp>
          <p:sp>
            <p:nvSpPr>
              <p:cNvPr id="75814" name="Text Box 37"/>
              <p:cNvSpPr txBox="1"/>
              <p:nvPr/>
            </p:nvSpPr>
            <p:spPr>
              <a:xfrm>
                <a:off x="4845" y="1776"/>
                <a:ext cx="627"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endParaRPr lang="zh-CN" altLang="zh-CN" sz="2000" dirty="0">
                  <a:latin typeface="Tahoma" panose="020B0604030504040204" charset="0"/>
                  <a:ea typeface="宋体" panose="02010600030101010101" pitchFamily="2" charset="-122"/>
                </a:endParaRPr>
              </a:p>
            </p:txBody>
          </p:sp>
        </p:grpSp>
        <p:grpSp>
          <p:nvGrpSpPr>
            <p:cNvPr id="75815" name="Group 38"/>
            <p:cNvGrpSpPr/>
            <p:nvPr/>
          </p:nvGrpSpPr>
          <p:grpSpPr>
            <a:xfrm>
              <a:off x="2208" y="1824"/>
              <a:ext cx="624" cy="251"/>
              <a:chOff x="3956" y="1776"/>
              <a:chExt cx="1516" cy="396"/>
            </a:xfrm>
          </p:grpSpPr>
          <p:sp>
            <p:nvSpPr>
              <p:cNvPr id="75816" name="Text Box 39"/>
              <p:cNvSpPr txBox="1"/>
              <p:nvPr/>
            </p:nvSpPr>
            <p:spPr>
              <a:xfrm>
                <a:off x="3956" y="1776"/>
                <a:ext cx="889"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4</a:t>
                </a:r>
                <a:endParaRPr lang="en-US" altLang="zh-CN" sz="2000" dirty="0">
                  <a:latin typeface="Tahoma" panose="020B0604030504040204" charset="0"/>
                  <a:ea typeface="宋体" panose="02010600030101010101" pitchFamily="2" charset="-122"/>
                </a:endParaRPr>
              </a:p>
            </p:txBody>
          </p:sp>
          <p:sp>
            <p:nvSpPr>
              <p:cNvPr id="75817" name="Text Box 40"/>
              <p:cNvSpPr txBox="1"/>
              <p:nvPr/>
            </p:nvSpPr>
            <p:spPr>
              <a:xfrm>
                <a:off x="4845" y="1776"/>
                <a:ext cx="627"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endParaRPr lang="zh-CN" altLang="zh-CN" sz="2000" dirty="0">
                  <a:latin typeface="Tahoma" panose="020B0604030504040204" charset="0"/>
                  <a:ea typeface="宋体" panose="02010600030101010101" pitchFamily="2" charset="-122"/>
                </a:endParaRPr>
              </a:p>
            </p:txBody>
          </p:sp>
        </p:grpSp>
        <p:grpSp>
          <p:nvGrpSpPr>
            <p:cNvPr id="75818" name="Group 41"/>
            <p:cNvGrpSpPr/>
            <p:nvPr/>
          </p:nvGrpSpPr>
          <p:grpSpPr>
            <a:xfrm>
              <a:off x="3120" y="1824"/>
              <a:ext cx="624" cy="251"/>
              <a:chOff x="3956" y="1776"/>
              <a:chExt cx="1516" cy="396"/>
            </a:xfrm>
          </p:grpSpPr>
          <p:sp>
            <p:nvSpPr>
              <p:cNvPr id="75819" name="Text Box 42"/>
              <p:cNvSpPr txBox="1"/>
              <p:nvPr/>
            </p:nvSpPr>
            <p:spPr>
              <a:xfrm>
                <a:off x="3956" y="1776"/>
                <a:ext cx="889"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5</a:t>
                </a:r>
                <a:endParaRPr lang="en-US" altLang="zh-CN" sz="2000" dirty="0">
                  <a:latin typeface="Tahoma" panose="020B0604030504040204" charset="0"/>
                  <a:ea typeface="宋体" panose="02010600030101010101" pitchFamily="2" charset="-122"/>
                </a:endParaRPr>
              </a:p>
            </p:txBody>
          </p:sp>
          <p:sp>
            <p:nvSpPr>
              <p:cNvPr id="75820" name="Text Box 43"/>
              <p:cNvSpPr txBox="1"/>
              <p:nvPr/>
            </p:nvSpPr>
            <p:spPr>
              <a:xfrm>
                <a:off x="4845" y="1776"/>
                <a:ext cx="627"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a:t>
                </a:r>
                <a:endParaRPr lang="en-US" altLang="zh-CN" sz="2000" dirty="0">
                  <a:latin typeface="Tahoma" panose="020B0604030504040204" charset="0"/>
                  <a:ea typeface="宋体" panose="02010600030101010101" pitchFamily="2" charset="-122"/>
                </a:endParaRPr>
              </a:p>
            </p:txBody>
          </p:sp>
        </p:grpSp>
        <p:sp>
          <p:nvSpPr>
            <p:cNvPr id="75821" name="Line 44"/>
            <p:cNvSpPr/>
            <p:nvPr/>
          </p:nvSpPr>
          <p:spPr>
            <a:xfrm>
              <a:off x="912" y="2016"/>
              <a:ext cx="384" cy="0"/>
            </a:xfrm>
            <a:prstGeom prst="line">
              <a:avLst/>
            </a:prstGeom>
            <a:ln w="28575" cap="flat" cmpd="sng">
              <a:solidFill>
                <a:srgbClr val="00FF00"/>
              </a:solidFill>
              <a:prstDash val="solid"/>
              <a:miter/>
              <a:headEnd type="none" w="med" len="med"/>
              <a:tailEnd type="triangle" w="med" len="med"/>
            </a:ln>
          </p:spPr>
        </p:sp>
        <p:sp>
          <p:nvSpPr>
            <p:cNvPr id="75822" name="Line 45"/>
            <p:cNvSpPr/>
            <p:nvPr/>
          </p:nvSpPr>
          <p:spPr>
            <a:xfrm>
              <a:off x="1824" y="2016"/>
              <a:ext cx="384" cy="0"/>
            </a:xfrm>
            <a:prstGeom prst="line">
              <a:avLst/>
            </a:prstGeom>
            <a:ln w="28575" cap="flat" cmpd="sng">
              <a:solidFill>
                <a:srgbClr val="00FF00"/>
              </a:solidFill>
              <a:prstDash val="solid"/>
              <a:miter/>
              <a:headEnd type="none" w="med" len="med"/>
              <a:tailEnd type="triangle" w="med" len="med"/>
            </a:ln>
          </p:spPr>
        </p:sp>
        <p:sp>
          <p:nvSpPr>
            <p:cNvPr id="75823" name="Line 46"/>
            <p:cNvSpPr/>
            <p:nvPr/>
          </p:nvSpPr>
          <p:spPr>
            <a:xfrm>
              <a:off x="2736" y="2016"/>
              <a:ext cx="384" cy="0"/>
            </a:xfrm>
            <a:prstGeom prst="line">
              <a:avLst/>
            </a:prstGeom>
            <a:ln w="28575" cap="flat" cmpd="sng">
              <a:solidFill>
                <a:srgbClr val="00FF00"/>
              </a:solidFill>
              <a:prstDash val="solid"/>
              <a:miter/>
              <a:headEnd type="none" w="med" len="med"/>
              <a:tailEnd type="triangle" w="med" len="med"/>
            </a:ln>
          </p:spPr>
        </p:sp>
        <p:grpSp>
          <p:nvGrpSpPr>
            <p:cNvPr id="75824" name="Group 47"/>
            <p:cNvGrpSpPr/>
            <p:nvPr/>
          </p:nvGrpSpPr>
          <p:grpSpPr>
            <a:xfrm>
              <a:off x="1296" y="2256"/>
              <a:ext cx="624" cy="250"/>
              <a:chOff x="3956" y="1776"/>
              <a:chExt cx="1516" cy="396"/>
            </a:xfrm>
          </p:grpSpPr>
          <p:sp>
            <p:nvSpPr>
              <p:cNvPr id="75825" name="Text Box 48"/>
              <p:cNvSpPr txBox="1"/>
              <p:nvPr/>
            </p:nvSpPr>
            <p:spPr>
              <a:xfrm>
                <a:off x="3956" y="1776"/>
                <a:ext cx="889"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0</a:t>
                </a:r>
                <a:endParaRPr lang="en-US" altLang="zh-CN" sz="2000" dirty="0">
                  <a:latin typeface="Tahoma" panose="020B0604030504040204" charset="0"/>
                  <a:ea typeface="宋体" panose="02010600030101010101" pitchFamily="2" charset="-122"/>
                </a:endParaRPr>
              </a:p>
            </p:txBody>
          </p:sp>
          <p:sp>
            <p:nvSpPr>
              <p:cNvPr id="75826" name="Text Box 49"/>
              <p:cNvSpPr txBox="1"/>
              <p:nvPr/>
            </p:nvSpPr>
            <p:spPr>
              <a:xfrm>
                <a:off x="4845" y="1776"/>
                <a:ext cx="627"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endParaRPr lang="zh-CN" altLang="zh-CN" sz="2000" dirty="0">
                  <a:latin typeface="Tahoma" panose="020B0604030504040204" charset="0"/>
                  <a:ea typeface="宋体" panose="02010600030101010101" pitchFamily="2" charset="-122"/>
                </a:endParaRPr>
              </a:p>
            </p:txBody>
          </p:sp>
        </p:grpSp>
        <p:grpSp>
          <p:nvGrpSpPr>
            <p:cNvPr id="75827" name="Group 50"/>
            <p:cNvGrpSpPr/>
            <p:nvPr/>
          </p:nvGrpSpPr>
          <p:grpSpPr>
            <a:xfrm>
              <a:off x="2208" y="2256"/>
              <a:ext cx="624" cy="250"/>
              <a:chOff x="3956" y="1776"/>
              <a:chExt cx="1516" cy="396"/>
            </a:xfrm>
          </p:grpSpPr>
          <p:sp>
            <p:nvSpPr>
              <p:cNvPr id="75828" name="Text Box 51"/>
              <p:cNvSpPr txBox="1"/>
              <p:nvPr/>
            </p:nvSpPr>
            <p:spPr>
              <a:xfrm>
                <a:off x="3956" y="1776"/>
                <a:ext cx="889"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2</a:t>
                </a:r>
                <a:endParaRPr lang="en-US" altLang="zh-CN" sz="2000" dirty="0">
                  <a:latin typeface="Tahoma" panose="020B0604030504040204" charset="0"/>
                  <a:ea typeface="宋体" panose="02010600030101010101" pitchFamily="2" charset="-122"/>
                </a:endParaRPr>
              </a:p>
            </p:txBody>
          </p:sp>
          <p:sp>
            <p:nvSpPr>
              <p:cNvPr id="75829" name="Text Box 52"/>
              <p:cNvSpPr txBox="1"/>
              <p:nvPr/>
            </p:nvSpPr>
            <p:spPr>
              <a:xfrm>
                <a:off x="4845" y="1776"/>
                <a:ext cx="627"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endParaRPr lang="zh-CN" altLang="zh-CN" sz="2000" dirty="0">
                  <a:latin typeface="Tahoma" panose="020B0604030504040204" charset="0"/>
                  <a:ea typeface="宋体" panose="02010600030101010101" pitchFamily="2" charset="-122"/>
                </a:endParaRPr>
              </a:p>
            </p:txBody>
          </p:sp>
        </p:grpSp>
        <p:grpSp>
          <p:nvGrpSpPr>
            <p:cNvPr id="75830" name="Group 53"/>
            <p:cNvGrpSpPr/>
            <p:nvPr/>
          </p:nvGrpSpPr>
          <p:grpSpPr>
            <a:xfrm>
              <a:off x="3120" y="2256"/>
              <a:ext cx="624" cy="250"/>
              <a:chOff x="3956" y="1776"/>
              <a:chExt cx="1516" cy="396"/>
            </a:xfrm>
          </p:grpSpPr>
          <p:sp>
            <p:nvSpPr>
              <p:cNvPr id="75831" name="Text Box 54"/>
              <p:cNvSpPr txBox="1"/>
              <p:nvPr/>
            </p:nvSpPr>
            <p:spPr>
              <a:xfrm>
                <a:off x="3956" y="1776"/>
                <a:ext cx="889"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3</a:t>
                </a:r>
                <a:endParaRPr lang="en-US" altLang="zh-CN" sz="2000" dirty="0">
                  <a:latin typeface="Tahoma" panose="020B0604030504040204" charset="0"/>
                  <a:ea typeface="宋体" panose="02010600030101010101" pitchFamily="2" charset="-122"/>
                </a:endParaRPr>
              </a:p>
            </p:txBody>
          </p:sp>
          <p:sp>
            <p:nvSpPr>
              <p:cNvPr id="75832" name="Text Box 55"/>
              <p:cNvSpPr txBox="1"/>
              <p:nvPr/>
            </p:nvSpPr>
            <p:spPr>
              <a:xfrm>
                <a:off x="4845" y="1776"/>
                <a:ext cx="627"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endParaRPr lang="zh-CN" altLang="zh-CN" sz="2000" dirty="0">
                  <a:latin typeface="Tahoma" panose="020B0604030504040204" charset="0"/>
                  <a:ea typeface="宋体" panose="02010600030101010101" pitchFamily="2" charset="-122"/>
                </a:endParaRPr>
              </a:p>
            </p:txBody>
          </p:sp>
        </p:grpSp>
        <p:sp>
          <p:nvSpPr>
            <p:cNvPr id="75833" name="Line 56"/>
            <p:cNvSpPr/>
            <p:nvPr/>
          </p:nvSpPr>
          <p:spPr>
            <a:xfrm>
              <a:off x="912" y="2448"/>
              <a:ext cx="384" cy="0"/>
            </a:xfrm>
            <a:prstGeom prst="line">
              <a:avLst/>
            </a:prstGeom>
            <a:ln w="28575" cap="flat" cmpd="sng">
              <a:solidFill>
                <a:srgbClr val="00FF00"/>
              </a:solidFill>
              <a:prstDash val="solid"/>
              <a:miter/>
              <a:headEnd type="none" w="med" len="med"/>
              <a:tailEnd type="triangle" w="med" len="med"/>
            </a:ln>
          </p:spPr>
        </p:sp>
        <p:sp>
          <p:nvSpPr>
            <p:cNvPr id="75834" name="Line 57"/>
            <p:cNvSpPr/>
            <p:nvPr/>
          </p:nvSpPr>
          <p:spPr>
            <a:xfrm>
              <a:off x="1824" y="2448"/>
              <a:ext cx="384" cy="0"/>
            </a:xfrm>
            <a:prstGeom prst="line">
              <a:avLst/>
            </a:prstGeom>
            <a:ln w="28575" cap="flat" cmpd="sng">
              <a:solidFill>
                <a:srgbClr val="00FF00"/>
              </a:solidFill>
              <a:prstDash val="solid"/>
              <a:miter/>
              <a:headEnd type="none" w="med" len="med"/>
              <a:tailEnd type="triangle" w="med" len="med"/>
            </a:ln>
          </p:spPr>
        </p:sp>
        <p:sp>
          <p:nvSpPr>
            <p:cNvPr id="75835" name="Line 58"/>
            <p:cNvSpPr/>
            <p:nvPr/>
          </p:nvSpPr>
          <p:spPr>
            <a:xfrm>
              <a:off x="2736" y="2448"/>
              <a:ext cx="384" cy="0"/>
            </a:xfrm>
            <a:prstGeom prst="line">
              <a:avLst/>
            </a:prstGeom>
            <a:ln w="28575" cap="flat" cmpd="sng">
              <a:solidFill>
                <a:srgbClr val="00FF00"/>
              </a:solidFill>
              <a:prstDash val="solid"/>
              <a:miter/>
              <a:headEnd type="none" w="med" len="med"/>
              <a:tailEnd type="triangle" w="med" len="med"/>
            </a:ln>
          </p:spPr>
        </p:sp>
        <p:grpSp>
          <p:nvGrpSpPr>
            <p:cNvPr id="75836" name="Group 59"/>
            <p:cNvGrpSpPr/>
            <p:nvPr/>
          </p:nvGrpSpPr>
          <p:grpSpPr>
            <a:xfrm>
              <a:off x="1296" y="2640"/>
              <a:ext cx="624" cy="251"/>
              <a:chOff x="3956" y="1776"/>
              <a:chExt cx="1516" cy="397"/>
            </a:xfrm>
          </p:grpSpPr>
          <p:sp>
            <p:nvSpPr>
              <p:cNvPr id="75837" name="Text Box 60"/>
              <p:cNvSpPr txBox="1"/>
              <p:nvPr/>
            </p:nvSpPr>
            <p:spPr>
              <a:xfrm>
                <a:off x="3956" y="1776"/>
                <a:ext cx="889" cy="397"/>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1</a:t>
                </a:r>
                <a:endParaRPr lang="en-US" altLang="zh-CN" sz="2000" dirty="0">
                  <a:latin typeface="Tahoma" panose="020B0604030504040204" charset="0"/>
                  <a:ea typeface="宋体" panose="02010600030101010101" pitchFamily="2" charset="-122"/>
                </a:endParaRPr>
              </a:p>
            </p:txBody>
          </p:sp>
          <p:sp>
            <p:nvSpPr>
              <p:cNvPr id="75838" name="Text Box 61"/>
              <p:cNvSpPr txBox="1"/>
              <p:nvPr/>
            </p:nvSpPr>
            <p:spPr>
              <a:xfrm>
                <a:off x="4845" y="1776"/>
                <a:ext cx="627" cy="397"/>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endParaRPr lang="zh-CN" altLang="zh-CN" sz="2000" dirty="0">
                  <a:latin typeface="Tahoma" panose="020B0604030504040204" charset="0"/>
                  <a:ea typeface="宋体" panose="02010600030101010101" pitchFamily="2" charset="-122"/>
                </a:endParaRPr>
              </a:p>
            </p:txBody>
          </p:sp>
        </p:grpSp>
        <p:grpSp>
          <p:nvGrpSpPr>
            <p:cNvPr id="75839" name="Group 62"/>
            <p:cNvGrpSpPr/>
            <p:nvPr/>
          </p:nvGrpSpPr>
          <p:grpSpPr>
            <a:xfrm>
              <a:off x="2208" y="2640"/>
              <a:ext cx="624" cy="251"/>
              <a:chOff x="3956" y="1776"/>
              <a:chExt cx="1516" cy="397"/>
            </a:xfrm>
          </p:grpSpPr>
          <p:sp>
            <p:nvSpPr>
              <p:cNvPr id="75840" name="Text Box 63"/>
              <p:cNvSpPr txBox="1"/>
              <p:nvPr/>
            </p:nvSpPr>
            <p:spPr>
              <a:xfrm>
                <a:off x="3956" y="1776"/>
                <a:ext cx="889" cy="397"/>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3</a:t>
                </a:r>
                <a:endParaRPr lang="en-US" altLang="zh-CN" sz="2000" dirty="0">
                  <a:latin typeface="Tahoma" panose="020B0604030504040204" charset="0"/>
                  <a:ea typeface="宋体" panose="02010600030101010101" pitchFamily="2" charset="-122"/>
                </a:endParaRPr>
              </a:p>
            </p:txBody>
          </p:sp>
          <p:sp>
            <p:nvSpPr>
              <p:cNvPr id="75841" name="Text Box 64"/>
              <p:cNvSpPr txBox="1"/>
              <p:nvPr/>
            </p:nvSpPr>
            <p:spPr>
              <a:xfrm>
                <a:off x="4845" y="1776"/>
                <a:ext cx="627" cy="397"/>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a:t>
                </a:r>
                <a:endParaRPr lang="en-US" altLang="zh-CN" sz="2000" dirty="0">
                  <a:latin typeface="Tahoma" panose="020B0604030504040204" charset="0"/>
                  <a:ea typeface="宋体" panose="02010600030101010101" pitchFamily="2" charset="-122"/>
                </a:endParaRPr>
              </a:p>
            </p:txBody>
          </p:sp>
        </p:grpSp>
        <p:sp>
          <p:nvSpPr>
            <p:cNvPr id="75842" name="Line 65"/>
            <p:cNvSpPr/>
            <p:nvPr/>
          </p:nvSpPr>
          <p:spPr>
            <a:xfrm>
              <a:off x="912" y="2832"/>
              <a:ext cx="384" cy="0"/>
            </a:xfrm>
            <a:prstGeom prst="line">
              <a:avLst/>
            </a:prstGeom>
            <a:ln w="28575" cap="flat" cmpd="sng">
              <a:solidFill>
                <a:srgbClr val="00FF00"/>
              </a:solidFill>
              <a:prstDash val="solid"/>
              <a:miter/>
              <a:headEnd type="none" w="med" len="med"/>
              <a:tailEnd type="triangle" w="med" len="med"/>
            </a:ln>
          </p:spPr>
        </p:sp>
        <p:sp>
          <p:nvSpPr>
            <p:cNvPr id="75843" name="Line 66"/>
            <p:cNvSpPr/>
            <p:nvPr/>
          </p:nvSpPr>
          <p:spPr>
            <a:xfrm>
              <a:off x="1824" y="2832"/>
              <a:ext cx="384" cy="0"/>
            </a:xfrm>
            <a:prstGeom prst="line">
              <a:avLst/>
            </a:prstGeom>
            <a:ln w="28575" cap="flat" cmpd="sng">
              <a:solidFill>
                <a:srgbClr val="00FF00"/>
              </a:solidFill>
              <a:prstDash val="solid"/>
              <a:miter/>
              <a:headEnd type="none" w="med" len="med"/>
              <a:tailEnd type="triangle" w="med" len="med"/>
            </a:ln>
          </p:spPr>
        </p:sp>
        <p:grpSp>
          <p:nvGrpSpPr>
            <p:cNvPr id="75844" name="Group 67"/>
            <p:cNvGrpSpPr/>
            <p:nvPr/>
          </p:nvGrpSpPr>
          <p:grpSpPr>
            <a:xfrm>
              <a:off x="1296" y="3072"/>
              <a:ext cx="624" cy="251"/>
              <a:chOff x="3956" y="1776"/>
              <a:chExt cx="1516" cy="396"/>
            </a:xfrm>
          </p:grpSpPr>
          <p:sp>
            <p:nvSpPr>
              <p:cNvPr id="75845" name="Text Box 68"/>
              <p:cNvSpPr txBox="1"/>
              <p:nvPr/>
            </p:nvSpPr>
            <p:spPr>
              <a:xfrm>
                <a:off x="3956" y="1776"/>
                <a:ext cx="889"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1</a:t>
                </a:r>
                <a:endParaRPr lang="en-US" altLang="zh-CN" sz="2000" dirty="0">
                  <a:latin typeface="Tahoma" panose="020B0604030504040204" charset="0"/>
                  <a:ea typeface="宋体" panose="02010600030101010101" pitchFamily="2" charset="-122"/>
                </a:endParaRPr>
              </a:p>
            </p:txBody>
          </p:sp>
          <p:sp>
            <p:nvSpPr>
              <p:cNvPr id="75846" name="Text Box 69"/>
              <p:cNvSpPr txBox="1"/>
              <p:nvPr/>
            </p:nvSpPr>
            <p:spPr>
              <a:xfrm>
                <a:off x="4845" y="1776"/>
                <a:ext cx="627"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endParaRPr lang="zh-CN" altLang="zh-CN" sz="2000" dirty="0">
                  <a:latin typeface="Tahoma" panose="020B0604030504040204" charset="0"/>
                  <a:ea typeface="宋体" panose="02010600030101010101" pitchFamily="2" charset="-122"/>
                </a:endParaRPr>
              </a:p>
            </p:txBody>
          </p:sp>
        </p:grpSp>
        <p:grpSp>
          <p:nvGrpSpPr>
            <p:cNvPr id="75847" name="Group 70"/>
            <p:cNvGrpSpPr/>
            <p:nvPr/>
          </p:nvGrpSpPr>
          <p:grpSpPr>
            <a:xfrm>
              <a:off x="2208" y="3072"/>
              <a:ext cx="624" cy="251"/>
              <a:chOff x="3956" y="1776"/>
              <a:chExt cx="1516" cy="396"/>
            </a:xfrm>
          </p:grpSpPr>
          <p:sp>
            <p:nvSpPr>
              <p:cNvPr id="75848" name="Text Box 71"/>
              <p:cNvSpPr txBox="1"/>
              <p:nvPr/>
            </p:nvSpPr>
            <p:spPr>
              <a:xfrm>
                <a:off x="3956" y="1776"/>
                <a:ext cx="889"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2</a:t>
                </a:r>
                <a:endParaRPr lang="en-US" altLang="zh-CN" sz="2000" dirty="0">
                  <a:latin typeface="Tahoma" panose="020B0604030504040204" charset="0"/>
                  <a:ea typeface="宋体" panose="02010600030101010101" pitchFamily="2" charset="-122"/>
                </a:endParaRPr>
              </a:p>
            </p:txBody>
          </p:sp>
          <p:sp>
            <p:nvSpPr>
              <p:cNvPr id="75849" name="Text Box 72"/>
              <p:cNvSpPr txBox="1"/>
              <p:nvPr/>
            </p:nvSpPr>
            <p:spPr>
              <a:xfrm>
                <a:off x="4845" y="1776"/>
                <a:ext cx="627"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endParaRPr lang="zh-CN" altLang="zh-CN" sz="2000" dirty="0">
                  <a:latin typeface="Tahoma" panose="020B0604030504040204" charset="0"/>
                  <a:ea typeface="宋体" panose="02010600030101010101" pitchFamily="2" charset="-122"/>
                </a:endParaRPr>
              </a:p>
            </p:txBody>
          </p:sp>
        </p:grpSp>
        <p:grpSp>
          <p:nvGrpSpPr>
            <p:cNvPr id="75850" name="Group 73"/>
            <p:cNvGrpSpPr/>
            <p:nvPr/>
          </p:nvGrpSpPr>
          <p:grpSpPr>
            <a:xfrm>
              <a:off x="3120" y="3072"/>
              <a:ext cx="624" cy="251"/>
              <a:chOff x="3956" y="1776"/>
              <a:chExt cx="1516" cy="396"/>
            </a:xfrm>
          </p:grpSpPr>
          <p:sp>
            <p:nvSpPr>
              <p:cNvPr id="75851" name="Text Box 74"/>
              <p:cNvSpPr txBox="1"/>
              <p:nvPr/>
            </p:nvSpPr>
            <p:spPr>
              <a:xfrm>
                <a:off x="3956" y="1776"/>
                <a:ext cx="889"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4</a:t>
                </a:r>
                <a:endParaRPr lang="en-US" altLang="zh-CN" sz="2000" dirty="0">
                  <a:latin typeface="Tahoma" panose="020B0604030504040204" charset="0"/>
                  <a:ea typeface="宋体" panose="02010600030101010101" pitchFamily="2" charset="-122"/>
                </a:endParaRPr>
              </a:p>
            </p:txBody>
          </p:sp>
          <p:sp>
            <p:nvSpPr>
              <p:cNvPr id="75852" name="Text Box 75"/>
              <p:cNvSpPr txBox="1"/>
              <p:nvPr/>
            </p:nvSpPr>
            <p:spPr>
              <a:xfrm>
                <a:off x="4845" y="1776"/>
                <a:ext cx="627"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endParaRPr lang="zh-CN" altLang="zh-CN" sz="2000" dirty="0">
                  <a:latin typeface="Tahoma" panose="020B0604030504040204" charset="0"/>
                  <a:ea typeface="宋体" panose="02010600030101010101" pitchFamily="2" charset="-122"/>
                </a:endParaRPr>
              </a:p>
            </p:txBody>
          </p:sp>
        </p:grpSp>
        <p:sp>
          <p:nvSpPr>
            <p:cNvPr id="75853" name="Line 76"/>
            <p:cNvSpPr/>
            <p:nvPr/>
          </p:nvSpPr>
          <p:spPr>
            <a:xfrm>
              <a:off x="912" y="3264"/>
              <a:ext cx="384" cy="0"/>
            </a:xfrm>
            <a:prstGeom prst="line">
              <a:avLst/>
            </a:prstGeom>
            <a:ln w="28575" cap="flat" cmpd="sng">
              <a:solidFill>
                <a:srgbClr val="00FF00"/>
              </a:solidFill>
              <a:prstDash val="solid"/>
              <a:miter/>
              <a:headEnd type="none" w="med" len="med"/>
              <a:tailEnd type="triangle" w="med" len="med"/>
            </a:ln>
          </p:spPr>
        </p:sp>
        <p:sp>
          <p:nvSpPr>
            <p:cNvPr id="75854" name="Line 77"/>
            <p:cNvSpPr/>
            <p:nvPr/>
          </p:nvSpPr>
          <p:spPr>
            <a:xfrm>
              <a:off x="1824" y="3264"/>
              <a:ext cx="384" cy="0"/>
            </a:xfrm>
            <a:prstGeom prst="line">
              <a:avLst/>
            </a:prstGeom>
            <a:ln w="28575" cap="flat" cmpd="sng">
              <a:solidFill>
                <a:srgbClr val="00FF00"/>
              </a:solidFill>
              <a:prstDash val="solid"/>
              <a:miter/>
              <a:headEnd type="none" w="med" len="med"/>
              <a:tailEnd type="triangle" w="med" len="med"/>
            </a:ln>
          </p:spPr>
        </p:sp>
        <p:sp>
          <p:nvSpPr>
            <p:cNvPr id="75855" name="Line 78"/>
            <p:cNvSpPr/>
            <p:nvPr/>
          </p:nvSpPr>
          <p:spPr>
            <a:xfrm>
              <a:off x="2736" y="3264"/>
              <a:ext cx="384" cy="0"/>
            </a:xfrm>
            <a:prstGeom prst="line">
              <a:avLst/>
            </a:prstGeom>
            <a:ln w="28575" cap="flat" cmpd="sng">
              <a:solidFill>
                <a:srgbClr val="00FF00"/>
              </a:solidFill>
              <a:prstDash val="solid"/>
              <a:miter/>
              <a:headEnd type="none" w="med" len="med"/>
              <a:tailEnd type="triangle" w="med" len="med"/>
            </a:ln>
          </p:spPr>
        </p:sp>
        <p:grpSp>
          <p:nvGrpSpPr>
            <p:cNvPr id="75856" name="Group 79"/>
            <p:cNvGrpSpPr/>
            <p:nvPr/>
          </p:nvGrpSpPr>
          <p:grpSpPr>
            <a:xfrm>
              <a:off x="4032" y="3072"/>
              <a:ext cx="624" cy="251"/>
              <a:chOff x="3956" y="1776"/>
              <a:chExt cx="1516" cy="396"/>
            </a:xfrm>
          </p:grpSpPr>
          <p:sp>
            <p:nvSpPr>
              <p:cNvPr id="75857" name="Text Box 80"/>
              <p:cNvSpPr txBox="1"/>
              <p:nvPr/>
            </p:nvSpPr>
            <p:spPr>
              <a:xfrm>
                <a:off x="3956" y="1776"/>
                <a:ext cx="889"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5</a:t>
                </a:r>
                <a:endParaRPr lang="en-US" altLang="zh-CN" sz="2000" dirty="0">
                  <a:latin typeface="Tahoma" panose="020B0604030504040204" charset="0"/>
                  <a:ea typeface="宋体" panose="02010600030101010101" pitchFamily="2" charset="-122"/>
                </a:endParaRPr>
              </a:p>
            </p:txBody>
          </p:sp>
          <p:sp>
            <p:nvSpPr>
              <p:cNvPr id="75858" name="Text Box 81"/>
              <p:cNvSpPr txBox="1"/>
              <p:nvPr/>
            </p:nvSpPr>
            <p:spPr>
              <a:xfrm>
                <a:off x="4845" y="1776"/>
                <a:ext cx="627"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a:t>
                </a:r>
                <a:endParaRPr lang="en-US" altLang="zh-CN" sz="2000" dirty="0">
                  <a:latin typeface="Tahoma" panose="020B0604030504040204" charset="0"/>
                  <a:ea typeface="宋体" panose="02010600030101010101" pitchFamily="2" charset="-122"/>
                </a:endParaRPr>
              </a:p>
            </p:txBody>
          </p:sp>
        </p:grpSp>
        <p:sp>
          <p:nvSpPr>
            <p:cNvPr id="75859" name="Line 82"/>
            <p:cNvSpPr/>
            <p:nvPr/>
          </p:nvSpPr>
          <p:spPr>
            <a:xfrm>
              <a:off x="3648" y="3264"/>
              <a:ext cx="384" cy="0"/>
            </a:xfrm>
            <a:prstGeom prst="line">
              <a:avLst/>
            </a:prstGeom>
            <a:ln w="28575" cap="flat" cmpd="sng">
              <a:solidFill>
                <a:srgbClr val="00FF00"/>
              </a:solidFill>
              <a:prstDash val="solid"/>
              <a:miter/>
              <a:headEnd type="none" w="med" len="med"/>
              <a:tailEnd type="triangle" w="med" len="med"/>
            </a:ln>
          </p:spPr>
        </p:sp>
        <p:grpSp>
          <p:nvGrpSpPr>
            <p:cNvPr id="75860" name="Group 83"/>
            <p:cNvGrpSpPr/>
            <p:nvPr/>
          </p:nvGrpSpPr>
          <p:grpSpPr>
            <a:xfrm>
              <a:off x="1296" y="3456"/>
              <a:ext cx="624" cy="250"/>
              <a:chOff x="3956" y="1776"/>
              <a:chExt cx="1516" cy="396"/>
            </a:xfrm>
          </p:grpSpPr>
          <p:sp>
            <p:nvSpPr>
              <p:cNvPr id="75861" name="Text Box 84"/>
              <p:cNvSpPr txBox="1"/>
              <p:nvPr/>
            </p:nvSpPr>
            <p:spPr>
              <a:xfrm>
                <a:off x="3956" y="1776"/>
                <a:ext cx="889"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0</a:t>
                </a:r>
                <a:endParaRPr lang="en-US" altLang="zh-CN" sz="2000" dirty="0">
                  <a:latin typeface="Tahoma" panose="020B0604030504040204" charset="0"/>
                  <a:ea typeface="宋体" panose="02010600030101010101" pitchFamily="2" charset="-122"/>
                </a:endParaRPr>
              </a:p>
            </p:txBody>
          </p:sp>
          <p:sp>
            <p:nvSpPr>
              <p:cNvPr id="75862" name="Text Box 85"/>
              <p:cNvSpPr txBox="1"/>
              <p:nvPr/>
            </p:nvSpPr>
            <p:spPr>
              <a:xfrm>
                <a:off x="4845" y="1776"/>
                <a:ext cx="627"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endParaRPr lang="zh-CN" altLang="zh-CN" sz="2000" dirty="0">
                  <a:latin typeface="Tahoma" panose="020B0604030504040204" charset="0"/>
                  <a:ea typeface="宋体" panose="02010600030101010101" pitchFamily="2" charset="-122"/>
                </a:endParaRPr>
              </a:p>
            </p:txBody>
          </p:sp>
        </p:grpSp>
        <p:grpSp>
          <p:nvGrpSpPr>
            <p:cNvPr id="75863" name="Group 86"/>
            <p:cNvGrpSpPr/>
            <p:nvPr/>
          </p:nvGrpSpPr>
          <p:grpSpPr>
            <a:xfrm>
              <a:off x="2208" y="3456"/>
              <a:ext cx="624" cy="250"/>
              <a:chOff x="3956" y="1776"/>
              <a:chExt cx="1516" cy="396"/>
            </a:xfrm>
          </p:grpSpPr>
          <p:sp>
            <p:nvSpPr>
              <p:cNvPr id="75864" name="Text Box 87"/>
              <p:cNvSpPr txBox="1"/>
              <p:nvPr/>
            </p:nvSpPr>
            <p:spPr>
              <a:xfrm>
                <a:off x="3956" y="1776"/>
                <a:ext cx="889"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3</a:t>
                </a:r>
                <a:endParaRPr lang="en-US" altLang="zh-CN" sz="2000" dirty="0">
                  <a:latin typeface="Tahoma" panose="020B0604030504040204" charset="0"/>
                  <a:ea typeface="宋体" panose="02010600030101010101" pitchFamily="2" charset="-122"/>
                </a:endParaRPr>
              </a:p>
            </p:txBody>
          </p:sp>
          <p:sp>
            <p:nvSpPr>
              <p:cNvPr id="75865" name="Text Box 88"/>
              <p:cNvSpPr txBox="1"/>
              <p:nvPr/>
            </p:nvSpPr>
            <p:spPr>
              <a:xfrm>
                <a:off x="4845" y="1776"/>
                <a:ext cx="627"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endParaRPr lang="zh-CN" altLang="zh-CN" sz="2000" dirty="0">
                  <a:latin typeface="Tahoma" panose="020B0604030504040204" charset="0"/>
                  <a:ea typeface="宋体" panose="02010600030101010101" pitchFamily="2" charset="-122"/>
                </a:endParaRPr>
              </a:p>
            </p:txBody>
          </p:sp>
        </p:grpSp>
        <p:grpSp>
          <p:nvGrpSpPr>
            <p:cNvPr id="75866" name="Group 89"/>
            <p:cNvGrpSpPr/>
            <p:nvPr/>
          </p:nvGrpSpPr>
          <p:grpSpPr>
            <a:xfrm>
              <a:off x="3120" y="3456"/>
              <a:ext cx="624" cy="250"/>
              <a:chOff x="3956" y="1776"/>
              <a:chExt cx="1516" cy="396"/>
            </a:xfrm>
          </p:grpSpPr>
          <p:sp>
            <p:nvSpPr>
              <p:cNvPr id="75867" name="Text Box 90"/>
              <p:cNvSpPr txBox="1"/>
              <p:nvPr/>
            </p:nvSpPr>
            <p:spPr>
              <a:xfrm>
                <a:off x="3956" y="1776"/>
                <a:ext cx="889"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5</a:t>
                </a:r>
                <a:endParaRPr lang="en-US" altLang="zh-CN" sz="2000" dirty="0">
                  <a:latin typeface="Tahoma" panose="020B0604030504040204" charset="0"/>
                  <a:ea typeface="宋体" panose="02010600030101010101" pitchFamily="2" charset="-122"/>
                </a:endParaRPr>
              </a:p>
            </p:txBody>
          </p:sp>
          <p:sp>
            <p:nvSpPr>
              <p:cNvPr id="75868" name="Text Box 91"/>
              <p:cNvSpPr txBox="1"/>
              <p:nvPr/>
            </p:nvSpPr>
            <p:spPr>
              <a:xfrm>
                <a:off x="4845" y="1776"/>
                <a:ext cx="627"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a:t>
                </a:r>
                <a:endParaRPr lang="en-US" altLang="zh-CN" sz="2000" dirty="0">
                  <a:latin typeface="Tahoma" panose="020B0604030504040204" charset="0"/>
                  <a:ea typeface="宋体" panose="02010600030101010101" pitchFamily="2" charset="-122"/>
                </a:endParaRPr>
              </a:p>
            </p:txBody>
          </p:sp>
        </p:grpSp>
        <p:sp>
          <p:nvSpPr>
            <p:cNvPr id="75869" name="Line 92"/>
            <p:cNvSpPr/>
            <p:nvPr/>
          </p:nvSpPr>
          <p:spPr>
            <a:xfrm>
              <a:off x="912" y="3648"/>
              <a:ext cx="384" cy="0"/>
            </a:xfrm>
            <a:prstGeom prst="line">
              <a:avLst/>
            </a:prstGeom>
            <a:ln w="28575" cap="flat" cmpd="sng">
              <a:solidFill>
                <a:srgbClr val="00FF00"/>
              </a:solidFill>
              <a:prstDash val="solid"/>
              <a:miter/>
              <a:headEnd type="none" w="med" len="med"/>
              <a:tailEnd type="triangle" w="med" len="med"/>
            </a:ln>
          </p:spPr>
        </p:sp>
        <p:sp>
          <p:nvSpPr>
            <p:cNvPr id="75870" name="Line 93"/>
            <p:cNvSpPr/>
            <p:nvPr/>
          </p:nvSpPr>
          <p:spPr>
            <a:xfrm>
              <a:off x="1824" y="3648"/>
              <a:ext cx="384" cy="0"/>
            </a:xfrm>
            <a:prstGeom prst="line">
              <a:avLst/>
            </a:prstGeom>
            <a:ln w="28575" cap="flat" cmpd="sng">
              <a:solidFill>
                <a:srgbClr val="00FF00"/>
              </a:solidFill>
              <a:prstDash val="solid"/>
              <a:miter/>
              <a:headEnd type="none" w="med" len="med"/>
              <a:tailEnd type="triangle" w="med" len="med"/>
            </a:ln>
          </p:spPr>
        </p:sp>
        <p:sp>
          <p:nvSpPr>
            <p:cNvPr id="75871" name="Line 94"/>
            <p:cNvSpPr/>
            <p:nvPr/>
          </p:nvSpPr>
          <p:spPr>
            <a:xfrm>
              <a:off x="2736" y="3648"/>
              <a:ext cx="384" cy="0"/>
            </a:xfrm>
            <a:prstGeom prst="line">
              <a:avLst/>
            </a:prstGeom>
            <a:ln w="28575" cap="flat" cmpd="sng">
              <a:solidFill>
                <a:srgbClr val="00FF00"/>
              </a:solidFill>
              <a:prstDash val="solid"/>
              <a:miter/>
              <a:headEnd type="none" w="med" len="med"/>
              <a:tailEnd type="triangle" w="med" len="med"/>
            </a:ln>
          </p:spPr>
        </p:sp>
        <p:grpSp>
          <p:nvGrpSpPr>
            <p:cNvPr id="75872" name="Group 95"/>
            <p:cNvGrpSpPr/>
            <p:nvPr/>
          </p:nvGrpSpPr>
          <p:grpSpPr>
            <a:xfrm>
              <a:off x="1296" y="3841"/>
              <a:ext cx="624" cy="251"/>
              <a:chOff x="3956" y="1778"/>
              <a:chExt cx="1516" cy="396"/>
            </a:xfrm>
          </p:grpSpPr>
          <p:sp>
            <p:nvSpPr>
              <p:cNvPr id="75873" name="Text Box 96"/>
              <p:cNvSpPr txBox="1"/>
              <p:nvPr/>
            </p:nvSpPr>
            <p:spPr>
              <a:xfrm>
                <a:off x="3956" y="1778"/>
                <a:ext cx="889"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0</a:t>
                </a:r>
                <a:endParaRPr lang="en-US" altLang="zh-CN" sz="2000" dirty="0">
                  <a:latin typeface="Tahoma" panose="020B0604030504040204" charset="0"/>
                  <a:ea typeface="宋体" panose="02010600030101010101" pitchFamily="2" charset="-122"/>
                </a:endParaRPr>
              </a:p>
            </p:txBody>
          </p:sp>
          <p:sp>
            <p:nvSpPr>
              <p:cNvPr id="75874" name="Text Box 97"/>
              <p:cNvSpPr txBox="1"/>
              <p:nvPr/>
            </p:nvSpPr>
            <p:spPr>
              <a:xfrm>
                <a:off x="4845" y="1778"/>
                <a:ext cx="627"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endParaRPr lang="zh-CN" altLang="zh-CN" sz="2000" dirty="0">
                  <a:latin typeface="Tahoma" panose="020B0604030504040204" charset="0"/>
                  <a:ea typeface="宋体" panose="02010600030101010101" pitchFamily="2" charset="-122"/>
                </a:endParaRPr>
              </a:p>
            </p:txBody>
          </p:sp>
        </p:grpSp>
        <p:grpSp>
          <p:nvGrpSpPr>
            <p:cNvPr id="75875" name="Group 98"/>
            <p:cNvGrpSpPr/>
            <p:nvPr/>
          </p:nvGrpSpPr>
          <p:grpSpPr>
            <a:xfrm>
              <a:off x="2208" y="3841"/>
              <a:ext cx="624" cy="251"/>
              <a:chOff x="3956" y="1778"/>
              <a:chExt cx="1516" cy="396"/>
            </a:xfrm>
          </p:grpSpPr>
          <p:sp>
            <p:nvSpPr>
              <p:cNvPr id="75876" name="Text Box 99"/>
              <p:cNvSpPr txBox="1"/>
              <p:nvPr/>
            </p:nvSpPr>
            <p:spPr>
              <a:xfrm>
                <a:off x="3956" y="1778"/>
                <a:ext cx="889"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1</a:t>
                </a:r>
                <a:endParaRPr lang="en-US" altLang="zh-CN" sz="2000" dirty="0">
                  <a:latin typeface="Tahoma" panose="020B0604030504040204" charset="0"/>
                  <a:ea typeface="宋体" panose="02010600030101010101" pitchFamily="2" charset="-122"/>
                </a:endParaRPr>
              </a:p>
            </p:txBody>
          </p:sp>
          <p:sp>
            <p:nvSpPr>
              <p:cNvPr id="75877" name="Text Box 100"/>
              <p:cNvSpPr txBox="1"/>
              <p:nvPr/>
            </p:nvSpPr>
            <p:spPr>
              <a:xfrm>
                <a:off x="4845" y="1778"/>
                <a:ext cx="627"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endParaRPr lang="zh-CN" altLang="zh-CN" sz="2000" dirty="0">
                  <a:latin typeface="Tahoma" panose="020B0604030504040204" charset="0"/>
                  <a:ea typeface="宋体" panose="02010600030101010101" pitchFamily="2" charset="-122"/>
                </a:endParaRPr>
              </a:p>
            </p:txBody>
          </p:sp>
        </p:grpSp>
        <p:grpSp>
          <p:nvGrpSpPr>
            <p:cNvPr id="75878" name="Group 101"/>
            <p:cNvGrpSpPr/>
            <p:nvPr/>
          </p:nvGrpSpPr>
          <p:grpSpPr>
            <a:xfrm>
              <a:off x="3120" y="3839"/>
              <a:ext cx="624" cy="253"/>
              <a:chOff x="3956" y="1774"/>
              <a:chExt cx="1516" cy="400"/>
            </a:xfrm>
          </p:grpSpPr>
          <p:sp>
            <p:nvSpPr>
              <p:cNvPr id="75879" name="Text Box 102"/>
              <p:cNvSpPr txBox="1"/>
              <p:nvPr/>
            </p:nvSpPr>
            <p:spPr>
              <a:xfrm>
                <a:off x="3956" y="1777"/>
                <a:ext cx="889" cy="397"/>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3</a:t>
                </a:r>
                <a:endParaRPr lang="en-US" altLang="zh-CN" sz="2000" dirty="0">
                  <a:latin typeface="Tahoma" panose="020B0604030504040204" charset="0"/>
                  <a:ea typeface="宋体" panose="02010600030101010101" pitchFamily="2" charset="-122"/>
                </a:endParaRPr>
              </a:p>
            </p:txBody>
          </p:sp>
          <p:sp>
            <p:nvSpPr>
              <p:cNvPr id="75880" name="Text Box 103"/>
              <p:cNvSpPr txBox="1"/>
              <p:nvPr/>
            </p:nvSpPr>
            <p:spPr>
              <a:xfrm>
                <a:off x="4845" y="1774"/>
                <a:ext cx="627" cy="397"/>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endParaRPr lang="zh-CN" altLang="zh-CN" sz="2000" dirty="0">
                  <a:latin typeface="Tahoma" panose="020B0604030504040204" charset="0"/>
                  <a:ea typeface="宋体" panose="02010600030101010101" pitchFamily="2" charset="-122"/>
                </a:endParaRPr>
              </a:p>
            </p:txBody>
          </p:sp>
        </p:grpSp>
        <p:sp>
          <p:nvSpPr>
            <p:cNvPr id="75881" name="Line 104"/>
            <p:cNvSpPr/>
            <p:nvPr/>
          </p:nvSpPr>
          <p:spPr>
            <a:xfrm>
              <a:off x="912" y="4032"/>
              <a:ext cx="384" cy="0"/>
            </a:xfrm>
            <a:prstGeom prst="line">
              <a:avLst/>
            </a:prstGeom>
            <a:ln w="28575" cap="flat" cmpd="sng">
              <a:solidFill>
                <a:srgbClr val="00FF00"/>
              </a:solidFill>
              <a:prstDash val="solid"/>
              <a:miter/>
              <a:headEnd type="none" w="med" len="med"/>
              <a:tailEnd type="triangle" w="med" len="med"/>
            </a:ln>
          </p:spPr>
        </p:sp>
        <p:sp>
          <p:nvSpPr>
            <p:cNvPr id="75882" name="Line 105"/>
            <p:cNvSpPr/>
            <p:nvPr/>
          </p:nvSpPr>
          <p:spPr>
            <a:xfrm>
              <a:off x="1824" y="4032"/>
              <a:ext cx="384" cy="0"/>
            </a:xfrm>
            <a:prstGeom prst="line">
              <a:avLst/>
            </a:prstGeom>
            <a:ln w="28575" cap="flat" cmpd="sng">
              <a:solidFill>
                <a:srgbClr val="00FF00"/>
              </a:solidFill>
              <a:prstDash val="solid"/>
              <a:miter/>
              <a:headEnd type="none" w="med" len="med"/>
              <a:tailEnd type="triangle" w="med" len="med"/>
            </a:ln>
          </p:spPr>
        </p:sp>
        <p:sp>
          <p:nvSpPr>
            <p:cNvPr id="75883" name="Line 106"/>
            <p:cNvSpPr/>
            <p:nvPr/>
          </p:nvSpPr>
          <p:spPr>
            <a:xfrm>
              <a:off x="2736" y="4032"/>
              <a:ext cx="384" cy="0"/>
            </a:xfrm>
            <a:prstGeom prst="line">
              <a:avLst/>
            </a:prstGeom>
            <a:ln w="28575" cap="flat" cmpd="sng">
              <a:solidFill>
                <a:srgbClr val="00FF00"/>
              </a:solidFill>
              <a:prstDash val="solid"/>
              <a:miter/>
              <a:headEnd type="none" w="med" len="med"/>
              <a:tailEnd type="triangle" w="med" len="med"/>
            </a:ln>
          </p:spPr>
        </p:sp>
        <p:grpSp>
          <p:nvGrpSpPr>
            <p:cNvPr id="75884" name="Group 107"/>
            <p:cNvGrpSpPr/>
            <p:nvPr/>
          </p:nvGrpSpPr>
          <p:grpSpPr>
            <a:xfrm>
              <a:off x="4032" y="3839"/>
              <a:ext cx="624" cy="250"/>
              <a:chOff x="3956" y="1774"/>
              <a:chExt cx="1516" cy="396"/>
            </a:xfrm>
          </p:grpSpPr>
          <p:sp>
            <p:nvSpPr>
              <p:cNvPr id="75885" name="Text Box 108"/>
              <p:cNvSpPr txBox="1"/>
              <p:nvPr/>
            </p:nvSpPr>
            <p:spPr>
              <a:xfrm>
                <a:off x="3956" y="1774"/>
                <a:ext cx="889"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4</a:t>
                </a:r>
                <a:endParaRPr lang="en-US" altLang="zh-CN" sz="2000" dirty="0">
                  <a:latin typeface="Tahoma" panose="020B0604030504040204" charset="0"/>
                  <a:ea typeface="宋体" panose="02010600030101010101" pitchFamily="2" charset="-122"/>
                </a:endParaRPr>
              </a:p>
            </p:txBody>
          </p:sp>
          <p:sp>
            <p:nvSpPr>
              <p:cNvPr id="75886" name="Text Box 109"/>
              <p:cNvSpPr txBox="1"/>
              <p:nvPr/>
            </p:nvSpPr>
            <p:spPr>
              <a:xfrm>
                <a:off x="4845" y="1774"/>
                <a:ext cx="627"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a:t>
                </a:r>
                <a:endParaRPr lang="en-US" altLang="zh-CN" sz="2000" dirty="0">
                  <a:latin typeface="Tahoma" panose="020B0604030504040204" charset="0"/>
                  <a:ea typeface="宋体" panose="02010600030101010101" pitchFamily="2" charset="-122"/>
                </a:endParaRPr>
              </a:p>
            </p:txBody>
          </p:sp>
        </p:grpSp>
        <p:sp>
          <p:nvSpPr>
            <p:cNvPr id="75887" name="Line 110"/>
            <p:cNvSpPr/>
            <p:nvPr/>
          </p:nvSpPr>
          <p:spPr>
            <a:xfrm>
              <a:off x="3648" y="4032"/>
              <a:ext cx="384" cy="0"/>
            </a:xfrm>
            <a:prstGeom prst="line">
              <a:avLst/>
            </a:prstGeom>
            <a:ln w="28575" cap="flat" cmpd="sng">
              <a:solidFill>
                <a:srgbClr val="00FF00"/>
              </a:solidFill>
              <a:prstDash val="solid"/>
              <a:miter/>
              <a:headEnd type="none" w="med" len="med"/>
              <a:tailEnd type="triangle" w="med" len="med"/>
            </a:ln>
          </p:spPr>
        </p:sp>
        <p:grpSp>
          <p:nvGrpSpPr>
            <p:cNvPr id="75888" name="Group 111"/>
            <p:cNvGrpSpPr/>
            <p:nvPr/>
          </p:nvGrpSpPr>
          <p:grpSpPr>
            <a:xfrm>
              <a:off x="4032" y="2256"/>
              <a:ext cx="624" cy="250"/>
              <a:chOff x="3956" y="1776"/>
              <a:chExt cx="1516" cy="396"/>
            </a:xfrm>
          </p:grpSpPr>
          <p:sp>
            <p:nvSpPr>
              <p:cNvPr id="75889" name="Text Box 112"/>
              <p:cNvSpPr txBox="1"/>
              <p:nvPr/>
            </p:nvSpPr>
            <p:spPr>
              <a:xfrm>
                <a:off x="3956" y="1776"/>
                <a:ext cx="889"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5</a:t>
                </a:r>
                <a:endParaRPr lang="en-US" altLang="zh-CN" sz="2000" dirty="0">
                  <a:latin typeface="Tahoma" panose="020B0604030504040204" charset="0"/>
                  <a:ea typeface="宋体" panose="02010600030101010101" pitchFamily="2" charset="-122"/>
                </a:endParaRPr>
              </a:p>
            </p:txBody>
          </p:sp>
          <p:sp>
            <p:nvSpPr>
              <p:cNvPr id="75890" name="Text Box 113"/>
              <p:cNvSpPr txBox="1"/>
              <p:nvPr/>
            </p:nvSpPr>
            <p:spPr>
              <a:xfrm>
                <a:off x="4845" y="1776"/>
                <a:ext cx="627" cy="396"/>
              </a:xfrm>
              <a:prstGeom prst="rect">
                <a:avLst/>
              </a:prstGeom>
              <a:noFill/>
              <a:ln w="25400" cap="flat" cmpd="sng">
                <a:solidFill>
                  <a:srgbClr val="0000FF"/>
                </a:solidFill>
                <a:prstDash val="solid"/>
                <a:miter/>
                <a:headEnd type="none" w="med" len="med"/>
                <a:tailEnd type="none" w="med" len="med"/>
              </a:ln>
            </p:spPr>
            <p:txBody>
              <a:bodyPr tIns="0" bIns="0" anchor="t" anchorCtr="0">
                <a:spAutoFit/>
              </a:bodyPr>
              <a:p>
                <a:pPr algn="ctr"/>
                <a:r>
                  <a:rPr lang="en-US" altLang="zh-CN" sz="2000" dirty="0">
                    <a:latin typeface="Tahoma" panose="020B0604030504040204" charset="0"/>
                    <a:ea typeface="宋体" panose="02010600030101010101" pitchFamily="2" charset="-122"/>
                  </a:rPr>
                  <a:t>^</a:t>
                </a:r>
                <a:endParaRPr lang="en-US" altLang="zh-CN" sz="2000" dirty="0">
                  <a:latin typeface="Tahoma" panose="020B0604030504040204" charset="0"/>
                  <a:ea typeface="宋体" panose="02010600030101010101" pitchFamily="2" charset="-122"/>
                </a:endParaRPr>
              </a:p>
            </p:txBody>
          </p:sp>
        </p:grpSp>
        <p:sp>
          <p:nvSpPr>
            <p:cNvPr id="75891" name="Line 114"/>
            <p:cNvSpPr/>
            <p:nvPr/>
          </p:nvSpPr>
          <p:spPr>
            <a:xfrm>
              <a:off x="3648" y="2448"/>
              <a:ext cx="384" cy="0"/>
            </a:xfrm>
            <a:prstGeom prst="line">
              <a:avLst/>
            </a:prstGeom>
            <a:ln w="28575" cap="flat" cmpd="sng">
              <a:solidFill>
                <a:srgbClr val="00FF00"/>
              </a:solidFill>
              <a:prstDash val="solid"/>
              <a:miter/>
              <a:headEnd type="none" w="med" len="med"/>
              <a:tailEnd type="triangle" w="med" len="med"/>
            </a:ln>
          </p:spPr>
        </p:sp>
      </p:grpSp>
      <p:grpSp>
        <p:nvGrpSpPr>
          <p:cNvPr id="75892" name="Group 133"/>
          <p:cNvGrpSpPr/>
          <p:nvPr/>
        </p:nvGrpSpPr>
        <p:grpSpPr>
          <a:xfrm>
            <a:off x="8489633" y="3264218"/>
            <a:ext cx="2895600" cy="2286000"/>
            <a:chOff x="3792" y="2371"/>
            <a:chExt cx="1824" cy="1440"/>
          </a:xfrm>
        </p:grpSpPr>
        <p:sp>
          <p:nvSpPr>
            <p:cNvPr id="75893" name="Line 116"/>
            <p:cNvSpPr/>
            <p:nvPr/>
          </p:nvSpPr>
          <p:spPr>
            <a:xfrm flipH="1">
              <a:off x="4416" y="2520"/>
              <a:ext cx="576" cy="0"/>
            </a:xfrm>
            <a:prstGeom prst="line">
              <a:avLst/>
            </a:prstGeom>
            <a:ln w="38100" cap="flat" cmpd="sng">
              <a:solidFill>
                <a:schemeClr val="hlink"/>
              </a:solidFill>
              <a:prstDash val="solid"/>
              <a:round/>
              <a:headEnd type="none" w="med" len="med"/>
              <a:tailEnd type="none" w="med" len="med"/>
            </a:ln>
          </p:spPr>
        </p:sp>
        <p:sp>
          <p:nvSpPr>
            <p:cNvPr id="75894" name="Line 117"/>
            <p:cNvSpPr/>
            <p:nvPr/>
          </p:nvSpPr>
          <p:spPr>
            <a:xfrm>
              <a:off x="5088" y="2616"/>
              <a:ext cx="0" cy="960"/>
            </a:xfrm>
            <a:prstGeom prst="line">
              <a:avLst/>
            </a:prstGeom>
            <a:ln w="38100" cap="flat" cmpd="sng">
              <a:solidFill>
                <a:srgbClr val="009900"/>
              </a:solidFill>
              <a:prstDash val="solid"/>
              <a:round/>
              <a:headEnd type="none" w="med" len="med"/>
              <a:tailEnd type="none" w="med" len="med"/>
            </a:ln>
          </p:spPr>
        </p:sp>
        <p:sp>
          <p:nvSpPr>
            <p:cNvPr id="75895" name="Line 118"/>
            <p:cNvSpPr/>
            <p:nvPr/>
          </p:nvSpPr>
          <p:spPr>
            <a:xfrm>
              <a:off x="5136" y="2568"/>
              <a:ext cx="336" cy="480"/>
            </a:xfrm>
            <a:prstGeom prst="line">
              <a:avLst/>
            </a:prstGeom>
            <a:ln w="38100" cap="flat" cmpd="sng">
              <a:solidFill>
                <a:srgbClr val="009900"/>
              </a:solidFill>
              <a:prstDash val="solid"/>
              <a:round/>
              <a:headEnd type="none" w="med" len="med"/>
              <a:tailEnd type="none" w="med" len="med"/>
            </a:ln>
          </p:spPr>
        </p:sp>
        <p:sp>
          <p:nvSpPr>
            <p:cNvPr id="75896" name="Line 119"/>
            <p:cNvSpPr/>
            <p:nvPr/>
          </p:nvSpPr>
          <p:spPr>
            <a:xfrm flipH="1">
              <a:off x="3984" y="2568"/>
              <a:ext cx="240" cy="432"/>
            </a:xfrm>
            <a:prstGeom prst="line">
              <a:avLst/>
            </a:prstGeom>
            <a:ln w="38100" cap="flat" cmpd="sng">
              <a:solidFill>
                <a:schemeClr val="hlink"/>
              </a:solidFill>
              <a:prstDash val="solid"/>
              <a:round/>
              <a:headEnd type="none" w="med" len="med"/>
              <a:tailEnd type="none" w="med" len="med"/>
            </a:ln>
          </p:spPr>
        </p:sp>
        <p:sp>
          <p:nvSpPr>
            <p:cNvPr id="75897" name="Line 120"/>
            <p:cNvSpPr/>
            <p:nvPr/>
          </p:nvSpPr>
          <p:spPr>
            <a:xfrm flipH="1" flipV="1">
              <a:off x="4272" y="2616"/>
              <a:ext cx="0" cy="1008"/>
            </a:xfrm>
            <a:prstGeom prst="line">
              <a:avLst/>
            </a:prstGeom>
            <a:ln w="38100" cap="flat" cmpd="sng">
              <a:solidFill>
                <a:srgbClr val="009900"/>
              </a:solidFill>
              <a:prstDash val="solid"/>
              <a:round/>
              <a:headEnd type="none" w="med" len="med"/>
              <a:tailEnd type="none" w="med" len="med"/>
            </a:ln>
          </p:spPr>
        </p:sp>
        <p:sp>
          <p:nvSpPr>
            <p:cNvPr id="75898" name="Line 121"/>
            <p:cNvSpPr/>
            <p:nvPr/>
          </p:nvSpPr>
          <p:spPr>
            <a:xfrm flipH="1" flipV="1">
              <a:off x="4320" y="2568"/>
              <a:ext cx="1104" cy="576"/>
            </a:xfrm>
            <a:prstGeom prst="line">
              <a:avLst/>
            </a:prstGeom>
            <a:ln w="38100" cap="flat" cmpd="sng">
              <a:solidFill>
                <a:srgbClr val="009900"/>
              </a:solidFill>
              <a:prstDash val="solid"/>
              <a:round/>
              <a:headEnd type="none" w="med" len="med"/>
              <a:tailEnd type="none" w="med" len="med"/>
            </a:ln>
          </p:spPr>
        </p:sp>
        <p:sp>
          <p:nvSpPr>
            <p:cNvPr id="75899" name="Line 122"/>
            <p:cNvSpPr/>
            <p:nvPr/>
          </p:nvSpPr>
          <p:spPr>
            <a:xfrm flipH="1" flipV="1">
              <a:off x="3936" y="3192"/>
              <a:ext cx="288" cy="432"/>
            </a:xfrm>
            <a:prstGeom prst="line">
              <a:avLst/>
            </a:prstGeom>
            <a:ln w="38100" cap="flat" cmpd="sng">
              <a:solidFill>
                <a:schemeClr val="hlink"/>
              </a:solidFill>
              <a:prstDash val="solid"/>
              <a:round/>
              <a:headEnd type="none" w="med" len="med"/>
              <a:tailEnd type="none" w="med" len="med"/>
            </a:ln>
          </p:spPr>
        </p:sp>
        <p:sp>
          <p:nvSpPr>
            <p:cNvPr id="75900" name="Line 123"/>
            <p:cNvSpPr/>
            <p:nvPr/>
          </p:nvSpPr>
          <p:spPr>
            <a:xfrm flipH="1">
              <a:off x="4320" y="3672"/>
              <a:ext cx="720" cy="0"/>
            </a:xfrm>
            <a:prstGeom prst="line">
              <a:avLst/>
            </a:prstGeom>
            <a:ln w="38100" cap="flat" cmpd="sng">
              <a:solidFill>
                <a:schemeClr val="hlink"/>
              </a:solidFill>
              <a:prstDash val="solid"/>
              <a:round/>
              <a:headEnd type="none" w="med" len="med"/>
              <a:tailEnd type="none" w="med" len="med"/>
            </a:ln>
          </p:spPr>
        </p:sp>
        <p:sp>
          <p:nvSpPr>
            <p:cNvPr id="75901" name="Line 124"/>
            <p:cNvSpPr/>
            <p:nvPr/>
          </p:nvSpPr>
          <p:spPr>
            <a:xfrm flipH="1">
              <a:off x="4368" y="3144"/>
              <a:ext cx="1056" cy="480"/>
            </a:xfrm>
            <a:prstGeom prst="line">
              <a:avLst/>
            </a:prstGeom>
            <a:ln w="38100" cap="flat" cmpd="sng">
              <a:solidFill>
                <a:srgbClr val="009900"/>
              </a:solidFill>
              <a:prstDash val="solid"/>
              <a:round/>
              <a:headEnd type="none" w="med" len="med"/>
              <a:tailEnd type="none" w="med" len="med"/>
            </a:ln>
          </p:spPr>
        </p:sp>
        <p:sp>
          <p:nvSpPr>
            <p:cNvPr id="75902" name="Line 125"/>
            <p:cNvSpPr/>
            <p:nvPr/>
          </p:nvSpPr>
          <p:spPr>
            <a:xfrm flipH="1">
              <a:off x="5136" y="3192"/>
              <a:ext cx="336" cy="480"/>
            </a:xfrm>
            <a:prstGeom prst="line">
              <a:avLst/>
            </a:prstGeom>
            <a:ln w="38100" cap="flat" cmpd="sng">
              <a:solidFill>
                <a:schemeClr val="hlink"/>
              </a:solidFill>
              <a:prstDash val="solid"/>
              <a:round/>
              <a:headEnd type="none" w="med" len="med"/>
              <a:tailEnd type="none" w="med" len="med"/>
            </a:ln>
          </p:spPr>
        </p:sp>
        <p:grpSp>
          <p:nvGrpSpPr>
            <p:cNvPr id="75903" name="Group 126"/>
            <p:cNvGrpSpPr/>
            <p:nvPr/>
          </p:nvGrpSpPr>
          <p:grpSpPr>
            <a:xfrm>
              <a:off x="3792" y="2371"/>
              <a:ext cx="1824" cy="1440"/>
              <a:chOff x="3648" y="2880"/>
              <a:chExt cx="1824" cy="1440"/>
            </a:xfrm>
          </p:grpSpPr>
          <p:sp>
            <p:nvSpPr>
              <p:cNvPr id="75904" name="Oval 127"/>
              <p:cNvSpPr/>
              <p:nvPr/>
            </p:nvSpPr>
            <p:spPr>
              <a:xfrm>
                <a:off x="3984" y="2880"/>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75905" name="Oval 128"/>
              <p:cNvSpPr/>
              <p:nvPr/>
            </p:nvSpPr>
            <p:spPr>
              <a:xfrm>
                <a:off x="3984"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75906" name="Oval 129"/>
              <p:cNvSpPr/>
              <p:nvPr/>
            </p:nvSpPr>
            <p:spPr>
              <a:xfrm>
                <a:off x="3648" y="3456"/>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75907" name="Oval 130"/>
              <p:cNvSpPr/>
              <p:nvPr/>
            </p:nvSpPr>
            <p:spPr>
              <a:xfrm>
                <a:off x="5184" y="350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5</a:t>
                </a:r>
                <a:endParaRPr lang="en-US" altLang="zh-CN" sz="2400" dirty="0">
                  <a:solidFill>
                    <a:schemeClr val="bg1"/>
                  </a:solidFill>
                  <a:latin typeface="Tahoma" panose="020B0604030504040204" charset="0"/>
                  <a:ea typeface="宋体" panose="02010600030101010101" pitchFamily="2" charset="-122"/>
                </a:endParaRPr>
              </a:p>
            </p:txBody>
          </p:sp>
          <p:sp>
            <p:nvSpPr>
              <p:cNvPr id="75908" name="Oval 131"/>
              <p:cNvSpPr/>
              <p:nvPr/>
            </p:nvSpPr>
            <p:spPr>
              <a:xfrm>
                <a:off x="4800" y="405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75909" name="Oval 132"/>
              <p:cNvSpPr/>
              <p:nvPr/>
            </p:nvSpPr>
            <p:spPr>
              <a:xfrm>
                <a:off x="4800" y="288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DFS算法实现</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如果访问操作是</a:t>
            </a:r>
            <a:r>
              <a:rPr lang="en-US" altLang="zh-CN" dirty="0">
                <a:latin typeface="黑体" panose="02010609060101010101" pitchFamily="2" charset="-122"/>
                <a:ea typeface="黑体" panose="02010609060101010101" pitchFamily="2" charset="-122"/>
                <a:cs typeface="+mn-ea"/>
                <a:sym typeface="+mn-ea"/>
              </a:rPr>
              <a:t>cout</a:t>
            </a:r>
            <a:r>
              <a:rPr lang="zh-CN" altLang="en-US" dirty="0">
                <a:latin typeface="黑体" panose="02010609060101010101" pitchFamily="2" charset="-122"/>
                <a:ea typeface="黑体" panose="02010609060101010101" pitchFamily="2" charset="-122"/>
                <a:cs typeface="+mn-ea"/>
                <a:sym typeface="+mn-ea"/>
              </a:rPr>
              <a:t>，可以把函数</a:t>
            </a:r>
            <a:r>
              <a:rPr lang="en-US" altLang="zh-CN" dirty="0">
                <a:latin typeface="黑体" panose="02010609060101010101" pitchFamily="2" charset="-122"/>
                <a:ea typeface="黑体" panose="02010609060101010101" pitchFamily="2" charset="-122"/>
                <a:cs typeface="+mn-ea"/>
                <a:sym typeface="+mn-ea"/>
              </a:rPr>
              <a:t>VisitFunc</a:t>
            </a:r>
            <a:r>
              <a:rPr lang="zh-CN" altLang="en-US" dirty="0">
                <a:latin typeface="黑体" panose="02010609060101010101" pitchFamily="2" charset="-122"/>
                <a:ea typeface="黑体" panose="02010609060101010101" pitchFamily="2" charset="-122"/>
                <a:cs typeface="+mn-ea"/>
                <a:sym typeface="+mn-ea"/>
              </a:rPr>
              <a:t>去掉，把操作替换为</a:t>
            </a:r>
            <a:r>
              <a:rPr lang="en-US" altLang="zh-CN" dirty="0">
                <a:latin typeface="黑体" panose="02010609060101010101" pitchFamily="2" charset="-122"/>
                <a:ea typeface="黑体" panose="02010609060101010101" pitchFamily="2" charset="-122"/>
                <a:cs typeface="+mn-ea"/>
                <a:sym typeface="+mn-ea"/>
              </a:rPr>
              <a:t>cout</a:t>
            </a:r>
            <a:endParaRPr lang="en-US" altLang="zh-CN" sz="2400" dirty="0">
              <a:latin typeface="黑体" panose="02010609060101010101" pitchFamily="2" charset="-122"/>
              <a:ea typeface="黑体" panose="02010609060101010101" pitchFamily="2" charset="-122"/>
              <a:sym typeface="+mn-ea"/>
            </a:endParaRPr>
          </a:p>
          <a:p>
            <a:pPr marL="609600" lvl="0" indent="-609600" eaLnBrk="1" hangingPunct="1">
              <a:spcBef>
                <a:spcPct val="40000"/>
              </a:spcBef>
              <a:buNone/>
            </a:pPr>
            <a:r>
              <a:rPr lang="en-US" altLang="zh-CN" sz="2400" dirty="0">
                <a:latin typeface="黑体" panose="02010609060101010101" pitchFamily="2" charset="-122"/>
                <a:ea typeface="黑体" panose="02010609060101010101" pitchFamily="2" charset="-122"/>
                <a:sym typeface="+mn-ea"/>
              </a:rPr>
              <a:t>	</a:t>
            </a:r>
            <a:endParaRPr lang="zh-CN" altLang="en-US"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7.3 图的遍历</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7" name="对象 6"/>
          <p:cNvGraphicFramePr/>
          <p:nvPr/>
        </p:nvGraphicFramePr>
        <p:xfrm>
          <a:off x="1271270" y="1916430"/>
          <a:ext cx="9272905" cy="4745355"/>
        </p:xfrm>
        <a:graphic>
          <a:graphicData uri="http://schemas.openxmlformats.org/presentationml/2006/ole">
            <mc:AlternateContent xmlns:mc="http://schemas.openxmlformats.org/markup-compatibility/2006">
              <mc:Choice xmlns:v="urn:schemas-microsoft-com:vml" Requires="v">
                <p:oleObj spid="_x0000_s8" name="" r:id="rId1" imgW="7058025" imgH="3810000" progId="Paint.Picture">
                  <p:embed/>
                </p:oleObj>
              </mc:Choice>
              <mc:Fallback>
                <p:oleObj name="" r:id="rId1" imgW="7058025" imgH="3810000" progId="Paint.Picture">
                  <p:embed/>
                  <p:pic>
                    <p:nvPicPr>
                      <p:cNvPr id="0" name="图片 7"/>
                      <p:cNvPicPr/>
                      <p:nvPr/>
                    </p:nvPicPr>
                    <p:blipFill>
                      <a:blip r:embed="rId2"/>
                      <a:stretch>
                        <a:fillRect/>
                      </a:stretch>
                    </p:blipFill>
                    <p:spPr>
                      <a:xfrm>
                        <a:off x="1271270" y="1916430"/>
                        <a:ext cx="9272905" cy="4745355"/>
                      </a:xfrm>
                      <a:prstGeom prst="rect">
                        <a:avLst/>
                      </a:prstGeom>
                    </p:spPr>
                  </p:pic>
                </p:oleObj>
              </mc:Fallback>
            </mc:AlternateContent>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DFS算法</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分析</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算法</a:t>
            </a:r>
            <a:r>
              <a:rPr lang="zh-CN" altLang="en-US" dirty="0">
                <a:latin typeface="黑体" panose="02010609060101010101" pitchFamily="2" charset="-122"/>
                <a:ea typeface="黑体" panose="02010609060101010101" pitchFamily="2" charset="-122"/>
                <a:cs typeface="+mn-ea"/>
                <a:sym typeface="+mn-ea"/>
              </a:rPr>
              <a:t>主要包含两个函数，一个是控制函数</a:t>
            </a:r>
            <a:r>
              <a:rPr lang="en-US" altLang="zh-CN" dirty="0">
                <a:latin typeface="黑体" panose="02010609060101010101" pitchFamily="2" charset="-122"/>
                <a:ea typeface="黑体" panose="02010609060101010101" pitchFamily="2" charset="-122"/>
                <a:cs typeface="+mn-ea"/>
                <a:sym typeface="+mn-ea"/>
              </a:rPr>
              <a:t>DFSTraverse</a:t>
            </a:r>
            <a:r>
              <a:rPr lang="zh-CN" altLang="en-US" dirty="0">
                <a:latin typeface="黑体" panose="02010609060101010101" pitchFamily="2" charset="-122"/>
                <a:ea typeface="黑体" panose="02010609060101010101" pitchFamily="2" charset="-122"/>
                <a:cs typeface="+mn-ea"/>
                <a:sym typeface="+mn-ea"/>
              </a:rPr>
              <a:t>，一个是遍历函数</a:t>
            </a:r>
            <a:r>
              <a:rPr lang="en-US" altLang="zh-CN" dirty="0">
                <a:latin typeface="黑体" panose="02010609060101010101" pitchFamily="2" charset="-122"/>
                <a:ea typeface="黑体" panose="02010609060101010101" pitchFamily="2" charset="-122"/>
                <a:cs typeface="+mn-ea"/>
                <a:sym typeface="+mn-ea"/>
              </a:rPr>
              <a:t>DFS</a:t>
            </a:r>
            <a:endParaRPr lang="zh-CN" altLang="en-US"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控制函数</a:t>
            </a:r>
            <a:r>
              <a:rPr lang="en-US" altLang="zh-CN" dirty="0">
                <a:latin typeface="黑体" panose="02010609060101010101" pitchFamily="2" charset="-122"/>
                <a:ea typeface="黑体" panose="02010609060101010101" pitchFamily="2" charset="-122"/>
                <a:cs typeface="+mn-ea"/>
                <a:sym typeface="+mn-ea"/>
              </a:rPr>
              <a:t>DFSTraverse</a:t>
            </a:r>
            <a:r>
              <a:rPr lang="zh-CN" altLang="en-US" dirty="0">
                <a:latin typeface="黑体" panose="02010609060101010101" pitchFamily="2" charset="-122"/>
                <a:ea typeface="黑体" panose="02010609060101010101" pitchFamily="2" charset="-122"/>
                <a:cs typeface="+mn-ea"/>
                <a:sym typeface="+mn-ea"/>
              </a:rPr>
              <a:t>，对每个顶点都执行一次</a:t>
            </a:r>
            <a:r>
              <a:rPr lang="en-US" altLang="zh-CN" dirty="0">
                <a:latin typeface="黑体" panose="02010609060101010101" pitchFamily="2" charset="-122"/>
                <a:ea typeface="黑体" panose="02010609060101010101" pitchFamily="2" charset="-122"/>
                <a:cs typeface="+mn-ea"/>
                <a:sym typeface="+mn-ea"/>
              </a:rPr>
              <a:t>DFS</a:t>
            </a:r>
            <a:r>
              <a:rPr lang="zh-CN" altLang="en-US" dirty="0">
                <a:latin typeface="黑体" panose="02010609060101010101" pitchFamily="2" charset="-122"/>
                <a:ea typeface="黑体" panose="02010609060101010101" pitchFamily="2" charset="-122"/>
                <a:cs typeface="+mn-ea"/>
                <a:sym typeface="+mn-ea"/>
              </a:rPr>
              <a:t>，保证非连通图也能全部</a:t>
            </a:r>
            <a:r>
              <a:rPr lang="zh-CN" altLang="en-US" dirty="0">
                <a:latin typeface="黑体" panose="02010609060101010101" pitchFamily="2" charset="-122"/>
                <a:ea typeface="黑体" panose="02010609060101010101" pitchFamily="2" charset="-122"/>
                <a:cs typeface="+mn-ea"/>
                <a:sym typeface="+mn-ea"/>
              </a:rPr>
              <a:t>遍历</a:t>
            </a:r>
            <a:endParaRPr lang="zh-CN" altLang="en-US"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遍历函数</a:t>
            </a:r>
            <a:r>
              <a:rPr lang="en-US" altLang="zh-CN" dirty="0">
                <a:latin typeface="黑体" panose="02010609060101010101" pitchFamily="2" charset="-122"/>
                <a:ea typeface="黑体" panose="02010609060101010101" pitchFamily="2" charset="-122"/>
                <a:cs typeface="+mn-ea"/>
                <a:sym typeface="+mn-ea"/>
              </a:rPr>
              <a:t>DFS</a:t>
            </a:r>
            <a:r>
              <a:rPr lang="zh-CN" altLang="en-US" dirty="0">
                <a:latin typeface="黑体" panose="02010609060101010101" pitchFamily="2" charset="-122"/>
                <a:ea typeface="黑体" panose="02010609060101010101" pitchFamily="2" charset="-122"/>
                <a:cs typeface="+mn-ea"/>
                <a:sym typeface="+mn-ea"/>
              </a:rPr>
              <a:t>，对单个顶点进行递归</a:t>
            </a:r>
            <a:r>
              <a:rPr lang="en-US" altLang="zh-CN" dirty="0">
                <a:latin typeface="黑体" panose="02010609060101010101" pitchFamily="2" charset="-122"/>
                <a:ea typeface="黑体" panose="02010609060101010101" pitchFamily="2" charset="-122"/>
                <a:cs typeface="+mn-ea"/>
                <a:sym typeface="+mn-ea"/>
              </a:rPr>
              <a:t>DFS</a:t>
            </a:r>
            <a:r>
              <a:rPr lang="zh-CN" altLang="en-US" dirty="0">
                <a:latin typeface="黑体" panose="02010609060101010101" pitchFamily="2" charset="-122"/>
                <a:ea typeface="黑体" panose="02010609060101010101" pitchFamily="2" charset="-122"/>
                <a:cs typeface="+mn-ea"/>
                <a:sym typeface="+mn-ea"/>
              </a:rPr>
              <a:t>遍历</a:t>
            </a:r>
            <a:endParaRPr lang="zh-CN" altLang="en-US"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函数</a:t>
            </a:r>
            <a:r>
              <a:rPr lang="en-US" altLang="zh-CN" dirty="0">
                <a:latin typeface="黑体" panose="02010609060101010101" pitchFamily="2" charset="-122"/>
                <a:ea typeface="黑体" panose="02010609060101010101" pitchFamily="2" charset="-122"/>
                <a:cs typeface="+mn-ea"/>
                <a:sym typeface="+mn-ea"/>
              </a:rPr>
              <a:t>DFS</a:t>
            </a:r>
            <a:r>
              <a:rPr lang="zh-CN" altLang="en-US" dirty="0">
                <a:latin typeface="黑体" panose="02010609060101010101" pitchFamily="2" charset="-122"/>
                <a:ea typeface="黑体" panose="02010609060101010101" pitchFamily="2" charset="-122"/>
                <a:cs typeface="+mn-ea"/>
                <a:sym typeface="+mn-ea"/>
              </a:rPr>
              <a:t>中，</a:t>
            </a:r>
            <a:r>
              <a:rPr lang="en-US" altLang="zh-CN" dirty="0">
                <a:latin typeface="黑体" panose="02010609060101010101" pitchFamily="2" charset="-122"/>
                <a:ea typeface="黑体" panose="02010609060101010101" pitchFamily="2" charset="-122"/>
                <a:cs typeface="+mn-ea"/>
                <a:sym typeface="+mn-ea"/>
              </a:rPr>
              <a:t>For</a:t>
            </a:r>
            <a:r>
              <a:rPr lang="zh-CN" altLang="en-US" dirty="0">
                <a:latin typeface="黑体" panose="02010609060101010101" pitchFamily="2" charset="-122"/>
                <a:ea typeface="黑体" panose="02010609060101010101" pitchFamily="2" charset="-122"/>
                <a:cs typeface="+mn-ea"/>
                <a:sym typeface="+mn-ea"/>
              </a:rPr>
              <a:t>循环表示找出当前结点的所有邻接点并逐个</a:t>
            </a:r>
            <a:r>
              <a:rPr lang="en-US" altLang="zh-CN" dirty="0">
                <a:latin typeface="黑体" panose="02010609060101010101" pitchFamily="2" charset="-122"/>
                <a:ea typeface="黑体" panose="02010609060101010101" pitchFamily="2" charset="-122"/>
                <a:cs typeface="+mn-ea"/>
                <a:sym typeface="+mn-ea"/>
              </a:rPr>
              <a:t>DFS</a:t>
            </a:r>
            <a:r>
              <a:rPr lang="zh-CN" altLang="en-US" dirty="0">
                <a:latin typeface="黑体" panose="02010609060101010101" pitchFamily="2" charset="-122"/>
                <a:ea typeface="黑体" panose="02010609060101010101" pitchFamily="2" charset="-122"/>
                <a:cs typeface="+mn-ea"/>
                <a:sym typeface="+mn-ea"/>
              </a:rPr>
              <a:t>遍历，可以自行改造该循环的代码，不一定要实现</a:t>
            </a:r>
            <a:r>
              <a:rPr lang="en-US" altLang="zh-CN" dirty="0">
                <a:latin typeface="黑体" panose="02010609060101010101" pitchFamily="2" charset="-122"/>
                <a:ea typeface="黑体" panose="02010609060101010101" pitchFamily="2" charset="-122"/>
                <a:cs typeface="+mn-ea"/>
                <a:sym typeface="+mn-ea"/>
              </a:rPr>
              <a:t>FindAdjVex</a:t>
            </a:r>
            <a:r>
              <a:rPr lang="zh-CN" altLang="en-US" dirty="0">
                <a:latin typeface="黑体" panose="02010609060101010101" pitchFamily="2" charset="-122"/>
                <a:ea typeface="黑体" panose="02010609060101010101" pitchFamily="2" charset="-122"/>
                <a:cs typeface="+mn-ea"/>
                <a:sym typeface="+mn-ea"/>
              </a:rPr>
              <a:t>函数和</a:t>
            </a:r>
            <a:r>
              <a:rPr lang="en-US" altLang="zh-CN" dirty="0">
                <a:latin typeface="黑体" panose="02010609060101010101" pitchFamily="2" charset="-122"/>
                <a:ea typeface="黑体" panose="02010609060101010101" pitchFamily="2" charset="-122"/>
                <a:cs typeface="+mn-ea"/>
                <a:sym typeface="+mn-ea"/>
              </a:rPr>
              <a:t>NextAdjVex</a:t>
            </a:r>
            <a:r>
              <a:rPr lang="zh-CN" altLang="en-US" dirty="0">
                <a:latin typeface="黑体" panose="02010609060101010101" pitchFamily="2" charset="-122"/>
                <a:ea typeface="黑体" panose="02010609060101010101" pitchFamily="2" charset="-122"/>
                <a:cs typeface="+mn-ea"/>
                <a:sym typeface="+mn-ea"/>
              </a:rPr>
              <a:t>函数</a:t>
            </a:r>
            <a:endParaRPr lang="zh-CN" altLang="en-US" dirty="0">
              <a:latin typeface="黑体" panose="02010609060101010101" pitchFamily="2" charset="-122"/>
              <a:ea typeface="黑体" panose="02010609060101010101" pitchFamily="2" charset="-122"/>
              <a:cs typeface="+mn-ea"/>
              <a:sym typeface="+mn-ea"/>
            </a:endParaRPr>
          </a:p>
          <a:p>
            <a:pPr marL="609600" lvl="0" indent="-609600" eaLnBrk="1" hangingPunct="1">
              <a:spcBef>
                <a:spcPct val="40000"/>
              </a:spcBef>
              <a:buNone/>
            </a:pPr>
            <a:r>
              <a:rPr lang="en-US" altLang="zh-CN" sz="2400" dirty="0">
                <a:latin typeface="黑体" panose="02010609060101010101" pitchFamily="2" charset="-122"/>
                <a:ea typeface="黑体" panose="02010609060101010101" pitchFamily="2" charset="-122"/>
                <a:sym typeface="+mn-ea"/>
              </a:rPr>
              <a:t>	</a:t>
            </a:r>
            <a:endParaRPr lang="zh-CN" altLang="en-US"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7.3 图的遍历</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从算法可以看出：深度优先遍历过程实质是对每个顶点查找其邻接点的过程，因此耗费的时间取决于图的存储结构</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当用</a:t>
            </a:r>
            <a:r>
              <a:rPr lang="zh-CN" altLang="en-US"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邻接矩阵</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作为存储结构，每个顶点都要查找整行共n次，n个顶点要n</a:t>
            </a:r>
            <a:r>
              <a:rPr lang="zh-CN" altLang="en-US" sz="2800" baseline="30000"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次，即</a:t>
            </a:r>
            <a:r>
              <a:rPr lang="zh-CN" altLang="en-US"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时间复杂度是O(n</a:t>
            </a:r>
            <a:r>
              <a:rPr lang="zh-CN" altLang="en-US" sz="2800" baseline="300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2</a:t>
            </a:r>
            <a:r>
              <a:rPr lang="zh-CN" altLang="en-US"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当用</a:t>
            </a:r>
            <a:r>
              <a:rPr lang="zh-CN" altLang="en-US"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邻接表</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作为存储结构，每个顶点只要查找和它连接的边(弧)的次数，n个顶点要e次(e是边或弧的数量)，即</a:t>
            </a:r>
            <a:r>
              <a:rPr lang="zh-CN" altLang="en-US"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时间</a:t>
            </a:r>
            <a:r>
              <a:rPr lang="zh-CN" altLang="en-US"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复杂度是O(n+e)</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en-US" altLang="zh-CN" sz="2400" dirty="0">
              <a:latin typeface="黑体" panose="02010609060101010101" pitchFamily="2" charset="-122"/>
              <a:ea typeface="黑体" panose="02010609060101010101" pitchFamily="2" charset="-122"/>
              <a:sym typeface="+mn-ea"/>
            </a:endParaRPr>
          </a:p>
          <a:p>
            <a:pPr marL="609600" lvl="0" indent="-609600" eaLnBrk="1" hangingPunct="1">
              <a:spcBef>
                <a:spcPct val="40000"/>
              </a:spcBef>
              <a:buNone/>
            </a:pPr>
            <a:r>
              <a:rPr lang="en-US" altLang="zh-CN" sz="2400" dirty="0">
                <a:latin typeface="黑体" panose="02010609060101010101" pitchFamily="2" charset="-122"/>
                <a:ea typeface="黑体" panose="02010609060101010101" pitchFamily="2" charset="-122"/>
                <a:sym typeface="+mn-ea"/>
              </a:rPr>
              <a:t>	</a:t>
            </a:r>
            <a:endParaRPr lang="zh-CN" altLang="en-US"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7.3 图的遍历</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有向图的DFS推导，遍历结果：</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0 1 2 3 4 5 6</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从0开始访问，接着只能访问1</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从1到2，2无相邻未访问结点，跳转回1</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从1到3，3无相邻未访问结点，跳转回1</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1无相邻未访问结点，跳转回0</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0无相邻未访问结点，跳转到未访问新结点4</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从4到5，5无相邻未访问结点，跳转回4</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从4到6，6无相邻未访问结点</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全部结点已访问，结束</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mn-ea"/>
              <a:sym typeface="+mn-ea"/>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7.3 图的遍历</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80901" name="图片 1"/>
          <p:cNvPicPr>
            <a:picLocks noChangeAspect="1"/>
          </p:cNvPicPr>
          <p:nvPr/>
        </p:nvPicPr>
        <p:blipFill>
          <a:blip r:embed="rId1"/>
          <a:stretch>
            <a:fillRect/>
          </a:stretch>
        </p:blipFill>
        <p:spPr>
          <a:xfrm>
            <a:off x="6959918" y="3767773"/>
            <a:ext cx="4967287" cy="2324100"/>
          </a:xfrm>
          <a:prstGeom prst="rect">
            <a:avLst/>
          </a:prstGeom>
          <a:noFill/>
          <a:ln w="9525">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广度优先搜索，BFS-Broad First Search,是一种分层搜索方法</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BFS每向前走一步可能访问一批顶点, 不存在往回退的情况</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BFS不是一个递归过程，BFS是显式地使用队列结构</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7.3 图的遍历</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BFS</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推导示例</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0入队</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0出队，1、4、5入队，队列：1 4 5</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1出队，2、3入队，队列：4 5 2 3</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4 5 2 3依次出队，结束 </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7.3 图的遍历</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5" name="组合 4"/>
          <p:cNvGrpSpPr/>
          <p:nvPr/>
        </p:nvGrpSpPr>
        <p:grpSpPr>
          <a:xfrm>
            <a:off x="6672580" y="2853055"/>
            <a:ext cx="3657600" cy="2877820"/>
            <a:chOff x="10508" y="4493"/>
            <a:chExt cx="5760" cy="4532"/>
          </a:xfrm>
        </p:grpSpPr>
        <p:grpSp>
          <p:nvGrpSpPr>
            <p:cNvPr id="83973" name="Group 4"/>
            <p:cNvGrpSpPr/>
            <p:nvPr/>
          </p:nvGrpSpPr>
          <p:grpSpPr>
            <a:xfrm>
              <a:off x="10508" y="4493"/>
              <a:ext cx="4560" cy="3600"/>
              <a:chOff x="3648" y="2875"/>
              <a:chExt cx="1824" cy="1440"/>
            </a:xfrm>
          </p:grpSpPr>
          <p:sp>
            <p:nvSpPr>
              <p:cNvPr id="83974" name="Line 5"/>
              <p:cNvSpPr/>
              <p:nvPr/>
            </p:nvSpPr>
            <p:spPr>
              <a:xfrm flipH="1">
                <a:off x="4272" y="3024"/>
                <a:ext cx="576" cy="0"/>
              </a:xfrm>
              <a:prstGeom prst="line">
                <a:avLst/>
              </a:prstGeom>
              <a:ln w="38100" cap="flat" cmpd="sng">
                <a:solidFill>
                  <a:srgbClr val="009900"/>
                </a:solidFill>
                <a:prstDash val="solid"/>
                <a:round/>
                <a:headEnd type="none" w="med" len="med"/>
                <a:tailEnd type="none" w="med" len="med"/>
              </a:ln>
            </p:spPr>
          </p:sp>
          <p:sp>
            <p:nvSpPr>
              <p:cNvPr id="83975" name="Line 6"/>
              <p:cNvSpPr/>
              <p:nvPr/>
            </p:nvSpPr>
            <p:spPr>
              <a:xfrm>
                <a:off x="4944" y="3120"/>
                <a:ext cx="0" cy="960"/>
              </a:xfrm>
              <a:prstGeom prst="line">
                <a:avLst/>
              </a:prstGeom>
              <a:ln w="38100" cap="flat" cmpd="sng">
                <a:solidFill>
                  <a:srgbClr val="009900"/>
                </a:solidFill>
                <a:prstDash val="solid"/>
                <a:round/>
                <a:headEnd type="none" w="med" len="med"/>
                <a:tailEnd type="none" w="med" len="med"/>
              </a:ln>
            </p:spPr>
          </p:sp>
          <p:sp>
            <p:nvSpPr>
              <p:cNvPr id="83976" name="Line 7"/>
              <p:cNvSpPr/>
              <p:nvPr/>
            </p:nvSpPr>
            <p:spPr>
              <a:xfrm>
                <a:off x="4992" y="3072"/>
                <a:ext cx="336" cy="480"/>
              </a:xfrm>
              <a:prstGeom prst="line">
                <a:avLst/>
              </a:prstGeom>
              <a:ln w="38100" cap="flat" cmpd="sng">
                <a:solidFill>
                  <a:srgbClr val="009900"/>
                </a:solidFill>
                <a:prstDash val="solid"/>
                <a:round/>
                <a:headEnd type="none" w="med" len="med"/>
                <a:tailEnd type="none" w="med" len="med"/>
              </a:ln>
            </p:spPr>
          </p:sp>
          <p:sp>
            <p:nvSpPr>
              <p:cNvPr id="83977" name="Line 8"/>
              <p:cNvSpPr/>
              <p:nvPr/>
            </p:nvSpPr>
            <p:spPr>
              <a:xfrm flipH="1">
                <a:off x="3840" y="3072"/>
                <a:ext cx="240" cy="432"/>
              </a:xfrm>
              <a:prstGeom prst="line">
                <a:avLst/>
              </a:prstGeom>
              <a:ln w="38100" cap="flat" cmpd="sng">
                <a:solidFill>
                  <a:srgbClr val="009900"/>
                </a:solidFill>
                <a:prstDash val="solid"/>
                <a:round/>
                <a:headEnd type="none" w="med" len="med"/>
                <a:tailEnd type="none" w="med" len="med"/>
              </a:ln>
            </p:spPr>
          </p:sp>
          <p:sp>
            <p:nvSpPr>
              <p:cNvPr id="83978" name="Line 9"/>
              <p:cNvSpPr/>
              <p:nvPr/>
            </p:nvSpPr>
            <p:spPr>
              <a:xfrm flipH="1" flipV="1">
                <a:off x="4128" y="3120"/>
                <a:ext cx="0" cy="1008"/>
              </a:xfrm>
              <a:prstGeom prst="line">
                <a:avLst/>
              </a:prstGeom>
              <a:ln w="38100" cap="flat" cmpd="sng">
                <a:solidFill>
                  <a:srgbClr val="009900"/>
                </a:solidFill>
                <a:prstDash val="solid"/>
                <a:round/>
                <a:headEnd type="none" w="med" len="med"/>
                <a:tailEnd type="none" w="med" len="med"/>
              </a:ln>
            </p:spPr>
          </p:sp>
          <p:sp>
            <p:nvSpPr>
              <p:cNvPr id="83979" name="Line 10"/>
              <p:cNvSpPr/>
              <p:nvPr/>
            </p:nvSpPr>
            <p:spPr>
              <a:xfrm flipH="1" flipV="1">
                <a:off x="4176" y="3072"/>
                <a:ext cx="1104" cy="576"/>
              </a:xfrm>
              <a:prstGeom prst="line">
                <a:avLst/>
              </a:prstGeom>
              <a:ln w="38100" cap="flat" cmpd="sng">
                <a:solidFill>
                  <a:srgbClr val="009900"/>
                </a:solidFill>
                <a:prstDash val="solid"/>
                <a:round/>
                <a:headEnd type="none" w="med" len="med"/>
                <a:tailEnd type="none" w="med" len="med"/>
              </a:ln>
            </p:spPr>
          </p:sp>
          <p:sp>
            <p:nvSpPr>
              <p:cNvPr id="83980" name="Line 11"/>
              <p:cNvSpPr/>
              <p:nvPr/>
            </p:nvSpPr>
            <p:spPr>
              <a:xfrm flipH="1" flipV="1">
                <a:off x="3792" y="3696"/>
                <a:ext cx="288" cy="432"/>
              </a:xfrm>
              <a:prstGeom prst="line">
                <a:avLst/>
              </a:prstGeom>
              <a:ln w="38100" cap="flat" cmpd="sng">
                <a:solidFill>
                  <a:srgbClr val="009900"/>
                </a:solidFill>
                <a:prstDash val="solid"/>
                <a:round/>
                <a:headEnd type="none" w="med" len="med"/>
                <a:tailEnd type="none" w="med" len="med"/>
              </a:ln>
            </p:spPr>
          </p:sp>
          <p:sp>
            <p:nvSpPr>
              <p:cNvPr id="83981" name="Line 12"/>
              <p:cNvSpPr/>
              <p:nvPr/>
            </p:nvSpPr>
            <p:spPr>
              <a:xfrm flipH="1">
                <a:off x="4176" y="4176"/>
                <a:ext cx="720" cy="0"/>
              </a:xfrm>
              <a:prstGeom prst="line">
                <a:avLst/>
              </a:prstGeom>
              <a:ln w="38100" cap="flat" cmpd="sng">
                <a:solidFill>
                  <a:srgbClr val="009900"/>
                </a:solidFill>
                <a:prstDash val="solid"/>
                <a:round/>
                <a:headEnd type="none" w="med" len="med"/>
                <a:tailEnd type="none" w="med" len="med"/>
              </a:ln>
            </p:spPr>
          </p:sp>
          <p:sp>
            <p:nvSpPr>
              <p:cNvPr id="83982" name="Line 13"/>
              <p:cNvSpPr/>
              <p:nvPr/>
            </p:nvSpPr>
            <p:spPr>
              <a:xfrm flipH="1">
                <a:off x="4224" y="3648"/>
                <a:ext cx="1056" cy="480"/>
              </a:xfrm>
              <a:prstGeom prst="line">
                <a:avLst/>
              </a:prstGeom>
              <a:ln w="38100" cap="flat" cmpd="sng">
                <a:solidFill>
                  <a:srgbClr val="009900"/>
                </a:solidFill>
                <a:prstDash val="solid"/>
                <a:round/>
                <a:headEnd type="none" w="med" len="med"/>
                <a:tailEnd type="none" w="med" len="med"/>
              </a:ln>
            </p:spPr>
          </p:sp>
          <p:sp>
            <p:nvSpPr>
              <p:cNvPr id="83983" name="Line 14"/>
              <p:cNvSpPr/>
              <p:nvPr/>
            </p:nvSpPr>
            <p:spPr>
              <a:xfrm flipH="1">
                <a:off x="4992" y="3696"/>
                <a:ext cx="336" cy="480"/>
              </a:xfrm>
              <a:prstGeom prst="line">
                <a:avLst/>
              </a:prstGeom>
              <a:ln w="38100" cap="flat" cmpd="sng">
                <a:solidFill>
                  <a:srgbClr val="009900"/>
                </a:solidFill>
                <a:prstDash val="solid"/>
                <a:round/>
                <a:headEnd type="none" w="med" len="med"/>
                <a:tailEnd type="none" w="med" len="med"/>
              </a:ln>
            </p:spPr>
          </p:sp>
          <p:grpSp>
            <p:nvGrpSpPr>
              <p:cNvPr id="83984" name="Group 15"/>
              <p:cNvGrpSpPr/>
              <p:nvPr/>
            </p:nvGrpSpPr>
            <p:grpSpPr>
              <a:xfrm>
                <a:off x="3648" y="2875"/>
                <a:ext cx="1824" cy="1440"/>
                <a:chOff x="3648" y="2880"/>
                <a:chExt cx="1824" cy="1440"/>
              </a:xfrm>
            </p:grpSpPr>
            <p:sp>
              <p:nvSpPr>
                <p:cNvPr id="83985" name="Oval 16"/>
                <p:cNvSpPr/>
                <p:nvPr/>
              </p:nvSpPr>
              <p:spPr>
                <a:xfrm>
                  <a:off x="3984" y="2880"/>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83986" name="Oval 17"/>
                <p:cNvSpPr/>
                <p:nvPr/>
              </p:nvSpPr>
              <p:spPr>
                <a:xfrm>
                  <a:off x="3984"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83987" name="Oval 18"/>
                <p:cNvSpPr/>
                <p:nvPr/>
              </p:nvSpPr>
              <p:spPr>
                <a:xfrm>
                  <a:off x="3648" y="3456"/>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83988" name="Oval 19"/>
                <p:cNvSpPr/>
                <p:nvPr/>
              </p:nvSpPr>
              <p:spPr>
                <a:xfrm>
                  <a:off x="5184" y="350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5</a:t>
                  </a:r>
                  <a:endParaRPr lang="en-US" altLang="zh-CN" sz="2400" dirty="0">
                    <a:solidFill>
                      <a:schemeClr val="bg1"/>
                    </a:solidFill>
                    <a:latin typeface="Tahoma" panose="020B0604030504040204" charset="0"/>
                    <a:ea typeface="宋体" panose="02010600030101010101" pitchFamily="2" charset="-122"/>
                  </a:endParaRPr>
                </a:p>
              </p:txBody>
            </p:sp>
            <p:sp>
              <p:nvSpPr>
                <p:cNvPr id="83989" name="Oval 20"/>
                <p:cNvSpPr/>
                <p:nvPr/>
              </p:nvSpPr>
              <p:spPr>
                <a:xfrm>
                  <a:off x="4800" y="405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83990" name="Oval 21"/>
                <p:cNvSpPr/>
                <p:nvPr/>
              </p:nvSpPr>
              <p:spPr>
                <a:xfrm>
                  <a:off x="4800" y="288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grpSp>
        <p:sp>
          <p:nvSpPr>
            <p:cNvPr id="83991" name="Rectangle 40"/>
            <p:cNvSpPr/>
            <p:nvPr/>
          </p:nvSpPr>
          <p:spPr>
            <a:xfrm>
              <a:off x="10620" y="8235"/>
              <a:ext cx="5649" cy="790"/>
            </a:xfrm>
            <a:prstGeom prst="rect">
              <a:avLst/>
            </a:prstGeom>
            <a:noFill/>
            <a:ln w="9525">
              <a:noFill/>
            </a:ln>
          </p:spPr>
          <p:txBody>
            <a:bodyPr anchor="t" anchorCtr="0"/>
            <a:p>
              <a:pPr marL="342900" indent="-342900">
                <a:lnSpc>
                  <a:spcPct val="90000"/>
                </a:lnSpc>
                <a:spcBef>
                  <a:spcPct val="30000"/>
                </a:spcBef>
                <a:buClr>
                  <a:schemeClr val="accent1"/>
                </a:buClr>
                <a:buFont typeface="Wingdings" panose="05000000000000000000" pitchFamily="2" charset="2"/>
              </a:pPr>
              <a:r>
                <a:rPr lang="en-US" altLang="zh-CN" sz="2400" dirty="0">
                  <a:latin typeface="黑体" panose="02010609060101010101" pitchFamily="2" charset="-122"/>
                  <a:ea typeface="黑体" panose="02010609060101010101" pitchFamily="2" charset="-122"/>
                </a:rPr>
                <a:t>BFS</a:t>
              </a:r>
              <a:r>
                <a:rPr lang="zh-CN" altLang="en-US" sz="2400" dirty="0">
                  <a:latin typeface="黑体" panose="02010609060101010101" pitchFamily="2" charset="-122"/>
                  <a:ea typeface="黑体" panose="02010609060101010101" pitchFamily="2" charset="-122"/>
                </a:rPr>
                <a:t>结果：</a:t>
              </a:r>
              <a:r>
                <a:rPr lang="en-US" altLang="zh-CN" sz="2400" dirty="0">
                  <a:latin typeface="黑体" panose="02010609060101010101" pitchFamily="2" charset="-122"/>
                  <a:ea typeface="黑体" panose="02010609060101010101" pitchFamily="2" charset="-122"/>
                </a:rPr>
                <a:t>0,1,4,5,2,3</a:t>
              </a:r>
              <a:endParaRPr lang="en-US" altLang="zh-CN" sz="2400" dirty="0">
                <a:latin typeface="黑体" panose="02010609060101010101" pitchFamily="2" charset="-122"/>
                <a:ea typeface="黑体" panose="02010609060101010101" pitchFamily="2" charset="-122"/>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BFS</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示例</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V1出队，V2、V3入队，队列：V2 V3</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V2出队，V4、V5入队，队列：V3 V4 V5</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V3出队，V6、V7入队，队列：V4 V5 V6 V7</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V4出队，V8入队，队列：V5 V6 V7 V8</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V5 V6 V7 V8依次出队，结束</a:t>
            </a: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7.3 图的遍历</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6" name="组合 5"/>
          <p:cNvGrpSpPr/>
          <p:nvPr/>
        </p:nvGrpSpPr>
        <p:grpSpPr>
          <a:xfrm>
            <a:off x="6115050" y="2404110"/>
            <a:ext cx="5527040" cy="3231515"/>
            <a:chOff x="9823" y="3360"/>
            <a:chExt cx="8704" cy="5089"/>
          </a:xfrm>
        </p:grpSpPr>
        <p:grpSp>
          <p:nvGrpSpPr>
            <p:cNvPr id="84997" name="Group 22"/>
            <p:cNvGrpSpPr/>
            <p:nvPr/>
          </p:nvGrpSpPr>
          <p:grpSpPr>
            <a:xfrm>
              <a:off x="11415" y="3360"/>
              <a:ext cx="5160" cy="4440"/>
              <a:chOff x="3168" y="1776"/>
              <a:chExt cx="2064" cy="1776"/>
            </a:xfrm>
          </p:grpSpPr>
          <p:sp>
            <p:nvSpPr>
              <p:cNvPr id="84998" name="Line 23"/>
              <p:cNvSpPr/>
              <p:nvPr/>
            </p:nvSpPr>
            <p:spPr>
              <a:xfrm flipH="1">
                <a:off x="3312" y="2400"/>
                <a:ext cx="432" cy="480"/>
              </a:xfrm>
              <a:prstGeom prst="line">
                <a:avLst/>
              </a:prstGeom>
              <a:ln w="38100" cap="flat" cmpd="sng">
                <a:solidFill>
                  <a:srgbClr val="00FF00"/>
                </a:solidFill>
                <a:prstDash val="solid"/>
                <a:round/>
                <a:headEnd type="none" w="med" len="med"/>
                <a:tailEnd type="none" w="med" len="med"/>
              </a:ln>
            </p:spPr>
          </p:sp>
          <p:sp>
            <p:nvSpPr>
              <p:cNvPr id="84999" name="Line 24"/>
              <p:cNvSpPr/>
              <p:nvPr/>
            </p:nvSpPr>
            <p:spPr>
              <a:xfrm flipH="1">
                <a:off x="3744" y="1968"/>
                <a:ext cx="432" cy="432"/>
              </a:xfrm>
              <a:prstGeom prst="line">
                <a:avLst/>
              </a:prstGeom>
              <a:ln w="38100" cap="flat" cmpd="sng">
                <a:solidFill>
                  <a:srgbClr val="00FF00"/>
                </a:solidFill>
                <a:prstDash val="solid"/>
                <a:round/>
                <a:headEnd type="none" w="med" len="med"/>
                <a:tailEnd type="none" w="med" len="med"/>
              </a:ln>
            </p:spPr>
          </p:sp>
          <p:sp>
            <p:nvSpPr>
              <p:cNvPr id="85000" name="Line 25"/>
              <p:cNvSpPr/>
              <p:nvPr/>
            </p:nvSpPr>
            <p:spPr>
              <a:xfrm flipH="1" flipV="1">
                <a:off x="3744" y="2352"/>
                <a:ext cx="288" cy="672"/>
              </a:xfrm>
              <a:prstGeom prst="line">
                <a:avLst/>
              </a:prstGeom>
              <a:ln w="38100" cap="flat" cmpd="sng">
                <a:solidFill>
                  <a:srgbClr val="00FF00"/>
                </a:solidFill>
                <a:prstDash val="solid"/>
                <a:round/>
                <a:headEnd type="none" w="med" len="med"/>
                <a:tailEnd type="none" w="med" len="med"/>
              </a:ln>
            </p:spPr>
          </p:sp>
          <p:sp>
            <p:nvSpPr>
              <p:cNvPr id="85001" name="Line 26"/>
              <p:cNvSpPr/>
              <p:nvPr/>
            </p:nvSpPr>
            <p:spPr>
              <a:xfrm flipH="1" flipV="1">
                <a:off x="3312" y="2928"/>
                <a:ext cx="960" cy="480"/>
              </a:xfrm>
              <a:prstGeom prst="line">
                <a:avLst/>
              </a:prstGeom>
              <a:ln w="38100" cap="flat" cmpd="sng">
                <a:solidFill>
                  <a:srgbClr val="00FF00"/>
                </a:solidFill>
                <a:prstDash val="solid"/>
                <a:round/>
                <a:headEnd type="none" w="med" len="med"/>
                <a:tailEnd type="none" w="med" len="med"/>
              </a:ln>
            </p:spPr>
          </p:sp>
          <p:sp>
            <p:nvSpPr>
              <p:cNvPr id="85002" name="Line 27"/>
              <p:cNvSpPr/>
              <p:nvPr/>
            </p:nvSpPr>
            <p:spPr>
              <a:xfrm flipH="1" flipV="1">
                <a:off x="4032" y="3024"/>
                <a:ext cx="240" cy="384"/>
              </a:xfrm>
              <a:prstGeom prst="line">
                <a:avLst/>
              </a:prstGeom>
              <a:ln w="38100" cap="flat" cmpd="sng">
                <a:solidFill>
                  <a:srgbClr val="00FF00"/>
                </a:solidFill>
                <a:prstDash val="solid"/>
                <a:round/>
                <a:headEnd type="none" w="med" len="med"/>
                <a:tailEnd type="none" w="med" len="med"/>
              </a:ln>
            </p:spPr>
          </p:sp>
          <p:sp>
            <p:nvSpPr>
              <p:cNvPr id="85003" name="Line 28"/>
              <p:cNvSpPr/>
              <p:nvPr/>
            </p:nvSpPr>
            <p:spPr>
              <a:xfrm>
                <a:off x="4272" y="1968"/>
                <a:ext cx="480" cy="384"/>
              </a:xfrm>
              <a:prstGeom prst="line">
                <a:avLst/>
              </a:prstGeom>
              <a:ln w="38100" cap="flat" cmpd="sng">
                <a:solidFill>
                  <a:srgbClr val="00FF00"/>
                </a:solidFill>
                <a:prstDash val="solid"/>
                <a:round/>
                <a:headEnd type="none" w="med" len="med"/>
                <a:tailEnd type="none" w="med" len="med"/>
              </a:ln>
            </p:spPr>
          </p:sp>
          <p:sp>
            <p:nvSpPr>
              <p:cNvPr id="85004" name="Line 29"/>
              <p:cNvSpPr/>
              <p:nvPr/>
            </p:nvSpPr>
            <p:spPr>
              <a:xfrm flipH="1">
                <a:off x="4512" y="2448"/>
                <a:ext cx="240" cy="480"/>
              </a:xfrm>
              <a:prstGeom prst="line">
                <a:avLst/>
              </a:prstGeom>
              <a:ln w="38100" cap="flat" cmpd="sng">
                <a:solidFill>
                  <a:srgbClr val="00FF00"/>
                </a:solidFill>
                <a:prstDash val="solid"/>
                <a:round/>
                <a:headEnd type="none" w="med" len="med"/>
                <a:tailEnd type="none" w="med" len="med"/>
              </a:ln>
            </p:spPr>
          </p:sp>
          <p:sp>
            <p:nvSpPr>
              <p:cNvPr id="85005" name="Line 30"/>
              <p:cNvSpPr/>
              <p:nvPr/>
            </p:nvSpPr>
            <p:spPr>
              <a:xfrm>
                <a:off x="4800" y="2496"/>
                <a:ext cx="288" cy="432"/>
              </a:xfrm>
              <a:prstGeom prst="line">
                <a:avLst/>
              </a:prstGeom>
              <a:ln w="38100" cap="flat" cmpd="sng">
                <a:solidFill>
                  <a:srgbClr val="00FF00"/>
                </a:solidFill>
                <a:prstDash val="solid"/>
                <a:round/>
                <a:headEnd type="none" w="med" len="med"/>
                <a:tailEnd type="none" w="med" len="med"/>
              </a:ln>
            </p:spPr>
          </p:sp>
          <p:grpSp>
            <p:nvGrpSpPr>
              <p:cNvPr id="85006" name="Group 31"/>
              <p:cNvGrpSpPr/>
              <p:nvPr/>
            </p:nvGrpSpPr>
            <p:grpSpPr>
              <a:xfrm>
                <a:off x="3168" y="1776"/>
                <a:ext cx="2064" cy="1776"/>
                <a:chOff x="1488" y="2544"/>
                <a:chExt cx="2064" cy="1776"/>
              </a:xfrm>
            </p:grpSpPr>
            <p:sp>
              <p:nvSpPr>
                <p:cNvPr id="85007" name="Oval 32"/>
                <p:cNvSpPr/>
                <p:nvPr/>
              </p:nvSpPr>
              <p:spPr>
                <a:xfrm>
                  <a:off x="2400" y="254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V1</a:t>
                  </a:r>
                  <a:endParaRPr lang="en-US" altLang="zh-CN" sz="2000" dirty="0">
                    <a:solidFill>
                      <a:schemeClr val="bg1"/>
                    </a:solidFill>
                    <a:latin typeface="Tahoma" panose="020B0604030504040204" charset="0"/>
                    <a:ea typeface="宋体" panose="02010600030101010101" pitchFamily="2" charset="-122"/>
                  </a:endParaRPr>
                </a:p>
              </p:txBody>
            </p:sp>
            <p:sp>
              <p:nvSpPr>
                <p:cNvPr id="85008" name="Oval 33"/>
                <p:cNvSpPr/>
                <p:nvPr/>
              </p:nvSpPr>
              <p:spPr>
                <a:xfrm>
                  <a:off x="2928" y="3072"/>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V3</a:t>
                  </a:r>
                  <a:endParaRPr lang="en-US" altLang="zh-CN" sz="2000" dirty="0">
                    <a:solidFill>
                      <a:schemeClr val="bg1"/>
                    </a:solidFill>
                    <a:latin typeface="Tahoma" panose="020B0604030504040204" charset="0"/>
                    <a:ea typeface="宋体" panose="02010600030101010101" pitchFamily="2" charset="-122"/>
                  </a:endParaRPr>
                </a:p>
              </p:txBody>
            </p:sp>
            <p:sp>
              <p:nvSpPr>
                <p:cNvPr id="85009" name="Oval 34"/>
                <p:cNvSpPr/>
                <p:nvPr/>
              </p:nvSpPr>
              <p:spPr>
                <a:xfrm>
                  <a:off x="1920" y="302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V2</a:t>
                  </a:r>
                  <a:endParaRPr lang="en-US" altLang="zh-CN" sz="2000" dirty="0">
                    <a:solidFill>
                      <a:schemeClr val="bg1"/>
                    </a:solidFill>
                    <a:latin typeface="Tahoma" panose="020B0604030504040204" charset="0"/>
                    <a:ea typeface="宋体" panose="02010600030101010101" pitchFamily="2" charset="-122"/>
                  </a:endParaRPr>
                </a:p>
              </p:txBody>
            </p:sp>
            <p:sp>
              <p:nvSpPr>
                <p:cNvPr id="85010" name="Oval 35"/>
                <p:cNvSpPr/>
                <p:nvPr/>
              </p:nvSpPr>
              <p:spPr>
                <a:xfrm>
                  <a:off x="2208" y="3600"/>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V5</a:t>
                  </a:r>
                  <a:endParaRPr lang="en-US" altLang="zh-CN" sz="2000" dirty="0">
                    <a:solidFill>
                      <a:schemeClr val="bg1"/>
                    </a:solidFill>
                    <a:latin typeface="Tahoma" panose="020B0604030504040204" charset="0"/>
                    <a:ea typeface="宋体" panose="02010600030101010101" pitchFamily="2" charset="-122"/>
                  </a:endParaRPr>
                </a:p>
              </p:txBody>
            </p:sp>
            <p:sp>
              <p:nvSpPr>
                <p:cNvPr id="85011" name="Oval 36"/>
                <p:cNvSpPr/>
                <p:nvPr/>
              </p:nvSpPr>
              <p:spPr>
                <a:xfrm>
                  <a:off x="1488" y="3552"/>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V4</a:t>
                  </a:r>
                  <a:endParaRPr lang="en-US" altLang="zh-CN" sz="2000" dirty="0">
                    <a:solidFill>
                      <a:schemeClr val="bg1"/>
                    </a:solidFill>
                    <a:latin typeface="Tahoma" panose="020B0604030504040204" charset="0"/>
                    <a:ea typeface="宋体" panose="02010600030101010101" pitchFamily="2" charset="-122"/>
                  </a:endParaRPr>
                </a:p>
              </p:txBody>
            </p:sp>
            <p:sp>
              <p:nvSpPr>
                <p:cNvPr id="85012" name="Oval 37"/>
                <p:cNvSpPr/>
                <p:nvPr/>
              </p:nvSpPr>
              <p:spPr>
                <a:xfrm>
                  <a:off x="2688" y="360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V6</a:t>
                  </a:r>
                  <a:endParaRPr lang="en-US" altLang="zh-CN" sz="2000" dirty="0">
                    <a:solidFill>
                      <a:schemeClr val="bg1"/>
                    </a:solidFill>
                    <a:latin typeface="Tahoma" panose="020B0604030504040204" charset="0"/>
                    <a:ea typeface="宋体" panose="02010600030101010101" pitchFamily="2" charset="-122"/>
                  </a:endParaRPr>
                </a:p>
              </p:txBody>
            </p:sp>
            <p:sp>
              <p:nvSpPr>
                <p:cNvPr id="85013" name="Oval 38"/>
                <p:cNvSpPr/>
                <p:nvPr/>
              </p:nvSpPr>
              <p:spPr>
                <a:xfrm>
                  <a:off x="3264" y="360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V7</a:t>
                  </a:r>
                  <a:endParaRPr lang="en-US" altLang="zh-CN" sz="2000" dirty="0">
                    <a:solidFill>
                      <a:schemeClr val="bg1"/>
                    </a:solidFill>
                    <a:latin typeface="Tahoma" panose="020B0604030504040204" charset="0"/>
                    <a:ea typeface="宋体" panose="02010600030101010101" pitchFamily="2" charset="-122"/>
                  </a:endParaRPr>
                </a:p>
              </p:txBody>
            </p:sp>
            <p:sp>
              <p:nvSpPr>
                <p:cNvPr id="85014" name="Oval 39"/>
                <p:cNvSpPr/>
                <p:nvPr/>
              </p:nvSpPr>
              <p:spPr>
                <a:xfrm>
                  <a:off x="2448" y="405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V8</a:t>
                  </a:r>
                  <a:endParaRPr lang="en-US" altLang="zh-CN" sz="2000" dirty="0">
                    <a:solidFill>
                      <a:schemeClr val="bg1"/>
                    </a:solidFill>
                    <a:latin typeface="Tahoma" panose="020B0604030504040204" charset="0"/>
                    <a:ea typeface="宋体" panose="02010600030101010101" pitchFamily="2" charset="-122"/>
                  </a:endParaRPr>
                </a:p>
              </p:txBody>
            </p:sp>
          </p:grpSp>
        </p:grpSp>
        <p:sp>
          <p:nvSpPr>
            <p:cNvPr id="85015" name="Rectangle 40"/>
            <p:cNvSpPr/>
            <p:nvPr/>
          </p:nvSpPr>
          <p:spPr>
            <a:xfrm>
              <a:off x="9823" y="7801"/>
              <a:ext cx="8704" cy="648"/>
            </a:xfrm>
            <a:prstGeom prst="rect">
              <a:avLst/>
            </a:prstGeom>
            <a:noFill/>
            <a:ln w="9525">
              <a:noFill/>
            </a:ln>
          </p:spPr>
          <p:txBody>
            <a:bodyPr anchor="t" anchorCtr="0"/>
            <a:p>
              <a:pPr marL="342900" indent="-342900">
                <a:lnSpc>
                  <a:spcPct val="90000"/>
                </a:lnSpc>
                <a:spcBef>
                  <a:spcPct val="30000"/>
                </a:spcBef>
                <a:buClr>
                  <a:schemeClr val="accent1"/>
                </a:buClr>
                <a:buFont typeface="Wingdings" panose="05000000000000000000" pitchFamily="2" charset="2"/>
              </a:pPr>
              <a:r>
                <a:rPr lang="en-US" altLang="zh-CN" sz="2400" dirty="0">
                  <a:latin typeface="黑体" panose="02010609060101010101" pitchFamily="2" charset="-122"/>
                  <a:ea typeface="黑体" panose="02010609060101010101" pitchFamily="2" charset="-122"/>
                </a:rPr>
                <a:t>	BFS</a:t>
              </a:r>
              <a:r>
                <a:rPr lang="zh-CN" altLang="en-US" sz="2400" dirty="0">
                  <a:latin typeface="黑体" panose="02010609060101010101" pitchFamily="2" charset="-122"/>
                  <a:ea typeface="黑体" panose="02010609060101010101" pitchFamily="2" charset="-122"/>
                </a:rPr>
                <a:t>结果：</a:t>
              </a:r>
              <a:r>
                <a:rPr lang="en-US" altLang="zh-CN" sz="2400" dirty="0">
                  <a:latin typeface="黑体" panose="02010609060101010101" pitchFamily="2" charset="-122"/>
                  <a:ea typeface="黑体" panose="02010609060101010101" pitchFamily="2" charset="-122"/>
                </a:rPr>
                <a:t>v1,v2,v3,v4,v5,v6,v7,v8</a:t>
              </a:r>
              <a:endParaRPr lang="en-US" altLang="zh-CN" sz="2400" dirty="0">
                <a:latin typeface="黑体" panose="02010609060101010101" pitchFamily="2" charset="-122"/>
                <a:ea typeface="黑体" panose="02010609060101010101" pitchFamily="2" charset="-122"/>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有向图</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的BFS</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示例</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0入队</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0出队，1入队，队列：1</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1出队，2、3入队，队列：2 3</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2 3依次出队</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搜索未访问结点，4入队</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4出队，5、6入队，队列：5 6</a:t>
            </a:r>
            <a:endParaRPr lang="zh-CN" altLang="en-US"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5 6依次出队，结束</a:t>
            </a:r>
            <a:endParaRPr lang="zh-CN" altLang="en-US" dirty="0">
              <a:latin typeface="黑体" panose="02010609060101010101" pitchFamily="2" charset="-122"/>
              <a:ea typeface="黑体" panose="02010609060101010101" pitchFamily="2" charset="-122"/>
              <a:cs typeface="+mn-ea"/>
            </a:endParaRPr>
          </a:p>
          <a:p>
            <a:pPr marL="742950" lvl="1" indent="-285750" eaLnBrk="1" hangingPunct="1"/>
            <a:endParaRPr lang="zh-CN" altLang="en-US" dirty="0">
              <a:latin typeface="宋体" panose="02010600030101010101" pitchFamily="2" charset="-122"/>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7.3 图的遍历</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5" name="组合 4"/>
          <p:cNvGrpSpPr/>
          <p:nvPr/>
        </p:nvGrpSpPr>
        <p:grpSpPr>
          <a:xfrm>
            <a:off x="6448425" y="2708910"/>
            <a:ext cx="4966970" cy="3117850"/>
            <a:chOff x="9486" y="1771"/>
            <a:chExt cx="7822" cy="4910"/>
          </a:xfrm>
        </p:grpSpPr>
        <p:sp>
          <p:nvSpPr>
            <p:cNvPr id="86021" name="Rectangle 40"/>
            <p:cNvSpPr/>
            <p:nvPr/>
          </p:nvSpPr>
          <p:spPr>
            <a:xfrm>
              <a:off x="11301" y="5853"/>
              <a:ext cx="4875" cy="828"/>
            </a:xfrm>
            <a:prstGeom prst="rect">
              <a:avLst/>
            </a:prstGeom>
            <a:noFill/>
            <a:ln w="9525">
              <a:noFill/>
            </a:ln>
          </p:spPr>
          <p:txBody>
            <a:bodyPr anchor="t" anchorCtr="0"/>
            <a:p>
              <a:pPr marL="342900" indent="-342900">
                <a:lnSpc>
                  <a:spcPct val="90000"/>
                </a:lnSpc>
                <a:spcBef>
                  <a:spcPct val="30000"/>
                </a:spcBef>
                <a:buClr>
                  <a:schemeClr val="accent1"/>
                </a:buClr>
                <a:buFont typeface="Wingdings" panose="05000000000000000000" pitchFamily="2" charset="2"/>
              </a:pPr>
              <a:r>
                <a:rPr lang="en-US" altLang="zh-CN" sz="2400" dirty="0">
                  <a:latin typeface="黑体" panose="02010609060101010101" pitchFamily="2" charset="-122"/>
                  <a:ea typeface="黑体" panose="02010609060101010101" pitchFamily="2" charset="-122"/>
                </a:rPr>
                <a:t>BFS</a:t>
              </a:r>
              <a:r>
                <a:rPr lang="zh-CN" altLang="en-US" sz="2400" dirty="0">
                  <a:latin typeface="黑体" panose="02010609060101010101" pitchFamily="2" charset="-122"/>
                  <a:ea typeface="黑体" panose="02010609060101010101" pitchFamily="2" charset="-122"/>
                </a:rPr>
                <a:t>为</a:t>
              </a:r>
              <a:r>
                <a:rPr lang="en-US" altLang="zh-CN" sz="2400" dirty="0">
                  <a:latin typeface="黑体" panose="02010609060101010101" pitchFamily="2" charset="-122"/>
                  <a:ea typeface="黑体" panose="02010609060101010101" pitchFamily="2" charset="-122"/>
                </a:rPr>
                <a:t>0,1,2,3,4,5,6</a:t>
              </a:r>
              <a:endParaRPr lang="en-US" altLang="zh-CN" sz="2400" dirty="0">
                <a:latin typeface="黑体" panose="02010609060101010101" pitchFamily="2" charset="-122"/>
                <a:ea typeface="黑体" panose="02010609060101010101" pitchFamily="2" charset="-122"/>
              </a:endParaRPr>
            </a:p>
          </p:txBody>
        </p:sp>
        <p:pic>
          <p:nvPicPr>
            <p:cNvPr id="86022" name="图片 1"/>
            <p:cNvPicPr>
              <a:picLocks noChangeAspect="1"/>
            </p:cNvPicPr>
            <p:nvPr/>
          </p:nvPicPr>
          <p:blipFill>
            <a:blip r:embed="rId1"/>
            <a:stretch>
              <a:fillRect/>
            </a:stretch>
          </p:blipFill>
          <p:spPr>
            <a:xfrm>
              <a:off x="9486" y="1771"/>
              <a:ext cx="7823" cy="3660"/>
            </a:xfrm>
            <a:prstGeom prst="rect">
              <a:avLst/>
            </a:prstGeom>
            <a:noFill/>
            <a:ln w="9525">
              <a:noFill/>
            </a:ln>
          </p:spPr>
        </p:pic>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BFS算法</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流程</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初始化，所有顶点访问标志visited[]设置为FALSE</a:t>
            </a: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从某顶点v</a:t>
            </a:r>
            <a:r>
              <a:rPr lang="zh-CN" altLang="en-US" sz="2400" baseline="-25000" dirty="0">
                <a:latin typeface="黑体" panose="02010609060101010101" pitchFamily="2" charset="-122"/>
                <a:ea typeface="黑体" panose="02010609060101010101" pitchFamily="2" charset="-122"/>
                <a:cs typeface="+mn-ea"/>
                <a:sym typeface="+mn-ea"/>
              </a:rPr>
              <a:t>0</a:t>
            </a:r>
            <a:r>
              <a:rPr lang="zh-CN" altLang="en-US" sz="2400" dirty="0">
                <a:latin typeface="黑体" panose="02010609060101010101" pitchFamily="2" charset="-122"/>
                <a:ea typeface="黑体" panose="02010609060101010101" pitchFamily="2" charset="-122"/>
                <a:cs typeface="+mn-ea"/>
                <a:sym typeface="+mn-ea"/>
              </a:rPr>
              <a:t>开始，访问v</a:t>
            </a:r>
            <a:r>
              <a:rPr lang="zh-CN" altLang="en-US" sz="2400" baseline="-25000" dirty="0">
                <a:latin typeface="黑体" panose="02010609060101010101" pitchFamily="2" charset="-122"/>
                <a:ea typeface="黑体" panose="02010609060101010101" pitchFamily="2" charset="-122"/>
                <a:cs typeface="+mn-ea"/>
                <a:sym typeface="+mn-ea"/>
              </a:rPr>
              <a:t>0</a:t>
            </a:r>
            <a:r>
              <a:rPr lang="zh-CN" altLang="en-US" sz="2400" dirty="0">
                <a:latin typeface="黑体" panose="02010609060101010101" pitchFamily="2" charset="-122"/>
                <a:ea typeface="黑体" panose="02010609060101010101" pitchFamily="2" charset="-122"/>
                <a:cs typeface="+mn-ea"/>
                <a:sym typeface="+mn-ea"/>
              </a:rPr>
              <a:t>，visited[v</a:t>
            </a:r>
            <a:r>
              <a:rPr lang="zh-CN" altLang="en-US" sz="2400" baseline="-25000" dirty="0">
                <a:latin typeface="黑体" panose="02010609060101010101" pitchFamily="2" charset="-122"/>
                <a:ea typeface="黑体" panose="02010609060101010101" pitchFamily="2" charset="-122"/>
                <a:cs typeface="+mn-ea"/>
                <a:sym typeface="+mn-ea"/>
              </a:rPr>
              <a:t>0</a:t>
            </a:r>
            <a:r>
              <a:rPr lang="zh-CN" altLang="en-US" sz="2400" dirty="0">
                <a:latin typeface="黑体" panose="02010609060101010101" pitchFamily="2" charset="-122"/>
                <a:ea typeface="黑体" panose="02010609060101010101" pitchFamily="2" charset="-122"/>
                <a:cs typeface="+mn-ea"/>
                <a:sym typeface="+mn-ea"/>
              </a:rPr>
              <a:t>]=TRUE，将v0插入队列Q</a:t>
            </a:r>
            <a:endParaRPr lang="zh-CN" altLang="en-US" sz="2400" b="0" dirty="0">
              <a:latin typeface="黑体" panose="02010609060101010101" pitchFamily="2" charset="-122"/>
              <a:ea typeface="黑体" panose="02010609060101010101" pitchFamily="2" charset="-122"/>
              <a:cs typeface="+mn-ea"/>
            </a:endParaRPr>
          </a:p>
          <a:p>
            <a:pPr marL="965200" lvl="1" indent="-508000" eaLnBrk="1" hangingPunct="1">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1.</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如果队列</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Q</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不空，则从队列</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Q</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头上取出一个顶点</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v,</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否则结束</a:t>
            </a:r>
            <a:endParaRPr lang="zh-CN" altLang="en-US" sz="2400" b="0"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hangingPunct="1">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依次找到顶点</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v</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的所有相邻顶点</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v'</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，如果</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visited[v</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']==FALSE</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，则访问该顶点</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v'</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，然后将</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v'</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插入队列</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Q</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，并使</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visited[v</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']=TRUE</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400" b="0" dirty="0">
              <a:latin typeface="黑体" panose="02010609060101010101" pitchFamily="2" charset="-122"/>
              <a:ea typeface="黑体" panose="02010609060101010101" pitchFamily="2" charset="-122"/>
              <a:cs typeface="黑体" panose="02010609060101010101" pitchFamily="2" charset="-122"/>
            </a:endParaRPr>
          </a:p>
          <a:p>
            <a:pPr marL="965200" lvl="1" indent="-508000" eaLnBrk="1" hangingPunct="1">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3.</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重复</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1,2</a:t>
            </a:r>
            <a:endParaRPr lang="en-US" altLang="zh-CN" sz="2400" b="0" dirty="0">
              <a:latin typeface="黑体" panose="02010609060101010101" pitchFamily="2" charset="-122"/>
              <a:ea typeface="黑体" panose="02010609060101010101" pitchFamily="2" charset="-122"/>
              <a:cs typeface="黑体" panose="02010609060101010101" pitchFamily="2" charset="-122"/>
            </a:endParaRPr>
          </a:p>
          <a:p>
            <a:pPr marL="609600" lvl="0" indent="-609600" eaLnBrk="1" hangingPunct="1">
              <a:buNone/>
            </a:pPr>
            <a:endParaRPr lang="en-US" altLang="zh-CN" sz="2400" dirty="0">
              <a:latin typeface="黑体" panose="02010609060101010101" pitchFamily="2" charset="-122"/>
              <a:ea typeface="黑体" panose="02010609060101010101" pitchFamily="2" charset="-122"/>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7.3 图的遍历</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BFS算法</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实现</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C++</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用</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queue</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实现</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7.3 图的遍历</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nvPicPr>
        <p:blipFill>
          <a:blip r:embed="rId1"/>
          <a:stretch>
            <a:fillRect/>
          </a:stretch>
        </p:blipFill>
        <p:spPr>
          <a:xfrm>
            <a:off x="3935730" y="808355"/>
            <a:ext cx="7994015" cy="570992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从算法可以看出：广度优先遍历过程实质是也是查找邻接点的过程，因此</a:t>
            </a:r>
            <a:r>
              <a:rPr lang="zh-CN" altLang="en-US"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广度优先遍历和深度优先遍历的时间复杂度是相同</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的，只是顶点的访问顺序不同而已。</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邻接矩阵作为存储结构，</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时间复杂度是O(n</a:t>
            </a:r>
            <a:r>
              <a:rPr lang="zh-CN" altLang="en-US" sz="2800" baseline="30000"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邻接表作为存储结构，</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时间</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复杂度是O(n+e)</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7.3 图的遍历</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设图G=(V,E)，其中V={a,b,c,d,e} ， E={</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a,b</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a,d</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 (b</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e)</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c,b</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c,d</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 (</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d,e</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 (</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e,a</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e,c</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画出该图的邻接表</a:t>
            </a:r>
            <a:endParaRPr lang="en-US" altLang="zh-CN" sz="24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从字母e出发，</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基于</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邻接表，写出深度优先</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搜索</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和广度优先</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搜索</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的遍历结果</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从字母d出发，按字母顺序</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优先，</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写出深度优先</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搜索</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和广度优先</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搜索</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的遍历结果</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pPr>
            <a:endParaRPr lang="en-US" altLang="zh-CN"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469640" y="1268730"/>
            <a:ext cx="6001385" cy="3540760"/>
          </a:xfrm>
          <a:prstGeom prst="rect">
            <a:avLst/>
          </a:prstGeom>
        </p:spPr>
        <p:txBody>
          <a:bodyPr vert="horz" lIns="91440" tIns="45720" rIns="91440" bIns="45720" rtlCol="0"/>
          <a:lstStyle/>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图的定义和术语</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图的存储结构</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图的遍历</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图的连通</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有向无环图及其应用</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最短路径</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endParaRPr kumimoji="0" lang="zh-CN" altLang="en-US" sz="3200" b="0" i="0" u="none" strike="noStrike" kern="1200" cap="none" spc="0" normalizeH="0" baseline="0" noProof="0" dirty="0" err="1" smtClean="0">
              <a:ln>
                <a:noFill/>
              </a:ln>
              <a:solidFill>
                <a:schemeClr val="tx1"/>
              </a:solidFill>
              <a:effectLst/>
              <a:uLnTx/>
              <a:uFillTx/>
              <a:latin typeface="楷体" panose="02010609060101010101" charset="-122"/>
              <a:ea typeface="楷体" panose="02010609060101010101" charset="-122"/>
              <a:cs typeface="+mn-cs"/>
              <a:sym typeface="+mn-lt"/>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
        <p:nvSpPr>
          <p:cNvPr id="8" name="矩形 7"/>
          <p:cNvSpPr/>
          <p:nvPr/>
        </p:nvSpPr>
        <p:spPr>
          <a:xfrm>
            <a:off x="4088130" y="2957830"/>
            <a:ext cx="2630805" cy="5308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46" name="Text Box 2"/>
          <p:cNvSpPr txBox="1"/>
          <p:nvPr/>
        </p:nvSpPr>
        <p:spPr>
          <a:xfrm>
            <a:off x="2712085" y="170815"/>
            <a:ext cx="6443980" cy="768350"/>
          </a:xfrm>
          <a:prstGeom prst="rect">
            <a:avLst/>
          </a:prstGeom>
          <a:noFill/>
          <a:ln w="9525">
            <a:noFill/>
          </a:ln>
        </p:spPr>
        <p:txBody>
          <a:bodyPr wrap="square" anchor="t" anchorCtr="0">
            <a:spAutoFit/>
          </a:bodyPr>
          <a:p>
            <a:pPr algn="ctr"/>
            <a:r>
              <a:rPr lang="zh-CN" altLang="en-US" sz="4400" b="1" dirty="0">
                <a:solidFill>
                  <a:srgbClr val="0000CC"/>
                </a:solidFill>
                <a:latin typeface="楷体" panose="02010609060101010101" charset="-122"/>
                <a:ea typeface="楷体" panose="02010609060101010101" charset="-122"/>
              </a:rPr>
              <a:t>第七章	</a:t>
            </a:r>
            <a:r>
              <a:rPr lang="zh-CN" altLang="en-US" sz="4400" b="1" dirty="0">
                <a:solidFill>
                  <a:srgbClr val="0000CC"/>
                </a:solidFill>
                <a:latin typeface="楷体" panose="02010609060101010101" charset="-122"/>
                <a:ea typeface="楷体" panose="02010609060101010101" charset="-122"/>
              </a:rPr>
              <a:t>图</a:t>
            </a:r>
            <a:endParaRPr lang="zh-CN" altLang="en-US" sz="4400" b="1" dirty="0">
              <a:solidFill>
                <a:srgbClr val="0000CC"/>
              </a:solidFill>
              <a:latin typeface="楷体" panose="02010609060101010101" charset="-122"/>
              <a:ea typeface="楷体" panose="02010609060101010101" charset="-122"/>
            </a:endParaRPr>
          </a:p>
        </p:txBody>
      </p:sp>
    </p:spTree>
  </p:cSld>
  <p:clrMapOvr>
    <a:masterClrMapping/>
  </p:clrMapOvr>
  <p:transition spd="med">
    <p:fade/>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在无向图中，若存在非连通顶点，则</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称为非连通</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图。</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对于非连通图，包含多个极大连通子图，即</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多个连通分量</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若从每一个连通分量中的一个顶点出发进行DFS或BFS遍历，可求得无向图的所有连通分量的生成树(DFS或BFS生成树)</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所有连通分量的生成树组成了非连通图的生成森林</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rPr>
              <a:t>生成树是一个极小连通子图，用最少的边或弧连接尽可能多的</a:t>
            </a:r>
            <a:r>
              <a:rPr lang="zh-CN" altLang="en-US" sz="2800" dirty="0">
                <a:latin typeface="黑体" panose="02010609060101010101" pitchFamily="2" charset="-122"/>
                <a:ea typeface="黑体" panose="02010609060101010101" pitchFamily="2" charset="-122"/>
                <a:cs typeface="黑体" panose="02010609060101010101" pitchFamily="2" charset="-122"/>
              </a:rPr>
              <a:t>顶点</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7.4 图的</a:t>
            </a:r>
            <a:r>
              <a:rPr lang="zh-CN" altLang="en-US">
                <a:latin typeface="楷体" panose="02010609060101010101" charset="-122"/>
                <a:ea typeface="楷体" panose="02010609060101010101" charset="-122"/>
                <a:cs typeface="楷体" panose="02010609060101010101" charset="-122"/>
                <a:sym typeface="+mn-ea"/>
              </a:rPr>
              <a:t>连通</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07035" y="836295"/>
            <a:ext cx="11087735" cy="2601595"/>
          </a:xfrm>
        </p:spPr>
        <p:txBody>
          <a:bodyPr/>
          <a:p>
            <a:pPr marL="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无向图DFS生成树示例</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下图按字母</a:t>
            </a:r>
            <a:r>
              <a:rPr lang="zh-CN" altLang="en-US" sz="2400" dirty="0">
                <a:latin typeface="黑体" panose="02010609060101010101" pitchFamily="2" charset="-122"/>
                <a:ea typeface="黑体" panose="02010609060101010101" pitchFamily="2" charset="-122"/>
                <a:cs typeface="+mn-ea"/>
                <a:sym typeface="+mn-ea"/>
              </a:rPr>
              <a:t>序生成三棵DFS生成树，组成一个生成森林</a:t>
            </a:r>
            <a:endParaRPr lang="zh-CN" altLang="en-US" sz="2400" dirty="0">
              <a:latin typeface="黑体" panose="02010609060101010101" pitchFamily="2" charset="-122"/>
              <a:ea typeface="黑体" panose="02010609060101010101" pitchFamily="2" charset="-122"/>
              <a:cs typeface="+mn-ea"/>
            </a:endParaRPr>
          </a:p>
          <a:p>
            <a:pPr marL="609600" lvl="1" indent="0" algn="l" eaLnBrk="1" hangingPunct="1">
              <a:buClrTx/>
              <a:buSzTx/>
              <a:buNone/>
            </a:pPr>
            <a:r>
              <a:rPr lang="zh-CN" altLang="en-US" sz="2400" dirty="0">
                <a:latin typeface="黑体" panose="02010609060101010101" pitchFamily="2" charset="-122"/>
                <a:ea typeface="黑体" panose="02010609060101010101" pitchFamily="2" charset="-122"/>
                <a:cs typeface="+mn-ea"/>
                <a:sym typeface="+mn-ea"/>
              </a:rPr>
              <a:t>A-B-F-E-G-C-D</a:t>
            </a:r>
            <a:endParaRPr lang="zh-CN" altLang="en-US" sz="2400" dirty="0">
              <a:latin typeface="黑体" panose="02010609060101010101" pitchFamily="2" charset="-122"/>
              <a:ea typeface="黑体" panose="02010609060101010101" pitchFamily="2" charset="-122"/>
              <a:cs typeface="+mn-ea"/>
            </a:endParaRPr>
          </a:p>
          <a:p>
            <a:pPr marL="609600" lvl="1" indent="0" algn="l" eaLnBrk="1" hangingPunct="1">
              <a:buClrTx/>
              <a:buSzTx/>
              <a:buNone/>
            </a:pPr>
            <a:r>
              <a:rPr lang="zh-CN" altLang="en-US" sz="2400" dirty="0">
                <a:latin typeface="黑体" panose="02010609060101010101" pitchFamily="2" charset="-122"/>
                <a:ea typeface="黑体" panose="02010609060101010101" pitchFamily="2" charset="-122"/>
                <a:cs typeface="+mn-ea"/>
                <a:sym typeface="+mn-ea"/>
              </a:rPr>
              <a:t>K-L-O</a:t>
            </a:r>
            <a:endParaRPr lang="zh-CN" altLang="en-US" sz="2400" dirty="0">
              <a:latin typeface="黑体" panose="02010609060101010101" pitchFamily="2" charset="-122"/>
              <a:ea typeface="黑体" panose="02010609060101010101" pitchFamily="2" charset="-122"/>
              <a:cs typeface="+mn-ea"/>
            </a:endParaRPr>
          </a:p>
          <a:p>
            <a:pPr marL="609600" lvl="1" indent="0" algn="l" eaLnBrk="1" hangingPunct="1">
              <a:buClrTx/>
              <a:buSzTx/>
              <a:buNone/>
            </a:pPr>
            <a:r>
              <a:rPr lang="zh-CN" altLang="en-US" sz="2400" dirty="0">
                <a:latin typeface="黑体" panose="02010609060101010101" pitchFamily="2" charset="-122"/>
                <a:ea typeface="黑体" panose="02010609060101010101" pitchFamily="2" charset="-122"/>
                <a:cs typeface="+mn-ea"/>
                <a:sym typeface="+mn-ea"/>
              </a:rPr>
              <a:t>M-N</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7.4 图的</a:t>
            </a:r>
            <a:r>
              <a:rPr lang="zh-CN" altLang="en-US">
                <a:latin typeface="楷体" panose="02010609060101010101" charset="-122"/>
                <a:ea typeface="楷体" panose="02010609060101010101" charset="-122"/>
                <a:cs typeface="楷体" panose="02010609060101010101" charset="-122"/>
                <a:sym typeface="+mn-ea"/>
              </a:rPr>
              <a:t>连通</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5" name="组合 4"/>
          <p:cNvGrpSpPr/>
          <p:nvPr/>
        </p:nvGrpSpPr>
        <p:grpSpPr>
          <a:xfrm>
            <a:off x="1298575" y="2785745"/>
            <a:ext cx="2018665" cy="3515360"/>
            <a:chOff x="4099" y="5853"/>
            <a:chExt cx="3179" cy="5536"/>
          </a:xfrm>
        </p:grpSpPr>
        <p:sp>
          <p:nvSpPr>
            <p:cNvPr id="95237" name="Line 10"/>
            <p:cNvSpPr/>
            <p:nvPr/>
          </p:nvSpPr>
          <p:spPr>
            <a:xfrm flipV="1">
              <a:off x="4454" y="9065"/>
              <a:ext cx="14" cy="746"/>
            </a:xfrm>
            <a:prstGeom prst="line">
              <a:avLst/>
            </a:prstGeom>
            <a:ln w="28575" cap="flat" cmpd="sng">
              <a:solidFill>
                <a:schemeClr val="accent2"/>
              </a:solidFill>
              <a:prstDash val="solid"/>
              <a:round/>
              <a:headEnd type="none" w="med" len="med"/>
              <a:tailEnd type="none" w="med" len="med"/>
            </a:ln>
          </p:spPr>
        </p:sp>
        <p:sp>
          <p:nvSpPr>
            <p:cNvPr id="95238" name="Line 12"/>
            <p:cNvSpPr/>
            <p:nvPr/>
          </p:nvSpPr>
          <p:spPr>
            <a:xfrm>
              <a:off x="4638" y="7653"/>
              <a:ext cx="22" cy="742"/>
            </a:xfrm>
            <a:prstGeom prst="line">
              <a:avLst/>
            </a:prstGeom>
            <a:ln w="28575" cap="flat" cmpd="sng">
              <a:solidFill>
                <a:schemeClr val="accent2"/>
              </a:solidFill>
              <a:prstDash val="solid"/>
              <a:round/>
              <a:headEnd type="none" w="med" len="med"/>
              <a:tailEnd type="none" w="med" len="med"/>
            </a:ln>
          </p:spPr>
        </p:sp>
        <p:sp>
          <p:nvSpPr>
            <p:cNvPr id="95239" name="Line 13"/>
            <p:cNvSpPr/>
            <p:nvPr/>
          </p:nvSpPr>
          <p:spPr>
            <a:xfrm>
              <a:off x="4438" y="10340"/>
              <a:ext cx="39" cy="607"/>
            </a:xfrm>
            <a:prstGeom prst="line">
              <a:avLst/>
            </a:prstGeom>
            <a:ln w="28575" cap="flat" cmpd="sng">
              <a:solidFill>
                <a:schemeClr val="accent2"/>
              </a:solidFill>
              <a:prstDash val="solid"/>
              <a:round/>
              <a:headEnd type="none" w="med" len="med"/>
              <a:tailEnd type="none" w="med" len="med"/>
            </a:ln>
          </p:spPr>
        </p:sp>
        <p:sp>
          <p:nvSpPr>
            <p:cNvPr id="95240" name="Line 15"/>
            <p:cNvSpPr/>
            <p:nvPr/>
          </p:nvSpPr>
          <p:spPr>
            <a:xfrm>
              <a:off x="6438" y="6573"/>
              <a:ext cx="360" cy="600"/>
            </a:xfrm>
            <a:prstGeom prst="line">
              <a:avLst/>
            </a:prstGeom>
            <a:ln w="28575" cap="flat" cmpd="sng">
              <a:solidFill>
                <a:schemeClr val="accent2"/>
              </a:solidFill>
              <a:prstDash val="solid"/>
              <a:round/>
              <a:headEnd type="none" w="med" len="med"/>
              <a:tailEnd type="none" w="med" len="med"/>
            </a:ln>
          </p:spPr>
        </p:sp>
        <p:sp>
          <p:nvSpPr>
            <p:cNvPr id="95241" name="Line 16"/>
            <p:cNvSpPr/>
            <p:nvPr/>
          </p:nvSpPr>
          <p:spPr>
            <a:xfrm flipH="1">
              <a:off x="5838" y="6573"/>
              <a:ext cx="360" cy="600"/>
            </a:xfrm>
            <a:prstGeom prst="line">
              <a:avLst/>
            </a:prstGeom>
            <a:ln w="28575" cap="flat" cmpd="sng">
              <a:solidFill>
                <a:schemeClr val="accent2"/>
              </a:solidFill>
              <a:prstDash val="solid"/>
              <a:round/>
              <a:headEnd type="none" w="med" len="med"/>
              <a:tailEnd type="none" w="med" len="med"/>
            </a:ln>
          </p:spPr>
        </p:sp>
        <p:sp>
          <p:nvSpPr>
            <p:cNvPr id="95242" name="Line 17"/>
            <p:cNvSpPr/>
            <p:nvPr/>
          </p:nvSpPr>
          <p:spPr>
            <a:xfrm flipH="1">
              <a:off x="4758" y="6453"/>
              <a:ext cx="1320" cy="840"/>
            </a:xfrm>
            <a:prstGeom prst="line">
              <a:avLst/>
            </a:prstGeom>
            <a:ln w="28575" cap="flat" cmpd="sng">
              <a:solidFill>
                <a:schemeClr val="accent2"/>
              </a:solidFill>
              <a:prstDash val="solid"/>
              <a:round/>
              <a:headEnd type="none" w="med" len="med"/>
              <a:tailEnd type="none" w="med" len="med"/>
            </a:ln>
          </p:spPr>
        </p:sp>
        <p:sp>
          <p:nvSpPr>
            <p:cNvPr id="881682" name="Oval 18" descr="粉色砂纸"/>
            <p:cNvSpPr>
              <a:spLocks noChangeArrowheads="1"/>
            </p:cNvSpPr>
            <p:nvPr/>
          </p:nvSpPr>
          <p:spPr bwMode="auto">
            <a:xfrm>
              <a:off x="5958" y="5895"/>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81683" name="Oval 19" descr="粉色砂纸"/>
            <p:cNvSpPr>
              <a:spLocks noChangeArrowheads="1"/>
            </p:cNvSpPr>
            <p:nvPr/>
          </p:nvSpPr>
          <p:spPr bwMode="auto">
            <a:xfrm>
              <a:off x="4129" y="9660"/>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81684" name="Oval 20" descr="粉色砂纸"/>
            <p:cNvSpPr>
              <a:spLocks noChangeArrowheads="1"/>
            </p:cNvSpPr>
            <p:nvPr/>
          </p:nvSpPr>
          <p:spPr bwMode="auto">
            <a:xfrm>
              <a:off x="6558" y="7118"/>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81685" name="Oval 21" descr="粉色砂纸"/>
            <p:cNvSpPr>
              <a:spLocks noChangeArrowheads="1"/>
            </p:cNvSpPr>
            <p:nvPr/>
          </p:nvSpPr>
          <p:spPr bwMode="auto">
            <a:xfrm>
              <a:off x="4203" y="8395"/>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81686" name="Oval 22" descr="粉色砂纸"/>
            <p:cNvSpPr>
              <a:spLocks noChangeArrowheads="1"/>
            </p:cNvSpPr>
            <p:nvPr/>
          </p:nvSpPr>
          <p:spPr bwMode="auto">
            <a:xfrm>
              <a:off x="5358" y="7075"/>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5248" name="Text Box 23"/>
            <p:cNvSpPr txBox="1"/>
            <p:nvPr/>
          </p:nvSpPr>
          <p:spPr>
            <a:xfrm>
              <a:off x="5983" y="5853"/>
              <a:ext cx="692"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A</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95249" name="Text Box 24"/>
            <p:cNvSpPr txBox="1"/>
            <p:nvPr/>
          </p:nvSpPr>
          <p:spPr>
            <a:xfrm>
              <a:off x="5383" y="7075"/>
              <a:ext cx="692"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C</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95250" name="Text Box 25"/>
            <p:cNvSpPr txBox="1"/>
            <p:nvPr/>
          </p:nvSpPr>
          <p:spPr>
            <a:xfrm>
              <a:off x="6583" y="7075"/>
              <a:ext cx="692"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D</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95251" name="Text Box 26"/>
            <p:cNvSpPr txBox="1"/>
            <p:nvPr/>
          </p:nvSpPr>
          <p:spPr>
            <a:xfrm>
              <a:off x="4158" y="9660"/>
              <a:ext cx="662"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E</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881691" name="Oval 27" descr="粉色砂纸"/>
            <p:cNvSpPr>
              <a:spLocks noChangeArrowheads="1"/>
            </p:cNvSpPr>
            <p:nvPr/>
          </p:nvSpPr>
          <p:spPr bwMode="auto">
            <a:xfrm>
              <a:off x="4158" y="7075"/>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5253" name="Text Box 29"/>
            <p:cNvSpPr txBox="1"/>
            <p:nvPr/>
          </p:nvSpPr>
          <p:spPr>
            <a:xfrm>
              <a:off x="4183" y="7075"/>
              <a:ext cx="692"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B</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95254" name="Text Box 30"/>
            <p:cNvSpPr txBox="1"/>
            <p:nvPr/>
          </p:nvSpPr>
          <p:spPr>
            <a:xfrm>
              <a:off x="4248" y="8395"/>
              <a:ext cx="630"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F</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881696" name="Oval 32" descr="粉色砂纸"/>
            <p:cNvSpPr>
              <a:spLocks noChangeArrowheads="1"/>
            </p:cNvSpPr>
            <p:nvPr/>
          </p:nvSpPr>
          <p:spPr bwMode="auto">
            <a:xfrm>
              <a:off x="4103" y="10618"/>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5256" name="Text Box 33"/>
            <p:cNvSpPr txBox="1"/>
            <p:nvPr/>
          </p:nvSpPr>
          <p:spPr>
            <a:xfrm>
              <a:off x="4099" y="10567"/>
              <a:ext cx="724"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G</a:t>
              </a:r>
              <a:endParaRPr lang="en-US" altLang="zh-CN" sz="2400" dirty="0">
                <a:solidFill>
                  <a:schemeClr val="hlink"/>
                </a:solidFill>
                <a:latin typeface="Times New Roman" panose="02020603050405020304" pitchFamily="18" charset="0"/>
                <a:ea typeface="宋体" panose="02010600030101010101" pitchFamily="2" charset="-122"/>
              </a:endParaRPr>
            </a:p>
          </p:txBody>
        </p:sp>
      </p:grpSp>
      <p:grpSp>
        <p:nvGrpSpPr>
          <p:cNvPr id="52" name="组合 51"/>
          <p:cNvGrpSpPr/>
          <p:nvPr/>
        </p:nvGrpSpPr>
        <p:grpSpPr>
          <a:xfrm>
            <a:off x="4295775" y="2724150"/>
            <a:ext cx="535305" cy="1404620"/>
            <a:chOff x="7701" y="5306"/>
            <a:chExt cx="843" cy="2212"/>
          </a:xfrm>
        </p:grpSpPr>
        <p:sp>
          <p:nvSpPr>
            <p:cNvPr id="37" name="Line 9"/>
            <p:cNvSpPr/>
            <p:nvPr/>
          </p:nvSpPr>
          <p:spPr>
            <a:xfrm flipH="1">
              <a:off x="8096" y="6062"/>
              <a:ext cx="11" cy="682"/>
            </a:xfrm>
            <a:prstGeom prst="line">
              <a:avLst/>
            </a:prstGeom>
            <a:ln w="28575" cap="flat" cmpd="sng">
              <a:solidFill>
                <a:schemeClr val="accent2"/>
              </a:solidFill>
              <a:prstDash val="solid"/>
              <a:round/>
              <a:headEnd type="none" w="med" len="med"/>
              <a:tailEnd type="none" w="med" len="med"/>
            </a:ln>
          </p:spPr>
        </p:sp>
        <p:sp>
          <p:nvSpPr>
            <p:cNvPr id="40" name="Oval 34" descr="粉色砂纸"/>
            <p:cNvSpPr>
              <a:spLocks noChangeArrowheads="1"/>
            </p:cNvSpPr>
            <p:nvPr/>
          </p:nvSpPr>
          <p:spPr bwMode="auto">
            <a:xfrm>
              <a:off x="7824" y="6714"/>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 name="Text Box 35"/>
            <p:cNvSpPr txBox="1"/>
            <p:nvPr/>
          </p:nvSpPr>
          <p:spPr>
            <a:xfrm>
              <a:off x="7824" y="6696"/>
              <a:ext cx="693" cy="823"/>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N</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42" name="Oval 36" descr="粉色砂纸"/>
            <p:cNvSpPr>
              <a:spLocks noChangeArrowheads="1"/>
            </p:cNvSpPr>
            <p:nvPr/>
          </p:nvSpPr>
          <p:spPr bwMode="auto">
            <a:xfrm>
              <a:off x="7718" y="5381"/>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3" name="Text Box 37"/>
            <p:cNvSpPr txBox="1"/>
            <p:nvPr/>
          </p:nvSpPr>
          <p:spPr>
            <a:xfrm>
              <a:off x="7701" y="5306"/>
              <a:ext cx="755" cy="823"/>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M</a:t>
              </a:r>
              <a:endParaRPr lang="en-US" altLang="zh-CN" sz="2400" dirty="0">
                <a:solidFill>
                  <a:schemeClr val="hlink"/>
                </a:solidFill>
                <a:latin typeface="Times New Roman" panose="02020603050405020304" pitchFamily="18" charset="0"/>
                <a:ea typeface="宋体" panose="02010600030101010101" pitchFamily="2" charset="-122"/>
              </a:endParaRPr>
            </a:p>
          </p:txBody>
        </p:sp>
      </p:grpSp>
      <p:grpSp>
        <p:nvGrpSpPr>
          <p:cNvPr id="51" name="组合 50"/>
          <p:cNvGrpSpPr/>
          <p:nvPr/>
        </p:nvGrpSpPr>
        <p:grpSpPr>
          <a:xfrm>
            <a:off x="3503930" y="2757170"/>
            <a:ext cx="509905" cy="2104390"/>
            <a:chOff x="6425" y="5173"/>
            <a:chExt cx="803" cy="3314"/>
          </a:xfrm>
        </p:grpSpPr>
        <p:sp>
          <p:nvSpPr>
            <p:cNvPr id="35" name="Line 5"/>
            <p:cNvSpPr/>
            <p:nvPr/>
          </p:nvSpPr>
          <p:spPr>
            <a:xfrm>
              <a:off x="6740" y="7117"/>
              <a:ext cx="10" cy="816"/>
            </a:xfrm>
            <a:prstGeom prst="line">
              <a:avLst/>
            </a:prstGeom>
            <a:ln w="28575" cap="flat" cmpd="sng">
              <a:solidFill>
                <a:schemeClr val="accent2"/>
              </a:solidFill>
              <a:prstDash val="solid"/>
              <a:round/>
              <a:headEnd type="none" w="med" len="med"/>
              <a:tailEnd type="none" w="med" len="med"/>
            </a:ln>
          </p:spPr>
        </p:sp>
        <p:sp>
          <p:nvSpPr>
            <p:cNvPr id="36" name="Line 8"/>
            <p:cNvSpPr/>
            <p:nvPr/>
          </p:nvSpPr>
          <p:spPr>
            <a:xfrm>
              <a:off x="6778" y="5773"/>
              <a:ext cx="61" cy="891"/>
            </a:xfrm>
            <a:prstGeom prst="line">
              <a:avLst/>
            </a:prstGeom>
            <a:ln w="28575" cap="flat" cmpd="sng">
              <a:solidFill>
                <a:schemeClr val="accent2"/>
              </a:solidFill>
              <a:prstDash val="solid"/>
              <a:round/>
              <a:headEnd type="none" w="med" len="med"/>
              <a:tailEnd type="none" w="med" len="med"/>
            </a:ln>
          </p:spPr>
        </p:sp>
        <p:sp>
          <p:nvSpPr>
            <p:cNvPr id="38" name="Oval 28" descr="粉色砂纸"/>
            <p:cNvSpPr>
              <a:spLocks noChangeArrowheads="1"/>
            </p:cNvSpPr>
            <p:nvPr/>
          </p:nvSpPr>
          <p:spPr bwMode="auto">
            <a:xfrm>
              <a:off x="6430" y="7668"/>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9" name="Text Box 31"/>
            <p:cNvSpPr txBox="1"/>
            <p:nvPr/>
          </p:nvSpPr>
          <p:spPr>
            <a:xfrm>
              <a:off x="6425" y="7665"/>
              <a:ext cx="725" cy="823"/>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O</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44" name="Oval 38" descr="粉色砂纸"/>
            <p:cNvSpPr>
              <a:spLocks noChangeArrowheads="1"/>
            </p:cNvSpPr>
            <p:nvPr/>
          </p:nvSpPr>
          <p:spPr bwMode="auto">
            <a:xfrm>
              <a:off x="6425" y="6534"/>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5" name="Text Box 39"/>
            <p:cNvSpPr txBox="1"/>
            <p:nvPr/>
          </p:nvSpPr>
          <p:spPr>
            <a:xfrm>
              <a:off x="6538" y="6502"/>
              <a:ext cx="630" cy="823"/>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L</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46" name="Oval 40" descr="粉色砂纸"/>
            <p:cNvSpPr>
              <a:spLocks noChangeArrowheads="1"/>
            </p:cNvSpPr>
            <p:nvPr/>
          </p:nvSpPr>
          <p:spPr bwMode="auto">
            <a:xfrm>
              <a:off x="6508" y="5216"/>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7" name="Text Box 41"/>
            <p:cNvSpPr txBox="1"/>
            <p:nvPr/>
          </p:nvSpPr>
          <p:spPr>
            <a:xfrm>
              <a:off x="6533" y="5173"/>
              <a:ext cx="693" cy="823"/>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K</a:t>
              </a:r>
              <a:endParaRPr lang="en-US" altLang="zh-CN" sz="2400" dirty="0">
                <a:solidFill>
                  <a:schemeClr val="hlink"/>
                </a:solidFill>
                <a:latin typeface="Times New Roman" panose="02020603050405020304" pitchFamily="18" charset="0"/>
                <a:ea typeface="宋体" panose="02010600030101010101" pitchFamily="2" charset="-122"/>
              </a:endParaRPr>
            </a:p>
          </p:txBody>
        </p:sp>
      </p:grpSp>
      <p:grpSp>
        <p:nvGrpSpPr>
          <p:cNvPr id="53" name="组合 52"/>
          <p:cNvGrpSpPr/>
          <p:nvPr/>
        </p:nvGrpSpPr>
        <p:grpSpPr>
          <a:xfrm>
            <a:off x="6816090" y="1916430"/>
            <a:ext cx="4895850" cy="3168650"/>
            <a:chOff x="10734" y="3018"/>
            <a:chExt cx="7710" cy="4990"/>
          </a:xfrm>
        </p:grpSpPr>
        <p:grpSp>
          <p:nvGrpSpPr>
            <p:cNvPr id="49" name="组合 48"/>
            <p:cNvGrpSpPr/>
            <p:nvPr/>
          </p:nvGrpSpPr>
          <p:grpSpPr>
            <a:xfrm>
              <a:off x="10734" y="3018"/>
              <a:ext cx="7710" cy="4990"/>
              <a:chOff x="10734" y="3018"/>
              <a:chExt cx="7710" cy="4990"/>
            </a:xfrm>
          </p:grpSpPr>
          <p:grpSp>
            <p:nvGrpSpPr>
              <p:cNvPr id="33" name="组合 32"/>
              <p:cNvGrpSpPr/>
              <p:nvPr/>
            </p:nvGrpSpPr>
            <p:grpSpPr>
              <a:xfrm>
                <a:off x="10847" y="3378"/>
                <a:ext cx="6789" cy="4158"/>
                <a:chOff x="10314" y="3550"/>
                <a:chExt cx="6789" cy="4158"/>
              </a:xfrm>
            </p:grpSpPr>
            <p:grpSp>
              <p:nvGrpSpPr>
                <p:cNvPr id="30" name="组合 29"/>
                <p:cNvGrpSpPr/>
                <p:nvPr/>
              </p:nvGrpSpPr>
              <p:grpSpPr>
                <a:xfrm>
                  <a:off x="15183" y="6886"/>
                  <a:ext cx="1920" cy="822"/>
                  <a:chOff x="13410" y="7154"/>
                  <a:chExt cx="1920" cy="822"/>
                </a:xfrm>
              </p:grpSpPr>
              <p:sp>
                <p:nvSpPr>
                  <p:cNvPr id="95260" name="Line 9"/>
                  <p:cNvSpPr/>
                  <p:nvPr/>
                </p:nvSpPr>
                <p:spPr>
                  <a:xfrm flipH="1">
                    <a:off x="14090" y="7542"/>
                    <a:ext cx="568" cy="0"/>
                  </a:xfrm>
                  <a:prstGeom prst="line">
                    <a:avLst/>
                  </a:prstGeom>
                  <a:ln w="28575" cap="flat" cmpd="sng">
                    <a:solidFill>
                      <a:schemeClr val="accent2"/>
                    </a:solidFill>
                    <a:prstDash val="solid"/>
                    <a:round/>
                    <a:headEnd type="none" w="med" len="med"/>
                    <a:tailEnd type="none" w="med" len="med"/>
                  </a:ln>
                </p:spPr>
              </p:sp>
              <p:sp>
                <p:nvSpPr>
                  <p:cNvPr id="881698" name="Oval 34" descr="粉色砂纸"/>
                  <p:cNvSpPr>
                    <a:spLocks noChangeArrowheads="1"/>
                  </p:cNvSpPr>
                  <p:nvPr/>
                </p:nvSpPr>
                <p:spPr bwMode="auto">
                  <a:xfrm>
                    <a:off x="14610" y="7197"/>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5264" name="Text Box 35"/>
                  <p:cNvSpPr txBox="1"/>
                  <p:nvPr/>
                </p:nvSpPr>
                <p:spPr>
                  <a:xfrm>
                    <a:off x="14635" y="7154"/>
                    <a:ext cx="693" cy="823"/>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N</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881700" name="Oval 36" descr="粉色砂纸"/>
                  <p:cNvSpPr>
                    <a:spLocks noChangeArrowheads="1"/>
                  </p:cNvSpPr>
                  <p:nvPr/>
                </p:nvSpPr>
                <p:spPr bwMode="auto">
                  <a:xfrm>
                    <a:off x="13410" y="7197"/>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5266" name="Text Box 37"/>
                  <p:cNvSpPr txBox="1"/>
                  <p:nvPr/>
                </p:nvSpPr>
                <p:spPr>
                  <a:xfrm>
                    <a:off x="13410" y="7154"/>
                    <a:ext cx="755" cy="823"/>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M</a:t>
                    </a:r>
                    <a:endParaRPr lang="en-US" altLang="zh-CN" sz="2400" dirty="0">
                      <a:solidFill>
                        <a:schemeClr val="hlink"/>
                      </a:solidFill>
                      <a:latin typeface="Times New Roman" panose="02020603050405020304" pitchFamily="18" charset="0"/>
                      <a:ea typeface="宋体" panose="02010600030101010101" pitchFamily="2" charset="-122"/>
                    </a:endParaRPr>
                  </a:p>
                </p:txBody>
              </p:sp>
            </p:grpSp>
            <p:grpSp>
              <p:nvGrpSpPr>
                <p:cNvPr id="29" name="组合 28"/>
                <p:cNvGrpSpPr/>
                <p:nvPr/>
              </p:nvGrpSpPr>
              <p:grpSpPr>
                <a:xfrm>
                  <a:off x="10314" y="3914"/>
                  <a:ext cx="4320" cy="3364"/>
                  <a:chOff x="12390" y="2565"/>
                  <a:chExt cx="4320" cy="3364"/>
                </a:xfrm>
              </p:grpSpPr>
              <p:grpSp>
                <p:nvGrpSpPr>
                  <p:cNvPr id="6" name="组合 5"/>
                  <p:cNvGrpSpPr/>
                  <p:nvPr/>
                </p:nvGrpSpPr>
                <p:grpSpPr>
                  <a:xfrm>
                    <a:off x="12390" y="2565"/>
                    <a:ext cx="4320" cy="3364"/>
                    <a:chOff x="4158" y="5853"/>
                    <a:chExt cx="4320" cy="3364"/>
                  </a:xfrm>
                </p:grpSpPr>
                <p:sp>
                  <p:nvSpPr>
                    <p:cNvPr id="7" name="Line 10"/>
                    <p:cNvSpPr/>
                    <p:nvPr/>
                  </p:nvSpPr>
                  <p:spPr>
                    <a:xfrm flipH="1">
                      <a:off x="5598" y="7533"/>
                      <a:ext cx="2400" cy="1080"/>
                    </a:xfrm>
                    <a:prstGeom prst="line">
                      <a:avLst/>
                    </a:prstGeom>
                    <a:ln w="28575" cap="flat" cmpd="sng">
                      <a:solidFill>
                        <a:schemeClr val="accent2"/>
                      </a:solidFill>
                      <a:prstDash val="solid"/>
                      <a:round/>
                      <a:headEnd type="none" w="med" len="med"/>
                      <a:tailEnd type="none" w="med" len="med"/>
                    </a:ln>
                  </p:spPr>
                </p:sp>
                <p:sp>
                  <p:nvSpPr>
                    <p:cNvPr id="8" name="Line 12"/>
                    <p:cNvSpPr/>
                    <p:nvPr/>
                  </p:nvSpPr>
                  <p:spPr>
                    <a:xfrm>
                      <a:off x="4638" y="7653"/>
                      <a:ext cx="600" cy="840"/>
                    </a:xfrm>
                    <a:prstGeom prst="line">
                      <a:avLst/>
                    </a:prstGeom>
                    <a:ln w="28575" cap="flat" cmpd="sng">
                      <a:solidFill>
                        <a:schemeClr val="accent2"/>
                      </a:solidFill>
                      <a:prstDash val="solid"/>
                      <a:round/>
                      <a:headEnd type="none" w="med" len="med"/>
                      <a:tailEnd type="none" w="med" len="med"/>
                    </a:ln>
                  </p:spPr>
                </p:sp>
                <p:sp>
                  <p:nvSpPr>
                    <p:cNvPr id="9" name="Line 13"/>
                    <p:cNvSpPr/>
                    <p:nvPr/>
                  </p:nvSpPr>
                  <p:spPr>
                    <a:xfrm flipH="1">
                      <a:off x="7398" y="7773"/>
                      <a:ext cx="600" cy="720"/>
                    </a:xfrm>
                    <a:prstGeom prst="line">
                      <a:avLst/>
                    </a:prstGeom>
                    <a:ln w="28575" cap="flat" cmpd="sng">
                      <a:solidFill>
                        <a:schemeClr val="accent2"/>
                      </a:solidFill>
                      <a:prstDash val="solid"/>
                      <a:round/>
                      <a:headEnd type="none" w="med" len="med"/>
                      <a:tailEnd type="none" w="med" len="med"/>
                    </a:ln>
                  </p:spPr>
                </p:sp>
                <p:sp>
                  <p:nvSpPr>
                    <p:cNvPr id="10" name="Line 15"/>
                    <p:cNvSpPr/>
                    <p:nvPr/>
                  </p:nvSpPr>
                  <p:spPr>
                    <a:xfrm>
                      <a:off x="6438" y="6573"/>
                      <a:ext cx="360" cy="600"/>
                    </a:xfrm>
                    <a:prstGeom prst="line">
                      <a:avLst/>
                    </a:prstGeom>
                    <a:ln w="28575" cap="flat" cmpd="sng">
                      <a:solidFill>
                        <a:schemeClr val="accent2"/>
                      </a:solidFill>
                      <a:prstDash val="solid"/>
                      <a:round/>
                      <a:headEnd type="none" w="med" len="med"/>
                      <a:tailEnd type="none" w="med" len="med"/>
                    </a:ln>
                  </p:spPr>
                </p:sp>
                <p:sp>
                  <p:nvSpPr>
                    <p:cNvPr id="11" name="Line 16"/>
                    <p:cNvSpPr/>
                    <p:nvPr/>
                  </p:nvSpPr>
                  <p:spPr>
                    <a:xfrm flipH="1">
                      <a:off x="5838" y="6573"/>
                      <a:ext cx="360" cy="600"/>
                    </a:xfrm>
                    <a:prstGeom prst="line">
                      <a:avLst/>
                    </a:prstGeom>
                    <a:ln w="28575" cap="flat" cmpd="sng">
                      <a:solidFill>
                        <a:schemeClr val="accent2"/>
                      </a:solidFill>
                      <a:prstDash val="solid"/>
                      <a:round/>
                      <a:headEnd type="none" w="med" len="med"/>
                      <a:tailEnd type="none" w="med" len="med"/>
                    </a:ln>
                  </p:spPr>
                </p:sp>
                <p:sp>
                  <p:nvSpPr>
                    <p:cNvPr id="12" name="Line 17"/>
                    <p:cNvSpPr/>
                    <p:nvPr/>
                  </p:nvSpPr>
                  <p:spPr>
                    <a:xfrm flipH="1">
                      <a:off x="4758" y="6453"/>
                      <a:ext cx="1320" cy="840"/>
                    </a:xfrm>
                    <a:prstGeom prst="line">
                      <a:avLst/>
                    </a:prstGeom>
                    <a:ln w="28575" cap="flat" cmpd="sng">
                      <a:solidFill>
                        <a:schemeClr val="accent2"/>
                      </a:solidFill>
                      <a:prstDash val="solid"/>
                      <a:round/>
                      <a:headEnd type="none" w="med" len="med"/>
                      <a:tailEnd type="none" w="med" len="med"/>
                    </a:ln>
                  </p:spPr>
                </p:sp>
                <p:sp>
                  <p:nvSpPr>
                    <p:cNvPr id="13" name="Oval 18" descr="粉色砂纸"/>
                    <p:cNvSpPr>
                      <a:spLocks noChangeArrowheads="1"/>
                    </p:cNvSpPr>
                    <p:nvPr/>
                  </p:nvSpPr>
                  <p:spPr bwMode="auto">
                    <a:xfrm>
                      <a:off x="5958" y="5895"/>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 name="Oval 19" descr="粉色砂纸"/>
                    <p:cNvSpPr>
                      <a:spLocks noChangeArrowheads="1"/>
                    </p:cNvSpPr>
                    <p:nvPr/>
                  </p:nvSpPr>
                  <p:spPr bwMode="auto">
                    <a:xfrm>
                      <a:off x="7758" y="7098"/>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 name="Oval 20" descr="粉色砂纸"/>
                    <p:cNvSpPr>
                      <a:spLocks noChangeArrowheads="1"/>
                    </p:cNvSpPr>
                    <p:nvPr/>
                  </p:nvSpPr>
                  <p:spPr bwMode="auto">
                    <a:xfrm>
                      <a:off x="6558" y="7118"/>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 name="Oval 21" descr="粉色砂纸"/>
                    <p:cNvSpPr>
                      <a:spLocks noChangeArrowheads="1"/>
                    </p:cNvSpPr>
                    <p:nvPr/>
                  </p:nvSpPr>
                  <p:spPr bwMode="auto">
                    <a:xfrm>
                      <a:off x="4998" y="8395"/>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 name="Oval 22" descr="粉色砂纸"/>
                    <p:cNvSpPr>
                      <a:spLocks noChangeArrowheads="1"/>
                    </p:cNvSpPr>
                    <p:nvPr/>
                  </p:nvSpPr>
                  <p:spPr bwMode="auto">
                    <a:xfrm>
                      <a:off x="5358" y="7075"/>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 name="Text Box 23"/>
                    <p:cNvSpPr txBox="1"/>
                    <p:nvPr/>
                  </p:nvSpPr>
                  <p:spPr>
                    <a:xfrm>
                      <a:off x="5983" y="5853"/>
                      <a:ext cx="692"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A</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19" name="Text Box 24"/>
                    <p:cNvSpPr txBox="1"/>
                    <p:nvPr/>
                  </p:nvSpPr>
                  <p:spPr>
                    <a:xfrm>
                      <a:off x="5383" y="7075"/>
                      <a:ext cx="692"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C</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20" name="Text Box 25"/>
                    <p:cNvSpPr txBox="1"/>
                    <p:nvPr/>
                  </p:nvSpPr>
                  <p:spPr>
                    <a:xfrm>
                      <a:off x="6583" y="7075"/>
                      <a:ext cx="692"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D</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21" name="Text Box 26"/>
                    <p:cNvSpPr txBox="1"/>
                    <p:nvPr/>
                  </p:nvSpPr>
                  <p:spPr>
                    <a:xfrm>
                      <a:off x="7815" y="7098"/>
                      <a:ext cx="662"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E</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22" name="Oval 27" descr="粉色砂纸"/>
                    <p:cNvSpPr>
                      <a:spLocks noChangeArrowheads="1"/>
                    </p:cNvSpPr>
                    <p:nvPr/>
                  </p:nvSpPr>
                  <p:spPr bwMode="auto">
                    <a:xfrm>
                      <a:off x="4158" y="7075"/>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3" name="Text Box 29"/>
                    <p:cNvSpPr txBox="1"/>
                    <p:nvPr/>
                  </p:nvSpPr>
                  <p:spPr>
                    <a:xfrm>
                      <a:off x="4183" y="7075"/>
                      <a:ext cx="692"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B</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24" name="Text Box 30"/>
                    <p:cNvSpPr txBox="1"/>
                    <p:nvPr/>
                  </p:nvSpPr>
                  <p:spPr>
                    <a:xfrm>
                      <a:off x="5085" y="8395"/>
                      <a:ext cx="630"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F</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25" name="Oval 32" descr="粉色砂纸"/>
                    <p:cNvSpPr>
                      <a:spLocks noChangeArrowheads="1"/>
                    </p:cNvSpPr>
                    <p:nvPr/>
                  </p:nvSpPr>
                  <p:spPr bwMode="auto">
                    <a:xfrm>
                      <a:off x="6888" y="8395"/>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 name="Text Box 33"/>
                    <p:cNvSpPr txBox="1"/>
                    <p:nvPr/>
                  </p:nvSpPr>
                  <p:spPr>
                    <a:xfrm>
                      <a:off x="6913" y="8395"/>
                      <a:ext cx="724"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G</a:t>
                      </a:r>
                      <a:endParaRPr lang="en-US" altLang="zh-CN" sz="2400" dirty="0">
                        <a:solidFill>
                          <a:schemeClr val="hlink"/>
                        </a:solidFill>
                        <a:latin typeface="Times New Roman" panose="02020603050405020304" pitchFamily="18" charset="0"/>
                        <a:ea typeface="宋体" panose="02010600030101010101" pitchFamily="2" charset="-122"/>
                      </a:endParaRPr>
                    </a:p>
                  </p:txBody>
                </p:sp>
              </p:grpSp>
              <p:sp>
                <p:nvSpPr>
                  <p:cNvPr id="28" name="Line 10"/>
                  <p:cNvSpPr/>
                  <p:nvPr/>
                </p:nvSpPr>
                <p:spPr>
                  <a:xfrm flipV="1">
                    <a:off x="13970" y="5487"/>
                    <a:ext cx="1244" cy="10"/>
                  </a:xfrm>
                  <a:prstGeom prst="line">
                    <a:avLst/>
                  </a:prstGeom>
                  <a:ln w="28575" cap="flat" cmpd="sng">
                    <a:solidFill>
                      <a:schemeClr val="accent2"/>
                    </a:solidFill>
                    <a:prstDash val="solid"/>
                    <a:round/>
                    <a:headEnd type="none" w="med" len="med"/>
                    <a:tailEnd type="none" w="med" len="med"/>
                  </a:ln>
                </p:spPr>
              </p:sp>
            </p:grpSp>
            <p:grpSp>
              <p:nvGrpSpPr>
                <p:cNvPr id="32" name="组合 31"/>
                <p:cNvGrpSpPr/>
                <p:nvPr/>
              </p:nvGrpSpPr>
              <p:grpSpPr>
                <a:xfrm>
                  <a:off x="14873" y="3550"/>
                  <a:ext cx="1920" cy="3317"/>
                  <a:chOff x="12180" y="5954"/>
                  <a:chExt cx="1920" cy="3317"/>
                </a:xfrm>
              </p:grpSpPr>
              <p:sp>
                <p:nvSpPr>
                  <p:cNvPr id="95258" name="Line 5"/>
                  <p:cNvSpPr/>
                  <p:nvPr/>
                </p:nvSpPr>
                <p:spPr>
                  <a:xfrm>
                    <a:off x="12570" y="7874"/>
                    <a:ext cx="600" cy="840"/>
                  </a:xfrm>
                  <a:prstGeom prst="line">
                    <a:avLst/>
                  </a:prstGeom>
                  <a:ln w="28575" cap="flat" cmpd="sng">
                    <a:solidFill>
                      <a:schemeClr val="accent2"/>
                    </a:solidFill>
                    <a:prstDash val="solid"/>
                    <a:round/>
                    <a:headEnd type="none" w="med" len="med"/>
                    <a:tailEnd type="none" w="med" len="med"/>
                  </a:ln>
                </p:spPr>
              </p:sp>
              <p:sp>
                <p:nvSpPr>
                  <p:cNvPr id="95259" name="Line 8"/>
                  <p:cNvSpPr/>
                  <p:nvPr/>
                </p:nvSpPr>
                <p:spPr>
                  <a:xfrm flipH="1">
                    <a:off x="12690" y="6554"/>
                    <a:ext cx="960" cy="840"/>
                  </a:xfrm>
                  <a:prstGeom prst="line">
                    <a:avLst/>
                  </a:prstGeom>
                  <a:ln w="28575" cap="flat" cmpd="sng">
                    <a:solidFill>
                      <a:schemeClr val="accent2"/>
                    </a:solidFill>
                    <a:prstDash val="solid"/>
                    <a:round/>
                    <a:headEnd type="none" w="med" len="med"/>
                    <a:tailEnd type="none" w="med" len="med"/>
                  </a:ln>
                </p:spPr>
              </p:sp>
              <p:sp>
                <p:nvSpPr>
                  <p:cNvPr id="881692" name="Oval 28" descr="粉色砂纸"/>
                  <p:cNvSpPr>
                    <a:spLocks noChangeArrowheads="1"/>
                  </p:cNvSpPr>
                  <p:nvPr/>
                </p:nvSpPr>
                <p:spPr bwMode="auto">
                  <a:xfrm>
                    <a:off x="12810" y="8497"/>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5262" name="Text Box 31"/>
                  <p:cNvSpPr txBox="1"/>
                  <p:nvPr/>
                </p:nvSpPr>
                <p:spPr>
                  <a:xfrm>
                    <a:off x="12842" y="8449"/>
                    <a:ext cx="725" cy="823"/>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O</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881702" name="Oval 38" descr="粉色砂纸"/>
                  <p:cNvSpPr>
                    <a:spLocks noChangeArrowheads="1"/>
                  </p:cNvSpPr>
                  <p:nvPr/>
                </p:nvSpPr>
                <p:spPr bwMode="auto">
                  <a:xfrm>
                    <a:off x="12180" y="7197"/>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5268" name="Text Box 39"/>
                  <p:cNvSpPr txBox="1"/>
                  <p:nvPr/>
                </p:nvSpPr>
                <p:spPr>
                  <a:xfrm>
                    <a:off x="12260" y="7134"/>
                    <a:ext cx="630" cy="823"/>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L</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881704" name="Oval 40" descr="粉色砂纸"/>
                  <p:cNvSpPr>
                    <a:spLocks noChangeArrowheads="1"/>
                  </p:cNvSpPr>
                  <p:nvPr/>
                </p:nvSpPr>
                <p:spPr bwMode="auto">
                  <a:xfrm>
                    <a:off x="13380" y="5997"/>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5270" name="Text Box 41"/>
                  <p:cNvSpPr txBox="1"/>
                  <p:nvPr/>
                </p:nvSpPr>
                <p:spPr>
                  <a:xfrm>
                    <a:off x="13405" y="5954"/>
                    <a:ext cx="693" cy="823"/>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K</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31" name="Line 8"/>
                  <p:cNvSpPr/>
                  <p:nvPr/>
                </p:nvSpPr>
                <p:spPr>
                  <a:xfrm flipH="1">
                    <a:off x="13298" y="6761"/>
                    <a:ext cx="407" cy="1876"/>
                  </a:xfrm>
                  <a:prstGeom prst="line">
                    <a:avLst/>
                  </a:prstGeom>
                  <a:ln w="28575" cap="flat" cmpd="sng">
                    <a:solidFill>
                      <a:schemeClr val="accent2"/>
                    </a:solidFill>
                    <a:prstDash val="solid"/>
                    <a:round/>
                    <a:headEnd type="none" w="med" len="med"/>
                    <a:tailEnd type="none" w="med" len="med"/>
                  </a:ln>
                </p:spPr>
              </p:sp>
            </p:grpSp>
          </p:grpSp>
          <p:sp>
            <p:nvSpPr>
              <p:cNvPr id="48" name="圆角矩形 47"/>
              <p:cNvSpPr/>
              <p:nvPr/>
            </p:nvSpPr>
            <p:spPr>
              <a:xfrm>
                <a:off x="10734" y="3018"/>
                <a:ext cx="7711" cy="4990"/>
              </a:xfrm>
              <a:prstGeom prst="roundRect">
                <a:avLst/>
              </a:prstGeom>
              <a:noFill/>
              <a:ln w="12700" cap="flat" cmpd="sng" algn="ctr">
                <a:solidFill>
                  <a:schemeClr val="accent1">
                    <a:shade val="50000"/>
                  </a:schemeClr>
                </a:solidFill>
                <a:prstDash val="sysDot"/>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sp>
          <p:nvSpPr>
            <p:cNvPr id="50" name="Line 17"/>
            <p:cNvSpPr/>
            <p:nvPr/>
          </p:nvSpPr>
          <p:spPr>
            <a:xfrm flipH="1" flipV="1">
              <a:off x="13247" y="4299"/>
              <a:ext cx="1499" cy="708"/>
            </a:xfrm>
            <a:prstGeom prst="line">
              <a:avLst/>
            </a:prstGeom>
            <a:ln w="28575" cap="flat" cmpd="sng">
              <a:solidFill>
                <a:schemeClr val="accent2"/>
              </a:solidFill>
              <a:prstDash val="solid"/>
              <a:round/>
              <a:headEnd type="none" w="med" len="med"/>
              <a:tailEnd type="none" w="med" len="med"/>
            </a:ln>
          </p:spPr>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07035" y="836295"/>
            <a:ext cx="11087735" cy="2601595"/>
          </a:xfrm>
        </p:spPr>
        <p:txBody>
          <a:bodyPr/>
          <a:p>
            <a:pPr marL="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无向图DFS生成树示例</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下图按字母序生成三棵</a:t>
            </a:r>
            <a:r>
              <a:rPr lang="en-US" altLang="zh-CN" sz="2400" dirty="0">
                <a:latin typeface="黑体" panose="02010609060101010101" pitchFamily="2" charset="-122"/>
                <a:ea typeface="黑体" panose="02010609060101010101" pitchFamily="2" charset="-122"/>
                <a:cs typeface="+mn-ea"/>
                <a:sym typeface="+mn-ea"/>
              </a:rPr>
              <a:t>BFS</a:t>
            </a:r>
            <a:r>
              <a:rPr lang="zh-CN" altLang="en-US" sz="2400" dirty="0">
                <a:latin typeface="黑体" panose="02010609060101010101" pitchFamily="2" charset="-122"/>
                <a:ea typeface="黑体" panose="02010609060101010101" pitchFamily="2" charset="-122"/>
                <a:cs typeface="+mn-ea"/>
                <a:sym typeface="+mn-ea"/>
              </a:rPr>
              <a:t>生成树，组成一个生成森林</a:t>
            </a:r>
            <a:endParaRPr lang="zh-CN" altLang="en-US" sz="2400" dirty="0">
              <a:latin typeface="黑体" panose="02010609060101010101" pitchFamily="2" charset="-122"/>
              <a:ea typeface="黑体" panose="02010609060101010101" pitchFamily="2" charset="-122"/>
              <a:cs typeface="+mn-ea"/>
            </a:endParaRPr>
          </a:p>
          <a:p>
            <a:pPr marL="609600" lvl="1" indent="0" algn="l" eaLnBrk="1" hangingPunct="1">
              <a:buClrTx/>
              <a:buSzTx/>
              <a:buNone/>
            </a:pPr>
            <a:r>
              <a:rPr lang="zh-CN" altLang="en-US" sz="2400" dirty="0">
                <a:latin typeface="黑体" panose="02010609060101010101" pitchFamily="2" charset="-122"/>
                <a:ea typeface="黑体" panose="02010609060101010101" pitchFamily="2" charset="-122"/>
                <a:cs typeface="+mn-ea"/>
                <a:sym typeface="+mn-ea"/>
              </a:rPr>
              <a:t>A-B-</a:t>
            </a:r>
            <a:r>
              <a:rPr lang="en-US" altLang="zh-CN" sz="2400" dirty="0">
                <a:latin typeface="黑体" panose="02010609060101010101" pitchFamily="2" charset="-122"/>
                <a:ea typeface="黑体" panose="02010609060101010101" pitchFamily="2" charset="-122"/>
                <a:cs typeface="+mn-ea"/>
                <a:sym typeface="+mn-ea"/>
              </a:rPr>
              <a:t>C</a:t>
            </a:r>
            <a:r>
              <a:rPr lang="zh-CN" altLang="en-US" sz="2400" dirty="0">
                <a:latin typeface="黑体" panose="02010609060101010101" pitchFamily="2" charset="-122"/>
                <a:ea typeface="黑体" panose="02010609060101010101" pitchFamily="2" charset="-122"/>
                <a:cs typeface="+mn-ea"/>
                <a:sym typeface="+mn-ea"/>
              </a:rPr>
              <a:t>-</a:t>
            </a:r>
            <a:r>
              <a:rPr lang="en-US" altLang="zh-CN" sz="2400" dirty="0">
                <a:latin typeface="黑体" panose="02010609060101010101" pitchFamily="2" charset="-122"/>
                <a:ea typeface="黑体" panose="02010609060101010101" pitchFamily="2" charset="-122"/>
                <a:cs typeface="+mn-ea"/>
                <a:sym typeface="+mn-ea"/>
              </a:rPr>
              <a:t>D</a:t>
            </a:r>
            <a:r>
              <a:rPr lang="zh-CN" altLang="en-US" sz="2400" dirty="0">
                <a:latin typeface="黑体" panose="02010609060101010101" pitchFamily="2" charset="-122"/>
                <a:ea typeface="黑体" panose="02010609060101010101" pitchFamily="2" charset="-122"/>
                <a:cs typeface="+mn-ea"/>
                <a:sym typeface="+mn-ea"/>
              </a:rPr>
              <a:t>-</a:t>
            </a:r>
            <a:r>
              <a:rPr lang="en-US" altLang="zh-CN" sz="2400" dirty="0">
                <a:latin typeface="黑体" panose="02010609060101010101" pitchFamily="2" charset="-122"/>
                <a:ea typeface="黑体" panose="02010609060101010101" pitchFamily="2" charset="-122"/>
                <a:cs typeface="+mn-ea"/>
                <a:sym typeface="+mn-ea"/>
              </a:rPr>
              <a:t>E</a:t>
            </a:r>
            <a:r>
              <a:rPr lang="zh-CN" altLang="en-US" sz="2400" dirty="0">
                <a:latin typeface="黑体" panose="02010609060101010101" pitchFamily="2" charset="-122"/>
                <a:ea typeface="黑体" panose="02010609060101010101" pitchFamily="2" charset="-122"/>
                <a:cs typeface="+mn-ea"/>
                <a:sym typeface="+mn-ea"/>
              </a:rPr>
              <a:t>-</a:t>
            </a:r>
            <a:r>
              <a:rPr lang="en-US" altLang="zh-CN" sz="2400" dirty="0">
                <a:latin typeface="黑体" panose="02010609060101010101" pitchFamily="2" charset="-122"/>
                <a:ea typeface="黑体" panose="02010609060101010101" pitchFamily="2" charset="-122"/>
                <a:cs typeface="+mn-ea"/>
                <a:sym typeface="+mn-ea"/>
              </a:rPr>
              <a:t>F</a:t>
            </a:r>
            <a:r>
              <a:rPr lang="zh-CN" altLang="en-US" sz="2400" dirty="0">
                <a:latin typeface="黑体" panose="02010609060101010101" pitchFamily="2" charset="-122"/>
                <a:ea typeface="黑体" panose="02010609060101010101" pitchFamily="2" charset="-122"/>
                <a:cs typeface="+mn-ea"/>
                <a:sym typeface="+mn-ea"/>
              </a:rPr>
              <a:t>-</a:t>
            </a:r>
            <a:r>
              <a:rPr lang="en-US" altLang="zh-CN" sz="2400" dirty="0">
                <a:latin typeface="黑体" panose="02010609060101010101" pitchFamily="2" charset="-122"/>
                <a:ea typeface="黑体" panose="02010609060101010101" pitchFamily="2" charset="-122"/>
                <a:cs typeface="+mn-ea"/>
                <a:sym typeface="+mn-ea"/>
              </a:rPr>
              <a:t>G</a:t>
            </a:r>
            <a:endParaRPr lang="zh-CN" altLang="en-US" sz="2400" dirty="0">
              <a:latin typeface="黑体" panose="02010609060101010101" pitchFamily="2" charset="-122"/>
              <a:ea typeface="黑体" panose="02010609060101010101" pitchFamily="2" charset="-122"/>
              <a:cs typeface="+mn-ea"/>
            </a:endParaRPr>
          </a:p>
          <a:p>
            <a:pPr marL="609600" lvl="1" indent="0" algn="l" eaLnBrk="1" hangingPunct="1">
              <a:buClrTx/>
              <a:buSzTx/>
              <a:buNone/>
            </a:pPr>
            <a:r>
              <a:rPr lang="zh-CN" altLang="en-US" sz="2400" dirty="0">
                <a:latin typeface="黑体" panose="02010609060101010101" pitchFamily="2" charset="-122"/>
                <a:ea typeface="黑体" panose="02010609060101010101" pitchFamily="2" charset="-122"/>
                <a:cs typeface="+mn-ea"/>
                <a:sym typeface="+mn-ea"/>
              </a:rPr>
              <a:t>K-L-O</a:t>
            </a:r>
            <a:endParaRPr lang="zh-CN" altLang="en-US" sz="2400" dirty="0">
              <a:latin typeface="黑体" panose="02010609060101010101" pitchFamily="2" charset="-122"/>
              <a:ea typeface="黑体" panose="02010609060101010101" pitchFamily="2" charset="-122"/>
              <a:cs typeface="+mn-ea"/>
            </a:endParaRPr>
          </a:p>
          <a:p>
            <a:pPr marL="609600" lvl="1" indent="0" algn="l" eaLnBrk="1" hangingPunct="1">
              <a:buClrTx/>
              <a:buSzTx/>
              <a:buNone/>
            </a:pPr>
            <a:r>
              <a:rPr lang="zh-CN" altLang="en-US" sz="2400" dirty="0">
                <a:latin typeface="黑体" panose="02010609060101010101" pitchFamily="2" charset="-122"/>
                <a:ea typeface="黑体" panose="02010609060101010101" pitchFamily="2" charset="-122"/>
                <a:cs typeface="+mn-ea"/>
                <a:sym typeface="+mn-ea"/>
              </a:rPr>
              <a:t>M-N</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7.4 图的</a:t>
            </a:r>
            <a:r>
              <a:rPr lang="zh-CN" altLang="en-US">
                <a:latin typeface="楷体" panose="02010609060101010101" charset="-122"/>
                <a:ea typeface="楷体" panose="02010609060101010101" charset="-122"/>
                <a:cs typeface="楷体" panose="02010609060101010101" charset="-122"/>
                <a:sym typeface="+mn-ea"/>
              </a:rPr>
              <a:t>连通</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51" name="组合 50"/>
          <p:cNvGrpSpPr/>
          <p:nvPr/>
        </p:nvGrpSpPr>
        <p:grpSpPr>
          <a:xfrm>
            <a:off x="6816090" y="1916430"/>
            <a:ext cx="4895850" cy="3168650"/>
            <a:chOff x="10734" y="3018"/>
            <a:chExt cx="7710" cy="4990"/>
          </a:xfrm>
        </p:grpSpPr>
        <p:grpSp>
          <p:nvGrpSpPr>
            <p:cNvPr id="49" name="组合 48"/>
            <p:cNvGrpSpPr/>
            <p:nvPr/>
          </p:nvGrpSpPr>
          <p:grpSpPr>
            <a:xfrm>
              <a:off x="10734" y="3018"/>
              <a:ext cx="7710" cy="4990"/>
              <a:chOff x="10734" y="3018"/>
              <a:chExt cx="7710" cy="4990"/>
            </a:xfrm>
          </p:grpSpPr>
          <p:grpSp>
            <p:nvGrpSpPr>
              <p:cNvPr id="33" name="组合 32"/>
              <p:cNvGrpSpPr/>
              <p:nvPr/>
            </p:nvGrpSpPr>
            <p:grpSpPr>
              <a:xfrm>
                <a:off x="10847" y="3378"/>
                <a:ext cx="6789" cy="4158"/>
                <a:chOff x="10314" y="3550"/>
                <a:chExt cx="6789" cy="4158"/>
              </a:xfrm>
            </p:grpSpPr>
            <p:grpSp>
              <p:nvGrpSpPr>
                <p:cNvPr id="30" name="组合 29"/>
                <p:cNvGrpSpPr/>
                <p:nvPr/>
              </p:nvGrpSpPr>
              <p:grpSpPr>
                <a:xfrm>
                  <a:off x="15183" y="6886"/>
                  <a:ext cx="1920" cy="822"/>
                  <a:chOff x="13410" y="7154"/>
                  <a:chExt cx="1920" cy="822"/>
                </a:xfrm>
              </p:grpSpPr>
              <p:sp>
                <p:nvSpPr>
                  <p:cNvPr id="95260" name="Line 9"/>
                  <p:cNvSpPr/>
                  <p:nvPr/>
                </p:nvSpPr>
                <p:spPr>
                  <a:xfrm flipH="1">
                    <a:off x="14090" y="7542"/>
                    <a:ext cx="568" cy="0"/>
                  </a:xfrm>
                  <a:prstGeom prst="line">
                    <a:avLst/>
                  </a:prstGeom>
                  <a:ln w="28575" cap="flat" cmpd="sng">
                    <a:solidFill>
                      <a:schemeClr val="accent2"/>
                    </a:solidFill>
                    <a:prstDash val="solid"/>
                    <a:round/>
                    <a:headEnd type="none" w="med" len="med"/>
                    <a:tailEnd type="none" w="med" len="med"/>
                  </a:ln>
                </p:spPr>
              </p:sp>
              <p:sp>
                <p:nvSpPr>
                  <p:cNvPr id="881698" name="Oval 34" descr="粉色砂纸"/>
                  <p:cNvSpPr>
                    <a:spLocks noChangeArrowheads="1"/>
                  </p:cNvSpPr>
                  <p:nvPr/>
                </p:nvSpPr>
                <p:spPr bwMode="auto">
                  <a:xfrm>
                    <a:off x="14610" y="7197"/>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5264" name="Text Box 35"/>
                  <p:cNvSpPr txBox="1"/>
                  <p:nvPr/>
                </p:nvSpPr>
                <p:spPr>
                  <a:xfrm>
                    <a:off x="14635" y="7154"/>
                    <a:ext cx="693" cy="823"/>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N</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881700" name="Oval 36" descr="粉色砂纸"/>
                  <p:cNvSpPr>
                    <a:spLocks noChangeArrowheads="1"/>
                  </p:cNvSpPr>
                  <p:nvPr/>
                </p:nvSpPr>
                <p:spPr bwMode="auto">
                  <a:xfrm>
                    <a:off x="13410" y="7197"/>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5266" name="Text Box 37"/>
                  <p:cNvSpPr txBox="1"/>
                  <p:nvPr/>
                </p:nvSpPr>
                <p:spPr>
                  <a:xfrm>
                    <a:off x="13410" y="7154"/>
                    <a:ext cx="755" cy="823"/>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M</a:t>
                    </a:r>
                    <a:endParaRPr lang="en-US" altLang="zh-CN" sz="2400" dirty="0">
                      <a:solidFill>
                        <a:schemeClr val="hlink"/>
                      </a:solidFill>
                      <a:latin typeface="Times New Roman" panose="02020603050405020304" pitchFamily="18" charset="0"/>
                      <a:ea typeface="宋体" panose="02010600030101010101" pitchFamily="2" charset="-122"/>
                    </a:endParaRPr>
                  </a:p>
                </p:txBody>
              </p:sp>
            </p:grpSp>
            <p:grpSp>
              <p:nvGrpSpPr>
                <p:cNvPr id="29" name="组合 28"/>
                <p:cNvGrpSpPr/>
                <p:nvPr/>
              </p:nvGrpSpPr>
              <p:grpSpPr>
                <a:xfrm>
                  <a:off x="10314" y="3914"/>
                  <a:ext cx="4320" cy="3364"/>
                  <a:chOff x="12390" y="2565"/>
                  <a:chExt cx="4320" cy="3364"/>
                </a:xfrm>
              </p:grpSpPr>
              <p:grpSp>
                <p:nvGrpSpPr>
                  <p:cNvPr id="6" name="组合 5"/>
                  <p:cNvGrpSpPr/>
                  <p:nvPr/>
                </p:nvGrpSpPr>
                <p:grpSpPr>
                  <a:xfrm>
                    <a:off x="12390" y="2565"/>
                    <a:ext cx="4320" cy="3364"/>
                    <a:chOff x="4158" y="5853"/>
                    <a:chExt cx="4320" cy="3364"/>
                  </a:xfrm>
                </p:grpSpPr>
                <p:sp>
                  <p:nvSpPr>
                    <p:cNvPr id="7" name="Line 10"/>
                    <p:cNvSpPr/>
                    <p:nvPr/>
                  </p:nvSpPr>
                  <p:spPr>
                    <a:xfrm flipH="1">
                      <a:off x="5598" y="7533"/>
                      <a:ext cx="2400" cy="1080"/>
                    </a:xfrm>
                    <a:prstGeom prst="line">
                      <a:avLst/>
                    </a:prstGeom>
                    <a:ln w="28575" cap="flat" cmpd="sng">
                      <a:solidFill>
                        <a:schemeClr val="accent2"/>
                      </a:solidFill>
                      <a:prstDash val="solid"/>
                      <a:round/>
                      <a:headEnd type="none" w="med" len="med"/>
                      <a:tailEnd type="none" w="med" len="med"/>
                    </a:ln>
                  </p:spPr>
                </p:sp>
                <p:sp>
                  <p:nvSpPr>
                    <p:cNvPr id="8" name="Line 12"/>
                    <p:cNvSpPr/>
                    <p:nvPr/>
                  </p:nvSpPr>
                  <p:spPr>
                    <a:xfrm>
                      <a:off x="4638" y="7653"/>
                      <a:ext cx="600" cy="840"/>
                    </a:xfrm>
                    <a:prstGeom prst="line">
                      <a:avLst/>
                    </a:prstGeom>
                    <a:ln w="28575" cap="flat" cmpd="sng">
                      <a:solidFill>
                        <a:schemeClr val="accent2"/>
                      </a:solidFill>
                      <a:prstDash val="solid"/>
                      <a:round/>
                      <a:headEnd type="none" w="med" len="med"/>
                      <a:tailEnd type="none" w="med" len="med"/>
                    </a:ln>
                  </p:spPr>
                </p:sp>
                <p:sp>
                  <p:nvSpPr>
                    <p:cNvPr id="9" name="Line 13"/>
                    <p:cNvSpPr/>
                    <p:nvPr/>
                  </p:nvSpPr>
                  <p:spPr>
                    <a:xfrm flipH="1">
                      <a:off x="7398" y="7773"/>
                      <a:ext cx="600" cy="720"/>
                    </a:xfrm>
                    <a:prstGeom prst="line">
                      <a:avLst/>
                    </a:prstGeom>
                    <a:ln w="28575" cap="flat" cmpd="sng">
                      <a:solidFill>
                        <a:schemeClr val="accent2"/>
                      </a:solidFill>
                      <a:prstDash val="solid"/>
                      <a:round/>
                      <a:headEnd type="none" w="med" len="med"/>
                      <a:tailEnd type="none" w="med" len="med"/>
                    </a:ln>
                  </p:spPr>
                </p:sp>
                <p:sp>
                  <p:nvSpPr>
                    <p:cNvPr id="10" name="Line 15"/>
                    <p:cNvSpPr/>
                    <p:nvPr/>
                  </p:nvSpPr>
                  <p:spPr>
                    <a:xfrm>
                      <a:off x="6438" y="6573"/>
                      <a:ext cx="360" cy="600"/>
                    </a:xfrm>
                    <a:prstGeom prst="line">
                      <a:avLst/>
                    </a:prstGeom>
                    <a:ln w="28575" cap="flat" cmpd="sng">
                      <a:solidFill>
                        <a:schemeClr val="accent2"/>
                      </a:solidFill>
                      <a:prstDash val="solid"/>
                      <a:round/>
                      <a:headEnd type="none" w="med" len="med"/>
                      <a:tailEnd type="none" w="med" len="med"/>
                    </a:ln>
                  </p:spPr>
                </p:sp>
                <p:sp>
                  <p:nvSpPr>
                    <p:cNvPr id="11" name="Line 16"/>
                    <p:cNvSpPr/>
                    <p:nvPr/>
                  </p:nvSpPr>
                  <p:spPr>
                    <a:xfrm flipH="1">
                      <a:off x="5838" y="6573"/>
                      <a:ext cx="360" cy="600"/>
                    </a:xfrm>
                    <a:prstGeom prst="line">
                      <a:avLst/>
                    </a:prstGeom>
                    <a:ln w="28575" cap="flat" cmpd="sng">
                      <a:solidFill>
                        <a:schemeClr val="accent2"/>
                      </a:solidFill>
                      <a:prstDash val="solid"/>
                      <a:round/>
                      <a:headEnd type="none" w="med" len="med"/>
                      <a:tailEnd type="none" w="med" len="med"/>
                    </a:ln>
                  </p:spPr>
                </p:sp>
                <p:sp>
                  <p:nvSpPr>
                    <p:cNvPr id="12" name="Line 17"/>
                    <p:cNvSpPr/>
                    <p:nvPr/>
                  </p:nvSpPr>
                  <p:spPr>
                    <a:xfrm flipH="1">
                      <a:off x="4758" y="6453"/>
                      <a:ext cx="1320" cy="840"/>
                    </a:xfrm>
                    <a:prstGeom prst="line">
                      <a:avLst/>
                    </a:prstGeom>
                    <a:ln w="28575" cap="flat" cmpd="sng">
                      <a:solidFill>
                        <a:schemeClr val="accent2"/>
                      </a:solidFill>
                      <a:prstDash val="solid"/>
                      <a:round/>
                      <a:headEnd type="none" w="med" len="med"/>
                      <a:tailEnd type="none" w="med" len="med"/>
                    </a:ln>
                  </p:spPr>
                </p:sp>
                <p:sp>
                  <p:nvSpPr>
                    <p:cNvPr id="13" name="Oval 18" descr="粉色砂纸"/>
                    <p:cNvSpPr>
                      <a:spLocks noChangeArrowheads="1"/>
                    </p:cNvSpPr>
                    <p:nvPr/>
                  </p:nvSpPr>
                  <p:spPr bwMode="auto">
                    <a:xfrm>
                      <a:off x="5958" y="5895"/>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 name="Oval 19" descr="粉色砂纸"/>
                    <p:cNvSpPr>
                      <a:spLocks noChangeArrowheads="1"/>
                    </p:cNvSpPr>
                    <p:nvPr/>
                  </p:nvSpPr>
                  <p:spPr bwMode="auto">
                    <a:xfrm>
                      <a:off x="7758" y="7098"/>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 name="Oval 20" descr="粉色砂纸"/>
                    <p:cNvSpPr>
                      <a:spLocks noChangeArrowheads="1"/>
                    </p:cNvSpPr>
                    <p:nvPr/>
                  </p:nvSpPr>
                  <p:spPr bwMode="auto">
                    <a:xfrm>
                      <a:off x="6558" y="7118"/>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 name="Oval 21" descr="粉色砂纸"/>
                    <p:cNvSpPr>
                      <a:spLocks noChangeArrowheads="1"/>
                    </p:cNvSpPr>
                    <p:nvPr/>
                  </p:nvSpPr>
                  <p:spPr bwMode="auto">
                    <a:xfrm>
                      <a:off x="4998" y="8395"/>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 name="Oval 22" descr="粉色砂纸"/>
                    <p:cNvSpPr>
                      <a:spLocks noChangeArrowheads="1"/>
                    </p:cNvSpPr>
                    <p:nvPr/>
                  </p:nvSpPr>
                  <p:spPr bwMode="auto">
                    <a:xfrm>
                      <a:off x="5358" y="7075"/>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 name="Text Box 23"/>
                    <p:cNvSpPr txBox="1"/>
                    <p:nvPr/>
                  </p:nvSpPr>
                  <p:spPr>
                    <a:xfrm>
                      <a:off x="5983" y="5853"/>
                      <a:ext cx="692"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A</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19" name="Text Box 24"/>
                    <p:cNvSpPr txBox="1"/>
                    <p:nvPr/>
                  </p:nvSpPr>
                  <p:spPr>
                    <a:xfrm>
                      <a:off x="5383" y="7075"/>
                      <a:ext cx="692"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C</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20" name="Text Box 25"/>
                    <p:cNvSpPr txBox="1"/>
                    <p:nvPr/>
                  </p:nvSpPr>
                  <p:spPr>
                    <a:xfrm>
                      <a:off x="6583" y="7075"/>
                      <a:ext cx="692"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D</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21" name="Text Box 26"/>
                    <p:cNvSpPr txBox="1"/>
                    <p:nvPr/>
                  </p:nvSpPr>
                  <p:spPr>
                    <a:xfrm>
                      <a:off x="7815" y="7098"/>
                      <a:ext cx="662"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E</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22" name="Oval 27" descr="粉色砂纸"/>
                    <p:cNvSpPr>
                      <a:spLocks noChangeArrowheads="1"/>
                    </p:cNvSpPr>
                    <p:nvPr/>
                  </p:nvSpPr>
                  <p:spPr bwMode="auto">
                    <a:xfrm>
                      <a:off x="4158" y="7075"/>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3" name="Text Box 29"/>
                    <p:cNvSpPr txBox="1"/>
                    <p:nvPr/>
                  </p:nvSpPr>
                  <p:spPr>
                    <a:xfrm>
                      <a:off x="4183" y="7075"/>
                      <a:ext cx="692"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B</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24" name="Text Box 30"/>
                    <p:cNvSpPr txBox="1"/>
                    <p:nvPr/>
                  </p:nvSpPr>
                  <p:spPr>
                    <a:xfrm>
                      <a:off x="5085" y="8395"/>
                      <a:ext cx="630"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F</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25" name="Oval 32" descr="粉色砂纸"/>
                    <p:cNvSpPr>
                      <a:spLocks noChangeArrowheads="1"/>
                    </p:cNvSpPr>
                    <p:nvPr/>
                  </p:nvSpPr>
                  <p:spPr bwMode="auto">
                    <a:xfrm>
                      <a:off x="6888" y="8395"/>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6" name="Text Box 33"/>
                    <p:cNvSpPr txBox="1"/>
                    <p:nvPr/>
                  </p:nvSpPr>
                  <p:spPr>
                    <a:xfrm>
                      <a:off x="6913" y="8395"/>
                      <a:ext cx="724"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G</a:t>
                      </a:r>
                      <a:endParaRPr lang="en-US" altLang="zh-CN" sz="2400" dirty="0">
                        <a:solidFill>
                          <a:schemeClr val="hlink"/>
                        </a:solidFill>
                        <a:latin typeface="Times New Roman" panose="02020603050405020304" pitchFamily="18" charset="0"/>
                        <a:ea typeface="宋体" panose="02010600030101010101" pitchFamily="2" charset="-122"/>
                      </a:endParaRPr>
                    </a:p>
                  </p:txBody>
                </p:sp>
              </p:grpSp>
              <p:sp>
                <p:nvSpPr>
                  <p:cNvPr id="28" name="Line 10"/>
                  <p:cNvSpPr/>
                  <p:nvPr/>
                </p:nvSpPr>
                <p:spPr>
                  <a:xfrm flipV="1">
                    <a:off x="13970" y="5487"/>
                    <a:ext cx="1244" cy="10"/>
                  </a:xfrm>
                  <a:prstGeom prst="line">
                    <a:avLst/>
                  </a:prstGeom>
                  <a:ln w="28575" cap="flat" cmpd="sng">
                    <a:solidFill>
                      <a:schemeClr val="accent2"/>
                    </a:solidFill>
                    <a:prstDash val="solid"/>
                    <a:round/>
                    <a:headEnd type="none" w="med" len="med"/>
                    <a:tailEnd type="none" w="med" len="med"/>
                  </a:ln>
                </p:spPr>
              </p:sp>
            </p:grpSp>
            <p:grpSp>
              <p:nvGrpSpPr>
                <p:cNvPr id="32" name="组合 31"/>
                <p:cNvGrpSpPr/>
                <p:nvPr/>
              </p:nvGrpSpPr>
              <p:grpSpPr>
                <a:xfrm>
                  <a:off x="14873" y="3550"/>
                  <a:ext cx="1920" cy="3317"/>
                  <a:chOff x="12180" y="5954"/>
                  <a:chExt cx="1920" cy="3317"/>
                </a:xfrm>
              </p:grpSpPr>
              <p:sp>
                <p:nvSpPr>
                  <p:cNvPr id="95258" name="Line 5"/>
                  <p:cNvSpPr/>
                  <p:nvPr/>
                </p:nvSpPr>
                <p:spPr>
                  <a:xfrm>
                    <a:off x="12570" y="7874"/>
                    <a:ext cx="600" cy="840"/>
                  </a:xfrm>
                  <a:prstGeom prst="line">
                    <a:avLst/>
                  </a:prstGeom>
                  <a:ln w="28575" cap="flat" cmpd="sng">
                    <a:solidFill>
                      <a:schemeClr val="accent2"/>
                    </a:solidFill>
                    <a:prstDash val="solid"/>
                    <a:round/>
                    <a:headEnd type="none" w="med" len="med"/>
                    <a:tailEnd type="none" w="med" len="med"/>
                  </a:ln>
                </p:spPr>
              </p:sp>
              <p:sp>
                <p:nvSpPr>
                  <p:cNvPr id="95259" name="Line 8"/>
                  <p:cNvSpPr/>
                  <p:nvPr/>
                </p:nvSpPr>
                <p:spPr>
                  <a:xfrm flipH="1">
                    <a:off x="12690" y="6554"/>
                    <a:ext cx="960" cy="840"/>
                  </a:xfrm>
                  <a:prstGeom prst="line">
                    <a:avLst/>
                  </a:prstGeom>
                  <a:ln w="28575" cap="flat" cmpd="sng">
                    <a:solidFill>
                      <a:schemeClr val="accent2"/>
                    </a:solidFill>
                    <a:prstDash val="solid"/>
                    <a:round/>
                    <a:headEnd type="none" w="med" len="med"/>
                    <a:tailEnd type="none" w="med" len="med"/>
                  </a:ln>
                </p:spPr>
              </p:sp>
              <p:sp>
                <p:nvSpPr>
                  <p:cNvPr id="881692" name="Oval 28" descr="粉色砂纸"/>
                  <p:cNvSpPr>
                    <a:spLocks noChangeArrowheads="1"/>
                  </p:cNvSpPr>
                  <p:nvPr/>
                </p:nvSpPr>
                <p:spPr bwMode="auto">
                  <a:xfrm>
                    <a:off x="12810" y="8497"/>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5262" name="Text Box 31"/>
                  <p:cNvSpPr txBox="1"/>
                  <p:nvPr/>
                </p:nvSpPr>
                <p:spPr>
                  <a:xfrm>
                    <a:off x="12842" y="8449"/>
                    <a:ext cx="725" cy="823"/>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O</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881702" name="Oval 38" descr="粉色砂纸"/>
                  <p:cNvSpPr>
                    <a:spLocks noChangeArrowheads="1"/>
                  </p:cNvSpPr>
                  <p:nvPr/>
                </p:nvSpPr>
                <p:spPr bwMode="auto">
                  <a:xfrm>
                    <a:off x="12180" y="7197"/>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5268" name="Text Box 39"/>
                  <p:cNvSpPr txBox="1"/>
                  <p:nvPr/>
                </p:nvSpPr>
                <p:spPr>
                  <a:xfrm>
                    <a:off x="12260" y="7134"/>
                    <a:ext cx="630" cy="823"/>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L</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881704" name="Oval 40" descr="粉色砂纸"/>
                  <p:cNvSpPr>
                    <a:spLocks noChangeArrowheads="1"/>
                  </p:cNvSpPr>
                  <p:nvPr/>
                </p:nvSpPr>
                <p:spPr bwMode="auto">
                  <a:xfrm>
                    <a:off x="13380" y="5997"/>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5270" name="Text Box 41"/>
                  <p:cNvSpPr txBox="1"/>
                  <p:nvPr/>
                </p:nvSpPr>
                <p:spPr>
                  <a:xfrm>
                    <a:off x="13405" y="5954"/>
                    <a:ext cx="693" cy="823"/>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K</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31" name="Line 8"/>
                  <p:cNvSpPr/>
                  <p:nvPr/>
                </p:nvSpPr>
                <p:spPr>
                  <a:xfrm flipH="1">
                    <a:off x="13298" y="6761"/>
                    <a:ext cx="407" cy="1876"/>
                  </a:xfrm>
                  <a:prstGeom prst="line">
                    <a:avLst/>
                  </a:prstGeom>
                  <a:ln w="28575" cap="flat" cmpd="sng">
                    <a:solidFill>
                      <a:schemeClr val="accent2"/>
                    </a:solidFill>
                    <a:prstDash val="solid"/>
                    <a:round/>
                    <a:headEnd type="none" w="med" len="med"/>
                    <a:tailEnd type="none" w="med" len="med"/>
                  </a:ln>
                </p:spPr>
              </p:sp>
            </p:grpSp>
          </p:grpSp>
          <p:sp>
            <p:nvSpPr>
              <p:cNvPr id="48" name="圆角矩形 47"/>
              <p:cNvSpPr/>
              <p:nvPr/>
            </p:nvSpPr>
            <p:spPr>
              <a:xfrm>
                <a:off x="10734" y="3018"/>
                <a:ext cx="7711" cy="4990"/>
              </a:xfrm>
              <a:prstGeom prst="roundRect">
                <a:avLst/>
              </a:prstGeom>
              <a:noFill/>
              <a:ln w="12700" cap="flat" cmpd="sng" algn="ctr">
                <a:solidFill>
                  <a:schemeClr val="accent1">
                    <a:shade val="50000"/>
                  </a:schemeClr>
                </a:solidFill>
                <a:prstDash val="sysDot"/>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sp>
          <p:nvSpPr>
            <p:cNvPr id="50" name="Line 17"/>
            <p:cNvSpPr/>
            <p:nvPr/>
          </p:nvSpPr>
          <p:spPr>
            <a:xfrm flipH="1" flipV="1">
              <a:off x="13247" y="4299"/>
              <a:ext cx="1499" cy="708"/>
            </a:xfrm>
            <a:prstGeom prst="line">
              <a:avLst/>
            </a:prstGeom>
            <a:ln w="28575" cap="flat" cmpd="sng">
              <a:solidFill>
                <a:schemeClr val="accent2"/>
              </a:solidFill>
              <a:prstDash val="solid"/>
              <a:round/>
              <a:headEnd type="none" w="med" len="med"/>
              <a:tailEnd type="none" w="med" len="med"/>
            </a:ln>
          </p:spPr>
        </p:sp>
      </p:grpSp>
      <p:grpSp>
        <p:nvGrpSpPr>
          <p:cNvPr id="52" name="组合 51"/>
          <p:cNvGrpSpPr/>
          <p:nvPr/>
        </p:nvGrpSpPr>
        <p:grpSpPr>
          <a:xfrm>
            <a:off x="538163" y="3398838"/>
            <a:ext cx="2743200" cy="2104067"/>
            <a:chOff x="4923" y="5743"/>
            <a:chExt cx="4320" cy="3313"/>
          </a:xfrm>
        </p:grpSpPr>
        <p:sp>
          <p:nvSpPr>
            <p:cNvPr id="96266" name="Line 50"/>
            <p:cNvSpPr/>
            <p:nvPr/>
          </p:nvSpPr>
          <p:spPr>
            <a:xfrm>
              <a:off x="5260" y="7558"/>
              <a:ext cx="53" cy="825"/>
            </a:xfrm>
            <a:prstGeom prst="line">
              <a:avLst/>
            </a:prstGeom>
            <a:ln w="28575" cap="flat" cmpd="sng">
              <a:solidFill>
                <a:schemeClr val="accent2"/>
              </a:solidFill>
              <a:prstDash val="solid"/>
              <a:round/>
              <a:headEnd type="none" w="med" len="med"/>
              <a:tailEnd type="none" w="med" len="med"/>
            </a:ln>
          </p:spPr>
        </p:sp>
        <p:sp>
          <p:nvSpPr>
            <p:cNvPr id="96267" name="Line 51"/>
            <p:cNvSpPr/>
            <p:nvPr/>
          </p:nvSpPr>
          <p:spPr>
            <a:xfrm flipH="1">
              <a:off x="8729" y="7663"/>
              <a:ext cx="34" cy="720"/>
            </a:xfrm>
            <a:prstGeom prst="line">
              <a:avLst/>
            </a:prstGeom>
            <a:ln w="28575" cap="flat" cmpd="sng">
              <a:solidFill>
                <a:schemeClr val="accent2"/>
              </a:solidFill>
              <a:prstDash val="solid"/>
              <a:round/>
              <a:headEnd type="none" w="med" len="med"/>
              <a:tailEnd type="none" w="med" len="med"/>
            </a:ln>
          </p:spPr>
        </p:sp>
        <p:sp>
          <p:nvSpPr>
            <p:cNvPr id="96268" name="Line 52"/>
            <p:cNvSpPr/>
            <p:nvPr/>
          </p:nvSpPr>
          <p:spPr>
            <a:xfrm>
              <a:off x="7323" y="6343"/>
              <a:ext cx="1440" cy="840"/>
            </a:xfrm>
            <a:prstGeom prst="line">
              <a:avLst/>
            </a:prstGeom>
            <a:ln w="28575" cap="flat" cmpd="sng">
              <a:solidFill>
                <a:schemeClr val="accent2"/>
              </a:solidFill>
              <a:prstDash val="solid"/>
              <a:round/>
              <a:headEnd type="none" w="med" len="med"/>
              <a:tailEnd type="none" w="med" len="med"/>
            </a:ln>
          </p:spPr>
        </p:sp>
        <p:sp>
          <p:nvSpPr>
            <p:cNvPr id="96269" name="Line 53"/>
            <p:cNvSpPr/>
            <p:nvPr/>
          </p:nvSpPr>
          <p:spPr>
            <a:xfrm>
              <a:off x="7203" y="6463"/>
              <a:ext cx="360" cy="600"/>
            </a:xfrm>
            <a:prstGeom prst="line">
              <a:avLst/>
            </a:prstGeom>
            <a:ln w="28575" cap="flat" cmpd="sng">
              <a:solidFill>
                <a:schemeClr val="accent2"/>
              </a:solidFill>
              <a:prstDash val="solid"/>
              <a:round/>
              <a:headEnd type="none" w="med" len="med"/>
              <a:tailEnd type="none" w="med" len="med"/>
            </a:ln>
          </p:spPr>
        </p:sp>
        <p:sp>
          <p:nvSpPr>
            <p:cNvPr id="96270" name="Line 54"/>
            <p:cNvSpPr/>
            <p:nvPr/>
          </p:nvSpPr>
          <p:spPr>
            <a:xfrm flipH="1">
              <a:off x="6603" y="6463"/>
              <a:ext cx="360" cy="600"/>
            </a:xfrm>
            <a:prstGeom prst="line">
              <a:avLst/>
            </a:prstGeom>
            <a:ln w="28575" cap="flat" cmpd="sng">
              <a:solidFill>
                <a:schemeClr val="accent2"/>
              </a:solidFill>
              <a:prstDash val="solid"/>
              <a:round/>
              <a:headEnd type="none" w="med" len="med"/>
              <a:tailEnd type="none" w="med" len="med"/>
            </a:ln>
          </p:spPr>
        </p:sp>
        <p:sp>
          <p:nvSpPr>
            <p:cNvPr id="96271" name="Line 55"/>
            <p:cNvSpPr/>
            <p:nvPr/>
          </p:nvSpPr>
          <p:spPr>
            <a:xfrm flipH="1">
              <a:off x="5523" y="6343"/>
              <a:ext cx="1320" cy="840"/>
            </a:xfrm>
            <a:prstGeom prst="line">
              <a:avLst/>
            </a:prstGeom>
            <a:ln w="28575" cap="flat" cmpd="sng">
              <a:solidFill>
                <a:schemeClr val="accent2"/>
              </a:solidFill>
              <a:prstDash val="solid"/>
              <a:round/>
              <a:headEnd type="none" w="med" len="med"/>
              <a:tailEnd type="none" w="med" len="med"/>
            </a:ln>
          </p:spPr>
        </p:sp>
        <p:sp>
          <p:nvSpPr>
            <p:cNvPr id="884792" name="Oval 56" descr="粉色砂纸"/>
            <p:cNvSpPr>
              <a:spLocks noChangeArrowheads="1"/>
            </p:cNvSpPr>
            <p:nvPr/>
          </p:nvSpPr>
          <p:spPr bwMode="auto">
            <a:xfrm>
              <a:off x="6723" y="5785"/>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84793" name="Oval 57" descr="粉色砂纸"/>
            <p:cNvSpPr>
              <a:spLocks noChangeArrowheads="1"/>
            </p:cNvSpPr>
            <p:nvPr/>
          </p:nvSpPr>
          <p:spPr bwMode="auto">
            <a:xfrm>
              <a:off x="8523" y="6988"/>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84794" name="Oval 58" descr="粉色砂纸"/>
            <p:cNvSpPr>
              <a:spLocks noChangeArrowheads="1"/>
            </p:cNvSpPr>
            <p:nvPr/>
          </p:nvSpPr>
          <p:spPr bwMode="auto">
            <a:xfrm>
              <a:off x="7323" y="7008"/>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84795" name="Oval 59" descr="粉色砂纸"/>
            <p:cNvSpPr>
              <a:spLocks noChangeArrowheads="1"/>
            </p:cNvSpPr>
            <p:nvPr/>
          </p:nvSpPr>
          <p:spPr bwMode="auto">
            <a:xfrm>
              <a:off x="4965" y="8234"/>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84796" name="Oval 60" descr="粉色砂纸"/>
            <p:cNvSpPr>
              <a:spLocks noChangeArrowheads="1"/>
            </p:cNvSpPr>
            <p:nvPr/>
          </p:nvSpPr>
          <p:spPr bwMode="auto">
            <a:xfrm>
              <a:off x="6123" y="6965"/>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6277" name="Text Box 61"/>
            <p:cNvSpPr txBox="1"/>
            <p:nvPr/>
          </p:nvSpPr>
          <p:spPr>
            <a:xfrm>
              <a:off x="6748" y="5743"/>
              <a:ext cx="692"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A</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96278" name="Text Box 62"/>
            <p:cNvSpPr txBox="1"/>
            <p:nvPr/>
          </p:nvSpPr>
          <p:spPr>
            <a:xfrm>
              <a:off x="6148" y="6965"/>
              <a:ext cx="692"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C</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96279" name="Text Box 63"/>
            <p:cNvSpPr txBox="1"/>
            <p:nvPr/>
          </p:nvSpPr>
          <p:spPr>
            <a:xfrm>
              <a:off x="7348" y="6965"/>
              <a:ext cx="692"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D</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96280" name="Text Box 64"/>
            <p:cNvSpPr txBox="1"/>
            <p:nvPr/>
          </p:nvSpPr>
          <p:spPr>
            <a:xfrm>
              <a:off x="8580" y="6988"/>
              <a:ext cx="662"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E</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884801" name="Oval 65" descr="粉色砂纸"/>
            <p:cNvSpPr>
              <a:spLocks noChangeArrowheads="1"/>
            </p:cNvSpPr>
            <p:nvPr/>
          </p:nvSpPr>
          <p:spPr bwMode="auto">
            <a:xfrm>
              <a:off x="4923" y="6965"/>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6283" name="Text Box 67"/>
            <p:cNvSpPr txBox="1"/>
            <p:nvPr/>
          </p:nvSpPr>
          <p:spPr>
            <a:xfrm>
              <a:off x="4948" y="6965"/>
              <a:ext cx="692"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B</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96284" name="Text Box 68"/>
            <p:cNvSpPr txBox="1"/>
            <p:nvPr/>
          </p:nvSpPr>
          <p:spPr>
            <a:xfrm>
              <a:off x="5010" y="8234"/>
              <a:ext cx="630"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F</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884806" name="Oval 70" descr="粉色砂纸"/>
            <p:cNvSpPr>
              <a:spLocks noChangeArrowheads="1"/>
            </p:cNvSpPr>
            <p:nvPr/>
          </p:nvSpPr>
          <p:spPr bwMode="auto">
            <a:xfrm>
              <a:off x="8459" y="8285"/>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6287" name="Text Box 71"/>
            <p:cNvSpPr txBox="1"/>
            <p:nvPr/>
          </p:nvSpPr>
          <p:spPr>
            <a:xfrm>
              <a:off x="8459" y="8234"/>
              <a:ext cx="724" cy="822"/>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G</a:t>
              </a:r>
              <a:endParaRPr lang="en-US" altLang="zh-CN" sz="2400" dirty="0">
                <a:solidFill>
                  <a:schemeClr val="hlink"/>
                </a:solidFill>
                <a:latin typeface="Times New Roman" panose="02020603050405020304" pitchFamily="18" charset="0"/>
                <a:ea typeface="宋体" panose="02010600030101010101" pitchFamily="2" charset="-122"/>
              </a:endParaRPr>
            </a:p>
          </p:txBody>
        </p:sp>
      </p:grpSp>
      <p:grpSp>
        <p:nvGrpSpPr>
          <p:cNvPr id="53" name="组合 52"/>
          <p:cNvGrpSpPr/>
          <p:nvPr/>
        </p:nvGrpSpPr>
        <p:grpSpPr>
          <a:xfrm>
            <a:off x="4943475" y="3340735"/>
            <a:ext cx="535305" cy="1404620"/>
            <a:chOff x="7701" y="5306"/>
            <a:chExt cx="843" cy="2212"/>
          </a:xfrm>
        </p:grpSpPr>
        <p:sp>
          <p:nvSpPr>
            <p:cNvPr id="54" name="Line 9"/>
            <p:cNvSpPr/>
            <p:nvPr/>
          </p:nvSpPr>
          <p:spPr>
            <a:xfrm flipH="1">
              <a:off x="8096" y="6062"/>
              <a:ext cx="11" cy="682"/>
            </a:xfrm>
            <a:prstGeom prst="line">
              <a:avLst/>
            </a:prstGeom>
            <a:ln w="28575" cap="flat" cmpd="sng">
              <a:solidFill>
                <a:schemeClr val="accent2"/>
              </a:solidFill>
              <a:prstDash val="solid"/>
              <a:round/>
              <a:headEnd type="none" w="med" len="med"/>
              <a:tailEnd type="none" w="med" len="med"/>
            </a:ln>
          </p:spPr>
        </p:sp>
        <p:sp>
          <p:nvSpPr>
            <p:cNvPr id="55" name="Oval 34" descr="粉色砂纸"/>
            <p:cNvSpPr>
              <a:spLocks noChangeArrowheads="1"/>
            </p:cNvSpPr>
            <p:nvPr/>
          </p:nvSpPr>
          <p:spPr bwMode="auto">
            <a:xfrm>
              <a:off x="7824" y="6714"/>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 name="Text Box 35"/>
            <p:cNvSpPr txBox="1"/>
            <p:nvPr/>
          </p:nvSpPr>
          <p:spPr>
            <a:xfrm>
              <a:off x="7824" y="6696"/>
              <a:ext cx="693" cy="823"/>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N</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57" name="Oval 36" descr="粉色砂纸"/>
            <p:cNvSpPr>
              <a:spLocks noChangeArrowheads="1"/>
            </p:cNvSpPr>
            <p:nvPr/>
          </p:nvSpPr>
          <p:spPr bwMode="auto">
            <a:xfrm>
              <a:off x="7718" y="5381"/>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8" name="Text Box 37"/>
            <p:cNvSpPr txBox="1"/>
            <p:nvPr/>
          </p:nvSpPr>
          <p:spPr>
            <a:xfrm>
              <a:off x="7701" y="5306"/>
              <a:ext cx="755" cy="823"/>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M</a:t>
              </a:r>
              <a:endParaRPr lang="en-US" altLang="zh-CN" sz="2400" dirty="0">
                <a:solidFill>
                  <a:schemeClr val="hlink"/>
                </a:solidFill>
                <a:latin typeface="Times New Roman" panose="02020603050405020304" pitchFamily="18" charset="0"/>
                <a:ea typeface="宋体" panose="02010600030101010101" pitchFamily="2" charset="-122"/>
              </a:endParaRPr>
            </a:p>
          </p:txBody>
        </p:sp>
      </p:grpSp>
      <p:grpSp>
        <p:nvGrpSpPr>
          <p:cNvPr id="59" name="组合 58"/>
          <p:cNvGrpSpPr/>
          <p:nvPr/>
        </p:nvGrpSpPr>
        <p:grpSpPr>
          <a:xfrm>
            <a:off x="3503930" y="3359150"/>
            <a:ext cx="1177290" cy="1435735"/>
            <a:chOff x="6425" y="5173"/>
            <a:chExt cx="1854" cy="2261"/>
          </a:xfrm>
        </p:grpSpPr>
        <p:sp>
          <p:nvSpPr>
            <p:cNvPr id="60" name="Line 5"/>
            <p:cNvSpPr/>
            <p:nvPr/>
          </p:nvSpPr>
          <p:spPr>
            <a:xfrm>
              <a:off x="7409" y="5851"/>
              <a:ext cx="464" cy="759"/>
            </a:xfrm>
            <a:prstGeom prst="line">
              <a:avLst/>
            </a:prstGeom>
            <a:ln w="28575" cap="flat" cmpd="sng">
              <a:solidFill>
                <a:schemeClr val="accent2"/>
              </a:solidFill>
              <a:prstDash val="solid"/>
              <a:round/>
              <a:headEnd type="none" w="med" len="med"/>
              <a:tailEnd type="none" w="med" len="med"/>
            </a:ln>
          </p:spPr>
        </p:sp>
        <p:sp>
          <p:nvSpPr>
            <p:cNvPr id="61" name="Line 8"/>
            <p:cNvSpPr/>
            <p:nvPr/>
          </p:nvSpPr>
          <p:spPr>
            <a:xfrm flipH="1">
              <a:off x="6824" y="5799"/>
              <a:ext cx="321" cy="865"/>
            </a:xfrm>
            <a:prstGeom prst="line">
              <a:avLst/>
            </a:prstGeom>
            <a:ln w="28575" cap="flat" cmpd="sng">
              <a:solidFill>
                <a:schemeClr val="accent2"/>
              </a:solidFill>
              <a:prstDash val="solid"/>
              <a:round/>
              <a:headEnd type="none" w="med" len="med"/>
              <a:tailEnd type="none" w="med" len="med"/>
            </a:ln>
          </p:spPr>
        </p:sp>
        <p:sp>
          <p:nvSpPr>
            <p:cNvPr id="62" name="Oval 28" descr="粉色砂纸"/>
            <p:cNvSpPr>
              <a:spLocks noChangeArrowheads="1"/>
            </p:cNvSpPr>
            <p:nvPr/>
          </p:nvSpPr>
          <p:spPr bwMode="auto">
            <a:xfrm>
              <a:off x="7554" y="6643"/>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3" name="Text Box 31"/>
            <p:cNvSpPr txBox="1"/>
            <p:nvPr/>
          </p:nvSpPr>
          <p:spPr>
            <a:xfrm>
              <a:off x="7554" y="6611"/>
              <a:ext cx="725" cy="823"/>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O</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64" name="Oval 38" descr="粉色砂纸"/>
            <p:cNvSpPr>
              <a:spLocks noChangeArrowheads="1"/>
            </p:cNvSpPr>
            <p:nvPr/>
          </p:nvSpPr>
          <p:spPr bwMode="auto">
            <a:xfrm>
              <a:off x="6425" y="6534"/>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 name="Text Box 39"/>
            <p:cNvSpPr txBox="1"/>
            <p:nvPr/>
          </p:nvSpPr>
          <p:spPr>
            <a:xfrm>
              <a:off x="6538" y="6502"/>
              <a:ext cx="630" cy="823"/>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L</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66" name="Oval 40" descr="粉色砂纸"/>
            <p:cNvSpPr>
              <a:spLocks noChangeArrowheads="1"/>
            </p:cNvSpPr>
            <p:nvPr/>
          </p:nvSpPr>
          <p:spPr bwMode="auto">
            <a:xfrm>
              <a:off x="6987" y="5196"/>
              <a:ext cx="720" cy="720"/>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 name="Text Box 41"/>
            <p:cNvSpPr txBox="1"/>
            <p:nvPr/>
          </p:nvSpPr>
          <p:spPr>
            <a:xfrm>
              <a:off x="7100" y="5173"/>
              <a:ext cx="693" cy="823"/>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K</a:t>
              </a:r>
              <a:endParaRPr lang="en-US" altLang="zh-CN" sz="2400" dirty="0">
                <a:solidFill>
                  <a:schemeClr val="hlink"/>
                </a:solidFill>
                <a:latin typeface="Times New Roman" panose="02020603050405020304" pitchFamily="18" charset="0"/>
                <a:ea typeface="宋体" panose="02010600030101010101" pitchFamily="2" charset="-122"/>
              </a:endParaRPr>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对于一个非连通图，使用孩子兄弟表示法，以孩子兄弟链表为森林的存储结构，</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DFS</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生成森林的算法，参考课本算法</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7.7</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和</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7.8</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自学</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7.4 图的</a:t>
            </a:r>
            <a:r>
              <a:rPr lang="zh-CN" altLang="en-US">
                <a:latin typeface="楷体" panose="02010609060101010101" charset="-122"/>
                <a:ea typeface="楷体" panose="02010609060101010101" charset="-122"/>
                <a:cs typeface="楷体" panose="02010609060101010101" charset="-122"/>
                <a:sym typeface="+mn-ea"/>
              </a:rPr>
              <a:t>连通</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5" name="对象 4"/>
          <p:cNvGraphicFramePr/>
          <p:nvPr/>
        </p:nvGraphicFramePr>
        <p:xfrm>
          <a:off x="263525" y="2060575"/>
          <a:ext cx="3733165" cy="4284345"/>
        </p:xfrm>
        <a:graphic>
          <a:graphicData uri="http://schemas.openxmlformats.org/presentationml/2006/ole">
            <mc:AlternateContent xmlns:mc="http://schemas.openxmlformats.org/markup-compatibility/2006">
              <mc:Choice xmlns:v="urn:schemas-microsoft-com:vml" Requires="v">
                <p:oleObj spid="_x0000_s6" name="" r:id="rId1" imgW="3933825" imgH="4200525" progId="Paint.Picture">
                  <p:embed/>
                </p:oleObj>
              </mc:Choice>
              <mc:Fallback>
                <p:oleObj name="" r:id="rId1" imgW="3933825" imgH="4200525" progId="Paint.Picture">
                  <p:embed/>
                  <p:pic>
                    <p:nvPicPr>
                      <p:cNvPr id="0" name="图片 5"/>
                      <p:cNvPicPr/>
                      <p:nvPr/>
                    </p:nvPicPr>
                    <p:blipFill>
                      <a:blip r:embed="rId2"/>
                      <a:stretch>
                        <a:fillRect/>
                      </a:stretch>
                    </p:blipFill>
                    <p:spPr>
                      <a:xfrm>
                        <a:off x="263525" y="2060575"/>
                        <a:ext cx="3733165" cy="4284345"/>
                      </a:xfrm>
                      <a:prstGeom prst="rect">
                        <a:avLst/>
                      </a:prstGeom>
                    </p:spPr>
                  </p:pic>
                </p:oleObj>
              </mc:Fallback>
            </mc:AlternateContent>
          </a:graphicData>
        </a:graphic>
      </p:graphicFrame>
      <p:pic>
        <p:nvPicPr>
          <p:cNvPr id="8" name="图片 7"/>
          <p:cNvPicPr>
            <a:picLocks noChangeAspect="1"/>
          </p:cNvPicPr>
          <p:nvPr/>
        </p:nvPicPr>
        <p:blipFill>
          <a:blip r:embed="rId3"/>
          <a:stretch>
            <a:fillRect/>
          </a:stretch>
        </p:blipFill>
        <p:spPr>
          <a:xfrm>
            <a:off x="4511675" y="2060575"/>
            <a:ext cx="7369175" cy="4413885"/>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07035" y="836295"/>
            <a:ext cx="11087735" cy="2601595"/>
          </a:xfrm>
        </p:spPr>
        <p:txBody>
          <a:bodyPr/>
          <a:p>
            <a:pPr marL="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连通的带权</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无向图称为连通网</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最小生成树(Minimum Cost Spanning Tree)是代价最小的连通网的生成树，即该生成树上的边的权值和最小</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最小生成树的性质：</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必须使用且仅使用连通网中的n-1条边来联结网络中的n个顶点；</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不能使用产生回路的边；</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各边上的权值的总和达到最小</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7.4 图的</a:t>
            </a:r>
            <a:r>
              <a:rPr lang="zh-CN" altLang="en-US">
                <a:latin typeface="楷体" panose="02010609060101010101" charset="-122"/>
                <a:ea typeface="楷体" panose="02010609060101010101" charset="-122"/>
                <a:cs typeface="楷体" panose="02010609060101010101" charset="-122"/>
                <a:sym typeface="+mn-ea"/>
              </a:rPr>
              <a:t>连通</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最小生成树在连通网场景中应用广泛，例如</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在n个城市之间建立通信网络，如何建立成本最小的网络</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在</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n</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个城市之间建立公路网络，如何建立成本最小的网络</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应用场景：“村村通”，我国系统工程，全国行政村</a:t>
            </a: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互通：公路、电力、生活和饮用水、电话网、有线电视网、互联网等等</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村村通公路，村村通水气电，村村通5G，村村通宽带</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2025年全国基本实现村村通</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7.4 </a:t>
            </a:r>
            <a:r>
              <a:rPr lang="zh-CN" altLang="en-US">
                <a:latin typeface="楷体" panose="02010609060101010101" charset="-122"/>
                <a:ea typeface="楷体" panose="02010609060101010101" charset="-122"/>
                <a:cs typeface="楷体" panose="02010609060101010101" charset="-122"/>
                <a:sym typeface="+mn-ea"/>
              </a:rPr>
              <a:t>图的</a:t>
            </a:r>
            <a:r>
              <a:rPr lang="zh-CN" altLang="en-US">
                <a:latin typeface="楷体" panose="02010609060101010101" charset="-122"/>
                <a:ea typeface="楷体" panose="02010609060101010101" charset="-122"/>
                <a:cs typeface="楷体" panose="02010609060101010101" charset="-122"/>
                <a:sym typeface="+mn-ea"/>
              </a:rPr>
              <a:t>连通</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nvPicPr>
        <p:blipFill>
          <a:blip r:embed="rId1"/>
          <a:stretch>
            <a:fillRect/>
          </a:stretch>
        </p:blipFill>
        <p:spPr>
          <a:xfrm>
            <a:off x="7103745" y="3789045"/>
            <a:ext cx="4061460" cy="2478405"/>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最小生成树算法——普里姆(Prim)算法</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假设N=(V,E)是连通网</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TE是N上最小生成树中边的集合</a:t>
            </a:r>
            <a:endParaRPr lang="zh-CN" altLang="en-US" sz="2400" b="0" dirty="0">
              <a:latin typeface="黑体" panose="02010609060101010101" pitchFamily="2" charset="-122"/>
              <a:ea typeface="黑体" panose="02010609060101010101" pitchFamily="2" charset="-122"/>
              <a:cs typeface="+mn-ea"/>
            </a:endParaRPr>
          </a:p>
          <a:p>
            <a:pPr marL="609600" lvl="0" indent="-609600" eaLnBrk="1" latinLnBrk="0" hangingPunct="1">
              <a:spcBef>
                <a:spcPts val="0"/>
              </a:spcBef>
              <a:buNone/>
            </a:pPr>
            <a:r>
              <a:rPr lang="en-US" altLang="zh-CN" sz="2400" dirty="0">
                <a:latin typeface="黑体" panose="02010609060101010101" pitchFamily="2" charset="-122"/>
                <a:ea typeface="黑体" panose="02010609060101010101" pitchFamily="2" charset="-122"/>
                <a:sym typeface="+mn-ea"/>
              </a:rPr>
              <a:t>	1.U={u</a:t>
            </a:r>
            <a:r>
              <a:rPr lang="en-US" altLang="zh-CN" sz="2400" baseline="-25000" dirty="0">
                <a:latin typeface="黑体" panose="02010609060101010101" pitchFamily="2" charset="-122"/>
                <a:ea typeface="黑体" panose="02010609060101010101" pitchFamily="2" charset="-122"/>
                <a:sym typeface="+mn-ea"/>
              </a:rPr>
              <a:t>0</a:t>
            </a:r>
            <a:r>
              <a:rPr lang="en-US" altLang="zh-CN" sz="2400" dirty="0">
                <a:latin typeface="黑体" panose="02010609060101010101" pitchFamily="2" charset="-122"/>
                <a:ea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sym typeface="+mn-ea"/>
              </a:rPr>
              <a:t>，</a:t>
            </a:r>
            <a:r>
              <a:rPr lang="en-US" altLang="zh-CN" sz="2400" dirty="0">
                <a:latin typeface="黑体" panose="02010609060101010101" pitchFamily="2" charset="-122"/>
                <a:ea typeface="黑体" panose="02010609060101010101" pitchFamily="2" charset="-122"/>
                <a:sym typeface="+mn-ea"/>
              </a:rPr>
              <a:t>(u</a:t>
            </a:r>
            <a:r>
              <a:rPr lang="en-US" altLang="zh-CN" sz="2400" baseline="-25000" dirty="0">
                <a:latin typeface="黑体" panose="02010609060101010101" pitchFamily="2" charset="-122"/>
                <a:ea typeface="黑体" panose="02010609060101010101" pitchFamily="2" charset="-122"/>
                <a:sym typeface="+mn-ea"/>
              </a:rPr>
              <a:t>0</a:t>
            </a:r>
            <a:r>
              <a:rPr lang="en-US" altLang="zh-CN" sz="2400" dirty="0">
                <a:latin typeface="黑体" panose="02010609060101010101" pitchFamily="2" charset="-122"/>
                <a:ea typeface="黑体" panose="02010609060101010101" pitchFamily="2" charset="-122"/>
                <a:sym typeface="Symbol" panose="05050102010706020507" pitchFamily="18" charset="2"/>
              </a:rPr>
              <a:t>V), TE={}</a:t>
            </a:r>
            <a:endParaRPr lang="en-US" altLang="zh-CN" sz="2400" b="0" dirty="0">
              <a:latin typeface="黑体" panose="02010609060101010101" pitchFamily="2" charset="-122"/>
              <a:ea typeface="黑体" panose="02010609060101010101" pitchFamily="2" charset="-122"/>
              <a:sym typeface="Symbol" panose="05050102010706020507" pitchFamily="18" charset="2"/>
            </a:endParaRPr>
          </a:p>
          <a:p>
            <a:pPr marL="609600" lvl="0" indent="-609600" eaLnBrk="1" latinLnBrk="0" hangingPunct="1">
              <a:spcBef>
                <a:spcPts val="0"/>
              </a:spcBef>
              <a:buNone/>
            </a:pPr>
            <a:r>
              <a:rPr lang="en-US" altLang="zh-CN" sz="2400" dirty="0">
                <a:latin typeface="黑体" panose="02010609060101010101" pitchFamily="2" charset="-122"/>
                <a:ea typeface="黑体" panose="02010609060101010101" pitchFamily="2" charset="-122"/>
                <a:sym typeface="Symbol" panose="05050102010706020507" pitchFamily="18" charset="2"/>
              </a:rPr>
              <a:t>	2.</a:t>
            </a:r>
            <a:r>
              <a:rPr lang="zh-CN" altLang="en-US" sz="2400" dirty="0">
                <a:latin typeface="黑体" panose="02010609060101010101" pitchFamily="2" charset="-122"/>
                <a:ea typeface="黑体" panose="02010609060101010101" pitchFamily="2" charset="-122"/>
                <a:sym typeface="Symbol" panose="05050102010706020507" pitchFamily="18" charset="2"/>
              </a:rPr>
              <a:t>在所有</a:t>
            </a:r>
            <a:r>
              <a:rPr lang="en-US" altLang="zh-CN" sz="2400" dirty="0">
                <a:latin typeface="黑体" panose="02010609060101010101" pitchFamily="2" charset="-122"/>
                <a:ea typeface="黑体" panose="02010609060101010101" pitchFamily="2" charset="-122"/>
                <a:sym typeface="Symbol" panose="05050102010706020507" pitchFamily="18" charset="2"/>
              </a:rPr>
              <a:t>uU,vV-U</a:t>
            </a:r>
            <a:r>
              <a:rPr lang="zh-CN" altLang="en-US" sz="2400" dirty="0">
                <a:latin typeface="黑体" panose="02010609060101010101" pitchFamily="2" charset="-122"/>
                <a:ea typeface="黑体" panose="02010609060101010101" pitchFamily="2" charset="-122"/>
                <a:sym typeface="Symbol" panose="05050102010706020507" pitchFamily="18" charset="2"/>
              </a:rPr>
              <a:t>的边</a:t>
            </a:r>
            <a:r>
              <a:rPr lang="en-US" altLang="zh-CN" sz="2400" dirty="0">
                <a:latin typeface="黑体" panose="02010609060101010101" pitchFamily="2" charset="-122"/>
                <a:ea typeface="黑体" panose="02010609060101010101" pitchFamily="2" charset="-122"/>
                <a:sym typeface="Symbol" panose="05050102010706020507" pitchFamily="18" charset="2"/>
              </a:rPr>
              <a:t>(u,v)E</a:t>
            </a:r>
            <a:r>
              <a:rPr lang="zh-CN" altLang="en-US" sz="2400" dirty="0">
                <a:latin typeface="黑体" panose="02010609060101010101" pitchFamily="2" charset="-122"/>
                <a:ea typeface="黑体" panose="02010609060101010101" pitchFamily="2" charset="-122"/>
                <a:sym typeface="Symbol" panose="05050102010706020507" pitchFamily="18" charset="2"/>
              </a:rPr>
              <a:t>中找一条代价最小的边</a:t>
            </a:r>
            <a:r>
              <a:rPr lang="en-US" altLang="zh-CN" sz="2400" dirty="0">
                <a:latin typeface="黑体" panose="02010609060101010101" pitchFamily="2" charset="-122"/>
                <a:ea typeface="黑体" panose="02010609060101010101" pitchFamily="2" charset="-122"/>
                <a:sym typeface="Symbol" panose="05050102010706020507" pitchFamily="18" charset="2"/>
              </a:rPr>
              <a:t>(</a:t>
            </a:r>
            <a:r>
              <a:rPr lang="en-US" altLang="zh-CN" sz="2400" dirty="0">
                <a:latin typeface="黑体" panose="02010609060101010101" pitchFamily="2" charset="-122"/>
                <a:ea typeface="黑体" panose="02010609060101010101" pitchFamily="2" charset="-122"/>
                <a:sym typeface="+mn-ea"/>
              </a:rPr>
              <a:t>u,v</a:t>
            </a:r>
            <a:r>
              <a:rPr lang="en-US" altLang="zh-CN" sz="2400" baseline="-25000" dirty="0">
                <a:latin typeface="黑体" panose="02010609060101010101" pitchFamily="2" charset="-122"/>
                <a:ea typeface="黑体" panose="02010609060101010101" pitchFamily="2" charset="-122"/>
                <a:sym typeface="+mn-ea"/>
              </a:rPr>
              <a:t>0</a:t>
            </a:r>
            <a:r>
              <a:rPr lang="en-US" altLang="zh-CN" sz="2400" dirty="0">
                <a:latin typeface="黑体" panose="02010609060101010101" pitchFamily="2" charset="-122"/>
                <a:ea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sym typeface="+mn-ea"/>
              </a:rPr>
              <a:t>并入集合</a:t>
            </a:r>
            <a:r>
              <a:rPr lang="en-US" altLang="zh-CN" sz="2400" dirty="0">
                <a:latin typeface="黑体" panose="02010609060101010101" pitchFamily="2" charset="-122"/>
                <a:ea typeface="黑体" panose="02010609060101010101" pitchFamily="2" charset="-122"/>
                <a:sym typeface="+mn-ea"/>
              </a:rPr>
              <a:t>TE</a:t>
            </a:r>
            <a:r>
              <a:rPr lang="zh-CN" altLang="en-US" sz="2400" dirty="0">
                <a:latin typeface="黑体" panose="02010609060101010101" pitchFamily="2" charset="-122"/>
                <a:ea typeface="黑体" panose="02010609060101010101" pitchFamily="2" charset="-122"/>
                <a:sym typeface="+mn-ea"/>
              </a:rPr>
              <a:t>，同时</a:t>
            </a:r>
            <a:r>
              <a:rPr lang="en-US" altLang="zh-CN" sz="2400" dirty="0">
                <a:latin typeface="黑体" panose="02010609060101010101" pitchFamily="2" charset="-122"/>
                <a:ea typeface="黑体" panose="02010609060101010101" pitchFamily="2" charset="-122"/>
                <a:sym typeface="+mn-ea"/>
              </a:rPr>
              <a:t>v</a:t>
            </a:r>
            <a:r>
              <a:rPr lang="en-US" altLang="zh-CN" sz="2400" baseline="-25000" dirty="0">
                <a:latin typeface="黑体" panose="02010609060101010101" pitchFamily="2" charset="-122"/>
                <a:ea typeface="黑体" panose="02010609060101010101" pitchFamily="2" charset="-122"/>
                <a:sym typeface="+mn-ea"/>
              </a:rPr>
              <a:t>0</a:t>
            </a:r>
            <a:r>
              <a:rPr lang="zh-CN" altLang="en-US" sz="2400" dirty="0">
                <a:latin typeface="黑体" panose="02010609060101010101" pitchFamily="2" charset="-122"/>
                <a:ea typeface="黑体" panose="02010609060101010101" pitchFamily="2" charset="-122"/>
                <a:sym typeface="+mn-ea"/>
              </a:rPr>
              <a:t>并入</a:t>
            </a:r>
            <a:r>
              <a:rPr lang="en-US" altLang="zh-CN" sz="2400" dirty="0">
                <a:latin typeface="黑体" panose="02010609060101010101" pitchFamily="2" charset="-122"/>
                <a:ea typeface="黑体" panose="02010609060101010101" pitchFamily="2" charset="-122"/>
                <a:sym typeface="+mn-ea"/>
              </a:rPr>
              <a:t>U</a:t>
            </a:r>
            <a:endParaRPr lang="en-US" altLang="zh-CN" sz="2400" b="0" dirty="0">
              <a:latin typeface="黑体" panose="02010609060101010101" pitchFamily="2" charset="-122"/>
              <a:ea typeface="黑体" panose="02010609060101010101" pitchFamily="2" charset="-122"/>
            </a:endParaRPr>
          </a:p>
          <a:p>
            <a:pPr marL="609600" lvl="0" indent="-609600" eaLnBrk="1" latinLnBrk="0" hangingPunct="1">
              <a:spcBef>
                <a:spcPts val="0"/>
              </a:spcBef>
              <a:buNone/>
            </a:pPr>
            <a:r>
              <a:rPr lang="en-US" altLang="zh-CN" sz="2400" dirty="0">
                <a:latin typeface="黑体" panose="02010609060101010101" pitchFamily="2" charset="-122"/>
                <a:ea typeface="黑体" panose="02010609060101010101" pitchFamily="2" charset="-122"/>
                <a:sym typeface="+mn-ea"/>
              </a:rPr>
              <a:t>	3.</a:t>
            </a:r>
            <a:r>
              <a:rPr lang="zh-CN" altLang="en-US" sz="2400" dirty="0">
                <a:latin typeface="黑体" panose="02010609060101010101" pitchFamily="2" charset="-122"/>
                <a:ea typeface="黑体" panose="02010609060101010101" pitchFamily="2" charset="-122"/>
                <a:sym typeface="+mn-ea"/>
              </a:rPr>
              <a:t>重复</a:t>
            </a:r>
            <a:r>
              <a:rPr lang="en-US" altLang="zh-CN" sz="2400" dirty="0">
                <a:latin typeface="黑体" panose="02010609060101010101" pitchFamily="2" charset="-122"/>
                <a:ea typeface="黑体" panose="02010609060101010101" pitchFamily="2" charset="-122"/>
                <a:sym typeface="+mn-ea"/>
              </a:rPr>
              <a:t>2</a:t>
            </a:r>
            <a:r>
              <a:rPr lang="zh-CN" altLang="en-US" sz="2400" dirty="0">
                <a:latin typeface="黑体" panose="02010609060101010101" pitchFamily="2" charset="-122"/>
                <a:ea typeface="黑体" panose="02010609060101010101" pitchFamily="2" charset="-122"/>
                <a:sym typeface="+mn-ea"/>
              </a:rPr>
              <a:t>，直到</a:t>
            </a:r>
            <a:r>
              <a:rPr lang="en-US" altLang="zh-CN" sz="2400" dirty="0">
                <a:latin typeface="黑体" panose="02010609060101010101" pitchFamily="2" charset="-122"/>
                <a:ea typeface="黑体" panose="02010609060101010101" pitchFamily="2" charset="-122"/>
                <a:sym typeface="+mn-ea"/>
              </a:rPr>
              <a:t>U=V</a:t>
            </a:r>
            <a:endParaRPr lang="en-US" altLang="zh-CN" sz="2400" b="0" dirty="0">
              <a:latin typeface="黑体" panose="02010609060101010101" pitchFamily="2" charset="-122"/>
              <a:ea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7.4 </a:t>
            </a:r>
            <a:r>
              <a:rPr lang="zh-CN" altLang="en-US">
                <a:latin typeface="楷体" panose="02010609060101010101" charset="-122"/>
                <a:ea typeface="楷体" panose="02010609060101010101" charset="-122"/>
                <a:cs typeface="楷体" panose="02010609060101010101" charset="-122"/>
                <a:sym typeface="+mn-ea"/>
              </a:rPr>
              <a:t>图的</a:t>
            </a:r>
            <a:r>
              <a:rPr lang="zh-CN" altLang="en-US">
                <a:latin typeface="楷体" panose="02010609060101010101" charset="-122"/>
                <a:ea typeface="楷体" panose="02010609060101010101" charset="-122"/>
                <a:cs typeface="楷体" panose="02010609060101010101" charset="-122"/>
                <a:sym typeface="+mn-ea"/>
              </a:rPr>
              <a:t>连通</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普里姆算法示例</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7.4 </a:t>
            </a:r>
            <a:r>
              <a:rPr lang="zh-CN" altLang="en-US">
                <a:latin typeface="楷体" panose="02010609060101010101" charset="-122"/>
                <a:ea typeface="楷体" panose="02010609060101010101" charset="-122"/>
                <a:cs typeface="楷体" panose="02010609060101010101" charset="-122"/>
                <a:sym typeface="+mn-ea"/>
              </a:rPr>
              <a:t>图的</a:t>
            </a:r>
            <a:r>
              <a:rPr lang="zh-CN" altLang="en-US">
                <a:latin typeface="楷体" panose="02010609060101010101" charset="-122"/>
                <a:ea typeface="楷体" panose="02010609060101010101" charset="-122"/>
                <a:cs typeface="楷体" panose="02010609060101010101" charset="-122"/>
                <a:sym typeface="+mn-ea"/>
              </a:rPr>
              <a:t>连通</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00368" name="Group 15"/>
          <p:cNvGrpSpPr/>
          <p:nvPr/>
        </p:nvGrpSpPr>
        <p:grpSpPr>
          <a:xfrm>
            <a:off x="7068185" y="4280535"/>
            <a:ext cx="2128838" cy="1803401"/>
            <a:chOff x="3519" y="3049"/>
            <a:chExt cx="1341" cy="1136"/>
          </a:xfrm>
        </p:grpSpPr>
        <p:sp>
          <p:nvSpPr>
            <p:cNvPr id="100369" name="Line 16"/>
            <p:cNvSpPr/>
            <p:nvPr/>
          </p:nvSpPr>
          <p:spPr>
            <a:xfrm>
              <a:off x="4476" y="3204"/>
              <a:ext cx="221" cy="311"/>
            </a:xfrm>
            <a:prstGeom prst="line">
              <a:avLst/>
            </a:prstGeom>
            <a:ln w="28575" cap="flat" cmpd="sng">
              <a:solidFill>
                <a:schemeClr val="tx1"/>
              </a:solidFill>
              <a:prstDash val="solid"/>
              <a:round/>
              <a:headEnd type="none" w="med" len="med"/>
              <a:tailEnd type="none" w="med" len="med"/>
            </a:ln>
          </p:spPr>
        </p:sp>
        <p:sp>
          <p:nvSpPr>
            <p:cNvPr id="100370" name="Line 17"/>
            <p:cNvSpPr/>
            <p:nvPr/>
          </p:nvSpPr>
          <p:spPr>
            <a:xfrm>
              <a:off x="3924" y="3920"/>
              <a:ext cx="552" cy="0"/>
            </a:xfrm>
            <a:prstGeom prst="line">
              <a:avLst/>
            </a:prstGeom>
            <a:ln w="28575" cap="flat" cmpd="sng">
              <a:solidFill>
                <a:schemeClr val="tx1"/>
              </a:solidFill>
              <a:prstDash val="solid"/>
              <a:round/>
              <a:headEnd type="none" w="med" len="med"/>
              <a:tailEnd type="none" w="med" len="med"/>
            </a:ln>
          </p:spPr>
        </p:sp>
        <p:sp>
          <p:nvSpPr>
            <p:cNvPr id="100371" name="Line 18"/>
            <p:cNvSpPr/>
            <p:nvPr/>
          </p:nvSpPr>
          <p:spPr>
            <a:xfrm flipH="1">
              <a:off x="4476" y="3577"/>
              <a:ext cx="221" cy="343"/>
            </a:xfrm>
            <a:prstGeom prst="line">
              <a:avLst/>
            </a:prstGeom>
            <a:ln w="28575" cap="flat" cmpd="sng">
              <a:solidFill>
                <a:schemeClr val="tx1"/>
              </a:solidFill>
              <a:prstDash val="solid"/>
              <a:round/>
              <a:headEnd type="none" w="med" len="med"/>
              <a:tailEnd type="none" w="med" len="med"/>
            </a:ln>
          </p:spPr>
        </p:sp>
        <p:sp>
          <p:nvSpPr>
            <p:cNvPr id="100372" name="Line 19"/>
            <p:cNvSpPr/>
            <p:nvPr/>
          </p:nvSpPr>
          <p:spPr>
            <a:xfrm flipV="1">
              <a:off x="4181" y="3142"/>
              <a:ext cx="258" cy="404"/>
            </a:xfrm>
            <a:prstGeom prst="line">
              <a:avLst/>
            </a:prstGeom>
            <a:ln w="28575" cap="flat" cmpd="sng">
              <a:solidFill>
                <a:schemeClr val="tx1"/>
              </a:solidFill>
              <a:prstDash val="solid"/>
              <a:round/>
              <a:headEnd type="none" w="med" len="med"/>
              <a:tailEnd type="none" w="med" len="med"/>
            </a:ln>
          </p:spPr>
        </p:sp>
        <p:sp>
          <p:nvSpPr>
            <p:cNvPr id="100373" name="Line 20"/>
            <p:cNvSpPr/>
            <p:nvPr/>
          </p:nvSpPr>
          <p:spPr>
            <a:xfrm>
              <a:off x="3666" y="3577"/>
              <a:ext cx="221" cy="343"/>
            </a:xfrm>
            <a:prstGeom prst="line">
              <a:avLst/>
            </a:prstGeom>
            <a:ln w="28575" cap="flat" cmpd="sng">
              <a:solidFill>
                <a:schemeClr val="tx1"/>
              </a:solidFill>
              <a:prstDash val="solid"/>
              <a:round/>
              <a:headEnd type="none" w="med" len="med"/>
              <a:tailEnd type="none" w="med" len="med"/>
            </a:ln>
          </p:spPr>
        </p:sp>
        <p:sp>
          <p:nvSpPr>
            <p:cNvPr id="100374" name="Line 21"/>
            <p:cNvSpPr/>
            <p:nvPr/>
          </p:nvSpPr>
          <p:spPr>
            <a:xfrm flipH="1">
              <a:off x="3629" y="3173"/>
              <a:ext cx="221" cy="342"/>
            </a:xfrm>
            <a:prstGeom prst="line">
              <a:avLst/>
            </a:prstGeom>
            <a:ln w="28575" cap="flat" cmpd="sng">
              <a:solidFill>
                <a:schemeClr val="tx1"/>
              </a:solidFill>
              <a:prstDash val="solid"/>
              <a:round/>
              <a:headEnd type="none" w="med" len="med"/>
              <a:tailEnd type="none" w="med" len="med"/>
            </a:ln>
          </p:spPr>
        </p:sp>
        <p:sp>
          <p:nvSpPr>
            <p:cNvPr id="888854" name="Oval 22" descr="羊皮纸"/>
            <p:cNvSpPr>
              <a:spLocks noChangeArrowheads="1"/>
            </p:cNvSpPr>
            <p:nvPr/>
          </p:nvSpPr>
          <p:spPr bwMode="auto">
            <a:xfrm>
              <a:off x="3519" y="3453"/>
              <a:ext cx="220"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5</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55" name="Oval 23" descr="羊皮纸"/>
            <p:cNvSpPr>
              <a:spLocks noChangeArrowheads="1"/>
            </p:cNvSpPr>
            <p:nvPr/>
          </p:nvSpPr>
          <p:spPr bwMode="auto">
            <a:xfrm>
              <a:off x="3776" y="3049"/>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0</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56" name="Oval 24" descr="羊皮纸"/>
            <p:cNvSpPr>
              <a:spLocks noChangeArrowheads="1"/>
            </p:cNvSpPr>
            <p:nvPr/>
          </p:nvSpPr>
          <p:spPr bwMode="auto">
            <a:xfrm>
              <a:off x="3776" y="3826"/>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4</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57" name="Oval 25" descr="羊皮纸"/>
            <p:cNvSpPr>
              <a:spLocks noChangeArrowheads="1"/>
            </p:cNvSpPr>
            <p:nvPr/>
          </p:nvSpPr>
          <p:spPr bwMode="auto">
            <a:xfrm>
              <a:off x="4071" y="3453"/>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6</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58" name="Oval 26" descr="羊皮纸"/>
            <p:cNvSpPr>
              <a:spLocks noChangeArrowheads="1"/>
            </p:cNvSpPr>
            <p:nvPr/>
          </p:nvSpPr>
          <p:spPr bwMode="auto">
            <a:xfrm>
              <a:off x="4329" y="3049"/>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1</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59" name="Oval 27" descr="羊皮纸"/>
            <p:cNvSpPr>
              <a:spLocks noChangeArrowheads="1"/>
            </p:cNvSpPr>
            <p:nvPr/>
          </p:nvSpPr>
          <p:spPr bwMode="auto">
            <a:xfrm flipH="1">
              <a:off x="4623" y="3453"/>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2</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00381" name="Text Box 28"/>
            <p:cNvSpPr txBox="1"/>
            <p:nvPr/>
          </p:nvSpPr>
          <p:spPr>
            <a:xfrm>
              <a:off x="3520" y="3220"/>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10</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100382" name="Text Box 29"/>
            <p:cNvSpPr txBox="1"/>
            <p:nvPr/>
          </p:nvSpPr>
          <p:spPr>
            <a:xfrm>
              <a:off x="3520" y="3717"/>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25</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100383" name="Text Box 30"/>
            <p:cNvSpPr txBox="1"/>
            <p:nvPr/>
          </p:nvSpPr>
          <p:spPr>
            <a:xfrm>
              <a:off x="4036" y="3251"/>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14</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100384" name="Text Box 31"/>
            <p:cNvSpPr txBox="1"/>
            <p:nvPr/>
          </p:nvSpPr>
          <p:spPr>
            <a:xfrm>
              <a:off x="4036" y="3934"/>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22</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100385" name="Text Box 32"/>
            <p:cNvSpPr txBox="1"/>
            <p:nvPr/>
          </p:nvSpPr>
          <p:spPr>
            <a:xfrm>
              <a:off x="4585" y="3251"/>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16</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100386" name="Text Box 33"/>
            <p:cNvSpPr txBox="1"/>
            <p:nvPr/>
          </p:nvSpPr>
          <p:spPr>
            <a:xfrm>
              <a:off x="4583" y="3717"/>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12</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888866" name="Oval 34" descr="羊皮纸"/>
            <p:cNvSpPr>
              <a:spLocks noChangeArrowheads="1"/>
            </p:cNvSpPr>
            <p:nvPr/>
          </p:nvSpPr>
          <p:spPr bwMode="auto">
            <a:xfrm>
              <a:off x="4365" y="3826"/>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3</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grpSp>
      <p:grpSp>
        <p:nvGrpSpPr>
          <p:cNvPr id="100388" name="Group 35"/>
          <p:cNvGrpSpPr/>
          <p:nvPr/>
        </p:nvGrpSpPr>
        <p:grpSpPr>
          <a:xfrm>
            <a:off x="3647440" y="2096135"/>
            <a:ext cx="2105025" cy="1531938"/>
            <a:chOff x="3518" y="1773"/>
            <a:chExt cx="1326" cy="965"/>
          </a:xfrm>
        </p:grpSpPr>
        <p:sp>
          <p:nvSpPr>
            <p:cNvPr id="100389" name="Line 36"/>
            <p:cNvSpPr/>
            <p:nvPr/>
          </p:nvSpPr>
          <p:spPr>
            <a:xfrm>
              <a:off x="3629" y="2271"/>
              <a:ext cx="258" cy="342"/>
            </a:xfrm>
            <a:prstGeom prst="line">
              <a:avLst/>
            </a:prstGeom>
            <a:ln w="28575" cap="flat" cmpd="sng">
              <a:solidFill>
                <a:schemeClr val="tx1"/>
              </a:solidFill>
              <a:prstDash val="solid"/>
              <a:round/>
              <a:headEnd type="none" w="med" len="med"/>
              <a:tailEnd type="none" w="med" len="med"/>
            </a:ln>
          </p:spPr>
        </p:sp>
        <p:sp>
          <p:nvSpPr>
            <p:cNvPr id="100390" name="Line 37"/>
            <p:cNvSpPr/>
            <p:nvPr/>
          </p:nvSpPr>
          <p:spPr>
            <a:xfrm flipV="1">
              <a:off x="3629" y="1867"/>
              <a:ext cx="258" cy="404"/>
            </a:xfrm>
            <a:prstGeom prst="line">
              <a:avLst/>
            </a:prstGeom>
            <a:ln w="28575" cap="flat" cmpd="sng">
              <a:solidFill>
                <a:schemeClr val="tx1"/>
              </a:solidFill>
              <a:prstDash val="solid"/>
              <a:round/>
              <a:headEnd type="none" w="med" len="med"/>
              <a:tailEnd type="none" w="med" len="med"/>
            </a:ln>
          </p:spPr>
        </p:sp>
        <p:sp>
          <p:nvSpPr>
            <p:cNvPr id="888870" name="Oval 38" descr="羊皮纸"/>
            <p:cNvSpPr>
              <a:spLocks noChangeArrowheads="1"/>
            </p:cNvSpPr>
            <p:nvPr/>
          </p:nvSpPr>
          <p:spPr bwMode="auto">
            <a:xfrm>
              <a:off x="3519" y="2178"/>
              <a:ext cx="220"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5</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71" name="Oval 39" descr="羊皮纸"/>
            <p:cNvSpPr>
              <a:spLocks noChangeArrowheads="1"/>
            </p:cNvSpPr>
            <p:nvPr/>
          </p:nvSpPr>
          <p:spPr bwMode="auto">
            <a:xfrm>
              <a:off x="3776" y="1773"/>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0</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72" name="Oval 40" descr="羊皮纸"/>
            <p:cNvSpPr>
              <a:spLocks noChangeArrowheads="1"/>
            </p:cNvSpPr>
            <p:nvPr/>
          </p:nvSpPr>
          <p:spPr bwMode="auto">
            <a:xfrm>
              <a:off x="3776" y="2551"/>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4</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73" name="Oval 41" descr="羊皮纸"/>
            <p:cNvSpPr>
              <a:spLocks noChangeArrowheads="1"/>
            </p:cNvSpPr>
            <p:nvPr/>
          </p:nvSpPr>
          <p:spPr bwMode="auto">
            <a:xfrm>
              <a:off x="4071" y="2178"/>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6</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74" name="Oval 42" descr="羊皮纸"/>
            <p:cNvSpPr>
              <a:spLocks noChangeArrowheads="1"/>
            </p:cNvSpPr>
            <p:nvPr/>
          </p:nvSpPr>
          <p:spPr bwMode="auto">
            <a:xfrm>
              <a:off x="4329" y="1773"/>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1</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75" name="Oval 43" descr="羊皮纸"/>
            <p:cNvSpPr>
              <a:spLocks noChangeArrowheads="1"/>
            </p:cNvSpPr>
            <p:nvPr/>
          </p:nvSpPr>
          <p:spPr bwMode="auto">
            <a:xfrm>
              <a:off x="4365" y="2551"/>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3</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76" name="Oval 44" descr="羊皮纸"/>
            <p:cNvSpPr>
              <a:spLocks noChangeArrowheads="1"/>
            </p:cNvSpPr>
            <p:nvPr/>
          </p:nvSpPr>
          <p:spPr bwMode="auto">
            <a:xfrm flipH="1">
              <a:off x="4623" y="2178"/>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2</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00398" name="Text Box 45"/>
            <p:cNvSpPr txBox="1"/>
            <p:nvPr/>
          </p:nvSpPr>
          <p:spPr>
            <a:xfrm>
              <a:off x="3520" y="1944"/>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10</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100399" name="Text Box 46"/>
            <p:cNvSpPr txBox="1"/>
            <p:nvPr/>
          </p:nvSpPr>
          <p:spPr>
            <a:xfrm>
              <a:off x="3518" y="2436"/>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25</a:t>
              </a:r>
              <a:endParaRPr lang="en-US" altLang="zh-CN" sz="2000" dirty="0">
                <a:solidFill>
                  <a:schemeClr val="hlink"/>
                </a:solidFill>
                <a:latin typeface="Times New Roman" panose="02020603050405020304" pitchFamily="18" charset="0"/>
                <a:ea typeface="宋体" panose="02010600030101010101" pitchFamily="2" charset="-122"/>
              </a:endParaRPr>
            </a:p>
          </p:txBody>
        </p:sp>
      </p:grpSp>
      <p:grpSp>
        <p:nvGrpSpPr>
          <p:cNvPr id="100400" name="Group 47"/>
          <p:cNvGrpSpPr/>
          <p:nvPr/>
        </p:nvGrpSpPr>
        <p:grpSpPr>
          <a:xfrm>
            <a:off x="6485890" y="2032635"/>
            <a:ext cx="2105025" cy="1795463"/>
            <a:chOff x="720" y="3049"/>
            <a:chExt cx="1326" cy="1131"/>
          </a:xfrm>
        </p:grpSpPr>
        <p:sp>
          <p:nvSpPr>
            <p:cNvPr id="100401" name="Line 48"/>
            <p:cNvSpPr/>
            <p:nvPr/>
          </p:nvSpPr>
          <p:spPr>
            <a:xfrm>
              <a:off x="830" y="3546"/>
              <a:ext cx="258" cy="343"/>
            </a:xfrm>
            <a:prstGeom prst="line">
              <a:avLst/>
            </a:prstGeom>
            <a:ln w="28575" cap="flat" cmpd="sng">
              <a:solidFill>
                <a:schemeClr val="tx1"/>
              </a:solidFill>
              <a:prstDash val="solid"/>
              <a:round/>
              <a:headEnd type="none" w="med" len="med"/>
              <a:tailEnd type="none" w="med" len="med"/>
            </a:ln>
          </p:spPr>
        </p:sp>
        <p:sp>
          <p:nvSpPr>
            <p:cNvPr id="100402" name="Text Box 49"/>
            <p:cNvSpPr txBox="1"/>
            <p:nvPr/>
          </p:nvSpPr>
          <p:spPr>
            <a:xfrm>
              <a:off x="720" y="3712"/>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25</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100403" name="Line 50"/>
            <p:cNvSpPr/>
            <p:nvPr/>
          </p:nvSpPr>
          <p:spPr>
            <a:xfrm flipH="1">
              <a:off x="830" y="3173"/>
              <a:ext cx="221" cy="342"/>
            </a:xfrm>
            <a:prstGeom prst="line">
              <a:avLst/>
            </a:prstGeom>
            <a:ln w="28575" cap="flat" cmpd="sng">
              <a:solidFill>
                <a:schemeClr val="tx1"/>
              </a:solidFill>
              <a:prstDash val="solid"/>
              <a:round/>
              <a:headEnd type="none" w="med" len="med"/>
              <a:tailEnd type="none" w="med" len="med"/>
            </a:ln>
          </p:spPr>
        </p:sp>
        <p:sp>
          <p:nvSpPr>
            <p:cNvPr id="888883" name="Oval 51" descr="羊皮纸"/>
            <p:cNvSpPr>
              <a:spLocks noChangeArrowheads="1"/>
            </p:cNvSpPr>
            <p:nvPr/>
          </p:nvSpPr>
          <p:spPr bwMode="auto">
            <a:xfrm>
              <a:off x="720" y="3453"/>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5</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84" name="Oval 52" descr="羊皮纸"/>
            <p:cNvSpPr>
              <a:spLocks noChangeArrowheads="1"/>
            </p:cNvSpPr>
            <p:nvPr/>
          </p:nvSpPr>
          <p:spPr bwMode="auto">
            <a:xfrm>
              <a:off x="978" y="3049"/>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0</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85" name="Oval 53" descr="羊皮纸"/>
            <p:cNvSpPr>
              <a:spLocks noChangeArrowheads="1"/>
            </p:cNvSpPr>
            <p:nvPr/>
          </p:nvSpPr>
          <p:spPr bwMode="auto">
            <a:xfrm>
              <a:off x="978" y="3826"/>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4</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86" name="Oval 54" descr="羊皮纸"/>
            <p:cNvSpPr>
              <a:spLocks noChangeArrowheads="1"/>
            </p:cNvSpPr>
            <p:nvPr/>
          </p:nvSpPr>
          <p:spPr bwMode="auto">
            <a:xfrm>
              <a:off x="1272" y="3453"/>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6</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87" name="Oval 55" descr="羊皮纸"/>
            <p:cNvSpPr>
              <a:spLocks noChangeArrowheads="1"/>
            </p:cNvSpPr>
            <p:nvPr/>
          </p:nvSpPr>
          <p:spPr bwMode="auto">
            <a:xfrm>
              <a:off x="1530" y="3049"/>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1</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88" name="Oval 56" descr="羊皮纸"/>
            <p:cNvSpPr>
              <a:spLocks noChangeArrowheads="1"/>
            </p:cNvSpPr>
            <p:nvPr/>
          </p:nvSpPr>
          <p:spPr bwMode="auto">
            <a:xfrm>
              <a:off x="1530" y="3826"/>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3</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89" name="Oval 57" descr="羊皮纸"/>
            <p:cNvSpPr>
              <a:spLocks noChangeArrowheads="1"/>
            </p:cNvSpPr>
            <p:nvPr/>
          </p:nvSpPr>
          <p:spPr bwMode="auto">
            <a:xfrm flipH="1">
              <a:off x="1825" y="3453"/>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2</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00411" name="Text Box 58"/>
            <p:cNvSpPr txBox="1"/>
            <p:nvPr/>
          </p:nvSpPr>
          <p:spPr>
            <a:xfrm>
              <a:off x="720" y="3220"/>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10</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100412" name="Line 59"/>
            <p:cNvSpPr/>
            <p:nvPr/>
          </p:nvSpPr>
          <p:spPr>
            <a:xfrm>
              <a:off x="1199" y="3920"/>
              <a:ext cx="331" cy="0"/>
            </a:xfrm>
            <a:prstGeom prst="line">
              <a:avLst/>
            </a:prstGeom>
            <a:ln w="28575" cap="flat" cmpd="sng">
              <a:solidFill>
                <a:schemeClr val="tx1"/>
              </a:solidFill>
              <a:prstDash val="solid"/>
              <a:round/>
              <a:headEnd type="none" w="med" len="med"/>
              <a:tailEnd type="none" w="med" len="med"/>
            </a:ln>
          </p:spPr>
        </p:sp>
        <p:sp>
          <p:nvSpPr>
            <p:cNvPr id="100413" name="Text Box 60"/>
            <p:cNvSpPr txBox="1"/>
            <p:nvPr/>
          </p:nvSpPr>
          <p:spPr>
            <a:xfrm>
              <a:off x="1235" y="3929"/>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22</a:t>
              </a:r>
              <a:endParaRPr lang="en-US" altLang="zh-CN" sz="2000" dirty="0">
                <a:solidFill>
                  <a:schemeClr val="hlink"/>
                </a:solidFill>
                <a:latin typeface="Times New Roman" panose="02020603050405020304" pitchFamily="18" charset="0"/>
                <a:ea typeface="宋体" panose="02010600030101010101" pitchFamily="2" charset="-122"/>
              </a:endParaRPr>
            </a:p>
          </p:txBody>
        </p:sp>
      </p:grpSp>
      <p:grpSp>
        <p:nvGrpSpPr>
          <p:cNvPr id="100414" name="Group 61"/>
          <p:cNvGrpSpPr/>
          <p:nvPr/>
        </p:nvGrpSpPr>
        <p:grpSpPr>
          <a:xfrm>
            <a:off x="839470" y="4309428"/>
            <a:ext cx="2128838" cy="1803399"/>
            <a:chOff x="2118" y="3049"/>
            <a:chExt cx="1341" cy="1136"/>
          </a:xfrm>
        </p:grpSpPr>
        <p:sp>
          <p:nvSpPr>
            <p:cNvPr id="100415" name="Line 62"/>
            <p:cNvSpPr/>
            <p:nvPr/>
          </p:nvSpPr>
          <p:spPr>
            <a:xfrm>
              <a:off x="2230" y="3546"/>
              <a:ext cx="257" cy="343"/>
            </a:xfrm>
            <a:prstGeom prst="line">
              <a:avLst/>
            </a:prstGeom>
            <a:ln w="28575" cap="flat" cmpd="sng">
              <a:solidFill>
                <a:schemeClr val="tx1"/>
              </a:solidFill>
              <a:prstDash val="solid"/>
              <a:round/>
              <a:headEnd type="none" w="med" len="med"/>
              <a:tailEnd type="none" w="med" len="med"/>
            </a:ln>
          </p:spPr>
        </p:sp>
        <p:sp>
          <p:nvSpPr>
            <p:cNvPr id="100416" name="Text Box 63"/>
            <p:cNvSpPr txBox="1"/>
            <p:nvPr/>
          </p:nvSpPr>
          <p:spPr>
            <a:xfrm>
              <a:off x="2118" y="3712"/>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25</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100417" name="Line 64"/>
            <p:cNvSpPr/>
            <p:nvPr/>
          </p:nvSpPr>
          <p:spPr>
            <a:xfrm flipH="1">
              <a:off x="3077" y="3577"/>
              <a:ext cx="221" cy="312"/>
            </a:xfrm>
            <a:prstGeom prst="line">
              <a:avLst/>
            </a:prstGeom>
            <a:ln w="28575" cap="flat" cmpd="sng">
              <a:solidFill>
                <a:schemeClr val="tx1"/>
              </a:solidFill>
              <a:prstDash val="solid"/>
              <a:round/>
              <a:headEnd type="none" w="med" len="med"/>
              <a:tailEnd type="none" w="med" len="med"/>
            </a:ln>
          </p:spPr>
        </p:sp>
        <p:sp>
          <p:nvSpPr>
            <p:cNvPr id="100418" name="Line 65"/>
            <p:cNvSpPr/>
            <p:nvPr/>
          </p:nvSpPr>
          <p:spPr>
            <a:xfrm flipH="1">
              <a:off x="2230" y="3173"/>
              <a:ext cx="221" cy="342"/>
            </a:xfrm>
            <a:prstGeom prst="line">
              <a:avLst/>
            </a:prstGeom>
            <a:ln w="28575" cap="flat" cmpd="sng">
              <a:solidFill>
                <a:schemeClr val="tx1"/>
              </a:solidFill>
              <a:prstDash val="solid"/>
              <a:round/>
              <a:headEnd type="none" w="med" len="med"/>
              <a:tailEnd type="none" w="med" len="med"/>
            </a:ln>
          </p:spPr>
        </p:sp>
        <p:sp>
          <p:nvSpPr>
            <p:cNvPr id="888898" name="Oval 66" descr="羊皮纸"/>
            <p:cNvSpPr>
              <a:spLocks noChangeArrowheads="1"/>
            </p:cNvSpPr>
            <p:nvPr/>
          </p:nvSpPr>
          <p:spPr bwMode="auto">
            <a:xfrm>
              <a:off x="2119" y="3453"/>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5</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99" name="Oval 67" descr="羊皮纸"/>
            <p:cNvSpPr>
              <a:spLocks noChangeArrowheads="1"/>
            </p:cNvSpPr>
            <p:nvPr/>
          </p:nvSpPr>
          <p:spPr bwMode="auto">
            <a:xfrm>
              <a:off x="2377" y="3049"/>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0</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900" name="Oval 68" descr="羊皮纸"/>
            <p:cNvSpPr>
              <a:spLocks noChangeArrowheads="1"/>
            </p:cNvSpPr>
            <p:nvPr/>
          </p:nvSpPr>
          <p:spPr bwMode="auto">
            <a:xfrm>
              <a:off x="2377" y="3826"/>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4</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901" name="Oval 69" descr="羊皮纸"/>
            <p:cNvSpPr>
              <a:spLocks noChangeArrowheads="1"/>
            </p:cNvSpPr>
            <p:nvPr/>
          </p:nvSpPr>
          <p:spPr bwMode="auto">
            <a:xfrm>
              <a:off x="2672" y="3453"/>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6</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902" name="Oval 70" descr="羊皮纸"/>
            <p:cNvSpPr>
              <a:spLocks noChangeArrowheads="1"/>
            </p:cNvSpPr>
            <p:nvPr/>
          </p:nvSpPr>
          <p:spPr bwMode="auto">
            <a:xfrm>
              <a:off x="2929" y="3049"/>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1</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903" name="Oval 71" descr="羊皮纸"/>
            <p:cNvSpPr>
              <a:spLocks noChangeArrowheads="1"/>
            </p:cNvSpPr>
            <p:nvPr/>
          </p:nvSpPr>
          <p:spPr bwMode="auto">
            <a:xfrm>
              <a:off x="2929" y="3826"/>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3</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904" name="Oval 72" descr="羊皮纸"/>
            <p:cNvSpPr>
              <a:spLocks noChangeArrowheads="1"/>
            </p:cNvSpPr>
            <p:nvPr/>
          </p:nvSpPr>
          <p:spPr bwMode="auto">
            <a:xfrm flipH="1">
              <a:off x="3224" y="3453"/>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2</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00426" name="Text Box 73"/>
            <p:cNvSpPr txBox="1"/>
            <p:nvPr/>
          </p:nvSpPr>
          <p:spPr>
            <a:xfrm>
              <a:off x="2118" y="3220"/>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10</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100427" name="Text Box 74"/>
            <p:cNvSpPr txBox="1"/>
            <p:nvPr/>
          </p:nvSpPr>
          <p:spPr>
            <a:xfrm>
              <a:off x="2635" y="3934"/>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22</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100428" name="Text Box 75"/>
            <p:cNvSpPr txBox="1"/>
            <p:nvPr/>
          </p:nvSpPr>
          <p:spPr>
            <a:xfrm>
              <a:off x="3184" y="3717"/>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12</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100429" name="Line 76"/>
            <p:cNvSpPr/>
            <p:nvPr/>
          </p:nvSpPr>
          <p:spPr>
            <a:xfrm>
              <a:off x="2598" y="3920"/>
              <a:ext cx="331" cy="0"/>
            </a:xfrm>
            <a:prstGeom prst="line">
              <a:avLst/>
            </a:prstGeom>
            <a:ln w="28575" cap="flat" cmpd="sng">
              <a:solidFill>
                <a:schemeClr val="tx1"/>
              </a:solidFill>
              <a:prstDash val="solid"/>
              <a:round/>
              <a:headEnd type="none" w="med" len="med"/>
              <a:tailEnd type="none" w="med" len="med"/>
            </a:ln>
          </p:spPr>
        </p:sp>
      </p:grpSp>
      <p:grpSp>
        <p:nvGrpSpPr>
          <p:cNvPr id="5" name="组合 4"/>
          <p:cNvGrpSpPr/>
          <p:nvPr/>
        </p:nvGrpSpPr>
        <p:grpSpPr>
          <a:xfrm>
            <a:off x="9574530" y="175895"/>
            <a:ext cx="2129790" cy="2272030"/>
            <a:chOff x="3023" y="2793"/>
            <a:chExt cx="3354" cy="3578"/>
          </a:xfrm>
        </p:grpSpPr>
        <p:sp>
          <p:nvSpPr>
            <p:cNvPr id="100367" name="Text Box 14"/>
            <p:cNvSpPr txBox="1"/>
            <p:nvPr/>
          </p:nvSpPr>
          <p:spPr>
            <a:xfrm>
              <a:off x="3815" y="5743"/>
              <a:ext cx="1188" cy="628"/>
            </a:xfrm>
            <a:prstGeom prst="rect">
              <a:avLst/>
            </a:prstGeom>
            <a:noFill/>
            <a:ln w="9525">
              <a:noFill/>
            </a:ln>
          </p:spPr>
          <p:txBody>
            <a:bodyPr wrap="square" anchor="t" anchorCtr="0">
              <a:spAutoFit/>
            </a:bodyPr>
            <a:p>
              <a:r>
                <a:rPr lang="zh-CN" altLang="en-US" sz="2000" dirty="0">
                  <a:latin typeface="Times New Roman" panose="02020603050405020304" pitchFamily="18" charset="0"/>
                  <a:ea typeface="隶书" panose="02010509060101010101" pitchFamily="49" charset="-122"/>
                </a:rPr>
                <a:t>原图     </a:t>
              </a:r>
              <a:endParaRPr lang="en-US" altLang="zh-CN" sz="2000" dirty="0">
                <a:latin typeface="Times New Roman" panose="02020603050405020304" pitchFamily="18" charset="0"/>
                <a:ea typeface="宋体" panose="02010600030101010101" pitchFamily="2" charset="-122"/>
              </a:endParaRPr>
            </a:p>
          </p:txBody>
        </p:sp>
        <p:grpSp>
          <p:nvGrpSpPr>
            <p:cNvPr id="100430" name="Group 77"/>
            <p:cNvGrpSpPr/>
            <p:nvPr/>
          </p:nvGrpSpPr>
          <p:grpSpPr>
            <a:xfrm>
              <a:off x="3023" y="2793"/>
              <a:ext cx="3355" cy="3205"/>
              <a:chOff x="336" y="1632"/>
              <a:chExt cx="1342" cy="1282"/>
            </a:xfrm>
          </p:grpSpPr>
          <p:sp>
            <p:nvSpPr>
              <p:cNvPr id="100431" name="Text Box 78"/>
              <p:cNvSpPr txBox="1"/>
              <p:nvPr/>
            </p:nvSpPr>
            <p:spPr>
              <a:xfrm>
                <a:off x="864" y="1632"/>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28</a:t>
                </a:r>
                <a:endParaRPr lang="en-US" altLang="zh-CN" sz="2000" dirty="0">
                  <a:solidFill>
                    <a:schemeClr val="hlink"/>
                  </a:solidFill>
                  <a:latin typeface="Times New Roman" panose="02020603050405020304" pitchFamily="18" charset="0"/>
                  <a:ea typeface="宋体" panose="02010600030101010101" pitchFamily="2" charset="-122"/>
                </a:endParaRPr>
              </a:p>
            </p:txBody>
          </p:sp>
          <p:grpSp>
            <p:nvGrpSpPr>
              <p:cNvPr id="100432" name="Group 79"/>
              <p:cNvGrpSpPr/>
              <p:nvPr/>
            </p:nvGrpSpPr>
            <p:grpSpPr>
              <a:xfrm>
                <a:off x="336" y="1776"/>
                <a:ext cx="1342" cy="1138"/>
                <a:chOff x="720" y="1773"/>
                <a:chExt cx="1342" cy="1138"/>
              </a:xfrm>
            </p:grpSpPr>
            <p:sp>
              <p:nvSpPr>
                <p:cNvPr id="100433" name="Line 80"/>
                <p:cNvSpPr/>
                <p:nvPr/>
              </p:nvSpPr>
              <p:spPr>
                <a:xfrm>
                  <a:off x="1677" y="1929"/>
                  <a:ext cx="221" cy="311"/>
                </a:xfrm>
                <a:prstGeom prst="line">
                  <a:avLst/>
                </a:prstGeom>
                <a:ln w="28575" cap="flat" cmpd="sng">
                  <a:solidFill>
                    <a:schemeClr val="tx1"/>
                  </a:solidFill>
                  <a:prstDash val="solid"/>
                  <a:round/>
                  <a:headEnd type="none" w="med" len="med"/>
                  <a:tailEnd type="none" w="med" len="med"/>
                </a:ln>
              </p:spPr>
            </p:sp>
            <p:sp>
              <p:nvSpPr>
                <p:cNvPr id="100434" name="Line 81"/>
                <p:cNvSpPr/>
                <p:nvPr/>
              </p:nvSpPr>
              <p:spPr>
                <a:xfrm>
                  <a:off x="1383" y="2271"/>
                  <a:ext cx="221" cy="311"/>
                </a:xfrm>
                <a:prstGeom prst="line">
                  <a:avLst/>
                </a:prstGeom>
                <a:ln w="28575" cap="flat" cmpd="sng">
                  <a:solidFill>
                    <a:schemeClr val="tx1"/>
                  </a:solidFill>
                  <a:prstDash val="solid"/>
                  <a:round/>
                  <a:headEnd type="none" w="med" len="med"/>
                  <a:tailEnd type="none" w="med" len="med"/>
                </a:ln>
              </p:spPr>
            </p:sp>
            <p:sp>
              <p:nvSpPr>
                <p:cNvPr id="100435" name="Line 82"/>
                <p:cNvSpPr/>
                <p:nvPr/>
              </p:nvSpPr>
              <p:spPr>
                <a:xfrm>
                  <a:off x="830" y="2271"/>
                  <a:ext cx="258" cy="342"/>
                </a:xfrm>
                <a:prstGeom prst="line">
                  <a:avLst/>
                </a:prstGeom>
                <a:ln w="28575" cap="flat" cmpd="sng">
                  <a:solidFill>
                    <a:schemeClr val="tx1"/>
                  </a:solidFill>
                  <a:prstDash val="solid"/>
                  <a:round/>
                  <a:headEnd type="none" w="med" len="med"/>
                  <a:tailEnd type="none" w="med" len="med"/>
                </a:ln>
              </p:spPr>
            </p:sp>
            <p:sp>
              <p:nvSpPr>
                <p:cNvPr id="100436" name="Line 83"/>
                <p:cNvSpPr/>
                <p:nvPr/>
              </p:nvSpPr>
              <p:spPr>
                <a:xfrm flipH="1">
                  <a:off x="830" y="1898"/>
                  <a:ext cx="221" cy="342"/>
                </a:xfrm>
                <a:prstGeom prst="line">
                  <a:avLst/>
                </a:prstGeom>
                <a:ln w="28575" cap="flat" cmpd="sng">
                  <a:solidFill>
                    <a:schemeClr val="tx1"/>
                  </a:solidFill>
                  <a:prstDash val="solid"/>
                  <a:round/>
                  <a:headEnd type="none" w="med" len="med"/>
                  <a:tailEnd type="none" w="med" len="med"/>
                </a:ln>
              </p:spPr>
            </p:sp>
            <p:sp>
              <p:nvSpPr>
                <p:cNvPr id="100437" name="Line 84"/>
                <p:cNvSpPr/>
                <p:nvPr/>
              </p:nvSpPr>
              <p:spPr>
                <a:xfrm>
                  <a:off x="1199" y="2644"/>
                  <a:ext cx="331" cy="0"/>
                </a:xfrm>
                <a:prstGeom prst="line">
                  <a:avLst/>
                </a:prstGeom>
                <a:ln w="28575" cap="flat" cmpd="sng">
                  <a:solidFill>
                    <a:schemeClr val="tx1"/>
                  </a:solidFill>
                  <a:prstDash val="solid"/>
                  <a:round/>
                  <a:headEnd type="none" w="med" len="med"/>
                  <a:tailEnd type="none" w="med" len="med"/>
                </a:ln>
              </p:spPr>
            </p:sp>
            <p:sp>
              <p:nvSpPr>
                <p:cNvPr id="100438" name="Line 85"/>
                <p:cNvSpPr/>
                <p:nvPr/>
              </p:nvSpPr>
              <p:spPr>
                <a:xfrm flipH="1">
                  <a:off x="1677" y="2302"/>
                  <a:ext cx="221" cy="342"/>
                </a:xfrm>
                <a:prstGeom prst="line">
                  <a:avLst/>
                </a:prstGeom>
                <a:ln w="28575" cap="flat" cmpd="sng">
                  <a:solidFill>
                    <a:schemeClr val="tx1"/>
                  </a:solidFill>
                  <a:prstDash val="solid"/>
                  <a:round/>
                  <a:headEnd type="none" w="med" len="med"/>
                  <a:tailEnd type="none" w="med" len="med"/>
                </a:ln>
              </p:spPr>
            </p:sp>
            <p:sp>
              <p:nvSpPr>
                <p:cNvPr id="100439" name="Line 86"/>
                <p:cNvSpPr/>
                <p:nvPr/>
              </p:nvSpPr>
              <p:spPr>
                <a:xfrm flipV="1">
                  <a:off x="1162" y="1867"/>
                  <a:ext cx="479" cy="746"/>
                </a:xfrm>
                <a:prstGeom prst="line">
                  <a:avLst/>
                </a:prstGeom>
                <a:ln w="28575" cap="flat" cmpd="sng">
                  <a:solidFill>
                    <a:schemeClr val="tx1"/>
                  </a:solidFill>
                  <a:prstDash val="solid"/>
                  <a:round/>
                  <a:headEnd type="none" w="med" len="med"/>
                  <a:tailEnd type="none" w="med" len="med"/>
                </a:ln>
              </p:spPr>
            </p:sp>
            <p:sp>
              <p:nvSpPr>
                <p:cNvPr id="888919" name="Oval 87" descr="羊皮纸"/>
                <p:cNvSpPr>
                  <a:spLocks noChangeArrowheads="1"/>
                </p:cNvSpPr>
                <p:nvPr/>
              </p:nvSpPr>
              <p:spPr bwMode="auto">
                <a:xfrm>
                  <a:off x="720" y="2178"/>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5</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920" name="Oval 88" descr="羊皮纸"/>
                <p:cNvSpPr>
                  <a:spLocks noChangeArrowheads="1"/>
                </p:cNvSpPr>
                <p:nvPr/>
              </p:nvSpPr>
              <p:spPr bwMode="auto">
                <a:xfrm>
                  <a:off x="978" y="1773"/>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0</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921" name="Oval 89" descr="羊皮纸"/>
                <p:cNvSpPr>
                  <a:spLocks noChangeArrowheads="1"/>
                </p:cNvSpPr>
                <p:nvPr/>
              </p:nvSpPr>
              <p:spPr bwMode="auto">
                <a:xfrm>
                  <a:off x="978" y="2551"/>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4</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922" name="Oval 90" descr="羊皮纸"/>
                <p:cNvSpPr>
                  <a:spLocks noChangeArrowheads="1"/>
                </p:cNvSpPr>
                <p:nvPr/>
              </p:nvSpPr>
              <p:spPr bwMode="auto">
                <a:xfrm>
                  <a:off x="1272" y="2178"/>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6</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923" name="Oval 91" descr="羊皮纸"/>
                <p:cNvSpPr>
                  <a:spLocks noChangeArrowheads="1"/>
                </p:cNvSpPr>
                <p:nvPr/>
              </p:nvSpPr>
              <p:spPr bwMode="auto">
                <a:xfrm>
                  <a:off x="1530" y="1773"/>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1</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924" name="Oval 92" descr="羊皮纸"/>
                <p:cNvSpPr>
                  <a:spLocks noChangeArrowheads="1"/>
                </p:cNvSpPr>
                <p:nvPr/>
              </p:nvSpPr>
              <p:spPr bwMode="auto">
                <a:xfrm>
                  <a:off x="1530" y="2551"/>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3</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925" name="Oval 93" descr="羊皮纸"/>
                <p:cNvSpPr>
                  <a:spLocks noChangeArrowheads="1"/>
                </p:cNvSpPr>
                <p:nvPr/>
              </p:nvSpPr>
              <p:spPr bwMode="auto">
                <a:xfrm flipH="1">
                  <a:off x="1825" y="2178"/>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2</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00447" name="Text Box 94"/>
                <p:cNvSpPr txBox="1"/>
                <p:nvPr/>
              </p:nvSpPr>
              <p:spPr>
                <a:xfrm>
                  <a:off x="720" y="1944"/>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10</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100448" name="Text Box 95"/>
                <p:cNvSpPr txBox="1"/>
                <p:nvPr/>
              </p:nvSpPr>
              <p:spPr>
                <a:xfrm>
                  <a:off x="720" y="2443"/>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25</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100449" name="Text Box 96"/>
                <p:cNvSpPr txBox="1"/>
                <p:nvPr/>
              </p:nvSpPr>
              <p:spPr>
                <a:xfrm>
                  <a:off x="1235" y="1976"/>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14</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100450" name="Text Box 97"/>
                <p:cNvSpPr txBox="1"/>
                <p:nvPr/>
              </p:nvSpPr>
              <p:spPr>
                <a:xfrm>
                  <a:off x="1015" y="2349"/>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24</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100451" name="Text Box 98"/>
                <p:cNvSpPr txBox="1"/>
                <p:nvPr/>
              </p:nvSpPr>
              <p:spPr>
                <a:xfrm>
                  <a:off x="1235" y="2660"/>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22</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100452" name="Text Box 99"/>
                <p:cNvSpPr txBox="1"/>
                <p:nvPr/>
              </p:nvSpPr>
              <p:spPr>
                <a:xfrm>
                  <a:off x="1785" y="1976"/>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16</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100453" name="Text Box 100"/>
                <p:cNvSpPr txBox="1"/>
                <p:nvPr/>
              </p:nvSpPr>
              <p:spPr>
                <a:xfrm>
                  <a:off x="1490" y="2343"/>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18</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100454" name="Text Box 101"/>
                <p:cNvSpPr txBox="1"/>
                <p:nvPr/>
              </p:nvSpPr>
              <p:spPr>
                <a:xfrm>
                  <a:off x="1787" y="2405"/>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12</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100455" name="Line 102"/>
                <p:cNvSpPr/>
                <p:nvPr/>
              </p:nvSpPr>
              <p:spPr>
                <a:xfrm>
                  <a:off x="1199" y="1867"/>
                  <a:ext cx="331" cy="0"/>
                </a:xfrm>
                <a:prstGeom prst="line">
                  <a:avLst/>
                </a:prstGeom>
                <a:ln w="28575" cap="flat" cmpd="sng">
                  <a:solidFill>
                    <a:schemeClr val="tx1"/>
                  </a:solidFill>
                  <a:prstDash val="solid"/>
                  <a:round/>
                  <a:headEnd type="none" w="med" len="med"/>
                  <a:tailEnd type="none" w="med" len="med"/>
                </a:ln>
              </p:spPr>
            </p:sp>
          </p:grpSp>
        </p:grpSp>
      </p:grpSp>
      <p:grpSp>
        <p:nvGrpSpPr>
          <p:cNvPr id="100357" name="Group 4"/>
          <p:cNvGrpSpPr/>
          <p:nvPr/>
        </p:nvGrpSpPr>
        <p:grpSpPr>
          <a:xfrm rot="0">
            <a:off x="921385" y="2049780"/>
            <a:ext cx="2105025" cy="1531620"/>
            <a:chOff x="2119" y="1773"/>
            <a:chExt cx="1326" cy="965"/>
          </a:xfrm>
        </p:grpSpPr>
        <p:sp>
          <p:nvSpPr>
            <p:cNvPr id="100358" name="Line 5"/>
            <p:cNvSpPr/>
            <p:nvPr/>
          </p:nvSpPr>
          <p:spPr>
            <a:xfrm flipH="1">
              <a:off x="2267" y="1898"/>
              <a:ext cx="220" cy="342"/>
            </a:xfrm>
            <a:prstGeom prst="line">
              <a:avLst/>
            </a:prstGeom>
            <a:ln w="28575" cap="flat" cmpd="sng">
              <a:solidFill>
                <a:schemeClr val="tx1"/>
              </a:solidFill>
              <a:prstDash val="solid"/>
              <a:round/>
              <a:headEnd type="none" w="med" len="med"/>
              <a:tailEnd type="none" w="med" len="med"/>
            </a:ln>
          </p:spPr>
        </p:sp>
        <p:sp>
          <p:nvSpPr>
            <p:cNvPr id="100359" name="Text Box 6"/>
            <p:cNvSpPr txBox="1"/>
            <p:nvPr/>
          </p:nvSpPr>
          <p:spPr>
            <a:xfrm>
              <a:off x="2155" y="1944"/>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10</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888839" name="Oval 7" descr="羊皮纸"/>
            <p:cNvSpPr>
              <a:spLocks noChangeArrowheads="1"/>
            </p:cNvSpPr>
            <p:nvPr/>
          </p:nvSpPr>
          <p:spPr bwMode="auto">
            <a:xfrm>
              <a:off x="2119" y="2178"/>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5</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40" name="Oval 8" descr="羊皮纸"/>
            <p:cNvSpPr>
              <a:spLocks noChangeArrowheads="1"/>
            </p:cNvSpPr>
            <p:nvPr/>
          </p:nvSpPr>
          <p:spPr bwMode="auto">
            <a:xfrm>
              <a:off x="2377" y="1773"/>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0</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41" name="Oval 9" descr="羊皮纸"/>
            <p:cNvSpPr>
              <a:spLocks noChangeArrowheads="1"/>
            </p:cNvSpPr>
            <p:nvPr/>
          </p:nvSpPr>
          <p:spPr bwMode="auto">
            <a:xfrm>
              <a:off x="2377" y="2551"/>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4</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42" name="Oval 10" descr="羊皮纸"/>
            <p:cNvSpPr>
              <a:spLocks noChangeArrowheads="1"/>
            </p:cNvSpPr>
            <p:nvPr/>
          </p:nvSpPr>
          <p:spPr bwMode="auto">
            <a:xfrm>
              <a:off x="2672" y="2178"/>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6</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43" name="Oval 11" descr="羊皮纸"/>
            <p:cNvSpPr>
              <a:spLocks noChangeArrowheads="1"/>
            </p:cNvSpPr>
            <p:nvPr/>
          </p:nvSpPr>
          <p:spPr bwMode="auto">
            <a:xfrm>
              <a:off x="2929" y="1773"/>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1</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44" name="Oval 12" descr="羊皮纸"/>
            <p:cNvSpPr>
              <a:spLocks noChangeArrowheads="1"/>
            </p:cNvSpPr>
            <p:nvPr/>
          </p:nvSpPr>
          <p:spPr bwMode="auto">
            <a:xfrm>
              <a:off x="2929" y="2551"/>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3</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88845" name="Oval 13" descr="羊皮纸"/>
            <p:cNvSpPr>
              <a:spLocks noChangeArrowheads="1"/>
            </p:cNvSpPr>
            <p:nvPr/>
          </p:nvSpPr>
          <p:spPr bwMode="auto">
            <a:xfrm flipH="1">
              <a:off x="3224" y="2178"/>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2</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grpSp>
      <p:grpSp>
        <p:nvGrpSpPr>
          <p:cNvPr id="9" name="Group 15"/>
          <p:cNvGrpSpPr/>
          <p:nvPr/>
        </p:nvGrpSpPr>
        <p:grpSpPr>
          <a:xfrm>
            <a:off x="3719830" y="4197350"/>
            <a:ext cx="2128838" cy="1803401"/>
            <a:chOff x="3519" y="3049"/>
            <a:chExt cx="1341" cy="1136"/>
          </a:xfrm>
        </p:grpSpPr>
        <p:sp>
          <p:nvSpPr>
            <p:cNvPr id="10" name="Line 16"/>
            <p:cNvSpPr/>
            <p:nvPr/>
          </p:nvSpPr>
          <p:spPr>
            <a:xfrm>
              <a:off x="4476" y="3204"/>
              <a:ext cx="221" cy="311"/>
            </a:xfrm>
            <a:prstGeom prst="line">
              <a:avLst/>
            </a:prstGeom>
            <a:ln w="28575" cap="flat" cmpd="sng">
              <a:solidFill>
                <a:schemeClr val="tx1"/>
              </a:solidFill>
              <a:prstDash val="solid"/>
              <a:round/>
              <a:headEnd type="none" w="med" len="med"/>
              <a:tailEnd type="none" w="med" len="med"/>
            </a:ln>
          </p:spPr>
        </p:sp>
        <p:sp>
          <p:nvSpPr>
            <p:cNvPr id="11" name="Line 17"/>
            <p:cNvSpPr/>
            <p:nvPr/>
          </p:nvSpPr>
          <p:spPr>
            <a:xfrm>
              <a:off x="3924" y="3920"/>
              <a:ext cx="552" cy="0"/>
            </a:xfrm>
            <a:prstGeom prst="line">
              <a:avLst/>
            </a:prstGeom>
            <a:ln w="28575" cap="flat" cmpd="sng">
              <a:solidFill>
                <a:schemeClr val="tx1"/>
              </a:solidFill>
              <a:prstDash val="solid"/>
              <a:round/>
              <a:headEnd type="none" w="med" len="med"/>
              <a:tailEnd type="none" w="med" len="med"/>
            </a:ln>
          </p:spPr>
        </p:sp>
        <p:sp>
          <p:nvSpPr>
            <p:cNvPr id="12" name="Line 18"/>
            <p:cNvSpPr/>
            <p:nvPr/>
          </p:nvSpPr>
          <p:spPr>
            <a:xfrm flipH="1">
              <a:off x="4476" y="3577"/>
              <a:ext cx="221" cy="343"/>
            </a:xfrm>
            <a:prstGeom prst="line">
              <a:avLst/>
            </a:prstGeom>
            <a:ln w="28575" cap="flat" cmpd="sng">
              <a:solidFill>
                <a:schemeClr val="tx1"/>
              </a:solidFill>
              <a:prstDash val="solid"/>
              <a:round/>
              <a:headEnd type="none" w="med" len="med"/>
              <a:tailEnd type="none" w="med" len="med"/>
            </a:ln>
          </p:spPr>
        </p:sp>
        <p:sp>
          <p:nvSpPr>
            <p:cNvPr id="14" name="Line 20"/>
            <p:cNvSpPr/>
            <p:nvPr/>
          </p:nvSpPr>
          <p:spPr>
            <a:xfrm>
              <a:off x="3666" y="3577"/>
              <a:ext cx="221" cy="343"/>
            </a:xfrm>
            <a:prstGeom prst="line">
              <a:avLst/>
            </a:prstGeom>
            <a:ln w="28575" cap="flat" cmpd="sng">
              <a:solidFill>
                <a:schemeClr val="tx1"/>
              </a:solidFill>
              <a:prstDash val="solid"/>
              <a:round/>
              <a:headEnd type="none" w="med" len="med"/>
              <a:tailEnd type="none" w="med" len="med"/>
            </a:ln>
          </p:spPr>
        </p:sp>
        <p:sp>
          <p:nvSpPr>
            <p:cNvPr id="15" name="Line 21"/>
            <p:cNvSpPr/>
            <p:nvPr/>
          </p:nvSpPr>
          <p:spPr>
            <a:xfrm flipH="1">
              <a:off x="3629" y="3173"/>
              <a:ext cx="221" cy="342"/>
            </a:xfrm>
            <a:prstGeom prst="line">
              <a:avLst/>
            </a:prstGeom>
            <a:ln w="28575" cap="flat" cmpd="sng">
              <a:solidFill>
                <a:schemeClr val="tx1"/>
              </a:solidFill>
              <a:prstDash val="solid"/>
              <a:round/>
              <a:headEnd type="none" w="med" len="med"/>
              <a:tailEnd type="none" w="med" len="med"/>
            </a:ln>
          </p:spPr>
        </p:sp>
        <p:sp>
          <p:nvSpPr>
            <p:cNvPr id="16" name="Oval 22" descr="羊皮纸"/>
            <p:cNvSpPr>
              <a:spLocks noChangeArrowheads="1"/>
            </p:cNvSpPr>
            <p:nvPr/>
          </p:nvSpPr>
          <p:spPr bwMode="auto">
            <a:xfrm>
              <a:off x="3519" y="3453"/>
              <a:ext cx="220"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5</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7" name="Oval 23" descr="羊皮纸"/>
            <p:cNvSpPr>
              <a:spLocks noChangeArrowheads="1"/>
            </p:cNvSpPr>
            <p:nvPr/>
          </p:nvSpPr>
          <p:spPr bwMode="auto">
            <a:xfrm>
              <a:off x="3776" y="3049"/>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0</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8" name="Oval 24" descr="羊皮纸"/>
            <p:cNvSpPr>
              <a:spLocks noChangeArrowheads="1"/>
            </p:cNvSpPr>
            <p:nvPr/>
          </p:nvSpPr>
          <p:spPr bwMode="auto">
            <a:xfrm>
              <a:off x="3776" y="3826"/>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4</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9" name="Oval 25" descr="羊皮纸"/>
            <p:cNvSpPr>
              <a:spLocks noChangeArrowheads="1"/>
            </p:cNvSpPr>
            <p:nvPr/>
          </p:nvSpPr>
          <p:spPr bwMode="auto">
            <a:xfrm>
              <a:off x="4071" y="3453"/>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6</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20" name="Oval 26" descr="羊皮纸"/>
            <p:cNvSpPr>
              <a:spLocks noChangeArrowheads="1"/>
            </p:cNvSpPr>
            <p:nvPr/>
          </p:nvSpPr>
          <p:spPr bwMode="auto">
            <a:xfrm>
              <a:off x="4329" y="3049"/>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1</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21" name="Oval 27" descr="羊皮纸"/>
            <p:cNvSpPr>
              <a:spLocks noChangeArrowheads="1"/>
            </p:cNvSpPr>
            <p:nvPr/>
          </p:nvSpPr>
          <p:spPr bwMode="auto">
            <a:xfrm flipH="1">
              <a:off x="4623" y="3453"/>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2</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22" name="Text Box 28"/>
            <p:cNvSpPr txBox="1"/>
            <p:nvPr/>
          </p:nvSpPr>
          <p:spPr>
            <a:xfrm>
              <a:off x="3520" y="3220"/>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10</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23" name="Text Box 29"/>
            <p:cNvSpPr txBox="1"/>
            <p:nvPr/>
          </p:nvSpPr>
          <p:spPr>
            <a:xfrm>
              <a:off x="3520" y="3717"/>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25</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25" name="Text Box 31"/>
            <p:cNvSpPr txBox="1"/>
            <p:nvPr/>
          </p:nvSpPr>
          <p:spPr>
            <a:xfrm>
              <a:off x="4036" y="3934"/>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22</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26" name="Text Box 32"/>
            <p:cNvSpPr txBox="1"/>
            <p:nvPr/>
          </p:nvSpPr>
          <p:spPr>
            <a:xfrm>
              <a:off x="4585" y="3251"/>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16</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27" name="Text Box 33"/>
            <p:cNvSpPr txBox="1"/>
            <p:nvPr/>
          </p:nvSpPr>
          <p:spPr>
            <a:xfrm>
              <a:off x="4583" y="3717"/>
              <a:ext cx="275" cy="251"/>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12</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28" name="Oval 34" descr="羊皮纸"/>
            <p:cNvSpPr>
              <a:spLocks noChangeArrowheads="1"/>
            </p:cNvSpPr>
            <p:nvPr/>
          </p:nvSpPr>
          <p:spPr bwMode="auto">
            <a:xfrm>
              <a:off x="4365" y="3826"/>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3</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普里姆(Prim)算法设计思想：</a:t>
            </a:r>
            <a:r>
              <a:rPr lang="zh-CN" altLang="en-US" sz="2800" dirty="0">
                <a:latin typeface="黑体" panose="02010609060101010101" pitchFamily="2" charset="-122"/>
                <a:ea typeface="黑体" panose="02010609060101010101" pitchFamily="2" charset="-122"/>
                <a:cs typeface="黑体" panose="02010609060101010101" pitchFamily="2" charset="-122"/>
              </a:rPr>
              <a:t>每次找到的最小权值边，一头属于已选顶点</a:t>
            </a:r>
            <a:r>
              <a:rPr lang="en-US" altLang="zh-CN" sz="2800" dirty="0">
                <a:latin typeface="黑体" panose="02010609060101010101" pitchFamily="2" charset="-122"/>
                <a:ea typeface="黑体" panose="02010609060101010101" pitchFamily="2" charset="-122"/>
                <a:cs typeface="黑体" panose="02010609060101010101" pitchFamily="2" charset="-122"/>
              </a:rPr>
              <a:t>U</a:t>
            </a:r>
            <a:r>
              <a:rPr lang="zh-CN" altLang="en-US" sz="2800" dirty="0">
                <a:latin typeface="黑体" panose="02010609060101010101" pitchFamily="2" charset="-122"/>
                <a:ea typeface="黑体" panose="02010609060101010101" pitchFamily="2" charset="-122"/>
                <a:cs typeface="黑体" panose="02010609060101010101" pitchFamily="2" charset="-122"/>
              </a:rPr>
              <a:t>，一头属于未选顶点</a:t>
            </a:r>
            <a:r>
              <a:rPr lang="en-US" altLang="zh-CN" sz="2800" dirty="0">
                <a:latin typeface="黑体" panose="02010609060101010101" pitchFamily="2" charset="-122"/>
                <a:ea typeface="黑体" panose="02010609060101010101" pitchFamily="2" charset="-122"/>
                <a:cs typeface="黑体" panose="02010609060101010101" pitchFamily="2" charset="-122"/>
              </a:rPr>
              <a:t>V-U</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rPr>
              <a:t>设置一个辅助数组</a:t>
            </a:r>
            <a:r>
              <a:rPr lang="en-US" altLang="zh-CN" sz="2400" dirty="0">
                <a:latin typeface="黑体" panose="02010609060101010101" pitchFamily="2" charset="-122"/>
                <a:ea typeface="黑体" panose="02010609060101010101" pitchFamily="2" charset="-122"/>
                <a:cs typeface="黑体" panose="02010609060101010101" pitchFamily="2" charset="-122"/>
              </a:rPr>
              <a:t>closedge</a:t>
            </a:r>
            <a:r>
              <a:rPr lang="zh-CN" altLang="en-US" sz="2400" dirty="0">
                <a:latin typeface="黑体" panose="02010609060101010101" pitchFamily="2" charset="-122"/>
                <a:ea typeface="黑体" panose="02010609060101010101" pitchFamily="2" charset="-122"/>
                <a:cs typeface="黑体" panose="02010609060101010101" pitchFamily="2" charset="-122"/>
              </a:rPr>
              <a:t>，用于保存未选顶点的</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最小权值边</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closedge</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，而且这条边的另一个点必然输入已选顶点</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L="609600" lvl="1" indent="0" algn="l" eaLnBrk="1" hangingPunct="1">
              <a:buClrTx/>
              <a:buSzTx/>
              <a:buNone/>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例如顶点</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j</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对应</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closedge[j-1]</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，表示目前</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j</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的</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最小权值边</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closedge</a:t>
            </a:r>
            <a:endParaRPr lang="zh-CN" altLang="en-US" sz="2000" dirty="0">
              <a:latin typeface="黑体" panose="02010609060101010101" pitchFamily="2" charset="-122"/>
              <a:ea typeface="黑体" panose="02010609060101010101" pitchFamily="2" charset="-122"/>
              <a:cs typeface="黑体" panose="02010609060101010101" pitchFamily="2" charset="-122"/>
              <a:sym typeface="+mn-ea"/>
            </a:endParaRPr>
          </a:p>
          <a:p>
            <a:pPr marL="609600" lvl="1" indent="0" algn="l" eaLnBrk="1" hangingPunct="1">
              <a:buClrTx/>
              <a:buSzTx/>
              <a:buNone/>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其中</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closedge[j-1].adjvex</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表示这条边的另一个点</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属于已选顶点</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a:t>
            </a:r>
            <a:endParaRPr lang="en-US" altLang="zh-CN" sz="2000" dirty="0">
              <a:latin typeface="黑体" panose="02010609060101010101" pitchFamily="2" charset="-122"/>
              <a:ea typeface="黑体" panose="02010609060101010101" pitchFamily="2" charset="-122"/>
              <a:cs typeface="黑体" panose="02010609060101010101" pitchFamily="2" charset="-122"/>
              <a:sym typeface="+mn-ea"/>
            </a:endParaRPr>
          </a:p>
          <a:p>
            <a:pPr marL="609600" lvl="1" indent="0" algn="l" eaLnBrk="1" hangingPunct="1">
              <a:buClrTx/>
              <a:buSzTx/>
              <a:buNone/>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其中</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closedge[j-1].lowcost</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表示这条边的</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权值</a:t>
            </a:r>
            <a:endParaRPr lang="zh-CN" altLang="en-US" sz="2000" dirty="0">
              <a:latin typeface="黑体" panose="02010609060101010101" pitchFamily="2" charset="-122"/>
              <a:ea typeface="黑体" panose="02010609060101010101" pitchFamily="2" charset="-122"/>
              <a:cs typeface="黑体" panose="02010609060101010101" pitchFamily="2" charset="-122"/>
              <a:sym typeface="+mn-ea"/>
            </a:endParaRPr>
          </a:p>
          <a:p>
            <a:pPr marL="609600" lvl="1" indent="0" algn="l" eaLnBrk="1" hangingPunct="1">
              <a:buClrTx/>
              <a:buSzTx/>
              <a:buNone/>
            </a:pP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若</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closedge[j-1].lowcost</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为</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0</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，则说明这条边已选，顶点</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j</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属于已选顶点</a:t>
            </a:r>
            <a:endParaRPr lang="zh-CN" altLang="en-US" sz="20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7.4 </a:t>
            </a:r>
            <a:r>
              <a:rPr lang="zh-CN" altLang="en-US">
                <a:latin typeface="楷体" panose="02010609060101010101" charset="-122"/>
                <a:ea typeface="楷体" panose="02010609060101010101" charset="-122"/>
                <a:cs typeface="楷体" panose="02010609060101010101" charset="-122"/>
                <a:sym typeface="+mn-ea"/>
              </a:rPr>
              <a:t>图的</a:t>
            </a:r>
            <a:r>
              <a:rPr lang="zh-CN" altLang="en-US">
                <a:latin typeface="楷体" panose="02010609060101010101" charset="-122"/>
                <a:ea typeface="楷体" panose="02010609060101010101" charset="-122"/>
                <a:cs typeface="楷体" panose="02010609060101010101" charset="-122"/>
                <a:sym typeface="+mn-ea"/>
              </a:rPr>
              <a:t>连通</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5" name="对象 4"/>
          <p:cNvGraphicFramePr/>
          <p:nvPr/>
        </p:nvGraphicFramePr>
        <p:xfrm>
          <a:off x="1703705" y="2853055"/>
          <a:ext cx="5433060" cy="1506855"/>
        </p:xfrm>
        <a:graphic>
          <a:graphicData uri="http://schemas.openxmlformats.org/presentationml/2006/ole">
            <mc:AlternateContent xmlns:mc="http://schemas.openxmlformats.org/markup-compatibility/2006">
              <mc:Choice xmlns:v="urn:schemas-microsoft-com:vml" Requires="v">
                <p:oleObj spid="_x0000_s6" name="" r:id="rId1" imgW="4629150" imgH="1257300" progId="Paint.Picture">
                  <p:embed/>
                </p:oleObj>
              </mc:Choice>
              <mc:Fallback>
                <p:oleObj name="" r:id="rId1" imgW="4629150" imgH="1257300" progId="Paint.Picture">
                  <p:embed/>
                  <p:pic>
                    <p:nvPicPr>
                      <p:cNvPr id="0" name="图片 5"/>
                      <p:cNvPicPr/>
                      <p:nvPr/>
                    </p:nvPicPr>
                    <p:blipFill>
                      <a:blip r:embed="rId2"/>
                      <a:stretch>
                        <a:fillRect/>
                      </a:stretch>
                    </p:blipFill>
                    <p:spPr>
                      <a:xfrm>
                        <a:off x="1703705" y="2853055"/>
                        <a:ext cx="5433060" cy="1506855"/>
                      </a:xfrm>
                      <a:prstGeom prst="rect">
                        <a:avLst/>
                      </a:prstGeom>
                    </p:spPr>
                  </p:pic>
                </p:oleObj>
              </mc:Fallback>
            </mc:AlternateContent>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1031875"/>
          </a:xfrm>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普里姆(Prim)算法</a:t>
            </a: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实现</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函数</a:t>
            </a:r>
            <a:r>
              <a:rPr lang="en-US" altLang="zh-CN" sz="2400" dirty="0">
                <a:latin typeface="黑体" panose="02010609060101010101" pitchFamily="2" charset="-122"/>
                <a:ea typeface="黑体" panose="02010609060101010101" pitchFamily="2" charset="-122"/>
                <a:cs typeface="+mn-ea"/>
                <a:sym typeface="+mn-ea"/>
              </a:rPr>
              <a:t>minimum</a:t>
            </a:r>
            <a:r>
              <a:rPr lang="zh-CN" altLang="en-US" sz="2400" dirty="0">
                <a:latin typeface="黑体" panose="02010609060101010101" pitchFamily="2" charset="-122"/>
                <a:ea typeface="黑体" panose="02010609060101010101" pitchFamily="2" charset="-122"/>
                <a:cs typeface="+mn-ea"/>
                <a:sym typeface="+mn-ea"/>
              </a:rPr>
              <a:t>的</a:t>
            </a:r>
            <a:r>
              <a:rPr lang="en-US" altLang="zh-CN" sz="2400" dirty="0">
                <a:latin typeface="黑体" panose="02010609060101010101" pitchFamily="2" charset="-122"/>
                <a:ea typeface="黑体" panose="02010609060101010101" pitchFamily="2" charset="-122"/>
                <a:cs typeface="+mn-ea"/>
                <a:sym typeface="+mn-ea"/>
              </a:rPr>
              <a:t>k</a:t>
            </a:r>
            <a:endParaRPr lang="en-US" altLang="zh-CN"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7.4 </a:t>
            </a:r>
            <a:r>
              <a:rPr lang="zh-CN" altLang="en-US">
                <a:latin typeface="楷体" panose="02010609060101010101" charset="-122"/>
                <a:ea typeface="楷体" panose="02010609060101010101" charset="-122"/>
                <a:cs typeface="楷体" panose="02010609060101010101" charset="-122"/>
                <a:sym typeface="+mn-ea"/>
              </a:rPr>
              <a:t>图的</a:t>
            </a:r>
            <a:r>
              <a:rPr lang="zh-CN" altLang="en-US">
                <a:latin typeface="楷体" panose="02010609060101010101" charset="-122"/>
                <a:ea typeface="楷体" panose="02010609060101010101" charset="-122"/>
                <a:cs typeface="楷体" panose="02010609060101010101" charset="-122"/>
                <a:sym typeface="+mn-ea"/>
              </a:rPr>
              <a:t>连通</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11" name="对象 10"/>
          <p:cNvGraphicFramePr/>
          <p:nvPr/>
        </p:nvGraphicFramePr>
        <p:xfrm>
          <a:off x="429260" y="2060575"/>
          <a:ext cx="7718425" cy="4525645"/>
        </p:xfrm>
        <a:graphic>
          <a:graphicData uri="http://schemas.openxmlformats.org/presentationml/2006/ole">
            <mc:AlternateContent xmlns:mc="http://schemas.openxmlformats.org/markup-compatibility/2006">
              <mc:Choice xmlns:v="urn:schemas-microsoft-com:vml" Requires="v">
                <p:oleObj spid="_x0000_s12" name="" r:id="rId1" imgW="6924675" imgH="3838575" progId="Paint.Picture">
                  <p:embed/>
                </p:oleObj>
              </mc:Choice>
              <mc:Fallback>
                <p:oleObj name="" r:id="rId1" imgW="6924675" imgH="3838575" progId="Paint.Picture">
                  <p:embed/>
                  <p:pic>
                    <p:nvPicPr>
                      <p:cNvPr id="0" name="图片 11"/>
                      <p:cNvPicPr/>
                      <p:nvPr/>
                    </p:nvPicPr>
                    <p:blipFill>
                      <a:blip r:embed="rId2"/>
                      <a:stretch>
                        <a:fillRect/>
                      </a:stretch>
                    </p:blipFill>
                    <p:spPr>
                      <a:xfrm>
                        <a:off x="429260" y="2060575"/>
                        <a:ext cx="7718425" cy="4525645"/>
                      </a:xfrm>
                      <a:prstGeom prst="rect">
                        <a:avLst/>
                      </a:prstGeom>
                    </p:spPr>
                  </p:pic>
                </p:oleObj>
              </mc:Fallback>
            </mc:AlternateContent>
          </a:graphicData>
        </a:graphic>
      </p:graphicFrame>
      <p:graphicFrame>
        <p:nvGraphicFramePr>
          <p:cNvPr id="7" name="对象 6"/>
          <p:cNvGraphicFramePr/>
          <p:nvPr/>
        </p:nvGraphicFramePr>
        <p:xfrm>
          <a:off x="3935730" y="1484630"/>
          <a:ext cx="7653655" cy="339725"/>
        </p:xfrm>
        <a:graphic>
          <a:graphicData uri="http://schemas.openxmlformats.org/presentationml/2006/ole">
            <mc:AlternateContent xmlns:mc="http://schemas.openxmlformats.org/markup-compatibility/2006">
              <mc:Choice xmlns:v="urn:schemas-microsoft-com:vml" Requires="v">
                <p:oleObj spid="_x0000_s8" name="" r:id="rId3" imgW="7591425" imgH="238125" progId="Paint.Picture">
                  <p:embed/>
                </p:oleObj>
              </mc:Choice>
              <mc:Fallback>
                <p:oleObj name="" r:id="rId3" imgW="7591425" imgH="238125" progId="Paint.Picture">
                  <p:embed/>
                  <p:pic>
                    <p:nvPicPr>
                      <p:cNvPr id="0" name="图片 7"/>
                      <p:cNvPicPr/>
                      <p:nvPr/>
                    </p:nvPicPr>
                    <p:blipFill>
                      <a:blip r:embed="rId4"/>
                      <a:stretch>
                        <a:fillRect/>
                      </a:stretch>
                    </p:blipFill>
                    <p:spPr>
                      <a:xfrm>
                        <a:off x="3935730" y="1484630"/>
                        <a:ext cx="7653655" cy="339725"/>
                      </a:xfrm>
                      <a:prstGeom prst="rect">
                        <a:avLst/>
                      </a:prstGeom>
                    </p:spPr>
                  </p:pic>
                </p:oleObj>
              </mc:Fallback>
            </mc:AlternateContent>
          </a:graphicData>
        </a:graphic>
      </p:graphicFrame>
      <p:sp>
        <p:nvSpPr>
          <p:cNvPr id="9" name="文本框 8"/>
          <p:cNvSpPr txBox="1"/>
          <p:nvPr/>
        </p:nvSpPr>
        <p:spPr>
          <a:xfrm>
            <a:off x="6600190" y="5589270"/>
            <a:ext cx="4618990" cy="664210"/>
          </a:xfrm>
          <a:prstGeom prst="rect">
            <a:avLst/>
          </a:prstGeom>
        </p:spPr>
        <p:txBody>
          <a:bodyPr vert="horz" wrap="square" lIns="91440" tIns="45720" rIns="91440" bIns="45720" rtlCol="0" anchor="t">
            <a:noAutofit/>
          </a:bodyPr>
          <a:p>
            <a:pPr marL="0" lvl="0" indent="0">
              <a:lnSpc>
                <a:spcPct val="90000"/>
              </a:lnSpc>
              <a:spcBef>
                <a:spcPts val="1000"/>
              </a:spcBef>
              <a:buClr>
                <a:schemeClr val="accent2"/>
              </a:buClr>
              <a:buFont typeface="Wingdings" panose="05000000000000000000" pitchFamily="2" charset="2"/>
              <a:buNone/>
            </a:pP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if</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其实是更新已选顶点</a:t>
            </a:r>
            <a:r>
              <a:rPr lang="en-US" altLang="zh-CN" sz="2000" dirty="0">
                <a:latin typeface="黑体" panose="02010609060101010101" pitchFamily="2" charset="-122"/>
                <a:ea typeface="黑体" panose="02010609060101010101" pitchFamily="2" charset="-122"/>
                <a:cs typeface="黑体" panose="02010609060101010101" pitchFamily="2" charset="-122"/>
                <a:sym typeface="+mn-ea"/>
              </a:rPr>
              <a:t>k</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到其他未选顶点的最小权值边，用于下一次</a:t>
            </a:r>
            <a:r>
              <a:rPr lang="zh-CN" altLang="en-US" sz="2000" dirty="0">
                <a:latin typeface="黑体" panose="02010609060101010101" pitchFamily="2" charset="-122"/>
                <a:ea typeface="黑体" panose="02010609060101010101" pitchFamily="2" charset="-122"/>
                <a:cs typeface="黑体" panose="02010609060101010101" pitchFamily="2" charset="-122"/>
                <a:sym typeface="+mn-ea"/>
              </a:rPr>
              <a:t>选择</a:t>
            </a:r>
            <a:endParaRPr lang="zh-CN" altLang="en-US" sz="2000" dirty="0">
              <a:latin typeface="黑体" panose="02010609060101010101" pitchFamily="2" charset="-122"/>
              <a:ea typeface="黑体" panose="02010609060101010101" pitchFamily="2" charset="-122"/>
              <a:cs typeface="黑体" panose="02010609060101010101" pitchFamily="2" charset="-122"/>
              <a:sym typeface="+mn-ea"/>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1031875"/>
          </a:xfrm>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普里姆(Prim)算法示例，课本表格图</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7.17</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en-US" altLang="zh-CN"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7.4 </a:t>
            </a:r>
            <a:r>
              <a:rPr lang="zh-CN" altLang="en-US">
                <a:latin typeface="楷体" panose="02010609060101010101" charset="-122"/>
                <a:ea typeface="楷体" panose="02010609060101010101" charset="-122"/>
                <a:cs typeface="楷体" panose="02010609060101010101" charset="-122"/>
                <a:sym typeface="+mn-ea"/>
              </a:rPr>
              <a:t>图的</a:t>
            </a:r>
            <a:r>
              <a:rPr lang="zh-CN" altLang="en-US">
                <a:latin typeface="楷体" panose="02010609060101010101" charset="-122"/>
                <a:ea typeface="楷体" panose="02010609060101010101" charset="-122"/>
                <a:cs typeface="楷体" panose="02010609060101010101" charset="-122"/>
                <a:sym typeface="+mn-ea"/>
              </a:rPr>
              <a:t>连通</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nvPicPr>
        <p:blipFill>
          <a:blip r:embed="rId1"/>
          <a:stretch>
            <a:fillRect/>
          </a:stretch>
        </p:blipFill>
        <p:spPr>
          <a:xfrm>
            <a:off x="1559560" y="1556385"/>
            <a:ext cx="8305165" cy="441960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普里姆(Prim)算法分析</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从算法看出，算法</a:t>
            </a:r>
            <a:r>
              <a:rPr lang="zh-CN" altLang="en-US" dirty="0">
                <a:latin typeface="黑体" panose="02010609060101010101" pitchFamily="2" charset="-122"/>
                <a:ea typeface="黑体" panose="02010609060101010101" pitchFamily="2" charset="-122"/>
                <a:cs typeface="+mn-ea"/>
                <a:sym typeface="+mn-ea"/>
              </a:rPr>
              <a:t>只是和顶点数量相关，与边无关</a:t>
            </a:r>
            <a:endParaRPr lang="zh-CN" altLang="en-US"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时间复杂度为O(n</a:t>
            </a:r>
            <a:r>
              <a:rPr lang="zh-CN" altLang="en-US" sz="2400" baseline="30000" dirty="0">
                <a:latin typeface="黑体" panose="02010609060101010101" pitchFamily="2" charset="-122"/>
                <a:ea typeface="黑体" panose="02010609060101010101" pitchFamily="2" charset="-122"/>
                <a:cs typeface="+mn-ea"/>
                <a:sym typeface="+mn-ea"/>
              </a:rPr>
              <a:t>2</a:t>
            </a:r>
            <a:r>
              <a:rPr lang="zh-CN" altLang="en-US" sz="2400" dirty="0">
                <a:latin typeface="黑体" panose="02010609060101010101" pitchFamily="2" charset="-122"/>
                <a:ea typeface="黑体" panose="02010609060101010101" pitchFamily="2" charset="-122"/>
                <a:cs typeface="+mn-ea"/>
                <a:sym typeface="+mn-ea"/>
              </a:rPr>
              <a:t>)</a:t>
            </a: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普里姆</a:t>
            </a:r>
            <a:r>
              <a:rPr lang="zh-CN" altLang="en-US" sz="2400" dirty="0">
                <a:latin typeface="黑体" panose="02010609060101010101" pitchFamily="2" charset="-122"/>
                <a:ea typeface="黑体" panose="02010609060101010101" pitchFamily="2" charset="-122"/>
                <a:cs typeface="+mn-ea"/>
                <a:sym typeface="+mn-ea"/>
              </a:rPr>
              <a:t>适用于边稠密的网，</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当一个通信网的点数量少但边数量多，则用普里姆</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7.4 </a:t>
            </a:r>
            <a:r>
              <a:rPr lang="zh-CN" altLang="en-US">
                <a:latin typeface="楷体" panose="02010609060101010101" charset="-122"/>
                <a:ea typeface="楷体" panose="02010609060101010101" charset="-122"/>
                <a:cs typeface="楷体" panose="02010609060101010101" charset="-122"/>
                <a:sym typeface="+mn-ea"/>
              </a:rPr>
              <a:t>图的</a:t>
            </a:r>
            <a:r>
              <a:rPr lang="zh-CN" altLang="en-US">
                <a:latin typeface="楷体" panose="02010609060101010101" charset="-122"/>
                <a:ea typeface="楷体" panose="02010609060101010101" charset="-122"/>
                <a:cs typeface="楷体" panose="02010609060101010101" charset="-122"/>
                <a:sym typeface="+mn-ea"/>
              </a:rPr>
              <a:t>连通</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最小生成树生成算法——克鲁斯卡尔(Kruskal)算法</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假设</a:t>
            </a:r>
            <a:r>
              <a:rPr lang="en-US" altLang="zh-CN" sz="2400" dirty="0">
                <a:latin typeface="黑体" panose="02010609060101010101" pitchFamily="2" charset="-122"/>
                <a:ea typeface="黑体" panose="02010609060101010101" pitchFamily="2" charset="-122"/>
                <a:cs typeface="+mn-ea"/>
                <a:sym typeface="+mn-ea"/>
              </a:rPr>
              <a:t>G</a:t>
            </a:r>
            <a:r>
              <a:rPr lang="zh-CN" altLang="en-US" sz="2400" dirty="0">
                <a:latin typeface="黑体" panose="02010609060101010101" pitchFamily="2" charset="-122"/>
                <a:ea typeface="黑体" panose="02010609060101010101" pitchFamily="2" charset="-122"/>
                <a:cs typeface="+mn-ea"/>
                <a:sym typeface="+mn-ea"/>
              </a:rPr>
              <a:t>=(V,E)是连通网，设非连通图T={V,{}}，图中每个顶点自成一个连通分量</a:t>
            </a:r>
            <a:endParaRPr lang="zh-CN" altLang="en-US" sz="2400" dirty="0">
              <a:latin typeface="黑体" panose="02010609060101010101" pitchFamily="2" charset="-122"/>
              <a:ea typeface="黑体" panose="02010609060101010101" pitchFamily="2" charset="-122"/>
              <a:cs typeface="+mn-ea"/>
              <a:sym typeface="+mn-ea"/>
            </a:endParaRPr>
          </a:p>
          <a:p>
            <a:pPr marL="609600" lvl="1" indent="0" algn="l" eaLnBrk="1" hangingPunct="1">
              <a:buClrTx/>
              <a:buSzTx/>
              <a:buNone/>
            </a:pPr>
            <a:r>
              <a:rPr lang="en-US" altLang="zh-CN" sz="2400" dirty="0">
                <a:latin typeface="黑体" panose="02010609060101010101" pitchFamily="2" charset="-122"/>
                <a:ea typeface="黑体" panose="02010609060101010101" pitchFamily="2" charset="-122"/>
                <a:cs typeface="+mn-ea"/>
                <a:sym typeface="+mn-ea"/>
              </a:rPr>
              <a:t>1</a:t>
            </a:r>
            <a:r>
              <a:rPr lang="zh-CN" altLang="en-US" sz="2400" dirty="0">
                <a:latin typeface="黑体" panose="02010609060101010101" pitchFamily="2" charset="-122"/>
                <a:ea typeface="黑体" panose="02010609060101010101" pitchFamily="2" charset="-122"/>
                <a:cs typeface="+mn-ea"/>
                <a:sym typeface="+mn-ea"/>
              </a:rPr>
              <a:t>.在E中找一条代价最小，且其两个顶点分别依附不同的连通分量的边，将其加入T中</a:t>
            </a:r>
            <a:endParaRPr lang="zh-CN" altLang="en-US" sz="2400" b="0" dirty="0">
              <a:latin typeface="黑体" panose="02010609060101010101" pitchFamily="2" charset="-122"/>
              <a:ea typeface="黑体" panose="02010609060101010101" pitchFamily="2" charset="-122"/>
              <a:cs typeface="+mn-ea"/>
            </a:endParaRPr>
          </a:p>
          <a:p>
            <a:pPr marL="609600" lvl="1" indent="0" algn="l" eaLnBrk="1" hangingPunct="1">
              <a:spcBef>
                <a:spcPct val="20000"/>
              </a:spcBef>
              <a:buClrTx/>
              <a:buSzTx/>
              <a:buNone/>
            </a:pPr>
            <a:r>
              <a:rPr lang="en-US" altLang="zh-CN" sz="2400" dirty="0">
                <a:latin typeface="黑体" panose="02010609060101010101" pitchFamily="2" charset="-122"/>
                <a:ea typeface="黑体" panose="02010609060101010101" pitchFamily="2" charset="-122"/>
                <a:cs typeface="+mn-ea"/>
                <a:sym typeface="+mn-ea"/>
              </a:rPr>
              <a:t>2</a:t>
            </a:r>
            <a:r>
              <a:rPr lang="zh-CN" altLang="en-US" sz="2400" dirty="0">
                <a:latin typeface="黑体" panose="02010609060101010101" pitchFamily="2" charset="-122"/>
                <a:ea typeface="黑体" panose="02010609060101010101" pitchFamily="2" charset="-122"/>
                <a:cs typeface="+mn-ea"/>
                <a:sym typeface="+mn-ea"/>
              </a:rPr>
              <a:t>.重复</a:t>
            </a:r>
            <a:r>
              <a:rPr lang="en-US" altLang="zh-CN" sz="2400" dirty="0">
                <a:latin typeface="黑体" panose="02010609060101010101" pitchFamily="2" charset="-122"/>
                <a:ea typeface="黑体" panose="02010609060101010101" pitchFamily="2" charset="-122"/>
                <a:cs typeface="+mn-ea"/>
                <a:sym typeface="+mn-ea"/>
              </a:rPr>
              <a:t>1</a:t>
            </a:r>
            <a:r>
              <a:rPr lang="zh-CN" altLang="en-US" sz="2400" dirty="0">
                <a:latin typeface="黑体" panose="02010609060101010101" pitchFamily="2" charset="-122"/>
                <a:ea typeface="黑体" panose="02010609060101010101" pitchFamily="2" charset="-122"/>
                <a:cs typeface="+mn-ea"/>
                <a:sym typeface="+mn-ea"/>
              </a:rPr>
              <a:t>，直到T中所有顶点都在同一连通分量上</a:t>
            </a:r>
            <a:endParaRPr lang="zh-CN" altLang="en-US" sz="2400" b="0" dirty="0">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7.4 </a:t>
            </a:r>
            <a:r>
              <a:rPr lang="zh-CN" altLang="en-US">
                <a:latin typeface="楷体" panose="02010609060101010101" charset="-122"/>
                <a:ea typeface="楷体" panose="02010609060101010101" charset="-122"/>
                <a:cs typeface="楷体" panose="02010609060101010101" charset="-122"/>
                <a:sym typeface="+mn-ea"/>
              </a:rPr>
              <a:t>图的</a:t>
            </a:r>
            <a:r>
              <a:rPr lang="zh-CN" altLang="en-US">
                <a:latin typeface="楷体" panose="02010609060101010101" charset="-122"/>
                <a:ea typeface="楷体" panose="02010609060101010101" charset="-122"/>
                <a:cs typeface="楷体" panose="02010609060101010101" charset="-122"/>
                <a:sym typeface="+mn-ea"/>
              </a:rPr>
              <a:t>连通</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克鲁斯卡尔(Kruskal)算法示例</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7.4 </a:t>
            </a:r>
            <a:r>
              <a:rPr lang="zh-CN" altLang="en-US">
                <a:latin typeface="楷体" panose="02010609060101010101" charset="-122"/>
                <a:ea typeface="楷体" panose="02010609060101010101" charset="-122"/>
                <a:cs typeface="楷体" panose="02010609060101010101" charset="-122"/>
                <a:sym typeface="+mn-ea"/>
              </a:rPr>
              <a:t>图的</a:t>
            </a:r>
            <a:r>
              <a:rPr lang="zh-CN" altLang="en-US">
                <a:latin typeface="楷体" panose="02010609060101010101" charset="-122"/>
                <a:ea typeface="楷体" panose="02010609060101010101" charset="-122"/>
                <a:cs typeface="楷体" panose="02010609060101010101" charset="-122"/>
                <a:sym typeface="+mn-ea"/>
              </a:rPr>
              <a:t>连通</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
        <p:nvSpPr>
          <p:cNvPr id="103429" name="Text Box 103"/>
          <p:cNvSpPr txBox="1"/>
          <p:nvPr/>
        </p:nvSpPr>
        <p:spPr>
          <a:xfrm>
            <a:off x="2711450" y="5826125"/>
            <a:ext cx="7391400" cy="398780"/>
          </a:xfrm>
          <a:prstGeom prst="rect">
            <a:avLst/>
          </a:prstGeom>
          <a:noFill/>
          <a:ln w="9525">
            <a:noFill/>
          </a:ln>
        </p:spPr>
        <p:txBody>
          <a:bodyPr anchor="t" anchorCtr="0">
            <a:spAutoFit/>
          </a:bodyPr>
          <a:p>
            <a:r>
              <a:rPr lang="en-US" altLang="zh-CN" sz="2000" b="1" dirty="0">
                <a:latin typeface="Times New Roman" panose="02020603050405020304" pitchFamily="18" charset="0"/>
                <a:ea typeface="宋体" panose="02010600030101010101" pitchFamily="2" charset="-122"/>
              </a:rPr>
              <a:t>(c)                       </a:t>
            </a:r>
            <a:r>
              <a:rPr lang="zh-CN" altLang="en-US" sz="2000" b="1" dirty="0">
                <a:latin typeface="Times New Roman" panose="02020603050405020304" pitchFamily="18" charset="0"/>
                <a:ea typeface="宋体" panose="02010600030101010101" pitchFamily="2" charset="-122"/>
              </a:rPr>
              <a:t>　　　　　 </a:t>
            </a:r>
            <a:r>
              <a:rPr lang="en-US" altLang="zh-CN" sz="2000" b="1" dirty="0">
                <a:latin typeface="Times New Roman" panose="02020603050405020304" pitchFamily="18" charset="0"/>
                <a:ea typeface="宋体" panose="02010600030101010101" pitchFamily="2" charset="-122"/>
              </a:rPr>
              <a:t>(d)            </a:t>
            </a:r>
            <a:r>
              <a:rPr lang="zh-CN" altLang="en-US" sz="2000" b="1" dirty="0">
                <a:latin typeface="Times New Roman" panose="02020603050405020304" pitchFamily="18" charset="0"/>
                <a:ea typeface="宋体" panose="02010600030101010101" pitchFamily="2" charset="-122"/>
              </a:rPr>
              <a:t>　　　　         </a:t>
            </a:r>
            <a:r>
              <a:rPr lang="en-US" altLang="zh-CN" sz="2000" b="1" dirty="0">
                <a:latin typeface="Times New Roman" panose="02020603050405020304" pitchFamily="18" charset="0"/>
                <a:ea typeface="宋体" panose="02010600030101010101" pitchFamily="2" charset="-122"/>
              </a:rPr>
              <a:t>(e) (f)</a:t>
            </a:r>
            <a:endParaRPr lang="en-US" altLang="zh-CN" sz="2000" dirty="0">
              <a:latin typeface="Times New Roman" panose="02020603050405020304" pitchFamily="18" charset="0"/>
              <a:ea typeface="宋体" panose="02010600030101010101" pitchFamily="2" charset="-122"/>
            </a:endParaRPr>
          </a:p>
        </p:txBody>
      </p:sp>
      <p:sp>
        <p:nvSpPr>
          <p:cNvPr id="103430" name="Text Box 104"/>
          <p:cNvSpPr txBox="1"/>
          <p:nvPr/>
        </p:nvSpPr>
        <p:spPr>
          <a:xfrm>
            <a:off x="2711450" y="3716338"/>
            <a:ext cx="7620000" cy="398780"/>
          </a:xfrm>
          <a:prstGeom prst="rect">
            <a:avLst/>
          </a:prstGeom>
          <a:noFill/>
          <a:ln w="9525">
            <a:noFill/>
          </a:ln>
        </p:spPr>
        <p:txBody>
          <a:bodyPr anchor="t" anchorCtr="0">
            <a:spAutoFit/>
          </a:bodyPr>
          <a:p>
            <a:r>
              <a:rPr lang="zh-CN" altLang="en-US" sz="2000" dirty="0">
                <a:latin typeface="Times New Roman" panose="02020603050405020304" pitchFamily="18" charset="0"/>
                <a:ea typeface="隶书" panose="02010509060101010101" pitchFamily="49" charset="-122"/>
              </a:rPr>
              <a:t>原图                     　　　　 </a:t>
            </a:r>
            <a:r>
              <a:rPr lang="en-US" altLang="zh-CN" sz="2000" b="1" dirty="0">
                <a:latin typeface="Times New Roman" panose="02020603050405020304" pitchFamily="18" charset="0"/>
                <a:ea typeface="宋体" panose="02010600030101010101" pitchFamily="2" charset="-122"/>
              </a:rPr>
              <a:t>(a)                     </a:t>
            </a:r>
            <a:r>
              <a:rPr lang="zh-CN" altLang="en-US" sz="2000" b="1" dirty="0">
                <a:latin typeface="Times New Roman" panose="02020603050405020304" pitchFamily="18" charset="0"/>
                <a:ea typeface="宋体" panose="02010600030101010101" pitchFamily="2" charset="-122"/>
              </a:rPr>
              <a:t>　 　　　   </a:t>
            </a:r>
            <a:r>
              <a:rPr lang="en-US" altLang="zh-CN" sz="2000" b="1" dirty="0">
                <a:latin typeface="Times New Roman" panose="02020603050405020304" pitchFamily="18" charset="0"/>
                <a:ea typeface="宋体" panose="02010600030101010101" pitchFamily="2" charset="-122"/>
              </a:rPr>
              <a:t>(b)</a:t>
            </a:r>
            <a:endParaRPr lang="en-US" altLang="zh-CN" sz="2000" dirty="0">
              <a:latin typeface="Times New Roman" panose="02020603050405020304" pitchFamily="18" charset="0"/>
              <a:ea typeface="宋体" panose="02010600030101010101" pitchFamily="2" charset="-122"/>
            </a:endParaRPr>
          </a:p>
        </p:txBody>
      </p:sp>
      <p:grpSp>
        <p:nvGrpSpPr>
          <p:cNvPr id="103431" name="Group 105"/>
          <p:cNvGrpSpPr/>
          <p:nvPr/>
        </p:nvGrpSpPr>
        <p:grpSpPr>
          <a:xfrm>
            <a:off x="4845050" y="2192338"/>
            <a:ext cx="2105025" cy="1531937"/>
            <a:chOff x="2112" y="1776"/>
            <a:chExt cx="1326" cy="965"/>
          </a:xfrm>
        </p:grpSpPr>
        <p:sp>
          <p:nvSpPr>
            <p:cNvPr id="103432" name="Line 106"/>
            <p:cNvSpPr/>
            <p:nvPr/>
          </p:nvSpPr>
          <p:spPr>
            <a:xfrm flipH="1">
              <a:off x="2222" y="1901"/>
              <a:ext cx="221" cy="342"/>
            </a:xfrm>
            <a:prstGeom prst="line">
              <a:avLst/>
            </a:prstGeom>
            <a:ln w="28575" cap="flat" cmpd="sng">
              <a:solidFill>
                <a:schemeClr val="tx1"/>
              </a:solidFill>
              <a:prstDash val="solid"/>
              <a:round/>
              <a:headEnd type="none" w="med" len="med"/>
              <a:tailEnd type="none" w="med" len="med"/>
            </a:ln>
          </p:spPr>
        </p:sp>
        <p:sp>
          <p:nvSpPr>
            <p:cNvPr id="890987" name="Oval 107" descr="羊皮纸"/>
            <p:cNvSpPr>
              <a:spLocks noChangeArrowheads="1"/>
            </p:cNvSpPr>
            <p:nvPr/>
          </p:nvSpPr>
          <p:spPr bwMode="auto">
            <a:xfrm>
              <a:off x="2112" y="2181"/>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5</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03434" name="Oval 108" descr="羊皮纸"/>
            <p:cNvSpPr/>
            <p:nvPr/>
          </p:nvSpPr>
          <p:spPr>
            <a:xfrm>
              <a:off x="2370" y="1776"/>
              <a:ext cx="221" cy="187"/>
            </a:xfrm>
            <a:prstGeom prst="ellipse">
              <a:avLst/>
            </a:prstGeom>
            <a:blipFill rotWithShape="0">
              <a:blip r:embed="rId1"/>
            </a:blipFill>
            <a:ln w="9525" cap="flat" cmpd="sng">
              <a:solidFill>
                <a:schemeClr val="tx1"/>
              </a:solidFill>
              <a:prstDash val="solid"/>
              <a:round/>
              <a:headEnd type="none" w="med" len="med"/>
              <a:tailEnd type="none" w="med" len="med"/>
            </a:ln>
            <a:effectLst>
              <a:outerShdw dist="35921" dir="2699999" algn="ctr" rotWithShape="0">
                <a:schemeClr val="bg2"/>
              </a:outerShdw>
            </a:effectLst>
          </p:spPr>
          <p:txBody>
            <a:bodyPr wrap="none" anchor="ctr" anchorCtr="0"/>
            <a:p>
              <a:pPr algn="ctr"/>
              <a:r>
                <a:rPr lang="en-US" altLang="zh-CN" sz="2000" b="1" dirty="0">
                  <a:solidFill>
                    <a:schemeClr val="hlink"/>
                  </a:solidFill>
                  <a:latin typeface="Times New Roman" panose="02020603050405020304" pitchFamily="18" charset="0"/>
                  <a:ea typeface="宋体" panose="02010600030101010101" pitchFamily="2" charset="-122"/>
                </a:rPr>
                <a:t>0</a:t>
              </a:r>
              <a:endParaRPr lang="en-US" altLang="zh-CN" sz="2000" b="1" dirty="0">
                <a:solidFill>
                  <a:schemeClr val="hlink"/>
                </a:solidFill>
                <a:latin typeface="Times New Roman" panose="02020603050405020304" pitchFamily="18" charset="0"/>
                <a:ea typeface="宋体" panose="02010600030101010101" pitchFamily="2" charset="-122"/>
              </a:endParaRPr>
            </a:p>
          </p:txBody>
        </p:sp>
        <p:sp>
          <p:nvSpPr>
            <p:cNvPr id="890989" name="Oval 109" descr="羊皮纸"/>
            <p:cNvSpPr>
              <a:spLocks noChangeArrowheads="1"/>
            </p:cNvSpPr>
            <p:nvPr/>
          </p:nvSpPr>
          <p:spPr bwMode="auto">
            <a:xfrm>
              <a:off x="2370" y="2554"/>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4</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0990" name="Oval 110" descr="羊皮纸"/>
            <p:cNvSpPr>
              <a:spLocks noChangeArrowheads="1"/>
            </p:cNvSpPr>
            <p:nvPr/>
          </p:nvSpPr>
          <p:spPr bwMode="auto">
            <a:xfrm>
              <a:off x="2664" y="2181"/>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6</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0991" name="Oval 111" descr="羊皮纸"/>
            <p:cNvSpPr>
              <a:spLocks noChangeArrowheads="1"/>
            </p:cNvSpPr>
            <p:nvPr/>
          </p:nvSpPr>
          <p:spPr bwMode="auto">
            <a:xfrm>
              <a:off x="2922" y="1776"/>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1</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0992" name="Oval 112" descr="羊皮纸"/>
            <p:cNvSpPr>
              <a:spLocks noChangeArrowheads="1"/>
            </p:cNvSpPr>
            <p:nvPr/>
          </p:nvSpPr>
          <p:spPr bwMode="auto">
            <a:xfrm>
              <a:off x="2922" y="2554"/>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3</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0993" name="Oval 113" descr="羊皮纸"/>
            <p:cNvSpPr>
              <a:spLocks noChangeArrowheads="1"/>
            </p:cNvSpPr>
            <p:nvPr/>
          </p:nvSpPr>
          <p:spPr bwMode="auto">
            <a:xfrm flipH="1">
              <a:off x="3217" y="2181"/>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2</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03440" name="Text Box 114"/>
            <p:cNvSpPr txBox="1"/>
            <p:nvPr/>
          </p:nvSpPr>
          <p:spPr>
            <a:xfrm>
              <a:off x="2112" y="1920"/>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10</a:t>
              </a:r>
              <a:endParaRPr lang="en-US" altLang="zh-CN" sz="2000" b="1" dirty="0">
                <a:solidFill>
                  <a:srgbClr val="2BDC08"/>
                </a:solidFill>
                <a:latin typeface="Times New Roman" panose="02020603050405020304" pitchFamily="18" charset="0"/>
                <a:ea typeface="宋体" panose="02010600030101010101" pitchFamily="2" charset="-122"/>
              </a:endParaRPr>
            </a:p>
          </p:txBody>
        </p:sp>
      </p:grpSp>
      <p:grpSp>
        <p:nvGrpSpPr>
          <p:cNvPr id="103441" name="Group 115"/>
          <p:cNvGrpSpPr/>
          <p:nvPr/>
        </p:nvGrpSpPr>
        <p:grpSpPr>
          <a:xfrm>
            <a:off x="7740650" y="2192338"/>
            <a:ext cx="2112963" cy="1531937"/>
            <a:chOff x="3936" y="1776"/>
            <a:chExt cx="1331" cy="965"/>
          </a:xfrm>
        </p:grpSpPr>
        <p:sp>
          <p:nvSpPr>
            <p:cNvPr id="103442" name="Line 116"/>
            <p:cNvSpPr/>
            <p:nvPr/>
          </p:nvSpPr>
          <p:spPr>
            <a:xfrm flipH="1">
              <a:off x="4046" y="1901"/>
              <a:ext cx="221" cy="342"/>
            </a:xfrm>
            <a:prstGeom prst="line">
              <a:avLst/>
            </a:prstGeom>
            <a:ln w="28575" cap="flat" cmpd="sng">
              <a:solidFill>
                <a:schemeClr val="tx1"/>
              </a:solidFill>
              <a:prstDash val="solid"/>
              <a:round/>
              <a:headEnd type="none" w="med" len="med"/>
              <a:tailEnd type="none" w="med" len="med"/>
            </a:ln>
          </p:spPr>
        </p:sp>
        <p:sp>
          <p:nvSpPr>
            <p:cNvPr id="103443" name="Line 117"/>
            <p:cNvSpPr/>
            <p:nvPr/>
          </p:nvSpPr>
          <p:spPr>
            <a:xfrm flipH="1">
              <a:off x="4893" y="2305"/>
              <a:ext cx="221" cy="342"/>
            </a:xfrm>
            <a:prstGeom prst="line">
              <a:avLst/>
            </a:prstGeom>
            <a:ln w="28575" cap="flat" cmpd="sng">
              <a:solidFill>
                <a:schemeClr val="tx1"/>
              </a:solidFill>
              <a:prstDash val="solid"/>
              <a:round/>
              <a:headEnd type="none" w="med" len="med"/>
              <a:tailEnd type="none" w="med" len="med"/>
            </a:ln>
          </p:spPr>
        </p:sp>
        <p:sp>
          <p:nvSpPr>
            <p:cNvPr id="890998" name="Oval 118" descr="羊皮纸"/>
            <p:cNvSpPr>
              <a:spLocks noChangeArrowheads="1"/>
            </p:cNvSpPr>
            <p:nvPr/>
          </p:nvSpPr>
          <p:spPr bwMode="auto">
            <a:xfrm>
              <a:off x="3936" y="2181"/>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5</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03445" name="Oval 119" descr="羊皮纸"/>
            <p:cNvSpPr/>
            <p:nvPr/>
          </p:nvSpPr>
          <p:spPr>
            <a:xfrm>
              <a:off x="4194" y="1776"/>
              <a:ext cx="221" cy="187"/>
            </a:xfrm>
            <a:prstGeom prst="ellipse">
              <a:avLst/>
            </a:prstGeom>
            <a:blipFill rotWithShape="0">
              <a:blip r:embed="rId1"/>
            </a:blipFill>
            <a:ln w="9525" cap="flat" cmpd="sng">
              <a:solidFill>
                <a:schemeClr val="tx1"/>
              </a:solidFill>
              <a:prstDash val="solid"/>
              <a:round/>
              <a:headEnd type="none" w="med" len="med"/>
              <a:tailEnd type="none" w="med" len="med"/>
            </a:ln>
            <a:effectLst>
              <a:outerShdw dist="35921" dir="2699999" algn="ctr" rotWithShape="0">
                <a:schemeClr val="bg2"/>
              </a:outerShdw>
            </a:effectLst>
          </p:spPr>
          <p:txBody>
            <a:bodyPr wrap="none" anchor="ctr" anchorCtr="0"/>
            <a:p>
              <a:pPr algn="ctr"/>
              <a:r>
                <a:rPr lang="en-US" altLang="zh-CN" sz="2000" b="1" dirty="0">
                  <a:solidFill>
                    <a:schemeClr val="hlink"/>
                  </a:solidFill>
                  <a:latin typeface="Times New Roman" panose="02020603050405020304" pitchFamily="18" charset="0"/>
                  <a:ea typeface="宋体" panose="02010600030101010101" pitchFamily="2" charset="-122"/>
                </a:rPr>
                <a:t>0</a:t>
              </a:r>
              <a:endParaRPr lang="en-US" altLang="zh-CN" sz="2000" b="1" dirty="0">
                <a:solidFill>
                  <a:schemeClr val="hlink"/>
                </a:solidFill>
                <a:latin typeface="Times New Roman" panose="02020603050405020304" pitchFamily="18" charset="0"/>
                <a:ea typeface="宋体" panose="02010600030101010101" pitchFamily="2" charset="-122"/>
              </a:endParaRPr>
            </a:p>
          </p:txBody>
        </p:sp>
        <p:sp>
          <p:nvSpPr>
            <p:cNvPr id="891000" name="Oval 120" descr="羊皮纸"/>
            <p:cNvSpPr>
              <a:spLocks noChangeArrowheads="1"/>
            </p:cNvSpPr>
            <p:nvPr/>
          </p:nvSpPr>
          <p:spPr bwMode="auto">
            <a:xfrm>
              <a:off x="4194" y="2554"/>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4</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1001" name="Oval 121" descr="羊皮纸"/>
            <p:cNvSpPr>
              <a:spLocks noChangeArrowheads="1"/>
            </p:cNvSpPr>
            <p:nvPr/>
          </p:nvSpPr>
          <p:spPr bwMode="auto">
            <a:xfrm>
              <a:off x="4488" y="2181"/>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6</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1002" name="Oval 122" descr="羊皮纸"/>
            <p:cNvSpPr>
              <a:spLocks noChangeArrowheads="1"/>
            </p:cNvSpPr>
            <p:nvPr/>
          </p:nvSpPr>
          <p:spPr bwMode="auto">
            <a:xfrm>
              <a:off x="4746" y="1776"/>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1</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1003" name="Oval 123" descr="羊皮纸"/>
            <p:cNvSpPr>
              <a:spLocks noChangeArrowheads="1"/>
            </p:cNvSpPr>
            <p:nvPr/>
          </p:nvSpPr>
          <p:spPr bwMode="auto">
            <a:xfrm>
              <a:off x="4746" y="2554"/>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3</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1004" name="Oval 124" descr="羊皮纸"/>
            <p:cNvSpPr>
              <a:spLocks noChangeArrowheads="1"/>
            </p:cNvSpPr>
            <p:nvPr/>
          </p:nvSpPr>
          <p:spPr bwMode="auto">
            <a:xfrm flipH="1">
              <a:off x="5041" y="2181"/>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2</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03451" name="Text Box 125"/>
            <p:cNvSpPr txBox="1"/>
            <p:nvPr/>
          </p:nvSpPr>
          <p:spPr>
            <a:xfrm>
              <a:off x="3936" y="1920"/>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10</a:t>
              </a:r>
              <a:endParaRPr lang="en-US" altLang="zh-CN" sz="2000" b="1" dirty="0">
                <a:solidFill>
                  <a:srgbClr val="2BDC08"/>
                </a:solidFill>
                <a:latin typeface="Times New Roman" panose="02020603050405020304" pitchFamily="18" charset="0"/>
                <a:ea typeface="宋体" panose="02010600030101010101" pitchFamily="2" charset="-122"/>
              </a:endParaRPr>
            </a:p>
          </p:txBody>
        </p:sp>
        <p:sp>
          <p:nvSpPr>
            <p:cNvPr id="103452" name="Text Box 126"/>
            <p:cNvSpPr txBox="1"/>
            <p:nvPr/>
          </p:nvSpPr>
          <p:spPr>
            <a:xfrm>
              <a:off x="4992" y="2352"/>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12</a:t>
              </a:r>
              <a:endParaRPr lang="en-US" altLang="zh-CN" sz="2000" b="1" dirty="0">
                <a:solidFill>
                  <a:srgbClr val="2BDC08"/>
                </a:solidFill>
                <a:latin typeface="Times New Roman" panose="02020603050405020304" pitchFamily="18" charset="0"/>
                <a:ea typeface="宋体" panose="02010600030101010101" pitchFamily="2" charset="-122"/>
              </a:endParaRPr>
            </a:p>
          </p:txBody>
        </p:sp>
      </p:grpSp>
      <p:grpSp>
        <p:nvGrpSpPr>
          <p:cNvPr id="103453" name="Group 127"/>
          <p:cNvGrpSpPr/>
          <p:nvPr/>
        </p:nvGrpSpPr>
        <p:grpSpPr>
          <a:xfrm>
            <a:off x="2025650" y="4249738"/>
            <a:ext cx="2112963" cy="1531937"/>
            <a:chOff x="336" y="3072"/>
            <a:chExt cx="1331" cy="965"/>
          </a:xfrm>
        </p:grpSpPr>
        <p:sp>
          <p:nvSpPr>
            <p:cNvPr id="103454" name="Line 128"/>
            <p:cNvSpPr/>
            <p:nvPr/>
          </p:nvSpPr>
          <p:spPr>
            <a:xfrm flipH="1">
              <a:off x="1056" y="3216"/>
              <a:ext cx="192" cy="336"/>
            </a:xfrm>
            <a:prstGeom prst="line">
              <a:avLst/>
            </a:prstGeom>
            <a:ln w="28575" cap="flat" cmpd="sng">
              <a:solidFill>
                <a:schemeClr val="tx1"/>
              </a:solidFill>
              <a:prstDash val="solid"/>
              <a:round/>
              <a:headEnd type="none" w="med" len="med"/>
              <a:tailEnd type="none" w="med" len="med"/>
            </a:ln>
          </p:spPr>
        </p:sp>
        <p:sp>
          <p:nvSpPr>
            <p:cNvPr id="103455" name="Line 129"/>
            <p:cNvSpPr/>
            <p:nvPr/>
          </p:nvSpPr>
          <p:spPr>
            <a:xfrm flipH="1">
              <a:off x="446" y="3197"/>
              <a:ext cx="221" cy="342"/>
            </a:xfrm>
            <a:prstGeom prst="line">
              <a:avLst/>
            </a:prstGeom>
            <a:ln w="28575" cap="flat" cmpd="sng">
              <a:solidFill>
                <a:schemeClr val="tx1"/>
              </a:solidFill>
              <a:prstDash val="solid"/>
              <a:round/>
              <a:headEnd type="none" w="med" len="med"/>
              <a:tailEnd type="none" w="med" len="med"/>
            </a:ln>
          </p:spPr>
        </p:sp>
        <p:sp>
          <p:nvSpPr>
            <p:cNvPr id="103456" name="Line 130"/>
            <p:cNvSpPr/>
            <p:nvPr/>
          </p:nvSpPr>
          <p:spPr>
            <a:xfrm flipH="1">
              <a:off x="1293" y="3601"/>
              <a:ext cx="221" cy="342"/>
            </a:xfrm>
            <a:prstGeom prst="line">
              <a:avLst/>
            </a:prstGeom>
            <a:ln w="28575" cap="flat" cmpd="sng">
              <a:solidFill>
                <a:schemeClr val="tx1"/>
              </a:solidFill>
              <a:prstDash val="solid"/>
              <a:round/>
              <a:headEnd type="none" w="med" len="med"/>
              <a:tailEnd type="none" w="med" len="med"/>
            </a:ln>
          </p:spPr>
        </p:sp>
        <p:sp>
          <p:nvSpPr>
            <p:cNvPr id="891011" name="Oval 131" descr="羊皮纸"/>
            <p:cNvSpPr>
              <a:spLocks noChangeArrowheads="1"/>
            </p:cNvSpPr>
            <p:nvPr/>
          </p:nvSpPr>
          <p:spPr bwMode="auto">
            <a:xfrm>
              <a:off x="336" y="3477"/>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5</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03458" name="Oval 132" descr="羊皮纸"/>
            <p:cNvSpPr/>
            <p:nvPr/>
          </p:nvSpPr>
          <p:spPr>
            <a:xfrm>
              <a:off x="594" y="3072"/>
              <a:ext cx="221" cy="187"/>
            </a:xfrm>
            <a:prstGeom prst="ellipse">
              <a:avLst/>
            </a:prstGeom>
            <a:blipFill rotWithShape="0">
              <a:blip r:embed="rId1"/>
            </a:blipFill>
            <a:ln w="9525" cap="flat" cmpd="sng">
              <a:solidFill>
                <a:schemeClr val="tx1"/>
              </a:solidFill>
              <a:prstDash val="solid"/>
              <a:round/>
              <a:headEnd type="none" w="med" len="med"/>
              <a:tailEnd type="none" w="med" len="med"/>
            </a:ln>
            <a:effectLst>
              <a:outerShdw dist="35921" dir="2699999" algn="ctr" rotWithShape="0">
                <a:schemeClr val="bg2"/>
              </a:outerShdw>
            </a:effectLst>
          </p:spPr>
          <p:txBody>
            <a:bodyPr wrap="none" anchor="ctr" anchorCtr="0"/>
            <a:p>
              <a:pPr algn="ctr"/>
              <a:r>
                <a:rPr lang="en-US" altLang="zh-CN" sz="2000" b="1" dirty="0">
                  <a:solidFill>
                    <a:schemeClr val="hlink"/>
                  </a:solidFill>
                  <a:latin typeface="Times New Roman" panose="02020603050405020304" pitchFamily="18" charset="0"/>
                  <a:ea typeface="宋体" panose="02010600030101010101" pitchFamily="2" charset="-122"/>
                </a:rPr>
                <a:t>0</a:t>
              </a:r>
              <a:endParaRPr lang="en-US" altLang="zh-CN" sz="2000" b="1" dirty="0">
                <a:solidFill>
                  <a:schemeClr val="hlink"/>
                </a:solidFill>
                <a:latin typeface="Times New Roman" panose="02020603050405020304" pitchFamily="18" charset="0"/>
                <a:ea typeface="宋体" panose="02010600030101010101" pitchFamily="2" charset="-122"/>
              </a:endParaRPr>
            </a:p>
          </p:txBody>
        </p:sp>
        <p:sp>
          <p:nvSpPr>
            <p:cNvPr id="891013" name="Oval 133" descr="羊皮纸"/>
            <p:cNvSpPr>
              <a:spLocks noChangeArrowheads="1"/>
            </p:cNvSpPr>
            <p:nvPr/>
          </p:nvSpPr>
          <p:spPr bwMode="auto">
            <a:xfrm>
              <a:off x="594" y="3850"/>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4</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1014" name="Oval 134" descr="羊皮纸"/>
            <p:cNvSpPr>
              <a:spLocks noChangeArrowheads="1"/>
            </p:cNvSpPr>
            <p:nvPr/>
          </p:nvSpPr>
          <p:spPr bwMode="auto">
            <a:xfrm>
              <a:off x="888" y="3477"/>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6</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1015" name="Oval 135" descr="羊皮纸"/>
            <p:cNvSpPr>
              <a:spLocks noChangeArrowheads="1"/>
            </p:cNvSpPr>
            <p:nvPr/>
          </p:nvSpPr>
          <p:spPr bwMode="auto">
            <a:xfrm>
              <a:off x="1146" y="3072"/>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1</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1016" name="Oval 136" descr="羊皮纸"/>
            <p:cNvSpPr>
              <a:spLocks noChangeArrowheads="1"/>
            </p:cNvSpPr>
            <p:nvPr/>
          </p:nvSpPr>
          <p:spPr bwMode="auto">
            <a:xfrm>
              <a:off x="1146" y="3850"/>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3</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1017" name="Oval 137" descr="羊皮纸"/>
            <p:cNvSpPr>
              <a:spLocks noChangeArrowheads="1"/>
            </p:cNvSpPr>
            <p:nvPr/>
          </p:nvSpPr>
          <p:spPr bwMode="auto">
            <a:xfrm flipH="1">
              <a:off x="1441" y="3477"/>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2</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03464" name="Text Box 138"/>
            <p:cNvSpPr txBox="1"/>
            <p:nvPr/>
          </p:nvSpPr>
          <p:spPr>
            <a:xfrm>
              <a:off x="336" y="3216"/>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10</a:t>
              </a:r>
              <a:endParaRPr lang="en-US" altLang="zh-CN" sz="2000" b="1" dirty="0">
                <a:solidFill>
                  <a:srgbClr val="2BDC08"/>
                </a:solidFill>
                <a:latin typeface="Times New Roman" panose="02020603050405020304" pitchFamily="18" charset="0"/>
                <a:ea typeface="宋体" panose="02010600030101010101" pitchFamily="2" charset="-122"/>
              </a:endParaRPr>
            </a:p>
          </p:txBody>
        </p:sp>
        <p:sp>
          <p:nvSpPr>
            <p:cNvPr id="103465" name="Text Box 139"/>
            <p:cNvSpPr txBox="1"/>
            <p:nvPr/>
          </p:nvSpPr>
          <p:spPr>
            <a:xfrm>
              <a:off x="864" y="3216"/>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14</a:t>
              </a:r>
              <a:endParaRPr lang="en-US" altLang="zh-CN" sz="2000" dirty="0">
                <a:solidFill>
                  <a:srgbClr val="2BDC08"/>
                </a:solidFill>
                <a:latin typeface="Times New Roman" panose="02020603050405020304" pitchFamily="18" charset="0"/>
                <a:ea typeface="宋体" panose="02010600030101010101" pitchFamily="2" charset="-122"/>
              </a:endParaRPr>
            </a:p>
          </p:txBody>
        </p:sp>
        <p:sp>
          <p:nvSpPr>
            <p:cNvPr id="103466" name="Text Box 140"/>
            <p:cNvSpPr txBox="1"/>
            <p:nvPr/>
          </p:nvSpPr>
          <p:spPr>
            <a:xfrm>
              <a:off x="1392" y="3648"/>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12</a:t>
              </a:r>
              <a:endParaRPr lang="en-US" altLang="zh-CN" sz="2000" b="1" dirty="0">
                <a:solidFill>
                  <a:srgbClr val="2BDC08"/>
                </a:solidFill>
                <a:latin typeface="Times New Roman" panose="02020603050405020304" pitchFamily="18" charset="0"/>
                <a:ea typeface="宋体" panose="02010600030101010101" pitchFamily="2" charset="-122"/>
              </a:endParaRPr>
            </a:p>
          </p:txBody>
        </p:sp>
      </p:grpSp>
      <p:grpSp>
        <p:nvGrpSpPr>
          <p:cNvPr id="103467" name="Group 141"/>
          <p:cNvGrpSpPr/>
          <p:nvPr/>
        </p:nvGrpSpPr>
        <p:grpSpPr>
          <a:xfrm>
            <a:off x="4845050" y="4249738"/>
            <a:ext cx="2112963" cy="1531937"/>
            <a:chOff x="2112" y="3072"/>
            <a:chExt cx="1331" cy="965"/>
          </a:xfrm>
        </p:grpSpPr>
        <p:sp>
          <p:nvSpPr>
            <p:cNvPr id="103468" name="Line 142"/>
            <p:cNvSpPr/>
            <p:nvPr/>
          </p:nvSpPr>
          <p:spPr>
            <a:xfrm>
              <a:off x="3069" y="3228"/>
              <a:ext cx="221" cy="311"/>
            </a:xfrm>
            <a:prstGeom prst="line">
              <a:avLst/>
            </a:prstGeom>
            <a:ln w="28575" cap="flat" cmpd="sng">
              <a:solidFill>
                <a:schemeClr val="tx1"/>
              </a:solidFill>
              <a:prstDash val="solid"/>
              <a:round/>
              <a:headEnd type="none" w="med" len="med"/>
              <a:tailEnd type="none" w="med" len="med"/>
            </a:ln>
          </p:spPr>
        </p:sp>
        <p:sp>
          <p:nvSpPr>
            <p:cNvPr id="103469" name="Line 143"/>
            <p:cNvSpPr/>
            <p:nvPr/>
          </p:nvSpPr>
          <p:spPr>
            <a:xfrm flipH="1">
              <a:off x="2222" y="3197"/>
              <a:ext cx="221" cy="342"/>
            </a:xfrm>
            <a:prstGeom prst="line">
              <a:avLst/>
            </a:prstGeom>
            <a:ln w="28575" cap="flat" cmpd="sng">
              <a:solidFill>
                <a:schemeClr val="tx1"/>
              </a:solidFill>
              <a:prstDash val="solid"/>
              <a:round/>
              <a:headEnd type="none" w="med" len="med"/>
              <a:tailEnd type="none" w="med" len="med"/>
            </a:ln>
          </p:spPr>
        </p:sp>
        <p:sp>
          <p:nvSpPr>
            <p:cNvPr id="103470" name="Line 144"/>
            <p:cNvSpPr/>
            <p:nvPr/>
          </p:nvSpPr>
          <p:spPr>
            <a:xfrm flipH="1">
              <a:off x="3069" y="3601"/>
              <a:ext cx="221" cy="342"/>
            </a:xfrm>
            <a:prstGeom prst="line">
              <a:avLst/>
            </a:prstGeom>
            <a:ln w="28575" cap="flat" cmpd="sng">
              <a:solidFill>
                <a:schemeClr val="tx1"/>
              </a:solidFill>
              <a:prstDash val="solid"/>
              <a:round/>
              <a:headEnd type="none" w="med" len="med"/>
              <a:tailEnd type="none" w="med" len="med"/>
            </a:ln>
          </p:spPr>
        </p:sp>
        <p:sp>
          <p:nvSpPr>
            <p:cNvPr id="103471" name="Line 145"/>
            <p:cNvSpPr/>
            <p:nvPr/>
          </p:nvSpPr>
          <p:spPr>
            <a:xfrm flipV="1">
              <a:off x="2736" y="3166"/>
              <a:ext cx="297" cy="434"/>
            </a:xfrm>
            <a:prstGeom prst="line">
              <a:avLst/>
            </a:prstGeom>
            <a:ln w="28575" cap="flat" cmpd="sng">
              <a:solidFill>
                <a:schemeClr val="tx1"/>
              </a:solidFill>
              <a:prstDash val="solid"/>
              <a:round/>
              <a:headEnd type="none" w="med" len="med"/>
              <a:tailEnd type="none" w="med" len="med"/>
            </a:ln>
          </p:spPr>
        </p:sp>
        <p:sp>
          <p:nvSpPr>
            <p:cNvPr id="891026" name="Oval 146" descr="羊皮纸"/>
            <p:cNvSpPr>
              <a:spLocks noChangeArrowheads="1"/>
            </p:cNvSpPr>
            <p:nvPr/>
          </p:nvSpPr>
          <p:spPr bwMode="auto">
            <a:xfrm>
              <a:off x="2112" y="3477"/>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5</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03473" name="Oval 147" descr="羊皮纸"/>
            <p:cNvSpPr/>
            <p:nvPr/>
          </p:nvSpPr>
          <p:spPr>
            <a:xfrm>
              <a:off x="2370" y="3072"/>
              <a:ext cx="221" cy="187"/>
            </a:xfrm>
            <a:prstGeom prst="ellipse">
              <a:avLst/>
            </a:prstGeom>
            <a:blipFill rotWithShape="0">
              <a:blip r:embed="rId1"/>
            </a:blipFill>
            <a:ln w="9525" cap="flat" cmpd="sng">
              <a:solidFill>
                <a:schemeClr val="tx1"/>
              </a:solidFill>
              <a:prstDash val="solid"/>
              <a:round/>
              <a:headEnd type="none" w="med" len="med"/>
              <a:tailEnd type="none" w="med" len="med"/>
            </a:ln>
            <a:effectLst>
              <a:outerShdw dist="35921" dir="2699999" algn="ctr" rotWithShape="0">
                <a:schemeClr val="bg2"/>
              </a:outerShdw>
            </a:effectLst>
          </p:spPr>
          <p:txBody>
            <a:bodyPr wrap="none" anchor="ctr" anchorCtr="0"/>
            <a:p>
              <a:pPr algn="ctr"/>
              <a:r>
                <a:rPr lang="en-US" altLang="zh-CN" sz="2000" b="1" dirty="0">
                  <a:solidFill>
                    <a:schemeClr val="hlink"/>
                  </a:solidFill>
                  <a:latin typeface="Times New Roman" panose="02020603050405020304" pitchFamily="18" charset="0"/>
                  <a:ea typeface="宋体" panose="02010600030101010101" pitchFamily="2" charset="-122"/>
                </a:rPr>
                <a:t>0</a:t>
              </a:r>
              <a:endParaRPr lang="en-US" altLang="zh-CN" sz="2000" b="1" dirty="0">
                <a:solidFill>
                  <a:schemeClr val="hlink"/>
                </a:solidFill>
                <a:latin typeface="Times New Roman" panose="02020603050405020304" pitchFamily="18" charset="0"/>
                <a:ea typeface="宋体" panose="02010600030101010101" pitchFamily="2" charset="-122"/>
              </a:endParaRPr>
            </a:p>
          </p:txBody>
        </p:sp>
        <p:sp>
          <p:nvSpPr>
            <p:cNvPr id="891028" name="Oval 148" descr="羊皮纸"/>
            <p:cNvSpPr>
              <a:spLocks noChangeArrowheads="1"/>
            </p:cNvSpPr>
            <p:nvPr/>
          </p:nvSpPr>
          <p:spPr bwMode="auto">
            <a:xfrm>
              <a:off x="2370" y="3850"/>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4</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1029" name="Oval 149" descr="羊皮纸"/>
            <p:cNvSpPr>
              <a:spLocks noChangeArrowheads="1"/>
            </p:cNvSpPr>
            <p:nvPr/>
          </p:nvSpPr>
          <p:spPr bwMode="auto">
            <a:xfrm>
              <a:off x="2664" y="3477"/>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6</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1030" name="Oval 150" descr="羊皮纸"/>
            <p:cNvSpPr>
              <a:spLocks noChangeArrowheads="1"/>
            </p:cNvSpPr>
            <p:nvPr/>
          </p:nvSpPr>
          <p:spPr bwMode="auto">
            <a:xfrm>
              <a:off x="2922" y="3072"/>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1</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1031" name="Oval 151" descr="羊皮纸"/>
            <p:cNvSpPr>
              <a:spLocks noChangeArrowheads="1"/>
            </p:cNvSpPr>
            <p:nvPr/>
          </p:nvSpPr>
          <p:spPr bwMode="auto">
            <a:xfrm>
              <a:off x="2922" y="3850"/>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3</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1032" name="Oval 152" descr="羊皮纸"/>
            <p:cNvSpPr>
              <a:spLocks noChangeArrowheads="1"/>
            </p:cNvSpPr>
            <p:nvPr/>
          </p:nvSpPr>
          <p:spPr bwMode="auto">
            <a:xfrm flipH="1">
              <a:off x="3217" y="3477"/>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2</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03479" name="Text Box 153"/>
            <p:cNvSpPr txBox="1"/>
            <p:nvPr/>
          </p:nvSpPr>
          <p:spPr>
            <a:xfrm>
              <a:off x="2112" y="3216"/>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10</a:t>
              </a:r>
              <a:endParaRPr lang="en-US" altLang="zh-CN" sz="2000" b="1" dirty="0">
                <a:solidFill>
                  <a:srgbClr val="2BDC08"/>
                </a:solidFill>
                <a:latin typeface="Times New Roman" panose="02020603050405020304" pitchFamily="18" charset="0"/>
                <a:ea typeface="宋体" panose="02010600030101010101" pitchFamily="2" charset="-122"/>
              </a:endParaRPr>
            </a:p>
          </p:txBody>
        </p:sp>
        <p:sp>
          <p:nvSpPr>
            <p:cNvPr id="103480" name="Text Box 154"/>
            <p:cNvSpPr txBox="1"/>
            <p:nvPr/>
          </p:nvSpPr>
          <p:spPr>
            <a:xfrm>
              <a:off x="2640" y="3216"/>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14</a:t>
              </a:r>
              <a:endParaRPr lang="en-US" altLang="zh-CN" sz="2000" dirty="0">
                <a:solidFill>
                  <a:srgbClr val="2BDC08"/>
                </a:solidFill>
                <a:latin typeface="Times New Roman" panose="02020603050405020304" pitchFamily="18" charset="0"/>
                <a:ea typeface="宋体" panose="02010600030101010101" pitchFamily="2" charset="-122"/>
              </a:endParaRPr>
            </a:p>
          </p:txBody>
        </p:sp>
        <p:sp>
          <p:nvSpPr>
            <p:cNvPr id="103481" name="Text Box 155"/>
            <p:cNvSpPr txBox="1"/>
            <p:nvPr/>
          </p:nvSpPr>
          <p:spPr>
            <a:xfrm>
              <a:off x="3120" y="3216"/>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16</a:t>
              </a:r>
              <a:endParaRPr lang="en-US" altLang="zh-CN" sz="2000" b="1" dirty="0">
                <a:solidFill>
                  <a:srgbClr val="2BDC08"/>
                </a:solidFill>
                <a:latin typeface="Times New Roman" panose="02020603050405020304" pitchFamily="18" charset="0"/>
                <a:ea typeface="宋体" panose="02010600030101010101" pitchFamily="2" charset="-122"/>
              </a:endParaRPr>
            </a:p>
          </p:txBody>
        </p:sp>
        <p:sp>
          <p:nvSpPr>
            <p:cNvPr id="103482" name="Text Box 156"/>
            <p:cNvSpPr txBox="1"/>
            <p:nvPr/>
          </p:nvSpPr>
          <p:spPr>
            <a:xfrm>
              <a:off x="3168" y="3648"/>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12</a:t>
              </a:r>
              <a:endParaRPr lang="en-US" altLang="zh-CN" sz="2000" b="1" dirty="0">
                <a:solidFill>
                  <a:srgbClr val="2BDC08"/>
                </a:solidFill>
                <a:latin typeface="Times New Roman" panose="02020603050405020304" pitchFamily="18" charset="0"/>
                <a:ea typeface="宋体" panose="02010600030101010101" pitchFamily="2" charset="-122"/>
              </a:endParaRPr>
            </a:p>
          </p:txBody>
        </p:sp>
      </p:grpSp>
      <p:grpSp>
        <p:nvGrpSpPr>
          <p:cNvPr id="103483" name="Group 157"/>
          <p:cNvGrpSpPr/>
          <p:nvPr/>
        </p:nvGrpSpPr>
        <p:grpSpPr>
          <a:xfrm>
            <a:off x="7740650" y="4249738"/>
            <a:ext cx="2112963" cy="1693863"/>
            <a:chOff x="3936" y="3072"/>
            <a:chExt cx="1331" cy="1067"/>
          </a:xfrm>
        </p:grpSpPr>
        <p:sp>
          <p:nvSpPr>
            <p:cNvPr id="103484" name="Line 158"/>
            <p:cNvSpPr/>
            <p:nvPr/>
          </p:nvSpPr>
          <p:spPr>
            <a:xfrm>
              <a:off x="4893" y="3228"/>
              <a:ext cx="221" cy="311"/>
            </a:xfrm>
            <a:prstGeom prst="line">
              <a:avLst/>
            </a:prstGeom>
            <a:ln w="28575" cap="flat" cmpd="sng">
              <a:solidFill>
                <a:schemeClr val="tx1"/>
              </a:solidFill>
              <a:prstDash val="solid"/>
              <a:round/>
              <a:headEnd type="none" w="med" len="med"/>
              <a:tailEnd type="none" w="med" len="med"/>
            </a:ln>
          </p:spPr>
        </p:sp>
        <p:sp>
          <p:nvSpPr>
            <p:cNvPr id="103485" name="Line 159"/>
            <p:cNvSpPr/>
            <p:nvPr/>
          </p:nvSpPr>
          <p:spPr>
            <a:xfrm>
              <a:off x="4046" y="3570"/>
              <a:ext cx="258" cy="342"/>
            </a:xfrm>
            <a:prstGeom prst="line">
              <a:avLst/>
            </a:prstGeom>
            <a:ln w="28575" cap="flat" cmpd="sng">
              <a:solidFill>
                <a:schemeClr val="tx1"/>
              </a:solidFill>
              <a:prstDash val="solid"/>
              <a:round/>
              <a:headEnd type="none" w="med" len="med"/>
              <a:tailEnd type="none" w="med" len="med"/>
            </a:ln>
          </p:spPr>
        </p:sp>
        <p:sp>
          <p:nvSpPr>
            <p:cNvPr id="103486" name="Line 160"/>
            <p:cNvSpPr/>
            <p:nvPr/>
          </p:nvSpPr>
          <p:spPr>
            <a:xfrm flipH="1">
              <a:off x="4046" y="3197"/>
              <a:ext cx="221" cy="342"/>
            </a:xfrm>
            <a:prstGeom prst="line">
              <a:avLst/>
            </a:prstGeom>
            <a:ln w="28575" cap="flat" cmpd="sng">
              <a:solidFill>
                <a:schemeClr val="tx1"/>
              </a:solidFill>
              <a:prstDash val="solid"/>
              <a:round/>
              <a:headEnd type="none" w="med" len="med"/>
              <a:tailEnd type="none" w="med" len="med"/>
            </a:ln>
          </p:spPr>
        </p:sp>
        <p:sp>
          <p:nvSpPr>
            <p:cNvPr id="103487" name="Line 161"/>
            <p:cNvSpPr/>
            <p:nvPr/>
          </p:nvSpPr>
          <p:spPr>
            <a:xfrm>
              <a:off x="4415" y="3943"/>
              <a:ext cx="331" cy="0"/>
            </a:xfrm>
            <a:prstGeom prst="line">
              <a:avLst/>
            </a:prstGeom>
            <a:ln w="28575" cap="flat" cmpd="sng">
              <a:solidFill>
                <a:schemeClr val="tx1"/>
              </a:solidFill>
              <a:prstDash val="solid"/>
              <a:round/>
              <a:headEnd type="none" w="med" len="med"/>
              <a:tailEnd type="none" w="med" len="med"/>
            </a:ln>
          </p:spPr>
        </p:sp>
        <p:sp>
          <p:nvSpPr>
            <p:cNvPr id="103488" name="Line 162"/>
            <p:cNvSpPr/>
            <p:nvPr/>
          </p:nvSpPr>
          <p:spPr>
            <a:xfrm flipH="1">
              <a:off x="4893" y="3601"/>
              <a:ext cx="221" cy="342"/>
            </a:xfrm>
            <a:prstGeom prst="line">
              <a:avLst/>
            </a:prstGeom>
            <a:ln w="28575" cap="flat" cmpd="sng">
              <a:solidFill>
                <a:schemeClr val="tx1"/>
              </a:solidFill>
              <a:prstDash val="solid"/>
              <a:round/>
              <a:headEnd type="none" w="med" len="med"/>
              <a:tailEnd type="none" w="med" len="med"/>
            </a:ln>
          </p:spPr>
        </p:sp>
        <p:sp>
          <p:nvSpPr>
            <p:cNvPr id="103489" name="Line 163"/>
            <p:cNvSpPr/>
            <p:nvPr/>
          </p:nvSpPr>
          <p:spPr>
            <a:xfrm flipV="1">
              <a:off x="4608" y="3166"/>
              <a:ext cx="249" cy="386"/>
            </a:xfrm>
            <a:prstGeom prst="line">
              <a:avLst/>
            </a:prstGeom>
            <a:ln w="28575" cap="flat" cmpd="sng">
              <a:solidFill>
                <a:schemeClr val="tx1"/>
              </a:solidFill>
              <a:prstDash val="solid"/>
              <a:round/>
              <a:headEnd type="none" w="med" len="med"/>
              <a:tailEnd type="none" w="med" len="med"/>
            </a:ln>
          </p:spPr>
        </p:sp>
        <p:sp>
          <p:nvSpPr>
            <p:cNvPr id="891044" name="Oval 164" descr="羊皮纸"/>
            <p:cNvSpPr>
              <a:spLocks noChangeArrowheads="1"/>
            </p:cNvSpPr>
            <p:nvPr/>
          </p:nvSpPr>
          <p:spPr bwMode="auto">
            <a:xfrm>
              <a:off x="3936" y="3477"/>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5</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03491" name="Oval 165" descr="羊皮纸"/>
            <p:cNvSpPr/>
            <p:nvPr/>
          </p:nvSpPr>
          <p:spPr>
            <a:xfrm>
              <a:off x="4194" y="3072"/>
              <a:ext cx="221" cy="187"/>
            </a:xfrm>
            <a:prstGeom prst="ellipse">
              <a:avLst/>
            </a:prstGeom>
            <a:blipFill rotWithShape="0">
              <a:blip r:embed="rId1"/>
            </a:blipFill>
            <a:ln w="9525" cap="flat" cmpd="sng">
              <a:solidFill>
                <a:schemeClr val="tx1"/>
              </a:solidFill>
              <a:prstDash val="solid"/>
              <a:round/>
              <a:headEnd type="none" w="med" len="med"/>
              <a:tailEnd type="none" w="med" len="med"/>
            </a:ln>
            <a:effectLst>
              <a:outerShdw dist="35921" dir="2699999" algn="ctr" rotWithShape="0">
                <a:schemeClr val="bg2"/>
              </a:outerShdw>
            </a:effectLst>
          </p:spPr>
          <p:txBody>
            <a:bodyPr wrap="none" anchor="ctr" anchorCtr="0"/>
            <a:p>
              <a:pPr algn="ctr"/>
              <a:r>
                <a:rPr lang="en-US" altLang="zh-CN" sz="2000" b="1" dirty="0">
                  <a:solidFill>
                    <a:schemeClr val="hlink"/>
                  </a:solidFill>
                  <a:latin typeface="Times New Roman" panose="02020603050405020304" pitchFamily="18" charset="0"/>
                  <a:ea typeface="宋体" panose="02010600030101010101" pitchFamily="2" charset="-122"/>
                </a:rPr>
                <a:t>0</a:t>
              </a:r>
              <a:endParaRPr lang="en-US" altLang="zh-CN" sz="2000" b="1" dirty="0">
                <a:solidFill>
                  <a:schemeClr val="hlink"/>
                </a:solidFill>
                <a:latin typeface="Times New Roman" panose="02020603050405020304" pitchFamily="18" charset="0"/>
                <a:ea typeface="宋体" panose="02010600030101010101" pitchFamily="2" charset="-122"/>
              </a:endParaRPr>
            </a:p>
          </p:txBody>
        </p:sp>
        <p:sp>
          <p:nvSpPr>
            <p:cNvPr id="891046" name="Oval 166" descr="羊皮纸"/>
            <p:cNvSpPr>
              <a:spLocks noChangeArrowheads="1"/>
            </p:cNvSpPr>
            <p:nvPr/>
          </p:nvSpPr>
          <p:spPr bwMode="auto">
            <a:xfrm>
              <a:off x="4194" y="3850"/>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4</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1047" name="Oval 167" descr="羊皮纸"/>
            <p:cNvSpPr>
              <a:spLocks noChangeArrowheads="1"/>
            </p:cNvSpPr>
            <p:nvPr/>
          </p:nvSpPr>
          <p:spPr bwMode="auto">
            <a:xfrm>
              <a:off x="4488" y="3477"/>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6</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1048" name="Oval 168" descr="羊皮纸"/>
            <p:cNvSpPr>
              <a:spLocks noChangeArrowheads="1"/>
            </p:cNvSpPr>
            <p:nvPr/>
          </p:nvSpPr>
          <p:spPr bwMode="auto">
            <a:xfrm>
              <a:off x="4746" y="3072"/>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1</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1049" name="Oval 169" descr="羊皮纸"/>
            <p:cNvSpPr>
              <a:spLocks noChangeArrowheads="1"/>
            </p:cNvSpPr>
            <p:nvPr/>
          </p:nvSpPr>
          <p:spPr bwMode="auto">
            <a:xfrm>
              <a:off x="4746" y="3850"/>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3</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1050" name="Oval 170" descr="羊皮纸"/>
            <p:cNvSpPr>
              <a:spLocks noChangeArrowheads="1"/>
            </p:cNvSpPr>
            <p:nvPr/>
          </p:nvSpPr>
          <p:spPr bwMode="auto">
            <a:xfrm flipH="1">
              <a:off x="5041" y="3477"/>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2</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03497" name="Text Box 171"/>
            <p:cNvSpPr txBox="1"/>
            <p:nvPr/>
          </p:nvSpPr>
          <p:spPr>
            <a:xfrm>
              <a:off x="3936" y="3216"/>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10</a:t>
              </a:r>
              <a:endParaRPr lang="en-US" altLang="zh-CN" sz="2000" b="1" dirty="0">
                <a:solidFill>
                  <a:srgbClr val="2BDC08"/>
                </a:solidFill>
                <a:latin typeface="Times New Roman" panose="02020603050405020304" pitchFamily="18" charset="0"/>
                <a:ea typeface="宋体" panose="02010600030101010101" pitchFamily="2" charset="-122"/>
              </a:endParaRPr>
            </a:p>
          </p:txBody>
        </p:sp>
        <p:sp>
          <p:nvSpPr>
            <p:cNvPr id="103498" name="Text Box 172"/>
            <p:cNvSpPr txBox="1"/>
            <p:nvPr/>
          </p:nvSpPr>
          <p:spPr>
            <a:xfrm>
              <a:off x="3936" y="3696"/>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25</a:t>
              </a:r>
              <a:endParaRPr lang="en-US" altLang="zh-CN" sz="2000" dirty="0">
                <a:solidFill>
                  <a:srgbClr val="2BDC08"/>
                </a:solidFill>
                <a:latin typeface="Times New Roman" panose="02020603050405020304" pitchFamily="18" charset="0"/>
                <a:ea typeface="宋体" panose="02010600030101010101" pitchFamily="2" charset="-122"/>
              </a:endParaRPr>
            </a:p>
          </p:txBody>
        </p:sp>
        <p:sp>
          <p:nvSpPr>
            <p:cNvPr id="103499" name="Text Box 173"/>
            <p:cNvSpPr txBox="1"/>
            <p:nvPr/>
          </p:nvSpPr>
          <p:spPr>
            <a:xfrm>
              <a:off x="4464" y="3216"/>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14</a:t>
              </a:r>
              <a:endParaRPr lang="en-US" altLang="zh-CN" sz="2000" dirty="0">
                <a:solidFill>
                  <a:srgbClr val="2BDC08"/>
                </a:solidFill>
                <a:latin typeface="Times New Roman" panose="02020603050405020304" pitchFamily="18" charset="0"/>
                <a:ea typeface="宋体" panose="02010600030101010101" pitchFamily="2" charset="-122"/>
              </a:endParaRPr>
            </a:p>
          </p:txBody>
        </p:sp>
        <p:sp>
          <p:nvSpPr>
            <p:cNvPr id="103500" name="Text Box 174"/>
            <p:cNvSpPr txBox="1"/>
            <p:nvPr/>
          </p:nvSpPr>
          <p:spPr>
            <a:xfrm>
              <a:off x="4464" y="3888"/>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22</a:t>
              </a:r>
              <a:endParaRPr lang="en-US" altLang="zh-CN" sz="2000" dirty="0">
                <a:solidFill>
                  <a:srgbClr val="2BDC08"/>
                </a:solidFill>
                <a:latin typeface="Times New Roman" panose="02020603050405020304" pitchFamily="18" charset="0"/>
                <a:ea typeface="宋体" panose="02010600030101010101" pitchFamily="2" charset="-122"/>
              </a:endParaRPr>
            </a:p>
          </p:txBody>
        </p:sp>
        <p:sp>
          <p:nvSpPr>
            <p:cNvPr id="103501" name="Text Box 175"/>
            <p:cNvSpPr txBox="1"/>
            <p:nvPr/>
          </p:nvSpPr>
          <p:spPr>
            <a:xfrm>
              <a:off x="4944" y="3216"/>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16</a:t>
              </a:r>
              <a:endParaRPr lang="en-US" altLang="zh-CN" sz="2000" b="1" dirty="0">
                <a:solidFill>
                  <a:srgbClr val="2BDC08"/>
                </a:solidFill>
                <a:latin typeface="Times New Roman" panose="02020603050405020304" pitchFamily="18" charset="0"/>
                <a:ea typeface="宋体" panose="02010600030101010101" pitchFamily="2" charset="-122"/>
              </a:endParaRPr>
            </a:p>
          </p:txBody>
        </p:sp>
        <p:sp>
          <p:nvSpPr>
            <p:cNvPr id="103502" name="Text Box 176"/>
            <p:cNvSpPr txBox="1"/>
            <p:nvPr/>
          </p:nvSpPr>
          <p:spPr>
            <a:xfrm>
              <a:off x="4992" y="3648"/>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12</a:t>
              </a:r>
              <a:endParaRPr lang="en-US" altLang="zh-CN" sz="2000" b="1" dirty="0">
                <a:solidFill>
                  <a:srgbClr val="2BDC08"/>
                </a:solidFill>
                <a:latin typeface="Times New Roman" panose="02020603050405020304" pitchFamily="18" charset="0"/>
                <a:ea typeface="宋体" panose="02010600030101010101" pitchFamily="2" charset="-122"/>
              </a:endParaRPr>
            </a:p>
          </p:txBody>
        </p:sp>
      </p:grpSp>
      <p:grpSp>
        <p:nvGrpSpPr>
          <p:cNvPr id="103503" name="Group 177"/>
          <p:cNvGrpSpPr/>
          <p:nvPr/>
        </p:nvGrpSpPr>
        <p:grpSpPr>
          <a:xfrm>
            <a:off x="2063750" y="1844675"/>
            <a:ext cx="2112963" cy="1922463"/>
            <a:chOff x="336" y="1632"/>
            <a:chExt cx="1331" cy="1211"/>
          </a:xfrm>
        </p:grpSpPr>
        <p:sp>
          <p:nvSpPr>
            <p:cNvPr id="103504" name="Text Box 178"/>
            <p:cNvSpPr txBox="1"/>
            <p:nvPr/>
          </p:nvSpPr>
          <p:spPr>
            <a:xfrm>
              <a:off x="864" y="1632"/>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28</a:t>
              </a:r>
              <a:endParaRPr lang="en-US" altLang="zh-CN" sz="2000" b="1" dirty="0">
                <a:solidFill>
                  <a:srgbClr val="2BDC08"/>
                </a:solidFill>
                <a:latin typeface="Times New Roman" panose="02020603050405020304" pitchFamily="18" charset="0"/>
                <a:ea typeface="宋体" panose="02010600030101010101" pitchFamily="2" charset="-122"/>
              </a:endParaRPr>
            </a:p>
          </p:txBody>
        </p:sp>
        <p:sp>
          <p:nvSpPr>
            <p:cNvPr id="103505" name="Line 179"/>
            <p:cNvSpPr/>
            <p:nvPr/>
          </p:nvSpPr>
          <p:spPr>
            <a:xfrm>
              <a:off x="1293" y="1932"/>
              <a:ext cx="221" cy="311"/>
            </a:xfrm>
            <a:prstGeom prst="line">
              <a:avLst/>
            </a:prstGeom>
            <a:ln w="28575" cap="flat" cmpd="sng">
              <a:solidFill>
                <a:schemeClr val="tx1"/>
              </a:solidFill>
              <a:prstDash val="solid"/>
              <a:round/>
              <a:headEnd type="none" w="med" len="med"/>
              <a:tailEnd type="none" w="med" len="med"/>
            </a:ln>
          </p:spPr>
        </p:sp>
        <p:sp>
          <p:nvSpPr>
            <p:cNvPr id="103506" name="Line 180"/>
            <p:cNvSpPr/>
            <p:nvPr/>
          </p:nvSpPr>
          <p:spPr>
            <a:xfrm>
              <a:off x="999" y="2274"/>
              <a:ext cx="221" cy="311"/>
            </a:xfrm>
            <a:prstGeom prst="line">
              <a:avLst/>
            </a:prstGeom>
            <a:ln w="28575" cap="flat" cmpd="sng">
              <a:solidFill>
                <a:schemeClr val="tx1"/>
              </a:solidFill>
              <a:prstDash val="solid"/>
              <a:round/>
              <a:headEnd type="none" w="med" len="med"/>
              <a:tailEnd type="none" w="med" len="med"/>
            </a:ln>
          </p:spPr>
        </p:sp>
        <p:sp>
          <p:nvSpPr>
            <p:cNvPr id="103507" name="Line 181"/>
            <p:cNvSpPr/>
            <p:nvPr/>
          </p:nvSpPr>
          <p:spPr>
            <a:xfrm>
              <a:off x="446" y="2274"/>
              <a:ext cx="258" cy="342"/>
            </a:xfrm>
            <a:prstGeom prst="line">
              <a:avLst/>
            </a:prstGeom>
            <a:ln w="28575" cap="flat" cmpd="sng">
              <a:solidFill>
                <a:schemeClr val="tx1"/>
              </a:solidFill>
              <a:prstDash val="solid"/>
              <a:round/>
              <a:headEnd type="none" w="med" len="med"/>
              <a:tailEnd type="none" w="med" len="med"/>
            </a:ln>
          </p:spPr>
        </p:sp>
        <p:sp>
          <p:nvSpPr>
            <p:cNvPr id="103508" name="Line 182"/>
            <p:cNvSpPr/>
            <p:nvPr/>
          </p:nvSpPr>
          <p:spPr>
            <a:xfrm flipH="1">
              <a:off x="446" y="1901"/>
              <a:ext cx="221" cy="342"/>
            </a:xfrm>
            <a:prstGeom prst="line">
              <a:avLst/>
            </a:prstGeom>
            <a:ln w="28575" cap="flat" cmpd="sng">
              <a:solidFill>
                <a:schemeClr val="tx1"/>
              </a:solidFill>
              <a:prstDash val="solid"/>
              <a:round/>
              <a:headEnd type="none" w="med" len="med"/>
              <a:tailEnd type="none" w="med" len="med"/>
            </a:ln>
          </p:spPr>
        </p:sp>
        <p:sp>
          <p:nvSpPr>
            <p:cNvPr id="103509" name="Line 183"/>
            <p:cNvSpPr/>
            <p:nvPr/>
          </p:nvSpPr>
          <p:spPr>
            <a:xfrm>
              <a:off x="815" y="2647"/>
              <a:ext cx="331" cy="0"/>
            </a:xfrm>
            <a:prstGeom prst="line">
              <a:avLst/>
            </a:prstGeom>
            <a:ln w="28575" cap="flat" cmpd="sng">
              <a:solidFill>
                <a:schemeClr val="tx1"/>
              </a:solidFill>
              <a:prstDash val="solid"/>
              <a:round/>
              <a:headEnd type="none" w="med" len="med"/>
              <a:tailEnd type="none" w="med" len="med"/>
            </a:ln>
          </p:spPr>
        </p:sp>
        <p:sp>
          <p:nvSpPr>
            <p:cNvPr id="103510" name="Line 184"/>
            <p:cNvSpPr/>
            <p:nvPr/>
          </p:nvSpPr>
          <p:spPr>
            <a:xfrm flipH="1">
              <a:off x="1293" y="2305"/>
              <a:ext cx="221" cy="342"/>
            </a:xfrm>
            <a:prstGeom prst="line">
              <a:avLst/>
            </a:prstGeom>
            <a:ln w="28575" cap="flat" cmpd="sng">
              <a:solidFill>
                <a:schemeClr val="tx1"/>
              </a:solidFill>
              <a:prstDash val="solid"/>
              <a:round/>
              <a:headEnd type="none" w="med" len="med"/>
              <a:tailEnd type="none" w="med" len="med"/>
            </a:ln>
          </p:spPr>
        </p:sp>
        <p:sp>
          <p:nvSpPr>
            <p:cNvPr id="103511" name="Line 185"/>
            <p:cNvSpPr/>
            <p:nvPr/>
          </p:nvSpPr>
          <p:spPr>
            <a:xfrm flipV="1">
              <a:off x="778" y="1870"/>
              <a:ext cx="479" cy="746"/>
            </a:xfrm>
            <a:prstGeom prst="line">
              <a:avLst/>
            </a:prstGeom>
            <a:ln w="28575" cap="flat" cmpd="sng">
              <a:solidFill>
                <a:schemeClr val="tx1"/>
              </a:solidFill>
              <a:prstDash val="solid"/>
              <a:round/>
              <a:headEnd type="none" w="med" len="med"/>
              <a:tailEnd type="none" w="med" len="med"/>
            </a:ln>
          </p:spPr>
        </p:sp>
        <p:sp>
          <p:nvSpPr>
            <p:cNvPr id="891066" name="Oval 186" descr="羊皮纸"/>
            <p:cNvSpPr>
              <a:spLocks noChangeArrowheads="1"/>
            </p:cNvSpPr>
            <p:nvPr/>
          </p:nvSpPr>
          <p:spPr bwMode="auto">
            <a:xfrm>
              <a:off x="336" y="2181"/>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5</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03513" name="Oval 187" descr="羊皮纸"/>
            <p:cNvSpPr/>
            <p:nvPr/>
          </p:nvSpPr>
          <p:spPr>
            <a:xfrm>
              <a:off x="594" y="1776"/>
              <a:ext cx="221" cy="187"/>
            </a:xfrm>
            <a:prstGeom prst="ellipse">
              <a:avLst/>
            </a:prstGeom>
            <a:blipFill rotWithShape="0">
              <a:blip r:embed="rId1"/>
            </a:blipFill>
            <a:ln w="9525" cap="flat" cmpd="sng">
              <a:solidFill>
                <a:schemeClr val="tx1"/>
              </a:solidFill>
              <a:prstDash val="solid"/>
              <a:round/>
              <a:headEnd type="none" w="med" len="med"/>
              <a:tailEnd type="none" w="med" len="med"/>
            </a:ln>
            <a:effectLst>
              <a:outerShdw dist="35921" dir="2699999" algn="ctr" rotWithShape="0">
                <a:schemeClr val="bg2"/>
              </a:outerShdw>
            </a:effectLst>
          </p:spPr>
          <p:txBody>
            <a:bodyPr wrap="none" anchor="ctr" anchorCtr="0"/>
            <a:p>
              <a:pPr algn="ctr"/>
              <a:r>
                <a:rPr lang="en-US" altLang="zh-CN" sz="2000" b="1" dirty="0">
                  <a:solidFill>
                    <a:schemeClr val="hlink"/>
                  </a:solidFill>
                  <a:latin typeface="Times New Roman" panose="02020603050405020304" pitchFamily="18" charset="0"/>
                  <a:ea typeface="宋体" panose="02010600030101010101" pitchFamily="2" charset="-122"/>
                </a:rPr>
                <a:t>0</a:t>
              </a:r>
              <a:endParaRPr lang="en-US" altLang="zh-CN" sz="2000" b="1" dirty="0">
                <a:solidFill>
                  <a:schemeClr val="hlink"/>
                </a:solidFill>
                <a:latin typeface="Times New Roman" panose="02020603050405020304" pitchFamily="18" charset="0"/>
                <a:ea typeface="宋体" panose="02010600030101010101" pitchFamily="2" charset="-122"/>
              </a:endParaRPr>
            </a:p>
          </p:txBody>
        </p:sp>
        <p:sp>
          <p:nvSpPr>
            <p:cNvPr id="891068" name="Oval 188" descr="羊皮纸"/>
            <p:cNvSpPr>
              <a:spLocks noChangeArrowheads="1"/>
            </p:cNvSpPr>
            <p:nvPr/>
          </p:nvSpPr>
          <p:spPr bwMode="auto">
            <a:xfrm>
              <a:off x="594" y="2554"/>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4</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1069" name="Oval 189" descr="羊皮纸"/>
            <p:cNvSpPr>
              <a:spLocks noChangeArrowheads="1"/>
            </p:cNvSpPr>
            <p:nvPr/>
          </p:nvSpPr>
          <p:spPr bwMode="auto">
            <a:xfrm>
              <a:off x="888" y="2181"/>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6</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1070" name="Oval 190" descr="羊皮纸"/>
            <p:cNvSpPr>
              <a:spLocks noChangeArrowheads="1"/>
            </p:cNvSpPr>
            <p:nvPr/>
          </p:nvSpPr>
          <p:spPr bwMode="auto">
            <a:xfrm>
              <a:off x="1146" y="1776"/>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1</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1071" name="Oval 191" descr="羊皮纸"/>
            <p:cNvSpPr>
              <a:spLocks noChangeArrowheads="1"/>
            </p:cNvSpPr>
            <p:nvPr/>
          </p:nvSpPr>
          <p:spPr bwMode="auto">
            <a:xfrm>
              <a:off x="1146" y="2554"/>
              <a:ext cx="221" cy="187"/>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3</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891072" name="Oval 192" descr="羊皮纸"/>
            <p:cNvSpPr>
              <a:spLocks noChangeArrowheads="1"/>
            </p:cNvSpPr>
            <p:nvPr/>
          </p:nvSpPr>
          <p:spPr bwMode="auto">
            <a:xfrm flipH="1">
              <a:off x="1441" y="2181"/>
              <a:ext cx="221" cy="186"/>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2</a:t>
              </a:r>
              <a:endParaRPr kumimoji="1" lang="en-US" altLang="zh-CN" sz="2000" b="0"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03519" name="Text Box 193"/>
            <p:cNvSpPr txBox="1"/>
            <p:nvPr/>
          </p:nvSpPr>
          <p:spPr>
            <a:xfrm>
              <a:off x="336" y="1920"/>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10</a:t>
              </a:r>
              <a:endParaRPr lang="en-US" altLang="zh-CN" sz="2000" b="1" dirty="0">
                <a:solidFill>
                  <a:srgbClr val="2BDC08"/>
                </a:solidFill>
                <a:latin typeface="Times New Roman" panose="02020603050405020304" pitchFamily="18" charset="0"/>
                <a:ea typeface="宋体" panose="02010600030101010101" pitchFamily="2" charset="-122"/>
              </a:endParaRPr>
            </a:p>
          </p:txBody>
        </p:sp>
        <p:sp>
          <p:nvSpPr>
            <p:cNvPr id="103520" name="Text Box 194"/>
            <p:cNvSpPr txBox="1"/>
            <p:nvPr/>
          </p:nvSpPr>
          <p:spPr>
            <a:xfrm>
              <a:off x="336" y="2400"/>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25</a:t>
              </a:r>
              <a:endParaRPr lang="en-US" altLang="zh-CN" sz="2000" dirty="0">
                <a:solidFill>
                  <a:srgbClr val="2BDC08"/>
                </a:solidFill>
                <a:latin typeface="Times New Roman" panose="02020603050405020304" pitchFamily="18" charset="0"/>
                <a:ea typeface="宋体" panose="02010600030101010101" pitchFamily="2" charset="-122"/>
              </a:endParaRPr>
            </a:p>
          </p:txBody>
        </p:sp>
        <p:sp>
          <p:nvSpPr>
            <p:cNvPr id="103521" name="Text Box 195"/>
            <p:cNvSpPr txBox="1"/>
            <p:nvPr/>
          </p:nvSpPr>
          <p:spPr>
            <a:xfrm>
              <a:off x="864" y="1920"/>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14</a:t>
              </a:r>
              <a:endParaRPr lang="en-US" altLang="zh-CN" sz="2000" dirty="0">
                <a:solidFill>
                  <a:srgbClr val="2BDC08"/>
                </a:solidFill>
                <a:latin typeface="Times New Roman" panose="02020603050405020304" pitchFamily="18" charset="0"/>
                <a:ea typeface="宋体" panose="02010600030101010101" pitchFamily="2" charset="-122"/>
              </a:endParaRPr>
            </a:p>
          </p:txBody>
        </p:sp>
        <p:sp>
          <p:nvSpPr>
            <p:cNvPr id="103522" name="Text Box 196"/>
            <p:cNvSpPr txBox="1"/>
            <p:nvPr/>
          </p:nvSpPr>
          <p:spPr>
            <a:xfrm>
              <a:off x="631" y="2352"/>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24</a:t>
              </a:r>
              <a:endParaRPr lang="en-US" altLang="zh-CN" sz="2000" dirty="0">
                <a:solidFill>
                  <a:srgbClr val="2BDC08"/>
                </a:solidFill>
                <a:latin typeface="Times New Roman" panose="02020603050405020304" pitchFamily="18" charset="0"/>
                <a:ea typeface="宋体" panose="02010600030101010101" pitchFamily="2" charset="-122"/>
              </a:endParaRPr>
            </a:p>
          </p:txBody>
        </p:sp>
        <p:sp>
          <p:nvSpPr>
            <p:cNvPr id="103523" name="Text Box 197"/>
            <p:cNvSpPr txBox="1"/>
            <p:nvPr/>
          </p:nvSpPr>
          <p:spPr>
            <a:xfrm>
              <a:off x="864" y="2592"/>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22</a:t>
              </a:r>
              <a:endParaRPr lang="en-US" altLang="zh-CN" sz="2000" dirty="0">
                <a:solidFill>
                  <a:srgbClr val="2BDC08"/>
                </a:solidFill>
                <a:latin typeface="Times New Roman" panose="02020603050405020304" pitchFamily="18" charset="0"/>
                <a:ea typeface="宋体" panose="02010600030101010101" pitchFamily="2" charset="-122"/>
              </a:endParaRPr>
            </a:p>
          </p:txBody>
        </p:sp>
        <p:sp>
          <p:nvSpPr>
            <p:cNvPr id="103524" name="Text Box 198"/>
            <p:cNvSpPr txBox="1"/>
            <p:nvPr/>
          </p:nvSpPr>
          <p:spPr>
            <a:xfrm>
              <a:off x="1344" y="1920"/>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16</a:t>
              </a:r>
              <a:endParaRPr lang="en-US" altLang="zh-CN" sz="2000" b="1" dirty="0">
                <a:solidFill>
                  <a:srgbClr val="2BDC08"/>
                </a:solidFill>
                <a:latin typeface="Times New Roman" panose="02020603050405020304" pitchFamily="18" charset="0"/>
                <a:ea typeface="宋体" panose="02010600030101010101" pitchFamily="2" charset="-122"/>
              </a:endParaRPr>
            </a:p>
          </p:txBody>
        </p:sp>
        <p:sp>
          <p:nvSpPr>
            <p:cNvPr id="103525" name="Text Box 199"/>
            <p:cNvSpPr txBox="1"/>
            <p:nvPr/>
          </p:nvSpPr>
          <p:spPr>
            <a:xfrm>
              <a:off x="1106" y="2346"/>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18</a:t>
              </a:r>
              <a:endParaRPr lang="en-US" altLang="zh-CN" sz="2000" dirty="0">
                <a:solidFill>
                  <a:srgbClr val="2BDC08"/>
                </a:solidFill>
                <a:latin typeface="Times New Roman" panose="02020603050405020304" pitchFamily="18" charset="0"/>
                <a:ea typeface="宋体" panose="02010600030101010101" pitchFamily="2" charset="-122"/>
              </a:endParaRPr>
            </a:p>
          </p:txBody>
        </p:sp>
        <p:sp>
          <p:nvSpPr>
            <p:cNvPr id="103526" name="Text Box 200"/>
            <p:cNvSpPr txBox="1"/>
            <p:nvPr/>
          </p:nvSpPr>
          <p:spPr>
            <a:xfrm>
              <a:off x="1392" y="2352"/>
              <a:ext cx="275" cy="251"/>
            </a:xfrm>
            <a:prstGeom prst="rect">
              <a:avLst/>
            </a:prstGeom>
            <a:noFill/>
            <a:ln w="9525">
              <a:noFill/>
            </a:ln>
          </p:spPr>
          <p:txBody>
            <a:bodyPr wrap="none" anchor="t" anchorCtr="0">
              <a:spAutoFit/>
            </a:bodyPr>
            <a:p>
              <a:r>
                <a:rPr lang="en-US" altLang="zh-CN" sz="2000" b="1" dirty="0">
                  <a:solidFill>
                    <a:srgbClr val="2BDC08"/>
                  </a:solidFill>
                  <a:latin typeface="Times New Roman" panose="02020603050405020304" pitchFamily="18" charset="0"/>
                  <a:ea typeface="宋体" panose="02010600030101010101" pitchFamily="2" charset="-122"/>
                </a:rPr>
                <a:t>12</a:t>
              </a:r>
              <a:endParaRPr lang="en-US" altLang="zh-CN" sz="2000" b="1" dirty="0">
                <a:solidFill>
                  <a:srgbClr val="2BDC08"/>
                </a:solidFill>
                <a:latin typeface="Times New Roman" panose="02020603050405020304" pitchFamily="18" charset="0"/>
                <a:ea typeface="宋体" panose="02010600030101010101" pitchFamily="2" charset="-122"/>
              </a:endParaRPr>
            </a:p>
          </p:txBody>
        </p:sp>
        <p:sp>
          <p:nvSpPr>
            <p:cNvPr id="103527" name="Line 201"/>
            <p:cNvSpPr/>
            <p:nvPr/>
          </p:nvSpPr>
          <p:spPr>
            <a:xfrm>
              <a:off x="815" y="1870"/>
              <a:ext cx="331" cy="0"/>
            </a:xfrm>
            <a:prstGeom prst="line">
              <a:avLst/>
            </a:prstGeom>
            <a:ln w="28575" cap="flat" cmpd="sng">
              <a:solidFill>
                <a:schemeClr val="tx1"/>
              </a:solidFill>
              <a:prstDash val="solid"/>
              <a:round/>
              <a:headEnd type="none" w="med" len="med"/>
              <a:tailEnd type="none" w="med" len="med"/>
            </a:ln>
          </p:spPr>
        </p:sp>
      </p:gr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克鲁斯卡尔算法设计</a:t>
            </a:r>
            <a:r>
              <a:rPr lang="zh-CN" altLang="zh-CN" sz="2800" dirty="0">
                <a:solidFill>
                  <a:schemeClr val="tx1"/>
                </a:solidFill>
                <a:latin typeface="黑体" panose="02010609060101010101" pitchFamily="2" charset="-122"/>
                <a:ea typeface="黑体" panose="02010609060101010101" pitchFamily="2" charset="-122"/>
                <a:cs typeface="黑体" panose="02010609060101010101" pitchFamily="2" charset="-122"/>
                <a:sym typeface="+mn-ea"/>
              </a:rPr>
              <a:t>（自行设计）</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用选择排序算法，只需要</a:t>
            </a:r>
            <a:r>
              <a:rPr lang="zh-CN" altLang="en-US" dirty="0">
                <a:latin typeface="黑体" panose="02010609060101010101" pitchFamily="2" charset="-122"/>
                <a:ea typeface="黑体" panose="02010609060101010101" pitchFamily="2" charset="-122"/>
                <a:cs typeface="+mn-ea"/>
                <a:sym typeface="+mn-ea"/>
              </a:rPr>
              <a:t>即找出</a:t>
            </a:r>
            <a:r>
              <a:rPr lang="en-US" altLang="zh-CN" dirty="0">
                <a:latin typeface="黑体" panose="02010609060101010101" pitchFamily="2" charset="-122"/>
                <a:ea typeface="黑体" panose="02010609060101010101" pitchFamily="2" charset="-122"/>
                <a:cs typeface="+mn-ea"/>
                <a:sym typeface="+mn-ea"/>
              </a:rPr>
              <a:t>n-1</a:t>
            </a:r>
            <a:r>
              <a:rPr lang="zh-CN" altLang="en-US" dirty="0">
                <a:latin typeface="黑体" panose="02010609060101010101" pitchFamily="2" charset="-122"/>
                <a:ea typeface="黑体" panose="02010609060101010101" pitchFamily="2" charset="-122"/>
                <a:cs typeface="+mn-ea"/>
                <a:sym typeface="+mn-ea"/>
              </a:rPr>
              <a:t>条符合要求的</a:t>
            </a:r>
            <a:r>
              <a:rPr lang="zh-CN" altLang="en-US" dirty="0">
                <a:latin typeface="黑体" panose="02010609060101010101" pitchFamily="2" charset="-122"/>
                <a:ea typeface="黑体" panose="02010609060101010101" pitchFamily="2" charset="-122"/>
                <a:cs typeface="+mn-ea"/>
                <a:sym typeface="+mn-ea"/>
              </a:rPr>
              <a:t>边</a:t>
            </a:r>
            <a:endParaRPr lang="zh-CN" altLang="en-US"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难点：如何判断一条边属于两个不同的连通分量</a:t>
            </a:r>
            <a:endParaRPr lang="zh-CN" altLang="en-US"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sz="2400" b="0" dirty="0">
                <a:latin typeface="黑体" panose="02010609060101010101" pitchFamily="2" charset="-122"/>
                <a:ea typeface="黑体" panose="02010609060101010101" pitchFamily="2" charset="-122"/>
                <a:cs typeface="+mn-ea"/>
              </a:rPr>
              <a:t>设计辅助数组</a:t>
            </a:r>
            <a:r>
              <a:rPr lang="en-US" altLang="zh-CN" sz="2400" b="0" dirty="0">
                <a:latin typeface="黑体" panose="02010609060101010101" pitchFamily="2" charset="-122"/>
                <a:ea typeface="黑体" panose="02010609060101010101" pitchFamily="2" charset="-122"/>
                <a:cs typeface="+mn-ea"/>
              </a:rPr>
              <a:t>Belong[n]</a:t>
            </a:r>
            <a:r>
              <a:rPr lang="zh-CN" altLang="en-US" sz="2400" b="0" dirty="0">
                <a:latin typeface="黑体" panose="02010609060101010101" pitchFamily="2" charset="-122"/>
                <a:ea typeface="黑体" panose="02010609060101010101" pitchFamily="2" charset="-122"/>
                <a:cs typeface="+mn-ea"/>
              </a:rPr>
              <a:t>，其中</a:t>
            </a:r>
            <a:r>
              <a:rPr lang="en-US" altLang="zh-CN" sz="2400" b="0" dirty="0">
                <a:latin typeface="黑体" panose="02010609060101010101" pitchFamily="2" charset="-122"/>
                <a:ea typeface="黑体" panose="02010609060101010101" pitchFamily="2" charset="-122"/>
                <a:cs typeface="+mn-ea"/>
              </a:rPr>
              <a:t>Belong[i]</a:t>
            </a:r>
            <a:r>
              <a:rPr lang="zh-CN" altLang="en-US" sz="2400" b="0" dirty="0">
                <a:latin typeface="黑体" panose="02010609060101010101" pitchFamily="2" charset="-122"/>
                <a:ea typeface="黑体" panose="02010609060101010101" pitchFamily="2" charset="-122"/>
                <a:cs typeface="+mn-ea"/>
              </a:rPr>
              <a:t>初始为</a:t>
            </a:r>
            <a:r>
              <a:rPr lang="en-US" altLang="zh-CN" sz="2400" b="0" dirty="0">
                <a:latin typeface="黑体" panose="02010609060101010101" pitchFamily="2" charset="-122"/>
                <a:ea typeface="黑体" panose="02010609060101010101" pitchFamily="2" charset="-122"/>
                <a:cs typeface="+mn-ea"/>
              </a:rPr>
              <a:t>-1</a:t>
            </a:r>
            <a:r>
              <a:rPr lang="zh-CN" altLang="en-US" sz="2400" b="0" dirty="0">
                <a:latin typeface="黑体" panose="02010609060101010101" pitchFamily="2" charset="-122"/>
                <a:ea typeface="黑体" panose="02010609060101010101" pitchFamily="2" charset="-122"/>
                <a:cs typeface="+mn-ea"/>
              </a:rPr>
              <a:t>，表示顶点</a:t>
            </a:r>
            <a:r>
              <a:rPr lang="en-US" altLang="zh-CN" sz="2400" b="0" dirty="0">
                <a:latin typeface="黑体" panose="02010609060101010101" pitchFamily="2" charset="-122"/>
                <a:ea typeface="黑体" panose="02010609060101010101" pitchFamily="2" charset="-122"/>
                <a:cs typeface="+mn-ea"/>
              </a:rPr>
              <a:t>i</a:t>
            </a:r>
            <a:r>
              <a:rPr lang="zh-CN" altLang="en-US" sz="2400" b="0" dirty="0">
                <a:latin typeface="黑体" panose="02010609060101010101" pitchFamily="2" charset="-122"/>
                <a:ea typeface="黑体" panose="02010609060101010101" pitchFamily="2" charset="-122"/>
                <a:cs typeface="+mn-ea"/>
              </a:rPr>
              <a:t>未选</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b="0" dirty="0">
                <a:latin typeface="黑体" panose="02010609060101010101" pitchFamily="2" charset="-122"/>
                <a:ea typeface="黑体" panose="02010609060101010101" pitchFamily="2" charset="-122"/>
                <a:cs typeface="+mn-ea"/>
              </a:rPr>
              <a:t>当选中一条边，查看这条边的两个顶点</a:t>
            </a:r>
            <a:r>
              <a:rPr lang="en-US" altLang="zh-CN" sz="2400" b="0" dirty="0">
                <a:latin typeface="黑体" panose="02010609060101010101" pitchFamily="2" charset="-122"/>
                <a:ea typeface="黑体" panose="02010609060101010101" pitchFamily="2" charset="-122"/>
                <a:cs typeface="+mn-ea"/>
              </a:rPr>
              <a:t>i</a:t>
            </a:r>
            <a:r>
              <a:rPr lang="zh-CN" altLang="en-US" sz="2400" b="0" dirty="0">
                <a:latin typeface="黑体" panose="02010609060101010101" pitchFamily="2" charset="-122"/>
                <a:ea typeface="黑体" panose="02010609060101010101" pitchFamily="2" charset="-122"/>
                <a:cs typeface="+mn-ea"/>
              </a:rPr>
              <a:t>和</a:t>
            </a:r>
            <a:r>
              <a:rPr lang="en-US" altLang="zh-CN" sz="2400" b="0" dirty="0">
                <a:latin typeface="黑体" panose="02010609060101010101" pitchFamily="2" charset="-122"/>
                <a:ea typeface="黑体" panose="02010609060101010101" pitchFamily="2" charset="-122"/>
                <a:cs typeface="+mn-ea"/>
              </a:rPr>
              <a:t>j</a:t>
            </a:r>
            <a:endParaRPr lang="zh-CN" altLang="en-US" sz="2400" b="0" dirty="0">
              <a:latin typeface="黑体" panose="02010609060101010101" pitchFamily="2" charset="-122"/>
              <a:ea typeface="黑体" panose="02010609060101010101" pitchFamily="2" charset="-122"/>
              <a:cs typeface="+mn-ea"/>
            </a:endParaRPr>
          </a:p>
          <a:p>
            <a:pPr lvl="2" algn="l" eaLnBrk="1" hangingPunct="1">
              <a:buClrTx/>
              <a:buSzTx/>
              <a:buChar char="•"/>
            </a:pPr>
            <a:r>
              <a:rPr lang="zh-CN" altLang="en-US" sz="2000" b="0" dirty="0">
                <a:latin typeface="黑体" panose="02010609060101010101" pitchFamily="2" charset="-122"/>
                <a:ea typeface="黑体" panose="02010609060101010101" pitchFamily="2" charset="-122"/>
                <a:cs typeface="+mn-ea"/>
              </a:rPr>
              <a:t>如果</a:t>
            </a:r>
            <a:r>
              <a:rPr lang="en-US" altLang="zh-CN" sz="2000" b="0" dirty="0">
                <a:latin typeface="黑体" panose="02010609060101010101" pitchFamily="2" charset="-122"/>
                <a:ea typeface="黑体" panose="02010609060101010101" pitchFamily="2" charset="-122"/>
                <a:cs typeface="+mn-ea"/>
              </a:rPr>
              <a:t>Belong[i]</a:t>
            </a:r>
            <a:r>
              <a:rPr lang="zh-CN" altLang="en-US" sz="2000" b="0" dirty="0">
                <a:latin typeface="黑体" panose="02010609060101010101" pitchFamily="2" charset="-122"/>
                <a:ea typeface="黑体" panose="02010609060101010101" pitchFamily="2" charset="-122"/>
                <a:cs typeface="+mn-ea"/>
              </a:rPr>
              <a:t>和</a:t>
            </a:r>
            <a:r>
              <a:rPr lang="en-US" altLang="zh-CN" sz="2000" b="0" dirty="0">
                <a:latin typeface="黑体" panose="02010609060101010101" pitchFamily="2" charset="-122"/>
                <a:ea typeface="黑体" panose="02010609060101010101" pitchFamily="2" charset="-122"/>
                <a:cs typeface="+mn-ea"/>
              </a:rPr>
              <a:t>Belong[j]</a:t>
            </a:r>
            <a:r>
              <a:rPr lang="zh-CN" altLang="en-US" sz="2000" b="0" dirty="0">
                <a:latin typeface="黑体" panose="02010609060101010101" pitchFamily="2" charset="-122"/>
                <a:ea typeface="黑体" panose="02010609060101010101" pitchFamily="2" charset="-122"/>
                <a:cs typeface="+mn-ea"/>
              </a:rPr>
              <a:t>都是</a:t>
            </a:r>
            <a:r>
              <a:rPr lang="en-US" altLang="zh-CN" sz="2000" b="0" dirty="0">
                <a:latin typeface="黑体" panose="02010609060101010101" pitchFamily="2" charset="-122"/>
                <a:ea typeface="黑体" panose="02010609060101010101" pitchFamily="2" charset="-122"/>
                <a:cs typeface="+mn-ea"/>
              </a:rPr>
              <a:t>-1</a:t>
            </a:r>
            <a:r>
              <a:rPr lang="zh-CN" altLang="en-US" sz="2000" b="0" dirty="0">
                <a:latin typeface="黑体" panose="02010609060101010101" pitchFamily="2" charset="-122"/>
                <a:ea typeface="黑体" panose="02010609060101010101" pitchFamily="2" charset="-122"/>
                <a:cs typeface="+mn-ea"/>
              </a:rPr>
              <a:t>，则生成新分量编号并设</a:t>
            </a:r>
            <a:r>
              <a:rPr lang="en-US" altLang="zh-CN" dirty="0">
                <a:latin typeface="黑体" panose="02010609060101010101" pitchFamily="2" charset="-122"/>
                <a:ea typeface="黑体" panose="02010609060101010101" pitchFamily="2" charset="-122"/>
                <a:cs typeface="+mn-ea"/>
                <a:sym typeface="+mn-ea"/>
              </a:rPr>
              <a:t>Belong[i]</a:t>
            </a:r>
            <a:r>
              <a:rPr lang="zh-CN" altLang="en-US" dirty="0">
                <a:latin typeface="黑体" panose="02010609060101010101" pitchFamily="2" charset="-122"/>
                <a:ea typeface="黑体" panose="02010609060101010101" pitchFamily="2" charset="-122"/>
                <a:cs typeface="+mn-ea"/>
                <a:sym typeface="+mn-ea"/>
              </a:rPr>
              <a:t>和</a:t>
            </a:r>
            <a:r>
              <a:rPr lang="en-US" altLang="zh-CN" dirty="0">
                <a:latin typeface="黑体" panose="02010609060101010101" pitchFamily="2" charset="-122"/>
                <a:ea typeface="黑体" panose="02010609060101010101" pitchFamily="2" charset="-122"/>
                <a:cs typeface="+mn-ea"/>
                <a:sym typeface="+mn-ea"/>
              </a:rPr>
              <a:t>Belong[j]</a:t>
            </a:r>
            <a:endParaRPr lang="en-US" altLang="zh-CN" dirty="0">
              <a:latin typeface="黑体" panose="02010609060101010101" pitchFamily="2" charset="-122"/>
              <a:ea typeface="黑体" panose="02010609060101010101" pitchFamily="2" charset="-122"/>
              <a:cs typeface="+mn-ea"/>
              <a:sym typeface="+mn-ea"/>
            </a:endParaRPr>
          </a:p>
          <a:p>
            <a:pPr lvl="2"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如果</a:t>
            </a:r>
            <a:r>
              <a:rPr lang="en-US" altLang="zh-CN" dirty="0">
                <a:latin typeface="黑体" panose="02010609060101010101" pitchFamily="2" charset="-122"/>
                <a:ea typeface="黑体" panose="02010609060101010101" pitchFamily="2" charset="-122"/>
                <a:cs typeface="+mn-ea"/>
                <a:sym typeface="+mn-ea"/>
              </a:rPr>
              <a:t>Belong[i]</a:t>
            </a:r>
            <a:r>
              <a:rPr lang="zh-CN" altLang="en-US" dirty="0">
                <a:latin typeface="黑体" panose="02010609060101010101" pitchFamily="2" charset="-122"/>
                <a:ea typeface="黑体" panose="02010609060101010101" pitchFamily="2" charset="-122"/>
                <a:cs typeface="+mn-ea"/>
                <a:sym typeface="+mn-ea"/>
              </a:rPr>
              <a:t>或</a:t>
            </a:r>
            <a:r>
              <a:rPr lang="en-US" altLang="zh-CN" dirty="0">
                <a:latin typeface="黑体" panose="02010609060101010101" pitchFamily="2" charset="-122"/>
                <a:ea typeface="黑体" panose="02010609060101010101" pitchFamily="2" charset="-122"/>
                <a:cs typeface="+mn-ea"/>
                <a:sym typeface="+mn-ea"/>
              </a:rPr>
              <a:t>Belong[j]</a:t>
            </a:r>
            <a:r>
              <a:rPr lang="zh-CN" altLang="en-US" dirty="0">
                <a:latin typeface="黑体" panose="02010609060101010101" pitchFamily="2" charset="-122"/>
                <a:ea typeface="黑体" panose="02010609060101010101" pitchFamily="2" charset="-122"/>
                <a:cs typeface="+mn-ea"/>
                <a:sym typeface="+mn-ea"/>
              </a:rPr>
              <a:t>是</a:t>
            </a:r>
            <a:r>
              <a:rPr lang="en-US" altLang="zh-CN" dirty="0">
                <a:latin typeface="黑体" panose="02010609060101010101" pitchFamily="2" charset="-122"/>
                <a:ea typeface="黑体" panose="02010609060101010101" pitchFamily="2" charset="-122"/>
                <a:cs typeface="+mn-ea"/>
                <a:sym typeface="+mn-ea"/>
              </a:rPr>
              <a:t>-1</a:t>
            </a:r>
            <a:r>
              <a:rPr lang="zh-CN" altLang="en-US" dirty="0">
                <a:latin typeface="黑体" panose="02010609060101010101" pitchFamily="2" charset="-122"/>
                <a:ea typeface="黑体" panose="02010609060101010101" pitchFamily="2" charset="-122"/>
                <a:cs typeface="+mn-ea"/>
                <a:sym typeface="+mn-ea"/>
              </a:rPr>
              <a:t>，则生成新分量编号并设</a:t>
            </a:r>
            <a:r>
              <a:rPr lang="en-US" altLang="zh-CN" dirty="0">
                <a:latin typeface="黑体" panose="02010609060101010101" pitchFamily="2" charset="-122"/>
                <a:ea typeface="黑体" panose="02010609060101010101" pitchFamily="2" charset="-122"/>
                <a:cs typeface="+mn-ea"/>
                <a:sym typeface="+mn-ea"/>
              </a:rPr>
              <a:t>Belong[i]</a:t>
            </a:r>
            <a:r>
              <a:rPr lang="zh-CN" altLang="en-US" dirty="0">
                <a:latin typeface="黑体" panose="02010609060101010101" pitchFamily="2" charset="-122"/>
                <a:ea typeface="黑体" panose="02010609060101010101" pitchFamily="2" charset="-122"/>
                <a:cs typeface="+mn-ea"/>
                <a:sym typeface="+mn-ea"/>
              </a:rPr>
              <a:t>或</a:t>
            </a:r>
            <a:r>
              <a:rPr lang="en-US" altLang="zh-CN" dirty="0">
                <a:latin typeface="黑体" panose="02010609060101010101" pitchFamily="2" charset="-122"/>
                <a:ea typeface="黑体" panose="02010609060101010101" pitchFamily="2" charset="-122"/>
                <a:cs typeface="+mn-ea"/>
                <a:sym typeface="+mn-ea"/>
              </a:rPr>
              <a:t>Belong[j]</a:t>
            </a:r>
            <a:endParaRPr lang="en-US" altLang="zh-CN" dirty="0">
              <a:latin typeface="黑体" panose="02010609060101010101" pitchFamily="2" charset="-122"/>
              <a:ea typeface="黑体" panose="02010609060101010101" pitchFamily="2" charset="-122"/>
              <a:cs typeface="+mn-ea"/>
              <a:sym typeface="+mn-ea"/>
            </a:endParaRPr>
          </a:p>
          <a:p>
            <a:pPr lvl="2"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如果</a:t>
            </a:r>
            <a:r>
              <a:rPr lang="en-US" altLang="zh-CN" dirty="0">
                <a:latin typeface="黑体" panose="02010609060101010101" pitchFamily="2" charset="-122"/>
                <a:ea typeface="黑体" panose="02010609060101010101" pitchFamily="2" charset="-122"/>
                <a:cs typeface="+mn-ea"/>
                <a:sym typeface="+mn-ea"/>
              </a:rPr>
              <a:t>Belong[i]</a:t>
            </a:r>
            <a:r>
              <a:rPr lang="zh-CN" altLang="en-US" dirty="0">
                <a:latin typeface="黑体" panose="02010609060101010101" pitchFamily="2" charset="-122"/>
                <a:ea typeface="黑体" panose="02010609060101010101" pitchFamily="2" charset="-122"/>
                <a:cs typeface="+mn-ea"/>
                <a:sym typeface="+mn-ea"/>
              </a:rPr>
              <a:t>或</a:t>
            </a:r>
            <a:r>
              <a:rPr lang="en-US" altLang="zh-CN" dirty="0">
                <a:latin typeface="黑体" panose="02010609060101010101" pitchFamily="2" charset="-122"/>
                <a:ea typeface="黑体" panose="02010609060101010101" pitchFamily="2" charset="-122"/>
                <a:cs typeface="+mn-ea"/>
                <a:sym typeface="+mn-ea"/>
              </a:rPr>
              <a:t>Belong[j]</a:t>
            </a:r>
            <a:r>
              <a:rPr lang="zh-CN" altLang="en-US" dirty="0">
                <a:latin typeface="黑体" panose="02010609060101010101" pitchFamily="2" charset="-122"/>
                <a:ea typeface="黑体" panose="02010609060101010101" pitchFamily="2" charset="-122"/>
                <a:cs typeface="+mn-ea"/>
                <a:sym typeface="+mn-ea"/>
              </a:rPr>
              <a:t>都不是</a:t>
            </a:r>
            <a:r>
              <a:rPr lang="en-US" altLang="zh-CN" dirty="0">
                <a:latin typeface="黑体" panose="02010609060101010101" pitchFamily="2" charset="-122"/>
                <a:ea typeface="黑体" panose="02010609060101010101" pitchFamily="2" charset="-122"/>
                <a:cs typeface="+mn-ea"/>
                <a:sym typeface="+mn-ea"/>
              </a:rPr>
              <a:t>-1</a:t>
            </a:r>
            <a:r>
              <a:rPr lang="zh-CN" altLang="en-US" dirty="0">
                <a:latin typeface="黑体" panose="02010609060101010101" pitchFamily="2" charset="-122"/>
                <a:ea typeface="黑体" panose="02010609060101010101" pitchFamily="2" charset="-122"/>
                <a:cs typeface="+mn-ea"/>
                <a:sym typeface="+mn-ea"/>
              </a:rPr>
              <a:t>，则说明两个顶点</a:t>
            </a:r>
            <a:r>
              <a:rPr lang="zh-CN" altLang="en-US" dirty="0">
                <a:latin typeface="黑体" panose="02010609060101010101" pitchFamily="2" charset="-122"/>
                <a:ea typeface="黑体" panose="02010609060101010101" pitchFamily="2" charset="-122"/>
                <a:cs typeface="+mn-ea"/>
                <a:sym typeface="+mn-ea"/>
              </a:rPr>
              <a:t>已选</a:t>
            </a:r>
            <a:endParaRPr lang="zh-CN" altLang="en-US" dirty="0">
              <a:latin typeface="黑体" panose="02010609060101010101" pitchFamily="2" charset="-122"/>
              <a:ea typeface="黑体" panose="02010609060101010101" pitchFamily="2" charset="-122"/>
              <a:cs typeface="+mn-ea"/>
              <a:sym typeface="+mn-ea"/>
            </a:endParaRPr>
          </a:p>
          <a:p>
            <a:pPr lvl="3"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如果</a:t>
            </a:r>
            <a:r>
              <a:rPr lang="en-US" altLang="zh-CN" dirty="0">
                <a:latin typeface="黑体" panose="02010609060101010101" pitchFamily="2" charset="-122"/>
                <a:ea typeface="黑体" panose="02010609060101010101" pitchFamily="2" charset="-122"/>
                <a:cs typeface="+mn-ea"/>
                <a:sym typeface="+mn-ea"/>
              </a:rPr>
              <a:t>Belong[i]==Belong[j]</a:t>
            </a:r>
            <a:r>
              <a:rPr lang="zh-CN" altLang="en-US" dirty="0">
                <a:latin typeface="黑体" panose="02010609060101010101" pitchFamily="2" charset="-122"/>
                <a:ea typeface="黑体" panose="02010609060101010101" pitchFamily="2" charset="-122"/>
                <a:cs typeface="+mn-ea"/>
                <a:sym typeface="+mn-ea"/>
              </a:rPr>
              <a:t>，则说明同属一个分量，放弃</a:t>
            </a:r>
            <a:endParaRPr lang="zh-CN" altLang="en-US" dirty="0">
              <a:latin typeface="黑体" panose="02010609060101010101" pitchFamily="2" charset="-122"/>
              <a:ea typeface="黑体" panose="02010609060101010101" pitchFamily="2" charset="-122"/>
              <a:cs typeface="+mn-ea"/>
              <a:sym typeface="+mn-ea"/>
            </a:endParaRPr>
          </a:p>
          <a:p>
            <a:pPr lvl="3"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如果</a:t>
            </a:r>
            <a:r>
              <a:rPr lang="en-US" altLang="zh-CN" dirty="0">
                <a:latin typeface="黑体" panose="02010609060101010101" pitchFamily="2" charset="-122"/>
                <a:ea typeface="黑体" panose="02010609060101010101" pitchFamily="2" charset="-122"/>
                <a:cs typeface="+mn-ea"/>
                <a:sym typeface="+mn-ea"/>
              </a:rPr>
              <a:t>Belong[i]&lt;&gt;Belong[j]</a:t>
            </a:r>
            <a:r>
              <a:rPr lang="zh-CN" altLang="en-US" dirty="0">
                <a:latin typeface="黑体" panose="02010609060101010101" pitchFamily="2" charset="-122"/>
                <a:ea typeface="黑体" panose="02010609060101010101" pitchFamily="2" charset="-122"/>
                <a:cs typeface="+mn-ea"/>
                <a:sym typeface="+mn-ea"/>
              </a:rPr>
              <a:t>，则说明分属不同分量，选择这条边并把两个分量合并，即更改相关分量的</a:t>
            </a:r>
            <a:r>
              <a:rPr lang="en-US" altLang="zh-CN" dirty="0">
                <a:latin typeface="黑体" panose="02010609060101010101" pitchFamily="2" charset="-122"/>
                <a:ea typeface="黑体" panose="02010609060101010101" pitchFamily="2" charset="-122"/>
                <a:cs typeface="+mn-ea"/>
                <a:sym typeface="+mn-ea"/>
              </a:rPr>
              <a:t>Belong</a:t>
            </a:r>
            <a:r>
              <a:rPr lang="zh-CN" altLang="en-US" dirty="0">
                <a:latin typeface="黑体" panose="02010609060101010101" pitchFamily="2" charset="-122"/>
                <a:ea typeface="黑体" panose="02010609060101010101" pitchFamily="2" charset="-122"/>
                <a:cs typeface="+mn-ea"/>
                <a:sym typeface="+mn-ea"/>
              </a:rPr>
              <a:t>值</a:t>
            </a:r>
            <a:endParaRPr lang="zh-CN" altLang="en-US" sz="2000" b="0" dirty="0">
              <a:latin typeface="黑体" panose="02010609060101010101" pitchFamily="2" charset="-122"/>
              <a:ea typeface="黑体" panose="02010609060101010101" pitchFamily="2" charset="-122"/>
              <a:cs typeface="+mn-ea"/>
            </a:endParaRPr>
          </a:p>
          <a:p>
            <a:pPr marL="457200" lvl="1" indent="-457200" algn="l" eaLnBrk="1" hangingPunct="1">
              <a:buClrTx/>
              <a:buSzTx/>
              <a:buFont typeface="Wingdings" panose="05000000000000000000" charset="0"/>
              <a:buChar char="l"/>
            </a:pPr>
            <a:r>
              <a:rPr lang="zh-CN" altLang="zh-CN" dirty="0">
                <a:latin typeface="黑体" panose="02010609060101010101" pitchFamily="2" charset="-122"/>
                <a:ea typeface="黑体" panose="02010609060101010101" pitchFamily="2" charset="-122"/>
                <a:cs typeface="黑体" panose="02010609060101010101" pitchFamily="2" charset="-122"/>
                <a:sym typeface="+mn-ea"/>
              </a:rPr>
              <a:t>课本的算法，参考第</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6.5</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节在用</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MFSet</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结构的等价类算法，时间复杂度</a:t>
            </a:r>
            <a:r>
              <a:rPr lang="zh-CN" altLang="en-US" dirty="0">
                <a:latin typeface="黑体" panose="02010609060101010101" pitchFamily="2" charset="-122"/>
                <a:ea typeface="黑体" panose="02010609060101010101" pitchFamily="2" charset="-122"/>
                <a:cs typeface="+mn-ea"/>
                <a:sym typeface="+mn-ea"/>
              </a:rPr>
              <a:t>O(eloge)</a:t>
            </a:r>
            <a:endParaRPr lang="zh-CN" altLang="zh-CN"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7.4 </a:t>
            </a:r>
            <a:r>
              <a:rPr lang="zh-CN" altLang="en-US">
                <a:latin typeface="楷体" panose="02010609060101010101" charset="-122"/>
                <a:ea typeface="楷体" panose="02010609060101010101" charset="-122"/>
                <a:cs typeface="楷体" panose="02010609060101010101" charset="-122"/>
                <a:sym typeface="+mn-ea"/>
              </a:rPr>
              <a:t>图的</a:t>
            </a:r>
            <a:r>
              <a:rPr lang="zh-CN" altLang="en-US">
                <a:latin typeface="楷体" panose="02010609060101010101" charset="-122"/>
                <a:ea typeface="楷体" panose="02010609060101010101" charset="-122"/>
                <a:cs typeface="楷体" panose="02010609060101010101" charset="-122"/>
                <a:sym typeface="+mn-ea"/>
              </a:rPr>
              <a:t>连通</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克鲁斯卡尔算法分析</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算法只是和边数量相关</a:t>
            </a:r>
            <a:r>
              <a:rPr lang="zh-CN" altLang="en-US" dirty="0">
                <a:latin typeface="黑体" panose="02010609060101010101" pitchFamily="2" charset="-122"/>
                <a:ea typeface="黑体" panose="02010609060101010101" pitchFamily="2" charset="-122"/>
                <a:cs typeface="+mn-ea"/>
                <a:sym typeface="+mn-ea"/>
              </a:rPr>
              <a:t>，因此适用于点稠密的网</a:t>
            </a: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时间复杂度为O(eloge)</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当一个通信网的边数量少但点数量多，则适用</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7.4 </a:t>
            </a:r>
            <a:r>
              <a:rPr lang="zh-CN" altLang="en-US">
                <a:latin typeface="楷体" panose="02010609060101010101" charset="-122"/>
                <a:ea typeface="楷体" panose="02010609060101010101" charset="-122"/>
                <a:cs typeface="楷体" panose="02010609060101010101" charset="-122"/>
                <a:sym typeface="+mn-ea"/>
              </a:rPr>
              <a:t>图的</a:t>
            </a:r>
            <a:r>
              <a:rPr lang="zh-CN" altLang="en-US">
                <a:latin typeface="楷体" panose="02010609060101010101" charset="-122"/>
                <a:ea typeface="楷体" panose="02010609060101010101" charset="-122"/>
                <a:cs typeface="楷体" panose="02010609060101010101" charset="-122"/>
                <a:sym typeface="+mn-ea"/>
              </a:rPr>
              <a:t>连通</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在连通图中，有一种特殊顶点称为</a:t>
            </a: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关节点</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关节点：若把顶点v和相关的边删除，则图的一个连通分量变成两个以上分量，则v是图的一个关节点</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7.4 </a:t>
            </a:r>
            <a:r>
              <a:rPr lang="zh-CN" altLang="en-US">
                <a:latin typeface="楷体" panose="02010609060101010101" charset="-122"/>
                <a:ea typeface="楷体" panose="02010609060101010101" charset="-122"/>
                <a:cs typeface="楷体" panose="02010609060101010101" charset="-122"/>
                <a:sym typeface="+mn-ea"/>
              </a:rPr>
              <a:t>图的</a:t>
            </a:r>
            <a:r>
              <a:rPr lang="zh-CN" altLang="en-US">
                <a:latin typeface="楷体" panose="02010609060101010101" charset="-122"/>
                <a:ea typeface="楷体" panose="02010609060101010101" charset="-122"/>
                <a:cs typeface="楷体" panose="02010609060101010101" charset="-122"/>
                <a:sym typeface="+mn-ea"/>
              </a:rPr>
              <a:t>连通</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6" name="组合 5"/>
          <p:cNvGrpSpPr/>
          <p:nvPr/>
        </p:nvGrpSpPr>
        <p:grpSpPr>
          <a:xfrm>
            <a:off x="2711450" y="3068955"/>
            <a:ext cx="5311140" cy="2548890"/>
            <a:chOff x="4270" y="4833"/>
            <a:chExt cx="8364" cy="4014"/>
          </a:xfrm>
        </p:grpSpPr>
        <p:grpSp>
          <p:nvGrpSpPr>
            <p:cNvPr id="105477" name="Group 48"/>
            <p:cNvGrpSpPr/>
            <p:nvPr/>
          </p:nvGrpSpPr>
          <p:grpSpPr>
            <a:xfrm>
              <a:off x="4270" y="4833"/>
              <a:ext cx="8365" cy="3365"/>
              <a:chOff x="431" y="2205"/>
              <a:chExt cx="3346" cy="1346"/>
            </a:xfrm>
          </p:grpSpPr>
          <p:sp>
            <p:nvSpPr>
              <p:cNvPr id="105478" name="Line 10"/>
              <p:cNvSpPr/>
              <p:nvPr/>
            </p:nvSpPr>
            <p:spPr>
              <a:xfrm flipH="1">
                <a:off x="1007" y="2877"/>
                <a:ext cx="960" cy="432"/>
              </a:xfrm>
              <a:prstGeom prst="line">
                <a:avLst/>
              </a:prstGeom>
              <a:ln w="28575" cap="flat" cmpd="sng">
                <a:solidFill>
                  <a:schemeClr val="accent2"/>
                </a:solidFill>
                <a:prstDash val="solid"/>
                <a:round/>
                <a:headEnd type="none" w="med" len="med"/>
                <a:tailEnd type="none" w="med" len="med"/>
              </a:ln>
            </p:spPr>
          </p:sp>
          <p:sp>
            <p:nvSpPr>
              <p:cNvPr id="105479" name="Line 11"/>
              <p:cNvSpPr/>
              <p:nvPr/>
            </p:nvSpPr>
            <p:spPr>
              <a:xfrm>
                <a:off x="1007" y="3357"/>
                <a:ext cx="624" cy="0"/>
              </a:xfrm>
              <a:prstGeom prst="line">
                <a:avLst/>
              </a:prstGeom>
              <a:ln w="28575" cap="flat" cmpd="sng">
                <a:solidFill>
                  <a:schemeClr val="accent2"/>
                </a:solidFill>
                <a:prstDash val="solid"/>
                <a:round/>
                <a:headEnd type="none" w="med" len="med"/>
                <a:tailEnd type="none" w="med" len="med"/>
              </a:ln>
            </p:spPr>
          </p:sp>
          <p:sp>
            <p:nvSpPr>
              <p:cNvPr id="105480" name="Line 12"/>
              <p:cNvSpPr/>
              <p:nvPr/>
            </p:nvSpPr>
            <p:spPr>
              <a:xfrm>
                <a:off x="623" y="2925"/>
                <a:ext cx="240" cy="336"/>
              </a:xfrm>
              <a:prstGeom prst="line">
                <a:avLst/>
              </a:prstGeom>
              <a:ln w="28575" cap="flat" cmpd="sng">
                <a:solidFill>
                  <a:schemeClr val="accent2"/>
                </a:solidFill>
                <a:prstDash val="solid"/>
                <a:round/>
                <a:headEnd type="none" w="med" len="med"/>
                <a:tailEnd type="none" w="med" len="med"/>
              </a:ln>
            </p:spPr>
          </p:sp>
          <p:sp>
            <p:nvSpPr>
              <p:cNvPr id="105481" name="Line 13"/>
              <p:cNvSpPr/>
              <p:nvPr/>
            </p:nvSpPr>
            <p:spPr>
              <a:xfrm flipH="1">
                <a:off x="1727" y="2973"/>
                <a:ext cx="240" cy="288"/>
              </a:xfrm>
              <a:prstGeom prst="line">
                <a:avLst/>
              </a:prstGeom>
              <a:ln w="28575" cap="flat" cmpd="sng">
                <a:solidFill>
                  <a:schemeClr val="accent2"/>
                </a:solidFill>
                <a:prstDash val="solid"/>
                <a:round/>
                <a:headEnd type="none" w="med" len="med"/>
                <a:tailEnd type="none" w="med" len="med"/>
              </a:ln>
            </p:spPr>
          </p:sp>
          <p:sp>
            <p:nvSpPr>
              <p:cNvPr id="105482" name="Line 14"/>
              <p:cNvSpPr/>
              <p:nvPr/>
            </p:nvSpPr>
            <p:spPr>
              <a:xfrm>
                <a:off x="1391" y="2445"/>
                <a:ext cx="576" cy="336"/>
              </a:xfrm>
              <a:prstGeom prst="line">
                <a:avLst/>
              </a:prstGeom>
              <a:ln w="28575" cap="flat" cmpd="sng">
                <a:solidFill>
                  <a:schemeClr val="accent2"/>
                </a:solidFill>
                <a:prstDash val="solid"/>
                <a:round/>
                <a:headEnd type="none" w="med" len="med"/>
                <a:tailEnd type="none" w="med" len="med"/>
              </a:ln>
            </p:spPr>
          </p:sp>
          <p:sp>
            <p:nvSpPr>
              <p:cNvPr id="105483" name="Line 15"/>
              <p:cNvSpPr/>
              <p:nvPr/>
            </p:nvSpPr>
            <p:spPr>
              <a:xfrm>
                <a:off x="1343" y="2493"/>
                <a:ext cx="144" cy="240"/>
              </a:xfrm>
              <a:prstGeom prst="line">
                <a:avLst/>
              </a:prstGeom>
              <a:ln w="28575" cap="flat" cmpd="sng">
                <a:solidFill>
                  <a:schemeClr val="accent2"/>
                </a:solidFill>
                <a:prstDash val="solid"/>
                <a:round/>
                <a:headEnd type="none" w="med" len="med"/>
                <a:tailEnd type="none" w="med" len="med"/>
              </a:ln>
            </p:spPr>
          </p:sp>
          <p:sp>
            <p:nvSpPr>
              <p:cNvPr id="105484" name="Line 16"/>
              <p:cNvSpPr/>
              <p:nvPr/>
            </p:nvSpPr>
            <p:spPr>
              <a:xfrm flipH="1">
                <a:off x="1103" y="2493"/>
                <a:ext cx="144" cy="240"/>
              </a:xfrm>
              <a:prstGeom prst="line">
                <a:avLst/>
              </a:prstGeom>
              <a:ln w="28575" cap="flat" cmpd="sng">
                <a:solidFill>
                  <a:schemeClr val="accent2"/>
                </a:solidFill>
                <a:prstDash val="solid"/>
                <a:round/>
                <a:headEnd type="none" w="med" len="med"/>
                <a:tailEnd type="none" w="med" len="med"/>
              </a:ln>
            </p:spPr>
          </p:sp>
          <p:sp>
            <p:nvSpPr>
              <p:cNvPr id="105485" name="Line 17"/>
              <p:cNvSpPr/>
              <p:nvPr/>
            </p:nvSpPr>
            <p:spPr>
              <a:xfrm flipH="1">
                <a:off x="671" y="2445"/>
                <a:ext cx="528" cy="336"/>
              </a:xfrm>
              <a:prstGeom prst="line">
                <a:avLst/>
              </a:prstGeom>
              <a:ln w="28575" cap="flat" cmpd="sng">
                <a:solidFill>
                  <a:schemeClr val="accent2"/>
                </a:solidFill>
                <a:prstDash val="solid"/>
                <a:round/>
                <a:headEnd type="none" w="med" len="med"/>
                <a:tailEnd type="none" w="med" len="med"/>
              </a:ln>
            </p:spPr>
          </p:sp>
          <p:sp>
            <p:nvSpPr>
              <p:cNvPr id="881682" name="Oval 18" descr="粉色砂纸"/>
              <p:cNvSpPr>
                <a:spLocks noChangeArrowheads="1"/>
              </p:cNvSpPr>
              <p:nvPr/>
            </p:nvSpPr>
            <p:spPr bwMode="auto">
              <a:xfrm>
                <a:off x="1151" y="2222"/>
                <a:ext cx="288" cy="288"/>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81683" name="Oval 19" descr="粉色砂纸"/>
              <p:cNvSpPr>
                <a:spLocks noChangeArrowheads="1"/>
              </p:cNvSpPr>
              <p:nvPr/>
            </p:nvSpPr>
            <p:spPr bwMode="auto">
              <a:xfrm>
                <a:off x="1871" y="2703"/>
                <a:ext cx="288" cy="288"/>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81684" name="Oval 20" descr="粉色砂纸"/>
              <p:cNvSpPr>
                <a:spLocks noChangeArrowheads="1"/>
              </p:cNvSpPr>
              <p:nvPr/>
            </p:nvSpPr>
            <p:spPr bwMode="auto">
              <a:xfrm>
                <a:off x="1391" y="2711"/>
                <a:ext cx="288" cy="288"/>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81685" name="Oval 21" descr="粉色砂纸"/>
              <p:cNvSpPr>
                <a:spLocks noChangeArrowheads="1"/>
              </p:cNvSpPr>
              <p:nvPr/>
            </p:nvSpPr>
            <p:spPr bwMode="auto">
              <a:xfrm>
                <a:off x="767" y="3222"/>
                <a:ext cx="288" cy="288"/>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81686" name="Oval 22" descr="粉色砂纸"/>
              <p:cNvSpPr>
                <a:spLocks noChangeArrowheads="1"/>
              </p:cNvSpPr>
              <p:nvPr/>
            </p:nvSpPr>
            <p:spPr bwMode="auto">
              <a:xfrm>
                <a:off x="911" y="2694"/>
                <a:ext cx="288" cy="288"/>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491" name="Text Box 23"/>
              <p:cNvSpPr txBox="1"/>
              <p:nvPr/>
            </p:nvSpPr>
            <p:spPr>
              <a:xfrm>
                <a:off x="1161" y="2205"/>
                <a:ext cx="277" cy="329"/>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A</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105492" name="Text Box 24"/>
              <p:cNvSpPr txBox="1"/>
              <p:nvPr/>
            </p:nvSpPr>
            <p:spPr>
              <a:xfrm>
                <a:off x="921" y="2694"/>
                <a:ext cx="277" cy="329"/>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C</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105493" name="Text Box 25"/>
              <p:cNvSpPr txBox="1"/>
              <p:nvPr/>
            </p:nvSpPr>
            <p:spPr>
              <a:xfrm>
                <a:off x="1401" y="2694"/>
                <a:ext cx="277" cy="329"/>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D</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105494" name="Text Box 26"/>
              <p:cNvSpPr txBox="1"/>
              <p:nvPr/>
            </p:nvSpPr>
            <p:spPr>
              <a:xfrm>
                <a:off x="1894" y="2703"/>
                <a:ext cx="265" cy="329"/>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E</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881691" name="Oval 27" descr="粉色砂纸"/>
              <p:cNvSpPr>
                <a:spLocks noChangeArrowheads="1"/>
              </p:cNvSpPr>
              <p:nvPr/>
            </p:nvSpPr>
            <p:spPr bwMode="auto">
              <a:xfrm>
                <a:off x="431" y="2694"/>
                <a:ext cx="288" cy="288"/>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496" name="Text Box 29"/>
              <p:cNvSpPr txBox="1"/>
              <p:nvPr/>
            </p:nvSpPr>
            <p:spPr>
              <a:xfrm>
                <a:off x="441" y="2694"/>
                <a:ext cx="277" cy="329"/>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B</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105497" name="Text Box 30"/>
              <p:cNvSpPr txBox="1"/>
              <p:nvPr/>
            </p:nvSpPr>
            <p:spPr>
              <a:xfrm>
                <a:off x="802" y="3222"/>
                <a:ext cx="252" cy="329"/>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F</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881696" name="Oval 32" descr="粉色砂纸"/>
              <p:cNvSpPr>
                <a:spLocks noChangeArrowheads="1"/>
              </p:cNvSpPr>
              <p:nvPr/>
            </p:nvSpPr>
            <p:spPr bwMode="auto">
              <a:xfrm>
                <a:off x="1523" y="3222"/>
                <a:ext cx="288" cy="288"/>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499" name="Text Box 33"/>
              <p:cNvSpPr txBox="1"/>
              <p:nvPr/>
            </p:nvSpPr>
            <p:spPr>
              <a:xfrm>
                <a:off x="1533" y="3222"/>
                <a:ext cx="290" cy="329"/>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G</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105500" name="Line 5"/>
              <p:cNvSpPr/>
              <p:nvPr/>
            </p:nvSpPr>
            <p:spPr>
              <a:xfrm>
                <a:off x="2673" y="2973"/>
                <a:ext cx="240" cy="336"/>
              </a:xfrm>
              <a:prstGeom prst="line">
                <a:avLst/>
              </a:prstGeom>
              <a:ln w="28575" cap="flat" cmpd="sng">
                <a:solidFill>
                  <a:schemeClr val="accent2"/>
                </a:solidFill>
                <a:prstDash val="solid"/>
                <a:round/>
                <a:headEnd type="none" w="med" len="med"/>
                <a:tailEnd type="none" w="med" len="med"/>
              </a:ln>
            </p:spPr>
          </p:sp>
          <p:sp>
            <p:nvSpPr>
              <p:cNvPr id="105501" name="Line 8"/>
              <p:cNvSpPr/>
              <p:nvPr/>
            </p:nvSpPr>
            <p:spPr>
              <a:xfrm flipH="1">
                <a:off x="2721" y="2445"/>
                <a:ext cx="384" cy="336"/>
              </a:xfrm>
              <a:prstGeom prst="line">
                <a:avLst/>
              </a:prstGeom>
              <a:ln w="28575" cap="flat" cmpd="sng">
                <a:solidFill>
                  <a:schemeClr val="accent2"/>
                </a:solidFill>
                <a:prstDash val="solid"/>
                <a:round/>
                <a:headEnd type="none" w="med" len="med"/>
                <a:tailEnd type="none" w="med" len="med"/>
              </a:ln>
            </p:spPr>
          </p:sp>
          <p:sp>
            <p:nvSpPr>
              <p:cNvPr id="105502" name="Line 9"/>
              <p:cNvSpPr/>
              <p:nvPr/>
            </p:nvSpPr>
            <p:spPr>
              <a:xfrm flipH="1">
                <a:off x="3281" y="2840"/>
                <a:ext cx="227" cy="0"/>
              </a:xfrm>
              <a:prstGeom prst="line">
                <a:avLst/>
              </a:prstGeom>
              <a:ln w="28575" cap="flat" cmpd="sng">
                <a:solidFill>
                  <a:schemeClr val="accent2"/>
                </a:solidFill>
                <a:prstDash val="solid"/>
                <a:round/>
                <a:headEnd type="none" w="med" len="med"/>
                <a:tailEnd type="none" w="med" len="med"/>
              </a:ln>
            </p:spPr>
          </p:sp>
          <p:sp>
            <p:nvSpPr>
              <p:cNvPr id="881692" name="Oval 28" descr="粉色砂纸"/>
              <p:cNvSpPr>
                <a:spLocks noChangeArrowheads="1"/>
              </p:cNvSpPr>
              <p:nvPr/>
            </p:nvSpPr>
            <p:spPr bwMode="auto">
              <a:xfrm>
                <a:off x="2769" y="3222"/>
                <a:ext cx="288" cy="288"/>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504" name="Text Box 31"/>
              <p:cNvSpPr txBox="1"/>
              <p:nvPr/>
            </p:nvSpPr>
            <p:spPr>
              <a:xfrm>
                <a:off x="2782" y="3203"/>
                <a:ext cx="275" cy="329"/>
              </a:xfrm>
              <a:prstGeom prst="rect">
                <a:avLst/>
              </a:prstGeom>
              <a:noFill/>
              <a:ln w="9525">
                <a:noFill/>
              </a:ln>
            </p:spPr>
            <p:txBody>
              <a:bodyPr wrap="square" anchor="t" anchorCtr="0">
                <a:spAutoFit/>
              </a:bodyPr>
              <a:p>
                <a:pPr algn="ctr"/>
                <a:r>
                  <a:rPr lang="en-US" altLang="zh-CN" sz="2800" b="1" dirty="0">
                    <a:solidFill>
                      <a:schemeClr val="hlink"/>
                    </a:solidFill>
                    <a:latin typeface="Arial" panose="020B0604020202020204" pitchFamily="34" charset="0"/>
                    <a:ea typeface="宋体" panose="02010600030101010101" pitchFamily="2" charset="-122"/>
                  </a:rPr>
                  <a:t>I</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881698" name="Oval 34" descr="粉色砂纸"/>
              <p:cNvSpPr>
                <a:spLocks noChangeArrowheads="1"/>
              </p:cNvSpPr>
              <p:nvPr/>
            </p:nvSpPr>
            <p:spPr bwMode="auto">
              <a:xfrm>
                <a:off x="3489" y="2702"/>
                <a:ext cx="288" cy="288"/>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506" name="Text Box 35"/>
              <p:cNvSpPr txBox="1"/>
              <p:nvPr/>
            </p:nvSpPr>
            <p:spPr>
              <a:xfrm>
                <a:off x="3499" y="2685"/>
                <a:ext cx="278" cy="329"/>
              </a:xfrm>
              <a:prstGeom prst="rect">
                <a:avLst/>
              </a:prstGeom>
              <a:noFill/>
              <a:ln w="9525">
                <a:noFill/>
              </a:ln>
            </p:spPr>
            <p:txBody>
              <a:bodyPr wrap="square" anchor="t" anchorCtr="0">
                <a:spAutoFit/>
              </a:bodyPr>
              <a:p>
                <a:pPr algn="ctr"/>
                <a:r>
                  <a:rPr lang="en-US" altLang="zh-CN" sz="2800" b="1" dirty="0">
                    <a:solidFill>
                      <a:schemeClr val="hlink"/>
                    </a:solidFill>
                    <a:latin typeface="Arial" panose="020B0604020202020204" pitchFamily="34" charset="0"/>
                    <a:ea typeface="宋体" panose="02010600030101010101" pitchFamily="2" charset="-122"/>
                  </a:rPr>
                  <a:t>J</a:t>
                </a:r>
                <a:endParaRPr lang="en-US" altLang="zh-CN" sz="2800" b="1" dirty="0">
                  <a:solidFill>
                    <a:schemeClr val="hlink"/>
                  </a:solidFill>
                  <a:latin typeface="Arial" panose="020B0604020202020204" pitchFamily="34" charset="0"/>
                  <a:ea typeface="宋体" panose="02010600030101010101" pitchFamily="2" charset="-122"/>
                </a:endParaRPr>
              </a:p>
            </p:txBody>
          </p:sp>
          <p:sp>
            <p:nvSpPr>
              <p:cNvPr id="881700" name="Oval 36" descr="粉色砂纸"/>
              <p:cNvSpPr>
                <a:spLocks noChangeArrowheads="1"/>
              </p:cNvSpPr>
              <p:nvPr/>
            </p:nvSpPr>
            <p:spPr bwMode="auto">
              <a:xfrm>
                <a:off x="3009" y="2702"/>
                <a:ext cx="288" cy="288"/>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508" name="Text Box 37"/>
              <p:cNvSpPr txBox="1"/>
              <p:nvPr/>
            </p:nvSpPr>
            <p:spPr>
              <a:xfrm>
                <a:off x="3009" y="2685"/>
                <a:ext cx="252" cy="329"/>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L</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881702" name="Oval 38" descr="粉色砂纸"/>
              <p:cNvSpPr>
                <a:spLocks noChangeArrowheads="1"/>
              </p:cNvSpPr>
              <p:nvPr/>
            </p:nvSpPr>
            <p:spPr bwMode="auto">
              <a:xfrm>
                <a:off x="2517" y="2702"/>
                <a:ext cx="288" cy="288"/>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510" name="Text Box 39"/>
              <p:cNvSpPr txBox="1"/>
              <p:nvPr/>
            </p:nvSpPr>
            <p:spPr>
              <a:xfrm>
                <a:off x="2549" y="2677"/>
                <a:ext cx="277" cy="329"/>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H</a:t>
                </a:r>
                <a:endParaRPr lang="en-US" altLang="zh-CN" sz="2800" b="1" dirty="0">
                  <a:solidFill>
                    <a:schemeClr val="hlink"/>
                  </a:solidFill>
                  <a:latin typeface="Arial" panose="020B0604020202020204" pitchFamily="34" charset="0"/>
                  <a:ea typeface="宋体" panose="02010600030101010101" pitchFamily="2" charset="-122"/>
                </a:endParaRPr>
              </a:p>
            </p:txBody>
          </p:sp>
          <p:sp>
            <p:nvSpPr>
              <p:cNvPr id="881704" name="Oval 40" descr="粉色砂纸"/>
              <p:cNvSpPr>
                <a:spLocks noChangeArrowheads="1"/>
              </p:cNvSpPr>
              <p:nvPr/>
            </p:nvSpPr>
            <p:spPr bwMode="auto">
              <a:xfrm>
                <a:off x="2997" y="2222"/>
                <a:ext cx="288" cy="288"/>
              </a:xfrm>
              <a:prstGeom prst="ellipse">
                <a:avLst/>
              </a:prstGeom>
              <a:blipFill dpi="0" rotWithShape="0">
                <a:blip r:embed="rId1" cstate="print"/>
                <a:srcRect/>
                <a:tile tx="0" ty="0" sx="100000" sy="100000" flip="none" algn="tl"/>
              </a:blipFill>
              <a:ln w="9525">
                <a:solidFill>
                  <a:srgbClr val="CC3300"/>
                </a:solidFill>
                <a:round/>
              </a:ln>
              <a:effectLst>
                <a:outerShdw dist="35921" dir="2700000" algn="ctr" rotWithShape="0">
                  <a:schemeClr val="bg2"/>
                </a:outerShdw>
              </a:effectLst>
            </p:spPr>
            <p:txBody>
              <a:bodyPr wrap="none" anchor="ct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5512" name="Text Box 41"/>
              <p:cNvSpPr txBox="1"/>
              <p:nvPr/>
            </p:nvSpPr>
            <p:spPr>
              <a:xfrm>
                <a:off x="3007" y="2205"/>
                <a:ext cx="277" cy="329"/>
              </a:xfrm>
              <a:prstGeom prst="rect">
                <a:avLst/>
              </a:prstGeom>
              <a:noFill/>
              <a:ln w="9525">
                <a:noFill/>
              </a:ln>
            </p:spPr>
            <p:txBody>
              <a:bodyPr wrap="none" anchor="t" anchorCtr="0">
                <a:spAutoFit/>
              </a:bodyPr>
              <a:p>
                <a:r>
                  <a:rPr lang="en-US" altLang="zh-CN" sz="2800" b="1" dirty="0">
                    <a:solidFill>
                      <a:schemeClr val="hlink"/>
                    </a:solidFill>
                    <a:latin typeface="Arial" panose="020B0604020202020204" pitchFamily="34" charset="0"/>
                    <a:ea typeface="宋体" panose="02010600030101010101" pitchFamily="2" charset="-122"/>
                  </a:rPr>
                  <a:t>K</a:t>
                </a:r>
                <a:endParaRPr lang="en-US" altLang="zh-CN" sz="2400" dirty="0">
                  <a:solidFill>
                    <a:schemeClr val="hlink"/>
                  </a:solidFill>
                  <a:latin typeface="Times New Roman" panose="02020603050405020304" pitchFamily="18" charset="0"/>
                  <a:ea typeface="宋体" panose="02010600030101010101" pitchFamily="2" charset="-122"/>
                </a:endParaRPr>
              </a:p>
            </p:txBody>
          </p:sp>
          <p:sp>
            <p:nvSpPr>
              <p:cNvPr id="105513" name="Line 14"/>
              <p:cNvSpPr/>
              <p:nvPr/>
            </p:nvSpPr>
            <p:spPr>
              <a:xfrm>
                <a:off x="2154" y="2840"/>
                <a:ext cx="363" cy="0"/>
              </a:xfrm>
              <a:prstGeom prst="line">
                <a:avLst/>
              </a:prstGeom>
              <a:ln w="28575" cap="flat" cmpd="sng">
                <a:solidFill>
                  <a:schemeClr val="accent2"/>
                </a:solidFill>
                <a:prstDash val="solid"/>
                <a:round/>
                <a:headEnd type="none" w="med" len="med"/>
                <a:tailEnd type="none" w="med" len="med"/>
              </a:ln>
            </p:spPr>
          </p:sp>
          <p:sp>
            <p:nvSpPr>
              <p:cNvPr id="105514" name="Line 14"/>
              <p:cNvSpPr/>
              <p:nvPr/>
            </p:nvSpPr>
            <p:spPr>
              <a:xfrm flipV="1">
                <a:off x="3061" y="2976"/>
                <a:ext cx="499" cy="363"/>
              </a:xfrm>
              <a:prstGeom prst="line">
                <a:avLst/>
              </a:prstGeom>
              <a:ln w="28575" cap="flat" cmpd="sng">
                <a:solidFill>
                  <a:schemeClr val="accent2"/>
                </a:solidFill>
                <a:prstDash val="solid"/>
                <a:round/>
                <a:headEnd type="none" w="med" len="med"/>
                <a:tailEnd type="none" w="med" len="med"/>
              </a:ln>
            </p:spPr>
          </p:sp>
        </p:grpSp>
        <p:sp>
          <p:nvSpPr>
            <p:cNvPr id="5" name="文本框 4"/>
            <p:cNvSpPr txBox="1"/>
            <p:nvPr/>
          </p:nvSpPr>
          <p:spPr>
            <a:xfrm>
              <a:off x="4870" y="8123"/>
              <a:ext cx="7035" cy="725"/>
            </a:xfrm>
            <a:prstGeom prst="rect">
              <a:avLst/>
            </a:prstGeom>
          </p:spPr>
          <p:txBody>
            <a:bodyPr vert="horz" wrap="square" lIns="91440" tIns="45720" rIns="91440" bIns="45720" rtlCol="0" anchor="t">
              <a:spAutoFit/>
            </a:bodyPr>
            <a:p>
              <a:pPr lvl="1" indent="0" algn="l" eaLnBrk="1" hangingPunct="1">
                <a:buClrTx/>
                <a:buSzTx/>
                <a:buNone/>
              </a:pPr>
              <a:r>
                <a:rPr lang="zh-CN" altLang="en-US" sz="2400" dirty="0">
                  <a:latin typeface="黑体" panose="02010609060101010101" pitchFamily="2" charset="-122"/>
                  <a:ea typeface="黑体" panose="02010609060101010101" pitchFamily="2" charset="-122"/>
                  <a:cs typeface="+mn-ea"/>
                  <a:sym typeface="+mn-ea"/>
                </a:rPr>
                <a:t>关节点</a:t>
              </a:r>
              <a:r>
                <a:rPr lang="zh-CN" altLang="en-US" sz="2400" dirty="0">
                  <a:latin typeface="黑体" panose="02010609060101010101" pitchFamily="2" charset="-122"/>
                  <a:ea typeface="黑体" panose="02010609060101010101" pitchFamily="2" charset="-122"/>
                  <a:cs typeface="+mn-ea"/>
                  <a:sym typeface="+mn-ea"/>
                </a:rPr>
                <a:t>是：A、E、H、I、J</a:t>
              </a:r>
              <a:endParaRPr lang="zh-CN" altLang="en-US" sz="2400" dirty="0">
                <a:latin typeface="黑体" panose="02010609060101010101" pitchFamily="2" charset="-122"/>
                <a:ea typeface="黑体" panose="02010609060101010101" pitchFamily="2" charset="-122"/>
                <a:cs typeface="+mn-ea"/>
                <a:sym typeface="+mn-ea"/>
              </a:endParaRPr>
            </a:p>
          </p:txBody>
        </p:sp>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在连通图中，如果没有关节点，则为重连通图，</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在重连通图中，任意一对顶点都至少存在两条路径</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0" lvl="1" indent="-457200" algn="l" eaLnBrk="1" hangingPunct="1">
              <a:buClrTx/>
              <a:buSzTx/>
              <a:buFont typeface="Wingdings" panose="05000000000000000000" charset="0"/>
              <a:buChar char="l"/>
            </a:pP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0" lvl="1" indent="-457200" algn="l" eaLnBrk="1" hangingPunct="1">
              <a:buClrTx/>
              <a:buSzTx/>
              <a:buFont typeface="Wingdings" panose="05000000000000000000" charset="0"/>
              <a:buChar char="l"/>
            </a:pP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0" lvl="1" indent="-457200" algn="l" eaLnBrk="1" hangingPunct="1">
              <a:buClrTx/>
              <a:buSzTx/>
              <a:buFont typeface="Wingdings" panose="05000000000000000000" charset="0"/>
              <a:buChar char="l"/>
            </a:pP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0" lvl="1" indent="-457200" algn="l" eaLnBrk="1" hangingPunct="1">
              <a:buClrTx/>
              <a:buSzTx/>
              <a:buFont typeface="Wingdings" panose="05000000000000000000" charset="0"/>
              <a:buChar char="l"/>
            </a:pP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0" lvl="1" indent="-457200" algn="l" eaLnBrk="1" hangingPunct="1">
              <a:buClrTx/>
              <a:buSzTx/>
              <a:buFont typeface="Wingdings" panose="05000000000000000000" charset="0"/>
              <a:buChar char="l"/>
            </a:pP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0" lvl="1" indent="-457200" algn="l" eaLnBrk="1" hangingPunct="1">
              <a:buClrTx/>
              <a:buSzTx/>
              <a:buFont typeface="Wingdings" panose="05000000000000000000" charset="0"/>
              <a:buChar char="l"/>
            </a:pP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找关节点的算法是基于</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DFS</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算法进行修改，课本算法</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7.10</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和</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7.11</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自学</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endParaRPr lang="en-US"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7.4 </a:t>
            </a:r>
            <a:r>
              <a:rPr lang="zh-CN" altLang="en-US">
                <a:latin typeface="楷体" panose="02010609060101010101" charset="-122"/>
                <a:ea typeface="楷体" panose="02010609060101010101" charset="-122"/>
                <a:cs typeface="楷体" panose="02010609060101010101" charset="-122"/>
                <a:sym typeface="+mn-ea"/>
              </a:rPr>
              <a:t>图的</a:t>
            </a:r>
            <a:r>
              <a:rPr lang="zh-CN" altLang="en-US">
                <a:latin typeface="楷体" panose="02010609060101010101" charset="-122"/>
                <a:ea typeface="楷体" panose="02010609060101010101" charset="-122"/>
                <a:cs typeface="楷体" panose="02010609060101010101" charset="-122"/>
                <a:sym typeface="+mn-ea"/>
              </a:rPr>
              <a:t>连通</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8" name="组合 7"/>
          <p:cNvGrpSpPr/>
          <p:nvPr/>
        </p:nvGrpSpPr>
        <p:grpSpPr>
          <a:xfrm>
            <a:off x="3809365" y="2112010"/>
            <a:ext cx="2895600" cy="2836545"/>
            <a:chOff x="5858" y="4152"/>
            <a:chExt cx="4560" cy="4467"/>
          </a:xfrm>
        </p:grpSpPr>
        <p:grpSp>
          <p:nvGrpSpPr>
            <p:cNvPr id="106501" name="Group 133"/>
            <p:cNvGrpSpPr/>
            <p:nvPr/>
          </p:nvGrpSpPr>
          <p:grpSpPr>
            <a:xfrm>
              <a:off x="5858" y="4152"/>
              <a:ext cx="4560" cy="3600"/>
              <a:chOff x="3792" y="2371"/>
              <a:chExt cx="1824" cy="1440"/>
            </a:xfrm>
          </p:grpSpPr>
          <p:sp>
            <p:nvSpPr>
              <p:cNvPr id="106502" name="Line 116"/>
              <p:cNvSpPr/>
              <p:nvPr/>
            </p:nvSpPr>
            <p:spPr>
              <a:xfrm flipH="1">
                <a:off x="4416" y="2520"/>
                <a:ext cx="576" cy="0"/>
              </a:xfrm>
              <a:prstGeom prst="line">
                <a:avLst/>
              </a:prstGeom>
              <a:ln w="38100" cap="flat" cmpd="sng">
                <a:solidFill>
                  <a:schemeClr val="hlink"/>
                </a:solidFill>
                <a:prstDash val="solid"/>
                <a:round/>
                <a:headEnd type="none" w="med" len="med"/>
                <a:tailEnd type="none" w="med" len="med"/>
              </a:ln>
            </p:spPr>
          </p:sp>
          <p:sp>
            <p:nvSpPr>
              <p:cNvPr id="106503" name="Line 117"/>
              <p:cNvSpPr/>
              <p:nvPr/>
            </p:nvSpPr>
            <p:spPr>
              <a:xfrm>
                <a:off x="5088" y="2616"/>
                <a:ext cx="0" cy="960"/>
              </a:xfrm>
              <a:prstGeom prst="line">
                <a:avLst/>
              </a:prstGeom>
              <a:ln w="38100" cap="flat" cmpd="sng">
                <a:solidFill>
                  <a:srgbClr val="009900"/>
                </a:solidFill>
                <a:prstDash val="solid"/>
                <a:round/>
                <a:headEnd type="none" w="med" len="med"/>
                <a:tailEnd type="none" w="med" len="med"/>
              </a:ln>
            </p:spPr>
          </p:sp>
          <p:sp>
            <p:nvSpPr>
              <p:cNvPr id="106504" name="Line 118"/>
              <p:cNvSpPr/>
              <p:nvPr/>
            </p:nvSpPr>
            <p:spPr>
              <a:xfrm>
                <a:off x="5136" y="2568"/>
                <a:ext cx="336" cy="480"/>
              </a:xfrm>
              <a:prstGeom prst="line">
                <a:avLst/>
              </a:prstGeom>
              <a:ln w="38100" cap="flat" cmpd="sng">
                <a:solidFill>
                  <a:srgbClr val="009900"/>
                </a:solidFill>
                <a:prstDash val="solid"/>
                <a:round/>
                <a:headEnd type="none" w="med" len="med"/>
                <a:tailEnd type="none" w="med" len="med"/>
              </a:ln>
            </p:spPr>
          </p:sp>
          <p:sp>
            <p:nvSpPr>
              <p:cNvPr id="106505" name="Line 119"/>
              <p:cNvSpPr/>
              <p:nvPr/>
            </p:nvSpPr>
            <p:spPr>
              <a:xfrm flipH="1">
                <a:off x="3984" y="2568"/>
                <a:ext cx="240" cy="432"/>
              </a:xfrm>
              <a:prstGeom prst="line">
                <a:avLst/>
              </a:prstGeom>
              <a:ln w="38100" cap="flat" cmpd="sng">
                <a:solidFill>
                  <a:schemeClr val="hlink"/>
                </a:solidFill>
                <a:prstDash val="solid"/>
                <a:round/>
                <a:headEnd type="none" w="med" len="med"/>
                <a:tailEnd type="none" w="med" len="med"/>
              </a:ln>
            </p:spPr>
          </p:sp>
          <p:sp>
            <p:nvSpPr>
              <p:cNvPr id="106506" name="Line 120"/>
              <p:cNvSpPr/>
              <p:nvPr/>
            </p:nvSpPr>
            <p:spPr>
              <a:xfrm flipH="1" flipV="1">
                <a:off x="4272" y="2616"/>
                <a:ext cx="0" cy="1008"/>
              </a:xfrm>
              <a:prstGeom prst="line">
                <a:avLst/>
              </a:prstGeom>
              <a:ln w="38100" cap="flat" cmpd="sng">
                <a:solidFill>
                  <a:srgbClr val="009900"/>
                </a:solidFill>
                <a:prstDash val="solid"/>
                <a:round/>
                <a:headEnd type="none" w="med" len="med"/>
                <a:tailEnd type="none" w="med" len="med"/>
              </a:ln>
            </p:spPr>
          </p:sp>
          <p:sp>
            <p:nvSpPr>
              <p:cNvPr id="106507" name="Line 121"/>
              <p:cNvSpPr/>
              <p:nvPr/>
            </p:nvSpPr>
            <p:spPr>
              <a:xfrm flipH="1" flipV="1">
                <a:off x="4320" y="2568"/>
                <a:ext cx="1104" cy="576"/>
              </a:xfrm>
              <a:prstGeom prst="line">
                <a:avLst/>
              </a:prstGeom>
              <a:ln w="38100" cap="flat" cmpd="sng">
                <a:solidFill>
                  <a:srgbClr val="009900"/>
                </a:solidFill>
                <a:prstDash val="solid"/>
                <a:round/>
                <a:headEnd type="none" w="med" len="med"/>
                <a:tailEnd type="none" w="med" len="med"/>
              </a:ln>
            </p:spPr>
          </p:sp>
          <p:sp>
            <p:nvSpPr>
              <p:cNvPr id="106508" name="Line 122"/>
              <p:cNvSpPr/>
              <p:nvPr/>
            </p:nvSpPr>
            <p:spPr>
              <a:xfrm flipH="1" flipV="1">
                <a:off x="3936" y="3192"/>
                <a:ext cx="288" cy="432"/>
              </a:xfrm>
              <a:prstGeom prst="line">
                <a:avLst/>
              </a:prstGeom>
              <a:ln w="38100" cap="flat" cmpd="sng">
                <a:solidFill>
                  <a:schemeClr val="hlink"/>
                </a:solidFill>
                <a:prstDash val="solid"/>
                <a:round/>
                <a:headEnd type="none" w="med" len="med"/>
                <a:tailEnd type="none" w="med" len="med"/>
              </a:ln>
            </p:spPr>
          </p:sp>
          <p:sp>
            <p:nvSpPr>
              <p:cNvPr id="106509" name="Line 123"/>
              <p:cNvSpPr/>
              <p:nvPr/>
            </p:nvSpPr>
            <p:spPr>
              <a:xfrm flipH="1">
                <a:off x="4320" y="3672"/>
                <a:ext cx="720" cy="0"/>
              </a:xfrm>
              <a:prstGeom prst="line">
                <a:avLst/>
              </a:prstGeom>
              <a:ln w="38100" cap="flat" cmpd="sng">
                <a:solidFill>
                  <a:schemeClr val="hlink"/>
                </a:solidFill>
                <a:prstDash val="solid"/>
                <a:round/>
                <a:headEnd type="none" w="med" len="med"/>
                <a:tailEnd type="none" w="med" len="med"/>
              </a:ln>
            </p:spPr>
          </p:sp>
          <p:sp>
            <p:nvSpPr>
              <p:cNvPr id="106510" name="Line 124"/>
              <p:cNvSpPr/>
              <p:nvPr/>
            </p:nvSpPr>
            <p:spPr>
              <a:xfrm flipH="1">
                <a:off x="4368" y="3144"/>
                <a:ext cx="1056" cy="480"/>
              </a:xfrm>
              <a:prstGeom prst="line">
                <a:avLst/>
              </a:prstGeom>
              <a:ln w="38100" cap="flat" cmpd="sng">
                <a:solidFill>
                  <a:srgbClr val="009900"/>
                </a:solidFill>
                <a:prstDash val="solid"/>
                <a:round/>
                <a:headEnd type="none" w="med" len="med"/>
                <a:tailEnd type="none" w="med" len="med"/>
              </a:ln>
            </p:spPr>
          </p:sp>
          <p:sp>
            <p:nvSpPr>
              <p:cNvPr id="106511" name="Line 125"/>
              <p:cNvSpPr/>
              <p:nvPr/>
            </p:nvSpPr>
            <p:spPr>
              <a:xfrm flipH="1">
                <a:off x="5136" y="3192"/>
                <a:ext cx="336" cy="480"/>
              </a:xfrm>
              <a:prstGeom prst="line">
                <a:avLst/>
              </a:prstGeom>
              <a:ln w="38100" cap="flat" cmpd="sng">
                <a:solidFill>
                  <a:schemeClr val="hlink"/>
                </a:solidFill>
                <a:prstDash val="solid"/>
                <a:round/>
                <a:headEnd type="none" w="med" len="med"/>
                <a:tailEnd type="none" w="med" len="med"/>
              </a:ln>
            </p:spPr>
          </p:sp>
          <p:grpSp>
            <p:nvGrpSpPr>
              <p:cNvPr id="106512" name="Group 126"/>
              <p:cNvGrpSpPr/>
              <p:nvPr/>
            </p:nvGrpSpPr>
            <p:grpSpPr>
              <a:xfrm>
                <a:off x="3792" y="2371"/>
                <a:ext cx="1824" cy="1440"/>
                <a:chOff x="3648" y="2880"/>
                <a:chExt cx="1824" cy="1440"/>
              </a:xfrm>
            </p:grpSpPr>
            <p:sp>
              <p:nvSpPr>
                <p:cNvPr id="106513" name="Oval 127"/>
                <p:cNvSpPr/>
                <p:nvPr/>
              </p:nvSpPr>
              <p:spPr>
                <a:xfrm>
                  <a:off x="3984" y="2880"/>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106514" name="Oval 128"/>
                <p:cNvSpPr/>
                <p:nvPr/>
              </p:nvSpPr>
              <p:spPr>
                <a:xfrm>
                  <a:off x="3984"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106515" name="Oval 129"/>
                <p:cNvSpPr/>
                <p:nvPr/>
              </p:nvSpPr>
              <p:spPr>
                <a:xfrm>
                  <a:off x="3648" y="3456"/>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106516" name="Oval 130"/>
                <p:cNvSpPr/>
                <p:nvPr/>
              </p:nvSpPr>
              <p:spPr>
                <a:xfrm>
                  <a:off x="5184" y="350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5</a:t>
                  </a:r>
                  <a:endParaRPr lang="en-US" altLang="zh-CN" sz="2400" dirty="0">
                    <a:solidFill>
                      <a:schemeClr val="bg1"/>
                    </a:solidFill>
                    <a:latin typeface="Tahoma" panose="020B0604030504040204" charset="0"/>
                    <a:ea typeface="宋体" panose="02010600030101010101" pitchFamily="2" charset="-122"/>
                  </a:endParaRPr>
                </a:p>
              </p:txBody>
            </p:sp>
            <p:sp>
              <p:nvSpPr>
                <p:cNvPr id="106517" name="Oval 131"/>
                <p:cNvSpPr/>
                <p:nvPr/>
              </p:nvSpPr>
              <p:spPr>
                <a:xfrm>
                  <a:off x="4800" y="405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106518" name="Oval 132"/>
                <p:cNvSpPr/>
                <p:nvPr/>
              </p:nvSpPr>
              <p:spPr>
                <a:xfrm>
                  <a:off x="4800" y="2880"/>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grpSp>
        <p:sp>
          <p:nvSpPr>
            <p:cNvPr id="7" name="文本框 6"/>
            <p:cNvSpPr txBox="1"/>
            <p:nvPr/>
          </p:nvSpPr>
          <p:spPr>
            <a:xfrm>
              <a:off x="6482" y="7895"/>
              <a:ext cx="3216" cy="725"/>
            </a:xfrm>
            <a:prstGeom prst="rect">
              <a:avLst/>
            </a:prstGeom>
          </p:spPr>
          <p:txBody>
            <a:bodyPr vert="horz" wrap="square" lIns="91440" tIns="45720" rIns="91440" bIns="45720" rtlCol="0" anchor="t">
              <a:spAutoFit/>
            </a:bodyPr>
            <a:p>
              <a:pPr lvl="1" indent="0" algn="l" eaLnBrk="1" hangingPunct="1">
                <a:buClrTx/>
                <a:buSzTx/>
                <a:buNone/>
              </a:pPr>
              <a:r>
                <a:rPr lang="zh-CN" altLang="en-US" sz="2400" dirty="0">
                  <a:latin typeface="黑体" panose="02010609060101010101" pitchFamily="2" charset="-122"/>
                  <a:ea typeface="黑体" panose="02010609060101010101" pitchFamily="2" charset="-122"/>
                  <a:cs typeface="+mn-ea"/>
                  <a:sym typeface="+mn-ea"/>
                </a:rPr>
                <a:t>重</a:t>
              </a:r>
              <a:r>
                <a:rPr lang="zh-CN" altLang="en-US" sz="2400" dirty="0">
                  <a:latin typeface="黑体" panose="02010609060101010101" pitchFamily="2" charset="-122"/>
                  <a:ea typeface="黑体" panose="02010609060101010101" pitchFamily="2" charset="-122"/>
                  <a:cs typeface="+mn-ea"/>
                  <a:sym typeface="+mn-ea"/>
                </a:rPr>
                <a:t>连通图</a:t>
              </a:r>
              <a:endParaRPr lang="zh-CN" altLang="en-US" sz="2400" dirty="0">
                <a:latin typeface="黑体" panose="02010609060101010101" pitchFamily="2" charset="-122"/>
                <a:ea typeface="黑体" panose="02010609060101010101" pitchFamily="2" charset="-122"/>
                <a:cs typeface="+mn-ea"/>
                <a:sym typeface="+mn-ea"/>
              </a:endParaRPr>
            </a:p>
          </p:txBody>
        </p:sp>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lvl="0" algn="l" eaLnBrk="1" hangingPunct="1">
              <a:lnSpc>
                <a:spcPct val="100000"/>
              </a:lnSpc>
              <a:buClrTx/>
              <a:buSzTx/>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图的存储</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结构</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marL="914400" lvl="2" indent="-457200" algn="l" eaLnBrk="1" hangingPunct="1">
              <a:lnSpc>
                <a:spcPct val="100000"/>
              </a:lnSpc>
              <a:buClrTx/>
              <a:buSzTx/>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邻接矩阵，结构与</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性质</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914400" lvl="2" indent="-457200" algn="l" eaLnBrk="1" hangingPunct="1">
              <a:lnSpc>
                <a:spcPct val="100000"/>
              </a:lnSpc>
              <a:buClrTx/>
              <a:buSzTx/>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邻接表和逆邻接表</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，结构与性质</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0" algn="l" eaLnBrk="1" hangingPunct="1">
              <a:lnSpc>
                <a:spcPct val="100000"/>
              </a:lnSpc>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图的遍历：深度优先搜索</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DFS</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、广度优先搜索</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BFS</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0" algn="l" eaLnBrk="1" hangingPunct="1">
              <a:lnSpc>
                <a:spcPct val="100000"/>
              </a:lnSpc>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生成树</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生成</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森林：连通分量的极小连通</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子图</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lnSpc>
                <a:spcPct val="100000"/>
              </a:lnSpc>
              <a:buClrTx/>
              <a:buSzTx/>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DFS生成树和BFS生成树</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lvl="0" algn="l" eaLnBrk="1" hangingPunct="1">
              <a:lnSpc>
                <a:spcPct val="100000"/>
              </a:lnSpc>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最小生成树：</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914400" lvl="2" indent="-457200" algn="l" eaLnBrk="1" hangingPunct="1">
              <a:lnSpc>
                <a:spcPct val="100000"/>
              </a:lnSpc>
              <a:buClrTx/>
              <a:buSzTx/>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普里姆(Prim)算法，时间复杂度</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O(n</a:t>
            </a:r>
            <a:r>
              <a:rPr lang="en-US" altLang="zh-CN" sz="2400" baseline="30000" dirty="0">
                <a:latin typeface="黑体" panose="02010609060101010101" pitchFamily="2" charset="-122"/>
                <a:ea typeface="黑体" panose="02010609060101010101" pitchFamily="2" charset="-122"/>
                <a:cs typeface="黑体" panose="02010609060101010101" pitchFamily="2" charset="-122"/>
                <a:sym typeface="+mn-ea"/>
              </a:rPr>
              <a:t>2</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，与边无关，</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适合边稠密</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914400" lvl="2" indent="-457200" algn="l" eaLnBrk="1" hangingPunct="1">
              <a:lnSpc>
                <a:spcPct val="100000"/>
              </a:lnSpc>
              <a:buClrTx/>
              <a:buSzTx/>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克鲁斯卡尔(Kruskal)算法，</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时间复杂度</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O(eloge)</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，与点无关，适合</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点稠密</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0" algn="l" eaLnBrk="1" hangingPunct="1">
              <a:lnSpc>
                <a:spcPct val="100000"/>
              </a:lnSpc>
              <a:buClrTx/>
              <a:buSzTx/>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关节点与重连通图</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marL="914400" lvl="2" indent="-457200" algn="l">
              <a:buClrTx/>
              <a:buSzTx/>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sym typeface="+mn-ea"/>
              </a:rPr>
              <a:t>上节课</a:t>
            </a:r>
            <a:r>
              <a:rPr lang="zh-CN" altLang="en-US" sz="4000">
                <a:solidFill>
                  <a:srgbClr val="FF0000"/>
                </a:solidFill>
                <a:latin typeface="楷体" panose="02010609060101010101" charset="-122"/>
                <a:ea typeface="楷体" panose="02010609060101010101" charset="-122"/>
              </a:rPr>
              <a:t>复习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一个有</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10</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个顶点的无向完全图有</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_______</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条</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边</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一个有</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380</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条弧的有</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向完全图有</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_______</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个</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顶点</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algn="l" eaLnBrk="1" hangingPunct="1">
              <a:buClrTx/>
              <a:buSzTx/>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n</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个顶点的无向图有</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m</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条边，若采用邻接矩阵为存储结构</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L="0" indent="0" algn="l" eaLnBrk="1" hangingPunct="1">
              <a:buClrTx/>
              <a:buSzTx/>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该矩阵包含</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_______</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个</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0</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元素</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algn="l" eaLnBrk="1" hangingPunct="1">
              <a:buClrTx/>
              <a:buSzTx/>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n</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个顶点的有向图有</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m</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条弧，若采用邻接</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表为存储结构</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L="0" indent="0" algn="l" eaLnBrk="1" hangingPunct="1">
              <a:buClrTx/>
              <a:buSzTx/>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该邻接表包含</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_______</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个</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非空指针</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algn="l" eaLnBrk="1" hangingPunct="1">
              <a:buClrTx/>
              <a:buSzTx/>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如右图，用逆邻接表</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Nx</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表示，则数组元素</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Nx[2]</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的</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L="0" indent="0" algn="l" eaLnBrk="1" hangingPunct="1">
              <a:buClrTx/>
              <a:buSzTx/>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指针所指的链表长度为</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_______(</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不含数组元素结点</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复习练习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grpSp>
        <p:nvGrpSpPr>
          <p:cNvPr id="110596" name="Group 4"/>
          <p:cNvGrpSpPr/>
          <p:nvPr/>
        </p:nvGrpSpPr>
        <p:grpSpPr>
          <a:xfrm>
            <a:off x="9127808" y="3790633"/>
            <a:ext cx="2819400" cy="2286000"/>
            <a:chOff x="3360" y="2496"/>
            <a:chExt cx="1776" cy="1440"/>
          </a:xfrm>
        </p:grpSpPr>
        <p:sp>
          <p:nvSpPr>
            <p:cNvPr id="110597" name="Line 5"/>
            <p:cNvSpPr/>
            <p:nvPr/>
          </p:nvSpPr>
          <p:spPr>
            <a:xfrm>
              <a:off x="4368" y="2640"/>
              <a:ext cx="576" cy="384"/>
            </a:xfrm>
            <a:prstGeom prst="line">
              <a:avLst/>
            </a:prstGeom>
            <a:ln w="38100" cap="flat" cmpd="sng">
              <a:solidFill>
                <a:srgbClr val="009900"/>
              </a:solidFill>
              <a:prstDash val="solid"/>
              <a:round/>
              <a:headEnd type="triangle" w="med" len="med"/>
              <a:tailEnd type="none" w="med" len="med"/>
            </a:ln>
          </p:spPr>
        </p:sp>
        <p:sp>
          <p:nvSpPr>
            <p:cNvPr id="110598" name="Line 6"/>
            <p:cNvSpPr/>
            <p:nvPr/>
          </p:nvSpPr>
          <p:spPr>
            <a:xfrm>
              <a:off x="3538" y="3171"/>
              <a:ext cx="222" cy="540"/>
            </a:xfrm>
            <a:prstGeom prst="line">
              <a:avLst/>
            </a:prstGeom>
            <a:ln w="38100" cap="flat" cmpd="sng">
              <a:solidFill>
                <a:srgbClr val="009900"/>
              </a:solidFill>
              <a:prstDash val="solid"/>
              <a:round/>
              <a:headEnd type="none" w="med" len="med"/>
              <a:tailEnd type="triangle" w="med" len="med"/>
            </a:ln>
          </p:spPr>
        </p:sp>
        <p:sp>
          <p:nvSpPr>
            <p:cNvPr id="110599" name="Line 7"/>
            <p:cNvSpPr/>
            <p:nvPr/>
          </p:nvSpPr>
          <p:spPr>
            <a:xfrm flipH="1">
              <a:off x="3582" y="2631"/>
              <a:ext cx="622" cy="360"/>
            </a:xfrm>
            <a:prstGeom prst="line">
              <a:avLst/>
            </a:prstGeom>
            <a:ln w="38100" cap="flat" cmpd="sng">
              <a:solidFill>
                <a:srgbClr val="009900"/>
              </a:solidFill>
              <a:prstDash val="solid"/>
              <a:round/>
              <a:headEnd type="none" w="med" len="med"/>
              <a:tailEnd type="triangle" w="med" len="med"/>
            </a:ln>
          </p:spPr>
        </p:sp>
        <p:sp>
          <p:nvSpPr>
            <p:cNvPr id="110600" name="Line 8"/>
            <p:cNvSpPr/>
            <p:nvPr/>
          </p:nvSpPr>
          <p:spPr>
            <a:xfrm flipH="1" flipV="1">
              <a:off x="4292" y="2676"/>
              <a:ext cx="356" cy="990"/>
            </a:xfrm>
            <a:prstGeom prst="line">
              <a:avLst/>
            </a:prstGeom>
            <a:ln w="38100" cap="flat" cmpd="sng">
              <a:solidFill>
                <a:srgbClr val="009900"/>
              </a:solidFill>
              <a:prstDash val="solid"/>
              <a:round/>
              <a:headEnd type="triangle" w="med" len="med"/>
              <a:tailEnd type="none" w="med" len="med"/>
            </a:ln>
          </p:spPr>
        </p:sp>
        <p:sp>
          <p:nvSpPr>
            <p:cNvPr id="110601" name="Line 9"/>
            <p:cNvSpPr/>
            <p:nvPr/>
          </p:nvSpPr>
          <p:spPr>
            <a:xfrm flipH="1">
              <a:off x="3893" y="3801"/>
              <a:ext cx="666" cy="0"/>
            </a:xfrm>
            <a:prstGeom prst="line">
              <a:avLst/>
            </a:prstGeom>
            <a:ln w="38100" cap="flat" cmpd="sng">
              <a:solidFill>
                <a:srgbClr val="009900"/>
              </a:solidFill>
              <a:prstDash val="solid"/>
              <a:round/>
              <a:headEnd type="none" w="med" len="med"/>
              <a:tailEnd type="triangle" w="med" len="med"/>
            </a:ln>
          </p:spPr>
        </p:sp>
        <p:sp>
          <p:nvSpPr>
            <p:cNvPr id="110602" name="Line 10"/>
            <p:cNvSpPr/>
            <p:nvPr/>
          </p:nvSpPr>
          <p:spPr>
            <a:xfrm flipH="1">
              <a:off x="3893" y="3216"/>
              <a:ext cx="1065" cy="540"/>
            </a:xfrm>
            <a:prstGeom prst="line">
              <a:avLst/>
            </a:prstGeom>
            <a:ln w="38100" cap="flat" cmpd="sng">
              <a:solidFill>
                <a:srgbClr val="009900"/>
              </a:solidFill>
              <a:prstDash val="solid"/>
              <a:round/>
              <a:headEnd type="triangle" w="med" len="med"/>
              <a:tailEnd type="none" w="med" len="med"/>
            </a:ln>
          </p:spPr>
        </p:sp>
        <p:sp>
          <p:nvSpPr>
            <p:cNvPr id="110603" name="Oval 11"/>
            <p:cNvSpPr/>
            <p:nvPr/>
          </p:nvSpPr>
          <p:spPr>
            <a:xfrm>
              <a:off x="3360" y="2946"/>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110604" name="Oval 12"/>
            <p:cNvSpPr/>
            <p:nvPr/>
          </p:nvSpPr>
          <p:spPr>
            <a:xfrm>
              <a:off x="4559" y="3682"/>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110605" name="Oval 13"/>
            <p:cNvSpPr/>
            <p:nvPr/>
          </p:nvSpPr>
          <p:spPr>
            <a:xfrm>
              <a:off x="3671" y="3682"/>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110606" name="Oval 14"/>
            <p:cNvSpPr/>
            <p:nvPr/>
          </p:nvSpPr>
          <p:spPr>
            <a:xfrm>
              <a:off x="4870" y="2991"/>
              <a:ext cx="266" cy="253"/>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110607" name="Oval 15"/>
            <p:cNvSpPr/>
            <p:nvPr/>
          </p:nvSpPr>
          <p:spPr>
            <a:xfrm>
              <a:off x="4115" y="2496"/>
              <a:ext cx="266" cy="253"/>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设图G=(V,E)，其中V={a,b,c,d,e</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,f,g</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}，E={</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a,b</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c)</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 (b</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f)</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c,</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g)</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(d</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f)</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 (e</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g)</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从</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a</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出发，画出它的</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DFS</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生成树</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当有多个邻接点时按字母序优先</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a:t>
            </a:r>
            <a:endParaRPr lang="en-US" altLang="zh-CN" sz="24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pPr>
            <a:r>
              <a:rPr lang="zh-CN" altLang="en-US" sz="2400" dirty="0">
                <a:latin typeface="黑体" panose="02010609060101010101" pitchFamily="2" charset="-122"/>
                <a:ea typeface="黑体" panose="02010609060101010101" pitchFamily="2" charset="-122"/>
                <a:cs typeface="黑体" panose="02010609060101010101" pitchFamily="2" charset="-122"/>
              </a:rPr>
              <a:t>找出该图的</a:t>
            </a:r>
            <a:r>
              <a:rPr lang="zh-CN" altLang="en-US" sz="2400" dirty="0">
                <a:latin typeface="黑体" panose="02010609060101010101" pitchFamily="2" charset="-122"/>
                <a:ea typeface="黑体" panose="02010609060101010101" pitchFamily="2" charset="-122"/>
                <a:cs typeface="黑体" panose="02010609060101010101" pitchFamily="2" charset="-122"/>
              </a:rPr>
              <a:t>关节点</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609600" lvl="0" indent="-609600" eaLnBrk="1" hangingPunct="1"/>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609600" lvl="0" indent="-609600" eaLnBrk="1" hangingPunct="1"/>
            <a:r>
              <a:rPr lang="zh-CN" altLang="en-US" dirty="0">
                <a:latin typeface="黑体" panose="02010609060101010101" pitchFamily="2" charset="-122"/>
                <a:ea typeface="黑体" panose="02010609060101010101" pitchFamily="2" charset="-122"/>
                <a:cs typeface="黑体" panose="02010609060101010101" pitchFamily="2" charset="-122"/>
                <a:sym typeface="+mn-ea"/>
              </a:rPr>
              <a:t>设图G=(V,E)，其中V={</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K</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L</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M</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O</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}，E={</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(K</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L)</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(M</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O)</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 (L</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O)</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 (O</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K)</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 (M</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K)</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从</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L</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出发，画出它的BFS生成树(当有多个邻接点时按字母序优先)</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找出该图的关节点</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pP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复习练习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marL="609600" lvl="0" indent="-609600" eaLnBrk="1" hangingPunct="1"/>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已知连通网如下</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用普里姆(从</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G</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出发)</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算法求最小生成树，要有详细求解过程</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用克鲁斯卡尔算法求最小生成树，要有详细求解过程</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复习练习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grpSp>
        <p:nvGrpSpPr>
          <p:cNvPr id="5" name="组合 4"/>
          <p:cNvGrpSpPr/>
          <p:nvPr/>
        </p:nvGrpSpPr>
        <p:grpSpPr>
          <a:xfrm>
            <a:off x="3647440" y="2493010"/>
            <a:ext cx="3280410" cy="2386965"/>
            <a:chOff x="6450" y="2925"/>
            <a:chExt cx="5166" cy="3759"/>
          </a:xfrm>
        </p:grpSpPr>
        <p:sp>
          <p:nvSpPr>
            <p:cNvPr id="109572" name="Text Box 78"/>
            <p:cNvSpPr txBox="1"/>
            <p:nvPr/>
          </p:nvSpPr>
          <p:spPr>
            <a:xfrm>
              <a:off x="8485" y="2925"/>
              <a:ext cx="688" cy="628"/>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28</a:t>
              </a:r>
              <a:endParaRPr lang="en-US" altLang="zh-CN" sz="2000" b="1" dirty="0">
                <a:solidFill>
                  <a:schemeClr val="hlink"/>
                </a:solidFill>
                <a:latin typeface="Times New Roman" panose="02020603050405020304" pitchFamily="18" charset="0"/>
                <a:ea typeface="宋体" panose="02010600030101010101" pitchFamily="2" charset="-122"/>
              </a:endParaRPr>
            </a:p>
          </p:txBody>
        </p:sp>
        <p:sp>
          <p:nvSpPr>
            <p:cNvPr id="109573" name="Line 80"/>
            <p:cNvSpPr/>
            <p:nvPr/>
          </p:nvSpPr>
          <p:spPr>
            <a:xfrm>
              <a:off x="10138" y="3900"/>
              <a:ext cx="852" cy="1010"/>
            </a:xfrm>
            <a:prstGeom prst="line">
              <a:avLst/>
            </a:prstGeom>
            <a:ln w="28575" cap="flat" cmpd="sng">
              <a:solidFill>
                <a:schemeClr val="tx1"/>
              </a:solidFill>
              <a:prstDash val="solid"/>
              <a:round/>
              <a:headEnd type="none" w="med" len="med"/>
              <a:tailEnd type="none" w="med" len="med"/>
            </a:ln>
          </p:spPr>
        </p:sp>
        <p:sp>
          <p:nvSpPr>
            <p:cNvPr id="109574" name="Line 81"/>
            <p:cNvSpPr/>
            <p:nvPr/>
          </p:nvSpPr>
          <p:spPr>
            <a:xfrm>
              <a:off x="8025" y="3938"/>
              <a:ext cx="853" cy="1010"/>
            </a:xfrm>
            <a:prstGeom prst="line">
              <a:avLst/>
            </a:prstGeom>
            <a:ln w="28575" cap="flat" cmpd="sng">
              <a:solidFill>
                <a:schemeClr val="tx1"/>
              </a:solidFill>
              <a:prstDash val="solid"/>
              <a:round/>
              <a:headEnd type="none" w="med" len="med"/>
              <a:tailEnd type="none" w="med" len="med"/>
            </a:ln>
          </p:spPr>
        </p:sp>
        <p:sp>
          <p:nvSpPr>
            <p:cNvPr id="109575" name="Line 82"/>
            <p:cNvSpPr/>
            <p:nvPr/>
          </p:nvSpPr>
          <p:spPr>
            <a:xfrm>
              <a:off x="6875" y="5010"/>
              <a:ext cx="993" cy="1113"/>
            </a:xfrm>
            <a:prstGeom prst="line">
              <a:avLst/>
            </a:prstGeom>
            <a:ln w="28575" cap="flat" cmpd="sng">
              <a:solidFill>
                <a:schemeClr val="tx1"/>
              </a:solidFill>
              <a:prstDash val="solid"/>
              <a:round/>
              <a:headEnd type="none" w="med" len="med"/>
              <a:tailEnd type="none" w="med" len="med"/>
            </a:ln>
          </p:spPr>
        </p:sp>
        <p:sp>
          <p:nvSpPr>
            <p:cNvPr id="109576" name="Line 83"/>
            <p:cNvSpPr/>
            <p:nvPr/>
          </p:nvSpPr>
          <p:spPr>
            <a:xfrm flipH="1">
              <a:off x="6875" y="3800"/>
              <a:ext cx="850" cy="1110"/>
            </a:xfrm>
            <a:prstGeom prst="line">
              <a:avLst/>
            </a:prstGeom>
            <a:ln w="28575" cap="flat" cmpd="sng">
              <a:solidFill>
                <a:schemeClr val="tx1"/>
              </a:solidFill>
              <a:prstDash val="solid"/>
              <a:round/>
              <a:headEnd type="none" w="med" len="med"/>
              <a:tailEnd type="none" w="med" len="med"/>
            </a:ln>
          </p:spPr>
        </p:sp>
        <p:sp>
          <p:nvSpPr>
            <p:cNvPr id="109577" name="Line 84"/>
            <p:cNvSpPr/>
            <p:nvPr/>
          </p:nvSpPr>
          <p:spPr>
            <a:xfrm>
              <a:off x="9488" y="5063"/>
              <a:ext cx="1275" cy="0"/>
            </a:xfrm>
            <a:prstGeom prst="line">
              <a:avLst/>
            </a:prstGeom>
            <a:ln w="28575" cap="flat" cmpd="sng">
              <a:solidFill>
                <a:schemeClr val="tx1"/>
              </a:solidFill>
              <a:prstDash val="solid"/>
              <a:round/>
              <a:headEnd type="none" w="med" len="med"/>
              <a:tailEnd type="none" w="med" len="med"/>
            </a:ln>
          </p:spPr>
        </p:sp>
        <p:sp>
          <p:nvSpPr>
            <p:cNvPr id="109578" name="Line 85"/>
            <p:cNvSpPr/>
            <p:nvPr/>
          </p:nvSpPr>
          <p:spPr>
            <a:xfrm flipH="1">
              <a:off x="11227" y="5342"/>
              <a:ext cx="16" cy="813"/>
            </a:xfrm>
            <a:prstGeom prst="line">
              <a:avLst/>
            </a:prstGeom>
            <a:ln w="28575" cap="flat" cmpd="sng">
              <a:solidFill>
                <a:schemeClr val="tx1"/>
              </a:solidFill>
              <a:prstDash val="solid"/>
              <a:round/>
              <a:headEnd type="none" w="med" len="med"/>
              <a:tailEnd type="none" w="med" len="med"/>
            </a:ln>
          </p:spPr>
        </p:sp>
        <p:sp>
          <p:nvSpPr>
            <p:cNvPr id="109579" name="Line 86"/>
            <p:cNvSpPr/>
            <p:nvPr/>
          </p:nvSpPr>
          <p:spPr>
            <a:xfrm flipV="1">
              <a:off x="7301" y="3915"/>
              <a:ext cx="2538" cy="1095"/>
            </a:xfrm>
            <a:prstGeom prst="line">
              <a:avLst/>
            </a:prstGeom>
            <a:ln w="28575" cap="flat" cmpd="sng">
              <a:solidFill>
                <a:schemeClr val="tx1"/>
              </a:solidFill>
              <a:prstDash val="solid"/>
              <a:round/>
              <a:headEnd type="none" w="med" len="med"/>
              <a:tailEnd type="none" w="med" len="med"/>
            </a:ln>
          </p:spPr>
        </p:sp>
        <p:sp>
          <p:nvSpPr>
            <p:cNvPr id="15" name="Oval 87" descr="羊皮纸"/>
            <p:cNvSpPr>
              <a:spLocks noChangeArrowheads="1"/>
            </p:cNvSpPr>
            <p:nvPr/>
          </p:nvSpPr>
          <p:spPr bwMode="auto">
            <a:xfrm>
              <a:off x="6450" y="4710"/>
              <a:ext cx="853" cy="603"/>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B</a:t>
              </a:r>
              <a:endPar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6" name="Oval 88" descr="羊皮纸"/>
            <p:cNvSpPr>
              <a:spLocks noChangeArrowheads="1"/>
            </p:cNvSpPr>
            <p:nvPr/>
          </p:nvSpPr>
          <p:spPr bwMode="auto">
            <a:xfrm>
              <a:off x="7445" y="3393"/>
              <a:ext cx="850" cy="608"/>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chemeClr val="hlink"/>
                  </a:solidFill>
                  <a:effectLst/>
                  <a:uLnTx/>
                  <a:uFillTx/>
                  <a:latin typeface="Times New Roman" panose="02020603050405020304" pitchFamily="18" charset="0"/>
                  <a:ea typeface="宋体" panose="02010600030101010101" pitchFamily="2" charset="-122"/>
                  <a:cs typeface="+mn-cs"/>
                </a:rPr>
                <a:t>A</a:t>
              </a:r>
              <a:endParaRPr kumimoji="1" lang="en-US" altLang="zh-CN" sz="2000" b="1" i="0" u="none" strike="noStrike" kern="1200" cap="none" spc="0" normalizeH="0" baseline="0" noProof="0" dirty="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7" name="Oval 89" descr="羊皮纸"/>
            <p:cNvSpPr>
              <a:spLocks noChangeArrowheads="1"/>
            </p:cNvSpPr>
            <p:nvPr/>
          </p:nvSpPr>
          <p:spPr bwMode="auto">
            <a:xfrm>
              <a:off x="7445" y="5920"/>
              <a:ext cx="850" cy="608"/>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C</a:t>
              </a:r>
              <a:endPar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8" name="Oval 90" descr="羊皮纸"/>
            <p:cNvSpPr>
              <a:spLocks noChangeArrowheads="1"/>
            </p:cNvSpPr>
            <p:nvPr/>
          </p:nvSpPr>
          <p:spPr bwMode="auto">
            <a:xfrm>
              <a:off x="8578" y="4710"/>
              <a:ext cx="850" cy="603"/>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E</a:t>
              </a:r>
              <a:endPar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9" name="Oval 91" descr="羊皮纸"/>
            <p:cNvSpPr>
              <a:spLocks noChangeArrowheads="1"/>
            </p:cNvSpPr>
            <p:nvPr/>
          </p:nvSpPr>
          <p:spPr bwMode="auto">
            <a:xfrm>
              <a:off x="9570" y="3393"/>
              <a:ext cx="853" cy="608"/>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F</a:t>
              </a:r>
              <a:endPar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20" name="Oval 92" descr="羊皮纸"/>
            <p:cNvSpPr>
              <a:spLocks noChangeArrowheads="1"/>
            </p:cNvSpPr>
            <p:nvPr/>
          </p:nvSpPr>
          <p:spPr bwMode="auto">
            <a:xfrm>
              <a:off x="10763" y="6076"/>
              <a:ext cx="853" cy="608"/>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D</a:t>
              </a:r>
              <a:endPar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21" name="Oval 93" descr="羊皮纸"/>
            <p:cNvSpPr>
              <a:spLocks noChangeArrowheads="1"/>
            </p:cNvSpPr>
            <p:nvPr/>
          </p:nvSpPr>
          <p:spPr bwMode="auto">
            <a:xfrm flipH="1">
              <a:off x="10708" y="4710"/>
              <a:ext cx="853" cy="603"/>
            </a:xfrm>
            <a:prstGeom prst="ellipse">
              <a:avLst/>
            </a:prstGeom>
            <a:blipFill dpi="0" rotWithShape="0">
              <a:blip r:embed="rId1" cstate="print"/>
              <a:srcRect/>
              <a:tile tx="0" ty="0" sx="100000" sy="100000" flip="none" algn="tl"/>
            </a:blipFill>
            <a:ln w="9525">
              <a:solidFill>
                <a:schemeClr val="tx1"/>
              </a:solidFill>
              <a:round/>
            </a:ln>
            <a:effectLst>
              <a:outerShdw dist="35921" dir="2700000" algn="ctr" rotWithShape="0">
                <a:schemeClr val="bg2"/>
              </a:outerShdw>
            </a:effectLst>
          </p:spPr>
          <p:txBody>
            <a:bodyPr wrap="none" anchor="ct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rPr>
                <a:t>G</a:t>
              </a:r>
              <a:endParaRPr kumimoji="1" lang="en-US" altLang="zh-CN" sz="2000" b="1" i="0" u="none" strike="noStrike" kern="1200" cap="none" spc="0" normalizeH="0" baseline="0" noProof="0">
                <a:ln>
                  <a:noFill/>
                </a:ln>
                <a:solidFill>
                  <a:schemeClr val="hlink"/>
                </a:solidFill>
                <a:effectLst/>
                <a:uLnTx/>
                <a:uFillTx/>
                <a:latin typeface="Times New Roman" panose="02020603050405020304" pitchFamily="18" charset="0"/>
                <a:ea typeface="宋体" panose="02010600030101010101" pitchFamily="2" charset="-122"/>
                <a:cs typeface="+mn-cs"/>
              </a:endParaRPr>
            </a:p>
          </p:txBody>
        </p:sp>
        <p:sp>
          <p:nvSpPr>
            <p:cNvPr id="109587" name="Text Box 94"/>
            <p:cNvSpPr txBox="1"/>
            <p:nvPr/>
          </p:nvSpPr>
          <p:spPr>
            <a:xfrm>
              <a:off x="6450" y="3948"/>
              <a:ext cx="688" cy="628"/>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10</a:t>
              </a:r>
              <a:endParaRPr lang="en-US" altLang="zh-CN" sz="2000" b="1" dirty="0">
                <a:solidFill>
                  <a:schemeClr val="hlink"/>
                </a:solidFill>
                <a:latin typeface="Times New Roman" panose="02020603050405020304" pitchFamily="18" charset="0"/>
                <a:ea typeface="宋体" panose="02010600030101010101" pitchFamily="2" charset="-122"/>
              </a:endParaRPr>
            </a:p>
          </p:txBody>
        </p:sp>
        <p:sp>
          <p:nvSpPr>
            <p:cNvPr id="109588" name="Text Box 95"/>
            <p:cNvSpPr txBox="1"/>
            <p:nvPr/>
          </p:nvSpPr>
          <p:spPr>
            <a:xfrm>
              <a:off x="6768" y="5333"/>
              <a:ext cx="688" cy="628"/>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22</a:t>
              </a:r>
              <a:endParaRPr lang="en-US" altLang="zh-CN" sz="2000" b="1" dirty="0">
                <a:solidFill>
                  <a:schemeClr val="hlink"/>
                </a:solidFill>
                <a:latin typeface="Times New Roman" panose="02020603050405020304" pitchFamily="18" charset="0"/>
                <a:ea typeface="宋体" panose="02010600030101010101" pitchFamily="2" charset="-122"/>
              </a:endParaRPr>
            </a:p>
          </p:txBody>
        </p:sp>
        <p:sp>
          <p:nvSpPr>
            <p:cNvPr id="109590" name="Text Box 97"/>
            <p:cNvSpPr txBox="1"/>
            <p:nvPr/>
          </p:nvSpPr>
          <p:spPr>
            <a:xfrm>
              <a:off x="9058" y="3945"/>
              <a:ext cx="900" cy="628"/>
            </a:xfrm>
            <a:prstGeom prst="rect">
              <a:avLst/>
            </a:prstGeom>
            <a:noFill/>
            <a:ln w="9525">
              <a:noFill/>
            </a:ln>
          </p:spPr>
          <p:txBody>
            <a:bodyPr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24</a:t>
              </a:r>
              <a:endParaRPr lang="en-US" altLang="zh-CN" sz="2000" b="1" dirty="0">
                <a:solidFill>
                  <a:schemeClr val="hlink"/>
                </a:solidFill>
                <a:latin typeface="Times New Roman" panose="02020603050405020304" pitchFamily="18" charset="0"/>
                <a:ea typeface="宋体" panose="02010600030101010101" pitchFamily="2" charset="-122"/>
              </a:endParaRPr>
            </a:p>
          </p:txBody>
        </p:sp>
        <p:sp>
          <p:nvSpPr>
            <p:cNvPr id="109591" name="Text Box 98"/>
            <p:cNvSpPr txBox="1"/>
            <p:nvPr/>
          </p:nvSpPr>
          <p:spPr>
            <a:xfrm>
              <a:off x="9765" y="4573"/>
              <a:ext cx="688" cy="628"/>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15</a:t>
              </a:r>
              <a:endParaRPr lang="en-US" altLang="zh-CN" sz="2000" b="1" dirty="0">
                <a:solidFill>
                  <a:schemeClr val="hlink"/>
                </a:solidFill>
                <a:latin typeface="Times New Roman" panose="02020603050405020304" pitchFamily="18" charset="0"/>
                <a:ea typeface="宋体" panose="02010600030101010101" pitchFamily="2" charset="-122"/>
              </a:endParaRPr>
            </a:p>
          </p:txBody>
        </p:sp>
        <p:sp>
          <p:nvSpPr>
            <p:cNvPr id="109592" name="Text Box 99"/>
            <p:cNvSpPr txBox="1"/>
            <p:nvPr/>
          </p:nvSpPr>
          <p:spPr>
            <a:xfrm>
              <a:off x="10555" y="4053"/>
              <a:ext cx="688" cy="628"/>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16</a:t>
              </a:r>
              <a:endParaRPr lang="en-US" altLang="zh-CN" sz="2000" b="1" dirty="0">
                <a:solidFill>
                  <a:schemeClr val="hlink"/>
                </a:solidFill>
                <a:latin typeface="Times New Roman" panose="02020603050405020304" pitchFamily="18" charset="0"/>
                <a:ea typeface="宋体" panose="02010600030101010101" pitchFamily="2" charset="-122"/>
              </a:endParaRPr>
            </a:p>
          </p:txBody>
        </p:sp>
        <p:sp>
          <p:nvSpPr>
            <p:cNvPr id="109593" name="Text Box 100"/>
            <p:cNvSpPr txBox="1"/>
            <p:nvPr/>
          </p:nvSpPr>
          <p:spPr>
            <a:xfrm>
              <a:off x="7614" y="3843"/>
              <a:ext cx="665" cy="628"/>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11</a:t>
              </a:r>
              <a:endParaRPr lang="en-US" altLang="zh-CN" sz="2000" b="1" dirty="0">
                <a:solidFill>
                  <a:schemeClr val="hlink"/>
                </a:solidFill>
                <a:latin typeface="Times New Roman" panose="02020603050405020304" pitchFamily="18" charset="0"/>
                <a:ea typeface="宋体" panose="02010600030101010101" pitchFamily="2" charset="-122"/>
              </a:endParaRPr>
            </a:p>
          </p:txBody>
        </p:sp>
        <p:sp>
          <p:nvSpPr>
            <p:cNvPr id="109594" name="Text Box 101"/>
            <p:cNvSpPr txBox="1"/>
            <p:nvPr/>
          </p:nvSpPr>
          <p:spPr>
            <a:xfrm>
              <a:off x="10563" y="5448"/>
              <a:ext cx="688" cy="628"/>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12</a:t>
              </a:r>
              <a:endParaRPr lang="en-US" altLang="zh-CN" sz="2000" b="1" dirty="0">
                <a:solidFill>
                  <a:schemeClr val="hlink"/>
                </a:solidFill>
                <a:latin typeface="Times New Roman" panose="02020603050405020304" pitchFamily="18" charset="0"/>
                <a:ea typeface="宋体" panose="02010600030101010101" pitchFamily="2" charset="-122"/>
              </a:endParaRPr>
            </a:p>
          </p:txBody>
        </p:sp>
        <p:sp>
          <p:nvSpPr>
            <p:cNvPr id="109595" name="Line 102"/>
            <p:cNvSpPr/>
            <p:nvPr/>
          </p:nvSpPr>
          <p:spPr>
            <a:xfrm>
              <a:off x="8295" y="3698"/>
              <a:ext cx="1275" cy="0"/>
            </a:xfrm>
            <a:prstGeom prst="line">
              <a:avLst/>
            </a:prstGeom>
            <a:ln w="28575" cap="flat" cmpd="sng">
              <a:solidFill>
                <a:schemeClr val="tx1"/>
              </a:solidFill>
              <a:prstDash val="solid"/>
              <a:round/>
              <a:headEnd type="none" w="med" len="med"/>
              <a:tailEnd type="none" w="med" len="med"/>
            </a:ln>
          </p:spPr>
        </p:sp>
      </p:grpSp>
      <p:sp>
        <p:nvSpPr>
          <p:cNvPr id="6" name="Text Box 98"/>
          <p:cNvSpPr txBox="1"/>
          <p:nvPr/>
        </p:nvSpPr>
        <p:spPr>
          <a:xfrm>
            <a:off x="4871720" y="4382135"/>
            <a:ext cx="436880" cy="398780"/>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26</a:t>
            </a:r>
            <a:endParaRPr lang="en-US" altLang="zh-CN" sz="2000" b="1" dirty="0">
              <a:solidFill>
                <a:schemeClr val="hlink"/>
              </a:solidFill>
              <a:latin typeface="Times New Roman" panose="02020603050405020304" pitchFamily="18" charset="0"/>
              <a:ea typeface="宋体" panose="02010600030101010101" pitchFamily="2" charset="-122"/>
            </a:endParaRPr>
          </a:p>
        </p:txBody>
      </p:sp>
      <p:sp>
        <p:nvSpPr>
          <p:cNvPr id="7" name="Line 80"/>
          <p:cNvSpPr/>
          <p:nvPr/>
        </p:nvSpPr>
        <p:spPr>
          <a:xfrm flipV="1">
            <a:off x="4773930" y="3954780"/>
            <a:ext cx="1681480" cy="568325"/>
          </a:xfrm>
          <a:prstGeom prst="line">
            <a:avLst/>
          </a:prstGeom>
          <a:ln w="28575" cap="flat" cmpd="sng">
            <a:solidFill>
              <a:schemeClr val="tx1"/>
            </a:solidFill>
            <a:prstDash val="solid"/>
            <a:round/>
            <a:headEnd type="none" w="med" len="med"/>
            <a:tailEnd type="none" w="med" len="med"/>
          </a:ln>
        </p:spPr>
      </p:sp>
      <p:sp>
        <p:nvSpPr>
          <p:cNvPr id="8" name="Line 80"/>
          <p:cNvSpPr/>
          <p:nvPr/>
        </p:nvSpPr>
        <p:spPr>
          <a:xfrm>
            <a:off x="5375910" y="3986530"/>
            <a:ext cx="1004570" cy="660400"/>
          </a:xfrm>
          <a:prstGeom prst="line">
            <a:avLst/>
          </a:prstGeom>
          <a:ln w="28575" cap="flat" cmpd="sng">
            <a:solidFill>
              <a:schemeClr val="tx1"/>
            </a:solidFill>
            <a:prstDash val="solid"/>
            <a:round/>
            <a:headEnd type="none" w="med" len="med"/>
            <a:tailEnd type="none" w="med" len="med"/>
          </a:ln>
        </p:spPr>
      </p:sp>
      <p:sp>
        <p:nvSpPr>
          <p:cNvPr id="9" name="Text Box 94"/>
          <p:cNvSpPr txBox="1"/>
          <p:nvPr/>
        </p:nvSpPr>
        <p:spPr>
          <a:xfrm>
            <a:off x="5733415" y="4364990"/>
            <a:ext cx="436880" cy="398780"/>
          </a:xfrm>
          <a:prstGeom prst="rect">
            <a:avLst/>
          </a:prstGeom>
          <a:noFill/>
          <a:ln w="9525">
            <a:noFill/>
          </a:ln>
        </p:spPr>
        <p:txBody>
          <a:bodyPr wrap="none" anchor="t" anchorCtr="0">
            <a:spAutoFit/>
          </a:bodyPr>
          <a:p>
            <a:r>
              <a:rPr lang="en-US" altLang="zh-CN" sz="2000" b="1" dirty="0">
                <a:solidFill>
                  <a:schemeClr val="hlink"/>
                </a:solidFill>
                <a:latin typeface="Times New Roman" panose="02020603050405020304" pitchFamily="18" charset="0"/>
                <a:ea typeface="宋体" panose="02010600030101010101" pitchFamily="2" charset="-122"/>
              </a:rPr>
              <a:t>14</a:t>
            </a:r>
            <a:endParaRPr lang="en-US" altLang="zh-CN" sz="2000" dirty="0">
              <a:solidFill>
                <a:schemeClr val="hlink"/>
              </a:solidFill>
              <a:latin typeface="Times New Roman" panose="02020603050405020304" pitchFamily="18" charset="0"/>
              <a:ea typeface="宋体" panose="02010600030101010101" pitchFamily="2"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469640" y="1268730"/>
            <a:ext cx="6001385" cy="3540760"/>
          </a:xfrm>
          <a:prstGeom prst="rect">
            <a:avLst/>
          </a:prstGeom>
        </p:spPr>
        <p:txBody>
          <a:bodyPr vert="horz" lIns="91440" tIns="45720" rIns="91440" bIns="45720" rtlCol="0"/>
          <a:lstStyle/>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图的定义和术语</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图的存储结构</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图的遍历</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图的连通</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有向无环图及其应用</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最短路径</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endParaRPr kumimoji="0" lang="zh-CN" altLang="en-US" sz="3200" b="0" i="0" u="none" strike="noStrike" kern="1200" cap="none" spc="0" normalizeH="0" baseline="0" noProof="0" dirty="0" err="1" smtClean="0">
              <a:ln>
                <a:noFill/>
              </a:ln>
              <a:solidFill>
                <a:schemeClr val="tx1"/>
              </a:solidFill>
              <a:effectLst/>
              <a:uLnTx/>
              <a:uFillTx/>
              <a:latin typeface="楷体" panose="02010609060101010101" charset="-122"/>
              <a:ea typeface="楷体" panose="02010609060101010101" charset="-122"/>
              <a:cs typeface="+mn-cs"/>
              <a:sym typeface="+mn-lt"/>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
        <p:nvSpPr>
          <p:cNvPr id="8" name="矩形 7"/>
          <p:cNvSpPr/>
          <p:nvPr/>
        </p:nvSpPr>
        <p:spPr>
          <a:xfrm>
            <a:off x="4088130" y="3531870"/>
            <a:ext cx="3782695" cy="5308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46" name="Text Box 2"/>
          <p:cNvSpPr txBox="1"/>
          <p:nvPr/>
        </p:nvSpPr>
        <p:spPr>
          <a:xfrm>
            <a:off x="2712085" y="170815"/>
            <a:ext cx="6443980" cy="768350"/>
          </a:xfrm>
          <a:prstGeom prst="rect">
            <a:avLst/>
          </a:prstGeom>
          <a:noFill/>
          <a:ln w="9525">
            <a:noFill/>
          </a:ln>
        </p:spPr>
        <p:txBody>
          <a:bodyPr wrap="square" anchor="t" anchorCtr="0">
            <a:spAutoFit/>
          </a:bodyPr>
          <a:p>
            <a:pPr algn="ctr"/>
            <a:r>
              <a:rPr lang="zh-CN" altLang="en-US" sz="4400" b="1" dirty="0">
                <a:solidFill>
                  <a:srgbClr val="0000CC"/>
                </a:solidFill>
                <a:latin typeface="楷体" panose="02010609060101010101" charset="-122"/>
                <a:ea typeface="楷体" panose="02010609060101010101" charset="-122"/>
              </a:rPr>
              <a:t>第七章	</a:t>
            </a:r>
            <a:r>
              <a:rPr lang="zh-CN" altLang="en-US" sz="4400" b="1" dirty="0">
                <a:solidFill>
                  <a:srgbClr val="0000CC"/>
                </a:solidFill>
                <a:latin typeface="楷体" panose="02010609060101010101" charset="-122"/>
                <a:ea typeface="楷体" panose="02010609060101010101" charset="-122"/>
              </a:rPr>
              <a:t>图</a:t>
            </a:r>
            <a:endParaRPr lang="zh-CN" altLang="en-US" sz="4400" b="1" dirty="0">
              <a:solidFill>
                <a:srgbClr val="0000CC"/>
              </a:solidFill>
              <a:latin typeface="楷体" panose="02010609060101010101" charset="-122"/>
              <a:ea typeface="楷体" panose="02010609060101010101" charset="-122"/>
            </a:endParaRPr>
          </a:p>
        </p:txBody>
      </p:sp>
    </p:spTree>
  </p:cSld>
  <p:clrMapOvr>
    <a:masterClrMapping/>
  </p:clrMapOvr>
  <p:transition spd="med">
    <p:fade/>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有向无环图(DAG:Directed Acycline Graph)是无环的有向图</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DAG</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图是一种应用广泛的有向图，比有向树更特殊</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custDataLst>
              <p:tags r:id="rId1"/>
            </p:custDataLst>
          </p:nvPr>
        </p:nvPicPr>
        <p:blipFill>
          <a:blip r:embed="rId2"/>
          <a:stretch>
            <a:fillRect/>
          </a:stretch>
        </p:blipFill>
        <p:spPr>
          <a:xfrm>
            <a:off x="2423795" y="2204720"/>
            <a:ext cx="5847080" cy="2974340"/>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有向无环图是描述含有公共子式的表达式的</a:t>
            </a: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有效工具</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0" lvl="1" indent="0" algn="l" eaLnBrk="1" hangingPunct="1">
              <a:buClrTx/>
              <a:buSzTx/>
              <a:buFont typeface="Wingdings" panose="05000000000000000000" charset="0"/>
              <a:buNone/>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表达式((a +b ) * (b * (c + d)) + (c + d) * e) * ((c + d) * e)，用二叉树表示</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12644" name="Group 18"/>
          <p:cNvGrpSpPr/>
          <p:nvPr/>
        </p:nvGrpSpPr>
        <p:grpSpPr>
          <a:xfrm>
            <a:off x="1991360" y="2420303"/>
            <a:ext cx="5400675" cy="3394074"/>
            <a:chOff x="975" y="1207"/>
            <a:chExt cx="3402" cy="2138"/>
          </a:xfrm>
        </p:grpSpPr>
        <p:grpSp>
          <p:nvGrpSpPr>
            <p:cNvPr id="112645" name="Group 19"/>
            <p:cNvGrpSpPr/>
            <p:nvPr/>
          </p:nvGrpSpPr>
          <p:grpSpPr>
            <a:xfrm>
              <a:off x="975" y="1207"/>
              <a:ext cx="3402" cy="2132"/>
              <a:chOff x="2825" y="5675"/>
              <a:chExt cx="5476" cy="2988"/>
            </a:xfrm>
          </p:grpSpPr>
          <p:sp>
            <p:nvSpPr>
              <p:cNvPr id="112646" name="Oval 20"/>
              <p:cNvSpPr/>
              <p:nvPr/>
            </p:nvSpPr>
            <p:spPr>
              <a:xfrm>
                <a:off x="6268" y="5675"/>
                <a:ext cx="313" cy="272"/>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2647" name="Oval 21"/>
              <p:cNvSpPr/>
              <p:nvPr/>
            </p:nvSpPr>
            <p:spPr>
              <a:xfrm>
                <a:off x="7677" y="6219"/>
                <a:ext cx="312" cy="272"/>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2648" name="Oval 22"/>
              <p:cNvSpPr/>
              <p:nvPr/>
            </p:nvSpPr>
            <p:spPr>
              <a:xfrm>
                <a:off x="7362" y="6762"/>
                <a:ext cx="315"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2649" name="Oval 23"/>
              <p:cNvSpPr/>
              <p:nvPr/>
            </p:nvSpPr>
            <p:spPr>
              <a:xfrm>
                <a:off x="7989" y="6762"/>
                <a:ext cx="312"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2650" name="Oval 24"/>
              <p:cNvSpPr/>
              <p:nvPr/>
            </p:nvSpPr>
            <p:spPr>
              <a:xfrm>
                <a:off x="7050" y="7305"/>
                <a:ext cx="312"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2651" name="Oval 25"/>
              <p:cNvSpPr/>
              <p:nvPr/>
            </p:nvSpPr>
            <p:spPr>
              <a:xfrm>
                <a:off x="7677" y="7305"/>
                <a:ext cx="312"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2652" name="Line 26"/>
              <p:cNvSpPr/>
              <p:nvPr/>
            </p:nvSpPr>
            <p:spPr>
              <a:xfrm flipH="1">
                <a:off x="7520" y="6491"/>
                <a:ext cx="313" cy="271"/>
              </a:xfrm>
              <a:prstGeom prst="line">
                <a:avLst/>
              </a:prstGeom>
              <a:ln w="9525" cap="flat" cmpd="sng">
                <a:solidFill>
                  <a:srgbClr val="000000"/>
                </a:solidFill>
                <a:prstDash val="solid"/>
                <a:round/>
                <a:headEnd type="none" w="med" len="med"/>
                <a:tailEnd type="triangle" w="med" len="med"/>
              </a:ln>
            </p:spPr>
          </p:sp>
          <p:sp>
            <p:nvSpPr>
              <p:cNvPr id="112653" name="Line 27"/>
              <p:cNvSpPr/>
              <p:nvPr/>
            </p:nvSpPr>
            <p:spPr>
              <a:xfrm>
                <a:off x="7833" y="6491"/>
                <a:ext cx="312" cy="271"/>
              </a:xfrm>
              <a:prstGeom prst="line">
                <a:avLst/>
              </a:prstGeom>
              <a:ln w="9525" cap="flat" cmpd="sng">
                <a:solidFill>
                  <a:srgbClr val="000000"/>
                </a:solidFill>
                <a:prstDash val="solid"/>
                <a:round/>
                <a:headEnd type="none" w="med" len="med"/>
                <a:tailEnd type="triangle" w="med" len="med"/>
              </a:ln>
            </p:spPr>
          </p:sp>
          <p:sp>
            <p:nvSpPr>
              <p:cNvPr id="112654" name="Line 28"/>
              <p:cNvSpPr/>
              <p:nvPr/>
            </p:nvSpPr>
            <p:spPr>
              <a:xfrm flipH="1">
                <a:off x="7207" y="7033"/>
                <a:ext cx="313" cy="272"/>
              </a:xfrm>
              <a:prstGeom prst="line">
                <a:avLst/>
              </a:prstGeom>
              <a:ln w="9525" cap="flat" cmpd="sng">
                <a:solidFill>
                  <a:srgbClr val="000000"/>
                </a:solidFill>
                <a:prstDash val="solid"/>
                <a:round/>
                <a:headEnd type="none" w="med" len="med"/>
                <a:tailEnd type="triangle" w="med" len="med"/>
              </a:ln>
            </p:spPr>
          </p:sp>
          <p:sp>
            <p:nvSpPr>
              <p:cNvPr id="112655" name="Line 29"/>
              <p:cNvSpPr/>
              <p:nvPr/>
            </p:nvSpPr>
            <p:spPr>
              <a:xfrm>
                <a:off x="7520" y="7033"/>
                <a:ext cx="313" cy="272"/>
              </a:xfrm>
              <a:prstGeom prst="line">
                <a:avLst/>
              </a:prstGeom>
              <a:ln w="9525" cap="flat" cmpd="sng">
                <a:solidFill>
                  <a:srgbClr val="000000"/>
                </a:solidFill>
                <a:prstDash val="solid"/>
                <a:round/>
                <a:headEnd type="none" w="med" len="med"/>
                <a:tailEnd type="triangle" w="med" len="med"/>
              </a:ln>
            </p:spPr>
          </p:sp>
          <p:sp>
            <p:nvSpPr>
              <p:cNvPr id="112656" name="Oval 30"/>
              <p:cNvSpPr/>
              <p:nvPr/>
            </p:nvSpPr>
            <p:spPr>
              <a:xfrm>
                <a:off x="5799" y="6762"/>
                <a:ext cx="314" cy="272"/>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2657" name="Oval 31"/>
              <p:cNvSpPr/>
              <p:nvPr/>
            </p:nvSpPr>
            <p:spPr>
              <a:xfrm>
                <a:off x="5486" y="7306"/>
                <a:ext cx="313" cy="270"/>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2658" name="Oval 32"/>
              <p:cNvSpPr/>
              <p:nvPr/>
            </p:nvSpPr>
            <p:spPr>
              <a:xfrm>
                <a:off x="6113" y="7306"/>
                <a:ext cx="313" cy="270"/>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2659" name="Oval 33"/>
              <p:cNvSpPr/>
              <p:nvPr/>
            </p:nvSpPr>
            <p:spPr>
              <a:xfrm>
                <a:off x="5173" y="7848"/>
                <a:ext cx="313"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2660" name="Oval 34"/>
              <p:cNvSpPr/>
              <p:nvPr/>
            </p:nvSpPr>
            <p:spPr>
              <a:xfrm>
                <a:off x="5799" y="7848"/>
                <a:ext cx="314"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2661" name="Line 35"/>
              <p:cNvSpPr/>
              <p:nvPr/>
            </p:nvSpPr>
            <p:spPr>
              <a:xfrm flipH="1">
                <a:off x="5644" y="7034"/>
                <a:ext cx="311" cy="272"/>
              </a:xfrm>
              <a:prstGeom prst="line">
                <a:avLst/>
              </a:prstGeom>
              <a:ln w="9525" cap="flat" cmpd="sng">
                <a:solidFill>
                  <a:srgbClr val="000000"/>
                </a:solidFill>
                <a:prstDash val="solid"/>
                <a:round/>
                <a:headEnd type="none" w="med" len="med"/>
                <a:tailEnd type="triangle" w="med" len="med"/>
              </a:ln>
            </p:spPr>
          </p:sp>
          <p:sp>
            <p:nvSpPr>
              <p:cNvPr id="112662" name="Line 36"/>
              <p:cNvSpPr/>
              <p:nvPr/>
            </p:nvSpPr>
            <p:spPr>
              <a:xfrm>
                <a:off x="5955" y="7034"/>
                <a:ext cx="313" cy="272"/>
              </a:xfrm>
              <a:prstGeom prst="line">
                <a:avLst/>
              </a:prstGeom>
              <a:ln w="9525" cap="flat" cmpd="sng">
                <a:solidFill>
                  <a:srgbClr val="000000"/>
                </a:solidFill>
                <a:prstDash val="solid"/>
                <a:round/>
                <a:headEnd type="none" w="med" len="med"/>
                <a:tailEnd type="triangle" w="med" len="med"/>
              </a:ln>
            </p:spPr>
          </p:sp>
          <p:sp>
            <p:nvSpPr>
              <p:cNvPr id="112663" name="Line 37"/>
              <p:cNvSpPr/>
              <p:nvPr/>
            </p:nvSpPr>
            <p:spPr>
              <a:xfrm flipH="1">
                <a:off x="5329" y="7576"/>
                <a:ext cx="315" cy="272"/>
              </a:xfrm>
              <a:prstGeom prst="line">
                <a:avLst/>
              </a:prstGeom>
              <a:ln w="9525" cap="flat" cmpd="sng">
                <a:solidFill>
                  <a:srgbClr val="000000"/>
                </a:solidFill>
                <a:prstDash val="solid"/>
                <a:round/>
                <a:headEnd type="none" w="med" len="med"/>
                <a:tailEnd type="triangle" w="med" len="med"/>
              </a:ln>
            </p:spPr>
          </p:sp>
          <p:sp>
            <p:nvSpPr>
              <p:cNvPr id="112664" name="Line 38"/>
              <p:cNvSpPr/>
              <p:nvPr/>
            </p:nvSpPr>
            <p:spPr>
              <a:xfrm>
                <a:off x="5644" y="7576"/>
                <a:ext cx="311" cy="272"/>
              </a:xfrm>
              <a:prstGeom prst="line">
                <a:avLst/>
              </a:prstGeom>
              <a:ln w="9525" cap="flat" cmpd="sng">
                <a:solidFill>
                  <a:srgbClr val="000000"/>
                </a:solidFill>
                <a:prstDash val="solid"/>
                <a:round/>
                <a:headEnd type="none" w="med" len="med"/>
                <a:tailEnd type="triangle" w="med" len="med"/>
              </a:ln>
            </p:spPr>
          </p:sp>
          <p:sp>
            <p:nvSpPr>
              <p:cNvPr id="112665" name="Oval 39"/>
              <p:cNvSpPr/>
              <p:nvPr/>
            </p:nvSpPr>
            <p:spPr>
              <a:xfrm>
                <a:off x="4233" y="7306"/>
                <a:ext cx="314"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2666" name="Oval 40"/>
              <p:cNvSpPr/>
              <p:nvPr/>
            </p:nvSpPr>
            <p:spPr>
              <a:xfrm>
                <a:off x="3920" y="7849"/>
                <a:ext cx="313"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2667" name="Oval 41"/>
              <p:cNvSpPr/>
              <p:nvPr/>
            </p:nvSpPr>
            <p:spPr>
              <a:xfrm>
                <a:off x="4547" y="7849"/>
                <a:ext cx="313"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2668" name="Oval 42"/>
              <p:cNvSpPr/>
              <p:nvPr/>
            </p:nvSpPr>
            <p:spPr>
              <a:xfrm>
                <a:off x="4233" y="8393"/>
                <a:ext cx="313" cy="270"/>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2669" name="Oval 43"/>
              <p:cNvSpPr/>
              <p:nvPr/>
            </p:nvSpPr>
            <p:spPr>
              <a:xfrm>
                <a:off x="4860" y="8393"/>
                <a:ext cx="313" cy="270"/>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2670" name="Line 44"/>
              <p:cNvSpPr/>
              <p:nvPr/>
            </p:nvSpPr>
            <p:spPr>
              <a:xfrm flipH="1">
                <a:off x="4077" y="7577"/>
                <a:ext cx="311" cy="272"/>
              </a:xfrm>
              <a:prstGeom prst="line">
                <a:avLst/>
              </a:prstGeom>
              <a:ln w="9525" cap="flat" cmpd="sng">
                <a:solidFill>
                  <a:srgbClr val="000000"/>
                </a:solidFill>
                <a:prstDash val="solid"/>
                <a:round/>
                <a:headEnd type="none" w="med" len="med"/>
                <a:tailEnd type="triangle" w="med" len="med"/>
              </a:ln>
            </p:spPr>
          </p:sp>
          <p:sp>
            <p:nvSpPr>
              <p:cNvPr id="112671" name="Line 45"/>
              <p:cNvSpPr/>
              <p:nvPr/>
            </p:nvSpPr>
            <p:spPr>
              <a:xfrm>
                <a:off x="4388" y="7577"/>
                <a:ext cx="313" cy="272"/>
              </a:xfrm>
              <a:prstGeom prst="line">
                <a:avLst/>
              </a:prstGeom>
              <a:ln w="9525" cap="flat" cmpd="sng">
                <a:solidFill>
                  <a:srgbClr val="000000"/>
                </a:solidFill>
                <a:prstDash val="solid"/>
                <a:round/>
                <a:headEnd type="none" w="med" len="med"/>
                <a:tailEnd type="triangle" w="med" len="med"/>
              </a:ln>
            </p:spPr>
          </p:sp>
          <p:sp>
            <p:nvSpPr>
              <p:cNvPr id="112672" name="Line 46"/>
              <p:cNvSpPr/>
              <p:nvPr/>
            </p:nvSpPr>
            <p:spPr>
              <a:xfrm flipH="1">
                <a:off x="4390" y="8121"/>
                <a:ext cx="312" cy="272"/>
              </a:xfrm>
              <a:prstGeom prst="line">
                <a:avLst/>
              </a:prstGeom>
              <a:ln w="9525" cap="flat" cmpd="sng">
                <a:solidFill>
                  <a:srgbClr val="000000"/>
                </a:solidFill>
                <a:prstDash val="solid"/>
                <a:round/>
                <a:headEnd type="none" w="med" len="med"/>
                <a:tailEnd type="triangle" w="med" len="med"/>
              </a:ln>
            </p:spPr>
          </p:sp>
          <p:sp>
            <p:nvSpPr>
              <p:cNvPr id="112673" name="Line 47"/>
              <p:cNvSpPr/>
              <p:nvPr/>
            </p:nvSpPr>
            <p:spPr>
              <a:xfrm>
                <a:off x="4702" y="8121"/>
                <a:ext cx="313" cy="272"/>
              </a:xfrm>
              <a:prstGeom prst="line">
                <a:avLst/>
              </a:prstGeom>
              <a:ln w="9525" cap="flat" cmpd="sng">
                <a:solidFill>
                  <a:srgbClr val="000000"/>
                </a:solidFill>
                <a:prstDash val="solid"/>
                <a:round/>
                <a:headEnd type="none" w="med" len="med"/>
                <a:tailEnd type="triangle" w="med" len="med"/>
              </a:ln>
            </p:spPr>
          </p:sp>
          <p:sp>
            <p:nvSpPr>
              <p:cNvPr id="112674" name="Oval 48"/>
              <p:cNvSpPr/>
              <p:nvPr/>
            </p:nvSpPr>
            <p:spPr>
              <a:xfrm>
                <a:off x="4860" y="6219"/>
                <a:ext cx="314" cy="272"/>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2675" name="Oval 49"/>
              <p:cNvSpPr/>
              <p:nvPr/>
            </p:nvSpPr>
            <p:spPr>
              <a:xfrm>
                <a:off x="3764" y="6762"/>
                <a:ext cx="313"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2676" name="Oval 50"/>
              <p:cNvSpPr/>
              <p:nvPr/>
            </p:nvSpPr>
            <p:spPr>
              <a:xfrm>
                <a:off x="3138" y="7306"/>
                <a:ext cx="313" cy="270"/>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2677" name="Oval 51"/>
              <p:cNvSpPr/>
              <p:nvPr/>
            </p:nvSpPr>
            <p:spPr>
              <a:xfrm>
                <a:off x="2825" y="7849"/>
                <a:ext cx="313"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2678" name="Oval 52"/>
              <p:cNvSpPr/>
              <p:nvPr/>
            </p:nvSpPr>
            <p:spPr>
              <a:xfrm>
                <a:off x="3451" y="7849"/>
                <a:ext cx="313"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2679" name="Line 53"/>
              <p:cNvSpPr/>
              <p:nvPr/>
            </p:nvSpPr>
            <p:spPr>
              <a:xfrm flipH="1">
                <a:off x="5016" y="5947"/>
                <a:ext cx="1409" cy="272"/>
              </a:xfrm>
              <a:prstGeom prst="line">
                <a:avLst/>
              </a:prstGeom>
              <a:ln w="9525" cap="flat" cmpd="sng">
                <a:solidFill>
                  <a:srgbClr val="000000"/>
                </a:solidFill>
                <a:prstDash val="solid"/>
                <a:round/>
                <a:headEnd type="none" w="med" len="med"/>
                <a:tailEnd type="triangle" w="med" len="med"/>
              </a:ln>
            </p:spPr>
          </p:sp>
          <p:sp>
            <p:nvSpPr>
              <p:cNvPr id="112680" name="Line 54"/>
              <p:cNvSpPr/>
              <p:nvPr/>
            </p:nvSpPr>
            <p:spPr>
              <a:xfrm>
                <a:off x="6425" y="5947"/>
                <a:ext cx="1409" cy="272"/>
              </a:xfrm>
              <a:prstGeom prst="line">
                <a:avLst/>
              </a:prstGeom>
              <a:ln w="9525" cap="flat" cmpd="sng">
                <a:solidFill>
                  <a:srgbClr val="000000"/>
                </a:solidFill>
                <a:prstDash val="solid"/>
                <a:round/>
                <a:headEnd type="none" w="med" len="med"/>
                <a:tailEnd type="triangle" w="med" len="med"/>
              </a:ln>
            </p:spPr>
          </p:sp>
          <p:sp>
            <p:nvSpPr>
              <p:cNvPr id="112681" name="Line 55"/>
              <p:cNvSpPr/>
              <p:nvPr/>
            </p:nvSpPr>
            <p:spPr>
              <a:xfrm flipH="1">
                <a:off x="2980" y="7577"/>
                <a:ext cx="313" cy="272"/>
              </a:xfrm>
              <a:prstGeom prst="line">
                <a:avLst/>
              </a:prstGeom>
              <a:ln w="9525" cap="flat" cmpd="sng">
                <a:solidFill>
                  <a:srgbClr val="000000"/>
                </a:solidFill>
                <a:prstDash val="solid"/>
                <a:round/>
                <a:headEnd type="none" w="med" len="med"/>
                <a:tailEnd type="triangle" w="med" len="med"/>
              </a:ln>
            </p:spPr>
          </p:sp>
          <p:sp>
            <p:nvSpPr>
              <p:cNvPr id="112682" name="Line 56"/>
              <p:cNvSpPr/>
              <p:nvPr/>
            </p:nvSpPr>
            <p:spPr>
              <a:xfrm>
                <a:off x="3293" y="7577"/>
                <a:ext cx="313" cy="272"/>
              </a:xfrm>
              <a:prstGeom prst="line">
                <a:avLst/>
              </a:prstGeom>
              <a:ln w="9525" cap="flat" cmpd="sng">
                <a:solidFill>
                  <a:srgbClr val="000000"/>
                </a:solidFill>
                <a:prstDash val="solid"/>
                <a:round/>
                <a:headEnd type="none" w="med" len="med"/>
                <a:tailEnd type="triangle" w="med" len="med"/>
              </a:ln>
            </p:spPr>
          </p:sp>
          <p:sp>
            <p:nvSpPr>
              <p:cNvPr id="112683" name="Line 57"/>
              <p:cNvSpPr/>
              <p:nvPr/>
            </p:nvSpPr>
            <p:spPr>
              <a:xfrm flipH="1">
                <a:off x="3294" y="7034"/>
                <a:ext cx="626" cy="272"/>
              </a:xfrm>
              <a:prstGeom prst="line">
                <a:avLst/>
              </a:prstGeom>
              <a:ln w="9525" cap="flat" cmpd="sng">
                <a:solidFill>
                  <a:srgbClr val="000000"/>
                </a:solidFill>
                <a:prstDash val="solid"/>
                <a:round/>
                <a:headEnd type="none" w="med" len="med"/>
                <a:tailEnd type="triangle" w="med" len="med"/>
              </a:ln>
            </p:spPr>
          </p:sp>
          <p:sp>
            <p:nvSpPr>
              <p:cNvPr id="112684" name="Line 58"/>
              <p:cNvSpPr/>
              <p:nvPr/>
            </p:nvSpPr>
            <p:spPr>
              <a:xfrm>
                <a:off x="3920" y="7034"/>
                <a:ext cx="470" cy="272"/>
              </a:xfrm>
              <a:prstGeom prst="line">
                <a:avLst/>
              </a:prstGeom>
              <a:ln w="9525" cap="flat" cmpd="sng">
                <a:solidFill>
                  <a:srgbClr val="000000"/>
                </a:solidFill>
                <a:prstDash val="solid"/>
                <a:round/>
                <a:headEnd type="none" w="med" len="med"/>
                <a:tailEnd type="triangle" w="med" len="med"/>
              </a:ln>
            </p:spPr>
          </p:sp>
          <p:sp>
            <p:nvSpPr>
              <p:cNvPr id="112685" name="Line 59"/>
              <p:cNvSpPr/>
              <p:nvPr/>
            </p:nvSpPr>
            <p:spPr>
              <a:xfrm flipH="1">
                <a:off x="3920" y="6490"/>
                <a:ext cx="1096" cy="272"/>
              </a:xfrm>
              <a:prstGeom prst="line">
                <a:avLst/>
              </a:prstGeom>
              <a:ln w="9525" cap="flat" cmpd="sng">
                <a:solidFill>
                  <a:srgbClr val="000000"/>
                </a:solidFill>
                <a:prstDash val="solid"/>
                <a:round/>
                <a:headEnd type="none" w="med" len="med"/>
                <a:tailEnd type="triangle" w="med" len="med"/>
              </a:ln>
            </p:spPr>
          </p:sp>
          <p:sp>
            <p:nvSpPr>
              <p:cNvPr id="112686" name="Line 60"/>
              <p:cNvSpPr/>
              <p:nvPr/>
            </p:nvSpPr>
            <p:spPr>
              <a:xfrm>
                <a:off x="5016" y="6490"/>
                <a:ext cx="939" cy="272"/>
              </a:xfrm>
              <a:prstGeom prst="line">
                <a:avLst/>
              </a:prstGeom>
              <a:ln w="9525" cap="flat" cmpd="sng">
                <a:solidFill>
                  <a:srgbClr val="000000"/>
                </a:solidFill>
                <a:prstDash val="solid"/>
                <a:round/>
                <a:headEnd type="none" w="med" len="med"/>
                <a:tailEnd type="triangle" w="med" len="med"/>
              </a:ln>
            </p:spPr>
          </p:sp>
        </p:grpSp>
        <p:sp>
          <p:nvSpPr>
            <p:cNvPr id="112687" name="Rectangle 61"/>
            <p:cNvSpPr/>
            <p:nvPr/>
          </p:nvSpPr>
          <p:spPr>
            <a:xfrm>
              <a:off x="3107" y="1207"/>
              <a:ext cx="187" cy="232"/>
            </a:xfrm>
            <a:prstGeom prst="rect">
              <a:avLst/>
            </a:prstGeom>
            <a:noFill/>
            <a:ln w="9525">
              <a:noFill/>
            </a:ln>
          </p:spPr>
          <p:txBody>
            <a:bodyPr wrap="none" anchor="t" anchorCtr="0">
              <a:spAutoFit/>
            </a:bodyPr>
            <a:p>
              <a:r>
                <a:rPr lang="zh-CN" altLang="en-US" sz="1800" dirty="0">
                  <a:latin typeface="Times New Roman" panose="02020603050405020304" pitchFamily="18" charset="0"/>
                  <a:ea typeface="宋体" panose="02010600030101010101" pitchFamily="2" charset="-122"/>
                </a:rPr>
                <a:t>*</a:t>
              </a:r>
              <a:endParaRPr lang="zh-CN" altLang="en-US" sz="1800" dirty="0">
                <a:latin typeface="Times New Roman" panose="02020603050405020304" pitchFamily="18" charset="0"/>
                <a:ea typeface="宋体" panose="02010600030101010101" pitchFamily="2" charset="-122"/>
              </a:endParaRPr>
            </a:p>
          </p:txBody>
        </p:sp>
        <p:sp>
          <p:nvSpPr>
            <p:cNvPr id="112688" name="Rectangle 62"/>
            <p:cNvSpPr/>
            <p:nvPr/>
          </p:nvSpPr>
          <p:spPr>
            <a:xfrm>
              <a:off x="2229" y="1570"/>
              <a:ext cx="197" cy="232"/>
            </a:xfrm>
            <a:prstGeom prst="rect">
              <a:avLst/>
            </a:prstGeom>
            <a:noFill/>
            <a:ln w="9525">
              <a:noFill/>
            </a:ln>
          </p:spPr>
          <p:txBody>
            <a:bodyPr wrap="none" anchor="t" anchorCtr="0">
              <a:spAutoFit/>
            </a:bodyPr>
            <a:p>
              <a:r>
                <a:rPr lang="en-US" altLang="zh-CN" sz="1800" b="1" dirty="0">
                  <a:latin typeface="Times New Roman" panose="02020603050405020304" pitchFamily="18" charset="0"/>
                  <a:ea typeface="宋体" panose="02010600030101010101" pitchFamily="2" charset="-122"/>
                </a:rPr>
                <a:t>+</a:t>
              </a:r>
              <a:endParaRPr lang="en-US" altLang="zh-CN" sz="1800" b="1" dirty="0">
                <a:latin typeface="Times New Roman" panose="02020603050405020304" pitchFamily="18" charset="0"/>
                <a:ea typeface="宋体" panose="02010600030101010101" pitchFamily="2" charset="-122"/>
              </a:endParaRPr>
            </a:p>
          </p:txBody>
        </p:sp>
        <p:sp>
          <p:nvSpPr>
            <p:cNvPr id="112689" name="Rectangle 63"/>
            <p:cNvSpPr/>
            <p:nvPr/>
          </p:nvSpPr>
          <p:spPr>
            <a:xfrm>
              <a:off x="4007" y="1611"/>
              <a:ext cx="187" cy="232"/>
            </a:xfrm>
            <a:prstGeom prst="rect">
              <a:avLst/>
            </a:prstGeom>
            <a:noFill/>
            <a:ln w="9525">
              <a:noFill/>
            </a:ln>
          </p:spPr>
          <p:txBody>
            <a:bodyPr wrap="none" anchor="t" anchorCtr="0">
              <a:spAutoFit/>
            </a:bodyPr>
            <a:p>
              <a:r>
                <a:rPr lang="zh-CN" altLang="en-US" sz="1800" dirty="0">
                  <a:latin typeface="Times New Roman" panose="02020603050405020304" pitchFamily="18" charset="0"/>
                  <a:ea typeface="宋体" panose="02010600030101010101" pitchFamily="2" charset="-122"/>
                </a:rPr>
                <a:t>*</a:t>
              </a:r>
              <a:endParaRPr lang="zh-CN" altLang="en-US" sz="1800" dirty="0">
                <a:latin typeface="Times New Roman" panose="02020603050405020304" pitchFamily="18" charset="0"/>
                <a:ea typeface="宋体" panose="02010600030101010101" pitchFamily="2" charset="-122"/>
              </a:endParaRPr>
            </a:p>
          </p:txBody>
        </p:sp>
        <p:sp>
          <p:nvSpPr>
            <p:cNvPr id="112690" name="Rectangle 64"/>
            <p:cNvSpPr/>
            <p:nvPr/>
          </p:nvSpPr>
          <p:spPr>
            <a:xfrm>
              <a:off x="1565" y="1979"/>
              <a:ext cx="187" cy="232"/>
            </a:xfrm>
            <a:prstGeom prst="rect">
              <a:avLst/>
            </a:prstGeom>
            <a:noFill/>
            <a:ln w="9525">
              <a:noFill/>
            </a:ln>
          </p:spPr>
          <p:txBody>
            <a:bodyPr wrap="none" anchor="t" anchorCtr="0">
              <a:spAutoFit/>
            </a:bodyPr>
            <a:p>
              <a:r>
                <a:rPr lang="zh-CN" altLang="en-US" sz="1800" dirty="0">
                  <a:latin typeface="Times New Roman" panose="02020603050405020304" pitchFamily="18" charset="0"/>
                  <a:ea typeface="宋体" panose="02010600030101010101" pitchFamily="2" charset="-122"/>
                </a:rPr>
                <a:t>*</a:t>
              </a:r>
              <a:endParaRPr lang="zh-CN" altLang="en-US" sz="1800" dirty="0">
                <a:latin typeface="Times New Roman" panose="02020603050405020304" pitchFamily="18" charset="0"/>
                <a:ea typeface="宋体" panose="02010600030101010101" pitchFamily="2" charset="-122"/>
              </a:endParaRPr>
            </a:p>
          </p:txBody>
        </p:sp>
        <p:sp>
          <p:nvSpPr>
            <p:cNvPr id="112691" name="Rectangle 65"/>
            <p:cNvSpPr/>
            <p:nvPr/>
          </p:nvSpPr>
          <p:spPr>
            <a:xfrm>
              <a:off x="2835" y="1979"/>
              <a:ext cx="187" cy="232"/>
            </a:xfrm>
            <a:prstGeom prst="rect">
              <a:avLst/>
            </a:prstGeom>
            <a:noFill/>
            <a:ln w="9525">
              <a:noFill/>
            </a:ln>
          </p:spPr>
          <p:txBody>
            <a:bodyPr wrap="none" anchor="t" anchorCtr="0">
              <a:spAutoFit/>
            </a:bodyPr>
            <a:p>
              <a:r>
                <a:rPr lang="zh-CN" altLang="en-US" sz="1800" dirty="0">
                  <a:latin typeface="Times New Roman" panose="02020603050405020304" pitchFamily="18" charset="0"/>
                  <a:ea typeface="宋体" panose="02010600030101010101" pitchFamily="2" charset="-122"/>
                </a:rPr>
                <a:t>*</a:t>
              </a:r>
              <a:endParaRPr lang="zh-CN" altLang="en-US" sz="1800" dirty="0">
                <a:latin typeface="Times New Roman" panose="02020603050405020304" pitchFamily="18" charset="0"/>
                <a:ea typeface="宋体" panose="02010600030101010101" pitchFamily="2" charset="-122"/>
              </a:endParaRPr>
            </a:p>
          </p:txBody>
        </p:sp>
        <p:sp>
          <p:nvSpPr>
            <p:cNvPr id="112692" name="Rectangle 66"/>
            <p:cNvSpPr/>
            <p:nvPr/>
          </p:nvSpPr>
          <p:spPr>
            <a:xfrm>
              <a:off x="3787" y="1979"/>
              <a:ext cx="197" cy="232"/>
            </a:xfrm>
            <a:prstGeom prst="rect">
              <a:avLst/>
            </a:prstGeom>
            <a:noFill/>
            <a:ln w="9525">
              <a:noFill/>
            </a:ln>
          </p:spPr>
          <p:txBody>
            <a:bodyPr wrap="none" anchor="t" anchorCtr="0">
              <a:spAutoFit/>
            </a:bodyPr>
            <a:p>
              <a:r>
                <a:rPr lang="en-US" altLang="zh-CN" sz="1800" b="1" dirty="0">
                  <a:latin typeface="Times New Roman" panose="02020603050405020304" pitchFamily="18" charset="0"/>
                  <a:ea typeface="宋体" panose="02010600030101010101" pitchFamily="2" charset="-122"/>
                </a:rPr>
                <a:t>+</a:t>
              </a:r>
              <a:endParaRPr lang="en-US" altLang="zh-CN" sz="1800" b="1" dirty="0">
                <a:latin typeface="Times New Roman" panose="02020603050405020304" pitchFamily="18" charset="0"/>
                <a:ea typeface="宋体" panose="02010600030101010101" pitchFamily="2" charset="-122"/>
              </a:endParaRPr>
            </a:p>
          </p:txBody>
        </p:sp>
        <p:sp>
          <p:nvSpPr>
            <p:cNvPr id="112693" name="Rectangle 67"/>
            <p:cNvSpPr/>
            <p:nvPr/>
          </p:nvSpPr>
          <p:spPr>
            <a:xfrm>
              <a:off x="4195" y="1933"/>
              <a:ext cx="179" cy="232"/>
            </a:xfrm>
            <a:prstGeom prst="rect">
              <a:avLst/>
            </a:prstGeom>
            <a:noFill/>
            <a:ln w="9525">
              <a:noFill/>
            </a:ln>
          </p:spPr>
          <p:txBody>
            <a:bodyPr wrap="none" anchor="t" anchorCtr="0">
              <a:spAutoFit/>
            </a:bodyPr>
            <a:p>
              <a:r>
                <a:rPr lang="en-US" altLang="zh-CN" sz="1800" b="1" dirty="0">
                  <a:latin typeface="Times New Roman" panose="02020603050405020304" pitchFamily="18" charset="0"/>
                  <a:ea typeface="宋体" panose="02010600030101010101" pitchFamily="2" charset="-122"/>
                </a:rPr>
                <a:t>e</a:t>
              </a:r>
              <a:endParaRPr lang="en-US" altLang="zh-CN" sz="1800" b="1" dirty="0">
                <a:latin typeface="Times New Roman" panose="02020603050405020304" pitchFamily="18" charset="0"/>
                <a:ea typeface="宋体" panose="02010600030101010101" pitchFamily="2" charset="-122"/>
              </a:endParaRPr>
            </a:p>
          </p:txBody>
        </p:sp>
        <p:sp>
          <p:nvSpPr>
            <p:cNvPr id="112694" name="Rectangle 68"/>
            <p:cNvSpPr/>
            <p:nvPr/>
          </p:nvSpPr>
          <p:spPr>
            <a:xfrm>
              <a:off x="1156" y="2341"/>
              <a:ext cx="197" cy="232"/>
            </a:xfrm>
            <a:prstGeom prst="rect">
              <a:avLst/>
            </a:prstGeom>
            <a:noFill/>
            <a:ln w="9525">
              <a:noFill/>
            </a:ln>
          </p:spPr>
          <p:txBody>
            <a:bodyPr wrap="none" anchor="t" anchorCtr="0">
              <a:spAutoFit/>
            </a:bodyPr>
            <a:p>
              <a:r>
                <a:rPr lang="en-US" altLang="zh-CN" sz="1800" b="1" dirty="0">
                  <a:latin typeface="Times New Roman" panose="02020603050405020304" pitchFamily="18" charset="0"/>
                  <a:ea typeface="宋体" panose="02010600030101010101" pitchFamily="2" charset="-122"/>
                </a:rPr>
                <a:t>+</a:t>
              </a:r>
              <a:endParaRPr lang="en-US" altLang="zh-CN" sz="1800" b="1" dirty="0">
                <a:latin typeface="Times New Roman" panose="02020603050405020304" pitchFamily="18" charset="0"/>
                <a:ea typeface="宋体" panose="02010600030101010101" pitchFamily="2" charset="-122"/>
              </a:endParaRPr>
            </a:p>
          </p:txBody>
        </p:sp>
        <p:sp>
          <p:nvSpPr>
            <p:cNvPr id="112695" name="Rectangle 69"/>
            <p:cNvSpPr/>
            <p:nvPr/>
          </p:nvSpPr>
          <p:spPr>
            <a:xfrm>
              <a:off x="2608" y="2341"/>
              <a:ext cx="197" cy="232"/>
            </a:xfrm>
            <a:prstGeom prst="rect">
              <a:avLst/>
            </a:prstGeom>
            <a:noFill/>
            <a:ln w="9525">
              <a:noFill/>
            </a:ln>
          </p:spPr>
          <p:txBody>
            <a:bodyPr wrap="none" anchor="t" anchorCtr="0">
              <a:spAutoFit/>
            </a:bodyPr>
            <a:p>
              <a:r>
                <a:rPr lang="en-US" altLang="zh-CN" sz="1800" b="1" dirty="0">
                  <a:latin typeface="Times New Roman" panose="02020603050405020304" pitchFamily="18" charset="0"/>
                  <a:ea typeface="宋体" panose="02010600030101010101" pitchFamily="2" charset="-122"/>
                </a:rPr>
                <a:t>+</a:t>
              </a:r>
              <a:endParaRPr lang="en-US" altLang="zh-CN" sz="1800" b="1" dirty="0">
                <a:latin typeface="Times New Roman" panose="02020603050405020304" pitchFamily="18" charset="0"/>
                <a:ea typeface="宋体" panose="02010600030101010101" pitchFamily="2" charset="-122"/>
              </a:endParaRPr>
            </a:p>
          </p:txBody>
        </p:sp>
        <p:sp>
          <p:nvSpPr>
            <p:cNvPr id="112696" name="Rectangle 70"/>
            <p:cNvSpPr/>
            <p:nvPr/>
          </p:nvSpPr>
          <p:spPr>
            <a:xfrm>
              <a:off x="2048" y="2745"/>
              <a:ext cx="197" cy="232"/>
            </a:xfrm>
            <a:prstGeom prst="rect">
              <a:avLst/>
            </a:prstGeom>
            <a:noFill/>
            <a:ln w="9525">
              <a:noFill/>
            </a:ln>
          </p:spPr>
          <p:txBody>
            <a:bodyPr wrap="none" anchor="t" anchorCtr="0">
              <a:spAutoFit/>
            </a:bodyPr>
            <a:p>
              <a:r>
                <a:rPr lang="en-US" altLang="zh-CN" sz="1800" b="1" dirty="0">
                  <a:latin typeface="Times New Roman" panose="02020603050405020304" pitchFamily="18" charset="0"/>
                  <a:ea typeface="宋体" panose="02010600030101010101" pitchFamily="2" charset="-122"/>
                </a:rPr>
                <a:t>+</a:t>
              </a:r>
              <a:endParaRPr lang="en-US" altLang="zh-CN" sz="1800" b="1" dirty="0">
                <a:latin typeface="Times New Roman" panose="02020603050405020304" pitchFamily="18" charset="0"/>
                <a:ea typeface="宋体" panose="02010600030101010101" pitchFamily="2" charset="-122"/>
              </a:endParaRPr>
            </a:p>
          </p:txBody>
        </p:sp>
        <p:sp>
          <p:nvSpPr>
            <p:cNvPr id="112697" name="Rectangle 71"/>
            <p:cNvSpPr/>
            <p:nvPr/>
          </p:nvSpPr>
          <p:spPr>
            <a:xfrm>
              <a:off x="1837" y="2383"/>
              <a:ext cx="187" cy="232"/>
            </a:xfrm>
            <a:prstGeom prst="rect">
              <a:avLst/>
            </a:prstGeom>
            <a:noFill/>
            <a:ln w="9525">
              <a:noFill/>
            </a:ln>
          </p:spPr>
          <p:txBody>
            <a:bodyPr wrap="none" anchor="t" anchorCtr="0">
              <a:spAutoFit/>
            </a:bodyPr>
            <a:p>
              <a:r>
                <a:rPr lang="zh-CN" altLang="en-US" sz="1800" dirty="0">
                  <a:latin typeface="Times New Roman" panose="02020603050405020304" pitchFamily="18" charset="0"/>
                  <a:ea typeface="宋体" panose="02010600030101010101" pitchFamily="2" charset="-122"/>
                </a:rPr>
                <a:t>*</a:t>
              </a:r>
              <a:endParaRPr lang="zh-CN" altLang="en-US" sz="1800" dirty="0">
                <a:latin typeface="Times New Roman" panose="02020603050405020304" pitchFamily="18" charset="0"/>
                <a:ea typeface="宋体" panose="02010600030101010101" pitchFamily="2" charset="-122"/>
              </a:endParaRPr>
            </a:p>
          </p:txBody>
        </p:sp>
        <p:sp>
          <p:nvSpPr>
            <p:cNvPr id="112698" name="Rectangle 72"/>
            <p:cNvSpPr/>
            <p:nvPr/>
          </p:nvSpPr>
          <p:spPr>
            <a:xfrm>
              <a:off x="975" y="2745"/>
              <a:ext cx="187" cy="232"/>
            </a:xfrm>
            <a:prstGeom prst="rect">
              <a:avLst/>
            </a:prstGeom>
            <a:noFill/>
            <a:ln w="9525">
              <a:noFill/>
            </a:ln>
          </p:spPr>
          <p:txBody>
            <a:bodyPr wrap="none" anchor="t" anchorCtr="0">
              <a:spAutoFit/>
            </a:bodyPr>
            <a:p>
              <a:r>
                <a:rPr lang="en-US" altLang="zh-CN" sz="1800" b="1" dirty="0">
                  <a:latin typeface="Times New Roman" panose="02020603050405020304" pitchFamily="18" charset="0"/>
                  <a:ea typeface="宋体" panose="02010600030101010101" pitchFamily="2" charset="-122"/>
                </a:rPr>
                <a:t>a</a:t>
              </a:r>
              <a:endParaRPr lang="en-US" altLang="zh-CN" sz="1800" b="1" dirty="0">
                <a:latin typeface="Times New Roman" panose="02020603050405020304" pitchFamily="18" charset="0"/>
                <a:ea typeface="宋体" panose="02010600030101010101" pitchFamily="2" charset="-122"/>
              </a:endParaRPr>
            </a:p>
          </p:txBody>
        </p:sp>
        <p:sp>
          <p:nvSpPr>
            <p:cNvPr id="112699" name="Rectangle 73"/>
            <p:cNvSpPr/>
            <p:nvPr/>
          </p:nvSpPr>
          <p:spPr>
            <a:xfrm>
              <a:off x="1369" y="2745"/>
              <a:ext cx="195" cy="232"/>
            </a:xfrm>
            <a:prstGeom prst="rect">
              <a:avLst/>
            </a:prstGeom>
            <a:noFill/>
            <a:ln w="9525">
              <a:noFill/>
            </a:ln>
          </p:spPr>
          <p:txBody>
            <a:bodyPr wrap="none" anchor="t" anchorCtr="0">
              <a:spAutoFit/>
            </a:bodyPr>
            <a:p>
              <a:r>
                <a:rPr lang="en-US" altLang="zh-CN" sz="1800" b="1" dirty="0">
                  <a:latin typeface="Times New Roman" panose="02020603050405020304" pitchFamily="18" charset="0"/>
                  <a:ea typeface="宋体" panose="02010600030101010101" pitchFamily="2" charset="-122"/>
                </a:rPr>
                <a:t>b</a:t>
              </a:r>
              <a:endParaRPr lang="en-US" altLang="zh-CN" sz="1800" b="1" dirty="0">
                <a:latin typeface="Times New Roman" panose="02020603050405020304" pitchFamily="18" charset="0"/>
                <a:ea typeface="宋体" panose="02010600030101010101" pitchFamily="2" charset="-122"/>
              </a:endParaRPr>
            </a:p>
          </p:txBody>
        </p:sp>
        <p:sp>
          <p:nvSpPr>
            <p:cNvPr id="112700" name="Rectangle 74"/>
            <p:cNvSpPr/>
            <p:nvPr/>
          </p:nvSpPr>
          <p:spPr>
            <a:xfrm>
              <a:off x="1655" y="2750"/>
              <a:ext cx="195" cy="232"/>
            </a:xfrm>
            <a:prstGeom prst="rect">
              <a:avLst/>
            </a:prstGeom>
            <a:noFill/>
            <a:ln w="9525">
              <a:noFill/>
            </a:ln>
          </p:spPr>
          <p:txBody>
            <a:bodyPr wrap="none" anchor="t" anchorCtr="0">
              <a:spAutoFit/>
            </a:bodyPr>
            <a:p>
              <a:r>
                <a:rPr lang="en-US" altLang="zh-CN" sz="1800" b="1" dirty="0">
                  <a:latin typeface="Times New Roman" panose="02020603050405020304" pitchFamily="18" charset="0"/>
                  <a:ea typeface="宋体" panose="02010600030101010101" pitchFamily="2" charset="-122"/>
                </a:rPr>
                <a:t>b</a:t>
              </a:r>
              <a:endParaRPr lang="en-US" altLang="zh-CN" sz="1800" b="1" dirty="0">
                <a:latin typeface="Times New Roman" panose="02020603050405020304" pitchFamily="18" charset="0"/>
                <a:ea typeface="宋体" panose="02010600030101010101" pitchFamily="2" charset="-122"/>
              </a:endParaRPr>
            </a:p>
          </p:txBody>
        </p:sp>
        <p:sp>
          <p:nvSpPr>
            <p:cNvPr id="112701" name="Rectangle 75"/>
            <p:cNvSpPr/>
            <p:nvPr/>
          </p:nvSpPr>
          <p:spPr>
            <a:xfrm>
              <a:off x="2428" y="2745"/>
              <a:ext cx="179" cy="232"/>
            </a:xfrm>
            <a:prstGeom prst="rect">
              <a:avLst/>
            </a:prstGeom>
            <a:noFill/>
            <a:ln w="9525">
              <a:noFill/>
            </a:ln>
          </p:spPr>
          <p:txBody>
            <a:bodyPr wrap="none" anchor="t" anchorCtr="0">
              <a:spAutoFit/>
            </a:bodyPr>
            <a:p>
              <a:r>
                <a:rPr lang="en-US" altLang="zh-CN" sz="1800" b="1" dirty="0">
                  <a:latin typeface="Times New Roman" panose="02020603050405020304" pitchFamily="18" charset="0"/>
                  <a:ea typeface="宋体" panose="02010600030101010101" pitchFamily="2" charset="-122"/>
                </a:rPr>
                <a:t>c</a:t>
              </a:r>
              <a:endParaRPr lang="en-US" altLang="zh-CN" sz="1800" b="1" dirty="0">
                <a:latin typeface="Times New Roman" panose="02020603050405020304" pitchFamily="18" charset="0"/>
                <a:ea typeface="宋体" panose="02010600030101010101" pitchFamily="2" charset="-122"/>
              </a:endParaRPr>
            </a:p>
          </p:txBody>
        </p:sp>
        <p:sp>
          <p:nvSpPr>
            <p:cNvPr id="112702" name="Rectangle 76"/>
            <p:cNvSpPr/>
            <p:nvPr/>
          </p:nvSpPr>
          <p:spPr>
            <a:xfrm>
              <a:off x="1837" y="3113"/>
              <a:ext cx="179" cy="232"/>
            </a:xfrm>
            <a:prstGeom prst="rect">
              <a:avLst/>
            </a:prstGeom>
            <a:noFill/>
            <a:ln w="9525">
              <a:noFill/>
            </a:ln>
          </p:spPr>
          <p:txBody>
            <a:bodyPr wrap="none" anchor="t" anchorCtr="0">
              <a:spAutoFit/>
            </a:bodyPr>
            <a:p>
              <a:r>
                <a:rPr lang="en-US" altLang="zh-CN" sz="1800" b="1" dirty="0">
                  <a:latin typeface="Times New Roman" panose="02020603050405020304" pitchFamily="18" charset="0"/>
                  <a:ea typeface="宋体" panose="02010600030101010101" pitchFamily="2" charset="-122"/>
                </a:rPr>
                <a:t>c</a:t>
              </a:r>
              <a:endParaRPr lang="en-US" altLang="zh-CN" sz="1800" b="1" dirty="0">
                <a:latin typeface="Times New Roman" panose="02020603050405020304" pitchFamily="18" charset="0"/>
                <a:ea typeface="宋体" panose="02010600030101010101" pitchFamily="2" charset="-122"/>
              </a:endParaRPr>
            </a:p>
          </p:txBody>
        </p:sp>
        <p:sp>
          <p:nvSpPr>
            <p:cNvPr id="112703" name="Rectangle 77"/>
            <p:cNvSpPr/>
            <p:nvPr/>
          </p:nvSpPr>
          <p:spPr>
            <a:xfrm>
              <a:off x="2789" y="2745"/>
              <a:ext cx="231" cy="232"/>
            </a:xfrm>
            <a:prstGeom prst="rect">
              <a:avLst/>
            </a:prstGeom>
            <a:noFill/>
            <a:ln w="9525">
              <a:noFill/>
            </a:ln>
          </p:spPr>
          <p:txBody>
            <a:bodyPr wrap="none" anchor="t" anchorCtr="0">
              <a:spAutoFit/>
            </a:bodyPr>
            <a:p>
              <a:r>
                <a:rPr lang="zh-CN" altLang="en-US" sz="1800" b="1"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d</a:t>
              </a:r>
              <a:endParaRPr lang="en-US" altLang="zh-CN" sz="1800" b="1" dirty="0">
                <a:latin typeface="Times New Roman" panose="02020603050405020304" pitchFamily="18" charset="0"/>
                <a:ea typeface="宋体" panose="02010600030101010101" pitchFamily="2" charset="-122"/>
              </a:endParaRPr>
            </a:p>
          </p:txBody>
        </p:sp>
        <p:sp>
          <p:nvSpPr>
            <p:cNvPr id="112704" name="Rectangle 78"/>
            <p:cNvSpPr/>
            <p:nvPr/>
          </p:nvSpPr>
          <p:spPr>
            <a:xfrm>
              <a:off x="2200" y="3113"/>
              <a:ext cx="231" cy="232"/>
            </a:xfrm>
            <a:prstGeom prst="rect">
              <a:avLst/>
            </a:prstGeom>
            <a:noFill/>
            <a:ln w="9525">
              <a:noFill/>
            </a:ln>
          </p:spPr>
          <p:txBody>
            <a:bodyPr wrap="none" anchor="t" anchorCtr="0">
              <a:spAutoFit/>
            </a:bodyPr>
            <a:p>
              <a:r>
                <a:rPr lang="zh-CN" altLang="en-US" sz="1800" b="1"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d</a:t>
              </a:r>
              <a:endParaRPr lang="en-US" altLang="zh-CN" sz="1800" b="1" dirty="0">
                <a:latin typeface="Times New Roman" panose="02020603050405020304" pitchFamily="18" charset="0"/>
                <a:ea typeface="宋体" panose="02010600030101010101" pitchFamily="2" charset="-122"/>
              </a:endParaRPr>
            </a:p>
          </p:txBody>
        </p:sp>
        <p:sp>
          <p:nvSpPr>
            <p:cNvPr id="112705" name="Rectangle 79"/>
            <p:cNvSpPr/>
            <p:nvPr/>
          </p:nvSpPr>
          <p:spPr>
            <a:xfrm>
              <a:off x="3016" y="2341"/>
              <a:ext cx="179" cy="232"/>
            </a:xfrm>
            <a:prstGeom prst="rect">
              <a:avLst/>
            </a:prstGeom>
            <a:noFill/>
            <a:ln w="9525">
              <a:noFill/>
            </a:ln>
          </p:spPr>
          <p:txBody>
            <a:bodyPr wrap="none" anchor="t" anchorCtr="0">
              <a:spAutoFit/>
            </a:bodyPr>
            <a:p>
              <a:r>
                <a:rPr lang="en-US" altLang="zh-CN" sz="1800" b="1" dirty="0">
                  <a:latin typeface="Times New Roman" panose="02020603050405020304" pitchFamily="18" charset="0"/>
                  <a:ea typeface="宋体" panose="02010600030101010101" pitchFamily="2" charset="-122"/>
                </a:rPr>
                <a:t>e</a:t>
              </a:r>
              <a:endParaRPr lang="en-US" altLang="zh-CN" sz="1800" b="1" dirty="0">
                <a:latin typeface="Times New Roman" panose="02020603050405020304" pitchFamily="18" charset="0"/>
                <a:ea typeface="宋体" panose="02010600030101010101" pitchFamily="2" charset="-122"/>
              </a:endParaRPr>
            </a:p>
          </p:txBody>
        </p:sp>
        <p:sp>
          <p:nvSpPr>
            <p:cNvPr id="112706" name="Rectangle 80"/>
            <p:cNvSpPr/>
            <p:nvPr/>
          </p:nvSpPr>
          <p:spPr>
            <a:xfrm>
              <a:off x="3606" y="2341"/>
              <a:ext cx="179" cy="232"/>
            </a:xfrm>
            <a:prstGeom prst="rect">
              <a:avLst/>
            </a:prstGeom>
            <a:noFill/>
            <a:ln w="9525">
              <a:noFill/>
            </a:ln>
          </p:spPr>
          <p:txBody>
            <a:bodyPr wrap="none" anchor="t" anchorCtr="0">
              <a:spAutoFit/>
            </a:bodyPr>
            <a:p>
              <a:r>
                <a:rPr lang="en-US" altLang="zh-CN" sz="1800" b="1" dirty="0">
                  <a:latin typeface="Times New Roman" panose="02020603050405020304" pitchFamily="18" charset="0"/>
                  <a:ea typeface="宋体" panose="02010600030101010101" pitchFamily="2" charset="-122"/>
                </a:rPr>
                <a:t>c</a:t>
              </a:r>
              <a:endParaRPr lang="en-US" altLang="zh-CN" sz="1800" b="1" dirty="0">
                <a:latin typeface="Times New Roman" panose="02020603050405020304" pitchFamily="18" charset="0"/>
                <a:ea typeface="宋体" panose="02010600030101010101" pitchFamily="2" charset="-122"/>
              </a:endParaRPr>
            </a:p>
          </p:txBody>
        </p:sp>
        <p:sp>
          <p:nvSpPr>
            <p:cNvPr id="112707" name="Rectangle 81"/>
            <p:cNvSpPr/>
            <p:nvPr/>
          </p:nvSpPr>
          <p:spPr>
            <a:xfrm>
              <a:off x="3969" y="2341"/>
              <a:ext cx="231" cy="232"/>
            </a:xfrm>
            <a:prstGeom prst="rect">
              <a:avLst/>
            </a:prstGeom>
            <a:noFill/>
            <a:ln w="9525">
              <a:noFill/>
            </a:ln>
          </p:spPr>
          <p:txBody>
            <a:bodyPr wrap="none" anchor="t" anchorCtr="0">
              <a:spAutoFit/>
            </a:bodyPr>
            <a:p>
              <a:r>
                <a:rPr lang="zh-CN" altLang="en-US" sz="1800" b="1"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d</a:t>
              </a:r>
              <a:endParaRPr lang="en-US" altLang="zh-CN" sz="1800" b="1" dirty="0">
                <a:latin typeface="Times New Roman" panose="02020603050405020304" pitchFamily="18" charset="0"/>
                <a:ea typeface="宋体" panose="02010600030101010101" pitchFamily="2" charset="-122"/>
              </a:endParaRPr>
            </a:p>
          </p:txBody>
        </p:sp>
      </p:grpSp>
      <p:sp>
        <p:nvSpPr>
          <p:cNvPr id="6" name="圆角矩形 5"/>
          <p:cNvSpPr/>
          <p:nvPr/>
        </p:nvSpPr>
        <p:spPr>
          <a:xfrm>
            <a:off x="4236085" y="4224655"/>
            <a:ext cx="1437005" cy="1007745"/>
          </a:xfrm>
          <a:prstGeom prst="roundRect">
            <a:avLst/>
          </a:prstGeom>
          <a:noFill/>
          <a:ln w="19050" cap="flat" cmpd="sng" algn="ctr">
            <a:solidFill>
              <a:srgbClr val="FF0000"/>
            </a:solidFill>
            <a:prstDash val="sysDot"/>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7" name="圆角矩形 6"/>
          <p:cNvSpPr/>
          <p:nvPr/>
        </p:nvSpPr>
        <p:spPr>
          <a:xfrm>
            <a:off x="6096000" y="3609975"/>
            <a:ext cx="1005205" cy="1007745"/>
          </a:xfrm>
          <a:prstGeom prst="roundRect">
            <a:avLst/>
          </a:prstGeom>
          <a:noFill/>
          <a:ln w="19050" cap="flat" cmpd="sng" algn="ctr">
            <a:solidFill>
              <a:srgbClr val="FF0000"/>
            </a:solidFill>
            <a:prstDash val="sysDot"/>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有向无环图是描述含有公共子式的表达式的</a:t>
            </a: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有效工具</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0" lvl="1" indent="0" algn="l" eaLnBrk="1" hangingPunct="1">
              <a:buClrTx/>
              <a:buSzTx/>
              <a:buFont typeface="Wingdings" panose="05000000000000000000" charset="0"/>
              <a:buNone/>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表达式((a +b ) * (b * (c + d)) + (c + d) * e) * ((c + d) * e)，用</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DAG</a:t>
            </a: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表示，比二叉树节省空间</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13668" name="Group 69"/>
          <p:cNvGrpSpPr/>
          <p:nvPr/>
        </p:nvGrpSpPr>
        <p:grpSpPr>
          <a:xfrm>
            <a:off x="6023610" y="2420620"/>
            <a:ext cx="3311525" cy="3443872"/>
            <a:chOff x="1837" y="663"/>
            <a:chExt cx="1859" cy="1860"/>
          </a:xfrm>
        </p:grpSpPr>
        <p:grpSp>
          <p:nvGrpSpPr>
            <p:cNvPr id="113669" name="Group 70"/>
            <p:cNvGrpSpPr/>
            <p:nvPr/>
          </p:nvGrpSpPr>
          <p:grpSpPr>
            <a:xfrm>
              <a:off x="1837" y="663"/>
              <a:ext cx="1859" cy="1860"/>
              <a:chOff x="3451" y="8462"/>
              <a:chExt cx="2504" cy="2446"/>
            </a:xfrm>
          </p:grpSpPr>
          <p:sp>
            <p:nvSpPr>
              <p:cNvPr id="113670" name="Oval 71"/>
              <p:cNvSpPr/>
              <p:nvPr/>
            </p:nvSpPr>
            <p:spPr>
              <a:xfrm>
                <a:off x="5173" y="8462"/>
                <a:ext cx="313" cy="272"/>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3671" name="Oval 72"/>
              <p:cNvSpPr/>
              <p:nvPr/>
            </p:nvSpPr>
            <p:spPr>
              <a:xfrm>
                <a:off x="5329" y="9549"/>
                <a:ext cx="313" cy="272"/>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3672" name="Oval 73"/>
              <p:cNvSpPr/>
              <p:nvPr/>
            </p:nvSpPr>
            <p:spPr>
              <a:xfrm>
                <a:off x="5016" y="10092"/>
                <a:ext cx="313"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3673" name="Oval 74"/>
              <p:cNvSpPr/>
              <p:nvPr/>
            </p:nvSpPr>
            <p:spPr>
              <a:xfrm>
                <a:off x="5642" y="10092"/>
                <a:ext cx="313"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3674" name="Oval 75"/>
              <p:cNvSpPr/>
              <p:nvPr/>
            </p:nvSpPr>
            <p:spPr>
              <a:xfrm>
                <a:off x="3765" y="10092"/>
                <a:ext cx="312" cy="272"/>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3675" name="Oval 76"/>
              <p:cNvSpPr/>
              <p:nvPr/>
            </p:nvSpPr>
            <p:spPr>
              <a:xfrm>
                <a:off x="4390" y="10092"/>
                <a:ext cx="313" cy="272"/>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3676" name="Line 77"/>
              <p:cNvSpPr/>
              <p:nvPr/>
            </p:nvSpPr>
            <p:spPr>
              <a:xfrm flipH="1">
                <a:off x="5173" y="9821"/>
                <a:ext cx="314" cy="271"/>
              </a:xfrm>
              <a:prstGeom prst="line">
                <a:avLst/>
              </a:prstGeom>
              <a:ln w="9525" cap="flat" cmpd="sng">
                <a:solidFill>
                  <a:srgbClr val="000000"/>
                </a:solidFill>
                <a:prstDash val="solid"/>
                <a:round/>
                <a:headEnd type="none" w="med" len="med"/>
                <a:tailEnd type="triangle" w="med" len="med"/>
              </a:ln>
            </p:spPr>
          </p:sp>
          <p:sp>
            <p:nvSpPr>
              <p:cNvPr id="113677" name="Line 78"/>
              <p:cNvSpPr/>
              <p:nvPr/>
            </p:nvSpPr>
            <p:spPr>
              <a:xfrm>
                <a:off x="5487" y="9821"/>
                <a:ext cx="313" cy="271"/>
              </a:xfrm>
              <a:prstGeom prst="line">
                <a:avLst/>
              </a:prstGeom>
              <a:ln w="9525" cap="flat" cmpd="sng">
                <a:solidFill>
                  <a:srgbClr val="000000"/>
                </a:solidFill>
                <a:prstDash val="solid"/>
                <a:round/>
                <a:headEnd type="none" w="med" len="med"/>
                <a:tailEnd type="triangle" w="med" len="med"/>
              </a:ln>
            </p:spPr>
          </p:sp>
          <p:sp>
            <p:nvSpPr>
              <p:cNvPr id="113678" name="Line 79"/>
              <p:cNvSpPr/>
              <p:nvPr/>
            </p:nvSpPr>
            <p:spPr>
              <a:xfrm flipH="1">
                <a:off x="3921" y="9821"/>
                <a:ext cx="313" cy="271"/>
              </a:xfrm>
              <a:prstGeom prst="line">
                <a:avLst/>
              </a:prstGeom>
              <a:ln w="9525" cap="flat" cmpd="sng">
                <a:solidFill>
                  <a:srgbClr val="000000"/>
                </a:solidFill>
                <a:prstDash val="solid"/>
                <a:round/>
                <a:headEnd type="none" w="med" len="med"/>
                <a:tailEnd type="triangle" w="med" len="med"/>
              </a:ln>
            </p:spPr>
          </p:sp>
          <p:sp>
            <p:nvSpPr>
              <p:cNvPr id="113679" name="Line 80"/>
              <p:cNvSpPr/>
              <p:nvPr/>
            </p:nvSpPr>
            <p:spPr>
              <a:xfrm>
                <a:off x="4234" y="9821"/>
                <a:ext cx="313" cy="271"/>
              </a:xfrm>
              <a:prstGeom prst="line">
                <a:avLst/>
              </a:prstGeom>
              <a:ln w="9525" cap="flat" cmpd="sng">
                <a:solidFill>
                  <a:srgbClr val="000000"/>
                </a:solidFill>
                <a:prstDash val="solid"/>
                <a:round/>
                <a:headEnd type="none" w="med" len="med"/>
                <a:tailEnd type="triangle" w="med" len="med"/>
              </a:ln>
            </p:spPr>
          </p:sp>
          <p:sp>
            <p:nvSpPr>
              <p:cNvPr id="113680" name="Oval 81"/>
              <p:cNvSpPr/>
              <p:nvPr/>
            </p:nvSpPr>
            <p:spPr>
              <a:xfrm>
                <a:off x="4077" y="10636"/>
                <a:ext cx="313" cy="272"/>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3681" name="Oval 82"/>
              <p:cNvSpPr/>
              <p:nvPr/>
            </p:nvSpPr>
            <p:spPr>
              <a:xfrm>
                <a:off x="4077" y="9549"/>
                <a:ext cx="313"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3682" name="Oval 83"/>
              <p:cNvSpPr/>
              <p:nvPr/>
            </p:nvSpPr>
            <p:spPr>
              <a:xfrm>
                <a:off x="3451" y="10636"/>
                <a:ext cx="313"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3683" name="Oval 84"/>
              <p:cNvSpPr/>
              <p:nvPr/>
            </p:nvSpPr>
            <p:spPr>
              <a:xfrm>
                <a:off x="4703" y="9005"/>
                <a:ext cx="313" cy="272"/>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3684" name="Line 85"/>
              <p:cNvSpPr/>
              <p:nvPr/>
            </p:nvSpPr>
            <p:spPr>
              <a:xfrm flipH="1">
                <a:off x="3608" y="10364"/>
                <a:ext cx="312" cy="271"/>
              </a:xfrm>
              <a:prstGeom prst="line">
                <a:avLst/>
              </a:prstGeom>
              <a:ln w="9525" cap="flat" cmpd="sng">
                <a:solidFill>
                  <a:srgbClr val="000000"/>
                </a:solidFill>
                <a:prstDash val="solid"/>
                <a:round/>
                <a:headEnd type="none" w="med" len="med"/>
                <a:tailEnd type="triangle" w="med" len="med"/>
              </a:ln>
            </p:spPr>
          </p:sp>
          <p:sp>
            <p:nvSpPr>
              <p:cNvPr id="113685" name="Line 86"/>
              <p:cNvSpPr/>
              <p:nvPr/>
            </p:nvSpPr>
            <p:spPr>
              <a:xfrm>
                <a:off x="3920" y="10364"/>
                <a:ext cx="313" cy="271"/>
              </a:xfrm>
              <a:prstGeom prst="line">
                <a:avLst/>
              </a:prstGeom>
              <a:ln w="9525" cap="flat" cmpd="sng">
                <a:solidFill>
                  <a:srgbClr val="000000"/>
                </a:solidFill>
                <a:prstDash val="solid"/>
                <a:round/>
                <a:headEnd type="none" w="med" len="med"/>
                <a:tailEnd type="triangle" w="med" len="med"/>
              </a:ln>
            </p:spPr>
          </p:sp>
          <p:sp>
            <p:nvSpPr>
              <p:cNvPr id="113686" name="Line 87"/>
              <p:cNvSpPr/>
              <p:nvPr/>
            </p:nvSpPr>
            <p:spPr>
              <a:xfrm flipH="1">
                <a:off x="4860" y="10364"/>
                <a:ext cx="313" cy="272"/>
              </a:xfrm>
              <a:prstGeom prst="line">
                <a:avLst/>
              </a:prstGeom>
              <a:ln w="9525" cap="flat" cmpd="sng">
                <a:solidFill>
                  <a:srgbClr val="000000"/>
                </a:solidFill>
                <a:prstDash val="solid"/>
                <a:round/>
                <a:headEnd type="none" w="med" len="med"/>
                <a:tailEnd type="triangle" w="med" len="med"/>
              </a:ln>
            </p:spPr>
          </p:sp>
          <p:sp>
            <p:nvSpPr>
              <p:cNvPr id="113687" name="Line 88"/>
              <p:cNvSpPr/>
              <p:nvPr/>
            </p:nvSpPr>
            <p:spPr>
              <a:xfrm>
                <a:off x="5173" y="10364"/>
                <a:ext cx="312" cy="272"/>
              </a:xfrm>
              <a:prstGeom prst="line">
                <a:avLst/>
              </a:prstGeom>
              <a:ln w="9525" cap="flat" cmpd="sng">
                <a:solidFill>
                  <a:srgbClr val="000000"/>
                </a:solidFill>
                <a:prstDash val="solid"/>
                <a:round/>
                <a:headEnd type="none" w="med" len="med"/>
                <a:tailEnd type="triangle" w="med" len="med"/>
              </a:ln>
            </p:spPr>
          </p:sp>
          <p:sp>
            <p:nvSpPr>
              <p:cNvPr id="113688" name="Line 89"/>
              <p:cNvSpPr/>
              <p:nvPr/>
            </p:nvSpPr>
            <p:spPr>
              <a:xfrm flipH="1">
                <a:off x="4233" y="10364"/>
                <a:ext cx="313" cy="272"/>
              </a:xfrm>
              <a:prstGeom prst="line">
                <a:avLst/>
              </a:prstGeom>
              <a:ln w="9525" cap="flat" cmpd="sng">
                <a:solidFill>
                  <a:srgbClr val="000000"/>
                </a:solidFill>
                <a:prstDash val="solid"/>
                <a:round/>
                <a:headEnd type="none" w="med" len="med"/>
                <a:tailEnd type="triangle" w="med" len="med"/>
              </a:ln>
            </p:spPr>
          </p:sp>
          <p:sp>
            <p:nvSpPr>
              <p:cNvPr id="113689" name="Oval 90"/>
              <p:cNvSpPr/>
              <p:nvPr/>
            </p:nvSpPr>
            <p:spPr>
              <a:xfrm>
                <a:off x="5329" y="10636"/>
                <a:ext cx="313" cy="272"/>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3690" name="Oval 91"/>
              <p:cNvSpPr/>
              <p:nvPr/>
            </p:nvSpPr>
            <p:spPr>
              <a:xfrm>
                <a:off x="4702" y="10636"/>
                <a:ext cx="315" cy="271"/>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13691" name="Line 92"/>
              <p:cNvSpPr/>
              <p:nvPr/>
            </p:nvSpPr>
            <p:spPr>
              <a:xfrm>
                <a:off x="4703" y="10228"/>
                <a:ext cx="313" cy="0"/>
              </a:xfrm>
              <a:prstGeom prst="line">
                <a:avLst/>
              </a:prstGeom>
              <a:ln w="9525" cap="flat" cmpd="sng">
                <a:solidFill>
                  <a:srgbClr val="000000"/>
                </a:solidFill>
                <a:prstDash val="solid"/>
                <a:round/>
                <a:headEnd type="none" w="med" len="med"/>
                <a:tailEnd type="triangle" w="med" len="med"/>
              </a:ln>
            </p:spPr>
          </p:sp>
          <p:sp>
            <p:nvSpPr>
              <p:cNvPr id="113692" name="Line 93"/>
              <p:cNvSpPr/>
              <p:nvPr/>
            </p:nvSpPr>
            <p:spPr>
              <a:xfrm flipH="1">
                <a:off x="4233" y="9277"/>
                <a:ext cx="627" cy="272"/>
              </a:xfrm>
              <a:prstGeom prst="line">
                <a:avLst/>
              </a:prstGeom>
              <a:ln w="9525" cap="flat" cmpd="sng">
                <a:solidFill>
                  <a:srgbClr val="000000"/>
                </a:solidFill>
                <a:prstDash val="solid"/>
                <a:round/>
                <a:headEnd type="none" w="med" len="med"/>
                <a:tailEnd type="triangle" w="med" len="med"/>
              </a:ln>
            </p:spPr>
          </p:sp>
          <p:sp>
            <p:nvSpPr>
              <p:cNvPr id="113693" name="Line 94"/>
              <p:cNvSpPr/>
              <p:nvPr/>
            </p:nvSpPr>
            <p:spPr>
              <a:xfrm>
                <a:off x="4860" y="9277"/>
                <a:ext cx="626" cy="272"/>
              </a:xfrm>
              <a:prstGeom prst="line">
                <a:avLst/>
              </a:prstGeom>
              <a:ln w="9525" cap="flat" cmpd="sng">
                <a:solidFill>
                  <a:srgbClr val="000000"/>
                </a:solidFill>
                <a:prstDash val="solid"/>
                <a:round/>
                <a:headEnd type="none" w="med" len="med"/>
                <a:tailEnd type="triangle" w="med" len="med"/>
              </a:ln>
            </p:spPr>
          </p:sp>
          <p:sp>
            <p:nvSpPr>
              <p:cNvPr id="113694" name="Line 95"/>
              <p:cNvSpPr/>
              <p:nvPr/>
            </p:nvSpPr>
            <p:spPr>
              <a:xfrm flipH="1">
                <a:off x="4860" y="8734"/>
                <a:ext cx="469" cy="271"/>
              </a:xfrm>
              <a:prstGeom prst="line">
                <a:avLst/>
              </a:prstGeom>
              <a:ln w="9525" cap="flat" cmpd="sng">
                <a:solidFill>
                  <a:srgbClr val="000000"/>
                </a:solidFill>
                <a:prstDash val="solid"/>
                <a:round/>
                <a:headEnd type="none" w="med" len="med"/>
                <a:tailEnd type="triangle" w="med" len="med"/>
              </a:ln>
            </p:spPr>
          </p:sp>
          <p:sp>
            <p:nvSpPr>
              <p:cNvPr id="113695" name="Freeform 96"/>
              <p:cNvSpPr/>
              <p:nvPr/>
            </p:nvSpPr>
            <p:spPr>
              <a:xfrm>
                <a:off x="5407" y="8721"/>
                <a:ext cx="131" cy="836"/>
              </a:xfrm>
              <a:custGeom>
                <a:avLst/>
                <a:gdLst/>
                <a:ahLst/>
                <a:cxnLst>
                  <a:cxn ang="0">
                    <a:pos x="0" y="0"/>
                  </a:cxn>
                  <a:cxn ang="0">
                    <a:pos x="76" y="481"/>
                  </a:cxn>
                </a:cxnLst>
                <a:pathLst>
                  <a:path w="150" h="960">
                    <a:moveTo>
                      <a:pt x="0" y="0"/>
                    </a:moveTo>
                    <a:lnTo>
                      <a:pt x="150" y="960"/>
                    </a:lnTo>
                  </a:path>
                </a:pathLst>
              </a:custGeom>
              <a:noFill/>
              <a:ln w="9525" cap="flat" cmpd="sng">
                <a:solidFill>
                  <a:srgbClr val="000000"/>
                </a:solidFill>
                <a:prstDash val="solid"/>
                <a:round/>
                <a:headEnd type="none" w="med" len="med"/>
                <a:tailEnd type="triangle" w="med" len="med"/>
              </a:ln>
            </p:spPr>
            <p:txBody>
              <a:bodyPr/>
              <a:p>
                <a:endParaRPr lang="zh-CN" altLang="en-US"/>
              </a:p>
            </p:txBody>
          </p:sp>
        </p:grpSp>
        <p:sp>
          <p:nvSpPr>
            <p:cNvPr id="113696" name="Rectangle 97"/>
            <p:cNvSpPr/>
            <p:nvPr/>
          </p:nvSpPr>
          <p:spPr>
            <a:xfrm>
              <a:off x="3146" y="663"/>
              <a:ext cx="187" cy="199"/>
            </a:xfrm>
            <a:prstGeom prst="rect">
              <a:avLst/>
            </a:prstGeom>
            <a:noFill/>
            <a:ln w="9525">
              <a:noFill/>
            </a:ln>
          </p:spPr>
          <p:txBody>
            <a:bodyPr wrap="square" anchor="t" anchorCtr="0">
              <a:spAutoFit/>
            </a:bodyPr>
            <a:p>
              <a:r>
                <a:rPr lang="zh-CN" altLang="en-US" sz="1800" dirty="0">
                  <a:latin typeface="Times New Roman" panose="02020603050405020304" pitchFamily="18" charset="0"/>
                  <a:ea typeface="宋体" panose="02010600030101010101" pitchFamily="2" charset="-122"/>
                </a:rPr>
                <a:t>*</a:t>
              </a:r>
              <a:endParaRPr lang="zh-CN" altLang="en-US" sz="1800" dirty="0">
                <a:latin typeface="Times New Roman" panose="02020603050405020304" pitchFamily="18" charset="0"/>
                <a:ea typeface="宋体" panose="02010600030101010101" pitchFamily="2" charset="-122"/>
              </a:endParaRPr>
            </a:p>
          </p:txBody>
        </p:sp>
        <p:sp>
          <p:nvSpPr>
            <p:cNvPr id="113697" name="Rectangle 98"/>
            <p:cNvSpPr/>
            <p:nvPr/>
          </p:nvSpPr>
          <p:spPr>
            <a:xfrm>
              <a:off x="2789" y="1071"/>
              <a:ext cx="197" cy="199"/>
            </a:xfrm>
            <a:prstGeom prst="rect">
              <a:avLst/>
            </a:prstGeom>
            <a:noFill/>
            <a:ln w="9525">
              <a:noFill/>
            </a:ln>
          </p:spPr>
          <p:txBody>
            <a:bodyPr wrap="square" anchor="t" anchorCtr="0">
              <a:spAutoFit/>
            </a:bodyPr>
            <a:p>
              <a:r>
                <a:rPr lang="en-US" altLang="zh-CN" sz="1800" b="1" dirty="0">
                  <a:latin typeface="Times New Roman" panose="02020603050405020304" pitchFamily="18" charset="0"/>
                  <a:ea typeface="宋体" panose="02010600030101010101" pitchFamily="2" charset="-122"/>
                </a:rPr>
                <a:t>+</a:t>
              </a:r>
              <a:endParaRPr lang="en-US" altLang="zh-CN" sz="1800" b="1" dirty="0">
                <a:latin typeface="Times New Roman" panose="02020603050405020304" pitchFamily="18" charset="0"/>
                <a:ea typeface="宋体" panose="02010600030101010101" pitchFamily="2" charset="-122"/>
              </a:endParaRPr>
            </a:p>
          </p:txBody>
        </p:sp>
        <p:sp>
          <p:nvSpPr>
            <p:cNvPr id="113698" name="Rectangle 99"/>
            <p:cNvSpPr/>
            <p:nvPr/>
          </p:nvSpPr>
          <p:spPr>
            <a:xfrm>
              <a:off x="3470" y="1888"/>
              <a:ext cx="179" cy="199"/>
            </a:xfrm>
            <a:prstGeom prst="rect">
              <a:avLst/>
            </a:prstGeom>
            <a:noFill/>
            <a:ln w="9525">
              <a:noFill/>
            </a:ln>
          </p:spPr>
          <p:txBody>
            <a:bodyPr wrap="square" anchor="t" anchorCtr="0">
              <a:spAutoFit/>
            </a:bodyPr>
            <a:p>
              <a:r>
                <a:rPr lang="en-US" altLang="zh-CN" sz="1800" b="1" dirty="0">
                  <a:latin typeface="Times New Roman" panose="02020603050405020304" pitchFamily="18" charset="0"/>
                  <a:ea typeface="宋体" panose="02010600030101010101" pitchFamily="2" charset="-122"/>
                </a:rPr>
                <a:t>e</a:t>
              </a:r>
              <a:endParaRPr lang="en-US" altLang="zh-CN" sz="1800" b="1" dirty="0">
                <a:latin typeface="Times New Roman" panose="02020603050405020304" pitchFamily="18" charset="0"/>
                <a:ea typeface="宋体" panose="02010600030101010101" pitchFamily="2" charset="-122"/>
              </a:endParaRPr>
            </a:p>
          </p:txBody>
        </p:sp>
        <p:sp>
          <p:nvSpPr>
            <p:cNvPr id="113699" name="Rectangle 100"/>
            <p:cNvSpPr/>
            <p:nvPr/>
          </p:nvSpPr>
          <p:spPr>
            <a:xfrm>
              <a:off x="1851" y="2296"/>
              <a:ext cx="187" cy="199"/>
            </a:xfrm>
            <a:prstGeom prst="rect">
              <a:avLst/>
            </a:prstGeom>
            <a:noFill/>
            <a:ln w="9525">
              <a:noFill/>
            </a:ln>
          </p:spPr>
          <p:txBody>
            <a:bodyPr wrap="square" anchor="t" anchorCtr="0">
              <a:spAutoFit/>
            </a:bodyPr>
            <a:p>
              <a:r>
                <a:rPr lang="en-US" altLang="zh-CN" sz="1800" b="1" dirty="0">
                  <a:latin typeface="Times New Roman" panose="02020603050405020304" pitchFamily="18" charset="0"/>
                  <a:ea typeface="宋体" panose="02010600030101010101" pitchFamily="2" charset="-122"/>
                </a:rPr>
                <a:t>a</a:t>
              </a:r>
              <a:endParaRPr lang="en-US" altLang="zh-CN" sz="1800" b="1" dirty="0">
                <a:latin typeface="Times New Roman" panose="02020603050405020304" pitchFamily="18" charset="0"/>
                <a:ea typeface="宋体" panose="02010600030101010101" pitchFamily="2" charset="-122"/>
              </a:endParaRPr>
            </a:p>
          </p:txBody>
        </p:sp>
        <p:sp>
          <p:nvSpPr>
            <p:cNvPr id="113700" name="Rectangle 101"/>
            <p:cNvSpPr/>
            <p:nvPr/>
          </p:nvSpPr>
          <p:spPr>
            <a:xfrm>
              <a:off x="2321" y="2296"/>
              <a:ext cx="195" cy="199"/>
            </a:xfrm>
            <a:prstGeom prst="rect">
              <a:avLst/>
            </a:prstGeom>
            <a:noFill/>
            <a:ln w="9525">
              <a:noFill/>
            </a:ln>
          </p:spPr>
          <p:txBody>
            <a:bodyPr wrap="square" anchor="t" anchorCtr="0">
              <a:spAutoFit/>
            </a:bodyPr>
            <a:p>
              <a:r>
                <a:rPr lang="en-US" altLang="zh-CN" sz="1800" b="1" dirty="0">
                  <a:latin typeface="Times New Roman" panose="02020603050405020304" pitchFamily="18" charset="0"/>
                  <a:ea typeface="宋体" panose="02010600030101010101" pitchFamily="2" charset="-122"/>
                </a:rPr>
                <a:t>b</a:t>
              </a:r>
              <a:endParaRPr lang="en-US" altLang="zh-CN" sz="1800" b="1" dirty="0">
                <a:latin typeface="Times New Roman" panose="02020603050405020304" pitchFamily="18" charset="0"/>
                <a:ea typeface="宋体" panose="02010600030101010101" pitchFamily="2" charset="-122"/>
              </a:endParaRPr>
            </a:p>
          </p:txBody>
        </p:sp>
        <p:sp>
          <p:nvSpPr>
            <p:cNvPr id="113701" name="Rectangle 102"/>
            <p:cNvSpPr/>
            <p:nvPr/>
          </p:nvSpPr>
          <p:spPr>
            <a:xfrm>
              <a:off x="2789" y="2292"/>
              <a:ext cx="179" cy="199"/>
            </a:xfrm>
            <a:prstGeom prst="rect">
              <a:avLst/>
            </a:prstGeom>
            <a:noFill/>
            <a:ln w="9525">
              <a:noFill/>
            </a:ln>
          </p:spPr>
          <p:txBody>
            <a:bodyPr wrap="square" anchor="t" anchorCtr="0">
              <a:spAutoFit/>
            </a:bodyPr>
            <a:p>
              <a:r>
                <a:rPr lang="en-US" altLang="zh-CN" sz="1800" b="1" dirty="0">
                  <a:latin typeface="Times New Roman" panose="02020603050405020304" pitchFamily="18" charset="0"/>
                  <a:ea typeface="宋体" panose="02010600030101010101" pitchFamily="2" charset="-122"/>
                </a:rPr>
                <a:t>c</a:t>
              </a:r>
              <a:endParaRPr lang="en-US" altLang="zh-CN" sz="1800" b="1" dirty="0">
                <a:latin typeface="Times New Roman" panose="02020603050405020304" pitchFamily="18" charset="0"/>
                <a:ea typeface="宋体" panose="02010600030101010101" pitchFamily="2" charset="-122"/>
              </a:endParaRPr>
            </a:p>
          </p:txBody>
        </p:sp>
        <p:sp>
          <p:nvSpPr>
            <p:cNvPr id="113702" name="Rectangle 103"/>
            <p:cNvSpPr/>
            <p:nvPr/>
          </p:nvSpPr>
          <p:spPr>
            <a:xfrm>
              <a:off x="3198" y="2296"/>
              <a:ext cx="231" cy="199"/>
            </a:xfrm>
            <a:prstGeom prst="rect">
              <a:avLst/>
            </a:prstGeom>
            <a:noFill/>
            <a:ln w="9525">
              <a:noFill/>
            </a:ln>
          </p:spPr>
          <p:txBody>
            <a:bodyPr wrap="square" anchor="t" anchorCtr="0">
              <a:spAutoFit/>
            </a:bodyPr>
            <a:p>
              <a:r>
                <a:rPr lang="zh-CN" altLang="en-US" sz="1800" b="1"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d</a:t>
              </a:r>
              <a:endParaRPr lang="en-US" altLang="zh-CN" sz="1800" b="1" dirty="0">
                <a:latin typeface="Times New Roman" panose="02020603050405020304" pitchFamily="18" charset="0"/>
                <a:ea typeface="宋体" panose="02010600030101010101" pitchFamily="2" charset="-122"/>
              </a:endParaRPr>
            </a:p>
          </p:txBody>
        </p:sp>
        <p:sp>
          <p:nvSpPr>
            <p:cNvPr id="113703" name="Rectangle 104"/>
            <p:cNvSpPr/>
            <p:nvPr/>
          </p:nvSpPr>
          <p:spPr>
            <a:xfrm>
              <a:off x="2330" y="1480"/>
              <a:ext cx="187" cy="199"/>
            </a:xfrm>
            <a:prstGeom prst="rect">
              <a:avLst/>
            </a:prstGeom>
            <a:noFill/>
            <a:ln w="9525">
              <a:noFill/>
            </a:ln>
          </p:spPr>
          <p:txBody>
            <a:bodyPr wrap="square" anchor="t" anchorCtr="0">
              <a:spAutoFit/>
            </a:bodyPr>
            <a:p>
              <a:r>
                <a:rPr lang="zh-CN" altLang="en-US" sz="1800" dirty="0">
                  <a:latin typeface="Times New Roman" panose="02020603050405020304" pitchFamily="18" charset="0"/>
                  <a:ea typeface="宋体" panose="02010600030101010101" pitchFamily="2" charset="-122"/>
                </a:rPr>
                <a:t>*</a:t>
              </a:r>
              <a:endParaRPr lang="zh-CN" altLang="en-US" sz="1800" dirty="0">
                <a:latin typeface="Times New Roman" panose="02020603050405020304" pitchFamily="18" charset="0"/>
                <a:ea typeface="宋体" panose="02010600030101010101" pitchFamily="2" charset="-122"/>
              </a:endParaRPr>
            </a:p>
          </p:txBody>
        </p:sp>
        <p:sp>
          <p:nvSpPr>
            <p:cNvPr id="113704" name="Rectangle 105"/>
            <p:cNvSpPr/>
            <p:nvPr/>
          </p:nvSpPr>
          <p:spPr>
            <a:xfrm>
              <a:off x="2093" y="1888"/>
              <a:ext cx="197" cy="199"/>
            </a:xfrm>
            <a:prstGeom prst="rect">
              <a:avLst/>
            </a:prstGeom>
            <a:noFill/>
            <a:ln w="9525">
              <a:noFill/>
            </a:ln>
          </p:spPr>
          <p:txBody>
            <a:bodyPr wrap="square" anchor="t" anchorCtr="0">
              <a:spAutoFit/>
            </a:bodyPr>
            <a:p>
              <a:r>
                <a:rPr lang="en-US" altLang="zh-CN" sz="1800" b="1" dirty="0">
                  <a:latin typeface="Times New Roman" panose="02020603050405020304" pitchFamily="18" charset="0"/>
                  <a:ea typeface="宋体" panose="02010600030101010101" pitchFamily="2" charset="-122"/>
                </a:rPr>
                <a:t>+</a:t>
              </a:r>
              <a:endParaRPr lang="en-US" altLang="zh-CN" sz="1800" b="1" dirty="0">
                <a:latin typeface="Times New Roman" panose="02020603050405020304" pitchFamily="18" charset="0"/>
                <a:ea typeface="宋体" panose="02010600030101010101" pitchFamily="2" charset="-122"/>
              </a:endParaRPr>
            </a:p>
          </p:txBody>
        </p:sp>
        <p:sp>
          <p:nvSpPr>
            <p:cNvPr id="113705" name="Rectangle 106"/>
            <p:cNvSpPr/>
            <p:nvPr/>
          </p:nvSpPr>
          <p:spPr>
            <a:xfrm>
              <a:off x="3253" y="1480"/>
              <a:ext cx="187" cy="199"/>
            </a:xfrm>
            <a:prstGeom prst="rect">
              <a:avLst/>
            </a:prstGeom>
            <a:noFill/>
            <a:ln w="9525">
              <a:noFill/>
            </a:ln>
          </p:spPr>
          <p:txBody>
            <a:bodyPr wrap="square" anchor="t" anchorCtr="0">
              <a:spAutoFit/>
            </a:bodyPr>
            <a:p>
              <a:r>
                <a:rPr lang="zh-CN" altLang="en-US" sz="1800" dirty="0">
                  <a:latin typeface="Times New Roman" panose="02020603050405020304" pitchFamily="18" charset="0"/>
                  <a:ea typeface="宋体" panose="02010600030101010101" pitchFamily="2" charset="-122"/>
                </a:rPr>
                <a:t>*</a:t>
              </a:r>
              <a:endParaRPr lang="zh-CN" altLang="en-US" sz="1800" dirty="0">
                <a:latin typeface="Times New Roman" panose="02020603050405020304" pitchFamily="18" charset="0"/>
                <a:ea typeface="宋体" panose="02010600030101010101" pitchFamily="2" charset="-122"/>
              </a:endParaRPr>
            </a:p>
          </p:txBody>
        </p:sp>
        <p:sp>
          <p:nvSpPr>
            <p:cNvPr id="113706" name="Rectangle 107"/>
            <p:cNvSpPr/>
            <p:nvPr/>
          </p:nvSpPr>
          <p:spPr>
            <a:xfrm>
              <a:off x="3016" y="1888"/>
              <a:ext cx="197" cy="199"/>
            </a:xfrm>
            <a:prstGeom prst="rect">
              <a:avLst/>
            </a:prstGeom>
            <a:noFill/>
            <a:ln w="9525">
              <a:noFill/>
            </a:ln>
          </p:spPr>
          <p:txBody>
            <a:bodyPr wrap="square" anchor="t" anchorCtr="0">
              <a:spAutoFit/>
            </a:bodyPr>
            <a:p>
              <a:r>
                <a:rPr lang="en-US" altLang="zh-CN" sz="1800" b="1" dirty="0">
                  <a:latin typeface="Times New Roman" panose="02020603050405020304" pitchFamily="18" charset="0"/>
                  <a:ea typeface="宋体" panose="02010600030101010101" pitchFamily="2" charset="-122"/>
                </a:rPr>
                <a:t>+</a:t>
              </a:r>
              <a:endParaRPr lang="en-US" altLang="zh-CN" sz="1800" b="1" dirty="0">
                <a:latin typeface="Times New Roman" panose="02020603050405020304" pitchFamily="18" charset="0"/>
                <a:ea typeface="宋体" panose="02010600030101010101" pitchFamily="2" charset="-122"/>
              </a:endParaRPr>
            </a:p>
          </p:txBody>
        </p:sp>
        <p:sp>
          <p:nvSpPr>
            <p:cNvPr id="113707" name="Rectangle 108"/>
            <p:cNvSpPr/>
            <p:nvPr/>
          </p:nvSpPr>
          <p:spPr>
            <a:xfrm>
              <a:off x="2562" y="1888"/>
              <a:ext cx="187" cy="199"/>
            </a:xfrm>
            <a:prstGeom prst="rect">
              <a:avLst/>
            </a:prstGeom>
            <a:noFill/>
            <a:ln w="9525">
              <a:noFill/>
            </a:ln>
          </p:spPr>
          <p:txBody>
            <a:bodyPr wrap="square" anchor="t" anchorCtr="0">
              <a:spAutoFit/>
            </a:bodyPr>
            <a:p>
              <a:r>
                <a:rPr lang="zh-CN" altLang="en-US" sz="1800" dirty="0">
                  <a:latin typeface="Times New Roman" panose="02020603050405020304" pitchFamily="18" charset="0"/>
                  <a:ea typeface="宋体" panose="02010600030101010101" pitchFamily="2" charset="-122"/>
                </a:rPr>
                <a:t>*</a:t>
              </a:r>
              <a:endParaRPr lang="zh-CN" altLang="en-US" sz="1800" dirty="0">
                <a:latin typeface="Times New Roman" panose="02020603050405020304" pitchFamily="18" charset="0"/>
                <a:ea typeface="宋体" panose="02010600030101010101" pitchFamily="2" charset="-122"/>
              </a:endParaRPr>
            </a:p>
          </p:txBody>
        </p:sp>
      </p:grpSp>
      <p:sp>
        <p:nvSpPr>
          <p:cNvPr id="5" name="圆角矩形 4"/>
          <p:cNvSpPr/>
          <p:nvPr/>
        </p:nvSpPr>
        <p:spPr>
          <a:xfrm>
            <a:off x="7693025" y="3790315"/>
            <a:ext cx="1722755" cy="2196465"/>
          </a:xfrm>
          <a:prstGeom prst="roundRect">
            <a:avLst/>
          </a:prstGeom>
          <a:noFill/>
          <a:ln w="19050" cap="flat" cmpd="sng" algn="ctr">
            <a:solidFill>
              <a:srgbClr val="FF0000"/>
            </a:solidFill>
            <a:prstDash val="sysDot"/>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有向无环是一类具有代表性的图，主要用于研究工程项目的工序问题、工程时间进度问题等。</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一个工程(project)都可分为若干个称为活动(active)的子工程(或工序)，各个子工程受到一定的条件约束：</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某个子工程必须开始于另一个子工程完成之后；</a:t>
            </a: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整个工程有一个开始点(起点)和一个终点。</a:t>
            </a: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一个工程活动可以用有向无环图来描述</a:t>
            </a:r>
            <a:endParaRPr lang="zh-CN" altLang="en-US" sz="2400" dirty="0">
              <a:latin typeface="黑体" panose="02010609060101010101" pitchFamily="2" charset="-122"/>
              <a:ea typeface="黑体" panose="02010609060101010101" pitchFamily="2" charset="-122"/>
              <a:cs typeface="+mn-ea"/>
            </a:endParaRPr>
          </a:p>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对于一个工程的实施，人们一般关心两个问题</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工程能否顺利进行（是否有环），用</a:t>
            </a:r>
            <a:r>
              <a:rPr lang="zh-CN" altLang="en-US" dirty="0">
                <a:solidFill>
                  <a:srgbClr val="FF0000"/>
                </a:solidFill>
                <a:latin typeface="黑体" panose="02010609060101010101" pitchFamily="2" charset="-122"/>
                <a:ea typeface="黑体" panose="02010609060101010101" pitchFamily="2" charset="-122"/>
                <a:cs typeface="+mn-ea"/>
                <a:sym typeface="+mn-ea"/>
              </a:rPr>
              <a:t>拓扑排序</a:t>
            </a:r>
            <a:r>
              <a:rPr lang="zh-CN" altLang="en-US" dirty="0">
                <a:latin typeface="黑体" panose="02010609060101010101" pitchFamily="2" charset="-122"/>
                <a:ea typeface="黑体" panose="02010609060101010101" pitchFamily="2" charset="-122"/>
                <a:cs typeface="+mn-ea"/>
                <a:sym typeface="+mn-ea"/>
              </a:rPr>
              <a:t>来解决</a:t>
            </a:r>
            <a:endParaRPr lang="zh-CN" altLang="en-US"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rPr>
              <a:t>估算整个工程完成所必须的最短时间，用</a:t>
            </a:r>
            <a:r>
              <a:rPr lang="zh-CN" altLang="en-US" dirty="0">
                <a:solidFill>
                  <a:srgbClr val="FF0000"/>
                </a:solidFill>
                <a:latin typeface="黑体" panose="02010609060101010101" pitchFamily="2" charset="-122"/>
                <a:ea typeface="黑体" panose="02010609060101010101" pitchFamily="2" charset="-122"/>
                <a:cs typeface="+mn-ea"/>
              </a:rPr>
              <a:t>关键路径</a:t>
            </a:r>
            <a:r>
              <a:rPr lang="zh-CN" altLang="en-US" dirty="0">
                <a:latin typeface="黑体" panose="02010609060101010101" pitchFamily="2" charset="-122"/>
                <a:ea typeface="黑体" panose="02010609060101010101" pitchFamily="2" charset="-122"/>
                <a:cs typeface="+mn-ea"/>
              </a:rPr>
              <a:t>来</a:t>
            </a:r>
            <a:r>
              <a:rPr lang="zh-CN" altLang="en-US" dirty="0">
                <a:latin typeface="黑体" panose="02010609060101010101" pitchFamily="2" charset="-122"/>
                <a:ea typeface="黑体" panose="02010609060101010101" pitchFamily="2" charset="-122"/>
                <a:cs typeface="+mn-ea"/>
              </a:rPr>
              <a:t>解决</a:t>
            </a:r>
            <a:endParaRPr lang="zh-CN" altLang="en-US" dirty="0">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拓扑排序，是指由某个集合的一个偏序得到该集合的一个全序，这种操作称为拓扑</a:t>
            </a: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排序。</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r>
              <a:rPr lang="zh-CN" altLang="zh-CN"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拓扑排序是一种操作</a:t>
            </a:r>
            <a:r>
              <a:rPr lang="zh-CN" altLang="en-US" sz="2800" dirty="0">
                <a:latin typeface="宋体" panose="02010600030101010101" pitchFamily="2" charset="-122"/>
                <a:ea typeface="黑体" panose="02010609060101010101" pitchFamily="2" charset="-122"/>
                <a:cs typeface="黑体" panose="02010609060101010101" pitchFamily="2" charset="-122"/>
                <a:sym typeface="Symbol" panose="05050102010706020507" pitchFamily="18" charset="2"/>
              </a:rPr>
              <a:t>，通过拓扑排序得到集合的</a:t>
            </a:r>
            <a:r>
              <a:rPr lang="zh-CN" altLang="en-US" sz="2800" dirty="0">
                <a:solidFill>
                  <a:srgbClr val="FF0000"/>
                </a:solidFill>
                <a:latin typeface="宋体" panose="02010600030101010101" pitchFamily="2" charset="-122"/>
                <a:ea typeface="黑体" panose="02010609060101010101" pitchFamily="2" charset="-122"/>
                <a:cs typeface="黑体" panose="02010609060101010101" pitchFamily="2" charset="-122"/>
                <a:sym typeface="Symbol" panose="05050102010706020507" pitchFamily="18" charset="2"/>
              </a:rPr>
              <a:t>全序称为拓扑有</a:t>
            </a:r>
            <a:r>
              <a:rPr lang="zh-CN" altLang="zh-CN" sz="28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序</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偏序的概念，</a:t>
            </a:r>
            <a:r>
              <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若集合X上的关系R是：</a:t>
            </a:r>
            <a:endPar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自反的：x R x</a:t>
            </a:r>
            <a:endParaRPr lang="zh-CN" altLang="en-US" sz="2400" b="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反对称的：x R y and y R x =&gt; x=y</a:t>
            </a:r>
            <a:endParaRPr lang="zh-CN" altLang="en-US" sz="2400" b="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传递的：xRy &amp; yRz =&gt; xRz</a:t>
            </a:r>
            <a:endParaRPr lang="zh-CN" altLang="en-US" sz="2400" b="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则称R是集合X上的偏序关系，例如集合中</a:t>
            </a: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的小于等于关系</a:t>
            </a:r>
            <a:endParaRPr lang="zh-CN" altLang="en-US" sz="2400" b="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若P是A上的一个偏序关系，我们用a≤b来表示（a,b）∈P</a:t>
            </a:r>
            <a:endParaRPr lang="zh-CN" altLang="en-US" sz="2400" b="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740025"/>
          </a:xfrm>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全序的概念，</a:t>
            </a:r>
            <a:r>
              <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设关系R是集合X上的偏序，如果对每个x,yX，必有xRy或者yRx，则称R是X上的全序关系</a:t>
            </a:r>
            <a:endPar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偏序指集合中仅有部分成员之间可比较</a:t>
            </a:r>
            <a:endParaRPr lang="zh-CN" altLang="en-US" sz="240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全序指集合中全体成员之间均可比较</a:t>
            </a:r>
            <a:endParaRPr lang="zh-CN" altLang="en-US" sz="2400" dirty="0">
              <a:latin typeface="黑体" panose="02010609060101010101" pitchFamily="2" charset="-122"/>
              <a:ea typeface="黑体" panose="02010609060101010101" pitchFamily="2" charset="-122"/>
              <a:cs typeface="+mn-ea"/>
              <a:sym typeface="Symbol" panose="05050102010706020507" pitchFamily="18" charset="2"/>
            </a:endParaRPr>
          </a:p>
          <a:p>
            <a:pPr marL="0" lvl="1" indent="0" algn="l" eaLnBrk="1" hangingPunct="1">
              <a:buClrTx/>
              <a:buSzTx/>
              <a:buFont typeface="Wingdings" panose="05000000000000000000" charset="0"/>
              <a:buNone/>
            </a:pPr>
            <a:r>
              <a:rPr lang="zh-CN" altLang="zh-CN"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例如下图是一个偏序关系，因为1,2没有先后关系，如果人为地增加1,2先后关系，如1先于2，则右图变为全序，称为拓扑有序</a:t>
            </a:r>
            <a:endParaRPr lang="zh-CN" altLang="zh-CN" b="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lvl="1" algn="l" eaLnBrk="1" hangingPunct="1">
              <a:buClrTx/>
              <a:buSzTx/>
              <a:buChar char="•"/>
            </a:pPr>
            <a:endParaRPr lang="zh-CN" altLang="en-US" sz="2400" b="0" dirty="0">
              <a:latin typeface="黑体" panose="02010609060101010101" pitchFamily="2" charset="-122"/>
              <a:ea typeface="黑体" panose="02010609060101010101" pitchFamily="2" charset="-122"/>
              <a:cs typeface="+mn-ea"/>
              <a:sym typeface="Symbol" panose="05050102010706020507" pitchFamily="18" charset="2"/>
            </a:endParaRPr>
          </a:p>
          <a:p>
            <a:pPr marL="457200" lvl="1" indent="-457200" algn="l" eaLnBrk="1" hangingPunct="1">
              <a:buClrTx/>
              <a:buSzTx/>
              <a:buFont typeface="Wingdings" panose="05000000000000000000" charset="0"/>
              <a:buChar char="l"/>
            </a:pP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16740" name="Group 4"/>
          <p:cNvGrpSpPr/>
          <p:nvPr/>
        </p:nvGrpSpPr>
        <p:grpSpPr>
          <a:xfrm>
            <a:off x="1664335" y="3790950"/>
            <a:ext cx="2819400" cy="2286000"/>
            <a:chOff x="3984" y="2880"/>
            <a:chExt cx="1776" cy="1440"/>
          </a:xfrm>
        </p:grpSpPr>
        <p:sp>
          <p:nvSpPr>
            <p:cNvPr id="116741" name="Line 5"/>
            <p:cNvSpPr/>
            <p:nvPr/>
          </p:nvSpPr>
          <p:spPr>
            <a:xfrm flipH="1" flipV="1">
              <a:off x="4961" y="3060"/>
              <a:ext cx="577" cy="360"/>
            </a:xfrm>
            <a:prstGeom prst="line">
              <a:avLst/>
            </a:prstGeom>
            <a:ln w="38100" cap="flat" cmpd="sng">
              <a:solidFill>
                <a:srgbClr val="009900"/>
              </a:solidFill>
              <a:prstDash val="solid"/>
              <a:round/>
              <a:headEnd type="triangle" w="med" len="med"/>
              <a:tailEnd type="none" w="med" len="med"/>
            </a:ln>
          </p:spPr>
        </p:sp>
        <p:sp>
          <p:nvSpPr>
            <p:cNvPr id="116742" name="Line 6"/>
            <p:cNvSpPr/>
            <p:nvPr/>
          </p:nvSpPr>
          <p:spPr>
            <a:xfrm>
              <a:off x="4162" y="3555"/>
              <a:ext cx="222" cy="540"/>
            </a:xfrm>
            <a:prstGeom prst="line">
              <a:avLst/>
            </a:prstGeom>
            <a:ln w="38100" cap="flat" cmpd="sng">
              <a:solidFill>
                <a:srgbClr val="009900"/>
              </a:solidFill>
              <a:prstDash val="solid"/>
              <a:round/>
              <a:headEnd type="none" w="med" len="med"/>
              <a:tailEnd type="triangle" w="med" len="med"/>
            </a:ln>
          </p:spPr>
        </p:sp>
        <p:sp>
          <p:nvSpPr>
            <p:cNvPr id="116743" name="Line 7"/>
            <p:cNvSpPr/>
            <p:nvPr/>
          </p:nvSpPr>
          <p:spPr>
            <a:xfrm flipH="1">
              <a:off x="4206" y="3015"/>
              <a:ext cx="622" cy="360"/>
            </a:xfrm>
            <a:prstGeom prst="line">
              <a:avLst/>
            </a:prstGeom>
            <a:ln w="38100" cap="flat" cmpd="sng">
              <a:solidFill>
                <a:srgbClr val="009900"/>
              </a:solidFill>
              <a:prstDash val="solid"/>
              <a:round/>
              <a:headEnd type="none" w="med" len="med"/>
              <a:tailEnd type="triangle" w="med" len="med"/>
            </a:ln>
          </p:spPr>
        </p:sp>
        <p:sp>
          <p:nvSpPr>
            <p:cNvPr id="116744" name="Line 8"/>
            <p:cNvSpPr/>
            <p:nvPr/>
          </p:nvSpPr>
          <p:spPr>
            <a:xfrm flipH="1" flipV="1">
              <a:off x="4916" y="3060"/>
              <a:ext cx="356" cy="990"/>
            </a:xfrm>
            <a:prstGeom prst="line">
              <a:avLst/>
            </a:prstGeom>
            <a:ln w="38100" cap="flat" cmpd="sng">
              <a:solidFill>
                <a:srgbClr val="009900"/>
              </a:solidFill>
              <a:prstDash val="solid"/>
              <a:round/>
              <a:headEnd type="triangle" w="med" len="med"/>
              <a:tailEnd type="none" w="med" len="med"/>
            </a:ln>
          </p:spPr>
        </p:sp>
        <p:sp>
          <p:nvSpPr>
            <p:cNvPr id="116745" name="Line 9"/>
            <p:cNvSpPr/>
            <p:nvPr/>
          </p:nvSpPr>
          <p:spPr>
            <a:xfrm flipH="1">
              <a:off x="4517" y="4185"/>
              <a:ext cx="666" cy="0"/>
            </a:xfrm>
            <a:prstGeom prst="line">
              <a:avLst/>
            </a:prstGeom>
            <a:ln w="38100" cap="flat" cmpd="sng">
              <a:solidFill>
                <a:srgbClr val="009900"/>
              </a:solidFill>
              <a:prstDash val="solid"/>
              <a:round/>
              <a:headEnd type="none" w="med" len="med"/>
              <a:tailEnd type="triangle" w="med" len="med"/>
            </a:ln>
          </p:spPr>
        </p:sp>
        <p:sp>
          <p:nvSpPr>
            <p:cNvPr id="116746" name="Line 10"/>
            <p:cNvSpPr/>
            <p:nvPr/>
          </p:nvSpPr>
          <p:spPr>
            <a:xfrm flipH="1">
              <a:off x="4517" y="3600"/>
              <a:ext cx="1065" cy="540"/>
            </a:xfrm>
            <a:prstGeom prst="line">
              <a:avLst/>
            </a:prstGeom>
            <a:ln w="38100" cap="flat" cmpd="sng">
              <a:solidFill>
                <a:srgbClr val="009900"/>
              </a:solidFill>
              <a:prstDash val="solid"/>
              <a:round/>
              <a:headEnd type="triangle" w="med" len="med"/>
              <a:tailEnd type="none" w="med" len="med"/>
            </a:ln>
          </p:spPr>
        </p:sp>
        <p:sp>
          <p:nvSpPr>
            <p:cNvPr id="116747" name="Oval 11"/>
            <p:cNvSpPr/>
            <p:nvPr/>
          </p:nvSpPr>
          <p:spPr>
            <a:xfrm>
              <a:off x="3984" y="3330"/>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116748" name="Oval 12"/>
            <p:cNvSpPr/>
            <p:nvPr/>
          </p:nvSpPr>
          <p:spPr>
            <a:xfrm>
              <a:off x="5183" y="4066"/>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116749" name="Oval 13"/>
            <p:cNvSpPr/>
            <p:nvPr/>
          </p:nvSpPr>
          <p:spPr>
            <a:xfrm>
              <a:off x="4295" y="4066"/>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116750" name="Oval 14"/>
            <p:cNvSpPr/>
            <p:nvPr/>
          </p:nvSpPr>
          <p:spPr>
            <a:xfrm>
              <a:off x="5494" y="3375"/>
              <a:ext cx="266" cy="253"/>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116751" name="Oval 15"/>
            <p:cNvSpPr/>
            <p:nvPr/>
          </p:nvSpPr>
          <p:spPr>
            <a:xfrm>
              <a:off x="4739" y="2880"/>
              <a:ext cx="266" cy="253"/>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sp>
          <p:nvSpPr>
            <p:cNvPr id="116752" name="Line 16"/>
            <p:cNvSpPr/>
            <p:nvPr/>
          </p:nvSpPr>
          <p:spPr>
            <a:xfrm>
              <a:off x="4224" y="3504"/>
              <a:ext cx="1008" cy="624"/>
            </a:xfrm>
            <a:prstGeom prst="line">
              <a:avLst/>
            </a:prstGeom>
            <a:ln w="38100" cap="flat" cmpd="sng">
              <a:solidFill>
                <a:schemeClr val="hlink"/>
              </a:solidFill>
              <a:prstDash val="dash"/>
              <a:round/>
              <a:headEnd type="none" w="med" len="med"/>
              <a:tailEnd type="triangle" w="med" len="med"/>
            </a:ln>
          </p:spPr>
        </p:sp>
      </p:grpSp>
      <p:sp>
        <p:nvSpPr>
          <p:cNvPr id="5" name="文本框 4"/>
          <p:cNvSpPr txBox="1"/>
          <p:nvPr/>
        </p:nvSpPr>
        <p:spPr>
          <a:xfrm>
            <a:off x="5320030" y="4441190"/>
            <a:ext cx="6096000" cy="843280"/>
          </a:xfrm>
          <a:prstGeom prst="rect">
            <a:avLst/>
          </a:prstGeom>
        </p:spPr>
        <p:txBody>
          <a:bodyPr vert="horz" wrap="square" lIns="91440" tIns="45720" rIns="91440" bIns="45720" rtlCol="0" anchor="t">
            <a:noAutofit/>
          </a:bodyPr>
          <a:p>
            <a:pPr marL="0" lvl="0" indent="0">
              <a:lnSpc>
                <a:spcPct val="90000"/>
              </a:lnSpc>
              <a:spcBef>
                <a:spcPts val="1000"/>
              </a:spcBef>
              <a:buClr>
                <a:schemeClr val="accent2"/>
              </a:buClr>
              <a:buFont typeface="Wingdings" panose="05000000000000000000" pitchFamily="2" charset="2"/>
              <a:buNone/>
            </a:pPr>
            <a:r>
              <a:rPr lang="zh-CN" altLang="en-US" sz="2400" dirty="0">
                <a:solidFill>
                  <a:srgbClr val="FF0000"/>
                </a:solidFill>
                <a:latin typeface="黑体" panose="02010609060101010101" pitchFamily="2" charset="-122"/>
                <a:ea typeface="黑体" panose="02010609060101010101" pitchFamily="2" charset="-122"/>
                <a:cs typeface="+mn-ea"/>
                <a:sym typeface="Symbol" panose="05050102010706020507" pitchFamily="18" charset="2"/>
              </a:rPr>
              <a:t>从图来说，全序表示任意两点之间至少存在一条路径。</a:t>
            </a:r>
            <a:endParaRPr lang="zh-CN" altLang="en-US" sz="2400" dirty="0">
              <a:solidFill>
                <a:srgbClr val="FF0000"/>
              </a:solidFill>
              <a:latin typeface="黑体" panose="02010609060101010101" pitchFamily="2" charset="-122"/>
              <a:ea typeface="黑体" panose="02010609060101010101" pitchFamily="2" charset="-122"/>
              <a:cs typeface="+mn-ea"/>
              <a:sym typeface="Symbol" panose="05050102010706020507" pitchFamily="18" charset="2"/>
            </a:endParaRPr>
          </a:p>
          <a:p>
            <a:pPr marL="0" lvl="0" indent="0">
              <a:lnSpc>
                <a:spcPct val="90000"/>
              </a:lnSpc>
              <a:spcBef>
                <a:spcPts val="1000"/>
              </a:spcBef>
              <a:buClr>
                <a:schemeClr val="accent2"/>
              </a:buClr>
              <a:buFont typeface="Wingdings" panose="05000000000000000000" pitchFamily="2" charset="2"/>
              <a:buNone/>
            </a:pPr>
            <a:endParaRPr lang="zh-CN" altLang="en-US" sz="2400" dirty="0">
              <a:solidFill>
                <a:srgbClr val="FF0000"/>
              </a:solidFill>
              <a:latin typeface="黑体" panose="02010609060101010101" pitchFamily="2" charset="-122"/>
              <a:ea typeface="黑体" panose="02010609060101010101" pitchFamily="2" charset="-122"/>
              <a:cs typeface="+mn-ea"/>
              <a:sym typeface="Symbol" panose="05050102010706020507" pitchFamily="18" charset="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740025"/>
          </a:xfrm>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拓扑排序算法：</a:t>
            </a:r>
            <a:endPar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marL="609600" lvl="1" indent="0" algn="l" eaLnBrk="1" hangingPunct="1">
              <a:spcBef>
                <a:spcPct val="20000"/>
              </a:spcBef>
              <a:buClrTx/>
              <a:buSzTx/>
              <a:buNone/>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⑴ 在有向图中选一个没有前驱的顶点且输出之</a:t>
            </a:r>
            <a:endParaRPr lang="zh-CN" altLang="en-US" sz="2400" b="0" dirty="0">
              <a:latin typeface="黑体" panose="02010609060101010101" pitchFamily="2" charset="-122"/>
              <a:ea typeface="黑体" panose="02010609060101010101" pitchFamily="2" charset="-122"/>
              <a:cs typeface="+mn-ea"/>
              <a:sym typeface="Symbol" panose="05050102010706020507" pitchFamily="18" charset="2"/>
            </a:endParaRPr>
          </a:p>
          <a:p>
            <a:pPr marL="609600" lvl="1" indent="0" algn="l" eaLnBrk="1" hangingPunct="1">
              <a:spcBef>
                <a:spcPct val="20000"/>
              </a:spcBef>
              <a:buClrTx/>
              <a:buSzTx/>
              <a:buNone/>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⑵ 从图中删除该顶点和所有以它为尾的弧</a:t>
            </a:r>
            <a:endParaRPr lang="zh-CN" altLang="en-US" sz="2400" b="0" dirty="0">
              <a:latin typeface="黑体" panose="02010609060101010101" pitchFamily="2" charset="-122"/>
              <a:ea typeface="黑体" panose="02010609060101010101" pitchFamily="2" charset="-122"/>
              <a:cs typeface="+mn-ea"/>
              <a:sym typeface="Symbol" panose="05050102010706020507" pitchFamily="18" charset="2"/>
            </a:endParaRPr>
          </a:p>
          <a:p>
            <a:pPr marL="609600" lvl="1" indent="0" algn="l" eaLnBrk="1" hangingPunct="1">
              <a:spcBef>
                <a:spcPct val="20000"/>
              </a:spcBef>
              <a:buClrTx/>
              <a:buSzTx/>
              <a:buNone/>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重复⑴⑵两步，直到所有顶点输出为止</a:t>
            </a:r>
            <a:endParaRPr lang="zh-CN" altLang="en-US" sz="2400" b="0" dirty="0">
              <a:latin typeface="黑体" panose="02010609060101010101" pitchFamily="2" charset="-122"/>
              <a:ea typeface="黑体" panose="02010609060101010101" pitchFamily="2" charset="-122"/>
              <a:cs typeface="+mn-ea"/>
              <a:sym typeface="Symbol" panose="05050102010706020507" pitchFamily="18" charset="2"/>
            </a:endParaRPr>
          </a:p>
          <a:p>
            <a:pPr marL="609600" lvl="0" indent="-609600" eaLnBrk="1" hangingPunct="1"/>
            <a:r>
              <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拓扑排序的结果可以看出：从一个有向图求出</a:t>
            </a:r>
            <a:r>
              <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一个拓扑有序序列</a:t>
            </a:r>
            <a:endPar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marL="457200" lvl="1" indent="-457200" algn="l" eaLnBrk="1" hangingPunct="1">
              <a:buClrTx/>
              <a:buSzTx/>
              <a:buFont typeface="Wingdings" panose="05000000000000000000" charset="0"/>
              <a:buChar char="l"/>
            </a:pP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740025"/>
          </a:xfrm>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拓扑排序算法：</a:t>
            </a:r>
            <a:endPar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marL="609600" lvl="1" indent="0" algn="l" eaLnBrk="1" hangingPunct="1">
              <a:spcBef>
                <a:spcPct val="20000"/>
              </a:spcBef>
              <a:buClrTx/>
              <a:buSzTx/>
              <a:buNone/>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⑴ 在有向图中选一个没有前驱的顶点且输出之</a:t>
            </a:r>
            <a:endParaRPr lang="zh-CN" altLang="en-US" sz="2400" b="0" dirty="0">
              <a:latin typeface="黑体" panose="02010609060101010101" pitchFamily="2" charset="-122"/>
              <a:ea typeface="黑体" panose="02010609060101010101" pitchFamily="2" charset="-122"/>
              <a:cs typeface="+mn-ea"/>
              <a:sym typeface="Symbol" panose="05050102010706020507" pitchFamily="18" charset="2"/>
            </a:endParaRPr>
          </a:p>
          <a:p>
            <a:pPr marL="609600" lvl="1" indent="0" algn="l" eaLnBrk="1" hangingPunct="1">
              <a:spcBef>
                <a:spcPct val="20000"/>
              </a:spcBef>
              <a:buClrTx/>
              <a:buSzTx/>
              <a:buNone/>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⑵ 从图中删除该顶点和所有以它为尾的弧</a:t>
            </a:r>
            <a:endParaRPr lang="zh-CN" altLang="en-US" sz="2400" b="0" dirty="0">
              <a:latin typeface="黑体" panose="02010609060101010101" pitchFamily="2" charset="-122"/>
              <a:ea typeface="黑体" panose="02010609060101010101" pitchFamily="2" charset="-122"/>
              <a:cs typeface="+mn-ea"/>
              <a:sym typeface="Symbol" panose="05050102010706020507" pitchFamily="18" charset="2"/>
            </a:endParaRPr>
          </a:p>
          <a:p>
            <a:pPr marL="609600" lvl="1" indent="0" algn="l" eaLnBrk="1" hangingPunct="1">
              <a:spcBef>
                <a:spcPct val="20000"/>
              </a:spcBef>
              <a:buClrTx/>
              <a:buSzTx/>
              <a:buNone/>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重复⑴⑵两步，直到所有顶点输出为止</a:t>
            </a:r>
            <a:endParaRPr lang="zh-CN" altLang="en-US" sz="2400" b="0" dirty="0">
              <a:latin typeface="黑体" panose="02010609060101010101" pitchFamily="2" charset="-122"/>
              <a:ea typeface="黑体" panose="02010609060101010101" pitchFamily="2" charset="-122"/>
              <a:cs typeface="+mn-ea"/>
              <a:sym typeface="Symbol" panose="05050102010706020507" pitchFamily="18" charset="2"/>
            </a:endParaRPr>
          </a:p>
          <a:p>
            <a:pPr marL="457200" lvl="1" indent="-457200" algn="l" eaLnBrk="1" hangingPunct="1">
              <a:buClrTx/>
              <a:buSzTx/>
              <a:buFont typeface="Wingdings" panose="05000000000000000000" charset="0"/>
              <a:buChar char="l"/>
            </a:pP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2" name="组合 11"/>
          <p:cNvGrpSpPr/>
          <p:nvPr/>
        </p:nvGrpSpPr>
        <p:grpSpPr>
          <a:xfrm>
            <a:off x="296545" y="3429000"/>
            <a:ext cx="11220450" cy="1988185"/>
            <a:chOff x="526" y="5252"/>
            <a:chExt cx="17670" cy="3131"/>
          </a:xfrm>
        </p:grpSpPr>
        <p:grpSp>
          <p:nvGrpSpPr>
            <p:cNvPr id="7" name="组合 6"/>
            <p:cNvGrpSpPr/>
            <p:nvPr/>
          </p:nvGrpSpPr>
          <p:grpSpPr>
            <a:xfrm>
              <a:off x="526" y="5252"/>
              <a:ext cx="17671" cy="3028"/>
              <a:chOff x="1287" y="4465"/>
              <a:chExt cx="17671" cy="3028"/>
            </a:xfrm>
          </p:grpSpPr>
          <p:grpSp>
            <p:nvGrpSpPr>
              <p:cNvPr id="5" name="组合 4"/>
              <p:cNvGrpSpPr/>
              <p:nvPr/>
            </p:nvGrpSpPr>
            <p:grpSpPr>
              <a:xfrm>
                <a:off x="1287" y="4465"/>
                <a:ext cx="3000" cy="3028"/>
                <a:chOff x="3560" y="3250"/>
                <a:chExt cx="3000" cy="3028"/>
              </a:xfrm>
            </p:grpSpPr>
            <p:grpSp>
              <p:nvGrpSpPr>
                <p:cNvPr id="118796" name="Group 12"/>
                <p:cNvGrpSpPr/>
                <p:nvPr/>
              </p:nvGrpSpPr>
              <p:grpSpPr>
                <a:xfrm>
                  <a:off x="3560" y="3250"/>
                  <a:ext cx="3000" cy="2400"/>
                  <a:chOff x="3984" y="2875"/>
                  <a:chExt cx="1776" cy="1440"/>
                </a:xfrm>
              </p:grpSpPr>
              <p:sp>
                <p:nvSpPr>
                  <p:cNvPr id="118797" name="Line 13"/>
                  <p:cNvSpPr/>
                  <p:nvPr/>
                </p:nvSpPr>
                <p:spPr>
                  <a:xfrm flipH="1" flipV="1">
                    <a:off x="4961" y="3055"/>
                    <a:ext cx="577" cy="360"/>
                  </a:xfrm>
                  <a:prstGeom prst="line">
                    <a:avLst/>
                  </a:prstGeom>
                  <a:ln w="38100" cap="flat" cmpd="sng">
                    <a:solidFill>
                      <a:srgbClr val="009900"/>
                    </a:solidFill>
                    <a:prstDash val="solid"/>
                    <a:round/>
                    <a:headEnd type="triangle" w="med" len="med"/>
                    <a:tailEnd type="none" w="med" len="med"/>
                  </a:ln>
                </p:spPr>
              </p:sp>
              <p:sp>
                <p:nvSpPr>
                  <p:cNvPr id="118798" name="Line 14"/>
                  <p:cNvSpPr/>
                  <p:nvPr/>
                </p:nvSpPr>
                <p:spPr>
                  <a:xfrm>
                    <a:off x="4162" y="3550"/>
                    <a:ext cx="222" cy="540"/>
                  </a:xfrm>
                  <a:prstGeom prst="line">
                    <a:avLst/>
                  </a:prstGeom>
                  <a:ln w="38100" cap="flat" cmpd="sng">
                    <a:solidFill>
                      <a:srgbClr val="009900"/>
                    </a:solidFill>
                    <a:prstDash val="solid"/>
                    <a:round/>
                    <a:headEnd type="none" w="med" len="med"/>
                    <a:tailEnd type="triangle" w="med" len="med"/>
                  </a:ln>
                </p:spPr>
              </p:sp>
              <p:sp>
                <p:nvSpPr>
                  <p:cNvPr id="118799" name="Line 15"/>
                  <p:cNvSpPr/>
                  <p:nvPr/>
                </p:nvSpPr>
                <p:spPr>
                  <a:xfrm flipH="1">
                    <a:off x="4206" y="3010"/>
                    <a:ext cx="622" cy="360"/>
                  </a:xfrm>
                  <a:prstGeom prst="line">
                    <a:avLst/>
                  </a:prstGeom>
                  <a:ln w="38100" cap="flat" cmpd="sng">
                    <a:solidFill>
                      <a:srgbClr val="009900"/>
                    </a:solidFill>
                    <a:prstDash val="solid"/>
                    <a:round/>
                    <a:headEnd type="none" w="med" len="med"/>
                    <a:tailEnd type="triangle" w="med" len="med"/>
                  </a:ln>
                </p:spPr>
              </p:sp>
              <p:sp>
                <p:nvSpPr>
                  <p:cNvPr id="118800" name="Line 16"/>
                  <p:cNvSpPr/>
                  <p:nvPr/>
                </p:nvSpPr>
                <p:spPr>
                  <a:xfrm flipH="1" flipV="1">
                    <a:off x="4916" y="3055"/>
                    <a:ext cx="356" cy="990"/>
                  </a:xfrm>
                  <a:prstGeom prst="line">
                    <a:avLst/>
                  </a:prstGeom>
                  <a:ln w="38100" cap="flat" cmpd="sng">
                    <a:solidFill>
                      <a:srgbClr val="009900"/>
                    </a:solidFill>
                    <a:prstDash val="solid"/>
                    <a:round/>
                    <a:headEnd type="triangle" w="med" len="med"/>
                    <a:tailEnd type="none" w="med" len="med"/>
                  </a:ln>
                </p:spPr>
              </p:sp>
              <p:sp>
                <p:nvSpPr>
                  <p:cNvPr id="118801" name="Line 17"/>
                  <p:cNvSpPr/>
                  <p:nvPr/>
                </p:nvSpPr>
                <p:spPr>
                  <a:xfrm flipH="1">
                    <a:off x="4517" y="4180"/>
                    <a:ext cx="666" cy="0"/>
                  </a:xfrm>
                  <a:prstGeom prst="line">
                    <a:avLst/>
                  </a:prstGeom>
                  <a:ln w="38100" cap="flat" cmpd="sng">
                    <a:solidFill>
                      <a:srgbClr val="009900"/>
                    </a:solidFill>
                    <a:prstDash val="solid"/>
                    <a:round/>
                    <a:headEnd type="none" w="med" len="med"/>
                    <a:tailEnd type="triangle" w="med" len="med"/>
                  </a:ln>
                </p:spPr>
              </p:sp>
              <p:sp>
                <p:nvSpPr>
                  <p:cNvPr id="118802" name="Line 18"/>
                  <p:cNvSpPr/>
                  <p:nvPr/>
                </p:nvSpPr>
                <p:spPr>
                  <a:xfrm flipH="1">
                    <a:off x="4517" y="3595"/>
                    <a:ext cx="1065" cy="540"/>
                  </a:xfrm>
                  <a:prstGeom prst="line">
                    <a:avLst/>
                  </a:prstGeom>
                  <a:ln w="38100" cap="flat" cmpd="sng">
                    <a:solidFill>
                      <a:srgbClr val="009900"/>
                    </a:solidFill>
                    <a:prstDash val="solid"/>
                    <a:round/>
                    <a:headEnd type="triangle" w="med" len="med"/>
                    <a:tailEnd type="none" w="med" len="med"/>
                  </a:ln>
                </p:spPr>
              </p:sp>
              <p:sp>
                <p:nvSpPr>
                  <p:cNvPr id="118803" name="Oval 19"/>
                  <p:cNvSpPr/>
                  <p:nvPr/>
                </p:nvSpPr>
                <p:spPr>
                  <a:xfrm>
                    <a:off x="3984" y="3325"/>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1</a:t>
                    </a:r>
                    <a:endParaRPr lang="en-US" altLang="zh-CN" sz="2000" dirty="0">
                      <a:solidFill>
                        <a:schemeClr val="bg1"/>
                      </a:solidFill>
                      <a:latin typeface="Tahoma" panose="020B0604030504040204" charset="0"/>
                      <a:ea typeface="宋体" panose="02010600030101010101" pitchFamily="2" charset="-122"/>
                    </a:endParaRPr>
                  </a:p>
                </p:txBody>
              </p:sp>
              <p:sp>
                <p:nvSpPr>
                  <p:cNvPr id="118804" name="Oval 20"/>
                  <p:cNvSpPr/>
                  <p:nvPr/>
                </p:nvSpPr>
                <p:spPr>
                  <a:xfrm>
                    <a:off x="5183" y="4061"/>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3</a:t>
                    </a:r>
                    <a:endParaRPr lang="en-US" altLang="zh-CN" sz="2000" dirty="0">
                      <a:solidFill>
                        <a:schemeClr val="bg1"/>
                      </a:solidFill>
                      <a:latin typeface="Tahoma" panose="020B0604030504040204" charset="0"/>
                      <a:ea typeface="宋体" panose="02010600030101010101" pitchFamily="2" charset="-122"/>
                    </a:endParaRPr>
                  </a:p>
                </p:txBody>
              </p:sp>
              <p:sp>
                <p:nvSpPr>
                  <p:cNvPr id="118805" name="Oval 21"/>
                  <p:cNvSpPr/>
                  <p:nvPr/>
                </p:nvSpPr>
                <p:spPr>
                  <a:xfrm>
                    <a:off x="4295" y="4061"/>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2</a:t>
                    </a:r>
                    <a:endParaRPr lang="en-US" altLang="zh-CN" sz="2000" dirty="0">
                      <a:solidFill>
                        <a:schemeClr val="bg1"/>
                      </a:solidFill>
                      <a:latin typeface="Tahoma" panose="020B0604030504040204" charset="0"/>
                      <a:ea typeface="宋体" panose="02010600030101010101" pitchFamily="2" charset="-122"/>
                    </a:endParaRPr>
                  </a:p>
                </p:txBody>
              </p:sp>
              <p:sp>
                <p:nvSpPr>
                  <p:cNvPr id="118806" name="Oval 22"/>
                  <p:cNvSpPr/>
                  <p:nvPr/>
                </p:nvSpPr>
                <p:spPr>
                  <a:xfrm>
                    <a:off x="5494" y="3370"/>
                    <a:ext cx="266" cy="253"/>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4</a:t>
                    </a:r>
                    <a:endParaRPr lang="en-US" altLang="zh-CN" sz="2000" dirty="0">
                      <a:solidFill>
                        <a:schemeClr val="bg1"/>
                      </a:solidFill>
                      <a:latin typeface="Tahoma" panose="020B0604030504040204" charset="0"/>
                      <a:ea typeface="宋体" panose="02010600030101010101" pitchFamily="2" charset="-122"/>
                    </a:endParaRPr>
                  </a:p>
                </p:txBody>
              </p:sp>
              <p:sp>
                <p:nvSpPr>
                  <p:cNvPr id="118807" name="Oval 23"/>
                  <p:cNvSpPr/>
                  <p:nvPr/>
                </p:nvSpPr>
                <p:spPr>
                  <a:xfrm>
                    <a:off x="4739" y="2875"/>
                    <a:ext cx="266" cy="253"/>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0</a:t>
                    </a:r>
                    <a:endParaRPr lang="en-US" altLang="zh-CN" sz="2000" dirty="0">
                      <a:solidFill>
                        <a:schemeClr val="bg1"/>
                      </a:solidFill>
                      <a:latin typeface="Tahoma" panose="020B0604030504040204" charset="0"/>
                      <a:ea typeface="宋体" panose="02010600030101010101" pitchFamily="2" charset="-122"/>
                    </a:endParaRPr>
                  </a:p>
                </p:txBody>
              </p:sp>
            </p:grpSp>
            <p:sp>
              <p:nvSpPr>
                <p:cNvPr id="118808" name="Text Box 24"/>
                <p:cNvSpPr txBox="1"/>
                <p:nvPr/>
              </p:nvSpPr>
              <p:spPr>
                <a:xfrm>
                  <a:off x="3680" y="5650"/>
                  <a:ext cx="2880" cy="628"/>
                </a:xfrm>
                <a:prstGeom prst="rect">
                  <a:avLst/>
                </a:prstGeom>
                <a:noFill/>
                <a:ln w="9525">
                  <a:noFill/>
                </a:ln>
              </p:spPr>
              <p:txBody>
                <a:bodyPr anchor="t" anchorCtr="0">
                  <a:spAutoFit/>
                </a:bodyPr>
                <a:p>
                  <a:pPr algn="ctr">
                    <a:spcBef>
                      <a:spcPct val="50000"/>
                    </a:spcBef>
                  </a:pPr>
                  <a:r>
                    <a:rPr lang="zh-CN" altLang="en-US" sz="2000" dirty="0">
                      <a:latin typeface="Tahoma" panose="020B0604030504040204" charset="0"/>
                      <a:ea typeface="宋体" panose="02010600030101010101" pitchFamily="2" charset="-122"/>
                    </a:rPr>
                    <a:t>原图</a:t>
                  </a:r>
                  <a:endParaRPr lang="zh-CN" altLang="en-US" sz="2000" dirty="0">
                    <a:latin typeface="Tahoma" panose="020B0604030504040204" charset="0"/>
                    <a:ea typeface="宋体" panose="02010600030101010101" pitchFamily="2" charset="-122"/>
                  </a:endParaRPr>
                </a:p>
              </p:txBody>
            </p:sp>
          </p:grpSp>
          <p:grpSp>
            <p:nvGrpSpPr>
              <p:cNvPr id="6" name="组合 5"/>
              <p:cNvGrpSpPr/>
              <p:nvPr/>
            </p:nvGrpSpPr>
            <p:grpSpPr>
              <a:xfrm>
                <a:off x="5298" y="4465"/>
                <a:ext cx="3000" cy="2278"/>
                <a:chOff x="8240" y="4090"/>
                <a:chExt cx="3000" cy="2278"/>
              </a:xfrm>
            </p:grpSpPr>
            <p:grpSp>
              <p:nvGrpSpPr>
                <p:cNvPr id="118788" name="Group 4"/>
                <p:cNvGrpSpPr/>
                <p:nvPr/>
              </p:nvGrpSpPr>
              <p:grpSpPr>
                <a:xfrm>
                  <a:off x="8240" y="4090"/>
                  <a:ext cx="3000" cy="1650"/>
                  <a:chOff x="2064" y="2028"/>
                  <a:chExt cx="1200" cy="660"/>
                </a:xfrm>
              </p:grpSpPr>
              <p:sp>
                <p:nvSpPr>
                  <p:cNvPr id="118789" name="Line 5"/>
                  <p:cNvSpPr/>
                  <p:nvPr/>
                </p:nvSpPr>
                <p:spPr>
                  <a:xfrm>
                    <a:off x="2184" y="2178"/>
                    <a:ext cx="150" cy="360"/>
                  </a:xfrm>
                  <a:prstGeom prst="line">
                    <a:avLst/>
                  </a:prstGeom>
                  <a:ln w="38100" cap="flat" cmpd="sng">
                    <a:solidFill>
                      <a:srgbClr val="009900"/>
                    </a:solidFill>
                    <a:prstDash val="solid"/>
                    <a:round/>
                    <a:headEnd type="none" w="med" len="med"/>
                    <a:tailEnd type="triangle" w="med" len="med"/>
                  </a:ln>
                </p:spPr>
              </p:sp>
              <p:sp>
                <p:nvSpPr>
                  <p:cNvPr id="118790" name="Line 6"/>
                  <p:cNvSpPr/>
                  <p:nvPr/>
                </p:nvSpPr>
                <p:spPr>
                  <a:xfrm flipH="1">
                    <a:off x="2424" y="2598"/>
                    <a:ext cx="450" cy="0"/>
                  </a:xfrm>
                  <a:prstGeom prst="line">
                    <a:avLst/>
                  </a:prstGeom>
                  <a:ln w="38100" cap="flat" cmpd="sng">
                    <a:solidFill>
                      <a:srgbClr val="009900"/>
                    </a:solidFill>
                    <a:prstDash val="solid"/>
                    <a:round/>
                    <a:headEnd type="none" w="med" len="med"/>
                    <a:tailEnd type="triangle" w="med" len="med"/>
                  </a:ln>
                </p:spPr>
              </p:sp>
              <p:sp>
                <p:nvSpPr>
                  <p:cNvPr id="118791" name="Line 7"/>
                  <p:cNvSpPr/>
                  <p:nvPr/>
                </p:nvSpPr>
                <p:spPr>
                  <a:xfrm flipH="1">
                    <a:off x="2424" y="2208"/>
                    <a:ext cx="720" cy="360"/>
                  </a:xfrm>
                  <a:prstGeom prst="line">
                    <a:avLst/>
                  </a:prstGeom>
                  <a:ln w="38100" cap="flat" cmpd="sng">
                    <a:solidFill>
                      <a:srgbClr val="009900"/>
                    </a:solidFill>
                    <a:prstDash val="solid"/>
                    <a:round/>
                    <a:headEnd type="triangle" w="med" len="med"/>
                    <a:tailEnd type="none" w="med" len="med"/>
                  </a:ln>
                </p:spPr>
              </p:sp>
              <p:sp>
                <p:nvSpPr>
                  <p:cNvPr id="118792" name="Oval 8"/>
                  <p:cNvSpPr/>
                  <p:nvPr/>
                </p:nvSpPr>
                <p:spPr>
                  <a:xfrm>
                    <a:off x="2064" y="2028"/>
                    <a:ext cx="180" cy="169"/>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1</a:t>
                    </a:r>
                    <a:endParaRPr lang="en-US" altLang="zh-CN" sz="2000" dirty="0">
                      <a:solidFill>
                        <a:schemeClr val="bg1"/>
                      </a:solidFill>
                      <a:latin typeface="Tahoma" panose="020B0604030504040204" charset="0"/>
                      <a:ea typeface="宋体" panose="02010600030101010101" pitchFamily="2" charset="-122"/>
                    </a:endParaRPr>
                  </a:p>
                </p:txBody>
              </p:sp>
              <p:sp>
                <p:nvSpPr>
                  <p:cNvPr id="118793" name="Oval 9"/>
                  <p:cNvSpPr/>
                  <p:nvPr/>
                </p:nvSpPr>
                <p:spPr>
                  <a:xfrm>
                    <a:off x="2874" y="2519"/>
                    <a:ext cx="180" cy="169"/>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3</a:t>
                    </a:r>
                    <a:endParaRPr lang="en-US" altLang="zh-CN" sz="2000" dirty="0">
                      <a:solidFill>
                        <a:schemeClr val="bg1"/>
                      </a:solidFill>
                      <a:latin typeface="Tahoma" panose="020B0604030504040204" charset="0"/>
                      <a:ea typeface="宋体" panose="02010600030101010101" pitchFamily="2" charset="-122"/>
                    </a:endParaRPr>
                  </a:p>
                </p:txBody>
              </p:sp>
              <p:sp>
                <p:nvSpPr>
                  <p:cNvPr id="118794" name="Oval 10"/>
                  <p:cNvSpPr/>
                  <p:nvPr/>
                </p:nvSpPr>
                <p:spPr>
                  <a:xfrm>
                    <a:off x="2274" y="2519"/>
                    <a:ext cx="180" cy="169"/>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2</a:t>
                    </a:r>
                    <a:endParaRPr lang="en-US" altLang="zh-CN" sz="2000" dirty="0">
                      <a:solidFill>
                        <a:schemeClr val="bg1"/>
                      </a:solidFill>
                      <a:latin typeface="Tahoma" panose="020B0604030504040204" charset="0"/>
                      <a:ea typeface="宋体" panose="02010600030101010101" pitchFamily="2" charset="-122"/>
                    </a:endParaRPr>
                  </a:p>
                </p:txBody>
              </p:sp>
              <p:sp>
                <p:nvSpPr>
                  <p:cNvPr id="118795" name="Oval 11"/>
                  <p:cNvSpPr/>
                  <p:nvPr/>
                </p:nvSpPr>
                <p:spPr>
                  <a:xfrm>
                    <a:off x="3084" y="2058"/>
                    <a:ext cx="180" cy="169"/>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4</a:t>
                    </a:r>
                    <a:endParaRPr lang="en-US" altLang="zh-CN" sz="2000" dirty="0">
                      <a:solidFill>
                        <a:schemeClr val="bg1"/>
                      </a:solidFill>
                      <a:latin typeface="Tahoma" panose="020B0604030504040204" charset="0"/>
                      <a:ea typeface="宋体" panose="02010600030101010101" pitchFamily="2" charset="-122"/>
                    </a:endParaRPr>
                  </a:p>
                </p:txBody>
              </p:sp>
            </p:grpSp>
            <p:sp>
              <p:nvSpPr>
                <p:cNvPr id="118809" name="Text Box 25"/>
                <p:cNvSpPr txBox="1"/>
                <p:nvPr/>
              </p:nvSpPr>
              <p:spPr>
                <a:xfrm>
                  <a:off x="8240" y="5740"/>
                  <a:ext cx="2880" cy="628"/>
                </a:xfrm>
                <a:prstGeom prst="rect">
                  <a:avLst/>
                </a:prstGeom>
                <a:noFill/>
                <a:ln w="9525">
                  <a:noFill/>
                </a:ln>
              </p:spPr>
              <p:txBody>
                <a:bodyPr anchor="t" anchorCtr="0">
                  <a:spAutoFit/>
                </a:bodyPr>
                <a:p>
                  <a:pPr algn="ctr">
                    <a:spcBef>
                      <a:spcPct val="50000"/>
                    </a:spcBef>
                  </a:pPr>
                  <a:r>
                    <a:rPr lang="zh-CN" altLang="en-US" sz="2000" dirty="0">
                      <a:latin typeface="Tahoma" panose="020B0604030504040204" charset="0"/>
                      <a:ea typeface="宋体" panose="02010600030101010101" pitchFamily="2" charset="-122"/>
                    </a:rPr>
                    <a:t>输出</a:t>
                  </a:r>
                  <a:r>
                    <a:rPr lang="en-US" altLang="zh-CN" sz="2000" dirty="0">
                      <a:latin typeface="Tahoma" panose="020B0604030504040204" charset="0"/>
                      <a:ea typeface="宋体" panose="02010600030101010101" pitchFamily="2" charset="-122"/>
                    </a:rPr>
                    <a:t>0</a:t>
                  </a:r>
                  <a:r>
                    <a:rPr lang="zh-CN" altLang="en-US" sz="2000" dirty="0">
                      <a:latin typeface="Tahoma" panose="020B0604030504040204" charset="0"/>
                      <a:ea typeface="宋体" panose="02010600030101010101" pitchFamily="2" charset="-122"/>
                    </a:rPr>
                    <a:t>之后</a:t>
                  </a:r>
                  <a:endParaRPr lang="zh-CN" altLang="en-US" sz="2000" dirty="0">
                    <a:latin typeface="Tahoma" panose="020B0604030504040204" charset="0"/>
                    <a:ea typeface="宋体" panose="02010600030101010101" pitchFamily="2" charset="-122"/>
                  </a:endParaRPr>
                </a:p>
              </p:txBody>
            </p:sp>
          </p:grpSp>
          <p:grpSp>
            <p:nvGrpSpPr>
              <p:cNvPr id="8" name="组合 7"/>
              <p:cNvGrpSpPr/>
              <p:nvPr/>
            </p:nvGrpSpPr>
            <p:grpSpPr>
              <a:xfrm>
                <a:off x="9053" y="4465"/>
                <a:ext cx="2880" cy="2203"/>
                <a:chOff x="13160" y="4195"/>
                <a:chExt cx="2880" cy="2203"/>
              </a:xfrm>
            </p:grpSpPr>
            <p:grpSp>
              <p:nvGrpSpPr>
                <p:cNvPr id="118810" name="Group 26"/>
                <p:cNvGrpSpPr/>
                <p:nvPr/>
              </p:nvGrpSpPr>
              <p:grpSpPr>
                <a:xfrm>
                  <a:off x="13445" y="4195"/>
                  <a:ext cx="2475" cy="1575"/>
                  <a:chOff x="4290" y="2058"/>
                  <a:chExt cx="990" cy="630"/>
                </a:xfrm>
              </p:grpSpPr>
              <p:sp>
                <p:nvSpPr>
                  <p:cNvPr id="118811" name="Line 27"/>
                  <p:cNvSpPr/>
                  <p:nvPr/>
                </p:nvSpPr>
                <p:spPr>
                  <a:xfrm flipH="1">
                    <a:off x="4440" y="2598"/>
                    <a:ext cx="450" cy="0"/>
                  </a:xfrm>
                  <a:prstGeom prst="line">
                    <a:avLst/>
                  </a:prstGeom>
                  <a:ln w="38100" cap="flat" cmpd="sng">
                    <a:solidFill>
                      <a:srgbClr val="009900"/>
                    </a:solidFill>
                    <a:prstDash val="solid"/>
                    <a:round/>
                    <a:headEnd type="none" w="med" len="med"/>
                    <a:tailEnd type="triangle" w="med" len="med"/>
                  </a:ln>
                </p:spPr>
              </p:sp>
              <p:sp>
                <p:nvSpPr>
                  <p:cNvPr id="118812" name="Line 28"/>
                  <p:cNvSpPr/>
                  <p:nvPr/>
                </p:nvSpPr>
                <p:spPr>
                  <a:xfrm flipH="1">
                    <a:off x="4440" y="2208"/>
                    <a:ext cx="720" cy="360"/>
                  </a:xfrm>
                  <a:prstGeom prst="line">
                    <a:avLst/>
                  </a:prstGeom>
                  <a:ln w="38100" cap="flat" cmpd="sng">
                    <a:solidFill>
                      <a:srgbClr val="009900"/>
                    </a:solidFill>
                    <a:prstDash val="solid"/>
                    <a:round/>
                    <a:headEnd type="triangle" w="med" len="med"/>
                    <a:tailEnd type="none" w="med" len="med"/>
                  </a:ln>
                </p:spPr>
              </p:sp>
              <p:sp>
                <p:nvSpPr>
                  <p:cNvPr id="118813" name="Oval 29"/>
                  <p:cNvSpPr/>
                  <p:nvPr/>
                </p:nvSpPr>
                <p:spPr>
                  <a:xfrm>
                    <a:off x="4890" y="2519"/>
                    <a:ext cx="180" cy="169"/>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3</a:t>
                    </a:r>
                    <a:endParaRPr lang="en-US" altLang="zh-CN" sz="2000" dirty="0">
                      <a:solidFill>
                        <a:schemeClr val="bg1"/>
                      </a:solidFill>
                      <a:latin typeface="Tahoma" panose="020B0604030504040204" charset="0"/>
                      <a:ea typeface="宋体" panose="02010600030101010101" pitchFamily="2" charset="-122"/>
                    </a:endParaRPr>
                  </a:p>
                </p:txBody>
              </p:sp>
              <p:sp>
                <p:nvSpPr>
                  <p:cNvPr id="118814" name="Oval 30"/>
                  <p:cNvSpPr/>
                  <p:nvPr/>
                </p:nvSpPr>
                <p:spPr>
                  <a:xfrm>
                    <a:off x="4290" y="2519"/>
                    <a:ext cx="180" cy="169"/>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2</a:t>
                    </a:r>
                    <a:endParaRPr lang="en-US" altLang="zh-CN" sz="2000" dirty="0">
                      <a:solidFill>
                        <a:schemeClr val="bg1"/>
                      </a:solidFill>
                      <a:latin typeface="Tahoma" panose="020B0604030504040204" charset="0"/>
                      <a:ea typeface="宋体" panose="02010600030101010101" pitchFamily="2" charset="-122"/>
                    </a:endParaRPr>
                  </a:p>
                </p:txBody>
              </p:sp>
              <p:sp>
                <p:nvSpPr>
                  <p:cNvPr id="118815" name="Oval 31"/>
                  <p:cNvSpPr/>
                  <p:nvPr/>
                </p:nvSpPr>
                <p:spPr>
                  <a:xfrm>
                    <a:off x="5100" y="2058"/>
                    <a:ext cx="180" cy="169"/>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4</a:t>
                    </a:r>
                    <a:endParaRPr lang="en-US" altLang="zh-CN" sz="2000" dirty="0">
                      <a:solidFill>
                        <a:schemeClr val="bg1"/>
                      </a:solidFill>
                      <a:latin typeface="Tahoma" panose="020B0604030504040204" charset="0"/>
                      <a:ea typeface="宋体" panose="02010600030101010101" pitchFamily="2" charset="-122"/>
                    </a:endParaRPr>
                  </a:p>
                </p:txBody>
              </p:sp>
            </p:grpSp>
            <p:sp>
              <p:nvSpPr>
                <p:cNvPr id="118816" name="Text Box 32"/>
                <p:cNvSpPr txBox="1"/>
                <p:nvPr/>
              </p:nvSpPr>
              <p:spPr>
                <a:xfrm>
                  <a:off x="13160" y="5770"/>
                  <a:ext cx="2880" cy="628"/>
                </a:xfrm>
                <a:prstGeom prst="rect">
                  <a:avLst/>
                </a:prstGeom>
                <a:noFill/>
                <a:ln w="9525">
                  <a:noFill/>
                </a:ln>
              </p:spPr>
              <p:txBody>
                <a:bodyPr anchor="t" anchorCtr="0">
                  <a:spAutoFit/>
                </a:bodyPr>
                <a:p>
                  <a:pPr algn="ctr">
                    <a:spcBef>
                      <a:spcPct val="50000"/>
                    </a:spcBef>
                  </a:pPr>
                  <a:r>
                    <a:rPr lang="zh-CN" altLang="en-US" sz="2000" dirty="0">
                      <a:latin typeface="Tahoma" panose="020B0604030504040204" charset="0"/>
                      <a:ea typeface="宋体" panose="02010600030101010101" pitchFamily="2" charset="-122"/>
                    </a:rPr>
                    <a:t>输出</a:t>
                  </a:r>
                  <a:r>
                    <a:rPr lang="en-US" altLang="zh-CN" sz="2000" dirty="0">
                      <a:latin typeface="Tahoma" panose="020B0604030504040204" charset="0"/>
                      <a:ea typeface="宋体" panose="02010600030101010101" pitchFamily="2" charset="-122"/>
                    </a:rPr>
                    <a:t>0,1</a:t>
                  </a:r>
                  <a:r>
                    <a:rPr lang="zh-CN" altLang="en-US" sz="2000" dirty="0">
                      <a:latin typeface="Tahoma" panose="020B0604030504040204" charset="0"/>
                      <a:ea typeface="宋体" panose="02010600030101010101" pitchFamily="2" charset="-122"/>
                    </a:rPr>
                    <a:t>之后</a:t>
                  </a:r>
                  <a:endParaRPr lang="zh-CN" altLang="en-US" sz="2000" dirty="0">
                    <a:latin typeface="Tahoma" panose="020B0604030504040204" charset="0"/>
                    <a:ea typeface="宋体" panose="02010600030101010101" pitchFamily="2" charset="-122"/>
                  </a:endParaRPr>
                </a:p>
              </p:txBody>
            </p:sp>
          </p:grpSp>
          <p:grpSp>
            <p:nvGrpSpPr>
              <p:cNvPr id="9" name="组合 8"/>
              <p:cNvGrpSpPr/>
              <p:nvPr/>
            </p:nvGrpSpPr>
            <p:grpSpPr>
              <a:xfrm>
                <a:off x="12228" y="4465"/>
                <a:ext cx="2880" cy="2203"/>
                <a:chOff x="3680" y="7195"/>
                <a:chExt cx="2880" cy="2203"/>
              </a:xfrm>
            </p:grpSpPr>
            <p:grpSp>
              <p:nvGrpSpPr>
                <p:cNvPr id="118817" name="Group 33"/>
                <p:cNvGrpSpPr/>
                <p:nvPr/>
              </p:nvGrpSpPr>
              <p:grpSpPr>
                <a:xfrm>
                  <a:off x="3965" y="7195"/>
                  <a:ext cx="2475" cy="1575"/>
                  <a:chOff x="498" y="3258"/>
                  <a:chExt cx="990" cy="630"/>
                </a:xfrm>
              </p:grpSpPr>
              <p:sp>
                <p:nvSpPr>
                  <p:cNvPr id="118818" name="Line 34"/>
                  <p:cNvSpPr/>
                  <p:nvPr/>
                </p:nvSpPr>
                <p:spPr>
                  <a:xfrm flipH="1">
                    <a:off x="648" y="3408"/>
                    <a:ext cx="720" cy="360"/>
                  </a:xfrm>
                  <a:prstGeom prst="line">
                    <a:avLst/>
                  </a:prstGeom>
                  <a:ln w="38100" cap="flat" cmpd="sng">
                    <a:solidFill>
                      <a:srgbClr val="009900"/>
                    </a:solidFill>
                    <a:prstDash val="solid"/>
                    <a:round/>
                    <a:headEnd type="triangle" w="med" len="med"/>
                    <a:tailEnd type="none" w="med" len="med"/>
                  </a:ln>
                </p:spPr>
              </p:sp>
              <p:sp>
                <p:nvSpPr>
                  <p:cNvPr id="118819" name="Oval 35"/>
                  <p:cNvSpPr/>
                  <p:nvPr/>
                </p:nvSpPr>
                <p:spPr>
                  <a:xfrm>
                    <a:off x="498" y="3719"/>
                    <a:ext cx="180" cy="169"/>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2</a:t>
                    </a:r>
                    <a:endParaRPr lang="en-US" altLang="zh-CN" sz="2000" dirty="0">
                      <a:solidFill>
                        <a:schemeClr val="bg1"/>
                      </a:solidFill>
                      <a:latin typeface="Tahoma" panose="020B0604030504040204" charset="0"/>
                      <a:ea typeface="宋体" panose="02010600030101010101" pitchFamily="2" charset="-122"/>
                    </a:endParaRPr>
                  </a:p>
                </p:txBody>
              </p:sp>
              <p:sp>
                <p:nvSpPr>
                  <p:cNvPr id="118820" name="Oval 36"/>
                  <p:cNvSpPr/>
                  <p:nvPr/>
                </p:nvSpPr>
                <p:spPr>
                  <a:xfrm>
                    <a:off x="1308" y="3258"/>
                    <a:ext cx="180" cy="169"/>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4</a:t>
                    </a:r>
                    <a:endParaRPr lang="en-US" altLang="zh-CN" sz="2000" dirty="0">
                      <a:solidFill>
                        <a:schemeClr val="bg1"/>
                      </a:solidFill>
                      <a:latin typeface="Tahoma" panose="020B0604030504040204" charset="0"/>
                      <a:ea typeface="宋体" panose="02010600030101010101" pitchFamily="2" charset="-122"/>
                    </a:endParaRPr>
                  </a:p>
                </p:txBody>
              </p:sp>
            </p:grpSp>
            <p:sp>
              <p:nvSpPr>
                <p:cNvPr id="118821" name="Text Box 37"/>
                <p:cNvSpPr txBox="1"/>
                <p:nvPr/>
              </p:nvSpPr>
              <p:spPr>
                <a:xfrm>
                  <a:off x="3680" y="8770"/>
                  <a:ext cx="2880" cy="628"/>
                </a:xfrm>
                <a:prstGeom prst="rect">
                  <a:avLst/>
                </a:prstGeom>
                <a:noFill/>
                <a:ln w="9525">
                  <a:noFill/>
                </a:ln>
              </p:spPr>
              <p:txBody>
                <a:bodyPr anchor="t" anchorCtr="0">
                  <a:spAutoFit/>
                </a:bodyPr>
                <a:p>
                  <a:pPr algn="ctr">
                    <a:spcBef>
                      <a:spcPct val="50000"/>
                    </a:spcBef>
                  </a:pPr>
                  <a:r>
                    <a:rPr lang="zh-CN" altLang="en-US" sz="2000" dirty="0">
                      <a:latin typeface="Tahoma" panose="020B0604030504040204" charset="0"/>
                      <a:ea typeface="宋体" panose="02010600030101010101" pitchFamily="2" charset="-122"/>
                    </a:rPr>
                    <a:t>输出</a:t>
                  </a:r>
                  <a:r>
                    <a:rPr lang="en-US" altLang="zh-CN" sz="2000" dirty="0">
                      <a:latin typeface="Tahoma" panose="020B0604030504040204" charset="0"/>
                      <a:ea typeface="宋体" panose="02010600030101010101" pitchFamily="2" charset="-122"/>
                    </a:rPr>
                    <a:t>0,1,3</a:t>
                  </a:r>
                  <a:r>
                    <a:rPr lang="zh-CN" altLang="en-US" sz="2000" dirty="0">
                      <a:latin typeface="Tahoma" panose="020B0604030504040204" charset="0"/>
                      <a:ea typeface="宋体" panose="02010600030101010101" pitchFamily="2" charset="-122"/>
                    </a:rPr>
                    <a:t>之后</a:t>
                  </a:r>
                  <a:endParaRPr lang="zh-CN" altLang="en-US" sz="2000" dirty="0">
                    <a:latin typeface="Tahoma" panose="020B0604030504040204" charset="0"/>
                    <a:ea typeface="宋体" panose="02010600030101010101" pitchFamily="2" charset="-122"/>
                  </a:endParaRPr>
                </a:p>
              </p:txBody>
            </p:sp>
          </p:grpSp>
          <p:grpSp>
            <p:nvGrpSpPr>
              <p:cNvPr id="10" name="组合 9"/>
              <p:cNvGrpSpPr/>
              <p:nvPr/>
            </p:nvGrpSpPr>
            <p:grpSpPr>
              <a:xfrm>
                <a:off x="15663" y="4465"/>
                <a:ext cx="3295" cy="1555"/>
                <a:chOff x="8352" y="7210"/>
                <a:chExt cx="3295" cy="1555"/>
              </a:xfrm>
            </p:grpSpPr>
            <p:sp>
              <p:nvSpPr>
                <p:cNvPr id="118822" name="Oval 38"/>
                <p:cNvSpPr/>
                <p:nvPr/>
              </p:nvSpPr>
              <p:spPr>
                <a:xfrm>
                  <a:off x="10505" y="7210"/>
                  <a:ext cx="450" cy="423"/>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4</a:t>
                  </a:r>
                  <a:endParaRPr lang="en-US" altLang="zh-CN" sz="2000" dirty="0">
                    <a:solidFill>
                      <a:schemeClr val="bg1"/>
                    </a:solidFill>
                    <a:latin typeface="Tahoma" panose="020B0604030504040204" charset="0"/>
                    <a:ea typeface="宋体" panose="02010600030101010101" pitchFamily="2" charset="-122"/>
                  </a:endParaRPr>
                </a:p>
              </p:txBody>
            </p:sp>
            <p:sp>
              <p:nvSpPr>
                <p:cNvPr id="118823" name="Text Box 39"/>
                <p:cNvSpPr txBox="1"/>
                <p:nvPr/>
              </p:nvSpPr>
              <p:spPr>
                <a:xfrm>
                  <a:off x="8352" y="8265"/>
                  <a:ext cx="3295" cy="500"/>
                </a:xfrm>
                <a:prstGeom prst="rect">
                  <a:avLst/>
                </a:prstGeom>
                <a:noFill/>
                <a:ln w="9525">
                  <a:noFill/>
                </a:ln>
              </p:spPr>
              <p:txBody>
                <a:bodyPr wrap="square" anchor="t" anchorCtr="0">
                  <a:spAutoFit/>
                </a:bodyPr>
                <a:p>
                  <a:pPr algn="ctr">
                    <a:spcBef>
                      <a:spcPct val="50000"/>
                    </a:spcBef>
                  </a:pPr>
                  <a:r>
                    <a:rPr lang="zh-CN" altLang="en-US" sz="2000" dirty="0">
                      <a:latin typeface="Tahoma" panose="020B0604030504040204" charset="0"/>
                      <a:ea typeface="宋体" panose="02010600030101010101" pitchFamily="2" charset="-122"/>
                    </a:rPr>
                    <a:t>输出</a:t>
                  </a:r>
                  <a:r>
                    <a:rPr lang="en-US" altLang="zh-CN" sz="2000" dirty="0">
                      <a:latin typeface="Tahoma" panose="020B0604030504040204" charset="0"/>
                      <a:ea typeface="宋体" panose="02010600030101010101" pitchFamily="2" charset="-122"/>
                    </a:rPr>
                    <a:t>0,1,3,2</a:t>
                  </a:r>
                  <a:r>
                    <a:rPr lang="zh-CN" altLang="en-US" sz="2000" dirty="0">
                      <a:latin typeface="Tahoma" panose="020B0604030504040204" charset="0"/>
                      <a:ea typeface="宋体" panose="02010600030101010101" pitchFamily="2" charset="-122"/>
                    </a:rPr>
                    <a:t>之后</a:t>
                  </a:r>
                  <a:endParaRPr lang="zh-CN" altLang="en-US" sz="2000" dirty="0">
                    <a:latin typeface="Tahoma" panose="020B0604030504040204" charset="0"/>
                    <a:ea typeface="宋体" panose="02010600030101010101" pitchFamily="2" charset="-122"/>
                  </a:endParaRPr>
                </a:p>
              </p:txBody>
            </p:sp>
          </p:grpSp>
        </p:grpSp>
        <p:sp>
          <p:nvSpPr>
            <p:cNvPr id="11" name="Text Box 39"/>
            <p:cNvSpPr txBox="1"/>
            <p:nvPr/>
          </p:nvSpPr>
          <p:spPr>
            <a:xfrm>
              <a:off x="6538" y="7755"/>
              <a:ext cx="7442" cy="628"/>
            </a:xfrm>
            <a:prstGeom prst="rect">
              <a:avLst/>
            </a:prstGeom>
            <a:noFill/>
            <a:ln w="9525">
              <a:noFill/>
            </a:ln>
          </p:spPr>
          <p:txBody>
            <a:bodyPr wrap="square" anchor="t" anchorCtr="0">
              <a:spAutoFit/>
            </a:bodyPr>
            <a:p>
              <a:pPr algn="ctr">
                <a:spcBef>
                  <a:spcPct val="50000"/>
                </a:spcBef>
              </a:pPr>
              <a:r>
                <a:rPr lang="zh-CN" altLang="en-US" sz="2000" dirty="0">
                  <a:latin typeface="Tahoma" panose="020B0604030504040204" charset="0"/>
                  <a:ea typeface="宋体" panose="02010600030101010101" pitchFamily="2" charset="-122"/>
                </a:rPr>
                <a:t>拓扑排序的</a:t>
              </a:r>
              <a:r>
                <a:rPr lang="zh-CN" altLang="en-US" sz="2000" dirty="0">
                  <a:latin typeface="Tahoma" panose="020B0604030504040204" charset="0"/>
                  <a:ea typeface="宋体" panose="02010600030101010101" pitchFamily="2" charset="-122"/>
                </a:rPr>
                <a:t>序列：</a:t>
              </a:r>
              <a:r>
                <a:rPr lang="en-US" altLang="zh-CN" sz="2000" dirty="0">
                  <a:latin typeface="Tahoma" panose="020B0604030504040204" charset="0"/>
                  <a:ea typeface="宋体" panose="02010600030101010101" pitchFamily="2" charset="-122"/>
                </a:rPr>
                <a:t>0,1,3,2,4</a:t>
              </a:r>
              <a:endParaRPr lang="zh-CN" altLang="en-US" sz="2000" dirty="0">
                <a:latin typeface="Tahoma" panose="020B0604030504040204" charset="0"/>
                <a:ea typeface="宋体" panose="02010600030101010101" pitchFamily="2" charset="-122"/>
              </a:endParaRPr>
            </a:p>
          </p:txBody>
        </p:sp>
      </p:grpSp>
      <p:sp>
        <p:nvSpPr>
          <p:cNvPr id="13" name="文本框 12"/>
          <p:cNvSpPr txBox="1"/>
          <p:nvPr/>
        </p:nvSpPr>
        <p:spPr>
          <a:xfrm>
            <a:off x="429260" y="5568950"/>
            <a:ext cx="11088370" cy="513080"/>
          </a:xfrm>
          <a:prstGeom prst="rect">
            <a:avLst/>
          </a:prstGeom>
        </p:spPr>
        <p:txBody>
          <a:bodyPr vert="horz" wrap="square" lIns="91440" tIns="45720" rIns="91440" bIns="45720" rtlCol="0" anchor="t">
            <a:noAutofit/>
          </a:bodyPr>
          <a:p>
            <a:pPr marL="0" lvl="0" indent="0">
              <a:lnSpc>
                <a:spcPct val="90000"/>
              </a:lnSpc>
              <a:spcBef>
                <a:spcPts val="1000"/>
              </a:spcBef>
              <a:buClr>
                <a:schemeClr val="accent2"/>
              </a:buClr>
              <a:buFont typeface="Wingdings" panose="05000000000000000000" pitchFamily="2" charset="2"/>
              <a:buNone/>
            </a:pPr>
            <a:r>
              <a:rPr lang="zh-CN" altLang="zh-CN"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拓扑排序的结果可以看出：</a:t>
            </a:r>
            <a:r>
              <a:rPr lang="zh-CN" altLang="zh-CN"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可以从一个有向图求出一个拓扑有序序列</a:t>
            </a:r>
            <a:endParaRPr lang="zh-CN" altLang="zh-CN"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1812290"/>
          </a:xfrm>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拓扑排序的作用：我们可以通过求解一个DAG的拓扑有序序列，来求得一个项目中各个子活动之间的次序关系</a:t>
            </a:r>
            <a:endPar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marL="609600" lvl="1" algn="l" eaLnBrk="1" hangingPunct="1">
              <a:buClrTx/>
              <a:buSzTx/>
              <a:buNone/>
            </a:pPr>
            <a:r>
              <a:rPr lang="zh-CN" altLang="en-US" sz="2400" dirty="0">
                <a:latin typeface="黑体" panose="02010609060101010101" pitchFamily="2" charset="-122"/>
                <a:ea typeface="黑体" panose="02010609060101010101" pitchFamily="2" charset="-122"/>
                <a:cs typeface="+mn-ea"/>
                <a:sym typeface="+mn-ea"/>
              </a:rPr>
              <a:t>例如软件专业的学生必须学习一系列课程，某些课程是其他课程的先修课，即课程之间有先后关系，求学生修课顺序</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20836" name="Group 5"/>
          <p:cNvGrpSpPr/>
          <p:nvPr/>
        </p:nvGrpSpPr>
        <p:grpSpPr>
          <a:xfrm>
            <a:off x="2279650" y="2852738"/>
            <a:ext cx="7056438" cy="3433554"/>
            <a:chOff x="748" y="1417"/>
            <a:chExt cx="4445" cy="2489"/>
          </a:xfrm>
        </p:grpSpPr>
        <p:grpSp>
          <p:nvGrpSpPr>
            <p:cNvPr id="120837" name="Group 6"/>
            <p:cNvGrpSpPr/>
            <p:nvPr/>
          </p:nvGrpSpPr>
          <p:grpSpPr>
            <a:xfrm>
              <a:off x="748" y="1417"/>
              <a:ext cx="4439" cy="2489"/>
              <a:chOff x="703" y="1417"/>
              <a:chExt cx="4439" cy="2489"/>
            </a:xfrm>
          </p:grpSpPr>
          <p:sp>
            <p:nvSpPr>
              <p:cNvPr id="120838" name="Rectangle 7"/>
              <p:cNvSpPr/>
              <p:nvPr/>
            </p:nvSpPr>
            <p:spPr>
              <a:xfrm>
                <a:off x="793" y="1417"/>
                <a:ext cx="4150" cy="267"/>
              </a:xfrm>
              <a:prstGeom prst="rect">
                <a:avLst/>
              </a:prstGeom>
              <a:noFill/>
              <a:ln w="9525">
                <a:noFill/>
              </a:ln>
            </p:spPr>
            <p:txBody>
              <a:bodyPr wrap="none" anchor="ctr" anchorCtr="0">
                <a:spAutoFit/>
              </a:bodyPr>
              <a:p>
                <a:r>
                  <a:rPr lang="zh-CN" altLang="en-US" sz="1800" b="1" dirty="0">
                    <a:latin typeface="Times New Roman" panose="02020603050405020304" pitchFamily="18" charset="0"/>
                    <a:ea typeface="宋体" panose="02010600030101010101" pitchFamily="2" charset="-122"/>
                  </a:rPr>
                  <a:t>课程编号		课程名称		先决条件</a:t>
                </a:r>
                <a:endParaRPr lang="zh-CN" altLang="en-US" sz="1800" b="1" dirty="0">
                  <a:latin typeface="Times New Roman" panose="02020603050405020304" pitchFamily="18" charset="0"/>
                  <a:ea typeface="宋体" panose="02010600030101010101" pitchFamily="2" charset="-122"/>
                </a:endParaRPr>
              </a:p>
            </p:txBody>
          </p:sp>
          <p:sp>
            <p:nvSpPr>
              <p:cNvPr id="120839" name="Rectangle 8"/>
              <p:cNvSpPr/>
              <p:nvPr/>
            </p:nvSpPr>
            <p:spPr>
              <a:xfrm>
                <a:off x="1019" y="1598"/>
                <a:ext cx="3716" cy="267"/>
              </a:xfrm>
              <a:prstGeom prst="rect">
                <a:avLst/>
              </a:prstGeom>
              <a:noFill/>
              <a:ln w="9525">
                <a:noFill/>
              </a:ln>
            </p:spPr>
            <p:txBody>
              <a:bodyPr wrap="none" anchor="ctr" anchorCtr="0">
                <a:spAutoFit/>
              </a:bodyPr>
              <a:p>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1</a:t>
                </a:r>
                <a:r>
                  <a:rPr lang="en-US" altLang="zh-CN" sz="1800" b="1" dirty="0">
                    <a:latin typeface="Times New Roman" panose="02020603050405020304" pitchFamily="18" charset="0"/>
                    <a:ea typeface="宋体" panose="02010600030101010101" pitchFamily="2" charset="-122"/>
                  </a:rPr>
                  <a:t>		      </a:t>
                </a:r>
                <a:r>
                  <a:rPr lang="zh-CN" altLang="en-US" sz="1800" b="1" dirty="0">
                    <a:latin typeface="Times New Roman" panose="02020603050405020304" pitchFamily="18" charset="0"/>
                    <a:ea typeface="宋体" panose="02010600030101010101" pitchFamily="2" charset="-122"/>
                  </a:rPr>
                  <a:t>程序设计基础			无</a:t>
                </a:r>
                <a:endParaRPr lang="zh-CN" altLang="en-US" sz="1800" b="1" dirty="0">
                  <a:latin typeface="Times New Roman" panose="02020603050405020304" pitchFamily="18" charset="0"/>
                  <a:ea typeface="宋体" panose="02010600030101010101" pitchFamily="2" charset="-122"/>
                </a:endParaRPr>
              </a:p>
            </p:txBody>
          </p:sp>
          <p:sp>
            <p:nvSpPr>
              <p:cNvPr id="120840" name="Rectangle 9"/>
              <p:cNvSpPr/>
              <p:nvPr/>
            </p:nvSpPr>
            <p:spPr>
              <a:xfrm>
                <a:off x="1020" y="1780"/>
                <a:ext cx="3758" cy="267"/>
              </a:xfrm>
              <a:prstGeom prst="rect">
                <a:avLst/>
              </a:prstGeom>
              <a:noFill/>
              <a:ln w="9525">
                <a:noFill/>
              </a:ln>
            </p:spPr>
            <p:txBody>
              <a:bodyPr wrap="none" anchor="ctr" anchorCtr="0">
                <a:spAutoFit/>
              </a:bodyPr>
              <a:p>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2</a:t>
                </a:r>
                <a:r>
                  <a:rPr lang="en-US" altLang="zh-CN" sz="1800" b="1" dirty="0">
                    <a:latin typeface="Times New Roman" panose="02020603050405020304" pitchFamily="18" charset="0"/>
                    <a:ea typeface="宋体" panose="02010600030101010101" pitchFamily="2" charset="-122"/>
                  </a:rPr>
                  <a:t>		          </a:t>
                </a:r>
                <a:r>
                  <a:rPr lang="zh-CN" altLang="en-US" sz="1800" b="1" dirty="0">
                    <a:latin typeface="Times New Roman" panose="02020603050405020304" pitchFamily="18" charset="0"/>
                    <a:ea typeface="宋体" panose="02010600030101010101" pitchFamily="2" charset="-122"/>
                  </a:rPr>
                  <a:t>离散数学			 </a:t>
                </a:r>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p:txBody>
          </p:sp>
          <p:sp>
            <p:nvSpPr>
              <p:cNvPr id="120841" name="Rectangle 10"/>
              <p:cNvSpPr/>
              <p:nvPr/>
            </p:nvSpPr>
            <p:spPr>
              <a:xfrm>
                <a:off x="1020" y="1962"/>
                <a:ext cx="3874" cy="267"/>
              </a:xfrm>
              <a:prstGeom prst="rect">
                <a:avLst/>
              </a:prstGeom>
              <a:noFill/>
              <a:ln w="9525">
                <a:noFill/>
              </a:ln>
            </p:spPr>
            <p:txBody>
              <a:bodyPr wrap="none" anchor="ctr" anchorCtr="0">
                <a:spAutoFit/>
              </a:bodyPr>
              <a:p>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3</a:t>
                </a:r>
                <a:r>
                  <a:rPr lang="en-US" altLang="zh-CN" sz="1800" b="1" dirty="0">
                    <a:latin typeface="Times New Roman" panose="02020603050405020304" pitchFamily="18" charset="0"/>
                    <a:ea typeface="宋体" panose="02010600030101010101" pitchFamily="2" charset="-122"/>
                  </a:rPr>
                  <a:t>		          </a:t>
                </a:r>
                <a:r>
                  <a:rPr lang="zh-CN" altLang="en-US" sz="1800" b="1" dirty="0">
                    <a:latin typeface="Times New Roman" panose="02020603050405020304" pitchFamily="18" charset="0"/>
                    <a:ea typeface="宋体" panose="02010600030101010101" pitchFamily="2" charset="-122"/>
                  </a:rPr>
                  <a:t>数据结构		            </a:t>
                </a:r>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1</a:t>
                </a:r>
                <a:r>
                  <a:rPr lang="zh-CN" altLang="en-US" sz="1800" b="1" dirty="0">
                    <a:latin typeface="Times New Roman" panose="02020603050405020304" pitchFamily="18" charset="0"/>
                    <a:ea typeface="宋体" panose="02010600030101010101" pitchFamily="2" charset="-122"/>
                  </a:rPr>
                  <a:t>，</a:t>
                </a:r>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2</a:t>
                </a:r>
                <a:endParaRPr lang="en-US" altLang="zh-CN" sz="1800" b="1" dirty="0">
                  <a:latin typeface="Times New Roman" panose="02020603050405020304" pitchFamily="18" charset="0"/>
                  <a:ea typeface="宋体" panose="02010600030101010101" pitchFamily="2" charset="-122"/>
                </a:endParaRPr>
              </a:p>
            </p:txBody>
          </p:sp>
          <p:sp>
            <p:nvSpPr>
              <p:cNvPr id="120842" name="Rectangle 11"/>
              <p:cNvSpPr/>
              <p:nvPr/>
            </p:nvSpPr>
            <p:spPr>
              <a:xfrm>
                <a:off x="975" y="2142"/>
                <a:ext cx="3794" cy="267"/>
              </a:xfrm>
              <a:prstGeom prst="rect">
                <a:avLst/>
              </a:prstGeom>
              <a:noFill/>
              <a:ln w="9525">
                <a:noFill/>
              </a:ln>
            </p:spPr>
            <p:txBody>
              <a:bodyPr wrap="none" anchor="ctr" anchorCtr="0">
                <a:spAutoFit/>
              </a:bodyPr>
              <a:p>
                <a:r>
                  <a:rPr lang="zh-CN" altLang="en-US" sz="1000"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4</a:t>
                </a:r>
                <a:r>
                  <a:rPr lang="en-US" altLang="zh-CN" sz="1800" b="1" dirty="0">
                    <a:latin typeface="Times New Roman" panose="02020603050405020304" pitchFamily="18" charset="0"/>
                    <a:ea typeface="宋体" panose="02010600030101010101" pitchFamily="2" charset="-122"/>
                  </a:rPr>
                  <a:t>		            </a:t>
                </a:r>
                <a:r>
                  <a:rPr lang="zh-CN" altLang="en-US" sz="1800" b="1" dirty="0">
                    <a:latin typeface="Times New Roman" panose="02020603050405020304" pitchFamily="18" charset="0"/>
                    <a:ea typeface="宋体" panose="02010600030101010101" pitchFamily="2" charset="-122"/>
                  </a:rPr>
                  <a:t>汇编语言			  </a:t>
                </a:r>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p:txBody>
          </p:sp>
          <p:sp>
            <p:nvSpPr>
              <p:cNvPr id="120843" name="Rectangle 12"/>
              <p:cNvSpPr/>
              <p:nvPr/>
            </p:nvSpPr>
            <p:spPr>
              <a:xfrm>
                <a:off x="930" y="2324"/>
                <a:ext cx="3946" cy="267"/>
              </a:xfrm>
              <a:prstGeom prst="rect">
                <a:avLst/>
              </a:prstGeom>
              <a:noFill/>
              <a:ln w="9525">
                <a:noFill/>
              </a:ln>
            </p:spPr>
            <p:txBody>
              <a:bodyPr wrap="none" anchor="ctr" anchorCtr="0">
                <a:spAutoFit/>
              </a:bodyPr>
              <a:p>
                <a:r>
                  <a:rPr lang="zh-CN" altLang="en-US" sz="1800" b="1"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5</a:t>
                </a:r>
                <a:r>
                  <a:rPr lang="en-US" altLang="zh-CN" sz="1800" b="1" dirty="0">
                    <a:latin typeface="Times New Roman" panose="02020603050405020304" pitchFamily="18" charset="0"/>
                    <a:ea typeface="宋体" panose="02010600030101010101" pitchFamily="2" charset="-122"/>
                  </a:rPr>
                  <a:t>		      </a:t>
                </a:r>
                <a:r>
                  <a:rPr lang="zh-CN" altLang="en-US" sz="1800" b="1" dirty="0">
                    <a:latin typeface="Times New Roman" panose="02020603050405020304" pitchFamily="18" charset="0"/>
                    <a:ea typeface="宋体" panose="02010600030101010101" pitchFamily="2" charset="-122"/>
                  </a:rPr>
                  <a:t>语言的设计和分析	              </a:t>
                </a:r>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3</a:t>
                </a:r>
                <a:r>
                  <a:rPr lang="zh-CN" altLang="en-US" sz="1800" b="1" dirty="0">
                    <a:latin typeface="Times New Roman" panose="02020603050405020304" pitchFamily="18" charset="0"/>
                    <a:ea typeface="宋体" panose="02010600030101010101" pitchFamily="2" charset="-122"/>
                  </a:rPr>
                  <a:t>，</a:t>
                </a:r>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4</a:t>
                </a:r>
                <a:endParaRPr lang="en-US" altLang="zh-CN" sz="1800" b="1" dirty="0">
                  <a:latin typeface="Times New Roman" panose="02020603050405020304" pitchFamily="18" charset="0"/>
                  <a:ea typeface="宋体" panose="02010600030101010101" pitchFamily="2" charset="-122"/>
                </a:endParaRPr>
              </a:p>
            </p:txBody>
          </p:sp>
          <p:sp>
            <p:nvSpPr>
              <p:cNvPr id="120844" name="Rectangle 13"/>
              <p:cNvSpPr/>
              <p:nvPr/>
            </p:nvSpPr>
            <p:spPr>
              <a:xfrm>
                <a:off x="1009" y="2505"/>
                <a:ext cx="3761" cy="267"/>
              </a:xfrm>
              <a:prstGeom prst="rect">
                <a:avLst/>
              </a:prstGeom>
              <a:noFill/>
              <a:ln w="9525">
                <a:noFill/>
              </a:ln>
            </p:spPr>
            <p:txBody>
              <a:bodyPr wrap="none" anchor="ctr" anchorCtr="0">
                <a:spAutoFit/>
              </a:bodyPr>
              <a:p>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6</a:t>
                </a:r>
                <a:r>
                  <a:rPr lang="en-US" altLang="zh-CN" sz="1800" b="1" dirty="0">
                    <a:latin typeface="Times New Roman" panose="02020603050405020304" pitchFamily="18" charset="0"/>
                    <a:ea typeface="宋体" panose="02010600030101010101" pitchFamily="2" charset="-122"/>
                  </a:rPr>
                  <a:t>		         </a:t>
                </a:r>
                <a:r>
                  <a:rPr lang="zh-CN" altLang="en-US" sz="1800" b="1" dirty="0">
                    <a:latin typeface="Times New Roman" panose="02020603050405020304" pitchFamily="18" charset="0"/>
                    <a:ea typeface="宋体" panose="02010600030101010101" pitchFamily="2" charset="-122"/>
                  </a:rPr>
                  <a:t>计算机原理			</a:t>
                </a:r>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11</a:t>
                </a:r>
                <a:endParaRPr lang="en-US" altLang="zh-CN" sz="1800" b="1" dirty="0">
                  <a:latin typeface="Times New Roman" panose="02020603050405020304" pitchFamily="18" charset="0"/>
                  <a:ea typeface="宋体" panose="02010600030101010101" pitchFamily="2" charset="-122"/>
                </a:endParaRPr>
              </a:p>
            </p:txBody>
          </p:sp>
          <p:sp>
            <p:nvSpPr>
              <p:cNvPr id="120845" name="Rectangle 14"/>
              <p:cNvSpPr/>
              <p:nvPr/>
            </p:nvSpPr>
            <p:spPr>
              <a:xfrm>
                <a:off x="975" y="2687"/>
                <a:ext cx="3910" cy="267"/>
              </a:xfrm>
              <a:prstGeom prst="rect">
                <a:avLst/>
              </a:prstGeom>
              <a:noFill/>
              <a:ln w="9525">
                <a:noFill/>
              </a:ln>
            </p:spPr>
            <p:txBody>
              <a:bodyPr wrap="none" anchor="ctr" anchorCtr="0">
                <a:spAutoFit/>
              </a:bodyPr>
              <a:p>
                <a:r>
                  <a:rPr lang="zh-CN" altLang="en-US" sz="1000"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7</a:t>
                </a:r>
                <a:r>
                  <a:rPr lang="en-US" altLang="zh-CN" sz="1800" b="1" dirty="0">
                    <a:latin typeface="Times New Roman" panose="02020603050405020304" pitchFamily="18" charset="0"/>
                    <a:ea typeface="宋体" panose="02010600030101010101" pitchFamily="2" charset="-122"/>
                  </a:rPr>
                  <a:t>		            </a:t>
                </a:r>
                <a:r>
                  <a:rPr lang="zh-CN" altLang="en-US" sz="1800" b="1" dirty="0">
                    <a:latin typeface="Times New Roman" panose="02020603050405020304" pitchFamily="18" charset="0"/>
                    <a:ea typeface="宋体" panose="02010600030101010101" pitchFamily="2" charset="-122"/>
                  </a:rPr>
                  <a:t>编译原理		             </a:t>
                </a:r>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3</a:t>
                </a:r>
                <a:r>
                  <a:rPr lang="zh-CN" altLang="en-US" sz="1800" b="1" dirty="0">
                    <a:latin typeface="Times New Roman" panose="02020603050405020304" pitchFamily="18" charset="0"/>
                    <a:ea typeface="宋体" panose="02010600030101010101" pitchFamily="2" charset="-122"/>
                  </a:rPr>
                  <a:t>，</a:t>
                </a:r>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5</a:t>
                </a:r>
                <a:endParaRPr lang="en-US" altLang="zh-CN" sz="1800" b="1" dirty="0">
                  <a:latin typeface="Times New Roman" panose="02020603050405020304" pitchFamily="18" charset="0"/>
                  <a:ea typeface="宋体" panose="02010600030101010101" pitchFamily="2" charset="-122"/>
                </a:endParaRPr>
              </a:p>
            </p:txBody>
          </p:sp>
          <p:sp>
            <p:nvSpPr>
              <p:cNvPr id="120846" name="Rectangle 15"/>
              <p:cNvSpPr/>
              <p:nvPr/>
            </p:nvSpPr>
            <p:spPr>
              <a:xfrm>
                <a:off x="1001" y="2864"/>
                <a:ext cx="3874" cy="267"/>
              </a:xfrm>
              <a:prstGeom prst="rect">
                <a:avLst/>
              </a:prstGeom>
              <a:noFill/>
              <a:ln w="9525">
                <a:noFill/>
              </a:ln>
            </p:spPr>
            <p:txBody>
              <a:bodyPr wrap="none" anchor="ctr" anchorCtr="0">
                <a:spAutoFit/>
              </a:bodyPr>
              <a:p>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8</a:t>
                </a:r>
                <a:r>
                  <a:rPr lang="en-US" altLang="zh-CN" sz="1800" b="1" dirty="0">
                    <a:latin typeface="Times New Roman" panose="02020603050405020304" pitchFamily="18" charset="0"/>
                    <a:ea typeface="宋体" panose="02010600030101010101" pitchFamily="2" charset="-122"/>
                  </a:rPr>
                  <a:t>		           </a:t>
                </a:r>
                <a:r>
                  <a:rPr lang="zh-CN" altLang="en-US" sz="1800" b="1" dirty="0">
                    <a:latin typeface="Times New Roman" panose="02020603050405020304" pitchFamily="18" charset="0"/>
                    <a:ea typeface="宋体" panose="02010600030101010101" pitchFamily="2" charset="-122"/>
                  </a:rPr>
                  <a:t>操作系统		            </a:t>
                </a:r>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3</a:t>
                </a:r>
                <a:r>
                  <a:rPr lang="zh-CN" altLang="en-US" sz="1800" b="1" dirty="0">
                    <a:latin typeface="Times New Roman" panose="02020603050405020304" pitchFamily="18" charset="0"/>
                    <a:ea typeface="宋体" panose="02010600030101010101" pitchFamily="2" charset="-122"/>
                  </a:rPr>
                  <a:t>，</a:t>
                </a:r>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6</a:t>
                </a:r>
                <a:endParaRPr lang="en-US" altLang="zh-CN" sz="1800" b="1" dirty="0">
                  <a:latin typeface="Times New Roman" panose="02020603050405020304" pitchFamily="18" charset="0"/>
                  <a:ea typeface="宋体" panose="02010600030101010101" pitchFamily="2" charset="-122"/>
                </a:endParaRPr>
              </a:p>
            </p:txBody>
          </p:sp>
          <p:sp>
            <p:nvSpPr>
              <p:cNvPr id="120847" name="Rectangle 16"/>
              <p:cNvSpPr/>
              <p:nvPr/>
            </p:nvSpPr>
            <p:spPr>
              <a:xfrm>
                <a:off x="975" y="3095"/>
                <a:ext cx="3788" cy="267"/>
              </a:xfrm>
              <a:prstGeom prst="rect">
                <a:avLst/>
              </a:prstGeom>
              <a:noFill/>
              <a:ln w="9525">
                <a:noFill/>
              </a:ln>
            </p:spPr>
            <p:txBody>
              <a:bodyPr wrap="none" anchor="ctr" anchorCtr="0">
                <a:spAutoFit/>
              </a:bodyPr>
              <a:p>
                <a:r>
                  <a:rPr lang="zh-CN" altLang="en-US" sz="1000"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9</a:t>
                </a:r>
                <a:r>
                  <a:rPr lang="en-US" altLang="zh-CN" sz="1800" b="1" dirty="0">
                    <a:latin typeface="Times New Roman" panose="02020603050405020304" pitchFamily="18" charset="0"/>
                    <a:ea typeface="宋体" panose="02010600030101010101" pitchFamily="2" charset="-122"/>
                  </a:rPr>
                  <a:t>		            </a:t>
                </a:r>
                <a:r>
                  <a:rPr lang="zh-CN" altLang="en-US" sz="1800" b="1" dirty="0">
                    <a:latin typeface="Times New Roman" panose="02020603050405020304" pitchFamily="18" charset="0"/>
                    <a:ea typeface="宋体" panose="02010600030101010101" pitchFamily="2" charset="-122"/>
                  </a:rPr>
                  <a:t>高等数学			  无</a:t>
                </a:r>
                <a:endParaRPr lang="zh-CN" altLang="en-US" sz="1800" b="1" dirty="0">
                  <a:latin typeface="Times New Roman" panose="02020603050405020304" pitchFamily="18" charset="0"/>
                  <a:ea typeface="宋体" panose="02010600030101010101" pitchFamily="2" charset="-122"/>
                </a:endParaRPr>
              </a:p>
            </p:txBody>
          </p:sp>
          <p:sp>
            <p:nvSpPr>
              <p:cNvPr id="120848" name="Rectangle 17"/>
              <p:cNvSpPr/>
              <p:nvPr/>
            </p:nvSpPr>
            <p:spPr>
              <a:xfrm>
                <a:off x="708" y="3276"/>
                <a:ext cx="4082" cy="267"/>
              </a:xfrm>
              <a:prstGeom prst="rect">
                <a:avLst/>
              </a:prstGeom>
              <a:noFill/>
              <a:ln w="9525">
                <a:noFill/>
              </a:ln>
            </p:spPr>
            <p:txBody>
              <a:bodyPr wrap="none" anchor="ctr" anchorCtr="0">
                <a:spAutoFit/>
              </a:bodyPr>
              <a:p>
                <a:pPr indent="400050"/>
                <a:r>
                  <a:rPr lang="zh-CN" altLang="en-US" sz="1000"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10</a:t>
                </a:r>
                <a:r>
                  <a:rPr lang="en-US" altLang="zh-CN" sz="1800" b="1" dirty="0">
                    <a:latin typeface="Times New Roman" panose="02020603050405020304" pitchFamily="18" charset="0"/>
                    <a:ea typeface="宋体" panose="02010600030101010101" pitchFamily="2" charset="-122"/>
                  </a:rPr>
                  <a:t>			   </a:t>
                </a:r>
                <a:r>
                  <a:rPr lang="zh-CN" altLang="en-US" sz="1800" b="1" dirty="0">
                    <a:latin typeface="Times New Roman" panose="02020603050405020304" pitchFamily="18" charset="0"/>
                    <a:ea typeface="宋体" panose="02010600030101010101" pitchFamily="2" charset="-122"/>
                  </a:rPr>
                  <a:t>线性代数		          </a:t>
                </a:r>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9</a:t>
                </a:r>
                <a:endParaRPr lang="en-US" altLang="zh-CN" sz="1800" b="1" dirty="0">
                  <a:latin typeface="Times New Roman" panose="02020603050405020304" pitchFamily="18" charset="0"/>
                  <a:ea typeface="宋体" panose="02010600030101010101" pitchFamily="2" charset="-122"/>
                </a:endParaRPr>
              </a:p>
            </p:txBody>
          </p:sp>
          <p:sp>
            <p:nvSpPr>
              <p:cNvPr id="120849" name="Rectangle 18"/>
              <p:cNvSpPr/>
              <p:nvPr/>
            </p:nvSpPr>
            <p:spPr>
              <a:xfrm>
                <a:off x="998" y="3639"/>
                <a:ext cx="4144" cy="267"/>
              </a:xfrm>
              <a:prstGeom prst="rect">
                <a:avLst/>
              </a:prstGeom>
              <a:noFill/>
              <a:ln w="9525">
                <a:noFill/>
              </a:ln>
            </p:spPr>
            <p:txBody>
              <a:bodyPr wrap="none" anchor="ctr" anchorCtr="0">
                <a:spAutoFit/>
              </a:bodyPr>
              <a:p>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12</a:t>
                </a:r>
                <a:r>
                  <a:rPr lang="en-US" altLang="zh-CN" sz="1800" b="1" dirty="0">
                    <a:latin typeface="Times New Roman" panose="02020603050405020304" pitchFamily="18" charset="0"/>
                    <a:ea typeface="宋体" panose="02010600030101010101" pitchFamily="2" charset="-122"/>
                  </a:rPr>
                  <a:t>		            </a:t>
                </a:r>
                <a:r>
                  <a:rPr lang="zh-CN" altLang="en-US" sz="1800" b="1" dirty="0">
                    <a:latin typeface="Times New Roman" panose="02020603050405020304" pitchFamily="18" charset="0"/>
                    <a:ea typeface="宋体" panose="02010600030101010101" pitchFamily="2" charset="-122"/>
                  </a:rPr>
                  <a:t>数值分析		          </a:t>
                </a:r>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9</a:t>
                </a:r>
                <a:r>
                  <a:rPr lang="zh-CN" altLang="en-US" sz="1800" b="1" dirty="0">
                    <a:latin typeface="Times New Roman" panose="02020603050405020304" pitchFamily="18" charset="0"/>
                    <a:ea typeface="宋体" panose="02010600030101010101" pitchFamily="2" charset="-122"/>
                  </a:rPr>
                  <a:t>，</a:t>
                </a:r>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10</a:t>
                </a:r>
                <a:r>
                  <a:rPr lang="zh-CN" altLang="en-US" sz="1800" b="1" dirty="0">
                    <a:latin typeface="Times New Roman" panose="02020603050405020304" pitchFamily="18" charset="0"/>
                    <a:ea typeface="宋体" panose="02010600030101010101" pitchFamily="2" charset="-122"/>
                  </a:rPr>
                  <a:t>，</a:t>
                </a:r>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1</a:t>
                </a:r>
                <a:endParaRPr lang="en-US" altLang="zh-CN" sz="1800" b="1" dirty="0">
                  <a:latin typeface="Times New Roman" panose="02020603050405020304" pitchFamily="18" charset="0"/>
                  <a:ea typeface="宋体" panose="02010600030101010101" pitchFamily="2" charset="-122"/>
                </a:endParaRPr>
              </a:p>
            </p:txBody>
          </p:sp>
          <p:sp>
            <p:nvSpPr>
              <p:cNvPr id="120850" name="Rectangle 19"/>
              <p:cNvSpPr/>
              <p:nvPr/>
            </p:nvSpPr>
            <p:spPr>
              <a:xfrm>
                <a:off x="703" y="3454"/>
                <a:ext cx="4082" cy="267"/>
              </a:xfrm>
              <a:prstGeom prst="rect">
                <a:avLst/>
              </a:prstGeom>
              <a:noFill/>
              <a:ln w="9525">
                <a:noFill/>
              </a:ln>
            </p:spPr>
            <p:txBody>
              <a:bodyPr wrap="none" anchor="ctr" anchorCtr="0">
                <a:spAutoFit/>
              </a:bodyPr>
              <a:p>
                <a:pPr indent="400050"/>
                <a:r>
                  <a:rPr lang="zh-CN" altLang="en-US" sz="1000" dirty="0">
                    <a:latin typeface="Times New Roman" panose="02020603050405020304" pitchFamily="18" charset="0"/>
                    <a:ea typeface="宋体" panose="02010600030101010101" pitchFamily="2" charset="-122"/>
                  </a:rPr>
                  <a:t>  </a:t>
                </a:r>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11</a:t>
                </a:r>
                <a:r>
                  <a:rPr lang="en-US" altLang="zh-CN" sz="1800" b="1" dirty="0">
                    <a:latin typeface="Times New Roman" panose="02020603050405020304" pitchFamily="18" charset="0"/>
                    <a:ea typeface="宋体" panose="02010600030101010101" pitchFamily="2" charset="-122"/>
                  </a:rPr>
                  <a:t>			   </a:t>
                </a:r>
                <a:r>
                  <a:rPr lang="zh-CN" altLang="en-US" sz="1800" b="1" dirty="0">
                    <a:latin typeface="Times New Roman" panose="02020603050405020304" pitchFamily="18" charset="0"/>
                    <a:ea typeface="宋体" panose="02010600030101010101" pitchFamily="2" charset="-122"/>
                  </a:rPr>
                  <a:t>普通物理		          </a:t>
                </a:r>
                <a:r>
                  <a:rPr lang="en-US" altLang="zh-CN" sz="1800" b="1" dirty="0">
                    <a:latin typeface="Times New Roman" panose="02020603050405020304" pitchFamily="18" charset="0"/>
                    <a:ea typeface="宋体" panose="02010600030101010101" pitchFamily="2" charset="-122"/>
                  </a:rPr>
                  <a:t>C</a:t>
                </a:r>
                <a:r>
                  <a:rPr lang="en-US" altLang="zh-CN" sz="1800" b="1" baseline="-30000" dirty="0">
                    <a:latin typeface="Times New Roman" panose="02020603050405020304" pitchFamily="18" charset="0"/>
                    <a:ea typeface="宋体" panose="02010600030101010101" pitchFamily="2" charset="-122"/>
                  </a:rPr>
                  <a:t>9</a:t>
                </a:r>
                <a:endParaRPr lang="en-US" altLang="zh-CN" sz="1800" b="1" dirty="0">
                  <a:latin typeface="Times New Roman" panose="02020603050405020304" pitchFamily="18" charset="0"/>
                  <a:ea typeface="宋体" panose="02010600030101010101" pitchFamily="2" charset="-122"/>
                </a:endParaRPr>
              </a:p>
            </p:txBody>
          </p:sp>
        </p:grpSp>
        <p:grpSp>
          <p:nvGrpSpPr>
            <p:cNvPr id="120851" name="Group 20"/>
            <p:cNvGrpSpPr/>
            <p:nvPr/>
          </p:nvGrpSpPr>
          <p:grpSpPr>
            <a:xfrm>
              <a:off x="793" y="1434"/>
              <a:ext cx="4400" cy="2449"/>
              <a:chOff x="793" y="1525"/>
              <a:chExt cx="4400" cy="2449"/>
            </a:xfrm>
          </p:grpSpPr>
          <p:sp>
            <p:nvSpPr>
              <p:cNvPr id="120852" name="Line 21"/>
              <p:cNvSpPr/>
              <p:nvPr/>
            </p:nvSpPr>
            <p:spPr>
              <a:xfrm>
                <a:off x="793" y="1525"/>
                <a:ext cx="4355" cy="0"/>
              </a:xfrm>
              <a:prstGeom prst="line">
                <a:avLst/>
              </a:prstGeom>
              <a:ln w="19050" cap="flat" cmpd="sng">
                <a:solidFill>
                  <a:schemeClr val="tx1"/>
                </a:solidFill>
                <a:prstDash val="solid"/>
                <a:round/>
                <a:headEnd type="none" w="med" len="med"/>
                <a:tailEnd type="none" w="med" len="med"/>
              </a:ln>
            </p:spPr>
          </p:sp>
          <p:sp>
            <p:nvSpPr>
              <p:cNvPr id="120853" name="Line 22"/>
              <p:cNvSpPr/>
              <p:nvPr/>
            </p:nvSpPr>
            <p:spPr>
              <a:xfrm>
                <a:off x="793" y="1752"/>
                <a:ext cx="4355" cy="0"/>
              </a:xfrm>
              <a:prstGeom prst="line">
                <a:avLst/>
              </a:prstGeom>
              <a:ln w="9525" cap="flat" cmpd="sng">
                <a:solidFill>
                  <a:schemeClr val="tx1"/>
                </a:solidFill>
                <a:prstDash val="solid"/>
                <a:round/>
                <a:headEnd type="none" w="med" len="med"/>
                <a:tailEnd type="none" w="med" len="med"/>
              </a:ln>
            </p:spPr>
          </p:sp>
          <p:sp>
            <p:nvSpPr>
              <p:cNvPr id="120854" name="Line 23"/>
              <p:cNvSpPr/>
              <p:nvPr/>
            </p:nvSpPr>
            <p:spPr>
              <a:xfrm>
                <a:off x="793" y="1933"/>
                <a:ext cx="4355" cy="0"/>
              </a:xfrm>
              <a:prstGeom prst="line">
                <a:avLst/>
              </a:prstGeom>
              <a:ln w="9525" cap="flat" cmpd="sng">
                <a:solidFill>
                  <a:schemeClr val="tx1"/>
                </a:solidFill>
                <a:prstDash val="solid"/>
                <a:round/>
                <a:headEnd type="none" w="med" len="med"/>
                <a:tailEnd type="none" w="med" len="med"/>
              </a:ln>
            </p:spPr>
          </p:sp>
          <p:sp>
            <p:nvSpPr>
              <p:cNvPr id="120855" name="Line 24"/>
              <p:cNvSpPr/>
              <p:nvPr/>
            </p:nvSpPr>
            <p:spPr>
              <a:xfrm>
                <a:off x="793" y="2115"/>
                <a:ext cx="4355" cy="0"/>
              </a:xfrm>
              <a:prstGeom prst="line">
                <a:avLst/>
              </a:prstGeom>
              <a:ln w="9525" cap="flat" cmpd="sng">
                <a:solidFill>
                  <a:schemeClr val="tx1"/>
                </a:solidFill>
                <a:prstDash val="solid"/>
                <a:round/>
                <a:headEnd type="none" w="med" len="med"/>
                <a:tailEnd type="none" w="med" len="med"/>
              </a:ln>
            </p:spPr>
          </p:sp>
          <p:sp>
            <p:nvSpPr>
              <p:cNvPr id="120856" name="Line 25"/>
              <p:cNvSpPr/>
              <p:nvPr/>
            </p:nvSpPr>
            <p:spPr>
              <a:xfrm>
                <a:off x="793" y="2296"/>
                <a:ext cx="4355" cy="0"/>
              </a:xfrm>
              <a:prstGeom prst="line">
                <a:avLst/>
              </a:prstGeom>
              <a:ln w="9525" cap="flat" cmpd="sng">
                <a:solidFill>
                  <a:schemeClr val="tx1"/>
                </a:solidFill>
                <a:prstDash val="solid"/>
                <a:round/>
                <a:headEnd type="none" w="med" len="med"/>
                <a:tailEnd type="none" w="med" len="med"/>
              </a:ln>
            </p:spPr>
          </p:sp>
          <p:sp>
            <p:nvSpPr>
              <p:cNvPr id="120857" name="Line 26"/>
              <p:cNvSpPr/>
              <p:nvPr/>
            </p:nvSpPr>
            <p:spPr>
              <a:xfrm>
                <a:off x="793" y="2478"/>
                <a:ext cx="4355" cy="0"/>
              </a:xfrm>
              <a:prstGeom prst="line">
                <a:avLst/>
              </a:prstGeom>
              <a:ln w="9525" cap="flat" cmpd="sng">
                <a:solidFill>
                  <a:schemeClr val="tx1"/>
                </a:solidFill>
                <a:prstDash val="solid"/>
                <a:round/>
                <a:headEnd type="none" w="med" len="med"/>
                <a:tailEnd type="none" w="med" len="med"/>
              </a:ln>
            </p:spPr>
          </p:sp>
          <p:sp>
            <p:nvSpPr>
              <p:cNvPr id="120858" name="Line 27"/>
              <p:cNvSpPr/>
              <p:nvPr/>
            </p:nvSpPr>
            <p:spPr>
              <a:xfrm>
                <a:off x="793" y="2659"/>
                <a:ext cx="4355" cy="0"/>
              </a:xfrm>
              <a:prstGeom prst="line">
                <a:avLst/>
              </a:prstGeom>
              <a:ln w="9525" cap="flat" cmpd="sng">
                <a:solidFill>
                  <a:schemeClr val="tx1"/>
                </a:solidFill>
                <a:prstDash val="solid"/>
                <a:round/>
                <a:headEnd type="none" w="med" len="med"/>
                <a:tailEnd type="none" w="med" len="med"/>
              </a:ln>
            </p:spPr>
          </p:sp>
          <p:sp>
            <p:nvSpPr>
              <p:cNvPr id="120859" name="Line 28"/>
              <p:cNvSpPr/>
              <p:nvPr/>
            </p:nvSpPr>
            <p:spPr>
              <a:xfrm>
                <a:off x="793" y="2840"/>
                <a:ext cx="4355" cy="0"/>
              </a:xfrm>
              <a:prstGeom prst="line">
                <a:avLst/>
              </a:prstGeom>
              <a:ln w="9525" cap="flat" cmpd="sng">
                <a:solidFill>
                  <a:schemeClr val="tx1"/>
                </a:solidFill>
                <a:prstDash val="solid"/>
                <a:round/>
                <a:headEnd type="none" w="med" len="med"/>
                <a:tailEnd type="none" w="med" len="med"/>
              </a:ln>
            </p:spPr>
          </p:sp>
          <p:sp>
            <p:nvSpPr>
              <p:cNvPr id="120860" name="Line 29"/>
              <p:cNvSpPr/>
              <p:nvPr/>
            </p:nvSpPr>
            <p:spPr>
              <a:xfrm>
                <a:off x="793" y="3022"/>
                <a:ext cx="4355" cy="0"/>
              </a:xfrm>
              <a:prstGeom prst="line">
                <a:avLst/>
              </a:prstGeom>
              <a:ln w="9525" cap="flat" cmpd="sng">
                <a:solidFill>
                  <a:schemeClr val="tx1"/>
                </a:solidFill>
                <a:prstDash val="solid"/>
                <a:round/>
                <a:headEnd type="none" w="med" len="med"/>
                <a:tailEnd type="none" w="med" len="med"/>
              </a:ln>
            </p:spPr>
          </p:sp>
          <p:sp>
            <p:nvSpPr>
              <p:cNvPr id="120861" name="Line 30"/>
              <p:cNvSpPr/>
              <p:nvPr/>
            </p:nvSpPr>
            <p:spPr>
              <a:xfrm>
                <a:off x="793" y="3203"/>
                <a:ext cx="4355" cy="0"/>
              </a:xfrm>
              <a:prstGeom prst="line">
                <a:avLst/>
              </a:prstGeom>
              <a:ln w="9525" cap="flat" cmpd="sng">
                <a:solidFill>
                  <a:schemeClr val="tx1"/>
                </a:solidFill>
                <a:prstDash val="solid"/>
                <a:round/>
                <a:headEnd type="none" w="med" len="med"/>
                <a:tailEnd type="none" w="med" len="med"/>
              </a:ln>
            </p:spPr>
          </p:sp>
          <p:grpSp>
            <p:nvGrpSpPr>
              <p:cNvPr id="120862" name="Group 31"/>
              <p:cNvGrpSpPr/>
              <p:nvPr/>
            </p:nvGrpSpPr>
            <p:grpSpPr>
              <a:xfrm>
                <a:off x="793" y="3430"/>
                <a:ext cx="4400" cy="544"/>
                <a:chOff x="793" y="3430"/>
                <a:chExt cx="4400" cy="544"/>
              </a:xfrm>
            </p:grpSpPr>
            <p:sp>
              <p:nvSpPr>
                <p:cNvPr id="120863" name="Line 32"/>
                <p:cNvSpPr/>
                <p:nvPr/>
              </p:nvSpPr>
              <p:spPr>
                <a:xfrm>
                  <a:off x="793" y="3974"/>
                  <a:ext cx="4400" cy="0"/>
                </a:xfrm>
                <a:prstGeom prst="line">
                  <a:avLst/>
                </a:prstGeom>
                <a:ln w="19050" cap="flat" cmpd="sng">
                  <a:solidFill>
                    <a:schemeClr val="tx1"/>
                  </a:solidFill>
                  <a:prstDash val="solid"/>
                  <a:round/>
                  <a:headEnd type="none" w="med" len="med"/>
                  <a:tailEnd type="none" w="med" len="med"/>
                </a:ln>
              </p:spPr>
            </p:sp>
            <p:sp>
              <p:nvSpPr>
                <p:cNvPr id="120864" name="Line 33"/>
                <p:cNvSpPr/>
                <p:nvPr/>
              </p:nvSpPr>
              <p:spPr>
                <a:xfrm>
                  <a:off x="793" y="3430"/>
                  <a:ext cx="4355" cy="0"/>
                </a:xfrm>
                <a:prstGeom prst="line">
                  <a:avLst/>
                </a:prstGeom>
                <a:ln w="9525" cap="flat" cmpd="sng">
                  <a:solidFill>
                    <a:schemeClr val="tx1"/>
                  </a:solidFill>
                  <a:prstDash val="solid"/>
                  <a:round/>
                  <a:headEnd type="none" w="med" len="med"/>
                  <a:tailEnd type="none" w="med" len="med"/>
                </a:ln>
              </p:spPr>
            </p:sp>
            <p:sp>
              <p:nvSpPr>
                <p:cNvPr id="120865" name="Line 34"/>
                <p:cNvSpPr/>
                <p:nvPr/>
              </p:nvSpPr>
              <p:spPr>
                <a:xfrm>
                  <a:off x="793" y="3612"/>
                  <a:ext cx="4355" cy="0"/>
                </a:xfrm>
                <a:prstGeom prst="line">
                  <a:avLst/>
                </a:prstGeom>
                <a:ln w="9525" cap="flat" cmpd="sng">
                  <a:solidFill>
                    <a:schemeClr val="tx1"/>
                  </a:solidFill>
                  <a:prstDash val="solid"/>
                  <a:round/>
                  <a:headEnd type="none" w="med" len="med"/>
                  <a:tailEnd type="none" w="med" len="med"/>
                </a:ln>
              </p:spPr>
            </p:sp>
            <p:sp>
              <p:nvSpPr>
                <p:cNvPr id="120866" name="Line 35"/>
                <p:cNvSpPr/>
                <p:nvPr/>
              </p:nvSpPr>
              <p:spPr>
                <a:xfrm>
                  <a:off x="793" y="3793"/>
                  <a:ext cx="4355" cy="0"/>
                </a:xfrm>
                <a:prstGeom prst="line">
                  <a:avLst/>
                </a:prstGeom>
                <a:ln w="9525" cap="flat" cmpd="sng">
                  <a:solidFill>
                    <a:schemeClr val="tx1"/>
                  </a:solidFill>
                  <a:prstDash val="solid"/>
                  <a:round/>
                  <a:headEnd type="none" w="med" len="med"/>
                  <a:tailEnd type="none" w="med" len="med"/>
                </a:ln>
              </p:spPr>
            </p:sp>
          </p:grpSp>
        </p:grpSp>
      </p:gr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1812290"/>
          </a:xfrm>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对课程的先修关系图进行拓扑排序，可求得拓扑有序</a:t>
            </a:r>
            <a:r>
              <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序列</a:t>
            </a:r>
            <a:endPar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marL="609600" lvl="1" algn="l" eaLnBrk="1" hangingPunct="1">
              <a:buClrTx/>
              <a:buSzTx/>
              <a:buNone/>
            </a:pP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21860" name="组合 47"/>
          <p:cNvGrpSpPr/>
          <p:nvPr/>
        </p:nvGrpSpPr>
        <p:grpSpPr>
          <a:xfrm>
            <a:off x="679450" y="1948096"/>
            <a:ext cx="3430270" cy="3290019"/>
            <a:chOff x="2700338" y="2368754"/>
            <a:chExt cx="3100705" cy="2908096"/>
          </a:xfrm>
        </p:grpSpPr>
        <p:sp>
          <p:nvSpPr>
            <p:cNvPr id="121861" name="Oval 38"/>
            <p:cNvSpPr/>
            <p:nvPr/>
          </p:nvSpPr>
          <p:spPr>
            <a:xfrm>
              <a:off x="3244415" y="2397125"/>
              <a:ext cx="335902" cy="31813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21862" name="Oval 39"/>
            <p:cNvSpPr/>
            <p:nvPr/>
          </p:nvSpPr>
          <p:spPr>
            <a:xfrm>
              <a:off x="3916218" y="2716440"/>
              <a:ext cx="334828" cy="320493"/>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21863" name="Oval 40"/>
            <p:cNvSpPr/>
            <p:nvPr/>
          </p:nvSpPr>
          <p:spPr>
            <a:xfrm>
              <a:off x="5092411" y="2397125"/>
              <a:ext cx="335902" cy="320493"/>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21864" name="Oval 41"/>
            <p:cNvSpPr/>
            <p:nvPr/>
          </p:nvSpPr>
          <p:spPr>
            <a:xfrm>
              <a:off x="4755436" y="3036933"/>
              <a:ext cx="338048" cy="319315"/>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21865" name="Oval 42"/>
            <p:cNvSpPr/>
            <p:nvPr/>
          </p:nvSpPr>
          <p:spPr>
            <a:xfrm>
              <a:off x="5428312" y="3036933"/>
              <a:ext cx="335902" cy="319315"/>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21866" name="Oval 43"/>
            <p:cNvSpPr/>
            <p:nvPr/>
          </p:nvSpPr>
          <p:spPr>
            <a:xfrm>
              <a:off x="2740026" y="4317727"/>
              <a:ext cx="334828" cy="319315"/>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21867" name="Line 44"/>
            <p:cNvSpPr/>
            <p:nvPr/>
          </p:nvSpPr>
          <p:spPr>
            <a:xfrm flipH="1">
              <a:off x="4924996" y="2717618"/>
              <a:ext cx="335902" cy="319315"/>
            </a:xfrm>
            <a:prstGeom prst="line">
              <a:avLst/>
            </a:prstGeom>
            <a:ln w="9525" cap="flat" cmpd="sng">
              <a:solidFill>
                <a:srgbClr val="000000"/>
              </a:solidFill>
              <a:prstDash val="solid"/>
              <a:round/>
              <a:headEnd type="triangle" w="med" len="med"/>
              <a:tailEnd type="none" w="med" len="med"/>
            </a:ln>
          </p:spPr>
        </p:sp>
        <p:sp>
          <p:nvSpPr>
            <p:cNvPr id="121868" name="Line 45"/>
            <p:cNvSpPr/>
            <p:nvPr/>
          </p:nvSpPr>
          <p:spPr>
            <a:xfrm>
              <a:off x="5260898" y="2717618"/>
              <a:ext cx="336975" cy="319315"/>
            </a:xfrm>
            <a:prstGeom prst="line">
              <a:avLst/>
            </a:prstGeom>
            <a:ln w="9525" cap="flat" cmpd="sng">
              <a:solidFill>
                <a:srgbClr val="000000"/>
              </a:solidFill>
              <a:prstDash val="solid"/>
              <a:round/>
              <a:headEnd type="none" w="med" len="med"/>
              <a:tailEnd type="triangle" w="med" len="med"/>
            </a:ln>
          </p:spPr>
        </p:sp>
        <p:sp>
          <p:nvSpPr>
            <p:cNvPr id="121869" name="Line 46"/>
            <p:cNvSpPr/>
            <p:nvPr/>
          </p:nvSpPr>
          <p:spPr>
            <a:xfrm flipV="1">
              <a:off x="3915145" y="3997234"/>
              <a:ext cx="336975" cy="480740"/>
            </a:xfrm>
            <a:prstGeom prst="line">
              <a:avLst/>
            </a:prstGeom>
            <a:ln w="9525" cap="flat" cmpd="sng">
              <a:solidFill>
                <a:srgbClr val="000000"/>
              </a:solidFill>
              <a:prstDash val="solid"/>
              <a:round/>
              <a:headEnd type="none" w="med" len="med"/>
              <a:tailEnd type="triangle" w="med" len="med"/>
            </a:ln>
          </p:spPr>
        </p:sp>
        <p:sp>
          <p:nvSpPr>
            <p:cNvPr id="121870" name="Line 47"/>
            <p:cNvSpPr/>
            <p:nvPr/>
          </p:nvSpPr>
          <p:spPr>
            <a:xfrm>
              <a:off x="2908513" y="3357426"/>
              <a:ext cx="1175119" cy="479561"/>
            </a:xfrm>
            <a:prstGeom prst="line">
              <a:avLst/>
            </a:prstGeom>
            <a:ln w="9525" cap="flat" cmpd="sng">
              <a:solidFill>
                <a:srgbClr val="000000"/>
              </a:solidFill>
              <a:prstDash val="solid"/>
              <a:round/>
              <a:headEnd type="none" w="med" len="med"/>
              <a:tailEnd type="triangle" w="med" len="med"/>
            </a:ln>
          </p:spPr>
        </p:sp>
        <p:sp>
          <p:nvSpPr>
            <p:cNvPr id="121871" name="Oval 48"/>
            <p:cNvSpPr/>
            <p:nvPr/>
          </p:nvSpPr>
          <p:spPr>
            <a:xfrm>
              <a:off x="3580317" y="4317727"/>
              <a:ext cx="335902" cy="320493"/>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21872" name="Oval 49"/>
            <p:cNvSpPr/>
            <p:nvPr/>
          </p:nvSpPr>
          <p:spPr>
            <a:xfrm>
              <a:off x="4083633" y="3677919"/>
              <a:ext cx="335902" cy="31813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21873" name="Oval 50"/>
            <p:cNvSpPr/>
            <p:nvPr/>
          </p:nvSpPr>
          <p:spPr>
            <a:xfrm>
              <a:off x="3580317" y="4957535"/>
              <a:ext cx="335902" cy="319315"/>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21874" name="Oval 51"/>
            <p:cNvSpPr/>
            <p:nvPr/>
          </p:nvSpPr>
          <p:spPr>
            <a:xfrm>
              <a:off x="2740026" y="3036933"/>
              <a:ext cx="335902" cy="319315"/>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21875" name="Line 52"/>
            <p:cNvSpPr/>
            <p:nvPr/>
          </p:nvSpPr>
          <p:spPr>
            <a:xfrm>
              <a:off x="3073781" y="4477974"/>
              <a:ext cx="506535" cy="1178"/>
            </a:xfrm>
            <a:prstGeom prst="line">
              <a:avLst/>
            </a:prstGeom>
            <a:ln w="9525" cap="flat" cmpd="sng">
              <a:solidFill>
                <a:srgbClr val="000000"/>
              </a:solidFill>
              <a:prstDash val="solid"/>
              <a:round/>
              <a:headEnd type="none" w="med" len="med"/>
              <a:tailEnd type="triangle" w="med" len="med"/>
            </a:ln>
          </p:spPr>
        </p:sp>
        <p:sp>
          <p:nvSpPr>
            <p:cNvPr id="121876" name="Freeform 53"/>
            <p:cNvSpPr/>
            <p:nvPr/>
          </p:nvSpPr>
          <p:spPr>
            <a:xfrm>
              <a:off x="3048025" y="4558097"/>
              <a:ext cx="550535" cy="481918"/>
            </a:xfrm>
            <a:custGeom>
              <a:avLst/>
              <a:gdLst/>
              <a:ahLst/>
              <a:cxnLst>
                <a:cxn ang="0">
                  <a:pos x="0" y="0"/>
                </a:cxn>
                <a:cxn ang="0">
                  <a:pos x="2147483647" y="2147483647"/>
                </a:cxn>
              </a:cxnLst>
              <a:pathLst>
                <a:path w="590" h="470">
                  <a:moveTo>
                    <a:pt x="0" y="0"/>
                  </a:moveTo>
                  <a:lnTo>
                    <a:pt x="590" y="470"/>
                  </a:lnTo>
                </a:path>
              </a:pathLst>
            </a:custGeom>
            <a:noFill/>
            <a:ln w="9525" cap="flat" cmpd="sng">
              <a:solidFill>
                <a:srgbClr val="000000"/>
              </a:solidFill>
              <a:prstDash val="solid"/>
              <a:round/>
              <a:headEnd type="none" w="med" len="med"/>
              <a:tailEnd type="triangle" w="med" len="med"/>
            </a:ln>
          </p:spPr>
          <p:txBody>
            <a:bodyPr/>
            <a:p>
              <a:endParaRPr lang="zh-CN" altLang="en-US"/>
            </a:p>
          </p:txBody>
        </p:sp>
        <p:sp>
          <p:nvSpPr>
            <p:cNvPr id="121877" name="Freeform 54"/>
            <p:cNvSpPr/>
            <p:nvPr/>
          </p:nvSpPr>
          <p:spPr>
            <a:xfrm>
              <a:off x="3896901" y="4558097"/>
              <a:ext cx="719023" cy="492523"/>
            </a:xfrm>
            <a:custGeom>
              <a:avLst/>
              <a:gdLst/>
              <a:ahLst/>
              <a:cxnLst>
                <a:cxn ang="0">
                  <a:pos x="0" y="2147483647"/>
                </a:cxn>
                <a:cxn ang="0">
                  <a:pos x="2147483647" y="0"/>
                </a:cxn>
              </a:cxnLst>
              <a:pathLst>
                <a:path w="770" h="480">
                  <a:moveTo>
                    <a:pt x="0" y="480"/>
                  </a:moveTo>
                  <a:lnTo>
                    <a:pt x="770" y="0"/>
                  </a:lnTo>
                </a:path>
              </a:pathLst>
            </a:custGeom>
            <a:noFill/>
            <a:ln w="9525" cap="flat" cmpd="sng">
              <a:solidFill>
                <a:srgbClr val="000000"/>
              </a:solidFill>
              <a:prstDash val="solid"/>
              <a:round/>
              <a:headEnd type="none" w="med" len="med"/>
              <a:tailEnd type="triangle" w="med" len="med"/>
            </a:ln>
          </p:spPr>
          <p:txBody>
            <a:bodyPr/>
            <a:p>
              <a:endParaRPr lang="zh-CN" altLang="en-US"/>
            </a:p>
          </p:txBody>
        </p:sp>
        <p:sp>
          <p:nvSpPr>
            <p:cNvPr id="121878" name="Freeform 55"/>
            <p:cNvSpPr/>
            <p:nvPr/>
          </p:nvSpPr>
          <p:spPr>
            <a:xfrm>
              <a:off x="4252120" y="2876686"/>
              <a:ext cx="560194" cy="193239"/>
            </a:xfrm>
            <a:custGeom>
              <a:avLst/>
              <a:gdLst/>
              <a:ahLst/>
              <a:cxnLst>
                <a:cxn ang="0">
                  <a:pos x="0" y="0"/>
                </a:cxn>
                <a:cxn ang="0">
                  <a:pos x="2147483647" y="2147483647"/>
                </a:cxn>
              </a:cxnLst>
              <a:pathLst>
                <a:path w="600" h="188">
                  <a:moveTo>
                    <a:pt x="0" y="0"/>
                  </a:moveTo>
                  <a:lnTo>
                    <a:pt x="600" y="188"/>
                  </a:lnTo>
                </a:path>
              </a:pathLst>
            </a:custGeom>
            <a:noFill/>
            <a:ln w="9525" cap="flat" cmpd="sng">
              <a:solidFill>
                <a:srgbClr val="000000"/>
              </a:solidFill>
              <a:prstDash val="solid"/>
              <a:round/>
              <a:headEnd type="none" w="med" len="med"/>
              <a:tailEnd type="triangle" w="med" len="med"/>
            </a:ln>
          </p:spPr>
          <p:txBody>
            <a:bodyPr/>
            <a:p>
              <a:endParaRPr lang="zh-CN" altLang="en-US"/>
            </a:p>
          </p:txBody>
        </p:sp>
        <p:sp>
          <p:nvSpPr>
            <p:cNvPr id="121879" name="Freeform 56"/>
            <p:cNvSpPr/>
            <p:nvPr/>
          </p:nvSpPr>
          <p:spPr>
            <a:xfrm>
              <a:off x="4905679" y="4157481"/>
              <a:ext cx="522633" cy="243905"/>
            </a:xfrm>
            <a:custGeom>
              <a:avLst/>
              <a:gdLst/>
              <a:ahLst/>
              <a:cxnLst>
                <a:cxn ang="0">
                  <a:pos x="0" y="2147483647"/>
                </a:cxn>
                <a:cxn ang="0">
                  <a:pos x="2147483647" y="0"/>
                </a:cxn>
              </a:cxnLst>
              <a:pathLst>
                <a:path w="560" h="238">
                  <a:moveTo>
                    <a:pt x="0" y="238"/>
                  </a:moveTo>
                  <a:lnTo>
                    <a:pt x="560" y="0"/>
                  </a:lnTo>
                </a:path>
              </a:pathLst>
            </a:custGeom>
            <a:noFill/>
            <a:ln w="9525" cap="flat" cmpd="sng">
              <a:solidFill>
                <a:srgbClr val="000000"/>
              </a:solidFill>
              <a:prstDash val="solid"/>
              <a:round/>
              <a:headEnd type="none" w="med" len="med"/>
              <a:tailEnd type="triangle" w="med" len="med"/>
            </a:ln>
          </p:spPr>
          <p:txBody>
            <a:bodyPr/>
            <a:p>
              <a:endParaRPr lang="zh-CN" altLang="en-US"/>
            </a:p>
          </p:txBody>
        </p:sp>
        <p:sp>
          <p:nvSpPr>
            <p:cNvPr id="121880" name="Oval 57"/>
            <p:cNvSpPr/>
            <p:nvPr/>
          </p:nvSpPr>
          <p:spPr>
            <a:xfrm>
              <a:off x="5428312" y="3997234"/>
              <a:ext cx="335902" cy="320493"/>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21881" name="Oval 58"/>
            <p:cNvSpPr/>
            <p:nvPr/>
          </p:nvSpPr>
          <p:spPr>
            <a:xfrm>
              <a:off x="4588022" y="4317727"/>
              <a:ext cx="338048" cy="319315"/>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21882" name="Line 59"/>
            <p:cNvSpPr/>
            <p:nvPr/>
          </p:nvSpPr>
          <p:spPr>
            <a:xfrm>
              <a:off x="5092411" y="3197180"/>
              <a:ext cx="335902" cy="2357"/>
            </a:xfrm>
            <a:prstGeom prst="line">
              <a:avLst/>
            </a:prstGeom>
            <a:ln w="9525" cap="flat" cmpd="sng">
              <a:solidFill>
                <a:srgbClr val="000000"/>
              </a:solidFill>
              <a:prstDash val="solid"/>
              <a:round/>
              <a:headEnd type="none" w="med" len="med"/>
              <a:tailEnd type="triangle" w="med" len="med"/>
            </a:ln>
          </p:spPr>
        </p:sp>
        <p:sp>
          <p:nvSpPr>
            <p:cNvPr id="121883" name="Freeform 60"/>
            <p:cNvSpPr/>
            <p:nvPr/>
          </p:nvSpPr>
          <p:spPr>
            <a:xfrm>
              <a:off x="3057684" y="2936779"/>
              <a:ext cx="867120" cy="194417"/>
            </a:xfrm>
            <a:custGeom>
              <a:avLst/>
              <a:gdLst/>
              <a:ahLst/>
              <a:cxnLst>
                <a:cxn ang="0">
                  <a:pos x="0" y="2147483647"/>
                </a:cxn>
                <a:cxn ang="0">
                  <a:pos x="2147483647" y="0"/>
                </a:cxn>
              </a:cxnLst>
              <a:pathLst>
                <a:path w="930" h="190">
                  <a:moveTo>
                    <a:pt x="0" y="190"/>
                  </a:moveTo>
                  <a:lnTo>
                    <a:pt x="930" y="0"/>
                  </a:lnTo>
                </a:path>
              </a:pathLst>
            </a:custGeom>
            <a:noFill/>
            <a:ln w="9525" cap="flat" cmpd="sng">
              <a:solidFill>
                <a:srgbClr val="000000"/>
              </a:solidFill>
              <a:prstDash val="solid"/>
              <a:round/>
              <a:headEnd type="none" w="med" len="med"/>
              <a:tailEnd type="triangle" w="med" len="med"/>
            </a:ln>
          </p:spPr>
          <p:txBody>
            <a:bodyPr/>
            <a:p>
              <a:endParaRPr lang="zh-CN" altLang="en-US"/>
            </a:p>
          </p:txBody>
        </p:sp>
        <p:sp>
          <p:nvSpPr>
            <p:cNvPr id="121884" name="Line 62"/>
            <p:cNvSpPr/>
            <p:nvPr/>
          </p:nvSpPr>
          <p:spPr>
            <a:xfrm>
              <a:off x="3580317" y="2556193"/>
              <a:ext cx="1512094" cy="1178"/>
            </a:xfrm>
            <a:prstGeom prst="line">
              <a:avLst/>
            </a:prstGeom>
            <a:ln w="9525" cap="flat" cmpd="sng">
              <a:solidFill>
                <a:srgbClr val="000000"/>
              </a:solidFill>
              <a:prstDash val="solid"/>
              <a:round/>
              <a:headEnd type="none" w="med" len="med"/>
              <a:tailEnd type="triangle" w="med" len="med"/>
            </a:ln>
          </p:spPr>
        </p:sp>
        <p:sp>
          <p:nvSpPr>
            <p:cNvPr id="121885" name="Freeform 63"/>
            <p:cNvSpPr/>
            <p:nvPr/>
          </p:nvSpPr>
          <p:spPr>
            <a:xfrm flipV="1">
              <a:off x="2915816" y="2636913"/>
              <a:ext cx="360040" cy="432047"/>
            </a:xfrm>
            <a:custGeom>
              <a:avLst/>
              <a:gdLst/>
              <a:ahLst/>
              <a:cxnLst>
                <a:cxn ang="0">
                  <a:pos x="0" y="0"/>
                </a:cxn>
                <a:cxn ang="0">
                  <a:pos x="2147483647" y="2147483647"/>
                </a:cxn>
              </a:cxnLst>
              <a:pathLst>
                <a:path w="150" h="960">
                  <a:moveTo>
                    <a:pt x="0" y="0"/>
                  </a:moveTo>
                  <a:lnTo>
                    <a:pt x="150" y="960"/>
                  </a:lnTo>
                </a:path>
              </a:pathLst>
            </a:custGeom>
            <a:noFill/>
            <a:ln w="9525" cap="flat" cmpd="sng">
              <a:solidFill>
                <a:srgbClr val="000000"/>
              </a:solidFill>
              <a:prstDash val="solid"/>
              <a:round/>
              <a:headEnd type="none" w="med" len="med"/>
              <a:tailEnd type="triangle" w="med" len="med"/>
            </a:ln>
          </p:spPr>
          <p:txBody>
            <a:bodyPr/>
            <a:p>
              <a:endParaRPr lang="zh-CN" altLang="en-US"/>
            </a:p>
          </p:txBody>
        </p:sp>
        <p:sp>
          <p:nvSpPr>
            <p:cNvPr id="121886" name="Line 64"/>
            <p:cNvSpPr/>
            <p:nvPr/>
          </p:nvSpPr>
          <p:spPr>
            <a:xfrm flipV="1">
              <a:off x="3075928" y="3197180"/>
              <a:ext cx="1679508" cy="1178"/>
            </a:xfrm>
            <a:prstGeom prst="line">
              <a:avLst/>
            </a:prstGeom>
            <a:ln w="9525" cap="flat" cmpd="sng">
              <a:solidFill>
                <a:srgbClr val="000000"/>
              </a:solidFill>
              <a:prstDash val="solid"/>
              <a:round/>
              <a:headEnd type="none" w="med" len="med"/>
              <a:tailEnd type="triangle" w="med" len="med"/>
            </a:ln>
          </p:spPr>
        </p:sp>
        <p:sp>
          <p:nvSpPr>
            <p:cNvPr id="121887" name="Line 65"/>
            <p:cNvSpPr/>
            <p:nvPr/>
          </p:nvSpPr>
          <p:spPr>
            <a:xfrm>
              <a:off x="4923923" y="3357426"/>
              <a:ext cx="671803" cy="639808"/>
            </a:xfrm>
            <a:prstGeom prst="line">
              <a:avLst/>
            </a:prstGeom>
            <a:ln w="9525" cap="flat" cmpd="sng">
              <a:solidFill>
                <a:srgbClr val="000000"/>
              </a:solidFill>
              <a:prstDash val="solid"/>
              <a:round/>
              <a:headEnd type="none" w="med" len="med"/>
              <a:tailEnd type="triangle" w="med" len="med"/>
            </a:ln>
          </p:spPr>
        </p:sp>
        <p:sp>
          <p:nvSpPr>
            <p:cNvPr id="121888" name="Freeform 66"/>
            <p:cNvSpPr/>
            <p:nvPr/>
          </p:nvSpPr>
          <p:spPr>
            <a:xfrm>
              <a:off x="2908513" y="3921824"/>
              <a:ext cx="1203022" cy="395903"/>
            </a:xfrm>
            <a:custGeom>
              <a:avLst/>
              <a:gdLst/>
              <a:ahLst/>
              <a:cxnLst>
                <a:cxn ang="0">
                  <a:pos x="0" y="2147483647"/>
                </a:cxn>
                <a:cxn ang="0">
                  <a:pos x="2147483647" y="0"/>
                </a:cxn>
              </a:cxnLst>
              <a:pathLst>
                <a:path w="1290" h="386">
                  <a:moveTo>
                    <a:pt x="0" y="386"/>
                  </a:moveTo>
                  <a:lnTo>
                    <a:pt x="1290" y="0"/>
                  </a:lnTo>
                </a:path>
              </a:pathLst>
            </a:custGeom>
            <a:noFill/>
            <a:ln w="9525" cap="flat" cmpd="sng">
              <a:solidFill>
                <a:srgbClr val="000000"/>
              </a:solidFill>
              <a:prstDash val="solid"/>
              <a:round/>
              <a:headEnd type="none" w="med" len="med"/>
              <a:tailEnd type="triangle" w="med" len="med"/>
            </a:ln>
          </p:spPr>
          <p:txBody>
            <a:bodyPr/>
            <a:p>
              <a:endParaRPr lang="zh-CN" altLang="en-US"/>
            </a:p>
          </p:txBody>
        </p:sp>
        <p:sp>
          <p:nvSpPr>
            <p:cNvPr id="121889" name="Rectangle 67"/>
            <p:cNvSpPr/>
            <p:nvPr/>
          </p:nvSpPr>
          <p:spPr>
            <a:xfrm>
              <a:off x="3205163" y="2368754"/>
              <a:ext cx="395605" cy="298043"/>
            </a:xfrm>
            <a:prstGeom prst="rect">
              <a:avLst/>
            </a:prstGeom>
            <a:noFill/>
            <a:ln w="9525">
              <a:noFill/>
            </a:ln>
          </p:spPr>
          <p:txBody>
            <a:bodyPr wrap="squar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4</a:t>
              </a:r>
              <a:endParaRPr lang="en-US" altLang="zh-CN" sz="1600" b="1" dirty="0">
                <a:latin typeface="Times New Roman" panose="02020603050405020304" pitchFamily="18" charset="0"/>
                <a:ea typeface="宋体" panose="02010600030101010101" pitchFamily="2" charset="-122"/>
              </a:endParaRPr>
            </a:p>
          </p:txBody>
        </p:sp>
        <p:sp>
          <p:nvSpPr>
            <p:cNvPr id="121890" name="Rectangle 68"/>
            <p:cNvSpPr/>
            <p:nvPr/>
          </p:nvSpPr>
          <p:spPr>
            <a:xfrm>
              <a:off x="5045076" y="2368754"/>
              <a:ext cx="395605" cy="298043"/>
            </a:xfrm>
            <a:prstGeom prst="rect">
              <a:avLst/>
            </a:prstGeom>
            <a:noFill/>
            <a:ln w="9525">
              <a:noFill/>
            </a:ln>
          </p:spPr>
          <p:txBody>
            <a:bodyPr wrap="squar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5</a:t>
              </a:r>
              <a:endParaRPr lang="en-US" altLang="zh-CN" sz="1600" b="1" dirty="0">
                <a:latin typeface="Times New Roman" panose="02020603050405020304" pitchFamily="18" charset="0"/>
                <a:ea typeface="宋体" panose="02010600030101010101" pitchFamily="2" charset="-122"/>
              </a:endParaRPr>
            </a:p>
          </p:txBody>
        </p:sp>
        <p:sp>
          <p:nvSpPr>
            <p:cNvPr id="121891" name="Rectangle 69"/>
            <p:cNvSpPr/>
            <p:nvPr/>
          </p:nvSpPr>
          <p:spPr>
            <a:xfrm>
              <a:off x="2700338" y="3016454"/>
              <a:ext cx="395605" cy="298043"/>
            </a:xfrm>
            <a:prstGeom prst="rect">
              <a:avLst/>
            </a:prstGeom>
            <a:noFill/>
            <a:ln w="9525">
              <a:noFill/>
            </a:ln>
          </p:spPr>
          <p:txBody>
            <a:bodyPr wrap="squar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1</a:t>
              </a:r>
              <a:endParaRPr lang="en-US" altLang="zh-CN" sz="1600" b="1" dirty="0">
                <a:latin typeface="Times New Roman" panose="02020603050405020304" pitchFamily="18" charset="0"/>
                <a:ea typeface="宋体" panose="02010600030101010101" pitchFamily="2" charset="-122"/>
              </a:endParaRPr>
            </a:p>
          </p:txBody>
        </p:sp>
        <p:sp>
          <p:nvSpPr>
            <p:cNvPr id="121892" name="Rectangle 70"/>
            <p:cNvSpPr/>
            <p:nvPr/>
          </p:nvSpPr>
          <p:spPr>
            <a:xfrm>
              <a:off x="3892551" y="2705304"/>
              <a:ext cx="395605" cy="298043"/>
            </a:xfrm>
            <a:prstGeom prst="rect">
              <a:avLst/>
            </a:prstGeom>
            <a:noFill/>
            <a:ln w="9525">
              <a:noFill/>
            </a:ln>
          </p:spPr>
          <p:txBody>
            <a:bodyPr wrap="squar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2</a:t>
              </a:r>
              <a:endParaRPr lang="en-US" altLang="zh-CN" sz="1600" b="1" dirty="0">
                <a:latin typeface="Times New Roman" panose="02020603050405020304" pitchFamily="18" charset="0"/>
                <a:ea typeface="宋体" panose="02010600030101010101" pitchFamily="2" charset="-122"/>
              </a:endParaRPr>
            </a:p>
          </p:txBody>
        </p:sp>
        <p:sp>
          <p:nvSpPr>
            <p:cNvPr id="121893" name="Rectangle 71"/>
            <p:cNvSpPr/>
            <p:nvPr/>
          </p:nvSpPr>
          <p:spPr>
            <a:xfrm>
              <a:off x="4716463" y="3016454"/>
              <a:ext cx="395605" cy="298043"/>
            </a:xfrm>
            <a:prstGeom prst="rect">
              <a:avLst/>
            </a:prstGeom>
            <a:noFill/>
            <a:ln w="9525">
              <a:noFill/>
            </a:ln>
          </p:spPr>
          <p:txBody>
            <a:bodyPr wrap="squar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3</a:t>
              </a:r>
              <a:endParaRPr lang="en-US" altLang="zh-CN" sz="1600" b="1" dirty="0">
                <a:latin typeface="Times New Roman" panose="02020603050405020304" pitchFamily="18" charset="0"/>
                <a:ea typeface="宋体" panose="02010600030101010101" pitchFamily="2" charset="-122"/>
              </a:endParaRPr>
            </a:p>
          </p:txBody>
        </p:sp>
        <p:sp>
          <p:nvSpPr>
            <p:cNvPr id="121894" name="Rectangle 72"/>
            <p:cNvSpPr/>
            <p:nvPr/>
          </p:nvSpPr>
          <p:spPr>
            <a:xfrm>
              <a:off x="5405438" y="3016454"/>
              <a:ext cx="395605" cy="298043"/>
            </a:xfrm>
            <a:prstGeom prst="rect">
              <a:avLst/>
            </a:prstGeom>
            <a:noFill/>
            <a:ln w="9525">
              <a:noFill/>
            </a:ln>
          </p:spPr>
          <p:txBody>
            <a:bodyPr wrap="squar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7</a:t>
              </a:r>
              <a:endParaRPr lang="en-US" altLang="zh-CN" sz="1600" b="1" dirty="0">
                <a:latin typeface="Times New Roman" panose="02020603050405020304" pitchFamily="18" charset="0"/>
                <a:ea typeface="宋体" panose="02010600030101010101" pitchFamily="2" charset="-122"/>
              </a:endParaRPr>
            </a:p>
          </p:txBody>
        </p:sp>
        <p:sp>
          <p:nvSpPr>
            <p:cNvPr id="121895" name="Rectangle 73"/>
            <p:cNvSpPr/>
            <p:nvPr/>
          </p:nvSpPr>
          <p:spPr>
            <a:xfrm>
              <a:off x="3998913" y="3664154"/>
              <a:ext cx="461645" cy="298043"/>
            </a:xfrm>
            <a:prstGeom prst="rect">
              <a:avLst/>
            </a:prstGeom>
            <a:noFill/>
            <a:ln w="9525">
              <a:noFill/>
            </a:ln>
          </p:spPr>
          <p:txBody>
            <a:bodyPr wrap="squar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12</a:t>
              </a:r>
              <a:endParaRPr lang="en-US" altLang="zh-CN" sz="1600" b="1" dirty="0">
                <a:latin typeface="Times New Roman" panose="02020603050405020304" pitchFamily="18" charset="0"/>
                <a:ea typeface="宋体" panose="02010600030101010101" pitchFamily="2" charset="-122"/>
              </a:endParaRPr>
            </a:p>
          </p:txBody>
        </p:sp>
        <p:sp>
          <p:nvSpPr>
            <p:cNvPr id="121896" name="Rectangle 74"/>
            <p:cNvSpPr/>
            <p:nvPr/>
          </p:nvSpPr>
          <p:spPr>
            <a:xfrm>
              <a:off x="5405438" y="4000704"/>
              <a:ext cx="395605" cy="298043"/>
            </a:xfrm>
            <a:prstGeom prst="rect">
              <a:avLst/>
            </a:prstGeom>
            <a:noFill/>
            <a:ln w="9525">
              <a:noFill/>
            </a:ln>
          </p:spPr>
          <p:txBody>
            <a:bodyPr wrap="squar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8</a:t>
              </a:r>
              <a:endParaRPr lang="en-US" altLang="zh-CN" sz="1600" b="1" dirty="0">
                <a:latin typeface="Times New Roman" panose="02020603050405020304" pitchFamily="18" charset="0"/>
                <a:ea typeface="宋体" panose="02010600030101010101" pitchFamily="2" charset="-122"/>
              </a:endParaRPr>
            </a:p>
          </p:txBody>
        </p:sp>
        <p:sp>
          <p:nvSpPr>
            <p:cNvPr id="121897" name="Rectangle 75"/>
            <p:cNvSpPr/>
            <p:nvPr/>
          </p:nvSpPr>
          <p:spPr>
            <a:xfrm>
              <a:off x="4540251" y="4289629"/>
              <a:ext cx="395605" cy="298043"/>
            </a:xfrm>
            <a:prstGeom prst="rect">
              <a:avLst/>
            </a:prstGeom>
            <a:noFill/>
            <a:ln w="9525">
              <a:noFill/>
            </a:ln>
          </p:spPr>
          <p:txBody>
            <a:bodyPr wrap="squar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6</a:t>
              </a:r>
              <a:endParaRPr lang="en-US" altLang="zh-CN" sz="1600" b="1" dirty="0">
                <a:latin typeface="Times New Roman" panose="02020603050405020304" pitchFamily="18" charset="0"/>
                <a:ea typeface="宋体" panose="02010600030101010101" pitchFamily="2" charset="-122"/>
              </a:endParaRPr>
            </a:p>
          </p:txBody>
        </p:sp>
        <p:sp>
          <p:nvSpPr>
            <p:cNvPr id="121898" name="Rectangle 76"/>
            <p:cNvSpPr/>
            <p:nvPr/>
          </p:nvSpPr>
          <p:spPr>
            <a:xfrm>
              <a:off x="2700338" y="4289629"/>
              <a:ext cx="395605" cy="298043"/>
            </a:xfrm>
            <a:prstGeom prst="rect">
              <a:avLst/>
            </a:prstGeom>
            <a:noFill/>
            <a:ln w="9525">
              <a:noFill/>
            </a:ln>
          </p:spPr>
          <p:txBody>
            <a:bodyPr wrap="squar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9</a:t>
              </a:r>
              <a:endParaRPr lang="en-US" altLang="zh-CN" sz="1600" b="1" dirty="0">
                <a:latin typeface="Times New Roman" panose="02020603050405020304" pitchFamily="18" charset="0"/>
                <a:ea typeface="宋体" panose="02010600030101010101" pitchFamily="2" charset="-122"/>
              </a:endParaRPr>
            </a:p>
          </p:txBody>
        </p:sp>
        <p:sp>
          <p:nvSpPr>
            <p:cNvPr id="121899" name="Rectangle 77"/>
            <p:cNvSpPr/>
            <p:nvPr/>
          </p:nvSpPr>
          <p:spPr>
            <a:xfrm>
              <a:off x="3495676" y="4311854"/>
              <a:ext cx="461645" cy="298043"/>
            </a:xfrm>
            <a:prstGeom prst="rect">
              <a:avLst/>
            </a:prstGeom>
            <a:noFill/>
            <a:ln w="9525">
              <a:noFill/>
            </a:ln>
          </p:spPr>
          <p:txBody>
            <a:bodyPr wrap="squar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10</a:t>
              </a:r>
              <a:endParaRPr lang="en-US" altLang="zh-CN" sz="1600" b="1" dirty="0">
                <a:latin typeface="Times New Roman" panose="02020603050405020304" pitchFamily="18" charset="0"/>
                <a:ea typeface="宋体" panose="02010600030101010101" pitchFamily="2" charset="-122"/>
              </a:endParaRPr>
            </a:p>
          </p:txBody>
        </p:sp>
        <p:sp>
          <p:nvSpPr>
            <p:cNvPr id="121900" name="Rectangle 78"/>
            <p:cNvSpPr/>
            <p:nvPr/>
          </p:nvSpPr>
          <p:spPr>
            <a:xfrm>
              <a:off x="3495676" y="4937329"/>
              <a:ext cx="450215" cy="298043"/>
            </a:xfrm>
            <a:prstGeom prst="rect">
              <a:avLst/>
            </a:prstGeom>
            <a:noFill/>
            <a:ln w="9525">
              <a:noFill/>
            </a:ln>
          </p:spPr>
          <p:txBody>
            <a:bodyPr wrap="squar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11</a:t>
              </a:r>
              <a:endParaRPr lang="en-US" altLang="zh-CN" sz="1600" b="1" dirty="0">
                <a:latin typeface="Times New Roman" panose="02020603050405020304" pitchFamily="18" charset="0"/>
                <a:ea typeface="宋体" panose="02010600030101010101" pitchFamily="2" charset="-122"/>
              </a:endParaRPr>
            </a:p>
          </p:txBody>
        </p:sp>
      </p:grpSp>
      <p:sp>
        <p:nvSpPr>
          <p:cNvPr id="121901" name="矩形 48"/>
          <p:cNvSpPr/>
          <p:nvPr/>
        </p:nvSpPr>
        <p:spPr>
          <a:xfrm>
            <a:off x="4756785" y="3424555"/>
            <a:ext cx="6760210" cy="706755"/>
          </a:xfrm>
          <a:prstGeom prst="rect">
            <a:avLst/>
          </a:prstGeom>
          <a:noFill/>
          <a:ln w="9525">
            <a:noFill/>
          </a:ln>
        </p:spPr>
        <p:txBody>
          <a:bodyPr wrap="square" anchor="t" anchorCtr="0">
            <a:spAutoFit/>
          </a:bodyPr>
          <a:p>
            <a:pPr marL="609600" indent="-609600">
              <a:buFont typeface="Wingdings" panose="05000000000000000000" pitchFamily="2" charset="2"/>
            </a:pPr>
            <a:r>
              <a:rPr lang="en-US" altLang="zh-CN" sz="2000" dirty="0">
                <a:latin typeface="Arial" panose="020B0604020202020204" pitchFamily="34" charset="0"/>
                <a:ea typeface="宋体" panose="02010600030101010101" pitchFamily="2" charset="-122"/>
              </a:rPr>
              <a:t>1</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(C1, C2, C3, C4, C5, C7, C9, C10, C11, C6, C12, C8)</a:t>
            </a:r>
            <a:endParaRPr lang="en-US" altLang="zh-CN" sz="2000" dirty="0">
              <a:latin typeface="Arial" panose="020B0604020202020204" pitchFamily="34" charset="0"/>
              <a:ea typeface="宋体" panose="02010600030101010101" pitchFamily="2" charset="-122"/>
            </a:endParaRPr>
          </a:p>
          <a:p>
            <a:pPr marL="609600" indent="-609600">
              <a:buFont typeface="Wingdings" panose="05000000000000000000" pitchFamily="2" charset="2"/>
            </a:pPr>
            <a:r>
              <a:rPr lang="en-US" altLang="zh-CN" sz="2000" dirty="0">
                <a:latin typeface="Arial" panose="020B0604020202020204" pitchFamily="34" charset="0"/>
                <a:ea typeface="宋体" panose="02010600030101010101" pitchFamily="2" charset="-122"/>
              </a:rPr>
              <a:t>2</a:t>
            </a:r>
            <a:r>
              <a:rPr lang="zh-CN" altLang="en-US" sz="2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(C9, C10, C11, C6, C1, C12, C4, C2, C3, C5, C7, C8)</a:t>
            </a:r>
            <a:endParaRPr lang="en-US" altLang="zh-CN" sz="2000" dirty="0">
              <a:latin typeface="Arial" panose="020B0604020202020204" pitchFamily="34" charset="0"/>
              <a:ea typeface="宋体" panose="02010600030101010101" pitchFamily="2"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740025"/>
          </a:xfrm>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拓扑排序算法实现，基于邻接</a:t>
            </a:r>
            <a:r>
              <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矩阵</a:t>
            </a:r>
            <a:endPar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marL="609600" lvl="1" algn="l" eaLnBrk="1" hangingPunct="1">
              <a:spcBef>
                <a:spcPct val="20000"/>
              </a:spcBef>
              <a:buClrTx/>
              <a:buSzTx/>
              <a:buNone/>
            </a:pPr>
            <a:r>
              <a:rPr lang="zh-CN" altLang="en-US" sz="2400" dirty="0">
                <a:latin typeface="黑体" panose="02010609060101010101" pitchFamily="2" charset="-122"/>
                <a:ea typeface="黑体" panose="02010609060101010101" pitchFamily="2" charset="-122"/>
                <a:sym typeface="Symbol" panose="05050102010706020507" pitchFamily="18" charset="2"/>
              </a:rPr>
              <a:t>	</a:t>
            </a: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⑴ 逐列扫描矩阵，找出入度为0且编号最小的顶点v</a:t>
            </a:r>
            <a:endParaRPr lang="zh-CN" altLang="en-US" sz="2400" b="0" dirty="0">
              <a:latin typeface="黑体" panose="02010609060101010101" pitchFamily="2" charset="-122"/>
              <a:ea typeface="黑体" panose="02010609060101010101" pitchFamily="2" charset="-122"/>
              <a:cs typeface="+mn-ea"/>
              <a:sym typeface="Symbol" panose="05050102010706020507" pitchFamily="18" charset="2"/>
            </a:endParaRPr>
          </a:p>
          <a:p>
            <a:pPr marL="609600" lvl="1" algn="l" eaLnBrk="1" hangingPunct="1">
              <a:spcBef>
                <a:spcPct val="20000"/>
              </a:spcBef>
              <a:buClrTx/>
              <a:buSzTx/>
              <a:buNone/>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	⑵ 输出v，并标识v已访问</a:t>
            </a:r>
            <a:endParaRPr lang="zh-CN" altLang="en-US" sz="2400" b="0" dirty="0">
              <a:latin typeface="黑体" panose="02010609060101010101" pitchFamily="2" charset="-122"/>
              <a:ea typeface="黑体" panose="02010609060101010101" pitchFamily="2" charset="-122"/>
              <a:cs typeface="+mn-ea"/>
              <a:sym typeface="Symbol" panose="05050102010706020507" pitchFamily="18" charset="2"/>
            </a:endParaRPr>
          </a:p>
          <a:p>
            <a:pPr marL="609600" lvl="1" algn="l" eaLnBrk="1" hangingPunct="1">
              <a:spcBef>
                <a:spcPct val="20000"/>
              </a:spcBef>
              <a:buClrTx/>
              <a:buSzTx/>
              <a:buNone/>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	(3)把矩阵第v行全清0</a:t>
            </a:r>
            <a:endParaRPr lang="zh-CN" altLang="en-US" sz="2400" b="0" dirty="0">
              <a:latin typeface="黑体" panose="02010609060101010101" pitchFamily="2" charset="-122"/>
              <a:ea typeface="黑体" panose="02010609060101010101" pitchFamily="2" charset="-122"/>
              <a:cs typeface="+mn-ea"/>
              <a:sym typeface="Symbol" panose="05050102010706020507" pitchFamily="18" charset="2"/>
            </a:endParaRPr>
          </a:p>
          <a:p>
            <a:pPr marL="609600" lvl="1" algn="l" eaLnBrk="1" hangingPunct="1">
              <a:spcBef>
                <a:spcPct val="20000"/>
              </a:spcBef>
              <a:buClrTx/>
              <a:buSzTx/>
              <a:buNone/>
            </a:pPr>
            <a:r>
              <a:rPr lang="zh-CN" altLang="en-US" sz="2400" dirty="0">
                <a:latin typeface="黑体" panose="02010609060101010101" pitchFamily="2" charset="-122"/>
                <a:ea typeface="黑体" panose="02010609060101010101" pitchFamily="2" charset="-122"/>
                <a:cs typeface="+mn-ea"/>
                <a:sym typeface="Symbol" panose="05050102010706020507" pitchFamily="18" charset="2"/>
              </a:rPr>
              <a:t>　 重复上述步骤，直到所有顶点输出为止</a:t>
            </a:r>
            <a:endParaRPr lang="zh-CN" altLang="en-US" sz="2400" b="0" dirty="0">
              <a:latin typeface="黑体" panose="02010609060101010101" pitchFamily="2" charset="-122"/>
              <a:ea typeface="黑体" panose="02010609060101010101" pitchFamily="2" charset="-122"/>
              <a:cs typeface="+mn-ea"/>
              <a:sym typeface="Symbol" panose="05050102010706020507" pitchFamily="18" charset="2"/>
            </a:endParaRPr>
          </a:p>
          <a:p>
            <a:pPr marL="609600" lvl="1" algn="l" eaLnBrk="1" hangingPunct="1">
              <a:buClrTx/>
              <a:buSzTx/>
              <a:buNone/>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19812" name="Group 12"/>
          <p:cNvGrpSpPr/>
          <p:nvPr/>
        </p:nvGrpSpPr>
        <p:grpSpPr>
          <a:xfrm>
            <a:off x="2351088" y="4005263"/>
            <a:ext cx="1905000" cy="1524000"/>
            <a:chOff x="3984" y="2875"/>
            <a:chExt cx="1776" cy="1440"/>
          </a:xfrm>
        </p:grpSpPr>
        <p:sp>
          <p:nvSpPr>
            <p:cNvPr id="119813" name="Line 13"/>
            <p:cNvSpPr/>
            <p:nvPr/>
          </p:nvSpPr>
          <p:spPr>
            <a:xfrm flipH="1" flipV="1">
              <a:off x="4961" y="3055"/>
              <a:ext cx="577" cy="360"/>
            </a:xfrm>
            <a:prstGeom prst="line">
              <a:avLst/>
            </a:prstGeom>
            <a:ln w="38100" cap="flat" cmpd="sng">
              <a:solidFill>
                <a:srgbClr val="009900"/>
              </a:solidFill>
              <a:prstDash val="solid"/>
              <a:round/>
              <a:headEnd type="triangle" w="med" len="med"/>
              <a:tailEnd type="none" w="med" len="med"/>
            </a:ln>
          </p:spPr>
        </p:sp>
        <p:sp>
          <p:nvSpPr>
            <p:cNvPr id="119814" name="Line 14"/>
            <p:cNvSpPr/>
            <p:nvPr/>
          </p:nvSpPr>
          <p:spPr>
            <a:xfrm>
              <a:off x="4162" y="3550"/>
              <a:ext cx="222" cy="540"/>
            </a:xfrm>
            <a:prstGeom prst="line">
              <a:avLst/>
            </a:prstGeom>
            <a:ln w="38100" cap="flat" cmpd="sng">
              <a:solidFill>
                <a:srgbClr val="009900"/>
              </a:solidFill>
              <a:prstDash val="solid"/>
              <a:round/>
              <a:headEnd type="none" w="med" len="med"/>
              <a:tailEnd type="triangle" w="med" len="med"/>
            </a:ln>
          </p:spPr>
        </p:sp>
        <p:sp>
          <p:nvSpPr>
            <p:cNvPr id="119815" name="Line 15"/>
            <p:cNvSpPr/>
            <p:nvPr/>
          </p:nvSpPr>
          <p:spPr>
            <a:xfrm flipH="1">
              <a:off x="4206" y="3010"/>
              <a:ext cx="622" cy="360"/>
            </a:xfrm>
            <a:prstGeom prst="line">
              <a:avLst/>
            </a:prstGeom>
            <a:ln w="38100" cap="flat" cmpd="sng">
              <a:solidFill>
                <a:srgbClr val="009900"/>
              </a:solidFill>
              <a:prstDash val="solid"/>
              <a:round/>
              <a:headEnd type="none" w="med" len="med"/>
              <a:tailEnd type="triangle" w="med" len="med"/>
            </a:ln>
          </p:spPr>
        </p:sp>
        <p:sp>
          <p:nvSpPr>
            <p:cNvPr id="119816" name="Line 16"/>
            <p:cNvSpPr/>
            <p:nvPr/>
          </p:nvSpPr>
          <p:spPr>
            <a:xfrm flipH="1" flipV="1">
              <a:off x="4916" y="3055"/>
              <a:ext cx="356" cy="990"/>
            </a:xfrm>
            <a:prstGeom prst="line">
              <a:avLst/>
            </a:prstGeom>
            <a:ln w="38100" cap="flat" cmpd="sng">
              <a:solidFill>
                <a:srgbClr val="009900"/>
              </a:solidFill>
              <a:prstDash val="solid"/>
              <a:round/>
              <a:headEnd type="triangle" w="med" len="med"/>
              <a:tailEnd type="none" w="med" len="med"/>
            </a:ln>
          </p:spPr>
        </p:sp>
        <p:sp>
          <p:nvSpPr>
            <p:cNvPr id="119817" name="Line 17"/>
            <p:cNvSpPr/>
            <p:nvPr/>
          </p:nvSpPr>
          <p:spPr>
            <a:xfrm flipH="1">
              <a:off x="4517" y="4180"/>
              <a:ext cx="666" cy="0"/>
            </a:xfrm>
            <a:prstGeom prst="line">
              <a:avLst/>
            </a:prstGeom>
            <a:ln w="38100" cap="flat" cmpd="sng">
              <a:solidFill>
                <a:srgbClr val="009900"/>
              </a:solidFill>
              <a:prstDash val="solid"/>
              <a:round/>
              <a:headEnd type="none" w="med" len="med"/>
              <a:tailEnd type="triangle" w="med" len="med"/>
            </a:ln>
          </p:spPr>
        </p:sp>
        <p:sp>
          <p:nvSpPr>
            <p:cNvPr id="119818" name="Line 18"/>
            <p:cNvSpPr/>
            <p:nvPr/>
          </p:nvSpPr>
          <p:spPr>
            <a:xfrm flipH="1">
              <a:off x="4517" y="3595"/>
              <a:ext cx="1065" cy="540"/>
            </a:xfrm>
            <a:prstGeom prst="line">
              <a:avLst/>
            </a:prstGeom>
            <a:ln w="38100" cap="flat" cmpd="sng">
              <a:solidFill>
                <a:srgbClr val="009900"/>
              </a:solidFill>
              <a:prstDash val="solid"/>
              <a:round/>
              <a:headEnd type="triangle" w="med" len="med"/>
              <a:tailEnd type="none" w="med" len="med"/>
            </a:ln>
          </p:spPr>
        </p:sp>
        <p:sp>
          <p:nvSpPr>
            <p:cNvPr id="119819" name="Oval 19"/>
            <p:cNvSpPr/>
            <p:nvPr/>
          </p:nvSpPr>
          <p:spPr>
            <a:xfrm>
              <a:off x="3984" y="3325"/>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1</a:t>
              </a:r>
              <a:endParaRPr lang="en-US" altLang="zh-CN" sz="2000" dirty="0">
                <a:solidFill>
                  <a:schemeClr val="bg1"/>
                </a:solidFill>
                <a:latin typeface="Tahoma" panose="020B0604030504040204" charset="0"/>
                <a:ea typeface="宋体" panose="02010600030101010101" pitchFamily="2" charset="-122"/>
              </a:endParaRPr>
            </a:p>
          </p:txBody>
        </p:sp>
        <p:sp>
          <p:nvSpPr>
            <p:cNvPr id="119820" name="Oval 20"/>
            <p:cNvSpPr/>
            <p:nvPr/>
          </p:nvSpPr>
          <p:spPr>
            <a:xfrm>
              <a:off x="5183" y="4061"/>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3</a:t>
              </a:r>
              <a:endParaRPr lang="en-US" altLang="zh-CN" sz="2000" dirty="0">
                <a:solidFill>
                  <a:schemeClr val="bg1"/>
                </a:solidFill>
                <a:latin typeface="Tahoma" panose="020B0604030504040204" charset="0"/>
                <a:ea typeface="宋体" panose="02010600030101010101" pitchFamily="2" charset="-122"/>
              </a:endParaRPr>
            </a:p>
          </p:txBody>
        </p:sp>
        <p:sp>
          <p:nvSpPr>
            <p:cNvPr id="119821" name="Oval 21"/>
            <p:cNvSpPr/>
            <p:nvPr/>
          </p:nvSpPr>
          <p:spPr>
            <a:xfrm>
              <a:off x="4295" y="4061"/>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2</a:t>
              </a:r>
              <a:endParaRPr lang="en-US" altLang="zh-CN" sz="2000" dirty="0">
                <a:solidFill>
                  <a:schemeClr val="bg1"/>
                </a:solidFill>
                <a:latin typeface="Tahoma" panose="020B0604030504040204" charset="0"/>
                <a:ea typeface="宋体" panose="02010600030101010101" pitchFamily="2" charset="-122"/>
              </a:endParaRPr>
            </a:p>
          </p:txBody>
        </p:sp>
        <p:sp>
          <p:nvSpPr>
            <p:cNvPr id="119822" name="Oval 22"/>
            <p:cNvSpPr/>
            <p:nvPr/>
          </p:nvSpPr>
          <p:spPr>
            <a:xfrm>
              <a:off x="5494" y="3370"/>
              <a:ext cx="266" cy="253"/>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4</a:t>
              </a:r>
              <a:endParaRPr lang="en-US" altLang="zh-CN" sz="2000" dirty="0">
                <a:solidFill>
                  <a:schemeClr val="bg1"/>
                </a:solidFill>
                <a:latin typeface="Tahoma" panose="020B0604030504040204" charset="0"/>
                <a:ea typeface="宋体" panose="02010600030101010101" pitchFamily="2" charset="-122"/>
              </a:endParaRPr>
            </a:p>
          </p:txBody>
        </p:sp>
        <p:sp>
          <p:nvSpPr>
            <p:cNvPr id="119823" name="Oval 23"/>
            <p:cNvSpPr/>
            <p:nvPr/>
          </p:nvSpPr>
          <p:spPr>
            <a:xfrm>
              <a:off x="4739" y="2875"/>
              <a:ext cx="266" cy="253"/>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0</a:t>
              </a:r>
              <a:endParaRPr lang="en-US" altLang="zh-CN" sz="2000" dirty="0">
                <a:solidFill>
                  <a:schemeClr val="bg1"/>
                </a:solidFill>
                <a:latin typeface="Tahoma" panose="020B0604030504040204" charset="0"/>
                <a:ea typeface="宋体" panose="02010600030101010101" pitchFamily="2" charset="-122"/>
              </a:endParaRPr>
            </a:p>
          </p:txBody>
        </p:sp>
      </p:grpSp>
      <p:sp>
        <p:nvSpPr>
          <p:cNvPr id="119824" name="Text Box 42"/>
          <p:cNvSpPr txBox="1"/>
          <p:nvPr/>
        </p:nvSpPr>
        <p:spPr>
          <a:xfrm>
            <a:off x="5880100" y="3933825"/>
            <a:ext cx="2057400" cy="1630045"/>
          </a:xfrm>
          <a:prstGeom prst="rect">
            <a:avLst/>
          </a:prstGeom>
          <a:noFill/>
          <a:ln w="9525">
            <a:noFill/>
          </a:ln>
        </p:spPr>
        <p:txBody>
          <a:bodyPr anchor="t" anchorCtr="0">
            <a:spAutoFit/>
          </a:bodyPr>
          <a:p>
            <a:pPr>
              <a:spcBef>
                <a:spcPct val="50000"/>
              </a:spcBef>
            </a:pPr>
            <a:r>
              <a:rPr lang="en-US" altLang="zh-CN" sz="2000" dirty="0">
                <a:latin typeface="黑体" panose="02010609060101010101" pitchFamily="2" charset="-122"/>
                <a:ea typeface="黑体" panose="02010609060101010101" pitchFamily="2" charset="-122"/>
              </a:rPr>
              <a:t>0  1  0  1  1</a:t>
            </a:r>
            <a:endParaRPr lang="en-US" altLang="zh-CN" sz="2000" dirty="0">
              <a:latin typeface="黑体" panose="02010609060101010101" pitchFamily="2" charset="-122"/>
              <a:ea typeface="黑体" panose="02010609060101010101" pitchFamily="2" charset="-122"/>
            </a:endParaRPr>
          </a:p>
          <a:p>
            <a:pPr>
              <a:buClr>
                <a:schemeClr val="folHlink"/>
              </a:buClr>
              <a:buSzPct val="60000"/>
              <a:buFont typeface="Wingdings" panose="05000000000000000000" pitchFamily="2" charset="2"/>
            </a:pPr>
            <a:r>
              <a:rPr lang="en-US" altLang="zh-CN" sz="2000" dirty="0">
                <a:latin typeface="黑体" panose="02010609060101010101" pitchFamily="2" charset="-122"/>
                <a:ea typeface="黑体" panose="02010609060101010101" pitchFamily="2" charset="-122"/>
              </a:rPr>
              <a:t>0  0  1  0  0</a:t>
            </a:r>
            <a:endParaRPr lang="en-US" altLang="zh-CN" sz="2000" dirty="0">
              <a:latin typeface="黑体" panose="02010609060101010101" pitchFamily="2" charset="-122"/>
              <a:ea typeface="黑体" panose="02010609060101010101" pitchFamily="2" charset="-122"/>
            </a:endParaRPr>
          </a:p>
          <a:p>
            <a:pPr>
              <a:buClr>
                <a:schemeClr val="folHlink"/>
              </a:buClr>
              <a:buSzPct val="60000"/>
              <a:buFont typeface="Wingdings" panose="05000000000000000000" pitchFamily="2" charset="2"/>
            </a:pPr>
            <a:r>
              <a:rPr lang="en-US" altLang="zh-CN" sz="2000" dirty="0">
                <a:latin typeface="黑体" panose="02010609060101010101" pitchFamily="2" charset="-122"/>
                <a:ea typeface="黑体" panose="02010609060101010101" pitchFamily="2" charset="-122"/>
              </a:rPr>
              <a:t>0  0  0  0  1</a:t>
            </a:r>
            <a:endParaRPr lang="en-US" altLang="zh-CN" sz="2000" dirty="0">
              <a:latin typeface="黑体" panose="02010609060101010101" pitchFamily="2" charset="-122"/>
              <a:ea typeface="黑体" panose="02010609060101010101" pitchFamily="2" charset="-122"/>
            </a:endParaRPr>
          </a:p>
          <a:p>
            <a:pPr>
              <a:buClr>
                <a:schemeClr val="folHlink"/>
              </a:buClr>
              <a:buSzPct val="60000"/>
              <a:buFont typeface="Wingdings" panose="05000000000000000000" pitchFamily="2" charset="2"/>
            </a:pPr>
            <a:r>
              <a:rPr lang="en-US" altLang="zh-CN" sz="2000" dirty="0">
                <a:latin typeface="黑体" panose="02010609060101010101" pitchFamily="2" charset="-122"/>
                <a:ea typeface="黑体" panose="02010609060101010101" pitchFamily="2" charset="-122"/>
              </a:rPr>
              <a:t>0  0  1  0  0</a:t>
            </a:r>
            <a:endParaRPr lang="en-US" altLang="zh-CN" sz="2000" dirty="0">
              <a:latin typeface="黑体" panose="02010609060101010101" pitchFamily="2" charset="-122"/>
              <a:ea typeface="黑体" panose="02010609060101010101" pitchFamily="2" charset="-122"/>
            </a:endParaRPr>
          </a:p>
          <a:p>
            <a:pPr>
              <a:buClr>
                <a:schemeClr val="folHlink"/>
              </a:buClr>
              <a:buSzPct val="60000"/>
              <a:buFont typeface="Wingdings" panose="05000000000000000000" pitchFamily="2" charset="2"/>
            </a:pPr>
            <a:r>
              <a:rPr lang="en-US" altLang="zh-CN" sz="2000" dirty="0">
                <a:latin typeface="黑体" panose="02010609060101010101" pitchFamily="2" charset="-122"/>
                <a:ea typeface="黑体" panose="02010609060101010101" pitchFamily="2" charset="-122"/>
              </a:rPr>
              <a:t>0  0  0  0  0</a:t>
            </a:r>
            <a:endParaRPr lang="en-US" altLang="zh-CN" sz="2000" dirty="0">
              <a:latin typeface="黑体" panose="02010609060101010101" pitchFamily="2" charset="-122"/>
              <a:ea typeface="黑体" panose="02010609060101010101" pitchFamily="2"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740025"/>
          </a:xfrm>
        </p:spPr>
        <p:txBody>
          <a:bodyPr/>
          <a:p>
            <a:pPr marL="457200" lvl="1" indent="-457200" algn="l" eaLnBrk="1" hangingPunct="1">
              <a:buClrTx/>
              <a:buSzTx/>
              <a:buFont typeface="Wingdings" panose="05000000000000000000" charset="0"/>
              <a:buChar char="l"/>
            </a:pPr>
            <a:r>
              <a:rPr lang="zh-CN" altLang="zh-CN"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拓扑排序算法实现，基于邻接表与使用栈</a:t>
            </a:r>
            <a:endParaRPr lang="zh-CN" altLang="zh-CN"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lvl="1" algn="l" eaLnBrk="1" hangingPunct="1">
              <a:spcBef>
                <a:spcPct val="20000"/>
              </a:spcBef>
              <a:buClrTx/>
              <a:buSzTx/>
              <a:buChar char="•"/>
            </a:pPr>
            <a:r>
              <a:rPr lang="zh-CN" altLang="en-US" sz="2000" b="0" dirty="0">
                <a:latin typeface="黑体" panose="02010609060101010101" pitchFamily="2" charset="-122"/>
                <a:ea typeface="黑体" panose="02010609060101010101" pitchFamily="2" charset="-122"/>
                <a:cs typeface="+mn-ea"/>
                <a:sym typeface="Symbol" panose="05050102010706020507" pitchFamily="18" charset="2"/>
              </a:rPr>
              <a:t>在头结点中增加一个存放入度的数组</a:t>
            </a:r>
            <a:r>
              <a:rPr lang="en-US" altLang="zh-CN" sz="2000" b="0" dirty="0">
                <a:latin typeface="黑体" panose="02010609060101010101" pitchFamily="2" charset="-122"/>
                <a:ea typeface="黑体" panose="02010609060101010101" pitchFamily="2" charset="-122"/>
                <a:cs typeface="+mn-ea"/>
                <a:sym typeface="Symbol" panose="05050102010706020507" pitchFamily="18" charset="2"/>
              </a:rPr>
              <a:t>indegree</a:t>
            </a:r>
            <a:endParaRPr lang="en-US" altLang="zh-CN" sz="2000" b="0"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spcBef>
                <a:spcPct val="20000"/>
              </a:spcBef>
              <a:buClrTx/>
              <a:buSzTx/>
              <a:buChar char="•"/>
            </a:pPr>
            <a:r>
              <a:rPr lang="zh-CN" altLang="en-US" sz="2000" b="0" dirty="0">
                <a:latin typeface="黑体" panose="02010609060101010101" pitchFamily="2" charset="-122"/>
                <a:ea typeface="黑体" panose="02010609060101010101" pitchFamily="2" charset="-122"/>
                <a:cs typeface="+mn-ea"/>
                <a:sym typeface="Symbol" panose="05050102010706020507" pitchFamily="18" charset="2"/>
              </a:rPr>
              <a:t>当删除顶点和以它为弧尾的弧时，弧头顶点入度</a:t>
            </a:r>
            <a:r>
              <a:rPr lang="en-US" altLang="zh-CN" sz="2000" b="0" dirty="0">
                <a:latin typeface="黑体" panose="02010609060101010101" pitchFamily="2" charset="-122"/>
                <a:ea typeface="黑体" panose="02010609060101010101" pitchFamily="2" charset="-122"/>
                <a:cs typeface="+mn-ea"/>
                <a:sym typeface="Symbol" panose="05050102010706020507" pitchFamily="18" charset="2"/>
              </a:rPr>
              <a:t>-1</a:t>
            </a:r>
            <a:endParaRPr lang="zh-CN" altLang="en-US" sz="2000" b="0" dirty="0">
              <a:latin typeface="黑体" panose="02010609060101010101" pitchFamily="2" charset="-122"/>
              <a:ea typeface="黑体" panose="02010609060101010101" pitchFamily="2" charset="-122"/>
              <a:cs typeface="+mn-ea"/>
              <a:sym typeface="Symbol" panose="05050102010706020507" pitchFamily="18" charset="2"/>
            </a:endParaRPr>
          </a:p>
          <a:p>
            <a:pPr marL="609600" lvl="1" algn="l" eaLnBrk="1" hangingPunct="1">
              <a:buClrTx/>
              <a:buSzTx/>
              <a:buNone/>
            </a:pPr>
            <a:endParaRPr lang="zh-CN" altLang="en-US" sz="2000" b="0" dirty="0">
              <a:latin typeface="黑体" panose="02010609060101010101" pitchFamily="2" charset="-122"/>
              <a:ea typeface="黑体" panose="02010609060101010101" pitchFamily="2" charset="-122"/>
              <a:cs typeface="+mn-ea"/>
              <a:sym typeface="Symbol" panose="05050102010706020507" pitchFamily="18" charset="2"/>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5" name="对象 4"/>
          <p:cNvGraphicFramePr/>
          <p:nvPr/>
        </p:nvGraphicFramePr>
        <p:xfrm>
          <a:off x="1487170" y="2204720"/>
          <a:ext cx="7453630" cy="4457700"/>
        </p:xfrm>
        <a:graphic>
          <a:graphicData uri="http://schemas.openxmlformats.org/presentationml/2006/ole">
            <mc:AlternateContent xmlns:mc="http://schemas.openxmlformats.org/markup-compatibility/2006">
              <mc:Choice xmlns:v="urn:schemas-microsoft-com:vml" Requires="v">
                <p:oleObj spid="_x0000_s6" name="" r:id="rId1" imgW="7143750" imgH="4248150" progId="Paint.Picture">
                  <p:embed/>
                </p:oleObj>
              </mc:Choice>
              <mc:Fallback>
                <p:oleObj name="" r:id="rId1" imgW="7143750" imgH="4248150" progId="Paint.Picture">
                  <p:embed/>
                  <p:pic>
                    <p:nvPicPr>
                      <p:cNvPr id="0" name="图片 5"/>
                      <p:cNvPicPr/>
                      <p:nvPr/>
                    </p:nvPicPr>
                    <p:blipFill>
                      <a:blip r:embed="rId2"/>
                      <a:stretch>
                        <a:fillRect/>
                      </a:stretch>
                    </p:blipFill>
                    <p:spPr>
                      <a:xfrm>
                        <a:off x="1487170" y="2204720"/>
                        <a:ext cx="7453630" cy="4457700"/>
                      </a:xfrm>
                      <a:prstGeom prst="rect">
                        <a:avLst/>
                      </a:prstGeom>
                    </p:spPr>
                  </p:pic>
                </p:oleObj>
              </mc:Fallback>
            </mc:AlternateContent>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740025"/>
          </a:xfrm>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拓扑排序算法的时间复杂度是</a:t>
            </a:r>
            <a:r>
              <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O(n+e)</a:t>
            </a:r>
            <a:endPar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marL="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拓扑排序算法是后面关键路径算法的基础</a:t>
            </a:r>
            <a:endPar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marL="0" lvl="1" indent="-457200" algn="l" eaLnBrk="1" hangingPunct="1">
              <a:buClrTx/>
              <a:buSzTx/>
              <a:buFont typeface="Wingdings" panose="05000000000000000000" charset="0"/>
              <a:buChar char="l"/>
            </a:pPr>
            <a:endPar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marL="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拓扑排序也可以用</a:t>
            </a:r>
            <a:r>
              <a:rPr lang="en-US" altLang="zh-CN"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DFS</a:t>
            </a:r>
            <a:r>
              <a:rPr lang="zh-CN" altLang="en-US"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算法来实现</a:t>
            </a:r>
            <a:endParaRPr lang="zh-CN" altLang="en-US" sz="280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Symbol" panose="05050102010706020507" pitchFamily="18" charset="2"/>
              </a:rPr>
              <a:t>如果是DAG图，DFS遍历过程中，最先退出</a:t>
            </a:r>
            <a:r>
              <a:rPr lang="en-US" altLang="zh-CN" dirty="0">
                <a:latin typeface="黑体" panose="02010609060101010101" pitchFamily="2" charset="-122"/>
                <a:ea typeface="黑体" panose="02010609060101010101" pitchFamily="2" charset="-122"/>
                <a:cs typeface="+mn-ea"/>
                <a:sym typeface="Symbol" panose="05050102010706020507" pitchFamily="18" charset="2"/>
              </a:rPr>
              <a:t>DFS</a:t>
            </a:r>
            <a:r>
              <a:rPr lang="zh-CN" altLang="en-US" dirty="0">
                <a:latin typeface="黑体" panose="02010609060101010101" pitchFamily="2" charset="-122"/>
                <a:ea typeface="黑体" panose="02010609060101010101" pitchFamily="2" charset="-122"/>
                <a:cs typeface="+mn-ea"/>
                <a:sym typeface="Symbol" panose="05050102010706020507" pitchFamily="18" charset="2"/>
              </a:rPr>
              <a:t>函数的顶点必定是出度为</a:t>
            </a:r>
            <a:r>
              <a:rPr lang="en-US" altLang="zh-CN" dirty="0">
                <a:latin typeface="黑体" panose="02010609060101010101" pitchFamily="2" charset="-122"/>
                <a:ea typeface="黑体" panose="02010609060101010101" pitchFamily="2" charset="-122"/>
                <a:cs typeface="+mn-ea"/>
                <a:sym typeface="Symbol" panose="05050102010706020507" pitchFamily="18" charset="2"/>
              </a:rPr>
              <a:t>0</a:t>
            </a:r>
            <a:r>
              <a:rPr lang="zh-CN" altLang="en-US" dirty="0">
                <a:latin typeface="黑体" panose="02010609060101010101" pitchFamily="2" charset="-122"/>
                <a:ea typeface="黑体" panose="02010609060101010101" pitchFamily="2" charset="-122"/>
                <a:cs typeface="+mn-ea"/>
                <a:sym typeface="Symbol" panose="05050102010706020507" pitchFamily="18" charset="2"/>
              </a:rPr>
              <a:t>的顶点，也就是拓扑排序序列的最后一个顶点</a:t>
            </a:r>
            <a:endParaRPr lang="zh-CN" altLang="en-US"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Symbol" panose="05050102010706020507" pitchFamily="18" charset="2"/>
              </a:rPr>
              <a:t>按退出</a:t>
            </a:r>
            <a:r>
              <a:rPr lang="en-US" altLang="zh-CN" dirty="0">
                <a:latin typeface="黑体" panose="02010609060101010101" pitchFamily="2" charset="-122"/>
                <a:ea typeface="黑体" panose="02010609060101010101" pitchFamily="2" charset="-122"/>
                <a:cs typeface="+mn-ea"/>
                <a:sym typeface="Symbol" panose="05050102010706020507" pitchFamily="18" charset="2"/>
              </a:rPr>
              <a:t>DFS</a:t>
            </a:r>
            <a:r>
              <a:rPr lang="zh-CN" altLang="en-US" dirty="0">
                <a:latin typeface="黑体" panose="02010609060101010101" pitchFamily="2" charset="-122"/>
                <a:ea typeface="黑体" panose="02010609060101010101" pitchFamily="2" charset="-122"/>
                <a:cs typeface="+mn-ea"/>
                <a:sym typeface="Symbol" panose="05050102010706020507" pitchFamily="18" charset="2"/>
              </a:rPr>
              <a:t>函数的先后顺序记录下来的顶点序列，再逆序为拓扑排序</a:t>
            </a:r>
            <a:r>
              <a:rPr lang="zh-CN" altLang="en-US" dirty="0">
                <a:latin typeface="黑体" panose="02010609060101010101" pitchFamily="2" charset="-122"/>
                <a:ea typeface="黑体" panose="02010609060101010101" pitchFamily="2" charset="-122"/>
                <a:cs typeface="+mn-ea"/>
                <a:sym typeface="Symbol" panose="05050102010706020507" pitchFamily="18" charset="2"/>
              </a:rPr>
              <a:t>结果</a:t>
            </a:r>
            <a:endParaRPr lang="zh-CN" altLang="en-US" dirty="0">
              <a:latin typeface="黑体" panose="0201060906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Symbol" panose="05050102010706020507" pitchFamily="18" charset="2"/>
              </a:rPr>
              <a:t>算法自行探索。</a:t>
            </a:r>
            <a:endParaRPr lang="zh-CN" altLang="en-US" b="0" dirty="0">
              <a:latin typeface="黑体" panose="02010609060101010101" pitchFamily="2" charset="-122"/>
              <a:ea typeface="黑体" panose="02010609060101010101" pitchFamily="2" charset="-122"/>
              <a:cs typeface="+mn-ea"/>
              <a:sym typeface="Symbol" panose="05050102010706020507" pitchFamily="18" charset="2"/>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740025"/>
          </a:xfrm>
        </p:spPr>
        <p:txBody>
          <a:bodyPr/>
          <a:p>
            <a:pPr marL="0" lvl="1" indent="-457200" algn="l" eaLnBrk="1" hangingPunct="1">
              <a:lnSpc>
                <a:spcPct val="100000"/>
              </a:lnSpc>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工程活动的描述可以用</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AOV</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网</a:t>
            </a: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(Activity On Vertex Network</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表示。</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lnSpc>
                <a:spcPct val="100000"/>
              </a:lnSpc>
              <a:buClrTx/>
              <a:buSzTx/>
              <a:buChar char="•"/>
            </a:pPr>
            <a:r>
              <a:rPr lang="zh-CN" altLang="en-US" sz="2400" dirty="0">
                <a:latin typeface="黑体" panose="02010609060101010101" pitchFamily="2" charset="-122"/>
                <a:ea typeface="黑体" panose="02010609060101010101" pitchFamily="2" charset="-122"/>
                <a:cs typeface="+mn-ea"/>
                <a:sym typeface="+mn-ea"/>
              </a:rPr>
              <a:t>图中顶点表示活动</a:t>
            </a: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lnSpc>
                <a:spcPct val="100000"/>
              </a:lnSpc>
              <a:buClrTx/>
              <a:buSzTx/>
              <a:buChar char="•"/>
            </a:pPr>
            <a:r>
              <a:rPr lang="zh-CN" altLang="en-US" sz="2400" dirty="0">
                <a:latin typeface="黑体" panose="02010609060101010101" pitchFamily="2" charset="-122"/>
                <a:ea typeface="黑体" panose="02010609060101010101" pitchFamily="2" charset="-122"/>
                <a:cs typeface="+mn-ea"/>
                <a:sym typeface="+mn-ea"/>
              </a:rPr>
              <a:t>有向边表示活动之间的优先关系</a:t>
            </a:r>
            <a:endParaRPr lang="zh-CN" altLang="en-US" sz="2400" dirty="0">
              <a:latin typeface="黑体" panose="02010609060101010101" pitchFamily="2" charset="-122"/>
              <a:ea typeface="黑体" panose="02010609060101010101" pitchFamily="2" charset="-122"/>
              <a:cs typeface="+mn-ea"/>
            </a:endParaRPr>
          </a:p>
          <a:p>
            <a:pPr marL="0" lvl="1" indent="-457200" algn="l" eaLnBrk="1" hangingPunct="1">
              <a:lnSpc>
                <a:spcPct val="100000"/>
              </a:lnSpc>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在实际应用，往往会用</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AOE</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网，而不是</a:t>
            </a: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AOV网</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lnSpc>
                <a:spcPct val="100000"/>
              </a:lnSpc>
              <a:buClrTx/>
              <a:buSzTx/>
              <a:buChar char="•"/>
            </a:pPr>
            <a:r>
              <a:rPr lang="zh-CN" altLang="en-US" sz="2400" dirty="0">
                <a:latin typeface="黑体" panose="02010609060101010101" pitchFamily="2" charset="-122"/>
                <a:ea typeface="黑体" panose="02010609060101010101" pitchFamily="2" charset="-122"/>
                <a:cs typeface="+mn-ea"/>
                <a:sym typeface="+mn-ea"/>
              </a:rPr>
              <a:t>以边表示活动</a:t>
            </a: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lnSpc>
                <a:spcPct val="100000"/>
              </a:lnSpc>
              <a:buClrTx/>
              <a:buSzTx/>
              <a:buChar char="•"/>
            </a:pPr>
            <a:r>
              <a:rPr lang="zh-CN" altLang="en-US" sz="2400" dirty="0">
                <a:latin typeface="黑体" panose="02010609060101010101" pitchFamily="2" charset="-122"/>
                <a:ea typeface="黑体" panose="02010609060101010101" pitchFamily="2" charset="-122"/>
                <a:cs typeface="+mn-ea"/>
              </a:rPr>
              <a:t>顶点表示活动的开始</a:t>
            </a:r>
            <a:r>
              <a:rPr lang="zh-CN" altLang="en-US" sz="2400" dirty="0">
                <a:latin typeface="黑体" panose="02010609060101010101" pitchFamily="2" charset="-122"/>
                <a:ea typeface="黑体" panose="02010609060101010101" pitchFamily="2" charset="-122"/>
                <a:cs typeface="+mn-ea"/>
              </a:rPr>
              <a:t>状态和结束状态</a:t>
            </a:r>
            <a:endParaRPr lang="zh-CN" altLang="en-US" sz="2400" dirty="0">
              <a:latin typeface="黑体" panose="02010609060101010101" pitchFamily="2" charset="-122"/>
              <a:ea typeface="黑体" panose="02010609060101010101" pitchFamily="2" charset="-122"/>
              <a:cs typeface="+mn-ea"/>
            </a:endParaRPr>
          </a:p>
          <a:p>
            <a:pPr marL="0" lvl="1" indent="-457200" algn="l" eaLnBrk="1" hangingPunct="1">
              <a:lnSpc>
                <a:spcPct val="100000"/>
              </a:lnSpc>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对于工程活动人们关心：</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lnSpc>
                <a:spcPct val="100000"/>
              </a:lnSpc>
              <a:buClrTx/>
              <a:buSzTx/>
              <a:buChar char="•"/>
            </a:pPr>
            <a:r>
              <a:rPr lang="zh-CN" altLang="en-US" sz="2400" dirty="0">
                <a:latin typeface="黑体" panose="02010609060101010101" pitchFamily="2" charset="-122"/>
                <a:ea typeface="黑体" panose="02010609060101010101" pitchFamily="2" charset="-122"/>
                <a:cs typeface="+mn-ea"/>
                <a:sym typeface="+mn-ea"/>
              </a:rPr>
              <a:t>工程能否顺利完成?影响工程的关键活动是什么?</a:t>
            </a:r>
            <a:endParaRPr lang="zh-CN" altLang="en-US" sz="2400" b="0" dirty="0">
              <a:latin typeface="黑体" panose="02010609060101010101" pitchFamily="2" charset="-122"/>
              <a:ea typeface="黑体" panose="02010609060101010101" pitchFamily="2" charset="-122"/>
              <a:cs typeface="+mn-ea"/>
            </a:endParaRPr>
          </a:p>
          <a:p>
            <a:pPr lvl="1" algn="l" eaLnBrk="1" hangingPunct="1">
              <a:lnSpc>
                <a:spcPct val="100000"/>
              </a:lnSpc>
              <a:buClrTx/>
              <a:buSzTx/>
              <a:buChar char="•"/>
            </a:pPr>
            <a:r>
              <a:rPr lang="zh-CN" altLang="en-US" sz="2400" dirty="0">
                <a:latin typeface="黑体" panose="02010609060101010101" pitchFamily="2" charset="-122"/>
                <a:ea typeface="黑体" panose="02010609060101010101" pitchFamily="2" charset="-122"/>
                <a:cs typeface="+mn-ea"/>
                <a:sym typeface="+mn-ea"/>
              </a:rPr>
              <a:t>估算整个工程完成所必须的最短时间是多少?</a:t>
            </a:r>
            <a:endParaRPr lang="zh-CN" altLang="en-US" sz="2400" b="0" dirty="0">
              <a:latin typeface="黑体" panose="02010609060101010101" pitchFamily="2" charset="-122"/>
              <a:ea typeface="黑体" panose="02010609060101010101" pitchFamily="2" charset="-122"/>
              <a:cs typeface="+mn-ea"/>
            </a:endParaRPr>
          </a:p>
          <a:p>
            <a:pPr lvl="1" algn="l" eaLnBrk="1" hangingPunct="1">
              <a:lnSpc>
                <a:spcPct val="100000"/>
              </a:lnSpc>
              <a:buClrTx/>
              <a:buSzTx/>
              <a:buChar char="•"/>
            </a:pPr>
            <a:r>
              <a:rPr lang="zh-CN" altLang="en-US" sz="2400" dirty="0">
                <a:latin typeface="黑体" panose="02010609060101010101" pitchFamily="2" charset="-122"/>
                <a:ea typeface="黑体" panose="02010609060101010101" pitchFamily="2" charset="-122"/>
                <a:cs typeface="+mn-ea"/>
                <a:sym typeface="+mn-ea"/>
              </a:rPr>
              <a:t>因此常采用AOE网估算工程的进度</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mn-ea"/>
              <a:sym typeface="Symbol" panose="05050102010706020507" pitchFamily="18" charset="2"/>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740025"/>
          </a:xfrm>
        </p:spPr>
        <p:txBody>
          <a:bodyPr/>
          <a:p>
            <a:pPr marL="0" lvl="1" indent="-457200" algn="l" eaLnBrk="1" hangingPunct="1">
              <a:lnSpc>
                <a:spcPct val="100000"/>
              </a:lnSpc>
              <a:buClrTx/>
              <a:buSzTx/>
              <a:buFont typeface="Wingdings" panose="05000000000000000000" charset="0"/>
              <a:buChar char="l"/>
            </a:pPr>
            <a:r>
              <a:rPr lang="zh-CN" altLang="zh-CN" dirty="0">
                <a:latin typeface="黑体" panose="02010609060101010101" pitchFamily="2" charset="-122"/>
                <a:ea typeface="黑体" panose="02010609060101010101" pitchFamily="2" charset="-122"/>
                <a:cs typeface="黑体" panose="02010609060101010101" pitchFamily="2" charset="-122"/>
                <a:sym typeface="+mn-ea"/>
              </a:rPr>
              <a:t>工程活动的</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AOE</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网示例</a:t>
            </a:r>
            <a:endParaRPr lang="zh-CN" altLang="zh-CN"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000" dirty="0">
                <a:latin typeface="黑体" panose="02010609060101010101" pitchFamily="2" charset="-122"/>
                <a:ea typeface="黑体" panose="02010609060101010101" pitchFamily="2" charset="-122"/>
                <a:cs typeface="+mn-ea"/>
                <a:sym typeface="+mn-ea"/>
              </a:rPr>
              <a:t>图中顶点表示事件(Event)，每个事件表示在其前的所有活动已经完成，其后的活动可以开始</a:t>
            </a:r>
            <a:endParaRPr lang="zh-CN" altLang="en-US" sz="20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sz="2000" dirty="0">
                <a:latin typeface="黑体" panose="02010609060101010101" pitchFamily="2" charset="-122"/>
                <a:ea typeface="黑体" panose="02010609060101010101" pitchFamily="2" charset="-122"/>
                <a:cs typeface="+mn-ea"/>
                <a:sym typeface="+mn-ea"/>
              </a:rPr>
              <a:t>弧表示活动，弧上的权值表示相应活动所需的时间或费用</a:t>
            </a:r>
            <a:endParaRPr lang="zh-CN" altLang="en-US" sz="20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000" dirty="0">
                <a:latin typeface="黑体" panose="02010609060101010101" pitchFamily="2" charset="-122"/>
                <a:ea typeface="黑体" panose="02010609060101010101" pitchFamily="2" charset="-122"/>
                <a:cs typeface="+mn-ea"/>
                <a:sym typeface="+mn-ea"/>
              </a:rPr>
              <a:t>工程完成最短时间：从起点到终点的最长路径长度(路径上各活动持续时间之和) </a:t>
            </a:r>
            <a:endParaRPr lang="zh-CN" altLang="en-US" sz="20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000" dirty="0">
                <a:latin typeface="黑体" panose="02010609060101010101" pitchFamily="2" charset="-122"/>
                <a:ea typeface="黑体" panose="02010609060101010101" pitchFamily="2" charset="-122"/>
                <a:cs typeface="+mn-ea"/>
                <a:sym typeface="+mn-ea"/>
              </a:rPr>
              <a:t>长度最长的路径称为关键路径，关键路径上的活动称为关键活动。关键活动是影响整个工程的关键</a:t>
            </a:r>
            <a:endParaRPr lang="zh-CN" altLang="en-US" sz="2000" dirty="0">
              <a:latin typeface="黑体" panose="02010609060101010101" pitchFamily="2" charset="-122"/>
              <a:ea typeface="黑体" panose="02010609060101010101" pitchFamily="2" charset="-122"/>
              <a:cs typeface="+mn-ea"/>
            </a:endParaRPr>
          </a:p>
          <a:p>
            <a:pPr lvl="1" algn="l" eaLnBrk="1" hangingPunct="1">
              <a:lnSpc>
                <a:spcPct val="100000"/>
              </a:lnSpc>
              <a:buClrTx/>
              <a:buSzTx/>
              <a:buChar char="•"/>
            </a:pP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mn-ea"/>
              <a:sym typeface="Symbol" panose="05050102010706020507" pitchFamily="18" charset="2"/>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23908" name="Group 5"/>
          <p:cNvGrpSpPr/>
          <p:nvPr/>
        </p:nvGrpSpPr>
        <p:grpSpPr>
          <a:xfrm rot="0">
            <a:off x="3215640" y="3644900"/>
            <a:ext cx="4850130" cy="2266950"/>
            <a:chOff x="0" y="0"/>
            <a:chExt cx="3055" cy="1428"/>
          </a:xfrm>
        </p:grpSpPr>
        <p:sp>
          <p:nvSpPr>
            <p:cNvPr id="123909" name="Oval 6"/>
            <p:cNvSpPr/>
            <p:nvPr/>
          </p:nvSpPr>
          <p:spPr>
            <a:xfrm>
              <a:off x="24" y="720"/>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0</a:t>
              </a:r>
              <a:endParaRPr lang="en-US" altLang="zh-CN" sz="2400" baseline="-18000" dirty="0">
                <a:latin typeface="Times New Roman" panose="02020603050405020304" pitchFamily="18" charset="0"/>
                <a:ea typeface="宋体" panose="02010600030101010101" pitchFamily="2" charset="-122"/>
              </a:endParaRPr>
            </a:p>
          </p:txBody>
        </p:sp>
        <p:sp>
          <p:nvSpPr>
            <p:cNvPr id="123910" name="Oval 7"/>
            <p:cNvSpPr/>
            <p:nvPr/>
          </p:nvSpPr>
          <p:spPr>
            <a:xfrm>
              <a:off x="1977" y="88"/>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6</a:t>
              </a:r>
              <a:endParaRPr lang="en-US" altLang="zh-CN" sz="2400" baseline="-18000" dirty="0">
                <a:latin typeface="Times New Roman" panose="02020603050405020304" pitchFamily="18" charset="0"/>
                <a:ea typeface="宋体" panose="02010600030101010101" pitchFamily="2" charset="-122"/>
              </a:endParaRPr>
            </a:p>
          </p:txBody>
        </p:sp>
        <p:sp>
          <p:nvSpPr>
            <p:cNvPr id="123911" name="Oval 8"/>
            <p:cNvSpPr/>
            <p:nvPr/>
          </p:nvSpPr>
          <p:spPr>
            <a:xfrm>
              <a:off x="1456" y="1136"/>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5</a:t>
              </a:r>
              <a:endParaRPr lang="en-US" altLang="zh-CN" sz="2400" baseline="-18000" dirty="0">
                <a:latin typeface="Times New Roman" panose="02020603050405020304" pitchFamily="18" charset="0"/>
                <a:ea typeface="宋体" panose="02010600030101010101" pitchFamily="2" charset="-122"/>
              </a:endParaRPr>
            </a:p>
          </p:txBody>
        </p:sp>
        <p:sp>
          <p:nvSpPr>
            <p:cNvPr id="123912" name="Oval 9"/>
            <p:cNvSpPr/>
            <p:nvPr/>
          </p:nvSpPr>
          <p:spPr>
            <a:xfrm>
              <a:off x="1128" y="624"/>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4</a:t>
              </a:r>
              <a:endParaRPr lang="en-US" altLang="zh-CN" sz="2400" baseline="-18000" dirty="0">
                <a:latin typeface="Times New Roman" panose="02020603050405020304" pitchFamily="18" charset="0"/>
                <a:ea typeface="宋体" panose="02010600030101010101" pitchFamily="2" charset="-122"/>
              </a:endParaRPr>
            </a:p>
          </p:txBody>
        </p:sp>
        <p:sp>
          <p:nvSpPr>
            <p:cNvPr id="123913" name="Oval 10"/>
            <p:cNvSpPr/>
            <p:nvPr/>
          </p:nvSpPr>
          <p:spPr>
            <a:xfrm>
              <a:off x="1216" y="80"/>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3</a:t>
              </a:r>
              <a:endParaRPr lang="en-US" altLang="zh-CN" sz="2400" baseline="-18000" dirty="0">
                <a:latin typeface="Times New Roman" panose="02020603050405020304" pitchFamily="18" charset="0"/>
                <a:ea typeface="宋体" panose="02010600030101010101" pitchFamily="2" charset="-122"/>
              </a:endParaRPr>
            </a:p>
          </p:txBody>
        </p:sp>
        <p:sp>
          <p:nvSpPr>
            <p:cNvPr id="123914" name="Oval 11"/>
            <p:cNvSpPr/>
            <p:nvPr/>
          </p:nvSpPr>
          <p:spPr>
            <a:xfrm>
              <a:off x="592" y="1104"/>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2</a:t>
              </a:r>
              <a:endParaRPr lang="en-US" altLang="zh-CN" sz="2400" baseline="-18000" dirty="0">
                <a:latin typeface="Times New Roman" panose="02020603050405020304" pitchFamily="18" charset="0"/>
                <a:ea typeface="宋体" panose="02010600030101010101" pitchFamily="2" charset="-122"/>
              </a:endParaRPr>
            </a:p>
          </p:txBody>
        </p:sp>
        <p:sp>
          <p:nvSpPr>
            <p:cNvPr id="123915" name="Oval 12"/>
            <p:cNvSpPr/>
            <p:nvPr/>
          </p:nvSpPr>
          <p:spPr>
            <a:xfrm>
              <a:off x="528" y="240"/>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1</a:t>
              </a:r>
              <a:endParaRPr lang="en-US" altLang="zh-CN" sz="2400" baseline="-18000" dirty="0">
                <a:latin typeface="Times New Roman" panose="02020603050405020304" pitchFamily="18" charset="0"/>
                <a:ea typeface="宋体" panose="02010600030101010101" pitchFamily="2" charset="-122"/>
              </a:endParaRPr>
            </a:p>
          </p:txBody>
        </p:sp>
        <p:sp>
          <p:nvSpPr>
            <p:cNvPr id="123916" name="Oval 13"/>
            <p:cNvSpPr/>
            <p:nvPr/>
          </p:nvSpPr>
          <p:spPr>
            <a:xfrm>
              <a:off x="1912" y="624"/>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7</a:t>
              </a:r>
              <a:endParaRPr lang="en-US" altLang="zh-CN" sz="2400" baseline="-18000" dirty="0">
                <a:latin typeface="Times New Roman" panose="02020603050405020304" pitchFamily="18" charset="0"/>
                <a:ea typeface="宋体" panose="02010600030101010101" pitchFamily="2" charset="-122"/>
              </a:endParaRPr>
            </a:p>
          </p:txBody>
        </p:sp>
        <p:sp>
          <p:nvSpPr>
            <p:cNvPr id="123917" name="Oval 14"/>
            <p:cNvSpPr/>
            <p:nvPr/>
          </p:nvSpPr>
          <p:spPr>
            <a:xfrm>
              <a:off x="2760" y="624"/>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8</a:t>
              </a:r>
              <a:endParaRPr lang="en-US" altLang="zh-CN" sz="2400" baseline="-18000" dirty="0">
                <a:latin typeface="Times New Roman" panose="02020603050405020304" pitchFamily="18" charset="0"/>
                <a:ea typeface="宋体" panose="02010600030101010101" pitchFamily="2" charset="-122"/>
              </a:endParaRPr>
            </a:p>
          </p:txBody>
        </p:sp>
        <p:grpSp>
          <p:nvGrpSpPr>
            <p:cNvPr id="123918" name="Group 15"/>
            <p:cNvGrpSpPr/>
            <p:nvPr/>
          </p:nvGrpSpPr>
          <p:grpSpPr>
            <a:xfrm>
              <a:off x="0" y="432"/>
              <a:ext cx="600" cy="288"/>
              <a:chOff x="0" y="0"/>
              <a:chExt cx="600" cy="288"/>
            </a:xfrm>
          </p:grpSpPr>
          <p:sp>
            <p:nvSpPr>
              <p:cNvPr id="123919" name="Rectangle 16"/>
              <p:cNvSpPr/>
              <p:nvPr/>
            </p:nvSpPr>
            <p:spPr>
              <a:xfrm>
                <a:off x="0" y="0"/>
                <a:ext cx="453"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a1=3</a:t>
                </a:r>
                <a:endParaRPr lang="en-US" altLang="zh-CN" sz="2000" dirty="0">
                  <a:latin typeface="Times New Roman" panose="02020603050405020304" pitchFamily="18" charset="0"/>
                  <a:ea typeface="宋体" panose="02010600030101010101" pitchFamily="2" charset="-122"/>
                </a:endParaRPr>
              </a:p>
            </p:txBody>
          </p:sp>
          <p:sp>
            <p:nvSpPr>
              <p:cNvPr id="123920" name="Line 17"/>
              <p:cNvSpPr/>
              <p:nvPr/>
            </p:nvSpPr>
            <p:spPr>
              <a:xfrm flipV="1">
                <a:off x="216" y="0"/>
                <a:ext cx="384" cy="288"/>
              </a:xfrm>
              <a:prstGeom prst="line">
                <a:avLst/>
              </a:prstGeom>
              <a:ln w="19050" cap="flat" cmpd="sng">
                <a:solidFill>
                  <a:schemeClr val="tx1"/>
                </a:solidFill>
                <a:prstDash val="solid"/>
                <a:round/>
                <a:headEnd type="none" w="med" len="med"/>
                <a:tailEnd type="triangle" w="med" len="med"/>
              </a:ln>
            </p:spPr>
          </p:sp>
        </p:grpSp>
        <p:grpSp>
          <p:nvGrpSpPr>
            <p:cNvPr id="123921" name="Group 18"/>
            <p:cNvGrpSpPr/>
            <p:nvPr/>
          </p:nvGrpSpPr>
          <p:grpSpPr>
            <a:xfrm>
              <a:off x="216" y="852"/>
              <a:ext cx="528" cy="332"/>
              <a:chOff x="0" y="0"/>
              <a:chExt cx="528" cy="332"/>
            </a:xfrm>
          </p:grpSpPr>
          <p:sp>
            <p:nvSpPr>
              <p:cNvPr id="123922" name="Rectangle 19"/>
              <p:cNvSpPr/>
              <p:nvPr/>
            </p:nvSpPr>
            <p:spPr>
              <a:xfrm>
                <a:off x="75" y="0"/>
                <a:ext cx="453"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a2=10</a:t>
                </a:r>
                <a:endParaRPr lang="en-US" altLang="zh-CN" sz="2000" dirty="0">
                  <a:latin typeface="Times New Roman" panose="02020603050405020304" pitchFamily="18" charset="0"/>
                  <a:ea typeface="宋体" panose="02010600030101010101" pitchFamily="2" charset="-122"/>
                </a:endParaRPr>
              </a:p>
            </p:txBody>
          </p:sp>
          <p:sp>
            <p:nvSpPr>
              <p:cNvPr id="123923" name="Line 20"/>
              <p:cNvSpPr/>
              <p:nvPr/>
            </p:nvSpPr>
            <p:spPr>
              <a:xfrm>
                <a:off x="0" y="92"/>
                <a:ext cx="384" cy="240"/>
              </a:xfrm>
              <a:prstGeom prst="line">
                <a:avLst/>
              </a:prstGeom>
              <a:ln w="19050" cap="flat" cmpd="sng">
                <a:solidFill>
                  <a:schemeClr val="tx1"/>
                </a:solidFill>
                <a:prstDash val="solid"/>
                <a:round/>
                <a:headEnd type="none" w="med" len="med"/>
                <a:tailEnd type="triangle" w="med" len="med"/>
              </a:ln>
            </p:spPr>
          </p:sp>
        </p:grpSp>
        <p:grpSp>
          <p:nvGrpSpPr>
            <p:cNvPr id="123924" name="Group 21"/>
            <p:cNvGrpSpPr/>
            <p:nvPr/>
          </p:nvGrpSpPr>
          <p:grpSpPr>
            <a:xfrm>
              <a:off x="744" y="48"/>
              <a:ext cx="480" cy="240"/>
              <a:chOff x="0" y="0"/>
              <a:chExt cx="480" cy="240"/>
            </a:xfrm>
          </p:grpSpPr>
          <p:sp>
            <p:nvSpPr>
              <p:cNvPr id="123925" name="Rectangle 22"/>
              <p:cNvSpPr/>
              <p:nvPr/>
            </p:nvSpPr>
            <p:spPr>
              <a:xfrm>
                <a:off x="0" y="0"/>
                <a:ext cx="408"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a3=9</a:t>
                </a:r>
                <a:endParaRPr lang="en-US" altLang="zh-CN" sz="2000" dirty="0">
                  <a:latin typeface="Times New Roman" panose="02020603050405020304" pitchFamily="18" charset="0"/>
                  <a:ea typeface="宋体" panose="02010600030101010101" pitchFamily="2" charset="-122"/>
                </a:endParaRPr>
              </a:p>
            </p:txBody>
          </p:sp>
          <p:sp>
            <p:nvSpPr>
              <p:cNvPr id="123926" name="Line 23"/>
              <p:cNvSpPr/>
              <p:nvPr/>
            </p:nvSpPr>
            <p:spPr>
              <a:xfrm flipV="1">
                <a:off x="48" y="144"/>
                <a:ext cx="432" cy="96"/>
              </a:xfrm>
              <a:prstGeom prst="line">
                <a:avLst/>
              </a:prstGeom>
              <a:ln w="19050" cap="flat" cmpd="sng">
                <a:solidFill>
                  <a:schemeClr val="tx1"/>
                </a:solidFill>
                <a:prstDash val="solid"/>
                <a:round/>
                <a:headEnd type="none" w="med" len="med"/>
                <a:tailEnd type="triangle" w="med" len="med"/>
              </a:ln>
            </p:spPr>
          </p:sp>
        </p:grpSp>
        <p:grpSp>
          <p:nvGrpSpPr>
            <p:cNvPr id="123927" name="Group 24"/>
            <p:cNvGrpSpPr/>
            <p:nvPr/>
          </p:nvGrpSpPr>
          <p:grpSpPr>
            <a:xfrm>
              <a:off x="792" y="336"/>
              <a:ext cx="528" cy="332"/>
              <a:chOff x="0" y="0"/>
              <a:chExt cx="528" cy="332"/>
            </a:xfrm>
          </p:grpSpPr>
          <p:sp>
            <p:nvSpPr>
              <p:cNvPr id="123928" name="Rectangle 25"/>
              <p:cNvSpPr/>
              <p:nvPr/>
            </p:nvSpPr>
            <p:spPr>
              <a:xfrm>
                <a:off x="75" y="0"/>
                <a:ext cx="453"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a4=13</a:t>
                </a:r>
                <a:endParaRPr lang="en-US" altLang="zh-CN" sz="2000" dirty="0">
                  <a:latin typeface="Times New Roman" panose="02020603050405020304" pitchFamily="18" charset="0"/>
                  <a:ea typeface="宋体" panose="02010600030101010101" pitchFamily="2" charset="-122"/>
                </a:endParaRPr>
              </a:p>
            </p:txBody>
          </p:sp>
          <p:sp>
            <p:nvSpPr>
              <p:cNvPr id="123929" name="Line 26"/>
              <p:cNvSpPr/>
              <p:nvPr/>
            </p:nvSpPr>
            <p:spPr>
              <a:xfrm>
                <a:off x="0" y="92"/>
                <a:ext cx="384" cy="240"/>
              </a:xfrm>
              <a:prstGeom prst="line">
                <a:avLst/>
              </a:prstGeom>
              <a:ln w="19050" cap="flat" cmpd="sng">
                <a:solidFill>
                  <a:schemeClr val="tx1"/>
                </a:solidFill>
                <a:prstDash val="solid"/>
                <a:round/>
                <a:headEnd type="none" w="med" len="med"/>
                <a:tailEnd type="triangle" w="med" len="med"/>
              </a:ln>
            </p:spPr>
          </p:sp>
        </p:grpSp>
        <p:grpSp>
          <p:nvGrpSpPr>
            <p:cNvPr id="123930" name="Group 27"/>
            <p:cNvGrpSpPr/>
            <p:nvPr/>
          </p:nvGrpSpPr>
          <p:grpSpPr>
            <a:xfrm>
              <a:off x="808" y="816"/>
              <a:ext cx="533" cy="320"/>
              <a:chOff x="0" y="0"/>
              <a:chExt cx="533" cy="320"/>
            </a:xfrm>
          </p:grpSpPr>
          <p:sp>
            <p:nvSpPr>
              <p:cNvPr id="123931" name="Rectangle 28"/>
              <p:cNvSpPr/>
              <p:nvPr/>
            </p:nvSpPr>
            <p:spPr>
              <a:xfrm>
                <a:off x="80" y="116"/>
                <a:ext cx="453"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a5=12</a:t>
                </a:r>
                <a:endParaRPr lang="en-US" altLang="zh-CN" sz="2000" dirty="0">
                  <a:latin typeface="Times New Roman" panose="02020603050405020304" pitchFamily="18" charset="0"/>
                  <a:ea typeface="宋体" panose="02010600030101010101" pitchFamily="2" charset="-122"/>
                </a:endParaRPr>
              </a:p>
            </p:txBody>
          </p:sp>
          <p:sp>
            <p:nvSpPr>
              <p:cNvPr id="123932" name="Line 29"/>
              <p:cNvSpPr/>
              <p:nvPr/>
            </p:nvSpPr>
            <p:spPr>
              <a:xfrm flipV="1">
                <a:off x="0" y="0"/>
                <a:ext cx="384" cy="288"/>
              </a:xfrm>
              <a:prstGeom prst="line">
                <a:avLst/>
              </a:prstGeom>
              <a:ln w="19050" cap="flat" cmpd="sng">
                <a:solidFill>
                  <a:schemeClr val="tx1"/>
                </a:solidFill>
                <a:prstDash val="solid"/>
                <a:round/>
                <a:headEnd type="none" w="med" len="med"/>
                <a:tailEnd type="triangle" w="med" len="med"/>
              </a:ln>
            </p:spPr>
          </p:sp>
        </p:grpSp>
        <p:grpSp>
          <p:nvGrpSpPr>
            <p:cNvPr id="123933" name="Group 30"/>
            <p:cNvGrpSpPr/>
            <p:nvPr/>
          </p:nvGrpSpPr>
          <p:grpSpPr>
            <a:xfrm>
              <a:off x="888" y="1224"/>
              <a:ext cx="576" cy="204"/>
              <a:chOff x="0" y="0"/>
              <a:chExt cx="576" cy="204"/>
            </a:xfrm>
          </p:grpSpPr>
          <p:sp>
            <p:nvSpPr>
              <p:cNvPr id="123934" name="Rectangle 31"/>
              <p:cNvSpPr/>
              <p:nvPr/>
            </p:nvSpPr>
            <p:spPr>
              <a:xfrm>
                <a:off x="72" y="0"/>
                <a:ext cx="408"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a6=7</a:t>
                </a:r>
                <a:endParaRPr lang="en-US" altLang="zh-CN" sz="2000" dirty="0">
                  <a:latin typeface="Times New Roman" panose="02020603050405020304" pitchFamily="18" charset="0"/>
                  <a:ea typeface="宋体" panose="02010600030101010101" pitchFamily="2" charset="-122"/>
                </a:endParaRPr>
              </a:p>
            </p:txBody>
          </p:sp>
          <p:sp>
            <p:nvSpPr>
              <p:cNvPr id="123935" name="Line 32"/>
              <p:cNvSpPr/>
              <p:nvPr/>
            </p:nvSpPr>
            <p:spPr>
              <a:xfrm>
                <a:off x="0" y="24"/>
                <a:ext cx="576" cy="0"/>
              </a:xfrm>
              <a:prstGeom prst="line">
                <a:avLst/>
              </a:prstGeom>
              <a:ln w="19050" cap="flat" cmpd="sng">
                <a:solidFill>
                  <a:schemeClr val="tx1"/>
                </a:solidFill>
                <a:prstDash val="solid"/>
                <a:round/>
                <a:headEnd type="none" w="med" len="med"/>
                <a:tailEnd type="triangle" w="med" len="med"/>
              </a:ln>
            </p:spPr>
          </p:sp>
        </p:grpSp>
        <p:grpSp>
          <p:nvGrpSpPr>
            <p:cNvPr id="123936" name="Group 33"/>
            <p:cNvGrpSpPr/>
            <p:nvPr/>
          </p:nvGrpSpPr>
          <p:grpSpPr>
            <a:xfrm>
              <a:off x="1512" y="0"/>
              <a:ext cx="480" cy="204"/>
              <a:chOff x="0" y="0"/>
              <a:chExt cx="480" cy="204"/>
            </a:xfrm>
          </p:grpSpPr>
          <p:sp>
            <p:nvSpPr>
              <p:cNvPr id="123937" name="Rectangle 34"/>
              <p:cNvSpPr/>
              <p:nvPr/>
            </p:nvSpPr>
            <p:spPr>
              <a:xfrm>
                <a:off x="0" y="0"/>
                <a:ext cx="408"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a7=8</a:t>
                </a:r>
                <a:endParaRPr lang="en-US" altLang="zh-CN" sz="2000" dirty="0">
                  <a:latin typeface="Times New Roman" panose="02020603050405020304" pitchFamily="18" charset="0"/>
                  <a:ea typeface="宋体" panose="02010600030101010101" pitchFamily="2" charset="-122"/>
                </a:endParaRPr>
              </a:p>
            </p:txBody>
          </p:sp>
          <p:sp>
            <p:nvSpPr>
              <p:cNvPr id="123938" name="Line 35"/>
              <p:cNvSpPr/>
              <p:nvPr/>
            </p:nvSpPr>
            <p:spPr>
              <a:xfrm>
                <a:off x="0" y="192"/>
                <a:ext cx="480" cy="0"/>
              </a:xfrm>
              <a:prstGeom prst="line">
                <a:avLst/>
              </a:prstGeom>
              <a:ln w="19050" cap="flat" cmpd="sng">
                <a:solidFill>
                  <a:schemeClr val="tx1"/>
                </a:solidFill>
                <a:prstDash val="solid"/>
                <a:round/>
                <a:headEnd type="none" w="med" len="med"/>
                <a:tailEnd type="triangle" w="med" len="med"/>
              </a:ln>
            </p:spPr>
          </p:sp>
        </p:grpSp>
        <p:grpSp>
          <p:nvGrpSpPr>
            <p:cNvPr id="123939" name="Group 36"/>
            <p:cNvGrpSpPr/>
            <p:nvPr/>
          </p:nvGrpSpPr>
          <p:grpSpPr>
            <a:xfrm>
              <a:off x="1432" y="540"/>
              <a:ext cx="480" cy="204"/>
              <a:chOff x="0" y="0"/>
              <a:chExt cx="480" cy="204"/>
            </a:xfrm>
          </p:grpSpPr>
          <p:sp>
            <p:nvSpPr>
              <p:cNvPr id="123940" name="Rectangle 37"/>
              <p:cNvSpPr/>
              <p:nvPr/>
            </p:nvSpPr>
            <p:spPr>
              <a:xfrm>
                <a:off x="0" y="0"/>
                <a:ext cx="408"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a9=6</a:t>
                </a:r>
                <a:endParaRPr lang="en-US" altLang="zh-CN" sz="2000" dirty="0">
                  <a:latin typeface="Times New Roman" panose="02020603050405020304" pitchFamily="18" charset="0"/>
                  <a:ea typeface="宋体" panose="02010600030101010101" pitchFamily="2" charset="-122"/>
                </a:endParaRPr>
              </a:p>
            </p:txBody>
          </p:sp>
          <p:sp>
            <p:nvSpPr>
              <p:cNvPr id="123941" name="Line 38"/>
              <p:cNvSpPr/>
              <p:nvPr/>
            </p:nvSpPr>
            <p:spPr>
              <a:xfrm>
                <a:off x="0" y="192"/>
                <a:ext cx="480" cy="0"/>
              </a:xfrm>
              <a:prstGeom prst="line">
                <a:avLst/>
              </a:prstGeom>
              <a:ln w="19050" cap="flat" cmpd="sng">
                <a:solidFill>
                  <a:schemeClr val="tx1"/>
                </a:solidFill>
                <a:prstDash val="solid"/>
                <a:round/>
                <a:headEnd type="none" w="med" len="med"/>
                <a:tailEnd type="triangle" w="med" len="med"/>
              </a:ln>
            </p:spPr>
          </p:sp>
        </p:grpSp>
        <p:grpSp>
          <p:nvGrpSpPr>
            <p:cNvPr id="123942" name="Group 39"/>
            <p:cNvGrpSpPr/>
            <p:nvPr/>
          </p:nvGrpSpPr>
          <p:grpSpPr>
            <a:xfrm>
              <a:off x="1651" y="848"/>
              <a:ext cx="581" cy="304"/>
              <a:chOff x="0" y="0"/>
              <a:chExt cx="581" cy="304"/>
            </a:xfrm>
          </p:grpSpPr>
          <p:sp>
            <p:nvSpPr>
              <p:cNvPr id="123943" name="Rectangle 40"/>
              <p:cNvSpPr/>
              <p:nvPr/>
            </p:nvSpPr>
            <p:spPr>
              <a:xfrm>
                <a:off x="105" y="100"/>
                <a:ext cx="476"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a10=11</a:t>
                </a:r>
                <a:endParaRPr lang="en-US" altLang="zh-CN" sz="2000" dirty="0">
                  <a:latin typeface="Times New Roman" panose="02020603050405020304" pitchFamily="18" charset="0"/>
                  <a:ea typeface="宋体" panose="02010600030101010101" pitchFamily="2" charset="-122"/>
                </a:endParaRPr>
              </a:p>
            </p:txBody>
          </p:sp>
          <p:sp>
            <p:nvSpPr>
              <p:cNvPr id="123944" name="Line 41"/>
              <p:cNvSpPr/>
              <p:nvPr/>
            </p:nvSpPr>
            <p:spPr>
              <a:xfrm flipV="1">
                <a:off x="0" y="0"/>
                <a:ext cx="384" cy="288"/>
              </a:xfrm>
              <a:prstGeom prst="line">
                <a:avLst/>
              </a:prstGeom>
              <a:ln w="19050" cap="flat" cmpd="sng">
                <a:solidFill>
                  <a:schemeClr val="tx1"/>
                </a:solidFill>
                <a:prstDash val="solid"/>
                <a:round/>
                <a:headEnd type="none" w="med" len="med"/>
                <a:tailEnd type="triangle" w="med" len="med"/>
              </a:ln>
            </p:spPr>
          </p:sp>
        </p:grpSp>
        <p:grpSp>
          <p:nvGrpSpPr>
            <p:cNvPr id="123945" name="Group 42"/>
            <p:cNvGrpSpPr/>
            <p:nvPr/>
          </p:nvGrpSpPr>
          <p:grpSpPr>
            <a:xfrm>
              <a:off x="2208" y="544"/>
              <a:ext cx="544" cy="204"/>
              <a:chOff x="0" y="0"/>
              <a:chExt cx="544" cy="204"/>
            </a:xfrm>
          </p:grpSpPr>
          <p:sp>
            <p:nvSpPr>
              <p:cNvPr id="123946" name="Rectangle 43"/>
              <p:cNvSpPr/>
              <p:nvPr/>
            </p:nvSpPr>
            <p:spPr>
              <a:xfrm>
                <a:off x="0" y="0"/>
                <a:ext cx="453"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a12=5</a:t>
                </a:r>
                <a:endParaRPr lang="en-US" altLang="zh-CN" sz="2000" dirty="0">
                  <a:latin typeface="Times New Roman" panose="02020603050405020304" pitchFamily="18" charset="0"/>
                  <a:ea typeface="宋体" panose="02010600030101010101" pitchFamily="2" charset="-122"/>
                </a:endParaRPr>
              </a:p>
            </p:txBody>
          </p:sp>
          <p:sp>
            <p:nvSpPr>
              <p:cNvPr id="123947" name="Line 44"/>
              <p:cNvSpPr/>
              <p:nvPr/>
            </p:nvSpPr>
            <p:spPr>
              <a:xfrm>
                <a:off x="0" y="192"/>
                <a:ext cx="544" cy="0"/>
              </a:xfrm>
              <a:prstGeom prst="line">
                <a:avLst/>
              </a:prstGeom>
              <a:ln w="19050" cap="flat" cmpd="sng">
                <a:solidFill>
                  <a:schemeClr val="tx1"/>
                </a:solidFill>
                <a:prstDash val="solid"/>
                <a:round/>
                <a:headEnd type="none" w="med" len="med"/>
                <a:tailEnd type="triangle" w="med" len="med"/>
              </a:ln>
            </p:spPr>
          </p:sp>
        </p:grpSp>
        <p:grpSp>
          <p:nvGrpSpPr>
            <p:cNvPr id="123948" name="Group 45"/>
            <p:cNvGrpSpPr/>
            <p:nvPr/>
          </p:nvGrpSpPr>
          <p:grpSpPr>
            <a:xfrm>
              <a:off x="1464" y="288"/>
              <a:ext cx="672" cy="336"/>
              <a:chOff x="0" y="0"/>
              <a:chExt cx="672" cy="336"/>
            </a:xfrm>
          </p:grpSpPr>
          <p:sp>
            <p:nvSpPr>
              <p:cNvPr id="123949" name="Rectangle 46"/>
              <p:cNvSpPr/>
              <p:nvPr/>
            </p:nvSpPr>
            <p:spPr>
              <a:xfrm>
                <a:off x="264" y="8"/>
                <a:ext cx="408"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a8=4</a:t>
                </a:r>
                <a:endParaRPr lang="en-US" altLang="zh-CN" sz="2000" dirty="0">
                  <a:latin typeface="Times New Roman" panose="02020603050405020304" pitchFamily="18" charset="0"/>
                  <a:ea typeface="宋体" panose="02010600030101010101" pitchFamily="2" charset="-122"/>
                </a:endParaRPr>
              </a:p>
            </p:txBody>
          </p:sp>
          <p:sp>
            <p:nvSpPr>
              <p:cNvPr id="123950" name="Line 47"/>
              <p:cNvSpPr/>
              <p:nvPr/>
            </p:nvSpPr>
            <p:spPr>
              <a:xfrm>
                <a:off x="0" y="0"/>
                <a:ext cx="576" cy="336"/>
              </a:xfrm>
              <a:prstGeom prst="line">
                <a:avLst/>
              </a:prstGeom>
              <a:ln w="19050" cap="flat" cmpd="sng">
                <a:solidFill>
                  <a:schemeClr val="tx1"/>
                </a:solidFill>
                <a:prstDash val="solid"/>
                <a:round/>
                <a:headEnd type="none" w="med" len="med"/>
                <a:tailEnd type="triangle" w="med" len="med"/>
              </a:ln>
            </p:spPr>
          </p:sp>
        </p:grpSp>
        <p:grpSp>
          <p:nvGrpSpPr>
            <p:cNvPr id="123951" name="Group 48"/>
            <p:cNvGrpSpPr/>
            <p:nvPr/>
          </p:nvGrpSpPr>
          <p:grpSpPr>
            <a:xfrm>
              <a:off x="2256" y="248"/>
              <a:ext cx="693" cy="376"/>
              <a:chOff x="0" y="0"/>
              <a:chExt cx="693" cy="376"/>
            </a:xfrm>
          </p:grpSpPr>
          <p:sp>
            <p:nvSpPr>
              <p:cNvPr id="123952" name="Rectangle 49"/>
              <p:cNvSpPr/>
              <p:nvPr/>
            </p:nvSpPr>
            <p:spPr>
              <a:xfrm>
                <a:off x="240" y="0"/>
                <a:ext cx="453"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a11=2</a:t>
                </a:r>
                <a:endParaRPr lang="en-US" altLang="zh-CN" sz="2000" dirty="0">
                  <a:latin typeface="Times New Roman" panose="02020603050405020304" pitchFamily="18" charset="0"/>
                  <a:ea typeface="宋体" panose="02010600030101010101" pitchFamily="2" charset="-122"/>
                </a:endParaRPr>
              </a:p>
            </p:txBody>
          </p:sp>
          <p:sp>
            <p:nvSpPr>
              <p:cNvPr id="123953" name="Line 50"/>
              <p:cNvSpPr/>
              <p:nvPr/>
            </p:nvSpPr>
            <p:spPr>
              <a:xfrm>
                <a:off x="0" y="0"/>
                <a:ext cx="616" cy="376"/>
              </a:xfrm>
              <a:prstGeom prst="line">
                <a:avLst/>
              </a:prstGeom>
              <a:ln w="19050" cap="flat" cmpd="sng">
                <a:solidFill>
                  <a:schemeClr val="tx1"/>
                </a:solidFill>
                <a:prstDash val="solid"/>
                <a:round/>
                <a:headEnd type="none" w="med" len="med"/>
                <a:tailEnd type="triangle" w="med" len="med"/>
              </a:ln>
            </p:spPr>
          </p:sp>
        </p:grpSp>
      </p:gr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740025"/>
          </a:xfrm>
        </p:spPr>
        <p:txBody>
          <a:bodyPr/>
          <a:p>
            <a:pPr marL="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求AOE网中完成最短时间和关键路径</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参数设定</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lvl="1" algn="l">
              <a:buClrTx/>
              <a:buSzTx/>
              <a:buChar char="•"/>
            </a:pPr>
            <a:r>
              <a:rPr lang="zh-CN" altLang="en-US" dirty="0">
                <a:latin typeface="黑体" panose="02010609060101010101" pitchFamily="2" charset="-122"/>
                <a:ea typeface="黑体" panose="02010609060101010101" pitchFamily="2" charset="-122"/>
                <a:cs typeface="+mn-ea"/>
                <a:sym typeface="+mn-ea"/>
              </a:rPr>
              <a:t>设v</a:t>
            </a:r>
            <a:r>
              <a:rPr lang="zh-CN" altLang="en-US" baseline="-25000" dirty="0">
                <a:latin typeface="黑体" panose="02010609060101010101" pitchFamily="2" charset="-122"/>
                <a:ea typeface="黑体" panose="02010609060101010101" pitchFamily="2" charset="-122"/>
                <a:cs typeface="+mn-ea"/>
                <a:sym typeface="+mn-ea"/>
              </a:rPr>
              <a:t>0</a:t>
            </a:r>
            <a:r>
              <a:rPr lang="zh-CN" altLang="en-US" dirty="0">
                <a:latin typeface="黑体" panose="02010609060101010101" pitchFamily="2" charset="-122"/>
                <a:ea typeface="黑体" panose="02010609060101010101" pitchFamily="2" charset="-122"/>
                <a:cs typeface="+mn-ea"/>
                <a:sym typeface="+mn-ea"/>
              </a:rPr>
              <a:t>是起点，从v</a:t>
            </a:r>
            <a:r>
              <a:rPr lang="zh-CN" altLang="en-US" baseline="-25000" dirty="0">
                <a:latin typeface="黑体" panose="02010609060101010101" pitchFamily="2" charset="-122"/>
                <a:ea typeface="黑体" panose="02010609060101010101" pitchFamily="2" charset="-122"/>
                <a:cs typeface="+mn-ea"/>
                <a:sym typeface="+mn-ea"/>
              </a:rPr>
              <a:t>0</a:t>
            </a:r>
            <a:r>
              <a:rPr lang="zh-CN" altLang="en-US" dirty="0">
                <a:latin typeface="黑体" panose="02010609060101010101" pitchFamily="2" charset="-122"/>
                <a:ea typeface="黑体" panose="02010609060101010101" pitchFamily="2" charset="-122"/>
                <a:cs typeface="+mn-ea"/>
                <a:sym typeface="+mn-ea"/>
              </a:rPr>
              <a:t>到v</a:t>
            </a:r>
            <a:r>
              <a:rPr lang="zh-CN" altLang="en-US" baseline="-25000" dirty="0">
                <a:latin typeface="黑体" panose="02010609060101010101" pitchFamily="2" charset="-122"/>
                <a:ea typeface="黑体" panose="02010609060101010101" pitchFamily="2" charset="-122"/>
                <a:cs typeface="+mn-ea"/>
                <a:sym typeface="+mn-ea"/>
              </a:rPr>
              <a:t>i</a:t>
            </a:r>
            <a:r>
              <a:rPr lang="zh-CN" altLang="en-US" dirty="0">
                <a:latin typeface="黑体" panose="02010609060101010101" pitchFamily="2" charset="-122"/>
                <a:ea typeface="黑体" panose="02010609060101010101" pitchFamily="2" charset="-122"/>
                <a:cs typeface="+mn-ea"/>
                <a:sym typeface="+mn-ea"/>
              </a:rPr>
              <a:t>的最长路径长度称为事件v</a:t>
            </a:r>
            <a:r>
              <a:rPr lang="zh-CN" altLang="en-US" baseline="-25000" dirty="0">
                <a:latin typeface="黑体" panose="02010609060101010101" pitchFamily="2" charset="-122"/>
                <a:ea typeface="黑体" panose="02010609060101010101" pitchFamily="2" charset="-122"/>
                <a:cs typeface="+mn-ea"/>
                <a:sym typeface="+mn-ea"/>
              </a:rPr>
              <a:t>i</a:t>
            </a:r>
            <a:r>
              <a:rPr lang="zh-CN" altLang="en-US" dirty="0">
                <a:latin typeface="黑体" panose="02010609060101010101" pitchFamily="2" charset="-122"/>
                <a:ea typeface="黑体" panose="02010609060101010101" pitchFamily="2" charset="-122"/>
                <a:cs typeface="+mn-ea"/>
                <a:sym typeface="+mn-ea"/>
              </a:rPr>
              <a:t>的最早发生时间，即是以v</a:t>
            </a:r>
            <a:r>
              <a:rPr lang="zh-CN" altLang="en-US" baseline="-25000" dirty="0">
                <a:latin typeface="黑体" panose="02010609060101010101" pitchFamily="2" charset="-122"/>
                <a:ea typeface="黑体" panose="02010609060101010101" pitchFamily="2" charset="-122"/>
                <a:cs typeface="+mn-ea"/>
                <a:sym typeface="+mn-ea"/>
              </a:rPr>
              <a:t>i</a:t>
            </a:r>
            <a:r>
              <a:rPr lang="zh-CN" altLang="en-US" dirty="0">
                <a:latin typeface="黑体" panose="02010609060101010101" pitchFamily="2" charset="-122"/>
                <a:ea typeface="黑体" panose="02010609060101010101" pitchFamily="2" charset="-122"/>
                <a:cs typeface="+mn-ea"/>
                <a:sym typeface="+mn-ea"/>
              </a:rPr>
              <a:t>为尾的所有活动的最早发生时间</a:t>
            </a:r>
            <a:endParaRPr lang="zh-CN" altLang="en-US" dirty="0">
              <a:latin typeface="黑体" panose="02010609060101010101" pitchFamily="2" charset="-122"/>
              <a:ea typeface="黑体" panose="02010609060101010101" pitchFamily="2" charset="-122"/>
              <a:cs typeface="+mn-ea"/>
            </a:endParaRPr>
          </a:p>
          <a:p>
            <a:pPr lvl="1" algn="l">
              <a:buClrTx/>
              <a:buSzTx/>
              <a:buChar char="•"/>
            </a:pPr>
            <a:r>
              <a:rPr lang="zh-CN" altLang="en-US" dirty="0">
                <a:latin typeface="黑体" panose="02010609060101010101" pitchFamily="2" charset="-122"/>
                <a:ea typeface="黑体" panose="02010609060101010101" pitchFamily="2" charset="-122"/>
                <a:cs typeface="+mn-ea"/>
                <a:sym typeface="+mn-ea"/>
              </a:rPr>
              <a:t>e(i)：表示活动a</a:t>
            </a:r>
            <a:r>
              <a:rPr lang="zh-CN" altLang="en-US" baseline="-25000" dirty="0">
                <a:latin typeface="黑体" panose="02010609060101010101" pitchFamily="2" charset="-122"/>
                <a:ea typeface="黑体" panose="02010609060101010101" pitchFamily="2" charset="-122"/>
                <a:cs typeface="+mn-ea"/>
                <a:sym typeface="+mn-ea"/>
              </a:rPr>
              <a:t>i</a:t>
            </a:r>
            <a:r>
              <a:rPr lang="zh-CN" altLang="en-US" dirty="0">
                <a:latin typeface="黑体" panose="02010609060101010101" pitchFamily="2" charset="-122"/>
                <a:ea typeface="黑体" panose="02010609060101010101" pitchFamily="2" charset="-122"/>
                <a:cs typeface="+mn-ea"/>
                <a:sym typeface="+mn-ea"/>
              </a:rPr>
              <a:t>的最早开始时间 </a:t>
            </a:r>
            <a:endParaRPr lang="zh-CN" altLang="en-US" dirty="0">
              <a:latin typeface="黑体" panose="02010609060101010101" pitchFamily="2" charset="-122"/>
              <a:ea typeface="黑体" panose="02010609060101010101" pitchFamily="2" charset="-122"/>
              <a:cs typeface="+mn-ea"/>
            </a:endParaRPr>
          </a:p>
          <a:p>
            <a:pPr lvl="1" algn="l">
              <a:buClrTx/>
              <a:buSzTx/>
              <a:buChar char="•"/>
            </a:pPr>
            <a:r>
              <a:rPr lang="zh-CN" altLang="en-US" dirty="0">
                <a:latin typeface="黑体" panose="02010609060101010101" pitchFamily="2" charset="-122"/>
                <a:ea typeface="黑体" panose="02010609060101010101" pitchFamily="2" charset="-122"/>
                <a:cs typeface="+mn-ea"/>
                <a:sym typeface="+mn-ea"/>
              </a:rPr>
              <a:t>l(i)：在不影响进度的前提下，表示活动a</a:t>
            </a:r>
            <a:r>
              <a:rPr lang="zh-CN" altLang="en-US" baseline="-25000" dirty="0">
                <a:latin typeface="黑体" panose="02010609060101010101" pitchFamily="2" charset="-122"/>
                <a:ea typeface="黑体" panose="02010609060101010101" pitchFamily="2" charset="-122"/>
                <a:cs typeface="+mn-ea"/>
                <a:sym typeface="+mn-ea"/>
              </a:rPr>
              <a:t>i</a:t>
            </a:r>
            <a:r>
              <a:rPr lang="zh-CN" altLang="en-US" dirty="0">
                <a:latin typeface="黑体" panose="02010609060101010101" pitchFamily="2" charset="-122"/>
                <a:ea typeface="黑体" panose="02010609060101010101" pitchFamily="2" charset="-122"/>
                <a:cs typeface="+mn-ea"/>
                <a:sym typeface="+mn-ea"/>
              </a:rPr>
              <a:t>的最晚开始时间</a:t>
            </a:r>
            <a:endParaRPr lang="zh-CN" altLang="en-US" dirty="0">
              <a:latin typeface="黑体" panose="02010609060101010101" pitchFamily="2" charset="-122"/>
              <a:ea typeface="黑体" panose="02010609060101010101" pitchFamily="2" charset="-122"/>
              <a:cs typeface="+mn-ea"/>
            </a:endParaRPr>
          </a:p>
          <a:p>
            <a:pPr lvl="1" algn="l">
              <a:buClrTx/>
              <a:buSzTx/>
              <a:buChar char="•"/>
            </a:pPr>
            <a:r>
              <a:rPr lang="zh-CN" altLang="en-US" dirty="0">
                <a:latin typeface="黑体" panose="02010609060101010101" pitchFamily="2" charset="-122"/>
                <a:ea typeface="黑体" panose="02010609060101010101" pitchFamily="2" charset="-122"/>
                <a:cs typeface="+mn-ea"/>
                <a:sym typeface="+mn-ea"/>
              </a:rPr>
              <a:t>l(i)-e(i)表示活动a</a:t>
            </a:r>
            <a:r>
              <a:rPr lang="zh-CN" altLang="en-US" baseline="-25000" dirty="0">
                <a:latin typeface="黑体" panose="02010609060101010101" pitchFamily="2" charset="-122"/>
                <a:ea typeface="黑体" panose="02010609060101010101" pitchFamily="2" charset="-122"/>
                <a:cs typeface="+mn-ea"/>
                <a:sym typeface="+mn-ea"/>
              </a:rPr>
              <a:t>i</a:t>
            </a:r>
            <a:r>
              <a:rPr lang="zh-CN" altLang="en-US" dirty="0">
                <a:latin typeface="黑体" panose="02010609060101010101" pitchFamily="2" charset="-122"/>
                <a:ea typeface="黑体" panose="02010609060101010101" pitchFamily="2" charset="-122"/>
                <a:cs typeface="+mn-ea"/>
                <a:sym typeface="+mn-ea"/>
              </a:rPr>
              <a:t>的时间余量，若l(i)-e(i)=0，</a:t>
            </a:r>
            <a:r>
              <a:rPr lang="zh-CN" altLang="en-US" dirty="0">
                <a:latin typeface="黑体" panose="02010609060101010101" pitchFamily="2" charset="-122"/>
                <a:ea typeface="黑体" panose="02010609060101010101" pitchFamily="2" charset="-122"/>
                <a:cs typeface="+mn-ea"/>
                <a:sym typeface="+mn-ea"/>
              </a:rPr>
              <a:t>则活动a</a:t>
            </a:r>
            <a:r>
              <a:rPr lang="zh-CN" altLang="en-US" baseline="-25000" dirty="0">
                <a:latin typeface="黑体" panose="02010609060101010101" pitchFamily="2" charset="-122"/>
                <a:ea typeface="黑体" panose="02010609060101010101" pitchFamily="2" charset="-122"/>
                <a:cs typeface="+mn-ea"/>
                <a:sym typeface="+mn-ea"/>
              </a:rPr>
              <a:t>i</a:t>
            </a:r>
            <a:r>
              <a:rPr lang="zh-CN" altLang="en-US" dirty="0">
                <a:latin typeface="黑体" panose="02010609060101010101" pitchFamily="2" charset="-122"/>
                <a:ea typeface="黑体" panose="02010609060101010101" pitchFamily="2" charset="-122"/>
                <a:cs typeface="+mn-ea"/>
                <a:sym typeface="+mn-ea"/>
              </a:rPr>
              <a:t>是关键活动</a:t>
            </a:r>
            <a:endParaRPr lang="zh-CN" altLang="en-US" dirty="0">
              <a:latin typeface="黑体" panose="02010609060101010101" pitchFamily="2" charset="-122"/>
              <a:ea typeface="黑体" panose="02010609060101010101" pitchFamily="2" charset="-122"/>
              <a:cs typeface="+mn-ea"/>
            </a:endParaRPr>
          </a:p>
          <a:p>
            <a:pPr lvl="1" algn="l">
              <a:buClrTx/>
              <a:buSzTx/>
              <a:buChar char="•"/>
            </a:pPr>
            <a:r>
              <a:rPr lang="zh-CN" altLang="en-US" dirty="0">
                <a:latin typeface="黑体" panose="02010609060101010101" pitchFamily="2" charset="-122"/>
                <a:ea typeface="黑体" panose="02010609060101010101" pitchFamily="2" charset="-122"/>
                <a:cs typeface="+mn-ea"/>
                <a:sym typeface="+mn-ea"/>
              </a:rPr>
              <a:t>ve(i)：表示事件v</a:t>
            </a:r>
            <a:r>
              <a:rPr lang="zh-CN" altLang="en-US" baseline="-25000" dirty="0">
                <a:latin typeface="黑体" panose="02010609060101010101" pitchFamily="2" charset="-122"/>
                <a:ea typeface="黑体" panose="02010609060101010101" pitchFamily="2" charset="-122"/>
                <a:cs typeface="+mn-ea"/>
                <a:sym typeface="+mn-ea"/>
              </a:rPr>
              <a:t>i</a:t>
            </a:r>
            <a:r>
              <a:rPr lang="zh-CN" altLang="en-US" dirty="0">
                <a:latin typeface="黑体" panose="02010609060101010101" pitchFamily="2" charset="-122"/>
                <a:ea typeface="黑体" panose="02010609060101010101" pitchFamily="2" charset="-122"/>
                <a:cs typeface="+mn-ea"/>
                <a:sym typeface="+mn-ea"/>
              </a:rPr>
              <a:t>的最早发生时间，即从起点到顶点v</a:t>
            </a:r>
            <a:r>
              <a:rPr lang="zh-CN" altLang="en-US" baseline="-25000" dirty="0">
                <a:latin typeface="黑体" panose="02010609060101010101" pitchFamily="2" charset="-122"/>
                <a:ea typeface="黑体" panose="02010609060101010101" pitchFamily="2" charset="-122"/>
                <a:cs typeface="+mn-ea"/>
                <a:sym typeface="+mn-ea"/>
              </a:rPr>
              <a:t>i</a:t>
            </a:r>
            <a:r>
              <a:rPr lang="zh-CN" altLang="en-US" dirty="0">
                <a:latin typeface="黑体" panose="02010609060101010101" pitchFamily="2" charset="-122"/>
                <a:ea typeface="黑体" panose="02010609060101010101" pitchFamily="2" charset="-122"/>
                <a:cs typeface="+mn-ea"/>
                <a:sym typeface="+mn-ea"/>
              </a:rPr>
              <a:t>的最长路径长度；</a:t>
            </a:r>
            <a:endParaRPr lang="zh-CN" altLang="en-US" dirty="0">
              <a:latin typeface="黑体" panose="02010609060101010101" pitchFamily="2" charset="-122"/>
              <a:ea typeface="黑体" panose="02010609060101010101" pitchFamily="2" charset="-122"/>
              <a:cs typeface="+mn-ea"/>
              <a:sym typeface="+mn-ea"/>
            </a:endParaRPr>
          </a:p>
          <a:p>
            <a:pPr marL="609600" lvl="1" indent="457200" algn="l">
              <a:buClrTx/>
              <a:buSzTx/>
              <a:buNone/>
            </a:pPr>
            <a:r>
              <a:rPr lang="zh-CN" altLang="en-US" sz="2000" dirty="0">
                <a:latin typeface="黑体" panose="02010609060101010101" pitchFamily="2" charset="-122"/>
                <a:ea typeface="黑体" panose="02010609060101010101" pitchFamily="2" charset="-122"/>
                <a:cs typeface="+mn-ea"/>
                <a:sym typeface="+mn-ea"/>
              </a:rPr>
              <a:t>当以顶点</a:t>
            </a:r>
            <a:r>
              <a:rPr lang="en-US" altLang="zh-CN" sz="2000" dirty="0">
                <a:latin typeface="黑体" panose="02010609060101010101" pitchFamily="2" charset="-122"/>
                <a:ea typeface="黑体" panose="02010609060101010101" pitchFamily="2" charset="-122"/>
                <a:cs typeface="+mn-ea"/>
                <a:sym typeface="+mn-ea"/>
              </a:rPr>
              <a:t>i</a:t>
            </a:r>
            <a:r>
              <a:rPr lang="zh-CN" altLang="en-US" sz="2000" dirty="0">
                <a:latin typeface="黑体" panose="02010609060101010101" pitchFamily="2" charset="-122"/>
                <a:ea typeface="黑体" panose="02010609060101010101" pitchFamily="2" charset="-122"/>
                <a:cs typeface="+mn-ea"/>
                <a:sym typeface="+mn-ea"/>
              </a:rPr>
              <a:t>为弧头的多条弧&lt;</a:t>
            </a:r>
            <a:r>
              <a:rPr lang="en-US" altLang="zh-CN" sz="2000" dirty="0">
                <a:latin typeface="黑体" panose="02010609060101010101" pitchFamily="2" charset="-122"/>
                <a:ea typeface="黑体" panose="02010609060101010101" pitchFamily="2" charset="-122"/>
                <a:cs typeface="+mn-ea"/>
                <a:sym typeface="+mn-ea"/>
              </a:rPr>
              <a:t>k</a:t>
            </a:r>
            <a:r>
              <a:rPr lang="zh-CN" altLang="en-US" sz="2000" dirty="0">
                <a:latin typeface="黑体" panose="02010609060101010101" pitchFamily="2" charset="-122"/>
                <a:ea typeface="黑体" panose="02010609060101010101" pitchFamily="2" charset="-122"/>
                <a:cs typeface="+mn-ea"/>
                <a:sym typeface="+mn-ea"/>
              </a:rPr>
              <a:t>, </a:t>
            </a:r>
            <a:r>
              <a:rPr lang="en-US" altLang="zh-CN" sz="2000" dirty="0">
                <a:latin typeface="黑体" panose="02010609060101010101" pitchFamily="2" charset="-122"/>
                <a:ea typeface="黑体" panose="02010609060101010101" pitchFamily="2" charset="-122"/>
                <a:cs typeface="+mn-ea"/>
                <a:sym typeface="+mn-ea"/>
              </a:rPr>
              <a:t>i</a:t>
            </a:r>
            <a:r>
              <a:rPr lang="zh-CN" altLang="en-US" sz="2000" dirty="0">
                <a:latin typeface="黑体" panose="02010609060101010101" pitchFamily="2" charset="-122"/>
                <a:ea typeface="黑体" panose="02010609060101010101" pitchFamily="2" charset="-122"/>
                <a:cs typeface="+mn-ea"/>
                <a:sym typeface="+mn-ea"/>
              </a:rPr>
              <a:t>&gt;，i=0,1,……，存在公式</a:t>
            </a:r>
            <a:endParaRPr lang="zh-CN" altLang="en-US" sz="2000" dirty="0">
              <a:latin typeface="黑体" panose="02010609060101010101" pitchFamily="2" charset="-122"/>
              <a:ea typeface="黑体" panose="02010609060101010101" pitchFamily="2" charset="-122"/>
              <a:cs typeface="+mn-ea"/>
            </a:endParaRPr>
          </a:p>
          <a:p>
            <a:pPr marL="609600" lvl="1" indent="0" algn="l">
              <a:buClrTx/>
              <a:buSzTx/>
              <a:buNone/>
            </a:pPr>
            <a:r>
              <a:rPr lang="zh-CN" altLang="en-US" sz="2000" dirty="0">
                <a:latin typeface="黑体" panose="02010609060101010101" pitchFamily="2" charset="-122"/>
                <a:ea typeface="黑体" panose="02010609060101010101" pitchFamily="2" charset="-122"/>
                <a:cs typeface="+mn-ea"/>
                <a:sym typeface="+mn-ea"/>
              </a:rPr>
              <a:t>	ve(</a:t>
            </a:r>
            <a:r>
              <a:rPr lang="en-US" altLang="zh-CN" sz="2000" dirty="0">
                <a:latin typeface="黑体" panose="02010609060101010101" pitchFamily="2" charset="-122"/>
                <a:ea typeface="黑体" panose="02010609060101010101" pitchFamily="2" charset="-122"/>
                <a:cs typeface="+mn-ea"/>
                <a:sym typeface="+mn-ea"/>
              </a:rPr>
              <a:t>i</a:t>
            </a:r>
            <a:r>
              <a:rPr lang="zh-CN" altLang="en-US" sz="2000" dirty="0">
                <a:latin typeface="黑体" panose="02010609060101010101" pitchFamily="2" charset="-122"/>
                <a:ea typeface="黑体" panose="02010609060101010101" pitchFamily="2" charset="-122"/>
                <a:cs typeface="+mn-ea"/>
                <a:sym typeface="+mn-ea"/>
              </a:rPr>
              <a:t>) = Max{ve(</a:t>
            </a:r>
            <a:r>
              <a:rPr lang="en-US" altLang="zh-CN" sz="2000" dirty="0">
                <a:latin typeface="黑体" panose="02010609060101010101" pitchFamily="2" charset="-122"/>
                <a:ea typeface="黑体" panose="02010609060101010101" pitchFamily="2" charset="-122"/>
                <a:cs typeface="+mn-ea"/>
                <a:sym typeface="+mn-ea"/>
              </a:rPr>
              <a:t>k</a:t>
            </a:r>
            <a:r>
              <a:rPr lang="zh-CN" altLang="en-US" sz="2000" dirty="0">
                <a:latin typeface="黑体" panose="02010609060101010101" pitchFamily="2" charset="-122"/>
                <a:ea typeface="黑体" panose="02010609060101010101" pitchFamily="2" charset="-122"/>
                <a:cs typeface="+mn-ea"/>
                <a:sym typeface="+mn-ea"/>
              </a:rPr>
              <a:t>) + dut(&lt;</a:t>
            </a:r>
            <a:r>
              <a:rPr lang="en-US" altLang="zh-CN" sz="2000" dirty="0">
                <a:latin typeface="黑体" panose="02010609060101010101" pitchFamily="2" charset="-122"/>
                <a:ea typeface="黑体" panose="02010609060101010101" pitchFamily="2" charset="-122"/>
                <a:cs typeface="+mn-ea"/>
                <a:sym typeface="+mn-ea"/>
              </a:rPr>
              <a:t>k</a:t>
            </a:r>
            <a:r>
              <a:rPr lang="zh-CN" altLang="en-US" sz="2000" dirty="0">
                <a:latin typeface="黑体" panose="02010609060101010101" pitchFamily="2" charset="-122"/>
                <a:ea typeface="黑体" panose="02010609060101010101" pitchFamily="2" charset="-122"/>
                <a:cs typeface="+mn-ea"/>
                <a:sym typeface="+mn-ea"/>
              </a:rPr>
              <a:t>, </a:t>
            </a:r>
            <a:r>
              <a:rPr lang="en-US" altLang="zh-CN" sz="2000" dirty="0">
                <a:latin typeface="黑体" panose="02010609060101010101" pitchFamily="2" charset="-122"/>
                <a:ea typeface="黑体" panose="02010609060101010101" pitchFamily="2" charset="-122"/>
                <a:cs typeface="+mn-ea"/>
                <a:sym typeface="+mn-ea"/>
              </a:rPr>
              <a:t>i</a:t>
            </a:r>
            <a:r>
              <a:rPr lang="zh-CN" altLang="en-US" sz="2000" dirty="0">
                <a:latin typeface="黑体" panose="02010609060101010101" pitchFamily="2" charset="-122"/>
                <a:ea typeface="黑体" panose="02010609060101010101" pitchFamily="2" charset="-122"/>
                <a:cs typeface="+mn-ea"/>
                <a:sym typeface="+mn-ea"/>
              </a:rPr>
              <a:t>&gt;)}</a:t>
            </a:r>
            <a:endParaRPr lang="zh-CN" altLang="en-US" sz="2000" dirty="0">
              <a:latin typeface="黑体" panose="02010609060101010101" pitchFamily="2" charset="-122"/>
              <a:ea typeface="黑体" panose="02010609060101010101" pitchFamily="2" charset="-122"/>
              <a:cs typeface="+mn-ea"/>
            </a:endParaRPr>
          </a:p>
          <a:p>
            <a:pPr lvl="1" algn="l">
              <a:buClrTx/>
              <a:buSzTx/>
              <a:buChar char="•"/>
            </a:pPr>
            <a:r>
              <a:rPr lang="zh-CN" altLang="en-US" dirty="0">
                <a:latin typeface="黑体" panose="02010609060101010101" pitchFamily="2" charset="-122"/>
                <a:ea typeface="黑体" panose="02010609060101010101" pitchFamily="2" charset="-122"/>
                <a:cs typeface="+mn-ea"/>
                <a:sym typeface="+mn-ea"/>
              </a:rPr>
              <a:t>vl(i)：表示事件v</a:t>
            </a:r>
            <a:r>
              <a:rPr lang="zh-CN" altLang="en-US" baseline="-25000" dirty="0">
                <a:latin typeface="黑体" panose="02010609060101010101" pitchFamily="2" charset="-122"/>
                <a:ea typeface="黑体" panose="02010609060101010101" pitchFamily="2" charset="-122"/>
                <a:cs typeface="+mn-ea"/>
                <a:sym typeface="+mn-ea"/>
              </a:rPr>
              <a:t>i</a:t>
            </a:r>
            <a:r>
              <a:rPr lang="zh-CN" altLang="en-US" dirty="0">
                <a:latin typeface="黑体" panose="02010609060101010101" pitchFamily="2" charset="-122"/>
                <a:ea typeface="黑体" panose="02010609060101010101" pitchFamily="2" charset="-122"/>
                <a:cs typeface="+mn-ea"/>
                <a:sym typeface="+mn-ea"/>
              </a:rPr>
              <a:t>的最晚发生时间，即从终点到顶点v</a:t>
            </a:r>
            <a:r>
              <a:rPr lang="zh-CN" altLang="en-US" baseline="-25000" dirty="0">
                <a:latin typeface="黑体" panose="02010609060101010101" pitchFamily="2" charset="-122"/>
                <a:ea typeface="黑体" panose="02010609060101010101" pitchFamily="2" charset="-122"/>
                <a:cs typeface="+mn-ea"/>
                <a:sym typeface="+mn-ea"/>
              </a:rPr>
              <a:t>i</a:t>
            </a:r>
            <a:r>
              <a:rPr lang="zh-CN" altLang="en-US" dirty="0">
                <a:latin typeface="黑体" panose="02010609060101010101" pitchFamily="2" charset="-122"/>
                <a:ea typeface="黑体" panose="02010609060101010101" pitchFamily="2" charset="-122"/>
                <a:cs typeface="+mn-ea"/>
                <a:sym typeface="+mn-ea"/>
              </a:rPr>
              <a:t>的最短路径长度</a:t>
            </a:r>
            <a:r>
              <a:rPr lang="zh-CN" altLang="en-US" sz="2800" dirty="0">
                <a:latin typeface="宋体" panose="02010600030101010101" pitchFamily="2" charset="-122"/>
                <a:sym typeface="+mn-ea"/>
              </a:rPr>
              <a:t>；</a:t>
            </a:r>
            <a:endParaRPr lang="zh-CN" altLang="en-US" sz="2800" dirty="0">
              <a:latin typeface="宋体" panose="02010600030101010101" pitchFamily="2" charset="-122"/>
            </a:endParaRPr>
          </a:p>
          <a:p>
            <a:pPr marL="609600" lvl="1" indent="457200" algn="l">
              <a:buClrTx/>
              <a:buSzTx/>
              <a:buNone/>
            </a:pPr>
            <a:r>
              <a:rPr lang="zh-CN" altLang="en-US" sz="2000" dirty="0">
                <a:latin typeface="黑体" panose="02010609060101010101" pitchFamily="2" charset="-122"/>
                <a:ea typeface="黑体" panose="02010609060101010101" pitchFamily="2" charset="-122"/>
                <a:cs typeface="+mn-ea"/>
                <a:sym typeface="+mn-ea"/>
              </a:rPr>
              <a:t>以顶点i为弧尾的多条弧&lt;i, j&gt;，j=0,1,……，存在公式</a:t>
            </a:r>
            <a:endParaRPr lang="zh-CN" altLang="en-US" sz="2000" dirty="0">
              <a:latin typeface="黑体" panose="02010609060101010101" pitchFamily="2" charset="-122"/>
              <a:ea typeface="黑体" panose="02010609060101010101" pitchFamily="2" charset="-122"/>
              <a:cs typeface="+mn-ea"/>
            </a:endParaRPr>
          </a:p>
          <a:p>
            <a:pPr marL="609600" lvl="1" indent="0" algn="l">
              <a:buClrTx/>
              <a:buSzTx/>
              <a:buNone/>
            </a:pPr>
            <a:r>
              <a:rPr lang="zh-CN" altLang="en-US" sz="2000" dirty="0">
                <a:latin typeface="黑体" panose="02010609060101010101" pitchFamily="2" charset="-122"/>
                <a:ea typeface="黑体" panose="02010609060101010101" pitchFamily="2" charset="-122"/>
                <a:cs typeface="+mn-ea"/>
                <a:sym typeface="+mn-ea"/>
              </a:rPr>
              <a:t>	vl(i) = Min{vl(j)－dut(&lt;i, j&gt;)}</a:t>
            </a:r>
            <a:endParaRPr lang="zh-CN" altLang="en-US" sz="2000" dirty="0">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sz="2800" b="0" dirty="0">
              <a:latin typeface="宋体" panose="02010600030101010101" pitchFamily="2" charset="-122"/>
              <a:ea typeface="黑体" panose="02010609060101010101" pitchFamily="2" charset="-122"/>
              <a:cs typeface="+mn-ea"/>
              <a:sym typeface="Symbol" panose="05050102010706020507" pitchFamily="18" charset="2"/>
            </a:endParaRPr>
          </a:p>
          <a:p>
            <a:pPr lvl="1" algn="l" eaLnBrk="1" hangingPunct="1">
              <a:buClrTx/>
              <a:buSzTx/>
              <a:buChar char="•"/>
            </a:pPr>
            <a:endParaRPr lang="zh-CN" altLang="en-US" sz="2800" b="0" dirty="0">
              <a:latin typeface="宋体" panose="02010600030101010101" pitchFamily="2" charset="-122"/>
              <a:ea typeface="黑体" panose="02010609060101010101" pitchFamily="2" charset="-122"/>
              <a:cs typeface="+mn-ea"/>
              <a:sym typeface="Symbol" panose="05050102010706020507" pitchFamily="18" charset="2"/>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4773930"/>
          </a:xfrm>
        </p:spPr>
        <p:txBody>
          <a:bodyPr/>
          <a:p>
            <a:pPr marL="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求AOE网中</a:t>
            </a: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完成最短</a:t>
            </a: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时间和关键路径</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求解算法</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利用拓扑排序求出AOE网的一个拓扑序列； </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从拓扑排序的序列的第一个顶点(源点)开始，按拓扑顺序依次计算每个事件的最早发生时间ve(i) ； </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从拓扑排序的序列的最后一个顶点(汇点)开始，按逆拓扑顺序依次计算每个事件的最晚发生时间vl(i) ；</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b="0" dirty="0">
                <a:latin typeface="黑体" panose="02010609060101010101" pitchFamily="2" charset="-122"/>
                <a:ea typeface="黑体" panose="02010609060101010101" pitchFamily="2" charset="-122"/>
                <a:cs typeface="+mn-ea"/>
                <a:sym typeface="Symbol" panose="05050102010706020507" pitchFamily="18" charset="2"/>
              </a:rPr>
              <a:t>最后比较</a:t>
            </a:r>
            <a:r>
              <a:rPr lang="en-US" altLang="zh-CN" sz="2400" b="0" dirty="0">
                <a:latin typeface="黑体" panose="02010609060101010101" pitchFamily="2" charset="-122"/>
                <a:ea typeface="黑体" panose="02010609060101010101" pitchFamily="2" charset="-122"/>
                <a:cs typeface="+mn-ea"/>
                <a:sym typeface="Symbol" panose="05050102010706020507" pitchFamily="18" charset="2"/>
              </a:rPr>
              <a:t>ve</a:t>
            </a:r>
            <a:r>
              <a:rPr lang="zh-CN" altLang="en-US" dirty="0">
                <a:latin typeface="黑体" panose="02010609060101010101" pitchFamily="2" charset="-122"/>
                <a:ea typeface="黑体" panose="02010609060101010101" pitchFamily="2" charset="-122"/>
                <a:cs typeface="+mn-ea"/>
                <a:sym typeface="+mn-ea"/>
              </a:rPr>
              <a:t>(i)和vl(i)可以找出所有关键活动</a:t>
            </a:r>
            <a:endParaRPr lang="zh-CN" altLang="en-US"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由关键活动</a:t>
            </a:r>
            <a:r>
              <a:rPr lang="zh-CN" altLang="en-US" dirty="0">
                <a:latin typeface="黑体" panose="02010609060101010101" pitchFamily="2" charset="-122"/>
                <a:ea typeface="黑体" panose="02010609060101010101" pitchFamily="2" charset="-122"/>
                <a:cs typeface="+mn-ea"/>
                <a:sym typeface="+mn-ea"/>
              </a:rPr>
              <a:t>组成关键</a:t>
            </a:r>
            <a:r>
              <a:rPr lang="zh-CN" altLang="en-US" dirty="0">
                <a:latin typeface="黑体" panose="02010609060101010101" pitchFamily="2" charset="-122"/>
                <a:ea typeface="黑体" panose="02010609060101010101" pitchFamily="2" charset="-122"/>
                <a:cs typeface="+mn-ea"/>
                <a:sym typeface="+mn-ea"/>
              </a:rPr>
              <a:t>路径</a:t>
            </a:r>
            <a:endParaRPr lang="zh-CN" altLang="en-US"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终点的</a:t>
            </a:r>
            <a:r>
              <a:rPr lang="en-US" altLang="zh-CN" dirty="0">
                <a:latin typeface="黑体" panose="02010609060101010101" pitchFamily="2" charset="-122"/>
                <a:ea typeface="黑体" panose="02010609060101010101" pitchFamily="2" charset="-122"/>
                <a:cs typeface="+mn-ea"/>
                <a:sym typeface="Symbol" panose="05050102010706020507" pitchFamily="18" charset="2"/>
              </a:rPr>
              <a:t>ve</a:t>
            </a:r>
            <a:r>
              <a:rPr lang="zh-CN" altLang="en-US" dirty="0">
                <a:latin typeface="黑体" panose="02010609060101010101" pitchFamily="2" charset="-122"/>
                <a:ea typeface="黑体" panose="02010609060101010101" pitchFamily="2" charset="-122"/>
                <a:cs typeface="+mn-ea"/>
                <a:sym typeface="+mn-ea"/>
              </a:rPr>
              <a:t>(i)即为完成</a:t>
            </a:r>
            <a:r>
              <a:rPr lang="zh-CN" altLang="zh-CN" dirty="0">
                <a:latin typeface="黑体" panose="02010609060101010101" pitchFamily="2" charset="-122"/>
                <a:ea typeface="黑体" panose="02010609060101010101" pitchFamily="2" charset="-122"/>
                <a:cs typeface="黑体" panose="02010609060101010101" pitchFamily="2" charset="-122"/>
                <a:sym typeface="+mn-ea"/>
              </a:rPr>
              <a:t>最短</a:t>
            </a:r>
            <a:r>
              <a:rPr lang="zh-CN" altLang="en-US" dirty="0">
                <a:latin typeface="黑体" panose="02010609060101010101" pitchFamily="2" charset="-122"/>
                <a:ea typeface="黑体" panose="02010609060101010101" pitchFamily="2" charset="-122"/>
                <a:cs typeface="+mn-ea"/>
                <a:sym typeface="+mn-ea"/>
              </a:rPr>
              <a:t>时间</a:t>
            </a:r>
            <a:endParaRPr lang="zh-CN" altLang="en-US"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4773930"/>
          </a:xfrm>
        </p:spPr>
        <p:txBody>
          <a:bodyPr/>
          <a:p>
            <a:pPr marL="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关键路径示例</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求完成最短</a:t>
            </a:r>
            <a:r>
              <a:rPr lang="zh-CN" altLang="en-US" sz="2400" dirty="0">
                <a:latin typeface="黑体" panose="02010609060101010101" pitchFamily="2" charset="-122"/>
                <a:ea typeface="黑体" panose="02010609060101010101" pitchFamily="2" charset="-122"/>
                <a:cs typeface="+mn-ea"/>
                <a:sym typeface="+mn-ea"/>
              </a:rPr>
              <a:t>时间</a:t>
            </a: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求关键路径</a:t>
            </a:r>
            <a:endParaRPr lang="zh-CN" altLang="en-US" sz="2400" dirty="0">
              <a:latin typeface="黑体" panose="02010609060101010101" pitchFamily="2" charset="-122"/>
              <a:ea typeface="黑体" panose="02010609060101010101" pitchFamily="2" charset="-122"/>
              <a:cs typeface="+mn-ea"/>
            </a:endParaRPr>
          </a:p>
          <a:p>
            <a:pPr marL="0" lvl="1" indent="-457200" algn="l" eaLnBrk="1" hangingPunct="1">
              <a:buClrTx/>
              <a:buSzTx/>
              <a:buFont typeface="Wingdings" panose="05000000000000000000" charset="0"/>
              <a:buChar char="l"/>
            </a:pPr>
            <a:r>
              <a:rPr lang="zh-CN" altLang="zh-CN" dirty="0">
                <a:latin typeface="黑体" panose="02010609060101010101" pitchFamily="2" charset="-122"/>
                <a:ea typeface="黑体" panose="02010609060101010101" pitchFamily="2" charset="-122"/>
                <a:cs typeface="黑体" panose="02010609060101010101" pitchFamily="2" charset="-122"/>
                <a:sym typeface="+mn-ea"/>
              </a:rPr>
              <a:t>算法</a:t>
            </a:r>
            <a:r>
              <a:rPr lang="zh-CN" altLang="zh-CN" dirty="0">
                <a:latin typeface="黑体" panose="02010609060101010101" pitchFamily="2" charset="-122"/>
                <a:ea typeface="黑体" panose="02010609060101010101" pitchFamily="2" charset="-122"/>
                <a:cs typeface="黑体" panose="02010609060101010101" pitchFamily="2" charset="-122"/>
                <a:sym typeface="+mn-ea"/>
              </a:rPr>
              <a:t>步骤</a:t>
            </a:r>
            <a:endParaRPr lang="zh-CN" altLang="zh-CN"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先做拓扑排序</a:t>
            </a:r>
            <a:r>
              <a:rPr lang="en-US" altLang="zh-CN" dirty="0">
                <a:sym typeface="+mn-ea"/>
              </a:rPr>
              <a:t>(v</a:t>
            </a:r>
            <a:r>
              <a:rPr lang="en-US" altLang="zh-CN" baseline="-18000" dirty="0">
                <a:sym typeface="+mn-ea"/>
              </a:rPr>
              <a:t>0</a:t>
            </a:r>
            <a:r>
              <a:rPr lang="en-US" altLang="zh-CN" dirty="0">
                <a:sym typeface="+mn-ea"/>
              </a:rPr>
              <a:t>, v</a:t>
            </a:r>
            <a:r>
              <a:rPr lang="en-US" altLang="zh-CN" baseline="-18000" dirty="0">
                <a:sym typeface="+mn-ea"/>
              </a:rPr>
              <a:t>1</a:t>
            </a:r>
            <a:r>
              <a:rPr lang="en-US" altLang="zh-CN" dirty="0">
                <a:sym typeface="+mn-ea"/>
              </a:rPr>
              <a:t>, v</a:t>
            </a:r>
            <a:r>
              <a:rPr lang="en-US" altLang="zh-CN" baseline="-18000" dirty="0">
                <a:sym typeface="+mn-ea"/>
              </a:rPr>
              <a:t>2</a:t>
            </a:r>
            <a:r>
              <a:rPr lang="en-US" altLang="zh-CN" dirty="0">
                <a:sym typeface="+mn-ea"/>
              </a:rPr>
              <a:t>, v</a:t>
            </a:r>
            <a:r>
              <a:rPr lang="en-US" altLang="zh-CN" baseline="-18000" dirty="0">
                <a:sym typeface="+mn-ea"/>
              </a:rPr>
              <a:t>3 </a:t>
            </a:r>
            <a:r>
              <a:rPr lang="en-US" altLang="zh-CN" dirty="0">
                <a:sym typeface="+mn-ea"/>
              </a:rPr>
              <a:t>,</a:t>
            </a:r>
            <a:r>
              <a:rPr lang="en-US" altLang="zh-CN" baseline="-18000" dirty="0">
                <a:sym typeface="+mn-ea"/>
              </a:rPr>
              <a:t> </a:t>
            </a:r>
            <a:r>
              <a:rPr lang="en-US" altLang="zh-CN" dirty="0">
                <a:sym typeface="+mn-ea"/>
              </a:rPr>
              <a:t>v</a:t>
            </a:r>
            <a:r>
              <a:rPr lang="en-US" altLang="zh-CN" baseline="-18000" dirty="0">
                <a:sym typeface="+mn-ea"/>
              </a:rPr>
              <a:t>4</a:t>
            </a:r>
            <a:r>
              <a:rPr lang="en-US" altLang="zh-CN" dirty="0">
                <a:sym typeface="+mn-ea"/>
              </a:rPr>
              <a:t>, v</a:t>
            </a:r>
            <a:r>
              <a:rPr lang="en-US" altLang="zh-CN" baseline="-18000" dirty="0">
                <a:sym typeface="+mn-ea"/>
              </a:rPr>
              <a:t>5 </a:t>
            </a:r>
            <a:r>
              <a:rPr lang="en-US" altLang="zh-CN" dirty="0">
                <a:sym typeface="+mn-ea"/>
              </a:rPr>
              <a:t>, v</a:t>
            </a:r>
            <a:r>
              <a:rPr lang="en-US" altLang="zh-CN" baseline="-18000" dirty="0">
                <a:sym typeface="+mn-ea"/>
              </a:rPr>
              <a:t>6 </a:t>
            </a:r>
            <a:r>
              <a:rPr lang="en-US" altLang="zh-CN" dirty="0">
                <a:sym typeface="+mn-ea"/>
              </a:rPr>
              <a:t>, v</a:t>
            </a:r>
            <a:r>
              <a:rPr lang="en-US" altLang="zh-CN" baseline="-18000" dirty="0">
                <a:sym typeface="+mn-ea"/>
              </a:rPr>
              <a:t>7 </a:t>
            </a:r>
            <a:r>
              <a:rPr lang="en-US" altLang="zh-CN" dirty="0">
                <a:sym typeface="+mn-ea"/>
              </a:rPr>
              <a:t>, v</a:t>
            </a:r>
            <a:r>
              <a:rPr lang="en-US" altLang="zh-CN" baseline="-18000" dirty="0">
                <a:sym typeface="+mn-ea"/>
              </a:rPr>
              <a:t>8</a:t>
            </a:r>
            <a:r>
              <a:rPr lang="en-US" altLang="zh-CN" dirty="0">
                <a:sym typeface="+mn-ea"/>
              </a:rPr>
              <a:t>)</a:t>
            </a:r>
            <a:endParaRPr lang="zh-CN" altLang="en-US"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计算各个事件的ve(i)和vl(i)值，求得完成最短</a:t>
            </a:r>
            <a:r>
              <a:rPr lang="zh-CN" altLang="en-US" dirty="0">
                <a:latin typeface="黑体" panose="02010609060101010101" pitchFamily="2" charset="-122"/>
                <a:ea typeface="黑体" panose="02010609060101010101" pitchFamily="2" charset="-122"/>
                <a:cs typeface="+mn-ea"/>
                <a:sym typeface="+mn-ea"/>
              </a:rPr>
              <a:t>时间</a:t>
            </a:r>
            <a:endParaRPr lang="zh-CN" altLang="en-US"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寻找</a:t>
            </a:r>
            <a:r>
              <a:rPr lang="zh-CN" altLang="en-US" dirty="0">
                <a:latin typeface="黑体" panose="02010609060101010101" pitchFamily="2" charset="-122"/>
                <a:ea typeface="黑体" panose="02010609060101010101" pitchFamily="2" charset="-122"/>
                <a:cs typeface="+mn-ea"/>
                <a:sym typeface="+mn-ea"/>
              </a:rPr>
              <a:t>ve(i)</a:t>
            </a:r>
            <a:r>
              <a:rPr lang="en-US" altLang="zh-CN" dirty="0">
                <a:latin typeface="黑体" panose="02010609060101010101" pitchFamily="2" charset="-122"/>
                <a:ea typeface="黑体" panose="02010609060101010101" pitchFamily="2" charset="-122"/>
                <a:cs typeface="+mn-ea"/>
                <a:sym typeface="+mn-ea"/>
              </a:rPr>
              <a:t>==</a:t>
            </a:r>
            <a:r>
              <a:rPr lang="zh-CN" altLang="en-US" dirty="0">
                <a:latin typeface="黑体" panose="02010609060101010101" pitchFamily="2" charset="-122"/>
                <a:ea typeface="黑体" panose="02010609060101010101" pitchFamily="2" charset="-122"/>
                <a:cs typeface="+mn-ea"/>
                <a:sym typeface="+mn-ea"/>
              </a:rPr>
              <a:t>vl(i)的活动，即为关键活动</a:t>
            </a:r>
            <a:endParaRPr lang="zh-CN" altLang="en-US"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ea"/>
                <a:sym typeface="+mn-ea"/>
              </a:rPr>
              <a:t>由关键活动组成关键路径</a:t>
            </a:r>
            <a:endParaRPr lang="zh-CN" altLang="en-US" dirty="0">
              <a:latin typeface="黑体" panose="02010609060101010101" pitchFamily="2" charset="-122"/>
              <a:ea typeface="黑体" panose="02010609060101010101" pitchFamily="2" charset="-122"/>
              <a:cs typeface="+mn-ea"/>
              <a:sym typeface="+mn-ea"/>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mn-ea"/>
              <a:sym typeface="+mn-ea"/>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23908" name="Group 5"/>
          <p:cNvGrpSpPr/>
          <p:nvPr/>
        </p:nvGrpSpPr>
        <p:grpSpPr>
          <a:xfrm rot="0">
            <a:off x="6743700" y="332740"/>
            <a:ext cx="4850130" cy="2266950"/>
            <a:chOff x="0" y="0"/>
            <a:chExt cx="3055" cy="1428"/>
          </a:xfrm>
        </p:grpSpPr>
        <p:sp>
          <p:nvSpPr>
            <p:cNvPr id="123909" name="Oval 6"/>
            <p:cNvSpPr/>
            <p:nvPr/>
          </p:nvSpPr>
          <p:spPr>
            <a:xfrm>
              <a:off x="24" y="720"/>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0</a:t>
              </a:r>
              <a:endParaRPr lang="en-US" altLang="zh-CN" sz="2400" baseline="-18000" dirty="0">
                <a:latin typeface="Times New Roman" panose="02020603050405020304" pitchFamily="18" charset="0"/>
                <a:ea typeface="宋体" panose="02010600030101010101" pitchFamily="2" charset="-122"/>
              </a:endParaRPr>
            </a:p>
          </p:txBody>
        </p:sp>
        <p:sp>
          <p:nvSpPr>
            <p:cNvPr id="123910" name="Oval 7"/>
            <p:cNvSpPr/>
            <p:nvPr/>
          </p:nvSpPr>
          <p:spPr>
            <a:xfrm>
              <a:off x="1977" y="88"/>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6</a:t>
              </a:r>
              <a:endParaRPr lang="en-US" altLang="zh-CN" sz="2400" baseline="-18000" dirty="0">
                <a:latin typeface="Times New Roman" panose="02020603050405020304" pitchFamily="18" charset="0"/>
                <a:ea typeface="宋体" panose="02010600030101010101" pitchFamily="2" charset="-122"/>
              </a:endParaRPr>
            </a:p>
          </p:txBody>
        </p:sp>
        <p:sp>
          <p:nvSpPr>
            <p:cNvPr id="123911" name="Oval 8"/>
            <p:cNvSpPr/>
            <p:nvPr/>
          </p:nvSpPr>
          <p:spPr>
            <a:xfrm>
              <a:off x="1456" y="1136"/>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5</a:t>
              </a:r>
              <a:endParaRPr lang="en-US" altLang="zh-CN" sz="2400" baseline="-18000" dirty="0">
                <a:latin typeface="Times New Roman" panose="02020603050405020304" pitchFamily="18" charset="0"/>
                <a:ea typeface="宋体" panose="02010600030101010101" pitchFamily="2" charset="-122"/>
              </a:endParaRPr>
            </a:p>
          </p:txBody>
        </p:sp>
        <p:sp>
          <p:nvSpPr>
            <p:cNvPr id="123912" name="Oval 9"/>
            <p:cNvSpPr/>
            <p:nvPr/>
          </p:nvSpPr>
          <p:spPr>
            <a:xfrm>
              <a:off x="1128" y="624"/>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4</a:t>
              </a:r>
              <a:endParaRPr lang="en-US" altLang="zh-CN" sz="2400" baseline="-18000" dirty="0">
                <a:latin typeface="Times New Roman" panose="02020603050405020304" pitchFamily="18" charset="0"/>
                <a:ea typeface="宋体" panose="02010600030101010101" pitchFamily="2" charset="-122"/>
              </a:endParaRPr>
            </a:p>
          </p:txBody>
        </p:sp>
        <p:sp>
          <p:nvSpPr>
            <p:cNvPr id="123913" name="Oval 10"/>
            <p:cNvSpPr/>
            <p:nvPr/>
          </p:nvSpPr>
          <p:spPr>
            <a:xfrm>
              <a:off x="1216" y="80"/>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3</a:t>
              </a:r>
              <a:endParaRPr lang="en-US" altLang="zh-CN" sz="2400" baseline="-18000" dirty="0">
                <a:latin typeface="Times New Roman" panose="02020603050405020304" pitchFamily="18" charset="0"/>
                <a:ea typeface="宋体" panose="02010600030101010101" pitchFamily="2" charset="-122"/>
              </a:endParaRPr>
            </a:p>
          </p:txBody>
        </p:sp>
        <p:sp>
          <p:nvSpPr>
            <p:cNvPr id="123914" name="Oval 11"/>
            <p:cNvSpPr/>
            <p:nvPr/>
          </p:nvSpPr>
          <p:spPr>
            <a:xfrm>
              <a:off x="592" y="1104"/>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2</a:t>
              </a:r>
              <a:endParaRPr lang="en-US" altLang="zh-CN" sz="2400" baseline="-18000" dirty="0">
                <a:latin typeface="Times New Roman" panose="02020603050405020304" pitchFamily="18" charset="0"/>
                <a:ea typeface="宋体" panose="02010600030101010101" pitchFamily="2" charset="-122"/>
              </a:endParaRPr>
            </a:p>
          </p:txBody>
        </p:sp>
        <p:sp>
          <p:nvSpPr>
            <p:cNvPr id="123915" name="Oval 12"/>
            <p:cNvSpPr/>
            <p:nvPr/>
          </p:nvSpPr>
          <p:spPr>
            <a:xfrm>
              <a:off x="528" y="240"/>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1</a:t>
              </a:r>
              <a:endParaRPr lang="en-US" altLang="zh-CN" sz="2400" baseline="-18000" dirty="0">
                <a:latin typeface="Times New Roman" panose="02020603050405020304" pitchFamily="18" charset="0"/>
                <a:ea typeface="宋体" panose="02010600030101010101" pitchFamily="2" charset="-122"/>
              </a:endParaRPr>
            </a:p>
          </p:txBody>
        </p:sp>
        <p:sp>
          <p:nvSpPr>
            <p:cNvPr id="123916" name="Oval 13"/>
            <p:cNvSpPr/>
            <p:nvPr/>
          </p:nvSpPr>
          <p:spPr>
            <a:xfrm>
              <a:off x="1912" y="624"/>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7</a:t>
              </a:r>
              <a:endParaRPr lang="en-US" altLang="zh-CN" sz="2400" baseline="-18000" dirty="0">
                <a:latin typeface="Times New Roman" panose="02020603050405020304" pitchFamily="18" charset="0"/>
                <a:ea typeface="宋体" panose="02010600030101010101" pitchFamily="2" charset="-122"/>
              </a:endParaRPr>
            </a:p>
          </p:txBody>
        </p:sp>
        <p:sp>
          <p:nvSpPr>
            <p:cNvPr id="123917" name="Oval 14"/>
            <p:cNvSpPr/>
            <p:nvPr/>
          </p:nvSpPr>
          <p:spPr>
            <a:xfrm>
              <a:off x="2760" y="624"/>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8</a:t>
              </a:r>
              <a:endParaRPr lang="en-US" altLang="zh-CN" sz="2400" baseline="-18000" dirty="0">
                <a:latin typeface="Times New Roman" panose="02020603050405020304" pitchFamily="18" charset="0"/>
                <a:ea typeface="宋体" panose="02010600030101010101" pitchFamily="2" charset="-122"/>
              </a:endParaRPr>
            </a:p>
          </p:txBody>
        </p:sp>
        <p:grpSp>
          <p:nvGrpSpPr>
            <p:cNvPr id="123918" name="Group 15"/>
            <p:cNvGrpSpPr/>
            <p:nvPr/>
          </p:nvGrpSpPr>
          <p:grpSpPr>
            <a:xfrm>
              <a:off x="0" y="432"/>
              <a:ext cx="600" cy="288"/>
              <a:chOff x="0" y="0"/>
              <a:chExt cx="600" cy="288"/>
            </a:xfrm>
          </p:grpSpPr>
          <p:sp>
            <p:nvSpPr>
              <p:cNvPr id="123919" name="Rectangle 16"/>
              <p:cNvSpPr/>
              <p:nvPr/>
            </p:nvSpPr>
            <p:spPr>
              <a:xfrm>
                <a:off x="0" y="0"/>
                <a:ext cx="453"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a1=3</a:t>
                </a:r>
                <a:endParaRPr lang="en-US" altLang="zh-CN" sz="2000" dirty="0">
                  <a:latin typeface="Times New Roman" panose="02020603050405020304" pitchFamily="18" charset="0"/>
                  <a:ea typeface="宋体" panose="02010600030101010101" pitchFamily="2" charset="-122"/>
                </a:endParaRPr>
              </a:p>
            </p:txBody>
          </p:sp>
          <p:sp>
            <p:nvSpPr>
              <p:cNvPr id="123920" name="Line 17"/>
              <p:cNvSpPr/>
              <p:nvPr/>
            </p:nvSpPr>
            <p:spPr>
              <a:xfrm flipV="1">
                <a:off x="216" y="0"/>
                <a:ext cx="384" cy="288"/>
              </a:xfrm>
              <a:prstGeom prst="line">
                <a:avLst/>
              </a:prstGeom>
              <a:ln w="19050" cap="flat" cmpd="sng">
                <a:solidFill>
                  <a:schemeClr val="tx1"/>
                </a:solidFill>
                <a:prstDash val="solid"/>
                <a:round/>
                <a:headEnd type="none" w="med" len="med"/>
                <a:tailEnd type="triangle" w="med" len="med"/>
              </a:ln>
            </p:spPr>
          </p:sp>
        </p:grpSp>
        <p:grpSp>
          <p:nvGrpSpPr>
            <p:cNvPr id="123921" name="Group 18"/>
            <p:cNvGrpSpPr/>
            <p:nvPr/>
          </p:nvGrpSpPr>
          <p:grpSpPr>
            <a:xfrm>
              <a:off x="216" y="852"/>
              <a:ext cx="528" cy="332"/>
              <a:chOff x="0" y="0"/>
              <a:chExt cx="528" cy="332"/>
            </a:xfrm>
          </p:grpSpPr>
          <p:sp>
            <p:nvSpPr>
              <p:cNvPr id="123922" name="Rectangle 19"/>
              <p:cNvSpPr/>
              <p:nvPr/>
            </p:nvSpPr>
            <p:spPr>
              <a:xfrm>
                <a:off x="75" y="0"/>
                <a:ext cx="453"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a2=10</a:t>
                </a:r>
                <a:endParaRPr lang="en-US" altLang="zh-CN" sz="2000" dirty="0">
                  <a:latin typeface="Times New Roman" panose="02020603050405020304" pitchFamily="18" charset="0"/>
                  <a:ea typeface="宋体" panose="02010600030101010101" pitchFamily="2" charset="-122"/>
                </a:endParaRPr>
              </a:p>
            </p:txBody>
          </p:sp>
          <p:sp>
            <p:nvSpPr>
              <p:cNvPr id="123923" name="Line 20"/>
              <p:cNvSpPr/>
              <p:nvPr/>
            </p:nvSpPr>
            <p:spPr>
              <a:xfrm>
                <a:off x="0" y="92"/>
                <a:ext cx="384" cy="240"/>
              </a:xfrm>
              <a:prstGeom prst="line">
                <a:avLst/>
              </a:prstGeom>
              <a:ln w="19050" cap="flat" cmpd="sng">
                <a:solidFill>
                  <a:schemeClr val="tx1"/>
                </a:solidFill>
                <a:prstDash val="solid"/>
                <a:round/>
                <a:headEnd type="none" w="med" len="med"/>
                <a:tailEnd type="triangle" w="med" len="med"/>
              </a:ln>
            </p:spPr>
          </p:sp>
        </p:grpSp>
        <p:grpSp>
          <p:nvGrpSpPr>
            <p:cNvPr id="123924" name="Group 21"/>
            <p:cNvGrpSpPr/>
            <p:nvPr/>
          </p:nvGrpSpPr>
          <p:grpSpPr>
            <a:xfrm>
              <a:off x="744" y="48"/>
              <a:ext cx="480" cy="240"/>
              <a:chOff x="0" y="0"/>
              <a:chExt cx="480" cy="240"/>
            </a:xfrm>
          </p:grpSpPr>
          <p:sp>
            <p:nvSpPr>
              <p:cNvPr id="123925" name="Rectangle 22"/>
              <p:cNvSpPr/>
              <p:nvPr/>
            </p:nvSpPr>
            <p:spPr>
              <a:xfrm>
                <a:off x="0" y="0"/>
                <a:ext cx="408"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a3=9</a:t>
                </a:r>
                <a:endParaRPr lang="en-US" altLang="zh-CN" sz="2000" dirty="0">
                  <a:latin typeface="Times New Roman" panose="02020603050405020304" pitchFamily="18" charset="0"/>
                  <a:ea typeface="宋体" panose="02010600030101010101" pitchFamily="2" charset="-122"/>
                </a:endParaRPr>
              </a:p>
            </p:txBody>
          </p:sp>
          <p:sp>
            <p:nvSpPr>
              <p:cNvPr id="123926" name="Line 23"/>
              <p:cNvSpPr/>
              <p:nvPr/>
            </p:nvSpPr>
            <p:spPr>
              <a:xfrm flipV="1">
                <a:off x="48" y="144"/>
                <a:ext cx="432" cy="96"/>
              </a:xfrm>
              <a:prstGeom prst="line">
                <a:avLst/>
              </a:prstGeom>
              <a:ln w="19050" cap="flat" cmpd="sng">
                <a:solidFill>
                  <a:schemeClr val="tx1"/>
                </a:solidFill>
                <a:prstDash val="solid"/>
                <a:round/>
                <a:headEnd type="none" w="med" len="med"/>
                <a:tailEnd type="triangle" w="med" len="med"/>
              </a:ln>
            </p:spPr>
          </p:sp>
        </p:grpSp>
        <p:grpSp>
          <p:nvGrpSpPr>
            <p:cNvPr id="123927" name="Group 24"/>
            <p:cNvGrpSpPr/>
            <p:nvPr/>
          </p:nvGrpSpPr>
          <p:grpSpPr>
            <a:xfrm>
              <a:off x="792" y="336"/>
              <a:ext cx="528" cy="332"/>
              <a:chOff x="0" y="0"/>
              <a:chExt cx="528" cy="332"/>
            </a:xfrm>
          </p:grpSpPr>
          <p:sp>
            <p:nvSpPr>
              <p:cNvPr id="123928" name="Rectangle 25"/>
              <p:cNvSpPr/>
              <p:nvPr/>
            </p:nvSpPr>
            <p:spPr>
              <a:xfrm>
                <a:off x="75" y="0"/>
                <a:ext cx="453"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a4=13</a:t>
                </a:r>
                <a:endParaRPr lang="en-US" altLang="zh-CN" sz="2000" dirty="0">
                  <a:latin typeface="Times New Roman" panose="02020603050405020304" pitchFamily="18" charset="0"/>
                  <a:ea typeface="宋体" panose="02010600030101010101" pitchFamily="2" charset="-122"/>
                </a:endParaRPr>
              </a:p>
            </p:txBody>
          </p:sp>
          <p:sp>
            <p:nvSpPr>
              <p:cNvPr id="123929" name="Line 26"/>
              <p:cNvSpPr/>
              <p:nvPr/>
            </p:nvSpPr>
            <p:spPr>
              <a:xfrm>
                <a:off x="0" y="92"/>
                <a:ext cx="384" cy="240"/>
              </a:xfrm>
              <a:prstGeom prst="line">
                <a:avLst/>
              </a:prstGeom>
              <a:ln w="19050" cap="flat" cmpd="sng">
                <a:solidFill>
                  <a:schemeClr val="tx1"/>
                </a:solidFill>
                <a:prstDash val="solid"/>
                <a:round/>
                <a:headEnd type="none" w="med" len="med"/>
                <a:tailEnd type="triangle" w="med" len="med"/>
              </a:ln>
            </p:spPr>
          </p:sp>
        </p:grpSp>
        <p:grpSp>
          <p:nvGrpSpPr>
            <p:cNvPr id="123930" name="Group 27"/>
            <p:cNvGrpSpPr/>
            <p:nvPr/>
          </p:nvGrpSpPr>
          <p:grpSpPr>
            <a:xfrm>
              <a:off x="808" y="816"/>
              <a:ext cx="533" cy="320"/>
              <a:chOff x="0" y="0"/>
              <a:chExt cx="533" cy="320"/>
            </a:xfrm>
          </p:grpSpPr>
          <p:sp>
            <p:nvSpPr>
              <p:cNvPr id="123931" name="Rectangle 28"/>
              <p:cNvSpPr/>
              <p:nvPr/>
            </p:nvSpPr>
            <p:spPr>
              <a:xfrm>
                <a:off x="80" y="116"/>
                <a:ext cx="453"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a5=12</a:t>
                </a:r>
                <a:endParaRPr lang="en-US" altLang="zh-CN" sz="2000" dirty="0">
                  <a:latin typeface="Times New Roman" panose="02020603050405020304" pitchFamily="18" charset="0"/>
                  <a:ea typeface="宋体" panose="02010600030101010101" pitchFamily="2" charset="-122"/>
                </a:endParaRPr>
              </a:p>
            </p:txBody>
          </p:sp>
          <p:sp>
            <p:nvSpPr>
              <p:cNvPr id="123932" name="Line 29"/>
              <p:cNvSpPr/>
              <p:nvPr/>
            </p:nvSpPr>
            <p:spPr>
              <a:xfrm flipV="1">
                <a:off x="0" y="0"/>
                <a:ext cx="384" cy="288"/>
              </a:xfrm>
              <a:prstGeom prst="line">
                <a:avLst/>
              </a:prstGeom>
              <a:ln w="19050" cap="flat" cmpd="sng">
                <a:solidFill>
                  <a:schemeClr val="tx1"/>
                </a:solidFill>
                <a:prstDash val="solid"/>
                <a:round/>
                <a:headEnd type="none" w="med" len="med"/>
                <a:tailEnd type="triangle" w="med" len="med"/>
              </a:ln>
            </p:spPr>
          </p:sp>
        </p:grpSp>
        <p:grpSp>
          <p:nvGrpSpPr>
            <p:cNvPr id="123933" name="Group 30"/>
            <p:cNvGrpSpPr/>
            <p:nvPr/>
          </p:nvGrpSpPr>
          <p:grpSpPr>
            <a:xfrm>
              <a:off x="888" y="1224"/>
              <a:ext cx="576" cy="204"/>
              <a:chOff x="0" y="0"/>
              <a:chExt cx="576" cy="204"/>
            </a:xfrm>
          </p:grpSpPr>
          <p:sp>
            <p:nvSpPr>
              <p:cNvPr id="123934" name="Rectangle 31"/>
              <p:cNvSpPr/>
              <p:nvPr/>
            </p:nvSpPr>
            <p:spPr>
              <a:xfrm>
                <a:off x="72" y="0"/>
                <a:ext cx="408"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a6=7</a:t>
                </a:r>
                <a:endParaRPr lang="en-US" altLang="zh-CN" sz="2000" dirty="0">
                  <a:latin typeface="Times New Roman" panose="02020603050405020304" pitchFamily="18" charset="0"/>
                  <a:ea typeface="宋体" panose="02010600030101010101" pitchFamily="2" charset="-122"/>
                </a:endParaRPr>
              </a:p>
            </p:txBody>
          </p:sp>
          <p:sp>
            <p:nvSpPr>
              <p:cNvPr id="123935" name="Line 32"/>
              <p:cNvSpPr/>
              <p:nvPr/>
            </p:nvSpPr>
            <p:spPr>
              <a:xfrm>
                <a:off x="0" y="24"/>
                <a:ext cx="576" cy="0"/>
              </a:xfrm>
              <a:prstGeom prst="line">
                <a:avLst/>
              </a:prstGeom>
              <a:ln w="19050" cap="flat" cmpd="sng">
                <a:solidFill>
                  <a:schemeClr val="tx1"/>
                </a:solidFill>
                <a:prstDash val="solid"/>
                <a:round/>
                <a:headEnd type="none" w="med" len="med"/>
                <a:tailEnd type="triangle" w="med" len="med"/>
              </a:ln>
            </p:spPr>
          </p:sp>
        </p:grpSp>
        <p:grpSp>
          <p:nvGrpSpPr>
            <p:cNvPr id="123936" name="Group 33"/>
            <p:cNvGrpSpPr/>
            <p:nvPr/>
          </p:nvGrpSpPr>
          <p:grpSpPr>
            <a:xfrm>
              <a:off x="1512" y="0"/>
              <a:ext cx="480" cy="204"/>
              <a:chOff x="0" y="0"/>
              <a:chExt cx="480" cy="204"/>
            </a:xfrm>
          </p:grpSpPr>
          <p:sp>
            <p:nvSpPr>
              <p:cNvPr id="123937" name="Rectangle 34"/>
              <p:cNvSpPr/>
              <p:nvPr/>
            </p:nvSpPr>
            <p:spPr>
              <a:xfrm>
                <a:off x="0" y="0"/>
                <a:ext cx="408"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a7=8</a:t>
                </a:r>
                <a:endParaRPr lang="en-US" altLang="zh-CN" sz="2000" dirty="0">
                  <a:latin typeface="Times New Roman" panose="02020603050405020304" pitchFamily="18" charset="0"/>
                  <a:ea typeface="宋体" panose="02010600030101010101" pitchFamily="2" charset="-122"/>
                </a:endParaRPr>
              </a:p>
            </p:txBody>
          </p:sp>
          <p:sp>
            <p:nvSpPr>
              <p:cNvPr id="123938" name="Line 35"/>
              <p:cNvSpPr/>
              <p:nvPr/>
            </p:nvSpPr>
            <p:spPr>
              <a:xfrm>
                <a:off x="0" y="192"/>
                <a:ext cx="480" cy="0"/>
              </a:xfrm>
              <a:prstGeom prst="line">
                <a:avLst/>
              </a:prstGeom>
              <a:ln w="19050" cap="flat" cmpd="sng">
                <a:solidFill>
                  <a:schemeClr val="tx1"/>
                </a:solidFill>
                <a:prstDash val="solid"/>
                <a:round/>
                <a:headEnd type="none" w="med" len="med"/>
                <a:tailEnd type="triangle" w="med" len="med"/>
              </a:ln>
            </p:spPr>
          </p:sp>
        </p:grpSp>
        <p:grpSp>
          <p:nvGrpSpPr>
            <p:cNvPr id="123939" name="Group 36"/>
            <p:cNvGrpSpPr/>
            <p:nvPr/>
          </p:nvGrpSpPr>
          <p:grpSpPr>
            <a:xfrm>
              <a:off x="1432" y="540"/>
              <a:ext cx="480" cy="204"/>
              <a:chOff x="0" y="0"/>
              <a:chExt cx="480" cy="204"/>
            </a:xfrm>
          </p:grpSpPr>
          <p:sp>
            <p:nvSpPr>
              <p:cNvPr id="123940" name="Rectangle 37"/>
              <p:cNvSpPr/>
              <p:nvPr/>
            </p:nvSpPr>
            <p:spPr>
              <a:xfrm>
                <a:off x="0" y="0"/>
                <a:ext cx="408"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a9=6</a:t>
                </a:r>
                <a:endParaRPr lang="en-US" altLang="zh-CN" sz="2000" dirty="0">
                  <a:latin typeface="Times New Roman" panose="02020603050405020304" pitchFamily="18" charset="0"/>
                  <a:ea typeface="宋体" panose="02010600030101010101" pitchFamily="2" charset="-122"/>
                </a:endParaRPr>
              </a:p>
            </p:txBody>
          </p:sp>
          <p:sp>
            <p:nvSpPr>
              <p:cNvPr id="123941" name="Line 38"/>
              <p:cNvSpPr/>
              <p:nvPr/>
            </p:nvSpPr>
            <p:spPr>
              <a:xfrm>
                <a:off x="0" y="192"/>
                <a:ext cx="480" cy="0"/>
              </a:xfrm>
              <a:prstGeom prst="line">
                <a:avLst/>
              </a:prstGeom>
              <a:ln w="19050" cap="flat" cmpd="sng">
                <a:solidFill>
                  <a:schemeClr val="tx1"/>
                </a:solidFill>
                <a:prstDash val="solid"/>
                <a:round/>
                <a:headEnd type="none" w="med" len="med"/>
                <a:tailEnd type="triangle" w="med" len="med"/>
              </a:ln>
            </p:spPr>
          </p:sp>
        </p:grpSp>
        <p:grpSp>
          <p:nvGrpSpPr>
            <p:cNvPr id="123942" name="Group 39"/>
            <p:cNvGrpSpPr/>
            <p:nvPr/>
          </p:nvGrpSpPr>
          <p:grpSpPr>
            <a:xfrm>
              <a:off x="1651" y="848"/>
              <a:ext cx="581" cy="304"/>
              <a:chOff x="0" y="0"/>
              <a:chExt cx="581" cy="304"/>
            </a:xfrm>
          </p:grpSpPr>
          <p:sp>
            <p:nvSpPr>
              <p:cNvPr id="123943" name="Rectangle 40"/>
              <p:cNvSpPr/>
              <p:nvPr/>
            </p:nvSpPr>
            <p:spPr>
              <a:xfrm>
                <a:off x="105" y="100"/>
                <a:ext cx="476"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a10=11</a:t>
                </a:r>
                <a:endParaRPr lang="en-US" altLang="zh-CN" sz="2000" dirty="0">
                  <a:latin typeface="Times New Roman" panose="02020603050405020304" pitchFamily="18" charset="0"/>
                  <a:ea typeface="宋体" panose="02010600030101010101" pitchFamily="2" charset="-122"/>
                </a:endParaRPr>
              </a:p>
            </p:txBody>
          </p:sp>
          <p:sp>
            <p:nvSpPr>
              <p:cNvPr id="123944" name="Line 41"/>
              <p:cNvSpPr/>
              <p:nvPr/>
            </p:nvSpPr>
            <p:spPr>
              <a:xfrm flipV="1">
                <a:off x="0" y="0"/>
                <a:ext cx="384" cy="288"/>
              </a:xfrm>
              <a:prstGeom prst="line">
                <a:avLst/>
              </a:prstGeom>
              <a:ln w="19050" cap="flat" cmpd="sng">
                <a:solidFill>
                  <a:schemeClr val="tx1"/>
                </a:solidFill>
                <a:prstDash val="solid"/>
                <a:round/>
                <a:headEnd type="none" w="med" len="med"/>
                <a:tailEnd type="triangle" w="med" len="med"/>
              </a:ln>
            </p:spPr>
          </p:sp>
        </p:grpSp>
        <p:grpSp>
          <p:nvGrpSpPr>
            <p:cNvPr id="123945" name="Group 42"/>
            <p:cNvGrpSpPr/>
            <p:nvPr/>
          </p:nvGrpSpPr>
          <p:grpSpPr>
            <a:xfrm>
              <a:off x="2208" y="544"/>
              <a:ext cx="544" cy="204"/>
              <a:chOff x="0" y="0"/>
              <a:chExt cx="544" cy="204"/>
            </a:xfrm>
          </p:grpSpPr>
          <p:sp>
            <p:nvSpPr>
              <p:cNvPr id="123946" name="Rectangle 43"/>
              <p:cNvSpPr/>
              <p:nvPr/>
            </p:nvSpPr>
            <p:spPr>
              <a:xfrm>
                <a:off x="0" y="0"/>
                <a:ext cx="453"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a12=5</a:t>
                </a:r>
                <a:endParaRPr lang="en-US" altLang="zh-CN" sz="2000" dirty="0">
                  <a:latin typeface="Times New Roman" panose="02020603050405020304" pitchFamily="18" charset="0"/>
                  <a:ea typeface="宋体" panose="02010600030101010101" pitchFamily="2" charset="-122"/>
                </a:endParaRPr>
              </a:p>
            </p:txBody>
          </p:sp>
          <p:sp>
            <p:nvSpPr>
              <p:cNvPr id="123947" name="Line 44"/>
              <p:cNvSpPr/>
              <p:nvPr/>
            </p:nvSpPr>
            <p:spPr>
              <a:xfrm>
                <a:off x="0" y="192"/>
                <a:ext cx="544" cy="0"/>
              </a:xfrm>
              <a:prstGeom prst="line">
                <a:avLst/>
              </a:prstGeom>
              <a:ln w="19050" cap="flat" cmpd="sng">
                <a:solidFill>
                  <a:schemeClr val="tx1"/>
                </a:solidFill>
                <a:prstDash val="solid"/>
                <a:round/>
                <a:headEnd type="none" w="med" len="med"/>
                <a:tailEnd type="triangle" w="med" len="med"/>
              </a:ln>
            </p:spPr>
          </p:sp>
        </p:grpSp>
        <p:grpSp>
          <p:nvGrpSpPr>
            <p:cNvPr id="123948" name="Group 45"/>
            <p:cNvGrpSpPr/>
            <p:nvPr/>
          </p:nvGrpSpPr>
          <p:grpSpPr>
            <a:xfrm>
              <a:off x="1464" y="288"/>
              <a:ext cx="672" cy="336"/>
              <a:chOff x="0" y="0"/>
              <a:chExt cx="672" cy="336"/>
            </a:xfrm>
          </p:grpSpPr>
          <p:sp>
            <p:nvSpPr>
              <p:cNvPr id="123949" name="Rectangle 46"/>
              <p:cNvSpPr/>
              <p:nvPr/>
            </p:nvSpPr>
            <p:spPr>
              <a:xfrm>
                <a:off x="264" y="8"/>
                <a:ext cx="408"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a8=4</a:t>
                </a:r>
                <a:endParaRPr lang="en-US" altLang="zh-CN" sz="2000" dirty="0">
                  <a:latin typeface="Times New Roman" panose="02020603050405020304" pitchFamily="18" charset="0"/>
                  <a:ea typeface="宋体" panose="02010600030101010101" pitchFamily="2" charset="-122"/>
                </a:endParaRPr>
              </a:p>
            </p:txBody>
          </p:sp>
          <p:sp>
            <p:nvSpPr>
              <p:cNvPr id="123950" name="Line 47"/>
              <p:cNvSpPr/>
              <p:nvPr/>
            </p:nvSpPr>
            <p:spPr>
              <a:xfrm>
                <a:off x="0" y="0"/>
                <a:ext cx="576" cy="336"/>
              </a:xfrm>
              <a:prstGeom prst="line">
                <a:avLst/>
              </a:prstGeom>
              <a:ln w="19050" cap="flat" cmpd="sng">
                <a:solidFill>
                  <a:schemeClr val="tx1"/>
                </a:solidFill>
                <a:prstDash val="solid"/>
                <a:round/>
                <a:headEnd type="none" w="med" len="med"/>
                <a:tailEnd type="triangle" w="med" len="med"/>
              </a:ln>
            </p:spPr>
          </p:sp>
        </p:grpSp>
        <p:grpSp>
          <p:nvGrpSpPr>
            <p:cNvPr id="123951" name="Group 48"/>
            <p:cNvGrpSpPr/>
            <p:nvPr/>
          </p:nvGrpSpPr>
          <p:grpSpPr>
            <a:xfrm>
              <a:off x="2256" y="248"/>
              <a:ext cx="693" cy="376"/>
              <a:chOff x="0" y="0"/>
              <a:chExt cx="693" cy="376"/>
            </a:xfrm>
          </p:grpSpPr>
          <p:sp>
            <p:nvSpPr>
              <p:cNvPr id="123952" name="Rectangle 49"/>
              <p:cNvSpPr/>
              <p:nvPr/>
            </p:nvSpPr>
            <p:spPr>
              <a:xfrm>
                <a:off x="240" y="0"/>
                <a:ext cx="453"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a11=2</a:t>
                </a:r>
                <a:endParaRPr lang="en-US" altLang="zh-CN" sz="2000" dirty="0">
                  <a:latin typeface="Times New Roman" panose="02020603050405020304" pitchFamily="18" charset="0"/>
                  <a:ea typeface="宋体" panose="02010600030101010101" pitchFamily="2" charset="-122"/>
                </a:endParaRPr>
              </a:p>
            </p:txBody>
          </p:sp>
          <p:sp>
            <p:nvSpPr>
              <p:cNvPr id="123953" name="Line 50"/>
              <p:cNvSpPr/>
              <p:nvPr/>
            </p:nvSpPr>
            <p:spPr>
              <a:xfrm>
                <a:off x="0" y="0"/>
                <a:ext cx="616" cy="376"/>
              </a:xfrm>
              <a:prstGeom prst="line">
                <a:avLst/>
              </a:prstGeom>
              <a:ln w="19050" cap="flat" cmpd="sng">
                <a:solidFill>
                  <a:schemeClr val="tx1"/>
                </a:solidFill>
                <a:prstDash val="solid"/>
                <a:round/>
                <a:headEnd type="none" w="med" len="med"/>
                <a:tailEnd type="triangle" w="med" len="med"/>
              </a:ln>
            </p:spPr>
          </p:sp>
        </p:grpSp>
      </p:gr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4773930"/>
          </a:xfrm>
        </p:spPr>
        <p:txBody>
          <a:bodyPr/>
          <a:p>
            <a:pPr marL="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关键路径示例</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完成最短时间为</a:t>
            </a:r>
            <a:r>
              <a:rPr lang="en-US" altLang="zh-CN" sz="2400" dirty="0">
                <a:latin typeface="黑体" panose="02010609060101010101" pitchFamily="2" charset="-122"/>
                <a:ea typeface="黑体" panose="02010609060101010101" pitchFamily="2" charset="-122"/>
                <a:cs typeface="+mn-ea"/>
                <a:sym typeface="+mn-ea"/>
              </a:rPr>
              <a:t>33</a:t>
            </a:r>
            <a:endParaRPr lang="en-US" altLang="zh-CN"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关键路径活动</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L="954405" marR="0" lvl="1" indent="-609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lang="en-US" altLang="zh-CN" sz="2400" b="1" dirty="0">
                <a:cs typeface="+mn-ea"/>
                <a:sym typeface="+mn-ea"/>
              </a:rPr>
              <a:t>&lt;v</a:t>
            </a:r>
            <a:r>
              <a:rPr lang="en-US" altLang="zh-CN" sz="2400" b="1" baseline="-20000" dirty="0">
                <a:cs typeface="+mn-ea"/>
                <a:sym typeface="+mn-ea"/>
              </a:rPr>
              <a:t>0</a:t>
            </a:r>
            <a:r>
              <a:rPr lang="en-US" altLang="zh-CN" sz="2400" b="1" dirty="0">
                <a:cs typeface="+mn-ea"/>
                <a:sym typeface="+mn-ea"/>
              </a:rPr>
              <a:t>, v</a:t>
            </a:r>
            <a:r>
              <a:rPr lang="en-US" altLang="zh-CN" sz="2400" b="1" baseline="-20000" dirty="0">
                <a:cs typeface="+mn-ea"/>
                <a:sym typeface="+mn-ea"/>
              </a:rPr>
              <a:t>2</a:t>
            </a:r>
            <a:r>
              <a:rPr lang="en-US" altLang="zh-CN" sz="2400" b="1" dirty="0">
                <a:cs typeface="+mn-ea"/>
                <a:sym typeface="+mn-ea"/>
              </a:rPr>
              <a:t>&gt;</a:t>
            </a:r>
            <a:r>
              <a:rPr lang="zh-CN" altLang="en-US" sz="2400" b="1" dirty="0">
                <a:cs typeface="+mn-ea"/>
                <a:sym typeface="+mn-ea"/>
              </a:rPr>
              <a:t>，</a:t>
            </a:r>
            <a:r>
              <a:rPr lang="en-US" altLang="zh-CN" sz="2400" b="1" dirty="0">
                <a:cs typeface="+mn-ea"/>
                <a:sym typeface="+mn-ea"/>
              </a:rPr>
              <a:t>&lt;v</a:t>
            </a:r>
            <a:r>
              <a:rPr lang="en-US" altLang="zh-CN" sz="2400" b="1" baseline="-20000" dirty="0">
                <a:cs typeface="+mn-ea"/>
                <a:sym typeface="+mn-ea"/>
              </a:rPr>
              <a:t>2</a:t>
            </a:r>
            <a:r>
              <a:rPr lang="en-US" altLang="zh-CN" sz="2400" b="1" dirty="0">
                <a:cs typeface="+mn-ea"/>
                <a:sym typeface="+mn-ea"/>
              </a:rPr>
              <a:t>, v</a:t>
            </a:r>
            <a:r>
              <a:rPr lang="en-US" altLang="zh-CN" sz="2400" b="1" baseline="-20000" dirty="0">
                <a:cs typeface="+mn-ea"/>
                <a:sym typeface="+mn-ea"/>
              </a:rPr>
              <a:t>4</a:t>
            </a:r>
            <a:r>
              <a:rPr lang="en-US" altLang="zh-CN" sz="2400" b="1" dirty="0">
                <a:cs typeface="+mn-ea"/>
                <a:sym typeface="+mn-ea"/>
              </a:rPr>
              <a:t>&gt;</a:t>
            </a:r>
            <a:r>
              <a:rPr lang="zh-CN" altLang="en-US" sz="2400" b="1" dirty="0">
                <a:cs typeface="+mn-ea"/>
                <a:sym typeface="+mn-ea"/>
              </a:rPr>
              <a:t>，</a:t>
            </a:r>
            <a:r>
              <a:rPr lang="en-US" altLang="zh-CN" sz="2400" b="1" dirty="0">
                <a:cs typeface="+mn-ea"/>
                <a:sym typeface="+mn-ea"/>
              </a:rPr>
              <a:t>&lt;v</a:t>
            </a:r>
            <a:r>
              <a:rPr lang="en-US" altLang="zh-CN" sz="2400" b="1" baseline="-20000" dirty="0">
                <a:cs typeface="+mn-ea"/>
                <a:sym typeface="+mn-ea"/>
              </a:rPr>
              <a:t>2</a:t>
            </a:r>
            <a:r>
              <a:rPr lang="en-US" altLang="zh-CN" sz="2400" b="1" dirty="0">
                <a:cs typeface="+mn-ea"/>
                <a:sym typeface="+mn-ea"/>
              </a:rPr>
              <a:t>, v</a:t>
            </a:r>
            <a:r>
              <a:rPr lang="en-US" altLang="zh-CN" sz="2400" b="1" baseline="-20000" dirty="0">
                <a:cs typeface="+mn-ea"/>
                <a:sym typeface="+mn-ea"/>
              </a:rPr>
              <a:t>5</a:t>
            </a:r>
            <a:r>
              <a:rPr lang="en-US" altLang="zh-CN" sz="2400" b="1" dirty="0">
                <a:cs typeface="+mn-ea"/>
                <a:sym typeface="+mn-ea"/>
              </a:rPr>
              <a:t>&gt;</a:t>
            </a:r>
            <a:r>
              <a:rPr lang="zh-CN" altLang="en-US" sz="2400" b="1" dirty="0">
                <a:cs typeface="+mn-ea"/>
                <a:sym typeface="+mn-ea"/>
              </a:rPr>
              <a:t>，</a:t>
            </a:r>
            <a:r>
              <a:rPr lang="en-US" altLang="zh-CN" sz="2400" b="1" dirty="0">
                <a:cs typeface="+mn-ea"/>
                <a:sym typeface="+mn-ea"/>
              </a:rPr>
              <a:t>&lt;v</a:t>
            </a:r>
            <a:r>
              <a:rPr lang="en-US" altLang="zh-CN" sz="2400" b="1" baseline="-20000" dirty="0">
                <a:cs typeface="+mn-ea"/>
                <a:sym typeface="+mn-ea"/>
              </a:rPr>
              <a:t>4</a:t>
            </a:r>
            <a:r>
              <a:rPr lang="en-US" altLang="zh-CN" sz="2400" b="1" dirty="0">
                <a:cs typeface="+mn-ea"/>
                <a:sym typeface="+mn-ea"/>
              </a:rPr>
              <a:t>, v</a:t>
            </a:r>
            <a:r>
              <a:rPr lang="en-US" altLang="zh-CN" sz="2400" b="1" baseline="-20000" dirty="0">
                <a:cs typeface="+mn-ea"/>
                <a:sym typeface="+mn-ea"/>
              </a:rPr>
              <a:t>7</a:t>
            </a:r>
            <a:r>
              <a:rPr lang="en-US" altLang="zh-CN" sz="2400" b="1" dirty="0">
                <a:cs typeface="+mn-ea"/>
                <a:sym typeface="+mn-ea"/>
              </a:rPr>
              <a:t>&gt;</a:t>
            </a:r>
            <a:r>
              <a:rPr lang="zh-CN" altLang="en-US" sz="2400" b="1" dirty="0">
                <a:cs typeface="+mn-ea"/>
                <a:sym typeface="+mn-ea"/>
              </a:rPr>
              <a:t>，</a:t>
            </a:r>
            <a:r>
              <a:rPr lang="en-US" altLang="zh-CN" sz="2400" b="1" dirty="0">
                <a:cs typeface="+mn-ea"/>
                <a:sym typeface="+mn-ea"/>
              </a:rPr>
              <a:t>&lt;v</a:t>
            </a:r>
            <a:r>
              <a:rPr lang="en-US" altLang="zh-CN" sz="2400" b="1" baseline="-20000" dirty="0">
                <a:cs typeface="+mn-ea"/>
                <a:sym typeface="+mn-ea"/>
              </a:rPr>
              <a:t>5</a:t>
            </a:r>
            <a:r>
              <a:rPr lang="en-US" altLang="zh-CN" sz="2400" b="1" dirty="0">
                <a:cs typeface="+mn-ea"/>
                <a:sym typeface="+mn-ea"/>
              </a:rPr>
              <a:t>, v</a:t>
            </a:r>
            <a:r>
              <a:rPr lang="en-US" altLang="zh-CN" sz="2400" b="1" baseline="-20000" dirty="0">
                <a:cs typeface="+mn-ea"/>
                <a:sym typeface="+mn-ea"/>
              </a:rPr>
              <a:t>7</a:t>
            </a:r>
            <a:r>
              <a:rPr lang="en-US" altLang="zh-CN" sz="2400" b="1" dirty="0">
                <a:cs typeface="+mn-ea"/>
                <a:sym typeface="+mn-ea"/>
              </a:rPr>
              <a:t>&gt;</a:t>
            </a:r>
            <a:r>
              <a:rPr lang="zh-CN" altLang="en-US" sz="2400" b="1" dirty="0">
                <a:cs typeface="+mn-ea"/>
                <a:sym typeface="+mn-ea"/>
              </a:rPr>
              <a:t>，</a:t>
            </a:r>
            <a:r>
              <a:rPr lang="en-US" altLang="zh-CN" sz="2400" b="1" dirty="0">
                <a:cs typeface="+mn-ea"/>
                <a:sym typeface="+mn-ea"/>
              </a:rPr>
              <a:t>&lt;v</a:t>
            </a:r>
            <a:r>
              <a:rPr lang="en-US" altLang="zh-CN" sz="2400" b="1" baseline="-20000" dirty="0">
                <a:cs typeface="+mn-ea"/>
                <a:sym typeface="+mn-ea"/>
              </a:rPr>
              <a:t>5</a:t>
            </a:r>
            <a:r>
              <a:rPr lang="en-US" altLang="zh-CN" sz="2400" b="1" dirty="0">
                <a:cs typeface="+mn-ea"/>
                <a:sym typeface="+mn-ea"/>
              </a:rPr>
              <a:t>, v</a:t>
            </a:r>
            <a:r>
              <a:rPr lang="en-US" altLang="zh-CN" sz="2400" b="1" baseline="-20000" dirty="0">
                <a:cs typeface="+mn-ea"/>
                <a:sym typeface="+mn-ea"/>
              </a:rPr>
              <a:t>8</a:t>
            </a:r>
            <a:r>
              <a:rPr lang="en-US" altLang="zh-CN" sz="2400" b="1" dirty="0">
                <a:cs typeface="+mn-ea"/>
                <a:sym typeface="+mn-ea"/>
              </a:rPr>
              <a:t>&gt;</a:t>
            </a:r>
            <a:endParaRPr kumimoji="0" lang="en-US" altLang="zh-CN" sz="2400" b="1" i="0" u="none" strike="noStrike" kern="0" cap="none" spc="0" normalizeH="0" baseline="0" noProof="1" dirty="0">
              <a:solidFill>
                <a:schemeClr val="tx1"/>
              </a:solidFill>
              <a:latin typeface="+mn-lt"/>
              <a:ea typeface="+mn-ea"/>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关键路径有两条</a:t>
            </a:r>
            <a:endParaRPr lang="zh-CN" altLang="en-US" sz="2400" dirty="0">
              <a:latin typeface="黑体" panose="02010609060101010101" pitchFamily="2" charset="-122"/>
              <a:ea typeface="黑体" panose="02010609060101010101" pitchFamily="2" charset="-122"/>
              <a:cs typeface="+mn-ea"/>
            </a:endParaRPr>
          </a:p>
          <a:p>
            <a:pPr marL="954405" marR="0" lvl="1" indent="-60960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lang="en-US" altLang="zh-CN" sz="2400" b="1" dirty="0">
                <a:cs typeface="+mn-ea"/>
                <a:sym typeface="+mn-ea"/>
              </a:rPr>
              <a:t>(v</a:t>
            </a:r>
            <a:r>
              <a:rPr lang="en-US" altLang="zh-CN" sz="2400" b="1" baseline="-20000" dirty="0">
                <a:cs typeface="+mn-ea"/>
                <a:sym typeface="+mn-ea"/>
              </a:rPr>
              <a:t>0</a:t>
            </a:r>
            <a:r>
              <a:rPr lang="en-US" altLang="zh-CN" sz="2400" b="1" dirty="0">
                <a:cs typeface="+mn-ea"/>
                <a:sym typeface="+mn-ea"/>
              </a:rPr>
              <a:t>, v</a:t>
            </a:r>
            <a:r>
              <a:rPr lang="en-US" altLang="zh-CN" sz="2400" b="1" baseline="-20000" dirty="0">
                <a:cs typeface="+mn-ea"/>
                <a:sym typeface="+mn-ea"/>
              </a:rPr>
              <a:t>2</a:t>
            </a:r>
            <a:r>
              <a:rPr lang="en-US" altLang="zh-CN" sz="2400" b="1" dirty="0">
                <a:cs typeface="+mn-ea"/>
                <a:sym typeface="+mn-ea"/>
              </a:rPr>
              <a:t>, v</a:t>
            </a:r>
            <a:r>
              <a:rPr lang="en-US" altLang="zh-CN" sz="2400" b="1" baseline="-20000" dirty="0">
                <a:cs typeface="+mn-ea"/>
                <a:sym typeface="+mn-ea"/>
              </a:rPr>
              <a:t>4</a:t>
            </a:r>
            <a:r>
              <a:rPr lang="en-US" altLang="zh-CN" sz="2400" b="1" dirty="0">
                <a:cs typeface="+mn-ea"/>
                <a:sym typeface="+mn-ea"/>
              </a:rPr>
              <a:t>, v</a:t>
            </a:r>
            <a:r>
              <a:rPr lang="en-US" altLang="zh-CN" sz="2400" b="1" baseline="-20000" dirty="0">
                <a:cs typeface="+mn-ea"/>
                <a:sym typeface="+mn-ea"/>
              </a:rPr>
              <a:t>7</a:t>
            </a:r>
            <a:r>
              <a:rPr lang="en-US" altLang="zh-CN" sz="2400" b="1" dirty="0">
                <a:cs typeface="+mn-ea"/>
                <a:sym typeface="+mn-ea"/>
              </a:rPr>
              <a:t> , v</a:t>
            </a:r>
            <a:r>
              <a:rPr lang="en-US" altLang="zh-CN" sz="2400" b="1" baseline="-20000" dirty="0">
                <a:cs typeface="+mn-ea"/>
                <a:sym typeface="+mn-ea"/>
              </a:rPr>
              <a:t>8</a:t>
            </a:r>
            <a:r>
              <a:rPr lang="en-US" altLang="zh-CN" sz="2400" b="1" dirty="0">
                <a:cs typeface="+mn-ea"/>
                <a:sym typeface="+mn-ea"/>
              </a:rPr>
              <a:t>) </a:t>
            </a:r>
            <a:r>
              <a:rPr lang="zh-CN" altLang="en-US" sz="2400" dirty="0">
                <a:latin typeface="黑体" panose="02010609060101010101" pitchFamily="2" charset="-122"/>
                <a:ea typeface="黑体" panose="02010609060101010101" pitchFamily="2" charset="-122"/>
                <a:cs typeface="+mn-ea"/>
                <a:sym typeface="+mn-ea"/>
              </a:rPr>
              <a:t>和</a:t>
            </a:r>
            <a:r>
              <a:rPr lang="en-US" altLang="zh-CN" sz="2400" b="1" dirty="0">
                <a:cs typeface="+mn-ea"/>
                <a:sym typeface="+mn-ea"/>
              </a:rPr>
              <a:t>(v</a:t>
            </a:r>
            <a:r>
              <a:rPr lang="en-US" altLang="zh-CN" sz="2400" b="1" baseline="-20000" dirty="0">
                <a:cs typeface="+mn-ea"/>
                <a:sym typeface="+mn-ea"/>
              </a:rPr>
              <a:t>0</a:t>
            </a:r>
            <a:r>
              <a:rPr lang="en-US" altLang="zh-CN" sz="2400" b="1" dirty="0">
                <a:cs typeface="+mn-ea"/>
                <a:sym typeface="+mn-ea"/>
              </a:rPr>
              <a:t>, v</a:t>
            </a:r>
            <a:r>
              <a:rPr lang="en-US" altLang="zh-CN" sz="2400" b="1" baseline="-20000" dirty="0">
                <a:cs typeface="+mn-ea"/>
                <a:sym typeface="+mn-ea"/>
              </a:rPr>
              <a:t>2</a:t>
            </a:r>
            <a:r>
              <a:rPr lang="en-US" altLang="zh-CN" sz="2400" b="1" dirty="0">
                <a:cs typeface="+mn-ea"/>
                <a:sym typeface="+mn-ea"/>
              </a:rPr>
              <a:t>, v</a:t>
            </a:r>
            <a:r>
              <a:rPr lang="en-US" altLang="zh-CN" sz="2400" b="1" baseline="-20000" dirty="0">
                <a:cs typeface="+mn-ea"/>
                <a:sym typeface="+mn-ea"/>
              </a:rPr>
              <a:t>5</a:t>
            </a:r>
            <a:r>
              <a:rPr lang="en-US" altLang="zh-CN" sz="2400" b="1" dirty="0">
                <a:cs typeface="+mn-ea"/>
                <a:sym typeface="+mn-ea"/>
              </a:rPr>
              <a:t> , v</a:t>
            </a:r>
            <a:r>
              <a:rPr lang="en-US" altLang="zh-CN" sz="2400" b="1" baseline="-20000" dirty="0">
                <a:cs typeface="+mn-ea"/>
                <a:sym typeface="+mn-ea"/>
              </a:rPr>
              <a:t>7</a:t>
            </a:r>
            <a:r>
              <a:rPr lang="en-US" altLang="zh-CN" sz="2400" b="1" dirty="0">
                <a:cs typeface="+mn-ea"/>
                <a:sym typeface="+mn-ea"/>
              </a:rPr>
              <a:t> , v</a:t>
            </a:r>
            <a:r>
              <a:rPr lang="en-US" altLang="zh-CN" sz="2400" b="1" baseline="-20000" dirty="0">
                <a:cs typeface="+mn-ea"/>
                <a:sym typeface="+mn-ea"/>
              </a:rPr>
              <a:t>8</a:t>
            </a:r>
            <a:r>
              <a:rPr lang="en-US" altLang="zh-CN" sz="2400" b="1" dirty="0">
                <a:cs typeface="+mn-ea"/>
                <a:sym typeface="+mn-ea"/>
              </a:rPr>
              <a:t>)</a:t>
            </a:r>
            <a:endParaRPr kumimoji="0" lang="en-US" altLang="zh-CN" sz="2400" b="1" i="0" u="none" strike="noStrike" kern="0" cap="none" spc="0" normalizeH="0" baseline="0" noProof="1" dirty="0">
              <a:solidFill>
                <a:schemeClr val="tx1"/>
              </a:solidFill>
              <a:latin typeface="+mn-lt"/>
              <a:ea typeface="+mn-ea"/>
              <a:cs typeface="+mn-ea"/>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38916" name="表格 38915"/>
          <p:cNvGraphicFramePr/>
          <p:nvPr>
            <p:custDataLst>
              <p:tags r:id="rId1"/>
            </p:custDataLst>
          </p:nvPr>
        </p:nvGraphicFramePr>
        <p:xfrm>
          <a:off x="551180" y="4436745"/>
          <a:ext cx="8135620" cy="1247140"/>
        </p:xfrm>
        <a:graphic>
          <a:graphicData uri="http://schemas.openxmlformats.org/drawingml/2006/table">
            <a:tbl>
              <a:tblPr/>
              <a:tblGrid>
                <a:gridCol w="1370330"/>
                <a:gridCol w="731520"/>
                <a:gridCol w="641350"/>
                <a:gridCol w="822325"/>
                <a:gridCol w="729615"/>
                <a:gridCol w="732155"/>
                <a:gridCol w="731520"/>
                <a:gridCol w="732155"/>
                <a:gridCol w="820420"/>
                <a:gridCol w="824230"/>
              </a:tblGrid>
              <a:tr h="453390">
                <a:tc>
                  <a:txBody>
                    <a:bodyPr/>
                    <a:p>
                      <a:pPr algn="ctr" eaLnBrk="0" hangingPunct="0">
                        <a:spcBef>
                          <a:spcPct val="20000"/>
                        </a:spcBef>
                        <a:buClr>
                          <a:schemeClr val="accent1"/>
                        </a:buClr>
                        <a:buFont typeface="Wingdings" panose="05000000000000000000" pitchFamily="2" charset="2"/>
                        <a:buNone/>
                      </a:pPr>
                      <a:r>
                        <a:rPr lang="zh-CN" altLang="en-US" sz="2000" b="1" dirty="0">
                          <a:latin typeface="Arial" panose="020B0604020202020204" pitchFamily="34" charset="0"/>
                          <a:ea typeface="宋体" panose="02010600030101010101" pitchFamily="2" charset="-122"/>
                        </a:rPr>
                        <a:t>顶点</a:t>
                      </a:r>
                      <a:endParaRPr lang="zh-CN" altLang="en-US" sz="2000" b="1" dirty="0">
                        <a:latin typeface="Arial" panose="020B0604020202020204" pitchFamily="34"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v</a:t>
                      </a:r>
                      <a:r>
                        <a:rPr lang="en-US" altLang="zh-CN" sz="2000" b="1" baseline="-18000" dirty="0">
                          <a:latin typeface="Arial" panose="020B0604020202020204" pitchFamily="34" charset="0"/>
                          <a:ea typeface="宋体" panose="02010600030101010101" pitchFamily="2" charset="-122"/>
                        </a:rPr>
                        <a:t>0</a:t>
                      </a:r>
                      <a:endParaRPr lang="en-US" altLang="zh-CN" sz="2000" b="1" baseline="-18000"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v</a:t>
                      </a:r>
                      <a:r>
                        <a:rPr lang="en-US" altLang="zh-CN" sz="2000" b="1" baseline="-18000" dirty="0">
                          <a:latin typeface="Arial" panose="020B0604020202020204" pitchFamily="34" charset="0"/>
                          <a:ea typeface="宋体" panose="02010600030101010101" pitchFamily="2" charset="-122"/>
                        </a:rPr>
                        <a:t>1</a:t>
                      </a:r>
                      <a:endParaRPr lang="en-US" altLang="zh-CN" sz="2000" b="1" baseline="-18000"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v</a:t>
                      </a:r>
                      <a:r>
                        <a:rPr lang="en-US" altLang="zh-CN" sz="2000" b="1" baseline="-18000" dirty="0">
                          <a:latin typeface="Arial" panose="020B0604020202020204" pitchFamily="34" charset="0"/>
                          <a:ea typeface="宋体" panose="02010600030101010101" pitchFamily="2" charset="-122"/>
                        </a:rPr>
                        <a:t>2</a:t>
                      </a:r>
                      <a:endParaRPr lang="en-US" altLang="zh-CN" sz="2000" b="1" baseline="-18000"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v</a:t>
                      </a:r>
                      <a:r>
                        <a:rPr lang="en-US" altLang="zh-CN" sz="2000" b="1" baseline="-18000" dirty="0">
                          <a:latin typeface="Arial" panose="020B0604020202020204" pitchFamily="34" charset="0"/>
                          <a:ea typeface="宋体" panose="02010600030101010101" pitchFamily="2" charset="-122"/>
                        </a:rPr>
                        <a:t>3</a:t>
                      </a:r>
                      <a:endParaRPr lang="en-US" altLang="zh-CN" sz="2000" b="1" baseline="-18000"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v</a:t>
                      </a:r>
                      <a:r>
                        <a:rPr lang="en-US" altLang="zh-CN" sz="2000" b="1" baseline="-18000" dirty="0">
                          <a:latin typeface="Arial" panose="020B0604020202020204" pitchFamily="34" charset="0"/>
                          <a:ea typeface="宋体" panose="02010600030101010101" pitchFamily="2" charset="-122"/>
                        </a:rPr>
                        <a:t>4</a:t>
                      </a:r>
                      <a:endParaRPr lang="en-US" altLang="zh-CN" sz="2000" b="1" baseline="-18000"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v</a:t>
                      </a:r>
                      <a:r>
                        <a:rPr lang="en-US" altLang="zh-CN" sz="2000" b="1" baseline="-18000" dirty="0">
                          <a:latin typeface="Arial" panose="020B0604020202020204" pitchFamily="34" charset="0"/>
                          <a:ea typeface="宋体" panose="02010600030101010101" pitchFamily="2" charset="-122"/>
                        </a:rPr>
                        <a:t>5</a:t>
                      </a:r>
                      <a:endParaRPr lang="en-US" altLang="zh-CN" sz="2000" b="1" baseline="-18000"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v</a:t>
                      </a:r>
                      <a:r>
                        <a:rPr lang="en-US" altLang="zh-CN" sz="2000" b="1" baseline="-18000" dirty="0">
                          <a:latin typeface="Arial" panose="020B0604020202020204" pitchFamily="34" charset="0"/>
                          <a:ea typeface="宋体" panose="02010600030101010101" pitchFamily="2" charset="-122"/>
                        </a:rPr>
                        <a:t>6</a:t>
                      </a:r>
                      <a:endParaRPr lang="en-US" altLang="zh-CN" sz="2000" b="1" baseline="-18000"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v</a:t>
                      </a:r>
                      <a:r>
                        <a:rPr lang="en-US" altLang="zh-CN" sz="2000" b="1" baseline="-18000" dirty="0">
                          <a:latin typeface="Arial" panose="020B0604020202020204" pitchFamily="34" charset="0"/>
                          <a:ea typeface="宋体" panose="02010600030101010101" pitchFamily="2" charset="-122"/>
                        </a:rPr>
                        <a:t>7</a:t>
                      </a:r>
                      <a:endParaRPr lang="en-US" altLang="zh-CN" sz="2000" b="1" baseline="-18000"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algn="ct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v</a:t>
                      </a:r>
                      <a:r>
                        <a:rPr lang="en-US" altLang="zh-CN" sz="2000" b="1" baseline="-18000" dirty="0">
                          <a:latin typeface="Arial" panose="020B0604020202020204" pitchFamily="34" charset="0"/>
                          <a:ea typeface="宋体" panose="02010600030101010101" pitchFamily="2" charset="-122"/>
                        </a:rPr>
                        <a:t>8</a:t>
                      </a:r>
                      <a:endParaRPr lang="en-US" altLang="zh-CN" sz="2000" b="1" baseline="-18000"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7510">
                <a:tc>
                  <a:txBody>
                    <a:bodyPr/>
                    <a:p>
                      <a:pP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ve(i)</a:t>
                      </a:r>
                      <a:endParaRPr lang="en-US" altLang="zh-CN" sz="2000" b="1" dirty="0">
                        <a:latin typeface="Arial" panose="020B0604020202020204" pitchFamily="34"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0</a:t>
                      </a:r>
                      <a:endParaRPr lang="en-US" altLang="zh-CN" sz="2000" b="1"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3</a:t>
                      </a:r>
                      <a:endParaRPr lang="en-US" altLang="zh-CN" sz="2000" b="1"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10</a:t>
                      </a:r>
                      <a:endParaRPr lang="en-US" altLang="zh-CN" sz="2000" b="1"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12</a:t>
                      </a:r>
                      <a:endParaRPr lang="en-US" altLang="zh-CN" sz="2000" b="1"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22</a:t>
                      </a:r>
                      <a:endParaRPr lang="en-US" altLang="zh-CN" sz="2000" b="1"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17</a:t>
                      </a:r>
                      <a:endParaRPr lang="en-US" altLang="zh-CN" sz="2000" b="1"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20</a:t>
                      </a:r>
                      <a:endParaRPr lang="en-US" altLang="zh-CN" sz="2000" b="1"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28</a:t>
                      </a:r>
                      <a:endParaRPr lang="en-US" altLang="zh-CN" sz="2000" b="1"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p>
                      <a:pP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33</a:t>
                      </a:r>
                      <a:endParaRPr lang="en-US" altLang="zh-CN" sz="2000" b="1"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6240">
                <a:tc>
                  <a:txBody>
                    <a:bodyPr/>
                    <a:p>
                      <a:pP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v</a:t>
                      </a:r>
                      <a:r>
                        <a:rPr lang="en-US" altLang="zh-CN" sz="2000" b="1" i="1" dirty="0">
                          <a:latin typeface="Arial" panose="020B0604020202020204" pitchFamily="34" charset="0"/>
                          <a:ea typeface="宋体" panose="02010600030101010101" pitchFamily="2" charset="-122"/>
                        </a:rPr>
                        <a:t>l</a:t>
                      </a:r>
                      <a:r>
                        <a:rPr lang="en-US" altLang="zh-CN" sz="2000" b="1" dirty="0">
                          <a:latin typeface="Arial" panose="020B0604020202020204" pitchFamily="34" charset="0"/>
                          <a:ea typeface="宋体" panose="02010600030101010101" pitchFamily="2" charset="-122"/>
                        </a:rPr>
                        <a:t>(i)</a:t>
                      </a:r>
                      <a:endParaRPr lang="en-US" altLang="zh-CN" sz="2000" b="1" dirty="0">
                        <a:latin typeface="Arial" panose="020B0604020202020204" pitchFamily="34" charset="0"/>
                        <a:ea typeface="宋体" panose="0201060003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p>
                      <a:pP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0</a:t>
                      </a:r>
                      <a:endParaRPr lang="en-US" altLang="zh-CN" sz="2000" b="1"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p>
                      <a:pP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9</a:t>
                      </a:r>
                      <a:endParaRPr lang="en-US" altLang="zh-CN" sz="2000" b="1"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p>
                      <a:pP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10</a:t>
                      </a:r>
                      <a:endParaRPr lang="en-US" altLang="zh-CN" sz="2000" b="1"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p>
                      <a:pP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23</a:t>
                      </a:r>
                      <a:endParaRPr lang="en-US" altLang="zh-CN" sz="2000" b="1"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p>
                      <a:pP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22</a:t>
                      </a:r>
                      <a:endParaRPr lang="en-US" altLang="zh-CN" sz="2000" b="1"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p>
                      <a:pP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17</a:t>
                      </a:r>
                      <a:endParaRPr lang="en-US" altLang="zh-CN" sz="2000" b="1"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p>
                      <a:pP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31</a:t>
                      </a:r>
                      <a:endParaRPr lang="en-US" altLang="zh-CN" sz="2000" b="1"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p>
                      <a:pP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28</a:t>
                      </a:r>
                      <a:endParaRPr lang="en-US" altLang="zh-CN" sz="2000" b="1"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p>
                      <a:pPr eaLnBrk="0" hangingPunct="0">
                        <a:spcBef>
                          <a:spcPct val="20000"/>
                        </a:spcBef>
                        <a:buClr>
                          <a:schemeClr val="accent1"/>
                        </a:buClr>
                        <a:buFont typeface="Wingdings" panose="05000000000000000000" pitchFamily="2" charset="2"/>
                        <a:buNone/>
                      </a:pPr>
                      <a:r>
                        <a:rPr lang="en-US" altLang="zh-CN" sz="2000" b="1" dirty="0">
                          <a:latin typeface="Arial" panose="020B0604020202020204" pitchFamily="34" charset="0"/>
                          <a:ea typeface="宋体" panose="02010600030101010101" pitchFamily="2" charset="-122"/>
                        </a:rPr>
                        <a:t>33</a:t>
                      </a:r>
                      <a:endParaRPr lang="en-US" altLang="zh-CN" sz="2000" b="1" dirty="0">
                        <a:latin typeface="Arial" panose="020B0604020202020204" pitchFamily="34" charset="0"/>
                        <a:ea typeface="宋体" panose="0201060003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pSp>
        <p:nvGrpSpPr>
          <p:cNvPr id="5" name="Group 5"/>
          <p:cNvGrpSpPr/>
          <p:nvPr/>
        </p:nvGrpSpPr>
        <p:grpSpPr>
          <a:xfrm rot="0">
            <a:off x="6715125" y="354330"/>
            <a:ext cx="4850130" cy="2266950"/>
            <a:chOff x="0" y="0"/>
            <a:chExt cx="3055" cy="1428"/>
          </a:xfrm>
        </p:grpSpPr>
        <p:sp>
          <p:nvSpPr>
            <p:cNvPr id="6" name="Oval 6"/>
            <p:cNvSpPr/>
            <p:nvPr/>
          </p:nvSpPr>
          <p:spPr>
            <a:xfrm>
              <a:off x="24" y="720"/>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0</a:t>
              </a:r>
              <a:endParaRPr lang="en-US" altLang="zh-CN" sz="2400" baseline="-18000" dirty="0">
                <a:latin typeface="Times New Roman" panose="02020603050405020304" pitchFamily="18" charset="0"/>
                <a:ea typeface="宋体" panose="02010600030101010101" pitchFamily="2" charset="-122"/>
              </a:endParaRPr>
            </a:p>
          </p:txBody>
        </p:sp>
        <p:sp>
          <p:nvSpPr>
            <p:cNvPr id="7" name="Oval 7"/>
            <p:cNvSpPr/>
            <p:nvPr/>
          </p:nvSpPr>
          <p:spPr>
            <a:xfrm>
              <a:off x="1977" y="88"/>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6</a:t>
              </a:r>
              <a:endParaRPr lang="en-US" altLang="zh-CN" sz="2400" baseline="-18000" dirty="0">
                <a:latin typeface="Times New Roman" panose="02020603050405020304" pitchFamily="18" charset="0"/>
                <a:ea typeface="宋体" panose="02010600030101010101" pitchFamily="2" charset="-122"/>
              </a:endParaRPr>
            </a:p>
          </p:txBody>
        </p:sp>
        <p:sp>
          <p:nvSpPr>
            <p:cNvPr id="8" name="Oval 8"/>
            <p:cNvSpPr/>
            <p:nvPr/>
          </p:nvSpPr>
          <p:spPr>
            <a:xfrm>
              <a:off x="1456" y="1136"/>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5</a:t>
              </a:r>
              <a:endParaRPr lang="en-US" altLang="zh-CN" sz="2400" baseline="-18000" dirty="0">
                <a:latin typeface="Times New Roman" panose="02020603050405020304" pitchFamily="18" charset="0"/>
                <a:ea typeface="宋体" panose="02010600030101010101" pitchFamily="2" charset="-122"/>
              </a:endParaRPr>
            </a:p>
          </p:txBody>
        </p:sp>
        <p:sp>
          <p:nvSpPr>
            <p:cNvPr id="9" name="Oval 9"/>
            <p:cNvSpPr/>
            <p:nvPr/>
          </p:nvSpPr>
          <p:spPr>
            <a:xfrm>
              <a:off x="1128" y="624"/>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4</a:t>
              </a:r>
              <a:endParaRPr lang="en-US" altLang="zh-CN" sz="2400" baseline="-18000" dirty="0">
                <a:latin typeface="Times New Roman" panose="02020603050405020304" pitchFamily="18" charset="0"/>
                <a:ea typeface="宋体" panose="02010600030101010101" pitchFamily="2" charset="-122"/>
              </a:endParaRPr>
            </a:p>
          </p:txBody>
        </p:sp>
        <p:sp>
          <p:nvSpPr>
            <p:cNvPr id="10" name="Oval 10"/>
            <p:cNvSpPr/>
            <p:nvPr/>
          </p:nvSpPr>
          <p:spPr>
            <a:xfrm>
              <a:off x="1216" y="80"/>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3</a:t>
              </a:r>
              <a:endParaRPr lang="en-US" altLang="zh-CN" sz="2400" baseline="-18000" dirty="0">
                <a:latin typeface="Times New Roman" panose="02020603050405020304" pitchFamily="18" charset="0"/>
                <a:ea typeface="宋体" panose="02010600030101010101" pitchFamily="2" charset="-122"/>
              </a:endParaRPr>
            </a:p>
          </p:txBody>
        </p:sp>
        <p:sp>
          <p:nvSpPr>
            <p:cNvPr id="11" name="Oval 11"/>
            <p:cNvSpPr/>
            <p:nvPr/>
          </p:nvSpPr>
          <p:spPr>
            <a:xfrm>
              <a:off x="592" y="1104"/>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2</a:t>
              </a:r>
              <a:endParaRPr lang="en-US" altLang="zh-CN" sz="2400" baseline="-18000" dirty="0">
                <a:latin typeface="Times New Roman" panose="02020603050405020304" pitchFamily="18" charset="0"/>
                <a:ea typeface="宋体" panose="02010600030101010101" pitchFamily="2" charset="-122"/>
              </a:endParaRPr>
            </a:p>
          </p:txBody>
        </p:sp>
        <p:sp>
          <p:nvSpPr>
            <p:cNvPr id="12" name="Oval 12"/>
            <p:cNvSpPr/>
            <p:nvPr/>
          </p:nvSpPr>
          <p:spPr>
            <a:xfrm>
              <a:off x="528" y="240"/>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1</a:t>
              </a:r>
              <a:endParaRPr lang="en-US" altLang="zh-CN" sz="2400" baseline="-18000" dirty="0">
                <a:latin typeface="Times New Roman" panose="02020603050405020304" pitchFamily="18" charset="0"/>
                <a:ea typeface="宋体" panose="02010600030101010101" pitchFamily="2" charset="-122"/>
              </a:endParaRPr>
            </a:p>
          </p:txBody>
        </p:sp>
        <p:sp>
          <p:nvSpPr>
            <p:cNvPr id="13" name="Oval 13"/>
            <p:cNvSpPr/>
            <p:nvPr/>
          </p:nvSpPr>
          <p:spPr>
            <a:xfrm>
              <a:off x="1912" y="624"/>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7</a:t>
              </a:r>
              <a:endParaRPr lang="en-US" altLang="zh-CN" sz="2400" baseline="-18000" dirty="0">
                <a:latin typeface="Times New Roman" panose="02020603050405020304" pitchFamily="18" charset="0"/>
                <a:ea typeface="宋体" panose="02010600030101010101" pitchFamily="2" charset="-122"/>
              </a:endParaRPr>
            </a:p>
          </p:txBody>
        </p:sp>
        <p:sp>
          <p:nvSpPr>
            <p:cNvPr id="14" name="Oval 14"/>
            <p:cNvSpPr/>
            <p:nvPr/>
          </p:nvSpPr>
          <p:spPr>
            <a:xfrm>
              <a:off x="2760" y="624"/>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8</a:t>
              </a:r>
              <a:endParaRPr lang="en-US" altLang="zh-CN" sz="2400" baseline="-18000" dirty="0">
                <a:latin typeface="Times New Roman" panose="02020603050405020304" pitchFamily="18" charset="0"/>
                <a:ea typeface="宋体" panose="02010600030101010101" pitchFamily="2" charset="-122"/>
              </a:endParaRPr>
            </a:p>
          </p:txBody>
        </p:sp>
        <p:grpSp>
          <p:nvGrpSpPr>
            <p:cNvPr id="15" name="Group 15"/>
            <p:cNvGrpSpPr/>
            <p:nvPr/>
          </p:nvGrpSpPr>
          <p:grpSpPr>
            <a:xfrm>
              <a:off x="0" y="432"/>
              <a:ext cx="600" cy="288"/>
              <a:chOff x="0" y="0"/>
              <a:chExt cx="600" cy="288"/>
            </a:xfrm>
          </p:grpSpPr>
          <p:sp>
            <p:nvSpPr>
              <p:cNvPr id="16" name="Rectangle 16"/>
              <p:cNvSpPr/>
              <p:nvPr/>
            </p:nvSpPr>
            <p:spPr>
              <a:xfrm>
                <a:off x="0" y="0"/>
                <a:ext cx="453"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a1=3</a:t>
                </a:r>
                <a:endParaRPr lang="en-US" altLang="zh-CN" sz="2000" dirty="0">
                  <a:latin typeface="Times New Roman" panose="02020603050405020304" pitchFamily="18" charset="0"/>
                  <a:ea typeface="宋体" panose="02010600030101010101" pitchFamily="2" charset="-122"/>
                </a:endParaRPr>
              </a:p>
            </p:txBody>
          </p:sp>
          <p:sp>
            <p:nvSpPr>
              <p:cNvPr id="17" name="Line 17"/>
              <p:cNvSpPr/>
              <p:nvPr/>
            </p:nvSpPr>
            <p:spPr>
              <a:xfrm flipV="1">
                <a:off x="216" y="0"/>
                <a:ext cx="384" cy="288"/>
              </a:xfrm>
              <a:prstGeom prst="line">
                <a:avLst/>
              </a:prstGeom>
              <a:ln w="19050" cap="flat" cmpd="sng">
                <a:solidFill>
                  <a:schemeClr val="tx1"/>
                </a:solidFill>
                <a:prstDash val="solid"/>
                <a:round/>
                <a:headEnd type="none" w="med" len="med"/>
                <a:tailEnd type="triangle" w="med" len="med"/>
              </a:ln>
            </p:spPr>
          </p:sp>
        </p:grpSp>
        <p:grpSp>
          <p:nvGrpSpPr>
            <p:cNvPr id="18" name="Group 18"/>
            <p:cNvGrpSpPr/>
            <p:nvPr/>
          </p:nvGrpSpPr>
          <p:grpSpPr>
            <a:xfrm>
              <a:off x="216" y="852"/>
              <a:ext cx="528" cy="332"/>
              <a:chOff x="0" y="0"/>
              <a:chExt cx="528" cy="332"/>
            </a:xfrm>
          </p:grpSpPr>
          <p:sp>
            <p:nvSpPr>
              <p:cNvPr id="19" name="Rectangle 19"/>
              <p:cNvSpPr/>
              <p:nvPr/>
            </p:nvSpPr>
            <p:spPr>
              <a:xfrm>
                <a:off x="75" y="0"/>
                <a:ext cx="453"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a2=10</a:t>
                </a:r>
                <a:endParaRPr lang="en-US" altLang="zh-CN" sz="2000" dirty="0">
                  <a:latin typeface="Times New Roman" panose="02020603050405020304" pitchFamily="18" charset="0"/>
                  <a:ea typeface="宋体" panose="02010600030101010101" pitchFamily="2" charset="-122"/>
                </a:endParaRPr>
              </a:p>
            </p:txBody>
          </p:sp>
          <p:sp>
            <p:nvSpPr>
              <p:cNvPr id="20" name="Line 20"/>
              <p:cNvSpPr/>
              <p:nvPr/>
            </p:nvSpPr>
            <p:spPr>
              <a:xfrm>
                <a:off x="0" y="92"/>
                <a:ext cx="384" cy="240"/>
              </a:xfrm>
              <a:prstGeom prst="line">
                <a:avLst/>
              </a:prstGeom>
              <a:ln w="19050" cap="flat" cmpd="sng">
                <a:solidFill>
                  <a:schemeClr val="tx1"/>
                </a:solidFill>
                <a:prstDash val="solid"/>
                <a:round/>
                <a:headEnd type="none" w="med" len="med"/>
                <a:tailEnd type="triangle" w="med" len="med"/>
              </a:ln>
            </p:spPr>
          </p:sp>
        </p:grpSp>
        <p:grpSp>
          <p:nvGrpSpPr>
            <p:cNvPr id="21" name="Group 21"/>
            <p:cNvGrpSpPr/>
            <p:nvPr/>
          </p:nvGrpSpPr>
          <p:grpSpPr>
            <a:xfrm>
              <a:off x="744" y="48"/>
              <a:ext cx="480" cy="240"/>
              <a:chOff x="0" y="0"/>
              <a:chExt cx="480" cy="240"/>
            </a:xfrm>
          </p:grpSpPr>
          <p:sp>
            <p:nvSpPr>
              <p:cNvPr id="22" name="Rectangle 22"/>
              <p:cNvSpPr/>
              <p:nvPr/>
            </p:nvSpPr>
            <p:spPr>
              <a:xfrm>
                <a:off x="0" y="0"/>
                <a:ext cx="408"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a3=9</a:t>
                </a:r>
                <a:endParaRPr lang="en-US" altLang="zh-CN" sz="2000" dirty="0">
                  <a:latin typeface="Times New Roman" panose="02020603050405020304" pitchFamily="18" charset="0"/>
                  <a:ea typeface="宋体" panose="02010600030101010101" pitchFamily="2" charset="-122"/>
                </a:endParaRPr>
              </a:p>
            </p:txBody>
          </p:sp>
          <p:sp>
            <p:nvSpPr>
              <p:cNvPr id="23" name="Line 23"/>
              <p:cNvSpPr/>
              <p:nvPr/>
            </p:nvSpPr>
            <p:spPr>
              <a:xfrm flipV="1">
                <a:off x="48" y="144"/>
                <a:ext cx="432" cy="96"/>
              </a:xfrm>
              <a:prstGeom prst="line">
                <a:avLst/>
              </a:prstGeom>
              <a:ln w="19050" cap="flat" cmpd="sng">
                <a:solidFill>
                  <a:schemeClr val="tx1"/>
                </a:solidFill>
                <a:prstDash val="solid"/>
                <a:round/>
                <a:headEnd type="none" w="med" len="med"/>
                <a:tailEnd type="triangle" w="med" len="med"/>
              </a:ln>
            </p:spPr>
          </p:sp>
        </p:grpSp>
        <p:grpSp>
          <p:nvGrpSpPr>
            <p:cNvPr id="24" name="Group 24"/>
            <p:cNvGrpSpPr/>
            <p:nvPr/>
          </p:nvGrpSpPr>
          <p:grpSpPr>
            <a:xfrm>
              <a:off x="792" y="336"/>
              <a:ext cx="528" cy="332"/>
              <a:chOff x="0" y="0"/>
              <a:chExt cx="528" cy="332"/>
            </a:xfrm>
          </p:grpSpPr>
          <p:sp>
            <p:nvSpPr>
              <p:cNvPr id="25" name="Rectangle 25"/>
              <p:cNvSpPr/>
              <p:nvPr/>
            </p:nvSpPr>
            <p:spPr>
              <a:xfrm>
                <a:off x="75" y="0"/>
                <a:ext cx="453"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a4=13</a:t>
                </a:r>
                <a:endParaRPr lang="en-US" altLang="zh-CN" sz="2000" dirty="0">
                  <a:latin typeface="Times New Roman" panose="02020603050405020304" pitchFamily="18" charset="0"/>
                  <a:ea typeface="宋体" panose="02010600030101010101" pitchFamily="2" charset="-122"/>
                </a:endParaRPr>
              </a:p>
            </p:txBody>
          </p:sp>
          <p:sp>
            <p:nvSpPr>
              <p:cNvPr id="26" name="Line 26"/>
              <p:cNvSpPr/>
              <p:nvPr/>
            </p:nvSpPr>
            <p:spPr>
              <a:xfrm>
                <a:off x="0" y="92"/>
                <a:ext cx="384" cy="240"/>
              </a:xfrm>
              <a:prstGeom prst="line">
                <a:avLst/>
              </a:prstGeom>
              <a:ln w="19050" cap="flat" cmpd="sng">
                <a:solidFill>
                  <a:schemeClr val="tx1"/>
                </a:solidFill>
                <a:prstDash val="solid"/>
                <a:round/>
                <a:headEnd type="none" w="med" len="med"/>
                <a:tailEnd type="triangle" w="med" len="med"/>
              </a:ln>
            </p:spPr>
          </p:sp>
        </p:grpSp>
        <p:grpSp>
          <p:nvGrpSpPr>
            <p:cNvPr id="27" name="Group 27"/>
            <p:cNvGrpSpPr/>
            <p:nvPr/>
          </p:nvGrpSpPr>
          <p:grpSpPr>
            <a:xfrm>
              <a:off x="808" y="816"/>
              <a:ext cx="533" cy="320"/>
              <a:chOff x="0" y="0"/>
              <a:chExt cx="533" cy="320"/>
            </a:xfrm>
          </p:grpSpPr>
          <p:sp>
            <p:nvSpPr>
              <p:cNvPr id="28" name="Rectangle 28"/>
              <p:cNvSpPr/>
              <p:nvPr/>
            </p:nvSpPr>
            <p:spPr>
              <a:xfrm>
                <a:off x="80" y="116"/>
                <a:ext cx="453"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a5=12</a:t>
                </a:r>
                <a:endParaRPr lang="en-US" altLang="zh-CN" sz="2000" dirty="0">
                  <a:latin typeface="Times New Roman" panose="02020603050405020304" pitchFamily="18" charset="0"/>
                  <a:ea typeface="宋体" panose="02010600030101010101" pitchFamily="2" charset="-122"/>
                </a:endParaRPr>
              </a:p>
            </p:txBody>
          </p:sp>
          <p:sp>
            <p:nvSpPr>
              <p:cNvPr id="29" name="Line 29"/>
              <p:cNvSpPr/>
              <p:nvPr/>
            </p:nvSpPr>
            <p:spPr>
              <a:xfrm flipV="1">
                <a:off x="0" y="0"/>
                <a:ext cx="384" cy="288"/>
              </a:xfrm>
              <a:prstGeom prst="line">
                <a:avLst/>
              </a:prstGeom>
              <a:ln w="19050" cap="flat" cmpd="sng">
                <a:solidFill>
                  <a:schemeClr val="tx1"/>
                </a:solidFill>
                <a:prstDash val="solid"/>
                <a:round/>
                <a:headEnd type="none" w="med" len="med"/>
                <a:tailEnd type="triangle" w="med" len="med"/>
              </a:ln>
            </p:spPr>
          </p:sp>
        </p:grpSp>
        <p:grpSp>
          <p:nvGrpSpPr>
            <p:cNvPr id="30" name="Group 30"/>
            <p:cNvGrpSpPr/>
            <p:nvPr/>
          </p:nvGrpSpPr>
          <p:grpSpPr>
            <a:xfrm>
              <a:off x="888" y="1224"/>
              <a:ext cx="576" cy="204"/>
              <a:chOff x="0" y="0"/>
              <a:chExt cx="576" cy="204"/>
            </a:xfrm>
          </p:grpSpPr>
          <p:sp>
            <p:nvSpPr>
              <p:cNvPr id="31" name="Rectangle 31"/>
              <p:cNvSpPr/>
              <p:nvPr/>
            </p:nvSpPr>
            <p:spPr>
              <a:xfrm>
                <a:off x="72" y="0"/>
                <a:ext cx="408"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a6=7</a:t>
                </a:r>
                <a:endParaRPr lang="en-US" altLang="zh-CN" sz="2000" dirty="0">
                  <a:latin typeface="Times New Roman" panose="02020603050405020304" pitchFamily="18" charset="0"/>
                  <a:ea typeface="宋体" panose="02010600030101010101" pitchFamily="2" charset="-122"/>
                </a:endParaRPr>
              </a:p>
            </p:txBody>
          </p:sp>
          <p:sp>
            <p:nvSpPr>
              <p:cNvPr id="32" name="Line 32"/>
              <p:cNvSpPr/>
              <p:nvPr/>
            </p:nvSpPr>
            <p:spPr>
              <a:xfrm>
                <a:off x="0" y="24"/>
                <a:ext cx="576" cy="0"/>
              </a:xfrm>
              <a:prstGeom prst="line">
                <a:avLst/>
              </a:prstGeom>
              <a:ln w="19050" cap="flat" cmpd="sng">
                <a:solidFill>
                  <a:schemeClr val="tx1"/>
                </a:solidFill>
                <a:prstDash val="solid"/>
                <a:round/>
                <a:headEnd type="none" w="med" len="med"/>
                <a:tailEnd type="triangle" w="med" len="med"/>
              </a:ln>
            </p:spPr>
          </p:sp>
        </p:grpSp>
        <p:grpSp>
          <p:nvGrpSpPr>
            <p:cNvPr id="33" name="Group 33"/>
            <p:cNvGrpSpPr/>
            <p:nvPr/>
          </p:nvGrpSpPr>
          <p:grpSpPr>
            <a:xfrm>
              <a:off x="1512" y="0"/>
              <a:ext cx="480" cy="204"/>
              <a:chOff x="0" y="0"/>
              <a:chExt cx="480" cy="204"/>
            </a:xfrm>
          </p:grpSpPr>
          <p:sp>
            <p:nvSpPr>
              <p:cNvPr id="34" name="Rectangle 34"/>
              <p:cNvSpPr/>
              <p:nvPr/>
            </p:nvSpPr>
            <p:spPr>
              <a:xfrm>
                <a:off x="0" y="0"/>
                <a:ext cx="408"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a7=8</a:t>
                </a:r>
                <a:endParaRPr lang="en-US" altLang="zh-CN" sz="2000" dirty="0">
                  <a:latin typeface="Times New Roman" panose="02020603050405020304" pitchFamily="18" charset="0"/>
                  <a:ea typeface="宋体" panose="02010600030101010101" pitchFamily="2" charset="-122"/>
                </a:endParaRPr>
              </a:p>
            </p:txBody>
          </p:sp>
          <p:sp>
            <p:nvSpPr>
              <p:cNvPr id="35" name="Line 35"/>
              <p:cNvSpPr/>
              <p:nvPr/>
            </p:nvSpPr>
            <p:spPr>
              <a:xfrm>
                <a:off x="0" y="192"/>
                <a:ext cx="480" cy="0"/>
              </a:xfrm>
              <a:prstGeom prst="line">
                <a:avLst/>
              </a:prstGeom>
              <a:ln w="19050" cap="flat" cmpd="sng">
                <a:solidFill>
                  <a:schemeClr val="tx1"/>
                </a:solidFill>
                <a:prstDash val="solid"/>
                <a:round/>
                <a:headEnd type="none" w="med" len="med"/>
                <a:tailEnd type="triangle" w="med" len="med"/>
              </a:ln>
            </p:spPr>
          </p:sp>
        </p:grpSp>
        <p:grpSp>
          <p:nvGrpSpPr>
            <p:cNvPr id="36" name="Group 36"/>
            <p:cNvGrpSpPr/>
            <p:nvPr/>
          </p:nvGrpSpPr>
          <p:grpSpPr>
            <a:xfrm>
              <a:off x="1432" y="540"/>
              <a:ext cx="480" cy="204"/>
              <a:chOff x="0" y="0"/>
              <a:chExt cx="480" cy="204"/>
            </a:xfrm>
          </p:grpSpPr>
          <p:sp>
            <p:nvSpPr>
              <p:cNvPr id="37" name="Rectangle 37"/>
              <p:cNvSpPr/>
              <p:nvPr/>
            </p:nvSpPr>
            <p:spPr>
              <a:xfrm>
                <a:off x="0" y="0"/>
                <a:ext cx="408"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a9=6</a:t>
                </a:r>
                <a:endParaRPr lang="en-US" altLang="zh-CN" sz="2000" dirty="0">
                  <a:latin typeface="Times New Roman" panose="02020603050405020304" pitchFamily="18" charset="0"/>
                  <a:ea typeface="宋体" panose="02010600030101010101" pitchFamily="2" charset="-122"/>
                </a:endParaRPr>
              </a:p>
            </p:txBody>
          </p:sp>
          <p:sp>
            <p:nvSpPr>
              <p:cNvPr id="38" name="Line 38"/>
              <p:cNvSpPr/>
              <p:nvPr/>
            </p:nvSpPr>
            <p:spPr>
              <a:xfrm>
                <a:off x="0" y="192"/>
                <a:ext cx="480" cy="0"/>
              </a:xfrm>
              <a:prstGeom prst="line">
                <a:avLst/>
              </a:prstGeom>
              <a:ln w="19050" cap="flat" cmpd="sng">
                <a:solidFill>
                  <a:schemeClr val="tx1"/>
                </a:solidFill>
                <a:prstDash val="solid"/>
                <a:round/>
                <a:headEnd type="none" w="med" len="med"/>
                <a:tailEnd type="triangle" w="med" len="med"/>
              </a:ln>
            </p:spPr>
          </p:sp>
        </p:grpSp>
        <p:grpSp>
          <p:nvGrpSpPr>
            <p:cNvPr id="39" name="Group 39"/>
            <p:cNvGrpSpPr/>
            <p:nvPr/>
          </p:nvGrpSpPr>
          <p:grpSpPr>
            <a:xfrm>
              <a:off x="1651" y="848"/>
              <a:ext cx="581" cy="304"/>
              <a:chOff x="0" y="0"/>
              <a:chExt cx="581" cy="304"/>
            </a:xfrm>
          </p:grpSpPr>
          <p:sp>
            <p:nvSpPr>
              <p:cNvPr id="40" name="Rectangle 40"/>
              <p:cNvSpPr/>
              <p:nvPr/>
            </p:nvSpPr>
            <p:spPr>
              <a:xfrm>
                <a:off x="105" y="100"/>
                <a:ext cx="476"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a10=11</a:t>
                </a:r>
                <a:endParaRPr lang="en-US" altLang="zh-CN" sz="2000" dirty="0">
                  <a:latin typeface="Times New Roman" panose="02020603050405020304" pitchFamily="18" charset="0"/>
                  <a:ea typeface="宋体" panose="02010600030101010101" pitchFamily="2" charset="-122"/>
                </a:endParaRPr>
              </a:p>
            </p:txBody>
          </p:sp>
          <p:sp>
            <p:nvSpPr>
              <p:cNvPr id="41" name="Line 41"/>
              <p:cNvSpPr/>
              <p:nvPr/>
            </p:nvSpPr>
            <p:spPr>
              <a:xfrm flipV="1">
                <a:off x="0" y="0"/>
                <a:ext cx="384" cy="288"/>
              </a:xfrm>
              <a:prstGeom prst="line">
                <a:avLst/>
              </a:prstGeom>
              <a:ln w="19050" cap="flat" cmpd="sng">
                <a:solidFill>
                  <a:schemeClr val="tx1"/>
                </a:solidFill>
                <a:prstDash val="solid"/>
                <a:round/>
                <a:headEnd type="none" w="med" len="med"/>
                <a:tailEnd type="triangle" w="med" len="med"/>
              </a:ln>
            </p:spPr>
          </p:sp>
        </p:grpSp>
        <p:grpSp>
          <p:nvGrpSpPr>
            <p:cNvPr id="42" name="Group 42"/>
            <p:cNvGrpSpPr/>
            <p:nvPr/>
          </p:nvGrpSpPr>
          <p:grpSpPr>
            <a:xfrm>
              <a:off x="2208" y="544"/>
              <a:ext cx="544" cy="204"/>
              <a:chOff x="0" y="0"/>
              <a:chExt cx="544" cy="204"/>
            </a:xfrm>
          </p:grpSpPr>
          <p:sp>
            <p:nvSpPr>
              <p:cNvPr id="43" name="Rectangle 43"/>
              <p:cNvSpPr/>
              <p:nvPr/>
            </p:nvSpPr>
            <p:spPr>
              <a:xfrm>
                <a:off x="0" y="0"/>
                <a:ext cx="453"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a12=5</a:t>
                </a:r>
                <a:endParaRPr lang="en-US" altLang="zh-CN" sz="2000" dirty="0">
                  <a:latin typeface="Times New Roman" panose="02020603050405020304" pitchFamily="18" charset="0"/>
                  <a:ea typeface="宋体" panose="02010600030101010101" pitchFamily="2" charset="-122"/>
                </a:endParaRPr>
              </a:p>
            </p:txBody>
          </p:sp>
          <p:sp>
            <p:nvSpPr>
              <p:cNvPr id="44" name="Line 44"/>
              <p:cNvSpPr/>
              <p:nvPr/>
            </p:nvSpPr>
            <p:spPr>
              <a:xfrm>
                <a:off x="0" y="192"/>
                <a:ext cx="544" cy="0"/>
              </a:xfrm>
              <a:prstGeom prst="line">
                <a:avLst/>
              </a:prstGeom>
              <a:ln w="19050" cap="flat" cmpd="sng">
                <a:solidFill>
                  <a:schemeClr val="tx1"/>
                </a:solidFill>
                <a:prstDash val="solid"/>
                <a:round/>
                <a:headEnd type="none" w="med" len="med"/>
                <a:tailEnd type="triangle" w="med" len="med"/>
              </a:ln>
            </p:spPr>
          </p:sp>
        </p:grpSp>
        <p:grpSp>
          <p:nvGrpSpPr>
            <p:cNvPr id="45" name="Group 45"/>
            <p:cNvGrpSpPr/>
            <p:nvPr/>
          </p:nvGrpSpPr>
          <p:grpSpPr>
            <a:xfrm>
              <a:off x="1464" y="288"/>
              <a:ext cx="672" cy="336"/>
              <a:chOff x="0" y="0"/>
              <a:chExt cx="672" cy="336"/>
            </a:xfrm>
          </p:grpSpPr>
          <p:sp>
            <p:nvSpPr>
              <p:cNvPr id="46" name="Rectangle 46"/>
              <p:cNvSpPr/>
              <p:nvPr/>
            </p:nvSpPr>
            <p:spPr>
              <a:xfrm>
                <a:off x="264" y="8"/>
                <a:ext cx="408"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a8=4</a:t>
                </a:r>
                <a:endParaRPr lang="en-US" altLang="zh-CN" sz="2000" dirty="0">
                  <a:latin typeface="Times New Roman" panose="02020603050405020304" pitchFamily="18" charset="0"/>
                  <a:ea typeface="宋体" panose="02010600030101010101" pitchFamily="2" charset="-122"/>
                </a:endParaRPr>
              </a:p>
            </p:txBody>
          </p:sp>
          <p:sp>
            <p:nvSpPr>
              <p:cNvPr id="47" name="Line 47"/>
              <p:cNvSpPr/>
              <p:nvPr/>
            </p:nvSpPr>
            <p:spPr>
              <a:xfrm>
                <a:off x="0" y="0"/>
                <a:ext cx="576" cy="336"/>
              </a:xfrm>
              <a:prstGeom prst="line">
                <a:avLst/>
              </a:prstGeom>
              <a:ln w="19050" cap="flat" cmpd="sng">
                <a:solidFill>
                  <a:schemeClr val="tx1"/>
                </a:solidFill>
                <a:prstDash val="solid"/>
                <a:round/>
                <a:headEnd type="none" w="med" len="med"/>
                <a:tailEnd type="triangle" w="med" len="med"/>
              </a:ln>
            </p:spPr>
          </p:sp>
        </p:grpSp>
        <p:grpSp>
          <p:nvGrpSpPr>
            <p:cNvPr id="48" name="Group 48"/>
            <p:cNvGrpSpPr/>
            <p:nvPr/>
          </p:nvGrpSpPr>
          <p:grpSpPr>
            <a:xfrm>
              <a:off x="2256" y="248"/>
              <a:ext cx="693" cy="376"/>
              <a:chOff x="0" y="0"/>
              <a:chExt cx="693" cy="376"/>
            </a:xfrm>
          </p:grpSpPr>
          <p:sp>
            <p:nvSpPr>
              <p:cNvPr id="49" name="Rectangle 49"/>
              <p:cNvSpPr/>
              <p:nvPr/>
            </p:nvSpPr>
            <p:spPr>
              <a:xfrm>
                <a:off x="240" y="0"/>
                <a:ext cx="453"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a11=2</a:t>
                </a:r>
                <a:endParaRPr lang="en-US" altLang="zh-CN" sz="2000" dirty="0">
                  <a:latin typeface="Times New Roman" panose="02020603050405020304" pitchFamily="18" charset="0"/>
                  <a:ea typeface="宋体" panose="02010600030101010101" pitchFamily="2" charset="-122"/>
                </a:endParaRPr>
              </a:p>
            </p:txBody>
          </p:sp>
          <p:sp>
            <p:nvSpPr>
              <p:cNvPr id="50" name="Line 50"/>
              <p:cNvSpPr/>
              <p:nvPr/>
            </p:nvSpPr>
            <p:spPr>
              <a:xfrm>
                <a:off x="0" y="0"/>
                <a:ext cx="616" cy="376"/>
              </a:xfrm>
              <a:prstGeom prst="line">
                <a:avLst/>
              </a:prstGeom>
              <a:ln w="19050" cap="flat" cmpd="sng">
                <a:solidFill>
                  <a:schemeClr val="tx1"/>
                </a:solidFill>
                <a:prstDash val="solid"/>
                <a:round/>
                <a:headEnd type="none" w="med" len="med"/>
                <a:tailEnd type="triangle" w="med" len="med"/>
              </a:ln>
            </p:spPr>
          </p:sp>
        </p:grpSp>
      </p:gr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4773930"/>
          </a:xfrm>
        </p:spPr>
        <p:txBody>
          <a:bodyPr/>
          <a:p>
            <a:pPr marL="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用AOE网估算工程完成时间是非常有用的</a:t>
            </a:r>
            <a:endParaRPr kumimoji="0" lang="zh-CN" altLang="zh-CN"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如果只有一条关键路径，可以提高几条关键活动的速度来缩短工期</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如果有多条关键路径，要同时提高多条关键路径速度</a:t>
            </a:r>
            <a:endParaRPr kumimoji="0" lang="zh-CN" altLang="en-US" sz="2400" i="0" u="none" strike="noStrike" kern="0" cap="none" spc="0" normalizeH="0" baseline="0" noProof="1" dirty="0">
              <a:solidFill>
                <a:schemeClr val="tx1"/>
              </a:solidFill>
              <a:latin typeface="黑体" panose="02010609060101010101" pitchFamily="2" charset="-122"/>
              <a:ea typeface="黑体" panose="02010609060101010101" pitchFamily="2" charset="-122"/>
              <a:cs typeface="+mn-ea"/>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4773930"/>
          </a:xfrm>
        </p:spPr>
        <p:txBody>
          <a:bodyPr/>
          <a:p>
            <a:pPr marL="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求关键路径的算法实现</a:t>
            </a:r>
            <a:endParaRPr kumimoji="0" lang="zh-CN" altLang="zh-CN" sz="2800"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基于拓扑排序算法，从起点到终点，计算所有顶点</a:t>
            </a:r>
            <a:r>
              <a:rPr lang="en-US" altLang="zh-CN" sz="2400" dirty="0">
                <a:latin typeface="黑体" panose="02010609060101010101" pitchFamily="2" charset="-122"/>
                <a:ea typeface="黑体" panose="02010609060101010101" pitchFamily="2" charset="-122"/>
                <a:cs typeface="+mn-ea"/>
                <a:sym typeface="+mn-ea"/>
              </a:rPr>
              <a:t>ve</a:t>
            </a:r>
            <a:r>
              <a:rPr lang="zh-CN" altLang="en-US" sz="2400" dirty="0">
                <a:latin typeface="黑体" panose="02010609060101010101" pitchFamily="2" charset="-122"/>
                <a:ea typeface="黑体" panose="02010609060101010101" pitchFamily="2" charset="-122"/>
                <a:cs typeface="+mn-ea"/>
                <a:sym typeface="+mn-ea"/>
              </a:rPr>
              <a:t>，拓扑排序序列结果保存在栈中</a:t>
            </a:r>
            <a:endParaRPr lang="en-US" altLang="zh-CN"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再把栈的结果输出，即做拓扑逆序，从终点到起点，计算所有顶点</a:t>
            </a:r>
            <a:r>
              <a:rPr lang="en-US" altLang="zh-CN" sz="2400" dirty="0">
                <a:latin typeface="黑体" panose="02010609060101010101" pitchFamily="2" charset="-122"/>
                <a:ea typeface="黑体" panose="02010609060101010101" pitchFamily="2" charset="-122"/>
                <a:cs typeface="+mn-ea"/>
                <a:sym typeface="+mn-ea"/>
              </a:rPr>
              <a:t>vl</a:t>
            </a:r>
            <a:endParaRPr lang="en-US" altLang="zh-CN"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最终找出关键</a:t>
            </a:r>
            <a:r>
              <a:rPr lang="zh-CN" altLang="en-US" sz="2400" dirty="0">
                <a:latin typeface="黑体" panose="02010609060101010101" pitchFamily="2" charset="-122"/>
                <a:ea typeface="黑体" panose="02010609060101010101" pitchFamily="2" charset="-122"/>
                <a:cs typeface="+mn-ea"/>
                <a:sym typeface="+mn-ea"/>
              </a:rPr>
              <a:t>活动</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课本算法</a:t>
            </a:r>
            <a:r>
              <a:rPr lang="en-US" altLang="zh-CN" sz="2400" dirty="0">
                <a:latin typeface="黑体" panose="02010609060101010101" pitchFamily="2" charset="-122"/>
                <a:ea typeface="黑体" panose="02010609060101010101" pitchFamily="2" charset="-122"/>
                <a:cs typeface="+mn-ea"/>
                <a:sym typeface="+mn-ea"/>
              </a:rPr>
              <a:t>7.13+7.14</a:t>
            </a:r>
            <a:endParaRPr lang="en-US" altLang="zh-CN"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4773930"/>
          </a:xfrm>
        </p:spPr>
        <p:txBody>
          <a:bodyPr/>
          <a:p>
            <a:pPr marL="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dirty="0">
                <a:latin typeface="黑体" panose="02010609060101010101" pitchFamily="2" charset="-122"/>
                <a:ea typeface="黑体" panose="02010609060101010101" pitchFamily="2" charset="-122"/>
                <a:cs typeface="黑体" panose="02010609060101010101" pitchFamily="2" charset="-122"/>
                <a:sym typeface="+mn-ea"/>
              </a:rPr>
              <a:t>求关键路径的算法实现，算法</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7.13</a:t>
            </a:r>
            <a:endParaRPr kumimoji="0" lang="zh-CN" altLang="zh-CN"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000" dirty="0">
                <a:latin typeface="黑体" panose="02010609060101010101" pitchFamily="2" charset="-122"/>
                <a:ea typeface="黑体" panose="02010609060101010101" pitchFamily="2" charset="-122"/>
                <a:cs typeface="+mn-ea"/>
                <a:sym typeface="+mn-ea"/>
              </a:rPr>
              <a:t>基于邻接表</a:t>
            </a:r>
            <a:r>
              <a:rPr lang="en-US" altLang="zh-CN" sz="2000" dirty="0">
                <a:latin typeface="黑体" panose="02010609060101010101" pitchFamily="2" charset="-122"/>
                <a:ea typeface="黑体" panose="02010609060101010101" pitchFamily="2" charset="-122"/>
                <a:cs typeface="+mn-ea"/>
                <a:sym typeface="+mn-ea"/>
              </a:rPr>
              <a:t>+</a:t>
            </a:r>
            <a:r>
              <a:rPr lang="zh-CN" altLang="en-US" sz="2000" dirty="0">
                <a:latin typeface="黑体" panose="02010609060101010101" pitchFamily="2" charset="-122"/>
                <a:ea typeface="黑体" panose="02010609060101010101" pitchFamily="2" charset="-122"/>
                <a:cs typeface="+mn-ea"/>
                <a:sym typeface="+mn-ea"/>
              </a:rPr>
              <a:t>拓扑排序算法，从起点到终点计算所有顶点</a:t>
            </a:r>
            <a:r>
              <a:rPr lang="en-US" altLang="zh-CN" sz="2000" dirty="0">
                <a:latin typeface="黑体" panose="02010609060101010101" pitchFamily="2" charset="-122"/>
                <a:ea typeface="黑体" panose="02010609060101010101" pitchFamily="2" charset="-122"/>
                <a:cs typeface="+mn-ea"/>
                <a:sym typeface="+mn-ea"/>
              </a:rPr>
              <a:t>ve</a:t>
            </a:r>
            <a:r>
              <a:rPr lang="zh-CN" altLang="en-US" sz="2000" dirty="0">
                <a:latin typeface="黑体" panose="02010609060101010101" pitchFamily="2" charset="-122"/>
                <a:ea typeface="黑体" panose="02010609060101010101" pitchFamily="2" charset="-122"/>
                <a:cs typeface="+mn-ea"/>
                <a:sym typeface="+mn-ea"/>
              </a:rPr>
              <a:t>，排序结果保存在栈中</a:t>
            </a:r>
            <a:endParaRPr lang="zh-CN" altLang="en-US" sz="20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7" name="对象 6"/>
          <p:cNvGraphicFramePr/>
          <p:nvPr/>
        </p:nvGraphicFramePr>
        <p:xfrm>
          <a:off x="1559560" y="1772920"/>
          <a:ext cx="8047990" cy="4699000"/>
        </p:xfrm>
        <a:graphic>
          <a:graphicData uri="http://schemas.openxmlformats.org/presentationml/2006/ole">
            <mc:AlternateContent xmlns:mc="http://schemas.openxmlformats.org/markup-compatibility/2006">
              <mc:Choice xmlns:v="urn:schemas-microsoft-com:vml" Requires="v">
                <p:oleObj spid="_x0000_s8" name="" r:id="rId1" imgW="6229350" imgH="3686175" progId="Paint.Picture">
                  <p:embed/>
                </p:oleObj>
              </mc:Choice>
              <mc:Fallback>
                <p:oleObj name="" r:id="rId1" imgW="6229350" imgH="3686175" progId="Paint.Picture">
                  <p:embed/>
                  <p:pic>
                    <p:nvPicPr>
                      <p:cNvPr id="0" name="图片 7"/>
                      <p:cNvPicPr/>
                      <p:nvPr/>
                    </p:nvPicPr>
                    <p:blipFill>
                      <a:blip r:embed="rId2"/>
                      <a:stretch>
                        <a:fillRect/>
                      </a:stretch>
                    </p:blipFill>
                    <p:spPr>
                      <a:xfrm>
                        <a:off x="1559560" y="1772920"/>
                        <a:ext cx="8047990" cy="4699000"/>
                      </a:xfrm>
                      <a:prstGeom prst="rect">
                        <a:avLst/>
                      </a:prstGeom>
                    </p:spPr>
                  </p:pic>
                </p:oleObj>
              </mc:Fallback>
            </mc:AlternateContent>
          </a:graphicData>
        </a:graphic>
      </p:graphicFrame>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4773930"/>
          </a:xfrm>
        </p:spPr>
        <p:txBody>
          <a:bodyPr/>
          <a:p>
            <a:pPr marL="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dirty="0">
                <a:latin typeface="黑体" panose="02010609060101010101" pitchFamily="2" charset="-122"/>
                <a:ea typeface="黑体" panose="02010609060101010101" pitchFamily="2" charset="-122"/>
                <a:cs typeface="黑体" panose="02010609060101010101" pitchFamily="2" charset="-122"/>
                <a:sym typeface="+mn-ea"/>
              </a:rPr>
              <a:t>求关键路径的算法实现，算法</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7.14</a:t>
            </a:r>
            <a:endParaRPr kumimoji="0" lang="zh-CN" altLang="zh-CN" i="0" u="none" strike="noStrike" kern="0" cap="none" spc="0" normalizeH="0" baseline="0" noProof="1"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sz="2000" dirty="0">
                <a:latin typeface="黑体" panose="02010609060101010101" pitchFamily="2" charset="-122"/>
                <a:ea typeface="黑体" panose="02010609060101010101" pitchFamily="2" charset="-122"/>
                <a:cs typeface="+mn-ea"/>
                <a:sym typeface="+mn-ea"/>
              </a:rPr>
              <a:t>根据栈的结果做拓扑逆序，从终点到起点，计算所有顶点</a:t>
            </a:r>
            <a:r>
              <a:rPr lang="en-US" altLang="zh-CN" sz="2000" dirty="0">
                <a:latin typeface="黑体" panose="02010609060101010101" pitchFamily="2" charset="-122"/>
                <a:ea typeface="黑体" panose="02010609060101010101" pitchFamily="2" charset="-122"/>
                <a:cs typeface="+mn-ea"/>
                <a:sym typeface="+mn-ea"/>
              </a:rPr>
              <a:t>vl</a:t>
            </a:r>
            <a:r>
              <a:rPr lang="zh-CN" altLang="en-US" sz="2000" dirty="0">
                <a:latin typeface="黑体" panose="02010609060101010101" pitchFamily="2" charset="-122"/>
                <a:ea typeface="黑体" panose="02010609060101010101" pitchFamily="2" charset="-122"/>
                <a:cs typeface="+mn-ea"/>
                <a:sym typeface="+mn-ea"/>
              </a:rPr>
              <a:t>，最终找出关键活动</a:t>
            </a:r>
            <a:endParaRPr lang="zh-CN" altLang="en-US" sz="20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7.5 </a:t>
            </a:r>
            <a:r>
              <a:rPr lang="zh-CN" altLang="en-US" dirty="0">
                <a:latin typeface="楷体" panose="02010609060101010101" charset="-122"/>
                <a:ea typeface="楷体" panose="02010609060101010101" charset="-122"/>
                <a:sym typeface="+mn-ea"/>
              </a:rPr>
              <a:t>有向无环图及其应用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7" name="对象 6"/>
          <p:cNvGraphicFramePr/>
          <p:nvPr/>
        </p:nvGraphicFramePr>
        <p:xfrm>
          <a:off x="1415415" y="1844675"/>
          <a:ext cx="8501380" cy="4454525"/>
        </p:xfrm>
        <a:graphic>
          <a:graphicData uri="http://schemas.openxmlformats.org/presentationml/2006/ole">
            <mc:AlternateContent xmlns:mc="http://schemas.openxmlformats.org/markup-compatibility/2006">
              <mc:Choice xmlns:v="urn:schemas-microsoft-com:vml" Requires="v">
                <p:oleObj spid="_x0000_s8" name="" r:id="rId1" imgW="6400800" imgH="3705225" progId="Paint.Picture">
                  <p:embed/>
                </p:oleObj>
              </mc:Choice>
              <mc:Fallback>
                <p:oleObj name="" r:id="rId1" imgW="6400800" imgH="3705225" progId="Paint.Picture">
                  <p:embed/>
                  <p:pic>
                    <p:nvPicPr>
                      <p:cNvPr id="0" name="图片 7"/>
                      <p:cNvPicPr/>
                      <p:nvPr/>
                    </p:nvPicPr>
                    <p:blipFill>
                      <a:blip r:embed="rId2"/>
                      <a:stretch>
                        <a:fillRect/>
                      </a:stretch>
                    </p:blipFill>
                    <p:spPr>
                      <a:xfrm>
                        <a:off x="1415415" y="1844675"/>
                        <a:ext cx="8501380" cy="4454525"/>
                      </a:xfrm>
                      <a:prstGeom prst="rect">
                        <a:avLst/>
                      </a:prstGeom>
                    </p:spPr>
                  </p:pic>
                </p:oleObj>
              </mc:Fallback>
            </mc:AlternateContent>
          </a:graphicData>
        </a:graphic>
      </p:graphicFrame>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marL="609600" lvl="0" indent="-609600" algn="l" eaLnBrk="1" hangingPunct="1">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已知DAG图如下，按数字顺序，求拓扑排序序列</a:t>
            </a: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grpSp>
        <p:nvGrpSpPr>
          <p:cNvPr id="132100" name="组合 47"/>
          <p:cNvGrpSpPr/>
          <p:nvPr/>
        </p:nvGrpSpPr>
        <p:grpSpPr>
          <a:xfrm>
            <a:off x="6311583" y="1844676"/>
            <a:ext cx="3100705" cy="2927667"/>
            <a:chOff x="2700338" y="2349183"/>
            <a:chExt cx="3100705" cy="2927667"/>
          </a:xfrm>
        </p:grpSpPr>
        <p:sp>
          <p:nvSpPr>
            <p:cNvPr id="132101" name="Oval 38"/>
            <p:cNvSpPr/>
            <p:nvPr/>
          </p:nvSpPr>
          <p:spPr>
            <a:xfrm>
              <a:off x="3244415" y="2397125"/>
              <a:ext cx="335902" cy="31813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32102" name="Oval 39"/>
            <p:cNvSpPr/>
            <p:nvPr/>
          </p:nvSpPr>
          <p:spPr>
            <a:xfrm>
              <a:off x="3916218" y="2716440"/>
              <a:ext cx="334828" cy="320493"/>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32103" name="Oval 40"/>
            <p:cNvSpPr/>
            <p:nvPr/>
          </p:nvSpPr>
          <p:spPr>
            <a:xfrm>
              <a:off x="5092411" y="2397125"/>
              <a:ext cx="335902" cy="320493"/>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32104" name="Oval 41"/>
            <p:cNvSpPr/>
            <p:nvPr/>
          </p:nvSpPr>
          <p:spPr>
            <a:xfrm>
              <a:off x="4755436" y="3036933"/>
              <a:ext cx="338048" cy="319315"/>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32105" name="Oval 42"/>
            <p:cNvSpPr/>
            <p:nvPr/>
          </p:nvSpPr>
          <p:spPr>
            <a:xfrm>
              <a:off x="5428312" y="3036933"/>
              <a:ext cx="335902" cy="319315"/>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32106" name="Oval 43"/>
            <p:cNvSpPr/>
            <p:nvPr/>
          </p:nvSpPr>
          <p:spPr>
            <a:xfrm>
              <a:off x="2740026" y="4317727"/>
              <a:ext cx="334828" cy="319315"/>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32107" name="Line 44"/>
            <p:cNvSpPr/>
            <p:nvPr/>
          </p:nvSpPr>
          <p:spPr>
            <a:xfrm flipH="1">
              <a:off x="4924996" y="2717618"/>
              <a:ext cx="335902" cy="319315"/>
            </a:xfrm>
            <a:prstGeom prst="line">
              <a:avLst/>
            </a:prstGeom>
            <a:ln w="9525" cap="flat" cmpd="sng">
              <a:solidFill>
                <a:srgbClr val="000000"/>
              </a:solidFill>
              <a:prstDash val="solid"/>
              <a:round/>
              <a:headEnd type="triangle" w="med" len="med"/>
              <a:tailEnd type="none" w="med" len="med"/>
            </a:ln>
          </p:spPr>
        </p:sp>
        <p:sp>
          <p:nvSpPr>
            <p:cNvPr id="132108" name="Line 45"/>
            <p:cNvSpPr/>
            <p:nvPr/>
          </p:nvSpPr>
          <p:spPr>
            <a:xfrm>
              <a:off x="5260898" y="2717618"/>
              <a:ext cx="336975" cy="319315"/>
            </a:xfrm>
            <a:prstGeom prst="line">
              <a:avLst/>
            </a:prstGeom>
            <a:ln w="9525" cap="flat" cmpd="sng">
              <a:solidFill>
                <a:srgbClr val="000000"/>
              </a:solidFill>
              <a:prstDash val="solid"/>
              <a:round/>
              <a:headEnd type="none" w="med" len="med"/>
              <a:tailEnd type="triangle" w="med" len="med"/>
            </a:ln>
          </p:spPr>
        </p:sp>
        <p:sp>
          <p:nvSpPr>
            <p:cNvPr id="132109" name="Line 46"/>
            <p:cNvSpPr/>
            <p:nvPr/>
          </p:nvSpPr>
          <p:spPr>
            <a:xfrm flipV="1">
              <a:off x="3915145" y="3997234"/>
              <a:ext cx="336975" cy="480740"/>
            </a:xfrm>
            <a:prstGeom prst="line">
              <a:avLst/>
            </a:prstGeom>
            <a:ln w="9525" cap="flat" cmpd="sng">
              <a:solidFill>
                <a:srgbClr val="000000"/>
              </a:solidFill>
              <a:prstDash val="solid"/>
              <a:round/>
              <a:headEnd type="none" w="med" len="med"/>
              <a:tailEnd type="triangle" w="med" len="med"/>
            </a:ln>
          </p:spPr>
        </p:sp>
        <p:sp>
          <p:nvSpPr>
            <p:cNvPr id="132110" name="Line 47"/>
            <p:cNvSpPr/>
            <p:nvPr/>
          </p:nvSpPr>
          <p:spPr>
            <a:xfrm>
              <a:off x="2908513" y="3357426"/>
              <a:ext cx="1175119" cy="479561"/>
            </a:xfrm>
            <a:prstGeom prst="line">
              <a:avLst/>
            </a:prstGeom>
            <a:ln w="9525" cap="flat" cmpd="sng">
              <a:solidFill>
                <a:srgbClr val="000000"/>
              </a:solidFill>
              <a:prstDash val="solid"/>
              <a:round/>
              <a:headEnd type="none" w="med" len="med"/>
              <a:tailEnd type="triangle" w="med" len="med"/>
            </a:ln>
          </p:spPr>
        </p:sp>
        <p:sp>
          <p:nvSpPr>
            <p:cNvPr id="132111" name="Oval 48"/>
            <p:cNvSpPr/>
            <p:nvPr/>
          </p:nvSpPr>
          <p:spPr>
            <a:xfrm>
              <a:off x="3580317" y="4317727"/>
              <a:ext cx="335902" cy="320493"/>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32112" name="Oval 49"/>
            <p:cNvSpPr/>
            <p:nvPr/>
          </p:nvSpPr>
          <p:spPr>
            <a:xfrm>
              <a:off x="4083633" y="3677919"/>
              <a:ext cx="335902" cy="318137"/>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32113" name="Oval 50"/>
            <p:cNvSpPr/>
            <p:nvPr/>
          </p:nvSpPr>
          <p:spPr>
            <a:xfrm>
              <a:off x="3580317" y="4957535"/>
              <a:ext cx="335902" cy="319315"/>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32114" name="Oval 51"/>
            <p:cNvSpPr/>
            <p:nvPr/>
          </p:nvSpPr>
          <p:spPr>
            <a:xfrm>
              <a:off x="2740026" y="3036933"/>
              <a:ext cx="335902" cy="319315"/>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32115" name="Line 52"/>
            <p:cNvSpPr/>
            <p:nvPr/>
          </p:nvSpPr>
          <p:spPr>
            <a:xfrm>
              <a:off x="3073781" y="4477974"/>
              <a:ext cx="506535" cy="1178"/>
            </a:xfrm>
            <a:prstGeom prst="line">
              <a:avLst/>
            </a:prstGeom>
            <a:ln w="9525" cap="flat" cmpd="sng">
              <a:solidFill>
                <a:srgbClr val="000000"/>
              </a:solidFill>
              <a:prstDash val="solid"/>
              <a:round/>
              <a:headEnd type="none" w="med" len="med"/>
              <a:tailEnd type="triangle" w="med" len="med"/>
            </a:ln>
          </p:spPr>
        </p:sp>
        <p:sp>
          <p:nvSpPr>
            <p:cNvPr id="132116" name="Freeform 53"/>
            <p:cNvSpPr/>
            <p:nvPr/>
          </p:nvSpPr>
          <p:spPr>
            <a:xfrm>
              <a:off x="3048025" y="4558097"/>
              <a:ext cx="550535" cy="481918"/>
            </a:xfrm>
            <a:custGeom>
              <a:avLst/>
              <a:gdLst/>
              <a:ahLst/>
              <a:cxnLst>
                <a:cxn ang="0">
                  <a:pos x="0" y="0"/>
                </a:cxn>
                <a:cxn ang="0">
                  <a:pos x="2147483647" y="2147483647"/>
                </a:cxn>
              </a:cxnLst>
              <a:pathLst>
                <a:path w="590" h="470">
                  <a:moveTo>
                    <a:pt x="0" y="0"/>
                  </a:moveTo>
                  <a:lnTo>
                    <a:pt x="590" y="470"/>
                  </a:lnTo>
                </a:path>
              </a:pathLst>
            </a:custGeom>
            <a:noFill/>
            <a:ln w="9525" cap="flat" cmpd="sng">
              <a:solidFill>
                <a:srgbClr val="000000"/>
              </a:solidFill>
              <a:prstDash val="solid"/>
              <a:round/>
              <a:headEnd type="none" w="med" len="med"/>
              <a:tailEnd type="triangle" w="med" len="med"/>
            </a:ln>
          </p:spPr>
          <p:txBody>
            <a:bodyPr/>
            <a:p>
              <a:endParaRPr lang="zh-CN" altLang="en-US"/>
            </a:p>
          </p:txBody>
        </p:sp>
        <p:sp>
          <p:nvSpPr>
            <p:cNvPr id="132117" name="Freeform 54"/>
            <p:cNvSpPr/>
            <p:nvPr/>
          </p:nvSpPr>
          <p:spPr>
            <a:xfrm>
              <a:off x="3896901" y="4558097"/>
              <a:ext cx="719023" cy="492523"/>
            </a:xfrm>
            <a:custGeom>
              <a:avLst/>
              <a:gdLst/>
              <a:ahLst/>
              <a:cxnLst>
                <a:cxn ang="0">
                  <a:pos x="0" y="2147483647"/>
                </a:cxn>
                <a:cxn ang="0">
                  <a:pos x="2147483647" y="0"/>
                </a:cxn>
              </a:cxnLst>
              <a:pathLst>
                <a:path w="770" h="480">
                  <a:moveTo>
                    <a:pt x="0" y="480"/>
                  </a:moveTo>
                  <a:lnTo>
                    <a:pt x="770" y="0"/>
                  </a:lnTo>
                </a:path>
              </a:pathLst>
            </a:custGeom>
            <a:noFill/>
            <a:ln w="9525" cap="flat" cmpd="sng">
              <a:solidFill>
                <a:srgbClr val="000000"/>
              </a:solidFill>
              <a:prstDash val="solid"/>
              <a:round/>
              <a:headEnd type="none" w="med" len="med"/>
              <a:tailEnd type="triangle" w="med" len="med"/>
            </a:ln>
          </p:spPr>
          <p:txBody>
            <a:bodyPr/>
            <a:p>
              <a:endParaRPr lang="zh-CN" altLang="en-US"/>
            </a:p>
          </p:txBody>
        </p:sp>
        <p:sp>
          <p:nvSpPr>
            <p:cNvPr id="132118" name="Freeform 55"/>
            <p:cNvSpPr/>
            <p:nvPr/>
          </p:nvSpPr>
          <p:spPr>
            <a:xfrm>
              <a:off x="4252120" y="2876686"/>
              <a:ext cx="560194" cy="193239"/>
            </a:xfrm>
            <a:custGeom>
              <a:avLst/>
              <a:gdLst/>
              <a:ahLst/>
              <a:cxnLst>
                <a:cxn ang="0">
                  <a:pos x="0" y="0"/>
                </a:cxn>
                <a:cxn ang="0">
                  <a:pos x="2147483647" y="2147483647"/>
                </a:cxn>
              </a:cxnLst>
              <a:pathLst>
                <a:path w="600" h="188">
                  <a:moveTo>
                    <a:pt x="0" y="0"/>
                  </a:moveTo>
                  <a:lnTo>
                    <a:pt x="600" y="188"/>
                  </a:lnTo>
                </a:path>
              </a:pathLst>
            </a:custGeom>
            <a:noFill/>
            <a:ln w="9525" cap="flat" cmpd="sng">
              <a:solidFill>
                <a:srgbClr val="000000"/>
              </a:solidFill>
              <a:prstDash val="solid"/>
              <a:round/>
              <a:headEnd type="none" w="med" len="med"/>
              <a:tailEnd type="triangle" w="med" len="med"/>
            </a:ln>
          </p:spPr>
          <p:txBody>
            <a:bodyPr/>
            <a:p>
              <a:endParaRPr lang="zh-CN" altLang="en-US"/>
            </a:p>
          </p:txBody>
        </p:sp>
        <p:sp>
          <p:nvSpPr>
            <p:cNvPr id="132119" name="Freeform 56"/>
            <p:cNvSpPr/>
            <p:nvPr/>
          </p:nvSpPr>
          <p:spPr>
            <a:xfrm>
              <a:off x="4905679" y="4157481"/>
              <a:ext cx="522633" cy="243905"/>
            </a:xfrm>
            <a:custGeom>
              <a:avLst/>
              <a:gdLst/>
              <a:ahLst/>
              <a:cxnLst>
                <a:cxn ang="0">
                  <a:pos x="0" y="2147483647"/>
                </a:cxn>
                <a:cxn ang="0">
                  <a:pos x="2147483647" y="0"/>
                </a:cxn>
              </a:cxnLst>
              <a:pathLst>
                <a:path w="560" h="238">
                  <a:moveTo>
                    <a:pt x="0" y="238"/>
                  </a:moveTo>
                  <a:lnTo>
                    <a:pt x="560" y="0"/>
                  </a:lnTo>
                </a:path>
              </a:pathLst>
            </a:custGeom>
            <a:noFill/>
            <a:ln w="9525" cap="flat" cmpd="sng">
              <a:solidFill>
                <a:srgbClr val="000000"/>
              </a:solidFill>
              <a:prstDash val="solid"/>
              <a:round/>
              <a:headEnd type="none" w="med" len="med"/>
              <a:tailEnd type="triangle" w="med" len="med"/>
            </a:ln>
          </p:spPr>
          <p:txBody>
            <a:bodyPr/>
            <a:p>
              <a:endParaRPr lang="zh-CN" altLang="en-US"/>
            </a:p>
          </p:txBody>
        </p:sp>
        <p:sp>
          <p:nvSpPr>
            <p:cNvPr id="132120" name="Oval 57"/>
            <p:cNvSpPr/>
            <p:nvPr/>
          </p:nvSpPr>
          <p:spPr>
            <a:xfrm>
              <a:off x="5428312" y="3997234"/>
              <a:ext cx="335902" cy="320493"/>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32121" name="Oval 58"/>
            <p:cNvSpPr/>
            <p:nvPr/>
          </p:nvSpPr>
          <p:spPr>
            <a:xfrm>
              <a:off x="4588022" y="4317727"/>
              <a:ext cx="338048" cy="319315"/>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dirty="0">
                <a:latin typeface="Arial" panose="020B0604020202020204" pitchFamily="34" charset="0"/>
                <a:ea typeface="宋体" panose="02010600030101010101" pitchFamily="2" charset="-122"/>
              </a:endParaRPr>
            </a:p>
          </p:txBody>
        </p:sp>
        <p:sp>
          <p:nvSpPr>
            <p:cNvPr id="132122" name="Line 59"/>
            <p:cNvSpPr/>
            <p:nvPr/>
          </p:nvSpPr>
          <p:spPr>
            <a:xfrm flipH="1">
              <a:off x="5660073" y="3333115"/>
              <a:ext cx="24765" cy="722630"/>
            </a:xfrm>
            <a:prstGeom prst="line">
              <a:avLst/>
            </a:prstGeom>
            <a:ln w="9525" cap="flat" cmpd="sng">
              <a:solidFill>
                <a:srgbClr val="000000"/>
              </a:solidFill>
              <a:prstDash val="solid"/>
              <a:round/>
              <a:headEnd type="none" w="med" len="med"/>
              <a:tailEnd type="triangle" w="med" len="med"/>
            </a:ln>
          </p:spPr>
        </p:sp>
        <p:sp>
          <p:nvSpPr>
            <p:cNvPr id="132123" name="Freeform 60"/>
            <p:cNvSpPr/>
            <p:nvPr/>
          </p:nvSpPr>
          <p:spPr>
            <a:xfrm>
              <a:off x="3057684" y="2936779"/>
              <a:ext cx="867120" cy="194417"/>
            </a:xfrm>
            <a:custGeom>
              <a:avLst/>
              <a:gdLst/>
              <a:ahLst/>
              <a:cxnLst>
                <a:cxn ang="0">
                  <a:pos x="0" y="2147483647"/>
                </a:cxn>
                <a:cxn ang="0">
                  <a:pos x="2147483647" y="0"/>
                </a:cxn>
              </a:cxnLst>
              <a:pathLst>
                <a:path w="930" h="190">
                  <a:moveTo>
                    <a:pt x="0" y="190"/>
                  </a:moveTo>
                  <a:lnTo>
                    <a:pt x="930" y="0"/>
                  </a:lnTo>
                </a:path>
              </a:pathLst>
            </a:custGeom>
            <a:noFill/>
            <a:ln w="9525" cap="flat" cmpd="sng">
              <a:solidFill>
                <a:srgbClr val="000000"/>
              </a:solidFill>
              <a:prstDash val="solid"/>
              <a:round/>
              <a:headEnd type="none" w="med" len="med"/>
              <a:tailEnd type="triangle" w="med" len="med"/>
            </a:ln>
          </p:spPr>
          <p:txBody>
            <a:bodyPr/>
            <a:p>
              <a:endParaRPr lang="zh-CN" altLang="en-US"/>
            </a:p>
          </p:txBody>
        </p:sp>
        <p:sp>
          <p:nvSpPr>
            <p:cNvPr id="132124" name="Line 62"/>
            <p:cNvSpPr/>
            <p:nvPr/>
          </p:nvSpPr>
          <p:spPr>
            <a:xfrm>
              <a:off x="3580317" y="2556193"/>
              <a:ext cx="1512094" cy="1178"/>
            </a:xfrm>
            <a:prstGeom prst="line">
              <a:avLst/>
            </a:prstGeom>
            <a:ln w="9525" cap="flat" cmpd="sng">
              <a:solidFill>
                <a:srgbClr val="000000"/>
              </a:solidFill>
              <a:prstDash val="solid"/>
              <a:round/>
              <a:headEnd type="none" w="med" len="med"/>
              <a:tailEnd type="triangle" w="med" len="med"/>
            </a:ln>
          </p:spPr>
        </p:sp>
        <p:sp>
          <p:nvSpPr>
            <p:cNvPr id="132125" name="Freeform 63"/>
            <p:cNvSpPr/>
            <p:nvPr/>
          </p:nvSpPr>
          <p:spPr>
            <a:xfrm flipV="1">
              <a:off x="2915816" y="2636913"/>
              <a:ext cx="360040" cy="432047"/>
            </a:xfrm>
            <a:custGeom>
              <a:avLst/>
              <a:gdLst/>
              <a:ahLst/>
              <a:cxnLst>
                <a:cxn ang="0">
                  <a:pos x="0" y="0"/>
                </a:cxn>
                <a:cxn ang="0">
                  <a:pos x="2147483647" y="2147483647"/>
                </a:cxn>
              </a:cxnLst>
              <a:pathLst>
                <a:path w="150" h="960">
                  <a:moveTo>
                    <a:pt x="0" y="0"/>
                  </a:moveTo>
                  <a:lnTo>
                    <a:pt x="150" y="960"/>
                  </a:lnTo>
                </a:path>
              </a:pathLst>
            </a:custGeom>
            <a:noFill/>
            <a:ln w="9525" cap="flat" cmpd="sng">
              <a:solidFill>
                <a:srgbClr val="000000"/>
              </a:solidFill>
              <a:prstDash val="solid"/>
              <a:round/>
              <a:headEnd type="none" w="med" len="med"/>
              <a:tailEnd type="triangle" w="med" len="med"/>
            </a:ln>
          </p:spPr>
          <p:txBody>
            <a:bodyPr/>
            <a:p>
              <a:endParaRPr lang="zh-CN" altLang="en-US"/>
            </a:p>
          </p:txBody>
        </p:sp>
        <p:sp>
          <p:nvSpPr>
            <p:cNvPr id="132126" name="Line 64"/>
            <p:cNvSpPr/>
            <p:nvPr/>
          </p:nvSpPr>
          <p:spPr>
            <a:xfrm flipV="1">
              <a:off x="4291648" y="3333115"/>
              <a:ext cx="520065" cy="344805"/>
            </a:xfrm>
            <a:prstGeom prst="line">
              <a:avLst/>
            </a:prstGeom>
            <a:ln w="9525" cap="flat" cmpd="sng">
              <a:solidFill>
                <a:srgbClr val="000000"/>
              </a:solidFill>
              <a:prstDash val="solid"/>
              <a:round/>
              <a:headEnd type="none" w="med" len="med"/>
              <a:tailEnd type="triangle" w="med" len="med"/>
            </a:ln>
          </p:spPr>
        </p:sp>
        <p:sp>
          <p:nvSpPr>
            <p:cNvPr id="132127" name="Line 65"/>
            <p:cNvSpPr/>
            <p:nvPr/>
          </p:nvSpPr>
          <p:spPr>
            <a:xfrm>
              <a:off x="4924108" y="3357245"/>
              <a:ext cx="586105" cy="698500"/>
            </a:xfrm>
            <a:prstGeom prst="line">
              <a:avLst/>
            </a:prstGeom>
            <a:ln w="9525" cap="flat" cmpd="sng">
              <a:solidFill>
                <a:srgbClr val="000000"/>
              </a:solidFill>
              <a:prstDash val="solid"/>
              <a:round/>
              <a:headEnd type="none" w="med" len="med"/>
              <a:tailEnd type="triangle" w="med" len="med"/>
            </a:ln>
          </p:spPr>
        </p:sp>
        <p:sp>
          <p:nvSpPr>
            <p:cNvPr id="132128" name="Freeform 66"/>
            <p:cNvSpPr/>
            <p:nvPr/>
          </p:nvSpPr>
          <p:spPr>
            <a:xfrm>
              <a:off x="2831148" y="3333115"/>
              <a:ext cx="76200" cy="1068070"/>
            </a:xfrm>
            <a:custGeom>
              <a:avLst/>
              <a:gdLst/>
              <a:ahLst/>
              <a:cxnLst>
                <a:cxn ang="0">
                  <a:pos x="0" y="2147483647"/>
                </a:cxn>
                <a:cxn ang="0">
                  <a:pos x="2147483647" y="0"/>
                </a:cxn>
              </a:cxnLst>
              <a:pathLst>
                <a:path w="1290" h="386">
                  <a:moveTo>
                    <a:pt x="0" y="386"/>
                  </a:moveTo>
                  <a:lnTo>
                    <a:pt x="1290" y="0"/>
                  </a:lnTo>
                </a:path>
              </a:pathLst>
            </a:custGeom>
            <a:noFill/>
            <a:ln w="9525" cap="flat" cmpd="sng">
              <a:solidFill>
                <a:srgbClr val="000000"/>
              </a:solidFill>
              <a:prstDash val="solid"/>
              <a:round/>
              <a:headEnd type="none" w="med" len="med"/>
              <a:tailEnd type="triangle" w="med" len="med"/>
            </a:ln>
          </p:spPr>
          <p:txBody>
            <a:bodyPr/>
            <a:p>
              <a:endParaRPr lang="zh-CN" altLang="en-US"/>
            </a:p>
          </p:txBody>
        </p:sp>
        <p:sp>
          <p:nvSpPr>
            <p:cNvPr id="132129" name="Rectangle 67"/>
            <p:cNvSpPr/>
            <p:nvPr/>
          </p:nvSpPr>
          <p:spPr>
            <a:xfrm>
              <a:off x="3205163" y="2349183"/>
              <a:ext cx="395605" cy="337185"/>
            </a:xfrm>
            <a:prstGeom prst="rect">
              <a:avLst/>
            </a:prstGeom>
            <a:noFill/>
            <a:ln w="9525">
              <a:noFill/>
            </a:ln>
          </p:spPr>
          <p:txBody>
            <a:bodyPr wrap="non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4</a:t>
              </a:r>
              <a:endParaRPr lang="en-US" altLang="zh-CN" sz="1600" b="1" dirty="0">
                <a:latin typeface="Times New Roman" panose="02020603050405020304" pitchFamily="18" charset="0"/>
                <a:ea typeface="宋体" panose="02010600030101010101" pitchFamily="2" charset="-122"/>
              </a:endParaRPr>
            </a:p>
          </p:txBody>
        </p:sp>
        <p:sp>
          <p:nvSpPr>
            <p:cNvPr id="132130" name="Rectangle 68"/>
            <p:cNvSpPr/>
            <p:nvPr/>
          </p:nvSpPr>
          <p:spPr>
            <a:xfrm>
              <a:off x="5045076" y="2349183"/>
              <a:ext cx="395605" cy="337185"/>
            </a:xfrm>
            <a:prstGeom prst="rect">
              <a:avLst/>
            </a:prstGeom>
            <a:noFill/>
            <a:ln w="9525">
              <a:noFill/>
            </a:ln>
          </p:spPr>
          <p:txBody>
            <a:bodyPr wrap="non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5</a:t>
              </a:r>
              <a:endParaRPr lang="en-US" altLang="zh-CN" sz="1600" b="1" dirty="0">
                <a:latin typeface="Times New Roman" panose="02020603050405020304" pitchFamily="18" charset="0"/>
                <a:ea typeface="宋体" panose="02010600030101010101" pitchFamily="2" charset="-122"/>
              </a:endParaRPr>
            </a:p>
          </p:txBody>
        </p:sp>
        <p:sp>
          <p:nvSpPr>
            <p:cNvPr id="132131" name="Rectangle 69"/>
            <p:cNvSpPr/>
            <p:nvPr/>
          </p:nvSpPr>
          <p:spPr>
            <a:xfrm>
              <a:off x="2700338" y="2996883"/>
              <a:ext cx="395605" cy="337185"/>
            </a:xfrm>
            <a:prstGeom prst="rect">
              <a:avLst/>
            </a:prstGeom>
            <a:noFill/>
            <a:ln w="9525">
              <a:noFill/>
            </a:ln>
          </p:spPr>
          <p:txBody>
            <a:bodyPr wrap="non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1</a:t>
              </a:r>
              <a:endParaRPr lang="en-US" altLang="zh-CN" sz="1600" b="1" dirty="0">
                <a:latin typeface="Times New Roman" panose="02020603050405020304" pitchFamily="18" charset="0"/>
                <a:ea typeface="宋体" panose="02010600030101010101" pitchFamily="2" charset="-122"/>
              </a:endParaRPr>
            </a:p>
          </p:txBody>
        </p:sp>
        <p:sp>
          <p:nvSpPr>
            <p:cNvPr id="132132" name="Rectangle 70"/>
            <p:cNvSpPr/>
            <p:nvPr/>
          </p:nvSpPr>
          <p:spPr>
            <a:xfrm>
              <a:off x="3892551" y="2685733"/>
              <a:ext cx="395605" cy="337185"/>
            </a:xfrm>
            <a:prstGeom prst="rect">
              <a:avLst/>
            </a:prstGeom>
            <a:noFill/>
            <a:ln w="9525">
              <a:noFill/>
            </a:ln>
          </p:spPr>
          <p:txBody>
            <a:bodyPr wrap="non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2</a:t>
              </a:r>
              <a:endParaRPr lang="en-US" altLang="zh-CN" sz="1600" b="1" dirty="0">
                <a:latin typeface="Times New Roman" panose="02020603050405020304" pitchFamily="18" charset="0"/>
                <a:ea typeface="宋体" panose="02010600030101010101" pitchFamily="2" charset="-122"/>
              </a:endParaRPr>
            </a:p>
          </p:txBody>
        </p:sp>
        <p:sp>
          <p:nvSpPr>
            <p:cNvPr id="132133" name="Rectangle 71"/>
            <p:cNvSpPr/>
            <p:nvPr/>
          </p:nvSpPr>
          <p:spPr>
            <a:xfrm>
              <a:off x="4716463" y="2996883"/>
              <a:ext cx="395605" cy="337185"/>
            </a:xfrm>
            <a:prstGeom prst="rect">
              <a:avLst/>
            </a:prstGeom>
            <a:noFill/>
            <a:ln w="9525">
              <a:noFill/>
            </a:ln>
          </p:spPr>
          <p:txBody>
            <a:bodyPr wrap="non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3</a:t>
              </a:r>
              <a:endParaRPr lang="en-US" altLang="zh-CN" sz="1600" b="1" dirty="0">
                <a:latin typeface="Times New Roman" panose="02020603050405020304" pitchFamily="18" charset="0"/>
                <a:ea typeface="宋体" panose="02010600030101010101" pitchFamily="2" charset="-122"/>
              </a:endParaRPr>
            </a:p>
          </p:txBody>
        </p:sp>
        <p:sp>
          <p:nvSpPr>
            <p:cNvPr id="132134" name="Rectangle 72"/>
            <p:cNvSpPr/>
            <p:nvPr/>
          </p:nvSpPr>
          <p:spPr>
            <a:xfrm>
              <a:off x="5405438" y="2996883"/>
              <a:ext cx="395605" cy="337185"/>
            </a:xfrm>
            <a:prstGeom prst="rect">
              <a:avLst/>
            </a:prstGeom>
            <a:noFill/>
            <a:ln w="9525">
              <a:noFill/>
            </a:ln>
          </p:spPr>
          <p:txBody>
            <a:bodyPr wrap="non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7</a:t>
              </a:r>
              <a:endParaRPr lang="en-US" altLang="zh-CN" sz="1600" b="1" dirty="0">
                <a:latin typeface="Times New Roman" panose="02020603050405020304" pitchFamily="18" charset="0"/>
                <a:ea typeface="宋体" panose="02010600030101010101" pitchFamily="2" charset="-122"/>
              </a:endParaRPr>
            </a:p>
          </p:txBody>
        </p:sp>
        <p:sp>
          <p:nvSpPr>
            <p:cNvPr id="132135" name="Rectangle 73"/>
            <p:cNvSpPr/>
            <p:nvPr/>
          </p:nvSpPr>
          <p:spPr>
            <a:xfrm>
              <a:off x="3998913" y="3644583"/>
              <a:ext cx="461645" cy="337185"/>
            </a:xfrm>
            <a:prstGeom prst="rect">
              <a:avLst/>
            </a:prstGeom>
            <a:noFill/>
            <a:ln w="9525">
              <a:noFill/>
            </a:ln>
          </p:spPr>
          <p:txBody>
            <a:bodyPr wrap="non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12</a:t>
              </a:r>
              <a:endParaRPr lang="en-US" altLang="zh-CN" sz="1600" b="1" dirty="0">
                <a:latin typeface="Times New Roman" panose="02020603050405020304" pitchFamily="18" charset="0"/>
                <a:ea typeface="宋体" panose="02010600030101010101" pitchFamily="2" charset="-122"/>
              </a:endParaRPr>
            </a:p>
          </p:txBody>
        </p:sp>
        <p:sp>
          <p:nvSpPr>
            <p:cNvPr id="132136" name="Rectangle 74"/>
            <p:cNvSpPr/>
            <p:nvPr/>
          </p:nvSpPr>
          <p:spPr>
            <a:xfrm>
              <a:off x="5405438" y="3981133"/>
              <a:ext cx="395605" cy="337185"/>
            </a:xfrm>
            <a:prstGeom prst="rect">
              <a:avLst/>
            </a:prstGeom>
            <a:noFill/>
            <a:ln w="9525">
              <a:noFill/>
            </a:ln>
          </p:spPr>
          <p:txBody>
            <a:bodyPr wrap="non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8</a:t>
              </a:r>
              <a:endParaRPr lang="en-US" altLang="zh-CN" sz="1600" b="1" dirty="0">
                <a:latin typeface="Times New Roman" panose="02020603050405020304" pitchFamily="18" charset="0"/>
                <a:ea typeface="宋体" panose="02010600030101010101" pitchFamily="2" charset="-122"/>
              </a:endParaRPr>
            </a:p>
          </p:txBody>
        </p:sp>
        <p:sp>
          <p:nvSpPr>
            <p:cNvPr id="132137" name="Rectangle 75"/>
            <p:cNvSpPr/>
            <p:nvPr/>
          </p:nvSpPr>
          <p:spPr>
            <a:xfrm>
              <a:off x="4540251" y="4270058"/>
              <a:ext cx="395605" cy="337185"/>
            </a:xfrm>
            <a:prstGeom prst="rect">
              <a:avLst/>
            </a:prstGeom>
            <a:noFill/>
            <a:ln w="9525">
              <a:noFill/>
            </a:ln>
          </p:spPr>
          <p:txBody>
            <a:bodyPr wrap="non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6</a:t>
              </a:r>
              <a:endParaRPr lang="en-US" altLang="zh-CN" sz="1600" b="1" dirty="0">
                <a:latin typeface="Times New Roman" panose="02020603050405020304" pitchFamily="18" charset="0"/>
                <a:ea typeface="宋体" panose="02010600030101010101" pitchFamily="2" charset="-122"/>
              </a:endParaRPr>
            </a:p>
          </p:txBody>
        </p:sp>
        <p:sp>
          <p:nvSpPr>
            <p:cNvPr id="132138" name="Rectangle 76"/>
            <p:cNvSpPr/>
            <p:nvPr/>
          </p:nvSpPr>
          <p:spPr>
            <a:xfrm>
              <a:off x="2700338" y="4270058"/>
              <a:ext cx="395605" cy="337185"/>
            </a:xfrm>
            <a:prstGeom prst="rect">
              <a:avLst/>
            </a:prstGeom>
            <a:noFill/>
            <a:ln w="9525">
              <a:noFill/>
            </a:ln>
          </p:spPr>
          <p:txBody>
            <a:bodyPr wrap="non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9</a:t>
              </a:r>
              <a:endParaRPr lang="en-US" altLang="zh-CN" sz="1600" b="1" dirty="0">
                <a:latin typeface="Times New Roman" panose="02020603050405020304" pitchFamily="18" charset="0"/>
                <a:ea typeface="宋体" panose="02010600030101010101" pitchFamily="2" charset="-122"/>
              </a:endParaRPr>
            </a:p>
          </p:txBody>
        </p:sp>
        <p:sp>
          <p:nvSpPr>
            <p:cNvPr id="132139" name="Rectangle 77"/>
            <p:cNvSpPr/>
            <p:nvPr/>
          </p:nvSpPr>
          <p:spPr>
            <a:xfrm>
              <a:off x="3495676" y="4292283"/>
              <a:ext cx="461645" cy="337185"/>
            </a:xfrm>
            <a:prstGeom prst="rect">
              <a:avLst/>
            </a:prstGeom>
            <a:noFill/>
            <a:ln w="9525">
              <a:noFill/>
            </a:ln>
          </p:spPr>
          <p:txBody>
            <a:bodyPr wrap="non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10</a:t>
              </a:r>
              <a:endParaRPr lang="en-US" altLang="zh-CN" sz="1600" b="1" dirty="0">
                <a:latin typeface="Times New Roman" panose="02020603050405020304" pitchFamily="18" charset="0"/>
                <a:ea typeface="宋体" panose="02010600030101010101" pitchFamily="2" charset="-122"/>
              </a:endParaRPr>
            </a:p>
          </p:txBody>
        </p:sp>
        <p:sp>
          <p:nvSpPr>
            <p:cNvPr id="132140" name="Rectangle 78"/>
            <p:cNvSpPr/>
            <p:nvPr/>
          </p:nvSpPr>
          <p:spPr>
            <a:xfrm>
              <a:off x="3495676" y="4917758"/>
              <a:ext cx="450215" cy="337185"/>
            </a:xfrm>
            <a:prstGeom prst="rect">
              <a:avLst/>
            </a:prstGeom>
            <a:noFill/>
            <a:ln w="9525">
              <a:noFill/>
            </a:ln>
          </p:spPr>
          <p:txBody>
            <a:bodyPr wrap="none" anchor="ctr" anchorCtr="0">
              <a:spAutoFit/>
            </a:bodyPr>
            <a:p>
              <a:r>
                <a:rPr lang="en-US" altLang="zh-CN" sz="1600" b="1" dirty="0">
                  <a:latin typeface="Times New Roman" panose="02020603050405020304" pitchFamily="18" charset="0"/>
                  <a:ea typeface="宋体" panose="02010600030101010101" pitchFamily="2" charset="-122"/>
                </a:rPr>
                <a:t>C</a:t>
              </a:r>
              <a:r>
                <a:rPr lang="en-US" altLang="zh-CN" sz="1600" b="1" baseline="-30000" dirty="0">
                  <a:latin typeface="Times New Roman" panose="02020603050405020304" pitchFamily="18" charset="0"/>
                  <a:ea typeface="宋体" panose="02010600030101010101" pitchFamily="2" charset="-122"/>
                </a:rPr>
                <a:t>11</a:t>
              </a:r>
              <a:endParaRPr lang="en-US" altLang="zh-CN" sz="1600" b="1"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marL="609600" lvl="0" indent="-609600"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假设一个工程的进度计划用AOE网表示，如图所示</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a:buClrTx/>
              <a:buSzTx/>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求出每个事件的最早发生时间和最晚发生时间。</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a:buClrTx/>
              <a:buSzTx/>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该工程完工至少需要多少时间?</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a:buClrTx/>
              <a:buSzTx/>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求出所有关键路径和关键活动。</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grpSp>
        <p:nvGrpSpPr>
          <p:cNvPr id="130052" name="Group 8"/>
          <p:cNvGrpSpPr/>
          <p:nvPr/>
        </p:nvGrpSpPr>
        <p:grpSpPr>
          <a:xfrm>
            <a:off x="2567305" y="2924493"/>
            <a:ext cx="6121400" cy="2044700"/>
            <a:chOff x="0" y="0"/>
            <a:chExt cx="3856" cy="1288"/>
          </a:xfrm>
        </p:grpSpPr>
        <p:sp>
          <p:nvSpPr>
            <p:cNvPr id="130053" name="Oval 9"/>
            <p:cNvSpPr/>
            <p:nvPr/>
          </p:nvSpPr>
          <p:spPr>
            <a:xfrm>
              <a:off x="24" y="572"/>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0</a:t>
              </a:r>
              <a:endParaRPr lang="en-US" altLang="zh-CN" sz="2400" baseline="-18000" dirty="0">
                <a:latin typeface="Times New Roman" panose="02020603050405020304" pitchFamily="18" charset="0"/>
                <a:ea typeface="宋体" panose="02010600030101010101" pitchFamily="2" charset="-122"/>
              </a:endParaRPr>
            </a:p>
          </p:txBody>
        </p:sp>
        <p:sp>
          <p:nvSpPr>
            <p:cNvPr id="130054" name="Oval 10"/>
            <p:cNvSpPr/>
            <p:nvPr/>
          </p:nvSpPr>
          <p:spPr>
            <a:xfrm>
              <a:off x="2217" y="81"/>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5</a:t>
              </a:r>
              <a:endParaRPr lang="en-US" altLang="zh-CN" sz="2400" baseline="-18000" dirty="0">
                <a:latin typeface="Times New Roman" panose="02020603050405020304" pitchFamily="18" charset="0"/>
                <a:ea typeface="宋体" panose="02010600030101010101" pitchFamily="2" charset="-122"/>
              </a:endParaRPr>
            </a:p>
          </p:txBody>
        </p:sp>
        <p:sp>
          <p:nvSpPr>
            <p:cNvPr id="130055" name="Oval 11"/>
            <p:cNvSpPr/>
            <p:nvPr/>
          </p:nvSpPr>
          <p:spPr>
            <a:xfrm>
              <a:off x="1456" y="988"/>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4</a:t>
              </a:r>
              <a:endParaRPr lang="en-US" altLang="zh-CN" sz="2400" baseline="-18000" dirty="0">
                <a:latin typeface="Times New Roman" panose="02020603050405020304" pitchFamily="18" charset="0"/>
                <a:ea typeface="宋体" panose="02010600030101010101" pitchFamily="2" charset="-122"/>
              </a:endParaRPr>
            </a:p>
          </p:txBody>
        </p:sp>
        <p:sp>
          <p:nvSpPr>
            <p:cNvPr id="130056" name="Oval 12"/>
            <p:cNvSpPr/>
            <p:nvPr/>
          </p:nvSpPr>
          <p:spPr>
            <a:xfrm>
              <a:off x="2304" y="980"/>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7</a:t>
              </a:r>
              <a:endParaRPr lang="en-US" altLang="zh-CN" sz="2400" baseline="-18000" dirty="0">
                <a:latin typeface="Times New Roman" panose="02020603050405020304" pitchFamily="18" charset="0"/>
                <a:ea typeface="宋体" panose="02010600030101010101" pitchFamily="2" charset="-122"/>
              </a:endParaRPr>
            </a:p>
          </p:txBody>
        </p:sp>
        <p:sp>
          <p:nvSpPr>
            <p:cNvPr id="130057" name="Oval 13"/>
            <p:cNvSpPr/>
            <p:nvPr/>
          </p:nvSpPr>
          <p:spPr>
            <a:xfrm>
              <a:off x="1369" y="76"/>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3</a:t>
              </a:r>
              <a:endParaRPr lang="en-US" altLang="zh-CN" sz="2400" baseline="-18000" dirty="0">
                <a:latin typeface="Times New Roman" panose="02020603050405020304" pitchFamily="18" charset="0"/>
                <a:ea typeface="宋体" panose="02010600030101010101" pitchFamily="2" charset="-122"/>
              </a:endParaRPr>
            </a:p>
          </p:txBody>
        </p:sp>
        <p:sp>
          <p:nvSpPr>
            <p:cNvPr id="130058" name="Oval 14"/>
            <p:cNvSpPr/>
            <p:nvPr/>
          </p:nvSpPr>
          <p:spPr>
            <a:xfrm>
              <a:off x="592" y="956"/>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2</a:t>
              </a:r>
              <a:endParaRPr lang="en-US" altLang="zh-CN" sz="2400" baseline="-18000" dirty="0">
                <a:latin typeface="Times New Roman" panose="02020603050405020304" pitchFamily="18" charset="0"/>
                <a:ea typeface="宋体" panose="02010600030101010101" pitchFamily="2" charset="-122"/>
              </a:endParaRPr>
            </a:p>
          </p:txBody>
        </p:sp>
        <p:sp>
          <p:nvSpPr>
            <p:cNvPr id="130059" name="Oval 15"/>
            <p:cNvSpPr/>
            <p:nvPr/>
          </p:nvSpPr>
          <p:spPr>
            <a:xfrm>
              <a:off x="528" y="84"/>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1</a:t>
              </a:r>
              <a:endParaRPr lang="en-US" altLang="zh-CN" sz="2400" baseline="-18000" dirty="0">
                <a:latin typeface="Times New Roman" panose="02020603050405020304" pitchFamily="18" charset="0"/>
                <a:ea typeface="宋体" panose="02010600030101010101" pitchFamily="2" charset="-122"/>
              </a:endParaRPr>
            </a:p>
          </p:txBody>
        </p:sp>
        <p:sp>
          <p:nvSpPr>
            <p:cNvPr id="130060" name="Oval 16"/>
            <p:cNvSpPr/>
            <p:nvPr/>
          </p:nvSpPr>
          <p:spPr>
            <a:xfrm>
              <a:off x="1912" y="540"/>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6</a:t>
              </a:r>
              <a:endParaRPr lang="en-US" altLang="zh-CN" sz="2400" baseline="-18000" dirty="0">
                <a:latin typeface="Times New Roman" panose="02020603050405020304" pitchFamily="18" charset="0"/>
                <a:ea typeface="宋体" panose="02010600030101010101" pitchFamily="2" charset="-122"/>
              </a:endParaRPr>
            </a:p>
          </p:txBody>
        </p:sp>
        <p:sp>
          <p:nvSpPr>
            <p:cNvPr id="130061" name="Oval 17"/>
            <p:cNvSpPr/>
            <p:nvPr/>
          </p:nvSpPr>
          <p:spPr>
            <a:xfrm>
              <a:off x="2736" y="492"/>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8</a:t>
              </a:r>
              <a:endParaRPr lang="en-US" altLang="zh-CN" sz="2400" baseline="-18000" dirty="0">
                <a:latin typeface="Times New Roman" panose="02020603050405020304" pitchFamily="18" charset="0"/>
                <a:ea typeface="宋体" panose="02010600030101010101" pitchFamily="2" charset="-122"/>
              </a:endParaRPr>
            </a:p>
          </p:txBody>
        </p:sp>
        <p:grpSp>
          <p:nvGrpSpPr>
            <p:cNvPr id="130062" name="Group 18"/>
            <p:cNvGrpSpPr/>
            <p:nvPr/>
          </p:nvGrpSpPr>
          <p:grpSpPr>
            <a:xfrm>
              <a:off x="0" y="284"/>
              <a:ext cx="600" cy="288"/>
              <a:chOff x="0" y="0"/>
              <a:chExt cx="600" cy="288"/>
            </a:xfrm>
          </p:grpSpPr>
          <p:sp>
            <p:nvSpPr>
              <p:cNvPr id="130063" name="Rectangle 19"/>
              <p:cNvSpPr/>
              <p:nvPr/>
            </p:nvSpPr>
            <p:spPr>
              <a:xfrm>
                <a:off x="0" y="0"/>
                <a:ext cx="385"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a1=5</a:t>
                </a:r>
                <a:endParaRPr lang="en-US" altLang="zh-CN" sz="2000" dirty="0">
                  <a:latin typeface="Times New Roman" panose="02020603050405020304" pitchFamily="18" charset="0"/>
                  <a:ea typeface="宋体" panose="02010600030101010101" pitchFamily="2" charset="-122"/>
                </a:endParaRPr>
              </a:p>
            </p:txBody>
          </p:sp>
          <p:sp>
            <p:nvSpPr>
              <p:cNvPr id="130064" name="Line 20"/>
              <p:cNvSpPr/>
              <p:nvPr/>
            </p:nvSpPr>
            <p:spPr>
              <a:xfrm flipV="1">
                <a:off x="216" y="0"/>
                <a:ext cx="384" cy="288"/>
              </a:xfrm>
              <a:prstGeom prst="line">
                <a:avLst/>
              </a:prstGeom>
              <a:ln w="28575" cap="flat" cmpd="sng">
                <a:solidFill>
                  <a:schemeClr val="tx1"/>
                </a:solidFill>
                <a:prstDash val="solid"/>
                <a:round/>
                <a:headEnd type="none" w="med" len="med"/>
                <a:tailEnd type="triangle" w="med" len="med"/>
              </a:ln>
            </p:spPr>
          </p:sp>
        </p:grpSp>
        <p:grpSp>
          <p:nvGrpSpPr>
            <p:cNvPr id="130065" name="Group 21"/>
            <p:cNvGrpSpPr/>
            <p:nvPr/>
          </p:nvGrpSpPr>
          <p:grpSpPr>
            <a:xfrm>
              <a:off x="216" y="704"/>
              <a:ext cx="460" cy="332"/>
              <a:chOff x="0" y="0"/>
              <a:chExt cx="460" cy="332"/>
            </a:xfrm>
          </p:grpSpPr>
          <p:sp>
            <p:nvSpPr>
              <p:cNvPr id="130066" name="Rectangle 22"/>
              <p:cNvSpPr/>
              <p:nvPr/>
            </p:nvSpPr>
            <p:spPr>
              <a:xfrm>
                <a:off x="75" y="0"/>
                <a:ext cx="385"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a2=6</a:t>
                </a:r>
                <a:endParaRPr lang="en-US" altLang="zh-CN" sz="2000" dirty="0">
                  <a:latin typeface="Times New Roman" panose="02020603050405020304" pitchFamily="18" charset="0"/>
                  <a:ea typeface="宋体" panose="02010600030101010101" pitchFamily="2" charset="-122"/>
                </a:endParaRPr>
              </a:p>
            </p:txBody>
          </p:sp>
          <p:sp>
            <p:nvSpPr>
              <p:cNvPr id="130067" name="Line 23"/>
              <p:cNvSpPr/>
              <p:nvPr/>
            </p:nvSpPr>
            <p:spPr>
              <a:xfrm>
                <a:off x="0" y="92"/>
                <a:ext cx="384" cy="240"/>
              </a:xfrm>
              <a:prstGeom prst="line">
                <a:avLst/>
              </a:prstGeom>
              <a:ln w="28575" cap="flat" cmpd="sng">
                <a:solidFill>
                  <a:schemeClr val="tx1"/>
                </a:solidFill>
                <a:prstDash val="solid"/>
                <a:round/>
                <a:headEnd type="none" w="med" len="med"/>
                <a:tailEnd type="triangle" w="med" len="med"/>
              </a:ln>
            </p:spPr>
          </p:sp>
        </p:grpSp>
        <p:grpSp>
          <p:nvGrpSpPr>
            <p:cNvPr id="130068" name="Group 24"/>
            <p:cNvGrpSpPr/>
            <p:nvPr/>
          </p:nvGrpSpPr>
          <p:grpSpPr>
            <a:xfrm>
              <a:off x="835" y="0"/>
              <a:ext cx="544" cy="204"/>
              <a:chOff x="0" y="0"/>
              <a:chExt cx="544" cy="204"/>
            </a:xfrm>
          </p:grpSpPr>
          <p:sp>
            <p:nvSpPr>
              <p:cNvPr id="130069" name="Rectangle 25"/>
              <p:cNvSpPr/>
              <p:nvPr/>
            </p:nvSpPr>
            <p:spPr>
              <a:xfrm>
                <a:off x="28" y="0"/>
                <a:ext cx="385"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a3=3</a:t>
                </a:r>
                <a:endParaRPr lang="en-US" altLang="zh-CN" sz="2000" dirty="0">
                  <a:latin typeface="Times New Roman" panose="02020603050405020304" pitchFamily="18" charset="0"/>
                  <a:ea typeface="宋体" panose="02010600030101010101" pitchFamily="2" charset="-122"/>
                </a:endParaRPr>
              </a:p>
            </p:txBody>
          </p:sp>
          <p:sp>
            <p:nvSpPr>
              <p:cNvPr id="130070" name="Line 26"/>
              <p:cNvSpPr/>
              <p:nvPr/>
            </p:nvSpPr>
            <p:spPr>
              <a:xfrm flipV="1">
                <a:off x="0" y="196"/>
                <a:ext cx="544" cy="0"/>
              </a:xfrm>
              <a:prstGeom prst="line">
                <a:avLst/>
              </a:prstGeom>
              <a:ln w="28575" cap="flat" cmpd="sng">
                <a:solidFill>
                  <a:schemeClr val="tx1"/>
                </a:solidFill>
                <a:prstDash val="solid"/>
                <a:round/>
                <a:headEnd type="none" w="med" len="med"/>
                <a:tailEnd type="triangle" w="med" len="med"/>
              </a:ln>
            </p:spPr>
          </p:sp>
        </p:grpSp>
        <p:grpSp>
          <p:nvGrpSpPr>
            <p:cNvPr id="130071" name="Group 27"/>
            <p:cNvGrpSpPr/>
            <p:nvPr/>
          </p:nvGrpSpPr>
          <p:grpSpPr>
            <a:xfrm>
              <a:off x="1632" y="272"/>
              <a:ext cx="556" cy="257"/>
              <a:chOff x="0" y="0"/>
              <a:chExt cx="556" cy="257"/>
            </a:xfrm>
          </p:grpSpPr>
          <p:sp>
            <p:nvSpPr>
              <p:cNvPr id="130072" name="Rectangle 28"/>
              <p:cNvSpPr/>
              <p:nvPr/>
            </p:nvSpPr>
            <p:spPr>
              <a:xfrm>
                <a:off x="171" y="0"/>
                <a:ext cx="385"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a8=5</a:t>
                </a:r>
                <a:endParaRPr lang="en-US" altLang="zh-CN" sz="2000" dirty="0">
                  <a:latin typeface="Times New Roman" panose="02020603050405020304" pitchFamily="18" charset="0"/>
                  <a:ea typeface="宋体" panose="02010600030101010101" pitchFamily="2" charset="-122"/>
                </a:endParaRPr>
              </a:p>
            </p:txBody>
          </p:sp>
          <p:sp>
            <p:nvSpPr>
              <p:cNvPr id="130073" name="Line 29"/>
              <p:cNvSpPr/>
              <p:nvPr/>
            </p:nvSpPr>
            <p:spPr>
              <a:xfrm>
                <a:off x="0" y="8"/>
                <a:ext cx="408" cy="249"/>
              </a:xfrm>
              <a:prstGeom prst="line">
                <a:avLst/>
              </a:prstGeom>
              <a:ln w="28575" cap="flat" cmpd="sng">
                <a:solidFill>
                  <a:schemeClr val="tx1"/>
                </a:solidFill>
                <a:prstDash val="solid"/>
                <a:round/>
                <a:headEnd type="none" w="med" len="med"/>
                <a:tailEnd type="triangle" w="med" len="med"/>
              </a:ln>
            </p:spPr>
          </p:sp>
        </p:grpSp>
        <p:grpSp>
          <p:nvGrpSpPr>
            <p:cNvPr id="130074" name="Group 30"/>
            <p:cNvGrpSpPr/>
            <p:nvPr/>
          </p:nvGrpSpPr>
          <p:grpSpPr>
            <a:xfrm>
              <a:off x="632" y="300"/>
              <a:ext cx="817" cy="657"/>
              <a:chOff x="0" y="0"/>
              <a:chExt cx="817" cy="657"/>
            </a:xfrm>
          </p:grpSpPr>
          <p:sp>
            <p:nvSpPr>
              <p:cNvPr id="130075" name="Rectangle 31"/>
              <p:cNvSpPr/>
              <p:nvPr/>
            </p:nvSpPr>
            <p:spPr>
              <a:xfrm>
                <a:off x="0" y="156"/>
                <a:ext cx="453"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a4=12</a:t>
                </a:r>
                <a:endParaRPr lang="en-US" altLang="zh-CN" sz="2000" dirty="0">
                  <a:latin typeface="Times New Roman" panose="02020603050405020304" pitchFamily="18" charset="0"/>
                  <a:ea typeface="宋体" panose="02010600030101010101" pitchFamily="2" charset="-122"/>
                </a:endParaRPr>
              </a:p>
            </p:txBody>
          </p:sp>
          <p:sp>
            <p:nvSpPr>
              <p:cNvPr id="130076" name="Line 32"/>
              <p:cNvSpPr/>
              <p:nvPr/>
            </p:nvSpPr>
            <p:spPr>
              <a:xfrm flipV="1">
                <a:off x="160" y="0"/>
                <a:ext cx="657" cy="657"/>
              </a:xfrm>
              <a:prstGeom prst="line">
                <a:avLst/>
              </a:prstGeom>
              <a:ln w="28575" cap="flat" cmpd="sng">
                <a:solidFill>
                  <a:schemeClr val="tx1"/>
                </a:solidFill>
                <a:prstDash val="solid"/>
                <a:round/>
                <a:headEnd type="none" w="med" len="med"/>
                <a:tailEnd type="triangle" w="med" len="med"/>
              </a:ln>
            </p:spPr>
          </p:sp>
        </p:grpSp>
        <p:grpSp>
          <p:nvGrpSpPr>
            <p:cNvPr id="130077" name="Group 33"/>
            <p:cNvGrpSpPr/>
            <p:nvPr/>
          </p:nvGrpSpPr>
          <p:grpSpPr>
            <a:xfrm>
              <a:off x="888" y="1068"/>
              <a:ext cx="576" cy="204"/>
              <a:chOff x="0" y="0"/>
              <a:chExt cx="576" cy="204"/>
            </a:xfrm>
          </p:grpSpPr>
          <p:sp>
            <p:nvSpPr>
              <p:cNvPr id="130078" name="Rectangle 34"/>
              <p:cNvSpPr/>
              <p:nvPr/>
            </p:nvSpPr>
            <p:spPr>
              <a:xfrm>
                <a:off x="56" y="0"/>
                <a:ext cx="408"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a5=3</a:t>
                </a:r>
                <a:endParaRPr lang="en-US" altLang="zh-CN" sz="2000" dirty="0">
                  <a:latin typeface="Times New Roman" panose="02020603050405020304" pitchFamily="18" charset="0"/>
                  <a:ea typeface="宋体" panose="02010600030101010101" pitchFamily="2" charset="-122"/>
                </a:endParaRPr>
              </a:p>
            </p:txBody>
          </p:sp>
          <p:sp>
            <p:nvSpPr>
              <p:cNvPr id="130079" name="Line 35"/>
              <p:cNvSpPr/>
              <p:nvPr/>
            </p:nvSpPr>
            <p:spPr>
              <a:xfrm>
                <a:off x="0" y="0"/>
                <a:ext cx="576" cy="0"/>
              </a:xfrm>
              <a:prstGeom prst="line">
                <a:avLst/>
              </a:prstGeom>
              <a:ln w="28575" cap="flat" cmpd="sng">
                <a:solidFill>
                  <a:schemeClr val="tx1"/>
                </a:solidFill>
                <a:prstDash val="solid"/>
                <a:round/>
                <a:headEnd type="none" w="med" len="med"/>
                <a:tailEnd type="triangle" w="med" len="med"/>
              </a:ln>
            </p:spPr>
          </p:sp>
        </p:grpSp>
        <p:grpSp>
          <p:nvGrpSpPr>
            <p:cNvPr id="130080" name="Group 36"/>
            <p:cNvGrpSpPr/>
            <p:nvPr/>
          </p:nvGrpSpPr>
          <p:grpSpPr>
            <a:xfrm>
              <a:off x="1752" y="1084"/>
              <a:ext cx="544" cy="204"/>
              <a:chOff x="0" y="0"/>
              <a:chExt cx="544" cy="204"/>
            </a:xfrm>
          </p:grpSpPr>
          <p:sp>
            <p:nvSpPr>
              <p:cNvPr id="130081" name="Rectangle 37"/>
              <p:cNvSpPr/>
              <p:nvPr/>
            </p:nvSpPr>
            <p:spPr>
              <a:xfrm>
                <a:off x="16" y="0"/>
                <a:ext cx="408"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a10=4</a:t>
                </a:r>
                <a:endParaRPr lang="en-US" altLang="zh-CN" sz="2000" dirty="0">
                  <a:latin typeface="Times New Roman" panose="02020603050405020304" pitchFamily="18" charset="0"/>
                  <a:ea typeface="宋体" panose="02010600030101010101" pitchFamily="2" charset="-122"/>
                </a:endParaRPr>
              </a:p>
            </p:txBody>
          </p:sp>
          <p:sp>
            <p:nvSpPr>
              <p:cNvPr id="130082" name="Line 38"/>
              <p:cNvSpPr/>
              <p:nvPr/>
            </p:nvSpPr>
            <p:spPr>
              <a:xfrm>
                <a:off x="0" y="8"/>
                <a:ext cx="544" cy="0"/>
              </a:xfrm>
              <a:prstGeom prst="line">
                <a:avLst/>
              </a:prstGeom>
              <a:ln w="28575" cap="flat" cmpd="sng">
                <a:solidFill>
                  <a:schemeClr val="tx1"/>
                </a:solidFill>
                <a:prstDash val="solid"/>
                <a:round/>
                <a:headEnd type="none" w="med" len="med"/>
                <a:tailEnd type="triangle" w="med" len="med"/>
              </a:ln>
            </p:spPr>
          </p:sp>
        </p:grpSp>
        <p:grpSp>
          <p:nvGrpSpPr>
            <p:cNvPr id="130083" name="Group 39"/>
            <p:cNvGrpSpPr/>
            <p:nvPr/>
          </p:nvGrpSpPr>
          <p:grpSpPr>
            <a:xfrm>
              <a:off x="1651" y="747"/>
              <a:ext cx="509" cy="289"/>
              <a:chOff x="0" y="0"/>
              <a:chExt cx="509" cy="289"/>
            </a:xfrm>
          </p:grpSpPr>
          <p:sp>
            <p:nvSpPr>
              <p:cNvPr id="130084" name="Rectangle 40"/>
              <p:cNvSpPr/>
              <p:nvPr/>
            </p:nvSpPr>
            <p:spPr>
              <a:xfrm>
                <a:off x="124" y="85"/>
                <a:ext cx="385"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a9=1</a:t>
                </a:r>
                <a:endParaRPr lang="en-US" altLang="zh-CN" sz="2000" dirty="0">
                  <a:latin typeface="Times New Roman" panose="02020603050405020304" pitchFamily="18" charset="0"/>
                  <a:ea typeface="宋体" panose="02010600030101010101" pitchFamily="2" charset="-122"/>
                </a:endParaRPr>
              </a:p>
            </p:txBody>
          </p:sp>
          <p:sp>
            <p:nvSpPr>
              <p:cNvPr id="130085" name="Line 41"/>
              <p:cNvSpPr/>
              <p:nvPr/>
            </p:nvSpPr>
            <p:spPr>
              <a:xfrm flipV="1">
                <a:off x="0" y="0"/>
                <a:ext cx="340" cy="249"/>
              </a:xfrm>
              <a:prstGeom prst="line">
                <a:avLst/>
              </a:prstGeom>
              <a:ln w="28575" cap="flat" cmpd="sng">
                <a:solidFill>
                  <a:schemeClr val="tx1"/>
                </a:solidFill>
                <a:prstDash val="solid"/>
                <a:round/>
                <a:headEnd type="none" w="med" len="med"/>
                <a:tailEnd type="triangle" w="med" len="med"/>
              </a:ln>
            </p:spPr>
          </p:sp>
        </p:grpSp>
        <p:grpSp>
          <p:nvGrpSpPr>
            <p:cNvPr id="130086" name="Group 42"/>
            <p:cNvGrpSpPr/>
            <p:nvPr/>
          </p:nvGrpSpPr>
          <p:grpSpPr>
            <a:xfrm>
              <a:off x="2208" y="440"/>
              <a:ext cx="544" cy="204"/>
              <a:chOff x="0" y="0"/>
              <a:chExt cx="544" cy="204"/>
            </a:xfrm>
          </p:grpSpPr>
          <p:sp>
            <p:nvSpPr>
              <p:cNvPr id="130087" name="Rectangle 43"/>
              <p:cNvSpPr/>
              <p:nvPr/>
            </p:nvSpPr>
            <p:spPr>
              <a:xfrm>
                <a:off x="0" y="0"/>
                <a:ext cx="453"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a12=5</a:t>
                </a:r>
                <a:endParaRPr lang="en-US" altLang="zh-CN" sz="2000" dirty="0">
                  <a:latin typeface="Times New Roman" panose="02020603050405020304" pitchFamily="18" charset="0"/>
                  <a:ea typeface="宋体" panose="02010600030101010101" pitchFamily="2" charset="-122"/>
                </a:endParaRPr>
              </a:p>
            </p:txBody>
          </p:sp>
          <p:sp>
            <p:nvSpPr>
              <p:cNvPr id="130088" name="Line 44"/>
              <p:cNvSpPr/>
              <p:nvPr/>
            </p:nvSpPr>
            <p:spPr>
              <a:xfrm>
                <a:off x="0" y="192"/>
                <a:ext cx="544" cy="0"/>
              </a:xfrm>
              <a:prstGeom prst="line">
                <a:avLst/>
              </a:prstGeom>
              <a:ln w="28575" cap="flat" cmpd="sng">
                <a:solidFill>
                  <a:schemeClr val="tx1"/>
                </a:solidFill>
                <a:prstDash val="solid"/>
                <a:round/>
                <a:headEnd type="none" w="med" len="med"/>
                <a:tailEnd type="triangle" w="med" len="med"/>
              </a:ln>
            </p:spPr>
          </p:sp>
        </p:grpSp>
        <p:grpSp>
          <p:nvGrpSpPr>
            <p:cNvPr id="130089" name="Group 45"/>
            <p:cNvGrpSpPr/>
            <p:nvPr/>
          </p:nvGrpSpPr>
          <p:grpSpPr>
            <a:xfrm>
              <a:off x="2504" y="128"/>
              <a:ext cx="1134" cy="380"/>
              <a:chOff x="0" y="0"/>
              <a:chExt cx="1134" cy="380"/>
            </a:xfrm>
          </p:grpSpPr>
          <p:sp>
            <p:nvSpPr>
              <p:cNvPr id="130090" name="Rectangle 46"/>
              <p:cNvSpPr/>
              <p:nvPr/>
            </p:nvSpPr>
            <p:spPr>
              <a:xfrm>
                <a:off x="424" y="0"/>
                <a:ext cx="453"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a11=4</a:t>
                </a:r>
                <a:endParaRPr lang="en-US" altLang="zh-CN" sz="2000" dirty="0">
                  <a:latin typeface="Times New Roman" panose="02020603050405020304" pitchFamily="18" charset="0"/>
                  <a:ea typeface="宋体" panose="02010600030101010101" pitchFamily="2" charset="-122"/>
                </a:endParaRPr>
              </a:p>
            </p:txBody>
          </p:sp>
          <p:sp>
            <p:nvSpPr>
              <p:cNvPr id="130091" name="Line 47"/>
              <p:cNvSpPr/>
              <p:nvPr/>
            </p:nvSpPr>
            <p:spPr>
              <a:xfrm>
                <a:off x="0" y="44"/>
                <a:ext cx="1134" cy="336"/>
              </a:xfrm>
              <a:prstGeom prst="line">
                <a:avLst/>
              </a:prstGeom>
              <a:ln w="28575" cap="flat" cmpd="sng">
                <a:solidFill>
                  <a:schemeClr val="tx1"/>
                </a:solidFill>
                <a:prstDash val="solid"/>
                <a:round/>
                <a:headEnd type="none" w="med" len="med"/>
                <a:tailEnd type="triangle" w="med" len="med"/>
              </a:ln>
            </p:spPr>
          </p:sp>
        </p:grpSp>
        <p:grpSp>
          <p:nvGrpSpPr>
            <p:cNvPr id="130092" name="Group 48"/>
            <p:cNvGrpSpPr/>
            <p:nvPr/>
          </p:nvGrpSpPr>
          <p:grpSpPr>
            <a:xfrm>
              <a:off x="1152" y="308"/>
              <a:ext cx="392" cy="680"/>
              <a:chOff x="0" y="0"/>
              <a:chExt cx="392" cy="680"/>
            </a:xfrm>
          </p:grpSpPr>
          <p:sp>
            <p:nvSpPr>
              <p:cNvPr id="130093" name="Line 49"/>
              <p:cNvSpPr/>
              <p:nvPr/>
            </p:nvSpPr>
            <p:spPr>
              <a:xfrm>
                <a:off x="392" y="0"/>
                <a:ext cx="0" cy="680"/>
              </a:xfrm>
              <a:prstGeom prst="line">
                <a:avLst/>
              </a:prstGeom>
              <a:ln w="28575" cap="flat" cmpd="sng">
                <a:solidFill>
                  <a:schemeClr val="tx1"/>
                </a:solidFill>
                <a:prstDash val="solid"/>
                <a:round/>
                <a:headEnd type="none" w="med" len="med"/>
                <a:tailEnd type="triangle" w="med" len="med"/>
              </a:ln>
            </p:spPr>
          </p:sp>
          <p:sp>
            <p:nvSpPr>
              <p:cNvPr id="130094" name="Rectangle 50"/>
              <p:cNvSpPr/>
              <p:nvPr/>
            </p:nvSpPr>
            <p:spPr>
              <a:xfrm>
                <a:off x="0" y="264"/>
                <a:ext cx="385"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a6=3</a:t>
                </a:r>
                <a:endParaRPr lang="en-US" altLang="zh-CN" sz="2000" dirty="0">
                  <a:latin typeface="Times New Roman" panose="02020603050405020304" pitchFamily="18" charset="0"/>
                  <a:ea typeface="宋体" panose="02010600030101010101" pitchFamily="2" charset="-122"/>
                </a:endParaRPr>
              </a:p>
            </p:txBody>
          </p:sp>
        </p:grpSp>
        <p:grpSp>
          <p:nvGrpSpPr>
            <p:cNvPr id="130095" name="Group 51"/>
            <p:cNvGrpSpPr/>
            <p:nvPr/>
          </p:nvGrpSpPr>
          <p:grpSpPr>
            <a:xfrm>
              <a:off x="1672" y="4"/>
              <a:ext cx="544" cy="204"/>
              <a:chOff x="0" y="0"/>
              <a:chExt cx="544" cy="204"/>
            </a:xfrm>
          </p:grpSpPr>
          <p:sp>
            <p:nvSpPr>
              <p:cNvPr id="130096" name="Rectangle 52"/>
              <p:cNvSpPr/>
              <p:nvPr/>
            </p:nvSpPr>
            <p:spPr>
              <a:xfrm>
                <a:off x="48" y="0"/>
                <a:ext cx="385"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a7=3</a:t>
                </a:r>
                <a:endParaRPr lang="en-US" altLang="zh-CN" sz="2000" dirty="0">
                  <a:latin typeface="Times New Roman" panose="02020603050405020304" pitchFamily="18" charset="0"/>
                  <a:ea typeface="宋体" panose="02010600030101010101" pitchFamily="2" charset="-122"/>
                </a:endParaRPr>
              </a:p>
            </p:txBody>
          </p:sp>
          <p:sp>
            <p:nvSpPr>
              <p:cNvPr id="130097" name="Line 53"/>
              <p:cNvSpPr/>
              <p:nvPr/>
            </p:nvSpPr>
            <p:spPr>
              <a:xfrm flipV="1">
                <a:off x="0" y="184"/>
                <a:ext cx="544" cy="0"/>
              </a:xfrm>
              <a:prstGeom prst="line">
                <a:avLst/>
              </a:prstGeom>
              <a:ln w="28575" cap="flat" cmpd="sng">
                <a:solidFill>
                  <a:schemeClr val="tx1"/>
                </a:solidFill>
                <a:prstDash val="solid"/>
                <a:round/>
                <a:headEnd type="none" w="med" len="med"/>
                <a:tailEnd type="triangle" w="med" len="med"/>
              </a:ln>
            </p:spPr>
          </p:sp>
        </p:grpSp>
        <p:grpSp>
          <p:nvGrpSpPr>
            <p:cNvPr id="130098" name="Group 54"/>
            <p:cNvGrpSpPr/>
            <p:nvPr/>
          </p:nvGrpSpPr>
          <p:grpSpPr>
            <a:xfrm>
              <a:off x="2496" y="708"/>
              <a:ext cx="513" cy="304"/>
              <a:chOff x="0" y="0"/>
              <a:chExt cx="513" cy="304"/>
            </a:xfrm>
          </p:grpSpPr>
          <p:sp>
            <p:nvSpPr>
              <p:cNvPr id="130099" name="Rectangle 55"/>
              <p:cNvSpPr/>
              <p:nvPr/>
            </p:nvSpPr>
            <p:spPr>
              <a:xfrm>
                <a:off x="128" y="100"/>
                <a:ext cx="385"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a13=2</a:t>
                </a:r>
                <a:endParaRPr lang="en-US" altLang="zh-CN" sz="2000" dirty="0">
                  <a:latin typeface="Times New Roman" panose="02020603050405020304" pitchFamily="18" charset="0"/>
                  <a:ea typeface="宋体" panose="02010600030101010101" pitchFamily="2" charset="-122"/>
                </a:endParaRPr>
              </a:p>
            </p:txBody>
          </p:sp>
          <p:sp>
            <p:nvSpPr>
              <p:cNvPr id="130100" name="Line 56"/>
              <p:cNvSpPr/>
              <p:nvPr/>
            </p:nvSpPr>
            <p:spPr>
              <a:xfrm flipV="1">
                <a:off x="0" y="0"/>
                <a:ext cx="363" cy="272"/>
              </a:xfrm>
              <a:prstGeom prst="line">
                <a:avLst/>
              </a:prstGeom>
              <a:ln w="28575" cap="flat" cmpd="sng">
                <a:solidFill>
                  <a:schemeClr val="tx1"/>
                </a:solidFill>
                <a:prstDash val="solid"/>
                <a:round/>
                <a:headEnd type="none" w="med" len="med"/>
                <a:tailEnd type="triangle" w="med" len="med"/>
              </a:ln>
            </p:spPr>
          </p:sp>
        </p:grpSp>
        <p:sp>
          <p:nvSpPr>
            <p:cNvPr id="130101" name="Oval 57"/>
            <p:cNvSpPr/>
            <p:nvPr/>
          </p:nvSpPr>
          <p:spPr>
            <a:xfrm>
              <a:off x="3561" y="484"/>
              <a:ext cx="295" cy="227"/>
            </a:xfrm>
            <a:prstGeom prst="ellipse">
              <a:avLst/>
            </a:prstGeom>
            <a:noFill/>
            <a:ln w="9525" cap="flat" cmpd="sng">
              <a:solidFill>
                <a:schemeClr val="tx1"/>
              </a:solidFill>
              <a:prstDash val="solid"/>
              <a:round/>
              <a:headEnd type="none" w="med" len="med"/>
              <a:tailEnd type="none" w="med" len="med"/>
            </a:ln>
          </p:spPr>
          <p:txBody>
            <a:bodyPr wrap="none" anchor="ctr" anchorCtr="0"/>
            <a:p>
              <a:r>
                <a:rPr lang="en-US" altLang="zh-CN" sz="2400" dirty="0">
                  <a:latin typeface="Times New Roman" panose="02020603050405020304" pitchFamily="18" charset="0"/>
                  <a:ea typeface="宋体" panose="02010600030101010101" pitchFamily="2" charset="-122"/>
                </a:rPr>
                <a:t>v</a:t>
              </a:r>
              <a:r>
                <a:rPr lang="en-US" altLang="zh-CN" sz="2400" baseline="-18000" dirty="0">
                  <a:latin typeface="Times New Roman" panose="02020603050405020304" pitchFamily="18" charset="0"/>
                  <a:ea typeface="宋体" panose="02010600030101010101" pitchFamily="2" charset="-122"/>
                </a:rPr>
                <a:t>9</a:t>
              </a:r>
              <a:endParaRPr lang="en-US" altLang="zh-CN" sz="2400" baseline="-18000" dirty="0">
                <a:latin typeface="Times New Roman" panose="02020603050405020304" pitchFamily="18" charset="0"/>
                <a:ea typeface="宋体" panose="02010600030101010101" pitchFamily="2" charset="-122"/>
              </a:endParaRPr>
            </a:p>
          </p:txBody>
        </p:sp>
        <p:grpSp>
          <p:nvGrpSpPr>
            <p:cNvPr id="130102" name="Group 58"/>
            <p:cNvGrpSpPr/>
            <p:nvPr/>
          </p:nvGrpSpPr>
          <p:grpSpPr>
            <a:xfrm>
              <a:off x="3024" y="428"/>
              <a:ext cx="544" cy="204"/>
              <a:chOff x="0" y="0"/>
              <a:chExt cx="544" cy="204"/>
            </a:xfrm>
          </p:grpSpPr>
          <p:sp>
            <p:nvSpPr>
              <p:cNvPr id="130103" name="Rectangle 59"/>
              <p:cNvSpPr/>
              <p:nvPr/>
            </p:nvSpPr>
            <p:spPr>
              <a:xfrm>
                <a:off x="0" y="0"/>
                <a:ext cx="453" cy="204"/>
              </a:xfrm>
              <a:prstGeom prst="rect">
                <a:avLst/>
              </a:prstGeom>
              <a:noFill/>
              <a:ln w="9525">
                <a:noFill/>
              </a:ln>
            </p:spPr>
            <p:txBody>
              <a:bodyPr wrap="none" anchor="ctr" anchorCtr="0"/>
              <a:p>
                <a:r>
                  <a:rPr lang="en-US" altLang="zh-CN" sz="2000" dirty="0">
                    <a:latin typeface="Times New Roman" panose="02020603050405020304" pitchFamily="18" charset="0"/>
                    <a:ea typeface="宋体" panose="02010600030101010101" pitchFamily="2" charset="-122"/>
                  </a:rPr>
                  <a:t>a14=2</a:t>
                </a:r>
                <a:endParaRPr lang="en-US" altLang="zh-CN" sz="2000" dirty="0">
                  <a:latin typeface="Times New Roman" panose="02020603050405020304" pitchFamily="18" charset="0"/>
                  <a:ea typeface="宋体" panose="02010600030101010101" pitchFamily="2" charset="-122"/>
                </a:endParaRPr>
              </a:p>
            </p:txBody>
          </p:sp>
          <p:sp>
            <p:nvSpPr>
              <p:cNvPr id="130104" name="Line 60"/>
              <p:cNvSpPr/>
              <p:nvPr/>
            </p:nvSpPr>
            <p:spPr>
              <a:xfrm>
                <a:off x="0" y="192"/>
                <a:ext cx="544" cy="0"/>
              </a:xfrm>
              <a:prstGeom prst="line">
                <a:avLst/>
              </a:prstGeom>
              <a:ln w="28575" cap="flat" cmpd="sng">
                <a:solidFill>
                  <a:schemeClr val="tx1"/>
                </a:solidFill>
                <a:prstDash val="solid"/>
                <a:round/>
                <a:headEnd type="none" w="med" len="med"/>
                <a:tailEnd type="triangle" w="med" len="med"/>
              </a:ln>
            </p:spPr>
          </p:sp>
        </p:grpSp>
      </p:grpSp>
      <p:pic>
        <p:nvPicPr>
          <p:cNvPr id="10" name="图片 9"/>
          <p:cNvPicPr>
            <a:picLocks noChangeAspect="1"/>
          </p:cNvPicPr>
          <p:nvPr/>
        </p:nvPicPr>
        <p:blipFill>
          <a:blip r:embed="rId1"/>
          <a:stretch>
            <a:fillRect/>
          </a:stretch>
        </p:blipFill>
        <p:spPr>
          <a:xfrm>
            <a:off x="2206943" y="5013008"/>
            <a:ext cx="7837487" cy="13430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ppt_x"/>
                                          </p:val>
                                        </p:tav>
                                        <p:tav tm="100000">
                                          <p:val>
                                            <p:strVal val="#ppt_x"/>
                                          </p:val>
                                        </p:tav>
                                      </p:tavLst>
                                    </p:anim>
                                    <p:anim calcmode="lin" valueType="num">
                                      <p:cBhvr additive="base">
                                        <p:cTn id="8" dur="10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lvl="0" algn="l" eaLnBrk="1" hangingPunct="1">
              <a:lnSpc>
                <a:spcPct val="100000"/>
              </a:lnSpc>
              <a:spcBef>
                <a:spcPct val="20000"/>
              </a:spcBef>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拓扑排序，根据DAG图求拓扑有序序列</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lvl="0" algn="l" eaLnBrk="1" hangingPunct="1">
              <a:lnSpc>
                <a:spcPct val="100000"/>
              </a:lnSpc>
              <a:spcBef>
                <a:spcPct val="20000"/>
              </a:spcBef>
              <a:buClrTx/>
              <a:buSzTx/>
              <a:buChar char="l"/>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关键路径，根据AOE网求最早完成时间、关键路径</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L="914400" lvl="2" indent="-457200" algn="l" eaLnBrk="1"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基于拓扑排序，正序计算所有活动的最早开始时间，逆序计算所有最晚开始时间</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914400" lvl="2" indent="-457200" algn="l" eaLnBrk="1"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终点的时间为最早完成时间</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914400" lvl="2" indent="-457200" algn="l" eaLnBrk="1"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最早开始时间与最晚开始相等的活动为关键活动</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914400" lvl="2" indent="-457200" algn="l" eaLnBrk="1"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关键活动组成关键路径</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914400" lvl="2" indent="-457200" algn="l">
              <a:buClrTx/>
              <a:buSzTx/>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sym typeface="+mn-ea"/>
              </a:rPr>
              <a:t>上节课</a:t>
            </a:r>
            <a:r>
              <a:rPr lang="zh-CN" altLang="en-US" sz="4000">
                <a:solidFill>
                  <a:srgbClr val="FF0000"/>
                </a:solidFill>
                <a:latin typeface="楷体" panose="02010609060101010101" charset="-122"/>
                <a:ea typeface="楷体" panose="02010609060101010101" charset="-122"/>
              </a:rPr>
              <a:t>复习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一个有</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10</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个顶点的无向完全图有</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_______</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条</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边</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一个有</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380</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条弧的有</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向完全图有</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_______</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个</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顶点</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algn="l" eaLnBrk="1" hangingPunct="1">
              <a:buClrTx/>
              <a:buSzTx/>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n</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个顶点的无向图有</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m</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条边，若采用邻接矩阵为存储结构</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L="0" indent="0" algn="l" eaLnBrk="1" hangingPunct="1">
              <a:buClrTx/>
              <a:buSzTx/>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该矩阵包含</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_______</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个</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0</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元素</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algn="l" eaLnBrk="1" hangingPunct="1">
              <a:buClrTx/>
              <a:buSzTx/>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n</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个顶点的有向图有</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m</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条弧，若采用邻接</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表为存储结构</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L="0" indent="0" algn="l" eaLnBrk="1" hangingPunct="1">
              <a:buClrTx/>
              <a:buSzTx/>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该邻接表包含</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_______</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个</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非空指针</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algn="l" eaLnBrk="1" hangingPunct="1">
              <a:buClrTx/>
              <a:buSzTx/>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如右图，用逆邻接表</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Nx</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表示，则数组元素</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Nx[2]</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的</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L="0" indent="0" algn="l" eaLnBrk="1" hangingPunct="1">
              <a:buClrTx/>
              <a:buSzTx/>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指针所指的链表长度为</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_______(</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不含数组元素结点</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复习练习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grpSp>
        <p:nvGrpSpPr>
          <p:cNvPr id="110596" name="Group 4"/>
          <p:cNvGrpSpPr/>
          <p:nvPr/>
        </p:nvGrpSpPr>
        <p:grpSpPr>
          <a:xfrm>
            <a:off x="9127808" y="3790633"/>
            <a:ext cx="2819400" cy="2286000"/>
            <a:chOff x="3360" y="2496"/>
            <a:chExt cx="1776" cy="1440"/>
          </a:xfrm>
        </p:grpSpPr>
        <p:sp>
          <p:nvSpPr>
            <p:cNvPr id="110597" name="Line 5"/>
            <p:cNvSpPr/>
            <p:nvPr/>
          </p:nvSpPr>
          <p:spPr>
            <a:xfrm>
              <a:off x="4368" y="2640"/>
              <a:ext cx="576" cy="384"/>
            </a:xfrm>
            <a:prstGeom prst="line">
              <a:avLst/>
            </a:prstGeom>
            <a:ln w="38100" cap="flat" cmpd="sng">
              <a:solidFill>
                <a:srgbClr val="009900"/>
              </a:solidFill>
              <a:prstDash val="solid"/>
              <a:round/>
              <a:headEnd type="triangle" w="med" len="med"/>
              <a:tailEnd type="none" w="med" len="med"/>
            </a:ln>
          </p:spPr>
        </p:sp>
        <p:sp>
          <p:nvSpPr>
            <p:cNvPr id="110598" name="Line 6"/>
            <p:cNvSpPr/>
            <p:nvPr/>
          </p:nvSpPr>
          <p:spPr>
            <a:xfrm>
              <a:off x="3538" y="3171"/>
              <a:ext cx="222" cy="540"/>
            </a:xfrm>
            <a:prstGeom prst="line">
              <a:avLst/>
            </a:prstGeom>
            <a:ln w="38100" cap="flat" cmpd="sng">
              <a:solidFill>
                <a:srgbClr val="009900"/>
              </a:solidFill>
              <a:prstDash val="solid"/>
              <a:round/>
              <a:headEnd type="none" w="med" len="med"/>
              <a:tailEnd type="triangle" w="med" len="med"/>
            </a:ln>
          </p:spPr>
        </p:sp>
        <p:sp>
          <p:nvSpPr>
            <p:cNvPr id="110599" name="Line 7"/>
            <p:cNvSpPr/>
            <p:nvPr/>
          </p:nvSpPr>
          <p:spPr>
            <a:xfrm flipH="1">
              <a:off x="3582" y="2631"/>
              <a:ext cx="622" cy="360"/>
            </a:xfrm>
            <a:prstGeom prst="line">
              <a:avLst/>
            </a:prstGeom>
            <a:ln w="38100" cap="flat" cmpd="sng">
              <a:solidFill>
                <a:srgbClr val="009900"/>
              </a:solidFill>
              <a:prstDash val="solid"/>
              <a:round/>
              <a:headEnd type="none" w="med" len="med"/>
              <a:tailEnd type="triangle" w="med" len="med"/>
            </a:ln>
          </p:spPr>
        </p:sp>
        <p:sp>
          <p:nvSpPr>
            <p:cNvPr id="110600" name="Line 8"/>
            <p:cNvSpPr/>
            <p:nvPr/>
          </p:nvSpPr>
          <p:spPr>
            <a:xfrm flipH="1" flipV="1">
              <a:off x="4292" y="2676"/>
              <a:ext cx="356" cy="990"/>
            </a:xfrm>
            <a:prstGeom prst="line">
              <a:avLst/>
            </a:prstGeom>
            <a:ln w="38100" cap="flat" cmpd="sng">
              <a:solidFill>
                <a:srgbClr val="009900"/>
              </a:solidFill>
              <a:prstDash val="solid"/>
              <a:round/>
              <a:headEnd type="triangle" w="med" len="med"/>
              <a:tailEnd type="none" w="med" len="med"/>
            </a:ln>
          </p:spPr>
        </p:sp>
        <p:sp>
          <p:nvSpPr>
            <p:cNvPr id="110601" name="Line 9"/>
            <p:cNvSpPr/>
            <p:nvPr/>
          </p:nvSpPr>
          <p:spPr>
            <a:xfrm flipH="1">
              <a:off x="3893" y="3801"/>
              <a:ext cx="666" cy="0"/>
            </a:xfrm>
            <a:prstGeom prst="line">
              <a:avLst/>
            </a:prstGeom>
            <a:ln w="38100" cap="flat" cmpd="sng">
              <a:solidFill>
                <a:srgbClr val="009900"/>
              </a:solidFill>
              <a:prstDash val="solid"/>
              <a:round/>
              <a:headEnd type="none" w="med" len="med"/>
              <a:tailEnd type="triangle" w="med" len="med"/>
            </a:ln>
          </p:spPr>
        </p:sp>
        <p:sp>
          <p:nvSpPr>
            <p:cNvPr id="110602" name="Line 10"/>
            <p:cNvSpPr/>
            <p:nvPr/>
          </p:nvSpPr>
          <p:spPr>
            <a:xfrm flipH="1">
              <a:off x="3893" y="3216"/>
              <a:ext cx="1065" cy="540"/>
            </a:xfrm>
            <a:prstGeom prst="line">
              <a:avLst/>
            </a:prstGeom>
            <a:ln w="38100" cap="flat" cmpd="sng">
              <a:solidFill>
                <a:srgbClr val="009900"/>
              </a:solidFill>
              <a:prstDash val="solid"/>
              <a:round/>
              <a:headEnd type="triangle" w="med" len="med"/>
              <a:tailEnd type="none" w="med" len="med"/>
            </a:ln>
          </p:spPr>
        </p:sp>
        <p:sp>
          <p:nvSpPr>
            <p:cNvPr id="110603" name="Oval 11"/>
            <p:cNvSpPr/>
            <p:nvPr/>
          </p:nvSpPr>
          <p:spPr>
            <a:xfrm>
              <a:off x="3360" y="2946"/>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1</a:t>
              </a:r>
              <a:endParaRPr lang="en-US" altLang="zh-CN" sz="2400" dirty="0">
                <a:solidFill>
                  <a:schemeClr val="bg1"/>
                </a:solidFill>
                <a:latin typeface="Tahoma" panose="020B0604030504040204" charset="0"/>
                <a:ea typeface="宋体" panose="02010600030101010101" pitchFamily="2" charset="-122"/>
              </a:endParaRPr>
            </a:p>
          </p:txBody>
        </p:sp>
        <p:sp>
          <p:nvSpPr>
            <p:cNvPr id="110604" name="Oval 12"/>
            <p:cNvSpPr/>
            <p:nvPr/>
          </p:nvSpPr>
          <p:spPr>
            <a:xfrm>
              <a:off x="4559" y="3682"/>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3</a:t>
              </a:r>
              <a:endParaRPr lang="en-US" altLang="zh-CN" sz="2400" dirty="0">
                <a:solidFill>
                  <a:schemeClr val="bg1"/>
                </a:solidFill>
                <a:latin typeface="Tahoma" panose="020B0604030504040204" charset="0"/>
                <a:ea typeface="宋体" panose="02010600030101010101" pitchFamily="2" charset="-122"/>
              </a:endParaRPr>
            </a:p>
          </p:txBody>
        </p:sp>
        <p:sp>
          <p:nvSpPr>
            <p:cNvPr id="110605" name="Oval 13"/>
            <p:cNvSpPr/>
            <p:nvPr/>
          </p:nvSpPr>
          <p:spPr>
            <a:xfrm>
              <a:off x="3671" y="3682"/>
              <a:ext cx="266" cy="254"/>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2</a:t>
              </a:r>
              <a:endParaRPr lang="en-US" altLang="zh-CN" sz="2400" dirty="0">
                <a:solidFill>
                  <a:schemeClr val="bg1"/>
                </a:solidFill>
                <a:latin typeface="Tahoma" panose="020B0604030504040204" charset="0"/>
                <a:ea typeface="宋体" panose="02010600030101010101" pitchFamily="2" charset="-122"/>
              </a:endParaRPr>
            </a:p>
          </p:txBody>
        </p:sp>
        <p:sp>
          <p:nvSpPr>
            <p:cNvPr id="110606" name="Oval 14"/>
            <p:cNvSpPr/>
            <p:nvPr/>
          </p:nvSpPr>
          <p:spPr>
            <a:xfrm>
              <a:off x="4870" y="2991"/>
              <a:ext cx="266" cy="253"/>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4</a:t>
              </a:r>
              <a:endParaRPr lang="en-US" altLang="zh-CN" sz="2400" dirty="0">
                <a:solidFill>
                  <a:schemeClr val="bg1"/>
                </a:solidFill>
                <a:latin typeface="Tahoma" panose="020B0604030504040204" charset="0"/>
                <a:ea typeface="宋体" panose="02010600030101010101" pitchFamily="2" charset="-122"/>
              </a:endParaRPr>
            </a:p>
          </p:txBody>
        </p:sp>
        <p:sp>
          <p:nvSpPr>
            <p:cNvPr id="110607" name="Oval 15"/>
            <p:cNvSpPr/>
            <p:nvPr/>
          </p:nvSpPr>
          <p:spPr>
            <a:xfrm>
              <a:off x="4115" y="2496"/>
              <a:ext cx="266" cy="253"/>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400" dirty="0">
                  <a:solidFill>
                    <a:schemeClr val="bg1"/>
                  </a:solidFill>
                  <a:latin typeface="Tahoma" panose="020B0604030504040204" charset="0"/>
                  <a:ea typeface="宋体" panose="02010600030101010101" pitchFamily="2" charset="-122"/>
                </a:rPr>
                <a:t>0</a:t>
              </a:r>
              <a:endParaRPr lang="en-US" altLang="zh-CN" sz="2400" dirty="0">
                <a:solidFill>
                  <a:schemeClr val="bg1"/>
                </a:solidFill>
                <a:latin typeface="Tahoma" panose="020B0604030504040204" charset="0"/>
                <a:ea typeface="宋体" panose="02010600030101010101" pitchFamily="2" charset="-122"/>
              </a:endParaRPr>
            </a:p>
          </p:txBody>
        </p:sp>
      </p:gr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a:xfrm>
            <a:off x="429260" y="948055"/>
            <a:ext cx="11087735" cy="2976245"/>
          </a:xfrm>
        </p:spPr>
        <p:txBody>
          <a:bodyPr/>
          <a:p>
            <a:pPr marL="609600" lvl="0" indent="-609600"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判断有向图是否有回路，可以利用</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______</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算法（可能有</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多个）。</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609600" lvl="0" indent="-609600"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已知图G=</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V,E</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,其中V={1,2,3,4,5,6,7,8}，E={&lt;1,2&gt;,&lt;1,3&gt;,&lt;1,4&gt;,&lt;2,5&gt;,&lt;3,5&gt;,&lt;4,6&gt;,&lt;5,7&gt;,&lt;7,8&gt;,&lt;6,8&gt;}，求该图的所有拓扑有序</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序列</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marL="609600" lvl="0" indent="-609600"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已知图的邻接表如下，基于栈</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结构实现拓扑排序，请写出拓扑排序</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过程</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endParaRPr lang="zh-CN" altLang="en-US" sz="2000" b="1"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复习练习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
        <p:nvSpPr>
          <p:cNvPr id="7" name="文本框 6"/>
          <p:cNvSpPr txBox="1"/>
          <p:nvPr/>
        </p:nvSpPr>
        <p:spPr>
          <a:xfrm>
            <a:off x="2495550" y="3429000"/>
            <a:ext cx="2025015" cy="1938020"/>
          </a:xfrm>
          <a:prstGeom prst="rect">
            <a:avLst/>
          </a:prstGeom>
        </p:spPr>
        <p:txBody>
          <a:bodyPr vert="horz" wrap="square" lIns="91440" tIns="45720" rIns="91440" bIns="45720" rtlCol="0" anchor="t">
            <a:spAutoFit/>
          </a:bodyPr>
          <a:p>
            <a:pPr marL="0" lvl="0" indent="0" algn="l" eaLnBrk="1" latinLnBrk="0" hangingPunct="1">
              <a:spcBef>
                <a:spcPts val="0"/>
              </a:spcBef>
              <a:buClrTx/>
              <a:buSzTx/>
              <a:buNone/>
            </a:pPr>
            <a:r>
              <a:rPr lang="en-US" altLang="zh-CN" sz="2400" b="1" dirty="0">
                <a:latin typeface="黑体" panose="02010609060101010101" pitchFamily="2" charset="-122"/>
                <a:ea typeface="黑体" panose="02010609060101010101" pitchFamily="2" charset="-122"/>
                <a:cs typeface="黑体" panose="02010609060101010101" pitchFamily="2" charset="-122"/>
                <a:sym typeface="+mn-ea"/>
              </a:rPr>
              <a:t>a</a:t>
            </a:r>
            <a:r>
              <a:rPr lang="zh-CN" altLang="en-US" sz="2400" b="1" dirty="0">
                <a:latin typeface="黑体" panose="02010609060101010101" pitchFamily="2" charset="-122"/>
                <a:ea typeface="黑体" panose="02010609060101010101" pitchFamily="2" charset="-122"/>
                <a:cs typeface="黑体" panose="02010609060101010101" pitchFamily="2" charset="-122"/>
                <a:sym typeface="+mn-ea"/>
              </a:rPr>
              <a:t>:-&gt;1-&gt;2-&gt;</a:t>
            </a:r>
            <a:r>
              <a:rPr lang="en-US" altLang="zh-CN" sz="2400" b="1" dirty="0">
                <a:latin typeface="黑体" panose="02010609060101010101" pitchFamily="2" charset="-122"/>
                <a:ea typeface="黑体" panose="02010609060101010101" pitchFamily="2" charset="-122"/>
                <a:cs typeface="黑体" panose="02010609060101010101" pitchFamily="2" charset="-122"/>
                <a:sym typeface="+mn-ea"/>
              </a:rPr>
              <a:t>3</a:t>
            </a:r>
            <a:r>
              <a:rPr lang="zh-CN" altLang="en-US" sz="2400" b="1"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400" b="1" dirty="0">
              <a:latin typeface="黑体" panose="02010609060101010101" pitchFamily="2" charset="-122"/>
              <a:ea typeface="黑体" panose="02010609060101010101" pitchFamily="2" charset="-122"/>
              <a:cs typeface="黑体" panose="02010609060101010101" pitchFamily="2" charset="-122"/>
              <a:sym typeface="+mn-ea"/>
            </a:endParaRPr>
          </a:p>
          <a:p>
            <a:pPr marL="0" lvl="0" indent="0" algn="l" eaLnBrk="1" latinLnBrk="0" hangingPunct="1">
              <a:spcBef>
                <a:spcPts val="0"/>
              </a:spcBef>
              <a:buClrTx/>
              <a:buSzTx/>
              <a:buNone/>
            </a:pPr>
            <a:r>
              <a:rPr lang="en-US" altLang="zh-CN" sz="2400" b="1" dirty="0">
                <a:latin typeface="黑体" panose="02010609060101010101" pitchFamily="2" charset="-122"/>
                <a:ea typeface="黑体" panose="02010609060101010101" pitchFamily="2" charset="-122"/>
                <a:cs typeface="黑体" panose="02010609060101010101" pitchFamily="2" charset="-122"/>
                <a:sym typeface="+mn-ea"/>
              </a:rPr>
              <a:t>b</a:t>
            </a:r>
            <a:r>
              <a:rPr lang="zh-CN" altLang="en-US" sz="2400" b="1" dirty="0">
                <a:latin typeface="黑体" panose="02010609060101010101" pitchFamily="2" charset="-122"/>
                <a:ea typeface="黑体" panose="02010609060101010101" pitchFamily="2" charset="-122"/>
                <a:cs typeface="黑体" panose="02010609060101010101" pitchFamily="2" charset="-122"/>
                <a:sym typeface="+mn-ea"/>
              </a:rPr>
              <a:t>:-&gt;3-&gt;</a:t>
            </a:r>
            <a:r>
              <a:rPr lang="en-US" altLang="zh-CN" sz="2400" b="1" dirty="0">
                <a:latin typeface="黑体" panose="02010609060101010101" pitchFamily="2" charset="-122"/>
                <a:ea typeface="黑体" panose="02010609060101010101" pitchFamily="2" charset="-122"/>
                <a:cs typeface="黑体" panose="02010609060101010101" pitchFamily="2" charset="-122"/>
                <a:sym typeface="+mn-ea"/>
              </a:rPr>
              <a:t>4</a:t>
            </a:r>
            <a:r>
              <a:rPr lang="zh-CN" altLang="en-US" sz="2400" b="1"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400" b="1" dirty="0">
              <a:latin typeface="黑体" panose="02010609060101010101" pitchFamily="2" charset="-122"/>
              <a:ea typeface="黑体" panose="02010609060101010101" pitchFamily="2" charset="-122"/>
              <a:cs typeface="黑体" panose="02010609060101010101" pitchFamily="2" charset="-122"/>
              <a:sym typeface="+mn-ea"/>
            </a:endParaRPr>
          </a:p>
          <a:p>
            <a:pPr marL="0" lvl="0" indent="0" algn="l" eaLnBrk="1" latinLnBrk="0" hangingPunct="1">
              <a:spcBef>
                <a:spcPts val="0"/>
              </a:spcBef>
              <a:buClrTx/>
              <a:buSzTx/>
              <a:buNone/>
            </a:pPr>
            <a:r>
              <a:rPr lang="en-US" altLang="zh-CN" sz="2400" b="1" dirty="0">
                <a:latin typeface="黑体" panose="02010609060101010101" pitchFamily="2" charset="-122"/>
                <a:ea typeface="黑体" panose="02010609060101010101" pitchFamily="2" charset="-122"/>
                <a:cs typeface="黑体" panose="02010609060101010101" pitchFamily="2" charset="-122"/>
                <a:sym typeface="+mn-ea"/>
              </a:rPr>
              <a:t>c</a:t>
            </a:r>
            <a:r>
              <a:rPr lang="zh-CN" altLang="en-US" sz="2400" b="1" dirty="0">
                <a:latin typeface="黑体" panose="02010609060101010101" pitchFamily="2" charset="-122"/>
                <a:ea typeface="黑体" panose="02010609060101010101" pitchFamily="2" charset="-122"/>
                <a:cs typeface="黑体" panose="02010609060101010101" pitchFamily="2" charset="-122"/>
                <a:sym typeface="+mn-ea"/>
              </a:rPr>
              <a:t>:-&gt;</a:t>
            </a:r>
            <a:r>
              <a:rPr lang="en-US" altLang="zh-CN" sz="2400" b="1"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400" b="1" dirty="0">
              <a:latin typeface="黑体" panose="02010609060101010101" pitchFamily="2" charset="-122"/>
              <a:ea typeface="黑体" panose="02010609060101010101" pitchFamily="2" charset="-122"/>
              <a:cs typeface="黑体" panose="02010609060101010101" pitchFamily="2" charset="-122"/>
              <a:sym typeface="+mn-ea"/>
            </a:endParaRPr>
          </a:p>
          <a:p>
            <a:pPr marL="0" lvl="0" indent="0" algn="l" eaLnBrk="1" latinLnBrk="0" hangingPunct="1">
              <a:spcBef>
                <a:spcPts val="0"/>
              </a:spcBef>
              <a:buClrTx/>
              <a:buSzTx/>
              <a:buNone/>
            </a:pPr>
            <a:r>
              <a:rPr lang="en-US" altLang="zh-CN" sz="2400" b="1" dirty="0">
                <a:latin typeface="黑体" panose="02010609060101010101" pitchFamily="2" charset="-122"/>
                <a:ea typeface="黑体" panose="02010609060101010101" pitchFamily="2" charset="-122"/>
                <a:cs typeface="黑体" panose="02010609060101010101" pitchFamily="2" charset="-122"/>
                <a:sym typeface="+mn-ea"/>
              </a:rPr>
              <a:t>d</a:t>
            </a:r>
            <a:r>
              <a:rPr lang="zh-CN" altLang="en-US" sz="2400" b="1" dirty="0">
                <a:latin typeface="黑体" panose="02010609060101010101" pitchFamily="2" charset="-122"/>
                <a:ea typeface="黑体" panose="02010609060101010101" pitchFamily="2" charset="-122"/>
                <a:cs typeface="黑体" panose="02010609060101010101" pitchFamily="2" charset="-122"/>
                <a:sym typeface="+mn-ea"/>
              </a:rPr>
              <a:t>:-&gt;</a:t>
            </a:r>
            <a:r>
              <a:rPr lang="en-US" altLang="zh-CN" sz="2400" b="1"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sz="2400" b="1" dirty="0">
                <a:latin typeface="黑体" panose="02010609060101010101" pitchFamily="2" charset="-122"/>
                <a:ea typeface="黑体" panose="02010609060101010101" pitchFamily="2" charset="-122"/>
                <a:cs typeface="黑体" panose="02010609060101010101" pitchFamily="2" charset="-122"/>
                <a:sym typeface="+mn-ea"/>
              </a:rPr>
              <a:t>-&gt;</a:t>
            </a:r>
            <a:r>
              <a:rPr lang="en-US" altLang="zh-CN" sz="2400" b="1" dirty="0">
                <a:latin typeface="黑体" panose="02010609060101010101" pitchFamily="2" charset="-122"/>
                <a:ea typeface="黑体" panose="02010609060101010101" pitchFamily="2" charset="-122"/>
                <a:cs typeface="黑体" panose="02010609060101010101" pitchFamily="2" charset="-122"/>
                <a:sym typeface="+mn-ea"/>
              </a:rPr>
              <a:t>4</a:t>
            </a:r>
            <a:r>
              <a:rPr lang="zh-CN" altLang="en-US" sz="2400" b="1"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400" b="1" dirty="0">
              <a:latin typeface="黑体" panose="02010609060101010101" pitchFamily="2" charset="-122"/>
              <a:ea typeface="黑体" panose="02010609060101010101" pitchFamily="2" charset="-122"/>
              <a:cs typeface="黑体" panose="02010609060101010101" pitchFamily="2" charset="-122"/>
              <a:sym typeface="+mn-ea"/>
            </a:endParaRPr>
          </a:p>
          <a:p>
            <a:pPr marL="0" lvl="0" indent="0" algn="l" eaLnBrk="1" latinLnBrk="0" hangingPunct="1">
              <a:spcBef>
                <a:spcPts val="0"/>
              </a:spcBef>
              <a:buClrTx/>
              <a:buSzTx/>
              <a:buNone/>
            </a:pPr>
            <a:r>
              <a:rPr lang="en-US" altLang="zh-CN" sz="2400" b="1" dirty="0">
                <a:latin typeface="黑体" panose="02010609060101010101" pitchFamily="2" charset="-122"/>
                <a:ea typeface="黑体" panose="02010609060101010101" pitchFamily="2" charset="-122"/>
                <a:cs typeface="黑体" panose="02010609060101010101" pitchFamily="2" charset="-122"/>
                <a:sym typeface="+mn-ea"/>
              </a:rPr>
              <a:t>e</a:t>
            </a:r>
            <a:r>
              <a:rPr lang="zh-CN" altLang="en-US" sz="2400" b="1" dirty="0">
                <a:latin typeface="黑体" panose="02010609060101010101" pitchFamily="2" charset="-122"/>
                <a:ea typeface="黑体" panose="02010609060101010101" pitchFamily="2" charset="-122"/>
                <a:cs typeface="黑体" panose="02010609060101010101" pitchFamily="2" charset="-122"/>
                <a:sym typeface="+mn-ea"/>
              </a:rPr>
              <a:t>:-&gt;^</a:t>
            </a:r>
            <a:endParaRPr lang="zh-CN" altLang="en-US" sz="2400" b="1" dirty="0">
              <a:latin typeface="黑体" panose="02010609060101010101" pitchFamily="2" charset="-122"/>
              <a:ea typeface="黑体" panose="02010609060101010101" pitchFamily="2" charset="-122"/>
              <a:cs typeface="黑体" panose="02010609060101010101" pitchFamily="2" charset="-122"/>
              <a:sym typeface="+mn-ea"/>
            </a:endParaRP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marL="609600" lvl="0" indent="-609600" algn="l" eaLnBrk="1" hangingPunct="1">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已知AOE网如图所示，</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求出所有关键路径和关键活动。</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复习练习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grpSp>
        <p:nvGrpSpPr>
          <p:cNvPr id="5" name="组合 4"/>
          <p:cNvGrpSpPr/>
          <p:nvPr/>
        </p:nvGrpSpPr>
        <p:grpSpPr>
          <a:xfrm>
            <a:off x="1775460" y="1700530"/>
            <a:ext cx="7929880" cy="4469726"/>
            <a:chOff x="2895" y="2530"/>
            <a:chExt cx="13185" cy="7495"/>
          </a:xfrm>
        </p:grpSpPr>
        <p:pic>
          <p:nvPicPr>
            <p:cNvPr id="6" name="图片 1"/>
            <p:cNvPicPr>
              <a:picLocks noChangeAspect="1"/>
            </p:cNvPicPr>
            <p:nvPr/>
          </p:nvPicPr>
          <p:blipFill>
            <a:blip r:embed="rId1"/>
            <a:stretch>
              <a:fillRect/>
            </a:stretch>
          </p:blipFill>
          <p:spPr>
            <a:xfrm>
              <a:off x="2895" y="2530"/>
              <a:ext cx="13043" cy="7495"/>
            </a:xfrm>
            <a:prstGeom prst="rect">
              <a:avLst/>
            </a:prstGeom>
            <a:noFill/>
            <a:ln w="9525">
              <a:noFill/>
            </a:ln>
          </p:spPr>
        </p:pic>
        <p:sp>
          <p:nvSpPr>
            <p:cNvPr id="133125" name="文本框 7174"/>
            <p:cNvSpPr txBox="1"/>
            <p:nvPr/>
          </p:nvSpPr>
          <p:spPr>
            <a:xfrm>
              <a:off x="3653" y="3735"/>
              <a:ext cx="1680" cy="669"/>
            </a:xfrm>
            <a:prstGeom prst="rect">
              <a:avLst/>
            </a:prstGeom>
            <a:noFill/>
            <a:ln w="9525">
              <a:noFill/>
            </a:ln>
          </p:spPr>
          <p:txBody>
            <a:bodyPr wrap="square" anchor="t" anchorCtr="0">
              <a:spAutoFit/>
            </a:bodyPr>
            <a:p>
              <a:pPr>
                <a:spcBef>
                  <a:spcPct val="50000"/>
                </a:spcBef>
              </a:pPr>
              <a:r>
                <a:rPr lang="en-US" altLang="zh-CN" sz="2000" b="1">
                  <a:solidFill>
                    <a:srgbClr val="FF0000"/>
                  </a:solidFill>
                  <a:latin typeface="宋体" panose="02010600030101010101" pitchFamily="2" charset="-122"/>
                  <a:ea typeface="宋体" panose="02010600030101010101" pitchFamily="2" charset="-122"/>
                </a:rPr>
                <a:t>e1=2</a:t>
              </a:r>
              <a:endParaRPr lang="en-US" altLang="zh-CN" sz="2000" b="1">
                <a:solidFill>
                  <a:srgbClr val="FF0000"/>
                </a:solidFill>
                <a:latin typeface="宋体" panose="02010600030101010101" pitchFamily="2" charset="-122"/>
                <a:ea typeface="宋体" panose="02010600030101010101" pitchFamily="2" charset="-122"/>
              </a:endParaRPr>
            </a:p>
          </p:txBody>
        </p:sp>
        <p:sp>
          <p:nvSpPr>
            <p:cNvPr id="133126" name="文本框 2"/>
            <p:cNvSpPr txBox="1"/>
            <p:nvPr/>
          </p:nvSpPr>
          <p:spPr>
            <a:xfrm>
              <a:off x="3485" y="5745"/>
              <a:ext cx="1680" cy="669"/>
            </a:xfrm>
            <a:prstGeom prst="rect">
              <a:avLst/>
            </a:prstGeom>
            <a:noFill/>
            <a:ln w="9525">
              <a:noFill/>
            </a:ln>
          </p:spPr>
          <p:txBody>
            <a:bodyPr wrap="square" anchor="t" anchorCtr="0">
              <a:spAutoFit/>
            </a:bodyPr>
            <a:p>
              <a:pPr>
                <a:spcBef>
                  <a:spcPct val="50000"/>
                </a:spcBef>
              </a:pPr>
              <a:r>
                <a:rPr lang="en-US" altLang="zh-CN" sz="2000" b="1">
                  <a:solidFill>
                    <a:srgbClr val="FF0000"/>
                  </a:solidFill>
                  <a:latin typeface="宋体" panose="02010600030101010101" pitchFamily="2" charset="-122"/>
                  <a:ea typeface="宋体" panose="02010600030101010101" pitchFamily="2" charset="-122"/>
                </a:rPr>
                <a:t>e2=2</a:t>
              </a:r>
              <a:endParaRPr lang="en-US" altLang="zh-CN" sz="2000" b="1">
                <a:solidFill>
                  <a:srgbClr val="FF0000"/>
                </a:solidFill>
                <a:latin typeface="宋体" panose="02010600030101010101" pitchFamily="2" charset="-122"/>
                <a:ea typeface="宋体" panose="02010600030101010101" pitchFamily="2" charset="-122"/>
              </a:endParaRPr>
            </a:p>
          </p:txBody>
        </p:sp>
        <p:sp>
          <p:nvSpPr>
            <p:cNvPr id="133127" name="文本框 3"/>
            <p:cNvSpPr txBox="1"/>
            <p:nvPr/>
          </p:nvSpPr>
          <p:spPr>
            <a:xfrm>
              <a:off x="6288" y="2895"/>
              <a:ext cx="1680" cy="618"/>
            </a:xfrm>
            <a:prstGeom prst="rect">
              <a:avLst/>
            </a:prstGeom>
            <a:noFill/>
            <a:ln w="9525">
              <a:noFill/>
            </a:ln>
          </p:spPr>
          <p:txBody>
            <a:bodyPr wrap="square" anchor="t" anchorCtr="0">
              <a:spAutoFit/>
            </a:bodyPr>
            <a:p>
              <a:pPr algn="ctr">
                <a:spcBef>
                  <a:spcPct val="50000"/>
                </a:spcBef>
              </a:pPr>
              <a:r>
                <a:rPr lang="en-US" altLang="zh-CN" sz="1800" b="1">
                  <a:solidFill>
                    <a:srgbClr val="FF0000"/>
                  </a:solidFill>
                  <a:latin typeface="宋体" panose="02010600030101010101" pitchFamily="2" charset="-122"/>
                  <a:ea typeface="宋体" panose="02010600030101010101" pitchFamily="2" charset="-122"/>
                </a:rPr>
                <a:t>e3=6</a:t>
              </a:r>
              <a:endParaRPr lang="en-US" altLang="zh-CN" sz="1800" b="1">
                <a:solidFill>
                  <a:srgbClr val="FF0000"/>
                </a:solidFill>
                <a:latin typeface="宋体" panose="02010600030101010101" pitchFamily="2" charset="-122"/>
                <a:ea typeface="宋体" panose="02010600030101010101" pitchFamily="2" charset="-122"/>
              </a:endParaRPr>
            </a:p>
          </p:txBody>
        </p:sp>
        <p:sp>
          <p:nvSpPr>
            <p:cNvPr id="133128" name="文本框 4"/>
            <p:cNvSpPr txBox="1"/>
            <p:nvPr/>
          </p:nvSpPr>
          <p:spPr>
            <a:xfrm>
              <a:off x="6338" y="5110"/>
              <a:ext cx="1680" cy="618"/>
            </a:xfrm>
            <a:prstGeom prst="rect">
              <a:avLst/>
            </a:prstGeom>
            <a:noFill/>
            <a:ln w="9525">
              <a:noFill/>
            </a:ln>
          </p:spPr>
          <p:txBody>
            <a:bodyPr wrap="square" anchor="t" anchorCtr="0">
              <a:spAutoFit/>
            </a:bodyPr>
            <a:p>
              <a:pPr algn="ctr">
                <a:spcBef>
                  <a:spcPct val="50000"/>
                </a:spcBef>
              </a:pPr>
              <a:r>
                <a:rPr lang="en-US" altLang="zh-CN" sz="1800" b="1">
                  <a:solidFill>
                    <a:srgbClr val="FF0000"/>
                  </a:solidFill>
                  <a:latin typeface="宋体" panose="02010600030101010101" pitchFamily="2" charset="-122"/>
                  <a:ea typeface="宋体" panose="02010600030101010101" pitchFamily="2" charset="-122"/>
                </a:rPr>
                <a:t>e4=2</a:t>
              </a:r>
              <a:endParaRPr lang="en-US" altLang="zh-CN" sz="1800" b="1">
                <a:solidFill>
                  <a:srgbClr val="FF0000"/>
                </a:solidFill>
                <a:latin typeface="宋体" panose="02010600030101010101" pitchFamily="2" charset="-122"/>
                <a:ea typeface="宋体" panose="02010600030101010101" pitchFamily="2" charset="-122"/>
              </a:endParaRPr>
            </a:p>
          </p:txBody>
        </p:sp>
        <p:sp>
          <p:nvSpPr>
            <p:cNvPr id="133129" name="文本框 5"/>
            <p:cNvSpPr txBox="1"/>
            <p:nvPr/>
          </p:nvSpPr>
          <p:spPr>
            <a:xfrm>
              <a:off x="5715" y="6203"/>
              <a:ext cx="1680" cy="618"/>
            </a:xfrm>
            <a:prstGeom prst="rect">
              <a:avLst/>
            </a:prstGeom>
            <a:noFill/>
            <a:ln w="9525">
              <a:noFill/>
            </a:ln>
          </p:spPr>
          <p:txBody>
            <a:bodyPr wrap="square" anchor="t" anchorCtr="0">
              <a:spAutoFit/>
            </a:bodyPr>
            <a:p>
              <a:pPr algn="ctr">
                <a:spcBef>
                  <a:spcPct val="50000"/>
                </a:spcBef>
              </a:pPr>
              <a:r>
                <a:rPr lang="en-US" altLang="zh-CN" sz="1800" b="1">
                  <a:solidFill>
                    <a:srgbClr val="FF0000"/>
                  </a:solidFill>
                  <a:latin typeface="宋体" panose="02010600030101010101" pitchFamily="2" charset="-122"/>
                  <a:ea typeface="宋体" panose="02010600030101010101" pitchFamily="2" charset="-122"/>
                </a:rPr>
                <a:t>e5=3</a:t>
              </a:r>
              <a:endParaRPr lang="en-US" altLang="zh-CN" sz="1800" b="1">
                <a:solidFill>
                  <a:srgbClr val="FF0000"/>
                </a:solidFill>
                <a:latin typeface="宋体" panose="02010600030101010101" pitchFamily="2" charset="-122"/>
                <a:ea typeface="宋体" panose="02010600030101010101" pitchFamily="2" charset="-122"/>
              </a:endParaRPr>
            </a:p>
          </p:txBody>
        </p:sp>
        <p:sp>
          <p:nvSpPr>
            <p:cNvPr id="133130" name="文本框 6"/>
            <p:cNvSpPr txBox="1"/>
            <p:nvPr/>
          </p:nvSpPr>
          <p:spPr>
            <a:xfrm>
              <a:off x="8760" y="3020"/>
              <a:ext cx="1680" cy="618"/>
            </a:xfrm>
            <a:prstGeom prst="rect">
              <a:avLst/>
            </a:prstGeom>
            <a:noFill/>
            <a:ln w="9525">
              <a:noFill/>
            </a:ln>
          </p:spPr>
          <p:txBody>
            <a:bodyPr wrap="square" anchor="t" anchorCtr="0">
              <a:spAutoFit/>
            </a:bodyPr>
            <a:p>
              <a:pPr algn="ctr">
                <a:spcBef>
                  <a:spcPct val="50000"/>
                </a:spcBef>
              </a:pPr>
              <a:r>
                <a:rPr lang="en-US" altLang="zh-CN" sz="1800" b="1">
                  <a:solidFill>
                    <a:srgbClr val="FF0000"/>
                  </a:solidFill>
                  <a:latin typeface="宋体" panose="02010600030101010101" pitchFamily="2" charset="-122"/>
                  <a:ea typeface="宋体" panose="02010600030101010101" pitchFamily="2" charset="-122"/>
                </a:rPr>
                <a:t>e7=2</a:t>
              </a:r>
              <a:endParaRPr lang="en-US" altLang="zh-CN" sz="1800" b="1">
                <a:solidFill>
                  <a:srgbClr val="FF0000"/>
                </a:solidFill>
                <a:latin typeface="宋体" panose="02010600030101010101" pitchFamily="2" charset="-122"/>
                <a:ea typeface="宋体" panose="02010600030101010101" pitchFamily="2" charset="-122"/>
              </a:endParaRPr>
            </a:p>
          </p:txBody>
        </p:sp>
        <p:sp>
          <p:nvSpPr>
            <p:cNvPr id="133131" name="文本框 7"/>
            <p:cNvSpPr txBox="1"/>
            <p:nvPr/>
          </p:nvSpPr>
          <p:spPr>
            <a:xfrm>
              <a:off x="9245" y="3860"/>
              <a:ext cx="1680" cy="618"/>
            </a:xfrm>
            <a:prstGeom prst="rect">
              <a:avLst/>
            </a:prstGeom>
            <a:noFill/>
            <a:ln w="9525">
              <a:noFill/>
            </a:ln>
          </p:spPr>
          <p:txBody>
            <a:bodyPr wrap="square" anchor="t" anchorCtr="0">
              <a:spAutoFit/>
            </a:bodyPr>
            <a:p>
              <a:pPr algn="ctr">
                <a:spcBef>
                  <a:spcPct val="50000"/>
                </a:spcBef>
              </a:pPr>
              <a:r>
                <a:rPr lang="en-US" altLang="zh-CN" sz="1800" b="1">
                  <a:solidFill>
                    <a:srgbClr val="FF0000"/>
                  </a:solidFill>
                  <a:latin typeface="宋体" panose="02010600030101010101" pitchFamily="2" charset="-122"/>
                  <a:ea typeface="宋体" panose="02010600030101010101" pitchFamily="2" charset="-122"/>
                </a:rPr>
                <a:t>e8=3</a:t>
              </a:r>
              <a:endParaRPr lang="en-US" altLang="zh-CN" sz="1800" b="1">
                <a:solidFill>
                  <a:srgbClr val="FF0000"/>
                </a:solidFill>
                <a:latin typeface="宋体" panose="02010600030101010101" pitchFamily="2" charset="-122"/>
                <a:ea typeface="宋体" panose="02010600030101010101" pitchFamily="2" charset="-122"/>
              </a:endParaRPr>
            </a:p>
          </p:txBody>
        </p:sp>
        <p:sp>
          <p:nvSpPr>
            <p:cNvPr id="133132" name="文本框 8"/>
            <p:cNvSpPr txBox="1"/>
            <p:nvPr/>
          </p:nvSpPr>
          <p:spPr>
            <a:xfrm>
              <a:off x="8475" y="4818"/>
              <a:ext cx="1680" cy="618"/>
            </a:xfrm>
            <a:prstGeom prst="rect">
              <a:avLst/>
            </a:prstGeom>
            <a:noFill/>
            <a:ln w="9525">
              <a:noFill/>
            </a:ln>
          </p:spPr>
          <p:txBody>
            <a:bodyPr wrap="square" anchor="t" anchorCtr="0">
              <a:spAutoFit/>
            </a:bodyPr>
            <a:p>
              <a:pPr algn="ctr">
                <a:spcBef>
                  <a:spcPct val="50000"/>
                </a:spcBef>
              </a:pPr>
              <a:r>
                <a:rPr lang="en-US" altLang="zh-CN" sz="1800" b="1">
                  <a:solidFill>
                    <a:srgbClr val="FF0000"/>
                  </a:solidFill>
                  <a:latin typeface="宋体" panose="02010600030101010101" pitchFamily="2" charset="-122"/>
                  <a:ea typeface="宋体" panose="02010600030101010101" pitchFamily="2" charset="-122"/>
                </a:rPr>
                <a:t>e9=6</a:t>
              </a:r>
              <a:endParaRPr lang="en-US" altLang="zh-CN" sz="1800" b="1">
                <a:solidFill>
                  <a:srgbClr val="FF0000"/>
                </a:solidFill>
                <a:latin typeface="宋体" panose="02010600030101010101" pitchFamily="2" charset="-122"/>
                <a:ea typeface="宋体" panose="02010600030101010101" pitchFamily="2" charset="-122"/>
              </a:endParaRPr>
            </a:p>
          </p:txBody>
        </p:sp>
        <p:sp>
          <p:nvSpPr>
            <p:cNvPr id="133133" name="文本框 9"/>
            <p:cNvSpPr txBox="1"/>
            <p:nvPr/>
          </p:nvSpPr>
          <p:spPr>
            <a:xfrm>
              <a:off x="9443" y="5690"/>
              <a:ext cx="1680" cy="618"/>
            </a:xfrm>
            <a:prstGeom prst="rect">
              <a:avLst/>
            </a:prstGeom>
            <a:noFill/>
            <a:ln w="9525">
              <a:noFill/>
            </a:ln>
          </p:spPr>
          <p:txBody>
            <a:bodyPr wrap="square" anchor="t" anchorCtr="0">
              <a:spAutoFit/>
            </a:bodyPr>
            <a:p>
              <a:pPr algn="ctr">
                <a:spcBef>
                  <a:spcPct val="50000"/>
                </a:spcBef>
              </a:pPr>
              <a:r>
                <a:rPr lang="en-US" altLang="zh-CN" sz="1800" b="1">
                  <a:solidFill>
                    <a:srgbClr val="FF0000"/>
                  </a:solidFill>
                  <a:latin typeface="宋体" panose="02010600030101010101" pitchFamily="2" charset="-122"/>
                  <a:ea typeface="宋体" panose="02010600030101010101" pitchFamily="2" charset="-122"/>
                </a:rPr>
                <a:t>e10=4</a:t>
              </a:r>
              <a:endParaRPr lang="en-US" altLang="zh-CN" sz="1800" b="1">
                <a:solidFill>
                  <a:srgbClr val="FF0000"/>
                </a:solidFill>
                <a:latin typeface="宋体" panose="02010600030101010101" pitchFamily="2" charset="-122"/>
                <a:ea typeface="宋体" panose="02010600030101010101" pitchFamily="2" charset="-122"/>
              </a:endParaRPr>
            </a:p>
          </p:txBody>
        </p:sp>
        <p:sp>
          <p:nvSpPr>
            <p:cNvPr id="133134" name="文本框 10"/>
            <p:cNvSpPr txBox="1"/>
            <p:nvPr/>
          </p:nvSpPr>
          <p:spPr>
            <a:xfrm>
              <a:off x="6795" y="7613"/>
              <a:ext cx="1680" cy="618"/>
            </a:xfrm>
            <a:prstGeom prst="rect">
              <a:avLst/>
            </a:prstGeom>
            <a:noFill/>
            <a:ln w="9525">
              <a:noFill/>
            </a:ln>
          </p:spPr>
          <p:txBody>
            <a:bodyPr wrap="square" anchor="t" anchorCtr="0">
              <a:spAutoFit/>
            </a:bodyPr>
            <a:p>
              <a:pPr algn="ctr">
                <a:spcBef>
                  <a:spcPct val="50000"/>
                </a:spcBef>
              </a:pPr>
              <a:r>
                <a:rPr lang="en-US" altLang="zh-CN" sz="1800" b="1">
                  <a:solidFill>
                    <a:srgbClr val="FF0000"/>
                  </a:solidFill>
                  <a:latin typeface="宋体" panose="02010600030101010101" pitchFamily="2" charset="-122"/>
                  <a:ea typeface="宋体" panose="02010600030101010101" pitchFamily="2" charset="-122"/>
                </a:rPr>
                <a:t>e6=4</a:t>
              </a:r>
              <a:endParaRPr lang="en-US" altLang="zh-CN" sz="1800" b="1">
                <a:solidFill>
                  <a:srgbClr val="FF0000"/>
                </a:solidFill>
                <a:latin typeface="宋体" panose="02010600030101010101" pitchFamily="2" charset="-122"/>
                <a:ea typeface="宋体" panose="02010600030101010101" pitchFamily="2" charset="-122"/>
              </a:endParaRPr>
            </a:p>
          </p:txBody>
        </p:sp>
        <p:sp>
          <p:nvSpPr>
            <p:cNvPr id="133135" name="文本框 11"/>
            <p:cNvSpPr txBox="1"/>
            <p:nvPr/>
          </p:nvSpPr>
          <p:spPr>
            <a:xfrm>
              <a:off x="9948" y="6895"/>
              <a:ext cx="1680" cy="618"/>
            </a:xfrm>
            <a:prstGeom prst="rect">
              <a:avLst/>
            </a:prstGeom>
            <a:noFill/>
            <a:ln w="9525">
              <a:noFill/>
            </a:ln>
          </p:spPr>
          <p:txBody>
            <a:bodyPr wrap="square" anchor="t" anchorCtr="0">
              <a:spAutoFit/>
            </a:bodyPr>
            <a:p>
              <a:pPr algn="ctr">
                <a:spcBef>
                  <a:spcPct val="50000"/>
                </a:spcBef>
              </a:pPr>
              <a:r>
                <a:rPr lang="en-US" altLang="zh-CN" sz="1800" b="1">
                  <a:solidFill>
                    <a:srgbClr val="FF0000"/>
                  </a:solidFill>
                  <a:latin typeface="宋体" panose="02010600030101010101" pitchFamily="2" charset="-122"/>
                  <a:ea typeface="宋体" panose="02010600030101010101" pitchFamily="2" charset="-122"/>
                </a:rPr>
                <a:t>e11=8</a:t>
              </a:r>
              <a:endParaRPr lang="en-US" altLang="zh-CN" sz="1800" b="1">
                <a:solidFill>
                  <a:srgbClr val="FF0000"/>
                </a:solidFill>
                <a:latin typeface="宋体" panose="02010600030101010101" pitchFamily="2" charset="-122"/>
                <a:ea typeface="宋体" panose="02010600030101010101" pitchFamily="2" charset="-122"/>
              </a:endParaRPr>
            </a:p>
          </p:txBody>
        </p:sp>
        <p:sp>
          <p:nvSpPr>
            <p:cNvPr id="133136" name="文本框 12"/>
            <p:cNvSpPr txBox="1"/>
            <p:nvPr/>
          </p:nvSpPr>
          <p:spPr>
            <a:xfrm>
              <a:off x="9088" y="7613"/>
              <a:ext cx="1680" cy="618"/>
            </a:xfrm>
            <a:prstGeom prst="rect">
              <a:avLst/>
            </a:prstGeom>
            <a:noFill/>
            <a:ln w="9525">
              <a:noFill/>
            </a:ln>
          </p:spPr>
          <p:txBody>
            <a:bodyPr wrap="square" anchor="t" anchorCtr="0">
              <a:spAutoFit/>
            </a:bodyPr>
            <a:p>
              <a:pPr algn="ctr">
                <a:spcBef>
                  <a:spcPct val="50000"/>
                </a:spcBef>
              </a:pPr>
              <a:r>
                <a:rPr lang="en-US" altLang="zh-CN" sz="1800" b="1">
                  <a:solidFill>
                    <a:srgbClr val="FF0000"/>
                  </a:solidFill>
                  <a:latin typeface="宋体" panose="02010600030101010101" pitchFamily="2" charset="-122"/>
                  <a:ea typeface="宋体" panose="02010600030101010101" pitchFamily="2" charset="-122"/>
                </a:rPr>
                <a:t>e12=8</a:t>
              </a:r>
              <a:endParaRPr lang="en-US" altLang="zh-CN" sz="1800" b="1">
                <a:solidFill>
                  <a:srgbClr val="FF0000"/>
                </a:solidFill>
                <a:latin typeface="宋体" panose="02010600030101010101" pitchFamily="2" charset="-122"/>
                <a:ea typeface="宋体" panose="02010600030101010101" pitchFamily="2" charset="-122"/>
              </a:endParaRPr>
            </a:p>
          </p:txBody>
        </p:sp>
        <p:sp>
          <p:nvSpPr>
            <p:cNvPr id="133137" name="文本框 13"/>
            <p:cNvSpPr txBox="1"/>
            <p:nvPr/>
          </p:nvSpPr>
          <p:spPr>
            <a:xfrm>
              <a:off x="8760" y="8405"/>
              <a:ext cx="1680" cy="618"/>
            </a:xfrm>
            <a:prstGeom prst="rect">
              <a:avLst/>
            </a:prstGeom>
            <a:noFill/>
            <a:ln w="9525">
              <a:noFill/>
            </a:ln>
          </p:spPr>
          <p:txBody>
            <a:bodyPr wrap="square" anchor="t" anchorCtr="0">
              <a:spAutoFit/>
            </a:bodyPr>
            <a:p>
              <a:pPr algn="ctr">
                <a:spcBef>
                  <a:spcPct val="50000"/>
                </a:spcBef>
              </a:pPr>
              <a:r>
                <a:rPr lang="en-US" altLang="zh-CN" sz="1800" b="1">
                  <a:solidFill>
                    <a:srgbClr val="FF0000"/>
                  </a:solidFill>
                  <a:latin typeface="宋体" panose="02010600030101010101" pitchFamily="2" charset="-122"/>
                  <a:ea typeface="宋体" panose="02010600030101010101" pitchFamily="2" charset="-122"/>
                </a:rPr>
                <a:t>e13=7</a:t>
              </a:r>
              <a:endParaRPr lang="en-US" altLang="zh-CN" sz="1800" b="1">
                <a:solidFill>
                  <a:srgbClr val="FF0000"/>
                </a:solidFill>
                <a:latin typeface="宋体" panose="02010600030101010101" pitchFamily="2" charset="-122"/>
                <a:ea typeface="宋体" panose="02010600030101010101" pitchFamily="2" charset="-122"/>
              </a:endParaRPr>
            </a:p>
          </p:txBody>
        </p:sp>
        <p:sp>
          <p:nvSpPr>
            <p:cNvPr id="133138" name="文本框 14"/>
            <p:cNvSpPr txBox="1"/>
            <p:nvPr/>
          </p:nvSpPr>
          <p:spPr>
            <a:xfrm>
              <a:off x="11330" y="5085"/>
              <a:ext cx="1680" cy="618"/>
            </a:xfrm>
            <a:prstGeom prst="rect">
              <a:avLst/>
            </a:prstGeom>
            <a:noFill/>
            <a:ln w="9525">
              <a:noFill/>
            </a:ln>
          </p:spPr>
          <p:txBody>
            <a:bodyPr wrap="square" anchor="t" anchorCtr="0">
              <a:spAutoFit/>
            </a:bodyPr>
            <a:p>
              <a:pPr algn="ctr">
                <a:spcBef>
                  <a:spcPct val="50000"/>
                </a:spcBef>
              </a:pPr>
              <a:r>
                <a:rPr lang="en-US" altLang="zh-CN" sz="1800" b="1">
                  <a:solidFill>
                    <a:srgbClr val="FF0000"/>
                  </a:solidFill>
                  <a:latin typeface="宋体" panose="02010600030101010101" pitchFamily="2" charset="-122"/>
                  <a:ea typeface="宋体" panose="02010600030101010101" pitchFamily="2" charset="-122"/>
                </a:rPr>
                <a:t>e14=5</a:t>
              </a:r>
              <a:endParaRPr lang="en-US" altLang="zh-CN" sz="1800" b="1">
                <a:solidFill>
                  <a:srgbClr val="FF0000"/>
                </a:solidFill>
                <a:latin typeface="宋体" panose="02010600030101010101" pitchFamily="2" charset="-122"/>
                <a:ea typeface="宋体" panose="02010600030101010101" pitchFamily="2" charset="-122"/>
              </a:endParaRPr>
            </a:p>
          </p:txBody>
        </p:sp>
        <p:sp>
          <p:nvSpPr>
            <p:cNvPr id="133139" name="文本框 15"/>
            <p:cNvSpPr txBox="1"/>
            <p:nvPr/>
          </p:nvSpPr>
          <p:spPr>
            <a:xfrm>
              <a:off x="11753" y="9253"/>
              <a:ext cx="1680" cy="618"/>
            </a:xfrm>
            <a:prstGeom prst="rect">
              <a:avLst/>
            </a:prstGeom>
            <a:noFill/>
            <a:ln w="9525">
              <a:noFill/>
            </a:ln>
          </p:spPr>
          <p:txBody>
            <a:bodyPr wrap="square" anchor="t" anchorCtr="0">
              <a:spAutoFit/>
            </a:bodyPr>
            <a:p>
              <a:pPr algn="ctr">
                <a:spcBef>
                  <a:spcPct val="50000"/>
                </a:spcBef>
              </a:pPr>
              <a:r>
                <a:rPr lang="en-US" altLang="zh-CN" sz="1800" b="1">
                  <a:solidFill>
                    <a:srgbClr val="FF0000"/>
                  </a:solidFill>
                  <a:latin typeface="宋体" panose="02010600030101010101" pitchFamily="2" charset="-122"/>
                  <a:ea typeface="宋体" panose="02010600030101010101" pitchFamily="2" charset="-122"/>
                </a:rPr>
                <a:t>e15=3</a:t>
              </a:r>
              <a:endParaRPr lang="en-US" altLang="zh-CN" sz="1800" b="1">
                <a:solidFill>
                  <a:srgbClr val="FF0000"/>
                </a:solidFill>
                <a:latin typeface="宋体" panose="02010600030101010101" pitchFamily="2" charset="-122"/>
                <a:ea typeface="宋体" panose="02010600030101010101" pitchFamily="2" charset="-122"/>
              </a:endParaRPr>
            </a:p>
          </p:txBody>
        </p:sp>
        <p:sp>
          <p:nvSpPr>
            <p:cNvPr id="133140" name="文本框 16"/>
            <p:cNvSpPr txBox="1"/>
            <p:nvPr/>
          </p:nvSpPr>
          <p:spPr>
            <a:xfrm>
              <a:off x="12530" y="3735"/>
              <a:ext cx="1680" cy="618"/>
            </a:xfrm>
            <a:prstGeom prst="rect">
              <a:avLst/>
            </a:prstGeom>
            <a:noFill/>
            <a:ln w="9525">
              <a:noFill/>
            </a:ln>
          </p:spPr>
          <p:txBody>
            <a:bodyPr wrap="square" anchor="t" anchorCtr="0">
              <a:spAutoFit/>
            </a:bodyPr>
            <a:p>
              <a:pPr algn="ctr">
                <a:spcBef>
                  <a:spcPct val="50000"/>
                </a:spcBef>
              </a:pPr>
              <a:r>
                <a:rPr lang="en-US" altLang="zh-CN" sz="1800" b="1">
                  <a:solidFill>
                    <a:srgbClr val="FF0000"/>
                  </a:solidFill>
                  <a:latin typeface="宋体" panose="02010600030101010101" pitchFamily="2" charset="-122"/>
                  <a:ea typeface="宋体" panose="02010600030101010101" pitchFamily="2" charset="-122"/>
                </a:rPr>
                <a:t>e16=3</a:t>
              </a:r>
              <a:endParaRPr lang="en-US" altLang="zh-CN" sz="1800" b="1">
                <a:solidFill>
                  <a:srgbClr val="FF0000"/>
                </a:solidFill>
                <a:latin typeface="宋体" panose="02010600030101010101" pitchFamily="2" charset="-122"/>
                <a:ea typeface="宋体" panose="02010600030101010101" pitchFamily="2" charset="-122"/>
              </a:endParaRPr>
            </a:p>
          </p:txBody>
        </p:sp>
        <p:sp>
          <p:nvSpPr>
            <p:cNvPr id="133141" name="文本框 17"/>
            <p:cNvSpPr txBox="1"/>
            <p:nvPr/>
          </p:nvSpPr>
          <p:spPr>
            <a:xfrm>
              <a:off x="12890" y="5190"/>
              <a:ext cx="1680" cy="618"/>
            </a:xfrm>
            <a:prstGeom prst="rect">
              <a:avLst/>
            </a:prstGeom>
            <a:noFill/>
            <a:ln w="9525">
              <a:noFill/>
            </a:ln>
          </p:spPr>
          <p:txBody>
            <a:bodyPr wrap="square" anchor="t" anchorCtr="0">
              <a:spAutoFit/>
            </a:bodyPr>
            <a:p>
              <a:pPr algn="ctr">
                <a:spcBef>
                  <a:spcPct val="50000"/>
                </a:spcBef>
              </a:pPr>
              <a:r>
                <a:rPr lang="en-US" altLang="zh-CN" sz="1800" b="1">
                  <a:solidFill>
                    <a:srgbClr val="FF0000"/>
                  </a:solidFill>
                  <a:latin typeface="宋体" panose="02010600030101010101" pitchFamily="2" charset="-122"/>
                  <a:ea typeface="宋体" panose="02010600030101010101" pitchFamily="2" charset="-122"/>
                </a:rPr>
                <a:t>e17=2</a:t>
              </a:r>
              <a:endParaRPr lang="en-US" altLang="zh-CN" sz="1800" b="1">
                <a:solidFill>
                  <a:srgbClr val="FF0000"/>
                </a:solidFill>
                <a:latin typeface="宋体" panose="02010600030101010101" pitchFamily="2" charset="-122"/>
                <a:ea typeface="宋体" panose="02010600030101010101" pitchFamily="2" charset="-122"/>
              </a:endParaRPr>
            </a:p>
          </p:txBody>
        </p:sp>
        <p:sp>
          <p:nvSpPr>
            <p:cNvPr id="133142" name="文本框 18"/>
            <p:cNvSpPr txBox="1"/>
            <p:nvPr/>
          </p:nvSpPr>
          <p:spPr>
            <a:xfrm>
              <a:off x="12720" y="6895"/>
              <a:ext cx="1680" cy="618"/>
            </a:xfrm>
            <a:prstGeom prst="rect">
              <a:avLst/>
            </a:prstGeom>
            <a:noFill/>
            <a:ln w="9525">
              <a:noFill/>
            </a:ln>
          </p:spPr>
          <p:txBody>
            <a:bodyPr wrap="square" anchor="t" anchorCtr="0">
              <a:spAutoFit/>
            </a:bodyPr>
            <a:p>
              <a:pPr algn="ctr">
                <a:spcBef>
                  <a:spcPct val="50000"/>
                </a:spcBef>
              </a:pPr>
              <a:r>
                <a:rPr lang="en-US" altLang="zh-CN" sz="1800" b="1">
                  <a:solidFill>
                    <a:srgbClr val="FF0000"/>
                  </a:solidFill>
                  <a:latin typeface="宋体" panose="02010600030101010101" pitchFamily="2" charset="-122"/>
                  <a:ea typeface="宋体" panose="02010600030101010101" pitchFamily="2" charset="-122"/>
                </a:rPr>
                <a:t>e18=6</a:t>
              </a:r>
              <a:endParaRPr lang="en-US" altLang="zh-CN" sz="1800" b="1">
                <a:solidFill>
                  <a:srgbClr val="FF0000"/>
                </a:solidFill>
                <a:latin typeface="宋体" panose="02010600030101010101" pitchFamily="2" charset="-122"/>
                <a:ea typeface="宋体" panose="02010600030101010101" pitchFamily="2" charset="-122"/>
              </a:endParaRPr>
            </a:p>
          </p:txBody>
        </p:sp>
        <p:sp>
          <p:nvSpPr>
            <p:cNvPr id="133143" name="文本框 19"/>
            <p:cNvSpPr txBox="1"/>
            <p:nvPr/>
          </p:nvSpPr>
          <p:spPr>
            <a:xfrm>
              <a:off x="14400" y="5988"/>
              <a:ext cx="1680" cy="618"/>
            </a:xfrm>
            <a:prstGeom prst="rect">
              <a:avLst/>
            </a:prstGeom>
            <a:noFill/>
            <a:ln w="9525">
              <a:noFill/>
            </a:ln>
          </p:spPr>
          <p:txBody>
            <a:bodyPr wrap="square" anchor="t" anchorCtr="0">
              <a:spAutoFit/>
            </a:bodyPr>
            <a:p>
              <a:pPr algn="ctr">
                <a:spcBef>
                  <a:spcPct val="50000"/>
                </a:spcBef>
              </a:pPr>
              <a:r>
                <a:rPr lang="en-US" altLang="zh-CN" sz="1800" b="1">
                  <a:solidFill>
                    <a:srgbClr val="FF0000"/>
                  </a:solidFill>
                  <a:latin typeface="宋体" panose="02010600030101010101" pitchFamily="2" charset="-122"/>
                  <a:ea typeface="宋体" panose="02010600030101010101" pitchFamily="2" charset="-122"/>
                </a:rPr>
                <a:t>e19=5</a:t>
              </a:r>
              <a:endParaRPr lang="en-US" altLang="zh-CN" sz="1800" b="1">
                <a:solidFill>
                  <a:srgbClr val="FF0000"/>
                </a:solidFill>
                <a:latin typeface="宋体" panose="02010600030101010101" pitchFamily="2" charset="-122"/>
                <a:ea typeface="宋体" panose="02010600030101010101" pitchFamily="2" charset="-122"/>
              </a:endParaRPr>
            </a:p>
          </p:txBody>
        </p:sp>
      </p:gr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469640" y="1268730"/>
            <a:ext cx="6001385" cy="3540760"/>
          </a:xfrm>
          <a:prstGeom prst="rect">
            <a:avLst/>
          </a:prstGeom>
        </p:spPr>
        <p:txBody>
          <a:bodyPr vert="horz" lIns="91440" tIns="45720" rIns="91440" bIns="45720" rtlCol="0"/>
          <a:lstStyle/>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图的定义和术语</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图的存储结构</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图的遍历</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图的连通</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有向无环图及其应用</a:t>
            </a:r>
            <a:endParaRPr lang="zh-CN" altLang="en-US" sz="3200" b="1" dirty="0">
              <a:latin typeface="楷体" panose="02010609060101010101" charset="-122"/>
              <a:ea typeface="楷体" panose="02010609060101010101" charset="-122"/>
            </a:endParaRPr>
          </a:p>
          <a:p>
            <a:pPr marL="571500" marR="0" lvl="0" indent="-571500" algn="l"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最短路径</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endParaRPr kumimoji="0" lang="zh-CN" altLang="en-US" sz="3200" b="0" i="0" u="none" strike="noStrike" kern="1200" cap="none" spc="0" normalizeH="0" baseline="0" noProof="0" dirty="0" err="1" smtClean="0">
              <a:ln>
                <a:noFill/>
              </a:ln>
              <a:solidFill>
                <a:schemeClr val="tx1"/>
              </a:solidFill>
              <a:effectLst/>
              <a:uLnTx/>
              <a:uFillTx/>
              <a:latin typeface="楷体" panose="02010609060101010101" charset="-122"/>
              <a:ea typeface="楷体" panose="02010609060101010101" charset="-122"/>
              <a:cs typeface="+mn-cs"/>
              <a:sym typeface="+mn-lt"/>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
        <p:nvSpPr>
          <p:cNvPr id="8" name="矩形 7"/>
          <p:cNvSpPr/>
          <p:nvPr/>
        </p:nvSpPr>
        <p:spPr>
          <a:xfrm>
            <a:off x="4088130" y="4089400"/>
            <a:ext cx="3782695" cy="5308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46" name="Text Box 2"/>
          <p:cNvSpPr txBox="1"/>
          <p:nvPr/>
        </p:nvSpPr>
        <p:spPr>
          <a:xfrm>
            <a:off x="2712085" y="170815"/>
            <a:ext cx="6443980" cy="768350"/>
          </a:xfrm>
          <a:prstGeom prst="rect">
            <a:avLst/>
          </a:prstGeom>
          <a:noFill/>
          <a:ln w="9525">
            <a:noFill/>
          </a:ln>
        </p:spPr>
        <p:txBody>
          <a:bodyPr wrap="square" anchor="t" anchorCtr="0">
            <a:spAutoFit/>
          </a:bodyPr>
          <a:p>
            <a:pPr algn="ctr"/>
            <a:r>
              <a:rPr lang="zh-CN" altLang="en-US" sz="4400" b="1" dirty="0">
                <a:solidFill>
                  <a:srgbClr val="0000CC"/>
                </a:solidFill>
                <a:latin typeface="楷体" panose="02010609060101010101" charset="-122"/>
                <a:ea typeface="楷体" panose="02010609060101010101" charset="-122"/>
              </a:rPr>
              <a:t>第七章	</a:t>
            </a:r>
            <a:r>
              <a:rPr lang="zh-CN" altLang="en-US" sz="4400" b="1" dirty="0">
                <a:solidFill>
                  <a:srgbClr val="0000CC"/>
                </a:solidFill>
                <a:latin typeface="楷体" panose="02010609060101010101" charset="-122"/>
                <a:ea typeface="楷体" panose="02010609060101010101" charset="-122"/>
              </a:rPr>
              <a:t>图</a:t>
            </a:r>
            <a:endParaRPr lang="zh-CN" altLang="en-US" sz="4400" b="1" dirty="0">
              <a:solidFill>
                <a:srgbClr val="0000CC"/>
              </a:solidFill>
              <a:latin typeface="楷体" panose="02010609060101010101" charset="-122"/>
              <a:ea typeface="楷体" panose="02010609060101010101" charset="-122"/>
            </a:endParaRPr>
          </a:p>
        </p:txBody>
      </p:sp>
    </p:spTree>
  </p:cSld>
  <p:clrMapOvr>
    <a:masterClrMapping/>
  </p:clrMapOvr>
  <p:transition spd="med">
    <p:fade/>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1087735" cy="2740025"/>
          </a:xfrm>
        </p:spPr>
        <p:txBody>
          <a:bodyPr/>
          <a:p>
            <a:pPr marL="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最短路径是求从图（或网）中某一顶点，到其余各顶点的最短路径</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marL="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最短路径与最小生成树主要有三点不同：</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最短路径的操作对象主要是有向图(网)，最小生成树的操作对象是无向图</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最短路径要</a:t>
            </a:r>
            <a:r>
              <a:rPr lang="zh-CN" altLang="en-US" sz="2400" dirty="0">
                <a:latin typeface="黑体" panose="02010609060101010101" pitchFamily="2" charset="-122"/>
                <a:ea typeface="黑体" panose="02010609060101010101" pitchFamily="2" charset="-122"/>
                <a:cs typeface="+mn-ea"/>
                <a:sym typeface="+mn-ea"/>
              </a:rPr>
              <a:t>指定始点，最小生成树没有</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最短路径关心的是始点到每个顶点的路径最短，而最小生成树关心的是整个树的代价最小</a:t>
            </a:r>
            <a:endParaRPr lang="zh-CN" altLang="en-US" sz="2400" dirty="0">
              <a:latin typeface="黑体" panose="02010609060101010101" pitchFamily="2" charset="-122"/>
              <a:ea typeface="黑体" panose="02010609060101010101" pitchFamily="2" charset="-122"/>
              <a:cs typeface="+mn-ea"/>
              <a:sym typeface="+mn-ea"/>
            </a:endParaRPr>
          </a:p>
          <a:p>
            <a:pPr marL="0" lvl="1" indent="-457200" algn="l" eaLnBrk="1" hangingPunct="1">
              <a:buClrTx/>
              <a:buSzTx/>
              <a:buFont typeface="Wingdings" panose="05000000000000000000" charset="0"/>
              <a:buChar char="l"/>
            </a:pPr>
            <a:r>
              <a:rPr lang="zh-CN" altLang="zh-CN" dirty="0">
                <a:latin typeface="黑体" panose="02010609060101010101" pitchFamily="2" charset="-122"/>
                <a:ea typeface="黑体" panose="02010609060101010101" pitchFamily="2" charset="-122"/>
                <a:cs typeface="黑体" panose="02010609060101010101" pitchFamily="2" charset="-122"/>
                <a:sym typeface="+mn-ea"/>
              </a:rPr>
              <a:t>最短路径的经典算法是</a:t>
            </a:r>
            <a:r>
              <a:rPr lang="zh-CN" altLang="zh-CN" dirty="0">
                <a:latin typeface="黑体" panose="02010609060101010101" pitchFamily="2" charset="-122"/>
                <a:ea typeface="黑体" panose="02010609060101010101" pitchFamily="2" charset="-122"/>
                <a:cs typeface="黑体" panose="02010609060101010101" pitchFamily="2" charset="-122"/>
                <a:sym typeface="+mn-ea"/>
              </a:rPr>
              <a:t>迪杰斯特拉(Dijkstra)算法求解</a:t>
            </a:r>
            <a:endParaRPr lang="zh-CN" altLang="zh-CN" dirty="0">
              <a:latin typeface="黑体" panose="02010609060101010101" pitchFamily="2" charset="-122"/>
              <a:ea typeface="黑体" panose="02010609060101010101" pitchFamily="2" charset="-122"/>
              <a:cs typeface="黑体" panose="02010609060101010101" pitchFamily="2" charset="-122"/>
              <a:sym typeface="+mn-ea"/>
            </a:endParaRPr>
          </a:p>
          <a:p>
            <a:pPr marL="0" lvl="1" indent="-457200" algn="l" eaLnBrk="1" hangingPunct="1">
              <a:buClrTx/>
              <a:buSzTx/>
              <a:buFont typeface="Wingdings" panose="05000000000000000000" charset="0"/>
              <a:buChar char="l"/>
            </a:pPr>
            <a:r>
              <a:rPr lang="zh-CN" altLang="zh-CN" dirty="0">
                <a:latin typeface="黑体" panose="02010609060101010101" pitchFamily="2" charset="-122"/>
                <a:ea typeface="黑体" panose="02010609060101010101" pitchFamily="2" charset="-122"/>
                <a:cs typeface="黑体" panose="02010609060101010101" pitchFamily="2" charset="-122"/>
                <a:sym typeface="+mn-ea"/>
              </a:rPr>
              <a:t>迪杰斯特拉</a:t>
            </a:r>
            <a:r>
              <a:rPr lang="zh-CN" altLang="zh-CN" dirty="0">
                <a:latin typeface="黑体" panose="02010609060101010101" pitchFamily="2" charset="-122"/>
                <a:ea typeface="黑体" panose="02010609060101010101" pitchFamily="2" charset="-122"/>
                <a:cs typeface="黑体" panose="02010609060101010101" pitchFamily="2" charset="-122"/>
                <a:sym typeface="+mn-ea"/>
              </a:rPr>
              <a:t>算法采用按路径长度递增的次序产生最短路径</a:t>
            </a:r>
            <a:endParaRPr lang="zh-CN" altLang="zh-CN" sz="2400" b="0"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7.6 </a:t>
            </a:r>
            <a:r>
              <a:rPr lang="zh-CN" altLang="en-US">
                <a:latin typeface="楷体" panose="02010609060101010101" charset="-122"/>
                <a:ea typeface="楷体" panose="02010609060101010101" charset="-122"/>
                <a:cs typeface="楷体" panose="02010609060101010101" charset="-122"/>
                <a:sym typeface="+mn-ea"/>
              </a:rPr>
              <a:t>最短路径</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Dijkstra算法思想是基于贪心算法思想，</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即始终保持当前迭代解为当前最优解。</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在已知条件下或是当前条件下保证最优解，若在此后的迭代中由于加入了新的条件使得产生了更优解则替代此前的最优解。</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通过不断的迭代不断保证每次迭代的结果都是当前最优解，那么当迭代到最后一轮时得到的就会是全局最优解。</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sz="2400" dirty="0">
                <a:latin typeface="黑体" panose="02010609060101010101" pitchFamily="2" charset="-122"/>
                <a:ea typeface="黑体" panose="02010609060101010101" pitchFamily="2" charset="-122"/>
                <a:cs typeface="+mn-ea"/>
                <a:sym typeface="+mn-ea"/>
              </a:rPr>
              <a:t>由于下一轮迭代会参考上一轮的最优解，因此每一轮的迭代的工作量基本一致，降低了整体工作的复杂性。</a:t>
            </a:r>
            <a:endParaRPr lang="zh-CN" altLang="en-US" sz="2330" dirty="0">
              <a:latin typeface="宋体" panose="0201060003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7.6 </a:t>
            </a:r>
            <a:r>
              <a:rPr lang="zh-CN" altLang="en-US">
                <a:latin typeface="楷体" panose="02010609060101010101" charset="-122"/>
                <a:ea typeface="楷体" panose="02010609060101010101" charset="-122"/>
                <a:cs typeface="楷体" panose="02010609060101010101" charset="-122"/>
                <a:sym typeface="+mn-ea"/>
              </a:rPr>
              <a:t>最短路径</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mn-ea"/>
                <a:sym typeface="+mn-ea"/>
              </a:rPr>
              <a:t>贪心算法思想往往会陷入局部最优，在算法设计中要判断局部最优是否全局最优</a:t>
            </a:r>
            <a:endParaRPr lang="zh-CN" altLang="en-US" sz="28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局部最优，指的是对于一个问题的解在一定范围或区域内最优，或者说解决问题或达成目标的手段在一定范围或限制内最优。</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全局最优，指的是针对一定条件/环境下的一个问题/目标，若一项决策和所有解决该问题的决策相比是最优的。</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7.6 </a:t>
            </a:r>
            <a:r>
              <a:rPr lang="zh-CN" altLang="en-US">
                <a:latin typeface="楷体" panose="02010609060101010101" charset="-122"/>
                <a:ea typeface="楷体" panose="02010609060101010101" charset="-122"/>
                <a:cs typeface="楷体" panose="02010609060101010101" charset="-122"/>
                <a:sym typeface="+mn-ea"/>
              </a:rPr>
              <a:t>最短路径</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nvPicPr>
        <p:blipFill>
          <a:blip r:embed="rId1"/>
          <a:stretch>
            <a:fillRect/>
          </a:stretch>
        </p:blipFill>
        <p:spPr>
          <a:xfrm>
            <a:off x="7967980" y="3356610"/>
            <a:ext cx="3323590" cy="3020695"/>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mn-ea"/>
                <a:sym typeface="+mn-ea"/>
              </a:rPr>
              <a:t>局部最优与全局最优的</a:t>
            </a:r>
            <a:r>
              <a:rPr lang="zh-CN" altLang="zh-CN" sz="2800" dirty="0">
                <a:latin typeface="黑体" panose="02010609060101010101" pitchFamily="2" charset="-122"/>
                <a:ea typeface="黑体" panose="02010609060101010101" pitchFamily="2" charset="-122"/>
                <a:cs typeface="+mn-ea"/>
                <a:sym typeface="+mn-ea"/>
              </a:rPr>
              <a:t>实际策略</a:t>
            </a:r>
            <a:endParaRPr lang="zh-CN" altLang="en-US" sz="28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局部最优不一定是全局最优，全局最优一定是局部最优；</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当外界环境有太多不确定性的时候，很难寻找全局最优解，甚至不能确定全局最优解是否存在，不妨结合实际寻找</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局部最优解</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——完成好过完美。</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学习掌握发展规律，顺势而为，不断修正局部最优解，让局部最优解</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逼近全局最优解。</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7.6 </a:t>
            </a:r>
            <a:r>
              <a:rPr lang="zh-CN" altLang="en-US">
                <a:latin typeface="楷体" panose="02010609060101010101" charset="-122"/>
                <a:ea typeface="楷体" panose="02010609060101010101" charset="-122"/>
                <a:cs typeface="楷体" panose="02010609060101010101" charset="-122"/>
                <a:sym typeface="+mn-ea"/>
              </a:rPr>
              <a:t>最短路径</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Dijkstra算法设定</a:t>
            </a: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在算法中，引进了一个辅助向量D</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每个分量D[i]表示当前所找到的从始点到每个终点vi的最短路径长度</a:t>
            </a:r>
            <a:endParaRPr lang="zh-CN" altLang="en-US" sz="2400" b="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D[i]初值为始点v0到各终点vi的</a:t>
            </a:r>
            <a:r>
              <a:rPr lang="zh-CN" altLang="en-US" sz="2400"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直接</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距离，即若从始点到某终点有(出)弧，则为弧上的权值，否则为∞</a:t>
            </a: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注意：</a:t>
            </a:r>
            <a:r>
              <a:rPr lang="zh-CN" altLang="zh-CN" dirty="0">
                <a:latin typeface="黑体" panose="02010609060101010101" pitchFamily="2" charset="-122"/>
                <a:ea typeface="黑体" panose="02010609060101010101" pitchFamily="2" charset="-122"/>
                <a:cs typeface="黑体" panose="02010609060101010101" pitchFamily="2" charset="-122"/>
                <a:sym typeface="+mn-ea"/>
              </a:rPr>
              <a:t>Dijkstra是只看一步算法，就是两点距离只看是否有弧连接，如果没有则为</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endParaRPr lang="zh-CN" altLang="en-US" sz="2400" b="0" dirty="0">
              <a:latin typeface="黑体" panose="02010609060101010101" pitchFamily="2" charset="-122"/>
              <a:ea typeface="黑体" panose="02010609060101010101" pitchFamily="2" charset="-122"/>
              <a:cs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7.6 </a:t>
            </a:r>
            <a:r>
              <a:rPr lang="zh-CN" altLang="en-US">
                <a:latin typeface="楷体" panose="02010609060101010101" charset="-122"/>
                <a:ea typeface="楷体" panose="02010609060101010101" charset="-122"/>
                <a:cs typeface="楷体" panose="02010609060101010101" charset="-122"/>
                <a:sym typeface="+mn-ea"/>
              </a:rPr>
              <a:t>最短路径</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Dijkstra算法设定</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对于下图，如果0是始点v0，则D[i]的初值为：D[i]={5,∞,7,15}</a:t>
            </a:r>
            <a:endParaRPr kumimoji="0" lang="zh-CN" altLang="en-US" b="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从</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D[i]集合中找出最短距离的D[j]</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D[j]=Min{D[i] | vi</a:t>
            </a:r>
            <a:r>
              <a:rPr lang="zh-CN" altLang="en-US"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V} 是从始点出发的长度最短的一条最短路径</a:t>
            </a:r>
            <a:endParaRPr lang="zh-CN" altLang="en-US" dirty="0">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marL="609600" marR="0" lvl="1" indent="0" algn="l" defTabSz="1219200" rtl="0" eaLnBrk="1" fontAlgn="base" latinLnBrk="0" hangingPunct="1">
              <a:lnSpc>
                <a:spcPct val="100000"/>
              </a:lnSpc>
              <a:spcBef>
                <a:spcPct val="20000"/>
              </a:spcBef>
              <a:buClrTx/>
              <a:buSzTx/>
              <a:buNone/>
            </a:pPr>
            <a:r>
              <a:rPr kumimoji="0" lang="zh-CN" altLang="en-US" b="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找出</a:t>
            </a:r>
            <a:r>
              <a:rPr kumimoji="0" lang="en-US" altLang="zh-CN" b="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j=1</a:t>
            </a:r>
            <a:endParaRPr kumimoji="0" lang="zh-CN" altLang="en-US" b="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endParaRPr>
          </a:p>
          <a:p>
            <a:pPr marR="0" lvl="1" algn="l" defTabSz="1219200" rtl="0" eaLnBrk="1" fontAlgn="base" latinLnBrk="0" hangingPunct="1">
              <a:lnSpc>
                <a:spcPct val="100000"/>
              </a:lnSpc>
              <a:spcBef>
                <a:spcPct val="20000"/>
              </a:spcBef>
              <a:buClrTx/>
              <a:buSzTx/>
              <a:buChar char="•"/>
            </a:pPr>
            <a:endParaRPr kumimoji="0" lang="zh-CN" altLang="en-US" b="0" i="0" u="none" strike="noStrike" kern="0" cap="none" spc="0" normalizeH="0" baseline="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r>
              <a:rPr kumimoji="0" lang="zh-CN" altLang="en-US" b="0" i="0" u="none" strike="noStrike" kern="0" cap="none" spc="0" normalizeH="0" baseline="0" dirty="0">
                <a:latin typeface="黑体" panose="02010609060101010101" pitchFamily="2" charset="-122"/>
                <a:ea typeface="黑体" panose="02010609060101010101" pitchFamily="2" charset="-122"/>
                <a:cs typeface="黑体" panose="02010609060101010101" pitchFamily="2" charset="-122"/>
              </a:rPr>
              <a:t>具体算法见下面介绍</a:t>
            </a:r>
            <a:endParaRPr kumimoji="0" lang="zh-CN" altLang="en-US" b="0" i="0" u="none" strike="noStrike" kern="0" cap="none" spc="0" normalizeH="0" baseline="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7.6 </a:t>
            </a:r>
            <a:r>
              <a:rPr lang="zh-CN" altLang="en-US">
                <a:latin typeface="楷体" panose="02010609060101010101" charset="-122"/>
                <a:ea typeface="楷体" panose="02010609060101010101" charset="-122"/>
                <a:cs typeface="楷体" panose="02010609060101010101" charset="-122"/>
                <a:sym typeface="+mn-ea"/>
              </a:rPr>
              <a:t>最短路径</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36196" name="Group 4"/>
          <p:cNvGrpSpPr/>
          <p:nvPr/>
        </p:nvGrpSpPr>
        <p:grpSpPr>
          <a:xfrm>
            <a:off x="8321040" y="3538220"/>
            <a:ext cx="2362200" cy="1905000"/>
            <a:chOff x="4032" y="3259"/>
            <a:chExt cx="1296" cy="1056"/>
          </a:xfrm>
        </p:grpSpPr>
        <p:grpSp>
          <p:nvGrpSpPr>
            <p:cNvPr id="136197" name="Group 5"/>
            <p:cNvGrpSpPr/>
            <p:nvPr/>
          </p:nvGrpSpPr>
          <p:grpSpPr>
            <a:xfrm>
              <a:off x="4032" y="3259"/>
              <a:ext cx="1296" cy="1056"/>
              <a:chOff x="3696" y="2784"/>
              <a:chExt cx="1920" cy="1536"/>
            </a:xfrm>
          </p:grpSpPr>
          <p:sp>
            <p:nvSpPr>
              <p:cNvPr id="136198" name="Line 6"/>
              <p:cNvSpPr/>
              <p:nvPr/>
            </p:nvSpPr>
            <p:spPr>
              <a:xfrm flipH="1" flipV="1">
                <a:off x="4752" y="2976"/>
                <a:ext cx="624" cy="384"/>
              </a:xfrm>
              <a:prstGeom prst="line">
                <a:avLst/>
              </a:prstGeom>
              <a:ln w="38100" cap="flat" cmpd="sng">
                <a:solidFill>
                  <a:srgbClr val="009900"/>
                </a:solidFill>
                <a:prstDash val="solid"/>
                <a:round/>
                <a:headEnd type="triangle" w="med" len="med"/>
                <a:tailEnd type="none" w="med" len="med"/>
              </a:ln>
            </p:spPr>
          </p:sp>
          <p:sp>
            <p:nvSpPr>
              <p:cNvPr id="136199" name="Line 7"/>
              <p:cNvSpPr/>
              <p:nvPr/>
            </p:nvSpPr>
            <p:spPr>
              <a:xfrm>
                <a:off x="3888" y="3504"/>
                <a:ext cx="240" cy="576"/>
              </a:xfrm>
              <a:prstGeom prst="line">
                <a:avLst/>
              </a:prstGeom>
              <a:ln w="38100" cap="flat" cmpd="sng">
                <a:solidFill>
                  <a:srgbClr val="009900"/>
                </a:solidFill>
                <a:prstDash val="solid"/>
                <a:round/>
                <a:headEnd type="none" w="med" len="med"/>
                <a:tailEnd type="triangle" w="med" len="med"/>
              </a:ln>
            </p:spPr>
          </p:sp>
          <p:sp>
            <p:nvSpPr>
              <p:cNvPr id="136200" name="Line 8"/>
              <p:cNvSpPr/>
              <p:nvPr/>
            </p:nvSpPr>
            <p:spPr>
              <a:xfrm flipH="1">
                <a:off x="3936" y="2928"/>
                <a:ext cx="672" cy="384"/>
              </a:xfrm>
              <a:prstGeom prst="line">
                <a:avLst/>
              </a:prstGeom>
              <a:ln w="38100" cap="flat" cmpd="sng">
                <a:solidFill>
                  <a:srgbClr val="009900"/>
                </a:solidFill>
                <a:prstDash val="solid"/>
                <a:round/>
                <a:headEnd type="none" w="med" len="med"/>
                <a:tailEnd type="triangle" w="med" len="med"/>
              </a:ln>
            </p:spPr>
          </p:sp>
          <p:sp>
            <p:nvSpPr>
              <p:cNvPr id="136201" name="Line 9"/>
              <p:cNvSpPr/>
              <p:nvPr/>
            </p:nvSpPr>
            <p:spPr>
              <a:xfrm flipH="1" flipV="1">
                <a:off x="4704" y="2976"/>
                <a:ext cx="384" cy="1056"/>
              </a:xfrm>
              <a:prstGeom prst="line">
                <a:avLst/>
              </a:prstGeom>
              <a:ln w="38100" cap="flat" cmpd="sng">
                <a:solidFill>
                  <a:srgbClr val="009900"/>
                </a:solidFill>
                <a:prstDash val="solid"/>
                <a:round/>
                <a:headEnd type="triangle" w="med" len="med"/>
                <a:tailEnd type="none" w="med" len="med"/>
              </a:ln>
            </p:spPr>
          </p:sp>
          <p:sp>
            <p:nvSpPr>
              <p:cNvPr id="136202" name="Line 10"/>
              <p:cNvSpPr/>
              <p:nvPr/>
            </p:nvSpPr>
            <p:spPr>
              <a:xfrm flipH="1">
                <a:off x="4272" y="4176"/>
                <a:ext cx="720" cy="0"/>
              </a:xfrm>
              <a:prstGeom prst="line">
                <a:avLst/>
              </a:prstGeom>
              <a:ln w="38100" cap="flat" cmpd="sng">
                <a:solidFill>
                  <a:srgbClr val="009900"/>
                </a:solidFill>
                <a:prstDash val="solid"/>
                <a:round/>
                <a:headEnd type="none" w="med" len="med"/>
                <a:tailEnd type="triangle" w="med" len="med"/>
              </a:ln>
            </p:spPr>
          </p:sp>
          <p:sp>
            <p:nvSpPr>
              <p:cNvPr id="136203" name="Line 11"/>
              <p:cNvSpPr/>
              <p:nvPr/>
            </p:nvSpPr>
            <p:spPr>
              <a:xfrm flipH="1">
                <a:off x="4272" y="3552"/>
                <a:ext cx="1152" cy="576"/>
              </a:xfrm>
              <a:prstGeom prst="line">
                <a:avLst/>
              </a:prstGeom>
              <a:ln w="38100" cap="flat" cmpd="sng">
                <a:solidFill>
                  <a:srgbClr val="009900"/>
                </a:solidFill>
                <a:prstDash val="solid"/>
                <a:round/>
                <a:headEnd type="triangle" w="med" len="med"/>
                <a:tailEnd type="none" w="med" len="med"/>
              </a:ln>
            </p:spPr>
          </p:sp>
          <p:sp>
            <p:nvSpPr>
              <p:cNvPr id="136204" name="Oval 12"/>
              <p:cNvSpPr/>
              <p:nvPr/>
            </p:nvSpPr>
            <p:spPr>
              <a:xfrm>
                <a:off x="3696" y="326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1</a:t>
                </a:r>
                <a:endParaRPr lang="en-US" altLang="zh-CN" sz="2000" dirty="0">
                  <a:solidFill>
                    <a:schemeClr val="bg1"/>
                  </a:solidFill>
                  <a:latin typeface="Tahoma" panose="020B0604030504040204" charset="0"/>
                  <a:ea typeface="宋体" panose="02010600030101010101" pitchFamily="2" charset="-122"/>
                </a:endParaRPr>
              </a:p>
            </p:txBody>
          </p:sp>
          <p:sp>
            <p:nvSpPr>
              <p:cNvPr id="136205" name="Oval 13"/>
              <p:cNvSpPr/>
              <p:nvPr/>
            </p:nvSpPr>
            <p:spPr>
              <a:xfrm>
                <a:off x="4992"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3</a:t>
                </a:r>
                <a:endParaRPr lang="en-US" altLang="zh-CN" sz="2000" dirty="0">
                  <a:solidFill>
                    <a:schemeClr val="bg1"/>
                  </a:solidFill>
                  <a:latin typeface="Tahoma" panose="020B0604030504040204" charset="0"/>
                  <a:ea typeface="宋体" panose="02010600030101010101" pitchFamily="2" charset="-122"/>
                </a:endParaRPr>
              </a:p>
            </p:txBody>
          </p:sp>
          <p:sp>
            <p:nvSpPr>
              <p:cNvPr id="136206" name="Oval 14"/>
              <p:cNvSpPr/>
              <p:nvPr/>
            </p:nvSpPr>
            <p:spPr>
              <a:xfrm>
                <a:off x="4032"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2</a:t>
                </a:r>
                <a:endParaRPr lang="en-US" altLang="zh-CN" sz="2000" dirty="0">
                  <a:solidFill>
                    <a:schemeClr val="bg1"/>
                  </a:solidFill>
                  <a:latin typeface="Tahoma" panose="020B0604030504040204" charset="0"/>
                  <a:ea typeface="宋体" panose="02010600030101010101" pitchFamily="2" charset="-122"/>
                </a:endParaRPr>
              </a:p>
            </p:txBody>
          </p:sp>
          <p:sp>
            <p:nvSpPr>
              <p:cNvPr id="136207" name="Oval 15"/>
              <p:cNvSpPr/>
              <p:nvPr/>
            </p:nvSpPr>
            <p:spPr>
              <a:xfrm>
                <a:off x="5328" y="3312"/>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4</a:t>
                </a:r>
                <a:endParaRPr lang="en-US" altLang="zh-CN" sz="2000" dirty="0">
                  <a:solidFill>
                    <a:schemeClr val="bg1"/>
                  </a:solidFill>
                  <a:latin typeface="Tahoma" panose="020B0604030504040204" charset="0"/>
                  <a:ea typeface="宋体" panose="02010600030101010101" pitchFamily="2" charset="-122"/>
                </a:endParaRPr>
              </a:p>
            </p:txBody>
          </p:sp>
          <p:sp>
            <p:nvSpPr>
              <p:cNvPr id="136208" name="Oval 16"/>
              <p:cNvSpPr/>
              <p:nvPr/>
            </p:nvSpPr>
            <p:spPr>
              <a:xfrm>
                <a:off x="4512" y="2784"/>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0</a:t>
                </a:r>
                <a:endParaRPr lang="en-US" altLang="zh-CN" sz="2000" dirty="0">
                  <a:solidFill>
                    <a:schemeClr val="bg1"/>
                  </a:solidFill>
                  <a:latin typeface="Tahoma" panose="020B0604030504040204" charset="0"/>
                  <a:ea typeface="宋体" panose="02010600030101010101" pitchFamily="2" charset="-122"/>
                </a:endParaRPr>
              </a:p>
            </p:txBody>
          </p:sp>
        </p:grpSp>
        <p:sp>
          <p:nvSpPr>
            <p:cNvPr id="136209" name="Text Box 17"/>
            <p:cNvSpPr txBox="1"/>
            <p:nvPr/>
          </p:nvSpPr>
          <p:spPr>
            <a:xfrm>
              <a:off x="4224" y="3264"/>
              <a:ext cx="240" cy="221"/>
            </a:xfrm>
            <a:prstGeom prst="rect">
              <a:avLst/>
            </a:prstGeom>
            <a:noFill/>
            <a:ln w="9525">
              <a:noFill/>
            </a:ln>
          </p:spPr>
          <p:txBody>
            <a:bodyPr anchor="t" anchorCtr="0">
              <a:spAutoFit/>
            </a:bodyPr>
            <a:p>
              <a:pPr algn="ctr">
                <a:spcBef>
                  <a:spcPct val="50000"/>
                </a:spcBef>
              </a:pPr>
              <a:r>
                <a:rPr lang="en-US" altLang="zh-CN" sz="2000" dirty="0">
                  <a:solidFill>
                    <a:schemeClr val="hlink"/>
                  </a:solidFill>
                  <a:latin typeface="Tahoma" panose="020B0604030504040204" charset="0"/>
                  <a:ea typeface="宋体" panose="02010600030101010101" pitchFamily="2" charset="-122"/>
                </a:rPr>
                <a:t>5</a:t>
              </a:r>
              <a:endParaRPr lang="en-US" altLang="zh-CN" sz="2000" dirty="0">
                <a:solidFill>
                  <a:schemeClr val="hlink"/>
                </a:solidFill>
                <a:latin typeface="Tahoma" panose="020B0604030504040204" charset="0"/>
                <a:ea typeface="宋体" panose="02010600030101010101" pitchFamily="2" charset="-122"/>
              </a:endParaRPr>
            </a:p>
          </p:txBody>
        </p:sp>
        <p:sp>
          <p:nvSpPr>
            <p:cNvPr id="136210" name="Text Box 18"/>
            <p:cNvSpPr txBox="1"/>
            <p:nvPr/>
          </p:nvSpPr>
          <p:spPr>
            <a:xfrm>
              <a:off x="4032" y="3840"/>
              <a:ext cx="240" cy="221"/>
            </a:xfrm>
            <a:prstGeom prst="rect">
              <a:avLst/>
            </a:prstGeom>
            <a:noFill/>
            <a:ln w="9525">
              <a:noFill/>
            </a:ln>
          </p:spPr>
          <p:txBody>
            <a:bodyPr anchor="t" anchorCtr="0">
              <a:spAutoFit/>
            </a:bodyPr>
            <a:p>
              <a:pPr algn="ctr">
                <a:spcBef>
                  <a:spcPct val="50000"/>
                </a:spcBef>
              </a:pPr>
              <a:r>
                <a:rPr lang="en-US" altLang="zh-CN" sz="2000" dirty="0">
                  <a:solidFill>
                    <a:schemeClr val="hlink"/>
                  </a:solidFill>
                  <a:latin typeface="Tahoma" panose="020B0604030504040204" charset="0"/>
                  <a:ea typeface="宋体" panose="02010600030101010101" pitchFamily="2" charset="-122"/>
                </a:rPr>
                <a:t>5</a:t>
              </a:r>
              <a:endParaRPr lang="en-US" altLang="zh-CN" sz="2000" dirty="0">
                <a:solidFill>
                  <a:schemeClr val="hlink"/>
                </a:solidFill>
                <a:latin typeface="Tahoma" panose="020B0604030504040204" charset="0"/>
                <a:ea typeface="宋体" panose="02010600030101010101" pitchFamily="2" charset="-122"/>
              </a:endParaRPr>
            </a:p>
          </p:txBody>
        </p:sp>
        <p:sp>
          <p:nvSpPr>
            <p:cNvPr id="136211" name="Text Box 19"/>
            <p:cNvSpPr txBox="1"/>
            <p:nvPr/>
          </p:nvSpPr>
          <p:spPr>
            <a:xfrm>
              <a:off x="4848" y="3264"/>
              <a:ext cx="384" cy="221"/>
            </a:xfrm>
            <a:prstGeom prst="rect">
              <a:avLst/>
            </a:prstGeom>
            <a:noFill/>
            <a:ln w="9525">
              <a:noFill/>
            </a:ln>
          </p:spPr>
          <p:txBody>
            <a:bodyPr anchor="t" anchorCtr="0">
              <a:spAutoFit/>
            </a:bodyPr>
            <a:p>
              <a:pPr algn="ctr">
                <a:spcBef>
                  <a:spcPct val="50000"/>
                </a:spcBef>
              </a:pPr>
              <a:r>
                <a:rPr lang="en-US" altLang="zh-CN" sz="2000" dirty="0">
                  <a:solidFill>
                    <a:schemeClr val="hlink"/>
                  </a:solidFill>
                  <a:latin typeface="Tahoma" panose="020B0604030504040204" charset="0"/>
                  <a:ea typeface="宋体" panose="02010600030101010101" pitchFamily="2" charset="-122"/>
                </a:rPr>
                <a:t>15</a:t>
              </a:r>
              <a:endParaRPr lang="en-US" altLang="zh-CN" sz="2000" dirty="0">
                <a:solidFill>
                  <a:schemeClr val="hlink"/>
                </a:solidFill>
                <a:latin typeface="Tahoma" panose="020B0604030504040204" charset="0"/>
                <a:ea typeface="宋体" panose="02010600030101010101" pitchFamily="2" charset="-122"/>
              </a:endParaRPr>
            </a:p>
          </p:txBody>
        </p:sp>
        <p:sp>
          <p:nvSpPr>
            <p:cNvPr id="136212" name="Text Box 20"/>
            <p:cNvSpPr txBox="1"/>
            <p:nvPr/>
          </p:nvSpPr>
          <p:spPr>
            <a:xfrm>
              <a:off x="4560" y="3840"/>
              <a:ext cx="240" cy="221"/>
            </a:xfrm>
            <a:prstGeom prst="rect">
              <a:avLst/>
            </a:prstGeom>
            <a:noFill/>
            <a:ln w="9525">
              <a:noFill/>
            </a:ln>
          </p:spPr>
          <p:txBody>
            <a:bodyPr anchor="t" anchorCtr="0">
              <a:spAutoFit/>
            </a:bodyPr>
            <a:p>
              <a:pPr algn="ctr">
                <a:spcBef>
                  <a:spcPct val="50000"/>
                </a:spcBef>
              </a:pPr>
              <a:r>
                <a:rPr lang="en-US" altLang="zh-CN" sz="2000" dirty="0">
                  <a:solidFill>
                    <a:schemeClr val="hlink"/>
                  </a:solidFill>
                  <a:latin typeface="Tahoma" panose="020B0604030504040204" charset="0"/>
                  <a:ea typeface="宋体" panose="02010600030101010101" pitchFamily="2" charset="-122"/>
                </a:rPr>
                <a:t>1</a:t>
              </a:r>
              <a:endParaRPr lang="en-US" altLang="zh-CN" sz="2000" dirty="0">
                <a:solidFill>
                  <a:schemeClr val="hlink"/>
                </a:solidFill>
                <a:latin typeface="Tahoma" panose="020B0604030504040204" charset="0"/>
                <a:ea typeface="宋体" panose="02010600030101010101" pitchFamily="2" charset="-122"/>
              </a:endParaRPr>
            </a:p>
          </p:txBody>
        </p:sp>
        <p:sp>
          <p:nvSpPr>
            <p:cNvPr id="136213" name="Text Box 21"/>
            <p:cNvSpPr txBox="1"/>
            <p:nvPr/>
          </p:nvSpPr>
          <p:spPr>
            <a:xfrm>
              <a:off x="4608" y="3552"/>
              <a:ext cx="240" cy="221"/>
            </a:xfrm>
            <a:prstGeom prst="rect">
              <a:avLst/>
            </a:prstGeom>
            <a:noFill/>
            <a:ln w="9525">
              <a:noFill/>
            </a:ln>
          </p:spPr>
          <p:txBody>
            <a:bodyPr anchor="t" anchorCtr="0">
              <a:spAutoFit/>
            </a:bodyPr>
            <a:p>
              <a:pPr algn="ctr">
                <a:spcBef>
                  <a:spcPct val="50000"/>
                </a:spcBef>
              </a:pPr>
              <a:r>
                <a:rPr lang="en-US" altLang="zh-CN" sz="2000" dirty="0">
                  <a:solidFill>
                    <a:schemeClr val="hlink"/>
                  </a:solidFill>
                  <a:latin typeface="Tahoma" panose="020B0604030504040204" charset="0"/>
                  <a:ea typeface="宋体" panose="02010600030101010101" pitchFamily="2" charset="-122"/>
                </a:rPr>
                <a:t>7</a:t>
              </a:r>
              <a:endParaRPr lang="en-US" altLang="zh-CN" sz="2000" dirty="0">
                <a:solidFill>
                  <a:schemeClr val="hlink"/>
                </a:solidFill>
                <a:latin typeface="Tahoma" panose="020B0604030504040204" charset="0"/>
                <a:ea typeface="宋体" panose="02010600030101010101" pitchFamily="2" charset="-122"/>
              </a:endParaRPr>
            </a:p>
          </p:txBody>
        </p:sp>
        <p:sp>
          <p:nvSpPr>
            <p:cNvPr id="136214" name="Text Box 22"/>
            <p:cNvSpPr txBox="1"/>
            <p:nvPr/>
          </p:nvSpPr>
          <p:spPr>
            <a:xfrm>
              <a:off x="4656" y="3989"/>
              <a:ext cx="240" cy="221"/>
            </a:xfrm>
            <a:prstGeom prst="rect">
              <a:avLst/>
            </a:prstGeom>
            <a:noFill/>
            <a:ln w="9525">
              <a:noFill/>
            </a:ln>
          </p:spPr>
          <p:txBody>
            <a:bodyPr anchor="t" anchorCtr="0">
              <a:spAutoFit/>
            </a:bodyPr>
            <a:p>
              <a:pPr algn="ctr">
                <a:spcBef>
                  <a:spcPct val="50000"/>
                </a:spcBef>
              </a:pPr>
              <a:r>
                <a:rPr lang="en-US" altLang="zh-CN" sz="2000" dirty="0">
                  <a:solidFill>
                    <a:schemeClr val="hlink"/>
                  </a:solidFill>
                  <a:latin typeface="Tahoma" panose="020B0604030504040204" charset="0"/>
                  <a:ea typeface="宋体" panose="02010600030101010101" pitchFamily="2" charset="-122"/>
                </a:rPr>
                <a:t>2</a:t>
              </a:r>
              <a:endParaRPr lang="en-US" altLang="zh-CN" sz="2000" dirty="0">
                <a:solidFill>
                  <a:schemeClr val="hlink"/>
                </a:solidFill>
                <a:latin typeface="Tahoma" panose="020B0604030504040204" charset="0"/>
                <a:ea typeface="宋体" panose="02010600030101010101" pitchFamily="2" charset="-122"/>
              </a:endParaRPr>
            </a:p>
          </p:txBody>
        </p:sp>
      </p:gr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Dijkstra算法</a:t>
            </a: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流程</a:t>
            </a:r>
            <a:endParaRPr lang="zh-CN" altLang="en-US" sz="2400" dirty="0">
              <a:latin typeface="黑体" panose="02010609060101010101" pitchFamily="2" charset="-122"/>
              <a:ea typeface="黑体" panose="02010609060101010101" pitchFamily="2" charset="-122"/>
              <a:cs typeface="+mn-ea"/>
              <a:sym typeface="+mn-ea"/>
            </a:endParaRPr>
          </a:p>
          <a:p>
            <a:pPr marL="609600" marR="0" lvl="0" indent="-609600" algn="l" defTabSz="914400" rtl="0" eaLnBrk="1" fontAlgn="base" latinLnBrk="0" hangingPunct="1">
              <a:lnSpc>
                <a:spcPct val="120000"/>
              </a:lnSpc>
              <a:spcBef>
                <a:spcPct val="0"/>
              </a:spcBef>
              <a:spcAft>
                <a:spcPct val="0"/>
              </a:spcAft>
              <a:buClr>
                <a:schemeClr val="tx1"/>
              </a:buClr>
              <a:buSzPct val="115000"/>
              <a:buFont typeface="Wingdings" panose="05000000000000000000" charset="0"/>
              <a:buNone/>
              <a:defRPr/>
            </a:pP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1. </a:t>
            </a:r>
            <a:r>
              <a:rPr lang="zh-CN" altLang="en-US"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初始化： </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S ← {v</a:t>
            </a:r>
            <a:r>
              <a:rPr lang="en-US" altLang="zh-CN" sz="2400" baseline="-250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0 </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endParaRPr>
          </a:p>
          <a:p>
            <a:pPr marL="609600" marR="0" lvl="0" indent="-609600" algn="l" defTabSz="914400" rtl="0" eaLnBrk="1" fontAlgn="base" latinLnBrk="0" hangingPunct="1">
              <a:lnSpc>
                <a:spcPct val="120000"/>
              </a:lnSpc>
              <a:spcBef>
                <a:spcPct val="0"/>
              </a:spcBef>
              <a:spcAft>
                <a:spcPct val="0"/>
              </a:spcAft>
              <a:buClr>
                <a:schemeClr val="tx1"/>
              </a:buClr>
              <a:buSzPct val="115000"/>
              <a:buFont typeface="Wingdings" panose="05000000000000000000" charset="0"/>
              <a:buNone/>
              <a:defRPr/>
            </a:pP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        D[</a:t>
            </a:r>
            <a:r>
              <a:rPr lang="en-US" altLang="zh-CN" sz="2400" noProof="0" dirty="0" err="1"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i</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 ← arc[0][</a:t>
            </a:r>
            <a:r>
              <a:rPr lang="en-US" altLang="zh-CN" sz="2400" noProof="0" dirty="0" err="1"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i</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noProof="0" dirty="0" err="1"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i</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 = 1, 2, …, n-1;</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endParaRPr>
          </a:p>
          <a:p>
            <a:pPr marL="609600" marR="0" lvl="0" indent="-609600" algn="l" defTabSz="914400" rtl="0" eaLnBrk="1" fontAlgn="base" latinLnBrk="0" hangingPunct="1">
              <a:lnSpc>
                <a:spcPct val="120000"/>
              </a:lnSpc>
              <a:spcBef>
                <a:spcPct val="0"/>
              </a:spcBef>
              <a:spcAft>
                <a:spcPct val="0"/>
              </a:spcAft>
              <a:buClr>
                <a:schemeClr val="tx1"/>
              </a:buClr>
              <a:buSzPct val="115000"/>
              <a:buFont typeface="Wingdings" panose="05000000000000000000" charset="0"/>
              <a:buNone/>
              <a:defRPr/>
            </a:pP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        P[</a:t>
            </a:r>
            <a:r>
              <a:rPr lang="en-US" altLang="zh-CN" sz="2400" noProof="0" dirty="0" err="1"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i</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 = {0,i} 			       // </a:t>
            </a:r>
            <a:r>
              <a:rPr lang="zh-CN" altLang="en-US"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从</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v</a:t>
            </a:r>
            <a:r>
              <a:rPr lang="en-US" altLang="zh-CN" sz="2400" baseline="-250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0</a:t>
            </a:r>
            <a:r>
              <a:rPr lang="zh-CN" altLang="en-US"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到</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v</a:t>
            </a:r>
            <a:r>
              <a:rPr lang="en-US" altLang="zh-CN" sz="2400" baseline="-250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i</a:t>
            </a:r>
            <a:r>
              <a:rPr lang="zh-CN" altLang="en-US"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的路径</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endParaRPr>
          </a:p>
          <a:p>
            <a:pPr marL="609600" marR="0" lvl="0" indent="-609600" algn="l" defTabSz="914400" rtl="0" eaLnBrk="1" fontAlgn="base" latinLnBrk="0" hangingPunct="1">
              <a:lnSpc>
                <a:spcPct val="120000"/>
              </a:lnSpc>
              <a:spcBef>
                <a:spcPct val="0"/>
              </a:spcBef>
              <a:spcAft>
                <a:spcPct val="0"/>
              </a:spcAft>
              <a:buClr>
                <a:schemeClr val="tx1"/>
              </a:buClr>
              <a:buSzPct val="115000"/>
              <a:buFont typeface="Wingdings" panose="05000000000000000000" charset="0"/>
              <a:buNone/>
              <a:defRPr/>
            </a:pP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2. </a:t>
            </a:r>
            <a:r>
              <a:rPr lang="zh-CN" altLang="en-US"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求出最短路径的长度：</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endParaRPr>
          </a:p>
          <a:p>
            <a:pPr marL="609600" marR="0" lvl="0" indent="-609600" algn="l" defTabSz="914400" rtl="0" eaLnBrk="1" fontAlgn="base" latinLnBrk="0" hangingPunct="1">
              <a:lnSpc>
                <a:spcPct val="120000"/>
              </a:lnSpc>
              <a:spcBef>
                <a:spcPct val="0"/>
              </a:spcBef>
              <a:spcAft>
                <a:spcPct val="0"/>
              </a:spcAft>
              <a:buClr>
                <a:schemeClr val="tx1"/>
              </a:buClr>
              <a:buSzPct val="115000"/>
              <a:buFont typeface="Wingdings" panose="05000000000000000000" charset="0"/>
              <a:buNone/>
              <a:defRPr/>
            </a:pPr>
            <a:r>
              <a:rPr lang="zh-CN" altLang="en-US"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D[j] ← min { D[</a:t>
            </a:r>
            <a:r>
              <a:rPr lang="en-US" altLang="zh-CN" sz="2400" noProof="0" dirty="0" err="1"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i</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 },  </a:t>
            </a:r>
            <a:r>
              <a:rPr lang="en-US" altLang="zh-CN" sz="2400" noProof="0" dirty="0" err="1"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i</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 </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V-S ; S←S </a:t>
            </a:r>
            <a:r>
              <a:rPr lang="en-US" altLang="zh-CN" sz="2400" b="1"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U</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 {j</a:t>
            </a:r>
            <a:r>
              <a:rPr lang="en-US" altLang="zh-CN" sz="2400" baseline="-250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endParaRPr>
          </a:p>
          <a:p>
            <a:pPr marL="609600" marR="0" lvl="0" indent="-609600" algn="l" defTabSz="914400" rtl="0" eaLnBrk="1" fontAlgn="base" latinLnBrk="0" hangingPunct="1">
              <a:lnSpc>
                <a:spcPct val="120000"/>
              </a:lnSpc>
              <a:spcBef>
                <a:spcPct val="0"/>
              </a:spcBef>
              <a:spcAft>
                <a:spcPct val="0"/>
              </a:spcAft>
              <a:buClr>
                <a:schemeClr val="tx1"/>
              </a:buClr>
              <a:buSzPct val="115000"/>
              <a:buFont typeface="Wingdings" panose="05000000000000000000" charset="0"/>
              <a:buNone/>
              <a:defRPr/>
            </a:pP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3. </a:t>
            </a:r>
            <a:r>
              <a:rPr lang="zh-CN" altLang="en-US"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根据</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j</a:t>
            </a:r>
            <a:r>
              <a:rPr lang="zh-CN" altLang="en-US"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，更新从</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v</a:t>
            </a:r>
            <a:r>
              <a:rPr lang="en-US" altLang="zh-CN" sz="2400" baseline="-250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0</a:t>
            </a:r>
            <a:r>
              <a:rPr lang="zh-CN" altLang="en-US"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到</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v</a:t>
            </a:r>
            <a:r>
              <a:rPr lang="en-US" altLang="zh-CN" sz="2400" baseline="-250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j</a:t>
            </a:r>
            <a:r>
              <a:rPr lang="zh-CN" altLang="en-US"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再到其他顶点的</a:t>
            </a:r>
            <a:r>
              <a:rPr lang="zh-CN" altLang="en-US"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路径：  </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endParaRPr>
          </a:p>
          <a:p>
            <a:pPr marL="609600" marR="0" lvl="0" indent="-609600" algn="l" defTabSz="914400" rtl="0" eaLnBrk="1" fontAlgn="base" latinLnBrk="0" hangingPunct="1">
              <a:lnSpc>
                <a:spcPct val="120000"/>
              </a:lnSpc>
              <a:spcBef>
                <a:spcPct val="0"/>
              </a:spcBef>
              <a:spcAft>
                <a:spcPct val="0"/>
              </a:spcAft>
              <a:buClr>
                <a:schemeClr val="tx1"/>
              </a:buClr>
              <a:buSzPct val="115000"/>
              <a:buFont typeface="Wingdings" panose="05000000000000000000" charset="0"/>
              <a:buNone/>
              <a:defRPr/>
            </a:pPr>
            <a:r>
              <a:rPr lang="zh-CN" altLang="en-US"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if (D[</a:t>
            </a:r>
            <a:r>
              <a:rPr lang="en-US" altLang="zh-CN" sz="2400" noProof="0" dirty="0" err="1"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i</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 &gt; D[j] + arc[j][</a:t>
            </a:r>
            <a:r>
              <a:rPr lang="en-US" altLang="zh-CN" sz="2400" noProof="0" dirty="0" err="1"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i</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 {D[</a:t>
            </a:r>
            <a:r>
              <a:rPr lang="en-US" altLang="zh-CN" sz="2400" noProof="0" dirty="0" err="1"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i</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 = D[j]+arc[j][</a:t>
            </a:r>
            <a:r>
              <a:rPr lang="en-US" altLang="zh-CN" sz="2400" noProof="0" dirty="0" err="1"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i</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 </a:t>
            </a:r>
            <a:endParaRPr kumimoji="0" lang="en-US" altLang="zh-CN" sz="2400" b="0"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endParaRPr>
          </a:p>
          <a:p>
            <a:pPr marL="609600" marR="0" lvl="0" indent="-609600" algn="l" defTabSz="914400" rtl="0" eaLnBrk="1" fontAlgn="base" latinLnBrk="0" hangingPunct="1">
              <a:lnSpc>
                <a:spcPct val="120000"/>
              </a:lnSpc>
              <a:spcBef>
                <a:spcPct val="0"/>
              </a:spcBef>
              <a:spcAft>
                <a:spcPct val="0"/>
              </a:spcAft>
              <a:buClr>
                <a:schemeClr val="tx1"/>
              </a:buClr>
              <a:buSzPct val="115000"/>
              <a:buFont typeface="Wingdings" panose="05000000000000000000" charset="0"/>
              <a:buNone/>
              <a:defRPr/>
            </a:pP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        P[</a:t>
            </a:r>
            <a:r>
              <a:rPr lang="en-US" altLang="zh-CN" sz="2400" noProof="0" dirty="0" err="1"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i</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 = P[j] </a:t>
            </a:r>
            <a:r>
              <a:rPr lang="en-US" altLang="zh-CN" sz="2400" b="1"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U</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noProof="0" dirty="0" err="1"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i</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 ; }   </a:t>
            </a:r>
            <a:r>
              <a:rPr lang="en-US" altLang="zh-CN" sz="2400" noProof="0" dirty="0" err="1"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i</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Symbol" panose="05050102010706020507" pitchFamily="18" charset="2"/>
              </a:rPr>
              <a:t> </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V-S    // </a:t>
            </a:r>
            <a:r>
              <a:rPr lang="zh-CN" altLang="en-US"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更新从</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v</a:t>
            </a:r>
            <a:r>
              <a:rPr lang="en-US" altLang="zh-CN" sz="2400" baseline="-250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0</a:t>
            </a:r>
            <a:r>
              <a:rPr lang="zh-CN" altLang="en-US"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到</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v</a:t>
            </a:r>
            <a:r>
              <a:rPr lang="en-US" altLang="zh-CN" sz="2400" baseline="-250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i</a:t>
            </a:r>
            <a:r>
              <a:rPr lang="zh-CN" altLang="en-US"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的路径</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endParaRPr>
          </a:p>
          <a:p>
            <a:pPr marL="609600" marR="0" lvl="0" indent="-609600" algn="l" defTabSz="914400" rtl="0" eaLnBrk="1" fontAlgn="base" latinLnBrk="0" hangingPunct="1">
              <a:lnSpc>
                <a:spcPct val="120000"/>
              </a:lnSpc>
              <a:spcBef>
                <a:spcPct val="0"/>
              </a:spcBef>
              <a:spcAft>
                <a:spcPct val="0"/>
              </a:spcAft>
              <a:buClr>
                <a:schemeClr val="tx1"/>
              </a:buClr>
              <a:buSzPct val="115000"/>
              <a:buFont typeface="Wingdings" panose="05000000000000000000" charset="0"/>
              <a:buNone/>
              <a:defRPr/>
            </a:pP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4. </a:t>
            </a:r>
            <a:r>
              <a:rPr lang="zh-CN" altLang="en-US"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判断：若 </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S = V, </a:t>
            </a:r>
            <a:r>
              <a:rPr lang="zh-CN" altLang="en-US"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则算法结束，否则转 </a:t>
            </a:r>
            <a:r>
              <a:rPr lang="en-US" altLang="zh-CN"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2</a:t>
            </a:r>
            <a:r>
              <a:rPr lang="zh-CN" altLang="en-US" sz="2400" noProof="0" dirty="0" smtClean="0">
                <a:ln>
                  <a:noFill/>
                </a:ln>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sym typeface="+mn-ea"/>
              </a:rPr>
              <a:t>。</a:t>
            </a:r>
            <a:endParaRPr kumimoji="0" lang="zh-CN" altLang="en-US" sz="2400" b="0" i="0" u="none" strike="noStrike" kern="0" cap="none" spc="0" normalizeH="0" baseline="0" noProof="0" dirty="0" smtClean="0">
              <a:ln>
                <a:noFill/>
              </a:ln>
              <a:solidFill>
                <a:schemeClr val="tx1"/>
              </a:solidFill>
              <a:effectLst>
                <a:outerShdw blurRad="38100" dist="38100" dir="2700000" algn="tl">
                  <a:srgbClr val="C0C0C0"/>
                </a:outerShdw>
              </a:effectLst>
              <a:uLnTx/>
              <a:uFillTx/>
              <a:latin typeface="黑体" panose="02010609060101010101" pitchFamily="2" charset="-122"/>
              <a:ea typeface="黑体" panose="02010609060101010101" pitchFamily="2" charset="-122"/>
              <a:cs typeface="黑体" panose="02010609060101010101" pitchFamily="2" charset="-122"/>
            </a:endParaRPr>
          </a:p>
          <a:p>
            <a:pPr marL="609600" marR="0" lvl="1" indent="0" algn="l" defTabSz="1219200" rtl="0" eaLnBrk="1" fontAlgn="base" latinLnBrk="0" hangingPunct="1">
              <a:lnSpc>
                <a:spcPct val="100000"/>
              </a:lnSpc>
              <a:spcBef>
                <a:spcPct val="20000"/>
              </a:spcBef>
              <a:buClrTx/>
              <a:buSzTx/>
              <a:buNone/>
            </a:pPr>
            <a:endParaRPr lang="zh-CN" altLang="en-US" sz="24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7.6 </a:t>
            </a:r>
            <a:r>
              <a:rPr lang="zh-CN" altLang="en-US">
                <a:latin typeface="楷体" panose="02010609060101010101" charset="-122"/>
                <a:ea typeface="楷体" panose="02010609060101010101" charset="-122"/>
                <a:cs typeface="楷体" panose="02010609060101010101" charset="-122"/>
                <a:sym typeface="+mn-ea"/>
              </a:rPr>
              <a:t>最短路径</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Dijkstra算法</a:t>
            </a: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举例</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7.6 </a:t>
            </a:r>
            <a:r>
              <a:rPr lang="zh-CN" altLang="en-US">
                <a:latin typeface="楷体" panose="02010609060101010101" charset="-122"/>
                <a:ea typeface="楷体" panose="02010609060101010101" charset="-122"/>
                <a:cs typeface="楷体" panose="02010609060101010101" charset="-122"/>
                <a:sym typeface="+mn-ea"/>
              </a:rPr>
              <a:t>最短路径</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36196" name="Group 4"/>
          <p:cNvGrpSpPr/>
          <p:nvPr/>
        </p:nvGrpSpPr>
        <p:grpSpPr>
          <a:xfrm>
            <a:off x="8321040" y="3538220"/>
            <a:ext cx="2362200" cy="1905000"/>
            <a:chOff x="4032" y="3259"/>
            <a:chExt cx="1296" cy="1056"/>
          </a:xfrm>
        </p:grpSpPr>
        <p:grpSp>
          <p:nvGrpSpPr>
            <p:cNvPr id="136197" name="Group 5"/>
            <p:cNvGrpSpPr/>
            <p:nvPr/>
          </p:nvGrpSpPr>
          <p:grpSpPr>
            <a:xfrm>
              <a:off x="4032" y="3259"/>
              <a:ext cx="1296" cy="1056"/>
              <a:chOff x="3696" y="2784"/>
              <a:chExt cx="1920" cy="1536"/>
            </a:xfrm>
          </p:grpSpPr>
          <p:sp>
            <p:nvSpPr>
              <p:cNvPr id="136198" name="Line 6"/>
              <p:cNvSpPr/>
              <p:nvPr/>
            </p:nvSpPr>
            <p:spPr>
              <a:xfrm flipH="1" flipV="1">
                <a:off x="4752" y="2976"/>
                <a:ext cx="624" cy="384"/>
              </a:xfrm>
              <a:prstGeom prst="line">
                <a:avLst/>
              </a:prstGeom>
              <a:ln w="38100" cap="flat" cmpd="sng">
                <a:solidFill>
                  <a:srgbClr val="009900"/>
                </a:solidFill>
                <a:prstDash val="solid"/>
                <a:round/>
                <a:headEnd type="triangle" w="med" len="med"/>
                <a:tailEnd type="none" w="med" len="med"/>
              </a:ln>
            </p:spPr>
          </p:sp>
          <p:sp>
            <p:nvSpPr>
              <p:cNvPr id="136199" name="Line 7"/>
              <p:cNvSpPr/>
              <p:nvPr/>
            </p:nvSpPr>
            <p:spPr>
              <a:xfrm>
                <a:off x="3888" y="3504"/>
                <a:ext cx="240" cy="576"/>
              </a:xfrm>
              <a:prstGeom prst="line">
                <a:avLst/>
              </a:prstGeom>
              <a:ln w="38100" cap="flat" cmpd="sng">
                <a:solidFill>
                  <a:srgbClr val="009900"/>
                </a:solidFill>
                <a:prstDash val="solid"/>
                <a:round/>
                <a:headEnd type="none" w="med" len="med"/>
                <a:tailEnd type="triangle" w="med" len="med"/>
              </a:ln>
            </p:spPr>
          </p:sp>
          <p:sp>
            <p:nvSpPr>
              <p:cNvPr id="136200" name="Line 8"/>
              <p:cNvSpPr/>
              <p:nvPr/>
            </p:nvSpPr>
            <p:spPr>
              <a:xfrm flipH="1">
                <a:off x="3936" y="2928"/>
                <a:ext cx="672" cy="384"/>
              </a:xfrm>
              <a:prstGeom prst="line">
                <a:avLst/>
              </a:prstGeom>
              <a:ln w="38100" cap="flat" cmpd="sng">
                <a:solidFill>
                  <a:srgbClr val="009900"/>
                </a:solidFill>
                <a:prstDash val="solid"/>
                <a:round/>
                <a:headEnd type="none" w="med" len="med"/>
                <a:tailEnd type="triangle" w="med" len="med"/>
              </a:ln>
            </p:spPr>
          </p:sp>
          <p:sp>
            <p:nvSpPr>
              <p:cNvPr id="136201" name="Line 9"/>
              <p:cNvSpPr/>
              <p:nvPr/>
            </p:nvSpPr>
            <p:spPr>
              <a:xfrm flipH="1" flipV="1">
                <a:off x="4704" y="2976"/>
                <a:ext cx="384" cy="1056"/>
              </a:xfrm>
              <a:prstGeom prst="line">
                <a:avLst/>
              </a:prstGeom>
              <a:ln w="38100" cap="flat" cmpd="sng">
                <a:solidFill>
                  <a:srgbClr val="009900"/>
                </a:solidFill>
                <a:prstDash val="solid"/>
                <a:round/>
                <a:headEnd type="triangle" w="med" len="med"/>
                <a:tailEnd type="none" w="med" len="med"/>
              </a:ln>
            </p:spPr>
          </p:sp>
          <p:sp>
            <p:nvSpPr>
              <p:cNvPr id="136202" name="Line 10"/>
              <p:cNvSpPr/>
              <p:nvPr/>
            </p:nvSpPr>
            <p:spPr>
              <a:xfrm flipH="1">
                <a:off x="4272" y="4176"/>
                <a:ext cx="720" cy="0"/>
              </a:xfrm>
              <a:prstGeom prst="line">
                <a:avLst/>
              </a:prstGeom>
              <a:ln w="38100" cap="flat" cmpd="sng">
                <a:solidFill>
                  <a:srgbClr val="009900"/>
                </a:solidFill>
                <a:prstDash val="solid"/>
                <a:round/>
                <a:headEnd type="none" w="med" len="med"/>
                <a:tailEnd type="triangle" w="med" len="med"/>
              </a:ln>
            </p:spPr>
          </p:sp>
          <p:sp>
            <p:nvSpPr>
              <p:cNvPr id="136203" name="Line 11"/>
              <p:cNvSpPr/>
              <p:nvPr/>
            </p:nvSpPr>
            <p:spPr>
              <a:xfrm flipH="1">
                <a:off x="4272" y="3552"/>
                <a:ext cx="1152" cy="576"/>
              </a:xfrm>
              <a:prstGeom prst="line">
                <a:avLst/>
              </a:prstGeom>
              <a:ln w="38100" cap="flat" cmpd="sng">
                <a:solidFill>
                  <a:srgbClr val="009900"/>
                </a:solidFill>
                <a:prstDash val="solid"/>
                <a:round/>
                <a:headEnd type="triangle" w="med" len="med"/>
                <a:tailEnd type="none" w="med" len="med"/>
              </a:ln>
            </p:spPr>
          </p:sp>
          <p:sp>
            <p:nvSpPr>
              <p:cNvPr id="136204" name="Oval 12"/>
              <p:cNvSpPr/>
              <p:nvPr/>
            </p:nvSpPr>
            <p:spPr>
              <a:xfrm>
                <a:off x="3696" y="3264"/>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1</a:t>
                </a:r>
                <a:endParaRPr lang="en-US" altLang="zh-CN" sz="2000" dirty="0">
                  <a:solidFill>
                    <a:schemeClr val="bg1"/>
                  </a:solidFill>
                  <a:latin typeface="Tahoma" panose="020B0604030504040204" charset="0"/>
                  <a:ea typeface="宋体" panose="02010600030101010101" pitchFamily="2" charset="-122"/>
                </a:endParaRPr>
              </a:p>
            </p:txBody>
          </p:sp>
          <p:sp>
            <p:nvSpPr>
              <p:cNvPr id="136205" name="Oval 13"/>
              <p:cNvSpPr/>
              <p:nvPr/>
            </p:nvSpPr>
            <p:spPr>
              <a:xfrm>
                <a:off x="4992"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3</a:t>
                </a:r>
                <a:endParaRPr lang="en-US" altLang="zh-CN" sz="2000" dirty="0">
                  <a:solidFill>
                    <a:schemeClr val="bg1"/>
                  </a:solidFill>
                  <a:latin typeface="Tahoma" panose="020B0604030504040204" charset="0"/>
                  <a:ea typeface="宋体" panose="02010600030101010101" pitchFamily="2" charset="-122"/>
                </a:endParaRPr>
              </a:p>
            </p:txBody>
          </p:sp>
          <p:sp>
            <p:nvSpPr>
              <p:cNvPr id="136206" name="Oval 14"/>
              <p:cNvSpPr/>
              <p:nvPr/>
            </p:nvSpPr>
            <p:spPr>
              <a:xfrm>
                <a:off x="4032" y="4049"/>
                <a:ext cx="288" cy="271"/>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2</a:t>
                </a:r>
                <a:endParaRPr lang="en-US" altLang="zh-CN" sz="2000" dirty="0">
                  <a:solidFill>
                    <a:schemeClr val="bg1"/>
                  </a:solidFill>
                  <a:latin typeface="Tahoma" panose="020B0604030504040204" charset="0"/>
                  <a:ea typeface="宋体" panose="02010600030101010101" pitchFamily="2" charset="-122"/>
                </a:endParaRPr>
              </a:p>
            </p:txBody>
          </p:sp>
          <p:sp>
            <p:nvSpPr>
              <p:cNvPr id="136207" name="Oval 15"/>
              <p:cNvSpPr/>
              <p:nvPr/>
            </p:nvSpPr>
            <p:spPr>
              <a:xfrm>
                <a:off x="5328" y="3312"/>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4</a:t>
                </a:r>
                <a:endParaRPr lang="en-US" altLang="zh-CN" sz="2000" dirty="0">
                  <a:solidFill>
                    <a:schemeClr val="bg1"/>
                  </a:solidFill>
                  <a:latin typeface="Tahoma" panose="020B0604030504040204" charset="0"/>
                  <a:ea typeface="宋体" panose="02010600030101010101" pitchFamily="2" charset="-122"/>
                </a:endParaRPr>
              </a:p>
            </p:txBody>
          </p:sp>
          <p:sp>
            <p:nvSpPr>
              <p:cNvPr id="136208" name="Oval 16"/>
              <p:cNvSpPr/>
              <p:nvPr/>
            </p:nvSpPr>
            <p:spPr>
              <a:xfrm>
                <a:off x="4512" y="2784"/>
                <a:ext cx="288" cy="270"/>
              </a:xfrm>
              <a:prstGeom prst="ellipse">
                <a:avLst/>
              </a:prstGeom>
              <a:gradFill rotWithShape="0">
                <a:gsLst>
                  <a:gs pos="0">
                    <a:srgbClr val="FF6600"/>
                  </a:gs>
                  <a:gs pos="100000">
                    <a:srgbClr val="762F00"/>
                  </a:gs>
                </a:gsLst>
                <a:lin ang="2700000" scaled="1"/>
                <a:tileRect/>
              </a:gradFill>
              <a:ln w="38100">
                <a:noFill/>
              </a:ln>
            </p:spPr>
            <p:txBody>
              <a:bodyPr wrap="none" lIns="0" rIns="0" anchor="ctr" anchorCtr="0"/>
              <a:p>
                <a:pPr algn="ctr"/>
                <a:r>
                  <a:rPr lang="en-US" altLang="zh-CN" sz="2000" dirty="0">
                    <a:solidFill>
                      <a:schemeClr val="bg1"/>
                    </a:solidFill>
                    <a:latin typeface="Tahoma" panose="020B0604030504040204" charset="0"/>
                    <a:ea typeface="宋体" panose="02010600030101010101" pitchFamily="2" charset="-122"/>
                  </a:rPr>
                  <a:t>0</a:t>
                </a:r>
                <a:endParaRPr lang="en-US" altLang="zh-CN" sz="2000" dirty="0">
                  <a:solidFill>
                    <a:schemeClr val="bg1"/>
                  </a:solidFill>
                  <a:latin typeface="Tahoma" panose="020B0604030504040204" charset="0"/>
                  <a:ea typeface="宋体" panose="02010600030101010101" pitchFamily="2" charset="-122"/>
                </a:endParaRPr>
              </a:p>
            </p:txBody>
          </p:sp>
        </p:grpSp>
        <p:sp>
          <p:nvSpPr>
            <p:cNvPr id="136209" name="Text Box 17"/>
            <p:cNvSpPr txBox="1"/>
            <p:nvPr/>
          </p:nvSpPr>
          <p:spPr>
            <a:xfrm>
              <a:off x="4224" y="3264"/>
              <a:ext cx="240" cy="221"/>
            </a:xfrm>
            <a:prstGeom prst="rect">
              <a:avLst/>
            </a:prstGeom>
            <a:noFill/>
            <a:ln w="9525">
              <a:noFill/>
            </a:ln>
          </p:spPr>
          <p:txBody>
            <a:bodyPr anchor="t" anchorCtr="0">
              <a:spAutoFit/>
            </a:bodyPr>
            <a:p>
              <a:pPr algn="ctr">
                <a:spcBef>
                  <a:spcPct val="50000"/>
                </a:spcBef>
              </a:pPr>
              <a:r>
                <a:rPr lang="en-US" altLang="zh-CN" sz="2000" dirty="0">
                  <a:solidFill>
                    <a:schemeClr val="hlink"/>
                  </a:solidFill>
                  <a:latin typeface="Tahoma" panose="020B0604030504040204" charset="0"/>
                  <a:ea typeface="宋体" panose="02010600030101010101" pitchFamily="2" charset="-122"/>
                </a:rPr>
                <a:t>5</a:t>
              </a:r>
              <a:endParaRPr lang="en-US" altLang="zh-CN" sz="2000" dirty="0">
                <a:solidFill>
                  <a:schemeClr val="hlink"/>
                </a:solidFill>
                <a:latin typeface="Tahoma" panose="020B0604030504040204" charset="0"/>
                <a:ea typeface="宋体" panose="02010600030101010101" pitchFamily="2" charset="-122"/>
              </a:endParaRPr>
            </a:p>
          </p:txBody>
        </p:sp>
        <p:sp>
          <p:nvSpPr>
            <p:cNvPr id="136210" name="Text Box 18"/>
            <p:cNvSpPr txBox="1"/>
            <p:nvPr/>
          </p:nvSpPr>
          <p:spPr>
            <a:xfrm>
              <a:off x="4032" y="3840"/>
              <a:ext cx="240" cy="221"/>
            </a:xfrm>
            <a:prstGeom prst="rect">
              <a:avLst/>
            </a:prstGeom>
            <a:noFill/>
            <a:ln w="9525">
              <a:noFill/>
            </a:ln>
          </p:spPr>
          <p:txBody>
            <a:bodyPr anchor="t" anchorCtr="0">
              <a:spAutoFit/>
            </a:bodyPr>
            <a:p>
              <a:pPr algn="ctr">
                <a:spcBef>
                  <a:spcPct val="50000"/>
                </a:spcBef>
              </a:pPr>
              <a:r>
                <a:rPr lang="en-US" altLang="zh-CN" sz="2000" dirty="0">
                  <a:solidFill>
                    <a:schemeClr val="hlink"/>
                  </a:solidFill>
                  <a:latin typeface="Tahoma" panose="020B0604030504040204" charset="0"/>
                  <a:ea typeface="宋体" panose="02010600030101010101" pitchFamily="2" charset="-122"/>
                </a:rPr>
                <a:t>5</a:t>
              </a:r>
              <a:endParaRPr lang="en-US" altLang="zh-CN" sz="2000" dirty="0">
                <a:solidFill>
                  <a:schemeClr val="hlink"/>
                </a:solidFill>
                <a:latin typeface="Tahoma" panose="020B0604030504040204" charset="0"/>
                <a:ea typeface="宋体" panose="02010600030101010101" pitchFamily="2" charset="-122"/>
              </a:endParaRPr>
            </a:p>
          </p:txBody>
        </p:sp>
        <p:sp>
          <p:nvSpPr>
            <p:cNvPr id="136211" name="Text Box 19"/>
            <p:cNvSpPr txBox="1"/>
            <p:nvPr/>
          </p:nvSpPr>
          <p:spPr>
            <a:xfrm>
              <a:off x="4848" y="3264"/>
              <a:ext cx="384" cy="221"/>
            </a:xfrm>
            <a:prstGeom prst="rect">
              <a:avLst/>
            </a:prstGeom>
            <a:noFill/>
            <a:ln w="9525">
              <a:noFill/>
            </a:ln>
          </p:spPr>
          <p:txBody>
            <a:bodyPr anchor="t" anchorCtr="0">
              <a:spAutoFit/>
            </a:bodyPr>
            <a:p>
              <a:pPr algn="ctr">
                <a:spcBef>
                  <a:spcPct val="50000"/>
                </a:spcBef>
              </a:pPr>
              <a:r>
                <a:rPr lang="en-US" altLang="zh-CN" sz="2000" dirty="0">
                  <a:solidFill>
                    <a:schemeClr val="hlink"/>
                  </a:solidFill>
                  <a:latin typeface="Tahoma" panose="020B0604030504040204" charset="0"/>
                  <a:ea typeface="宋体" panose="02010600030101010101" pitchFamily="2" charset="-122"/>
                </a:rPr>
                <a:t>15</a:t>
              </a:r>
              <a:endParaRPr lang="en-US" altLang="zh-CN" sz="2000" dirty="0">
                <a:solidFill>
                  <a:schemeClr val="hlink"/>
                </a:solidFill>
                <a:latin typeface="Tahoma" panose="020B0604030504040204" charset="0"/>
                <a:ea typeface="宋体" panose="02010600030101010101" pitchFamily="2" charset="-122"/>
              </a:endParaRPr>
            </a:p>
          </p:txBody>
        </p:sp>
        <p:sp>
          <p:nvSpPr>
            <p:cNvPr id="136212" name="Text Box 20"/>
            <p:cNvSpPr txBox="1"/>
            <p:nvPr/>
          </p:nvSpPr>
          <p:spPr>
            <a:xfrm>
              <a:off x="4560" y="3840"/>
              <a:ext cx="240" cy="221"/>
            </a:xfrm>
            <a:prstGeom prst="rect">
              <a:avLst/>
            </a:prstGeom>
            <a:noFill/>
            <a:ln w="9525">
              <a:noFill/>
            </a:ln>
          </p:spPr>
          <p:txBody>
            <a:bodyPr anchor="t" anchorCtr="0">
              <a:spAutoFit/>
            </a:bodyPr>
            <a:p>
              <a:pPr algn="ctr">
                <a:spcBef>
                  <a:spcPct val="50000"/>
                </a:spcBef>
              </a:pPr>
              <a:r>
                <a:rPr lang="en-US" altLang="zh-CN" sz="2000" dirty="0">
                  <a:solidFill>
                    <a:schemeClr val="hlink"/>
                  </a:solidFill>
                  <a:latin typeface="Tahoma" panose="020B0604030504040204" charset="0"/>
                  <a:ea typeface="宋体" panose="02010600030101010101" pitchFamily="2" charset="-122"/>
                </a:rPr>
                <a:t>1</a:t>
              </a:r>
              <a:endParaRPr lang="en-US" altLang="zh-CN" sz="2000" dirty="0">
                <a:solidFill>
                  <a:schemeClr val="hlink"/>
                </a:solidFill>
                <a:latin typeface="Tahoma" panose="020B0604030504040204" charset="0"/>
                <a:ea typeface="宋体" panose="02010600030101010101" pitchFamily="2" charset="-122"/>
              </a:endParaRPr>
            </a:p>
          </p:txBody>
        </p:sp>
        <p:sp>
          <p:nvSpPr>
            <p:cNvPr id="136213" name="Text Box 21"/>
            <p:cNvSpPr txBox="1"/>
            <p:nvPr/>
          </p:nvSpPr>
          <p:spPr>
            <a:xfrm>
              <a:off x="4608" y="3552"/>
              <a:ext cx="240" cy="221"/>
            </a:xfrm>
            <a:prstGeom prst="rect">
              <a:avLst/>
            </a:prstGeom>
            <a:noFill/>
            <a:ln w="9525">
              <a:noFill/>
            </a:ln>
          </p:spPr>
          <p:txBody>
            <a:bodyPr anchor="t" anchorCtr="0">
              <a:spAutoFit/>
            </a:bodyPr>
            <a:p>
              <a:pPr algn="ctr">
                <a:spcBef>
                  <a:spcPct val="50000"/>
                </a:spcBef>
              </a:pPr>
              <a:r>
                <a:rPr lang="en-US" altLang="zh-CN" sz="2000" dirty="0">
                  <a:solidFill>
                    <a:schemeClr val="hlink"/>
                  </a:solidFill>
                  <a:latin typeface="Tahoma" panose="020B0604030504040204" charset="0"/>
                  <a:ea typeface="宋体" panose="02010600030101010101" pitchFamily="2" charset="-122"/>
                </a:rPr>
                <a:t>7</a:t>
              </a:r>
              <a:endParaRPr lang="en-US" altLang="zh-CN" sz="2000" dirty="0">
                <a:solidFill>
                  <a:schemeClr val="hlink"/>
                </a:solidFill>
                <a:latin typeface="Tahoma" panose="020B0604030504040204" charset="0"/>
                <a:ea typeface="宋体" panose="02010600030101010101" pitchFamily="2" charset="-122"/>
              </a:endParaRPr>
            </a:p>
          </p:txBody>
        </p:sp>
        <p:sp>
          <p:nvSpPr>
            <p:cNvPr id="136214" name="Text Box 22"/>
            <p:cNvSpPr txBox="1"/>
            <p:nvPr/>
          </p:nvSpPr>
          <p:spPr>
            <a:xfrm>
              <a:off x="4656" y="3989"/>
              <a:ext cx="240" cy="221"/>
            </a:xfrm>
            <a:prstGeom prst="rect">
              <a:avLst/>
            </a:prstGeom>
            <a:noFill/>
            <a:ln w="9525">
              <a:noFill/>
            </a:ln>
          </p:spPr>
          <p:txBody>
            <a:bodyPr anchor="t" anchorCtr="0">
              <a:spAutoFit/>
            </a:bodyPr>
            <a:p>
              <a:pPr algn="ctr">
                <a:spcBef>
                  <a:spcPct val="50000"/>
                </a:spcBef>
              </a:pPr>
              <a:r>
                <a:rPr lang="en-US" altLang="zh-CN" sz="2000" dirty="0">
                  <a:solidFill>
                    <a:schemeClr val="hlink"/>
                  </a:solidFill>
                  <a:latin typeface="Tahoma" panose="020B0604030504040204" charset="0"/>
                  <a:ea typeface="宋体" panose="02010600030101010101" pitchFamily="2" charset="-122"/>
                </a:rPr>
                <a:t>2</a:t>
              </a:r>
              <a:endParaRPr lang="en-US" altLang="zh-CN" sz="2000" dirty="0">
                <a:solidFill>
                  <a:schemeClr val="hlink"/>
                </a:solidFill>
                <a:latin typeface="Tahoma" panose="020B0604030504040204" charset="0"/>
                <a:ea typeface="宋体" panose="02010600030101010101" pitchFamily="2" charset="-122"/>
              </a:endParaRPr>
            </a:p>
          </p:txBody>
        </p:sp>
      </p:grpSp>
      <p:graphicFrame>
        <p:nvGraphicFramePr>
          <p:cNvPr id="12293" name="表格 12292"/>
          <p:cNvGraphicFramePr/>
          <p:nvPr>
            <p:custDataLst>
              <p:tags r:id="rId1"/>
            </p:custDataLst>
          </p:nvPr>
        </p:nvGraphicFramePr>
        <p:xfrm>
          <a:off x="866775" y="1772920"/>
          <a:ext cx="6627495" cy="4273550"/>
        </p:xfrm>
        <a:graphic>
          <a:graphicData uri="http://schemas.openxmlformats.org/drawingml/2006/table">
            <a:tbl>
              <a:tblPr/>
              <a:tblGrid>
                <a:gridCol w="1325245"/>
                <a:gridCol w="1325245"/>
                <a:gridCol w="1326515"/>
                <a:gridCol w="1325880"/>
                <a:gridCol w="1324610"/>
              </a:tblGrid>
              <a:tr h="483870">
                <a:tc>
                  <a:txBody>
                    <a:bodyPr/>
                    <a:p>
                      <a:pPr algn="ctr">
                        <a:spcBef>
                          <a:spcPct val="20000"/>
                        </a:spcBef>
                        <a:buClr>
                          <a:schemeClr val="accent1"/>
                        </a:buClr>
                        <a:buFont typeface="Wingdings" panose="05000000000000000000" pitchFamily="2" charset="2"/>
                        <a:buNone/>
                      </a:pPr>
                      <a:r>
                        <a:rPr lang="zh-CN" altLang="en-US" sz="2000" b="1" dirty="0">
                          <a:latin typeface="黑体" panose="02010609060101010101" pitchFamily="2" charset="-122"/>
                          <a:ea typeface="黑体" panose="02010609060101010101" pitchFamily="2" charset="-122"/>
                        </a:rPr>
                        <a:t>顶点</a:t>
                      </a:r>
                      <a:endParaRPr lang="zh-CN" altLang="en-US" sz="2000" b="1" dirty="0">
                        <a:latin typeface="黑体" panose="02010609060101010101" pitchFamily="2" charset="-122"/>
                        <a:ea typeface="黑体" panose="02010609060101010101" pitchFamily="2" charset="-122"/>
                      </a:endParaRPr>
                    </a:p>
                  </a:txBody>
                  <a:tcPr marL="0" marR="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gridSpan="4">
                  <a:txBody>
                    <a:bodyPr/>
                    <a:p>
                      <a:pPr algn="ctr">
                        <a:spcBef>
                          <a:spcPct val="20000"/>
                        </a:spcBef>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D[i]</a:t>
                      </a:r>
                      <a:endParaRPr lang="en-US" altLang="zh-CN" sz="2000" b="1" dirty="0">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hMerge="1">
                  <a:tcP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tcPr>
                </a:tc>
                <a:tc hMerge="1">
                  <a:tcP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tcPr>
                </a:tc>
                <a:tc hMerge="1">
                  <a:tcPr>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tcPr>
                </a:tc>
              </a:tr>
              <a:tr h="672465">
                <a:tc>
                  <a:txBody>
                    <a:bodyPr/>
                    <a:p>
                      <a:pPr algn="ctr">
                        <a:spcBef>
                          <a:spcPct val="20000"/>
                        </a:spcBef>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1</a:t>
                      </a:r>
                      <a:endParaRPr lang="en-US" altLang="zh-CN" sz="2000" b="1" dirty="0">
                        <a:latin typeface="黑体" panose="02010609060101010101" pitchFamily="2" charset="-122"/>
                        <a:ea typeface="黑体" panose="02010609060101010101" pitchFamily="2" charset="-122"/>
                      </a:endParaRPr>
                    </a:p>
                  </a:txBody>
                  <a:tcPr marL="0" marR="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lnSpc>
                          <a:spcPct val="95000"/>
                        </a:lnSpc>
                        <a:buClr>
                          <a:schemeClr val="accent1"/>
                        </a:buClr>
                        <a:buFont typeface="Wingdings" panose="05000000000000000000" pitchFamily="2" charset="2"/>
                        <a:buNone/>
                      </a:pPr>
                      <a:r>
                        <a:rPr lang="en-US" altLang="zh-CN" sz="2000" b="1" dirty="0">
                          <a:solidFill>
                            <a:schemeClr val="hlink"/>
                          </a:solidFill>
                          <a:latin typeface="黑体" panose="02010609060101010101" pitchFamily="2" charset="-122"/>
                          <a:ea typeface="黑体" panose="02010609060101010101" pitchFamily="2" charset="-122"/>
                        </a:rPr>
                        <a:t>5</a:t>
                      </a:r>
                      <a:endParaRPr lang="en-US" altLang="zh-CN" sz="2000" b="1" dirty="0">
                        <a:solidFill>
                          <a:schemeClr val="hlink"/>
                        </a:solidFill>
                        <a:latin typeface="黑体" panose="02010609060101010101" pitchFamily="2" charset="-122"/>
                        <a:ea typeface="黑体" panose="02010609060101010101" pitchFamily="2" charset="-122"/>
                      </a:endParaRPr>
                    </a:p>
                    <a:p>
                      <a:pPr algn="ctr">
                        <a:lnSpc>
                          <a:spcPct val="95000"/>
                        </a:lnSpc>
                        <a:buClr>
                          <a:schemeClr val="accent1"/>
                        </a:buClr>
                        <a:buFont typeface="Wingdings" panose="05000000000000000000" pitchFamily="2" charset="2"/>
                        <a:buNone/>
                      </a:pPr>
                      <a:r>
                        <a:rPr lang="en-US" altLang="zh-CN" sz="2000" b="1" dirty="0">
                          <a:solidFill>
                            <a:schemeClr val="hlink"/>
                          </a:solidFill>
                          <a:latin typeface="黑体" panose="02010609060101010101" pitchFamily="2" charset="-122"/>
                          <a:ea typeface="黑体" panose="02010609060101010101" pitchFamily="2" charset="-122"/>
                        </a:rPr>
                        <a:t>{0,1}</a:t>
                      </a:r>
                      <a:endParaRPr lang="en-US" altLang="zh-CN" sz="2000" b="1" dirty="0">
                        <a:solidFill>
                          <a:schemeClr val="hlink"/>
                        </a:solidFill>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lnSpc>
                          <a:spcPct val="95000"/>
                        </a:lnSpc>
                        <a:buClr>
                          <a:schemeClr val="accent1"/>
                        </a:buClr>
                        <a:buFont typeface="Wingdings" panose="05000000000000000000" pitchFamily="2" charset="2"/>
                        <a:buNone/>
                      </a:pPr>
                      <a:endParaRPr lang="zh-CN" altLang="zh-CN" sz="2000" b="1" dirty="0">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lnSpc>
                          <a:spcPct val="95000"/>
                        </a:lnSpc>
                        <a:buClr>
                          <a:schemeClr val="accent1"/>
                        </a:buClr>
                        <a:buFont typeface="Wingdings" panose="05000000000000000000" pitchFamily="2" charset="2"/>
                        <a:buNone/>
                      </a:pPr>
                      <a:endParaRPr lang="zh-CN" altLang="zh-CN" sz="2000" b="1" dirty="0">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lnSpc>
                          <a:spcPct val="95000"/>
                        </a:lnSpc>
                        <a:buClr>
                          <a:schemeClr val="accent1"/>
                        </a:buClr>
                        <a:buFont typeface="Wingdings" panose="05000000000000000000" pitchFamily="2" charset="2"/>
                        <a:buNone/>
                      </a:pPr>
                      <a:endParaRPr lang="zh-CN" altLang="zh-CN" sz="2000" b="1" dirty="0">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672465">
                <a:tc>
                  <a:txBody>
                    <a:bodyPr/>
                    <a:p>
                      <a:pPr algn="ctr">
                        <a:spcBef>
                          <a:spcPct val="20000"/>
                        </a:spcBef>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2</a:t>
                      </a:r>
                      <a:endParaRPr lang="en-US" altLang="zh-CN" sz="2000" b="1" dirty="0">
                        <a:latin typeface="黑体" panose="02010609060101010101" pitchFamily="2" charset="-122"/>
                        <a:ea typeface="黑体" panose="02010609060101010101" pitchFamily="2" charset="-122"/>
                      </a:endParaRPr>
                    </a:p>
                  </a:txBody>
                  <a:tcPr marL="0" marR="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lnSpc>
                          <a:spcPct val="95000"/>
                        </a:lnSpc>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a:t>
                      </a:r>
                      <a:endParaRPr lang="en-US" altLang="zh-CN" sz="2000" b="1" dirty="0">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lnSpc>
                          <a:spcPct val="95000"/>
                        </a:lnSpc>
                        <a:buClr>
                          <a:schemeClr val="accent1"/>
                        </a:buClr>
                        <a:buFont typeface="Wingdings" panose="05000000000000000000" pitchFamily="2" charset="2"/>
                        <a:buNone/>
                      </a:pPr>
                      <a:r>
                        <a:rPr lang="en-US" altLang="zh-CN" sz="2000" b="1" dirty="0">
                          <a:solidFill>
                            <a:srgbClr val="2BDC08"/>
                          </a:solidFill>
                          <a:latin typeface="黑体" panose="02010609060101010101" pitchFamily="2" charset="-122"/>
                          <a:ea typeface="黑体" panose="02010609060101010101" pitchFamily="2" charset="-122"/>
                        </a:rPr>
                        <a:t>10</a:t>
                      </a:r>
                      <a:endParaRPr lang="en-US" altLang="zh-CN" sz="2000" b="1" dirty="0">
                        <a:solidFill>
                          <a:srgbClr val="2BDC08"/>
                        </a:solidFill>
                        <a:latin typeface="黑体" panose="02010609060101010101" pitchFamily="2" charset="-122"/>
                        <a:ea typeface="黑体" panose="02010609060101010101" pitchFamily="2" charset="-122"/>
                      </a:endParaRPr>
                    </a:p>
                    <a:p>
                      <a:pPr algn="ctr">
                        <a:lnSpc>
                          <a:spcPct val="95000"/>
                        </a:lnSpc>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{0,1,2}</a:t>
                      </a:r>
                      <a:endParaRPr lang="en-US" altLang="zh-CN" sz="2000" b="1" dirty="0">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lnSpc>
                          <a:spcPct val="95000"/>
                        </a:lnSpc>
                        <a:buClr>
                          <a:schemeClr val="accent1"/>
                        </a:buClr>
                        <a:buFont typeface="Wingdings" panose="05000000000000000000" pitchFamily="2" charset="2"/>
                        <a:buNone/>
                      </a:pPr>
                      <a:r>
                        <a:rPr lang="en-US" altLang="zh-CN" sz="2000" b="1" dirty="0">
                          <a:solidFill>
                            <a:schemeClr val="hlink"/>
                          </a:solidFill>
                          <a:latin typeface="黑体" panose="02010609060101010101" pitchFamily="2" charset="-122"/>
                          <a:ea typeface="黑体" panose="02010609060101010101" pitchFamily="2" charset="-122"/>
                        </a:rPr>
                        <a:t>9</a:t>
                      </a:r>
                      <a:endParaRPr lang="en-US" altLang="zh-CN" sz="2000" b="1" dirty="0">
                        <a:solidFill>
                          <a:schemeClr val="hlink"/>
                        </a:solidFill>
                        <a:latin typeface="黑体" panose="02010609060101010101" pitchFamily="2" charset="-122"/>
                        <a:ea typeface="黑体" panose="02010609060101010101" pitchFamily="2" charset="-122"/>
                      </a:endParaRPr>
                    </a:p>
                    <a:p>
                      <a:pPr algn="ctr">
                        <a:lnSpc>
                          <a:spcPct val="95000"/>
                        </a:lnSpc>
                        <a:buClr>
                          <a:schemeClr val="accent1"/>
                        </a:buClr>
                        <a:buFont typeface="Wingdings" panose="05000000000000000000" pitchFamily="2" charset="2"/>
                        <a:buNone/>
                      </a:pPr>
                      <a:r>
                        <a:rPr lang="en-US" altLang="zh-CN" sz="2000" b="1" dirty="0">
                          <a:solidFill>
                            <a:schemeClr val="hlink"/>
                          </a:solidFill>
                          <a:latin typeface="黑体" panose="02010609060101010101" pitchFamily="2" charset="-122"/>
                          <a:ea typeface="黑体" panose="02010609060101010101" pitchFamily="2" charset="-122"/>
                        </a:rPr>
                        <a:t>{0,3,2}</a:t>
                      </a:r>
                      <a:endParaRPr lang="en-US" altLang="zh-CN" sz="2000" b="1" dirty="0">
                        <a:solidFill>
                          <a:schemeClr val="hlink"/>
                        </a:solidFill>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lnSpc>
                          <a:spcPct val="95000"/>
                        </a:lnSpc>
                        <a:buClr>
                          <a:schemeClr val="accent1"/>
                        </a:buClr>
                        <a:buFont typeface="Wingdings" panose="05000000000000000000" pitchFamily="2" charset="2"/>
                        <a:buNone/>
                      </a:pPr>
                      <a:endParaRPr lang="zh-CN" altLang="zh-CN" sz="2000" b="1" dirty="0">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672465">
                <a:tc>
                  <a:txBody>
                    <a:bodyPr/>
                    <a:p>
                      <a:pPr algn="ctr">
                        <a:spcBef>
                          <a:spcPct val="20000"/>
                        </a:spcBef>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3</a:t>
                      </a:r>
                      <a:endParaRPr lang="en-US" altLang="zh-CN" sz="2000" b="1" dirty="0">
                        <a:latin typeface="黑体" panose="02010609060101010101" pitchFamily="2" charset="-122"/>
                        <a:ea typeface="黑体" panose="02010609060101010101" pitchFamily="2" charset="-122"/>
                      </a:endParaRPr>
                    </a:p>
                  </a:txBody>
                  <a:tcPr marL="0" marR="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lnSpc>
                          <a:spcPct val="95000"/>
                        </a:lnSpc>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7</a:t>
                      </a:r>
                      <a:endParaRPr lang="en-US" altLang="zh-CN" sz="2000" b="1" dirty="0">
                        <a:latin typeface="黑体" panose="02010609060101010101" pitchFamily="2" charset="-122"/>
                        <a:ea typeface="黑体" panose="02010609060101010101" pitchFamily="2" charset="-122"/>
                      </a:endParaRPr>
                    </a:p>
                    <a:p>
                      <a:pPr algn="ctr">
                        <a:lnSpc>
                          <a:spcPct val="95000"/>
                        </a:lnSpc>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{0,3}</a:t>
                      </a:r>
                      <a:endParaRPr lang="en-US" altLang="zh-CN" sz="2000" b="1" dirty="0">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lnSpc>
                          <a:spcPct val="95000"/>
                        </a:lnSpc>
                        <a:buClr>
                          <a:schemeClr val="accent1"/>
                        </a:buClr>
                        <a:buFont typeface="Wingdings" panose="05000000000000000000" pitchFamily="2" charset="2"/>
                        <a:buNone/>
                      </a:pPr>
                      <a:r>
                        <a:rPr lang="en-US" altLang="zh-CN" sz="2000" b="1" dirty="0">
                          <a:solidFill>
                            <a:schemeClr val="hlink"/>
                          </a:solidFill>
                          <a:latin typeface="黑体" panose="02010609060101010101" pitchFamily="2" charset="-122"/>
                          <a:ea typeface="黑体" panose="02010609060101010101" pitchFamily="2" charset="-122"/>
                        </a:rPr>
                        <a:t>7</a:t>
                      </a:r>
                      <a:endParaRPr lang="en-US" altLang="zh-CN" sz="2000" b="1" dirty="0">
                        <a:solidFill>
                          <a:schemeClr val="hlink"/>
                        </a:solidFill>
                        <a:latin typeface="黑体" panose="02010609060101010101" pitchFamily="2" charset="-122"/>
                        <a:ea typeface="黑体" panose="02010609060101010101" pitchFamily="2" charset="-122"/>
                      </a:endParaRPr>
                    </a:p>
                    <a:p>
                      <a:pPr algn="ctr">
                        <a:lnSpc>
                          <a:spcPct val="95000"/>
                        </a:lnSpc>
                        <a:buClr>
                          <a:schemeClr val="accent1"/>
                        </a:buClr>
                        <a:buFont typeface="Wingdings" panose="05000000000000000000" pitchFamily="2" charset="2"/>
                        <a:buNone/>
                      </a:pPr>
                      <a:r>
                        <a:rPr lang="en-US" altLang="zh-CN" sz="2000" b="1" dirty="0">
                          <a:solidFill>
                            <a:schemeClr val="hlink"/>
                          </a:solidFill>
                          <a:latin typeface="黑体" panose="02010609060101010101" pitchFamily="2" charset="-122"/>
                          <a:ea typeface="黑体" panose="02010609060101010101" pitchFamily="2" charset="-122"/>
                        </a:rPr>
                        <a:t>{0,3}</a:t>
                      </a:r>
                      <a:endParaRPr lang="en-US" altLang="zh-CN" sz="2000" b="1" dirty="0">
                        <a:solidFill>
                          <a:schemeClr val="hlink"/>
                        </a:solidFill>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lnSpc>
                          <a:spcPct val="95000"/>
                        </a:lnSpc>
                        <a:buClr>
                          <a:schemeClr val="accent1"/>
                        </a:buClr>
                        <a:buFont typeface="Wingdings" panose="05000000000000000000" pitchFamily="2" charset="2"/>
                        <a:buNone/>
                      </a:pPr>
                      <a:endParaRPr lang="zh-CN" altLang="zh-CN" sz="2000" b="1" dirty="0">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lnSpc>
                          <a:spcPct val="95000"/>
                        </a:lnSpc>
                        <a:buClr>
                          <a:schemeClr val="accent1"/>
                        </a:buClr>
                        <a:buFont typeface="Wingdings" panose="05000000000000000000" pitchFamily="2" charset="2"/>
                        <a:buNone/>
                      </a:pPr>
                      <a:endParaRPr lang="zh-CN" altLang="zh-CN" sz="2000" b="1" dirty="0">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671830">
                <a:tc>
                  <a:txBody>
                    <a:bodyPr/>
                    <a:p>
                      <a:pPr algn="ctr">
                        <a:spcBef>
                          <a:spcPct val="20000"/>
                        </a:spcBef>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4</a:t>
                      </a:r>
                      <a:endParaRPr lang="en-US" altLang="zh-CN" sz="2000" b="1" dirty="0">
                        <a:latin typeface="黑体" panose="02010609060101010101" pitchFamily="2" charset="-122"/>
                        <a:ea typeface="黑体" panose="02010609060101010101" pitchFamily="2" charset="-122"/>
                      </a:endParaRPr>
                    </a:p>
                  </a:txBody>
                  <a:tcPr marL="0" marR="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lnSpc>
                          <a:spcPct val="95000"/>
                        </a:lnSpc>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15</a:t>
                      </a:r>
                      <a:endParaRPr lang="en-US" altLang="zh-CN" sz="2000" b="1" dirty="0">
                        <a:latin typeface="黑体" panose="02010609060101010101" pitchFamily="2" charset="-122"/>
                        <a:ea typeface="黑体" panose="02010609060101010101" pitchFamily="2" charset="-122"/>
                      </a:endParaRPr>
                    </a:p>
                    <a:p>
                      <a:pPr algn="ctr">
                        <a:lnSpc>
                          <a:spcPct val="95000"/>
                        </a:lnSpc>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{0,4}</a:t>
                      </a:r>
                      <a:endParaRPr lang="en-US" altLang="zh-CN" sz="2000" b="1" dirty="0">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lnSpc>
                          <a:spcPct val="95000"/>
                        </a:lnSpc>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15</a:t>
                      </a:r>
                      <a:endParaRPr lang="en-US" altLang="zh-CN" sz="2000" b="1" dirty="0">
                        <a:latin typeface="黑体" panose="02010609060101010101" pitchFamily="2" charset="-122"/>
                        <a:ea typeface="黑体" panose="02010609060101010101" pitchFamily="2" charset="-122"/>
                      </a:endParaRPr>
                    </a:p>
                    <a:p>
                      <a:pPr algn="ctr">
                        <a:lnSpc>
                          <a:spcPct val="95000"/>
                        </a:lnSpc>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{0,4}</a:t>
                      </a:r>
                      <a:endParaRPr lang="en-US" altLang="zh-CN" sz="2000" b="1" dirty="0">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lnSpc>
                          <a:spcPct val="95000"/>
                        </a:lnSpc>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15</a:t>
                      </a:r>
                      <a:endParaRPr lang="en-US" altLang="zh-CN" sz="2000" b="1" dirty="0">
                        <a:latin typeface="黑体" panose="02010609060101010101" pitchFamily="2" charset="-122"/>
                        <a:ea typeface="黑体" panose="02010609060101010101" pitchFamily="2" charset="-122"/>
                      </a:endParaRPr>
                    </a:p>
                    <a:p>
                      <a:pPr algn="ctr">
                        <a:lnSpc>
                          <a:spcPct val="95000"/>
                        </a:lnSpc>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{0,4}</a:t>
                      </a:r>
                      <a:endParaRPr lang="en-US" altLang="zh-CN" sz="2000" b="1" dirty="0">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lnSpc>
                          <a:spcPct val="95000"/>
                        </a:lnSpc>
                        <a:buClr>
                          <a:schemeClr val="accent1"/>
                        </a:buClr>
                        <a:buFont typeface="Wingdings" panose="05000000000000000000" pitchFamily="2" charset="2"/>
                        <a:buNone/>
                      </a:pPr>
                      <a:r>
                        <a:rPr lang="en-US" altLang="zh-CN" sz="2000" b="1" dirty="0">
                          <a:solidFill>
                            <a:schemeClr val="hlink"/>
                          </a:solidFill>
                          <a:latin typeface="黑体" panose="02010609060101010101" pitchFamily="2" charset="-122"/>
                          <a:ea typeface="黑体" panose="02010609060101010101" pitchFamily="2" charset="-122"/>
                        </a:rPr>
                        <a:t>10</a:t>
                      </a:r>
                      <a:endParaRPr lang="en-US" altLang="zh-CN" sz="2000" b="1" dirty="0">
                        <a:solidFill>
                          <a:schemeClr val="hlink"/>
                        </a:solidFill>
                        <a:latin typeface="黑体" panose="02010609060101010101" pitchFamily="2" charset="-122"/>
                        <a:ea typeface="黑体" panose="02010609060101010101" pitchFamily="2" charset="-122"/>
                      </a:endParaRPr>
                    </a:p>
                    <a:p>
                      <a:pPr algn="ctr">
                        <a:lnSpc>
                          <a:spcPct val="95000"/>
                        </a:lnSpc>
                        <a:buClr>
                          <a:schemeClr val="accent1"/>
                        </a:buClr>
                        <a:buFont typeface="Wingdings" panose="05000000000000000000" pitchFamily="2" charset="2"/>
                        <a:buNone/>
                      </a:pPr>
                      <a:r>
                        <a:rPr lang="en-US" altLang="zh-CN" sz="2000" b="1" dirty="0">
                          <a:solidFill>
                            <a:schemeClr val="hlink"/>
                          </a:solidFill>
                          <a:latin typeface="黑体" panose="02010609060101010101" pitchFamily="2" charset="-122"/>
                          <a:ea typeface="黑体" panose="02010609060101010101" pitchFamily="2" charset="-122"/>
                        </a:rPr>
                        <a:t>{0,3,2,4}</a:t>
                      </a:r>
                      <a:endParaRPr lang="en-US" altLang="zh-CN" sz="2000" b="1" dirty="0">
                        <a:solidFill>
                          <a:schemeClr val="hlink"/>
                        </a:solidFill>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97510">
                <a:tc>
                  <a:txBody>
                    <a:bodyPr/>
                    <a:p>
                      <a:pPr algn="ctr">
                        <a:spcBef>
                          <a:spcPct val="20000"/>
                        </a:spcBef>
                        <a:buClr>
                          <a:schemeClr val="accent1"/>
                        </a:buClr>
                        <a:buFont typeface="Wingdings" panose="05000000000000000000" pitchFamily="2" charset="2"/>
                        <a:buNone/>
                      </a:pPr>
                      <a:r>
                        <a:rPr lang="zh-CN" altLang="en-US" sz="2000" b="1" dirty="0">
                          <a:latin typeface="黑体" panose="02010609060101010101" pitchFamily="2" charset="-122"/>
                          <a:ea typeface="黑体" panose="02010609060101010101" pitchFamily="2" charset="-122"/>
                          <a:cs typeface="黑体" panose="02010609060101010101" pitchFamily="2" charset="-122"/>
                        </a:rPr>
                        <a:t>终点</a:t>
                      </a:r>
                      <a:r>
                        <a:rPr lang="en-US" altLang="zh-CN" sz="2000" b="1" dirty="0">
                          <a:latin typeface="黑体" panose="02010609060101010101" pitchFamily="2" charset="-122"/>
                          <a:ea typeface="黑体" panose="02010609060101010101" pitchFamily="2" charset="-122"/>
                          <a:cs typeface="黑体" panose="02010609060101010101" pitchFamily="2" charset="-122"/>
                        </a:rPr>
                        <a:t>j</a:t>
                      </a:r>
                      <a:endParaRPr lang="en-US" altLang="zh-CN" sz="2000" b="1" dirty="0">
                        <a:latin typeface="黑体" panose="02010609060101010101" pitchFamily="2" charset="-122"/>
                        <a:ea typeface="黑体" panose="02010609060101010101" pitchFamily="2" charset="-122"/>
                        <a:cs typeface="黑体" panose="02010609060101010101" pitchFamily="2" charset="-122"/>
                      </a:endParaRPr>
                    </a:p>
                  </a:txBody>
                  <a:tcPr marL="0" marR="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1</a:t>
                      </a:r>
                      <a:endParaRPr lang="en-US" altLang="zh-CN" sz="2000" b="1" dirty="0">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3</a:t>
                      </a:r>
                      <a:endParaRPr lang="en-US" altLang="zh-CN" sz="2000" b="1" dirty="0">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2</a:t>
                      </a:r>
                      <a:endParaRPr lang="en-US" altLang="zh-CN" sz="2000" b="1" dirty="0">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4</a:t>
                      </a:r>
                      <a:endParaRPr lang="en-US" altLang="zh-CN" sz="2000" b="1" dirty="0">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702945">
                <a:tc>
                  <a:txBody>
                    <a:bodyPr/>
                    <a:p>
                      <a:pPr algn="ctr">
                        <a:spcBef>
                          <a:spcPct val="20000"/>
                        </a:spcBef>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S</a:t>
                      </a:r>
                      <a:endParaRPr lang="en-US" altLang="zh-CN" sz="2000" b="1" dirty="0">
                        <a:latin typeface="黑体" panose="02010609060101010101" pitchFamily="2" charset="-122"/>
                        <a:ea typeface="黑体" panose="02010609060101010101" pitchFamily="2" charset="-122"/>
                      </a:endParaRPr>
                    </a:p>
                  </a:txBody>
                  <a:tcPr marL="0" marR="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{0,1}</a:t>
                      </a:r>
                      <a:endParaRPr lang="en-US" altLang="zh-CN" sz="2000" b="1" dirty="0">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{0,1,3}</a:t>
                      </a:r>
                      <a:endParaRPr lang="en-US" altLang="zh-CN" sz="2000" b="1" dirty="0">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{0,1,3,2}</a:t>
                      </a:r>
                      <a:endParaRPr lang="en-US" altLang="zh-CN" sz="2000" b="1" dirty="0">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sz="2000" b="1" dirty="0">
                          <a:latin typeface="黑体" panose="02010609060101010101" pitchFamily="2" charset="-122"/>
                          <a:ea typeface="黑体" panose="02010609060101010101" pitchFamily="2" charset="-122"/>
                        </a:rPr>
                        <a:t>{0,1,3,2,4}</a:t>
                      </a:r>
                      <a:endParaRPr lang="en-US" altLang="zh-CN" sz="2000" b="1" dirty="0">
                        <a:latin typeface="黑体" panose="02010609060101010101" pitchFamily="2" charset="-122"/>
                        <a:ea typeface="黑体" panose="02010609060101010101" pitchFamily="2" charset="-122"/>
                      </a:endParaRPr>
                    </a:p>
                  </a:txBody>
                  <a:tcPr marL="0" marR="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Dijkstra算法课本示例</a:t>
            </a: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7.6 </a:t>
            </a:r>
            <a:r>
              <a:rPr lang="zh-CN" altLang="en-US">
                <a:latin typeface="楷体" panose="02010609060101010101" charset="-122"/>
                <a:ea typeface="楷体" panose="02010609060101010101" charset="-122"/>
                <a:cs typeface="楷体" panose="02010609060101010101" charset="-122"/>
                <a:sym typeface="+mn-ea"/>
              </a:rPr>
              <a:t>最短路径</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nvPicPr>
        <p:blipFill>
          <a:blip r:embed="rId1"/>
          <a:stretch>
            <a:fillRect/>
          </a:stretch>
        </p:blipFill>
        <p:spPr>
          <a:xfrm>
            <a:off x="8750935" y="260350"/>
            <a:ext cx="2551430" cy="2367280"/>
          </a:xfrm>
          <a:prstGeom prst="rect">
            <a:avLst/>
          </a:prstGeom>
        </p:spPr>
      </p:pic>
      <p:pic>
        <p:nvPicPr>
          <p:cNvPr id="7" name="图片 6"/>
          <p:cNvPicPr>
            <a:picLocks noChangeAspect="1"/>
          </p:cNvPicPr>
          <p:nvPr/>
        </p:nvPicPr>
        <p:blipFill>
          <a:blip r:embed="rId2"/>
          <a:stretch>
            <a:fillRect/>
          </a:stretch>
        </p:blipFill>
        <p:spPr>
          <a:xfrm>
            <a:off x="144145" y="1916430"/>
            <a:ext cx="8039735" cy="4079240"/>
          </a:xfrm>
          <a:prstGeom prst="rect">
            <a:avLst/>
          </a:prstGeom>
        </p:spPr>
      </p:pic>
      <p:pic>
        <p:nvPicPr>
          <p:cNvPr id="8" name="图片 7"/>
          <p:cNvPicPr>
            <a:picLocks noChangeAspect="1"/>
          </p:cNvPicPr>
          <p:nvPr/>
        </p:nvPicPr>
        <p:blipFill>
          <a:blip r:embed="rId3"/>
          <a:stretch>
            <a:fillRect/>
          </a:stretch>
        </p:blipFill>
        <p:spPr>
          <a:xfrm>
            <a:off x="8183880" y="4344035"/>
            <a:ext cx="3829050" cy="1939925"/>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Dijkstra算法实现</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——1</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609600" lvl="0" indent="-609600" eaLnBrk="1" hangingPunct="1">
              <a:buNone/>
            </a:pPr>
            <a:r>
              <a:rPr lang="en-US" altLang="zh-CN" sz="2000" dirty="0">
                <a:latin typeface="黑体" panose="02010609060101010101" pitchFamily="2" charset="-122"/>
                <a:ea typeface="黑体" panose="02010609060101010101" pitchFamily="2" charset="-122"/>
                <a:sym typeface="+mn-ea"/>
              </a:rPr>
              <a:t>void ShortestPath_DIJ(MGraph G,int v0,PathMatrix &amp;P,ShortPathTable &amp;D)</a:t>
            </a:r>
            <a:endParaRPr lang="en-US" altLang="zh-CN" sz="2000" dirty="0">
              <a:latin typeface="黑体" panose="02010609060101010101" pitchFamily="2" charset="-122"/>
              <a:ea typeface="黑体" panose="02010609060101010101" pitchFamily="2" charset="-122"/>
            </a:endParaRPr>
          </a:p>
          <a:p>
            <a:pPr marL="609600" lvl="0" indent="-609600" eaLnBrk="1" hangingPunct="1">
              <a:buNone/>
            </a:pPr>
            <a:r>
              <a:rPr lang="en-US" altLang="zh-CN" sz="2000" dirty="0">
                <a:latin typeface="黑体" panose="02010609060101010101" pitchFamily="2" charset="-122"/>
                <a:ea typeface="黑体" panose="02010609060101010101" pitchFamily="2" charset="-122"/>
                <a:sym typeface="+mn-ea"/>
              </a:rPr>
              <a:t>{ // </a:t>
            </a:r>
            <a:r>
              <a:rPr lang="zh-CN" altLang="en-US" sz="2000" dirty="0">
                <a:latin typeface="黑体" panose="02010609060101010101" pitchFamily="2" charset="-122"/>
                <a:ea typeface="黑体" panose="02010609060101010101" pitchFamily="2" charset="-122"/>
                <a:sym typeface="+mn-ea"/>
              </a:rPr>
              <a:t>若</a:t>
            </a:r>
            <a:r>
              <a:rPr lang="en-US" altLang="zh-CN" sz="2000" dirty="0">
                <a:latin typeface="黑体" panose="02010609060101010101" pitchFamily="2" charset="-122"/>
                <a:ea typeface="黑体" panose="02010609060101010101" pitchFamily="2" charset="-122"/>
                <a:sym typeface="+mn-ea"/>
              </a:rPr>
              <a:t>P[v][w]</a:t>
            </a:r>
            <a:r>
              <a:rPr lang="zh-CN" altLang="en-US" sz="2000" dirty="0">
                <a:latin typeface="黑体" panose="02010609060101010101" pitchFamily="2" charset="-122"/>
                <a:ea typeface="黑体" panose="02010609060101010101" pitchFamily="2" charset="-122"/>
                <a:sym typeface="+mn-ea"/>
              </a:rPr>
              <a:t>为</a:t>
            </a:r>
            <a:r>
              <a:rPr lang="en-US" altLang="zh-CN" sz="2000" dirty="0">
                <a:latin typeface="黑体" panose="02010609060101010101" pitchFamily="2" charset="-122"/>
                <a:ea typeface="黑体" panose="02010609060101010101" pitchFamily="2" charset="-122"/>
                <a:sym typeface="+mn-ea"/>
              </a:rPr>
              <a:t>TRUE</a:t>
            </a:r>
            <a:r>
              <a:rPr lang="zh-CN" altLang="en-US" sz="2000" dirty="0">
                <a:latin typeface="黑体" panose="02010609060101010101" pitchFamily="2" charset="-122"/>
                <a:ea typeface="黑体" panose="02010609060101010101" pitchFamily="2" charset="-122"/>
                <a:sym typeface="+mn-ea"/>
              </a:rPr>
              <a:t>，则</a:t>
            </a:r>
            <a:r>
              <a:rPr lang="en-US" altLang="zh-CN" sz="2000" dirty="0">
                <a:latin typeface="黑体" panose="02010609060101010101" pitchFamily="2" charset="-122"/>
                <a:ea typeface="黑体" panose="02010609060101010101" pitchFamily="2" charset="-122"/>
                <a:sym typeface="+mn-ea"/>
              </a:rPr>
              <a:t>w</a:t>
            </a:r>
            <a:r>
              <a:rPr lang="zh-CN" altLang="en-US" sz="2000" dirty="0">
                <a:latin typeface="黑体" panose="02010609060101010101" pitchFamily="2" charset="-122"/>
                <a:ea typeface="黑体" panose="02010609060101010101" pitchFamily="2" charset="-122"/>
                <a:sym typeface="+mn-ea"/>
              </a:rPr>
              <a:t>是从</a:t>
            </a:r>
            <a:r>
              <a:rPr lang="en-US" altLang="zh-CN" sz="2000" dirty="0">
                <a:latin typeface="黑体" panose="02010609060101010101" pitchFamily="2" charset="-122"/>
                <a:ea typeface="黑体" panose="02010609060101010101" pitchFamily="2" charset="-122"/>
                <a:sym typeface="+mn-ea"/>
              </a:rPr>
              <a:t>v0</a:t>
            </a:r>
            <a:r>
              <a:rPr lang="zh-CN" altLang="en-US" sz="2000" dirty="0">
                <a:latin typeface="黑体" panose="02010609060101010101" pitchFamily="2" charset="-122"/>
                <a:ea typeface="黑体" panose="02010609060101010101" pitchFamily="2" charset="-122"/>
                <a:sym typeface="+mn-ea"/>
              </a:rPr>
              <a:t>到</a:t>
            </a:r>
            <a:r>
              <a:rPr lang="en-US" altLang="zh-CN" sz="2000" dirty="0">
                <a:latin typeface="黑体" panose="02010609060101010101" pitchFamily="2" charset="-122"/>
                <a:ea typeface="黑体" panose="02010609060101010101" pitchFamily="2" charset="-122"/>
                <a:sym typeface="+mn-ea"/>
              </a:rPr>
              <a:t>v</a:t>
            </a:r>
            <a:r>
              <a:rPr lang="zh-CN" altLang="en-US" sz="2000" dirty="0">
                <a:latin typeface="黑体" panose="02010609060101010101" pitchFamily="2" charset="-122"/>
                <a:ea typeface="黑体" panose="02010609060101010101" pitchFamily="2" charset="-122"/>
                <a:sym typeface="+mn-ea"/>
              </a:rPr>
              <a:t>当前求得最短路径上的顶点。</a:t>
            </a:r>
            <a:endParaRPr lang="zh-CN" altLang="en-US" sz="2000" dirty="0">
              <a:latin typeface="黑体" panose="02010609060101010101" pitchFamily="2" charset="-122"/>
              <a:ea typeface="黑体" panose="02010609060101010101" pitchFamily="2" charset="-122"/>
            </a:endParaRPr>
          </a:p>
          <a:p>
            <a:pPr marL="609600" lvl="0" indent="-609600" eaLnBrk="1" hangingPunct="1">
              <a:buNone/>
            </a:pPr>
            <a:r>
              <a:rPr lang="zh-CN" altLang="en-US" sz="2000" dirty="0">
                <a:latin typeface="黑体" panose="02010609060101010101" pitchFamily="2" charset="-122"/>
                <a:ea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sym typeface="+mn-ea"/>
              </a:rPr>
              <a:t>// final[v]</a:t>
            </a:r>
            <a:r>
              <a:rPr lang="zh-CN" altLang="en-US" sz="2000" dirty="0">
                <a:latin typeface="黑体" panose="02010609060101010101" pitchFamily="2" charset="-122"/>
                <a:ea typeface="黑体" panose="02010609060101010101" pitchFamily="2" charset="-122"/>
                <a:sym typeface="+mn-ea"/>
              </a:rPr>
              <a:t>为</a:t>
            </a:r>
            <a:r>
              <a:rPr lang="en-US" altLang="zh-CN" sz="2000" dirty="0">
                <a:latin typeface="黑体" panose="02010609060101010101" pitchFamily="2" charset="-122"/>
                <a:ea typeface="黑体" panose="02010609060101010101" pitchFamily="2" charset="-122"/>
                <a:sym typeface="+mn-ea"/>
              </a:rPr>
              <a:t>TRUE</a:t>
            </a:r>
            <a:r>
              <a:rPr lang="zh-CN" altLang="en-US" sz="2000" dirty="0">
                <a:latin typeface="黑体" panose="02010609060101010101" pitchFamily="2" charset="-122"/>
                <a:ea typeface="黑体" panose="02010609060101010101" pitchFamily="2" charset="-122"/>
                <a:sym typeface="+mn-ea"/>
              </a:rPr>
              <a:t>当且仅当</a:t>
            </a:r>
            <a:r>
              <a:rPr lang="en-US" altLang="zh-CN" sz="2000" dirty="0">
                <a:latin typeface="黑体" panose="02010609060101010101" pitchFamily="2" charset="-122"/>
                <a:ea typeface="黑体" panose="02010609060101010101" pitchFamily="2" charset="-122"/>
                <a:sym typeface="+mn-ea"/>
              </a:rPr>
              <a:t>v∈S,</a:t>
            </a:r>
            <a:r>
              <a:rPr lang="zh-CN" altLang="en-US" sz="2000" dirty="0">
                <a:latin typeface="黑体" panose="02010609060101010101" pitchFamily="2" charset="-122"/>
                <a:ea typeface="黑体" panose="02010609060101010101" pitchFamily="2" charset="-122"/>
                <a:sym typeface="+mn-ea"/>
              </a:rPr>
              <a:t>即已经求得从</a:t>
            </a:r>
            <a:r>
              <a:rPr lang="en-US" altLang="zh-CN" sz="2000" dirty="0">
                <a:latin typeface="黑体" panose="02010609060101010101" pitchFamily="2" charset="-122"/>
                <a:ea typeface="黑体" panose="02010609060101010101" pitchFamily="2" charset="-122"/>
                <a:sym typeface="+mn-ea"/>
              </a:rPr>
              <a:t>v0</a:t>
            </a:r>
            <a:r>
              <a:rPr lang="zh-CN" altLang="en-US" sz="2000" dirty="0">
                <a:latin typeface="黑体" panose="02010609060101010101" pitchFamily="2" charset="-122"/>
                <a:ea typeface="黑体" panose="02010609060101010101" pitchFamily="2" charset="-122"/>
                <a:sym typeface="+mn-ea"/>
              </a:rPr>
              <a:t>到</a:t>
            </a:r>
            <a:r>
              <a:rPr lang="en-US" altLang="zh-CN" sz="2000" dirty="0">
                <a:latin typeface="黑体" panose="02010609060101010101" pitchFamily="2" charset="-122"/>
                <a:ea typeface="黑体" panose="02010609060101010101" pitchFamily="2" charset="-122"/>
                <a:sym typeface="+mn-ea"/>
              </a:rPr>
              <a:t>v</a:t>
            </a:r>
            <a:r>
              <a:rPr lang="zh-CN" altLang="en-US" sz="2000" dirty="0">
                <a:latin typeface="黑体" panose="02010609060101010101" pitchFamily="2" charset="-122"/>
                <a:ea typeface="黑体" panose="02010609060101010101" pitchFamily="2" charset="-122"/>
                <a:sym typeface="+mn-ea"/>
              </a:rPr>
              <a:t>的最短路径。</a:t>
            </a:r>
            <a:endParaRPr lang="zh-CN" altLang="en-US" sz="2000" dirty="0">
              <a:latin typeface="黑体" panose="02010609060101010101" pitchFamily="2" charset="-122"/>
              <a:ea typeface="黑体" panose="02010609060101010101" pitchFamily="2" charset="-122"/>
            </a:endParaRPr>
          </a:p>
          <a:p>
            <a:pPr marL="609600" lvl="0" indent="-609600" eaLnBrk="1" hangingPunct="1">
              <a:buNone/>
            </a:pPr>
            <a:r>
              <a:rPr lang="zh-CN" altLang="en-US" sz="2000" dirty="0">
                <a:latin typeface="黑体" panose="02010609060101010101" pitchFamily="2" charset="-122"/>
                <a:ea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sym typeface="+mn-ea"/>
              </a:rPr>
              <a:t>int i=0,j, v,w,min;</a:t>
            </a:r>
            <a:endParaRPr lang="en-US" altLang="zh-CN" sz="2000" dirty="0">
              <a:latin typeface="黑体" panose="02010609060101010101" pitchFamily="2" charset="-122"/>
              <a:ea typeface="黑体" panose="02010609060101010101" pitchFamily="2" charset="-122"/>
            </a:endParaRPr>
          </a:p>
          <a:p>
            <a:pPr marL="609600" lvl="0" indent="-609600" eaLnBrk="1" hangingPunct="1">
              <a:buNone/>
            </a:pPr>
            <a:r>
              <a:rPr lang="en-US" altLang="zh-CN" sz="2000" dirty="0">
                <a:latin typeface="黑体" panose="02010609060101010101" pitchFamily="2" charset="-122"/>
                <a:ea typeface="黑体" panose="02010609060101010101" pitchFamily="2" charset="-122"/>
                <a:sym typeface="+mn-ea"/>
              </a:rPr>
              <a:t>  bool final[MAX_VERTEX_NUM];</a:t>
            </a:r>
            <a:endParaRPr lang="en-US" altLang="zh-CN" sz="2000" dirty="0">
              <a:latin typeface="黑体" panose="02010609060101010101" pitchFamily="2" charset="-122"/>
              <a:ea typeface="黑体" panose="02010609060101010101" pitchFamily="2" charset="-122"/>
            </a:endParaRPr>
          </a:p>
          <a:p>
            <a:pPr marL="609600" lvl="0" indent="-609600" eaLnBrk="1" hangingPunct="1">
              <a:buNone/>
            </a:pPr>
            <a:r>
              <a:rPr lang="en-US" altLang="zh-CN" sz="2000" dirty="0">
                <a:latin typeface="黑体" panose="02010609060101010101" pitchFamily="2" charset="-122"/>
                <a:ea typeface="黑体" panose="02010609060101010101" pitchFamily="2" charset="-122"/>
                <a:sym typeface="+mn-ea"/>
              </a:rPr>
              <a:t>  for (v=0; v&lt;G.vexnum; ++v) {</a:t>
            </a:r>
            <a:endParaRPr lang="en-US" altLang="zh-CN" sz="2000" dirty="0">
              <a:latin typeface="黑体" panose="02010609060101010101" pitchFamily="2" charset="-122"/>
              <a:ea typeface="黑体" panose="02010609060101010101" pitchFamily="2" charset="-122"/>
            </a:endParaRPr>
          </a:p>
          <a:p>
            <a:pPr marL="609600" lvl="0" indent="-609600" eaLnBrk="1" hangingPunct="1">
              <a:buNone/>
            </a:pPr>
            <a:r>
              <a:rPr lang="en-US" altLang="zh-CN" sz="2000" dirty="0">
                <a:latin typeface="黑体" panose="02010609060101010101" pitchFamily="2" charset="-122"/>
                <a:ea typeface="黑体" panose="02010609060101010101" pitchFamily="2" charset="-122"/>
                <a:sym typeface="+mn-ea"/>
              </a:rPr>
              <a:t>    final[v] = FALSE;  </a:t>
            </a:r>
            <a:endParaRPr lang="en-US" altLang="zh-CN" sz="2000" dirty="0">
              <a:latin typeface="黑体" panose="02010609060101010101" pitchFamily="2" charset="-122"/>
              <a:ea typeface="黑体" panose="02010609060101010101" pitchFamily="2" charset="-122"/>
            </a:endParaRPr>
          </a:p>
          <a:p>
            <a:pPr marL="609600" lvl="0" indent="-609600" eaLnBrk="1" hangingPunct="1">
              <a:buNone/>
            </a:pPr>
            <a:r>
              <a:rPr lang="en-US" altLang="zh-CN" sz="2000" dirty="0">
                <a:latin typeface="黑体" panose="02010609060101010101" pitchFamily="2" charset="-122"/>
                <a:ea typeface="黑体" panose="02010609060101010101" pitchFamily="2" charset="-122"/>
                <a:sym typeface="+mn-ea"/>
              </a:rPr>
              <a:t>    D[v] = G.arcs[v0][v].adj;</a:t>
            </a:r>
            <a:endParaRPr lang="en-US" altLang="zh-CN" sz="2000" dirty="0">
              <a:latin typeface="黑体" panose="02010609060101010101" pitchFamily="2" charset="-122"/>
              <a:ea typeface="黑体" panose="02010609060101010101" pitchFamily="2" charset="-122"/>
            </a:endParaRPr>
          </a:p>
          <a:p>
            <a:pPr marL="609600" lvl="0" indent="-609600" eaLnBrk="1" hangingPunct="1">
              <a:buNone/>
            </a:pPr>
            <a:r>
              <a:rPr lang="en-US" altLang="zh-CN" sz="2000" dirty="0">
                <a:latin typeface="黑体" panose="02010609060101010101" pitchFamily="2" charset="-122"/>
                <a:ea typeface="黑体" panose="02010609060101010101" pitchFamily="2" charset="-122"/>
                <a:sym typeface="+mn-ea"/>
              </a:rPr>
              <a:t>    for (w=0; w&lt;G.vexnum; ++w)  P[v][w] = FALSE;  // </a:t>
            </a:r>
            <a:r>
              <a:rPr lang="zh-CN" altLang="en-US" sz="2000" dirty="0">
                <a:latin typeface="黑体" panose="02010609060101010101" pitchFamily="2" charset="-122"/>
                <a:ea typeface="黑体" panose="02010609060101010101" pitchFamily="2" charset="-122"/>
                <a:sym typeface="+mn-ea"/>
              </a:rPr>
              <a:t>设空路径</a:t>
            </a:r>
            <a:endParaRPr lang="zh-CN" altLang="en-US" sz="2000" dirty="0">
              <a:latin typeface="黑体" panose="02010609060101010101" pitchFamily="2" charset="-122"/>
              <a:ea typeface="黑体" panose="02010609060101010101" pitchFamily="2" charset="-122"/>
            </a:endParaRPr>
          </a:p>
          <a:p>
            <a:pPr marL="609600" lvl="0" indent="-609600" eaLnBrk="1" hangingPunct="1">
              <a:buNone/>
            </a:pPr>
            <a:r>
              <a:rPr lang="zh-CN" altLang="en-US" sz="2000" dirty="0">
                <a:latin typeface="黑体" panose="02010609060101010101" pitchFamily="2" charset="-122"/>
                <a:ea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sym typeface="+mn-ea"/>
              </a:rPr>
              <a:t>if (D[v] &lt; INFINITY) { P[v][v0] = TRUE;  P[v][v] = TRUE; }</a:t>
            </a:r>
            <a:endParaRPr lang="en-US" altLang="zh-CN" sz="2000" dirty="0">
              <a:latin typeface="黑体" panose="02010609060101010101" pitchFamily="2" charset="-122"/>
              <a:ea typeface="黑体" panose="02010609060101010101" pitchFamily="2" charset="-122"/>
            </a:endParaRPr>
          </a:p>
          <a:p>
            <a:pPr marL="609600" lvl="0" indent="-609600" eaLnBrk="1" hangingPunct="1">
              <a:buNone/>
            </a:pPr>
            <a:r>
              <a:rPr lang="en-US" altLang="zh-CN" sz="2000" dirty="0">
                <a:latin typeface="黑体" panose="02010609060101010101" pitchFamily="2" charset="-122"/>
                <a:ea typeface="黑体" panose="02010609060101010101" pitchFamily="2" charset="-122"/>
                <a:sym typeface="+mn-ea"/>
              </a:rPr>
              <a:t>  }</a:t>
            </a:r>
            <a:endParaRPr lang="zh-CN" altLang="en-US" sz="2000" dirty="0">
              <a:latin typeface="黑体" panose="02010609060101010101" pitchFamily="2" charset="-122"/>
              <a:ea typeface="黑体" panose="02010609060101010101" pitchFamily="2" charset="-122"/>
            </a:endParaRPr>
          </a:p>
          <a:p>
            <a:pPr marL="0" marR="0" lvl="1" indent="0" algn="l" defTabSz="1219200" rtl="0" eaLnBrk="1" fontAlgn="base" latinLnBrk="0" hangingPunct="1">
              <a:lnSpc>
                <a:spcPct val="100000"/>
              </a:lnSpc>
              <a:spcBef>
                <a:spcPct val="20000"/>
              </a:spcBef>
              <a:buClrTx/>
              <a:buSzTx/>
              <a:buFont typeface="Wingdings" panose="05000000000000000000" charset="0"/>
              <a:buNone/>
            </a:pPr>
            <a:endParaRPr lang="zh-CN" altLang="en-US" sz="2400" dirty="0">
              <a:latin typeface="黑体" panose="02010609060101010101" pitchFamily="2" charset="-122"/>
              <a:ea typeface="黑体" panose="02010609060101010101" pitchFamily="2" charset="-122"/>
              <a:cs typeface="+mn-ea"/>
              <a:sym typeface="+mn-ea"/>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7.6 </a:t>
            </a:r>
            <a:r>
              <a:rPr lang="zh-CN" altLang="en-US">
                <a:latin typeface="楷体" panose="02010609060101010101" charset="-122"/>
                <a:ea typeface="楷体" panose="02010609060101010101" charset="-122"/>
                <a:cs typeface="楷体" panose="02010609060101010101" charset="-122"/>
                <a:sym typeface="+mn-ea"/>
              </a:rPr>
              <a:t>最短路径</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Dijkstra算法实现</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——2</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609600" lvl="0" indent="-609600" eaLnBrk="1" latinLnBrk="0" hangingPunct="1">
              <a:spcBef>
                <a:spcPts val="0"/>
              </a:spcBef>
              <a:buNone/>
            </a:pPr>
            <a:r>
              <a:rPr lang="en-US" altLang="zh-CN" sz="2000" dirty="0">
                <a:latin typeface="黑体" panose="02010609060101010101" pitchFamily="2" charset="-122"/>
                <a:ea typeface="黑体" panose="02010609060101010101" pitchFamily="2" charset="-122"/>
                <a:sym typeface="+mn-ea"/>
              </a:rPr>
              <a:t>  D[v0] = 0;  final[v0] = TRUE;        // </a:t>
            </a:r>
            <a:r>
              <a:rPr lang="zh-CN" altLang="en-US" sz="2000" dirty="0">
                <a:latin typeface="黑体" panose="02010609060101010101" pitchFamily="2" charset="-122"/>
                <a:ea typeface="黑体" panose="02010609060101010101" pitchFamily="2" charset="-122"/>
                <a:sym typeface="+mn-ea"/>
              </a:rPr>
              <a:t>初始化，</a:t>
            </a:r>
            <a:r>
              <a:rPr lang="en-US" altLang="zh-CN" sz="2000" dirty="0">
                <a:latin typeface="黑体" panose="02010609060101010101" pitchFamily="2" charset="-122"/>
                <a:ea typeface="黑体" panose="02010609060101010101" pitchFamily="2" charset="-122"/>
                <a:sym typeface="+mn-ea"/>
              </a:rPr>
              <a:t>v0</a:t>
            </a:r>
            <a:r>
              <a:rPr lang="zh-CN" altLang="en-US" sz="2000" dirty="0">
                <a:latin typeface="黑体" panose="02010609060101010101" pitchFamily="2" charset="-122"/>
                <a:ea typeface="黑体" panose="02010609060101010101" pitchFamily="2" charset="-122"/>
                <a:sym typeface="+mn-ea"/>
              </a:rPr>
              <a:t>顶点属于</a:t>
            </a:r>
            <a:r>
              <a:rPr lang="en-US" altLang="zh-CN" sz="2000" dirty="0">
                <a:latin typeface="黑体" panose="02010609060101010101" pitchFamily="2" charset="-122"/>
                <a:ea typeface="黑体" panose="02010609060101010101" pitchFamily="2" charset="-122"/>
                <a:sym typeface="+mn-ea"/>
              </a:rPr>
              <a:t>S</a:t>
            </a:r>
            <a:r>
              <a:rPr lang="zh-CN" altLang="en-US" sz="2000" dirty="0">
                <a:latin typeface="黑体" panose="02010609060101010101" pitchFamily="2" charset="-122"/>
                <a:ea typeface="黑体" panose="02010609060101010101" pitchFamily="2" charset="-122"/>
                <a:sym typeface="+mn-ea"/>
              </a:rPr>
              <a:t>集</a:t>
            </a:r>
            <a:endParaRPr lang="zh-CN" altLang="en-US" sz="2000" dirty="0">
              <a:latin typeface="黑体" panose="02010609060101010101" pitchFamily="2" charset="-122"/>
              <a:ea typeface="黑体" panose="02010609060101010101" pitchFamily="2" charset="-122"/>
            </a:endParaRPr>
          </a:p>
          <a:p>
            <a:pPr marL="609600" lvl="0" indent="-609600" eaLnBrk="1" latinLnBrk="0" hangingPunct="1">
              <a:spcBef>
                <a:spcPts val="0"/>
              </a:spcBef>
              <a:buNone/>
            </a:pPr>
            <a:r>
              <a:rPr lang="zh-CN" altLang="en-US" sz="2000" dirty="0">
                <a:latin typeface="黑体" panose="02010609060101010101" pitchFamily="2" charset="-122"/>
                <a:ea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sym typeface="+mn-ea"/>
              </a:rPr>
              <a:t>//--- </a:t>
            </a:r>
            <a:r>
              <a:rPr lang="zh-CN" altLang="en-US" sz="2000" dirty="0">
                <a:latin typeface="黑体" panose="02010609060101010101" pitchFamily="2" charset="-122"/>
                <a:ea typeface="黑体" panose="02010609060101010101" pitchFamily="2" charset="-122"/>
                <a:sym typeface="+mn-ea"/>
              </a:rPr>
              <a:t>开始主循环，每次求得</a:t>
            </a:r>
            <a:r>
              <a:rPr lang="en-US" altLang="zh-CN" sz="2000" dirty="0">
                <a:latin typeface="黑体" panose="02010609060101010101" pitchFamily="2" charset="-122"/>
                <a:ea typeface="黑体" panose="02010609060101010101" pitchFamily="2" charset="-122"/>
                <a:sym typeface="+mn-ea"/>
              </a:rPr>
              <a:t>v0</a:t>
            </a:r>
            <a:r>
              <a:rPr lang="zh-CN" altLang="en-US" sz="2000" dirty="0">
                <a:latin typeface="黑体" panose="02010609060101010101" pitchFamily="2" charset="-122"/>
                <a:ea typeface="黑体" panose="02010609060101010101" pitchFamily="2" charset="-122"/>
                <a:sym typeface="+mn-ea"/>
              </a:rPr>
              <a:t>到某个</a:t>
            </a:r>
            <a:r>
              <a:rPr lang="en-US" altLang="zh-CN" sz="2000" dirty="0">
                <a:latin typeface="黑体" panose="02010609060101010101" pitchFamily="2" charset="-122"/>
                <a:ea typeface="黑体" panose="02010609060101010101" pitchFamily="2" charset="-122"/>
                <a:sym typeface="+mn-ea"/>
              </a:rPr>
              <a:t>v</a:t>
            </a:r>
            <a:r>
              <a:rPr lang="zh-CN" altLang="en-US" sz="2000" dirty="0">
                <a:latin typeface="黑体" panose="02010609060101010101" pitchFamily="2" charset="-122"/>
                <a:ea typeface="黑体" panose="02010609060101010101" pitchFamily="2" charset="-122"/>
                <a:sym typeface="+mn-ea"/>
              </a:rPr>
              <a:t>顶点的最短路径，并加</a:t>
            </a:r>
            <a:r>
              <a:rPr lang="en-US" altLang="zh-CN" sz="2000" dirty="0">
                <a:latin typeface="黑体" panose="02010609060101010101" pitchFamily="2" charset="-122"/>
                <a:ea typeface="黑体" panose="02010609060101010101" pitchFamily="2" charset="-122"/>
                <a:sym typeface="+mn-ea"/>
              </a:rPr>
              <a:t>v</a:t>
            </a:r>
            <a:r>
              <a:rPr lang="zh-CN" altLang="en-US" sz="2000" dirty="0">
                <a:latin typeface="黑体" panose="02010609060101010101" pitchFamily="2" charset="-122"/>
                <a:ea typeface="黑体" panose="02010609060101010101" pitchFamily="2" charset="-122"/>
                <a:sym typeface="+mn-ea"/>
              </a:rPr>
              <a:t>到</a:t>
            </a:r>
            <a:r>
              <a:rPr lang="en-US" altLang="zh-CN" sz="2000" dirty="0">
                <a:latin typeface="黑体" panose="02010609060101010101" pitchFamily="2" charset="-122"/>
                <a:ea typeface="黑体" panose="02010609060101010101" pitchFamily="2" charset="-122"/>
                <a:sym typeface="+mn-ea"/>
              </a:rPr>
              <a:t>S</a:t>
            </a:r>
            <a:r>
              <a:rPr lang="zh-CN" altLang="en-US" sz="2000" dirty="0">
                <a:latin typeface="黑体" panose="02010609060101010101" pitchFamily="2" charset="-122"/>
                <a:ea typeface="黑体" panose="02010609060101010101" pitchFamily="2" charset="-122"/>
                <a:sym typeface="+mn-ea"/>
              </a:rPr>
              <a:t>集 </a:t>
            </a:r>
            <a:r>
              <a:rPr lang="en-US" altLang="zh-CN" sz="2000" dirty="0">
                <a:latin typeface="黑体" panose="02010609060101010101" pitchFamily="2" charset="-122"/>
                <a:ea typeface="黑体" panose="02010609060101010101" pitchFamily="2" charset="-122"/>
                <a:sym typeface="+mn-ea"/>
              </a:rPr>
              <a:t>---</a:t>
            </a:r>
            <a:endParaRPr lang="en-US" altLang="zh-CN" sz="2000" dirty="0">
              <a:latin typeface="黑体" panose="02010609060101010101" pitchFamily="2" charset="-122"/>
              <a:ea typeface="黑体" panose="02010609060101010101" pitchFamily="2" charset="-122"/>
            </a:endParaRPr>
          </a:p>
          <a:p>
            <a:pPr marL="609600" lvl="0" indent="-609600" eaLnBrk="1" latinLnBrk="0" hangingPunct="1">
              <a:spcBef>
                <a:spcPts val="0"/>
              </a:spcBef>
              <a:buNone/>
            </a:pPr>
            <a:r>
              <a:rPr lang="en-US" altLang="zh-CN" sz="2000" dirty="0">
                <a:latin typeface="黑体" panose="02010609060101010101" pitchFamily="2" charset="-122"/>
                <a:ea typeface="黑体" panose="02010609060101010101" pitchFamily="2" charset="-122"/>
                <a:sym typeface="+mn-ea"/>
              </a:rPr>
              <a:t>  for (i=1; i&lt;G.vexnum; ++i) {         // </a:t>
            </a:r>
            <a:r>
              <a:rPr lang="zh-CN" altLang="en-US" sz="2000" dirty="0">
                <a:latin typeface="黑体" panose="02010609060101010101" pitchFamily="2" charset="-122"/>
                <a:ea typeface="黑体" panose="02010609060101010101" pitchFamily="2" charset="-122"/>
                <a:sym typeface="+mn-ea"/>
              </a:rPr>
              <a:t>其余</a:t>
            </a:r>
            <a:r>
              <a:rPr lang="en-US" altLang="zh-CN" sz="2000" dirty="0">
                <a:latin typeface="黑体" panose="02010609060101010101" pitchFamily="2" charset="-122"/>
                <a:ea typeface="黑体" panose="02010609060101010101" pitchFamily="2" charset="-122"/>
                <a:sym typeface="+mn-ea"/>
              </a:rPr>
              <a:t>G.vexnum-1</a:t>
            </a:r>
            <a:r>
              <a:rPr lang="zh-CN" altLang="en-US" sz="2000" dirty="0">
                <a:latin typeface="黑体" panose="02010609060101010101" pitchFamily="2" charset="-122"/>
                <a:ea typeface="黑体" panose="02010609060101010101" pitchFamily="2" charset="-122"/>
                <a:sym typeface="+mn-ea"/>
              </a:rPr>
              <a:t>个顶点</a:t>
            </a:r>
            <a:endParaRPr lang="zh-CN" altLang="en-US" sz="2000" dirty="0">
              <a:latin typeface="黑体" panose="02010609060101010101" pitchFamily="2" charset="-122"/>
              <a:ea typeface="黑体" panose="02010609060101010101" pitchFamily="2" charset="-122"/>
            </a:endParaRPr>
          </a:p>
          <a:p>
            <a:pPr marL="609600" lvl="0" indent="-609600" eaLnBrk="1" latinLnBrk="0" hangingPunct="1">
              <a:spcBef>
                <a:spcPts val="0"/>
              </a:spcBef>
              <a:buNone/>
            </a:pPr>
            <a:r>
              <a:rPr lang="zh-CN" altLang="en-US" sz="2000" dirty="0">
                <a:latin typeface="黑体" panose="02010609060101010101" pitchFamily="2" charset="-122"/>
                <a:ea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sym typeface="+mn-ea"/>
              </a:rPr>
              <a:t>min = INFINITY;                    // </a:t>
            </a:r>
            <a:r>
              <a:rPr lang="zh-CN" altLang="en-US" sz="2000" dirty="0">
                <a:latin typeface="黑体" panose="02010609060101010101" pitchFamily="2" charset="-122"/>
                <a:ea typeface="黑体" panose="02010609060101010101" pitchFamily="2" charset="-122"/>
                <a:sym typeface="+mn-ea"/>
              </a:rPr>
              <a:t>当前所知离</a:t>
            </a:r>
            <a:r>
              <a:rPr lang="en-US" altLang="zh-CN" sz="2000" dirty="0">
                <a:latin typeface="黑体" panose="02010609060101010101" pitchFamily="2" charset="-122"/>
                <a:ea typeface="黑体" panose="02010609060101010101" pitchFamily="2" charset="-122"/>
                <a:sym typeface="+mn-ea"/>
              </a:rPr>
              <a:t>v0</a:t>
            </a:r>
            <a:r>
              <a:rPr lang="zh-CN" altLang="en-US" sz="2000" dirty="0">
                <a:latin typeface="黑体" panose="02010609060101010101" pitchFamily="2" charset="-122"/>
                <a:ea typeface="黑体" panose="02010609060101010101" pitchFamily="2" charset="-122"/>
                <a:sym typeface="+mn-ea"/>
              </a:rPr>
              <a:t>顶点的最近距离</a:t>
            </a:r>
            <a:endParaRPr lang="zh-CN" altLang="en-US" sz="2000" dirty="0">
              <a:latin typeface="黑体" panose="02010609060101010101" pitchFamily="2" charset="-122"/>
              <a:ea typeface="黑体" panose="02010609060101010101" pitchFamily="2" charset="-122"/>
            </a:endParaRPr>
          </a:p>
          <a:p>
            <a:pPr marL="609600" lvl="0" indent="-609600" eaLnBrk="1" latinLnBrk="0" hangingPunct="1">
              <a:spcBef>
                <a:spcPts val="0"/>
              </a:spcBef>
              <a:buNone/>
            </a:pPr>
            <a:r>
              <a:rPr lang="zh-CN" altLang="en-US" sz="2000" dirty="0">
                <a:latin typeface="黑体" panose="02010609060101010101" pitchFamily="2" charset="-122"/>
                <a:ea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sym typeface="+mn-ea"/>
              </a:rPr>
              <a:t>for (w=0; w&lt;G.vexnum; ++w)</a:t>
            </a:r>
            <a:endParaRPr lang="en-US" altLang="zh-CN" sz="2000" dirty="0">
              <a:latin typeface="黑体" panose="02010609060101010101" pitchFamily="2" charset="-122"/>
              <a:ea typeface="黑体" panose="02010609060101010101" pitchFamily="2" charset="-122"/>
            </a:endParaRPr>
          </a:p>
          <a:p>
            <a:pPr marL="609600" lvl="0" indent="-609600" eaLnBrk="1" latinLnBrk="0" hangingPunct="1">
              <a:spcBef>
                <a:spcPts val="0"/>
              </a:spcBef>
              <a:buNone/>
            </a:pPr>
            <a:r>
              <a:rPr lang="en-US" altLang="zh-CN" sz="2000" dirty="0">
                <a:latin typeface="黑体" panose="02010609060101010101" pitchFamily="2" charset="-122"/>
                <a:ea typeface="黑体" panose="02010609060101010101" pitchFamily="2" charset="-122"/>
                <a:sym typeface="+mn-ea"/>
              </a:rPr>
              <a:t>      if (!final[w])                           // w</a:t>
            </a:r>
            <a:r>
              <a:rPr lang="zh-CN" altLang="en-US" sz="2000" dirty="0">
                <a:latin typeface="黑体" panose="02010609060101010101" pitchFamily="2" charset="-122"/>
                <a:ea typeface="黑体" panose="02010609060101010101" pitchFamily="2" charset="-122"/>
                <a:sym typeface="+mn-ea"/>
              </a:rPr>
              <a:t>顶点在</a:t>
            </a:r>
            <a:r>
              <a:rPr lang="en-US" altLang="zh-CN" sz="2000" dirty="0">
                <a:latin typeface="黑体" panose="02010609060101010101" pitchFamily="2" charset="-122"/>
                <a:ea typeface="黑体" panose="02010609060101010101" pitchFamily="2" charset="-122"/>
                <a:sym typeface="+mn-ea"/>
              </a:rPr>
              <a:t>V-S</a:t>
            </a:r>
            <a:r>
              <a:rPr lang="zh-CN" altLang="en-US" sz="2000" dirty="0">
                <a:latin typeface="黑体" panose="02010609060101010101" pitchFamily="2" charset="-122"/>
                <a:ea typeface="黑体" panose="02010609060101010101" pitchFamily="2" charset="-122"/>
                <a:sym typeface="+mn-ea"/>
              </a:rPr>
              <a:t>中</a:t>
            </a:r>
            <a:endParaRPr lang="zh-CN" altLang="en-US" sz="2000" dirty="0">
              <a:latin typeface="黑体" panose="02010609060101010101" pitchFamily="2" charset="-122"/>
              <a:ea typeface="黑体" panose="02010609060101010101" pitchFamily="2" charset="-122"/>
            </a:endParaRPr>
          </a:p>
          <a:p>
            <a:pPr marL="609600" lvl="0" indent="-609600" eaLnBrk="1" latinLnBrk="0" hangingPunct="1">
              <a:spcBef>
                <a:spcPts val="0"/>
              </a:spcBef>
              <a:buNone/>
            </a:pPr>
            <a:r>
              <a:rPr lang="zh-CN" altLang="en-US" sz="2000" dirty="0">
                <a:latin typeface="黑体" panose="02010609060101010101" pitchFamily="2" charset="-122"/>
                <a:ea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sym typeface="+mn-ea"/>
              </a:rPr>
              <a:t>if (D[w]&lt;min) { v = w;  min = D[w]; }  // w</a:t>
            </a:r>
            <a:r>
              <a:rPr lang="zh-CN" altLang="en-US" sz="2000" dirty="0">
                <a:latin typeface="黑体" panose="02010609060101010101" pitchFamily="2" charset="-122"/>
                <a:ea typeface="黑体" panose="02010609060101010101" pitchFamily="2" charset="-122"/>
                <a:sym typeface="+mn-ea"/>
              </a:rPr>
              <a:t>顶点离</a:t>
            </a:r>
            <a:r>
              <a:rPr lang="en-US" altLang="zh-CN" sz="2000" dirty="0">
                <a:latin typeface="黑体" panose="02010609060101010101" pitchFamily="2" charset="-122"/>
                <a:ea typeface="黑体" panose="02010609060101010101" pitchFamily="2" charset="-122"/>
                <a:sym typeface="+mn-ea"/>
              </a:rPr>
              <a:t>v0</a:t>
            </a:r>
            <a:r>
              <a:rPr lang="zh-CN" altLang="en-US" sz="2000" dirty="0">
                <a:latin typeface="黑体" panose="02010609060101010101" pitchFamily="2" charset="-122"/>
                <a:ea typeface="黑体" panose="02010609060101010101" pitchFamily="2" charset="-122"/>
                <a:sym typeface="+mn-ea"/>
              </a:rPr>
              <a:t>顶点更近</a:t>
            </a:r>
            <a:endParaRPr lang="zh-CN" altLang="en-US" sz="2000" dirty="0">
              <a:latin typeface="黑体" panose="02010609060101010101" pitchFamily="2" charset="-122"/>
              <a:ea typeface="黑体" panose="02010609060101010101" pitchFamily="2" charset="-122"/>
            </a:endParaRPr>
          </a:p>
          <a:p>
            <a:pPr marL="609600" lvl="0" indent="-609600" eaLnBrk="1" latinLnBrk="0" hangingPunct="1">
              <a:spcBef>
                <a:spcPts val="0"/>
              </a:spcBef>
              <a:buNone/>
            </a:pPr>
            <a:r>
              <a:rPr lang="zh-CN" altLang="en-US" sz="2000" dirty="0">
                <a:latin typeface="黑体" panose="02010609060101010101" pitchFamily="2" charset="-122"/>
                <a:ea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sym typeface="+mn-ea"/>
              </a:rPr>
              <a:t>final[v] = TRUE;                       // </a:t>
            </a:r>
            <a:r>
              <a:rPr lang="zh-CN" altLang="en-US" sz="2000" dirty="0">
                <a:latin typeface="黑体" panose="02010609060101010101" pitchFamily="2" charset="-122"/>
                <a:ea typeface="黑体" panose="02010609060101010101" pitchFamily="2" charset="-122"/>
                <a:sym typeface="+mn-ea"/>
              </a:rPr>
              <a:t>离</a:t>
            </a:r>
            <a:r>
              <a:rPr lang="en-US" altLang="zh-CN" sz="2000" dirty="0">
                <a:latin typeface="黑体" panose="02010609060101010101" pitchFamily="2" charset="-122"/>
                <a:ea typeface="黑体" panose="02010609060101010101" pitchFamily="2" charset="-122"/>
                <a:sym typeface="+mn-ea"/>
              </a:rPr>
              <a:t>v0</a:t>
            </a:r>
            <a:r>
              <a:rPr lang="zh-CN" altLang="en-US" sz="2000" dirty="0">
                <a:latin typeface="黑体" panose="02010609060101010101" pitchFamily="2" charset="-122"/>
                <a:ea typeface="黑体" panose="02010609060101010101" pitchFamily="2" charset="-122"/>
                <a:sym typeface="+mn-ea"/>
              </a:rPr>
              <a:t>顶点最近的</a:t>
            </a:r>
            <a:r>
              <a:rPr lang="en-US" altLang="zh-CN" sz="2000" dirty="0">
                <a:latin typeface="黑体" panose="02010609060101010101" pitchFamily="2" charset="-122"/>
                <a:ea typeface="黑体" panose="02010609060101010101" pitchFamily="2" charset="-122"/>
                <a:sym typeface="+mn-ea"/>
              </a:rPr>
              <a:t>v</a:t>
            </a:r>
            <a:r>
              <a:rPr lang="zh-CN" altLang="en-US" sz="2000" dirty="0">
                <a:latin typeface="黑体" panose="02010609060101010101" pitchFamily="2" charset="-122"/>
                <a:ea typeface="黑体" panose="02010609060101010101" pitchFamily="2" charset="-122"/>
                <a:sym typeface="+mn-ea"/>
              </a:rPr>
              <a:t>加入</a:t>
            </a:r>
            <a:r>
              <a:rPr lang="en-US" altLang="zh-CN" sz="2000" dirty="0">
                <a:latin typeface="黑体" panose="02010609060101010101" pitchFamily="2" charset="-122"/>
                <a:ea typeface="黑体" panose="02010609060101010101" pitchFamily="2" charset="-122"/>
                <a:sym typeface="+mn-ea"/>
              </a:rPr>
              <a:t>S</a:t>
            </a:r>
            <a:r>
              <a:rPr lang="zh-CN" altLang="en-US" sz="2000" dirty="0">
                <a:latin typeface="黑体" panose="02010609060101010101" pitchFamily="2" charset="-122"/>
                <a:ea typeface="黑体" panose="02010609060101010101" pitchFamily="2" charset="-122"/>
                <a:sym typeface="+mn-ea"/>
              </a:rPr>
              <a:t>集</a:t>
            </a:r>
            <a:endParaRPr lang="zh-CN" altLang="en-US" sz="2000" dirty="0">
              <a:latin typeface="黑体" panose="02010609060101010101" pitchFamily="2" charset="-122"/>
              <a:ea typeface="黑体" panose="02010609060101010101" pitchFamily="2" charset="-122"/>
            </a:endParaRPr>
          </a:p>
          <a:p>
            <a:pPr marL="609600" lvl="0" indent="-609600" eaLnBrk="1" latinLnBrk="0" hangingPunct="1">
              <a:spcBef>
                <a:spcPts val="0"/>
              </a:spcBef>
              <a:buNone/>
            </a:pPr>
            <a:r>
              <a:rPr lang="zh-CN" altLang="en-US" sz="2000" dirty="0">
                <a:latin typeface="黑体" panose="02010609060101010101" pitchFamily="2" charset="-122"/>
                <a:ea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sym typeface="+mn-ea"/>
              </a:rPr>
              <a:t>for (w=0; w&lt;G.vexnum; ++w)             // </a:t>
            </a:r>
            <a:r>
              <a:rPr lang="zh-CN" altLang="en-US" sz="2000" dirty="0">
                <a:latin typeface="黑体" panose="02010609060101010101" pitchFamily="2" charset="-122"/>
                <a:ea typeface="黑体" panose="02010609060101010101" pitchFamily="2" charset="-122"/>
                <a:sym typeface="+mn-ea"/>
              </a:rPr>
              <a:t>更新当前最短路径及距离</a:t>
            </a:r>
            <a:endParaRPr lang="zh-CN" altLang="en-US" sz="2000" dirty="0">
              <a:latin typeface="黑体" panose="02010609060101010101" pitchFamily="2" charset="-122"/>
              <a:ea typeface="黑体" panose="02010609060101010101" pitchFamily="2" charset="-122"/>
            </a:endParaRPr>
          </a:p>
          <a:p>
            <a:pPr marL="609600" lvl="0" indent="-609600" eaLnBrk="1" latinLnBrk="0" hangingPunct="1">
              <a:spcBef>
                <a:spcPts val="0"/>
              </a:spcBef>
              <a:buNone/>
            </a:pPr>
            <a:r>
              <a:rPr lang="zh-CN" altLang="en-US" sz="2000" dirty="0">
                <a:latin typeface="黑体" panose="02010609060101010101" pitchFamily="2" charset="-122"/>
                <a:ea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sym typeface="+mn-ea"/>
              </a:rPr>
              <a:t>if (!final[w] &amp;&amp; (min+G.arcs[v][w].adj&lt;D[w])) { // </a:t>
            </a:r>
            <a:r>
              <a:rPr lang="zh-CN" altLang="en-US" sz="2000" dirty="0">
                <a:latin typeface="黑体" panose="02010609060101010101" pitchFamily="2" charset="-122"/>
                <a:ea typeface="黑体" panose="02010609060101010101" pitchFamily="2" charset="-122"/>
                <a:sym typeface="+mn-ea"/>
              </a:rPr>
              <a:t>修改</a:t>
            </a:r>
            <a:r>
              <a:rPr lang="en-US" altLang="zh-CN" sz="2000" dirty="0">
                <a:latin typeface="黑体" panose="02010609060101010101" pitchFamily="2" charset="-122"/>
                <a:ea typeface="黑体" panose="02010609060101010101" pitchFamily="2" charset="-122"/>
                <a:sym typeface="+mn-ea"/>
              </a:rPr>
              <a:t>D[w]</a:t>
            </a:r>
            <a:r>
              <a:rPr lang="zh-CN" altLang="en-US" sz="2000" dirty="0">
                <a:latin typeface="黑体" panose="02010609060101010101" pitchFamily="2" charset="-122"/>
                <a:ea typeface="黑体" panose="02010609060101010101" pitchFamily="2" charset="-122"/>
                <a:sym typeface="+mn-ea"/>
              </a:rPr>
              <a:t>和</a:t>
            </a:r>
            <a:r>
              <a:rPr lang="en-US" altLang="zh-CN" sz="2000" dirty="0">
                <a:latin typeface="黑体" panose="02010609060101010101" pitchFamily="2" charset="-122"/>
                <a:ea typeface="黑体" panose="02010609060101010101" pitchFamily="2" charset="-122"/>
                <a:sym typeface="+mn-ea"/>
              </a:rPr>
              <a:t>P[w], w∈V-S</a:t>
            </a:r>
            <a:endParaRPr lang="en-US" altLang="zh-CN" sz="2000" dirty="0">
              <a:latin typeface="黑体" panose="02010609060101010101" pitchFamily="2" charset="-122"/>
              <a:ea typeface="黑体" panose="02010609060101010101" pitchFamily="2" charset="-122"/>
            </a:endParaRPr>
          </a:p>
          <a:p>
            <a:pPr marL="609600" lvl="0" indent="-609600" eaLnBrk="1" latinLnBrk="0" hangingPunct="1">
              <a:spcBef>
                <a:spcPts val="0"/>
              </a:spcBef>
              <a:buNone/>
            </a:pPr>
            <a:r>
              <a:rPr lang="en-US" altLang="zh-CN" sz="2000" dirty="0">
                <a:latin typeface="黑体" panose="02010609060101010101" pitchFamily="2" charset="-122"/>
                <a:ea typeface="黑体" panose="02010609060101010101" pitchFamily="2" charset="-122"/>
                <a:sym typeface="+mn-ea"/>
              </a:rPr>
              <a:t>        D[w] = min + G.arcs[v][w].adj;</a:t>
            </a:r>
            <a:endParaRPr lang="en-US" altLang="zh-CN" sz="2000" dirty="0">
              <a:latin typeface="黑体" panose="02010609060101010101" pitchFamily="2" charset="-122"/>
              <a:ea typeface="黑体" panose="02010609060101010101" pitchFamily="2" charset="-122"/>
            </a:endParaRPr>
          </a:p>
          <a:p>
            <a:pPr marL="609600" lvl="0" indent="-609600" eaLnBrk="1" latinLnBrk="0" hangingPunct="1">
              <a:spcBef>
                <a:spcPts val="0"/>
              </a:spcBef>
              <a:buNone/>
            </a:pPr>
            <a:r>
              <a:rPr lang="en-US" altLang="zh-CN" sz="2000" dirty="0">
                <a:latin typeface="黑体" panose="02010609060101010101" pitchFamily="2" charset="-122"/>
                <a:ea typeface="黑体" panose="02010609060101010101" pitchFamily="2" charset="-122"/>
                <a:sym typeface="+mn-ea"/>
              </a:rPr>
              <a:t>        for(j=0;j&lt;G.vexnum;j++) P[w][j] = P[v][j]; //</a:t>
            </a:r>
            <a:r>
              <a:rPr lang="zh-CN" altLang="en-US" sz="2000" dirty="0">
                <a:latin typeface="黑体" panose="02010609060101010101" pitchFamily="2" charset="-122"/>
                <a:ea typeface="黑体" panose="02010609060101010101" pitchFamily="2" charset="-122"/>
                <a:sym typeface="+mn-ea"/>
              </a:rPr>
              <a:t>第</a:t>
            </a:r>
            <a:r>
              <a:rPr lang="en-US" altLang="zh-CN" sz="2000" dirty="0">
                <a:latin typeface="黑体" panose="02010609060101010101" pitchFamily="2" charset="-122"/>
                <a:ea typeface="黑体" panose="02010609060101010101" pitchFamily="2" charset="-122"/>
                <a:sym typeface="+mn-ea"/>
              </a:rPr>
              <a:t>v</a:t>
            </a:r>
            <a:r>
              <a:rPr lang="zh-CN" altLang="en-US" sz="2000" dirty="0">
                <a:latin typeface="黑体" panose="02010609060101010101" pitchFamily="2" charset="-122"/>
                <a:ea typeface="黑体" panose="02010609060101010101" pitchFamily="2" charset="-122"/>
                <a:sym typeface="+mn-ea"/>
              </a:rPr>
              <a:t>行赋值于第</a:t>
            </a:r>
            <a:r>
              <a:rPr lang="en-US" altLang="zh-CN" sz="2000" dirty="0">
                <a:latin typeface="黑体" panose="02010609060101010101" pitchFamily="2" charset="-122"/>
                <a:ea typeface="黑体" panose="02010609060101010101" pitchFamily="2" charset="-122"/>
                <a:sym typeface="+mn-ea"/>
              </a:rPr>
              <a:t>w</a:t>
            </a:r>
            <a:r>
              <a:rPr lang="zh-CN" altLang="en-US" sz="2000" dirty="0">
                <a:latin typeface="黑体" panose="02010609060101010101" pitchFamily="2" charset="-122"/>
                <a:ea typeface="黑体" panose="02010609060101010101" pitchFamily="2" charset="-122"/>
                <a:sym typeface="+mn-ea"/>
              </a:rPr>
              <a:t>行</a:t>
            </a:r>
            <a:endParaRPr lang="zh-CN" altLang="en-US" sz="2000" dirty="0">
              <a:latin typeface="黑体" panose="02010609060101010101" pitchFamily="2" charset="-122"/>
              <a:ea typeface="黑体" panose="02010609060101010101" pitchFamily="2" charset="-122"/>
            </a:endParaRPr>
          </a:p>
          <a:p>
            <a:pPr marL="609600" lvl="0" indent="-609600" eaLnBrk="1" latinLnBrk="0" hangingPunct="1">
              <a:spcBef>
                <a:spcPts val="0"/>
              </a:spcBef>
              <a:buNone/>
            </a:pPr>
            <a:r>
              <a:rPr lang="zh-CN" altLang="en-US" sz="2000" dirty="0">
                <a:latin typeface="黑体" panose="02010609060101010101" pitchFamily="2" charset="-122"/>
                <a:ea typeface="黑体" panose="02010609060101010101" pitchFamily="2" charset="-122"/>
                <a:sym typeface="+mn-ea"/>
              </a:rPr>
              <a:t>        </a:t>
            </a:r>
            <a:r>
              <a:rPr lang="en-US" altLang="zh-CN" sz="2000" dirty="0">
                <a:latin typeface="黑体" panose="02010609060101010101" pitchFamily="2" charset="-122"/>
                <a:ea typeface="黑体" panose="02010609060101010101" pitchFamily="2" charset="-122"/>
                <a:sym typeface="+mn-ea"/>
              </a:rPr>
              <a:t>P[w][w] = TRUE;   // P[w] = P[v]+[w]</a:t>
            </a:r>
            <a:endParaRPr lang="en-US" altLang="zh-CN" sz="2000" dirty="0">
              <a:latin typeface="黑体" panose="02010609060101010101" pitchFamily="2" charset="-122"/>
              <a:ea typeface="黑体" panose="02010609060101010101" pitchFamily="2" charset="-122"/>
            </a:endParaRPr>
          </a:p>
          <a:p>
            <a:pPr marL="609600" lvl="0" indent="-609600" eaLnBrk="1" latinLnBrk="0" hangingPunct="1">
              <a:spcBef>
                <a:spcPts val="0"/>
              </a:spcBef>
              <a:buNone/>
            </a:pPr>
            <a:r>
              <a:rPr lang="en-US" altLang="zh-CN" sz="2000" dirty="0">
                <a:latin typeface="黑体" panose="02010609060101010101" pitchFamily="2" charset="-122"/>
                <a:ea typeface="黑体" panose="02010609060101010101" pitchFamily="2" charset="-122"/>
                <a:sym typeface="+mn-ea"/>
              </a:rPr>
              <a:t>      }//if</a:t>
            </a:r>
            <a:endParaRPr lang="en-US" altLang="zh-CN" sz="2000" dirty="0">
              <a:latin typeface="黑体" panose="02010609060101010101" pitchFamily="2" charset="-122"/>
              <a:ea typeface="黑体" panose="02010609060101010101" pitchFamily="2" charset="-122"/>
            </a:endParaRPr>
          </a:p>
          <a:p>
            <a:pPr marL="609600" lvl="0" indent="-609600" eaLnBrk="1" latinLnBrk="0" hangingPunct="1">
              <a:spcBef>
                <a:spcPts val="0"/>
              </a:spcBef>
              <a:buNone/>
            </a:pPr>
            <a:r>
              <a:rPr lang="en-US" altLang="zh-CN" sz="2000" dirty="0">
                <a:latin typeface="黑体" panose="02010609060101010101" pitchFamily="2" charset="-122"/>
                <a:ea typeface="黑体" panose="02010609060101010101" pitchFamily="2" charset="-122"/>
                <a:sym typeface="+mn-ea"/>
              </a:rPr>
              <a:t>  }//for		</a:t>
            </a:r>
            <a:endParaRPr lang="en-US" altLang="zh-CN" sz="2000" dirty="0">
              <a:latin typeface="黑体" panose="02010609060101010101" pitchFamily="2" charset="-122"/>
              <a:ea typeface="黑体" panose="02010609060101010101" pitchFamily="2" charset="-122"/>
            </a:endParaRPr>
          </a:p>
          <a:p>
            <a:pPr marL="609600" lvl="0" indent="-609600" eaLnBrk="1" latinLnBrk="0" hangingPunct="1">
              <a:spcBef>
                <a:spcPts val="0"/>
              </a:spcBef>
              <a:buNone/>
            </a:pPr>
            <a:r>
              <a:rPr lang="en-US" altLang="zh-CN" sz="2000" dirty="0">
                <a:latin typeface="黑体" panose="02010609060101010101" pitchFamily="2" charset="-122"/>
                <a:ea typeface="黑体" panose="02010609060101010101" pitchFamily="2" charset="-122"/>
                <a:sym typeface="+mn-ea"/>
              </a:rPr>
              <a:t>} // ShortestPath_DIJ</a:t>
            </a:r>
            <a:endParaRPr lang="en-US" altLang="zh-CN" sz="2000" dirty="0">
              <a:latin typeface="黑体" panose="02010609060101010101" pitchFamily="2" charset="-122"/>
              <a:ea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7.6 </a:t>
            </a:r>
            <a:r>
              <a:rPr lang="zh-CN" altLang="en-US">
                <a:latin typeface="楷体" panose="02010609060101010101" charset="-122"/>
                <a:ea typeface="楷体" panose="02010609060101010101" charset="-122"/>
                <a:cs typeface="楷体" panose="02010609060101010101" charset="-122"/>
                <a:sym typeface="+mn-ea"/>
              </a:rPr>
              <a:t>最短路径</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上述程序的</a:t>
            </a: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不足</a:t>
            </a: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只能找到</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最短路径包含的顶点，</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不能找到最短路径的顶点排列顺序</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marL="609600" lvl="1" indent="0" algn="l" eaLnBrk="1" hangingPunct="1">
              <a:buClrTx/>
              <a:buSzTx/>
              <a:buNone/>
            </a:pPr>
            <a:r>
              <a:rPr lang="zh-CN" altLang="en-US" dirty="0">
                <a:latin typeface="黑体" panose="02010609060101010101" pitchFamily="2" charset="-122"/>
                <a:ea typeface="黑体" panose="02010609060101010101" pitchFamily="2" charset="-122"/>
                <a:cs typeface="黑体" panose="02010609060101010101" pitchFamily="2" charset="-122"/>
              </a:rPr>
              <a:t>例如</a:t>
            </a:r>
            <a:r>
              <a:rPr lang="en-US" altLang="zh-CN" dirty="0">
                <a:latin typeface="黑体" panose="02010609060101010101" pitchFamily="2" charset="-122"/>
                <a:ea typeface="黑体" panose="02010609060101010101" pitchFamily="2" charset="-122"/>
                <a:cs typeface="黑体" panose="02010609060101010101" pitchFamily="2" charset="-122"/>
              </a:rPr>
              <a:t>0</a:t>
            </a:r>
            <a:r>
              <a:rPr lang="zh-CN" altLang="en-US" dirty="0">
                <a:latin typeface="黑体" panose="02010609060101010101" pitchFamily="2" charset="-122"/>
                <a:ea typeface="黑体" panose="02010609060101010101" pitchFamily="2" charset="-122"/>
                <a:cs typeface="黑体" panose="02010609060101010101" pitchFamily="2" charset="-122"/>
              </a:rPr>
              <a:t>到</a:t>
            </a:r>
            <a:r>
              <a:rPr lang="en-US" altLang="zh-CN" dirty="0">
                <a:latin typeface="黑体" panose="02010609060101010101" pitchFamily="2" charset="-122"/>
                <a:ea typeface="黑体" panose="02010609060101010101" pitchFamily="2" charset="-122"/>
                <a:cs typeface="黑体" panose="02010609060101010101" pitchFamily="2" charset="-122"/>
              </a:rPr>
              <a:t>4</a:t>
            </a:r>
            <a:r>
              <a:rPr lang="zh-CN" altLang="en-US" dirty="0">
                <a:latin typeface="黑体" panose="02010609060101010101" pitchFamily="2" charset="-122"/>
                <a:ea typeface="黑体" panose="02010609060101010101" pitchFamily="2" charset="-122"/>
                <a:cs typeface="黑体" panose="02010609060101010101" pitchFamily="2" charset="-122"/>
              </a:rPr>
              <a:t>的路径是</a:t>
            </a:r>
            <a:r>
              <a:rPr lang="en-US" altLang="zh-CN" dirty="0">
                <a:latin typeface="黑体" panose="02010609060101010101" pitchFamily="2" charset="-122"/>
                <a:ea typeface="黑体" panose="02010609060101010101" pitchFamily="2" charset="-122"/>
                <a:cs typeface="黑体" panose="02010609060101010101" pitchFamily="2" charset="-122"/>
              </a:rPr>
              <a:t>0-3-2-4</a:t>
            </a:r>
            <a:r>
              <a:rPr lang="zh-CN" altLang="en-US" dirty="0">
                <a:latin typeface="黑体" panose="02010609060101010101" pitchFamily="2" charset="-122"/>
                <a:ea typeface="黑体" panose="02010609060101010101" pitchFamily="2" charset="-122"/>
                <a:cs typeface="黑体" panose="02010609060101010101" pitchFamily="2" charset="-122"/>
              </a:rPr>
              <a:t>，但是从结果不能知道</a:t>
            </a:r>
            <a:r>
              <a:rPr lang="zh-CN" altLang="en-US" dirty="0">
                <a:latin typeface="黑体" panose="02010609060101010101" pitchFamily="2" charset="-122"/>
                <a:ea typeface="黑体" panose="02010609060101010101" pitchFamily="2" charset="-122"/>
                <a:cs typeface="黑体" panose="02010609060101010101" pitchFamily="2" charset="-122"/>
              </a:rPr>
              <a:t>顺序</a:t>
            </a:r>
            <a:endParaRPr lang="zh-CN" altLang="en-US" dirty="0">
              <a:latin typeface="黑体" panose="02010609060101010101" pitchFamily="2" charset="-122"/>
              <a:ea typeface="黑体" panose="02010609060101010101" pitchFamily="2" charset="-122"/>
              <a:cs typeface="黑体" panose="02010609060101010101" pitchFamily="2" charset="-122"/>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7.6 </a:t>
            </a:r>
            <a:r>
              <a:rPr lang="zh-CN" altLang="en-US">
                <a:latin typeface="楷体" panose="02010609060101010101" charset="-122"/>
                <a:ea typeface="楷体" panose="02010609060101010101" charset="-122"/>
                <a:cs typeface="楷体" panose="02010609060101010101" charset="-122"/>
                <a:sym typeface="+mn-ea"/>
              </a:rPr>
              <a:t>最短路径</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15365" name="表格 15364"/>
          <p:cNvGraphicFramePr/>
          <p:nvPr>
            <p:custDataLst>
              <p:tags r:id="rId1"/>
            </p:custDataLst>
          </p:nvPr>
        </p:nvGraphicFramePr>
        <p:xfrm>
          <a:off x="1649095" y="2430145"/>
          <a:ext cx="8429625" cy="3643313"/>
        </p:xfrm>
        <a:graphic>
          <a:graphicData uri="http://schemas.openxmlformats.org/drawingml/2006/table">
            <a:tbl>
              <a:tblPr/>
              <a:tblGrid>
                <a:gridCol w="350838"/>
                <a:gridCol w="269875"/>
                <a:gridCol w="268287"/>
                <a:gridCol w="269875"/>
                <a:gridCol w="269875"/>
                <a:gridCol w="268288"/>
                <a:gridCol w="269875"/>
                <a:gridCol w="287020"/>
                <a:gridCol w="251142"/>
                <a:gridCol w="269875"/>
                <a:gridCol w="268288"/>
                <a:gridCol w="269875"/>
                <a:gridCol w="269875"/>
                <a:gridCol w="268287"/>
                <a:gridCol w="269875"/>
                <a:gridCol w="269875"/>
                <a:gridCol w="268288"/>
                <a:gridCol w="269875"/>
                <a:gridCol w="269875"/>
                <a:gridCol w="268287"/>
                <a:gridCol w="269875"/>
                <a:gridCol w="268288"/>
                <a:gridCol w="269875"/>
                <a:gridCol w="269875"/>
                <a:gridCol w="268287"/>
                <a:gridCol w="269875"/>
                <a:gridCol w="269875"/>
                <a:gridCol w="268288"/>
                <a:gridCol w="269875"/>
                <a:gridCol w="268287"/>
                <a:gridCol w="269875"/>
              </a:tblGrid>
              <a:tr h="414338">
                <a:tc>
                  <a:txBody>
                    <a:bodyPr/>
                    <a:p>
                      <a:pPr fontAlgn="ctr">
                        <a:buNone/>
                      </a:pPr>
                      <a:endParaRPr lang="zh-CN" altLang="en-US"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0</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1</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2</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3</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4</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2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0</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1</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2</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3</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4</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2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0</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1</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2</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3</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4</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2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0</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1</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2</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3</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4</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2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0</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1</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2</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3</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4</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r>
              <a:tr h="412750">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F[]</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r>
              <a:tr h="414337">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D[]</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5</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7</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15</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5</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7</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15</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5</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10</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7</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15</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5</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9</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7</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15</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5</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9</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7</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10</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12750">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P[]</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0</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14338">
                <a:tc>
                  <a:txBody>
                    <a:bodyPr/>
                    <a:p>
                      <a:pPr fontAlgn="ctr">
                        <a:buNone/>
                      </a:pPr>
                      <a:endParaRPr lang="zh-CN" altLang="en-US"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1</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FF0000"/>
                          </a:solidFill>
                          <a:latin typeface="宋体" panose="02010600030101010101" pitchFamily="2" charset="-122"/>
                          <a:ea typeface="宋体" panose="02010600030101010101" pitchFamily="2" charset="-122"/>
                        </a:rPr>
                        <a:t>　</a:t>
                      </a:r>
                      <a:endParaRPr lang="zh-CN" altLang="en-US" sz="1400" dirty="0">
                        <a:solidFill>
                          <a:srgbClr val="FF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algn="ctr" fontAlgn="ctr">
                        <a:buNone/>
                      </a:pPr>
                      <a:r>
                        <a:rPr lang="zh-CN" altLang="en-US" sz="1400" dirty="0">
                          <a:solidFill>
                            <a:srgbClr val="FF0000"/>
                          </a:solidFill>
                          <a:latin typeface="宋体" panose="02010600030101010101" pitchFamily="2" charset="-122"/>
                          <a:ea typeface="宋体" panose="02010600030101010101" pitchFamily="2" charset="-122"/>
                        </a:rPr>
                        <a:t>　</a:t>
                      </a:r>
                      <a:endParaRPr lang="zh-CN" altLang="en-US" sz="1400" dirty="0">
                        <a:solidFill>
                          <a:srgbClr val="FF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12750">
                <a:tc>
                  <a:txBody>
                    <a:bodyPr/>
                    <a:p>
                      <a:pPr fontAlgn="ctr">
                        <a:buNone/>
                      </a:pPr>
                      <a:endParaRPr lang="zh-CN" altLang="en-US"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2</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14337">
                <a:tc>
                  <a:txBody>
                    <a:bodyPr/>
                    <a:p>
                      <a:pPr fontAlgn="ctr">
                        <a:buNone/>
                      </a:pPr>
                      <a:endParaRPr lang="zh-CN" altLang="en-US"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3</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12750">
                <a:tc>
                  <a:txBody>
                    <a:bodyPr/>
                    <a:p>
                      <a:pPr fontAlgn="ctr">
                        <a:buNone/>
                      </a:pPr>
                      <a:endParaRPr lang="zh-CN" altLang="en-US"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4</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r>
              <a:tr h="334963">
                <a:tc>
                  <a:txBody>
                    <a:bodyPr/>
                    <a:p>
                      <a:pPr fontAlgn="ctr">
                        <a:buNone/>
                      </a:pPr>
                      <a:endParaRPr lang="zh-CN" altLang="en-US"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gridSpan="5">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初始化</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w="6350" cap="flat" cmpd="sng">
                      <a:solidFill>
                        <a:srgbClr val="000000"/>
                      </a:solidFill>
                      <a:prstDash val="solid"/>
                      <a:headEnd type="none" w="med" len="med"/>
                      <a:tailEnd type="none" w="med" len="med"/>
                    </a:lnT>
                    <a:lnB>
                      <a:noFill/>
                    </a:lnB>
                    <a:lnTlToBr>
                      <a:noFill/>
                    </a:lnTlToBr>
                    <a:lnBlToTr>
                      <a:noFill/>
                    </a:lnBlToTr>
                    <a:noFill/>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gridSpan="5">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选顶点</a:t>
                      </a:r>
                      <a:r>
                        <a:rPr lang="en-US" altLang="zh-CN" sz="1400" dirty="0">
                          <a:solidFill>
                            <a:srgbClr val="000000"/>
                          </a:solidFill>
                          <a:latin typeface="宋体" panose="02010600030101010101" pitchFamily="2" charset="-122"/>
                          <a:ea typeface="宋体" panose="02010600030101010101" pitchFamily="2" charset="-122"/>
                        </a:rPr>
                        <a:t>1</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w="6350" cap="flat" cmpd="sng">
                      <a:solidFill>
                        <a:srgbClr val="000000"/>
                      </a:solidFill>
                      <a:prstDash val="solid"/>
                      <a:headEnd type="none" w="med" len="med"/>
                      <a:tailEnd type="none" w="med" len="med"/>
                    </a:lnT>
                    <a:lnB>
                      <a:noFill/>
                    </a:lnB>
                    <a:lnTlToBr>
                      <a:noFill/>
                    </a:lnTlToBr>
                    <a:lnBlToTr>
                      <a:noFill/>
                    </a:lnBlToTr>
                    <a:noFill/>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gridSpan="5">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选顶点</a:t>
                      </a:r>
                      <a:r>
                        <a:rPr lang="en-US" altLang="zh-CN" sz="1400" dirty="0">
                          <a:solidFill>
                            <a:srgbClr val="000000"/>
                          </a:solidFill>
                          <a:latin typeface="宋体" panose="02010600030101010101" pitchFamily="2" charset="-122"/>
                          <a:ea typeface="宋体" panose="02010600030101010101" pitchFamily="2" charset="-122"/>
                        </a:rPr>
                        <a:t>3</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w="6350" cap="flat" cmpd="sng">
                      <a:solidFill>
                        <a:srgbClr val="000000"/>
                      </a:solidFill>
                      <a:prstDash val="solid"/>
                      <a:headEnd type="none" w="med" len="med"/>
                      <a:tailEnd type="none" w="med" len="med"/>
                    </a:lnT>
                    <a:lnB>
                      <a:noFill/>
                    </a:lnB>
                    <a:lnTlToBr>
                      <a:noFill/>
                    </a:lnTlToBr>
                    <a:lnBlToTr>
                      <a:noFill/>
                    </a:lnBlToTr>
                    <a:noFill/>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gridSpan="5">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选顶点</a:t>
                      </a:r>
                      <a:r>
                        <a:rPr lang="en-US" altLang="zh-CN" sz="1400" dirty="0">
                          <a:solidFill>
                            <a:srgbClr val="000000"/>
                          </a:solidFill>
                          <a:latin typeface="宋体" panose="02010600030101010101" pitchFamily="2" charset="-122"/>
                          <a:ea typeface="宋体" panose="02010600030101010101" pitchFamily="2" charset="-122"/>
                        </a:rPr>
                        <a:t>2</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w="6350" cap="flat" cmpd="sng">
                      <a:solidFill>
                        <a:srgbClr val="000000"/>
                      </a:solidFill>
                      <a:prstDash val="solid"/>
                      <a:headEnd type="none" w="med" len="med"/>
                      <a:tailEnd type="none" w="med" len="med"/>
                    </a:lnT>
                    <a:lnB>
                      <a:noFill/>
                    </a:lnB>
                    <a:lnTlToBr>
                      <a:noFill/>
                    </a:lnTlToBr>
                    <a:lnBlToTr>
                      <a:noFill/>
                    </a:lnBlToTr>
                    <a:noFill/>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gridSpan="5">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选顶点</a:t>
                      </a:r>
                      <a:r>
                        <a:rPr lang="en-US" altLang="zh-CN" sz="1400" dirty="0">
                          <a:solidFill>
                            <a:srgbClr val="000000"/>
                          </a:solidFill>
                          <a:latin typeface="宋体" panose="02010600030101010101" pitchFamily="2" charset="-122"/>
                          <a:ea typeface="宋体" panose="02010600030101010101" pitchFamily="2" charset="-122"/>
                        </a:rPr>
                        <a:t>4</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w="6350" cap="flat" cmpd="sng">
                      <a:solidFill>
                        <a:srgbClr val="000000"/>
                      </a:solidFill>
                      <a:prstDash val="solid"/>
                      <a:headEnd type="none" w="med" len="med"/>
                      <a:tailEnd type="none" w="med" len="med"/>
                    </a:lnT>
                    <a:lnB>
                      <a:noFill/>
                    </a:lnB>
                    <a:lnTlToBr>
                      <a:noFill/>
                    </a:lnTlToBr>
                    <a:lnBlToTr>
                      <a:noFill/>
                    </a:lnBlToTr>
                    <a:noFill/>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r>
            </a:tbl>
          </a:graphicData>
        </a:graphic>
      </p:graphicFrame>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上述程序</a:t>
            </a: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的改进，加入二维数组，保存求解中找到的新顶点，从而构成路径</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7.6 </a:t>
            </a:r>
            <a:r>
              <a:rPr lang="zh-CN" altLang="en-US">
                <a:latin typeface="楷体" panose="02010609060101010101" charset="-122"/>
                <a:ea typeface="楷体" panose="02010609060101010101" charset="-122"/>
                <a:cs typeface="楷体" panose="02010609060101010101" charset="-122"/>
                <a:sym typeface="+mn-ea"/>
              </a:rPr>
              <a:t>最短路径</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17413" name="表格 17412"/>
          <p:cNvGraphicFramePr/>
          <p:nvPr>
            <p:custDataLst>
              <p:tags r:id="rId1"/>
            </p:custDataLst>
          </p:nvPr>
        </p:nvGraphicFramePr>
        <p:xfrm>
          <a:off x="1738313" y="2000250"/>
          <a:ext cx="8643620" cy="3785870"/>
        </p:xfrm>
        <a:graphic>
          <a:graphicData uri="http://schemas.openxmlformats.org/drawingml/2006/table">
            <a:tbl>
              <a:tblPr/>
              <a:tblGrid>
                <a:gridCol w="360680"/>
                <a:gridCol w="276225"/>
                <a:gridCol w="276225"/>
                <a:gridCol w="276225"/>
                <a:gridCol w="276225"/>
                <a:gridCol w="276225"/>
                <a:gridCol w="274320"/>
                <a:gridCol w="276225"/>
                <a:gridCol w="276225"/>
                <a:gridCol w="276225"/>
                <a:gridCol w="276225"/>
                <a:gridCol w="276225"/>
                <a:gridCol w="276225"/>
                <a:gridCol w="276225"/>
                <a:gridCol w="276225"/>
                <a:gridCol w="275590"/>
                <a:gridCol w="276225"/>
                <a:gridCol w="276225"/>
                <a:gridCol w="276225"/>
                <a:gridCol w="276225"/>
                <a:gridCol w="276225"/>
                <a:gridCol w="276225"/>
                <a:gridCol w="276225"/>
                <a:gridCol w="274955"/>
                <a:gridCol w="276225"/>
                <a:gridCol w="276225"/>
                <a:gridCol w="276225"/>
                <a:gridCol w="276225"/>
                <a:gridCol w="276225"/>
                <a:gridCol w="276225"/>
                <a:gridCol w="276225"/>
              </a:tblGrid>
              <a:tr h="430530">
                <a:tc>
                  <a:txBody>
                    <a:bodyPr/>
                    <a:p>
                      <a:pPr fontAlgn="ctr">
                        <a:buNone/>
                      </a:pPr>
                      <a:endParaRPr lang="zh-CN" altLang="en-US"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0</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1</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2</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3</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4</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0</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1</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2</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3</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4</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0</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1</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2</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3</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4</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0</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1</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2</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3</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4</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0</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1</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2</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3</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4</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w="6350" cap="flat" cmpd="sng">
                      <a:solidFill>
                        <a:srgbClr val="000000"/>
                      </a:solidFill>
                      <a:prstDash val="solid"/>
                      <a:headEnd type="none" w="med" len="med"/>
                      <a:tailEnd type="none" w="med" len="med"/>
                    </a:lnB>
                    <a:lnTlToBr>
                      <a:noFill/>
                    </a:lnTlToBr>
                    <a:lnBlToTr>
                      <a:noFill/>
                    </a:lnBlToTr>
                    <a:noFill/>
                  </a:tcPr>
                </a:tc>
              </a:tr>
              <a:tr h="429895">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F[]</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f</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r>
              <a:tr h="428625">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D[]</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5</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7</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15</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5</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7</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15</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5</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10</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7</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15</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5</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9</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7</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15</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5</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9</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7</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10</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30530">
                <a:tc>
                  <a:txBody>
                    <a:bodyPr/>
                    <a:p>
                      <a:pPr algn="ctr" fontAlgn="ctr">
                        <a:buNone/>
                      </a:pPr>
                      <a:r>
                        <a:rPr lang="en-US" altLang="zh-CN" sz="1600" b="1" dirty="0">
                          <a:solidFill>
                            <a:srgbClr val="000000"/>
                          </a:solidFill>
                          <a:latin typeface="宋体" panose="02010600030101010101" pitchFamily="2" charset="-122"/>
                          <a:ea typeface="宋体" panose="02010600030101010101" pitchFamily="2" charset="-122"/>
                        </a:rPr>
                        <a:t>P[]</a:t>
                      </a:r>
                      <a:endParaRPr lang="en-US" altLang="zh-CN"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0</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29260">
                <a:tc>
                  <a:txBody>
                    <a:bodyPr/>
                    <a:p>
                      <a:pPr fontAlgn="ctr">
                        <a:buNone/>
                      </a:pPr>
                      <a:endParaRPr lang="zh-CN" altLang="en-US"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1</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0</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1</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0</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1</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0</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1</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0</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1</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0</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1</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30530">
                <a:tc>
                  <a:txBody>
                    <a:bodyPr/>
                    <a:p>
                      <a:pPr fontAlgn="ctr">
                        <a:buNone/>
                      </a:pPr>
                      <a:endParaRPr lang="zh-CN" altLang="en-US"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2</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0</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1</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2</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0</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3</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2</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0</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3</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2</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28625">
                <a:tc>
                  <a:txBody>
                    <a:bodyPr/>
                    <a:p>
                      <a:pPr fontAlgn="ctr">
                        <a:buNone/>
                      </a:pPr>
                      <a:endParaRPr lang="zh-CN" altLang="en-US"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3</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0</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3</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0</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3</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0</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3</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0</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3</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0</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3</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29895">
                <a:tc>
                  <a:txBody>
                    <a:bodyPr/>
                    <a:p>
                      <a:pPr fontAlgn="ctr">
                        <a:buNone/>
                      </a:pPr>
                      <a:endParaRPr lang="zh-CN" altLang="en-US"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r>
                        <a:rPr lang="en-US" altLang="zh-CN" b="1" dirty="0">
                          <a:solidFill>
                            <a:srgbClr val="000000"/>
                          </a:solidFill>
                          <a:latin typeface="宋体" panose="02010600030101010101" pitchFamily="2" charset="-122"/>
                          <a:ea typeface="宋体" panose="02010600030101010101" pitchFamily="2" charset="-122"/>
                        </a:rPr>
                        <a:t>4</a:t>
                      </a:r>
                      <a:endParaRPr lang="en-US" altLang="zh-CN"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0</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4</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0</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4</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0</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4</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0</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4</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a:noFill/>
                    </a:lnT>
                    <a:lnB>
                      <a:noFill/>
                    </a:lnB>
                    <a:lnTlToBr>
                      <a:noFill/>
                    </a:lnTlToBr>
                    <a:lnBlToTr>
                      <a:noFill/>
                    </a:lnBlToTr>
                    <a:no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0</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3</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2</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en-US" altLang="zh-CN" sz="1400" dirty="0">
                          <a:solidFill>
                            <a:srgbClr val="000000"/>
                          </a:solidFill>
                          <a:latin typeface="宋体" panose="02010600030101010101" pitchFamily="2" charset="-122"/>
                          <a:ea typeface="宋体" panose="02010600030101010101" pitchFamily="2" charset="-122"/>
                        </a:rPr>
                        <a:t>4</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C000"/>
                    </a:solidFill>
                  </a:tcPr>
                </a:tc>
                <a:tc>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　</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47980">
                <a:tc>
                  <a:txBody>
                    <a:bodyPr/>
                    <a:p>
                      <a:pPr fontAlgn="ctr">
                        <a:buNone/>
                      </a:pPr>
                      <a:endParaRPr lang="zh-CN" altLang="en-US" sz="1600" b="1"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gridSpan="5">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初始化</a:t>
                      </a: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w="6350" cap="flat" cmpd="sng">
                      <a:solidFill>
                        <a:srgbClr val="000000"/>
                      </a:solidFill>
                      <a:prstDash val="solid"/>
                      <a:headEnd type="none" w="med" len="med"/>
                      <a:tailEnd type="none" w="med" len="med"/>
                    </a:lnT>
                    <a:lnB>
                      <a:noFill/>
                    </a:lnB>
                    <a:lnTlToBr>
                      <a:noFill/>
                    </a:lnTlToBr>
                    <a:lnBlToTr>
                      <a:noFill/>
                    </a:lnBlToTr>
                    <a:noFill/>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gridSpan="5">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选顶点</a:t>
                      </a:r>
                      <a:r>
                        <a:rPr lang="en-US" altLang="zh-CN" sz="1400" dirty="0">
                          <a:solidFill>
                            <a:srgbClr val="000000"/>
                          </a:solidFill>
                          <a:latin typeface="宋体" panose="02010600030101010101" pitchFamily="2" charset="-122"/>
                          <a:ea typeface="宋体" panose="02010600030101010101" pitchFamily="2" charset="-122"/>
                        </a:rPr>
                        <a:t>1</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w="6350" cap="flat" cmpd="sng">
                      <a:solidFill>
                        <a:srgbClr val="000000"/>
                      </a:solidFill>
                      <a:prstDash val="solid"/>
                      <a:headEnd type="none" w="med" len="med"/>
                      <a:tailEnd type="none" w="med" len="med"/>
                    </a:lnT>
                    <a:lnB>
                      <a:noFill/>
                    </a:lnB>
                    <a:lnTlToBr>
                      <a:noFill/>
                    </a:lnTlToBr>
                    <a:lnBlToTr>
                      <a:noFill/>
                    </a:lnBlToTr>
                    <a:noFill/>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gridSpan="5">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选顶点</a:t>
                      </a:r>
                      <a:r>
                        <a:rPr lang="en-US" altLang="zh-CN" sz="1400" dirty="0">
                          <a:solidFill>
                            <a:srgbClr val="000000"/>
                          </a:solidFill>
                          <a:latin typeface="宋体" panose="02010600030101010101" pitchFamily="2" charset="-122"/>
                          <a:ea typeface="宋体" panose="02010600030101010101" pitchFamily="2" charset="-122"/>
                        </a:rPr>
                        <a:t>3</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w="6350" cap="flat" cmpd="sng">
                      <a:solidFill>
                        <a:srgbClr val="000000"/>
                      </a:solidFill>
                      <a:prstDash val="solid"/>
                      <a:headEnd type="none" w="med" len="med"/>
                      <a:tailEnd type="none" w="med" len="med"/>
                    </a:lnT>
                    <a:lnB>
                      <a:noFill/>
                    </a:lnB>
                    <a:lnTlToBr>
                      <a:noFill/>
                    </a:lnTlToBr>
                    <a:lnBlToTr>
                      <a:noFill/>
                    </a:lnBlToTr>
                    <a:noFill/>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gridSpan="5">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选顶点</a:t>
                      </a:r>
                      <a:r>
                        <a:rPr lang="en-US" altLang="zh-CN" sz="1400" dirty="0">
                          <a:solidFill>
                            <a:srgbClr val="000000"/>
                          </a:solidFill>
                          <a:latin typeface="宋体" panose="02010600030101010101" pitchFamily="2" charset="-122"/>
                          <a:ea typeface="宋体" panose="02010600030101010101" pitchFamily="2" charset="-122"/>
                        </a:rPr>
                        <a:t>2</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w="6350" cap="flat" cmpd="sng">
                      <a:solidFill>
                        <a:srgbClr val="000000"/>
                      </a:solidFill>
                      <a:prstDash val="solid"/>
                      <a:headEnd type="none" w="med" len="med"/>
                      <a:tailEnd type="none" w="med" len="med"/>
                    </a:lnT>
                    <a:lnB>
                      <a:noFill/>
                    </a:lnB>
                    <a:lnTlToBr>
                      <a:noFill/>
                    </a:lnTlToBr>
                    <a:lnBlToTr>
                      <a:noFill/>
                    </a:lnBlToTr>
                    <a:noFill/>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a:txBody>
                    <a:bodyPr/>
                    <a:p>
                      <a:pPr algn="ctr" fontAlgn="ctr">
                        <a:buNone/>
                      </a:pPr>
                      <a:endParaRPr lang="zh-CN" altLang="en-US"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a:noFill/>
                    </a:lnT>
                    <a:lnB>
                      <a:noFill/>
                    </a:lnB>
                    <a:lnTlToBr>
                      <a:noFill/>
                    </a:lnTlToBr>
                    <a:lnBlToTr>
                      <a:noFill/>
                    </a:lnBlToTr>
                    <a:noFill/>
                  </a:tcPr>
                </a:tc>
                <a:tc gridSpan="5">
                  <a:txBody>
                    <a:bodyPr/>
                    <a:p>
                      <a:pPr algn="ctr" fontAlgn="ctr">
                        <a:buNone/>
                      </a:pPr>
                      <a:r>
                        <a:rPr lang="zh-CN" altLang="en-US" sz="1400" dirty="0">
                          <a:solidFill>
                            <a:srgbClr val="000000"/>
                          </a:solidFill>
                          <a:latin typeface="宋体" panose="02010600030101010101" pitchFamily="2" charset="-122"/>
                          <a:ea typeface="宋体" panose="02010600030101010101" pitchFamily="2" charset="-122"/>
                        </a:rPr>
                        <a:t>选顶点</a:t>
                      </a:r>
                      <a:r>
                        <a:rPr lang="en-US" altLang="zh-CN" sz="1400" dirty="0">
                          <a:solidFill>
                            <a:srgbClr val="000000"/>
                          </a:solidFill>
                          <a:latin typeface="宋体" panose="02010600030101010101" pitchFamily="2" charset="-122"/>
                          <a:ea typeface="宋体" panose="02010600030101010101" pitchFamily="2" charset="-122"/>
                        </a:rPr>
                        <a:t>4</a:t>
                      </a:r>
                      <a:endParaRPr lang="en-US" altLang="zh-CN" sz="1400" dirty="0">
                        <a:solidFill>
                          <a:srgbClr val="000000"/>
                        </a:solidFill>
                        <a:latin typeface="宋体" panose="02010600030101010101" pitchFamily="2" charset="-122"/>
                        <a:ea typeface="宋体" panose="02010600030101010101" pitchFamily="2" charset="-122"/>
                      </a:endParaRPr>
                    </a:p>
                  </a:txBody>
                  <a:tcPr marL="6350" marR="6350" marT="6350" marB="0" anchor="ctr">
                    <a:lnL>
                      <a:noFill/>
                    </a:lnL>
                    <a:lnR>
                      <a:noFill/>
                    </a:lnR>
                    <a:lnT w="6350" cap="flat" cmpd="sng">
                      <a:solidFill>
                        <a:srgbClr val="000000"/>
                      </a:solidFill>
                      <a:prstDash val="solid"/>
                      <a:headEnd type="none" w="med" len="med"/>
                      <a:tailEnd type="none" w="med" len="med"/>
                    </a:lnT>
                    <a:lnB>
                      <a:noFill/>
                    </a:lnB>
                    <a:lnTlToBr>
                      <a:noFill/>
                    </a:lnTlToBr>
                    <a:lnBlToTr>
                      <a:noFill/>
                    </a:lnBlToTr>
                    <a:noFill/>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c hMerge="1">
                  <a:tcPr>
                    <a:lnT w="6350" cap="flat" cmpd="sng">
                      <a:solidFill>
                        <a:srgbClr val="000000"/>
                      </a:solidFill>
                      <a:prstDash val="solid"/>
                      <a:headEnd type="none" w="med" len="med"/>
                      <a:tailEnd type="none" w="med" len="med"/>
                    </a:lnT>
                  </a:tcPr>
                </a:tc>
              </a:tr>
            </a:tbl>
          </a:graphicData>
        </a:graphic>
      </p:graphicFrame>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迪杰斯特拉算法的时间复杂度为</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O(n</a:t>
            </a:r>
            <a:r>
              <a:rPr lang="en-US" altLang="zh-CN" sz="2800" baseline="30000" dirty="0">
                <a:latin typeface="黑体" panose="02010609060101010101" pitchFamily="2" charset="-122"/>
                <a:ea typeface="黑体" panose="02010609060101010101" pitchFamily="2" charset="-122"/>
                <a:cs typeface="黑体" panose="02010609060101010101" pitchFamily="2" charset="-122"/>
                <a:sym typeface="+mn-ea"/>
              </a:rPr>
              <a:t>2</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endParaRPr lang="en-US"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ea"/>
                <a:sym typeface="+mn-ea"/>
              </a:rPr>
              <a:t>人们期望从一个源点出发到特定终点的最短路径，它的时间复杂度实际上和源点到其他所有顶点最短路径是一样的，所以求两个特定点的最短路径，时间复杂度还是</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O(n</a:t>
            </a:r>
            <a:r>
              <a:rPr lang="en-US" altLang="zh-CN" sz="2800" baseline="30000" dirty="0">
                <a:latin typeface="黑体" panose="02010609060101010101" pitchFamily="2" charset="-122"/>
                <a:ea typeface="黑体" panose="02010609060101010101" pitchFamily="2" charset="-122"/>
                <a:cs typeface="黑体" panose="02010609060101010101" pitchFamily="2" charset="-122"/>
                <a:sym typeface="+mn-ea"/>
              </a:rPr>
              <a:t>2</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en-US" sz="2400" dirty="0">
              <a:latin typeface="黑体" panose="02010609060101010101" pitchFamily="2" charset="-122"/>
              <a:ea typeface="黑体" panose="02010609060101010101" pitchFamily="2" charset="-122"/>
              <a:cs typeface="+mn-ea"/>
              <a:sym typeface="+mn-ea"/>
            </a:endParaRPr>
          </a:p>
          <a:p>
            <a:pPr marL="457200" marR="0" lvl="1" indent="-457200" algn="l" defTabSz="1219200" rtl="0" eaLnBrk="1" fontAlgn="base" latinLnBrk="0" hangingPunct="1">
              <a:lnSpc>
                <a:spcPct val="100000"/>
              </a:lnSpc>
              <a:spcBef>
                <a:spcPct val="20000"/>
              </a:spcBef>
              <a:buClrTx/>
              <a:buSzTx/>
              <a:buFont typeface="Wingdings" panose="05000000000000000000" charset="0"/>
              <a:buChar char="l"/>
            </a:pP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7.6 </a:t>
            </a:r>
            <a:r>
              <a:rPr lang="zh-CN" altLang="en-US">
                <a:latin typeface="楷体" panose="02010609060101010101" charset="-122"/>
                <a:ea typeface="楷体" panose="02010609060101010101" charset="-122"/>
                <a:cs typeface="楷体" panose="02010609060101010101" charset="-122"/>
                <a:sym typeface="+mn-ea"/>
              </a:rPr>
              <a:t>最短路径</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对所有顶点执行一次</a:t>
            </a: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迪杰斯特拉算法，就可以找出图中每一对顶点的最短路径，时间复杂度是</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O(n</a:t>
            </a:r>
            <a:r>
              <a:rPr lang="en-US" altLang="zh-CN" sz="2800" baseline="30000" dirty="0">
                <a:latin typeface="黑体" panose="02010609060101010101" pitchFamily="2" charset="-122"/>
                <a:ea typeface="黑体" panose="02010609060101010101" pitchFamily="2" charset="-122"/>
                <a:cs typeface="黑体" panose="02010609060101010101" pitchFamily="2" charset="-122"/>
                <a:sym typeface="+mn-ea"/>
              </a:rPr>
              <a:t>3</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对于求每一对顶点间的最短路径，</a:t>
            </a: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还有弗洛伊德算法</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(Floyd)</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以一对顶点为源点，求两两间的最短路径</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基于带权邻接矩阵，每次操作就是更新整个矩阵的最短距离</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算法结果是求出</a:t>
            </a:r>
            <a:r>
              <a:rPr lang="zh-CN" altLang="en-US" sz="2400" b="1" dirty="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所有两两顶点间的最短路径</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en-US" altLang="zh-CN"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7.6 </a:t>
            </a:r>
            <a:r>
              <a:rPr lang="zh-CN" altLang="en-US">
                <a:latin typeface="楷体" panose="02010609060101010101" charset="-122"/>
                <a:ea typeface="楷体" panose="02010609060101010101" charset="-122"/>
                <a:cs typeface="楷体" panose="02010609060101010101" charset="-122"/>
                <a:sym typeface="+mn-ea"/>
              </a:rPr>
              <a:t>最短路径</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弗洛伊德</a:t>
            </a: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算法设计</a:t>
            </a:r>
            <a:endParaRPr lang="zh-CN" altLang="zh-CN" sz="2800" dirty="0">
              <a:latin typeface="黑体" panose="02010609060101010101" pitchFamily="2" charset="-122"/>
              <a:ea typeface="黑体" panose="02010609060101010101" pitchFamily="2" charset="-122"/>
              <a:cs typeface="黑体" panose="02010609060101010101" pitchFamily="2" charset="-122"/>
            </a:endParaRPr>
          </a:p>
          <a:p>
            <a:pPr marL="742950" lvl="1" indent="-285750" eaLnBrk="1" hangingPunct="1">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0.</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以带权邻接矩阵作为两两间最短路径的初始矩阵</a:t>
            </a:r>
            <a:endParaRPr lang="en-US" altLang="zh-CN" dirty="0">
              <a:latin typeface="黑体" panose="02010609060101010101" pitchFamily="2" charset="-122"/>
              <a:ea typeface="黑体" panose="02010609060101010101" pitchFamily="2" charset="-122"/>
              <a:cs typeface="黑体" panose="02010609060101010101" pitchFamily="2" charset="-122"/>
            </a:endParaRPr>
          </a:p>
          <a:p>
            <a:pPr marL="742950" lvl="1" indent="-285750" eaLnBrk="1" hangingPunct="1">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1.</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让所有边上加入中间顶点</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1</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，取</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A[i][j]</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与</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A[i][1]+A[1][j]</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中较小的值作</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A[i][j]</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的值，完成后得到</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A(1)</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endParaRPr lang="en-US" altLang="zh-CN" dirty="0">
              <a:latin typeface="黑体" panose="02010609060101010101" pitchFamily="2" charset="-122"/>
              <a:ea typeface="黑体" panose="02010609060101010101" pitchFamily="2" charset="-122"/>
              <a:cs typeface="黑体" panose="02010609060101010101" pitchFamily="2" charset="-122"/>
            </a:endParaRPr>
          </a:p>
          <a:p>
            <a:pPr marL="742950" lvl="1" indent="-285750" eaLnBrk="1" hangingPunct="1">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让所有边上加入中间顶点</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2</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，取</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A[i][j]</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与</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A[i][2]+A[2][j]</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中较小的值，完成后得到</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A(2)…</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，如此循环</a:t>
            </a:r>
            <a:endParaRPr lang="en-US" altLang="zh-CN" dirty="0">
              <a:latin typeface="黑体" panose="02010609060101010101" pitchFamily="2" charset="-122"/>
              <a:ea typeface="黑体" panose="02010609060101010101" pitchFamily="2" charset="-122"/>
              <a:cs typeface="黑体" panose="02010609060101010101" pitchFamily="2" charset="-122"/>
            </a:endParaRPr>
          </a:p>
          <a:p>
            <a:pPr marL="742950" lvl="1" indent="-285750" eaLnBrk="1" hangingPunct="1">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3.</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当第</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步完成后，得到</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A(n)</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A(n)</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中的</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A[i][j]</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表示顶点</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i</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到顶点</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j</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的最短距离。 </a:t>
            </a:r>
            <a:endParaRPr lang="en-US" altLang="zh-CN"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en-US" altLang="zh-CN"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7.6 </a:t>
            </a:r>
            <a:r>
              <a:rPr lang="zh-CN" altLang="en-US">
                <a:latin typeface="楷体" panose="02010609060101010101" charset="-122"/>
                <a:ea typeface="楷体" panose="02010609060101010101" charset="-122"/>
                <a:cs typeface="楷体" panose="02010609060101010101" charset="-122"/>
                <a:sym typeface="+mn-ea"/>
              </a:rPr>
              <a:t>最短路径</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弗洛伊德算法示例</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rPr>
              <a:t>初始化：从邻接矩阵得出所有两点的路径</a:t>
            </a:r>
            <a:r>
              <a:rPr lang="en-US" altLang="zh-CN" sz="2400" dirty="0">
                <a:latin typeface="黑体" panose="02010609060101010101" pitchFamily="2" charset="-122"/>
                <a:ea typeface="黑体" panose="02010609060101010101" pitchFamily="2" charset="-122"/>
                <a:cs typeface="黑体" panose="02010609060101010101" pitchFamily="2" charset="-122"/>
              </a:rPr>
              <a:t>(</a:t>
            </a:r>
            <a:r>
              <a:rPr lang="zh-CN" altLang="en-US" sz="2400" dirty="0">
                <a:latin typeface="黑体" panose="02010609060101010101" pitchFamily="2" charset="-122"/>
                <a:ea typeface="黑体" panose="02010609060101010101" pitchFamily="2" charset="-122"/>
                <a:cs typeface="黑体" panose="02010609060101010101" pitchFamily="2" charset="-122"/>
              </a:rPr>
              <a:t>只看一步</a:t>
            </a:r>
            <a:r>
              <a:rPr lang="en-US" altLang="zh-CN" sz="2400" dirty="0">
                <a:latin typeface="黑体" panose="02010609060101010101" pitchFamily="2" charset="-122"/>
                <a:ea typeface="黑体" panose="02010609060101010101" pitchFamily="2" charset="-122"/>
                <a:cs typeface="黑体" panose="02010609060101010101" pitchFamily="2" charset="-122"/>
              </a:rPr>
              <a:t>)</a:t>
            </a:r>
            <a:r>
              <a:rPr lang="zh-CN" altLang="en-US" sz="2400" dirty="0">
                <a:latin typeface="黑体" panose="02010609060101010101" pitchFamily="2" charset="-122"/>
                <a:ea typeface="黑体" panose="02010609060101010101" pitchFamily="2" charset="-122"/>
                <a:cs typeface="黑体" panose="02010609060101010101" pitchFamily="2" charset="-122"/>
              </a:rPr>
              <a:t>，无弧</a:t>
            </a:r>
            <a:r>
              <a:rPr lang="zh-CN" altLang="en-US" sz="2400" dirty="0">
                <a:latin typeface="黑体" panose="02010609060101010101" pitchFamily="2" charset="-122"/>
                <a:ea typeface="黑体" panose="02010609060101010101" pitchFamily="2" charset="-122"/>
                <a:cs typeface="黑体" panose="02010609060101010101" pitchFamily="2" charset="-122"/>
              </a:rPr>
              <a:t>邻接则无穷大</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en-US" altLang="zh-CN"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7.6 </a:t>
            </a:r>
            <a:r>
              <a:rPr lang="zh-CN" altLang="en-US">
                <a:latin typeface="楷体" panose="02010609060101010101" charset="-122"/>
                <a:ea typeface="楷体" panose="02010609060101010101" charset="-122"/>
                <a:cs typeface="楷体" panose="02010609060101010101" charset="-122"/>
                <a:sym typeface="+mn-ea"/>
              </a:rPr>
              <a:t>最短路径</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145412" name="Picture 2"/>
          <p:cNvPicPr>
            <a:picLocks noChangeAspect="1"/>
          </p:cNvPicPr>
          <p:nvPr>
            <p:custDataLst>
              <p:tags r:id="rId1"/>
            </p:custDataLst>
          </p:nvPr>
        </p:nvPicPr>
        <p:blipFill>
          <a:blip r:embed="rId2"/>
          <a:stretch>
            <a:fillRect/>
          </a:stretch>
        </p:blipFill>
        <p:spPr>
          <a:xfrm>
            <a:off x="2567305" y="2060575"/>
            <a:ext cx="6550660" cy="4492625"/>
          </a:xfrm>
          <a:prstGeom prst="rect">
            <a:avLst/>
          </a:prstGeom>
          <a:noFill/>
          <a:ln w="9525">
            <a:noFill/>
          </a:ln>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弗洛伊德算法示例</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rPr>
              <a:t>所有路径都加入顶点</a:t>
            </a:r>
            <a:r>
              <a:rPr lang="en-US" altLang="zh-CN" sz="2400" dirty="0">
                <a:latin typeface="黑体" panose="02010609060101010101" pitchFamily="2" charset="-122"/>
                <a:ea typeface="黑体" panose="02010609060101010101" pitchFamily="2" charset="-122"/>
                <a:cs typeface="黑体" panose="02010609060101010101" pitchFamily="2" charset="-122"/>
              </a:rPr>
              <a:t>A</a:t>
            </a:r>
            <a:r>
              <a:rPr lang="zh-CN" altLang="en-US" sz="2400" dirty="0">
                <a:latin typeface="黑体" panose="02010609060101010101" pitchFamily="2" charset="-122"/>
                <a:ea typeface="黑体" panose="02010609060101010101" pitchFamily="2" charset="-122"/>
                <a:cs typeface="黑体" panose="02010609060101010101" pitchFamily="2" charset="-122"/>
              </a:rPr>
              <a:t>，计算新的路径是否更短，更新路径</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en-US" altLang="zh-CN"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7.6 </a:t>
            </a:r>
            <a:r>
              <a:rPr lang="zh-CN" altLang="en-US">
                <a:latin typeface="楷体" panose="02010609060101010101" charset="-122"/>
                <a:ea typeface="楷体" panose="02010609060101010101" charset="-122"/>
                <a:cs typeface="楷体" panose="02010609060101010101" charset="-122"/>
                <a:sym typeface="+mn-ea"/>
              </a:rPr>
              <a:t>最短路径</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146436" name="Picture 2"/>
          <p:cNvPicPr>
            <a:picLocks noChangeAspect="1"/>
          </p:cNvPicPr>
          <p:nvPr/>
        </p:nvPicPr>
        <p:blipFill>
          <a:blip r:embed="rId1"/>
          <a:stretch>
            <a:fillRect/>
          </a:stretch>
        </p:blipFill>
        <p:spPr>
          <a:xfrm>
            <a:off x="1703705" y="1988820"/>
            <a:ext cx="7591425" cy="4231005"/>
          </a:xfrm>
          <a:prstGeom prst="rect">
            <a:avLst/>
          </a:prstGeom>
          <a:noFill/>
          <a:ln w="9525">
            <a:noFill/>
          </a:ln>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弗洛伊德算法示例</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rPr>
              <a:t>所有路径都加入顶点</a:t>
            </a:r>
            <a:r>
              <a:rPr lang="en-US" altLang="zh-CN" sz="2400" dirty="0">
                <a:latin typeface="黑体" panose="02010609060101010101" pitchFamily="2" charset="-122"/>
                <a:ea typeface="黑体" panose="02010609060101010101" pitchFamily="2" charset="-122"/>
                <a:cs typeface="黑体" panose="02010609060101010101" pitchFamily="2" charset="-122"/>
              </a:rPr>
              <a:t>B</a:t>
            </a:r>
            <a:r>
              <a:rPr lang="zh-CN" altLang="en-US" sz="2400" dirty="0">
                <a:latin typeface="黑体" panose="02010609060101010101" pitchFamily="2" charset="-122"/>
                <a:ea typeface="黑体" panose="02010609060101010101" pitchFamily="2" charset="-122"/>
                <a:cs typeface="黑体" panose="02010609060101010101" pitchFamily="2" charset="-122"/>
              </a:rPr>
              <a:t>，计算新的路径是否更短，更新路径</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en-US" altLang="zh-CN"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7.6 </a:t>
            </a:r>
            <a:r>
              <a:rPr lang="zh-CN" altLang="en-US">
                <a:latin typeface="楷体" panose="02010609060101010101" charset="-122"/>
                <a:ea typeface="楷体" panose="02010609060101010101" charset="-122"/>
                <a:cs typeface="楷体" panose="02010609060101010101" charset="-122"/>
                <a:sym typeface="+mn-ea"/>
              </a:rPr>
              <a:t>最短路径</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147460" name="Picture 2"/>
          <p:cNvPicPr>
            <a:picLocks noChangeAspect="1"/>
          </p:cNvPicPr>
          <p:nvPr/>
        </p:nvPicPr>
        <p:blipFill>
          <a:blip r:embed="rId1"/>
          <a:stretch>
            <a:fillRect/>
          </a:stretch>
        </p:blipFill>
        <p:spPr>
          <a:xfrm>
            <a:off x="1847215" y="1916430"/>
            <a:ext cx="7615555" cy="4328160"/>
          </a:xfrm>
          <a:prstGeom prst="rect">
            <a:avLst/>
          </a:prstGeom>
          <a:noFill/>
          <a:ln w="9525">
            <a:noFill/>
          </a:ln>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弗洛伊德算法示例</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rPr>
              <a:t>所有路径都加入顶点</a:t>
            </a:r>
            <a:r>
              <a:rPr lang="en-US" altLang="zh-CN" sz="2400" dirty="0">
                <a:latin typeface="黑体" panose="02010609060101010101" pitchFamily="2" charset="-122"/>
                <a:ea typeface="黑体" panose="02010609060101010101" pitchFamily="2" charset="-122"/>
                <a:cs typeface="黑体" panose="02010609060101010101" pitchFamily="2" charset="-122"/>
              </a:rPr>
              <a:t>C</a:t>
            </a:r>
            <a:r>
              <a:rPr lang="zh-CN" altLang="en-US" sz="2400" dirty="0">
                <a:latin typeface="黑体" panose="02010609060101010101" pitchFamily="2" charset="-122"/>
                <a:ea typeface="黑体" panose="02010609060101010101" pitchFamily="2" charset="-122"/>
                <a:cs typeface="黑体" panose="02010609060101010101" pitchFamily="2" charset="-122"/>
              </a:rPr>
              <a:t>，计算新的路径是否更短，更新路径</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en-US" altLang="zh-CN"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7.6 </a:t>
            </a:r>
            <a:r>
              <a:rPr lang="zh-CN" altLang="en-US">
                <a:latin typeface="楷体" panose="02010609060101010101" charset="-122"/>
                <a:ea typeface="楷体" panose="02010609060101010101" charset="-122"/>
                <a:cs typeface="楷体" panose="02010609060101010101" charset="-122"/>
                <a:sym typeface="+mn-ea"/>
              </a:rPr>
              <a:t>最短路径</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148484" name="Picture 2"/>
          <p:cNvPicPr>
            <a:picLocks noChangeAspect="1"/>
          </p:cNvPicPr>
          <p:nvPr/>
        </p:nvPicPr>
        <p:blipFill>
          <a:blip r:embed="rId1"/>
          <a:stretch>
            <a:fillRect/>
          </a:stretch>
        </p:blipFill>
        <p:spPr>
          <a:xfrm>
            <a:off x="1703705" y="2060575"/>
            <a:ext cx="7569835" cy="4204335"/>
          </a:xfrm>
          <a:prstGeom prst="rect">
            <a:avLst/>
          </a:prstGeom>
          <a:noFill/>
          <a:ln w="9525">
            <a:noFill/>
          </a:ln>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弗洛伊德算法示例</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黑体" panose="02010609060101010101" pitchFamily="2" charset="-122"/>
              </a:rPr>
              <a:t>所有路径都加入顶点</a:t>
            </a:r>
            <a:r>
              <a:rPr lang="en-US" altLang="zh-CN" sz="2400" dirty="0">
                <a:latin typeface="黑体" panose="02010609060101010101" pitchFamily="2" charset="-122"/>
                <a:ea typeface="黑体" panose="02010609060101010101" pitchFamily="2" charset="-122"/>
                <a:cs typeface="黑体" panose="02010609060101010101" pitchFamily="2" charset="-122"/>
              </a:rPr>
              <a:t>D</a:t>
            </a:r>
            <a:r>
              <a:rPr lang="zh-CN" altLang="en-US" sz="2400" dirty="0">
                <a:latin typeface="黑体" panose="02010609060101010101" pitchFamily="2" charset="-122"/>
                <a:ea typeface="黑体" panose="02010609060101010101" pitchFamily="2" charset="-122"/>
                <a:cs typeface="黑体" panose="02010609060101010101" pitchFamily="2" charset="-122"/>
              </a:rPr>
              <a:t>，计算没有更短路径无更新，得到最终</a:t>
            </a:r>
            <a:r>
              <a:rPr lang="zh-CN" altLang="en-US" sz="2400" dirty="0">
                <a:latin typeface="黑体" panose="02010609060101010101" pitchFamily="2" charset="-122"/>
                <a:ea typeface="黑体" panose="02010609060101010101" pitchFamily="2" charset="-122"/>
                <a:cs typeface="黑体" panose="02010609060101010101" pitchFamily="2" charset="-122"/>
              </a:rPr>
              <a:t>结果</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R="0" lvl="1" algn="l" defTabSz="1219200" rtl="0" eaLnBrk="1" fontAlgn="base" latinLnBrk="0" hangingPunct="1">
              <a:lnSpc>
                <a:spcPct val="100000"/>
              </a:lnSpc>
              <a:spcBef>
                <a:spcPct val="20000"/>
              </a:spcBef>
              <a:buClrTx/>
              <a:buSzTx/>
              <a:buChar char="•"/>
            </a:pPr>
            <a:endParaRPr lang="en-US" altLang="zh-CN"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7.6 </a:t>
            </a:r>
            <a:r>
              <a:rPr lang="zh-CN" altLang="en-US">
                <a:latin typeface="楷体" panose="02010609060101010101" charset="-122"/>
                <a:ea typeface="楷体" panose="02010609060101010101" charset="-122"/>
                <a:cs typeface="楷体" panose="02010609060101010101" charset="-122"/>
                <a:sym typeface="+mn-ea"/>
              </a:rPr>
              <a:t>最短路径</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5" name="对象 4"/>
          <p:cNvGraphicFramePr/>
          <p:nvPr/>
        </p:nvGraphicFramePr>
        <p:xfrm>
          <a:off x="3359785" y="1988820"/>
          <a:ext cx="3956050" cy="4175125"/>
        </p:xfrm>
        <a:graphic>
          <a:graphicData uri="http://schemas.openxmlformats.org/presentationml/2006/ole">
            <mc:AlternateContent xmlns:mc="http://schemas.openxmlformats.org/markup-compatibility/2006">
              <mc:Choice xmlns:v="urn:schemas-microsoft-com:vml" Requires="v">
                <p:oleObj spid="_x0000_s6" name="" r:id="rId1" imgW="3952875" imgH="4171950" progId="Paint.Picture">
                  <p:embed/>
                </p:oleObj>
              </mc:Choice>
              <mc:Fallback>
                <p:oleObj name="" r:id="rId1" imgW="3952875" imgH="4171950" progId="Paint.Picture">
                  <p:embed/>
                  <p:pic>
                    <p:nvPicPr>
                      <p:cNvPr id="0" name="图片 5"/>
                      <p:cNvPicPr/>
                      <p:nvPr/>
                    </p:nvPicPr>
                    <p:blipFill>
                      <a:blip r:embed="rId2"/>
                      <a:stretch>
                        <a:fillRect/>
                      </a:stretch>
                    </p:blipFill>
                    <p:spPr>
                      <a:xfrm>
                        <a:off x="3359785" y="1988820"/>
                        <a:ext cx="3956050" cy="4175125"/>
                      </a:xfrm>
                      <a:prstGeom prst="rect">
                        <a:avLst/>
                      </a:prstGeom>
                    </p:spPr>
                  </p:pic>
                </p:oleObj>
              </mc:Fallback>
            </mc:AlternateContent>
          </a:graphicData>
        </a:graphic>
      </p:graphicFrame>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弗洛伊德算法</a:t>
            </a:r>
            <a:r>
              <a:rPr lang="zh-CN" altLang="zh-CN" sz="2800" dirty="0">
                <a:latin typeface="黑体" panose="02010609060101010101" pitchFamily="2" charset="-122"/>
                <a:ea typeface="黑体" panose="02010609060101010101" pitchFamily="2" charset="-122"/>
                <a:cs typeface="黑体" panose="02010609060101010101" pitchFamily="2" charset="-122"/>
                <a:sym typeface="+mn-ea"/>
              </a:rPr>
              <a:t>实现</a:t>
            </a:r>
            <a:endParaRPr lang="zh-CN" altLang="zh-CN" sz="2800" dirty="0">
              <a:latin typeface="黑体" panose="02010609060101010101" pitchFamily="2" charset="-122"/>
              <a:ea typeface="黑体" panose="02010609060101010101" pitchFamily="2" charset="-122"/>
              <a:cs typeface="黑体" panose="02010609060101010101" pitchFamily="2" charset="-122"/>
              <a:sym typeface="+mn-ea"/>
            </a:endParaRPr>
          </a:p>
          <a:p>
            <a:pPr marR="0" lvl="1" algn="l" defTabSz="1219200" rtl="0" eaLnBrk="1" fontAlgn="base" latinLnBrk="0" hangingPunct="1">
              <a:lnSpc>
                <a:spcPct val="100000"/>
              </a:lnSpc>
              <a:spcBef>
                <a:spcPct val="20000"/>
              </a:spcBef>
              <a:buClrTx/>
              <a:buSzTx/>
              <a:buChar char="•"/>
            </a:pPr>
            <a:endParaRPr lang="en-US" altLang="zh-CN"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7.6 </a:t>
            </a:r>
            <a:r>
              <a:rPr lang="zh-CN" altLang="en-US">
                <a:latin typeface="楷体" panose="02010609060101010101" charset="-122"/>
                <a:ea typeface="楷体" panose="02010609060101010101" charset="-122"/>
                <a:cs typeface="楷体" panose="02010609060101010101" charset="-122"/>
                <a:sym typeface="+mn-ea"/>
              </a:rPr>
              <a:t>最短路径</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7" name="图片 6"/>
          <p:cNvPicPr>
            <a:picLocks noChangeAspect="1"/>
          </p:cNvPicPr>
          <p:nvPr/>
        </p:nvPicPr>
        <p:blipFill>
          <a:blip r:embed="rId1"/>
          <a:stretch>
            <a:fillRect/>
          </a:stretch>
        </p:blipFill>
        <p:spPr>
          <a:xfrm>
            <a:off x="1559560" y="1484630"/>
            <a:ext cx="7394575" cy="5256530"/>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algn="l">
              <a:buClrTx/>
              <a:buSzTx/>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已知带权有向图如下，请求出顶点0到其他顶点的最短路径和长度，要求使用迪杰斯特拉算法写出求解过程</a:t>
            </a:r>
            <a:endParaRPr lang="zh-CN" altLang="en-US" dirty="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a:xfrm>
            <a:off x="752475" y="151130"/>
            <a:ext cx="10972800" cy="744220"/>
          </a:xfrm>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pic>
        <p:nvPicPr>
          <p:cNvPr id="151556" name="图片 1"/>
          <p:cNvPicPr>
            <a:picLocks noChangeAspect="1"/>
          </p:cNvPicPr>
          <p:nvPr/>
        </p:nvPicPr>
        <p:blipFill>
          <a:blip r:embed="rId1"/>
          <a:stretch>
            <a:fillRect/>
          </a:stretch>
        </p:blipFill>
        <p:spPr>
          <a:xfrm>
            <a:off x="6383655" y="2636520"/>
            <a:ext cx="3712210" cy="2716530"/>
          </a:xfrm>
          <a:prstGeom prst="rect">
            <a:avLst/>
          </a:prstGeom>
          <a:noFill/>
          <a:ln w="9525">
            <a:noFill/>
          </a:ln>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
        <p:nvSpPr>
          <p:cNvPr id="5" name="文本框 4"/>
          <p:cNvSpPr txBox="1"/>
          <p:nvPr/>
        </p:nvSpPr>
        <p:spPr>
          <a:xfrm>
            <a:off x="407035" y="1052830"/>
            <a:ext cx="11266805" cy="5114290"/>
          </a:xfrm>
          <a:prstGeom prst="rect">
            <a:avLst/>
          </a:prstGeom>
        </p:spPr>
        <p:txBody>
          <a:bodyPr vert="horz" lIns="91440" tIns="45720" rIns="91440" bIns="45720" rtlCol="0">
            <a:noAutofit/>
          </a:bodyPr>
          <a:p>
            <a:pPr marL="428625" lvl="0" indent="-428625" algn="l" eaLnBrk="1"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图的数据结构：G＝(V, E) ，V是顶点，E是边或弧</a:t>
            </a:r>
            <a:endParaRPr lang="zh-CN" altLang="en-US" sz="2400">
              <a:latin typeface="黑体" panose="02010609060101010101" pitchFamily="2" charset="-122"/>
              <a:ea typeface="黑体" panose="02010609060101010101" pitchFamily="2" charset="-122"/>
            </a:endParaRPr>
          </a:p>
          <a:p>
            <a:pPr marL="885825" lvl="2" indent="-428625" algn="l" eaLnBrk="1"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无向图的边(x,y)，有向图的弧&lt;x,y&gt;，带权值的图称为网</a:t>
            </a:r>
            <a:endParaRPr lang="zh-CN" altLang="en-US" sz="2400">
              <a:latin typeface="黑体" panose="02010609060101010101" pitchFamily="2" charset="-122"/>
              <a:ea typeface="黑体" panose="02010609060101010101" pitchFamily="2" charset="-122"/>
            </a:endParaRPr>
          </a:p>
          <a:p>
            <a:pPr marL="428625" lvl="0" indent="-428625" algn="l" eaLnBrk="1"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图的结构术语：</a:t>
            </a:r>
            <a:endParaRPr lang="zh-CN" altLang="en-US" sz="2400">
              <a:latin typeface="黑体" panose="02010609060101010101" pitchFamily="2" charset="-122"/>
              <a:ea typeface="黑体" panose="02010609060101010101" pitchFamily="2" charset="-122"/>
            </a:endParaRPr>
          </a:p>
          <a:p>
            <a:pPr marL="885825" lvl="2" indent="-428625" algn="l" eaLnBrk="1"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无向完全图、有向完全图</a:t>
            </a:r>
            <a:endParaRPr lang="zh-CN" altLang="en-US" sz="2400">
              <a:latin typeface="黑体" panose="02010609060101010101" pitchFamily="2" charset="-122"/>
              <a:ea typeface="黑体" panose="02010609060101010101" pitchFamily="2" charset="-122"/>
              <a:sym typeface="+mn-ea"/>
            </a:endParaRPr>
          </a:p>
          <a:p>
            <a:pPr marL="885825" lvl="2" indent="-428625" algn="l" eaLnBrk="1"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邻接、度、入度、出度</a:t>
            </a:r>
            <a:endParaRPr lang="zh-CN" altLang="en-US" sz="2400">
              <a:latin typeface="黑体" panose="02010609060101010101" pitchFamily="2" charset="-122"/>
              <a:ea typeface="黑体" panose="02010609060101010101" pitchFamily="2" charset="-122"/>
            </a:endParaRPr>
          </a:p>
          <a:p>
            <a:pPr marL="885825" lvl="2" indent="-428625" algn="l" eaLnBrk="1"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路径、回路（环）、简单路径</a:t>
            </a:r>
            <a:endParaRPr lang="zh-CN" altLang="en-US" sz="2400">
              <a:latin typeface="黑体" panose="02010609060101010101" pitchFamily="2" charset="-122"/>
              <a:ea typeface="黑体" panose="02010609060101010101" pitchFamily="2" charset="-122"/>
            </a:endParaRPr>
          </a:p>
          <a:p>
            <a:pPr marL="428625" lvl="0" indent="-428625" algn="l" eaLnBrk="1"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图的连通术语：</a:t>
            </a:r>
            <a:endParaRPr lang="zh-CN" altLang="en-US" sz="2400">
              <a:latin typeface="黑体" panose="02010609060101010101" pitchFamily="2" charset="-122"/>
              <a:ea typeface="黑体" panose="02010609060101010101" pitchFamily="2" charset="-122"/>
            </a:endParaRPr>
          </a:p>
          <a:p>
            <a:pPr marL="885825" lvl="2" indent="-428625" algn="l" eaLnBrk="1"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无向图：点的连通，连通分量、连通图</a:t>
            </a:r>
            <a:endParaRPr lang="zh-CN" altLang="en-US" sz="2400">
              <a:latin typeface="黑体" panose="02010609060101010101" pitchFamily="2" charset="-122"/>
              <a:ea typeface="黑体" panose="02010609060101010101" pitchFamily="2" charset="-122"/>
              <a:sym typeface="+mn-ea"/>
            </a:endParaRPr>
          </a:p>
          <a:p>
            <a:pPr marL="885825" lvl="2" indent="-428625" algn="l" eaLnBrk="1"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有向图：点的强连通，强连通分量、强连通图</a:t>
            </a:r>
            <a:endParaRPr lang="zh-CN" altLang="en-US" sz="2400">
              <a:latin typeface="黑体" panose="02010609060101010101" pitchFamily="2" charset="-122"/>
              <a:ea typeface="黑体" panose="02010609060101010101" pitchFamily="2" charset="-122"/>
              <a:sym typeface="+mn-ea"/>
            </a:endParaRPr>
          </a:p>
          <a:p>
            <a:pPr marL="885825" lvl="2" indent="-428625" algn="l" eaLnBrk="1"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生成树，往往用于无向图</a:t>
            </a:r>
            <a:endParaRPr lang="zh-CN" altLang="en-US" sz="2400">
              <a:latin typeface="黑体" panose="02010609060101010101" pitchFamily="2" charset="-122"/>
              <a:ea typeface="黑体" panose="02010609060101010101" pitchFamily="2" charset="-122"/>
              <a:sym typeface="+mn-ea"/>
            </a:endParaRPr>
          </a:p>
          <a:p>
            <a:pPr marL="885825" lvl="2" indent="-428625" algn="l" eaLnBrk="1"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生成森林，往往用于有向图</a:t>
            </a:r>
            <a:endParaRPr lang="zh-CN" altLang="en-US" sz="2400">
              <a:latin typeface="黑体" panose="02010609060101010101" pitchFamily="2" charset="-122"/>
              <a:ea typeface="黑体" panose="02010609060101010101" pitchFamily="2" charset="-122"/>
              <a:sym typeface="+mn-ea"/>
            </a:endParaRPr>
          </a:p>
          <a:p>
            <a:pPr marL="914400" lvl="2" indent="-457200" algn="l">
              <a:buClrTx/>
              <a:buSzTx/>
            </a:pPr>
            <a:endParaRPr lang="zh-CN" altLang="en-US" sz="2400" dirty="0">
              <a:latin typeface="黑体" panose="02010609060101010101" pitchFamily="2" charset="-122"/>
              <a:ea typeface="黑体" panose="02010609060101010101" pitchFamily="2" charset="-122"/>
              <a:cs typeface="黑体" panose="02010609060101010101" pitchFamily="2" charset="-122"/>
              <a:sym typeface="+mn-ea"/>
            </a:endParaRPr>
          </a:p>
          <a:p>
            <a:pPr marL="428625" indent="-428625" algn="l" eaLnBrk="1" hangingPunct="1">
              <a:lnSpc>
                <a:spcPct val="90000"/>
              </a:lnSpc>
              <a:spcBef>
                <a:spcPts val="1000"/>
              </a:spcBef>
              <a:buClr>
                <a:schemeClr val="accent2"/>
              </a:buClr>
              <a:buSzTx/>
              <a:buFont typeface="Wingdings" panose="05000000000000000000" charset="0"/>
              <a:buChar char="l"/>
            </a:pP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
        <p:nvSpPr>
          <p:cNvPr id="5" name="文本框 4"/>
          <p:cNvSpPr txBox="1"/>
          <p:nvPr/>
        </p:nvSpPr>
        <p:spPr>
          <a:xfrm>
            <a:off x="407035" y="1052830"/>
            <a:ext cx="11266805" cy="5114290"/>
          </a:xfrm>
          <a:prstGeom prst="rect">
            <a:avLst/>
          </a:prstGeom>
        </p:spPr>
        <p:txBody>
          <a:bodyPr vert="horz" lIns="91440" tIns="45720" rIns="91440" bIns="45720" rtlCol="0">
            <a:noAutofit/>
          </a:bodyPr>
          <a:p>
            <a:pPr marL="428625" lvl="0" indent="-428625" algn="l" eaLnBrk="1"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图的存储结构</a:t>
            </a:r>
            <a:endParaRPr lang="zh-CN" altLang="en-US" sz="2400">
              <a:latin typeface="黑体" panose="02010609060101010101" pitchFamily="2" charset="-122"/>
              <a:ea typeface="黑体" panose="02010609060101010101" pitchFamily="2" charset="-122"/>
            </a:endParaRPr>
          </a:p>
          <a:p>
            <a:pPr marL="885825" lvl="2" indent="-428625" algn="l" eaLnBrk="1"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邻接矩阵，结构与性质</a:t>
            </a:r>
            <a:endParaRPr lang="zh-CN" altLang="en-US" sz="2400">
              <a:latin typeface="黑体" panose="02010609060101010101" pitchFamily="2" charset="-122"/>
              <a:ea typeface="黑体" panose="02010609060101010101" pitchFamily="2" charset="-122"/>
              <a:sym typeface="+mn-ea"/>
            </a:endParaRPr>
          </a:p>
          <a:p>
            <a:pPr marL="885825" lvl="2" indent="-428625" algn="l" eaLnBrk="1"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邻接表和逆邻接表，结构与性质</a:t>
            </a:r>
            <a:endParaRPr lang="zh-CN" altLang="en-US" sz="2400">
              <a:latin typeface="黑体" panose="02010609060101010101" pitchFamily="2" charset="-122"/>
              <a:ea typeface="黑体" panose="02010609060101010101" pitchFamily="2" charset="-122"/>
            </a:endParaRPr>
          </a:p>
          <a:p>
            <a:pPr marL="428625" lvl="0" indent="-428625" algn="l" eaLnBrk="1"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图的遍历：深度优先搜索DFS、广度优先搜索BFS</a:t>
            </a:r>
            <a:endParaRPr lang="zh-CN" altLang="en-US" sz="2400">
              <a:latin typeface="黑体" panose="02010609060101010101" pitchFamily="2" charset="-122"/>
              <a:ea typeface="黑体" panose="02010609060101010101" pitchFamily="2" charset="-122"/>
            </a:endParaRPr>
          </a:p>
          <a:p>
            <a:pPr marL="428625" lvl="0" indent="-428625" algn="l" eaLnBrk="1"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图</a:t>
            </a:r>
            <a:r>
              <a:rPr lang="zh-CN" altLang="en-US" sz="2400">
                <a:latin typeface="黑体" panose="02010609060101010101" pitchFamily="2" charset="-122"/>
                <a:ea typeface="黑体" panose="02010609060101010101" pitchFamily="2" charset="-122"/>
                <a:sym typeface="+mn-ea"/>
              </a:rPr>
              <a:t>的生成树\生成森林：连通分量的极小连通子图</a:t>
            </a:r>
            <a:endParaRPr lang="zh-CN" altLang="en-US" sz="2400">
              <a:latin typeface="黑体" panose="02010609060101010101" pitchFamily="2" charset="-122"/>
              <a:ea typeface="黑体" panose="02010609060101010101" pitchFamily="2" charset="-122"/>
              <a:sym typeface="+mn-ea"/>
            </a:endParaRPr>
          </a:p>
          <a:p>
            <a:pPr marL="885825" lvl="2" indent="-428625" algn="l" eaLnBrk="1"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DFS生成树和BFS生成树</a:t>
            </a:r>
            <a:endParaRPr lang="zh-CN" altLang="en-US" sz="2400">
              <a:latin typeface="黑体" panose="02010609060101010101" pitchFamily="2" charset="-122"/>
              <a:ea typeface="黑体" panose="02010609060101010101" pitchFamily="2" charset="-122"/>
              <a:sym typeface="+mn-ea"/>
            </a:endParaRPr>
          </a:p>
          <a:p>
            <a:pPr marL="428625" lvl="0" indent="-428625" algn="l" eaLnBrk="1"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最小生成树：</a:t>
            </a:r>
            <a:endParaRPr lang="zh-CN" altLang="en-US" sz="2400">
              <a:latin typeface="黑体" panose="02010609060101010101" pitchFamily="2" charset="-122"/>
              <a:ea typeface="黑体" panose="02010609060101010101" pitchFamily="2" charset="-122"/>
            </a:endParaRPr>
          </a:p>
          <a:p>
            <a:pPr marL="885825" lvl="2" indent="-428625" algn="l" eaLnBrk="1"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普里姆(Prim)算法，时间复杂度O(n2)，与边无关，适合边稠密</a:t>
            </a:r>
            <a:endParaRPr lang="zh-CN" altLang="en-US" sz="2400">
              <a:latin typeface="黑体" panose="02010609060101010101" pitchFamily="2" charset="-122"/>
              <a:ea typeface="黑体" panose="02010609060101010101" pitchFamily="2" charset="-122"/>
            </a:endParaRPr>
          </a:p>
          <a:p>
            <a:pPr marL="885825" lvl="2" indent="-428625" algn="l" eaLnBrk="1"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克鲁斯卡尔(Kruskal)算法，时间复杂度O(eloge)，与点无关，适合点稠密</a:t>
            </a:r>
            <a:endParaRPr lang="zh-CN" altLang="en-US" sz="2400">
              <a:latin typeface="黑体" panose="02010609060101010101" pitchFamily="2" charset="-122"/>
              <a:ea typeface="黑体" panose="02010609060101010101" pitchFamily="2" charset="-122"/>
            </a:endParaRPr>
          </a:p>
          <a:p>
            <a:pPr marL="428625" lvl="0" indent="-428625" algn="l" eaLnBrk="1"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关节点与重连通图</a:t>
            </a:r>
            <a:endParaRPr lang="zh-CN" altLang="en-US" sz="2400">
              <a:latin typeface="黑体" panose="02010609060101010101" pitchFamily="2" charset="-122"/>
              <a:ea typeface="黑体" panose="02010609060101010101" pitchFamily="2" charset="-122"/>
            </a:endParaRPr>
          </a:p>
          <a:p>
            <a:pPr marL="428625" lvl="0" indent="-428625" algn="l">
              <a:lnSpc>
                <a:spcPct val="90000"/>
              </a:lnSpc>
              <a:spcBef>
                <a:spcPts val="1000"/>
              </a:spcBef>
              <a:buClr>
                <a:schemeClr val="accent2"/>
              </a:buClr>
              <a:buSzTx/>
              <a:buFont typeface="Wingdings" panose="05000000000000000000" charset="0"/>
              <a:buChar char="l"/>
            </a:pPr>
            <a:endParaRPr lang="zh-CN" altLang="en-US" sz="2400">
              <a:latin typeface="黑体" panose="02010609060101010101" pitchFamily="2" charset="-122"/>
              <a:ea typeface="黑体" panose="02010609060101010101" pitchFamily="2" charset="-122"/>
              <a:sym typeface="+mn-ea"/>
            </a:endParaRPr>
          </a:p>
          <a:p>
            <a:pPr marL="428625" indent="-428625" algn="l" eaLnBrk="1" hangingPunct="1">
              <a:lnSpc>
                <a:spcPct val="90000"/>
              </a:lnSpc>
              <a:spcBef>
                <a:spcPts val="1000"/>
              </a:spcBef>
              <a:buClr>
                <a:schemeClr val="accent2"/>
              </a:buClr>
              <a:buSzTx/>
              <a:buFont typeface="Wingdings" panose="05000000000000000000" charset="0"/>
              <a:buChar char="l"/>
            </a:pP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
        <p:nvSpPr>
          <p:cNvPr id="5" name="文本框 4"/>
          <p:cNvSpPr txBox="1"/>
          <p:nvPr/>
        </p:nvSpPr>
        <p:spPr>
          <a:xfrm>
            <a:off x="407035" y="1052830"/>
            <a:ext cx="11266805" cy="5114290"/>
          </a:xfrm>
          <a:prstGeom prst="rect">
            <a:avLst/>
          </a:prstGeom>
        </p:spPr>
        <p:txBody>
          <a:bodyPr vert="horz" lIns="91440" tIns="45720" rIns="91440" bIns="45720" rtlCol="0">
            <a:noAutofit/>
          </a:bodyPr>
          <a:p>
            <a:pPr marL="428625" lvl="0" indent="-428625" algn="l" eaLnBrk="1"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有向无环图</a:t>
            </a:r>
            <a:r>
              <a:rPr lang="en-US" altLang="zh-CN" sz="2400">
                <a:latin typeface="黑体" panose="02010609060101010101" pitchFamily="2" charset="-122"/>
                <a:ea typeface="黑体" panose="02010609060101010101" pitchFamily="2" charset="-122"/>
                <a:sym typeface="+mn-ea"/>
              </a:rPr>
              <a:t>DAG</a:t>
            </a:r>
            <a:r>
              <a:rPr lang="zh-CN" altLang="en-US" sz="2400">
                <a:latin typeface="黑体" panose="02010609060101010101" pitchFamily="2" charset="-122"/>
                <a:ea typeface="黑体" panose="02010609060101010101" pitchFamily="2" charset="-122"/>
                <a:sym typeface="+mn-ea"/>
              </a:rPr>
              <a:t>，</a:t>
            </a:r>
            <a:endParaRPr lang="zh-CN" altLang="en-US" sz="2400">
              <a:latin typeface="黑体" panose="02010609060101010101" pitchFamily="2" charset="-122"/>
              <a:ea typeface="黑体" panose="02010609060101010101" pitchFamily="2" charset="-122"/>
              <a:sym typeface="+mn-ea"/>
            </a:endParaRPr>
          </a:p>
          <a:p>
            <a:pPr marL="885825" lvl="2" indent="-428625" algn="l" eaLnBrk="1"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拓扑排序，根据</a:t>
            </a:r>
            <a:r>
              <a:rPr lang="en-US" altLang="zh-CN" sz="2400">
                <a:latin typeface="黑体" panose="02010609060101010101" pitchFamily="2" charset="-122"/>
                <a:ea typeface="黑体" panose="02010609060101010101" pitchFamily="2" charset="-122"/>
                <a:sym typeface="+mn-ea"/>
              </a:rPr>
              <a:t>D</a:t>
            </a:r>
            <a:r>
              <a:rPr lang="zh-CN" altLang="en-US" sz="2400">
                <a:latin typeface="黑体" panose="02010609060101010101" pitchFamily="2" charset="-122"/>
                <a:ea typeface="黑体" panose="02010609060101010101" pitchFamily="2" charset="-122"/>
                <a:sym typeface="+mn-ea"/>
              </a:rPr>
              <a:t>A</a:t>
            </a:r>
            <a:r>
              <a:rPr lang="en-US" altLang="zh-CN" sz="2400">
                <a:latin typeface="黑体" panose="02010609060101010101" pitchFamily="2" charset="-122"/>
                <a:ea typeface="黑体" panose="02010609060101010101" pitchFamily="2" charset="-122"/>
                <a:sym typeface="+mn-ea"/>
              </a:rPr>
              <a:t>G</a:t>
            </a:r>
            <a:r>
              <a:rPr lang="zh-CN" altLang="en-US" sz="2400">
                <a:latin typeface="黑体" panose="02010609060101010101" pitchFamily="2" charset="-122"/>
                <a:ea typeface="黑体" panose="02010609060101010101" pitchFamily="2" charset="-122"/>
                <a:sym typeface="+mn-ea"/>
              </a:rPr>
              <a:t>图求拓扑有序序列</a:t>
            </a:r>
            <a:endParaRPr lang="zh-CN" altLang="en-US" sz="2400">
              <a:latin typeface="黑体" panose="02010609060101010101" pitchFamily="2" charset="-122"/>
              <a:ea typeface="黑体" panose="02010609060101010101" pitchFamily="2" charset="-122"/>
            </a:endParaRPr>
          </a:p>
          <a:p>
            <a:pPr marL="885825" lvl="2" indent="-428625" algn="l" eaLnBrk="1"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关键路径，根据AOE网求最早完成时间、关键</a:t>
            </a:r>
            <a:r>
              <a:rPr lang="zh-CN" altLang="en-US" sz="2400">
                <a:latin typeface="黑体" panose="02010609060101010101" pitchFamily="2" charset="-122"/>
                <a:ea typeface="黑体" panose="02010609060101010101" pitchFamily="2" charset="-122"/>
                <a:sym typeface="+mn-ea"/>
              </a:rPr>
              <a:t>活动、关键路径</a:t>
            </a:r>
            <a:endParaRPr lang="zh-CN" altLang="en-US" sz="2400">
              <a:latin typeface="黑体" panose="02010609060101010101" pitchFamily="2" charset="-122"/>
              <a:ea typeface="黑体" panose="02010609060101010101" pitchFamily="2" charset="-122"/>
              <a:sym typeface="+mn-ea"/>
            </a:endParaRPr>
          </a:p>
          <a:p>
            <a:pPr marL="428625" lvl="0" indent="-428625" algn="l" eaLnBrk="1" hangingPunct="1">
              <a:lnSpc>
                <a:spcPct val="90000"/>
              </a:lnSpc>
              <a:spcBef>
                <a:spcPts val="1000"/>
              </a:spcBef>
              <a:buClr>
                <a:schemeClr val="accent2"/>
              </a:buClr>
              <a:buSzTx/>
              <a:buFont typeface="Wingdings" panose="05000000000000000000" charset="0"/>
              <a:buChar char="l"/>
            </a:pPr>
            <a:r>
              <a:rPr lang="zh-CN" altLang="en-US" sz="2400">
                <a:latin typeface="黑体" panose="02010609060101010101" pitchFamily="2" charset="-122"/>
                <a:ea typeface="黑体" panose="02010609060101010101" pitchFamily="2" charset="-122"/>
                <a:sym typeface="+mn-ea"/>
              </a:rPr>
              <a:t>最短路径：</a:t>
            </a:r>
            <a:endParaRPr lang="zh-CN" altLang="en-US" sz="2400">
              <a:latin typeface="黑体" panose="02010609060101010101" pitchFamily="2" charset="-122"/>
              <a:ea typeface="黑体" panose="02010609060101010101" pitchFamily="2" charset="-122"/>
              <a:sym typeface="+mn-ea"/>
            </a:endParaRPr>
          </a:p>
          <a:p>
            <a:pPr marL="885825" lvl="2" indent="-428625" algn="l" eaLnBrk="1" hangingPunct="1">
              <a:lnSpc>
                <a:spcPct val="90000"/>
              </a:lnSpc>
              <a:spcBef>
                <a:spcPts val="1000"/>
              </a:spcBef>
              <a:buClr>
                <a:schemeClr val="accent2"/>
              </a:buClr>
              <a:buSzTx/>
              <a:buChar char="•"/>
            </a:pPr>
            <a:r>
              <a:rPr lang="zh-CN" altLang="en-US" sz="2400">
                <a:latin typeface="黑体" panose="02010609060101010101" pitchFamily="2" charset="-122"/>
                <a:ea typeface="黑体" panose="02010609060101010101" pitchFamily="2" charset="-122"/>
                <a:sym typeface="+mn-ea"/>
              </a:rPr>
              <a:t>迪杰斯特拉(Dijkstra)算法，求一个顶点到其他所有顶点的最短路径，时间复杂度</a:t>
            </a:r>
            <a:r>
              <a:rPr lang="en-US" altLang="zh-CN" sz="2400">
                <a:latin typeface="黑体" panose="02010609060101010101" pitchFamily="2" charset="-122"/>
                <a:ea typeface="黑体" panose="02010609060101010101" pitchFamily="2" charset="-122"/>
                <a:sym typeface="+mn-ea"/>
              </a:rPr>
              <a:t>O(n</a:t>
            </a:r>
            <a:r>
              <a:rPr lang="en-US" altLang="zh-CN" sz="2400" baseline="30000">
                <a:latin typeface="黑体" panose="02010609060101010101" pitchFamily="2" charset="-122"/>
                <a:ea typeface="黑体" panose="02010609060101010101" pitchFamily="2" charset="-122"/>
                <a:sym typeface="+mn-ea"/>
              </a:rPr>
              <a:t>2</a:t>
            </a:r>
            <a:r>
              <a:rPr lang="en-US" altLang="zh-CN" sz="2400">
                <a:latin typeface="黑体" panose="02010609060101010101" pitchFamily="2" charset="-122"/>
                <a:ea typeface="黑体" panose="02010609060101010101" pitchFamily="2" charset="-122"/>
                <a:sym typeface="+mn-ea"/>
              </a:rPr>
              <a:t>)</a:t>
            </a:r>
            <a:endParaRPr lang="zh-CN" altLang="en-US" sz="2400">
              <a:latin typeface="黑体" panose="02010609060101010101" pitchFamily="2" charset="-122"/>
              <a:ea typeface="黑体" panose="02010609060101010101" pitchFamily="2" charset="-122"/>
              <a:sym typeface="+mn-ea"/>
            </a:endParaRPr>
          </a:p>
          <a:p>
            <a:pPr marL="885825" lvl="2" indent="-428625" algn="l" eaLnBrk="1" hangingPunct="1">
              <a:lnSpc>
                <a:spcPct val="90000"/>
              </a:lnSpc>
              <a:spcBef>
                <a:spcPts val="1000"/>
              </a:spcBef>
              <a:buClr>
                <a:schemeClr val="accent2"/>
              </a:buClr>
              <a:buSzTx/>
              <a:buChar char="•"/>
            </a:pPr>
            <a:r>
              <a:rPr lang="zh-CN" altLang="zh-CN" sz="2400" dirty="0">
                <a:latin typeface="黑体" panose="02010609060101010101" pitchFamily="2" charset="-122"/>
                <a:ea typeface="黑体" panose="02010609060101010101" pitchFamily="2" charset="-122"/>
                <a:cs typeface="黑体" panose="02010609060101010101" pitchFamily="2" charset="-122"/>
                <a:sym typeface="+mn-ea"/>
              </a:rPr>
              <a:t>弗洛伊德</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(Floyd)</a:t>
            </a:r>
            <a:r>
              <a:rPr lang="zh-CN" altLang="zh-CN" sz="2400" dirty="0">
                <a:latin typeface="黑体" panose="02010609060101010101" pitchFamily="2" charset="-122"/>
                <a:ea typeface="黑体" panose="02010609060101010101" pitchFamily="2" charset="-122"/>
                <a:cs typeface="黑体" panose="02010609060101010101" pitchFamily="2" charset="-122"/>
                <a:sym typeface="+mn-ea"/>
              </a:rPr>
              <a:t>算法，求所有两两顶点之间的最短路径</a:t>
            </a:r>
            <a:r>
              <a:rPr lang="zh-CN" altLang="en-US" sz="2400">
                <a:latin typeface="黑体" panose="02010609060101010101" pitchFamily="2" charset="-122"/>
                <a:ea typeface="黑体" panose="02010609060101010101" pitchFamily="2" charset="-122"/>
                <a:sym typeface="+mn-ea"/>
              </a:rPr>
              <a:t>，时间复杂度</a:t>
            </a:r>
            <a:r>
              <a:rPr lang="en-US" altLang="zh-CN" sz="2400">
                <a:latin typeface="黑体" panose="02010609060101010101" pitchFamily="2" charset="-122"/>
                <a:ea typeface="黑体" panose="02010609060101010101" pitchFamily="2" charset="-122"/>
                <a:sym typeface="+mn-ea"/>
              </a:rPr>
              <a:t>O(n</a:t>
            </a:r>
            <a:r>
              <a:rPr lang="en-US" altLang="zh-CN" sz="2400" baseline="30000">
                <a:latin typeface="黑体" panose="02010609060101010101" pitchFamily="2" charset="-122"/>
                <a:ea typeface="黑体" panose="02010609060101010101" pitchFamily="2" charset="-122"/>
                <a:sym typeface="+mn-ea"/>
              </a:rPr>
              <a:t>3</a:t>
            </a:r>
            <a:r>
              <a:rPr lang="en-US" altLang="zh-CN" sz="2400">
                <a:latin typeface="黑体" panose="02010609060101010101" pitchFamily="2" charset="-122"/>
                <a:ea typeface="黑体" panose="02010609060101010101" pitchFamily="2" charset="-122"/>
                <a:sym typeface="+mn-ea"/>
              </a:rPr>
              <a:t>)</a:t>
            </a:r>
            <a:endParaRPr lang="zh-CN" altLang="en-US" sz="2400">
              <a:latin typeface="黑体" panose="02010609060101010101" pitchFamily="2" charset="-122"/>
              <a:ea typeface="黑体" panose="02010609060101010101" pitchFamily="2" charset="-122"/>
              <a:sym typeface="+mn-ea"/>
            </a:endParaRPr>
          </a:p>
          <a:p>
            <a:pPr marL="885825" lvl="2" indent="-428625" algn="l" eaLnBrk="1" hangingPunct="1">
              <a:lnSpc>
                <a:spcPct val="90000"/>
              </a:lnSpc>
              <a:spcBef>
                <a:spcPts val="1000"/>
              </a:spcBef>
              <a:buClr>
                <a:schemeClr val="accent2"/>
              </a:buClr>
              <a:buSzTx/>
              <a:buChar char="•"/>
            </a:pPr>
            <a:endParaRPr lang="zh-CN" altLang="en-US" sz="2400">
              <a:latin typeface="黑体" panose="02010609060101010101" pitchFamily="2" charset="-122"/>
              <a:ea typeface="黑体" panose="02010609060101010101" pitchFamily="2" charset="-122"/>
              <a:sym typeface="+mn-ea"/>
            </a:endParaRPr>
          </a:p>
          <a:p>
            <a:pPr marL="885825" lvl="2" indent="-428625" algn="l" eaLnBrk="1" hangingPunct="1">
              <a:lnSpc>
                <a:spcPct val="90000"/>
              </a:lnSpc>
              <a:spcBef>
                <a:spcPts val="1000"/>
              </a:spcBef>
              <a:buClr>
                <a:schemeClr val="accent2"/>
              </a:buClr>
              <a:buSzTx/>
              <a:buChar char="•"/>
            </a:pPr>
            <a:endParaRPr lang="zh-CN" altLang="en-US" sz="2400">
              <a:latin typeface="黑体" panose="02010609060101010101" pitchFamily="2" charset="-122"/>
              <a:ea typeface="黑体" panose="02010609060101010101" pitchFamily="2" charset="-122"/>
            </a:endParaRPr>
          </a:p>
          <a:p>
            <a:pPr marL="428625" marR="0" lvl="0" indent="-428625" algn="l" rtl="0" eaLnBrk="1" fontAlgn="base" latinLnBrk="0" hangingPunct="1">
              <a:lnSpc>
                <a:spcPct val="90000"/>
              </a:lnSpc>
              <a:spcBef>
                <a:spcPts val="1000"/>
              </a:spcBef>
              <a:buClr>
                <a:schemeClr val="accent2"/>
              </a:buClr>
              <a:buSzTx/>
              <a:buFont typeface="Wingdings" panose="05000000000000000000" charset="0"/>
              <a:buChar char="l"/>
            </a:pPr>
            <a:endParaRPr lang="zh-CN" altLang="en-US" sz="2400">
              <a:latin typeface="黑体" panose="02010609060101010101" pitchFamily="2" charset="-122"/>
              <a:ea typeface="黑体" panose="02010609060101010101" pitchFamily="2" charset="-122"/>
              <a:sym typeface="+mn-ea"/>
            </a:endParaRPr>
          </a:p>
          <a:p>
            <a:pPr marL="428625" indent="-428625" algn="l" eaLnBrk="1" hangingPunct="1">
              <a:lnSpc>
                <a:spcPct val="90000"/>
              </a:lnSpc>
              <a:spcBef>
                <a:spcPts val="1000"/>
              </a:spcBef>
              <a:buClr>
                <a:schemeClr val="accent2"/>
              </a:buClr>
              <a:buSzTx/>
              <a:buFont typeface="Wingdings" panose="05000000000000000000" charset="0"/>
              <a:buChar char="l"/>
            </a:pPr>
            <a:endParaRPr kumimoji="0" lang="zh-CN" altLang="en-US" sz="2400" i="0" u="none" strike="noStrike" cap="none" spc="0" normalizeH="0" baseline="0">
              <a:solidFill>
                <a:schemeClr val="tx1"/>
              </a:solidFill>
              <a:latin typeface="黑体" panose="02010609060101010101" pitchFamily="2" charset="-122"/>
              <a:ea typeface="黑体" panose="02010609060101010101" pitchFamily="2" charset="-122"/>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tags/tag1.xml><?xml version="1.0" encoding="utf-8"?>
<p:tagLst xmlns:p="http://schemas.openxmlformats.org/presentationml/2006/main">
  <p:tag name="KSO_WM_UNIT_TABLE_BEAUTIFY" val="smartTable{cb5b6048-4228-45fc-91aa-a9e701fdb0e0}"/>
</p:tagLst>
</file>

<file path=ppt/tags/tag2.xml><?xml version="1.0" encoding="utf-8"?>
<p:tagLst xmlns:p="http://schemas.openxmlformats.org/presentationml/2006/main">
  <p:tag name="KSO_WM_UNIT_TABLE_BEAUTIFY" val="smartTable{7075931f-17e9-44e1-b7ff-41206f972bf3}"/>
</p:tagLst>
</file>

<file path=ppt/tags/tag3.xml><?xml version="1.0" encoding="utf-8"?>
<p:tagLst xmlns:p="http://schemas.openxmlformats.org/presentationml/2006/main">
  <p:tag name="KSO_WM_UNIT_TABLE_BEAUTIFY" val="smartTable{0fe97061-e57b-4929-8d0a-fc3a0fe3e799}"/>
</p:tagLst>
</file>

<file path=ppt/tags/tag4.xml><?xml version="1.0" encoding="utf-8"?>
<p:tagLst xmlns:p="http://schemas.openxmlformats.org/presentationml/2006/main">
  <p:tag name="KSO_WM_UNIT_TABLE_BEAUTIFY" val="smartTable{09cbdd50-a02d-455e-9e14-60fdb3a3c928}"/>
</p:tagLst>
</file>

<file path=ppt/tags/tag5.xml><?xml version="1.0" encoding="utf-8"?>
<p:tagLst xmlns:p="http://schemas.openxmlformats.org/presentationml/2006/main">
  <p:tag name="KSO_WM_UNIT_TABLE_BEAUTIFY" val="smartTable{e77af9fb-e351-4fd4-b12a-0e35ccb00f69}"/>
</p:tagLst>
</file>

<file path=ppt/tags/tag6.xml><?xml version="1.0" encoding="utf-8"?>
<p:tagLst xmlns:p="http://schemas.openxmlformats.org/presentationml/2006/main">
  <p:tag name="KSO_WM_UNIT_PLACING_PICTURE_USER_VIEWPORT" val="{&quot;height&quot;:2655,&quot;width&quot;:5220}"/>
</p:tagLst>
</file>

<file path=ppt/tags/tag7.xml><?xml version="1.0" encoding="utf-8"?>
<p:tagLst xmlns:p="http://schemas.openxmlformats.org/presentationml/2006/main">
  <p:tag name="KSO_WM_UNIT_TABLE_BEAUTIFY" val="smartTable{e1f6d133-8944-4438-9660-0a381e841afb}"/>
</p:tagLst>
</file>

<file path=ppt/tags/tag8.xml><?xml version="1.0" encoding="utf-8"?>
<p:tagLst xmlns:p="http://schemas.openxmlformats.org/presentationml/2006/main">
  <p:tag name="KSO_WM_UNIT_TABLE_BEAUTIFY" val="smartTable{783f0788-11b2-4fe7-96ee-aded9fd75fdc}"/>
  <p:tag name="TABLE_ENDDRAG_ORIGIN_RECT" val="521*336"/>
  <p:tag name="TABLE_ENDDRAG_RECT" val="105*144*521*336"/>
</p:tagLst>
</file>

<file path=ppt/tags/tag9.xml><?xml version="1.0" encoding="utf-8"?>
<p:tagLst xmlns:p="http://schemas.openxmlformats.org/presentationml/2006/main">
  <p:tag name="KSO_WM_UNIT_TABLE_BEAUTIFY" val="smartTable{f523194e-51a0-469b-852b-81afb42368a3}"/>
</p:tagLst>
</file>

<file path=ppt/tags/tag10.xml><?xml version="1.0" encoding="utf-8"?>
<p:tagLst xmlns:p="http://schemas.openxmlformats.org/presentationml/2006/main">
  <p:tag name="KSO_WM_UNIT_TABLE_BEAUTIFY" val="smartTable{eb5392fa-7388-46c2-86d2-b70b5a661b41}"/>
</p:tagLst>
</file>

<file path=ppt/tags/tag11.xml><?xml version="1.0" encoding="utf-8"?>
<p:tagLst xmlns:p="http://schemas.openxmlformats.org/presentationml/2006/main">
  <p:tag name="KSO_WM_UNIT_PLACING_PICTURE_USER_VIEWPORT" val="{&quot;height&quot;:6712.499212598425,&quot;width&quot;:9787.499212598424}"/>
</p:tagLst>
</file>

<file path=ppt/tags/tag12.xml><?xml version="1.0" encoding="utf-8"?>
<p:tagLst xmlns:p="http://schemas.openxmlformats.org/presentationml/2006/main">
  <p:tag name="KSO_WPP_MARK_KEY" val="81e39fb6-2793-4dff-8c5a-ec9965042883"/>
  <p:tag name="COMMONDATA" val="eyJoZGlkIjoiYWQxZmVlNjk4NzljNzQzY2ZjODBlYzVlZDdmODU5YjgifQ=="/>
</p:tagLst>
</file>

<file path=ppt/theme/theme1.xml><?xml version="1.0" encoding="utf-8"?>
<a:theme xmlns:a="http://schemas.openxmlformats.org/drawingml/2006/main" name="1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Office 主题​​">
      <a:majorFont>
        <a:latin typeface="宋体"/>
        <a:ea typeface="微软雅黑"/>
        <a:cs typeface="Segoe Print"/>
      </a:majorFont>
      <a:minorFont>
        <a:latin typeface="宋体"/>
        <a:ea typeface="微软雅黑"/>
        <a:cs typeface="Segoe Print"/>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bodyPr vert="horz" lIns="91440" tIns="45720" rIns="91440" bIns="45720" rtlCol="0">
        <a:noAutofit/>
      </a:bodyPr>
      <a:lstStyle>
        <a:defPPr marL="571500" lvl="0" indent="-571500">
          <a:lnSpc>
            <a:spcPct val="90000"/>
          </a:lnSpc>
          <a:spcBef>
            <a:spcPts val="1000"/>
          </a:spcBef>
          <a:buClr>
            <a:schemeClr val="accent2"/>
          </a:buClr>
          <a:buFont typeface="Wingdings" panose="05000000000000000000" pitchFamily="2" charset="2"/>
          <a:buChar char="n"/>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Segoe Print"/>
        <a:cs typeface="Segoe Print"/>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Segoe Print"/>
        <a:cs typeface="Segoe Print"/>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Segoe Print"/>
        <a:cs typeface="Segoe Print"/>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Segoe Print"/>
        <a:cs typeface="Segoe Print"/>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22125</Words>
  <Application>WPS 演示</Application>
  <PresentationFormat>宽屏</PresentationFormat>
  <Paragraphs>4622</Paragraphs>
  <Slides>149</Slides>
  <Notes>12</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10</vt:i4>
      </vt:variant>
      <vt:variant>
        <vt:lpstr>幻灯片标题</vt:lpstr>
      </vt:variant>
      <vt:variant>
        <vt:i4>149</vt:i4>
      </vt:variant>
    </vt:vector>
  </HeadingPairs>
  <TitlesOfParts>
    <vt:vector size="176" baseType="lpstr">
      <vt:lpstr>Arial</vt:lpstr>
      <vt:lpstr>宋体</vt:lpstr>
      <vt:lpstr>Wingdings</vt:lpstr>
      <vt:lpstr>Copperplate Gothic Bold</vt:lpstr>
      <vt:lpstr>微软雅黑</vt:lpstr>
      <vt:lpstr>Tahoma</vt:lpstr>
      <vt:lpstr>Wingdings</vt:lpstr>
      <vt:lpstr>Garamond</vt:lpstr>
      <vt:lpstr>楷体</vt:lpstr>
      <vt:lpstr>黑体</vt:lpstr>
      <vt:lpstr>Lucida Sans Unicode</vt:lpstr>
      <vt:lpstr>Symbol</vt:lpstr>
      <vt:lpstr>Arial Unicode MS</vt:lpstr>
      <vt:lpstr>Times New Roman</vt:lpstr>
      <vt:lpstr>隶书</vt:lpstr>
      <vt:lpstr>Segoe Print</vt:lpstr>
      <vt:lpstr>1_Office 主题​​</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PowerPoint 演示文稿</vt:lpstr>
      <vt:lpstr>课程结构（按教材划分）</vt:lpstr>
      <vt:lpstr>PowerPoint 演示文稿</vt:lpstr>
      <vt:lpstr>7.1 图的定义和术语</vt:lpstr>
      <vt:lpstr>7.1 图的定义和术语</vt:lpstr>
      <vt:lpstr>7.1 图的定义和术语</vt:lpstr>
      <vt:lpstr>7.1 图的定义和术语</vt:lpstr>
      <vt:lpstr>7.1 图的定义和术语</vt:lpstr>
      <vt:lpstr>7.1 图的定义和术语</vt:lpstr>
      <vt:lpstr>7.1 图的定义和术语</vt:lpstr>
      <vt:lpstr>7.1 图的定义和术语</vt:lpstr>
      <vt:lpstr>7.1 图的定义和术语</vt:lpstr>
      <vt:lpstr>7.1 图的定义和术语</vt:lpstr>
      <vt:lpstr>7.1 图的定义和术语</vt:lpstr>
      <vt:lpstr>7.1 图的定义和术语</vt:lpstr>
      <vt:lpstr>练习</vt:lpstr>
      <vt:lpstr>7.1 图的定义和术语</vt:lpstr>
      <vt:lpstr>7.1 图的定义和术语</vt:lpstr>
      <vt:lpstr>7.1 图的定义和术语</vt:lpstr>
      <vt:lpstr>7.1 图的定义和术语</vt:lpstr>
      <vt:lpstr>7.1 图的定义和术语</vt:lpstr>
      <vt:lpstr>7.1 图的定义和术语</vt:lpstr>
      <vt:lpstr>练习</vt:lpstr>
      <vt:lpstr>7.1 图的定义和术语</vt:lpstr>
      <vt:lpstr>7.1 图的定义和术语</vt:lpstr>
      <vt:lpstr>7.1 图的定义和术语</vt:lpstr>
      <vt:lpstr>练习</vt:lpstr>
      <vt:lpstr>上节课复习</vt:lpstr>
      <vt:lpstr>PowerPoint 演示文稿</vt:lpstr>
      <vt:lpstr>7.2 图的存储结构</vt:lpstr>
      <vt:lpstr>7.2 图的存储结构</vt:lpstr>
      <vt:lpstr>7.2 图的存储结构</vt:lpstr>
      <vt:lpstr>7.2 图的存储结构</vt:lpstr>
      <vt:lpstr>7.2 图的存储结构</vt:lpstr>
      <vt:lpstr>7.2 图的存储结构</vt:lpstr>
      <vt:lpstr>7.2 图的存储结构</vt:lpstr>
      <vt:lpstr>7.2 图的存储结构</vt:lpstr>
      <vt:lpstr>7.2 图的存储结构</vt:lpstr>
      <vt:lpstr>7.2 图的存储结构</vt:lpstr>
      <vt:lpstr>7.2 图的存储结构</vt:lpstr>
      <vt:lpstr>7.2 图的存储结构</vt:lpstr>
      <vt:lpstr>7.2 图的存储结构</vt:lpstr>
      <vt:lpstr>7.2 图的存储结构</vt:lpstr>
      <vt:lpstr>7.2 图的存储结构</vt:lpstr>
      <vt:lpstr>7.2 图的存储结构</vt:lpstr>
      <vt:lpstr>7.2 图的存储结构</vt:lpstr>
      <vt:lpstr>7.2 图的存储结构</vt:lpstr>
      <vt:lpstr>练习</vt:lpstr>
      <vt:lpstr>练习</vt:lpstr>
      <vt:lpstr>练习</vt:lpstr>
      <vt:lpstr>PowerPoint 演示文稿</vt:lpstr>
      <vt:lpstr>7.3 图的遍历 </vt:lpstr>
      <vt:lpstr>7.3 图的遍历</vt:lpstr>
      <vt:lpstr>7.3 图的遍历</vt:lpstr>
      <vt:lpstr>7.3 图的遍历</vt:lpstr>
      <vt:lpstr>7.3 图的遍历</vt:lpstr>
      <vt:lpstr>7.3 图的遍历</vt:lpstr>
      <vt:lpstr>7.3 图的遍历</vt:lpstr>
      <vt:lpstr>7.3 图的遍历</vt:lpstr>
      <vt:lpstr>7.3 图的遍历</vt:lpstr>
      <vt:lpstr>7.3 图的遍历</vt:lpstr>
      <vt:lpstr>7.3 图的遍历</vt:lpstr>
      <vt:lpstr>7.3 图的遍历</vt:lpstr>
      <vt:lpstr>7.3 图的遍历</vt:lpstr>
      <vt:lpstr>7.3 图的遍历</vt:lpstr>
      <vt:lpstr>7.3 图的遍历</vt:lpstr>
      <vt:lpstr>7.3 图的遍历</vt:lpstr>
      <vt:lpstr>练习</vt:lpstr>
      <vt:lpstr>PowerPoint 演示文稿</vt:lpstr>
      <vt:lpstr>7.4 图的连通</vt:lpstr>
      <vt:lpstr>7.4 图的连通</vt:lpstr>
      <vt:lpstr>7.4 图的连通</vt:lpstr>
      <vt:lpstr>7.4 图的连通</vt:lpstr>
      <vt:lpstr>7.4 图的连通</vt:lpstr>
      <vt:lpstr>7.4 图的连通</vt:lpstr>
      <vt:lpstr>7.4 图的连通</vt:lpstr>
      <vt:lpstr>7.4 图的连通</vt:lpstr>
      <vt:lpstr>7.4 图的连通</vt:lpstr>
      <vt:lpstr>7.4 图的连通</vt:lpstr>
      <vt:lpstr>7.4 图的连通</vt:lpstr>
      <vt:lpstr>7.4 图的连通</vt:lpstr>
      <vt:lpstr>7.4 图的连通</vt:lpstr>
      <vt:lpstr>7.4 图的连通</vt:lpstr>
      <vt:lpstr>7.4 图的连通</vt:lpstr>
      <vt:lpstr>7.4 图的连通</vt:lpstr>
      <vt:lpstr>7.4 图的连通</vt:lpstr>
      <vt:lpstr>7.4 图的连通</vt:lpstr>
      <vt:lpstr>上节课复习</vt:lpstr>
      <vt:lpstr>复习练习</vt:lpstr>
      <vt:lpstr>复习练习</vt:lpstr>
      <vt:lpstr>复习练习</vt:lpstr>
      <vt:lpstr>PowerPoint 演示文稿</vt:lpstr>
      <vt:lpstr>7.5 有向无环图及其应用</vt:lpstr>
      <vt:lpstr>7.5 有向无环图及其应用</vt:lpstr>
      <vt:lpstr>7.5 有向无环图及其应用</vt:lpstr>
      <vt:lpstr>7.5 有向无环图及其应用</vt:lpstr>
      <vt:lpstr>7.5 有向无环图及其应用</vt:lpstr>
      <vt:lpstr>7.5 有向无环图及其应用</vt:lpstr>
      <vt:lpstr>7.5 有向无环图及其应用</vt:lpstr>
      <vt:lpstr>7.5 有向无环图及其应用</vt:lpstr>
      <vt:lpstr>7.5 有向无环图及其应用</vt:lpstr>
      <vt:lpstr>7.5 有向无环图及其应用</vt:lpstr>
      <vt:lpstr>7.5 有向无环图及其应用</vt:lpstr>
      <vt:lpstr>7.5 有向无环图及其应用</vt:lpstr>
      <vt:lpstr>7.5 有向无环图及其应用</vt:lpstr>
      <vt:lpstr>7.5 有向无环图及其应用</vt:lpstr>
      <vt:lpstr>7.5 有向无环图及其应用</vt:lpstr>
      <vt:lpstr>7.5 有向无环图及其应用</vt:lpstr>
      <vt:lpstr>7.5 有向无环图及其应用</vt:lpstr>
      <vt:lpstr>7.5 有向无环图及其应用</vt:lpstr>
      <vt:lpstr>7.5 有向无环图及其应用</vt:lpstr>
      <vt:lpstr>7.5 有向无环图及其应用</vt:lpstr>
      <vt:lpstr>7.5 有向无环图及其应用</vt:lpstr>
      <vt:lpstr>7.5 有向无环图及其应用</vt:lpstr>
      <vt:lpstr>7.5 有向无环图及其应用</vt:lpstr>
      <vt:lpstr>练习</vt:lpstr>
      <vt:lpstr>练习</vt:lpstr>
      <vt:lpstr>上节课复习</vt:lpstr>
      <vt:lpstr>复习练习</vt:lpstr>
      <vt:lpstr>复习练习</vt:lpstr>
      <vt:lpstr>练习</vt:lpstr>
      <vt:lpstr>PowerPoint 演示文稿</vt:lpstr>
      <vt:lpstr>7.6 最短路径</vt:lpstr>
      <vt:lpstr>7.6 最短路径</vt:lpstr>
      <vt:lpstr>7.6 最短路径</vt:lpstr>
      <vt:lpstr>7.6 最短路径</vt:lpstr>
      <vt:lpstr>7.6 最短路径</vt:lpstr>
      <vt:lpstr>7.6 最短路径</vt:lpstr>
      <vt:lpstr>7.6 最短路径</vt:lpstr>
      <vt:lpstr>7.6 最短路径</vt:lpstr>
      <vt:lpstr>7.6 最短路径</vt:lpstr>
      <vt:lpstr>7.6 最短路径</vt:lpstr>
      <vt:lpstr>7.6 最短路径</vt:lpstr>
      <vt:lpstr>7.6 最短路径</vt:lpstr>
      <vt:lpstr>7.6 最短路径</vt:lpstr>
      <vt:lpstr>7.6 最短路径</vt:lpstr>
      <vt:lpstr>7.6 最短路径</vt:lpstr>
      <vt:lpstr>7.6 最短路径</vt:lpstr>
      <vt:lpstr>7.6 最短路径</vt:lpstr>
      <vt:lpstr>7.6 最短路径</vt:lpstr>
      <vt:lpstr>7.6 最短路径</vt:lpstr>
      <vt:lpstr>7.6 最短路径</vt:lpstr>
      <vt:lpstr>7.6 最短路径</vt:lpstr>
      <vt:lpstr>7.6 最短路径</vt:lpstr>
      <vt:lpstr>练习</vt:lpstr>
      <vt:lpstr>PowerPoint 演示文稿</vt:lpstr>
      <vt:lpstr>PowerPoint 演示文稿</vt:lpstr>
      <vt:lpstr>PowerPoint 演示文稿</vt:lpstr>
      <vt:lpstr>PowerPoint 演示文稿</vt:lpstr>
    </vt:vector>
  </TitlesOfParts>
  <Company>SZU</Company>
  <LinksUpToDate>false</LinksUpToDate>
  <SharedDoc>false</SharedDoc>
  <HyperlinksChanged>false</HyperlinksChanged>
  <AppVersion>14.0000</AppVersion>
  <Manager>BJC</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教学讲义</dc:title>
  <dc:creator>白; BJC</dc:creator>
  <dc:subject>C++</dc:subject>
  <cp:lastModifiedBy>白_szu</cp:lastModifiedBy>
  <cp:revision>2396</cp:revision>
  <dcterms:created xsi:type="dcterms:W3CDTF">2014-01-11T15:22:00Z</dcterms:created>
  <dcterms:modified xsi:type="dcterms:W3CDTF">2022-11-13T03:08:03Z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2052-11.1.0.12763</vt:lpwstr>
  </property>
  <property fmtid="{D5CDD505-2E9C-101B-9397-08002B2CF9AE}" pid="3" name="ICV">
    <vt:lpwstr>4508C18874504005A6F10EDD074A32CB</vt:lpwstr>
  </property>
</Properties>
</file>