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648" r:id="rId1"/>
  </p:sldMasterIdLst>
  <p:notesMasterIdLst>
    <p:notesMasterId r:id="rId147"/>
  </p:notesMasterIdLst>
  <p:handoutMasterIdLst>
    <p:handoutMasterId r:id="rId148"/>
  </p:handoutMasterIdLst>
  <p:sldIdLst>
    <p:sldId id="606" r:id="rId3"/>
    <p:sldId id="699" r:id="rId4"/>
    <p:sldId id="282" r:id="rId5"/>
    <p:sldId id="1187" r:id="rId6"/>
    <p:sldId id="1490" r:id="rId7"/>
    <p:sldId id="1491" r:id="rId8"/>
    <p:sldId id="1492" r:id="rId9"/>
    <p:sldId id="1493" r:id="rId10"/>
    <p:sldId id="1494" r:id="rId11"/>
    <p:sldId id="1495" r:id="rId12"/>
    <p:sldId id="1496" r:id="rId13"/>
    <p:sldId id="1497" r:id="rId14"/>
    <p:sldId id="1608" r:id="rId15"/>
    <p:sldId id="1609" r:id="rId16"/>
    <p:sldId id="1610" r:id="rId17"/>
    <p:sldId id="1611" r:id="rId18"/>
    <p:sldId id="1612" r:id="rId19"/>
    <p:sldId id="1614" r:id="rId20"/>
    <p:sldId id="2026" r:id="rId21"/>
    <p:sldId id="1615" r:id="rId22"/>
    <p:sldId id="1717" r:id="rId23"/>
    <p:sldId id="1718" r:id="rId24"/>
    <p:sldId id="1719" r:id="rId25"/>
    <p:sldId id="1720" r:id="rId26"/>
    <p:sldId id="1721" r:id="rId27"/>
    <p:sldId id="1722" r:id="rId28"/>
    <p:sldId id="1723" r:id="rId29"/>
    <p:sldId id="1725" r:id="rId30"/>
    <p:sldId id="1726" r:id="rId31"/>
    <p:sldId id="1727" r:id="rId32"/>
    <p:sldId id="1728" r:id="rId33"/>
    <p:sldId id="2201" r:id="rId34"/>
    <p:sldId id="1738" r:id="rId35"/>
    <p:sldId id="1729" r:id="rId36"/>
    <p:sldId id="1739" r:id="rId37"/>
    <p:sldId id="2202" r:id="rId38"/>
    <p:sldId id="1742" r:id="rId39"/>
    <p:sldId id="1743" r:id="rId40"/>
    <p:sldId id="1731" r:id="rId41"/>
    <p:sldId id="1732" r:id="rId42"/>
    <p:sldId id="2203" r:id="rId43"/>
    <p:sldId id="2204" r:id="rId44"/>
    <p:sldId id="1762" r:id="rId45"/>
    <p:sldId id="1763" r:id="rId46"/>
    <p:sldId id="1759" r:id="rId47"/>
    <p:sldId id="1771" r:id="rId48"/>
    <p:sldId id="1761" r:id="rId49"/>
    <p:sldId id="1748" r:id="rId50"/>
    <p:sldId id="1752" r:id="rId51"/>
    <p:sldId id="1753" r:id="rId52"/>
    <p:sldId id="2200" r:id="rId53"/>
    <p:sldId id="1852" r:id="rId54"/>
    <p:sldId id="1853" r:id="rId55"/>
    <p:sldId id="1941" r:id="rId56"/>
    <p:sldId id="1760" r:id="rId57"/>
    <p:sldId id="1772" r:id="rId58"/>
    <p:sldId id="1773" r:id="rId59"/>
    <p:sldId id="1774" r:id="rId60"/>
    <p:sldId id="1775" r:id="rId61"/>
    <p:sldId id="1776" r:id="rId62"/>
    <p:sldId id="1777" r:id="rId63"/>
    <p:sldId id="1778" r:id="rId64"/>
    <p:sldId id="1779" r:id="rId65"/>
    <p:sldId id="1780" r:id="rId66"/>
    <p:sldId id="1782" r:id="rId67"/>
    <p:sldId id="1783" r:id="rId68"/>
    <p:sldId id="1784" r:id="rId69"/>
    <p:sldId id="1789" r:id="rId70"/>
    <p:sldId id="1786" r:id="rId71"/>
    <p:sldId id="1790" r:id="rId72"/>
    <p:sldId id="1787" r:id="rId73"/>
    <p:sldId id="1791" r:id="rId74"/>
    <p:sldId id="1792" r:id="rId75"/>
    <p:sldId id="1874" r:id="rId76"/>
    <p:sldId id="1875" r:id="rId77"/>
    <p:sldId id="1877" r:id="rId78"/>
    <p:sldId id="1878" r:id="rId79"/>
    <p:sldId id="1879" r:id="rId80"/>
    <p:sldId id="1880" r:id="rId81"/>
    <p:sldId id="1876" r:id="rId82"/>
    <p:sldId id="1881" r:id="rId83"/>
    <p:sldId id="1882" r:id="rId84"/>
    <p:sldId id="1883" r:id="rId85"/>
    <p:sldId id="1885" r:id="rId86"/>
    <p:sldId id="1886" r:id="rId87"/>
    <p:sldId id="1887" r:id="rId88"/>
    <p:sldId id="1888" r:id="rId89"/>
    <p:sldId id="1890" r:id="rId90"/>
    <p:sldId id="1891" r:id="rId91"/>
    <p:sldId id="1899" r:id="rId92"/>
    <p:sldId id="1892" r:id="rId93"/>
    <p:sldId id="1893" r:id="rId94"/>
    <p:sldId id="1894" r:id="rId95"/>
    <p:sldId id="1895" r:id="rId96"/>
    <p:sldId id="1896" r:id="rId97"/>
    <p:sldId id="1897" r:id="rId98"/>
    <p:sldId id="1918" r:id="rId99"/>
    <p:sldId id="1917" r:id="rId100"/>
    <p:sldId id="1920" r:id="rId101"/>
    <p:sldId id="1921" r:id="rId102"/>
    <p:sldId id="1901" r:id="rId103"/>
    <p:sldId id="1902" r:id="rId104"/>
    <p:sldId id="1903" r:id="rId105"/>
    <p:sldId id="1904" r:id="rId106"/>
    <p:sldId id="2159" r:id="rId107"/>
    <p:sldId id="2160" r:id="rId108"/>
    <p:sldId id="2162" r:id="rId109"/>
    <p:sldId id="2163" r:id="rId110"/>
    <p:sldId id="2140" r:id="rId111"/>
    <p:sldId id="2141" r:id="rId112"/>
    <p:sldId id="2142" r:id="rId113"/>
    <p:sldId id="2143" r:id="rId114"/>
    <p:sldId id="2144" r:id="rId115"/>
    <p:sldId id="2145" r:id="rId116"/>
    <p:sldId id="2146" r:id="rId117"/>
    <p:sldId id="2147" r:id="rId118"/>
    <p:sldId id="2148" r:id="rId119"/>
    <p:sldId id="2149" r:id="rId120"/>
    <p:sldId id="2150" r:id="rId121"/>
    <p:sldId id="2151" r:id="rId122"/>
    <p:sldId id="2152" r:id="rId123"/>
    <p:sldId id="2153" r:id="rId124"/>
    <p:sldId id="2154" r:id="rId125"/>
    <p:sldId id="2155" r:id="rId126"/>
    <p:sldId id="2156" r:id="rId127"/>
    <p:sldId id="2157" r:id="rId128"/>
    <p:sldId id="2158" r:id="rId129"/>
    <p:sldId id="1906" r:id="rId130"/>
    <p:sldId id="1907" r:id="rId131"/>
    <p:sldId id="1908" r:id="rId132"/>
    <p:sldId id="1909" r:id="rId133"/>
    <p:sldId id="1910" r:id="rId134"/>
    <p:sldId id="1911" r:id="rId135"/>
    <p:sldId id="1912" r:id="rId136"/>
    <p:sldId id="1913" r:id="rId137"/>
    <p:sldId id="1914" r:id="rId138"/>
    <p:sldId id="1915" r:id="rId139"/>
    <p:sldId id="2164" r:id="rId140"/>
    <p:sldId id="2165" r:id="rId141"/>
    <p:sldId id="2166" r:id="rId142"/>
    <p:sldId id="2167" r:id="rId143"/>
    <p:sldId id="612" r:id="rId144"/>
    <p:sldId id="1916" r:id="rId145"/>
    <p:sldId id="613" r:id="rId146"/>
  </p:sldIdLst>
  <p:sldSz cx="12192000" cy="6858000"/>
  <p:notesSz cx="6858000" cy="9144000"/>
  <p:embeddedFontLst>
    <p:embeddedFont>
      <p:font typeface="微软雅黑" panose="020B0503020204020204" pitchFamily="34" charset="-122"/>
      <p:regular r:id="rId153"/>
    </p:embeddedFont>
    <p:embeddedFont>
      <p:font typeface="Tahoma" panose="020B0604030504040204" charset="0"/>
      <p:regular r:id="rId154"/>
      <p:bold r:id="rId155"/>
    </p:embeddedFont>
    <p:embeddedFont>
      <p:font typeface="Garamond" panose="02020404030301010803" pitchFamily="18" charset="0"/>
      <p:regular r:id="rId156"/>
      <p:bold r:id="rId157"/>
      <p:italic r:id="rId158"/>
    </p:embeddedFont>
    <p:embeddedFont>
      <p:font typeface="楷体" panose="02010609060101010101" charset="-122"/>
      <p:regular r:id="rId159"/>
    </p:embeddedFont>
    <p:embeddedFont>
      <p:font typeface="黑体" panose="02010609060101010101" pitchFamily="2" charset="-122"/>
      <p:regular r:id="rId160"/>
    </p:embeddedFont>
    <p:embeddedFont>
      <p:font typeface="隶书" panose="02010509060101010101" pitchFamily="49" charset="-122"/>
      <p:regular r:id="rId161"/>
    </p:embeddedFont>
    <p:embeddedFont>
      <p:font typeface="Segoe Print" panose="02000600000000000000" charset="0"/>
      <p:regular r:id="rId162"/>
      <p:bold r:id="rId163"/>
    </p:embeddedFont>
  </p:embeddedFont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odongdongzjhw" initials="g" lastIdx="16" clrIdx="0"/>
  <p:cmAuthor id="2" name="Wuqijun" initials="W"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594" y="102"/>
      </p:cViewPr>
      <p:guideLst>
        <p:guide orient="horz" pos="391"/>
        <p:guide orient="horz" pos="1181"/>
        <p:guide orient="horz" pos="4106"/>
        <p:guide orient="horz" pos="3237"/>
        <p:guide orient="horz" pos="2784"/>
        <p:guide pos="3762"/>
        <p:guide pos="888"/>
        <p:guide pos="7650"/>
        <p:guide pos="6985"/>
        <p:guide pos="1345"/>
        <p:guide pos="6400"/>
      </p:guideLst>
    </p:cSldViewPr>
  </p:slideViewPr>
  <p:notesTextViewPr>
    <p:cViewPr>
      <p:scale>
        <a:sx n="100" d="100"/>
        <a:sy n="100" d="100"/>
      </p:scale>
      <p:origin x="0" y="0"/>
    </p:cViewPr>
  </p:notesTextViewPr>
  <p:notesViewPr>
    <p:cSldViewPr>
      <p:cViewPr varScale="1">
        <p:scale>
          <a:sx n="67" d="100"/>
          <a:sy n="67" d="100"/>
        </p:scale>
        <p:origin x="-3360" y="-108"/>
      </p:cViewPr>
      <p:guideLst>
        <p:guide orient="horz" pos="2940"/>
        <p:guide pos="2116"/>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3" Type="http://schemas.openxmlformats.org/officeDocument/2006/relationships/font" Target="fonts/font11.fntdata"/><Relationship Id="rId162" Type="http://schemas.openxmlformats.org/officeDocument/2006/relationships/font" Target="fonts/font10.fntdata"/><Relationship Id="rId161" Type="http://schemas.openxmlformats.org/officeDocument/2006/relationships/font" Target="fonts/font9.fntdata"/><Relationship Id="rId160" Type="http://schemas.openxmlformats.org/officeDocument/2006/relationships/font" Target="fonts/font8.fntdata"/><Relationship Id="rId16" Type="http://schemas.openxmlformats.org/officeDocument/2006/relationships/slide" Target="slides/slide14.xml"/><Relationship Id="rId159" Type="http://schemas.openxmlformats.org/officeDocument/2006/relationships/font" Target="fonts/font7.fntdata"/><Relationship Id="rId158" Type="http://schemas.openxmlformats.org/officeDocument/2006/relationships/font" Target="fonts/font6.fntdata"/><Relationship Id="rId157" Type="http://schemas.openxmlformats.org/officeDocument/2006/relationships/font" Target="fonts/font5.fntdata"/><Relationship Id="rId156" Type="http://schemas.openxmlformats.org/officeDocument/2006/relationships/font" Target="fonts/font4.fntdata"/><Relationship Id="rId155" Type="http://schemas.openxmlformats.org/officeDocument/2006/relationships/font" Target="fonts/font3.fntdata"/><Relationship Id="rId154" Type="http://schemas.openxmlformats.org/officeDocument/2006/relationships/font" Target="fonts/font2.fntdata"/><Relationship Id="rId153" Type="http://schemas.openxmlformats.org/officeDocument/2006/relationships/font" Target="fonts/font1.fntdata"/><Relationship Id="rId152" Type="http://schemas.openxmlformats.org/officeDocument/2006/relationships/commentAuthors" Target="commentAuthors.xml"/><Relationship Id="rId151" Type="http://schemas.openxmlformats.org/officeDocument/2006/relationships/tableStyles" Target="tableStyles.xml"/><Relationship Id="rId150" Type="http://schemas.openxmlformats.org/officeDocument/2006/relationships/viewProps" Target="viewProps.xml"/><Relationship Id="rId15" Type="http://schemas.openxmlformats.org/officeDocument/2006/relationships/slide" Target="slides/slide13.xml"/><Relationship Id="rId149" Type="http://schemas.openxmlformats.org/officeDocument/2006/relationships/presProps" Target="presProps.xml"/><Relationship Id="rId148" Type="http://schemas.openxmlformats.org/officeDocument/2006/relationships/handoutMaster" Target="handoutMasters/handoutMaster1.xml"/><Relationship Id="rId147" Type="http://schemas.openxmlformats.org/officeDocument/2006/relationships/notesMaster" Target="notesMasters/notesMaster1.xml"/><Relationship Id="rId146" Type="http://schemas.openxmlformats.org/officeDocument/2006/relationships/slide" Target="slides/slide144.xml"/><Relationship Id="rId145" Type="http://schemas.openxmlformats.org/officeDocument/2006/relationships/slide" Target="slides/slide143.xml"/><Relationship Id="rId144" Type="http://schemas.openxmlformats.org/officeDocument/2006/relationships/slide" Target="slides/slide142.xml"/><Relationship Id="rId143" Type="http://schemas.openxmlformats.org/officeDocument/2006/relationships/slide" Target="slides/slide141.xml"/><Relationship Id="rId142" Type="http://schemas.openxmlformats.org/officeDocument/2006/relationships/slide" Target="slides/slide140.xml"/><Relationship Id="rId141" Type="http://schemas.openxmlformats.org/officeDocument/2006/relationships/slide" Target="slides/slide139.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033BA84-6C1D-4F93-A9F4-04B92CE1945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8FCAEF-2C49-435D-B9DA-BA0CC419F84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8788"/>
          </a:xfrm>
          <a:prstGeom prst="rect">
            <a:avLst/>
          </a:prstGeom>
          <a:noFill/>
          <a:ln w="9525">
            <a:noFill/>
            <a:miter lim="800000"/>
          </a:ln>
        </p:spPr>
        <p:txBody>
          <a:bodyPr vert="horz" wrap="square" lIns="91440" tIns="45720" rIns="91440" bIns="45720" numCol="1" anchor="t" anchorCtr="0" compatLnSpc="1"/>
          <a:lstStyle>
            <a:lvl1pPr>
              <a:defRPr sz="1200"/>
            </a:lvl1pPr>
          </a:lstStyle>
          <a:p>
            <a:endParaRPr lang="zh-CN" altLang="zh-CN"/>
          </a:p>
        </p:txBody>
      </p:sp>
      <p:sp>
        <p:nvSpPr>
          <p:cNvPr id="2051" name="日期占位符 2"/>
          <p:cNvSpPr>
            <a:spLocks noGrp="1" noChangeArrowheads="1"/>
          </p:cNvSpPr>
          <p:nvPr>
            <p:ph type="dt" idx="1"/>
          </p:nvPr>
        </p:nvSpPr>
        <p:spPr bwMode="auto">
          <a:xfrm>
            <a:off x="3884613" y="0"/>
            <a:ext cx="2971800" cy="458788"/>
          </a:xfrm>
          <a:prstGeom prst="rect">
            <a:avLst/>
          </a:prstGeom>
          <a:noFill/>
          <a:ln w="9525">
            <a:noFill/>
            <a:miter lim="800000"/>
          </a:ln>
        </p:spPr>
        <p:txBody>
          <a:bodyPr vert="horz" wrap="square" lIns="91440" tIns="45720" rIns="91440" bIns="45720" numCol="1" anchor="t" anchorCtr="0" compatLnSpc="1"/>
          <a:lstStyle>
            <a:lvl1pPr algn="r">
              <a:defRPr/>
            </a:lvl1pPr>
          </a:lstStyle>
          <a:p>
            <a:fld id="{9DD59B10-E385-4D3C-A0B0-F174EA9AA91B}"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685800" y="1143000"/>
            <a:ext cx="5486400" cy="3086100"/>
          </a:xfrm>
          <a:prstGeom prst="rect">
            <a:avLst/>
          </a:prstGeom>
          <a:noFill/>
          <a:ln w="12700" cmpd="sng">
            <a:noFill/>
            <a:bevel/>
          </a:ln>
        </p:spPr>
      </p:sp>
      <p:sp>
        <p:nvSpPr>
          <p:cNvPr id="2053" name="备注占位符 4"/>
          <p:cNvSpPr>
            <a:spLocks noGrp="1" noRot="1" noChangeAspect="1" noChangeArrowheads="1"/>
          </p:cNvSpPr>
          <p:nvPr/>
        </p:nvSpPr>
        <p:spPr bwMode="auto">
          <a:xfrm>
            <a:off x="685800" y="4400550"/>
            <a:ext cx="5486400" cy="3600450"/>
          </a:xfrm>
          <a:prstGeom prst="rect">
            <a:avLst/>
          </a:prstGeom>
          <a:noFill/>
          <a:ln w="12700" cmpd="sng">
            <a:noFill/>
            <a:bevel/>
          </a:ln>
        </p:spPr>
        <p:txBody>
          <a:bodyPr anchor="ctr"/>
          <a:lstStyle/>
          <a:p>
            <a:pPr defTabSz="0" eaLnBrk="0" hangingPunct="0">
              <a:spcBef>
                <a:spcPct val="30000"/>
              </a:spcBef>
              <a:buFontTx/>
              <a:buNone/>
            </a:pPr>
            <a:r>
              <a:rPr lang="zh-CN" altLang="en-US" sz="1200"/>
              <a:t>单击此处编辑母版文本样式</a:t>
            </a:r>
            <a:endParaRPr lang="zh-CN" altLang="en-US" sz="1200"/>
          </a:p>
          <a:p>
            <a:pPr defTabSz="0" eaLnBrk="0" hangingPunct="0">
              <a:spcBef>
                <a:spcPct val="30000"/>
              </a:spcBef>
              <a:buFontTx/>
              <a:buNone/>
            </a:pPr>
            <a:r>
              <a:rPr lang="zh-CN" altLang="en-US" sz="1200"/>
              <a:t>第二级</a:t>
            </a:r>
            <a:endParaRPr lang="zh-CN" altLang="en-US" sz="1200"/>
          </a:p>
          <a:p>
            <a:pPr defTabSz="0" eaLnBrk="0" hangingPunct="0">
              <a:spcBef>
                <a:spcPct val="30000"/>
              </a:spcBef>
              <a:buFontTx/>
              <a:buNone/>
            </a:pPr>
            <a:r>
              <a:rPr lang="zh-CN" altLang="en-US" sz="1200"/>
              <a:t>第三级</a:t>
            </a:r>
            <a:endParaRPr lang="zh-CN" altLang="en-US" sz="1200"/>
          </a:p>
          <a:p>
            <a:pPr defTabSz="0" eaLnBrk="0" hangingPunct="0">
              <a:spcBef>
                <a:spcPct val="30000"/>
              </a:spcBef>
              <a:buFontTx/>
              <a:buNone/>
            </a:pPr>
            <a:r>
              <a:rPr lang="zh-CN" altLang="en-US" sz="1200"/>
              <a:t>第四级</a:t>
            </a:r>
            <a:endParaRPr lang="zh-CN" altLang="en-US" sz="1200"/>
          </a:p>
          <a:p>
            <a:pPr defTabSz="0" eaLnBrk="0" hangingPunct="0">
              <a:spcBef>
                <a:spcPct val="30000"/>
              </a:spcBef>
              <a:buFontTx/>
              <a:buNone/>
            </a:pPr>
            <a:r>
              <a:rPr lang="zh-CN" altLang="en-US" sz="1200"/>
              <a:t>第五级</a:t>
            </a:r>
            <a:endParaRPr lang="zh-CN" altLang="en-US" sz="1200"/>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w="9525">
            <a:noFill/>
            <a:miter lim="800000"/>
          </a:ln>
        </p:spPr>
        <p:txBody>
          <a:bodyPr vert="horz" wrap="square" lIns="91440" tIns="45720" rIns="91440" bIns="45720" numCol="1" anchor="b" anchorCtr="0" compatLnSpc="1"/>
          <a:lstStyle>
            <a:lvl1pPr>
              <a:defRPr sz="1200"/>
            </a:lvl1pPr>
          </a:lstStyle>
          <a:p>
            <a:endParaRPr lang="zh-CN" altLang="zh-CN"/>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w="9525">
            <a:noFill/>
            <a:miter lim="800000"/>
          </a:ln>
        </p:spPr>
        <p:txBody>
          <a:bodyPr vert="horz" wrap="square" lIns="91440" tIns="45720" rIns="91440" bIns="45720" numCol="1" anchor="b" anchorCtr="0" compatLnSpc="1"/>
          <a:lstStyle>
            <a:lvl1pPr algn="r">
              <a:defRPr/>
            </a:lvl1pPr>
          </a:lstStyle>
          <a:p>
            <a:fld id="{79B3A261-A9C9-4EB5-901F-E33BE236AA87}"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3085" name="文本框 42"/>
          <p:cNvSpPr>
            <a:spLocks noChangeArrowheads="1"/>
          </p:cNvSpPr>
          <p:nvPr userDrawn="1"/>
        </p:nvSpPr>
        <p:spPr bwMode="auto">
          <a:xfrm>
            <a:off x="5067300" y="6322695"/>
            <a:ext cx="2606675" cy="260350"/>
          </a:xfrm>
          <a:prstGeom prst="rect">
            <a:avLst/>
          </a:prstGeom>
          <a:noFill/>
          <a:ln w="9525">
            <a:noFill/>
            <a:miter lim="800000"/>
          </a:ln>
        </p:spPr>
        <p:txBody>
          <a:bodyPr>
            <a:spAutoFit/>
          </a:bodyPr>
          <a:lstStyle/>
          <a:p>
            <a:pPr algn="dist"/>
            <a:r>
              <a:rPr lang="zh-CN" altLang="en-US" sz="11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1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15" name="直接连接符 40"/>
          <p:cNvSpPr>
            <a:spLocks noChangeShapeType="1"/>
          </p:cNvSpPr>
          <p:nvPr userDrawn="1"/>
        </p:nvSpPr>
        <p:spPr bwMode="auto">
          <a:xfrm>
            <a:off x="-7302" y="6426835"/>
            <a:ext cx="4319587" cy="12700"/>
          </a:xfrm>
          <a:prstGeom prst="line">
            <a:avLst/>
          </a:prstGeom>
          <a:noFill/>
          <a:ln w="3175" cap="flat" cmpd="sng">
            <a:solidFill>
              <a:srgbClr val="28A9D6"/>
            </a:solidFill>
            <a:bevel/>
          </a:ln>
        </p:spPr>
        <p:txBody>
          <a:bodyPr/>
          <a:lstStyle/>
          <a:p>
            <a:endParaRPr lang="zh-CN" altLang="en-US"/>
          </a:p>
        </p:txBody>
      </p:sp>
      <p:pic>
        <p:nvPicPr>
          <p:cNvPr id="20" name="图片 19" descr="图片1"/>
          <p:cNvPicPr>
            <a:picLocks noChangeAspect="1"/>
          </p:cNvPicPr>
          <p:nvPr userDrawn="1"/>
        </p:nvPicPr>
        <p:blipFill>
          <a:blip r:embed="rId2"/>
          <a:stretch>
            <a:fillRect/>
          </a:stretch>
        </p:blipFill>
        <p:spPr>
          <a:xfrm>
            <a:off x="4240530" y="6153785"/>
            <a:ext cx="869950" cy="582295"/>
          </a:xfrm>
          <a:prstGeom prst="rect">
            <a:avLst/>
          </a:prstGeom>
        </p:spPr>
      </p:pic>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lstStyle/>
          <a:p>
            <a:pPr algn="ctr"/>
            <a:endParaRPr lang="zh-CN" altLang="zh-CN">
              <a:solidFill>
                <a:srgbClr val="FFFFFF"/>
              </a:solidFill>
            </a:endParaRPr>
          </a:p>
        </p:txBody>
      </p:sp>
      <p:sp>
        <p:nvSpPr>
          <p:cNvPr id="1026" name="灯片编号占位符 3"/>
          <p:cNvSpPr>
            <a:spLocks noGrp="1" noChangeArrowheads="1"/>
          </p:cNvSpPr>
          <p:nvPr>
            <p:ph type="sldNum" sz="quarter" idx="4"/>
          </p:nvPr>
        </p:nvSpPr>
        <p:spPr bwMode="auto">
          <a:xfrm>
            <a:off x="11376025" y="648366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lstStyle/>
          <a:p>
            <a:pPr algn="ctr"/>
            <a:endParaRPr lang="zh-CN" altLang="zh-CN">
              <a:solidFill>
                <a:srgbClr val="FFFFFF"/>
              </a:solidFill>
            </a:endParaRPr>
          </a:p>
        </p:txBody>
      </p:sp>
      <p:sp>
        <p:nvSpPr>
          <p:cNvPr id="1026" name="灯片编号占位符 3"/>
          <p:cNvSpPr>
            <a:spLocks noGrp="1" noChangeArrowheads="1"/>
          </p:cNvSpPr>
          <p:nvPr>
            <p:ph type="sldNum" sz="quarter" idx="4"/>
          </p:nvPr>
        </p:nvSpPr>
        <p:spPr bwMode="auto">
          <a:xfrm>
            <a:off x="11376025" y="648366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4707255" y="283210"/>
            <a:ext cx="270764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上次回顾</a:t>
            </a:r>
            <a:endPar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2" name="椭圆 24"/>
          <p:cNvSpPr>
            <a:spLocks noChangeArrowheads="1"/>
          </p:cNvSpPr>
          <p:nvPr userDrawn="1"/>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5044440" y="283210"/>
            <a:ext cx="203835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总结</a:t>
            </a:r>
            <a:endPar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10" name="图片 9" descr="SZU讲义封面"/>
          <p:cNvPicPr>
            <a:picLocks noChangeAspect="1"/>
          </p:cNvPicPr>
          <p:nvPr userDrawn="1"/>
        </p:nvPicPr>
        <p:blipFill>
          <a:blip r:embed="rId2"/>
          <a:stretch>
            <a:fillRect/>
          </a:stretch>
        </p:blipFill>
        <p:spPr>
          <a:xfrm>
            <a:off x="0" y="1905"/>
            <a:ext cx="12192000" cy="4400550"/>
          </a:xfrm>
          <a:prstGeom prst="rect">
            <a:avLst/>
          </a:prstGeom>
        </p:spPr>
      </p:pic>
      <p:sp>
        <p:nvSpPr>
          <p:cNvPr id="3075" name="矩形 1"/>
          <p:cNvSpPr>
            <a:spLocks noChangeArrowheads="1"/>
          </p:cNvSpPr>
          <p:nvPr userDrawn="1"/>
        </p:nvSpPr>
        <p:spPr bwMode="auto">
          <a:xfrm>
            <a:off x="635" y="4088765"/>
            <a:ext cx="12192000" cy="824865"/>
          </a:xfrm>
          <a:prstGeom prst="rect">
            <a:avLst/>
          </a:prstGeom>
          <a:solidFill>
            <a:srgbClr val="28A9D6"/>
          </a:solidFill>
          <a:ln w="9525" cmpd="sng">
            <a:noFill/>
            <a:bevel/>
          </a:ln>
        </p:spPr>
        <p:txBody>
          <a:bodyPr lIns="121920" tIns="60960" rIns="121920" bIns="60960" anchor="ctr" anchorCtr="0"/>
          <a:lstStyle/>
          <a:p>
            <a:pPr algn="ctr"/>
            <a:endParaRPr lang="en-US" altLang="zh-CN" sz="3600">
              <a:solidFill>
                <a:srgbClr val="FFFF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3" name="组合 2"/>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en-US" altLang="zh-CN"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6" name="Picture 3"/>
            <p:cNvPicPr>
              <a:picLocks noChangeAspect="1" noChangeArrowheads="1"/>
            </p:cNvPicPr>
            <p:nvPr userDrawn="1"/>
          </p:nvPicPr>
          <p:blipFill>
            <a:blip r:embed="rId3"/>
            <a:srcRect/>
            <a:stretch>
              <a:fillRect/>
            </a:stretch>
          </p:blipFill>
          <p:spPr bwMode="auto">
            <a:xfrm>
              <a:off x="6934" y="9160"/>
              <a:ext cx="1101" cy="1101"/>
            </a:xfrm>
            <a:prstGeom prst="rect">
              <a:avLst/>
            </a:prstGeom>
            <a:noFill/>
            <a:ln w="9525">
              <a:noFill/>
              <a:miter lim="800000"/>
              <a:headEnd/>
              <a:tailEnd/>
            </a:ln>
            <a:effectLst/>
          </p:spPr>
        </p:pic>
      </p:grpSp>
      <p:grpSp>
        <p:nvGrpSpPr>
          <p:cNvPr id="4" name="组合 3"/>
          <p:cNvGrpSpPr/>
          <p:nvPr userDrawn="1"/>
        </p:nvGrpSpPr>
        <p:grpSpPr>
          <a:xfrm>
            <a:off x="948055" y="5455920"/>
            <a:ext cx="10026650" cy="398780"/>
            <a:chOff x="1493" y="8366"/>
            <a:chExt cx="15790" cy="628"/>
          </a:xfrm>
        </p:grpSpPr>
        <p:sp>
          <p:nvSpPr>
            <p:cNvPr id="7175" name="直接连接符 29"/>
            <p:cNvSpPr/>
            <p:nvPr userDrawn="1"/>
          </p:nvSpPr>
          <p:spPr>
            <a:xfrm>
              <a:off x="1493" y="8671"/>
              <a:ext cx="5983" cy="22"/>
            </a:xfrm>
            <a:prstGeom prst="line">
              <a:avLst/>
            </a:prstGeom>
            <a:ln w="3175" cap="flat" cmpd="sng">
              <a:solidFill>
                <a:srgbClr val="28A9D6"/>
              </a:solidFill>
              <a:prstDash val="solid"/>
              <a:bevel/>
              <a:headEnd type="none" w="med" len="med"/>
              <a:tailEnd type="none" w="med" len="med"/>
            </a:ln>
          </p:spPr>
        </p:sp>
        <p:sp>
          <p:nvSpPr>
            <p:cNvPr id="7178" name="直接连接符 40"/>
            <p:cNvSpPr/>
            <p:nvPr userDrawn="1"/>
          </p:nvSpPr>
          <p:spPr>
            <a:xfrm>
              <a:off x="11671" y="8672"/>
              <a:ext cx="5612" cy="21"/>
            </a:xfrm>
            <a:prstGeom prst="line">
              <a:avLst/>
            </a:prstGeom>
            <a:ln w="3175" cap="flat" cmpd="sng">
              <a:solidFill>
                <a:srgbClr val="28A9D6"/>
              </a:solidFill>
              <a:prstDash val="solid"/>
              <a:bevel/>
              <a:headEnd type="none" w="med" len="med"/>
              <a:tailEnd type="none" w="med" len="med"/>
            </a:ln>
          </p:spPr>
        </p:sp>
        <p:sp>
          <p:nvSpPr>
            <p:cNvPr id="7181" name="TextBox 14"/>
            <p:cNvSpPr txBox="1"/>
            <p:nvPr userDrawn="1"/>
          </p:nvSpPr>
          <p:spPr>
            <a:xfrm>
              <a:off x="8491" y="8366"/>
              <a:ext cx="2479"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主讲白鉴聪</a:t>
              </a:r>
              <a:endParaRPr lang="zh-CN" altLang="en-US" sz="2000" dirty="0">
                <a:latin typeface="Tahoma" panose="020B0604030504040204" charset="0"/>
                <a:ea typeface="宋体" panose="02010600030101010101" pitchFamily="2" charset="-122"/>
              </a:endParaRPr>
            </a:p>
          </p:txBody>
        </p:sp>
      </p:grpSp>
      <p:grpSp>
        <p:nvGrpSpPr>
          <p:cNvPr id="5" name="组合 4"/>
          <p:cNvGrpSpPr/>
          <p:nvPr userDrawn="1"/>
        </p:nvGrpSpPr>
        <p:grpSpPr>
          <a:xfrm>
            <a:off x="1198245" y="5008880"/>
            <a:ext cx="9531350" cy="398780"/>
            <a:chOff x="1868" y="8366"/>
            <a:chExt cx="15010" cy="628"/>
          </a:xfrm>
        </p:grpSpPr>
        <p:sp>
          <p:nvSpPr>
            <p:cNvPr id="7" name="直接连接符 29"/>
            <p:cNvSpPr/>
            <p:nvPr userDrawn="1"/>
          </p:nvSpPr>
          <p:spPr>
            <a:xfrm>
              <a:off x="1868" y="8671"/>
              <a:ext cx="5159" cy="21"/>
            </a:xfrm>
            <a:prstGeom prst="line">
              <a:avLst/>
            </a:prstGeom>
            <a:ln w="3175" cap="flat" cmpd="sng">
              <a:solidFill>
                <a:srgbClr val="28A9D6"/>
              </a:solidFill>
              <a:prstDash val="solid"/>
              <a:bevel/>
              <a:headEnd type="none" w="med" len="med"/>
              <a:tailEnd type="none" w="med" len="med"/>
            </a:ln>
          </p:spPr>
        </p:sp>
        <p:sp>
          <p:nvSpPr>
            <p:cNvPr id="8" name="直接连接符 40"/>
            <p:cNvSpPr/>
            <p:nvPr userDrawn="1"/>
          </p:nvSpPr>
          <p:spPr>
            <a:xfrm>
              <a:off x="11897" y="8692"/>
              <a:ext cx="4981" cy="2"/>
            </a:xfrm>
            <a:prstGeom prst="line">
              <a:avLst/>
            </a:prstGeom>
            <a:ln w="3175" cap="flat" cmpd="sng">
              <a:solidFill>
                <a:srgbClr val="28A9D6"/>
              </a:solidFill>
              <a:prstDash val="solid"/>
              <a:bevel/>
              <a:headEnd type="none" w="med" len="med"/>
              <a:tailEnd type="none" w="med" len="med"/>
            </a:ln>
          </p:spPr>
        </p:sp>
        <p:sp>
          <p:nvSpPr>
            <p:cNvPr id="9" name="TextBox 14"/>
            <p:cNvSpPr txBox="1"/>
            <p:nvPr userDrawn="1"/>
          </p:nvSpPr>
          <p:spPr>
            <a:xfrm>
              <a:off x="7792" y="8366"/>
              <a:ext cx="3621"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数据结构</a:t>
              </a:r>
              <a:endParaRPr lang="zh-CN" altLang="en-US" sz="2000" dirty="0">
                <a:latin typeface="Tahoma" panose="020B0604030504040204" charset="0"/>
                <a:ea typeface="宋体" panose="02010600030101010101" pitchFamily="2" charset="-122"/>
              </a:endParaRPr>
            </a:p>
          </p:txBody>
        </p:sp>
      </p:gr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075" name="矩形 1"/>
          <p:cNvSpPr>
            <a:spLocks noChangeArrowheads="1"/>
          </p:cNvSpPr>
          <p:nvPr userDrawn="1"/>
        </p:nvSpPr>
        <p:spPr bwMode="auto">
          <a:xfrm>
            <a:off x="0" y="4728210"/>
            <a:ext cx="12192000" cy="903605"/>
          </a:xfrm>
          <a:prstGeom prst="rect">
            <a:avLst/>
          </a:prstGeom>
          <a:solidFill>
            <a:srgbClr val="28A9D6"/>
          </a:solidFill>
          <a:ln w="9525" cmpd="sng">
            <a:noFill/>
            <a:bevel/>
          </a:ln>
        </p:spPr>
        <p:txBody>
          <a:bodyPr lIns="121920" tIns="60960" rIns="121920" bIns="60960" anchor="ctr" anchorCtr="0"/>
          <a:lstStyle/>
          <a:p>
            <a:pPr algn="ctr"/>
            <a:r>
              <a:rPr lang="zh-CN" altLang="zh-CN" sz="4000">
                <a:solidFill>
                  <a:srgbClr val="FFFF00"/>
                </a:solidFill>
                <a:latin typeface="宋体" panose="02010600030101010101" pitchFamily="2" charset="-122"/>
                <a:ea typeface="微软雅黑" panose="020B0503020204020204" pitchFamily="34" charset="-122"/>
                <a:sym typeface="宋体" panose="02010600030101010101" pitchFamily="2" charset="-122"/>
              </a:rPr>
              <a:t>谢谢观看</a:t>
            </a:r>
            <a:endParaRPr lang="zh-CN" altLang="zh-CN" sz="4000">
              <a:solidFill>
                <a:srgbClr val="FFFF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076" name="直接连接符 24"/>
          <p:cNvSpPr>
            <a:spLocks noChangeShapeType="1"/>
          </p:cNvSpPr>
          <p:nvPr userDrawn="1"/>
        </p:nvSpPr>
        <p:spPr bwMode="auto">
          <a:xfrm>
            <a:off x="0" y="5665153"/>
            <a:ext cx="12192000" cy="1587"/>
          </a:xfrm>
          <a:prstGeom prst="line">
            <a:avLst/>
          </a:prstGeom>
          <a:noFill/>
          <a:ln w="19050" cap="flat" cmpd="sng">
            <a:solidFill>
              <a:srgbClr val="28A9D6"/>
            </a:solidFill>
            <a:bevel/>
          </a:ln>
        </p:spPr>
        <p:txBody>
          <a:bodyPr/>
          <a:lstStyle/>
          <a:p>
            <a:endParaRPr lang="zh-CN" altLang="en-US"/>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4" name="组合 3"/>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en-US" altLang="zh-CN"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6" name="Picture 3"/>
            <p:cNvPicPr>
              <a:picLocks noChangeAspect="1" noChangeArrowheads="1"/>
            </p:cNvPicPr>
            <p:nvPr userDrawn="1"/>
          </p:nvPicPr>
          <p:blipFill>
            <a:blip r:embed="rId2"/>
            <a:srcRect/>
            <a:stretch>
              <a:fillRect/>
            </a:stretch>
          </p:blipFill>
          <p:spPr bwMode="auto">
            <a:xfrm>
              <a:off x="6934" y="9160"/>
              <a:ext cx="1101" cy="1101"/>
            </a:xfrm>
            <a:prstGeom prst="rect">
              <a:avLst/>
            </a:prstGeom>
            <a:noFill/>
            <a:ln w="9525">
              <a:noFill/>
              <a:miter lim="800000"/>
              <a:headEnd/>
              <a:tailEnd/>
            </a:ln>
            <a:effectLst/>
          </p:spPr>
        </p:pic>
      </p:grpSp>
      <p:pic>
        <p:nvPicPr>
          <p:cNvPr id="2" name="图片 1" descr="SZU讲义尾页"/>
          <p:cNvPicPr>
            <a:picLocks noChangeAspect="1"/>
          </p:cNvPicPr>
          <p:nvPr userDrawn="1"/>
        </p:nvPicPr>
        <p:blipFill>
          <a:blip r:embed="rId3"/>
          <a:stretch>
            <a:fillRect/>
          </a:stretch>
        </p:blipFill>
        <p:spPr>
          <a:xfrm>
            <a:off x="0" y="-35560"/>
            <a:ext cx="12191365" cy="4763770"/>
          </a:xfrm>
          <a:prstGeom prst="rect">
            <a:avLst/>
          </a:prstGeom>
        </p:spPr>
      </p:pic>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5144135"/>
          </a:xfrm>
        </p:spPr>
        <p:txBody>
          <a:bodyPr/>
          <a:lstStyle>
            <a:lvl1pPr>
              <a:buFont typeface="Wingdings" panose="05000000000000000000" charset="0"/>
              <a:buChar char="l"/>
              <a:defRPr sz="2800">
                <a:sym typeface="宋体" panose="02010600030101010101" pitchFamily="2" charset="-122"/>
              </a:defRPr>
            </a:lvl1pPr>
            <a:lvl2pPr>
              <a:defRPr sz="2400">
                <a:sym typeface="宋体" panose="02010600030101010101" pitchFamily="2" charset="-122"/>
              </a:defRPr>
            </a:lvl2pPr>
            <a:lvl3pPr>
              <a:buFont typeface="Arial" panose="020B0604020202020204" pitchFamily="34" charset="0"/>
              <a:buChar char="•"/>
              <a:defRPr sz="2000">
                <a:sym typeface="宋体" panose="02010600030101010101" pitchFamily="2" charset="-122"/>
              </a:defRPr>
            </a:lvl3pPr>
            <a:lvl4pPr>
              <a:defRPr sz="2000">
                <a:sym typeface="宋体" panose="02010600030101010101" pitchFamily="2" charset="-122"/>
              </a:defRPr>
            </a:lvl4pPr>
            <a:lvl5pPr>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endParaRPr lang="en-US" dirty="0"/>
          </a:p>
        </p:txBody>
      </p:sp>
      <p:sp>
        <p:nvSpPr>
          <p:cNvPr id="7" name="标题 6"/>
          <p:cNvSpPr>
            <a:spLocks noGrp="1"/>
          </p:cNvSpPr>
          <p:nvPr>
            <p:ph type="title"/>
          </p:nvPr>
        </p:nvSpPr>
        <p:spPr>
          <a:xfrm>
            <a:off x="752475" y="150813"/>
            <a:ext cx="10972800" cy="796908"/>
          </a:xfrm>
        </p:spPr>
        <p:txBody>
          <a:bodyPr rtlCol="0"/>
          <a:lstStyle>
            <a:lvl1pPr algn="l">
              <a:defRPr sz="3600">
                <a:sym typeface="宋体" panose="02010600030101010101" pitchFamily="2" charset="-122"/>
              </a:defRPr>
            </a:lvl1pPr>
          </a:lstStyle>
          <a:p>
            <a:r>
              <a:rPr lang="zh-CN" altLang="en-US" smtClean="0"/>
              <a:t>单击此处编辑母版标题样式</a:t>
            </a:r>
            <a:endParaRPr lang="en-US"/>
          </a:p>
        </p:txBody>
      </p:sp>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p>
            <a:pPr algn="ctr"/>
            <a:endParaRPr lang="zh-CN" altLang="zh-CN">
              <a:solidFill>
                <a:srgbClr val="FFFFFF"/>
              </a:solidFill>
            </a:endParaRPr>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p>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4433" y="188913"/>
            <a:ext cx="10972800" cy="792162"/>
          </a:xfrm>
        </p:spPr>
        <p:txBody>
          <a:bodyPr/>
          <a:lstStyle>
            <a:lvl1pPr>
              <a:defRPr>
                <a:sym typeface="宋体" panose="02010600030101010101" pitchFamily="2" charset="-122"/>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31800" y="1268413"/>
            <a:ext cx="5611284"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246284" y="1268413"/>
            <a:ext cx="5611283"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a:xfrm>
            <a:off x="334433" y="6237288"/>
            <a:ext cx="3860800" cy="457200"/>
          </a:xfrm>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endPar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fld>
            <a:endParaRPr lang="en-US" altLang="zh-CN" sz="1200" strike="noStrike" noProof="1" dirty="0">
              <a:latin typeface="Garamond" panose="02020404030301010803"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 name="Freeform 7"/>
          <p:cNvSpPr>
            <a:spLocks noChangeArrowheads="1"/>
          </p:cNvSpPr>
          <p:nvPr/>
        </p:nvSpPr>
        <p:spPr bwMode="auto">
          <a:xfrm>
            <a:off x="812800" y="1219200"/>
            <a:ext cx="105664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Line 8"/>
          <p:cNvSpPr>
            <a:spLocks noChangeShapeType="1"/>
          </p:cNvSpPr>
          <p:nvPr/>
        </p:nvSpPr>
        <p:spPr bwMode="auto">
          <a:xfrm>
            <a:off x="2641600" y="3962400"/>
            <a:ext cx="8682567" cy="0"/>
          </a:xfrm>
          <a:prstGeom prst="line">
            <a:avLst/>
          </a:prstGeom>
          <a:noFill/>
          <a:ln w="19050">
            <a:solidFill>
              <a:schemeClr val="accent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5586" name="Rectangle 2"/>
          <p:cNvSpPr>
            <a:spLocks noGrp="1" noChangeArrowheads="1"/>
          </p:cNvSpPr>
          <p:nvPr>
            <p:ph type="ctrTitle"/>
          </p:nvPr>
        </p:nvSpPr>
        <p:spPr>
          <a:xfrm>
            <a:off x="1219201" y="1524000"/>
            <a:ext cx="10164233" cy="1752600"/>
          </a:xfrm>
        </p:spPr>
        <p:txBody>
          <a:bodyPr/>
          <a:lstStyle>
            <a:lvl1pPr>
              <a:defRPr sz="5000">
                <a:sym typeface="宋体" panose="02010600030101010101" pitchFamily="2" charset="-122"/>
              </a:defRPr>
            </a:lvl1pPr>
          </a:lstStyle>
          <a:p>
            <a:pPr fontAlgn="base"/>
            <a:r>
              <a:rPr lang="en-US" altLang="zh-CN" strike="noStrike" noProof="1"/>
              <a:t>Click to edit Master title style</a:t>
            </a:r>
            <a:endParaRPr lang="en-US" altLang="zh-CN" strike="noStrike" noProof="1"/>
          </a:p>
        </p:txBody>
      </p:sp>
      <p:sp>
        <p:nvSpPr>
          <p:cNvPr id="195587" name="Rectangle 3"/>
          <p:cNvSpPr>
            <a:spLocks noGrp="1" noChangeArrowheads="1"/>
          </p:cNvSpPr>
          <p:nvPr>
            <p:ph type="subTitle" idx="1"/>
          </p:nvPr>
        </p:nvSpPr>
        <p:spPr>
          <a:xfrm>
            <a:off x="2641600" y="3962400"/>
            <a:ext cx="8737600" cy="1752600"/>
          </a:xfrm>
        </p:spPr>
        <p:txBody>
          <a:bodyPr/>
          <a:lstStyle>
            <a:lvl1pPr marL="0" indent="0">
              <a:defRPr sz="2600">
                <a:sym typeface="宋体" panose="02010600030101010101" pitchFamily="2" charset="-122"/>
              </a:defRPr>
            </a:lvl1pPr>
          </a:lstStyle>
          <a:p>
            <a:pPr fontAlgn="base"/>
            <a:r>
              <a:rPr lang="en-US" altLang="zh-CN" strike="noStrike" noProof="1"/>
              <a:t>Click to edit Master subtitle style</a:t>
            </a:r>
            <a:endParaRPr lang="en-US" altLang="zh-CN" strike="noStrike" noProof="1"/>
          </a:p>
        </p:txBody>
      </p:sp>
      <p:sp>
        <p:nvSpPr>
          <p:cNvPr id="10" name="Rectangle 6"/>
          <p:cNvSpPr>
            <a:spLocks noGrp="1" noChangeArrowheads="1"/>
          </p:cNvSpPr>
          <p:nvPr>
            <p:ph type="sldNum" sz="quarter" idx="4"/>
          </p:nvPr>
        </p:nvSpPr>
        <p:spPr bwMode="auto">
          <a:xfrm>
            <a:off x="8737600" y="6243638"/>
            <a:ext cx="2844800" cy="457200"/>
          </a:xfrm>
          <a:prstGeom prst="rect">
            <a:avLst/>
          </a:prstGeom>
          <a:noFill/>
          <a:ln w="9525">
            <a:noFill/>
            <a:miter lim="800000"/>
          </a:ln>
          <a:effectLst/>
        </p:spPr>
        <p:txBody>
          <a:bodyPr vert="horz" wrap="square" lIns="91440" tIns="45720" rIns="91440" bIns="45720" numCol="1" anchor="b" anchorCtr="0" compatLnSpc="1"/>
          <a:p>
            <a:pPr algn="r" fontAlgn="base"/>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fld>
            <a:endParaRPr lang="en-US" altLang="zh-CN" sz="1200" strike="noStrike" noProof="1" dirty="0">
              <a:latin typeface="Garamond" panose="02020404030301010803"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a:xfrm>
            <a:off x="334433" y="6237288"/>
            <a:ext cx="3860800" cy="457200"/>
          </a:xfrm>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endPar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fld>
            <a:endParaRPr lang="en-US" altLang="zh-CN" sz="1200" strike="noStrike" noProof="1" dirty="0">
              <a:latin typeface="Garamond" panose="02020404030301010803"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34433" y="188913"/>
            <a:ext cx="10972800" cy="792163"/>
          </a:xfrm>
        </p:spPr>
        <p:txBody>
          <a:bodyPr/>
          <a:lstStyle>
            <a:lvl1pPr>
              <a:defRPr>
                <a:sym typeface="宋体" panose="02010600030101010101" pitchFamily="2" charset="-122"/>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31800" y="1268414"/>
            <a:ext cx="5611284"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246284" y="1268414"/>
            <a:ext cx="5611283" cy="2300287"/>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246284" y="3721100"/>
            <a:ext cx="5611283" cy="2300288"/>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0"/>
          </p:nvPr>
        </p:nvSpPr>
        <p:spPr>
          <a:xfrm>
            <a:off x="334433" y="6237288"/>
            <a:ext cx="3860800" cy="457200"/>
          </a:xfrm>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endPar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fld>
            <a:endParaRPr lang="en-US" altLang="zh-CN" sz="1200" strike="noStrike" noProof="1" dirty="0">
              <a:latin typeface="Garamond" panose="02020404030301010803"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F4F8FB"/>
            </a:gs>
            <a:gs pos="63000">
              <a:srgbClr val="F2F2F2"/>
            </a:gs>
            <a:gs pos="100000">
              <a:srgbClr val="D8D8D8"/>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1026" name="灯片编号占位符 3"/>
          <p:cNvSpPr>
            <a:spLocks noGrp="1" noChangeArrowheads="1"/>
          </p:cNvSpPr>
          <p:nvPr>
            <p:ph type="sldNum" sz="quarter" idx="4"/>
          </p:nvPr>
        </p:nvSpPr>
        <p:spPr bwMode="auto">
          <a:xfrm>
            <a:off x="942975" y="633888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1219200" indent="-1219200" algn="ctr" rtl="0" fontAlgn="base">
        <a:spcBef>
          <a:spcPct val="0"/>
        </a:spcBef>
        <a:spcAft>
          <a:spcPct val="0"/>
        </a:spcAft>
        <a:defRPr sz="5800">
          <a:solidFill>
            <a:schemeClr val="tx1"/>
          </a:solidFill>
          <a:latin typeface="+mj-lt"/>
          <a:ea typeface="+mj-ea"/>
          <a:cs typeface="+mj-cs"/>
          <a:sym typeface="Copperplate Gothic Bold" panose="020E0705020206020404" charset="0"/>
        </a:defRPr>
      </a:lvl1pPr>
      <a:lvl2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2pPr>
      <a:lvl3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3pPr>
      <a:lvl4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4pPr>
      <a:lvl5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5pPr>
      <a:lvl6pPr marL="16764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6pPr>
      <a:lvl7pPr marL="21336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7pPr>
      <a:lvl8pPr marL="25908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8pPr>
      <a:lvl9pPr marL="30480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9pPr>
    </p:titleStyle>
    <p:bodyStyle>
      <a:lvl1pPr marL="457200" indent="-457200" algn="l" defTabSz="1219200" rtl="0" fontAlgn="base">
        <a:spcBef>
          <a:spcPct val="20000"/>
        </a:spcBef>
        <a:spcAft>
          <a:spcPct val="0"/>
        </a:spcAft>
        <a:buFont typeface="Arial" panose="020B0604020202020204" pitchFamily="34" charset="0"/>
        <a:buChar char="•"/>
        <a:defRPr sz="4200">
          <a:solidFill>
            <a:schemeClr val="tx1"/>
          </a:solidFill>
          <a:latin typeface="+mn-lt"/>
          <a:ea typeface="+mn-ea"/>
          <a:cs typeface="+mn-cs"/>
          <a:sym typeface="Copperplate Gothic Bold" panose="020E0705020206020404" charset="0"/>
        </a:defRPr>
      </a:lvl1pPr>
      <a:lvl2pPr marL="990600" indent="-381000" algn="l" defTabSz="1219200" rtl="0" fontAlgn="base">
        <a:spcBef>
          <a:spcPct val="20000"/>
        </a:spcBef>
        <a:spcAft>
          <a:spcPct val="0"/>
        </a:spcAft>
        <a:buFont typeface="Arial" panose="020B0604020202020204" pitchFamily="34" charset="0"/>
        <a:buChar char="–"/>
        <a:defRPr sz="3700">
          <a:solidFill>
            <a:schemeClr val="tx1"/>
          </a:solidFill>
          <a:latin typeface="+mn-lt"/>
          <a:ea typeface="+mn-ea"/>
          <a:sym typeface="Copperplate Gothic Bold" panose="020E0705020206020404" charset="0"/>
        </a:defRPr>
      </a:lvl2pPr>
      <a:lvl3pPr marL="1524000" indent="-304800" algn="l" defTabSz="1219200" rtl="0" fontAlgn="base">
        <a:spcBef>
          <a:spcPct val="20000"/>
        </a:spcBef>
        <a:spcAft>
          <a:spcPct val="0"/>
        </a:spcAft>
        <a:buFont typeface="Arial" panose="020B0604020202020204" pitchFamily="34" charset="0"/>
        <a:buChar char="•"/>
        <a:defRPr sz="3200">
          <a:solidFill>
            <a:schemeClr val="tx1"/>
          </a:solidFill>
          <a:latin typeface="+mn-lt"/>
          <a:ea typeface="+mn-ea"/>
          <a:sym typeface="Copperplate Gothic Bold" panose="020E0705020206020404" charset="0"/>
        </a:defRPr>
      </a:lvl3pPr>
      <a:lvl4pPr marL="2133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4pPr>
      <a:lvl5pPr marL="27432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5pPr>
      <a:lvl6pPr marL="32004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6pPr>
      <a:lvl7pPr marL="3657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7pPr>
      <a:lvl8pPr marL="41148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8pPr>
      <a:lvl9pPr marL="45720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8.xml"/><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8.xml"/><Relationship Id="rId2" Type="http://schemas.openxmlformats.org/officeDocument/2006/relationships/image" Target="../media/image13.wmf"/><Relationship Id="rId1" Type="http://schemas.openxmlformats.org/officeDocument/2006/relationships/oleObject" Target="../embeddings/oleObject2.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jpe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6.png"/><Relationship Id="rId1"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8.xml"/><Relationship Id="rId2" Type="http://schemas.openxmlformats.org/officeDocument/2006/relationships/image" Target="../media/image17.wmf"/><Relationship Id="rId1" Type="http://schemas.openxmlformats.org/officeDocument/2006/relationships/oleObject" Target="../embeddings/oleObject3.bin"/></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8.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20.png"/><Relationship Id="rId1" Type="http://schemas.openxmlformats.org/officeDocument/2006/relationships/image" Target="../media/image19.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20.png"/><Relationship Id="rId1" Type="http://schemas.openxmlformats.org/officeDocument/2006/relationships/image" Target="../media/image19.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1.png"/></Relationships>
</file>

<file path=ppt/slides/_rels/slide86.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8.xml"/><Relationship Id="rId4" Type="http://schemas.openxmlformats.org/officeDocument/2006/relationships/image" Target="../media/image23.wmf"/><Relationship Id="rId3" Type="http://schemas.openxmlformats.org/officeDocument/2006/relationships/oleObject" Target="../embeddings/oleObject4.bin"/><Relationship Id="rId2" Type="http://schemas.openxmlformats.org/officeDocument/2006/relationships/image" Target="../media/image22.png"/><Relationship Id="rId1" Type="http://schemas.openxmlformats.org/officeDocument/2006/relationships/image" Target="../media/image19.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25.png"/><Relationship Id="rId1" Type="http://schemas.openxmlformats.org/officeDocument/2006/relationships/image" Target="../media/image24.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6.png"/></Relationships>
</file>

<file path=ppt/slides/_rels/slide9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8.xml"/><Relationship Id="rId2" Type="http://schemas.openxmlformats.org/officeDocument/2006/relationships/image" Target="../media/image27.wmf"/><Relationship Id="rId1" Type="http://schemas.openxmlformats.org/officeDocument/2006/relationships/oleObject" Target="../embeddings/oleObject5.bin"/></Relationships>
</file>

<file path=ppt/slides/_rels/slide100.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8.xml"/><Relationship Id="rId3" Type="http://schemas.openxmlformats.org/officeDocument/2006/relationships/image" Target="../media/image28.png"/><Relationship Id="rId2" Type="http://schemas.openxmlformats.org/officeDocument/2006/relationships/image" Target="../media/image27.wmf"/><Relationship Id="rId1" Type="http://schemas.openxmlformats.org/officeDocument/2006/relationships/oleObject" Target="../embeddings/oleObject6.bin"/></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114.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wmf"/><Relationship Id="rId2" Type="http://schemas.openxmlformats.org/officeDocument/2006/relationships/oleObject" Target="../embeddings/oleObject7.bin"/><Relationship Id="rId1" Type="http://schemas.openxmlformats.org/officeDocument/2006/relationships/tags" Target="../tags/tag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2.jpe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34.png"/><Relationship Id="rId1" Type="http://schemas.openxmlformats.org/officeDocument/2006/relationships/tags" Target="../tags/tag5.xml"/></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5.png"/></Relationships>
</file>

<file path=ppt/slides/_rels/slide14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37.png"/><Relationship Id="rId1" Type="http://schemas.openxmlformats.org/officeDocument/2006/relationships/image" Target="../media/image3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159885" y="4126230"/>
            <a:ext cx="4374515" cy="815340"/>
          </a:xfrm>
          <a:prstGeom prst="rect">
            <a:avLst/>
          </a:prstGeom>
        </p:spPr>
        <p:txBody>
          <a:bodyPr vert="horz" lIns="91440" tIns="45720" rIns="91440" bIns="45720" rtlCol="0" anchor="ctr" anchorCtr="0">
            <a:noAutofit/>
          </a:bodyPr>
          <a:p>
            <a:pPr marL="0" lvl="0" indent="0" algn="ctr">
              <a:lnSpc>
                <a:spcPct val="90000"/>
              </a:lnSpc>
              <a:spcBef>
                <a:spcPts val="1000"/>
              </a:spcBef>
              <a:buClr>
                <a:schemeClr val="accent2"/>
              </a:buClr>
              <a:buFont typeface="Wingdings" panose="05000000000000000000" pitchFamily="2" charset="2"/>
              <a:buNone/>
            </a:pPr>
            <a:r>
              <a:rPr lang="en-US" altLang="zh-CN" sz="4400">
                <a:solidFill>
                  <a:srgbClr val="FFFF00"/>
                </a:solidFill>
              </a:rPr>
              <a:t>6 </a:t>
            </a:r>
            <a:r>
              <a:rPr lang="zh-CN" altLang="en-US" sz="4400">
                <a:solidFill>
                  <a:srgbClr val="FFFF00"/>
                </a:solidFill>
              </a:rPr>
              <a:t>树和二叉树</a:t>
            </a:r>
            <a:endParaRPr lang="zh-CN" altLang="en-US" sz="440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2"/>
          <p:cNvSpPr>
            <a:spLocks noGrp="1"/>
          </p:cNvSpPr>
          <p:nvPr>
            <p:ph idx="1"/>
          </p:nvPr>
        </p:nvSpPr>
        <p:spPr>
          <a:xfrm>
            <a:off x="191770" y="1052830"/>
            <a:ext cx="8229600" cy="4386580"/>
          </a:xfrm>
        </p:spPr>
        <p:txBody>
          <a:bodyPr/>
          <a:lstStyle/>
          <a:p>
            <a:pPr eaLnBrk="1" hangingPunct="1"/>
            <a:r>
              <a:rPr lang="zh-CN" altLang="en-US" smtClean="0">
                <a:latin typeface="楷体" panose="02010609060101010101" charset="-122"/>
                <a:ea typeface="楷体" panose="02010609060101010101" charset="-122"/>
                <a:cs typeface="楷体" panose="02010609060101010101" charset="-122"/>
              </a:rPr>
              <a:t>绪论</a:t>
            </a:r>
            <a:endParaRPr lang="en-US" altLang="zh-CN"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线性表</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栈和队列</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串</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数组和广义表</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树和二叉树</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图</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查找</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内部排序</a:t>
            </a:r>
            <a:endParaRPr lang="zh-CN" altLang="en-US" smtClean="0">
              <a:latin typeface="楷体" panose="02010609060101010101" charset="-122"/>
              <a:ea typeface="楷体" panose="02010609060101010101" charset="-122"/>
              <a:cs typeface="楷体" panose="02010609060101010101" charset="-122"/>
            </a:endParaRPr>
          </a:p>
        </p:txBody>
      </p:sp>
      <p:sp>
        <p:nvSpPr>
          <p:cNvPr id="2" name="标题 1"/>
          <p:cNvSpPr>
            <a:spLocks noGrp="1"/>
          </p:cNvSpPr>
          <p:nvPr>
            <p:ph type="title"/>
          </p:nvPr>
        </p:nvSpPr>
        <p:spPr/>
        <p:txBody>
          <a:bodyPr/>
          <a:lstStyle/>
          <a:p>
            <a:pPr eaLnBrk="1" fontAlgn="auto" hangingPunct="1">
              <a:spcAft>
                <a:spcPts val="0"/>
              </a:spcAft>
              <a:defRPr/>
            </a:pPr>
            <a:r>
              <a:rPr lang="zh-CN" altLang="en-US" dirty="0" smtClean="0"/>
              <a:t>课程结构（按教材划分）</a:t>
            </a:r>
            <a:endParaRPr lang="zh-CN" altLang="en-US" dirty="0"/>
          </a:p>
        </p:txBody>
      </p:sp>
      <p:sp>
        <p:nvSpPr>
          <p:cNvPr id="4" name="右大括号 3"/>
          <p:cNvSpPr/>
          <p:nvPr/>
        </p:nvSpPr>
        <p:spPr>
          <a:xfrm>
            <a:off x="2999105" y="1628775"/>
            <a:ext cx="504190" cy="166941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线性结构</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5" name="右大括号 4"/>
          <p:cNvSpPr/>
          <p:nvPr/>
        </p:nvSpPr>
        <p:spPr>
          <a:xfrm>
            <a:off x="4007485" y="4653280"/>
            <a:ext cx="504190" cy="929640"/>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应用</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7" name="右大括号 6"/>
          <p:cNvSpPr/>
          <p:nvPr/>
        </p:nvSpPr>
        <p:spPr>
          <a:xfrm>
            <a:off x="4871720" y="2111375"/>
            <a:ext cx="876935" cy="300672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rPr>
              <a:t>三类结构</a:t>
            </a:r>
            <a:r>
              <a:rPr lang="en-US" altLang="zh-CN" sz="2000" b="1">
                <a:solidFill>
                  <a:srgbClr val="FF0000"/>
                </a:solidFill>
                <a:latin typeface="黑体" panose="02010609060101010101" pitchFamily="2" charset="-122"/>
                <a:ea typeface="黑体" panose="02010609060101010101" pitchFamily="2" charset="-122"/>
                <a:cs typeface="黑体" panose="02010609060101010101" pitchFamily="2" charset="-122"/>
              </a:rPr>
              <a:t>+</a:t>
            </a:r>
            <a:r>
              <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rPr>
              <a:t>两种应用</a:t>
            </a:r>
            <a:endPar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endParaRPr>
          </a:p>
        </p:txBody>
      </p:sp>
      <p:sp>
        <p:nvSpPr>
          <p:cNvPr id="8" name="标题 1"/>
          <p:cNvSpPr>
            <a:spLocks noGrp="1"/>
          </p:cNvSpPr>
          <p:nvPr/>
        </p:nvSpPr>
        <p:spPr>
          <a:xfrm>
            <a:off x="4968875" y="5544820"/>
            <a:ext cx="7044055" cy="796925"/>
          </a:xfrm>
          <a:prstGeom prst="rect">
            <a:avLst/>
          </a:prstGeom>
        </p:spPr>
        <p:txBody>
          <a:bodyPr vert="horz" rtlCol="0" anchor="ctr">
            <a:scene3d>
              <a:camera prst="orthographicFront"/>
              <a:lightRig rig="soft" dir="t"/>
            </a:scene3d>
            <a:sp3d prstMaterial="softEdge">
              <a:bevelT w="25400" h="25400"/>
            </a:sp3d>
          </a:bodyPr>
          <a:lstStyle>
            <a:lvl1pPr algn="l" rtl="0" fontAlgn="base">
              <a:spcBef>
                <a:spcPct val="0"/>
              </a:spcBef>
              <a:spcAft>
                <a:spcPct val="0"/>
              </a:spcAft>
              <a:defRPr sz="40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2pPr>
            <a:lvl3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3pPr>
            <a:lvl4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4pPr>
            <a:lvl5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5pPr>
            <a:lvl6pPr marL="4572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6pPr>
            <a:lvl7pPr marL="9144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7pPr>
            <a:lvl8pPr marL="13716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8pPr>
            <a:lvl9pPr marL="18288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9pPr>
          </a:lstStyle>
          <a:p>
            <a:pPr algn="ctr" eaLnBrk="1" fontAlgn="auto" hangingPunct="1">
              <a:spcAft>
                <a:spcPts val="0"/>
              </a:spcAft>
              <a:defRPr/>
            </a:pPr>
            <a:r>
              <a:rPr lang="zh-CN" altLang="en-US" sz="2400" u="sng" dirty="0" smtClean="0">
                <a:solidFill>
                  <a:srgbClr val="FF0000"/>
                </a:solidFill>
              </a:rPr>
              <a:t>成绩：实验</a:t>
            </a:r>
            <a:r>
              <a:rPr lang="en-US" altLang="zh-CN" sz="2400" u="sng" dirty="0" smtClean="0">
                <a:solidFill>
                  <a:srgbClr val="FF0000"/>
                </a:solidFill>
              </a:rPr>
              <a:t>20%+</a:t>
            </a:r>
            <a:r>
              <a:rPr lang="zh-CN" altLang="en-US" sz="2400" u="sng" dirty="0" smtClean="0">
                <a:solidFill>
                  <a:srgbClr val="FF0000"/>
                </a:solidFill>
              </a:rPr>
              <a:t>作业</a:t>
            </a:r>
            <a:r>
              <a:rPr lang="en-US" altLang="zh-CN" sz="2400" u="sng" dirty="0" smtClean="0">
                <a:solidFill>
                  <a:srgbClr val="FF0000"/>
                </a:solidFill>
              </a:rPr>
              <a:t>2</a:t>
            </a:r>
            <a:r>
              <a:rPr lang="en-US" altLang="zh-CN" sz="2400" u="sng" dirty="0" smtClean="0">
                <a:solidFill>
                  <a:srgbClr val="FF0000"/>
                </a:solidFill>
              </a:rPr>
              <a:t>0%+</a:t>
            </a:r>
            <a:r>
              <a:rPr lang="zh-CN" altLang="en-US" sz="2400" u="sng" dirty="0" smtClean="0">
                <a:solidFill>
                  <a:srgbClr val="FF0000"/>
                </a:solidFill>
              </a:rPr>
              <a:t>机考</a:t>
            </a:r>
            <a:r>
              <a:rPr lang="en-US" altLang="zh-CN" sz="2400" u="sng" dirty="0" smtClean="0">
                <a:solidFill>
                  <a:srgbClr val="FF0000"/>
                </a:solidFill>
              </a:rPr>
              <a:t>20%+</a:t>
            </a:r>
            <a:r>
              <a:rPr lang="zh-CN" altLang="en-US" sz="2400" u="sng" dirty="0" smtClean="0">
                <a:solidFill>
                  <a:srgbClr val="FF0000"/>
                </a:solidFill>
              </a:rPr>
              <a:t>笔试</a:t>
            </a:r>
            <a:r>
              <a:rPr lang="en-US" altLang="zh-CN" sz="2400" u="sng" dirty="0" smtClean="0">
                <a:solidFill>
                  <a:srgbClr val="FF0000"/>
                </a:solidFill>
              </a:rPr>
              <a:t>40%</a:t>
            </a:r>
            <a:endParaRPr lang="en-US" altLang="zh-CN" sz="2400" u="sng" dirty="0" smtClean="0">
              <a:solidFill>
                <a:srgbClr val="FF0000"/>
              </a:solidFill>
            </a:endParaRPr>
          </a:p>
        </p:txBody>
      </p:sp>
      <p:pic>
        <p:nvPicPr>
          <p:cNvPr id="10" name="图片 9"/>
          <p:cNvPicPr>
            <a:picLocks noChangeAspect="1"/>
          </p:cNvPicPr>
          <p:nvPr/>
        </p:nvPicPr>
        <p:blipFill>
          <a:blip r:embed="rId1"/>
          <a:stretch>
            <a:fillRect/>
          </a:stretch>
        </p:blipFill>
        <p:spPr>
          <a:xfrm>
            <a:off x="6096000" y="838200"/>
            <a:ext cx="3651885" cy="4601210"/>
          </a:xfrm>
          <a:prstGeom prst="rect">
            <a:avLst/>
          </a:prstGeom>
        </p:spPr>
      </p:pic>
      <p:sp>
        <p:nvSpPr>
          <p:cNvPr id="11" name="右大括号 10"/>
          <p:cNvSpPr/>
          <p:nvPr/>
        </p:nvSpPr>
        <p:spPr>
          <a:xfrm>
            <a:off x="3279775" y="3425825"/>
            <a:ext cx="583565" cy="59499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树</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12" name="右大括号 11"/>
          <p:cNvSpPr/>
          <p:nvPr/>
        </p:nvSpPr>
        <p:spPr>
          <a:xfrm>
            <a:off x="3647440" y="4076700"/>
            <a:ext cx="504190" cy="47307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图</a:t>
            </a:r>
            <a:endParaRPr lang="zh-CN" altLang="en-US" sz="2000" b="1">
              <a:solidFill>
                <a:srgbClr val="FF0000"/>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树的定义和基本术语</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遍历二叉树和线索二叉树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树和森林</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赫夫曼树及其应用</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回溯法与树的遍历</a:t>
            </a: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1252220"/>
            <a:ext cx="3790950"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485" y="18859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第六章	树和二叉树</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树是有n(n≥0)个结点的有限集合。每个结点都有唯一的直接前驱，但可能有多个直接后继。</a:t>
            </a:r>
            <a:endParaRPr lang="zh-CN" altLang="en-US" sz="2800" dirty="0">
              <a:latin typeface="黑体" panose="02010609060101010101" pitchFamily="2" charset="-122"/>
              <a:cs typeface="+mn-cs"/>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树的特点</a:t>
            </a:r>
            <a:endParaRPr lang="zh-CN" altLang="en-US" sz="2800" dirty="0">
              <a:latin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如果n=0，称为空树</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如果n&gt;0,称为非空树,对于非空树,有</a:t>
            </a:r>
            <a:r>
              <a:rPr lang="zh-CN" altLang="en-US" b="1" dirty="0">
                <a:solidFill>
                  <a:srgbClr val="FF0000"/>
                </a:solidFill>
                <a:latin typeface="黑体" panose="02010609060101010101" pitchFamily="2" charset="-122"/>
                <a:ea typeface="黑体" panose="02010609060101010101" pitchFamily="2" charset="-122"/>
                <a:cs typeface="+mn-ea"/>
                <a:sym typeface="+mn-ea"/>
              </a:rPr>
              <a:t>唯一根结点Root</a:t>
            </a:r>
            <a:r>
              <a:rPr lang="zh-CN" altLang="en-US" dirty="0">
                <a:latin typeface="黑体" panose="02010609060101010101" pitchFamily="2" charset="-122"/>
                <a:ea typeface="黑体" panose="02010609060101010101" pitchFamily="2" charset="-122"/>
                <a:cs typeface="+mn-ea"/>
                <a:sym typeface="+mn-ea"/>
              </a:rPr>
              <a:t>(无直接前驱)</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树可以递归定义</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如果n&gt;1，则除根以外的其它结点划分为 m (m&gt;0)个互不相交的有限集 T1, T2 ,…, Tm，其中每个集合本身又是一棵树，并且称为根的</a:t>
            </a:r>
            <a:r>
              <a:rPr lang="zh-CN" altLang="en-US" b="1" dirty="0">
                <a:solidFill>
                  <a:srgbClr val="FF0000"/>
                </a:solidFill>
                <a:latin typeface="黑体" panose="02010609060101010101" pitchFamily="2" charset="-122"/>
                <a:ea typeface="黑体" panose="02010609060101010101" pitchFamily="2" charset="-122"/>
                <a:cs typeface="+mn-ea"/>
                <a:sym typeface="+mn-ea"/>
              </a:rPr>
              <a:t>子树SubTree</a:t>
            </a:r>
            <a:r>
              <a:rPr lang="zh-CN" altLang="en-US" dirty="0">
                <a:latin typeface="黑体" panose="02010609060101010101" pitchFamily="2" charset="-122"/>
                <a:ea typeface="黑体" panose="02010609060101010101" pitchFamily="2" charset="-122"/>
                <a:cs typeface="+mn-ea"/>
                <a:sym typeface="+mn-ea"/>
              </a:rPr>
              <a:t>。</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6.1 </a:t>
            </a:r>
            <a:r>
              <a:rPr lang="zh-CN" altLang="en-US" dirty="0">
                <a:latin typeface="楷体" panose="02010609060101010101" charset="-122"/>
                <a:ea typeface="楷体" panose="02010609060101010101" charset="-122"/>
                <a:sym typeface="+mn-ea"/>
              </a:rPr>
              <a:t>树的定义和基本术语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树的示例</a:t>
            </a:r>
            <a:endParaRPr lang="zh-CN" altLang="en-US" sz="2800" dirty="0">
              <a:latin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A是根结点，它包含三棵子树，子树相互不相交</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T1,T2,T3都是根A的子树，且本身也是一棵树</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T1={B,E,F,K,L}； T2={C,G}； T3={D,H,I,J,M},</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6.1 </a:t>
            </a:r>
            <a:r>
              <a:rPr lang="zh-CN" altLang="en-US" dirty="0">
                <a:latin typeface="楷体" panose="02010609060101010101" charset="-122"/>
                <a:ea typeface="楷体" panose="02010609060101010101" charset="-122"/>
                <a:sym typeface="+mn-ea"/>
              </a:rPr>
              <a:t>树的定义和基本术语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 name="组合 4"/>
          <p:cNvGrpSpPr/>
          <p:nvPr/>
        </p:nvGrpSpPr>
        <p:grpSpPr>
          <a:xfrm>
            <a:off x="8646160" y="3573145"/>
            <a:ext cx="2325370" cy="1221740"/>
            <a:chOff x="3413" y="5820"/>
            <a:chExt cx="3662" cy="1924"/>
          </a:xfrm>
        </p:grpSpPr>
        <p:sp>
          <p:nvSpPr>
            <p:cNvPr id="9220" name="Oval 4"/>
            <p:cNvSpPr/>
            <p:nvPr/>
          </p:nvSpPr>
          <p:spPr>
            <a:xfrm>
              <a:off x="4613" y="5820"/>
              <a:ext cx="840" cy="840"/>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pPr algn="ctr"/>
              <a:r>
                <a:rPr lang="en-US" altLang="zh-CN" sz="2400" b="1" dirty="0">
                  <a:solidFill>
                    <a:schemeClr val="bg1"/>
                  </a:solidFill>
                  <a:latin typeface="Times New Roman" panose="02020603050405020304" pitchFamily="18" charset="0"/>
                  <a:ea typeface="宋体" panose="02010600030101010101" pitchFamily="2" charset="-122"/>
                </a:rPr>
                <a:t>A</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9221" name="Text Box 5"/>
            <p:cNvSpPr txBox="1"/>
            <p:nvPr/>
          </p:nvSpPr>
          <p:spPr>
            <a:xfrm>
              <a:off x="3413" y="7020"/>
              <a:ext cx="3662" cy="725"/>
            </a:xfrm>
            <a:prstGeom prst="rect">
              <a:avLst/>
            </a:prstGeom>
            <a:noFill/>
            <a:ln w="9525">
              <a:noFill/>
            </a:ln>
          </p:spPr>
          <p:txBody>
            <a:bodyPr wrap="none" anchor="t" anchorCtr="0">
              <a:spAutoFit/>
            </a:bodyPr>
            <a:p>
              <a:r>
                <a:rPr lang="zh-CN" altLang="en-US" sz="2400" b="1" dirty="0">
                  <a:solidFill>
                    <a:srgbClr val="002C84"/>
                  </a:solidFill>
                  <a:latin typeface="Times New Roman" panose="02020603050405020304" pitchFamily="18" charset="0"/>
                  <a:ea typeface="楷体" panose="02010609060101010101" charset="-122"/>
                </a:rPr>
                <a:t>只有根结点的树</a:t>
              </a:r>
              <a:endParaRPr lang="zh-CN" altLang="en-US" sz="2400" b="1" dirty="0">
                <a:solidFill>
                  <a:srgbClr val="002C84"/>
                </a:solidFill>
                <a:latin typeface="Times New Roman" panose="02020603050405020304" pitchFamily="18" charset="0"/>
                <a:ea typeface="楷体" panose="02010609060101010101" charset="-122"/>
              </a:endParaRPr>
            </a:p>
          </p:txBody>
        </p:sp>
      </p:grpSp>
      <p:grpSp>
        <p:nvGrpSpPr>
          <p:cNvPr id="9222" name="Group 6"/>
          <p:cNvGrpSpPr/>
          <p:nvPr/>
        </p:nvGrpSpPr>
        <p:grpSpPr>
          <a:xfrm>
            <a:off x="1559243" y="2924615"/>
            <a:ext cx="4038600" cy="2857256"/>
            <a:chOff x="2640" y="561"/>
            <a:chExt cx="2832" cy="1950"/>
          </a:xfrm>
        </p:grpSpPr>
        <p:sp>
          <p:nvSpPr>
            <p:cNvPr id="9223" name="Line 7"/>
            <p:cNvSpPr/>
            <p:nvPr/>
          </p:nvSpPr>
          <p:spPr>
            <a:xfrm>
              <a:off x="4992" y="1392"/>
              <a:ext cx="288" cy="336"/>
            </a:xfrm>
            <a:prstGeom prst="line">
              <a:avLst/>
            </a:prstGeom>
            <a:ln w="38100" cap="flat" cmpd="sng">
              <a:solidFill>
                <a:srgbClr val="009900"/>
              </a:solidFill>
              <a:prstDash val="solid"/>
              <a:round/>
              <a:headEnd type="none" w="med" len="med"/>
              <a:tailEnd type="none" w="med" len="med"/>
            </a:ln>
          </p:spPr>
        </p:sp>
        <p:sp>
          <p:nvSpPr>
            <p:cNvPr id="9224" name="Line 8"/>
            <p:cNvSpPr/>
            <p:nvPr/>
          </p:nvSpPr>
          <p:spPr>
            <a:xfrm flipH="1">
              <a:off x="4464" y="1392"/>
              <a:ext cx="288" cy="288"/>
            </a:xfrm>
            <a:prstGeom prst="line">
              <a:avLst/>
            </a:prstGeom>
            <a:ln w="38100" cap="flat" cmpd="sng">
              <a:solidFill>
                <a:srgbClr val="009900"/>
              </a:solidFill>
              <a:prstDash val="solid"/>
              <a:round/>
              <a:headEnd type="none" w="med" len="med"/>
              <a:tailEnd type="none" w="med" len="med"/>
            </a:ln>
          </p:spPr>
        </p:sp>
        <p:sp>
          <p:nvSpPr>
            <p:cNvPr id="9225" name="Line 9"/>
            <p:cNvSpPr/>
            <p:nvPr/>
          </p:nvSpPr>
          <p:spPr>
            <a:xfrm>
              <a:off x="4848" y="1440"/>
              <a:ext cx="0" cy="240"/>
            </a:xfrm>
            <a:prstGeom prst="line">
              <a:avLst/>
            </a:prstGeom>
            <a:ln w="38100" cap="flat" cmpd="sng">
              <a:solidFill>
                <a:srgbClr val="009900"/>
              </a:solidFill>
              <a:prstDash val="solid"/>
              <a:round/>
              <a:headEnd type="none" w="med" len="med"/>
              <a:tailEnd type="none" w="med" len="med"/>
            </a:ln>
          </p:spPr>
        </p:sp>
        <p:sp>
          <p:nvSpPr>
            <p:cNvPr id="9226" name="Line 10"/>
            <p:cNvSpPr/>
            <p:nvPr/>
          </p:nvSpPr>
          <p:spPr>
            <a:xfrm>
              <a:off x="4464" y="1968"/>
              <a:ext cx="0" cy="288"/>
            </a:xfrm>
            <a:prstGeom prst="line">
              <a:avLst/>
            </a:prstGeom>
            <a:ln w="38100" cap="flat" cmpd="sng">
              <a:solidFill>
                <a:srgbClr val="009900"/>
              </a:solidFill>
              <a:prstDash val="solid"/>
              <a:round/>
              <a:headEnd type="none" w="med" len="med"/>
              <a:tailEnd type="none" w="med" len="med"/>
            </a:ln>
          </p:spPr>
        </p:sp>
        <p:sp>
          <p:nvSpPr>
            <p:cNvPr id="9227" name="Line 11"/>
            <p:cNvSpPr/>
            <p:nvPr/>
          </p:nvSpPr>
          <p:spPr>
            <a:xfrm>
              <a:off x="4128" y="816"/>
              <a:ext cx="672" cy="384"/>
            </a:xfrm>
            <a:prstGeom prst="line">
              <a:avLst/>
            </a:prstGeom>
            <a:ln w="38100" cap="flat" cmpd="sng">
              <a:solidFill>
                <a:srgbClr val="009900"/>
              </a:solidFill>
              <a:prstDash val="solid"/>
              <a:round/>
              <a:headEnd type="none" w="med" len="med"/>
              <a:tailEnd type="none" w="med" len="med"/>
            </a:ln>
          </p:spPr>
        </p:sp>
        <p:sp>
          <p:nvSpPr>
            <p:cNvPr id="9228" name="Line 12"/>
            <p:cNvSpPr/>
            <p:nvPr/>
          </p:nvSpPr>
          <p:spPr>
            <a:xfrm flipH="1">
              <a:off x="3312" y="816"/>
              <a:ext cx="576" cy="384"/>
            </a:xfrm>
            <a:prstGeom prst="line">
              <a:avLst/>
            </a:prstGeom>
            <a:ln w="38100" cap="flat" cmpd="sng">
              <a:solidFill>
                <a:srgbClr val="009900"/>
              </a:solidFill>
              <a:prstDash val="solid"/>
              <a:round/>
              <a:headEnd type="none" w="med" len="med"/>
              <a:tailEnd type="none" w="med" len="med"/>
            </a:ln>
          </p:spPr>
        </p:sp>
        <p:sp>
          <p:nvSpPr>
            <p:cNvPr id="9229" name="Line 13"/>
            <p:cNvSpPr/>
            <p:nvPr/>
          </p:nvSpPr>
          <p:spPr>
            <a:xfrm>
              <a:off x="4032" y="864"/>
              <a:ext cx="0" cy="1104"/>
            </a:xfrm>
            <a:prstGeom prst="line">
              <a:avLst/>
            </a:prstGeom>
            <a:ln w="38100" cap="flat" cmpd="sng">
              <a:solidFill>
                <a:srgbClr val="009900"/>
              </a:solidFill>
              <a:prstDash val="solid"/>
              <a:round/>
              <a:headEnd type="none" w="med" len="med"/>
              <a:tailEnd type="none" w="med" len="med"/>
            </a:ln>
          </p:spPr>
        </p:sp>
        <p:sp>
          <p:nvSpPr>
            <p:cNvPr id="9230" name="Line 14"/>
            <p:cNvSpPr/>
            <p:nvPr/>
          </p:nvSpPr>
          <p:spPr>
            <a:xfrm>
              <a:off x="3360" y="1392"/>
              <a:ext cx="144" cy="336"/>
            </a:xfrm>
            <a:prstGeom prst="line">
              <a:avLst/>
            </a:prstGeom>
            <a:ln w="38100" cap="flat" cmpd="sng">
              <a:solidFill>
                <a:srgbClr val="009900"/>
              </a:solidFill>
              <a:prstDash val="solid"/>
              <a:round/>
              <a:headEnd type="none" w="med" len="med"/>
              <a:tailEnd type="none" w="med" len="med"/>
            </a:ln>
          </p:spPr>
        </p:sp>
        <p:sp>
          <p:nvSpPr>
            <p:cNvPr id="9231" name="Line 15"/>
            <p:cNvSpPr/>
            <p:nvPr/>
          </p:nvSpPr>
          <p:spPr>
            <a:xfrm>
              <a:off x="3120" y="1920"/>
              <a:ext cx="144" cy="288"/>
            </a:xfrm>
            <a:prstGeom prst="line">
              <a:avLst/>
            </a:prstGeom>
            <a:ln w="38100" cap="flat" cmpd="sng">
              <a:solidFill>
                <a:srgbClr val="009900"/>
              </a:solidFill>
              <a:prstDash val="solid"/>
              <a:round/>
              <a:headEnd type="none" w="med" len="med"/>
              <a:tailEnd type="none" w="med" len="med"/>
            </a:ln>
          </p:spPr>
        </p:sp>
        <p:sp>
          <p:nvSpPr>
            <p:cNvPr id="9232" name="Line 16"/>
            <p:cNvSpPr/>
            <p:nvPr/>
          </p:nvSpPr>
          <p:spPr>
            <a:xfrm flipH="1">
              <a:off x="2784" y="1392"/>
              <a:ext cx="432" cy="960"/>
            </a:xfrm>
            <a:prstGeom prst="line">
              <a:avLst/>
            </a:prstGeom>
            <a:ln w="38100" cap="flat" cmpd="sng">
              <a:solidFill>
                <a:srgbClr val="009900"/>
              </a:solidFill>
              <a:prstDash val="solid"/>
              <a:round/>
              <a:headEnd type="none" w="med" len="med"/>
              <a:tailEnd type="none" w="med" len="med"/>
            </a:ln>
          </p:spPr>
        </p:sp>
        <p:sp>
          <p:nvSpPr>
            <p:cNvPr id="9233" name="Oval 17"/>
            <p:cNvSpPr/>
            <p:nvPr/>
          </p:nvSpPr>
          <p:spPr>
            <a:xfrm>
              <a:off x="3840" y="576"/>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34" name="Oval 18"/>
            <p:cNvSpPr/>
            <p:nvPr/>
          </p:nvSpPr>
          <p:spPr>
            <a:xfrm>
              <a:off x="3120" y="1104"/>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35" name="Oval 19"/>
            <p:cNvSpPr/>
            <p:nvPr/>
          </p:nvSpPr>
          <p:spPr>
            <a:xfrm>
              <a:off x="3840" y="1104"/>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36" name="Oval 20"/>
            <p:cNvSpPr/>
            <p:nvPr/>
          </p:nvSpPr>
          <p:spPr>
            <a:xfrm>
              <a:off x="4704" y="1104"/>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37" name="Oval 21"/>
            <p:cNvSpPr/>
            <p:nvPr/>
          </p:nvSpPr>
          <p:spPr>
            <a:xfrm>
              <a:off x="2880" y="1632"/>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38" name="Oval 22"/>
            <p:cNvSpPr/>
            <p:nvPr/>
          </p:nvSpPr>
          <p:spPr>
            <a:xfrm>
              <a:off x="3312" y="1632"/>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39" name="Oval 23"/>
            <p:cNvSpPr/>
            <p:nvPr/>
          </p:nvSpPr>
          <p:spPr>
            <a:xfrm>
              <a:off x="3840" y="1632"/>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40" name="Oval 24"/>
            <p:cNvSpPr/>
            <p:nvPr/>
          </p:nvSpPr>
          <p:spPr>
            <a:xfrm>
              <a:off x="4272" y="1632"/>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41" name="Oval 25"/>
            <p:cNvSpPr/>
            <p:nvPr/>
          </p:nvSpPr>
          <p:spPr>
            <a:xfrm>
              <a:off x="4704" y="1632"/>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42" name="Oval 26"/>
            <p:cNvSpPr/>
            <p:nvPr/>
          </p:nvSpPr>
          <p:spPr>
            <a:xfrm>
              <a:off x="5136" y="1632"/>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43" name="Oval 27"/>
            <p:cNvSpPr/>
            <p:nvPr/>
          </p:nvSpPr>
          <p:spPr>
            <a:xfrm>
              <a:off x="2640" y="2160"/>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44" name="Oval 28"/>
            <p:cNvSpPr/>
            <p:nvPr/>
          </p:nvSpPr>
          <p:spPr>
            <a:xfrm>
              <a:off x="3120" y="2160"/>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45" name="Oval 29"/>
            <p:cNvSpPr/>
            <p:nvPr/>
          </p:nvSpPr>
          <p:spPr>
            <a:xfrm>
              <a:off x="4272" y="2160"/>
              <a:ext cx="336" cy="336"/>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246" name="Text Box 30"/>
            <p:cNvSpPr txBox="1"/>
            <p:nvPr/>
          </p:nvSpPr>
          <p:spPr>
            <a:xfrm>
              <a:off x="3873" y="561"/>
              <a:ext cx="308"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9247" name="Text Box 31"/>
            <p:cNvSpPr txBox="1"/>
            <p:nvPr/>
          </p:nvSpPr>
          <p:spPr>
            <a:xfrm>
              <a:off x="3873" y="1090"/>
              <a:ext cx="308"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9248" name="Text Box 32"/>
            <p:cNvSpPr txBox="1"/>
            <p:nvPr/>
          </p:nvSpPr>
          <p:spPr>
            <a:xfrm>
              <a:off x="3867" y="1626"/>
              <a:ext cx="322"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9249" name="Text Box 33"/>
            <p:cNvSpPr txBox="1"/>
            <p:nvPr/>
          </p:nvSpPr>
          <p:spPr>
            <a:xfrm>
              <a:off x="3154" y="1090"/>
              <a:ext cx="308"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9250" name="Text Box 34"/>
            <p:cNvSpPr txBox="1"/>
            <p:nvPr/>
          </p:nvSpPr>
          <p:spPr>
            <a:xfrm>
              <a:off x="4738" y="1100"/>
              <a:ext cx="308"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9251" name="Text Box 35"/>
            <p:cNvSpPr txBox="1"/>
            <p:nvPr/>
          </p:nvSpPr>
          <p:spPr>
            <a:xfrm>
              <a:off x="2919" y="1626"/>
              <a:ext cx="295"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9252" name="Text Box 36"/>
            <p:cNvSpPr txBox="1"/>
            <p:nvPr/>
          </p:nvSpPr>
          <p:spPr>
            <a:xfrm>
              <a:off x="3353" y="1626"/>
              <a:ext cx="281"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9253" name="Text Box 37"/>
            <p:cNvSpPr txBox="1"/>
            <p:nvPr/>
          </p:nvSpPr>
          <p:spPr>
            <a:xfrm>
              <a:off x="2684" y="2155"/>
              <a:ext cx="308"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sp>
          <p:nvSpPr>
            <p:cNvPr id="9254" name="Text Box 38"/>
            <p:cNvSpPr txBox="1"/>
            <p:nvPr/>
          </p:nvSpPr>
          <p:spPr>
            <a:xfrm>
              <a:off x="3155" y="2155"/>
              <a:ext cx="281"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L</a:t>
              </a:r>
              <a:endParaRPr lang="en-US" altLang="zh-CN" sz="2400" dirty="0">
                <a:latin typeface="Times New Roman" panose="02020603050405020304" pitchFamily="18" charset="0"/>
                <a:ea typeface="宋体" panose="02010600030101010101" pitchFamily="2" charset="-122"/>
              </a:endParaRPr>
            </a:p>
          </p:txBody>
        </p:sp>
        <p:sp>
          <p:nvSpPr>
            <p:cNvPr id="9255" name="Text Box 39"/>
            <p:cNvSpPr txBox="1"/>
            <p:nvPr/>
          </p:nvSpPr>
          <p:spPr>
            <a:xfrm>
              <a:off x="4300" y="1626"/>
              <a:ext cx="308"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9256" name="Text Box 40"/>
            <p:cNvSpPr txBox="1"/>
            <p:nvPr/>
          </p:nvSpPr>
          <p:spPr>
            <a:xfrm>
              <a:off x="4261" y="2155"/>
              <a:ext cx="336"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M</a:t>
              </a:r>
              <a:endParaRPr lang="en-US" altLang="zh-CN" sz="2400" dirty="0">
                <a:latin typeface="Times New Roman" panose="02020603050405020304" pitchFamily="18" charset="0"/>
                <a:ea typeface="宋体" panose="02010600030101010101" pitchFamily="2" charset="-122"/>
              </a:endParaRPr>
            </a:p>
          </p:txBody>
        </p:sp>
        <p:sp>
          <p:nvSpPr>
            <p:cNvPr id="9257" name="Text Box 41"/>
            <p:cNvSpPr txBox="1"/>
            <p:nvPr/>
          </p:nvSpPr>
          <p:spPr>
            <a:xfrm>
              <a:off x="4760" y="1627"/>
              <a:ext cx="198"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9258" name="Text Box 42"/>
            <p:cNvSpPr txBox="1"/>
            <p:nvPr/>
          </p:nvSpPr>
          <p:spPr>
            <a:xfrm>
              <a:off x="5184" y="1627"/>
              <a:ext cx="267" cy="356"/>
            </a:xfrm>
            <a:prstGeom prst="rect">
              <a:avLst/>
            </a:prstGeom>
            <a:noFill/>
            <a:ln w="38100">
              <a:noFill/>
            </a:ln>
          </p:spPr>
          <p:txBody>
            <a:bodyPr wrap="none" anchor="ctr" anchorCtr="0">
              <a:spAutoFit/>
            </a:bodyPr>
            <a:p>
              <a:pPr algn="ctr"/>
              <a:r>
                <a:rPr lang="en-US" altLang="zh-CN" sz="2800" b="1" dirty="0">
                  <a:solidFill>
                    <a:srgbClr val="FFFFCC"/>
                  </a:solidFill>
                  <a:latin typeface="Arial" panose="020B0604020202020204" pitchFamily="34"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树的表示形式</a:t>
            </a:r>
            <a:endParaRPr lang="zh-CN" altLang="en-US" sz="2800" dirty="0">
              <a:latin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树状图</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广义表形式</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嵌套集合</a:t>
            </a: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6.1 </a:t>
            </a:r>
            <a:r>
              <a:rPr lang="zh-CN" altLang="en-US" dirty="0">
                <a:latin typeface="楷体" panose="02010609060101010101" charset="-122"/>
                <a:ea typeface="楷体" panose="02010609060101010101" charset="-122"/>
                <a:sym typeface="+mn-ea"/>
              </a:rPr>
              <a:t>树的定义和基本术语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0244" name="Group 128"/>
          <p:cNvGrpSpPr/>
          <p:nvPr/>
        </p:nvGrpSpPr>
        <p:grpSpPr>
          <a:xfrm>
            <a:off x="3469323" y="902018"/>
            <a:ext cx="3529012" cy="2439987"/>
            <a:chOff x="1519" y="572"/>
            <a:chExt cx="2223" cy="1537"/>
          </a:xfrm>
        </p:grpSpPr>
        <p:sp>
          <p:nvSpPr>
            <p:cNvPr id="10245" name="Line 87"/>
            <p:cNvSpPr/>
            <p:nvPr/>
          </p:nvSpPr>
          <p:spPr>
            <a:xfrm>
              <a:off x="3365" y="1221"/>
              <a:ext cx="226" cy="267"/>
            </a:xfrm>
            <a:prstGeom prst="line">
              <a:avLst/>
            </a:prstGeom>
            <a:ln w="38100" cap="flat" cmpd="sng">
              <a:solidFill>
                <a:srgbClr val="009900"/>
              </a:solidFill>
              <a:prstDash val="solid"/>
              <a:round/>
              <a:headEnd type="none" w="med" len="med"/>
              <a:tailEnd type="none" w="med" len="med"/>
            </a:ln>
          </p:spPr>
        </p:sp>
        <p:sp>
          <p:nvSpPr>
            <p:cNvPr id="10246" name="Line 88"/>
            <p:cNvSpPr/>
            <p:nvPr/>
          </p:nvSpPr>
          <p:spPr>
            <a:xfrm flipH="1">
              <a:off x="2951" y="1221"/>
              <a:ext cx="226" cy="228"/>
            </a:xfrm>
            <a:prstGeom prst="line">
              <a:avLst/>
            </a:prstGeom>
            <a:ln w="38100" cap="flat" cmpd="sng">
              <a:solidFill>
                <a:srgbClr val="009900"/>
              </a:solidFill>
              <a:prstDash val="solid"/>
              <a:round/>
              <a:headEnd type="none" w="med" len="med"/>
              <a:tailEnd type="none" w="med" len="med"/>
            </a:ln>
          </p:spPr>
        </p:sp>
        <p:sp>
          <p:nvSpPr>
            <p:cNvPr id="10247" name="Line 89"/>
            <p:cNvSpPr/>
            <p:nvPr/>
          </p:nvSpPr>
          <p:spPr>
            <a:xfrm>
              <a:off x="3253" y="1259"/>
              <a:ext cx="0" cy="190"/>
            </a:xfrm>
            <a:prstGeom prst="line">
              <a:avLst/>
            </a:prstGeom>
            <a:ln w="38100" cap="flat" cmpd="sng">
              <a:solidFill>
                <a:srgbClr val="009900"/>
              </a:solidFill>
              <a:prstDash val="solid"/>
              <a:round/>
              <a:headEnd type="none" w="med" len="med"/>
              <a:tailEnd type="none" w="med" len="med"/>
            </a:ln>
          </p:spPr>
        </p:sp>
        <p:sp>
          <p:nvSpPr>
            <p:cNvPr id="10248" name="Line 90"/>
            <p:cNvSpPr/>
            <p:nvPr/>
          </p:nvSpPr>
          <p:spPr>
            <a:xfrm flipH="1">
              <a:off x="2472" y="1661"/>
              <a:ext cx="90" cy="181"/>
            </a:xfrm>
            <a:prstGeom prst="line">
              <a:avLst/>
            </a:prstGeom>
            <a:ln w="38100" cap="flat" cmpd="sng">
              <a:solidFill>
                <a:srgbClr val="009900"/>
              </a:solidFill>
              <a:prstDash val="solid"/>
              <a:round/>
              <a:headEnd type="none" w="med" len="med"/>
              <a:tailEnd type="none" w="med" len="med"/>
            </a:ln>
          </p:spPr>
        </p:sp>
        <p:sp>
          <p:nvSpPr>
            <p:cNvPr id="10249" name="Line 91"/>
            <p:cNvSpPr/>
            <p:nvPr/>
          </p:nvSpPr>
          <p:spPr>
            <a:xfrm>
              <a:off x="2687" y="763"/>
              <a:ext cx="528" cy="305"/>
            </a:xfrm>
            <a:prstGeom prst="line">
              <a:avLst/>
            </a:prstGeom>
            <a:ln w="38100" cap="flat" cmpd="sng">
              <a:solidFill>
                <a:srgbClr val="009900"/>
              </a:solidFill>
              <a:prstDash val="solid"/>
              <a:round/>
              <a:headEnd type="none" w="med" len="med"/>
              <a:tailEnd type="none" w="med" len="med"/>
            </a:ln>
          </p:spPr>
        </p:sp>
        <p:sp>
          <p:nvSpPr>
            <p:cNvPr id="10250" name="Line 92"/>
            <p:cNvSpPr/>
            <p:nvPr/>
          </p:nvSpPr>
          <p:spPr>
            <a:xfrm flipH="1">
              <a:off x="2047" y="763"/>
              <a:ext cx="452" cy="305"/>
            </a:xfrm>
            <a:prstGeom prst="line">
              <a:avLst/>
            </a:prstGeom>
            <a:ln w="38100" cap="flat" cmpd="sng">
              <a:solidFill>
                <a:srgbClr val="009900"/>
              </a:solidFill>
              <a:prstDash val="solid"/>
              <a:round/>
              <a:headEnd type="none" w="med" len="med"/>
              <a:tailEnd type="none" w="med" len="med"/>
            </a:ln>
          </p:spPr>
        </p:sp>
        <p:sp>
          <p:nvSpPr>
            <p:cNvPr id="10251" name="Line 93"/>
            <p:cNvSpPr/>
            <p:nvPr/>
          </p:nvSpPr>
          <p:spPr>
            <a:xfrm>
              <a:off x="2612" y="801"/>
              <a:ext cx="0" cy="878"/>
            </a:xfrm>
            <a:prstGeom prst="line">
              <a:avLst/>
            </a:prstGeom>
            <a:ln w="38100" cap="flat" cmpd="sng">
              <a:solidFill>
                <a:srgbClr val="009900"/>
              </a:solidFill>
              <a:prstDash val="solid"/>
              <a:round/>
              <a:headEnd type="none" w="med" len="med"/>
              <a:tailEnd type="none" w="med" len="med"/>
            </a:ln>
          </p:spPr>
        </p:sp>
        <p:sp>
          <p:nvSpPr>
            <p:cNvPr id="10252" name="Line 94"/>
            <p:cNvSpPr/>
            <p:nvPr/>
          </p:nvSpPr>
          <p:spPr>
            <a:xfrm>
              <a:off x="2084" y="1221"/>
              <a:ext cx="114" cy="267"/>
            </a:xfrm>
            <a:prstGeom prst="line">
              <a:avLst/>
            </a:prstGeom>
            <a:ln w="38100" cap="flat" cmpd="sng">
              <a:solidFill>
                <a:srgbClr val="009900"/>
              </a:solidFill>
              <a:prstDash val="solid"/>
              <a:round/>
              <a:headEnd type="none" w="med" len="med"/>
              <a:tailEnd type="none" w="med" len="med"/>
            </a:ln>
          </p:spPr>
        </p:sp>
        <p:sp>
          <p:nvSpPr>
            <p:cNvPr id="10253" name="Line 95"/>
            <p:cNvSpPr/>
            <p:nvPr/>
          </p:nvSpPr>
          <p:spPr>
            <a:xfrm>
              <a:off x="1896" y="1640"/>
              <a:ext cx="113" cy="230"/>
            </a:xfrm>
            <a:prstGeom prst="line">
              <a:avLst/>
            </a:prstGeom>
            <a:ln w="38100" cap="flat" cmpd="sng">
              <a:solidFill>
                <a:srgbClr val="009900"/>
              </a:solidFill>
              <a:prstDash val="solid"/>
              <a:round/>
              <a:headEnd type="none" w="med" len="med"/>
              <a:tailEnd type="none" w="med" len="med"/>
            </a:ln>
          </p:spPr>
        </p:sp>
        <p:sp>
          <p:nvSpPr>
            <p:cNvPr id="10254" name="Line 96"/>
            <p:cNvSpPr/>
            <p:nvPr/>
          </p:nvSpPr>
          <p:spPr>
            <a:xfrm flipH="1">
              <a:off x="1632" y="1221"/>
              <a:ext cx="339" cy="763"/>
            </a:xfrm>
            <a:prstGeom prst="line">
              <a:avLst/>
            </a:prstGeom>
            <a:ln w="38100" cap="flat" cmpd="sng">
              <a:solidFill>
                <a:srgbClr val="009900"/>
              </a:solidFill>
              <a:prstDash val="solid"/>
              <a:round/>
              <a:headEnd type="none" w="med" len="med"/>
              <a:tailEnd type="none" w="med" len="med"/>
            </a:ln>
          </p:spPr>
        </p:sp>
        <p:sp>
          <p:nvSpPr>
            <p:cNvPr id="10255" name="Oval 97"/>
            <p:cNvSpPr/>
            <p:nvPr/>
          </p:nvSpPr>
          <p:spPr>
            <a:xfrm>
              <a:off x="2461" y="572"/>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56" name="Oval 98"/>
            <p:cNvSpPr/>
            <p:nvPr/>
          </p:nvSpPr>
          <p:spPr>
            <a:xfrm>
              <a:off x="1896" y="991"/>
              <a:ext cx="264" cy="268"/>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57" name="Oval 99"/>
            <p:cNvSpPr/>
            <p:nvPr/>
          </p:nvSpPr>
          <p:spPr>
            <a:xfrm>
              <a:off x="2461" y="991"/>
              <a:ext cx="264" cy="268"/>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58" name="Oval 100"/>
            <p:cNvSpPr/>
            <p:nvPr/>
          </p:nvSpPr>
          <p:spPr>
            <a:xfrm>
              <a:off x="3139" y="991"/>
              <a:ext cx="264" cy="268"/>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59" name="Oval 101"/>
            <p:cNvSpPr/>
            <p:nvPr/>
          </p:nvSpPr>
          <p:spPr>
            <a:xfrm>
              <a:off x="1708" y="1412"/>
              <a:ext cx="263"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60" name="Oval 102"/>
            <p:cNvSpPr/>
            <p:nvPr/>
          </p:nvSpPr>
          <p:spPr>
            <a:xfrm>
              <a:off x="2047" y="1412"/>
              <a:ext cx="263"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61" name="Oval 103"/>
            <p:cNvSpPr/>
            <p:nvPr/>
          </p:nvSpPr>
          <p:spPr>
            <a:xfrm>
              <a:off x="2461" y="1412"/>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62" name="Oval 104"/>
            <p:cNvSpPr/>
            <p:nvPr/>
          </p:nvSpPr>
          <p:spPr>
            <a:xfrm>
              <a:off x="2800" y="1412"/>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63" name="Oval 105"/>
            <p:cNvSpPr/>
            <p:nvPr/>
          </p:nvSpPr>
          <p:spPr>
            <a:xfrm>
              <a:off x="3139" y="1412"/>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64" name="Oval 106"/>
            <p:cNvSpPr/>
            <p:nvPr/>
          </p:nvSpPr>
          <p:spPr>
            <a:xfrm>
              <a:off x="3478" y="1412"/>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65" name="Oval 107"/>
            <p:cNvSpPr/>
            <p:nvPr/>
          </p:nvSpPr>
          <p:spPr>
            <a:xfrm>
              <a:off x="1519" y="1831"/>
              <a:ext cx="263"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66" name="Oval 108"/>
            <p:cNvSpPr/>
            <p:nvPr/>
          </p:nvSpPr>
          <p:spPr>
            <a:xfrm>
              <a:off x="1896" y="183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67" name="Text Box 110"/>
            <p:cNvSpPr txBox="1"/>
            <p:nvPr/>
          </p:nvSpPr>
          <p:spPr>
            <a:xfrm>
              <a:off x="2493" y="576"/>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A</a:t>
              </a:r>
              <a:endParaRPr lang="en-US" altLang="zh-CN" sz="2000" dirty="0">
                <a:latin typeface="Times New Roman" panose="02020603050405020304" pitchFamily="18" charset="0"/>
                <a:ea typeface="宋体" panose="02010600030101010101" pitchFamily="2" charset="-122"/>
              </a:endParaRPr>
            </a:p>
          </p:txBody>
        </p:sp>
        <p:sp>
          <p:nvSpPr>
            <p:cNvPr id="10268" name="Text Box 111"/>
            <p:cNvSpPr txBox="1"/>
            <p:nvPr/>
          </p:nvSpPr>
          <p:spPr>
            <a:xfrm>
              <a:off x="2493" y="995"/>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10269" name="Text Box 112"/>
            <p:cNvSpPr txBox="1"/>
            <p:nvPr/>
          </p:nvSpPr>
          <p:spPr>
            <a:xfrm>
              <a:off x="2489" y="1422"/>
              <a:ext cx="240"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G</a:t>
              </a:r>
              <a:endParaRPr lang="en-US" altLang="zh-CN" sz="2000" dirty="0">
                <a:latin typeface="Times New Roman" panose="02020603050405020304" pitchFamily="18" charset="0"/>
                <a:ea typeface="宋体" panose="02010600030101010101" pitchFamily="2" charset="-122"/>
              </a:endParaRPr>
            </a:p>
          </p:txBody>
        </p:sp>
        <p:sp>
          <p:nvSpPr>
            <p:cNvPr id="10270" name="Text Box 113"/>
            <p:cNvSpPr txBox="1"/>
            <p:nvPr/>
          </p:nvSpPr>
          <p:spPr>
            <a:xfrm>
              <a:off x="1928" y="995"/>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sp>
          <p:nvSpPr>
            <p:cNvPr id="10271" name="Text Box 114"/>
            <p:cNvSpPr txBox="1"/>
            <p:nvPr/>
          </p:nvSpPr>
          <p:spPr>
            <a:xfrm>
              <a:off x="3171" y="1003"/>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D</a:t>
              </a:r>
              <a:endParaRPr lang="en-US" altLang="zh-CN" sz="2000" dirty="0">
                <a:latin typeface="Times New Roman" panose="02020603050405020304" pitchFamily="18" charset="0"/>
                <a:ea typeface="宋体" panose="02010600030101010101" pitchFamily="2" charset="-122"/>
              </a:endParaRPr>
            </a:p>
          </p:txBody>
        </p:sp>
        <p:sp>
          <p:nvSpPr>
            <p:cNvPr id="10272" name="Text Box 115"/>
            <p:cNvSpPr txBox="1"/>
            <p:nvPr/>
          </p:nvSpPr>
          <p:spPr>
            <a:xfrm>
              <a:off x="1744" y="1422"/>
              <a:ext cx="222"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E</a:t>
              </a:r>
              <a:endParaRPr lang="en-US" altLang="zh-CN" sz="2000" dirty="0">
                <a:latin typeface="Times New Roman" panose="02020603050405020304" pitchFamily="18" charset="0"/>
                <a:ea typeface="宋体" panose="02010600030101010101" pitchFamily="2" charset="-122"/>
              </a:endParaRPr>
            </a:p>
          </p:txBody>
        </p:sp>
        <p:sp>
          <p:nvSpPr>
            <p:cNvPr id="10273" name="Text Box 116"/>
            <p:cNvSpPr txBox="1"/>
            <p:nvPr/>
          </p:nvSpPr>
          <p:spPr>
            <a:xfrm>
              <a:off x="2083" y="1422"/>
              <a:ext cx="213"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F</a:t>
              </a:r>
              <a:endParaRPr lang="en-US" altLang="zh-CN" sz="2000" dirty="0">
                <a:latin typeface="Times New Roman" panose="02020603050405020304" pitchFamily="18" charset="0"/>
                <a:ea typeface="宋体" panose="02010600030101010101" pitchFamily="2" charset="-122"/>
              </a:endParaRPr>
            </a:p>
          </p:txBody>
        </p:sp>
        <p:sp>
          <p:nvSpPr>
            <p:cNvPr id="10274" name="Text Box 117"/>
            <p:cNvSpPr txBox="1"/>
            <p:nvPr/>
          </p:nvSpPr>
          <p:spPr>
            <a:xfrm>
              <a:off x="1559" y="1842"/>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K</a:t>
              </a:r>
              <a:endParaRPr lang="en-US" altLang="zh-CN" sz="2000" dirty="0">
                <a:latin typeface="Times New Roman" panose="02020603050405020304" pitchFamily="18" charset="0"/>
                <a:ea typeface="宋体" panose="02010600030101010101" pitchFamily="2" charset="-122"/>
              </a:endParaRPr>
            </a:p>
          </p:txBody>
        </p:sp>
        <p:sp>
          <p:nvSpPr>
            <p:cNvPr id="10275" name="Text Box 118"/>
            <p:cNvSpPr txBox="1"/>
            <p:nvPr/>
          </p:nvSpPr>
          <p:spPr>
            <a:xfrm>
              <a:off x="1928" y="1842"/>
              <a:ext cx="213"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L</a:t>
              </a:r>
              <a:endParaRPr lang="en-US" altLang="zh-CN" sz="2000" dirty="0">
                <a:latin typeface="Times New Roman" panose="02020603050405020304" pitchFamily="18" charset="0"/>
                <a:ea typeface="宋体" panose="02010600030101010101" pitchFamily="2" charset="-122"/>
              </a:endParaRPr>
            </a:p>
          </p:txBody>
        </p:sp>
        <p:sp>
          <p:nvSpPr>
            <p:cNvPr id="10276" name="Text Box 119"/>
            <p:cNvSpPr txBox="1"/>
            <p:nvPr/>
          </p:nvSpPr>
          <p:spPr>
            <a:xfrm>
              <a:off x="2828" y="1422"/>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H</a:t>
              </a:r>
              <a:endParaRPr lang="en-US" altLang="zh-CN" sz="2000" dirty="0">
                <a:latin typeface="Times New Roman" panose="02020603050405020304" pitchFamily="18" charset="0"/>
                <a:ea typeface="宋体" panose="02010600030101010101" pitchFamily="2" charset="-122"/>
              </a:endParaRPr>
            </a:p>
          </p:txBody>
        </p:sp>
        <p:grpSp>
          <p:nvGrpSpPr>
            <p:cNvPr id="10277" name="Group 123"/>
            <p:cNvGrpSpPr/>
            <p:nvPr/>
          </p:nvGrpSpPr>
          <p:grpSpPr>
            <a:xfrm>
              <a:off x="2336" y="1842"/>
              <a:ext cx="265" cy="267"/>
              <a:chOff x="2799" y="1831"/>
              <a:chExt cx="265" cy="267"/>
            </a:xfrm>
          </p:grpSpPr>
          <p:sp>
            <p:nvSpPr>
              <p:cNvPr id="10278" name="Oval 109"/>
              <p:cNvSpPr/>
              <p:nvPr/>
            </p:nvSpPr>
            <p:spPr>
              <a:xfrm>
                <a:off x="2800" y="183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79" name="Text Box 120"/>
              <p:cNvSpPr txBox="1"/>
              <p:nvPr/>
            </p:nvSpPr>
            <p:spPr>
              <a:xfrm>
                <a:off x="2799" y="1842"/>
                <a:ext cx="248"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M</a:t>
                </a:r>
                <a:endParaRPr lang="en-US" altLang="zh-CN" sz="2000" dirty="0">
                  <a:latin typeface="Times New Roman" panose="02020603050405020304" pitchFamily="18" charset="0"/>
                  <a:ea typeface="宋体" panose="02010600030101010101" pitchFamily="2" charset="-122"/>
                </a:endParaRPr>
              </a:p>
            </p:txBody>
          </p:sp>
        </p:grpSp>
        <p:sp>
          <p:nvSpPr>
            <p:cNvPr id="10280" name="Text Box 121"/>
            <p:cNvSpPr txBox="1"/>
            <p:nvPr/>
          </p:nvSpPr>
          <p:spPr>
            <a:xfrm>
              <a:off x="3182" y="1422"/>
              <a:ext cx="160"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I</a:t>
              </a:r>
              <a:endParaRPr lang="en-US" altLang="zh-CN" sz="2000" dirty="0">
                <a:latin typeface="Times New Roman" panose="02020603050405020304" pitchFamily="18" charset="0"/>
                <a:ea typeface="宋体" panose="02010600030101010101" pitchFamily="2" charset="-122"/>
              </a:endParaRPr>
            </a:p>
          </p:txBody>
        </p:sp>
        <p:sp>
          <p:nvSpPr>
            <p:cNvPr id="10281" name="Text Box 122"/>
            <p:cNvSpPr txBox="1"/>
            <p:nvPr/>
          </p:nvSpPr>
          <p:spPr>
            <a:xfrm>
              <a:off x="3518" y="1422"/>
              <a:ext cx="204"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J</a:t>
              </a:r>
              <a:endParaRPr lang="en-US" altLang="zh-CN" sz="2000" dirty="0">
                <a:latin typeface="Times New Roman" panose="02020603050405020304" pitchFamily="18" charset="0"/>
                <a:ea typeface="宋体" panose="02010600030101010101" pitchFamily="2" charset="-122"/>
              </a:endParaRPr>
            </a:p>
          </p:txBody>
        </p:sp>
        <p:grpSp>
          <p:nvGrpSpPr>
            <p:cNvPr id="10282" name="Group 124"/>
            <p:cNvGrpSpPr/>
            <p:nvPr/>
          </p:nvGrpSpPr>
          <p:grpSpPr>
            <a:xfrm>
              <a:off x="2745" y="1842"/>
              <a:ext cx="264" cy="267"/>
              <a:chOff x="2800" y="1831"/>
              <a:chExt cx="264" cy="267"/>
            </a:xfrm>
          </p:grpSpPr>
          <p:sp>
            <p:nvSpPr>
              <p:cNvPr id="10283" name="Oval 125"/>
              <p:cNvSpPr/>
              <p:nvPr/>
            </p:nvSpPr>
            <p:spPr>
              <a:xfrm>
                <a:off x="2800" y="183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284" name="Text Box 126"/>
              <p:cNvSpPr txBox="1"/>
              <p:nvPr/>
            </p:nvSpPr>
            <p:spPr>
              <a:xfrm>
                <a:off x="2808" y="1842"/>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N</a:t>
                </a:r>
                <a:endParaRPr lang="en-US" altLang="zh-CN" sz="2000" dirty="0">
                  <a:latin typeface="Times New Roman" panose="02020603050405020304" pitchFamily="18" charset="0"/>
                  <a:ea typeface="宋体" panose="02010600030101010101" pitchFamily="2" charset="-122"/>
                </a:endParaRPr>
              </a:p>
            </p:txBody>
          </p:sp>
        </p:grpSp>
        <p:sp>
          <p:nvSpPr>
            <p:cNvPr id="10285" name="Line 127"/>
            <p:cNvSpPr/>
            <p:nvPr/>
          </p:nvSpPr>
          <p:spPr>
            <a:xfrm>
              <a:off x="2687" y="1646"/>
              <a:ext cx="113" cy="230"/>
            </a:xfrm>
            <a:prstGeom prst="line">
              <a:avLst/>
            </a:prstGeom>
            <a:ln w="38100" cap="flat" cmpd="sng">
              <a:solidFill>
                <a:srgbClr val="009900"/>
              </a:solidFill>
              <a:prstDash val="solid"/>
              <a:round/>
              <a:headEnd type="none" w="med" len="med"/>
              <a:tailEnd type="none" w="med" len="med"/>
            </a:ln>
          </p:spPr>
        </p:sp>
      </p:grpSp>
      <p:grpSp>
        <p:nvGrpSpPr>
          <p:cNvPr id="10288" name="Group 131"/>
          <p:cNvGrpSpPr/>
          <p:nvPr/>
        </p:nvGrpSpPr>
        <p:grpSpPr>
          <a:xfrm rot="0">
            <a:off x="1775460" y="2416810"/>
            <a:ext cx="8641080" cy="3733800"/>
            <a:chOff x="0" y="0"/>
            <a:chExt cx="5443" cy="2352"/>
          </a:xfrm>
        </p:grpSpPr>
        <p:sp>
          <p:nvSpPr>
            <p:cNvPr id="815236" name="Rectangle 132"/>
            <p:cNvSpPr>
              <a:spLocks noChangeArrowheads="1"/>
            </p:cNvSpPr>
            <p:nvPr/>
          </p:nvSpPr>
          <p:spPr bwMode="auto">
            <a:xfrm>
              <a:off x="3427" y="2112"/>
              <a:ext cx="1536" cy="240"/>
            </a:xfrm>
            <a:prstGeom prst="rect">
              <a:avLst/>
            </a:prstGeom>
            <a:noFill/>
            <a:ln w="9525">
              <a:noFill/>
              <a:miter lim="800000"/>
            </a:ln>
            <a:effectLst/>
          </p:spPr>
          <p:txBody>
            <a:bodyPr lIns="92075" tIns="46038" rIns="92075" bIns="46038"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en-US"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a:t>
              </a:r>
              <a:r>
                <a:rPr kumimoji="0" 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    </a:t>
              </a:r>
              <a:r>
                <a:rPr kumimoji="0" lang="zh-CN" altLang="en-US" sz="20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嵌套集合</a:t>
              </a:r>
              <a:r>
                <a:rPr kumimoji="0" lang="zh-CN" altLang="en-US"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形式</a:t>
              </a:r>
              <a:endParaRPr kumimoji="0" lang="zh-CN" altLang="en-US"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0" name="Rectangle 133"/>
            <p:cNvSpPr/>
            <p:nvPr/>
          </p:nvSpPr>
          <p:spPr>
            <a:xfrm>
              <a:off x="864" y="1248"/>
              <a:ext cx="1440" cy="240"/>
            </a:xfrm>
            <a:prstGeom prst="rect">
              <a:avLst/>
            </a:prstGeom>
            <a:noFill/>
            <a:ln w="9525">
              <a:noFill/>
            </a:ln>
          </p:spPr>
          <p:txBody>
            <a:bodyPr lIns="92075" tIns="46038" rIns="92075" bIns="46038" anchor="ctr" anchorCtr="0"/>
            <a:p>
              <a:pPr algn="ctr" eaLnBrk="0" hangingPunct="0"/>
              <a:r>
                <a:rPr lang="en-US" altLang="zh-CN" sz="2000" b="1" dirty="0">
                  <a:latin typeface="Times New Roman" panose="02020603050405020304" pitchFamily="18" charset="0"/>
                  <a:ea typeface="宋体" panose="02010600030101010101" pitchFamily="2" charset="-122"/>
                </a:rPr>
                <a:t>(b)   </a:t>
              </a:r>
              <a:r>
                <a:rPr lang="zh-CN" altLang="en-US" sz="2000" b="1" dirty="0">
                  <a:latin typeface="宋体" panose="02010600030101010101" pitchFamily="2" charset="-122"/>
                  <a:ea typeface="宋体" panose="02010600030101010101" pitchFamily="2" charset="-122"/>
                </a:rPr>
                <a:t>广义表</a:t>
              </a:r>
              <a:r>
                <a:rPr lang="zh-CN" altLang="en-US" sz="2000" b="1" dirty="0">
                  <a:latin typeface="Times New Roman" panose="02020603050405020304" pitchFamily="18" charset="0"/>
                  <a:ea typeface="宋体" panose="02010600030101010101" pitchFamily="2" charset="-122"/>
                </a:rPr>
                <a:t>形式</a:t>
              </a:r>
              <a:endParaRPr lang="zh-CN" altLang="en-US" sz="2000" b="1" dirty="0">
                <a:latin typeface="Times New Roman" panose="02020603050405020304" pitchFamily="18" charset="0"/>
                <a:ea typeface="宋体" panose="02010600030101010101" pitchFamily="2" charset="-122"/>
              </a:endParaRPr>
            </a:p>
          </p:txBody>
        </p:sp>
        <p:sp>
          <p:nvSpPr>
            <p:cNvPr id="10291" name="Rectangle 134"/>
            <p:cNvSpPr/>
            <p:nvPr/>
          </p:nvSpPr>
          <p:spPr>
            <a:xfrm>
              <a:off x="0" y="864"/>
              <a:ext cx="2947" cy="272"/>
            </a:xfrm>
            <a:prstGeom prst="rect">
              <a:avLst/>
            </a:prstGeom>
            <a:noFill/>
            <a:ln w="9525">
              <a:noFill/>
            </a:ln>
          </p:spPr>
          <p:txBody>
            <a:bodyPr wrap="none" anchor="ctr" anchorCtr="0"/>
            <a:p>
              <a:r>
                <a:rPr lang="en-US" altLang="zh-CN" sz="2400" dirty="0">
                  <a:latin typeface="Times New Roman" panose="02020603050405020304" pitchFamily="18" charset="0"/>
                  <a:ea typeface="宋体" panose="02010600030101010101" pitchFamily="2" charset="-122"/>
                </a:rPr>
                <a:t>(A(B(E(K,L),F),C(G(M,N)),D(H,I,J)</a:t>
              </a:r>
              <a:endParaRPr lang="en-US" altLang="zh-CN" sz="2400" dirty="0">
                <a:latin typeface="Times New Roman" panose="02020603050405020304" pitchFamily="18" charset="0"/>
                <a:ea typeface="宋体" panose="02010600030101010101" pitchFamily="2" charset="-122"/>
              </a:endParaRPr>
            </a:p>
          </p:txBody>
        </p:sp>
        <p:grpSp>
          <p:nvGrpSpPr>
            <p:cNvPr id="10292" name="Group 135"/>
            <p:cNvGrpSpPr/>
            <p:nvPr/>
          </p:nvGrpSpPr>
          <p:grpSpPr>
            <a:xfrm>
              <a:off x="3091" y="0"/>
              <a:ext cx="2352" cy="2063"/>
              <a:chOff x="0" y="0"/>
              <a:chExt cx="2352" cy="2112"/>
            </a:xfrm>
          </p:grpSpPr>
          <p:grpSp>
            <p:nvGrpSpPr>
              <p:cNvPr id="10293" name="Group 136"/>
              <p:cNvGrpSpPr/>
              <p:nvPr/>
            </p:nvGrpSpPr>
            <p:grpSpPr>
              <a:xfrm>
                <a:off x="1248" y="192"/>
                <a:ext cx="768" cy="816"/>
                <a:chOff x="0" y="0"/>
                <a:chExt cx="768" cy="816"/>
              </a:xfrm>
            </p:grpSpPr>
            <p:sp>
              <p:nvSpPr>
                <p:cNvPr id="10294" name="Oval 137"/>
                <p:cNvSpPr/>
                <p:nvPr/>
              </p:nvSpPr>
              <p:spPr>
                <a:xfrm>
                  <a:off x="144" y="301"/>
                  <a:ext cx="227" cy="227"/>
                </a:xfrm>
                <a:prstGeom prst="ellipse">
                  <a:avLst/>
                </a:prstGeom>
                <a:noFill/>
                <a:ln w="952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10295" name="Oval 138"/>
                <p:cNvSpPr/>
                <p:nvPr/>
              </p:nvSpPr>
              <p:spPr>
                <a:xfrm>
                  <a:off x="445" y="301"/>
                  <a:ext cx="227" cy="227"/>
                </a:xfrm>
                <a:prstGeom prst="ellipse">
                  <a:avLst/>
                </a:prstGeom>
                <a:noFill/>
                <a:ln w="952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10296" name="Oval 139"/>
                <p:cNvSpPr/>
                <p:nvPr/>
              </p:nvSpPr>
              <p:spPr>
                <a:xfrm>
                  <a:off x="288" y="541"/>
                  <a:ext cx="227" cy="227"/>
                </a:xfrm>
                <a:prstGeom prst="ellipse">
                  <a:avLst/>
                </a:prstGeom>
                <a:noFill/>
                <a:ln w="952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sp>
              <p:nvSpPr>
                <p:cNvPr id="10297" name="Oval 140"/>
                <p:cNvSpPr/>
                <p:nvPr/>
              </p:nvSpPr>
              <p:spPr>
                <a:xfrm>
                  <a:off x="0" y="0"/>
                  <a:ext cx="768" cy="816"/>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zh-CN" sz="2400" dirty="0">
                    <a:latin typeface="Times New Roman" panose="02020603050405020304" pitchFamily="18" charset="0"/>
                    <a:ea typeface="宋体" panose="02010600030101010101" pitchFamily="2" charset="-122"/>
                  </a:endParaRPr>
                </a:p>
              </p:txBody>
            </p:sp>
            <p:sp>
              <p:nvSpPr>
                <p:cNvPr id="10298" name="Oval 141"/>
                <p:cNvSpPr/>
                <p:nvPr/>
              </p:nvSpPr>
              <p:spPr>
                <a:xfrm>
                  <a:off x="268" y="48"/>
                  <a:ext cx="260" cy="227"/>
                </a:xfrm>
                <a:prstGeom prst="ellipse">
                  <a:avLst/>
                </a:prstGeom>
                <a:noFill/>
                <a:ln w="9525">
                  <a:noFill/>
                </a:ln>
              </p:spPr>
              <p:txBody>
                <a:bodyPr wrap="none" anchor="ctr" anchorCtr="0"/>
                <a:p>
                  <a:pPr algn="ctr"/>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grpSp>
          <p:grpSp>
            <p:nvGrpSpPr>
              <p:cNvPr id="10299" name="Group 142"/>
              <p:cNvGrpSpPr/>
              <p:nvPr/>
            </p:nvGrpSpPr>
            <p:grpSpPr>
              <a:xfrm>
                <a:off x="48" y="480"/>
                <a:ext cx="1152" cy="912"/>
                <a:chOff x="0" y="0"/>
                <a:chExt cx="1152" cy="912"/>
              </a:xfrm>
            </p:grpSpPr>
            <p:sp>
              <p:nvSpPr>
                <p:cNvPr id="10300" name="Oval 143"/>
                <p:cNvSpPr/>
                <p:nvPr/>
              </p:nvSpPr>
              <p:spPr>
                <a:xfrm>
                  <a:off x="816" y="493"/>
                  <a:ext cx="227" cy="227"/>
                </a:xfrm>
                <a:prstGeom prst="ellipse">
                  <a:avLst/>
                </a:prstGeom>
                <a:noFill/>
                <a:ln w="952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10301" name="Oval 144"/>
                <p:cNvSpPr/>
                <p:nvPr/>
              </p:nvSpPr>
              <p:spPr>
                <a:xfrm>
                  <a:off x="781" y="192"/>
                  <a:ext cx="227" cy="227"/>
                </a:xfrm>
                <a:prstGeom prst="ellipse">
                  <a:avLst/>
                </a:prstGeom>
                <a:noFill/>
                <a:ln w="9525">
                  <a:noFill/>
                </a:ln>
              </p:spPr>
              <p:txBody>
                <a:bodyPr wrap="none" anchor="ctr" anchorCtr="0"/>
                <a:p>
                  <a:pPr algn="ct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grpSp>
              <p:nvGrpSpPr>
                <p:cNvPr id="10302" name="Group 145"/>
                <p:cNvGrpSpPr/>
                <p:nvPr/>
              </p:nvGrpSpPr>
              <p:grpSpPr>
                <a:xfrm>
                  <a:off x="96" y="144"/>
                  <a:ext cx="672" cy="672"/>
                  <a:chOff x="0" y="0"/>
                  <a:chExt cx="672" cy="672"/>
                </a:xfrm>
              </p:grpSpPr>
              <p:sp>
                <p:nvSpPr>
                  <p:cNvPr id="10303" name="Oval 146"/>
                  <p:cNvSpPr/>
                  <p:nvPr/>
                </p:nvSpPr>
                <p:spPr>
                  <a:xfrm>
                    <a:off x="96" y="288"/>
                    <a:ext cx="227" cy="227"/>
                  </a:xfrm>
                  <a:prstGeom prst="ellipse">
                    <a:avLst/>
                  </a:prstGeom>
                  <a:noFill/>
                  <a:ln w="952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sp>
                <p:nvSpPr>
                  <p:cNvPr id="10304" name="Oval 147"/>
                  <p:cNvSpPr/>
                  <p:nvPr/>
                </p:nvSpPr>
                <p:spPr>
                  <a:xfrm>
                    <a:off x="384" y="301"/>
                    <a:ext cx="227" cy="227"/>
                  </a:xfrm>
                  <a:prstGeom prst="ellipse">
                    <a:avLst/>
                  </a:prstGeom>
                  <a:noFill/>
                  <a:ln w="952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L</a:t>
                    </a:r>
                    <a:endParaRPr lang="en-US" altLang="zh-CN" sz="2400" dirty="0">
                      <a:latin typeface="Times New Roman" panose="02020603050405020304" pitchFamily="18" charset="0"/>
                      <a:ea typeface="宋体" panose="02010600030101010101" pitchFamily="2" charset="-122"/>
                    </a:endParaRPr>
                  </a:p>
                </p:txBody>
              </p:sp>
              <p:sp>
                <p:nvSpPr>
                  <p:cNvPr id="10305" name="Oval 148"/>
                  <p:cNvSpPr/>
                  <p:nvPr/>
                </p:nvSpPr>
                <p:spPr>
                  <a:xfrm>
                    <a:off x="0" y="0"/>
                    <a:ext cx="672" cy="672"/>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zh-CN" sz="2400" dirty="0">
                      <a:latin typeface="Times New Roman" panose="02020603050405020304" pitchFamily="18" charset="0"/>
                      <a:ea typeface="宋体" panose="02010600030101010101" pitchFamily="2" charset="-122"/>
                    </a:endParaRPr>
                  </a:p>
                </p:txBody>
              </p:sp>
              <p:sp>
                <p:nvSpPr>
                  <p:cNvPr id="10306" name="Oval 149"/>
                  <p:cNvSpPr/>
                  <p:nvPr/>
                </p:nvSpPr>
                <p:spPr>
                  <a:xfrm>
                    <a:off x="240" y="48"/>
                    <a:ext cx="227" cy="227"/>
                  </a:xfrm>
                  <a:prstGeom prst="ellipse">
                    <a:avLst/>
                  </a:prstGeom>
                  <a:noFill/>
                  <a:ln w="9525">
                    <a:noFill/>
                  </a:ln>
                </p:spPr>
                <p:txBody>
                  <a:bodyPr wrap="none" anchor="ctr" anchorCtr="0"/>
                  <a:p>
                    <a:pPr algn="ctr"/>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grpSp>
            <p:sp>
              <p:nvSpPr>
                <p:cNvPr id="10307" name="Oval 150"/>
                <p:cNvSpPr/>
                <p:nvPr/>
              </p:nvSpPr>
              <p:spPr>
                <a:xfrm>
                  <a:off x="0" y="0"/>
                  <a:ext cx="1152" cy="912"/>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grpSp>
            <p:nvGrpSpPr>
              <p:cNvPr id="10308" name="Group 151"/>
              <p:cNvGrpSpPr/>
              <p:nvPr/>
            </p:nvGrpSpPr>
            <p:grpSpPr>
              <a:xfrm>
                <a:off x="1008" y="1056"/>
                <a:ext cx="1008" cy="912"/>
                <a:chOff x="0" y="0"/>
                <a:chExt cx="1008" cy="1008"/>
              </a:xfrm>
            </p:grpSpPr>
            <p:sp>
              <p:nvSpPr>
                <p:cNvPr id="10309" name="Oval 152"/>
                <p:cNvSpPr/>
                <p:nvPr/>
              </p:nvSpPr>
              <p:spPr>
                <a:xfrm>
                  <a:off x="432" y="48"/>
                  <a:ext cx="227" cy="227"/>
                </a:xfrm>
                <a:prstGeom prst="ellipse">
                  <a:avLst/>
                </a:prstGeom>
                <a:noFill/>
                <a:ln w="9525">
                  <a:noFill/>
                </a:ln>
              </p:spPr>
              <p:txBody>
                <a:bodyPr wrap="none" anchor="ctr" anchorCtr="0"/>
                <a:p>
                  <a:pPr algn="ctr"/>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grpSp>
              <p:nvGrpSpPr>
                <p:cNvPr id="10310" name="Group 153"/>
                <p:cNvGrpSpPr/>
                <p:nvPr/>
              </p:nvGrpSpPr>
              <p:grpSpPr>
                <a:xfrm>
                  <a:off x="192" y="288"/>
                  <a:ext cx="672" cy="672"/>
                  <a:chOff x="0" y="0"/>
                  <a:chExt cx="672" cy="672"/>
                </a:xfrm>
              </p:grpSpPr>
              <p:sp>
                <p:nvSpPr>
                  <p:cNvPr id="10311" name="Oval 154"/>
                  <p:cNvSpPr/>
                  <p:nvPr/>
                </p:nvSpPr>
                <p:spPr>
                  <a:xfrm>
                    <a:off x="96" y="288"/>
                    <a:ext cx="227" cy="227"/>
                  </a:xfrm>
                  <a:prstGeom prst="ellipse">
                    <a:avLst/>
                  </a:prstGeom>
                  <a:noFill/>
                  <a:ln w="952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M</a:t>
                    </a:r>
                    <a:endParaRPr lang="en-US" altLang="zh-CN" sz="2400" dirty="0">
                      <a:latin typeface="Times New Roman" panose="02020603050405020304" pitchFamily="18" charset="0"/>
                      <a:ea typeface="宋体" panose="02010600030101010101" pitchFamily="2" charset="-122"/>
                    </a:endParaRPr>
                  </a:p>
                </p:txBody>
              </p:sp>
              <p:sp>
                <p:nvSpPr>
                  <p:cNvPr id="10312" name="Oval 155"/>
                  <p:cNvSpPr/>
                  <p:nvPr/>
                </p:nvSpPr>
                <p:spPr>
                  <a:xfrm>
                    <a:off x="384" y="301"/>
                    <a:ext cx="227" cy="227"/>
                  </a:xfrm>
                  <a:prstGeom prst="ellipse">
                    <a:avLst/>
                  </a:prstGeom>
                  <a:noFill/>
                  <a:ln w="952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N</a:t>
                    </a:r>
                    <a:endParaRPr lang="en-US" altLang="zh-CN" sz="2400" dirty="0">
                      <a:latin typeface="Times New Roman" panose="02020603050405020304" pitchFamily="18" charset="0"/>
                      <a:ea typeface="宋体" panose="02010600030101010101" pitchFamily="2" charset="-122"/>
                    </a:endParaRPr>
                  </a:p>
                </p:txBody>
              </p:sp>
              <p:sp>
                <p:nvSpPr>
                  <p:cNvPr id="10313" name="Oval 156"/>
                  <p:cNvSpPr/>
                  <p:nvPr/>
                </p:nvSpPr>
                <p:spPr>
                  <a:xfrm>
                    <a:off x="0" y="0"/>
                    <a:ext cx="672" cy="672"/>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zh-CN" sz="2400" dirty="0">
                      <a:latin typeface="Times New Roman" panose="02020603050405020304" pitchFamily="18" charset="0"/>
                      <a:ea typeface="宋体" panose="02010600030101010101" pitchFamily="2" charset="-122"/>
                    </a:endParaRPr>
                  </a:p>
                </p:txBody>
              </p:sp>
              <p:sp>
                <p:nvSpPr>
                  <p:cNvPr id="10314" name="Oval 157"/>
                  <p:cNvSpPr/>
                  <p:nvPr/>
                </p:nvSpPr>
                <p:spPr>
                  <a:xfrm>
                    <a:off x="240" y="48"/>
                    <a:ext cx="227" cy="227"/>
                  </a:xfrm>
                  <a:prstGeom prst="ellipse">
                    <a:avLst/>
                  </a:prstGeom>
                  <a:noFill/>
                  <a:ln w="9525">
                    <a:noFill/>
                  </a:ln>
                </p:spPr>
                <p:txBody>
                  <a:bodyPr wrap="none" anchor="ctr" anchorCtr="0"/>
                  <a:p>
                    <a:pPr algn="ctr"/>
                    <a:r>
                      <a:rPr lang="en-US" altLang="zh-CN" sz="2400" dirty="0">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grpSp>
            <p:sp>
              <p:nvSpPr>
                <p:cNvPr id="10315" name="Oval 158"/>
                <p:cNvSpPr/>
                <p:nvPr/>
              </p:nvSpPr>
              <p:spPr>
                <a:xfrm>
                  <a:off x="0" y="0"/>
                  <a:ext cx="1008" cy="1008"/>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10316" name="Oval 159"/>
              <p:cNvSpPr/>
              <p:nvPr/>
            </p:nvSpPr>
            <p:spPr>
              <a:xfrm>
                <a:off x="0" y="0"/>
                <a:ext cx="2352" cy="2112"/>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0317" name="Oval 160"/>
              <p:cNvSpPr/>
              <p:nvPr/>
            </p:nvSpPr>
            <p:spPr>
              <a:xfrm>
                <a:off x="925" y="192"/>
                <a:ext cx="227" cy="227"/>
              </a:xfrm>
              <a:prstGeom prst="ellipse">
                <a:avLst/>
              </a:prstGeom>
              <a:noFill/>
              <a:ln w="9525">
                <a:noFill/>
              </a:ln>
            </p:spPr>
            <p:txBody>
              <a:bodyPr wrap="none" anchor="ctr" anchorCtr="0"/>
              <a:p>
                <a:pPr algn="ctr"/>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树结构的术语</a:t>
            </a:r>
            <a:endParaRPr lang="zh-CN" altLang="en-US" sz="2800" dirty="0">
              <a:latin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结点：包含一个数据元素及若干指向其子树的分支</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分支：结点之间的连接</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结点的度：结点拥有的子树数</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树的度：树中结点度的最大值称为树的度</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叶结点：度为0的结点[没有子树的结点]</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分支结点：度不为0的结点[包括根结点]，也称为非终端结点。</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分支结点包含根结点，除根外的分支结点又称为内部结点</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6.1 </a:t>
            </a:r>
            <a:r>
              <a:rPr lang="zh-CN" altLang="en-US" dirty="0">
                <a:latin typeface="楷体" panose="02010609060101010101" charset="-122"/>
                <a:ea typeface="楷体" panose="02010609060101010101" charset="-122"/>
                <a:sym typeface="+mn-ea"/>
              </a:rPr>
              <a:t>树的定义和基本术语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1268" name="Group 54"/>
          <p:cNvGrpSpPr/>
          <p:nvPr/>
        </p:nvGrpSpPr>
        <p:grpSpPr>
          <a:xfrm>
            <a:off x="8255953" y="908368"/>
            <a:ext cx="3529012" cy="2422525"/>
            <a:chOff x="2336" y="2171"/>
            <a:chExt cx="2223" cy="1526"/>
          </a:xfrm>
        </p:grpSpPr>
        <p:sp>
          <p:nvSpPr>
            <p:cNvPr id="11269" name="Line 5"/>
            <p:cNvSpPr/>
            <p:nvPr/>
          </p:nvSpPr>
          <p:spPr>
            <a:xfrm>
              <a:off x="4182" y="2820"/>
              <a:ext cx="226" cy="267"/>
            </a:xfrm>
            <a:prstGeom prst="line">
              <a:avLst/>
            </a:prstGeom>
            <a:ln w="38100" cap="flat" cmpd="sng">
              <a:solidFill>
                <a:srgbClr val="009900"/>
              </a:solidFill>
              <a:prstDash val="solid"/>
              <a:round/>
              <a:headEnd type="none" w="med" len="med"/>
              <a:tailEnd type="none" w="med" len="med"/>
            </a:ln>
          </p:spPr>
        </p:sp>
        <p:sp>
          <p:nvSpPr>
            <p:cNvPr id="11270" name="Line 6"/>
            <p:cNvSpPr/>
            <p:nvPr/>
          </p:nvSpPr>
          <p:spPr>
            <a:xfrm flipH="1">
              <a:off x="3768" y="2820"/>
              <a:ext cx="226" cy="228"/>
            </a:xfrm>
            <a:prstGeom prst="line">
              <a:avLst/>
            </a:prstGeom>
            <a:ln w="38100" cap="flat" cmpd="sng">
              <a:solidFill>
                <a:srgbClr val="009900"/>
              </a:solidFill>
              <a:prstDash val="solid"/>
              <a:round/>
              <a:headEnd type="none" w="med" len="med"/>
              <a:tailEnd type="none" w="med" len="med"/>
            </a:ln>
          </p:spPr>
        </p:sp>
        <p:sp>
          <p:nvSpPr>
            <p:cNvPr id="11271" name="Line 7"/>
            <p:cNvSpPr/>
            <p:nvPr/>
          </p:nvSpPr>
          <p:spPr>
            <a:xfrm>
              <a:off x="4070" y="2858"/>
              <a:ext cx="0" cy="190"/>
            </a:xfrm>
            <a:prstGeom prst="line">
              <a:avLst/>
            </a:prstGeom>
            <a:ln w="38100" cap="flat" cmpd="sng">
              <a:solidFill>
                <a:srgbClr val="009900"/>
              </a:solidFill>
              <a:prstDash val="solid"/>
              <a:round/>
              <a:headEnd type="none" w="med" len="med"/>
              <a:tailEnd type="none" w="med" len="med"/>
            </a:ln>
          </p:spPr>
        </p:sp>
        <p:sp>
          <p:nvSpPr>
            <p:cNvPr id="11272" name="Line 8"/>
            <p:cNvSpPr/>
            <p:nvPr/>
          </p:nvSpPr>
          <p:spPr>
            <a:xfrm>
              <a:off x="3768" y="3278"/>
              <a:ext cx="0" cy="228"/>
            </a:xfrm>
            <a:prstGeom prst="line">
              <a:avLst/>
            </a:prstGeom>
            <a:ln w="38100" cap="flat" cmpd="sng">
              <a:solidFill>
                <a:srgbClr val="009900"/>
              </a:solidFill>
              <a:prstDash val="solid"/>
              <a:round/>
              <a:headEnd type="none" w="med" len="med"/>
              <a:tailEnd type="none" w="med" len="med"/>
            </a:ln>
          </p:spPr>
        </p:sp>
        <p:sp>
          <p:nvSpPr>
            <p:cNvPr id="11273" name="Line 9"/>
            <p:cNvSpPr/>
            <p:nvPr/>
          </p:nvSpPr>
          <p:spPr>
            <a:xfrm>
              <a:off x="3504" y="2362"/>
              <a:ext cx="528" cy="305"/>
            </a:xfrm>
            <a:prstGeom prst="line">
              <a:avLst/>
            </a:prstGeom>
            <a:ln w="38100" cap="flat" cmpd="sng">
              <a:solidFill>
                <a:srgbClr val="009900"/>
              </a:solidFill>
              <a:prstDash val="solid"/>
              <a:round/>
              <a:headEnd type="none" w="med" len="med"/>
              <a:tailEnd type="none" w="med" len="med"/>
            </a:ln>
          </p:spPr>
        </p:sp>
        <p:sp>
          <p:nvSpPr>
            <p:cNvPr id="11274" name="Line 10"/>
            <p:cNvSpPr/>
            <p:nvPr/>
          </p:nvSpPr>
          <p:spPr>
            <a:xfrm flipH="1">
              <a:off x="2864" y="2362"/>
              <a:ext cx="452" cy="305"/>
            </a:xfrm>
            <a:prstGeom prst="line">
              <a:avLst/>
            </a:prstGeom>
            <a:ln w="38100" cap="flat" cmpd="sng">
              <a:solidFill>
                <a:srgbClr val="009900"/>
              </a:solidFill>
              <a:prstDash val="solid"/>
              <a:round/>
              <a:headEnd type="none" w="med" len="med"/>
              <a:tailEnd type="none" w="med" len="med"/>
            </a:ln>
          </p:spPr>
        </p:sp>
        <p:sp>
          <p:nvSpPr>
            <p:cNvPr id="11275" name="Line 11"/>
            <p:cNvSpPr/>
            <p:nvPr/>
          </p:nvSpPr>
          <p:spPr>
            <a:xfrm>
              <a:off x="3429" y="2400"/>
              <a:ext cx="0" cy="878"/>
            </a:xfrm>
            <a:prstGeom prst="line">
              <a:avLst/>
            </a:prstGeom>
            <a:ln w="38100" cap="flat" cmpd="sng">
              <a:solidFill>
                <a:srgbClr val="009900"/>
              </a:solidFill>
              <a:prstDash val="solid"/>
              <a:round/>
              <a:headEnd type="none" w="med" len="med"/>
              <a:tailEnd type="none" w="med" len="med"/>
            </a:ln>
          </p:spPr>
        </p:sp>
        <p:sp>
          <p:nvSpPr>
            <p:cNvPr id="11276" name="Line 12"/>
            <p:cNvSpPr/>
            <p:nvPr/>
          </p:nvSpPr>
          <p:spPr>
            <a:xfrm>
              <a:off x="2901" y="2820"/>
              <a:ext cx="114" cy="267"/>
            </a:xfrm>
            <a:prstGeom prst="line">
              <a:avLst/>
            </a:prstGeom>
            <a:ln w="38100" cap="flat" cmpd="sng">
              <a:solidFill>
                <a:srgbClr val="009900"/>
              </a:solidFill>
              <a:prstDash val="solid"/>
              <a:round/>
              <a:headEnd type="none" w="med" len="med"/>
              <a:tailEnd type="none" w="med" len="med"/>
            </a:ln>
          </p:spPr>
        </p:sp>
        <p:sp>
          <p:nvSpPr>
            <p:cNvPr id="11277" name="Line 13"/>
            <p:cNvSpPr/>
            <p:nvPr/>
          </p:nvSpPr>
          <p:spPr>
            <a:xfrm>
              <a:off x="2713" y="3239"/>
              <a:ext cx="113" cy="230"/>
            </a:xfrm>
            <a:prstGeom prst="line">
              <a:avLst/>
            </a:prstGeom>
            <a:ln w="38100" cap="flat" cmpd="sng">
              <a:solidFill>
                <a:srgbClr val="009900"/>
              </a:solidFill>
              <a:prstDash val="solid"/>
              <a:round/>
              <a:headEnd type="none" w="med" len="med"/>
              <a:tailEnd type="none" w="med" len="med"/>
            </a:ln>
          </p:spPr>
        </p:sp>
        <p:sp>
          <p:nvSpPr>
            <p:cNvPr id="11278" name="Line 14"/>
            <p:cNvSpPr/>
            <p:nvPr/>
          </p:nvSpPr>
          <p:spPr>
            <a:xfrm flipH="1">
              <a:off x="2449" y="2820"/>
              <a:ext cx="339" cy="763"/>
            </a:xfrm>
            <a:prstGeom prst="line">
              <a:avLst/>
            </a:prstGeom>
            <a:ln w="38100" cap="flat" cmpd="sng">
              <a:solidFill>
                <a:srgbClr val="009900"/>
              </a:solidFill>
              <a:prstDash val="solid"/>
              <a:round/>
              <a:headEnd type="none" w="med" len="med"/>
              <a:tailEnd type="none" w="med" len="med"/>
            </a:ln>
          </p:spPr>
        </p:sp>
        <p:sp>
          <p:nvSpPr>
            <p:cNvPr id="11279" name="Oval 15"/>
            <p:cNvSpPr/>
            <p:nvPr/>
          </p:nvSpPr>
          <p:spPr>
            <a:xfrm>
              <a:off x="3278" y="217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0" name="Oval 17"/>
            <p:cNvSpPr/>
            <p:nvPr/>
          </p:nvSpPr>
          <p:spPr>
            <a:xfrm>
              <a:off x="2713" y="2590"/>
              <a:ext cx="264" cy="268"/>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1" name="Oval 18"/>
            <p:cNvSpPr/>
            <p:nvPr/>
          </p:nvSpPr>
          <p:spPr>
            <a:xfrm>
              <a:off x="3278" y="2590"/>
              <a:ext cx="264" cy="268"/>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2" name="Oval 19"/>
            <p:cNvSpPr/>
            <p:nvPr/>
          </p:nvSpPr>
          <p:spPr>
            <a:xfrm>
              <a:off x="3956" y="2590"/>
              <a:ext cx="264" cy="268"/>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3" name="Oval 20"/>
            <p:cNvSpPr/>
            <p:nvPr/>
          </p:nvSpPr>
          <p:spPr>
            <a:xfrm>
              <a:off x="2525" y="3011"/>
              <a:ext cx="263"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4" name="Oval 21"/>
            <p:cNvSpPr/>
            <p:nvPr/>
          </p:nvSpPr>
          <p:spPr>
            <a:xfrm>
              <a:off x="2864" y="3011"/>
              <a:ext cx="263"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5" name="Oval 22"/>
            <p:cNvSpPr/>
            <p:nvPr/>
          </p:nvSpPr>
          <p:spPr>
            <a:xfrm>
              <a:off x="3278" y="301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6" name="Oval 23"/>
            <p:cNvSpPr/>
            <p:nvPr/>
          </p:nvSpPr>
          <p:spPr>
            <a:xfrm>
              <a:off x="3617" y="301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7" name="Oval 24"/>
            <p:cNvSpPr/>
            <p:nvPr/>
          </p:nvSpPr>
          <p:spPr>
            <a:xfrm>
              <a:off x="3956" y="301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8" name="Oval 25"/>
            <p:cNvSpPr/>
            <p:nvPr/>
          </p:nvSpPr>
          <p:spPr>
            <a:xfrm>
              <a:off x="4295" y="301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9" name="Oval 26"/>
            <p:cNvSpPr/>
            <p:nvPr/>
          </p:nvSpPr>
          <p:spPr>
            <a:xfrm>
              <a:off x="2336" y="3430"/>
              <a:ext cx="263"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90" name="Oval 27"/>
            <p:cNvSpPr/>
            <p:nvPr/>
          </p:nvSpPr>
          <p:spPr>
            <a:xfrm>
              <a:off x="2713" y="3430"/>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91" name="Oval 28"/>
            <p:cNvSpPr/>
            <p:nvPr/>
          </p:nvSpPr>
          <p:spPr>
            <a:xfrm>
              <a:off x="3617" y="3430"/>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92" name="Text Box 41"/>
            <p:cNvSpPr txBox="1"/>
            <p:nvPr/>
          </p:nvSpPr>
          <p:spPr>
            <a:xfrm>
              <a:off x="3310" y="2175"/>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A</a:t>
              </a:r>
              <a:endParaRPr lang="en-US" altLang="zh-CN" sz="2000" dirty="0">
                <a:latin typeface="Times New Roman" panose="02020603050405020304" pitchFamily="18" charset="0"/>
                <a:ea typeface="宋体" panose="02010600030101010101" pitchFamily="2" charset="-122"/>
              </a:endParaRPr>
            </a:p>
          </p:txBody>
        </p:sp>
        <p:sp>
          <p:nvSpPr>
            <p:cNvPr id="11293" name="Text Box 42"/>
            <p:cNvSpPr txBox="1"/>
            <p:nvPr/>
          </p:nvSpPr>
          <p:spPr>
            <a:xfrm>
              <a:off x="3310" y="2594"/>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11294" name="Text Box 43"/>
            <p:cNvSpPr txBox="1"/>
            <p:nvPr/>
          </p:nvSpPr>
          <p:spPr>
            <a:xfrm>
              <a:off x="3306" y="3021"/>
              <a:ext cx="240"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G</a:t>
              </a:r>
              <a:endParaRPr lang="en-US" altLang="zh-CN" sz="2000" dirty="0">
                <a:latin typeface="Times New Roman" panose="02020603050405020304" pitchFamily="18" charset="0"/>
                <a:ea typeface="宋体" panose="02010600030101010101" pitchFamily="2" charset="-122"/>
              </a:endParaRPr>
            </a:p>
          </p:txBody>
        </p:sp>
        <p:sp>
          <p:nvSpPr>
            <p:cNvPr id="11295" name="Text Box 44"/>
            <p:cNvSpPr txBox="1"/>
            <p:nvPr/>
          </p:nvSpPr>
          <p:spPr>
            <a:xfrm>
              <a:off x="2745" y="2594"/>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sp>
          <p:nvSpPr>
            <p:cNvPr id="11296" name="Text Box 45"/>
            <p:cNvSpPr txBox="1"/>
            <p:nvPr/>
          </p:nvSpPr>
          <p:spPr>
            <a:xfrm>
              <a:off x="3988" y="2602"/>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D</a:t>
              </a:r>
              <a:endParaRPr lang="en-US" altLang="zh-CN" sz="2000" dirty="0">
                <a:latin typeface="Times New Roman" panose="02020603050405020304" pitchFamily="18" charset="0"/>
                <a:ea typeface="宋体" panose="02010600030101010101" pitchFamily="2" charset="-122"/>
              </a:endParaRPr>
            </a:p>
          </p:txBody>
        </p:sp>
        <p:sp>
          <p:nvSpPr>
            <p:cNvPr id="11297" name="Text Box 46"/>
            <p:cNvSpPr txBox="1"/>
            <p:nvPr/>
          </p:nvSpPr>
          <p:spPr>
            <a:xfrm>
              <a:off x="2561" y="3021"/>
              <a:ext cx="222"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E</a:t>
              </a:r>
              <a:endParaRPr lang="en-US" altLang="zh-CN" sz="2000" dirty="0">
                <a:latin typeface="Times New Roman" panose="02020603050405020304" pitchFamily="18" charset="0"/>
                <a:ea typeface="宋体" panose="02010600030101010101" pitchFamily="2" charset="-122"/>
              </a:endParaRPr>
            </a:p>
          </p:txBody>
        </p:sp>
        <p:sp>
          <p:nvSpPr>
            <p:cNvPr id="11298" name="Text Box 47"/>
            <p:cNvSpPr txBox="1"/>
            <p:nvPr/>
          </p:nvSpPr>
          <p:spPr>
            <a:xfrm>
              <a:off x="2900" y="3021"/>
              <a:ext cx="213"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F</a:t>
              </a:r>
              <a:endParaRPr lang="en-US" altLang="zh-CN" sz="2000" dirty="0">
                <a:latin typeface="Times New Roman" panose="02020603050405020304" pitchFamily="18" charset="0"/>
                <a:ea typeface="宋体" panose="02010600030101010101" pitchFamily="2" charset="-122"/>
              </a:endParaRPr>
            </a:p>
          </p:txBody>
        </p:sp>
        <p:sp>
          <p:nvSpPr>
            <p:cNvPr id="11299" name="Text Box 48"/>
            <p:cNvSpPr txBox="1"/>
            <p:nvPr/>
          </p:nvSpPr>
          <p:spPr>
            <a:xfrm>
              <a:off x="2376" y="3441"/>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K</a:t>
              </a:r>
              <a:endParaRPr lang="en-US" altLang="zh-CN" sz="2000" dirty="0">
                <a:latin typeface="Times New Roman" panose="02020603050405020304" pitchFamily="18" charset="0"/>
                <a:ea typeface="宋体" panose="02010600030101010101" pitchFamily="2" charset="-122"/>
              </a:endParaRPr>
            </a:p>
          </p:txBody>
        </p:sp>
        <p:sp>
          <p:nvSpPr>
            <p:cNvPr id="11300" name="Text Box 49"/>
            <p:cNvSpPr txBox="1"/>
            <p:nvPr/>
          </p:nvSpPr>
          <p:spPr>
            <a:xfrm>
              <a:off x="2745" y="3441"/>
              <a:ext cx="213"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L</a:t>
              </a:r>
              <a:endParaRPr lang="en-US" altLang="zh-CN" sz="2000" dirty="0">
                <a:latin typeface="Times New Roman" panose="02020603050405020304" pitchFamily="18" charset="0"/>
                <a:ea typeface="宋体" panose="02010600030101010101" pitchFamily="2" charset="-122"/>
              </a:endParaRPr>
            </a:p>
          </p:txBody>
        </p:sp>
        <p:sp>
          <p:nvSpPr>
            <p:cNvPr id="11301" name="Text Box 50"/>
            <p:cNvSpPr txBox="1"/>
            <p:nvPr/>
          </p:nvSpPr>
          <p:spPr>
            <a:xfrm>
              <a:off x="3645" y="3021"/>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H</a:t>
              </a:r>
              <a:endParaRPr lang="en-US" altLang="zh-CN" sz="2000" dirty="0">
                <a:latin typeface="Times New Roman" panose="02020603050405020304" pitchFamily="18" charset="0"/>
                <a:ea typeface="宋体" panose="02010600030101010101" pitchFamily="2" charset="-122"/>
              </a:endParaRPr>
            </a:p>
          </p:txBody>
        </p:sp>
        <p:sp>
          <p:nvSpPr>
            <p:cNvPr id="11302" name="Text Box 51"/>
            <p:cNvSpPr txBox="1"/>
            <p:nvPr/>
          </p:nvSpPr>
          <p:spPr>
            <a:xfrm>
              <a:off x="3616" y="3441"/>
              <a:ext cx="248"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M</a:t>
              </a:r>
              <a:endParaRPr lang="en-US" altLang="zh-CN" sz="2000" dirty="0">
                <a:latin typeface="Times New Roman" panose="02020603050405020304" pitchFamily="18" charset="0"/>
                <a:ea typeface="宋体" panose="02010600030101010101" pitchFamily="2" charset="-122"/>
              </a:endParaRPr>
            </a:p>
          </p:txBody>
        </p:sp>
        <p:sp>
          <p:nvSpPr>
            <p:cNvPr id="11303" name="Text Box 52"/>
            <p:cNvSpPr txBox="1"/>
            <p:nvPr/>
          </p:nvSpPr>
          <p:spPr>
            <a:xfrm>
              <a:off x="3999" y="3021"/>
              <a:ext cx="160"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I</a:t>
              </a:r>
              <a:endParaRPr lang="en-US" altLang="zh-CN" sz="2000" dirty="0">
                <a:latin typeface="Times New Roman" panose="02020603050405020304" pitchFamily="18" charset="0"/>
                <a:ea typeface="宋体" panose="02010600030101010101" pitchFamily="2" charset="-122"/>
              </a:endParaRPr>
            </a:p>
          </p:txBody>
        </p:sp>
        <p:sp>
          <p:nvSpPr>
            <p:cNvPr id="11304" name="Text Box 53"/>
            <p:cNvSpPr txBox="1"/>
            <p:nvPr/>
          </p:nvSpPr>
          <p:spPr>
            <a:xfrm>
              <a:off x="4335" y="3021"/>
              <a:ext cx="204"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J</a:t>
              </a:r>
              <a:endParaRPr lang="en-US" altLang="zh-CN" sz="20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树关系的术语</a:t>
            </a:r>
            <a:endParaRPr lang="zh-CN" altLang="en-US" sz="2800" dirty="0">
              <a:latin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双亲</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孩子</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兄弟</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祖先</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子孙</a:t>
            </a:r>
            <a:endParaRPr lang="zh-CN" altLang="en-US" sz="2400" dirty="0">
              <a:latin typeface="黑体" panose="02010609060101010101" pitchFamily="2" charset="-122"/>
              <a:ea typeface="黑体" panose="02010609060101010101" pitchFamily="2" charset="-122"/>
              <a:cs typeface="+mn-ea"/>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有序树/无序树：孩子的位置是否可以交换</a:t>
            </a:r>
            <a:endParaRPr kumimoji="0" lang="zh-CN" altLang="en-US" sz="2800" i="0" u="none" strike="noStrike" kern="0" cap="none" spc="0" normalizeH="0" baseline="0" noProof="1" dirty="0">
              <a:solidFill>
                <a:schemeClr val="tx1"/>
              </a:solidFill>
              <a:latin typeface="黑体" panose="02010609060101010101" pitchFamily="2" charset="-122"/>
              <a:ea typeface="+mn-ea"/>
              <a:cs typeface="+mn-cs"/>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关系：孩子是双亲的质因子，例1/2/5-20，用无序树表示</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关系：孩子是双亲的递增质因子，例1/2/5-20，用有序树表示</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6.1 </a:t>
            </a:r>
            <a:r>
              <a:rPr lang="zh-CN" altLang="en-US" dirty="0">
                <a:latin typeface="楷体" panose="02010609060101010101" charset="-122"/>
                <a:ea typeface="楷体" panose="02010609060101010101" charset="-122"/>
                <a:sym typeface="+mn-ea"/>
              </a:rPr>
              <a:t>树的定义和基本术语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1268" name="Group 54"/>
          <p:cNvGrpSpPr/>
          <p:nvPr/>
        </p:nvGrpSpPr>
        <p:grpSpPr>
          <a:xfrm>
            <a:off x="5879783" y="947738"/>
            <a:ext cx="3529012" cy="2422525"/>
            <a:chOff x="2336" y="2171"/>
            <a:chExt cx="2223" cy="1526"/>
          </a:xfrm>
        </p:grpSpPr>
        <p:sp>
          <p:nvSpPr>
            <p:cNvPr id="11269" name="Line 5"/>
            <p:cNvSpPr/>
            <p:nvPr/>
          </p:nvSpPr>
          <p:spPr>
            <a:xfrm>
              <a:off x="4182" y="2820"/>
              <a:ext cx="226" cy="267"/>
            </a:xfrm>
            <a:prstGeom prst="line">
              <a:avLst/>
            </a:prstGeom>
            <a:ln w="38100" cap="flat" cmpd="sng">
              <a:solidFill>
                <a:srgbClr val="009900"/>
              </a:solidFill>
              <a:prstDash val="solid"/>
              <a:round/>
              <a:headEnd type="none" w="med" len="med"/>
              <a:tailEnd type="none" w="med" len="med"/>
            </a:ln>
          </p:spPr>
        </p:sp>
        <p:sp>
          <p:nvSpPr>
            <p:cNvPr id="11270" name="Line 6"/>
            <p:cNvSpPr/>
            <p:nvPr/>
          </p:nvSpPr>
          <p:spPr>
            <a:xfrm flipH="1">
              <a:off x="3768" y="2820"/>
              <a:ext cx="226" cy="228"/>
            </a:xfrm>
            <a:prstGeom prst="line">
              <a:avLst/>
            </a:prstGeom>
            <a:ln w="38100" cap="flat" cmpd="sng">
              <a:solidFill>
                <a:srgbClr val="009900"/>
              </a:solidFill>
              <a:prstDash val="solid"/>
              <a:round/>
              <a:headEnd type="none" w="med" len="med"/>
              <a:tailEnd type="none" w="med" len="med"/>
            </a:ln>
          </p:spPr>
        </p:sp>
        <p:sp>
          <p:nvSpPr>
            <p:cNvPr id="11271" name="Line 7"/>
            <p:cNvSpPr/>
            <p:nvPr/>
          </p:nvSpPr>
          <p:spPr>
            <a:xfrm>
              <a:off x="4070" y="2858"/>
              <a:ext cx="0" cy="190"/>
            </a:xfrm>
            <a:prstGeom prst="line">
              <a:avLst/>
            </a:prstGeom>
            <a:ln w="38100" cap="flat" cmpd="sng">
              <a:solidFill>
                <a:srgbClr val="009900"/>
              </a:solidFill>
              <a:prstDash val="solid"/>
              <a:round/>
              <a:headEnd type="none" w="med" len="med"/>
              <a:tailEnd type="none" w="med" len="med"/>
            </a:ln>
          </p:spPr>
        </p:sp>
        <p:sp>
          <p:nvSpPr>
            <p:cNvPr id="11272" name="Line 8"/>
            <p:cNvSpPr/>
            <p:nvPr/>
          </p:nvSpPr>
          <p:spPr>
            <a:xfrm>
              <a:off x="3768" y="3278"/>
              <a:ext cx="0" cy="228"/>
            </a:xfrm>
            <a:prstGeom prst="line">
              <a:avLst/>
            </a:prstGeom>
            <a:ln w="38100" cap="flat" cmpd="sng">
              <a:solidFill>
                <a:srgbClr val="009900"/>
              </a:solidFill>
              <a:prstDash val="solid"/>
              <a:round/>
              <a:headEnd type="none" w="med" len="med"/>
              <a:tailEnd type="none" w="med" len="med"/>
            </a:ln>
          </p:spPr>
        </p:sp>
        <p:sp>
          <p:nvSpPr>
            <p:cNvPr id="11273" name="Line 9"/>
            <p:cNvSpPr/>
            <p:nvPr/>
          </p:nvSpPr>
          <p:spPr>
            <a:xfrm>
              <a:off x="3504" y="2362"/>
              <a:ext cx="528" cy="305"/>
            </a:xfrm>
            <a:prstGeom prst="line">
              <a:avLst/>
            </a:prstGeom>
            <a:ln w="38100" cap="flat" cmpd="sng">
              <a:solidFill>
                <a:srgbClr val="009900"/>
              </a:solidFill>
              <a:prstDash val="solid"/>
              <a:round/>
              <a:headEnd type="none" w="med" len="med"/>
              <a:tailEnd type="none" w="med" len="med"/>
            </a:ln>
          </p:spPr>
        </p:sp>
        <p:sp>
          <p:nvSpPr>
            <p:cNvPr id="11274" name="Line 10"/>
            <p:cNvSpPr/>
            <p:nvPr/>
          </p:nvSpPr>
          <p:spPr>
            <a:xfrm flipH="1">
              <a:off x="2864" y="2362"/>
              <a:ext cx="452" cy="305"/>
            </a:xfrm>
            <a:prstGeom prst="line">
              <a:avLst/>
            </a:prstGeom>
            <a:ln w="38100" cap="flat" cmpd="sng">
              <a:solidFill>
                <a:srgbClr val="009900"/>
              </a:solidFill>
              <a:prstDash val="solid"/>
              <a:round/>
              <a:headEnd type="none" w="med" len="med"/>
              <a:tailEnd type="none" w="med" len="med"/>
            </a:ln>
          </p:spPr>
        </p:sp>
        <p:sp>
          <p:nvSpPr>
            <p:cNvPr id="11275" name="Line 11"/>
            <p:cNvSpPr/>
            <p:nvPr/>
          </p:nvSpPr>
          <p:spPr>
            <a:xfrm>
              <a:off x="3429" y="2400"/>
              <a:ext cx="0" cy="878"/>
            </a:xfrm>
            <a:prstGeom prst="line">
              <a:avLst/>
            </a:prstGeom>
            <a:ln w="38100" cap="flat" cmpd="sng">
              <a:solidFill>
                <a:srgbClr val="009900"/>
              </a:solidFill>
              <a:prstDash val="solid"/>
              <a:round/>
              <a:headEnd type="none" w="med" len="med"/>
              <a:tailEnd type="none" w="med" len="med"/>
            </a:ln>
          </p:spPr>
        </p:sp>
        <p:sp>
          <p:nvSpPr>
            <p:cNvPr id="11276" name="Line 12"/>
            <p:cNvSpPr/>
            <p:nvPr/>
          </p:nvSpPr>
          <p:spPr>
            <a:xfrm>
              <a:off x="2901" y="2820"/>
              <a:ext cx="114" cy="267"/>
            </a:xfrm>
            <a:prstGeom prst="line">
              <a:avLst/>
            </a:prstGeom>
            <a:ln w="38100" cap="flat" cmpd="sng">
              <a:solidFill>
                <a:srgbClr val="009900"/>
              </a:solidFill>
              <a:prstDash val="solid"/>
              <a:round/>
              <a:headEnd type="none" w="med" len="med"/>
              <a:tailEnd type="none" w="med" len="med"/>
            </a:ln>
          </p:spPr>
        </p:sp>
        <p:sp>
          <p:nvSpPr>
            <p:cNvPr id="11277" name="Line 13"/>
            <p:cNvSpPr/>
            <p:nvPr/>
          </p:nvSpPr>
          <p:spPr>
            <a:xfrm>
              <a:off x="2713" y="3239"/>
              <a:ext cx="113" cy="230"/>
            </a:xfrm>
            <a:prstGeom prst="line">
              <a:avLst/>
            </a:prstGeom>
            <a:ln w="38100" cap="flat" cmpd="sng">
              <a:solidFill>
                <a:srgbClr val="009900"/>
              </a:solidFill>
              <a:prstDash val="solid"/>
              <a:round/>
              <a:headEnd type="none" w="med" len="med"/>
              <a:tailEnd type="none" w="med" len="med"/>
            </a:ln>
          </p:spPr>
        </p:sp>
        <p:sp>
          <p:nvSpPr>
            <p:cNvPr id="11278" name="Line 14"/>
            <p:cNvSpPr/>
            <p:nvPr/>
          </p:nvSpPr>
          <p:spPr>
            <a:xfrm flipH="1">
              <a:off x="2449" y="2820"/>
              <a:ext cx="339" cy="763"/>
            </a:xfrm>
            <a:prstGeom prst="line">
              <a:avLst/>
            </a:prstGeom>
            <a:ln w="38100" cap="flat" cmpd="sng">
              <a:solidFill>
                <a:srgbClr val="009900"/>
              </a:solidFill>
              <a:prstDash val="solid"/>
              <a:round/>
              <a:headEnd type="none" w="med" len="med"/>
              <a:tailEnd type="none" w="med" len="med"/>
            </a:ln>
          </p:spPr>
        </p:sp>
        <p:sp>
          <p:nvSpPr>
            <p:cNvPr id="11279" name="Oval 15"/>
            <p:cNvSpPr/>
            <p:nvPr/>
          </p:nvSpPr>
          <p:spPr>
            <a:xfrm>
              <a:off x="3278" y="217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0" name="Oval 17"/>
            <p:cNvSpPr/>
            <p:nvPr/>
          </p:nvSpPr>
          <p:spPr>
            <a:xfrm>
              <a:off x="2713" y="2590"/>
              <a:ext cx="264" cy="268"/>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1" name="Oval 18"/>
            <p:cNvSpPr/>
            <p:nvPr/>
          </p:nvSpPr>
          <p:spPr>
            <a:xfrm>
              <a:off x="3278" y="2590"/>
              <a:ext cx="264" cy="268"/>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2" name="Oval 19"/>
            <p:cNvSpPr/>
            <p:nvPr/>
          </p:nvSpPr>
          <p:spPr>
            <a:xfrm>
              <a:off x="3956" y="2590"/>
              <a:ext cx="264" cy="268"/>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3" name="Oval 20"/>
            <p:cNvSpPr/>
            <p:nvPr/>
          </p:nvSpPr>
          <p:spPr>
            <a:xfrm>
              <a:off x="2525" y="3011"/>
              <a:ext cx="263"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4" name="Oval 21"/>
            <p:cNvSpPr/>
            <p:nvPr/>
          </p:nvSpPr>
          <p:spPr>
            <a:xfrm>
              <a:off x="2864" y="3011"/>
              <a:ext cx="263"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5" name="Oval 22"/>
            <p:cNvSpPr/>
            <p:nvPr/>
          </p:nvSpPr>
          <p:spPr>
            <a:xfrm>
              <a:off x="3278" y="301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6" name="Oval 23"/>
            <p:cNvSpPr/>
            <p:nvPr/>
          </p:nvSpPr>
          <p:spPr>
            <a:xfrm>
              <a:off x="3617" y="301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7" name="Oval 24"/>
            <p:cNvSpPr/>
            <p:nvPr/>
          </p:nvSpPr>
          <p:spPr>
            <a:xfrm>
              <a:off x="3956" y="301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8" name="Oval 25"/>
            <p:cNvSpPr/>
            <p:nvPr/>
          </p:nvSpPr>
          <p:spPr>
            <a:xfrm>
              <a:off x="4295" y="3011"/>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89" name="Oval 26"/>
            <p:cNvSpPr/>
            <p:nvPr/>
          </p:nvSpPr>
          <p:spPr>
            <a:xfrm>
              <a:off x="2336" y="3430"/>
              <a:ext cx="263"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90" name="Oval 27"/>
            <p:cNvSpPr/>
            <p:nvPr/>
          </p:nvSpPr>
          <p:spPr>
            <a:xfrm>
              <a:off x="2713" y="3430"/>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91" name="Oval 28"/>
            <p:cNvSpPr/>
            <p:nvPr/>
          </p:nvSpPr>
          <p:spPr>
            <a:xfrm>
              <a:off x="3617" y="3430"/>
              <a:ext cx="264" cy="267"/>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1292" name="Text Box 41"/>
            <p:cNvSpPr txBox="1"/>
            <p:nvPr/>
          </p:nvSpPr>
          <p:spPr>
            <a:xfrm>
              <a:off x="3310" y="2175"/>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A</a:t>
              </a:r>
              <a:endParaRPr lang="en-US" altLang="zh-CN" sz="2000" dirty="0">
                <a:latin typeface="Times New Roman" panose="02020603050405020304" pitchFamily="18" charset="0"/>
                <a:ea typeface="宋体" panose="02010600030101010101" pitchFamily="2" charset="-122"/>
              </a:endParaRPr>
            </a:p>
          </p:txBody>
        </p:sp>
        <p:sp>
          <p:nvSpPr>
            <p:cNvPr id="11293" name="Text Box 42"/>
            <p:cNvSpPr txBox="1"/>
            <p:nvPr/>
          </p:nvSpPr>
          <p:spPr>
            <a:xfrm>
              <a:off x="3310" y="2594"/>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11294" name="Text Box 43"/>
            <p:cNvSpPr txBox="1"/>
            <p:nvPr/>
          </p:nvSpPr>
          <p:spPr>
            <a:xfrm>
              <a:off x="3306" y="3021"/>
              <a:ext cx="240"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G</a:t>
              </a:r>
              <a:endParaRPr lang="en-US" altLang="zh-CN" sz="2000" dirty="0">
                <a:latin typeface="Times New Roman" panose="02020603050405020304" pitchFamily="18" charset="0"/>
                <a:ea typeface="宋体" panose="02010600030101010101" pitchFamily="2" charset="-122"/>
              </a:endParaRPr>
            </a:p>
          </p:txBody>
        </p:sp>
        <p:sp>
          <p:nvSpPr>
            <p:cNvPr id="11295" name="Text Box 44"/>
            <p:cNvSpPr txBox="1"/>
            <p:nvPr/>
          </p:nvSpPr>
          <p:spPr>
            <a:xfrm>
              <a:off x="2745" y="2594"/>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sp>
          <p:nvSpPr>
            <p:cNvPr id="11296" name="Text Box 45"/>
            <p:cNvSpPr txBox="1"/>
            <p:nvPr/>
          </p:nvSpPr>
          <p:spPr>
            <a:xfrm>
              <a:off x="3988" y="2602"/>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D</a:t>
              </a:r>
              <a:endParaRPr lang="en-US" altLang="zh-CN" sz="2000" dirty="0">
                <a:latin typeface="Times New Roman" panose="02020603050405020304" pitchFamily="18" charset="0"/>
                <a:ea typeface="宋体" panose="02010600030101010101" pitchFamily="2" charset="-122"/>
              </a:endParaRPr>
            </a:p>
          </p:txBody>
        </p:sp>
        <p:sp>
          <p:nvSpPr>
            <p:cNvPr id="11297" name="Text Box 46"/>
            <p:cNvSpPr txBox="1"/>
            <p:nvPr/>
          </p:nvSpPr>
          <p:spPr>
            <a:xfrm>
              <a:off x="2561" y="3021"/>
              <a:ext cx="222"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E</a:t>
              </a:r>
              <a:endParaRPr lang="en-US" altLang="zh-CN" sz="2000" dirty="0">
                <a:latin typeface="Times New Roman" panose="02020603050405020304" pitchFamily="18" charset="0"/>
                <a:ea typeface="宋体" panose="02010600030101010101" pitchFamily="2" charset="-122"/>
              </a:endParaRPr>
            </a:p>
          </p:txBody>
        </p:sp>
        <p:sp>
          <p:nvSpPr>
            <p:cNvPr id="11298" name="Text Box 47"/>
            <p:cNvSpPr txBox="1"/>
            <p:nvPr/>
          </p:nvSpPr>
          <p:spPr>
            <a:xfrm>
              <a:off x="2900" y="3021"/>
              <a:ext cx="213"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F</a:t>
              </a:r>
              <a:endParaRPr lang="en-US" altLang="zh-CN" sz="2000" dirty="0">
                <a:latin typeface="Times New Roman" panose="02020603050405020304" pitchFamily="18" charset="0"/>
                <a:ea typeface="宋体" panose="02010600030101010101" pitchFamily="2" charset="-122"/>
              </a:endParaRPr>
            </a:p>
          </p:txBody>
        </p:sp>
        <p:sp>
          <p:nvSpPr>
            <p:cNvPr id="11299" name="Text Box 48"/>
            <p:cNvSpPr txBox="1"/>
            <p:nvPr/>
          </p:nvSpPr>
          <p:spPr>
            <a:xfrm>
              <a:off x="2376" y="3441"/>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K</a:t>
              </a:r>
              <a:endParaRPr lang="en-US" altLang="zh-CN" sz="2000" dirty="0">
                <a:latin typeface="Times New Roman" panose="02020603050405020304" pitchFamily="18" charset="0"/>
                <a:ea typeface="宋体" panose="02010600030101010101" pitchFamily="2" charset="-122"/>
              </a:endParaRPr>
            </a:p>
          </p:txBody>
        </p:sp>
        <p:sp>
          <p:nvSpPr>
            <p:cNvPr id="11300" name="Text Box 49"/>
            <p:cNvSpPr txBox="1"/>
            <p:nvPr/>
          </p:nvSpPr>
          <p:spPr>
            <a:xfrm>
              <a:off x="2745" y="3441"/>
              <a:ext cx="213"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L</a:t>
              </a:r>
              <a:endParaRPr lang="en-US" altLang="zh-CN" sz="2000" dirty="0">
                <a:latin typeface="Times New Roman" panose="02020603050405020304" pitchFamily="18" charset="0"/>
                <a:ea typeface="宋体" panose="02010600030101010101" pitchFamily="2" charset="-122"/>
              </a:endParaRPr>
            </a:p>
          </p:txBody>
        </p:sp>
        <p:sp>
          <p:nvSpPr>
            <p:cNvPr id="11301" name="Text Box 50"/>
            <p:cNvSpPr txBox="1"/>
            <p:nvPr/>
          </p:nvSpPr>
          <p:spPr>
            <a:xfrm>
              <a:off x="3645" y="3021"/>
              <a:ext cx="231"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H</a:t>
              </a:r>
              <a:endParaRPr lang="en-US" altLang="zh-CN" sz="2000" dirty="0">
                <a:latin typeface="Times New Roman" panose="02020603050405020304" pitchFamily="18" charset="0"/>
                <a:ea typeface="宋体" panose="02010600030101010101" pitchFamily="2" charset="-122"/>
              </a:endParaRPr>
            </a:p>
          </p:txBody>
        </p:sp>
        <p:sp>
          <p:nvSpPr>
            <p:cNvPr id="11302" name="Text Box 51"/>
            <p:cNvSpPr txBox="1"/>
            <p:nvPr/>
          </p:nvSpPr>
          <p:spPr>
            <a:xfrm>
              <a:off x="3616" y="3441"/>
              <a:ext cx="248"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M</a:t>
              </a:r>
              <a:endParaRPr lang="en-US" altLang="zh-CN" sz="2000" dirty="0">
                <a:latin typeface="Times New Roman" panose="02020603050405020304" pitchFamily="18" charset="0"/>
                <a:ea typeface="宋体" panose="02010600030101010101" pitchFamily="2" charset="-122"/>
              </a:endParaRPr>
            </a:p>
          </p:txBody>
        </p:sp>
        <p:sp>
          <p:nvSpPr>
            <p:cNvPr id="11303" name="Text Box 52"/>
            <p:cNvSpPr txBox="1"/>
            <p:nvPr/>
          </p:nvSpPr>
          <p:spPr>
            <a:xfrm>
              <a:off x="3999" y="3021"/>
              <a:ext cx="160"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I</a:t>
              </a:r>
              <a:endParaRPr lang="en-US" altLang="zh-CN" sz="2000" dirty="0">
                <a:latin typeface="Times New Roman" panose="02020603050405020304" pitchFamily="18" charset="0"/>
                <a:ea typeface="宋体" panose="02010600030101010101" pitchFamily="2" charset="-122"/>
              </a:endParaRPr>
            </a:p>
          </p:txBody>
        </p:sp>
        <p:sp>
          <p:nvSpPr>
            <p:cNvPr id="11304" name="Text Box 53"/>
            <p:cNvSpPr txBox="1"/>
            <p:nvPr/>
          </p:nvSpPr>
          <p:spPr>
            <a:xfrm>
              <a:off x="4335" y="3021"/>
              <a:ext cx="204" cy="251"/>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J</a:t>
              </a:r>
              <a:endParaRPr lang="en-US" altLang="zh-CN" sz="20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其他术语</a:t>
            </a:r>
            <a:endParaRPr lang="zh-CN" altLang="en-US" sz="2800" dirty="0">
              <a:latin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层次：根结点为第一层，其孩子为第二层，依此类推</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深度：树中结点的最大层次</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森林：互不相交的树的集合。对树中每个结点而言，其子树的集合即为森林</a:t>
            </a:r>
            <a:endParaRPr kumimoji="0" lang="zh-CN" altLang="en-US" sz="2800" i="0" u="none" strike="noStrike" kern="0" cap="none" spc="0" normalizeH="0" baseline="0" noProof="1" dirty="0">
              <a:solidFill>
                <a:schemeClr val="tx1"/>
              </a:solidFill>
              <a:latin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6.1 </a:t>
            </a:r>
            <a:r>
              <a:rPr lang="zh-CN" altLang="en-US" dirty="0">
                <a:latin typeface="楷体" panose="02010609060101010101" charset="-122"/>
                <a:ea typeface="楷体" panose="02010609060101010101" charset="-122"/>
                <a:sym typeface="+mn-ea"/>
              </a:rPr>
              <a:t>树的定义和基本术语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3316" name="Group 4"/>
          <p:cNvGrpSpPr/>
          <p:nvPr/>
        </p:nvGrpSpPr>
        <p:grpSpPr>
          <a:xfrm>
            <a:off x="752475" y="3428683"/>
            <a:ext cx="4953000" cy="2439987"/>
            <a:chOff x="1872" y="2484"/>
            <a:chExt cx="3389" cy="1682"/>
          </a:xfrm>
        </p:grpSpPr>
        <p:sp>
          <p:nvSpPr>
            <p:cNvPr id="13317" name="Line 5"/>
            <p:cNvSpPr/>
            <p:nvPr/>
          </p:nvSpPr>
          <p:spPr>
            <a:xfrm>
              <a:off x="3877" y="3206"/>
              <a:ext cx="246" cy="292"/>
            </a:xfrm>
            <a:prstGeom prst="line">
              <a:avLst/>
            </a:prstGeom>
            <a:ln w="38100" cap="flat" cmpd="sng">
              <a:solidFill>
                <a:srgbClr val="009900"/>
              </a:solidFill>
              <a:prstDash val="solid"/>
              <a:round/>
              <a:headEnd type="none" w="med" len="med"/>
              <a:tailEnd type="none" w="med" len="med"/>
            </a:ln>
          </p:spPr>
        </p:sp>
        <p:sp>
          <p:nvSpPr>
            <p:cNvPr id="13318" name="Line 6"/>
            <p:cNvSpPr/>
            <p:nvPr/>
          </p:nvSpPr>
          <p:spPr>
            <a:xfrm flipH="1">
              <a:off x="3427" y="3206"/>
              <a:ext cx="246" cy="250"/>
            </a:xfrm>
            <a:prstGeom prst="line">
              <a:avLst/>
            </a:prstGeom>
            <a:ln w="38100" cap="flat" cmpd="sng">
              <a:solidFill>
                <a:srgbClr val="009900"/>
              </a:solidFill>
              <a:prstDash val="solid"/>
              <a:round/>
              <a:headEnd type="none" w="med" len="med"/>
              <a:tailEnd type="none" w="med" len="med"/>
            </a:ln>
          </p:spPr>
        </p:sp>
        <p:sp>
          <p:nvSpPr>
            <p:cNvPr id="13319" name="Line 7"/>
            <p:cNvSpPr/>
            <p:nvPr/>
          </p:nvSpPr>
          <p:spPr>
            <a:xfrm>
              <a:off x="3755" y="3248"/>
              <a:ext cx="0" cy="208"/>
            </a:xfrm>
            <a:prstGeom prst="line">
              <a:avLst/>
            </a:prstGeom>
            <a:ln w="38100" cap="flat" cmpd="sng">
              <a:solidFill>
                <a:srgbClr val="009900"/>
              </a:solidFill>
              <a:prstDash val="solid"/>
              <a:round/>
              <a:headEnd type="none" w="med" len="med"/>
              <a:tailEnd type="none" w="med" len="med"/>
            </a:ln>
          </p:spPr>
        </p:sp>
        <p:sp>
          <p:nvSpPr>
            <p:cNvPr id="13320" name="Line 8"/>
            <p:cNvSpPr/>
            <p:nvPr/>
          </p:nvSpPr>
          <p:spPr>
            <a:xfrm>
              <a:off x="3427" y="3707"/>
              <a:ext cx="0" cy="250"/>
            </a:xfrm>
            <a:prstGeom prst="line">
              <a:avLst/>
            </a:prstGeom>
            <a:ln w="38100" cap="flat" cmpd="sng">
              <a:solidFill>
                <a:srgbClr val="009900"/>
              </a:solidFill>
              <a:prstDash val="solid"/>
              <a:round/>
              <a:headEnd type="none" w="med" len="med"/>
              <a:tailEnd type="none" w="med" len="med"/>
            </a:ln>
          </p:spPr>
        </p:sp>
        <p:sp>
          <p:nvSpPr>
            <p:cNvPr id="13321" name="Line 9"/>
            <p:cNvSpPr/>
            <p:nvPr/>
          </p:nvSpPr>
          <p:spPr>
            <a:xfrm>
              <a:off x="3141" y="2705"/>
              <a:ext cx="573" cy="334"/>
            </a:xfrm>
            <a:prstGeom prst="line">
              <a:avLst/>
            </a:prstGeom>
            <a:ln w="38100" cap="flat" cmpd="sng">
              <a:solidFill>
                <a:srgbClr val="009900"/>
              </a:solidFill>
              <a:prstDash val="solid"/>
              <a:round/>
              <a:headEnd type="none" w="med" len="med"/>
              <a:tailEnd type="none" w="med" len="med"/>
            </a:ln>
          </p:spPr>
        </p:sp>
        <p:sp>
          <p:nvSpPr>
            <p:cNvPr id="13322" name="Line 10"/>
            <p:cNvSpPr/>
            <p:nvPr/>
          </p:nvSpPr>
          <p:spPr>
            <a:xfrm flipH="1">
              <a:off x="2445" y="2705"/>
              <a:ext cx="491" cy="334"/>
            </a:xfrm>
            <a:prstGeom prst="line">
              <a:avLst/>
            </a:prstGeom>
            <a:ln w="38100" cap="flat" cmpd="sng">
              <a:solidFill>
                <a:srgbClr val="009900"/>
              </a:solidFill>
              <a:prstDash val="solid"/>
              <a:round/>
              <a:headEnd type="none" w="med" len="med"/>
              <a:tailEnd type="none" w="med" len="med"/>
            </a:ln>
          </p:spPr>
        </p:sp>
        <p:sp>
          <p:nvSpPr>
            <p:cNvPr id="13323" name="Line 11"/>
            <p:cNvSpPr/>
            <p:nvPr/>
          </p:nvSpPr>
          <p:spPr>
            <a:xfrm>
              <a:off x="3059" y="2747"/>
              <a:ext cx="0" cy="960"/>
            </a:xfrm>
            <a:prstGeom prst="line">
              <a:avLst/>
            </a:prstGeom>
            <a:ln w="38100" cap="flat" cmpd="sng">
              <a:solidFill>
                <a:srgbClr val="009900"/>
              </a:solidFill>
              <a:prstDash val="solid"/>
              <a:round/>
              <a:headEnd type="none" w="med" len="med"/>
              <a:tailEnd type="none" w="med" len="med"/>
            </a:ln>
          </p:spPr>
        </p:sp>
        <p:sp>
          <p:nvSpPr>
            <p:cNvPr id="13324" name="Line 12"/>
            <p:cNvSpPr/>
            <p:nvPr/>
          </p:nvSpPr>
          <p:spPr>
            <a:xfrm>
              <a:off x="2486" y="3206"/>
              <a:ext cx="123" cy="292"/>
            </a:xfrm>
            <a:prstGeom prst="line">
              <a:avLst/>
            </a:prstGeom>
            <a:ln w="38100" cap="flat" cmpd="sng">
              <a:solidFill>
                <a:srgbClr val="009900"/>
              </a:solidFill>
              <a:prstDash val="solid"/>
              <a:round/>
              <a:headEnd type="none" w="med" len="med"/>
              <a:tailEnd type="none" w="med" len="med"/>
            </a:ln>
          </p:spPr>
        </p:sp>
        <p:sp>
          <p:nvSpPr>
            <p:cNvPr id="13325" name="Line 13"/>
            <p:cNvSpPr/>
            <p:nvPr/>
          </p:nvSpPr>
          <p:spPr>
            <a:xfrm>
              <a:off x="2281" y="3665"/>
              <a:ext cx="123" cy="251"/>
            </a:xfrm>
            <a:prstGeom prst="line">
              <a:avLst/>
            </a:prstGeom>
            <a:ln w="38100" cap="flat" cmpd="sng">
              <a:solidFill>
                <a:srgbClr val="009900"/>
              </a:solidFill>
              <a:prstDash val="solid"/>
              <a:round/>
              <a:headEnd type="none" w="med" len="med"/>
              <a:tailEnd type="none" w="med" len="med"/>
            </a:ln>
          </p:spPr>
        </p:sp>
        <p:sp>
          <p:nvSpPr>
            <p:cNvPr id="13326" name="Line 14"/>
            <p:cNvSpPr/>
            <p:nvPr/>
          </p:nvSpPr>
          <p:spPr>
            <a:xfrm flipH="1">
              <a:off x="1995" y="3206"/>
              <a:ext cx="368" cy="835"/>
            </a:xfrm>
            <a:prstGeom prst="line">
              <a:avLst/>
            </a:prstGeom>
            <a:ln w="38100" cap="flat" cmpd="sng">
              <a:solidFill>
                <a:srgbClr val="009900"/>
              </a:solidFill>
              <a:prstDash val="solid"/>
              <a:round/>
              <a:headEnd type="none" w="med" len="med"/>
              <a:tailEnd type="none" w="med" len="med"/>
            </a:ln>
          </p:spPr>
        </p:sp>
        <p:sp>
          <p:nvSpPr>
            <p:cNvPr id="13327" name="Oval 15"/>
            <p:cNvSpPr/>
            <p:nvPr/>
          </p:nvSpPr>
          <p:spPr>
            <a:xfrm>
              <a:off x="2895" y="2496"/>
              <a:ext cx="287" cy="292"/>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28" name="Line 16"/>
            <p:cNvSpPr/>
            <p:nvPr/>
          </p:nvSpPr>
          <p:spPr>
            <a:xfrm>
              <a:off x="3509" y="2621"/>
              <a:ext cx="1146" cy="0"/>
            </a:xfrm>
            <a:prstGeom prst="line">
              <a:avLst/>
            </a:prstGeom>
            <a:ln w="28575" cap="flat" cmpd="sng">
              <a:solidFill>
                <a:schemeClr val="accent2"/>
              </a:solidFill>
              <a:prstDash val="dash"/>
              <a:round/>
              <a:headEnd type="none" w="med" len="med"/>
              <a:tailEnd type="none" w="med" len="med"/>
            </a:ln>
          </p:spPr>
        </p:sp>
        <p:sp>
          <p:nvSpPr>
            <p:cNvPr id="13329" name="Oval 17"/>
            <p:cNvSpPr/>
            <p:nvPr/>
          </p:nvSpPr>
          <p:spPr>
            <a:xfrm>
              <a:off x="2281" y="2955"/>
              <a:ext cx="287" cy="293"/>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30" name="Oval 18"/>
            <p:cNvSpPr/>
            <p:nvPr/>
          </p:nvSpPr>
          <p:spPr>
            <a:xfrm>
              <a:off x="2895" y="2955"/>
              <a:ext cx="287" cy="293"/>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31" name="Oval 19"/>
            <p:cNvSpPr/>
            <p:nvPr/>
          </p:nvSpPr>
          <p:spPr>
            <a:xfrm>
              <a:off x="3632" y="2955"/>
              <a:ext cx="286" cy="293"/>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32" name="Oval 20"/>
            <p:cNvSpPr/>
            <p:nvPr/>
          </p:nvSpPr>
          <p:spPr>
            <a:xfrm>
              <a:off x="2077" y="3415"/>
              <a:ext cx="286" cy="292"/>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33" name="Oval 21"/>
            <p:cNvSpPr/>
            <p:nvPr/>
          </p:nvSpPr>
          <p:spPr>
            <a:xfrm>
              <a:off x="2445" y="3415"/>
              <a:ext cx="286" cy="292"/>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34" name="Oval 22"/>
            <p:cNvSpPr/>
            <p:nvPr/>
          </p:nvSpPr>
          <p:spPr>
            <a:xfrm>
              <a:off x="2895" y="3415"/>
              <a:ext cx="287" cy="292"/>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35" name="Oval 23"/>
            <p:cNvSpPr/>
            <p:nvPr/>
          </p:nvSpPr>
          <p:spPr>
            <a:xfrm>
              <a:off x="3263" y="3415"/>
              <a:ext cx="287" cy="292"/>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36" name="Oval 24"/>
            <p:cNvSpPr/>
            <p:nvPr/>
          </p:nvSpPr>
          <p:spPr>
            <a:xfrm>
              <a:off x="3632" y="3415"/>
              <a:ext cx="286" cy="292"/>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37" name="Oval 25"/>
            <p:cNvSpPr/>
            <p:nvPr/>
          </p:nvSpPr>
          <p:spPr>
            <a:xfrm>
              <a:off x="4000" y="3415"/>
              <a:ext cx="287" cy="292"/>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38" name="Oval 26"/>
            <p:cNvSpPr/>
            <p:nvPr/>
          </p:nvSpPr>
          <p:spPr>
            <a:xfrm>
              <a:off x="1872" y="3874"/>
              <a:ext cx="286" cy="292"/>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39" name="Oval 27"/>
            <p:cNvSpPr/>
            <p:nvPr/>
          </p:nvSpPr>
          <p:spPr>
            <a:xfrm>
              <a:off x="2281" y="3874"/>
              <a:ext cx="287" cy="292"/>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40" name="Oval 28"/>
            <p:cNvSpPr/>
            <p:nvPr/>
          </p:nvSpPr>
          <p:spPr>
            <a:xfrm>
              <a:off x="3263" y="3874"/>
              <a:ext cx="287" cy="292"/>
            </a:xfrm>
            <a:prstGeom prst="ellipse">
              <a:avLst/>
            </a:prstGeom>
            <a:gradFill rotWithShape="0">
              <a:gsLst>
                <a:gs pos="0">
                  <a:srgbClr val="FF7C80"/>
                </a:gs>
                <a:gs pos="100000">
                  <a:srgbClr val="76393B"/>
                </a:gs>
              </a:gsLst>
              <a:path path="shape">
                <a:fillToRect l="50000" t="50000" r="50000" b="50000"/>
              </a:path>
              <a:tileRect/>
            </a:gradFill>
            <a:ln w="9525">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341" name="Line 29"/>
            <p:cNvSpPr/>
            <p:nvPr/>
          </p:nvSpPr>
          <p:spPr>
            <a:xfrm>
              <a:off x="4041" y="3081"/>
              <a:ext cx="614" cy="0"/>
            </a:xfrm>
            <a:prstGeom prst="line">
              <a:avLst/>
            </a:prstGeom>
            <a:ln w="28575" cap="flat" cmpd="sng">
              <a:solidFill>
                <a:schemeClr val="accent2"/>
              </a:solidFill>
              <a:prstDash val="dash"/>
              <a:round/>
              <a:headEnd type="none" w="med" len="med"/>
              <a:tailEnd type="none" w="med" len="med"/>
            </a:ln>
          </p:spPr>
        </p:sp>
        <p:sp>
          <p:nvSpPr>
            <p:cNvPr id="13342" name="Line 30"/>
            <p:cNvSpPr/>
            <p:nvPr/>
          </p:nvSpPr>
          <p:spPr>
            <a:xfrm>
              <a:off x="4280" y="3559"/>
              <a:ext cx="368" cy="0"/>
            </a:xfrm>
            <a:prstGeom prst="line">
              <a:avLst/>
            </a:prstGeom>
            <a:ln w="28575" cap="flat" cmpd="sng">
              <a:solidFill>
                <a:schemeClr val="accent2"/>
              </a:solidFill>
              <a:prstDash val="dash"/>
              <a:round/>
              <a:headEnd type="none" w="med" len="med"/>
              <a:tailEnd type="none" w="med" len="med"/>
            </a:ln>
          </p:spPr>
        </p:sp>
        <p:sp>
          <p:nvSpPr>
            <p:cNvPr id="13343" name="Line 31"/>
            <p:cNvSpPr/>
            <p:nvPr/>
          </p:nvSpPr>
          <p:spPr>
            <a:xfrm>
              <a:off x="3673" y="3999"/>
              <a:ext cx="982" cy="0"/>
            </a:xfrm>
            <a:prstGeom prst="line">
              <a:avLst/>
            </a:prstGeom>
            <a:ln w="28575" cap="flat" cmpd="sng">
              <a:solidFill>
                <a:schemeClr val="accent2"/>
              </a:solidFill>
              <a:prstDash val="dash"/>
              <a:round/>
              <a:headEnd type="none" w="med" len="med"/>
              <a:tailEnd type="none" w="med" len="med"/>
            </a:ln>
          </p:spPr>
        </p:sp>
        <p:sp>
          <p:nvSpPr>
            <p:cNvPr id="13344" name="Text Box 32"/>
            <p:cNvSpPr txBox="1"/>
            <p:nvPr/>
          </p:nvSpPr>
          <p:spPr>
            <a:xfrm>
              <a:off x="4402" y="2484"/>
              <a:ext cx="386" cy="275"/>
            </a:xfrm>
            <a:prstGeom prst="rect">
              <a:avLst/>
            </a:prstGeom>
            <a:solidFill>
              <a:schemeClr val="bg1"/>
            </a:solidFill>
            <a:ln w="38100">
              <a:noFill/>
            </a:ln>
          </p:spPr>
          <p:txBody>
            <a:bodyPr wrap="none" anchor="ctr" anchorCtr="0">
              <a:spAutoFit/>
            </a:bodyPr>
            <a:p>
              <a:pPr algn="ctr"/>
              <a:r>
                <a:rPr lang="en-US" altLang="zh-CN" sz="2000" dirty="0">
                  <a:solidFill>
                    <a:schemeClr val="tx2"/>
                  </a:solidFill>
                  <a:latin typeface="Times New Roman" panose="02020603050405020304" pitchFamily="18" charset="0"/>
                  <a:ea typeface="宋体" panose="02010600030101010101" pitchFamily="2" charset="-122"/>
                </a:rPr>
                <a:t>1</a:t>
              </a:r>
              <a:r>
                <a:rPr lang="zh-CN" altLang="en-US" sz="2000" dirty="0">
                  <a:solidFill>
                    <a:schemeClr val="tx2"/>
                  </a:solidFill>
                  <a:latin typeface="Times New Roman" panose="02020603050405020304" pitchFamily="18" charset="0"/>
                  <a:ea typeface="隶书" panose="02010509060101010101" pitchFamily="49" charset="-122"/>
                </a:rPr>
                <a:t>层</a:t>
              </a:r>
              <a:endParaRPr lang="zh-CN" altLang="en-US" sz="2000" dirty="0">
                <a:latin typeface="Times New Roman" panose="02020603050405020304" pitchFamily="18" charset="0"/>
                <a:ea typeface="宋体" panose="02010600030101010101" pitchFamily="2" charset="-122"/>
              </a:endParaRPr>
            </a:p>
          </p:txBody>
        </p:sp>
        <p:sp>
          <p:nvSpPr>
            <p:cNvPr id="13345" name="Text Box 33"/>
            <p:cNvSpPr txBox="1"/>
            <p:nvPr/>
          </p:nvSpPr>
          <p:spPr>
            <a:xfrm>
              <a:off x="4402" y="2936"/>
              <a:ext cx="386" cy="275"/>
            </a:xfrm>
            <a:prstGeom prst="rect">
              <a:avLst/>
            </a:prstGeom>
            <a:solidFill>
              <a:schemeClr val="bg1"/>
            </a:solidFill>
            <a:ln w="38100">
              <a:noFill/>
            </a:ln>
          </p:spPr>
          <p:txBody>
            <a:bodyPr wrap="none" anchor="ctr" anchorCtr="0">
              <a:spAutoFit/>
            </a:bodyPr>
            <a:p>
              <a:pPr algn="ctr"/>
              <a:r>
                <a:rPr lang="en-US" altLang="zh-CN" sz="2000" dirty="0">
                  <a:solidFill>
                    <a:schemeClr val="tx2"/>
                  </a:solidFill>
                  <a:latin typeface="Times New Roman" panose="02020603050405020304" pitchFamily="18" charset="0"/>
                  <a:ea typeface="宋体" panose="02010600030101010101" pitchFamily="2" charset="-122"/>
                </a:rPr>
                <a:t>2</a:t>
              </a:r>
              <a:r>
                <a:rPr lang="zh-CN" altLang="en-US" sz="2000" dirty="0">
                  <a:solidFill>
                    <a:schemeClr val="tx2"/>
                  </a:solidFill>
                  <a:latin typeface="Times New Roman" panose="02020603050405020304" pitchFamily="18" charset="0"/>
                  <a:ea typeface="隶书" panose="02010509060101010101" pitchFamily="49" charset="-122"/>
                </a:rPr>
                <a:t>层</a:t>
              </a:r>
              <a:endParaRPr lang="zh-CN" altLang="en-US" sz="2000" dirty="0">
                <a:latin typeface="Times New Roman" panose="02020603050405020304" pitchFamily="18" charset="0"/>
                <a:ea typeface="宋体" panose="02010600030101010101" pitchFamily="2" charset="-122"/>
              </a:endParaRPr>
            </a:p>
          </p:txBody>
        </p:sp>
        <p:sp>
          <p:nvSpPr>
            <p:cNvPr id="13346" name="Text Box 34"/>
            <p:cNvSpPr txBox="1"/>
            <p:nvPr/>
          </p:nvSpPr>
          <p:spPr>
            <a:xfrm>
              <a:off x="4385" y="3854"/>
              <a:ext cx="386" cy="275"/>
            </a:xfrm>
            <a:prstGeom prst="rect">
              <a:avLst/>
            </a:prstGeom>
            <a:solidFill>
              <a:schemeClr val="bg1"/>
            </a:solidFill>
            <a:ln w="38100">
              <a:noFill/>
            </a:ln>
          </p:spPr>
          <p:txBody>
            <a:bodyPr wrap="none" anchor="ctr" anchorCtr="0">
              <a:spAutoFit/>
            </a:bodyPr>
            <a:p>
              <a:pPr algn="ctr"/>
              <a:r>
                <a:rPr lang="en-US" altLang="zh-CN" sz="2000" dirty="0">
                  <a:solidFill>
                    <a:schemeClr val="tx2"/>
                  </a:solidFill>
                  <a:latin typeface="Times New Roman" panose="02020603050405020304" pitchFamily="18" charset="0"/>
                  <a:ea typeface="隶书" panose="02010509060101010101" pitchFamily="49" charset="-122"/>
                </a:rPr>
                <a:t>4</a:t>
              </a:r>
              <a:r>
                <a:rPr lang="zh-CN" altLang="en-US" sz="2000" dirty="0">
                  <a:solidFill>
                    <a:schemeClr val="tx2"/>
                  </a:solidFill>
                  <a:latin typeface="Times New Roman" panose="02020603050405020304" pitchFamily="18" charset="0"/>
                  <a:ea typeface="隶书" panose="02010509060101010101" pitchFamily="49" charset="-122"/>
                </a:rPr>
                <a:t>层</a:t>
              </a:r>
              <a:endParaRPr lang="zh-CN" altLang="en-US" sz="2000" dirty="0">
                <a:latin typeface="Times New Roman" panose="02020603050405020304" pitchFamily="18" charset="0"/>
                <a:ea typeface="宋体" panose="02010600030101010101" pitchFamily="2" charset="-122"/>
              </a:endParaRPr>
            </a:p>
          </p:txBody>
        </p:sp>
        <p:sp>
          <p:nvSpPr>
            <p:cNvPr id="13347" name="Text Box 35"/>
            <p:cNvSpPr txBox="1"/>
            <p:nvPr/>
          </p:nvSpPr>
          <p:spPr>
            <a:xfrm>
              <a:off x="4402" y="3394"/>
              <a:ext cx="386" cy="275"/>
            </a:xfrm>
            <a:prstGeom prst="rect">
              <a:avLst/>
            </a:prstGeom>
            <a:solidFill>
              <a:schemeClr val="bg1"/>
            </a:solidFill>
            <a:ln w="38100">
              <a:noFill/>
            </a:ln>
          </p:spPr>
          <p:txBody>
            <a:bodyPr wrap="none" anchor="ctr" anchorCtr="0">
              <a:spAutoFit/>
            </a:bodyPr>
            <a:p>
              <a:pPr algn="ctr"/>
              <a:r>
                <a:rPr lang="en-US" altLang="zh-CN" sz="2000" dirty="0">
                  <a:solidFill>
                    <a:schemeClr val="tx2"/>
                  </a:solidFill>
                  <a:latin typeface="Times New Roman" panose="02020603050405020304" pitchFamily="18" charset="0"/>
                  <a:ea typeface="隶书" panose="02010509060101010101" pitchFamily="49" charset="-122"/>
                </a:rPr>
                <a:t>3</a:t>
              </a:r>
              <a:r>
                <a:rPr lang="zh-CN" altLang="en-US" sz="2000" dirty="0">
                  <a:solidFill>
                    <a:schemeClr val="tx2"/>
                  </a:solidFill>
                  <a:latin typeface="Times New Roman" panose="02020603050405020304" pitchFamily="18" charset="0"/>
                  <a:ea typeface="隶书" panose="02010509060101010101" pitchFamily="49" charset="-122"/>
                </a:rPr>
                <a:t>层</a:t>
              </a:r>
              <a:endParaRPr lang="zh-CN" altLang="en-US" sz="2000" dirty="0">
                <a:latin typeface="Times New Roman" panose="02020603050405020304" pitchFamily="18" charset="0"/>
                <a:ea typeface="宋体" panose="02010600030101010101" pitchFamily="2" charset="-122"/>
              </a:endParaRPr>
            </a:p>
          </p:txBody>
        </p:sp>
        <p:sp>
          <p:nvSpPr>
            <p:cNvPr id="13348" name="Text Box 36"/>
            <p:cNvSpPr txBox="1"/>
            <p:nvPr/>
          </p:nvSpPr>
          <p:spPr>
            <a:xfrm>
              <a:off x="4608" y="3121"/>
              <a:ext cx="653" cy="402"/>
            </a:xfrm>
            <a:prstGeom prst="rect">
              <a:avLst/>
            </a:prstGeom>
            <a:noFill/>
            <a:ln w="38100">
              <a:noFill/>
            </a:ln>
          </p:spPr>
          <p:txBody>
            <a:bodyPr anchor="ctr" anchorCtr="0">
              <a:spAutoFit/>
            </a:bodyPr>
            <a:p>
              <a:pPr algn="ctr">
                <a:lnSpc>
                  <a:spcPct val="80000"/>
                </a:lnSpc>
              </a:pPr>
              <a:r>
                <a:rPr lang="en-US" altLang="zh-CN" sz="2000" b="1" dirty="0">
                  <a:solidFill>
                    <a:srgbClr val="CC0066"/>
                  </a:solidFill>
                  <a:latin typeface="Times New Roman" panose="02020603050405020304" pitchFamily="18" charset="0"/>
                  <a:ea typeface="宋体" panose="02010600030101010101" pitchFamily="2" charset="-122"/>
                </a:rPr>
                <a:t>Height</a:t>
              </a:r>
              <a:endParaRPr lang="en-US" altLang="zh-CN" sz="2000" b="1" dirty="0">
                <a:solidFill>
                  <a:srgbClr val="CC0066"/>
                </a:solidFill>
                <a:latin typeface="Times New Roman" panose="02020603050405020304" pitchFamily="18" charset="0"/>
                <a:ea typeface="宋体" panose="02010600030101010101" pitchFamily="2" charset="-122"/>
              </a:endParaRPr>
            </a:p>
            <a:p>
              <a:pPr algn="ctr">
                <a:lnSpc>
                  <a:spcPct val="80000"/>
                </a:lnSpc>
              </a:pPr>
              <a:r>
                <a:rPr lang="en-US" altLang="zh-CN" sz="2000" b="1" dirty="0">
                  <a:solidFill>
                    <a:srgbClr val="CC0066"/>
                  </a:solidFill>
                  <a:latin typeface="Times New Roman" panose="02020603050405020304" pitchFamily="18" charset="0"/>
                  <a:ea typeface="宋体" panose="02010600030101010101" pitchFamily="2" charset="-122"/>
                </a:rPr>
                <a:t>= 4</a:t>
              </a:r>
              <a:endParaRPr lang="en-US" altLang="zh-CN" sz="2000" dirty="0">
                <a:solidFill>
                  <a:srgbClr val="CC0066"/>
                </a:solidFill>
                <a:latin typeface="Times New Roman" panose="02020603050405020304" pitchFamily="18" charset="0"/>
                <a:ea typeface="宋体" panose="02010600030101010101" pitchFamily="2" charset="-122"/>
              </a:endParaRPr>
            </a:p>
          </p:txBody>
        </p:sp>
        <p:sp>
          <p:nvSpPr>
            <p:cNvPr id="13349" name="Line 37"/>
            <p:cNvSpPr/>
            <p:nvPr/>
          </p:nvSpPr>
          <p:spPr>
            <a:xfrm>
              <a:off x="4862" y="2563"/>
              <a:ext cx="164" cy="0"/>
            </a:xfrm>
            <a:prstGeom prst="line">
              <a:avLst/>
            </a:prstGeom>
            <a:ln w="38100" cap="flat" cmpd="sng">
              <a:solidFill>
                <a:srgbClr val="009900"/>
              </a:solidFill>
              <a:prstDash val="solid"/>
              <a:round/>
              <a:headEnd type="none" w="med" len="med"/>
              <a:tailEnd type="none" w="med" len="med"/>
            </a:ln>
          </p:spPr>
        </p:sp>
        <p:sp>
          <p:nvSpPr>
            <p:cNvPr id="13350" name="Line 38"/>
            <p:cNvSpPr/>
            <p:nvPr/>
          </p:nvSpPr>
          <p:spPr>
            <a:xfrm flipV="1">
              <a:off x="4944" y="2563"/>
              <a:ext cx="0" cy="584"/>
            </a:xfrm>
            <a:prstGeom prst="line">
              <a:avLst/>
            </a:prstGeom>
            <a:ln w="38100" cap="flat" cmpd="sng">
              <a:solidFill>
                <a:srgbClr val="009900"/>
              </a:solidFill>
              <a:prstDash val="solid"/>
              <a:round/>
              <a:headEnd type="none" w="med" len="med"/>
              <a:tailEnd type="triangle" w="sm" len="lg"/>
            </a:ln>
          </p:spPr>
        </p:sp>
        <p:sp>
          <p:nvSpPr>
            <p:cNvPr id="13351" name="Line 39"/>
            <p:cNvSpPr/>
            <p:nvPr/>
          </p:nvSpPr>
          <p:spPr>
            <a:xfrm>
              <a:off x="4862" y="4149"/>
              <a:ext cx="164" cy="0"/>
            </a:xfrm>
            <a:prstGeom prst="line">
              <a:avLst/>
            </a:prstGeom>
            <a:ln w="38100" cap="flat" cmpd="sng">
              <a:solidFill>
                <a:srgbClr val="009900"/>
              </a:solidFill>
              <a:prstDash val="solid"/>
              <a:round/>
              <a:headEnd type="none" w="med" len="med"/>
              <a:tailEnd type="none" w="med" len="med"/>
            </a:ln>
          </p:spPr>
        </p:sp>
        <p:sp>
          <p:nvSpPr>
            <p:cNvPr id="13352" name="Line 40"/>
            <p:cNvSpPr/>
            <p:nvPr/>
          </p:nvSpPr>
          <p:spPr>
            <a:xfrm flipV="1">
              <a:off x="4944" y="3565"/>
              <a:ext cx="0" cy="584"/>
            </a:xfrm>
            <a:prstGeom prst="line">
              <a:avLst/>
            </a:prstGeom>
            <a:ln w="38100" cap="flat" cmpd="sng">
              <a:solidFill>
                <a:srgbClr val="009900"/>
              </a:solidFill>
              <a:prstDash val="solid"/>
              <a:round/>
              <a:headEnd type="triangle" w="sm" len="lg"/>
              <a:tailEnd type="none" w="sm" len="lg"/>
            </a:ln>
          </p:spPr>
        </p:sp>
        <p:sp>
          <p:nvSpPr>
            <p:cNvPr id="13353" name="Text Box 41"/>
            <p:cNvSpPr txBox="1"/>
            <p:nvPr/>
          </p:nvSpPr>
          <p:spPr>
            <a:xfrm>
              <a:off x="2930" y="2501"/>
              <a:ext cx="251"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A</a:t>
              </a:r>
              <a:endParaRPr lang="en-US" altLang="zh-CN" sz="2000" dirty="0">
                <a:latin typeface="Times New Roman" panose="02020603050405020304" pitchFamily="18" charset="0"/>
                <a:ea typeface="宋体" panose="02010600030101010101" pitchFamily="2" charset="-122"/>
              </a:endParaRPr>
            </a:p>
          </p:txBody>
        </p:sp>
        <p:sp>
          <p:nvSpPr>
            <p:cNvPr id="13354" name="Text Box 42"/>
            <p:cNvSpPr txBox="1"/>
            <p:nvPr/>
          </p:nvSpPr>
          <p:spPr>
            <a:xfrm>
              <a:off x="2930" y="2960"/>
              <a:ext cx="251"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13355" name="Text Box 43"/>
            <p:cNvSpPr txBox="1"/>
            <p:nvPr/>
          </p:nvSpPr>
          <p:spPr>
            <a:xfrm>
              <a:off x="2926" y="3427"/>
              <a:ext cx="260"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G</a:t>
              </a:r>
              <a:endParaRPr lang="en-US" altLang="zh-CN" sz="2000" dirty="0">
                <a:latin typeface="Times New Roman" panose="02020603050405020304" pitchFamily="18" charset="0"/>
                <a:ea typeface="宋体" panose="02010600030101010101" pitchFamily="2" charset="-122"/>
              </a:endParaRPr>
            </a:p>
          </p:txBody>
        </p:sp>
        <p:sp>
          <p:nvSpPr>
            <p:cNvPr id="13356" name="Text Box 44"/>
            <p:cNvSpPr txBox="1"/>
            <p:nvPr/>
          </p:nvSpPr>
          <p:spPr>
            <a:xfrm>
              <a:off x="2316" y="2960"/>
              <a:ext cx="251"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sp>
          <p:nvSpPr>
            <p:cNvPr id="13357" name="Text Box 45"/>
            <p:cNvSpPr txBox="1"/>
            <p:nvPr/>
          </p:nvSpPr>
          <p:spPr>
            <a:xfrm>
              <a:off x="3666" y="2968"/>
              <a:ext cx="251"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D</a:t>
              </a:r>
              <a:endParaRPr lang="en-US" altLang="zh-CN" sz="2000" dirty="0">
                <a:latin typeface="Times New Roman" panose="02020603050405020304" pitchFamily="18" charset="0"/>
                <a:ea typeface="宋体" panose="02010600030101010101" pitchFamily="2" charset="-122"/>
              </a:endParaRPr>
            </a:p>
          </p:txBody>
        </p:sp>
        <p:sp>
          <p:nvSpPr>
            <p:cNvPr id="13358" name="Text Box 46"/>
            <p:cNvSpPr txBox="1"/>
            <p:nvPr/>
          </p:nvSpPr>
          <p:spPr>
            <a:xfrm>
              <a:off x="2117" y="3427"/>
              <a:ext cx="241"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E</a:t>
              </a:r>
              <a:endParaRPr lang="en-US" altLang="zh-CN" sz="2000" dirty="0">
                <a:latin typeface="Times New Roman" panose="02020603050405020304" pitchFamily="18" charset="0"/>
                <a:ea typeface="宋体" panose="02010600030101010101" pitchFamily="2" charset="-122"/>
              </a:endParaRPr>
            </a:p>
          </p:txBody>
        </p:sp>
        <p:sp>
          <p:nvSpPr>
            <p:cNvPr id="13359" name="Text Box 47"/>
            <p:cNvSpPr txBox="1"/>
            <p:nvPr/>
          </p:nvSpPr>
          <p:spPr>
            <a:xfrm>
              <a:off x="2484" y="3427"/>
              <a:ext cx="231"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F</a:t>
              </a:r>
              <a:endParaRPr lang="en-US" altLang="zh-CN" sz="2000" dirty="0">
                <a:latin typeface="Times New Roman" panose="02020603050405020304" pitchFamily="18" charset="0"/>
                <a:ea typeface="宋体" panose="02010600030101010101" pitchFamily="2" charset="-122"/>
              </a:endParaRPr>
            </a:p>
          </p:txBody>
        </p:sp>
        <p:sp>
          <p:nvSpPr>
            <p:cNvPr id="13360" name="Text Box 48"/>
            <p:cNvSpPr txBox="1"/>
            <p:nvPr/>
          </p:nvSpPr>
          <p:spPr>
            <a:xfrm>
              <a:off x="1915" y="3887"/>
              <a:ext cx="251"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K</a:t>
              </a:r>
              <a:endParaRPr lang="en-US" altLang="zh-CN" sz="2000" dirty="0">
                <a:latin typeface="Times New Roman" panose="02020603050405020304" pitchFamily="18" charset="0"/>
                <a:ea typeface="宋体" panose="02010600030101010101" pitchFamily="2" charset="-122"/>
              </a:endParaRPr>
            </a:p>
          </p:txBody>
        </p:sp>
        <p:sp>
          <p:nvSpPr>
            <p:cNvPr id="13361" name="Text Box 49"/>
            <p:cNvSpPr txBox="1"/>
            <p:nvPr/>
          </p:nvSpPr>
          <p:spPr>
            <a:xfrm>
              <a:off x="2316" y="3887"/>
              <a:ext cx="231"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L</a:t>
              </a:r>
              <a:endParaRPr lang="en-US" altLang="zh-CN" sz="2000" dirty="0">
                <a:latin typeface="Times New Roman" panose="02020603050405020304" pitchFamily="18" charset="0"/>
                <a:ea typeface="宋体" panose="02010600030101010101" pitchFamily="2" charset="-122"/>
              </a:endParaRPr>
            </a:p>
          </p:txBody>
        </p:sp>
        <p:sp>
          <p:nvSpPr>
            <p:cNvPr id="13362" name="Text Box 50"/>
            <p:cNvSpPr txBox="1"/>
            <p:nvPr/>
          </p:nvSpPr>
          <p:spPr>
            <a:xfrm>
              <a:off x="3294" y="3427"/>
              <a:ext cx="251"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H</a:t>
              </a:r>
              <a:endParaRPr lang="en-US" altLang="zh-CN" sz="2000" dirty="0">
                <a:latin typeface="Times New Roman" panose="02020603050405020304" pitchFamily="18" charset="0"/>
                <a:ea typeface="宋体" panose="02010600030101010101" pitchFamily="2" charset="-122"/>
              </a:endParaRPr>
            </a:p>
          </p:txBody>
        </p:sp>
        <p:sp>
          <p:nvSpPr>
            <p:cNvPr id="13363" name="Text Box 51"/>
            <p:cNvSpPr txBox="1"/>
            <p:nvPr/>
          </p:nvSpPr>
          <p:spPr>
            <a:xfrm>
              <a:off x="3263" y="3887"/>
              <a:ext cx="270"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M</a:t>
              </a:r>
              <a:endParaRPr lang="en-US" altLang="zh-CN" sz="2000" dirty="0">
                <a:latin typeface="Times New Roman" panose="02020603050405020304" pitchFamily="18" charset="0"/>
                <a:ea typeface="宋体" panose="02010600030101010101" pitchFamily="2" charset="-122"/>
              </a:endParaRPr>
            </a:p>
          </p:txBody>
        </p:sp>
        <p:sp>
          <p:nvSpPr>
            <p:cNvPr id="13364" name="Text Box 52"/>
            <p:cNvSpPr txBox="1"/>
            <p:nvPr/>
          </p:nvSpPr>
          <p:spPr>
            <a:xfrm>
              <a:off x="3678" y="3427"/>
              <a:ext cx="173"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I</a:t>
              </a:r>
              <a:endParaRPr lang="en-US" altLang="zh-CN" sz="2000" dirty="0">
                <a:latin typeface="Times New Roman" panose="02020603050405020304" pitchFamily="18" charset="0"/>
                <a:ea typeface="宋体" panose="02010600030101010101" pitchFamily="2" charset="-122"/>
              </a:endParaRPr>
            </a:p>
          </p:txBody>
        </p:sp>
        <p:sp>
          <p:nvSpPr>
            <p:cNvPr id="13365" name="Text Box 53"/>
            <p:cNvSpPr txBox="1"/>
            <p:nvPr/>
          </p:nvSpPr>
          <p:spPr>
            <a:xfrm>
              <a:off x="4044" y="3427"/>
              <a:ext cx="222" cy="275"/>
            </a:xfrm>
            <a:prstGeom prst="rect">
              <a:avLst/>
            </a:prstGeom>
            <a:noFill/>
            <a:ln w="38100">
              <a:noFill/>
            </a:ln>
          </p:spPr>
          <p:txBody>
            <a:bodyPr wrap="none" anchor="ctr" anchorCtr="0">
              <a:spAutoFit/>
            </a:bodyPr>
            <a:p>
              <a:pPr algn="ctr"/>
              <a:r>
                <a:rPr lang="en-US" altLang="zh-CN" sz="2000" b="1" dirty="0">
                  <a:solidFill>
                    <a:srgbClr val="FFFFCC"/>
                  </a:solidFill>
                  <a:latin typeface="Arial" panose="020B0604020202020204" pitchFamily="34" charset="0"/>
                  <a:ea typeface="宋体" panose="02010600030101010101" pitchFamily="2" charset="-122"/>
                </a:rPr>
                <a:t>J</a:t>
              </a:r>
              <a:endParaRPr lang="en-US" altLang="zh-CN" sz="2000" dirty="0">
                <a:latin typeface="Times New Roman" panose="02020603050405020304" pitchFamily="18" charset="0"/>
                <a:ea typeface="宋体" panose="02010600030101010101" pitchFamily="2" charset="-122"/>
              </a:endParaRPr>
            </a:p>
          </p:txBody>
        </p:sp>
      </p:grpSp>
      <p:grpSp>
        <p:nvGrpSpPr>
          <p:cNvPr id="13366" name="Group 6"/>
          <p:cNvGrpSpPr/>
          <p:nvPr/>
        </p:nvGrpSpPr>
        <p:grpSpPr>
          <a:xfrm>
            <a:off x="7245283" y="3752103"/>
            <a:ext cx="2762982" cy="1711508"/>
            <a:chOff x="371" y="480"/>
            <a:chExt cx="2126" cy="1393"/>
          </a:xfrm>
        </p:grpSpPr>
        <p:sp>
          <p:nvSpPr>
            <p:cNvPr id="13367" name="Line 7"/>
            <p:cNvSpPr/>
            <p:nvPr/>
          </p:nvSpPr>
          <p:spPr>
            <a:xfrm>
              <a:off x="2208" y="816"/>
              <a:ext cx="144" cy="336"/>
            </a:xfrm>
            <a:prstGeom prst="line">
              <a:avLst/>
            </a:prstGeom>
            <a:ln w="28575" cap="flat" cmpd="sng">
              <a:solidFill>
                <a:schemeClr val="accent2"/>
              </a:solidFill>
              <a:prstDash val="solid"/>
              <a:round/>
              <a:headEnd type="none" w="med" len="med"/>
              <a:tailEnd type="none" w="med" len="med"/>
            </a:ln>
          </p:spPr>
        </p:sp>
        <p:sp>
          <p:nvSpPr>
            <p:cNvPr id="13368" name="Line 8"/>
            <p:cNvSpPr/>
            <p:nvPr/>
          </p:nvSpPr>
          <p:spPr>
            <a:xfrm flipH="1">
              <a:off x="1968" y="816"/>
              <a:ext cx="144" cy="336"/>
            </a:xfrm>
            <a:prstGeom prst="line">
              <a:avLst/>
            </a:prstGeom>
            <a:ln w="28575" cap="flat" cmpd="sng">
              <a:solidFill>
                <a:schemeClr val="accent2"/>
              </a:solidFill>
              <a:prstDash val="solid"/>
              <a:round/>
              <a:headEnd type="none" w="med" len="med"/>
              <a:tailEnd type="none" w="med" len="med"/>
            </a:ln>
          </p:spPr>
        </p:sp>
        <p:sp>
          <p:nvSpPr>
            <p:cNvPr id="13369" name="Line 9"/>
            <p:cNvSpPr/>
            <p:nvPr/>
          </p:nvSpPr>
          <p:spPr>
            <a:xfrm>
              <a:off x="912" y="816"/>
              <a:ext cx="240" cy="288"/>
            </a:xfrm>
            <a:prstGeom prst="line">
              <a:avLst/>
            </a:prstGeom>
            <a:ln w="28575" cap="flat" cmpd="sng">
              <a:solidFill>
                <a:schemeClr val="accent2"/>
              </a:solidFill>
              <a:prstDash val="solid"/>
              <a:round/>
              <a:headEnd type="none" w="med" len="med"/>
              <a:tailEnd type="none" w="med" len="med"/>
            </a:ln>
          </p:spPr>
        </p:sp>
        <p:sp>
          <p:nvSpPr>
            <p:cNvPr id="13370" name="Line 10"/>
            <p:cNvSpPr/>
            <p:nvPr/>
          </p:nvSpPr>
          <p:spPr>
            <a:xfrm flipH="1">
              <a:off x="576" y="816"/>
              <a:ext cx="240" cy="288"/>
            </a:xfrm>
            <a:prstGeom prst="line">
              <a:avLst/>
            </a:prstGeom>
            <a:ln w="28575" cap="flat" cmpd="sng">
              <a:solidFill>
                <a:schemeClr val="accent2"/>
              </a:solidFill>
              <a:prstDash val="solid"/>
              <a:round/>
              <a:headEnd type="none" w="med" len="med"/>
              <a:tailEnd type="none" w="med" len="med"/>
            </a:ln>
          </p:spPr>
        </p:sp>
        <p:sp>
          <p:nvSpPr>
            <p:cNvPr id="13371" name="Line 11"/>
            <p:cNvSpPr/>
            <p:nvPr/>
          </p:nvSpPr>
          <p:spPr>
            <a:xfrm>
              <a:off x="1968" y="1296"/>
              <a:ext cx="0" cy="288"/>
            </a:xfrm>
            <a:prstGeom prst="line">
              <a:avLst/>
            </a:prstGeom>
            <a:ln w="28575" cap="flat" cmpd="sng">
              <a:solidFill>
                <a:schemeClr val="accent2"/>
              </a:solidFill>
              <a:prstDash val="solid"/>
              <a:round/>
              <a:headEnd type="none" w="med" len="med"/>
              <a:tailEnd type="none" w="med" len="med"/>
            </a:ln>
          </p:spPr>
        </p:sp>
        <p:sp>
          <p:nvSpPr>
            <p:cNvPr id="13372" name="Line 12"/>
            <p:cNvSpPr/>
            <p:nvPr/>
          </p:nvSpPr>
          <p:spPr>
            <a:xfrm>
              <a:off x="1200" y="1296"/>
              <a:ext cx="0" cy="288"/>
            </a:xfrm>
            <a:prstGeom prst="line">
              <a:avLst/>
            </a:prstGeom>
            <a:ln w="28575" cap="flat" cmpd="sng">
              <a:solidFill>
                <a:schemeClr val="accent2"/>
              </a:solidFill>
              <a:prstDash val="solid"/>
              <a:round/>
              <a:headEnd type="none" w="med" len="med"/>
              <a:tailEnd type="none" w="med" len="med"/>
            </a:ln>
          </p:spPr>
        </p:sp>
        <p:sp>
          <p:nvSpPr>
            <p:cNvPr id="13373" name="Line 13"/>
            <p:cNvSpPr/>
            <p:nvPr/>
          </p:nvSpPr>
          <p:spPr>
            <a:xfrm>
              <a:off x="1584" y="816"/>
              <a:ext cx="0" cy="288"/>
            </a:xfrm>
            <a:prstGeom prst="line">
              <a:avLst/>
            </a:prstGeom>
            <a:ln w="28575" cap="flat" cmpd="sng">
              <a:solidFill>
                <a:schemeClr val="accent2"/>
              </a:solidFill>
              <a:prstDash val="solid"/>
              <a:round/>
              <a:headEnd type="none" w="med" len="med"/>
              <a:tailEnd type="none" w="med" len="med"/>
            </a:ln>
          </p:spPr>
        </p:sp>
        <p:sp>
          <p:nvSpPr>
            <p:cNvPr id="13374" name="Line 14"/>
            <p:cNvSpPr/>
            <p:nvPr/>
          </p:nvSpPr>
          <p:spPr>
            <a:xfrm>
              <a:off x="864" y="816"/>
              <a:ext cx="0" cy="288"/>
            </a:xfrm>
            <a:prstGeom prst="line">
              <a:avLst/>
            </a:prstGeom>
            <a:ln w="28575" cap="flat" cmpd="sng">
              <a:solidFill>
                <a:schemeClr val="accent2"/>
              </a:solidFill>
              <a:prstDash val="solid"/>
              <a:round/>
              <a:headEnd type="none" w="med" len="med"/>
              <a:tailEnd type="none" w="med" len="med"/>
            </a:ln>
          </p:spPr>
        </p:sp>
        <p:sp>
          <p:nvSpPr>
            <p:cNvPr id="64" name="Oval 15"/>
            <p:cNvSpPr>
              <a:spLocks noChangeArrowheads="1"/>
            </p:cNvSpPr>
            <p:nvPr/>
          </p:nvSpPr>
          <p:spPr bwMode="auto">
            <a:xfrm>
              <a:off x="384"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5" name="Oval 16"/>
            <p:cNvSpPr>
              <a:spLocks noChangeArrowheads="1"/>
            </p:cNvSpPr>
            <p:nvPr/>
          </p:nvSpPr>
          <p:spPr bwMode="auto">
            <a:xfrm>
              <a:off x="720"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6" name="Oval 17"/>
            <p:cNvSpPr>
              <a:spLocks noChangeArrowheads="1"/>
            </p:cNvSpPr>
            <p:nvPr/>
          </p:nvSpPr>
          <p:spPr bwMode="auto">
            <a:xfrm>
              <a:off x="1056" y="1056"/>
              <a:ext cx="289"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 name="Oval 18"/>
            <p:cNvSpPr>
              <a:spLocks noChangeArrowheads="1"/>
            </p:cNvSpPr>
            <p:nvPr/>
          </p:nvSpPr>
          <p:spPr bwMode="auto">
            <a:xfrm>
              <a:off x="1441" y="1056"/>
              <a:ext cx="287"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Oval 19"/>
            <p:cNvSpPr>
              <a:spLocks noChangeArrowheads="1"/>
            </p:cNvSpPr>
            <p:nvPr/>
          </p:nvSpPr>
          <p:spPr bwMode="auto">
            <a:xfrm>
              <a:off x="1824"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Oval 20"/>
            <p:cNvSpPr>
              <a:spLocks noChangeArrowheads="1"/>
            </p:cNvSpPr>
            <p:nvPr/>
          </p:nvSpPr>
          <p:spPr bwMode="auto">
            <a:xfrm>
              <a:off x="2208"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Oval 21"/>
            <p:cNvSpPr>
              <a:spLocks noChangeArrowheads="1"/>
            </p:cNvSpPr>
            <p:nvPr/>
          </p:nvSpPr>
          <p:spPr bwMode="auto">
            <a:xfrm>
              <a:off x="1056" y="1536"/>
              <a:ext cx="289"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Oval 22"/>
            <p:cNvSpPr>
              <a:spLocks noChangeArrowheads="1"/>
            </p:cNvSpPr>
            <p:nvPr/>
          </p:nvSpPr>
          <p:spPr bwMode="auto">
            <a:xfrm>
              <a:off x="1824" y="153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Oval 23"/>
            <p:cNvSpPr>
              <a:spLocks noChangeArrowheads="1"/>
            </p:cNvSpPr>
            <p:nvPr/>
          </p:nvSpPr>
          <p:spPr bwMode="auto">
            <a:xfrm>
              <a:off x="720"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 name="Oval 24"/>
            <p:cNvSpPr>
              <a:spLocks noChangeArrowheads="1"/>
            </p:cNvSpPr>
            <p:nvPr/>
          </p:nvSpPr>
          <p:spPr bwMode="auto">
            <a:xfrm>
              <a:off x="1441" y="575"/>
              <a:ext cx="287"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Oval 25"/>
            <p:cNvSpPr>
              <a:spLocks noChangeArrowheads="1"/>
            </p:cNvSpPr>
            <p:nvPr/>
          </p:nvSpPr>
          <p:spPr bwMode="auto">
            <a:xfrm>
              <a:off x="2016"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86" name="Text Box 26"/>
            <p:cNvSpPr txBox="1"/>
            <p:nvPr/>
          </p:nvSpPr>
          <p:spPr>
            <a:xfrm>
              <a:off x="700" y="489"/>
              <a:ext cx="338" cy="42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13387" name="Text Box 27"/>
            <p:cNvSpPr txBox="1"/>
            <p:nvPr/>
          </p:nvSpPr>
          <p:spPr>
            <a:xfrm>
              <a:off x="1448" y="480"/>
              <a:ext cx="308" cy="42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13388" name="Text Box 28"/>
            <p:cNvSpPr txBox="1"/>
            <p:nvPr/>
          </p:nvSpPr>
          <p:spPr>
            <a:xfrm>
              <a:off x="1989" y="480"/>
              <a:ext cx="354" cy="42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13389" name="Text Box 29"/>
            <p:cNvSpPr txBox="1"/>
            <p:nvPr/>
          </p:nvSpPr>
          <p:spPr>
            <a:xfrm>
              <a:off x="371" y="969"/>
              <a:ext cx="323" cy="42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13390" name="Text Box 30"/>
            <p:cNvSpPr txBox="1"/>
            <p:nvPr/>
          </p:nvSpPr>
          <p:spPr>
            <a:xfrm>
              <a:off x="700" y="969"/>
              <a:ext cx="338" cy="42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13391" name="Text Box 31"/>
            <p:cNvSpPr txBox="1"/>
            <p:nvPr/>
          </p:nvSpPr>
          <p:spPr>
            <a:xfrm>
              <a:off x="1037" y="969"/>
              <a:ext cx="338" cy="42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13392" name="Text Box 32"/>
            <p:cNvSpPr txBox="1"/>
            <p:nvPr/>
          </p:nvSpPr>
          <p:spPr>
            <a:xfrm>
              <a:off x="1413" y="969"/>
              <a:ext cx="354" cy="42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13393" name="Text Box 33"/>
            <p:cNvSpPr txBox="1"/>
            <p:nvPr/>
          </p:nvSpPr>
          <p:spPr>
            <a:xfrm>
              <a:off x="1849" y="969"/>
              <a:ext cx="247" cy="42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13394" name="Text Box 34"/>
            <p:cNvSpPr txBox="1"/>
            <p:nvPr/>
          </p:nvSpPr>
          <p:spPr>
            <a:xfrm>
              <a:off x="2219" y="969"/>
              <a:ext cx="278" cy="42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sp>
          <p:nvSpPr>
            <p:cNvPr id="13395" name="Text Box 35"/>
            <p:cNvSpPr txBox="1"/>
            <p:nvPr/>
          </p:nvSpPr>
          <p:spPr>
            <a:xfrm>
              <a:off x="1043" y="1448"/>
              <a:ext cx="323" cy="42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13396" name="Text Box 36"/>
            <p:cNvSpPr txBox="1"/>
            <p:nvPr/>
          </p:nvSpPr>
          <p:spPr>
            <a:xfrm>
              <a:off x="1797" y="1448"/>
              <a:ext cx="354" cy="42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树关系典型</a:t>
            </a:r>
            <a:r>
              <a:rPr lang="en-US" altLang="zh-CN" sz="2800" dirty="0">
                <a:latin typeface="黑体" panose="02010609060101010101" pitchFamily="2" charset="-122"/>
                <a:cs typeface="+mn-cs"/>
                <a:sym typeface="+mn-ea"/>
              </a:rPr>
              <a:t>——</a:t>
            </a:r>
            <a:r>
              <a:rPr lang="zh-CN" altLang="en-US" sz="2800" dirty="0">
                <a:latin typeface="黑体" panose="02010609060101010101" pitchFamily="2" charset="-122"/>
                <a:cs typeface="+mn-cs"/>
                <a:sym typeface="+mn-ea"/>
              </a:rPr>
              <a:t>家庭关系</a:t>
            </a:r>
            <a:endParaRPr lang="zh-CN" altLang="en-US" sz="2800" dirty="0">
              <a:latin typeface="黑体" panose="02010609060101010101" pitchFamily="2" charset="-122"/>
              <a:cs typeface="+mn-cs"/>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6.1 </a:t>
            </a:r>
            <a:r>
              <a:rPr lang="zh-CN" altLang="en-US" dirty="0">
                <a:latin typeface="楷体" panose="02010609060101010101" charset="-122"/>
                <a:ea typeface="楷体" panose="02010609060101010101" charset="-122"/>
                <a:sym typeface="+mn-ea"/>
              </a:rPr>
              <a:t>树的定义和基本术语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5" name="对象 4"/>
          <p:cNvGraphicFramePr/>
          <p:nvPr>
            <p:custDataLst>
              <p:tags r:id="rId1"/>
            </p:custDataLst>
          </p:nvPr>
        </p:nvGraphicFramePr>
        <p:xfrm>
          <a:off x="5880100" y="1177290"/>
          <a:ext cx="5726430" cy="4686300"/>
        </p:xfrm>
        <a:graphic>
          <a:graphicData uri="http://schemas.openxmlformats.org/presentationml/2006/ole">
            <mc:AlternateContent xmlns:mc="http://schemas.openxmlformats.org/markup-compatibility/2006">
              <mc:Choice xmlns:v="urn:schemas-microsoft-com:vml" Requires="v">
                <p:oleObj spid="_x0000_s6" name="" r:id="rId2" imgW="4114800" imgH="3581400" progId="Paint.Picture">
                  <p:embed/>
                </p:oleObj>
              </mc:Choice>
              <mc:Fallback>
                <p:oleObj name="" r:id="rId2" imgW="4114800" imgH="3581400" progId="Paint.Picture">
                  <p:embed/>
                  <p:pic>
                    <p:nvPicPr>
                      <p:cNvPr id="0" name="图片 5"/>
                      <p:cNvPicPr/>
                      <p:nvPr/>
                    </p:nvPicPr>
                    <p:blipFill>
                      <a:blip r:embed="rId3"/>
                      <a:stretch>
                        <a:fillRect/>
                      </a:stretch>
                    </p:blipFill>
                    <p:spPr>
                      <a:xfrm>
                        <a:off x="5880100" y="1177290"/>
                        <a:ext cx="5726430" cy="4686300"/>
                      </a:xfrm>
                      <a:prstGeom prst="rect">
                        <a:avLst/>
                      </a:prstGeom>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R="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已知一颗树如图所示，求</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求树的度和深度</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求叶子结点</a:t>
            </a:r>
            <a:endParaRPr lang="en-US" altLang="zh-CN" sz="24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求</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分支结点</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求结点H的度</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求结点B的子孙</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求结点I的祖先</a:t>
            </a:r>
            <a:endParaRPr lang="en-US" altLang="zh-CN" sz="24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rPr>
              <a:t>求最深的结点</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rPr>
              <a:t>求去掉</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结点</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和它的分支，说明树的变化，并求度和深度</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lvl="0" algn="l" eaLnBrk="1" hangingPunct="1">
              <a:buClrTx/>
              <a:buSzTx/>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936625" lvl="1" indent="-609600" eaLnBrk="1" hangingPunct="1">
              <a:buFont typeface="Arial" panose="020B0604020202020204" pitchFamily="34" charset="0"/>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0" indent="0" algn="l" eaLnBrk="1" hangingPunct="1">
              <a:buClrTx/>
              <a:buSzTx/>
              <a:buNone/>
            </a:pPr>
            <a:endParaRPr lang="zh-CN" altLang="en-US" sz="2400" b="1" dirty="0">
              <a:solidFill>
                <a:srgbClr val="FF0000"/>
              </a:solidFill>
              <a:latin typeface="黑体" panose="02010609060101010101" pitchFamily="2" charset="-122"/>
              <a:ea typeface="黑体" panose="02010609060101010101" pitchFamily="2" charset="-122"/>
              <a:sym typeface="+mn-ea"/>
            </a:endParaRPr>
          </a:p>
          <a:p>
            <a:pPr marL="0" indent="0" eaLnBrk="1" latinLnBrk="0" hangingPunct="1">
              <a:lnSpc>
                <a:spcPct val="100000"/>
              </a:lnSpc>
              <a:spcBef>
                <a:spcPts val="0"/>
              </a:spcBef>
              <a:buNone/>
            </a:pPr>
            <a:endParaRPr lang="zh-CN" altLang="en-US" sz="2400" b="1" dirty="0">
              <a:latin typeface="Arial" panose="020B0604020202020204" pitchFamily="34" charset="0"/>
              <a:ea typeface="宋体" panose="02010600030101010101" pitchFamily="2" charset="-122"/>
              <a:sym typeface="+mn-ea"/>
            </a:endParaRPr>
          </a:p>
          <a:p>
            <a:endParaRPr lang="zh-CN" altLang="en-US">
              <a:latin typeface="黑体" panose="02010609060101010101" pitchFamily="2" charset="-122"/>
              <a:ea typeface="黑体" panose="02010609060101010101" pitchFamily="2" charset="-122"/>
            </a:endParaRPr>
          </a:p>
          <a:p>
            <a:endParaRPr lang="zh-CN" altLang="en-US">
              <a:latin typeface="黑体" panose="02010609060101010101" pitchFamily="2" charset="-122"/>
              <a:ea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14340" name="组合 76"/>
          <p:cNvGrpSpPr/>
          <p:nvPr/>
        </p:nvGrpSpPr>
        <p:grpSpPr>
          <a:xfrm>
            <a:off x="9333102" y="590894"/>
            <a:ext cx="2369948" cy="3233222"/>
            <a:chOff x="4848416" y="1583073"/>
            <a:chExt cx="2369597" cy="3233227"/>
          </a:xfrm>
        </p:grpSpPr>
        <p:sp>
          <p:nvSpPr>
            <p:cNvPr id="14341" name="Line 9"/>
            <p:cNvSpPr/>
            <p:nvPr/>
          </p:nvSpPr>
          <p:spPr>
            <a:xfrm>
              <a:off x="5638802" y="2006397"/>
              <a:ext cx="355023" cy="406552"/>
            </a:xfrm>
            <a:prstGeom prst="line">
              <a:avLst/>
            </a:prstGeom>
            <a:ln w="28575" cap="flat" cmpd="sng">
              <a:solidFill>
                <a:schemeClr val="accent2"/>
              </a:solidFill>
              <a:prstDash val="solid"/>
              <a:round/>
              <a:headEnd type="none" w="med" len="med"/>
              <a:tailEnd type="none" w="med" len="med"/>
            </a:ln>
          </p:spPr>
        </p:sp>
        <p:sp>
          <p:nvSpPr>
            <p:cNvPr id="14342" name="Line 10"/>
            <p:cNvSpPr/>
            <p:nvPr/>
          </p:nvSpPr>
          <p:spPr>
            <a:xfrm flipH="1">
              <a:off x="5141770" y="2006397"/>
              <a:ext cx="355023" cy="406552"/>
            </a:xfrm>
            <a:prstGeom prst="line">
              <a:avLst/>
            </a:prstGeom>
            <a:ln w="28575" cap="flat" cmpd="sng">
              <a:solidFill>
                <a:schemeClr val="accent2"/>
              </a:solidFill>
              <a:prstDash val="solid"/>
              <a:round/>
              <a:headEnd type="none" w="med" len="med"/>
              <a:tailEnd type="none" w="med" len="med"/>
            </a:ln>
          </p:spPr>
        </p:sp>
        <p:sp>
          <p:nvSpPr>
            <p:cNvPr id="14343" name="Line 12"/>
            <p:cNvSpPr/>
            <p:nvPr/>
          </p:nvSpPr>
          <p:spPr>
            <a:xfrm>
              <a:off x="6064829" y="2683984"/>
              <a:ext cx="0" cy="406552"/>
            </a:xfrm>
            <a:prstGeom prst="line">
              <a:avLst/>
            </a:prstGeom>
            <a:ln w="28575" cap="flat" cmpd="sng">
              <a:solidFill>
                <a:schemeClr val="accent2"/>
              </a:solidFill>
              <a:prstDash val="solid"/>
              <a:round/>
              <a:headEnd type="none" w="med" len="med"/>
              <a:tailEnd type="none" w="med" len="med"/>
            </a:ln>
          </p:spPr>
        </p:sp>
        <p:sp>
          <p:nvSpPr>
            <p:cNvPr id="14344" name="Line 14"/>
            <p:cNvSpPr/>
            <p:nvPr/>
          </p:nvSpPr>
          <p:spPr>
            <a:xfrm>
              <a:off x="5567797" y="2006397"/>
              <a:ext cx="0" cy="406552"/>
            </a:xfrm>
            <a:prstGeom prst="line">
              <a:avLst/>
            </a:prstGeom>
            <a:ln w="28575" cap="flat" cmpd="sng">
              <a:solidFill>
                <a:schemeClr val="accent2"/>
              </a:solidFill>
              <a:prstDash val="solid"/>
              <a:round/>
              <a:headEnd type="none" w="med" len="med"/>
              <a:tailEnd type="none" w="med" len="med"/>
            </a:ln>
          </p:spPr>
        </p:sp>
        <p:sp>
          <p:nvSpPr>
            <p:cNvPr id="51" name="Oval 15"/>
            <p:cNvSpPr>
              <a:spLocks noChangeArrowheads="1"/>
            </p:cNvSpPr>
            <p:nvPr/>
          </p:nvSpPr>
          <p:spPr bwMode="auto">
            <a:xfrm>
              <a:off x="4857751" y="2344730"/>
              <a:ext cx="425387" cy="40640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Oval 16"/>
            <p:cNvSpPr>
              <a:spLocks noChangeArrowheads="1"/>
            </p:cNvSpPr>
            <p:nvPr/>
          </p:nvSpPr>
          <p:spPr bwMode="auto">
            <a:xfrm>
              <a:off x="5354564" y="2344730"/>
              <a:ext cx="426975" cy="40640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Oval 17"/>
            <p:cNvSpPr>
              <a:spLocks noChangeArrowheads="1"/>
            </p:cNvSpPr>
            <p:nvPr/>
          </p:nvSpPr>
          <p:spPr bwMode="auto">
            <a:xfrm>
              <a:off x="5851378" y="2344730"/>
              <a:ext cx="428562" cy="40640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 name="Oval 21"/>
            <p:cNvSpPr>
              <a:spLocks noChangeArrowheads="1"/>
            </p:cNvSpPr>
            <p:nvPr/>
          </p:nvSpPr>
          <p:spPr bwMode="auto">
            <a:xfrm>
              <a:off x="5851378" y="3022594"/>
              <a:ext cx="428562" cy="40640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9" name="Oval 23"/>
            <p:cNvSpPr>
              <a:spLocks noChangeArrowheads="1"/>
            </p:cNvSpPr>
            <p:nvPr/>
          </p:nvSpPr>
          <p:spPr bwMode="auto">
            <a:xfrm>
              <a:off x="5354564" y="1666867"/>
              <a:ext cx="426975" cy="4079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350" name="Text Box 26"/>
            <p:cNvSpPr txBox="1"/>
            <p:nvPr/>
          </p:nvSpPr>
          <p:spPr>
            <a:xfrm>
              <a:off x="5355517" y="1583073"/>
              <a:ext cx="439355" cy="521971"/>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14351" name="Text Box 29"/>
            <p:cNvSpPr txBox="1"/>
            <p:nvPr/>
          </p:nvSpPr>
          <p:spPr>
            <a:xfrm>
              <a:off x="4867269" y="2260660"/>
              <a:ext cx="420308" cy="521971"/>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14352" name="Text Box 30"/>
            <p:cNvSpPr txBox="1"/>
            <p:nvPr/>
          </p:nvSpPr>
          <p:spPr>
            <a:xfrm>
              <a:off x="5355517" y="2260660"/>
              <a:ext cx="439355" cy="521971"/>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14353" name="Text Box 31"/>
            <p:cNvSpPr txBox="1"/>
            <p:nvPr/>
          </p:nvSpPr>
          <p:spPr>
            <a:xfrm>
              <a:off x="5854028" y="2260660"/>
              <a:ext cx="439355" cy="521971"/>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grpSp>
          <p:nvGrpSpPr>
            <p:cNvPr id="14354" name="组合 73"/>
            <p:cNvGrpSpPr/>
            <p:nvPr/>
          </p:nvGrpSpPr>
          <p:grpSpPr>
            <a:xfrm>
              <a:off x="4848416" y="3089616"/>
              <a:ext cx="459672" cy="1212532"/>
              <a:chOff x="6411165" y="1570368"/>
              <a:chExt cx="459672" cy="1212532"/>
            </a:xfrm>
          </p:grpSpPr>
          <p:sp>
            <p:nvSpPr>
              <p:cNvPr id="14355" name="Line 13"/>
              <p:cNvSpPr/>
              <p:nvPr/>
            </p:nvSpPr>
            <p:spPr>
              <a:xfrm>
                <a:off x="6632866" y="2006397"/>
                <a:ext cx="0" cy="406552"/>
              </a:xfrm>
              <a:prstGeom prst="line">
                <a:avLst/>
              </a:prstGeom>
              <a:ln w="28575" cap="flat" cmpd="sng">
                <a:solidFill>
                  <a:schemeClr val="accent2"/>
                </a:solidFill>
                <a:prstDash val="solid"/>
                <a:round/>
                <a:headEnd type="none" w="med" len="med"/>
                <a:tailEnd type="none" w="med" len="med"/>
              </a:ln>
            </p:spPr>
          </p:sp>
          <p:sp>
            <p:nvSpPr>
              <p:cNvPr id="54" name="Oval 18"/>
              <p:cNvSpPr>
                <a:spLocks noChangeArrowheads="1"/>
              </p:cNvSpPr>
              <p:nvPr/>
            </p:nvSpPr>
            <p:spPr bwMode="auto">
              <a:xfrm>
                <a:off x="6420500" y="2344722"/>
                <a:ext cx="425387" cy="40640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Oval 24"/>
              <p:cNvSpPr>
                <a:spLocks noChangeArrowheads="1"/>
              </p:cNvSpPr>
              <p:nvPr/>
            </p:nvSpPr>
            <p:spPr bwMode="auto">
              <a:xfrm>
                <a:off x="6420500" y="1666858"/>
                <a:ext cx="425387" cy="4079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358" name="Text Box 27"/>
              <p:cNvSpPr txBox="1"/>
              <p:nvPr/>
            </p:nvSpPr>
            <p:spPr>
              <a:xfrm>
                <a:off x="6458758" y="1570368"/>
                <a:ext cx="399991" cy="521971"/>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14359" name="Text Box 32"/>
              <p:cNvSpPr txBox="1"/>
              <p:nvPr/>
            </p:nvSpPr>
            <p:spPr>
              <a:xfrm>
                <a:off x="6411165" y="2260392"/>
                <a:ext cx="459672" cy="522508"/>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grpSp>
        <p:sp>
          <p:nvSpPr>
            <p:cNvPr id="14360" name="Text Box 35"/>
            <p:cNvSpPr txBox="1"/>
            <p:nvPr/>
          </p:nvSpPr>
          <p:spPr>
            <a:xfrm>
              <a:off x="5861332" y="2936835"/>
              <a:ext cx="420308" cy="521971"/>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grpSp>
          <p:nvGrpSpPr>
            <p:cNvPr id="14361" name="组合 72"/>
            <p:cNvGrpSpPr/>
            <p:nvPr/>
          </p:nvGrpSpPr>
          <p:grpSpPr>
            <a:xfrm>
              <a:off x="6215263" y="2927690"/>
              <a:ext cx="1002750" cy="1888610"/>
              <a:chOff x="7351129" y="3190300"/>
              <a:chExt cx="1002750" cy="1888610"/>
            </a:xfrm>
          </p:grpSpPr>
          <p:sp>
            <p:nvSpPr>
              <p:cNvPr id="14362" name="Line 7"/>
              <p:cNvSpPr/>
              <p:nvPr/>
            </p:nvSpPr>
            <p:spPr>
              <a:xfrm>
                <a:off x="7927852" y="3626329"/>
                <a:ext cx="213014" cy="474311"/>
              </a:xfrm>
              <a:prstGeom prst="line">
                <a:avLst/>
              </a:prstGeom>
              <a:ln w="28575" cap="flat" cmpd="sng">
                <a:solidFill>
                  <a:schemeClr val="accent2"/>
                </a:solidFill>
                <a:prstDash val="solid"/>
                <a:round/>
                <a:headEnd type="none" w="med" len="med"/>
                <a:tailEnd type="none" w="med" len="med"/>
              </a:ln>
            </p:spPr>
          </p:sp>
          <p:sp>
            <p:nvSpPr>
              <p:cNvPr id="14363" name="Line 8"/>
              <p:cNvSpPr/>
              <p:nvPr/>
            </p:nvSpPr>
            <p:spPr>
              <a:xfrm flipH="1">
                <a:off x="7572829" y="3626329"/>
                <a:ext cx="213014" cy="474311"/>
              </a:xfrm>
              <a:prstGeom prst="line">
                <a:avLst/>
              </a:prstGeom>
              <a:ln w="28575" cap="flat" cmpd="sng">
                <a:solidFill>
                  <a:schemeClr val="accent2"/>
                </a:solidFill>
                <a:prstDash val="solid"/>
                <a:round/>
                <a:headEnd type="none" w="med" len="med"/>
                <a:tailEnd type="none" w="med" len="med"/>
              </a:ln>
            </p:spPr>
          </p:sp>
          <p:sp>
            <p:nvSpPr>
              <p:cNvPr id="14364" name="Line 11"/>
              <p:cNvSpPr/>
              <p:nvPr/>
            </p:nvSpPr>
            <p:spPr>
              <a:xfrm>
                <a:off x="7572829" y="4303916"/>
                <a:ext cx="0" cy="406552"/>
              </a:xfrm>
              <a:prstGeom prst="line">
                <a:avLst/>
              </a:prstGeom>
              <a:ln w="28575" cap="flat" cmpd="sng">
                <a:solidFill>
                  <a:schemeClr val="accent2"/>
                </a:solidFill>
                <a:prstDash val="solid"/>
                <a:round/>
                <a:headEnd type="none" w="med" len="med"/>
                <a:tailEnd type="none" w="med" len="med"/>
              </a:ln>
            </p:spPr>
          </p:sp>
          <p:sp>
            <p:nvSpPr>
              <p:cNvPr id="55" name="Oval 19"/>
              <p:cNvSpPr>
                <a:spLocks noChangeArrowheads="1"/>
              </p:cNvSpPr>
              <p:nvPr/>
            </p:nvSpPr>
            <p:spPr bwMode="auto">
              <a:xfrm>
                <a:off x="7360252" y="3964655"/>
                <a:ext cx="425387" cy="40640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6" name="Oval 20"/>
              <p:cNvSpPr>
                <a:spLocks noChangeArrowheads="1"/>
              </p:cNvSpPr>
              <p:nvPr/>
            </p:nvSpPr>
            <p:spPr bwMode="auto">
              <a:xfrm>
                <a:off x="7928492" y="3964655"/>
                <a:ext cx="425387" cy="40640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 name="Oval 22"/>
              <p:cNvSpPr>
                <a:spLocks noChangeArrowheads="1"/>
              </p:cNvSpPr>
              <p:nvPr/>
            </p:nvSpPr>
            <p:spPr bwMode="auto">
              <a:xfrm>
                <a:off x="7360252" y="4642518"/>
                <a:ext cx="425387" cy="40640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 name="Oval 25"/>
              <p:cNvSpPr>
                <a:spLocks noChangeArrowheads="1"/>
              </p:cNvSpPr>
              <p:nvPr/>
            </p:nvSpPr>
            <p:spPr bwMode="auto">
              <a:xfrm>
                <a:off x="7644372" y="3286791"/>
                <a:ext cx="425387" cy="4079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369" name="Text Box 28"/>
              <p:cNvSpPr txBox="1"/>
              <p:nvPr/>
            </p:nvSpPr>
            <p:spPr>
              <a:xfrm>
                <a:off x="7635147" y="3190300"/>
                <a:ext cx="459672" cy="521971"/>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14370" name="Text Box 33"/>
              <p:cNvSpPr txBox="1"/>
              <p:nvPr/>
            </p:nvSpPr>
            <p:spPr>
              <a:xfrm>
                <a:off x="7419594" y="3880420"/>
                <a:ext cx="321262" cy="52231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14371" name="Text Box 34"/>
              <p:cNvSpPr txBox="1"/>
              <p:nvPr/>
            </p:nvSpPr>
            <p:spPr>
              <a:xfrm>
                <a:off x="7968688" y="3880420"/>
                <a:ext cx="360627" cy="52231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sp>
            <p:nvSpPr>
              <p:cNvPr id="14372" name="Text Box 36"/>
              <p:cNvSpPr txBox="1"/>
              <p:nvPr/>
            </p:nvSpPr>
            <p:spPr>
              <a:xfrm>
                <a:off x="7351129" y="4556595"/>
                <a:ext cx="459672" cy="522315"/>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grpSp>
        <p:sp>
          <p:nvSpPr>
            <p:cNvPr id="14373" name="Line 13"/>
            <p:cNvSpPr/>
            <p:nvPr/>
          </p:nvSpPr>
          <p:spPr>
            <a:xfrm>
              <a:off x="5067303" y="2776533"/>
              <a:ext cx="0" cy="406552"/>
            </a:xfrm>
            <a:prstGeom prst="line">
              <a:avLst/>
            </a:prstGeom>
            <a:ln w="28575" cap="flat" cmpd="sng">
              <a:solidFill>
                <a:schemeClr val="accent2"/>
              </a:solidFill>
              <a:prstDash val="solid"/>
              <a:round/>
              <a:headEnd type="none" w="med" len="med"/>
              <a:tailEnd type="none" w="med" len="med"/>
            </a:ln>
          </p:spPr>
        </p:sp>
        <p:sp>
          <p:nvSpPr>
            <p:cNvPr id="14374" name="Line 7"/>
            <p:cNvSpPr/>
            <p:nvPr/>
          </p:nvSpPr>
          <p:spPr>
            <a:xfrm>
              <a:off x="6286512" y="2643182"/>
              <a:ext cx="285752" cy="428628"/>
            </a:xfrm>
            <a:prstGeom prst="line">
              <a:avLst/>
            </a:prstGeom>
            <a:ln w="28575" cap="flat" cmpd="sng">
              <a:solidFill>
                <a:schemeClr val="accent2"/>
              </a:solidFill>
              <a:prstDash val="solid"/>
              <a:round/>
              <a:headEnd type="none" w="med" len="med"/>
              <a:tailEnd type="none" w="med" len="med"/>
            </a:ln>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树的定义和基本术语</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遍历二叉树和线索二叉树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树和森林</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赫夫曼树及其应用</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回溯法与树的遍历</a:t>
            </a: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1771015"/>
            <a:ext cx="136080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485" y="18859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第六章	树和二叉树</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二叉树的定义，每个结点最多有２棵子树，或者说树的度最大为</a:t>
            </a:r>
            <a:r>
              <a:rPr lang="en-US" altLang="zh-CN" sz="2800" dirty="0">
                <a:latin typeface="黑体" panose="02010609060101010101" pitchFamily="2" charset="-122"/>
                <a:cs typeface="+mn-cs"/>
                <a:sym typeface="+mn-ea"/>
              </a:rPr>
              <a:t>2</a:t>
            </a:r>
            <a:endParaRPr kumimoji="0" lang="zh-CN" altLang="en-US" sz="2800" i="0" u="none" strike="noStrike" kern="0" cap="none" spc="0" normalizeH="0" baseline="0" noProof="1" dirty="0">
              <a:solidFill>
                <a:schemeClr val="tx1"/>
              </a:solidFill>
              <a:latin typeface="黑体" panose="02010609060101010101" pitchFamily="2" charset="-122"/>
              <a:ea typeface="+mn-ea"/>
              <a:cs typeface="+mn-cs"/>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二叉树是有序树，子树有左右之分，因此二叉树有多种形态</a:t>
            </a:r>
            <a:endParaRPr kumimoji="0" lang="zh-CN" altLang="en-US" sz="2800" i="0" u="none" strike="noStrike" kern="0" cap="none" spc="0" normalizeH="0" baseline="0" noProof="1" dirty="0">
              <a:solidFill>
                <a:schemeClr val="tx1"/>
              </a:solidFill>
              <a:latin typeface="黑体" panose="02010609060101010101" pitchFamily="2" charset="-122"/>
              <a:ea typeface="+mn-ea"/>
              <a:cs typeface="+mn-cs"/>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noProof="1" dirty="0">
              <a:solidFill>
                <a:schemeClr val="tx1"/>
              </a:solidFill>
              <a:latin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0" lvl="1" indent="0" algn="l" eaLnBrk="1" hangingPunct="1">
              <a:buClrTx/>
              <a:buSzTx/>
              <a:buFont typeface="Wingdings" panose="05000000000000000000" charset="0"/>
              <a:buNone/>
            </a:pPr>
            <a:r>
              <a:rPr lang="en-US" altLang="zh-CN"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3</a:t>
            </a:r>
            <a:r>
              <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个结点的二叉树有多种形态？？</a:t>
            </a:r>
            <a:endPar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a:p>
            <a:pPr marL="0" lvl="1" indent="0" algn="l" eaLnBrk="1" hangingPunct="1">
              <a:buClrTx/>
              <a:buSzTx/>
              <a:buFont typeface="Wingdings" panose="05000000000000000000" charset="0"/>
              <a:buNone/>
            </a:pPr>
            <a:r>
              <a:rPr lang="en-US" altLang="zh-CN"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4</a:t>
            </a:r>
            <a:r>
              <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个结点的二叉树有多种形态？？</a:t>
            </a:r>
            <a:endPar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6.2 </a:t>
            </a:r>
            <a:r>
              <a:rPr lang="zh-CN" altLang="en-US">
                <a:latin typeface="楷体" panose="02010609060101010101" charset="-122"/>
                <a:ea typeface="楷体" panose="02010609060101010101" charset="-122"/>
                <a:cs typeface="楷体" panose="02010609060101010101" charset="-122"/>
                <a:sym typeface="+mn-ea"/>
              </a:rPr>
              <a:t>二叉</a:t>
            </a:r>
            <a:r>
              <a:rPr lang="zh-CN" altLang="en-US" dirty="0">
                <a:latin typeface="楷体" panose="02010609060101010101" charset="-122"/>
                <a:ea typeface="楷体" panose="02010609060101010101" charset="-122"/>
                <a:sym typeface="+mn-ea"/>
              </a:rPr>
              <a:t>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5364" name="Group 4"/>
          <p:cNvGrpSpPr/>
          <p:nvPr/>
        </p:nvGrpSpPr>
        <p:grpSpPr>
          <a:xfrm>
            <a:off x="1207135" y="2493010"/>
            <a:ext cx="9777730" cy="1679575"/>
            <a:chOff x="96" y="3120"/>
            <a:chExt cx="5376" cy="1058"/>
          </a:xfrm>
        </p:grpSpPr>
        <p:sp>
          <p:nvSpPr>
            <p:cNvPr id="15365" name="AutoShape 5"/>
            <p:cNvSpPr/>
            <p:nvPr/>
          </p:nvSpPr>
          <p:spPr>
            <a:xfrm>
              <a:off x="4992" y="3504"/>
              <a:ext cx="288" cy="336"/>
            </a:xfrm>
            <a:prstGeom prst="wedgeRoundRectCallout">
              <a:avLst>
                <a:gd name="adj1" fmla="val -82986"/>
                <a:gd name="adj2" fmla="val -118750"/>
                <a:gd name="adj3" fmla="val 16667"/>
              </a:avLst>
            </a:prstGeom>
            <a:gradFill rotWithShape="0">
              <a:gsLst>
                <a:gs pos="0">
                  <a:srgbClr val="FF7C80"/>
                </a:gs>
                <a:gs pos="100000">
                  <a:srgbClr val="76393B"/>
                </a:gs>
              </a:gsLst>
              <a:lin ang="0" scaled="1"/>
              <a:tileRect/>
            </a:gradFill>
            <a:ln w="38100">
              <a:noFill/>
            </a:ln>
          </p:spPr>
          <p:txBody>
            <a:bodyPr wrap="none" anchor="ctr" anchorCtr="0"/>
            <a:p>
              <a:pPr algn="ctr"/>
              <a:endParaRPr lang="zh-CN" altLang="zh-CN" sz="2400" dirty="0">
                <a:latin typeface="黑体" panose="02010609060101010101" pitchFamily="2" charset="-122"/>
                <a:ea typeface="黑体" panose="02010609060101010101" pitchFamily="2" charset="-122"/>
              </a:endParaRPr>
            </a:p>
          </p:txBody>
        </p:sp>
        <p:sp>
          <p:nvSpPr>
            <p:cNvPr id="15366" name="AutoShape 6"/>
            <p:cNvSpPr/>
            <p:nvPr/>
          </p:nvSpPr>
          <p:spPr>
            <a:xfrm>
              <a:off x="3510" y="3504"/>
              <a:ext cx="288" cy="336"/>
            </a:xfrm>
            <a:prstGeom prst="wedgeRoundRectCallout">
              <a:avLst>
                <a:gd name="adj1" fmla="val -118403"/>
                <a:gd name="adj2" fmla="val -118750"/>
                <a:gd name="adj3" fmla="val 16667"/>
              </a:avLst>
            </a:prstGeom>
            <a:gradFill rotWithShape="0">
              <a:gsLst>
                <a:gs pos="0">
                  <a:srgbClr val="FF7C80"/>
                </a:gs>
                <a:gs pos="100000">
                  <a:srgbClr val="76393B"/>
                </a:gs>
              </a:gsLst>
              <a:lin ang="0" scaled="1"/>
              <a:tileRect/>
            </a:gradFill>
            <a:ln w="38100">
              <a:noFill/>
            </a:ln>
          </p:spPr>
          <p:txBody>
            <a:bodyPr wrap="none" anchor="ctr" anchorCtr="0"/>
            <a:p>
              <a:pPr algn="ctr"/>
              <a:endParaRPr lang="zh-CN" altLang="zh-CN" sz="2400" dirty="0">
                <a:latin typeface="黑体" panose="02010609060101010101" pitchFamily="2" charset="-122"/>
                <a:ea typeface="黑体" panose="02010609060101010101" pitchFamily="2" charset="-122"/>
              </a:endParaRPr>
            </a:p>
          </p:txBody>
        </p:sp>
        <p:sp>
          <p:nvSpPr>
            <p:cNvPr id="15367" name="AutoShape 7"/>
            <p:cNvSpPr/>
            <p:nvPr/>
          </p:nvSpPr>
          <p:spPr>
            <a:xfrm>
              <a:off x="4464" y="3504"/>
              <a:ext cx="288" cy="336"/>
            </a:xfrm>
            <a:prstGeom prst="wedgeRoundRectCallout">
              <a:avLst>
                <a:gd name="adj1" fmla="val 81944"/>
                <a:gd name="adj2" fmla="val -131847"/>
                <a:gd name="adj3" fmla="val 16667"/>
              </a:avLst>
            </a:prstGeom>
            <a:gradFill rotWithShape="0">
              <a:gsLst>
                <a:gs pos="0">
                  <a:srgbClr val="FF7C80"/>
                </a:gs>
                <a:gs pos="100000">
                  <a:srgbClr val="76393B"/>
                </a:gs>
              </a:gsLst>
              <a:lin ang="0" scaled="1"/>
              <a:tileRect/>
            </a:gradFill>
            <a:ln w="38100">
              <a:noFill/>
            </a:ln>
          </p:spPr>
          <p:txBody>
            <a:bodyPr wrap="none" anchor="ctr" anchorCtr="0"/>
            <a:p>
              <a:pPr algn="ctr"/>
              <a:endParaRPr lang="zh-CN" altLang="zh-CN" sz="2400" dirty="0">
                <a:latin typeface="黑体" panose="02010609060101010101" pitchFamily="2" charset="-122"/>
                <a:ea typeface="黑体" panose="02010609060101010101" pitchFamily="2" charset="-122"/>
              </a:endParaRPr>
            </a:p>
          </p:txBody>
        </p:sp>
        <p:sp>
          <p:nvSpPr>
            <p:cNvPr id="15368" name="AutoShape 8"/>
            <p:cNvSpPr/>
            <p:nvPr/>
          </p:nvSpPr>
          <p:spPr>
            <a:xfrm>
              <a:off x="2064" y="3504"/>
              <a:ext cx="288" cy="336"/>
            </a:xfrm>
            <a:prstGeom prst="wedgeRoundRectCallout">
              <a:avLst>
                <a:gd name="adj1" fmla="val 81944"/>
                <a:gd name="adj2" fmla="val -131847"/>
                <a:gd name="adj3" fmla="val 16667"/>
              </a:avLst>
            </a:prstGeom>
            <a:gradFill rotWithShape="0">
              <a:gsLst>
                <a:gs pos="0">
                  <a:srgbClr val="FF7C80"/>
                </a:gs>
                <a:gs pos="100000">
                  <a:srgbClr val="76393B"/>
                </a:gs>
              </a:gsLst>
              <a:lin ang="0" scaled="1"/>
              <a:tileRect/>
            </a:gradFill>
            <a:ln w="38100">
              <a:noFill/>
            </a:ln>
          </p:spPr>
          <p:txBody>
            <a:bodyPr wrap="none" anchor="ctr" anchorCtr="0"/>
            <a:p>
              <a:pPr algn="ctr"/>
              <a:endParaRPr lang="zh-CN" altLang="zh-CN" sz="2400" dirty="0">
                <a:latin typeface="黑体" panose="02010609060101010101" pitchFamily="2" charset="-122"/>
                <a:ea typeface="黑体" panose="02010609060101010101" pitchFamily="2" charset="-122"/>
              </a:endParaRPr>
            </a:p>
          </p:txBody>
        </p:sp>
        <p:sp>
          <p:nvSpPr>
            <p:cNvPr id="15369" name="Oval 9"/>
            <p:cNvSpPr/>
            <p:nvPr/>
          </p:nvSpPr>
          <p:spPr>
            <a:xfrm>
              <a:off x="336" y="3168"/>
              <a:ext cx="144" cy="192"/>
            </a:xfrm>
            <a:prstGeom prst="ellipse">
              <a:avLst/>
            </a:prstGeom>
            <a:noFill/>
            <a:ln w="38100" cap="flat" cmpd="sng">
              <a:solidFill>
                <a:srgbClr val="CC3300"/>
              </a:solidFill>
              <a:prstDash val="solid"/>
              <a:round/>
              <a:headEnd type="none" w="med" len="med"/>
              <a:tailEnd type="none" w="med" len="med"/>
            </a:ln>
          </p:spPr>
          <p:txBody>
            <a:bodyPr wrap="none" anchor="ctr" anchorCtr="0"/>
            <a:p>
              <a:pPr algn="ctr"/>
              <a:endParaRPr lang="zh-CN" altLang="zh-CN" sz="2400" dirty="0">
                <a:solidFill>
                  <a:srgbClr val="CC3300"/>
                </a:solidFill>
                <a:latin typeface="黑体" panose="02010609060101010101" pitchFamily="2" charset="-122"/>
                <a:ea typeface="黑体" panose="02010609060101010101" pitchFamily="2" charset="-122"/>
              </a:endParaRPr>
            </a:p>
          </p:txBody>
        </p:sp>
        <p:sp>
          <p:nvSpPr>
            <p:cNvPr id="15370" name="Line 10"/>
            <p:cNvSpPr/>
            <p:nvPr/>
          </p:nvSpPr>
          <p:spPr>
            <a:xfrm flipH="1">
              <a:off x="336" y="3168"/>
              <a:ext cx="144" cy="192"/>
            </a:xfrm>
            <a:prstGeom prst="line">
              <a:avLst/>
            </a:prstGeom>
            <a:ln w="38100" cap="flat" cmpd="sng">
              <a:solidFill>
                <a:srgbClr val="CC3300"/>
              </a:solidFill>
              <a:prstDash val="solid"/>
              <a:round/>
              <a:headEnd type="none" w="med" len="med"/>
              <a:tailEnd type="none" w="med" len="med"/>
            </a:ln>
          </p:spPr>
        </p:sp>
        <p:sp>
          <p:nvSpPr>
            <p:cNvPr id="15371" name="Oval 11"/>
            <p:cNvSpPr/>
            <p:nvPr/>
          </p:nvSpPr>
          <p:spPr>
            <a:xfrm>
              <a:off x="1200" y="3120"/>
              <a:ext cx="240" cy="240"/>
            </a:xfrm>
            <a:prstGeom prst="ellipse">
              <a:avLst/>
            </a:prstGeom>
            <a:gradFill rotWithShape="0">
              <a:gsLst>
                <a:gs pos="0">
                  <a:srgbClr val="FF7C80"/>
                </a:gs>
                <a:gs pos="100000">
                  <a:srgbClr val="76393B"/>
                </a:gs>
              </a:gsLst>
              <a:path path="rect">
                <a:fillToRect r="100000" b="100000"/>
              </a:path>
              <a:tileRect/>
            </a:gradFill>
            <a:ln w="38100">
              <a:noFill/>
            </a:ln>
          </p:spPr>
          <p:txBody>
            <a:bodyPr wrap="none" anchor="ctr" anchorCtr="0"/>
            <a:p>
              <a:pPr algn="ctr"/>
              <a:endParaRPr lang="zh-CN" altLang="zh-CN" sz="2400" dirty="0">
                <a:latin typeface="黑体" panose="02010609060101010101" pitchFamily="2" charset="-122"/>
                <a:ea typeface="黑体" panose="02010609060101010101" pitchFamily="2" charset="-122"/>
              </a:endParaRPr>
            </a:p>
          </p:txBody>
        </p:sp>
        <p:sp>
          <p:nvSpPr>
            <p:cNvPr id="15372" name="Oval 12"/>
            <p:cNvSpPr/>
            <p:nvPr/>
          </p:nvSpPr>
          <p:spPr>
            <a:xfrm>
              <a:off x="2352" y="3120"/>
              <a:ext cx="240" cy="240"/>
            </a:xfrm>
            <a:prstGeom prst="ellipse">
              <a:avLst/>
            </a:prstGeom>
            <a:gradFill rotWithShape="0">
              <a:gsLst>
                <a:gs pos="0">
                  <a:srgbClr val="FF7C80"/>
                </a:gs>
                <a:gs pos="100000">
                  <a:srgbClr val="76393B"/>
                </a:gs>
              </a:gsLst>
              <a:path path="rect">
                <a:fillToRect r="100000" b="100000"/>
              </a:path>
              <a:tileRect/>
            </a:gradFill>
            <a:ln w="38100">
              <a:noFill/>
            </a:ln>
          </p:spPr>
          <p:txBody>
            <a:bodyPr wrap="none" anchor="ctr" anchorCtr="0"/>
            <a:p>
              <a:endParaRPr lang="zh-CN" altLang="en-US" sz="2400" dirty="0">
                <a:latin typeface="黑体" panose="02010609060101010101" pitchFamily="2" charset="-122"/>
                <a:ea typeface="黑体" panose="02010609060101010101" pitchFamily="2" charset="-122"/>
              </a:endParaRPr>
            </a:p>
          </p:txBody>
        </p:sp>
        <p:sp>
          <p:nvSpPr>
            <p:cNvPr id="15373" name="Oval 13"/>
            <p:cNvSpPr/>
            <p:nvPr/>
          </p:nvSpPr>
          <p:spPr>
            <a:xfrm>
              <a:off x="3270" y="3120"/>
              <a:ext cx="240" cy="240"/>
            </a:xfrm>
            <a:prstGeom prst="ellipse">
              <a:avLst/>
            </a:prstGeom>
            <a:gradFill rotWithShape="0">
              <a:gsLst>
                <a:gs pos="0">
                  <a:srgbClr val="FF7C80"/>
                </a:gs>
                <a:gs pos="100000">
                  <a:srgbClr val="76393B"/>
                </a:gs>
              </a:gsLst>
              <a:path path="rect">
                <a:fillToRect r="100000" b="100000"/>
              </a:path>
              <a:tileRect/>
            </a:gradFill>
            <a:ln w="38100">
              <a:noFill/>
            </a:ln>
          </p:spPr>
          <p:txBody>
            <a:bodyPr wrap="none" anchor="ctr" anchorCtr="0"/>
            <a:p>
              <a:endParaRPr lang="zh-CN" altLang="en-US" sz="2400" dirty="0">
                <a:latin typeface="黑体" panose="02010609060101010101" pitchFamily="2" charset="-122"/>
                <a:ea typeface="黑体" panose="02010609060101010101" pitchFamily="2" charset="-122"/>
              </a:endParaRPr>
            </a:p>
          </p:txBody>
        </p:sp>
        <p:sp>
          <p:nvSpPr>
            <p:cNvPr id="15374" name="Oval 14"/>
            <p:cNvSpPr/>
            <p:nvPr/>
          </p:nvSpPr>
          <p:spPr>
            <a:xfrm>
              <a:off x="4752" y="3120"/>
              <a:ext cx="240" cy="240"/>
            </a:xfrm>
            <a:prstGeom prst="ellipse">
              <a:avLst/>
            </a:prstGeom>
            <a:gradFill rotWithShape="0">
              <a:gsLst>
                <a:gs pos="0">
                  <a:srgbClr val="FF7C80"/>
                </a:gs>
                <a:gs pos="100000">
                  <a:srgbClr val="76393B"/>
                </a:gs>
              </a:gsLst>
              <a:path path="rect">
                <a:fillToRect r="100000" b="100000"/>
              </a:path>
              <a:tileRect/>
            </a:gradFill>
            <a:ln w="38100">
              <a:noFill/>
            </a:ln>
          </p:spPr>
          <p:txBody>
            <a:bodyPr wrap="none" anchor="ctr" anchorCtr="0"/>
            <a:p>
              <a:endParaRPr lang="zh-CN" altLang="en-US" sz="2400" dirty="0">
                <a:latin typeface="黑体" panose="02010609060101010101" pitchFamily="2" charset="-122"/>
                <a:ea typeface="黑体" panose="02010609060101010101" pitchFamily="2" charset="-122"/>
              </a:endParaRPr>
            </a:p>
          </p:txBody>
        </p:sp>
        <p:sp>
          <p:nvSpPr>
            <p:cNvPr id="15375" name="Text Box 15"/>
            <p:cNvSpPr txBox="1"/>
            <p:nvPr/>
          </p:nvSpPr>
          <p:spPr>
            <a:xfrm>
              <a:off x="2074" y="3523"/>
              <a:ext cx="244" cy="290"/>
            </a:xfrm>
            <a:prstGeom prst="rect">
              <a:avLst/>
            </a:prstGeom>
            <a:noFill/>
            <a:ln w="38100">
              <a:noFill/>
            </a:ln>
          </p:spPr>
          <p:txBody>
            <a:bodyPr wrap="square" anchor="ctr" anchorCtr="0">
              <a:spAutoFit/>
            </a:bodyPr>
            <a:p>
              <a:pPr algn="ctr"/>
              <a:r>
                <a:rPr lang="en-US" altLang="zh-CN" sz="2400" b="1" dirty="0">
                  <a:solidFill>
                    <a:schemeClr val="bg1"/>
                  </a:solidFill>
                  <a:latin typeface="黑体" panose="02010609060101010101" pitchFamily="2" charset="-122"/>
                  <a:ea typeface="黑体" panose="02010609060101010101" pitchFamily="2" charset="-122"/>
                </a:rPr>
                <a:t>L</a:t>
              </a:r>
              <a:endParaRPr lang="en-US" altLang="zh-CN" sz="2400" b="1" dirty="0">
                <a:solidFill>
                  <a:schemeClr val="bg1"/>
                </a:solidFill>
                <a:latin typeface="黑体" panose="02010609060101010101" pitchFamily="2" charset="-122"/>
                <a:ea typeface="黑体" panose="02010609060101010101" pitchFamily="2" charset="-122"/>
              </a:endParaRPr>
            </a:p>
          </p:txBody>
        </p:sp>
        <p:sp>
          <p:nvSpPr>
            <p:cNvPr id="15376" name="Text Box 16"/>
            <p:cNvSpPr txBox="1"/>
            <p:nvPr/>
          </p:nvSpPr>
          <p:spPr>
            <a:xfrm>
              <a:off x="4474" y="3523"/>
              <a:ext cx="244" cy="290"/>
            </a:xfrm>
            <a:prstGeom prst="rect">
              <a:avLst/>
            </a:prstGeom>
            <a:noFill/>
            <a:ln w="38100">
              <a:noFill/>
            </a:ln>
          </p:spPr>
          <p:txBody>
            <a:bodyPr wrap="square" anchor="ctr" anchorCtr="0">
              <a:spAutoFit/>
            </a:bodyPr>
            <a:p>
              <a:pPr algn="ctr"/>
              <a:r>
                <a:rPr lang="en-US" altLang="zh-CN" sz="2400" b="1" dirty="0">
                  <a:solidFill>
                    <a:schemeClr val="bg1"/>
                  </a:solidFill>
                  <a:latin typeface="黑体" panose="02010609060101010101" pitchFamily="2" charset="-122"/>
                  <a:ea typeface="黑体" panose="02010609060101010101" pitchFamily="2" charset="-122"/>
                </a:rPr>
                <a:t>L</a:t>
              </a:r>
              <a:endParaRPr lang="en-US" altLang="zh-CN" sz="2400" b="1" dirty="0">
                <a:solidFill>
                  <a:schemeClr val="bg1"/>
                </a:solidFill>
                <a:latin typeface="黑体" panose="02010609060101010101" pitchFamily="2" charset="-122"/>
                <a:ea typeface="黑体" panose="02010609060101010101" pitchFamily="2" charset="-122"/>
              </a:endParaRPr>
            </a:p>
          </p:txBody>
        </p:sp>
        <p:sp>
          <p:nvSpPr>
            <p:cNvPr id="15377" name="Text Box 17"/>
            <p:cNvSpPr txBox="1"/>
            <p:nvPr/>
          </p:nvSpPr>
          <p:spPr>
            <a:xfrm>
              <a:off x="3521" y="3523"/>
              <a:ext cx="244" cy="290"/>
            </a:xfrm>
            <a:prstGeom prst="rect">
              <a:avLst/>
            </a:prstGeom>
            <a:noFill/>
            <a:ln w="38100">
              <a:noFill/>
            </a:ln>
          </p:spPr>
          <p:txBody>
            <a:bodyPr wrap="square" anchor="ctr" anchorCtr="0">
              <a:spAutoFit/>
            </a:bodyPr>
            <a:p>
              <a:pPr algn="ctr"/>
              <a:r>
                <a:rPr lang="en-US" altLang="zh-CN" sz="2400" b="1" dirty="0">
                  <a:solidFill>
                    <a:schemeClr val="bg1"/>
                  </a:solidFill>
                  <a:latin typeface="黑体" panose="02010609060101010101" pitchFamily="2" charset="-122"/>
                  <a:ea typeface="黑体" panose="02010609060101010101" pitchFamily="2" charset="-122"/>
                </a:rPr>
                <a:t>R</a:t>
              </a:r>
              <a:endParaRPr lang="en-US" altLang="zh-CN" sz="2400" b="1" dirty="0">
                <a:solidFill>
                  <a:schemeClr val="bg1"/>
                </a:solidFill>
                <a:latin typeface="黑体" panose="02010609060101010101" pitchFamily="2" charset="-122"/>
                <a:ea typeface="黑体" panose="02010609060101010101" pitchFamily="2" charset="-122"/>
              </a:endParaRPr>
            </a:p>
          </p:txBody>
        </p:sp>
        <p:sp>
          <p:nvSpPr>
            <p:cNvPr id="15378" name="Text Box 18"/>
            <p:cNvSpPr txBox="1"/>
            <p:nvPr/>
          </p:nvSpPr>
          <p:spPr>
            <a:xfrm>
              <a:off x="5009" y="3523"/>
              <a:ext cx="244" cy="290"/>
            </a:xfrm>
            <a:prstGeom prst="rect">
              <a:avLst/>
            </a:prstGeom>
            <a:noFill/>
            <a:ln w="38100">
              <a:noFill/>
            </a:ln>
          </p:spPr>
          <p:txBody>
            <a:bodyPr wrap="square" anchor="ctr" anchorCtr="0">
              <a:spAutoFit/>
            </a:bodyPr>
            <a:p>
              <a:pPr algn="ctr"/>
              <a:r>
                <a:rPr lang="en-US" altLang="zh-CN" sz="2400" b="1" dirty="0">
                  <a:solidFill>
                    <a:schemeClr val="bg1"/>
                  </a:solidFill>
                  <a:latin typeface="黑体" panose="02010609060101010101" pitchFamily="2" charset="-122"/>
                  <a:ea typeface="黑体" panose="02010609060101010101" pitchFamily="2" charset="-122"/>
                </a:rPr>
                <a:t>R</a:t>
              </a:r>
              <a:endParaRPr lang="en-US" altLang="zh-CN" sz="2400" b="1" dirty="0">
                <a:solidFill>
                  <a:schemeClr val="bg1"/>
                </a:solidFill>
                <a:latin typeface="黑体" panose="02010609060101010101" pitchFamily="2" charset="-122"/>
                <a:ea typeface="黑体" panose="02010609060101010101" pitchFamily="2" charset="-122"/>
              </a:endParaRPr>
            </a:p>
          </p:txBody>
        </p:sp>
        <p:sp>
          <p:nvSpPr>
            <p:cNvPr id="15379" name="Text Box 19"/>
            <p:cNvSpPr txBox="1"/>
            <p:nvPr/>
          </p:nvSpPr>
          <p:spPr>
            <a:xfrm>
              <a:off x="96" y="3888"/>
              <a:ext cx="5376" cy="290"/>
            </a:xfrm>
            <a:prstGeom prst="rect">
              <a:avLst/>
            </a:prstGeom>
            <a:noFill/>
            <a:ln w="9525">
              <a:noFill/>
            </a:ln>
          </p:spPr>
          <p:txBody>
            <a:bodyPr anchor="t" anchorCtr="0">
              <a:spAutoFit/>
            </a:bodyPr>
            <a:p>
              <a:pPr>
                <a:spcBef>
                  <a:spcPct val="50000"/>
                </a:spcBef>
              </a:pPr>
              <a:r>
                <a:rPr lang="zh-CN" altLang="en-US" sz="2400" dirty="0">
                  <a:latin typeface="黑体" panose="02010609060101010101" pitchFamily="2" charset="-122"/>
                  <a:ea typeface="黑体" panose="02010609060101010101" pitchFamily="2" charset="-122"/>
                  <a:cs typeface="黑体" panose="02010609060101010101" pitchFamily="2" charset="-122"/>
                </a:rPr>
                <a:t>空树　　</a:t>
              </a:r>
              <a:r>
                <a:rPr lang="en-US" altLang="zh-CN" sz="2400" dirty="0">
                  <a:latin typeface="黑体" panose="02010609060101010101" pitchFamily="2" charset="-122"/>
                  <a:ea typeface="黑体" panose="02010609060101010101" pitchFamily="2" charset="-122"/>
                  <a:cs typeface="黑体" panose="02010609060101010101" pitchFamily="2" charset="-122"/>
                </a:rPr>
                <a:t>   </a:t>
              </a:r>
              <a:r>
                <a:rPr lang="zh-CN" altLang="en-US" sz="2400" dirty="0">
                  <a:latin typeface="黑体" panose="02010609060101010101" pitchFamily="2" charset="-122"/>
                  <a:ea typeface="黑体" panose="02010609060101010101" pitchFamily="2" charset="-122"/>
                  <a:cs typeface="黑体" panose="02010609060101010101" pitchFamily="2" charset="-122"/>
                </a:rPr>
                <a:t>只有根　　</a:t>
              </a:r>
              <a:r>
                <a:rPr lang="en-US" altLang="zh-CN" sz="2400" dirty="0">
                  <a:latin typeface="黑体" panose="02010609060101010101" pitchFamily="2" charset="-122"/>
                  <a:ea typeface="黑体" panose="02010609060101010101" pitchFamily="2" charset="-122"/>
                  <a:cs typeface="黑体" panose="02010609060101010101" pitchFamily="2" charset="-122"/>
                </a:rPr>
                <a:t> </a:t>
              </a:r>
              <a:r>
                <a:rPr lang="zh-CN" altLang="en-US" sz="2400" dirty="0">
                  <a:latin typeface="黑体" panose="02010609060101010101" pitchFamily="2" charset="-122"/>
                  <a:ea typeface="黑体" panose="02010609060101010101" pitchFamily="2" charset="-122"/>
                  <a:cs typeface="黑体" panose="02010609060101010101" pitchFamily="2" charset="-122"/>
                </a:rPr>
                <a:t>只有左子树　 </a:t>
              </a:r>
              <a:r>
                <a:rPr lang="en-US" altLang="zh-CN" sz="2400" dirty="0">
                  <a:latin typeface="黑体" panose="02010609060101010101" pitchFamily="2" charset="-122"/>
                  <a:ea typeface="黑体" panose="02010609060101010101" pitchFamily="2" charset="-122"/>
                  <a:cs typeface="黑体" panose="02010609060101010101" pitchFamily="2" charset="-122"/>
                </a:rPr>
                <a:t> </a:t>
              </a:r>
              <a:r>
                <a:rPr lang="zh-CN" altLang="en-US" sz="2400" dirty="0">
                  <a:latin typeface="黑体" panose="02010609060101010101" pitchFamily="2" charset="-122"/>
                  <a:ea typeface="黑体" panose="02010609060101010101" pitchFamily="2" charset="-122"/>
                  <a:cs typeface="黑体" panose="02010609060101010101" pitchFamily="2" charset="-122"/>
                </a:rPr>
                <a:t>只有右子树　　</a:t>
              </a:r>
              <a:r>
                <a:rPr lang="en-US" altLang="zh-CN" sz="2400" dirty="0">
                  <a:latin typeface="黑体" panose="02010609060101010101" pitchFamily="2" charset="-122"/>
                  <a:ea typeface="黑体" panose="02010609060101010101" pitchFamily="2" charset="-122"/>
                  <a:cs typeface="黑体" panose="02010609060101010101" pitchFamily="2" charset="-122"/>
                </a:rPr>
                <a:t> </a:t>
              </a:r>
              <a:r>
                <a:rPr lang="zh-CN" altLang="en-US" sz="2400" dirty="0">
                  <a:latin typeface="黑体" panose="02010609060101010101" pitchFamily="2" charset="-122"/>
                  <a:ea typeface="黑体" panose="02010609060101010101" pitchFamily="2" charset="-122"/>
                  <a:cs typeface="黑体" panose="02010609060101010101" pitchFamily="2" charset="-122"/>
                </a:rPr>
                <a:t>有左右子树</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二叉树性质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：在二叉树的第i层上至多有2i-1个结点</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二叉树性质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：深度为k的二叉树至多有2</a:t>
            </a:r>
            <a:r>
              <a:rPr lang="zh-CN" altLang="en-US" sz="2800" baseline="30000" dirty="0">
                <a:latin typeface="黑体" panose="02010609060101010101" pitchFamily="2" charset="-122"/>
                <a:ea typeface="黑体" panose="02010609060101010101" pitchFamily="2" charset="-122"/>
                <a:cs typeface="黑体" panose="02010609060101010101" pitchFamily="2" charset="-122"/>
                <a:sym typeface="+mn-ea"/>
              </a:rPr>
              <a:t>k</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-1个结点</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二叉树性质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3</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：如果二叉树终端结点数为n</a:t>
            </a:r>
            <a:r>
              <a:rPr lang="zh-CN" altLang="en-US" sz="2800" baseline="-25000" dirty="0">
                <a:latin typeface="黑体" panose="02010609060101010101" pitchFamily="2" charset="-122"/>
                <a:ea typeface="黑体" panose="02010609060101010101" pitchFamily="2" charset="-122"/>
                <a:cs typeface="黑体" panose="02010609060101010101" pitchFamily="2" charset="-122"/>
                <a:sym typeface="+mn-ea"/>
              </a:rPr>
              <a:t>0</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，度为2的结点数为n</a:t>
            </a:r>
            <a:r>
              <a:rPr lang="zh-CN" altLang="en-US" sz="2800" baseline="-250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，则n</a:t>
            </a:r>
            <a:r>
              <a:rPr lang="zh-CN" altLang="en-US" sz="2800" baseline="-25000" dirty="0">
                <a:latin typeface="黑体" panose="02010609060101010101" pitchFamily="2" charset="-122"/>
                <a:ea typeface="黑体" panose="02010609060101010101" pitchFamily="2" charset="-122"/>
                <a:cs typeface="黑体" panose="02010609060101010101" pitchFamily="2" charset="-122"/>
                <a:sym typeface="+mn-ea"/>
              </a:rPr>
              <a:t>0</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sz="2800" baseline="-250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+1</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lang="zh-CN" altLang="en-US" sz="2800" b="1" dirty="0">
                <a:solidFill>
                  <a:srgbClr val="FF0000"/>
                </a:solidFill>
                <a:latin typeface="宋体" panose="02010600030101010101" pitchFamily="2" charset="-122"/>
                <a:ea typeface="宋体" panose="02010600030101010101" pitchFamily="2" charset="-122"/>
                <a:cs typeface="+mn-ea"/>
                <a:sym typeface="+mn-ea"/>
              </a:rPr>
              <a:t>证明：</a:t>
            </a:r>
            <a:endParaRPr lang="en-US" altLang="zh-CN" sz="2800" b="1" dirty="0">
              <a:latin typeface="宋体" panose="02010600030101010101" pitchFamily="2" charset="-122"/>
              <a:cs typeface="+mn-ea"/>
              <a:sym typeface="+mn-ea"/>
            </a:endParaRPr>
          </a:p>
          <a:p>
            <a:pPr marL="457200" marR="0" lvl="1"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lang="en-US" altLang="zh-CN" sz="2800" b="1" dirty="0">
                <a:latin typeface="宋体" panose="02010600030101010101" pitchFamily="2" charset="-122"/>
                <a:cs typeface="+mn-ea"/>
                <a:sym typeface="+mn-ea"/>
              </a:rPr>
              <a:t>n = n</a:t>
            </a:r>
            <a:r>
              <a:rPr lang="en-US" altLang="zh-CN" sz="2800" b="1" baseline="-25000" dirty="0">
                <a:latin typeface="宋体" panose="02010600030101010101" pitchFamily="2" charset="-122"/>
                <a:cs typeface="+mn-ea"/>
                <a:sym typeface="+mn-ea"/>
              </a:rPr>
              <a:t>0 </a:t>
            </a:r>
            <a:r>
              <a:rPr lang="en-US" altLang="zh-CN" sz="2800" b="1" dirty="0">
                <a:latin typeface="宋体" panose="02010600030101010101" pitchFamily="2" charset="-122"/>
                <a:cs typeface="+mn-ea"/>
                <a:sym typeface="+mn-ea"/>
              </a:rPr>
              <a:t>+n</a:t>
            </a:r>
            <a:r>
              <a:rPr lang="en-US" altLang="zh-CN" sz="2800" b="1" baseline="-25000" dirty="0">
                <a:latin typeface="宋体" panose="02010600030101010101" pitchFamily="2" charset="-122"/>
                <a:cs typeface="+mn-ea"/>
                <a:sym typeface="+mn-ea"/>
              </a:rPr>
              <a:t>1</a:t>
            </a:r>
            <a:r>
              <a:rPr lang="en-US" altLang="zh-CN" sz="2800" b="1" dirty="0">
                <a:latin typeface="宋体" panose="02010600030101010101" pitchFamily="2" charset="-122"/>
                <a:cs typeface="+mn-ea"/>
                <a:sym typeface="+mn-ea"/>
              </a:rPr>
              <a:t>+n</a:t>
            </a:r>
            <a:r>
              <a:rPr lang="en-US" altLang="zh-CN" sz="2800" b="1" baseline="-25000" dirty="0">
                <a:latin typeface="宋体" panose="02010600030101010101" pitchFamily="2" charset="-122"/>
                <a:cs typeface="+mn-ea"/>
                <a:sym typeface="+mn-ea"/>
              </a:rPr>
              <a:t>2 </a:t>
            </a:r>
            <a:r>
              <a:rPr lang="en-US" altLang="zh-CN" sz="2800" b="1" dirty="0">
                <a:latin typeface="宋体" panose="02010600030101010101" pitchFamily="2" charset="-122"/>
                <a:cs typeface="+mn-ea"/>
                <a:sym typeface="+mn-ea"/>
              </a:rPr>
              <a:t>, n = B+1</a:t>
            </a:r>
            <a:r>
              <a:rPr lang="zh-CN" altLang="en-US" sz="2800" b="1" dirty="0">
                <a:latin typeface="宋体" panose="02010600030101010101" pitchFamily="2" charset="-122"/>
                <a:cs typeface="+mn-ea"/>
                <a:sym typeface="+mn-ea"/>
              </a:rPr>
              <a:t>， </a:t>
            </a:r>
            <a:r>
              <a:rPr lang="en-US" altLang="zh-CN" sz="2800" b="1" dirty="0">
                <a:latin typeface="宋体" panose="02010600030101010101" pitchFamily="2" charset="-122"/>
                <a:cs typeface="+mn-ea"/>
                <a:sym typeface="+mn-ea"/>
              </a:rPr>
              <a:t>B= n</a:t>
            </a:r>
            <a:r>
              <a:rPr lang="en-US" altLang="zh-CN" sz="2800" b="1" baseline="-25000" dirty="0">
                <a:latin typeface="宋体" panose="02010600030101010101" pitchFamily="2" charset="-122"/>
                <a:cs typeface="+mn-ea"/>
                <a:sym typeface="+mn-ea"/>
              </a:rPr>
              <a:t>1</a:t>
            </a:r>
            <a:r>
              <a:rPr lang="en-US" altLang="zh-CN" sz="2800" b="1" dirty="0">
                <a:latin typeface="宋体" panose="02010600030101010101" pitchFamily="2" charset="-122"/>
                <a:cs typeface="+mn-ea"/>
                <a:sym typeface="+mn-ea"/>
              </a:rPr>
              <a:t>+2n</a:t>
            </a:r>
            <a:r>
              <a:rPr lang="en-US" altLang="zh-CN" sz="2800" b="1" baseline="-25000" dirty="0">
                <a:latin typeface="宋体" panose="02010600030101010101" pitchFamily="2" charset="-122"/>
                <a:cs typeface="+mn-ea"/>
                <a:sym typeface="+mn-ea"/>
              </a:rPr>
              <a:t>2 	</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(B</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是分支数量</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a:t>
            </a:r>
            <a:endParaRPr kumimoji="0" lang="en-US" altLang="zh-CN" sz="2800" b="1" i="0" u="none" strike="noStrike" kern="0" cap="none" spc="0" normalizeH="0" baseline="0" noProof="1" dirty="0">
              <a:solidFill>
                <a:schemeClr val="tx1"/>
              </a:solidFill>
              <a:latin typeface="宋体" panose="02010600030101010101" pitchFamily="2" charset="-122"/>
              <a:ea typeface="+mn-ea"/>
              <a:cs typeface="+mn-ea"/>
            </a:endParaRPr>
          </a:p>
          <a:p>
            <a:pPr marL="457200" marR="0" lvl="1"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lang="en-US" altLang="zh-CN" sz="2800" b="1" dirty="0">
                <a:latin typeface="宋体" panose="02010600030101010101" pitchFamily="2" charset="-122"/>
                <a:cs typeface="+mn-ea"/>
                <a:sym typeface="+mn-ea"/>
              </a:rPr>
              <a:t>n = n</a:t>
            </a:r>
            <a:r>
              <a:rPr lang="en-US" altLang="zh-CN" sz="2800" b="1" baseline="-25000" dirty="0">
                <a:latin typeface="宋体" panose="02010600030101010101" pitchFamily="2" charset="-122"/>
                <a:cs typeface="+mn-ea"/>
                <a:sym typeface="+mn-ea"/>
              </a:rPr>
              <a:t>1</a:t>
            </a:r>
            <a:r>
              <a:rPr lang="en-US" altLang="zh-CN" sz="2800" b="1" dirty="0">
                <a:latin typeface="宋体" panose="02010600030101010101" pitchFamily="2" charset="-122"/>
                <a:cs typeface="+mn-ea"/>
                <a:sym typeface="+mn-ea"/>
              </a:rPr>
              <a:t>+2n</a:t>
            </a:r>
            <a:r>
              <a:rPr lang="en-US" altLang="zh-CN" sz="2800" b="1" baseline="-25000" dirty="0">
                <a:latin typeface="宋体" panose="02010600030101010101" pitchFamily="2" charset="-122"/>
                <a:cs typeface="+mn-ea"/>
                <a:sym typeface="+mn-ea"/>
              </a:rPr>
              <a:t>2</a:t>
            </a:r>
            <a:r>
              <a:rPr lang="en-US" altLang="zh-CN" sz="2800" b="1" dirty="0">
                <a:latin typeface="宋体" panose="02010600030101010101" pitchFamily="2" charset="-122"/>
                <a:cs typeface="+mn-ea"/>
                <a:sym typeface="+mn-ea"/>
              </a:rPr>
              <a:t>+1</a:t>
            </a:r>
            <a:endParaRPr kumimoji="0" lang="en-US" altLang="zh-CN" sz="2800" b="1" i="0" u="none" strike="noStrike" kern="0" cap="none" spc="0" normalizeH="0" baseline="0" noProof="1" dirty="0">
              <a:solidFill>
                <a:schemeClr val="tx1"/>
              </a:solidFill>
              <a:latin typeface="宋体" panose="02010600030101010101" pitchFamily="2" charset="-122"/>
              <a:ea typeface="+mn-ea"/>
              <a:cs typeface="+mn-ea"/>
            </a:endParaRPr>
          </a:p>
          <a:p>
            <a:pPr marL="457200" marR="0" lvl="1"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lang="en-US" altLang="zh-CN" sz="2800" b="1" dirty="0">
                <a:latin typeface="宋体" panose="02010600030101010101" pitchFamily="2" charset="-122"/>
                <a:cs typeface="+mn-ea"/>
                <a:sym typeface="+mn-ea"/>
              </a:rPr>
              <a:t>n</a:t>
            </a:r>
            <a:r>
              <a:rPr lang="en-US" altLang="zh-CN" sz="2800" b="1" baseline="-25000" dirty="0">
                <a:latin typeface="宋体" panose="02010600030101010101" pitchFamily="2" charset="-122"/>
                <a:cs typeface="+mn-ea"/>
                <a:sym typeface="+mn-ea"/>
              </a:rPr>
              <a:t>0 </a:t>
            </a:r>
            <a:r>
              <a:rPr lang="en-US" altLang="zh-CN" sz="2800" b="1" dirty="0">
                <a:latin typeface="宋体" panose="02010600030101010101" pitchFamily="2" charset="-122"/>
                <a:cs typeface="+mn-ea"/>
                <a:sym typeface="+mn-ea"/>
              </a:rPr>
              <a:t>+n</a:t>
            </a:r>
            <a:r>
              <a:rPr lang="en-US" altLang="zh-CN" sz="2800" b="1" baseline="-25000" dirty="0">
                <a:latin typeface="宋体" panose="02010600030101010101" pitchFamily="2" charset="-122"/>
                <a:cs typeface="+mn-ea"/>
                <a:sym typeface="+mn-ea"/>
              </a:rPr>
              <a:t>1</a:t>
            </a:r>
            <a:r>
              <a:rPr lang="en-US" altLang="zh-CN" sz="2800" b="1" dirty="0">
                <a:latin typeface="宋体" panose="02010600030101010101" pitchFamily="2" charset="-122"/>
                <a:cs typeface="+mn-ea"/>
                <a:sym typeface="+mn-ea"/>
              </a:rPr>
              <a:t>+n</a:t>
            </a:r>
            <a:r>
              <a:rPr lang="en-US" altLang="zh-CN" sz="2800" b="1" baseline="-25000" dirty="0">
                <a:latin typeface="宋体" panose="02010600030101010101" pitchFamily="2" charset="-122"/>
                <a:cs typeface="+mn-ea"/>
                <a:sym typeface="+mn-ea"/>
              </a:rPr>
              <a:t>2 </a:t>
            </a:r>
            <a:r>
              <a:rPr lang="en-US" altLang="zh-CN" sz="2800" b="1" dirty="0">
                <a:latin typeface="宋体" panose="02010600030101010101" pitchFamily="2" charset="-122"/>
                <a:cs typeface="+mn-ea"/>
                <a:sym typeface="+mn-ea"/>
              </a:rPr>
              <a:t>= n</a:t>
            </a:r>
            <a:r>
              <a:rPr lang="en-US" altLang="zh-CN" sz="2800" b="1" baseline="-25000" dirty="0">
                <a:latin typeface="宋体" panose="02010600030101010101" pitchFamily="2" charset="-122"/>
                <a:cs typeface="+mn-ea"/>
                <a:sym typeface="+mn-ea"/>
              </a:rPr>
              <a:t>1</a:t>
            </a:r>
            <a:r>
              <a:rPr lang="en-US" altLang="zh-CN" sz="2800" b="1" dirty="0">
                <a:latin typeface="宋体" panose="02010600030101010101" pitchFamily="2" charset="-122"/>
                <a:cs typeface="+mn-ea"/>
                <a:sym typeface="+mn-ea"/>
              </a:rPr>
              <a:t>+2n</a:t>
            </a:r>
            <a:r>
              <a:rPr lang="en-US" altLang="zh-CN" sz="2800" b="1" baseline="-25000" dirty="0">
                <a:latin typeface="宋体" panose="02010600030101010101" pitchFamily="2" charset="-122"/>
                <a:cs typeface="+mn-ea"/>
                <a:sym typeface="+mn-ea"/>
              </a:rPr>
              <a:t>2</a:t>
            </a:r>
            <a:r>
              <a:rPr lang="en-US" altLang="zh-CN" sz="2800" b="1" dirty="0">
                <a:latin typeface="宋体" panose="02010600030101010101" pitchFamily="2" charset="-122"/>
                <a:cs typeface="+mn-ea"/>
                <a:sym typeface="+mn-ea"/>
              </a:rPr>
              <a:t>+1</a:t>
            </a:r>
            <a:endParaRPr kumimoji="0" lang="en-US" altLang="zh-CN" sz="2800" b="1" i="0" u="none" strike="noStrike" kern="0" cap="none" spc="0" normalizeH="0" baseline="0" noProof="1" dirty="0">
              <a:solidFill>
                <a:schemeClr val="tx1"/>
              </a:solidFill>
              <a:latin typeface="宋体" panose="02010600030101010101" pitchFamily="2" charset="-122"/>
              <a:ea typeface="+mn-ea"/>
              <a:cs typeface="+mn-ea"/>
            </a:endParaRPr>
          </a:p>
          <a:p>
            <a:pPr marL="457200" marR="0" lvl="1"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lang="en-US" altLang="zh-CN" sz="2800" b="1" dirty="0">
                <a:latin typeface="宋体" panose="02010600030101010101" pitchFamily="2" charset="-122"/>
                <a:cs typeface="+mn-ea"/>
                <a:sym typeface="+mn-ea"/>
              </a:rPr>
              <a:t>n</a:t>
            </a:r>
            <a:r>
              <a:rPr lang="en-US" altLang="zh-CN" sz="2800" b="1" baseline="-25000" dirty="0">
                <a:latin typeface="宋体" panose="02010600030101010101" pitchFamily="2" charset="-122"/>
                <a:cs typeface="+mn-ea"/>
                <a:sym typeface="+mn-ea"/>
              </a:rPr>
              <a:t>0</a:t>
            </a:r>
            <a:r>
              <a:rPr lang="en-US" altLang="zh-CN" sz="2800" b="1" dirty="0">
                <a:latin typeface="宋体" panose="02010600030101010101" pitchFamily="2" charset="-122"/>
                <a:cs typeface="+mn-ea"/>
                <a:sym typeface="+mn-ea"/>
              </a:rPr>
              <a:t>=n</a:t>
            </a:r>
            <a:r>
              <a:rPr lang="en-US" altLang="zh-CN" sz="2800" b="1" baseline="-25000" dirty="0">
                <a:latin typeface="宋体" panose="02010600030101010101" pitchFamily="2" charset="-122"/>
                <a:cs typeface="+mn-ea"/>
                <a:sym typeface="+mn-ea"/>
              </a:rPr>
              <a:t>2</a:t>
            </a:r>
            <a:r>
              <a:rPr lang="en-US" altLang="zh-CN" sz="2800" b="1" dirty="0">
                <a:latin typeface="宋体" panose="02010600030101010101" pitchFamily="2" charset="-122"/>
                <a:cs typeface="+mn-ea"/>
                <a:sym typeface="+mn-ea"/>
              </a:rPr>
              <a:t>+1</a:t>
            </a:r>
            <a:endParaRPr kumimoji="0" lang="en-US" altLang="zh-CN" sz="2800" b="1" i="0" u="none" strike="noStrike" kern="0" cap="none" spc="0" normalizeH="0" baseline="0" noProof="1" dirty="0">
              <a:solidFill>
                <a:schemeClr val="tx1"/>
              </a:solidFill>
              <a:latin typeface="宋体" panose="02010600030101010101" pitchFamily="2" charset="-122"/>
              <a:ea typeface="+mn-ea"/>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noProof="1" dirty="0">
              <a:solidFill>
                <a:schemeClr val="tx1"/>
              </a:solidFill>
              <a:latin typeface="黑体" panose="02010609060101010101" pitchFamily="2" charset="-122"/>
              <a:ea typeface="+mn-ea"/>
              <a:cs typeface="+mn-cs"/>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noProof="1" dirty="0">
              <a:solidFill>
                <a:schemeClr val="tx1"/>
              </a:solidFill>
              <a:latin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0" lvl="1" indent="0" algn="l" eaLnBrk="1" hangingPunct="1">
              <a:buClrTx/>
              <a:buSzTx/>
              <a:buFont typeface="Wingdings" panose="05000000000000000000" charset="0"/>
              <a:buNone/>
            </a:pPr>
            <a:endPar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6.2 </a:t>
            </a:r>
            <a:r>
              <a:rPr lang="zh-CN" altLang="en-US">
                <a:latin typeface="楷体" panose="02010609060101010101" charset="-122"/>
                <a:ea typeface="楷体" panose="02010609060101010101" charset="-122"/>
                <a:cs typeface="楷体" panose="02010609060101010101" charset="-122"/>
                <a:sym typeface="+mn-ea"/>
              </a:rPr>
              <a:t>二叉</a:t>
            </a:r>
            <a:r>
              <a:rPr lang="zh-CN" altLang="en-US" dirty="0">
                <a:latin typeface="楷体" panose="02010609060101010101" charset="-122"/>
                <a:ea typeface="楷体" panose="02010609060101010101" charset="-122"/>
                <a:sym typeface="+mn-ea"/>
              </a:rPr>
              <a:t>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R="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已知二叉树包含10个结点，求它的最大/最小深度</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已知二叉树包含5个结点是只有1个孩子，叶子有7个，求二叉树的结点总数</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深度为5（树层次从1开始）的二叉树最多有多少个叶结点。</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endParaRPr lang="zh-CN" altLang="en-US">
              <a:latin typeface="黑体" panose="02010609060101010101" pitchFamily="2" charset="-122"/>
              <a:ea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二叉树特定形态：满二叉树、完全二叉树</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满二叉树，一个深度为k且有2</a:t>
            </a:r>
            <a:r>
              <a:rPr lang="zh-CN" altLang="en-US" sz="2800" baseline="30000" dirty="0">
                <a:latin typeface="黑体" panose="02010609060101010101" pitchFamily="2" charset="-122"/>
                <a:ea typeface="黑体" panose="02010609060101010101" pitchFamily="2" charset="-122"/>
                <a:cs typeface="黑体" panose="02010609060101010101" pitchFamily="2" charset="-122"/>
                <a:sym typeface="+mn-ea"/>
              </a:rPr>
              <a:t>k</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-1个结点的二叉树</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每层结点数都是满的（都是</a:t>
            </a:r>
            <a:r>
              <a:rPr lang="en-US" altLang="zh-CN" sz="2400" dirty="0">
                <a:latin typeface="黑体" panose="02010609060101010101" pitchFamily="2" charset="-122"/>
                <a:ea typeface="黑体" panose="02010609060101010101" pitchFamily="2" charset="-122"/>
                <a:cs typeface="+mn-ea"/>
                <a:sym typeface="+mn-ea"/>
              </a:rPr>
              <a:t>2</a:t>
            </a:r>
            <a:r>
              <a:rPr lang="en-US" altLang="zh-CN" sz="2400" baseline="30000" dirty="0">
                <a:latin typeface="黑体" panose="02010609060101010101" pitchFamily="2" charset="-122"/>
                <a:ea typeface="黑体" panose="02010609060101010101" pitchFamily="2" charset="-122"/>
                <a:cs typeface="+mn-ea"/>
                <a:sym typeface="+mn-ea"/>
              </a:rPr>
              <a:t>k-1</a:t>
            </a:r>
            <a:r>
              <a:rPr lang="zh-CN" altLang="en-US" sz="2400" dirty="0">
                <a:latin typeface="黑体" panose="02010609060101010101" pitchFamily="2" charset="-122"/>
                <a:ea typeface="黑体" panose="02010609060101010101" pitchFamily="2" charset="-122"/>
                <a:cs typeface="+mn-ea"/>
                <a:sym typeface="+mn-ea"/>
              </a:rPr>
              <a:t>个）</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自上而下、自左至右连续编号，符合以下形态</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rPr>
              <a:t>深度为</a:t>
            </a:r>
            <a:r>
              <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rPr>
              <a:t>n</a:t>
            </a:r>
            <a:r>
              <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rPr>
              <a:t>的满二叉树是唯一的</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6.2 </a:t>
            </a:r>
            <a:r>
              <a:rPr lang="zh-CN" altLang="en-US">
                <a:latin typeface="楷体" panose="02010609060101010101" charset="-122"/>
                <a:ea typeface="楷体" panose="02010609060101010101" charset="-122"/>
                <a:cs typeface="楷体" panose="02010609060101010101" charset="-122"/>
                <a:sym typeface="+mn-ea"/>
              </a:rPr>
              <a:t>二叉</a:t>
            </a:r>
            <a:r>
              <a:rPr lang="zh-CN" altLang="en-US" dirty="0">
                <a:latin typeface="楷体" panose="02010609060101010101" charset="-122"/>
                <a:ea typeface="楷体" panose="02010609060101010101" charset="-122"/>
                <a:sym typeface="+mn-ea"/>
              </a:rPr>
              <a:t>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8436" name="Group 4"/>
          <p:cNvGrpSpPr/>
          <p:nvPr/>
        </p:nvGrpSpPr>
        <p:grpSpPr>
          <a:xfrm>
            <a:off x="6587490" y="2932113"/>
            <a:ext cx="4195763" cy="2655887"/>
            <a:chOff x="1536" y="2400"/>
            <a:chExt cx="2643" cy="1673"/>
          </a:xfrm>
        </p:grpSpPr>
        <p:sp>
          <p:nvSpPr>
            <p:cNvPr id="18437" name="Line 5"/>
            <p:cNvSpPr/>
            <p:nvPr/>
          </p:nvSpPr>
          <p:spPr>
            <a:xfrm>
              <a:off x="2995" y="2577"/>
              <a:ext cx="561" cy="355"/>
            </a:xfrm>
            <a:prstGeom prst="line">
              <a:avLst/>
            </a:prstGeom>
            <a:ln w="38100" cap="flat" cmpd="sng">
              <a:solidFill>
                <a:srgbClr val="009900"/>
              </a:solidFill>
              <a:prstDash val="solid"/>
              <a:round/>
              <a:headEnd type="none" w="med" len="med"/>
              <a:tailEnd type="none" w="med" len="med"/>
            </a:ln>
          </p:spPr>
        </p:sp>
        <p:sp>
          <p:nvSpPr>
            <p:cNvPr id="18438" name="Line 6"/>
            <p:cNvSpPr/>
            <p:nvPr/>
          </p:nvSpPr>
          <p:spPr>
            <a:xfrm flipH="1">
              <a:off x="2266" y="2539"/>
              <a:ext cx="581" cy="393"/>
            </a:xfrm>
            <a:prstGeom prst="line">
              <a:avLst/>
            </a:prstGeom>
            <a:ln w="38100" cap="flat" cmpd="sng">
              <a:solidFill>
                <a:srgbClr val="009900"/>
              </a:solidFill>
              <a:prstDash val="solid"/>
              <a:round/>
              <a:headEnd type="none" w="med" len="med"/>
              <a:tailEnd type="none" w="med" len="med"/>
            </a:ln>
          </p:spPr>
        </p:sp>
        <p:sp>
          <p:nvSpPr>
            <p:cNvPr id="18439" name="Line 7"/>
            <p:cNvSpPr/>
            <p:nvPr/>
          </p:nvSpPr>
          <p:spPr>
            <a:xfrm>
              <a:off x="3612" y="3052"/>
              <a:ext cx="225" cy="293"/>
            </a:xfrm>
            <a:prstGeom prst="line">
              <a:avLst/>
            </a:prstGeom>
            <a:ln w="38100" cap="flat" cmpd="sng">
              <a:solidFill>
                <a:srgbClr val="009900"/>
              </a:solidFill>
              <a:prstDash val="solid"/>
              <a:round/>
              <a:headEnd type="none" w="med" len="med"/>
              <a:tailEnd type="none" w="med" len="med"/>
            </a:ln>
          </p:spPr>
        </p:sp>
        <p:sp>
          <p:nvSpPr>
            <p:cNvPr id="18440" name="Line 8"/>
            <p:cNvSpPr/>
            <p:nvPr/>
          </p:nvSpPr>
          <p:spPr>
            <a:xfrm flipH="1">
              <a:off x="3275" y="2991"/>
              <a:ext cx="281" cy="354"/>
            </a:xfrm>
            <a:prstGeom prst="line">
              <a:avLst/>
            </a:prstGeom>
            <a:ln w="38100" cap="flat" cmpd="sng">
              <a:solidFill>
                <a:srgbClr val="009900"/>
              </a:solidFill>
              <a:prstDash val="solid"/>
              <a:round/>
              <a:headEnd type="none" w="med" len="med"/>
              <a:tailEnd type="none" w="med" len="med"/>
            </a:ln>
          </p:spPr>
        </p:sp>
        <p:sp>
          <p:nvSpPr>
            <p:cNvPr id="18441" name="Line 9"/>
            <p:cNvSpPr/>
            <p:nvPr/>
          </p:nvSpPr>
          <p:spPr>
            <a:xfrm>
              <a:off x="2266" y="2991"/>
              <a:ext cx="223" cy="354"/>
            </a:xfrm>
            <a:prstGeom prst="line">
              <a:avLst/>
            </a:prstGeom>
            <a:ln w="38100" cap="flat" cmpd="sng">
              <a:solidFill>
                <a:srgbClr val="009900"/>
              </a:solidFill>
              <a:prstDash val="solid"/>
              <a:round/>
              <a:headEnd type="none" w="med" len="med"/>
              <a:tailEnd type="none" w="med" len="med"/>
            </a:ln>
          </p:spPr>
        </p:sp>
        <p:sp>
          <p:nvSpPr>
            <p:cNvPr id="18442" name="Line 10"/>
            <p:cNvSpPr/>
            <p:nvPr/>
          </p:nvSpPr>
          <p:spPr>
            <a:xfrm flipH="1">
              <a:off x="1872" y="3052"/>
              <a:ext cx="282" cy="352"/>
            </a:xfrm>
            <a:prstGeom prst="line">
              <a:avLst/>
            </a:prstGeom>
            <a:ln w="38100" cap="flat" cmpd="sng">
              <a:solidFill>
                <a:srgbClr val="009900"/>
              </a:solidFill>
              <a:prstDash val="solid"/>
              <a:round/>
              <a:headEnd type="none" w="med" len="med"/>
              <a:tailEnd type="none" w="med" len="med"/>
            </a:ln>
          </p:spPr>
        </p:sp>
        <p:sp>
          <p:nvSpPr>
            <p:cNvPr id="18443" name="Line 11"/>
            <p:cNvSpPr/>
            <p:nvPr/>
          </p:nvSpPr>
          <p:spPr>
            <a:xfrm>
              <a:off x="3893" y="3465"/>
              <a:ext cx="112" cy="354"/>
            </a:xfrm>
            <a:prstGeom prst="line">
              <a:avLst/>
            </a:prstGeom>
            <a:ln w="38100" cap="flat" cmpd="sng">
              <a:solidFill>
                <a:srgbClr val="009900"/>
              </a:solidFill>
              <a:prstDash val="solid"/>
              <a:round/>
              <a:headEnd type="none" w="med" len="med"/>
              <a:tailEnd type="none" w="med" len="med"/>
            </a:ln>
          </p:spPr>
        </p:sp>
        <p:sp>
          <p:nvSpPr>
            <p:cNvPr id="18444" name="Line 12"/>
            <p:cNvSpPr/>
            <p:nvPr/>
          </p:nvSpPr>
          <p:spPr>
            <a:xfrm flipH="1">
              <a:off x="3669" y="3465"/>
              <a:ext cx="168" cy="414"/>
            </a:xfrm>
            <a:prstGeom prst="line">
              <a:avLst/>
            </a:prstGeom>
            <a:ln w="38100" cap="flat" cmpd="sng">
              <a:solidFill>
                <a:srgbClr val="009900"/>
              </a:solidFill>
              <a:prstDash val="solid"/>
              <a:round/>
              <a:headEnd type="none" w="med" len="med"/>
              <a:tailEnd type="none" w="med" len="med"/>
            </a:ln>
          </p:spPr>
        </p:sp>
        <p:sp>
          <p:nvSpPr>
            <p:cNvPr id="18445" name="Line 13"/>
            <p:cNvSpPr/>
            <p:nvPr/>
          </p:nvSpPr>
          <p:spPr>
            <a:xfrm>
              <a:off x="3275" y="3524"/>
              <a:ext cx="112" cy="355"/>
            </a:xfrm>
            <a:prstGeom prst="line">
              <a:avLst/>
            </a:prstGeom>
            <a:ln w="38100" cap="flat" cmpd="sng">
              <a:solidFill>
                <a:srgbClr val="009900"/>
              </a:solidFill>
              <a:prstDash val="solid"/>
              <a:round/>
              <a:headEnd type="none" w="med" len="med"/>
              <a:tailEnd type="none" w="med" len="med"/>
            </a:ln>
          </p:spPr>
        </p:sp>
        <p:sp>
          <p:nvSpPr>
            <p:cNvPr id="18446" name="Line 14"/>
            <p:cNvSpPr/>
            <p:nvPr/>
          </p:nvSpPr>
          <p:spPr>
            <a:xfrm flipH="1">
              <a:off x="2995" y="3465"/>
              <a:ext cx="224" cy="414"/>
            </a:xfrm>
            <a:prstGeom prst="line">
              <a:avLst/>
            </a:prstGeom>
            <a:ln w="38100" cap="flat" cmpd="sng">
              <a:solidFill>
                <a:srgbClr val="009900"/>
              </a:solidFill>
              <a:prstDash val="solid"/>
              <a:round/>
              <a:headEnd type="none" w="med" len="med"/>
              <a:tailEnd type="none" w="med" len="med"/>
            </a:ln>
          </p:spPr>
        </p:sp>
        <p:sp>
          <p:nvSpPr>
            <p:cNvPr id="18447" name="Line 15"/>
            <p:cNvSpPr/>
            <p:nvPr/>
          </p:nvSpPr>
          <p:spPr>
            <a:xfrm>
              <a:off x="2545" y="3465"/>
              <a:ext cx="112" cy="354"/>
            </a:xfrm>
            <a:prstGeom prst="line">
              <a:avLst/>
            </a:prstGeom>
            <a:ln w="38100" cap="flat" cmpd="sng">
              <a:solidFill>
                <a:srgbClr val="009900"/>
              </a:solidFill>
              <a:prstDash val="solid"/>
              <a:round/>
              <a:headEnd type="none" w="med" len="med"/>
              <a:tailEnd type="none" w="med" len="med"/>
            </a:ln>
          </p:spPr>
        </p:sp>
        <p:sp>
          <p:nvSpPr>
            <p:cNvPr id="18448" name="Line 16"/>
            <p:cNvSpPr/>
            <p:nvPr/>
          </p:nvSpPr>
          <p:spPr>
            <a:xfrm flipH="1">
              <a:off x="2322" y="3465"/>
              <a:ext cx="167" cy="414"/>
            </a:xfrm>
            <a:prstGeom prst="line">
              <a:avLst/>
            </a:prstGeom>
            <a:ln w="38100" cap="flat" cmpd="sng">
              <a:solidFill>
                <a:srgbClr val="009900"/>
              </a:solidFill>
              <a:prstDash val="solid"/>
              <a:round/>
              <a:headEnd type="none" w="med" len="med"/>
              <a:tailEnd type="none" w="med" len="med"/>
            </a:ln>
          </p:spPr>
        </p:sp>
        <p:sp>
          <p:nvSpPr>
            <p:cNvPr id="18449" name="Line 17"/>
            <p:cNvSpPr/>
            <p:nvPr/>
          </p:nvSpPr>
          <p:spPr>
            <a:xfrm>
              <a:off x="1930" y="3524"/>
              <a:ext cx="112" cy="355"/>
            </a:xfrm>
            <a:prstGeom prst="line">
              <a:avLst/>
            </a:prstGeom>
            <a:ln w="38100" cap="flat" cmpd="sng">
              <a:solidFill>
                <a:srgbClr val="009900"/>
              </a:solidFill>
              <a:prstDash val="solid"/>
              <a:round/>
              <a:headEnd type="none" w="med" len="med"/>
              <a:tailEnd type="none" w="med" len="med"/>
            </a:ln>
          </p:spPr>
        </p:sp>
        <p:sp>
          <p:nvSpPr>
            <p:cNvPr id="18450" name="Line 18"/>
            <p:cNvSpPr/>
            <p:nvPr/>
          </p:nvSpPr>
          <p:spPr>
            <a:xfrm flipH="1">
              <a:off x="1648" y="3465"/>
              <a:ext cx="224" cy="414"/>
            </a:xfrm>
            <a:prstGeom prst="line">
              <a:avLst/>
            </a:prstGeom>
            <a:ln w="38100" cap="flat" cmpd="sng">
              <a:solidFill>
                <a:srgbClr val="009900"/>
              </a:solidFill>
              <a:prstDash val="solid"/>
              <a:round/>
              <a:headEnd type="none" w="med" len="med"/>
              <a:tailEnd type="none" w="med" len="med"/>
            </a:ln>
          </p:spPr>
        </p:sp>
        <p:sp>
          <p:nvSpPr>
            <p:cNvPr id="18451" name="Oval 19"/>
            <p:cNvSpPr/>
            <p:nvPr/>
          </p:nvSpPr>
          <p:spPr>
            <a:xfrm>
              <a:off x="1536" y="3760"/>
              <a:ext cx="280"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52" name="Oval 20"/>
            <p:cNvSpPr/>
            <p:nvPr/>
          </p:nvSpPr>
          <p:spPr>
            <a:xfrm>
              <a:off x="1872" y="3760"/>
              <a:ext cx="282"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53" name="Oval 21"/>
            <p:cNvSpPr/>
            <p:nvPr/>
          </p:nvSpPr>
          <p:spPr>
            <a:xfrm>
              <a:off x="2210" y="3760"/>
              <a:ext cx="279"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54" name="Oval 22"/>
            <p:cNvSpPr/>
            <p:nvPr/>
          </p:nvSpPr>
          <p:spPr>
            <a:xfrm>
              <a:off x="2545" y="3760"/>
              <a:ext cx="281"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55" name="Oval 23"/>
            <p:cNvSpPr/>
            <p:nvPr/>
          </p:nvSpPr>
          <p:spPr>
            <a:xfrm>
              <a:off x="2883" y="3760"/>
              <a:ext cx="280"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56" name="Oval 24"/>
            <p:cNvSpPr/>
            <p:nvPr/>
          </p:nvSpPr>
          <p:spPr>
            <a:xfrm>
              <a:off x="3219" y="3760"/>
              <a:ext cx="281"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57" name="Oval 25"/>
            <p:cNvSpPr/>
            <p:nvPr/>
          </p:nvSpPr>
          <p:spPr>
            <a:xfrm>
              <a:off x="3556" y="3760"/>
              <a:ext cx="281"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58" name="Oval 26"/>
            <p:cNvSpPr/>
            <p:nvPr/>
          </p:nvSpPr>
          <p:spPr>
            <a:xfrm>
              <a:off x="3893" y="3760"/>
              <a:ext cx="280"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59" name="Oval 27"/>
            <p:cNvSpPr/>
            <p:nvPr/>
          </p:nvSpPr>
          <p:spPr>
            <a:xfrm>
              <a:off x="1760" y="3286"/>
              <a:ext cx="282"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60" name="Oval 28"/>
            <p:cNvSpPr/>
            <p:nvPr/>
          </p:nvSpPr>
          <p:spPr>
            <a:xfrm>
              <a:off x="2378" y="3286"/>
              <a:ext cx="279"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61" name="Oval 29"/>
            <p:cNvSpPr/>
            <p:nvPr/>
          </p:nvSpPr>
          <p:spPr>
            <a:xfrm>
              <a:off x="3107" y="3286"/>
              <a:ext cx="280"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6</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62" name="Oval 30"/>
            <p:cNvSpPr/>
            <p:nvPr/>
          </p:nvSpPr>
          <p:spPr>
            <a:xfrm>
              <a:off x="3700" y="3286"/>
              <a:ext cx="305"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63" name="Oval 31"/>
            <p:cNvSpPr/>
            <p:nvPr/>
          </p:nvSpPr>
          <p:spPr>
            <a:xfrm>
              <a:off x="2098" y="2814"/>
              <a:ext cx="280"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2</a:t>
              </a:r>
              <a:endParaRPr lang="en-US" altLang="zh-CN" sz="2800" b="1" dirty="0">
                <a:latin typeface="Times New Roman" panose="02020603050405020304" pitchFamily="18" charset="0"/>
                <a:ea typeface="宋体" panose="02010600030101010101" pitchFamily="2" charset="-122"/>
              </a:endParaRPr>
            </a:p>
          </p:txBody>
        </p:sp>
        <p:sp>
          <p:nvSpPr>
            <p:cNvPr id="18464" name="Oval 32"/>
            <p:cNvSpPr/>
            <p:nvPr/>
          </p:nvSpPr>
          <p:spPr>
            <a:xfrm>
              <a:off x="3443" y="2814"/>
              <a:ext cx="282"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8465" name="Oval 33"/>
            <p:cNvSpPr/>
            <p:nvPr/>
          </p:nvSpPr>
          <p:spPr>
            <a:xfrm>
              <a:off x="2770" y="2400"/>
              <a:ext cx="281"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1</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66" name="Rectangle 34"/>
            <p:cNvSpPr/>
            <p:nvPr/>
          </p:nvSpPr>
          <p:spPr>
            <a:xfrm>
              <a:off x="3744" y="3264"/>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7</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67" name="Rectangle 35"/>
            <p:cNvSpPr/>
            <p:nvPr/>
          </p:nvSpPr>
          <p:spPr>
            <a:xfrm>
              <a:off x="2400" y="3264"/>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5</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68" name="Rectangle 36"/>
            <p:cNvSpPr/>
            <p:nvPr/>
          </p:nvSpPr>
          <p:spPr>
            <a:xfrm>
              <a:off x="1776" y="3264"/>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4</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69" name="Rectangle 37"/>
            <p:cNvSpPr/>
            <p:nvPr/>
          </p:nvSpPr>
          <p:spPr>
            <a:xfrm>
              <a:off x="3456" y="2784"/>
              <a:ext cx="240" cy="329"/>
            </a:xfrm>
            <a:prstGeom prst="rect">
              <a:avLst/>
            </a:prstGeom>
            <a:noFill/>
            <a:ln w="9525">
              <a:noFill/>
            </a:ln>
          </p:spPr>
          <p:txBody>
            <a:bodyPr anchor="t" anchorCtr="0">
              <a:spAutoFit/>
            </a:bodyPr>
            <a:p>
              <a:pPr algn="ctr"/>
              <a:r>
                <a:rPr lang="en-US" altLang="zh-CN" sz="2800" b="1" dirty="0">
                  <a:solidFill>
                    <a:srgbClr val="C1C1FF"/>
                  </a:solidFill>
                  <a:latin typeface="Times New Roman" panose="02020603050405020304" pitchFamily="18" charset="0"/>
                  <a:ea typeface="宋体" panose="02010600030101010101" pitchFamily="2" charset="-122"/>
                </a:rPr>
                <a:t>3</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70" name="Rectangle 38"/>
            <p:cNvSpPr/>
            <p:nvPr/>
          </p:nvSpPr>
          <p:spPr>
            <a:xfrm>
              <a:off x="1546" y="3744"/>
              <a:ext cx="2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8</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71" name="Rectangle 39"/>
            <p:cNvSpPr/>
            <p:nvPr/>
          </p:nvSpPr>
          <p:spPr>
            <a:xfrm>
              <a:off x="1873" y="3744"/>
              <a:ext cx="2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9</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72" name="Rectangle 40"/>
            <p:cNvSpPr/>
            <p:nvPr/>
          </p:nvSpPr>
          <p:spPr>
            <a:xfrm>
              <a:off x="2136" y="3744"/>
              <a:ext cx="339"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10</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73" name="Rectangle 41"/>
            <p:cNvSpPr/>
            <p:nvPr/>
          </p:nvSpPr>
          <p:spPr>
            <a:xfrm>
              <a:off x="2529" y="3744"/>
              <a:ext cx="3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11</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74" name="Rectangle 42"/>
            <p:cNvSpPr/>
            <p:nvPr/>
          </p:nvSpPr>
          <p:spPr>
            <a:xfrm>
              <a:off x="3186" y="3744"/>
              <a:ext cx="339"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13</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75" name="Rectangle 43"/>
            <p:cNvSpPr/>
            <p:nvPr/>
          </p:nvSpPr>
          <p:spPr>
            <a:xfrm>
              <a:off x="3513" y="3744"/>
              <a:ext cx="339"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14</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76" name="Rectangle 44"/>
            <p:cNvSpPr/>
            <p:nvPr/>
          </p:nvSpPr>
          <p:spPr>
            <a:xfrm>
              <a:off x="3840" y="3744"/>
              <a:ext cx="339"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15</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8477" name="Rectangle 45"/>
            <p:cNvSpPr/>
            <p:nvPr/>
          </p:nvSpPr>
          <p:spPr>
            <a:xfrm>
              <a:off x="2857" y="3744"/>
              <a:ext cx="339"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12</a:t>
              </a:r>
              <a:endParaRPr lang="en-US" altLang="zh-CN" sz="2800" b="1" dirty="0">
                <a:solidFill>
                  <a:srgbClr val="C1C1FF"/>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0782935" cy="1958975"/>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完全二叉树，只有最下面两层有度数小于2的结点，且最下面一层的叶结点集中在最左边的若干位置上。</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当且仅当每一个结点都与深度相同的满二叉树中编号从1到n的结点一一对应的二叉树，才是完全二叉树，符合以下形态</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结点数为</a:t>
            </a:r>
            <a:r>
              <a:rPr lang="en-US" altLang="zh-CN" dirty="0">
                <a:latin typeface="黑体" panose="02010609060101010101" pitchFamily="2" charset="-122"/>
                <a:ea typeface="黑体" panose="02010609060101010101" pitchFamily="2" charset="-122"/>
                <a:cs typeface="+mn-ea"/>
                <a:sym typeface="+mn-ea"/>
              </a:rPr>
              <a:t>n</a:t>
            </a:r>
            <a:r>
              <a:rPr lang="zh-CN" altLang="en-US" dirty="0">
                <a:latin typeface="黑体" panose="02010609060101010101" pitchFamily="2" charset="-122"/>
                <a:ea typeface="黑体" panose="02010609060101010101" pitchFamily="2" charset="-122"/>
                <a:cs typeface="+mn-ea"/>
                <a:sym typeface="+mn-ea"/>
              </a:rPr>
              <a:t>的完全二叉树是唯一的</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6.2 </a:t>
            </a:r>
            <a:r>
              <a:rPr lang="zh-CN" altLang="en-US">
                <a:latin typeface="楷体" panose="02010609060101010101" charset="-122"/>
                <a:ea typeface="楷体" panose="02010609060101010101" charset="-122"/>
                <a:cs typeface="楷体" panose="02010609060101010101" charset="-122"/>
                <a:sym typeface="+mn-ea"/>
              </a:rPr>
              <a:t>二叉</a:t>
            </a:r>
            <a:r>
              <a:rPr lang="zh-CN" altLang="en-US" dirty="0">
                <a:latin typeface="楷体" panose="02010609060101010101" charset="-122"/>
                <a:ea typeface="楷体" panose="02010609060101010101" charset="-122"/>
                <a:sym typeface="+mn-ea"/>
              </a:rPr>
              <a:t>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7" name="组合 6"/>
          <p:cNvGrpSpPr/>
          <p:nvPr/>
        </p:nvGrpSpPr>
        <p:grpSpPr>
          <a:xfrm>
            <a:off x="1115695" y="3363595"/>
            <a:ext cx="3919220" cy="2655570"/>
            <a:chOff x="845" y="5108"/>
            <a:chExt cx="6172" cy="4182"/>
          </a:xfrm>
        </p:grpSpPr>
        <p:grpSp>
          <p:nvGrpSpPr>
            <p:cNvPr id="19460" name="Group 46"/>
            <p:cNvGrpSpPr/>
            <p:nvPr/>
          </p:nvGrpSpPr>
          <p:grpSpPr>
            <a:xfrm>
              <a:off x="845" y="5108"/>
              <a:ext cx="6172" cy="4183"/>
              <a:chOff x="2688" y="2496"/>
              <a:chExt cx="2469" cy="1673"/>
            </a:xfrm>
          </p:grpSpPr>
          <p:sp>
            <p:nvSpPr>
              <p:cNvPr id="19461" name="Line 47"/>
              <p:cNvSpPr/>
              <p:nvPr/>
            </p:nvSpPr>
            <p:spPr>
              <a:xfrm>
                <a:off x="4147" y="2673"/>
                <a:ext cx="561" cy="355"/>
              </a:xfrm>
              <a:prstGeom prst="line">
                <a:avLst/>
              </a:prstGeom>
              <a:ln w="38100" cap="flat" cmpd="sng">
                <a:solidFill>
                  <a:srgbClr val="009900"/>
                </a:solidFill>
                <a:prstDash val="solid"/>
                <a:round/>
                <a:headEnd type="none" w="med" len="med"/>
                <a:tailEnd type="none" w="med" len="med"/>
              </a:ln>
            </p:spPr>
          </p:sp>
          <p:sp>
            <p:nvSpPr>
              <p:cNvPr id="19462" name="Line 48"/>
              <p:cNvSpPr/>
              <p:nvPr/>
            </p:nvSpPr>
            <p:spPr>
              <a:xfrm flipH="1">
                <a:off x="3418" y="2635"/>
                <a:ext cx="581" cy="393"/>
              </a:xfrm>
              <a:prstGeom prst="line">
                <a:avLst/>
              </a:prstGeom>
              <a:ln w="38100" cap="flat" cmpd="sng">
                <a:solidFill>
                  <a:srgbClr val="009900"/>
                </a:solidFill>
                <a:prstDash val="solid"/>
                <a:round/>
                <a:headEnd type="none" w="med" len="med"/>
                <a:tailEnd type="none" w="med" len="med"/>
              </a:ln>
            </p:spPr>
          </p:sp>
          <p:sp>
            <p:nvSpPr>
              <p:cNvPr id="19463" name="Line 49"/>
              <p:cNvSpPr/>
              <p:nvPr/>
            </p:nvSpPr>
            <p:spPr>
              <a:xfrm>
                <a:off x="4764" y="3148"/>
                <a:ext cx="225" cy="293"/>
              </a:xfrm>
              <a:prstGeom prst="line">
                <a:avLst/>
              </a:prstGeom>
              <a:ln w="38100" cap="flat" cmpd="sng">
                <a:solidFill>
                  <a:srgbClr val="009900"/>
                </a:solidFill>
                <a:prstDash val="solid"/>
                <a:round/>
                <a:headEnd type="none" w="med" len="med"/>
                <a:tailEnd type="none" w="med" len="med"/>
              </a:ln>
            </p:spPr>
          </p:sp>
          <p:sp>
            <p:nvSpPr>
              <p:cNvPr id="19464" name="Line 50"/>
              <p:cNvSpPr/>
              <p:nvPr/>
            </p:nvSpPr>
            <p:spPr>
              <a:xfrm flipH="1">
                <a:off x="4427" y="3087"/>
                <a:ext cx="281" cy="354"/>
              </a:xfrm>
              <a:prstGeom prst="line">
                <a:avLst/>
              </a:prstGeom>
              <a:ln w="38100" cap="flat" cmpd="sng">
                <a:solidFill>
                  <a:srgbClr val="009900"/>
                </a:solidFill>
                <a:prstDash val="solid"/>
                <a:round/>
                <a:headEnd type="none" w="med" len="med"/>
                <a:tailEnd type="none" w="med" len="med"/>
              </a:ln>
            </p:spPr>
          </p:sp>
          <p:sp>
            <p:nvSpPr>
              <p:cNvPr id="19465" name="Line 51"/>
              <p:cNvSpPr/>
              <p:nvPr/>
            </p:nvSpPr>
            <p:spPr>
              <a:xfrm>
                <a:off x="3418" y="3087"/>
                <a:ext cx="223" cy="354"/>
              </a:xfrm>
              <a:prstGeom prst="line">
                <a:avLst/>
              </a:prstGeom>
              <a:ln w="38100" cap="flat" cmpd="sng">
                <a:solidFill>
                  <a:srgbClr val="009900"/>
                </a:solidFill>
                <a:prstDash val="solid"/>
                <a:round/>
                <a:headEnd type="none" w="med" len="med"/>
                <a:tailEnd type="none" w="med" len="med"/>
              </a:ln>
            </p:spPr>
          </p:sp>
          <p:sp>
            <p:nvSpPr>
              <p:cNvPr id="19466" name="Line 52"/>
              <p:cNvSpPr/>
              <p:nvPr/>
            </p:nvSpPr>
            <p:spPr>
              <a:xfrm flipH="1">
                <a:off x="3024" y="3148"/>
                <a:ext cx="282" cy="352"/>
              </a:xfrm>
              <a:prstGeom prst="line">
                <a:avLst/>
              </a:prstGeom>
              <a:ln w="38100" cap="flat" cmpd="sng">
                <a:solidFill>
                  <a:srgbClr val="009900"/>
                </a:solidFill>
                <a:prstDash val="solid"/>
                <a:round/>
                <a:headEnd type="none" w="med" len="med"/>
                <a:tailEnd type="none" w="med" len="med"/>
              </a:ln>
            </p:spPr>
          </p:sp>
          <p:sp>
            <p:nvSpPr>
              <p:cNvPr id="19468" name="Line 54"/>
              <p:cNvSpPr/>
              <p:nvPr/>
            </p:nvSpPr>
            <p:spPr>
              <a:xfrm>
                <a:off x="3697" y="3561"/>
                <a:ext cx="112" cy="354"/>
              </a:xfrm>
              <a:prstGeom prst="line">
                <a:avLst/>
              </a:prstGeom>
              <a:ln w="38100" cap="flat" cmpd="sng">
                <a:solidFill>
                  <a:srgbClr val="009900"/>
                </a:solidFill>
                <a:prstDash val="solid"/>
                <a:round/>
                <a:headEnd type="none" w="med" len="med"/>
                <a:tailEnd type="none" w="med" len="med"/>
              </a:ln>
            </p:spPr>
          </p:sp>
          <p:sp>
            <p:nvSpPr>
              <p:cNvPr id="19469" name="Line 55"/>
              <p:cNvSpPr/>
              <p:nvPr/>
            </p:nvSpPr>
            <p:spPr>
              <a:xfrm flipH="1">
                <a:off x="3474" y="3561"/>
                <a:ext cx="167" cy="414"/>
              </a:xfrm>
              <a:prstGeom prst="line">
                <a:avLst/>
              </a:prstGeom>
              <a:ln w="38100" cap="flat" cmpd="sng">
                <a:solidFill>
                  <a:srgbClr val="009900"/>
                </a:solidFill>
                <a:prstDash val="solid"/>
                <a:round/>
                <a:headEnd type="none" w="med" len="med"/>
                <a:tailEnd type="none" w="med" len="med"/>
              </a:ln>
            </p:spPr>
          </p:sp>
          <p:sp>
            <p:nvSpPr>
              <p:cNvPr id="19470" name="Line 56"/>
              <p:cNvSpPr/>
              <p:nvPr/>
            </p:nvSpPr>
            <p:spPr>
              <a:xfrm>
                <a:off x="3082" y="3620"/>
                <a:ext cx="112" cy="355"/>
              </a:xfrm>
              <a:prstGeom prst="line">
                <a:avLst/>
              </a:prstGeom>
              <a:ln w="38100" cap="flat" cmpd="sng">
                <a:solidFill>
                  <a:srgbClr val="009900"/>
                </a:solidFill>
                <a:prstDash val="solid"/>
                <a:round/>
                <a:headEnd type="none" w="med" len="med"/>
                <a:tailEnd type="none" w="med" len="med"/>
              </a:ln>
            </p:spPr>
          </p:sp>
          <p:sp>
            <p:nvSpPr>
              <p:cNvPr id="19471" name="Line 57"/>
              <p:cNvSpPr/>
              <p:nvPr/>
            </p:nvSpPr>
            <p:spPr>
              <a:xfrm flipH="1">
                <a:off x="2800" y="3561"/>
                <a:ext cx="224" cy="414"/>
              </a:xfrm>
              <a:prstGeom prst="line">
                <a:avLst/>
              </a:prstGeom>
              <a:ln w="38100" cap="flat" cmpd="sng">
                <a:solidFill>
                  <a:srgbClr val="009900"/>
                </a:solidFill>
                <a:prstDash val="solid"/>
                <a:round/>
                <a:headEnd type="none" w="med" len="med"/>
                <a:tailEnd type="none" w="med" len="med"/>
              </a:ln>
            </p:spPr>
          </p:sp>
          <p:sp>
            <p:nvSpPr>
              <p:cNvPr id="19472" name="Oval 58"/>
              <p:cNvSpPr/>
              <p:nvPr/>
            </p:nvSpPr>
            <p:spPr>
              <a:xfrm>
                <a:off x="2688" y="3856"/>
                <a:ext cx="280"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73" name="Oval 59"/>
              <p:cNvSpPr/>
              <p:nvPr/>
            </p:nvSpPr>
            <p:spPr>
              <a:xfrm>
                <a:off x="3024" y="3856"/>
                <a:ext cx="282"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74" name="Oval 60"/>
              <p:cNvSpPr/>
              <p:nvPr/>
            </p:nvSpPr>
            <p:spPr>
              <a:xfrm>
                <a:off x="3362" y="3856"/>
                <a:ext cx="279"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75" name="Oval 61"/>
              <p:cNvSpPr/>
              <p:nvPr/>
            </p:nvSpPr>
            <p:spPr>
              <a:xfrm>
                <a:off x="3697" y="3856"/>
                <a:ext cx="281"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77" name="Oval 63"/>
              <p:cNvSpPr/>
              <p:nvPr/>
            </p:nvSpPr>
            <p:spPr>
              <a:xfrm>
                <a:off x="2912" y="3382"/>
                <a:ext cx="282"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78" name="Oval 64"/>
              <p:cNvSpPr/>
              <p:nvPr/>
            </p:nvSpPr>
            <p:spPr>
              <a:xfrm>
                <a:off x="3530" y="3382"/>
                <a:ext cx="279"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79" name="Oval 65"/>
              <p:cNvSpPr/>
              <p:nvPr/>
            </p:nvSpPr>
            <p:spPr>
              <a:xfrm>
                <a:off x="4259" y="3382"/>
                <a:ext cx="280"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6</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480" name="Oval 66"/>
              <p:cNvSpPr/>
              <p:nvPr/>
            </p:nvSpPr>
            <p:spPr>
              <a:xfrm>
                <a:off x="4852" y="3382"/>
                <a:ext cx="305"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81" name="Oval 67"/>
              <p:cNvSpPr/>
              <p:nvPr/>
            </p:nvSpPr>
            <p:spPr>
              <a:xfrm>
                <a:off x="3250" y="2910"/>
                <a:ext cx="280"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2</a:t>
                </a:r>
                <a:endParaRPr lang="en-US" altLang="zh-CN" sz="2800" b="1" dirty="0">
                  <a:latin typeface="Times New Roman" panose="02020603050405020304" pitchFamily="18" charset="0"/>
                  <a:ea typeface="宋体" panose="02010600030101010101" pitchFamily="2" charset="-122"/>
                </a:endParaRPr>
              </a:p>
            </p:txBody>
          </p:sp>
          <p:sp>
            <p:nvSpPr>
              <p:cNvPr id="19482" name="Oval 68"/>
              <p:cNvSpPr/>
              <p:nvPr/>
            </p:nvSpPr>
            <p:spPr>
              <a:xfrm>
                <a:off x="4595" y="2910"/>
                <a:ext cx="282"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83" name="Oval 69"/>
              <p:cNvSpPr/>
              <p:nvPr/>
            </p:nvSpPr>
            <p:spPr>
              <a:xfrm>
                <a:off x="3922" y="2496"/>
                <a:ext cx="281"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1</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484" name="Rectangle 70"/>
              <p:cNvSpPr/>
              <p:nvPr/>
            </p:nvSpPr>
            <p:spPr>
              <a:xfrm>
                <a:off x="4896" y="3360"/>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7</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485" name="Rectangle 71"/>
              <p:cNvSpPr/>
              <p:nvPr/>
            </p:nvSpPr>
            <p:spPr>
              <a:xfrm>
                <a:off x="3552" y="3360"/>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5</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486" name="Rectangle 72"/>
              <p:cNvSpPr/>
              <p:nvPr/>
            </p:nvSpPr>
            <p:spPr>
              <a:xfrm>
                <a:off x="2928" y="3360"/>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4</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487" name="Rectangle 73"/>
              <p:cNvSpPr/>
              <p:nvPr/>
            </p:nvSpPr>
            <p:spPr>
              <a:xfrm>
                <a:off x="4608" y="2880"/>
                <a:ext cx="240" cy="329"/>
              </a:xfrm>
              <a:prstGeom prst="rect">
                <a:avLst/>
              </a:prstGeom>
              <a:noFill/>
              <a:ln w="9525">
                <a:noFill/>
              </a:ln>
            </p:spPr>
            <p:txBody>
              <a:bodyPr anchor="t" anchorCtr="0">
                <a:spAutoFit/>
              </a:bodyPr>
              <a:p>
                <a:pPr algn="ctr"/>
                <a:r>
                  <a:rPr lang="en-US" altLang="zh-CN" sz="2800" b="1" dirty="0">
                    <a:solidFill>
                      <a:srgbClr val="C1C1FF"/>
                    </a:solidFill>
                    <a:latin typeface="Times New Roman" panose="02020603050405020304" pitchFamily="18" charset="0"/>
                    <a:ea typeface="宋体" panose="02010600030101010101" pitchFamily="2" charset="-122"/>
                  </a:rPr>
                  <a:t>3</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488" name="Rectangle 74"/>
              <p:cNvSpPr/>
              <p:nvPr/>
            </p:nvSpPr>
            <p:spPr>
              <a:xfrm>
                <a:off x="2698" y="3840"/>
                <a:ext cx="2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8</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489" name="Rectangle 75"/>
              <p:cNvSpPr/>
              <p:nvPr/>
            </p:nvSpPr>
            <p:spPr>
              <a:xfrm>
                <a:off x="3025" y="3840"/>
                <a:ext cx="2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9</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490" name="Rectangle 76"/>
              <p:cNvSpPr/>
              <p:nvPr/>
            </p:nvSpPr>
            <p:spPr>
              <a:xfrm>
                <a:off x="3288" y="3840"/>
                <a:ext cx="339"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10</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491" name="Rectangle 77"/>
              <p:cNvSpPr/>
              <p:nvPr/>
            </p:nvSpPr>
            <p:spPr>
              <a:xfrm>
                <a:off x="3681" y="3840"/>
                <a:ext cx="3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11</a:t>
                </a:r>
                <a:endParaRPr lang="en-US" altLang="zh-CN" sz="2800" b="1" dirty="0">
                  <a:solidFill>
                    <a:srgbClr val="C1C1FF"/>
                  </a:solidFill>
                  <a:latin typeface="Times New Roman" panose="02020603050405020304" pitchFamily="18" charset="0"/>
                  <a:ea typeface="宋体" panose="02010600030101010101" pitchFamily="2" charset="-122"/>
                </a:endParaRPr>
              </a:p>
            </p:txBody>
          </p:sp>
        </p:grpSp>
        <p:sp>
          <p:nvSpPr>
            <p:cNvPr id="5" name="文本框 4"/>
            <p:cNvSpPr txBox="1"/>
            <p:nvPr/>
          </p:nvSpPr>
          <p:spPr>
            <a:xfrm>
              <a:off x="4569" y="8610"/>
              <a:ext cx="2448" cy="535"/>
            </a:xfrm>
            <a:prstGeom prst="rect">
              <a:avLst/>
            </a:prstGeom>
          </p:spPr>
          <p:txBody>
            <a:bodyPr vert="horz" wrap="non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是完全二叉树</a:t>
              </a:r>
              <a:endPar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p:txBody>
        </p:sp>
      </p:grpSp>
      <p:grpSp>
        <p:nvGrpSpPr>
          <p:cNvPr id="8" name="组合 7"/>
          <p:cNvGrpSpPr/>
          <p:nvPr/>
        </p:nvGrpSpPr>
        <p:grpSpPr>
          <a:xfrm>
            <a:off x="6593205" y="3352165"/>
            <a:ext cx="4568825" cy="2655570"/>
            <a:chOff x="8342" y="5255"/>
            <a:chExt cx="7195" cy="4182"/>
          </a:xfrm>
        </p:grpSpPr>
        <p:grpSp>
          <p:nvGrpSpPr>
            <p:cNvPr id="19493" name="Group 46"/>
            <p:cNvGrpSpPr/>
            <p:nvPr/>
          </p:nvGrpSpPr>
          <p:grpSpPr>
            <a:xfrm>
              <a:off x="8342" y="5255"/>
              <a:ext cx="6172" cy="4183"/>
              <a:chOff x="2688" y="2496"/>
              <a:chExt cx="2469" cy="1673"/>
            </a:xfrm>
          </p:grpSpPr>
          <p:sp>
            <p:nvSpPr>
              <p:cNvPr id="19494" name="Line 47"/>
              <p:cNvSpPr/>
              <p:nvPr/>
            </p:nvSpPr>
            <p:spPr>
              <a:xfrm>
                <a:off x="4147" y="2673"/>
                <a:ext cx="561" cy="355"/>
              </a:xfrm>
              <a:prstGeom prst="line">
                <a:avLst/>
              </a:prstGeom>
              <a:ln w="38100" cap="flat" cmpd="sng">
                <a:solidFill>
                  <a:srgbClr val="009900"/>
                </a:solidFill>
                <a:prstDash val="solid"/>
                <a:round/>
                <a:headEnd type="none" w="med" len="med"/>
                <a:tailEnd type="none" w="med" len="med"/>
              </a:ln>
            </p:spPr>
          </p:sp>
          <p:sp>
            <p:nvSpPr>
              <p:cNvPr id="19495" name="Line 48"/>
              <p:cNvSpPr/>
              <p:nvPr/>
            </p:nvSpPr>
            <p:spPr>
              <a:xfrm flipH="1">
                <a:off x="3418" y="2635"/>
                <a:ext cx="581" cy="393"/>
              </a:xfrm>
              <a:prstGeom prst="line">
                <a:avLst/>
              </a:prstGeom>
              <a:ln w="38100" cap="flat" cmpd="sng">
                <a:solidFill>
                  <a:srgbClr val="009900"/>
                </a:solidFill>
                <a:prstDash val="solid"/>
                <a:round/>
                <a:headEnd type="none" w="med" len="med"/>
                <a:tailEnd type="none" w="med" len="med"/>
              </a:ln>
            </p:spPr>
          </p:sp>
          <p:sp>
            <p:nvSpPr>
              <p:cNvPr id="19496" name="Line 49"/>
              <p:cNvSpPr/>
              <p:nvPr/>
            </p:nvSpPr>
            <p:spPr>
              <a:xfrm>
                <a:off x="4764" y="3148"/>
                <a:ext cx="225" cy="293"/>
              </a:xfrm>
              <a:prstGeom prst="line">
                <a:avLst/>
              </a:prstGeom>
              <a:ln w="38100" cap="flat" cmpd="sng">
                <a:solidFill>
                  <a:srgbClr val="009900"/>
                </a:solidFill>
                <a:prstDash val="solid"/>
                <a:round/>
                <a:headEnd type="none" w="med" len="med"/>
                <a:tailEnd type="none" w="med" len="med"/>
              </a:ln>
            </p:spPr>
          </p:sp>
          <p:sp>
            <p:nvSpPr>
              <p:cNvPr id="19497" name="Line 50"/>
              <p:cNvSpPr/>
              <p:nvPr/>
            </p:nvSpPr>
            <p:spPr>
              <a:xfrm flipH="1">
                <a:off x="4427" y="3087"/>
                <a:ext cx="281" cy="354"/>
              </a:xfrm>
              <a:prstGeom prst="line">
                <a:avLst/>
              </a:prstGeom>
              <a:ln w="38100" cap="flat" cmpd="sng">
                <a:solidFill>
                  <a:srgbClr val="009900"/>
                </a:solidFill>
                <a:prstDash val="solid"/>
                <a:round/>
                <a:headEnd type="none" w="med" len="med"/>
                <a:tailEnd type="none" w="med" len="med"/>
              </a:ln>
            </p:spPr>
          </p:sp>
          <p:sp>
            <p:nvSpPr>
              <p:cNvPr id="19498" name="Line 51"/>
              <p:cNvSpPr/>
              <p:nvPr/>
            </p:nvSpPr>
            <p:spPr>
              <a:xfrm>
                <a:off x="3418" y="3087"/>
                <a:ext cx="223" cy="354"/>
              </a:xfrm>
              <a:prstGeom prst="line">
                <a:avLst/>
              </a:prstGeom>
              <a:ln w="38100" cap="flat" cmpd="sng">
                <a:solidFill>
                  <a:srgbClr val="009900"/>
                </a:solidFill>
                <a:prstDash val="solid"/>
                <a:round/>
                <a:headEnd type="none" w="med" len="med"/>
                <a:tailEnd type="none" w="med" len="med"/>
              </a:ln>
            </p:spPr>
          </p:sp>
          <p:sp>
            <p:nvSpPr>
              <p:cNvPr id="19499" name="Line 52"/>
              <p:cNvSpPr/>
              <p:nvPr/>
            </p:nvSpPr>
            <p:spPr>
              <a:xfrm flipH="1">
                <a:off x="3024" y="3148"/>
                <a:ext cx="282" cy="352"/>
              </a:xfrm>
              <a:prstGeom prst="line">
                <a:avLst/>
              </a:prstGeom>
              <a:ln w="38100" cap="flat" cmpd="sng">
                <a:solidFill>
                  <a:srgbClr val="009900"/>
                </a:solidFill>
                <a:prstDash val="solid"/>
                <a:round/>
                <a:headEnd type="none" w="med" len="med"/>
                <a:tailEnd type="none" w="med" len="med"/>
              </a:ln>
            </p:spPr>
          </p:sp>
          <p:sp>
            <p:nvSpPr>
              <p:cNvPr id="19500" name="Line 53"/>
              <p:cNvSpPr/>
              <p:nvPr/>
            </p:nvSpPr>
            <p:spPr>
              <a:xfrm flipH="1">
                <a:off x="4147" y="3561"/>
                <a:ext cx="224" cy="414"/>
              </a:xfrm>
              <a:prstGeom prst="line">
                <a:avLst/>
              </a:prstGeom>
              <a:ln w="38100" cap="flat" cmpd="sng">
                <a:solidFill>
                  <a:srgbClr val="009900"/>
                </a:solidFill>
                <a:prstDash val="solid"/>
                <a:round/>
                <a:headEnd type="none" w="med" len="med"/>
                <a:tailEnd type="none" w="med" len="med"/>
              </a:ln>
            </p:spPr>
          </p:sp>
          <p:sp>
            <p:nvSpPr>
              <p:cNvPr id="19501" name="Line 55"/>
              <p:cNvSpPr/>
              <p:nvPr/>
            </p:nvSpPr>
            <p:spPr>
              <a:xfrm flipH="1">
                <a:off x="3474" y="3561"/>
                <a:ext cx="167" cy="414"/>
              </a:xfrm>
              <a:prstGeom prst="line">
                <a:avLst/>
              </a:prstGeom>
              <a:ln w="38100" cap="flat" cmpd="sng">
                <a:solidFill>
                  <a:srgbClr val="009900"/>
                </a:solidFill>
                <a:prstDash val="solid"/>
                <a:round/>
                <a:headEnd type="none" w="med" len="med"/>
                <a:tailEnd type="none" w="med" len="med"/>
              </a:ln>
            </p:spPr>
          </p:sp>
          <p:sp>
            <p:nvSpPr>
              <p:cNvPr id="19502" name="Line 56"/>
              <p:cNvSpPr/>
              <p:nvPr/>
            </p:nvSpPr>
            <p:spPr>
              <a:xfrm>
                <a:off x="3082" y="3620"/>
                <a:ext cx="112" cy="355"/>
              </a:xfrm>
              <a:prstGeom prst="line">
                <a:avLst/>
              </a:prstGeom>
              <a:ln w="38100" cap="flat" cmpd="sng">
                <a:solidFill>
                  <a:srgbClr val="009900"/>
                </a:solidFill>
                <a:prstDash val="solid"/>
                <a:round/>
                <a:headEnd type="none" w="med" len="med"/>
                <a:tailEnd type="none" w="med" len="med"/>
              </a:ln>
            </p:spPr>
          </p:sp>
          <p:sp>
            <p:nvSpPr>
              <p:cNvPr id="19503" name="Line 57"/>
              <p:cNvSpPr/>
              <p:nvPr/>
            </p:nvSpPr>
            <p:spPr>
              <a:xfrm flipH="1">
                <a:off x="2800" y="3561"/>
                <a:ext cx="224" cy="414"/>
              </a:xfrm>
              <a:prstGeom prst="line">
                <a:avLst/>
              </a:prstGeom>
              <a:ln w="38100" cap="flat" cmpd="sng">
                <a:solidFill>
                  <a:srgbClr val="009900"/>
                </a:solidFill>
                <a:prstDash val="solid"/>
                <a:round/>
                <a:headEnd type="none" w="med" len="med"/>
                <a:tailEnd type="none" w="med" len="med"/>
              </a:ln>
            </p:spPr>
          </p:sp>
          <p:sp>
            <p:nvSpPr>
              <p:cNvPr id="19504" name="Oval 58"/>
              <p:cNvSpPr/>
              <p:nvPr/>
            </p:nvSpPr>
            <p:spPr>
              <a:xfrm>
                <a:off x="2688" y="3856"/>
                <a:ext cx="280"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505" name="Oval 59"/>
              <p:cNvSpPr/>
              <p:nvPr/>
            </p:nvSpPr>
            <p:spPr>
              <a:xfrm>
                <a:off x="3024" y="3856"/>
                <a:ext cx="282"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506" name="Oval 60"/>
              <p:cNvSpPr/>
              <p:nvPr/>
            </p:nvSpPr>
            <p:spPr>
              <a:xfrm>
                <a:off x="3362" y="3856"/>
                <a:ext cx="279"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507" name="Oval 62"/>
              <p:cNvSpPr/>
              <p:nvPr/>
            </p:nvSpPr>
            <p:spPr>
              <a:xfrm>
                <a:off x="4035" y="3856"/>
                <a:ext cx="280"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508" name="Oval 63"/>
              <p:cNvSpPr/>
              <p:nvPr/>
            </p:nvSpPr>
            <p:spPr>
              <a:xfrm>
                <a:off x="2912" y="3382"/>
                <a:ext cx="282"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509" name="Oval 64"/>
              <p:cNvSpPr/>
              <p:nvPr/>
            </p:nvSpPr>
            <p:spPr>
              <a:xfrm>
                <a:off x="3530" y="3382"/>
                <a:ext cx="279"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510" name="Oval 65"/>
              <p:cNvSpPr/>
              <p:nvPr/>
            </p:nvSpPr>
            <p:spPr>
              <a:xfrm>
                <a:off x="4259" y="3382"/>
                <a:ext cx="280"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6</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511" name="Oval 66"/>
              <p:cNvSpPr/>
              <p:nvPr/>
            </p:nvSpPr>
            <p:spPr>
              <a:xfrm>
                <a:off x="4852" y="3382"/>
                <a:ext cx="305"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512" name="Oval 67"/>
              <p:cNvSpPr/>
              <p:nvPr/>
            </p:nvSpPr>
            <p:spPr>
              <a:xfrm>
                <a:off x="3250" y="2910"/>
                <a:ext cx="280"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2</a:t>
                </a:r>
                <a:endParaRPr lang="en-US" altLang="zh-CN" sz="2800" b="1" dirty="0">
                  <a:latin typeface="Times New Roman" panose="02020603050405020304" pitchFamily="18" charset="0"/>
                  <a:ea typeface="宋体" panose="02010600030101010101" pitchFamily="2" charset="-122"/>
                </a:endParaRPr>
              </a:p>
            </p:txBody>
          </p:sp>
          <p:sp>
            <p:nvSpPr>
              <p:cNvPr id="19513" name="Oval 68"/>
              <p:cNvSpPr/>
              <p:nvPr/>
            </p:nvSpPr>
            <p:spPr>
              <a:xfrm>
                <a:off x="4595" y="2910"/>
                <a:ext cx="282"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514" name="Oval 69"/>
              <p:cNvSpPr/>
              <p:nvPr/>
            </p:nvSpPr>
            <p:spPr>
              <a:xfrm>
                <a:off x="3922" y="2496"/>
                <a:ext cx="281"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1</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515" name="Rectangle 70"/>
              <p:cNvSpPr/>
              <p:nvPr/>
            </p:nvSpPr>
            <p:spPr>
              <a:xfrm>
                <a:off x="4896" y="3360"/>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7</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516" name="Rectangle 71"/>
              <p:cNvSpPr/>
              <p:nvPr/>
            </p:nvSpPr>
            <p:spPr>
              <a:xfrm>
                <a:off x="3552" y="3360"/>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5</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517" name="Rectangle 72"/>
              <p:cNvSpPr/>
              <p:nvPr/>
            </p:nvSpPr>
            <p:spPr>
              <a:xfrm>
                <a:off x="2928" y="3360"/>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4</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518" name="Rectangle 73"/>
              <p:cNvSpPr/>
              <p:nvPr/>
            </p:nvSpPr>
            <p:spPr>
              <a:xfrm>
                <a:off x="4608" y="2880"/>
                <a:ext cx="240" cy="329"/>
              </a:xfrm>
              <a:prstGeom prst="rect">
                <a:avLst/>
              </a:prstGeom>
              <a:noFill/>
              <a:ln w="9525">
                <a:noFill/>
              </a:ln>
            </p:spPr>
            <p:txBody>
              <a:bodyPr anchor="t" anchorCtr="0">
                <a:spAutoFit/>
              </a:bodyPr>
              <a:p>
                <a:pPr algn="ctr"/>
                <a:r>
                  <a:rPr lang="en-US" altLang="zh-CN" sz="2800" b="1" dirty="0">
                    <a:solidFill>
                      <a:srgbClr val="C1C1FF"/>
                    </a:solidFill>
                    <a:latin typeface="Times New Roman" panose="02020603050405020304" pitchFamily="18" charset="0"/>
                    <a:ea typeface="宋体" panose="02010600030101010101" pitchFamily="2" charset="-122"/>
                  </a:rPr>
                  <a:t>3</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519" name="Rectangle 74"/>
              <p:cNvSpPr/>
              <p:nvPr/>
            </p:nvSpPr>
            <p:spPr>
              <a:xfrm>
                <a:off x="2698" y="3840"/>
                <a:ext cx="2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8</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520" name="Rectangle 75"/>
              <p:cNvSpPr/>
              <p:nvPr/>
            </p:nvSpPr>
            <p:spPr>
              <a:xfrm>
                <a:off x="3025" y="3840"/>
                <a:ext cx="2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9</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521" name="Rectangle 76"/>
              <p:cNvSpPr/>
              <p:nvPr/>
            </p:nvSpPr>
            <p:spPr>
              <a:xfrm>
                <a:off x="3288" y="3840"/>
                <a:ext cx="339"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10</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19522" name="Rectangle 78"/>
              <p:cNvSpPr/>
              <p:nvPr/>
            </p:nvSpPr>
            <p:spPr>
              <a:xfrm>
                <a:off x="4009" y="3840"/>
                <a:ext cx="3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11</a:t>
                </a:r>
                <a:endParaRPr lang="en-US" altLang="zh-CN" sz="2800" b="1" dirty="0">
                  <a:solidFill>
                    <a:srgbClr val="C1C1FF"/>
                  </a:solidFill>
                  <a:latin typeface="Times New Roman" panose="02020603050405020304" pitchFamily="18" charset="0"/>
                  <a:ea typeface="宋体" panose="02010600030101010101" pitchFamily="2" charset="-122"/>
                </a:endParaRPr>
              </a:p>
            </p:txBody>
          </p:sp>
        </p:grpSp>
        <p:sp>
          <p:nvSpPr>
            <p:cNvPr id="6" name="文本框 5"/>
            <p:cNvSpPr txBox="1"/>
            <p:nvPr/>
          </p:nvSpPr>
          <p:spPr>
            <a:xfrm>
              <a:off x="12729" y="8860"/>
              <a:ext cx="2808" cy="535"/>
            </a:xfrm>
            <a:prstGeom prst="rect">
              <a:avLst/>
            </a:prstGeom>
          </p:spPr>
          <p:txBody>
            <a:bodyPr vert="horz" wrap="non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不是完全二叉树</a:t>
              </a:r>
              <a:endPar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0782935" cy="1958975"/>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二叉树性质4：具有n个结点的完全二叉树,其深度为log</a:t>
            </a:r>
            <a:r>
              <a:rPr lang="zh-CN" altLang="en-US" sz="2800" baseline="-250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n +1</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二叉树性质5：在完全二叉树中，根结点从</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开始，二叉树从</a:t>
            </a:r>
            <a:r>
              <a:rPr lang="zh-CN" altLang="en-US" sz="2800" dirty="0">
                <a:latin typeface="黑体" panose="02010609060101010101" pitchFamily="2" charset="-122"/>
                <a:ea typeface="黑体" panose="02010609060101010101" pitchFamily="2" charset="-122"/>
                <a:cs typeface="+mn-ea"/>
                <a:sym typeface="+mn-ea"/>
              </a:rPr>
              <a:t>自上而下、自左至右连续编号，</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结点i的双亲为i/2，结点i的左孩子LCHILD(i)=2i，结点i的右孩子RCHILD(i)=2i+1</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kumimoji="0" lang="zh-CN" altLang="en-US" sz="233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kumimoji="0" lang="zh-CN" altLang="en-US" sz="233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r>
              <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rPr>
              <a:t>结点</a:t>
            </a:r>
            <a:r>
              <a:rPr kumimoji="0" lang="en-US" altLang="zh-CN"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rPr>
              <a:t>5</a:t>
            </a:r>
            <a:r>
              <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rPr>
              <a:t>的双亲为</a:t>
            </a:r>
            <a:r>
              <a:rPr kumimoji="0" lang="en-US" altLang="zh-CN"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rPr>
              <a:t>2</a:t>
            </a:r>
            <a:r>
              <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rPr>
              <a:t>，左孩子为</a:t>
            </a:r>
            <a:r>
              <a:rPr kumimoji="0" lang="en-US" altLang="zh-CN"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rPr>
              <a:t>10</a:t>
            </a:r>
            <a:r>
              <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rPr>
              <a:t>，右孩子为</a:t>
            </a:r>
            <a:r>
              <a:rPr kumimoji="0" lang="en-US" altLang="zh-CN"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rPr>
              <a:t>11</a:t>
            </a:r>
            <a:endParaRPr kumimoji="0" lang="en-US" altLang="zh-CN"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kumimoji="0" lang="zh-CN" altLang="en-US" sz="233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6.2 </a:t>
            </a:r>
            <a:r>
              <a:rPr lang="zh-CN" altLang="en-US">
                <a:latin typeface="楷体" panose="02010609060101010101" charset="-122"/>
                <a:ea typeface="楷体" panose="02010609060101010101" charset="-122"/>
                <a:cs typeface="楷体" panose="02010609060101010101" charset="-122"/>
                <a:sym typeface="+mn-ea"/>
              </a:rPr>
              <a:t>二叉</a:t>
            </a:r>
            <a:r>
              <a:rPr lang="zh-CN" altLang="en-US" dirty="0">
                <a:latin typeface="楷体" panose="02010609060101010101" charset="-122"/>
                <a:ea typeface="楷体" panose="02010609060101010101" charset="-122"/>
                <a:sym typeface="+mn-ea"/>
              </a:rPr>
              <a:t>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9" name="组合 8"/>
          <p:cNvGrpSpPr/>
          <p:nvPr/>
        </p:nvGrpSpPr>
        <p:grpSpPr>
          <a:xfrm>
            <a:off x="6456045" y="3284855"/>
            <a:ext cx="3919220" cy="2655570"/>
            <a:chOff x="845" y="5108"/>
            <a:chExt cx="6172" cy="4182"/>
          </a:xfrm>
        </p:grpSpPr>
        <p:grpSp>
          <p:nvGrpSpPr>
            <p:cNvPr id="10" name="Group 46"/>
            <p:cNvGrpSpPr/>
            <p:nvPr/>
          </p:nvGrpSpPr>
          <p:grpSpPr>
            <a:xfrm>
              <a:off x="845" y="5108"/>
              <a:ext cx="6172" cy="4183"/>
              <a:chOff x="2688" y="2496"/>
              <a:chExt cx="2469" cy="1673"/>
            </a:xfrm>
          </p:grpSpPr>
          <p:sp>
            <p:nvSpPr>
              <p:cNvPr id="11" name="Line 47"/>
              <p:cNvSpPr/>
              <p:nvPr/>
            </p:nvSpPr>
            <p:spPr>
              <a:xfrm>
                <a:off x="4147" y="2673"/>
                <a:ext cx="561" cy="355"/>
              </a:xfrm>
              <a:prstGeom prst="line">
                <a:avLst/>
              </a:prstGeom>
              <a:ln w="38100" cap="flat" cmpd="sng">
                <a:solidFill>
                  <a:srgbClr val="009900"/>
                </a:solidFill>
                <a:prstDash val="solid"/>
                <a:round/>
                <a:headEnd type="none" w="med" len="med"/>
                <a:tailEnd type="none" w="med" len="med"/>
              </a:ln>
            </p:spPr>
          </p:sp>
          <p:sp>
            <p:nvSpPr>
              <p:cNvPr id="12" name="Line 48"/>
              <p:cNvSpPr/>
              <p:nvPr/>
            </p:nvSpPr>
            <p:spPr>
              <a:xfrm flipH="1">
                <a:off x="3418" y="2635"/>
                <a:ext cx="581" cy="393"/>
              </a:xfrm>
              <a:prstGeom prst="line">
                <a:avLst/>
              </a:prstGeom>
              <a:ln w="38100" cap="flat" cmpd="sng">
                <a:solidFill>
                  <a:srgbClr val="009900"/>
                </a:solidFill>
                <a:prstDash val="solid"/>
                <a:round/>
                <a:headEnd type="none" w="med" len="med"/>
                <a:tailEnd type="none" w="med" len="med"/>
              </a:ln>
            </p:spPr>
          </p:sp>
          <p:sp>
            <p:nvSpPr>
              <p:cNvPr id="13" name="Line 49"/>
              <p:cNvSpPr/>
              <p:nvPr/>
            </p:nvSpPr>
            <p:spPr>
              <a:xfrm>
                <a:off x="4764" y="3148"/>
                <a:ext cx="225" cy="293"/>
              </a:xfrm>
              <a:prstGeom prst="line">
                <a:avLst/>
              </a:prstGeom>
              <a:ln w="38100" cap="flat" cmpd="sng">
                <a:solidFill>
                  <a:srgbClr val="009900"/>
                </a:solidFill>
                <a:prstDash val="solid"/>
                <a:round/>
                <a:headEnd type="none" w="med" len="med"/>
                <a:tailEnd type="none" w="med" len="med"/>
              </a:ln>
            </p:spPr>
          </p:sp>
          <p:sp>
            <p:nvSpPr>
              <p:cNvPr id="14" name="Line 50"/>
              <p:cNvSpPr/>
              <p:nvPr/>
            </p:nvSpPr>
            <p:spPr>
              <a:xfrm flipH="1">
                <a:off x="4427" y="3087"/>
                <a:ext cx="281" cy="354"/>
              </a:xfrm>
              <a:prstGeom prst="line">
                <a:avLst/>
              </a:prstGeom>
              <a:ln w="38100" cap="flat" cmpd="sng">
                <a:solidFill>
                  <a:srgbClr val="009900"/>
                </a:solidFill>
                <a:prstDash val="solid"/>
                <a:round/>
                <a:headEnd type="none" w="med" len="med"/>
                <a:tailEnd type="none" w="med" len="med"/>
              </a:ln>
            </p:spPr>
          </p:sp>
          <p:sp>
            <p:nvSpPr>
              <p:cNvPr id="15" name="Line 51"/>
              <p:cNvSpPr/>
              <p:nvPr/>
            </p:nvSpPr>
            <p:spPr>
              <a:xfrm>
                <a:off x="3418" y="3087"/>
                <a:ext cx="223" cy="354"/>
              </a:xfrm>
              <a:prstGeom prst="line">
                <a:avLst/>
              </a:prstGeom>
              <a:ln w="38100" cap="flat" cmpd="sng">
                <a:solidFill>
                  <a:srgbClr val="009900"/>
                </a:solidFill>
                <a:prstDash val="solid"/>
                <a:round/>
                <a:headEnd type="none" w="med" len="med"/>
                <a:tailEnd type="none" w="med" len="med"/>
              </a:ln>
            </p:spPr>
          </p:sp>
          <p:sp>
            <p:nvSpPr>
              <p:cNvPr id="16" name="Line 52"/>
              <p:cNvSpPr/>
              <p:nvPr/>
            </p:nvSpPr>
            <p:spPr>
              <a:xfrm flipH="1">
                <a:off x="3024" y="3148"/>
                <a:ext cx="282" cy="352"/>
              </a:xfrm>
              <a:prstGeom prst="line">
                <a:avLst/>
              </a:prstGeom>
              <a:ln w="38100" cap="flat" cmpd="sng">
                <a:solidFill>
                  <a:srgbClr val="009900"/>
                </a:solidFill>
                <a:prstDash val="solid"/>
                <a:round/>
                <a:headEnd type="none" w="med" len="med"/>
                <a:tailEnd type="none" w="med" len="med"/>
              </a:ln>
            </p:spPr>
          </p:sp>
          <p:sp>
            <p:nvSpPr>
              <p:cNvPr id="17" name="Line 54"/>
              <p:cNvSpPr/>
              <p:nvPr/>
            </p:nvSpPr>
            <p:spPr>
              <a:xfrm>
                <a:off x="3697" y="3561"/>
                <a:ext cx="112" cy="354"/>
              </a:xfrm>
              <a:prstGeom prst="line">
                <a:avLst/>
              </a:prstGeom>
              <a:ln w="38100" cap="flat" cmpd="sng">
                <a:solidFill>
                  <a:srgbClr val="009900"/>
                </a:solidFill>
                <a:prstDash val="solid"/>
                <a:round/>
                <a:headEnd type="none" w="med" len="med"/>
                <a:tailEnd type="none" w="med" len="med"/>
              </a:ln>
            </p:spPr>
          </p:sp>
          <p:sp>
            <p:nvSpPr>
              <p:cNvPr id="18" name="Line 55"/>
              <p:cNvSpPr/>
              <p:nvPr/>
            </p:nvSpPr>
            <p:spPr>
              <a:xfrm flipH="1">
                <a:off x="3474" y="3561"/>
                <a:ext cx="167" cy="414"/>
              </a:xfrm>
              <a:prstGeom prst="line">
                <a:avLst/>
              </a:prstGeom>
              <a:ln w="38100" cap="flat" cmpd="sng">
                <a:solidFill>
                  <a:srgbClr val="009900"/>
                </a:solidFill>
                <a:prstDash val="solid"/>
                <a:round/>
                <a:headEnd type="none" w="med" len="med"/>
                <a:tailEnd type="none" w="med" len="med"/>
              </a:ln>
            </p:spPr>
          </p:sp>
          <p:sp>
            <p:nvSpPr>
              <p:cNvPr id="19" name="Line 56"/>
              <p:cNvSpPr/>
              <p:nvPr/>
            </p:nvSpPr>
            <p:spPr>
              <a:xfrm>
                <a:off x="3082" y="3620"/>
                <a:ext cx="112" cy="355"/>
              </a:xfrm>
              <a:prstGeom prst="line">
                <a:avLst/>
              </a:prstGeom>
              <a:ln w="38100" cap="flat" cmpd="sng">
                <a:solidFill>
                  <a:srgbClr val="009900"/>
                </a:solidFill>
                <a:prstDash val="solid"/>
                <a:round/>
                <a:headEnd type="none" w="med" len="med"/>
                <a:tailEnd type="none" w="med" len="med"/>
              </a:ln>
            </p:spPr>
          </p:sp>
          <p:sp>
            <p:nvSpPr>
              <p:cNvPr id="20" name="Line 57"/>
              <p:cNvSpPr/>
              <p:nvPr/>
            </p:nvSpPr>
            <p:spPr>
              <a:xfrm flipH="1">
                <a:off x="2800" y="3561"/>
                <a:ext cx="224" cy="414"/>
              </a:xfrm>
              <a:prstGeom prst="line">
                <a:avLst/>
              </a:prstGeom>
              <a:ln w="38100" cap="flat" cmpd="sng">
                <a:solidFill>
                  <a:srgbClr val="009900"/>
                </a:solidFill>
                <a:prstDash val="solid"/>
                <a:round/>
                <a:headEnd type="none" w="med" len="med"/>
                <a:tailEnd type="none" w="med" len="med"/>
              </a:ln>
            </p:spPr>
          </p:sp>
          <p:sp>
            <p:nvSpPr>
              <p:cNvPr id="21" name="Oval 58"/>
              <p:cNvSpPr/>
              <p:nvPr/>
            </p:nvSpPr>
            <p:spPr>
              <a:xfrm>
                <a:off x="2688" y="3856"/>
                <a:ext cx="280"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2" name="Oval 59"/>
              <p:cNvSpPr/>
              <p:nvPr/>
            </p:nvSpPr>
            <p:spPr>
              <a:xfrm>
                <a:off x="3024" y="3856"/>
                <a:ext cx="282"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3" name="Oval 60"/>
              <p:cNvSpPr/>
              <p:nvPr/>
            </p:nvSpPr>
            <p:spPr>
              <a:xfrm>
                <a:off x="3362" y="3856"/>
                <a:ext cx="279"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4" name="Oval 61"/>
              <p:cNvSpPr/>
              <p:nvPr/>
            </p:nvSpPr>
            <p:spPr>
              <a:xfrm>
                <a:off x="3697" y="3856"/>
                <a:ext cx="281"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 name="Oval 63"/>
              <p:cNvSpPr/>
              <p:nvPr/>
            </p:nvSpPr>
            <p:spPr>
              <a:xfrm>
                <a:off x="2912" y="3382"/>
                <a:ext cx="282"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6" name="Oval 64"/>
              <p:cNvSpPr/>
              <p:nvPr/>
            </p:nvSpPr>
            <p:spPr>
              <a:xfrm>
                <a:off x="3530" y="3382"/>
                <a:ext cx="279"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7" name="Oval 65"/>
              <p:cNvSpPr/>
              <p:nvPr/>
            </p:nvSpPr>
            <p:spPr>
              <a:xfrm>
                <a:off x="4259" y="3382"/>
                <a:ext cx="280"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6</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28" name="Oval 66"/>
              <p:cNvSpPr/>
              <p:nvPr/>
            </p:nvSpPr>
            <p:spPr>
              <a:xfrm>
                <a:off x="4852" y="3382"/>
                <a:ext cx="305"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9" name="Oval 67"/>
              <p:cNvSpPr/>
              <p:nvPr/>
            </p:nvSpPr>
            <p:spPr>
              <a:xfrm>
                <a:off x="3250" y="2910"/>
                <a:ext cx="280"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2</a:t>
                </a:r>
                <a:endParaRPr lang="en-US" altLang="zh-CN" sz="2800" b="1" dirty="0">
                  <a:latin typeface="Times New Roman" panose="02020603050405020304" pitchFamily="18" charset="0"/>
                  <a:ea typeface="宋体" panose="02010600030101010101" pitchFamily="2" charset="-122"/>
                </a:endParaRPr>
              </a:p>
            </p:txBody>
          </p:sp>
          <p:sp>
            <p:nvSpPr>
              <p:cNvPr id="30" name="Oval 68"/>
              <p:cNvSpPr/>
              <p:nvPr/>
            </p:nvSpPr>
            <p:spPr>
              <a:xfrm>
                <a:off x="4595" y="2910"/>
                <a:ext cx="282" cy="297"/>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1" name="Oval 69"/>
              <p:cNvSpPr/>
              <p:nvPr/>
            </p:nvSpPr>
            <p:spPr>
              <a:xfrm>
                <a:off x="3922" y="2496"/>
                <a:ext cx="281" cy="296"/>
              </a:xfrm>
              <a:prstGeom prst="ellipse">
                <a:avLst/>
              </a:prstGeom>
              <a:gradFill rotWithShape="0">
                <a:gsLst>
                  <a:gs pos="0">
                    <a:srgbClr val="FF6600"/>
                  </a:gs>
                  <a:gs pos="100000">
                    <a:srgbClr val="762F00"/>
                  </a:gs>
                </a:gsLst>
                <a:lin ang="2700000" scaled="1"/>
                <a:tileRect/>
              </a:gradFill>
              <a:ln w="38100">
                <a:noFill/>
              </a:ln>
            </p:spPr>
            <p:txBody>
              <a:bodyPr wrap="none" anchor="ctr" anchorCtr="0"/>
              <a:p>
                <a:pPr algn="ctr"/>
                <a:r>
                  <a:rPr lang="en-US" altLang="zh-CN" sz="2800" b="1" dirty="0">
                    <a:solidFill>
                      <a:srgbClr val="C1C1FF"/>
                    </a:solidFill>
                    <a:latin typeface="Times New Roman" panose="02020603050405020304" pitchFamily="18" charset="0"/>
                    <a:ea typeface="宋体" panose="02010600030101010101" pitchFamily="2" charset="-122"/>
                  </a:rPr>
                  <a:t>1</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32" name="Rectangle 70"/>
              <p:cNvSpPr/>
              <p:nvPr/>
            </p:nvSpPr>
            <p:spPr>
              <a:xfrm>
                <a:off x="4896" y="3360"/>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7</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33" name="Rectangle 71"/>
              <p:cNvSpPr/>
              <p:nvPr/>
            </p:nvSpPr>
            <p:spPr>
              <a:xfrm>
                <a:off x="3552" y="3360"/>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5</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34" name="Rectangle 72"/>
              <p:cNvSpPr/>
              <p:nvPr/>
            </p:nvSpPr>
            <p:spPr>
              <a:xfrm>
                <a:off x="2928" y="3360"/>
                <a:ext cx="228" cy="329"/>
              </a:xfrm>
              <a:prstGeom prst="rect">
                <a:avLst/>
              </a:prstGeom>
              <a:noFill/>
              <a:ln w="9525">
                <a:noFill/>
              </a:ln>
            </p:spPr>
            <p:txBody>
              <a:bodyPr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4</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35" name="Rectangle 73"/>
              <p:cNvSpPr/>
              <p:nvPr/>
            </p:nvSpPr>
            <p:spPr>
              <a:xfrm>
                <a:off x="4608" y="2880"/>
                <a:ext cx="240" cy="329"/>
              </a:xfrm>
              <a:prstGeom prst="rect">
                <a:avLst/>
              </a:prstGeom>
              <a:noFill/>
              <a:ln w="9525">
                <a:noFill/>
              </a:ln>
            </p:spPr>
            <p:txBody>
              <a:bodyPr anchor="t" anchorCtr="0">
                <a:spAutoFit/>
              </a:bodyPr>
              <a:p>
                <a:pPr algn="ctr"/>
                <a:r>
                  <a:rPr lang="en-US" altLang="zh-CN" sz="2800" b="1" dirty="0">
                    <a:solidFill>
                      <a:srgbClr val="C1C1FF"/>
                    </a:solidFill>
                    <a:latin typeface="Times New Roman" panose="02020603050405020304" pitchFamily="18" charset="0"/>
                    <a:ea typeface="宋体" panose="02010600030101010101" pitchFamily="2" charset="-122"/>
                  </a:rPr>
                  <a:t>3</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36" name="Rectangle 74"/>
              <p:cNvSpPr/>
              <p:nvPr/>
            </p:nvSpPr>
            <p:spPr>
              <a:xfrm>
                <a:off x="2698" y="3840"/>
                <a:ext cx="2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8</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37" name="Rectangle 75"/>
              <p:cNvSpPr/>
              <p:nvPr/>
            </p:nvSpPr>
            <p:spPr>
              <a:xfrm>
                <a:off x="3025" y="3840"/>
                <a:ext cx="2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9</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38" name="Rectangle 76"/>
              <p:cNvSpPr/>
              <p:nvPr/>
            </p:nvSpPr>
            <p:spPr>
              <a:xfrm>
                <a:off x="3288" y="3840"/>
                <a:ext cx="339"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10</a:t>
                </a:r>
                <a:endParaRPr lang="en-US" altLang="zh-CN" sz="2800" b="1" dirty="0">
                  <a:solidFill>
                    <a:srgbClr val="C1C1FF"/>
                  </a:solidFill>
                  <a:latin typeface="Times New Roman" panose="02020603050405020304" pitchFamily="18" charset="0"/>
                  <a:ea typeface="宋体" panose="02010600030101010101" pitchFamily="2" charset="-122"/>
                </a:endParaRPr>
              </a:p>
            </p:txBody>
          </p:sp>
          <p:sp>
            <p:nvSpPr>
              <p:cNvPr id="39" name="Rectangle 77"/>
              <p:cNvSpPr/>
              <p:nvPr/>
            </p:nvSpPr>
            <p:spPr>
              <a:xfrm>
                <a:off x="3681" y="3840"/>
                <a:ext cx="327" cy="329"/>
              </a:xfrm>
              <a:prstGeom prst="rect">
                <a:avLst/>
              </a:prstGeom>
              <a:noFill/>
              <a:ln w="9525">
                <a:noFill/>
              </a:ln>
            </p:spPr>
            <p:txBody>
              <a:bodyPr wrap="none" anchor="t" anchorCtr="0">
                <a:spAutoFit/>
              </a:bodyPr>
              <a:p>
                <a:r>
                  <a:rPr lang="en-US" altLang="zh-CN" sz="2800" b="1" dirty="0">
                    <a:solidFill>
                      <a:srgbClr val="C1C1FF"/>
                    </a:solidFill>
                    <a:latin typeface="Times New Roman" panose="02020603050405020304" pitchFamily="18" charset="0"/>
                    <a:ea typeface="宋体" panose="02010600030101010101" pitchFamily="2" charset="-122"/>
                  </a:rPr>
                  <a:t>11</a:t>
                </a:r>
                <a:endParaRPr lang="en-US" altLang="zh-CN" sz="2800" b="1" dirty="0">
                  <a:solidFill>
                    <a:srgbClr val="C1C1FF"/>
                  </a:solidFill>
                  <a:latin typeface="Times New Roman" panose="02020603050405020304" pitchFamily="18" charset="0"/>
                  <a:ea typeface="宋体" panose="02010600030101010101" pitchFamily="2" charset="-122"/>
                </a:endParaRPr>
              </a:p>
            </p:txBody>
          </p:sp>
        </p:grpSp>
        <p:sp>
          <p:nvSpPr>
            <p:cNvPr id="40" name="文本框 39"/>
            <p:cNvSpPr txBox="1"/>
            <p:nvPr/>
          </p:nvSpPr>
          <p:spPr>
            <a:xfrm>
              <a:off x="4569" y="8610"/>
              <a:ext cx="2448" cy="535"/>
            </a:xfrm>
            <a:prstGeom prst="rect">
              <a:avLst/>
            </a:prstGeom>
          </p:spPr>
          <p:txBody>
            <a:bodyPr vert="horz" wrap="non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是完全二叉树</a:t>
              </a:r>
              <a:endPar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0782935" cy="1958975"/>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补充：二叉树形态数量问题属于树的计数问题，第</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6.8</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节有介绍</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课本</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P154</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公式</a:t>
            </a:r>
            <a:endParaRPr lang="en-US"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个结点的不同二叉树形态有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种</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例如</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4</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个结点的二叉树有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14</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种形态</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=C</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mn-ea"/>
              </a:rPr>
              <a:t>8</a:t>
            </a:r>
            <a:r>
              <a:rPr lang="en-US" altLang="zh-CN" sz="2800" baseline="30000" dirty="0">
                <a:latin typeface="黑体" panose="02010609060101010101" pitchFamily="2" charset="-122"/>
                <a:ea typeface="黑体" panose="02010609060101010101" pitchFamily="2" charset="-122"/>
                <a:cs typeface="黑体" panose="02010609060101010101" pitchFamily="2" charset="-122"/>
                <a:sym typeface="+mn-ea"/>
              </a:rPr>
              <a:t>4</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/5=8</a:t>
            </a:r>
            <a:r>
              <a:rPr lang="en-US" altLang="zh-CN" sz="2800" dirty="0">
                <a:latin typeface="Arial" panose="020B0604020202020204" pitchFamily="34" charset="0"/>
                <a:ea typeface="黑体" panose="02010609060101010101" pitchFamily="2" charset="-122"/>
                <a:cs typeface="黑体" panose="02010609060101010101" pitchFamily="2" charset="-122"/>
                <a:sym typeface="+mn-ea"/>
              </a:rPr>
              <a:t>×7×6×5/ (4!×5)</a:t>
            </a:r>
            <a:endParaRPr lang="zh-CN" altLang="en-US" sz="2800" dirty="0">
              <a:latin typeface="Arial" panose="020B0604020202020204" pitchFamily="34" charset="0"/>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6.2 </a:t>
            </a:r>
            <a:r>
              <a:rPr lang="zh-CN" altLang="en-US">
                <a:latin typeface="楷体" panose="02010609060101010101" charset="-122"/>
                <a:ea typeface="楷体" panose="02010609060101010101" charset="-122"/>
                <a:cs typeface="楷体" panose="02010609060101010101" charset="-122"/>
                <a:sym typeface="+mn-ea"/>
              </a:rPr>
              <a:t>二叉</a:t>
            </a:r>
            <a:r>
              <a:rPr lang="zh-CN" altLang="en-US" dirty="0">
                <a:latin typeface="楷体" panose="02010609060101010101" charset="-122"/>
                <a:ea typeface="楷体" panose="02010609060101010101" charset="-122"/>
                <a:sym typeface="+mn-ea"/>
              </a:rPr>
              <a:t>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5591810" y="1556385"/>
            <a:ext cx="1475740" cy="8826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R="0" algn="l" defTabSz="1219200" rtl="0" eaLnBrk="1" fontAlgn="base" latinLnBrk="0"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已知一颗完全二叉树第7层有20个结点，则整棵树的结点数</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algn="l" defTabSz="1219200" rtl="0" eaLnBrk="1" fontAlgn="base" latinLnBrk="0" hangingPunct="1">
              <a:lnSpc>
                <a:spcPct val="100000"/>
              </a:lnSpc>
              <a:spcBef>
                <a:spcPct val="20000"/>
              </a:spcBef>
              <a:buClrTx/>
              <a:buSzTx/>
              <a:buChar char="l"/>
            </a:pP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algn="l" defTabSz="1219200" rtl="0" eaLnBrk="1" fontAlgn="base" latinLnBrk="0"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已知一棵完全二叉树有100个结点，根结点编号为1，按层次遍历编号，则结点45的双亲编号为？结点50的孩子编号情况如何？？</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一棵完全</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二叉树有18个结点，若</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根结点编号为1，按层次遍历编号，</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请画出该二叉树形态，求叶子数量</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二叉树是逻辑结构，它的存储结构有</a:t>
            </a:r>
            <a:endParaRPr lang="zh-CN" altLang="en-US" sz="2800" dirty="0">
              <a:latin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顺序存储</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rPr>
              <a:t>二叉链表</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rPr>
              <a:t>三叉链表</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rPr>
              <a:t>二维数组（赫夫曼树应用）</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6.2 </a:t>
            </a:r>
            <a:r>
              <a:rPr lang="zh-CN" altLang="en-US">
                <a:latin typeface="楷体" panose="02010609060101010101" charset="-122"/>
                <a:ea typeface="楷体" panose="02010609060101010101" charset="-122"/>
                <a:cs typeface="楷体" panose="02010609060101010101" charset="-122"/>
                <a:sym typeface="+mn-ea"/>
              </a:rPr>
              <a:t>二叉</a:t>
            </a:r>
            <a:r>
              <a:rPr lang="zh-CN" altLang="en-US" dirty="0">
                <a:latin typeface="楷体" panose="02010609060101010101" charset="-122"/>
                <a:ea typeface="楷体" panose="02010609060101010101" charset="-122"/>
                <a:sym typeface="+mn-ea"/>
              </a:rPr>
              <a:t>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二叉树的顺序存储结构，一组连续的存储单元依次自上而下,自左至右存储各个结点</a:t>
            </a:r>
            <a:endParaRPr lang="zh-CN" altLang="en-US" sz="2800" dirty="0">
              <a:latin typeface="黑体" panose="02010609060101010101" pitchFamily="2" charset="-122"/>
              <a:ea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二叉树的顺序存储即按照完全二叉树形态来存储，不符合完全二叉树形态的二叉树则插入特殊结点使其符合完全二叉树</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6.2 </a:t>
            </a:r>
            <a:r>
              <a:rPr lang="zh-CN" altLang="en-US">
                <a:latin typeface="楷体" panose="02010609060101010101" charset="-122"/>
                <a:ea typeface="楷体" panose="02010609060101010101" charset="-122"/>
                <a:cs typeface="楷体" panose="02010609060101010101" charset="-122"/>
                <a:sym typeface="+mn-ea"/>
              </a:rPr>
              <a:t>二叉</a:t>
            </a:r>
            <a:r>
              <a:rPr lang="zh-CN" altLang="en-US" dirty="0">
                <a:latin typeface="楷体" panose="02010609060101010101" charset="-122"/>
                <a:ea typeface="楷体" panose="02010609060101010101" charset="-122"/>
                <a:sym typeface="+mn-ea"/>
              </a:rPr>
              <a:t>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 name="组合 4"/>
          <p:cNvGrpSpPr/>
          <p:nvPr/>
        </p:nvGrpSpPr>
        <p:grpSpPr>
          <a:xfrm>
            <a:off x="2686685" y="2689225"/>
            <a:ext cx="8305800" cy="3658235"/>
            <a:chOff x="3363" y="3357"/>
            <a:chExt cx="13080" cy="5761"/>
          </a:xfrm>
        </p:grpSpPr>
        <p:grpSp>
          <p:nvGrpSpPr>
            <p:cNvPr id="25634" name="Group 76"/>
            <p:cNvGrpSpPr/>
            <p:nvPr/>
          </p:nvGrpSpPr>
          <p:grpSpPr>
            <a:xfrm>
              <a:off x="9723" y="3357"/>
              <a:ext cx="5640" cy="3823"/>
              <a:chOff x="3024" y="2111"/>
              <a:chExt cx="2256" cy="1529"/>
            </a:xfrm>
          </p:grpSpPr>
          <p:sp>
            <p:nvSpPr>
              <p:cNvPr id="25635" name="Line 77"/>
              <p:cNvSpPr/>
              <p:nvPr/>
            </p:nvSpPr>
            <p:spPr>
              <a:xfrm>
                <a:off x="4896" y="2727"/>
                <a:ext cx="192" cy="240"/>
              </a:xfrm>
              <a:prstGeom prst="line">
                <a:avLst/>
              </a:prstGeom>
              <a:ln w="38100" cap="flat" cmpd="sng">
                <a:solidFill>
                  <a:srgbClr val="009900"/>
                </a:solidFill>
                <a:prstDash val="solid"/>
                <a:round/>
                <a:headEnd type="none" w="med" len="med"/>
                <a:tailEnd type="none" w="med" len="med"/>
              </a:ln>
            </p:spPr>
          </p:sp>
          <p:sp>
            <p:nvSpPr>
              <p:cNvPr id="25636" name="Line 78"/>
              <p:cNvSpPr/>
              <p:nvPr/>
            </p:nvSpPr>
            <p:spPr>
              <a:xfrm flipH="1">
                <a:off x="4608" y="2700"/>
                <a:ext cx="223" cy="267"/>
              </a:xfrm>
              <a:prstGeom prst="line">
                <a:avLst/>
              </a:prstGeom>
              <a:ln w="38100" cap="flat" cmpd="sng">
                <a:solidFill>
                  <a:srgbClr val="009900"/>
                </a:solidFill>
                <a:prstDash val="solid"/>
                <a:round/>
                <a:headEnd type="none" w="med" len="med"/>
                <a:tailEnd type="none" w="med" len="med"/>
              </a:ln>
            </p:spPr>
          </p:sp>
          <p:sp>
            <p:nvSpPr>
              <p:cNvPr id="25637" name="Line 79"/>
              <p:cNvSpPr/>
              <p:nvPr/>
            </p:nvSpPr>
            <p:spPr>
              <a:xfrm flipH="1">
                <a:off x="3168" y="3063"/>
                <a:ext cx="192" cy="336"/>
              </a:xfrm>
              <a:prstGeom prst="line">
                <a:avLst/>
              </a:prstGeom>
              <a:ln w="38100" cap="flat" cmpd="sng">
                <a:solidFill>
                  <a:srgbClr val="009900"/>
                </a:solidFill>
                <a:prstDash val="solid"/>
                <a:round/>
                <a:headEnd type="none" w="med" len="med"/>
                <a:tailEnd type="none" w="med" len="med"/>
              </a:ln>
            </p:spPr>
          </p:sp>
          <p:sp>
            <p:nvSpPr>
              <p:cNvPr id="25638" name="Line 80"/>
              <p:cNvSpPr/>
              <p:nvPr/>
            </p:nvSpPr>
            <p:spPr>
              <a:xfrm flipH="1">
                <a:off x="3408" y="2727"/>
                <a:ext cx="240" cy="288"/>
              </a:xfrm>
              <a:prstGeom prst="line">
                <a:avLst/>
              </a:prstGeom>
              <a:ln w="38100" cap="flat" cmpd="sng">
                <a:solidFill>
                  <a:srgbClr val="009900"/>
                </a:solidFill>
                <a:prstDash val="solid"/>
                <a:round/>
                <a:headEnd type="none" w="med" len="med"/>
                <a:tailEnd type="none" w="med" len="med"/>
              </a:ln>
            </p:spPr>
          </p:sp>
          <p:sp>
            <p:nvSpPr>
              <p:cNvPr id="25639" name="Line 81"/>
              <p:cNvSpPr/>
              <p:nvPr/>
            </p:nvSpPr>
            <p:spPr>
              <a:xfrm>
                <a:off x="4368" y="2343"/>
                <a:ext cx="456" cy="274"/>
              </a:xfrm>
              <a:prstGeom prst="line">
                <a:avLst/>
              </a:prstGeom>
              <a:ln w="38100" cap="flat" cmpd="sng">
                <a:solidFill>
                  <a:srgbClr val="009900"/>
                </a:solidFill>
                <a:prstDash val="solid"/>
                <a:round/>
                <a:headEnd type="none" w="med" len="med"/>
                <a:tailEnd type="none" w="med" len="med"/>
              </a:ln>
            </p:spPr>
          </p:sp>
          <p:sp>
            <p:nvSpPr>
              <p:cNvPr id="25640" name="Line 82"/>
              <p:cNvSpPr/>
              <p:nvPr/>
            </p:nvSpPr>
            <p:spPr>
              <a:xfrm flipH="1">
                <a:off x="3744" y="2343"/>
                <a:ext cx="480" cy="288"/>
              </a:xfrm>
              <a:prstGeom prst="line">
                <a:avLst/>
              </a:prstGeom>
              <a:ln w="38100" cap="flat" cmpd="sng">
                <a:solidFill>
                  <a:srgbClr val="009900"/>
                </a:solidFill>
                <a:prstDash val="solid"/>
                <a:round/>
                <a:headEnd type="none" w="med" len="med"/>
                <a:tailEnd type="none" w="med" len="med"/>
              </a:ln>
            </p:spPr>
          </p:sp>
          <p:sp>
            <p:nvSpPr>
              <p:cNvPr id="25641" name="Line 83"/>
              <p:cNvSpPr/>
              <p:nvPr/>
            </p:nvSpPr>
            <p:spPr>
              <a:xfrm>
                <a:off x="3456" y="3111"/>
                <a:ext cx="87" cy="261"/>
              </a:xfrm>
              <a:prstGeom prst="line">
                <a:avLst/>
              </a:prstGeom>
              <a:ln w="38100" cap="flat" cmpd="sng">
                <a:solidFill>
                  <a:srgbClr val="009900"/>
                </a:solidFill>
                <a:prstDash val="solid"/>
                <a:round/>
                <a:headEnd type="none" w="med" len="med"/>
                <a:tailEnd type="none" w="med" len="med"/>
              </a:ln>
            </p:spPr>
          </p:sp>
          <p:sp>
            <p:nvSpPr>
              <p:cNvPr id="25642" name="Line 84"/>
              <p:cNvSpPr/>
              <p:nvPr/>
            </p:nvSpPr>
            <p:spPr>
              <a:xfrm flipH="1">
                <a:off x="4404" y="3072"/>
                <a:ext cx="144" cy="336"/>
              </a:xfrm>
              <a:prstGeom prst="line">
                <a:avLst/>
              </a:prstGeom>
              <a:ln w="38100" cap="flat" cmpd="sng">
                <a:solidFill>
                  <a:srgbClr val="009900"/>
                </a:solidFill>
                <a:prstDash val="solid"/>
                <a:round/>
                <a:headEnd type="none" w="med" len="med"/>
                <a:tailEnd type="none" w="med" len="med"/>
              </a:ln>
            </p:spPr>
          </p:sp>
          <p:sp>
            <p:nvSpPr>
              <p:cNvPr id="25643" name="Oval 85"/>
              <p:cNvSpPr/>
              <p:nvPr/>
            </p:nvSpPr>
            <p:spPr>
              <a:xfrm>
                <a:off x="4260"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44" name="Text Box 86"/>
              <p:cNvSpPr txBox="1"/>
              <p:nvPr/>
            </p:nvSpPr>
            <p:spPr>
              <a:xfrm>
                <a:off x="4272" y="3263"/>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9</a:t>
                </a:r>
                <a:endParaRPr lang="en-US" altLang="zh-CN" sz="2400" dirty="0">
                  <a:latin typeface="Times New Roman" panose="02020603050405020304" pitchFamily="18" charset="0"/>
                  <a:ea typeface="宋体" panose="02010600030101010101" pitchFamily="2" charset="-122"/>
                </a:endParaRPr>
              </a:p>
            </p:txBody>
          </p:sp>
          <p:sp>
            <p:nvSpPr>
              <p:cNvPr id="25645" name="Oval 87"/>
              <p:cNvSpPr/>
              <p:nvPr/>
            </p:nvSpPr>
            <p:spPr>
              <a:xfrm>
                <a:off x="4176" y="215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46" name="Oval 88"/>
              <p:cNvSpPr/>
              <p:nvPr/>
            </p:nvSpPr>
            <p:spPr>
              <a:xfrm>
                <a:off x="3600"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47" name="Oval 89"/>
              <p:cNvSpPr/>
              <p:nvPr/>
            </p:nvSpPr>
            <p:spPr>
              <a:xfrm>
                <a:off x="4704"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48" name="Text Box 90"/>
              <p:cNvSpPr txBox="1"/>
              <p:nvPr/>
            </p:nvSpPr>
            <p:spPr>
              <a:xfrm>
                <a:off x="4188" y="211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25649" name="Text Box 91"/>
              <p:cNvSpPr txBox="1"/>
              <p:nvPr/>
            </p:nvSpPr>
            <p:spPr>
              <a:xfrm>
                <a:off x="3612" y="2447"/>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25650" name="Text Box 92"/>
              <p:cNvSpPr txBox="1"/>
              <p:nvPr/>
            </p:nvSpPr>
            <p:spPr>
              <a:xfrm>
                <a:off x="4716" y="2447"/>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25651" name="Oval 93"/>
              <p:cNvSpPr/>
              <p:nvPr/>
            </p:nvSpPr>
            <p:spPr>
              <a:xfrm>
                <a:off x="4992"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52" name="Text Box 94"/>
              <p:cNvSpPr txBox="1"/>
              <p:nvPr/>
            </p:nvSpPr>
            <p:spPr>
              <a:xfrm>
                <a:off x="5040" y="283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6</a:t>
                </a:r>
                <a:endParaRPr lang="en-US" altLang="zh-CN" sz="2400" dirty="0">
                  <a:latin typeface="Times New Roman" panose="02020603050405020304" pitchFamily="18" charset="0"/>
                  <a:ea typeface="宋体" panose="02010600030101010101" pitchFamily="2" charset="-122"/>
                </a:endParaRPr>
              </a:p>
            </p:txBody>
          </p:sp>
          <p:sp>
            <p:nvSpPr>
              <p:cNvPr id="25653" name="Oval 95"/>
              <p:cNvSpPr/>
              <p:nvPr/>
            </p:nvSpPr>
            <p:spPr>
              <a:xfrm>
                <a:off x="32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54" name="Text Box 96"/>
              <p:cNvSpPr txBox="1"/>
              <p:nvPr/>
            </p:nvSpPr>
            <p:spPr>
              <a:xfrm>
                <a:off x="3276" y="283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4</a:t>
                </a:r>
                <a:endParaRPr lang="en-US" altLang="zh-CN" sz="2400" dirty="0">
                  <a:latin typeface="Times New Roman" panose="02020603050405020304" pitchFamily="18" charset="0"/>
                  <a:ea typeface="宋体" panose="02010600030101010101" pitchFamily="2" charset="-122"/>
                </a:endParaRPr>
              </a:p>
            </p:txBody>
          </p:sp>
          <p:sp>
            <p:nvSpPr>
              <p:cNvPr id="25655" name="Oval 97"/>
              <p:cNvSpPr/>
              <p:nvPr/>
            </p:nvSpPr>
            <p:spPr>
              <a:xfrm>
                <a:off x="3024"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56" name="Text Box 98"/>
              <p:cNvSpPr txBox="1"/>
              <p:nvPr/>
            </p:nvSpPr>
            <p:spPr>
              <a:xfrm>
                <a:off x="3036" y="3263"/>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sp>
            <p:nvSpPr>
              <p:cNvPr id="25657" name="Oval 99"/>
              <p:cNvSpPr/>
              <p:nvPr/>
            </p:nvSpPr>
            <p:spPr>
              <a:xfrm>
                <a:off x="3408"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58" name="Text Box 100"/>
              <p:cNvSpPr txBox="1"/>
              <p:nvPr/>
            </p:nvSpPr>
            <p:spPr>
              <a:xfrm>
                <a:off x="3420" y="3254"/>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8</a:t>
                </a:r>
                <a:endParaRPr lang="en-US" altLang="zh-CN" sz="2400" dirty="0">
                  <a:latin typeface="Times New Roman" panose="02020603050405020304" pitchFamily="18" charset="0"/>
                  <a:ea typeface="宋体" panose="02010600030101010101" pitchFamily="2" charset="-122"/>
                </a:endParaRPr>
              </a:p>
            </p:txBody>
          </p:sp>
          <p:sp>
            <p:nvSpPr>
              <p:cNvPr id="25659" name="Text Box 101"/>
              <p:cNvSpPr txBox="1"/>
              <p:nvPr/>
            </p:nvSpPr>
            <p:spPr>
              <a:xfrm>
                <a:off x="4608" y="331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9</a:t>
                </a:r>
                <a:endParaRPr lang="en-US" altLang="zh-CN" sz="2400" dirty="0">
                  <a:latin typeface="Times New Roman" panose="02020603050405020304" pitchFamily="18" charset="0"/>
                  <a:ea typeface="宋体" panose="02010600030101010101" pitchFamily="2" charset="-122"/>
                </a:endParaRPr>
              </a:p>
            </p:txBody>
          </p:sp>
          <p:sp>
            <p:nvSpPr>
              <p:cNvPr id="25660" name="Oval 102"/>
              <p:cNvSpPr/>
              <p:nvPr/>
            </p:nvSpPr>
            <p:spPr>
              <a:xfrm>
                <a:off x="4608"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61" name="Text Box 103"/>
              <p:cNvSpPr txBox="1"/>
              <p:nvPr/>
            </p:nvSpPr>
            <p:spPr>
              <a:xfrm>
                <a:off x="4560" y="3311"/>
                <a:ext cx="339"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10</a:t>
                </a:r>
                <a:endParaRPr lang="en-US" altLang="zh-CN" sz="2400" dirty="0">
                  <a:latin typeface="Times New Roman" panose="02020603050405020304" pitchFamily="18" charset="0"/>
                  <a:ea typeface="宋体" panose="02010600030101010101" pitchFamily="2" charset="-122"/>
                </a:endParaRPr>
              </a:p>
            </p:txBody>
          </p:sp>
          <p:sp>
            <p:nvSpPr>
              <p:cNvPr id="25662" name="Line 104"/>
              <p:cNvSpPr/>
              <p:nvPr/>
            </p:nvSpPr>
            <p:spPr>
              <a:xfrm>
                <a:off x="4608" y="3120"/>
                <a:ext cx="96" cy="192"/>
              </a:xfrm>
              <a:prstGeom prst="line">
                <a:avLst/>
              </a:prstGeom>
              <a:ln w="38100" cap="flat" cmpd="sng">
                <a:solidFill>
                  <a:srgbClr val="009900"/>
                </a:solidFill>
                <a:prstDash val="solid"/>
                <a:round/>
                <a:headEnd type="none" w="med" len="med"/>
                <a:tailEnd type="none" w="med" len="med"/>
              </a:ln>
            </p:spPr>
          </p:sp>
          <p:sp>
            <p:nvSpPr>
              <p:cNvPr id="25663" name="Oval 105"/>
              <p:cNvSpPr/>
              <p:nvPr/>
            </p:nvSpPr>
            <p:spPr>
              <a:xfrm>
                <a:off x="44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64" name="Text Box 106"/>
              <p:cNvSpPr txBox="1"/>
              <p:nvPr/>
            </p:nvSpPr>
            <p:spPr>
              <a:xfrm>
                <a:off x="4464" y="283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grpSp>
        <p:grpSp>
          <p:nvGrpSpPr>
            <p:cNvPr id="6" name="组合 5"/>
            <p:cNvGrpSpPr/>
            <p:nvPr/>
          </p:nvGrpSpPr>
          <p:grpSpPr>
            <a:xfrm>
              <a:off x="3363" y="3358"/>
              <a:ext cx="12600" cy="5761"/>
              <a:chOff x="3363" y="3358"/>
              <a:chExt cx="12600" cy="5761"/>
            </a:xfrm>
          </p:grpSpPr>
          <p:grpSp>
            <p:nvGrpSpPr>
              <p:cNvPr id="25604" name="Group 46"/>
              <p:cNvGrpSpPr/>
              <p:nvPr/>
            </p:nvGrpSpPr>
            <p:grpSpPr>
              <a:xfrm>
                <a:off x="3363" y="3358"/>
                <a:ext cx="5520" cy="3755"/>
                <a:chOff x="384" y="1590"/>
                <a:chExt cx="2208" cy="1502"/>
              </a:xfrm>
            </p:grpSpPr>
            <p:sp>
              <p:nvSpPr>
                <p:cNvPr id="25605" name="Line 47"/>
                <p:cNvSpPr/>
                <p:nvPr/>
              </p:nvSpPr>
              <p:spPr>
                <a:xfrm>
                  <a:off x="2232" y="2167"/>
                  <a:ext cx="192" cy="240"/>
                </a:xfrm>
                <a:prstGeom prst="line">
                  <a:avLst/>
                </a:prstGeom>
                <a:ln w="38100" cap="flat" cmpd="sng">
                  <a:solidFill>
                    <a:srgbClr val="009900"/>
                  </a:solidFill>
                  <a:prstDash val="solid"/>
                  <a:round/>
                  <a:headEnd type="none" w="med" len="med"/>
                  <a:tailEnd type="none" w="med" len="med"/>
                </a:ln>
              </p:spPr>
            </p:sp>
            <p:sp>
              <p:nvSpPr>
                <p:cNvPr id="25606" name="Line 48"/>
                <p:cNvSpPr/>
                <p:nvPr/>
              </p:nvSpPr>
              <p:spPr>
                <a:xfrm flipH="1">
                  <a:off x="1944" y="2140"/>
                  <a:ext cx="223" cy="267"/>
                </a:xfrm>
                <a:prstGeom prst="line">
                  <a:avLst/>
                </a:prstGeom>
                <a:ln w="38100" cap="flat" cmpd="sng">
                  <a:solidFill>
                    <a:srgbClr val="009900"/>
                  </a:solidFill>
                  <a:prstDash val="solid"/>
                  <a:round/>
                  <a:headEnd type="none" w="med" len="med"/>
                  <a:tailEnd type="none" w="med" len="med"/>
                </a:ln>
              </p:spPr>
            </p:sp>
            <p:sp>
              <p:nvSpPr>
                <p:cNvPr id="25607" name="Line 49"/>
                <p:cNvSpPr/>
                <p:nvPr/>
              </p:nvSpPr>
              <p:spPr>
                <a:xfrm>
                  <a:off x="1080" y="2119"/>
                  <a:ext cx="216" cy="261"/>
                </a:xfrm>
                <a:prstGeom prst="line">
                  <a:avLst/>
                </a:prstGeom>
                <a:ln w="38100" cap="flat" cmpd="sng">
                  <a:solidFill>
                    <a:srgbClr val="009900"/>
                  </a:solidFill>
                  <a:prstDash val="solid"/>
                  <a:round/>
                  <a:headEnd type="none" w="med" len="med"/>
                  <a:tailEnd type="none" w="med" len="med"/>
                </a:ln>
              </p:spPr>
            </p:sp>
            <p:sp>
              <p:nvSpPr>
                <p:cNvPr id="25608" name="Line 50"/>
                <p:cNvSpPr/>
                <p:nvPr/>
              </p:nvSpPr>
              <p:spPr>
                <a:xfrm flipH="1">
                  <a:off x="744" y="2167"/>
                  <a:ext cx="240" cy="288"/>
                </a:xfrm>
                <a:prstGeom prst="line">
                  <a:avLst/>
                </a:prstGeom>
                <a:ln w="38100" cap="flat" cmpd="sng">
                  <a:solidFill>
                    <a:srgbClr val="009900"/>
                  </a:solidFill>
                  <a:prstDash val="solid"/>
                  <a:round/>
                  <a:headEnd type="none" w="med" len="med"/>
                  <a:tailEnd type="none" w="med" len="med"/>
                </a:ln>
              </p:spPr>
            </p:sp>
            <p:sp>
              <p:nvSpPr>
                <p:cNvPr id="25609" name="Line 51"/>
                <p:cNvSpPr/>
                <p:nvPr/>
              </p:nvSpPr>
              <p:spPr>
                <a:xfrm>
                  <a:off x="1704" y="1783"/>
                  <a:ext cx="456" cy="274"/>
                </a:xfrm>
                <a:prstGeom prst="line">
                  <a:avLst/>
                </a:prstGeom>
                <a:ln w="38100" cap="flat" cmpd="sng">
                  <a:solidFill>
                    <a:srgbClr val="009900"/>
                  </a:solidFill>
                  <a:prstDash val="solid"/>
                  <a:round/>
                  <a:headEnd type="none" w="med" len="med"/>
                  <a:tailEnd type="none" w="med" len="med"/>
                </a:ln>
              </p:spPr>
            </p:sp>
            <p:sp>
              <p:nvSpPr>
                <p:cNvPr id="25610" name="Line 52"/>
                <p:cNvSpPr/>
                <p:nvPr/>
              </p:nvSpPr>
              <p:spPr>
                <a:xfrm flipH="1">
                  <a:off x="1080" y="1783"/>
                  <a:ext cx="480" cy="288"/>
                </a:xfrm>
                <a:prstGeom prst="line">
                  <a:avLst/>
                </a:prstGeom>
                <a:ln w="38100" cap="flat" cmpd="sng">
                  <a:solidFill>
                    <a:srgbClr val="009900"/>
                  </a:solidFill>
                  <a:prstDash val="solid"/>
                  <a:round/>
                  <a:headEnd type="none" w="med" len="med"/>
                  <a:tailEnd type="none" w="med" len="med"/>
                </a:ln>
              </p:spPr>
            </p:sp>
            <p:sp>
              <p:nvSpPr>
                <p:cNvPr id="25611" name="Oval 53"/>
                <p:cNvSpPr/>
                <p:nvPr/>
              </p:nvSpPr>
              <p:spPr>
                <a:xfrm>
                  <a:off x="1488" y="16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2" name="Line 54"/>
                <p:cNvSpPr/>
                <p:nvPr/>
              </p:nvSpPr>
              <p:spPr>
                <a:xfrm flipH="1">
                  <a:off x="1233" y="2503"/>
                  <a:ext cx="111" cy="261"/>
                </a:xfrm>
                <a:prstGeom prst="line">
                  <a:avLst/>
                </a:prstGeom>
                <a:ln w="38100" cap="flat" cmpd="sng">
                  <a:solidFill>
                    <a:srgbClr val="009900"/>
                  </a:solidFill>
                  <a:prstDash val="solid"/>
                  <a:round/>
                  <a:headEnd type="none" w="med" len="med"/>
                  <a:tailEnd type="none" w="med" len="med"/>
                </a:ln>
              </p:spPr>
            </p:sp>
            <p:sp>
              <p:nvSpPr>
                <p:cNvPr id="25613" name="Line 55"/>
                <p:cNvSpPr/>
                <p:nvPr/>
              </p:nvSpPr>
              <p:spPr>
                <a:xfrm>
                  <a:off x="792" y="2551"/>
                  <a:ext cx="87" cy="261"/>
                </a:xfrm>
                <a:prstGeom prst="line">
                  <a:avLst/>
                </a:prstGeom>
                <a:ln w="38100" cap="flat" cmpd="sng">
                  <a:solidFill>
                    <a:srgbClr val="009900"/>
                  </a:solidFill>
                  <a:prstDash val="solid"/>
                  <a:round/>
                  <a:headEnd type="none" w="med" len="med"/>
                  <a:tailEnd type="none" w="med" len="med"/>
                </a:ln>
              </p:spPr>
            </p:sp>
            <p:sp>
              <p:nvSpPr>
                <p:cNvPr id="25614" name="Line 56"/>
                <p:cNvSpPr/>
                <p:nvPr/>
              </p:nvSpPr>
              <p:spPr>
                <a:xfrm flipH="1">
                  <a:off x="579" y="2503"/>
                  <a:ext cx="165" cy="288"/>
                </a:xfrm>
                <a:prstGeom prst="line">
                  <a:avLst/>
                </a:prstGeom>
                <a:ln w="38100" cap="flat" cmpd="sng">
                  <a:solidFill>
                    <a:srgbClr val="009900"/>
                  </a:solidFill>
                  <a:prstDash val="solid"/>
                  <a:round/>
                  <a:headEnd type="none" w="med" len="med"/>
                  <a:tailEnd type="none" w="med" len="med"/>
                </a:ln>
              </p:spPr>
            </p:sp>
            <p:sp>
              <p:nvSpPr>
                <p:cNvPr id="25615" name="Text Box 57"/>
                <p:cNvSpPr txBox="1"/>
                <p:nvPr/>
              </p:nvSpPr>
              <p:spPr>
                <a:xfrm>
                  <a:off x="1512" y="1590"/>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25616" name="Oval 58"/>
                <p:cNvSpPr/>
                <p:nvPr/>
              </p:nvSpPr>
              <p:spPr>
                <a:xfrm>
                  <a:off x="912" y="1948"/>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7" name="Oval 59"/>
                <p:cNvSpPr/>
                <p:nvPr/>
              </p:nvSpPr>
              <p:spPr>
                <a:xfrm>
                  <a:off x="624" y="233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8" name="Oval 60"/>
                <p:cNvSpPr/>
                <p:nvPr/>
              </p:nvSpPr>
              <p:spPr>
                <a:xfrm>
                  <a:off x="384" y="2764"/>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19" name="Oval 61"/>
                <p:cNvSpPr/>
                <p:nvPr/>
              </p:nvSpPr>
              <p:spPr>
                <a:xfrm>
                  <a:off x="720" y="2764"/>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20" name="Oval 62"/>
                <p:cNvSpPr/>
                <p:nvPr/>
              </p:nvSpPr>
              <p:spPr>
                <a:xfrm>
                  <a:off x="1056" y="2764"/>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21" name="Oval 63"/>
                <p:cNvSpPr/>
                <p:nvPr/>
              </p:nvSpPr>
              <p:spPr>
                <a:xfrm>
                  <a:off x="1200" y="233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22" name="Text Box 64"/>
                <p:cNvSpPr txBox="1"/>
                <p:nvPr/>
              </p:nvSpPr>
              <p:spPr>
                <a:xfrm>
                  <a:off x="924" y="1908"/>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25623" name="Text Box 65"/>
                <p:cNvSpPr txBox="1"/>
                <p:nvPr/>
              </p:nvSpPr>
              <p:spPr>
                <a:xfrm>
                  <a:off x="636" y="2292"/>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4</a:t>
                  </a:r>
                  <a:endParaRPr lang="en-US" altLang="zh-CN" sz="2400" dirty="0">
                    <a:latin typeface="Times New Roman" panose="02020603050405020304" pitchFamily="18" charset="0"/>
                    <a:ea typeface="宋体" panose="02010600030101010101" pitchFamily="2" charset="-122"/>
                  </a:endParaRPr>
                </a:p>
              </p:txBody>
            </p:sp>
            <p:sp>
              <p:nvSpPr>
                <p:cNvPr id="25624" name="Text Box 66"/>
                <p:cNvSpPr txBox="1"/>
                <p:nvPr/>
              </p:nvSpPr>
              <p:spPr>
                <a:xfrm>
                  <a:off x="432" y="2763"/>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8</a:t>
                  </a:r>
                  <a:endParaRPr lang="en-US" altLang="zh-CN" sz="2400" dirty="0">
                    <a:latin typeface="Times New Roman" panose="02020603050405020304" pitchFamily="18" charset="0"/>
                    <a:ea typeface="宋体" panose="02010600030101010101" pitchFamily="2" charset="-122"/>
                  </a:endParaRPr>
                </a:p>
              </p:txBody>
            </p:sp>
            <p:sp>
              <p:nvSpPr>
                <p:cNvPr id="25625" name="Text Box 67"/>
                <p:cNvSpPr txBox="1"/>
                <p:nvPr/>
              </p:nvSpPr>
              <p:spPr>
                <a:xfrm>
                  <a:off x="732" y="2763"/>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9</a:t>
                  </a:r>
                  <a:endParaRPr lang="en-US" altLang="zh-CN" sz="2400" dirty="0">
                    <a:latin typeface="Times New Roman" panose="02020603050405020304" pitchFamily="18" charset="0"/>
                    <a:ea typeface="宋体" panose="02010600030101010101" pitchFamily="2" charset="-122"/>
                  </a:endParaRPr>
                </a:p>
              </p:txBody>
            </p:sp>
            <p:sp>
              <p:nvSpPr>
                <p:cNvPr id="25626" name="Text Box 68"/>
                <p:cNvSpPr txBox="1"/>
                <p:nvPr/>
              </p:nvSpPr>
              <p:spPr>
                <a:xfrm>
                  <a:off x="1012" y="2763"/>
                  <a:ext cx="339"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10</a:t>
                  </a:r>
                  <a:endParaRPr lang="en-US" altLang="zh-CN" sz="2400" dirty="0">
                    <a:latin typeface="Times New Roman" panose="02020603050405020304" pitchFamily="18" charset="0"/>
                    <a:ea typeface="宋体" panose="02010600030101010101" pitchFamily="2" charset="-122"/>
                  </a:endParaRPr>
                </a:p>
              </p:txBody>
            </p:sp>
            <p:sp>
              <p:nvSpPr>
                <p:cNvPr id="25627" name="Text Box 69"/>
                <p:cNvSpPr txBox="1"/>
                <p:nvPr/>
              </p:nvSpPr>
              <p:spPr>
                <a:xfrm>
                  <a:off x="1200" y="2292"/>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sp>
              <p:nvSpPr>
                <p:cNvPr id="25628" name="Oval 70"/>
                <p:cNvSpPr/>
                <p:nvPr/>
              </p:nvSpPr>
              <p:spPr>
                <a:xfrm>
                  <a:off x="1776" y="233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29" name="Oval 71"/>
                <p:cNvSpPr/>
                <p:nvPr/>
              </p:nvSpPr>
              <p:spPr>
                <a:xfrm>
                  <a:off x="2064" y="1948"/>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30" name="Oval 72"/>
                <p:cNvSpPr/>
                <p:nvPr/>
              </p:nvSpPr>
              <p:spPr>
                <a:xfrm>
                  <a:off x="2304" y="233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31" name="Text Box 73"/>
                <p:cNvSpPr txBox="1"/>
                <p:nvPr/>
              </p:nvSpPr>
              <p:spPr>
                <a:xfrm>
                  <a:off x="1788" y="2292"/>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6</a:t>
                  </a:r>
                  <a:endParaRPr lang="en-US" altLang="zh-CN" sz="2400" dirty="0">
                    <a:latin typeface="Times New Roman" panose="02020603050405020304" pitchFamily="18" charset="0"/>
                    <a:ea typeface="宋体" panose="02010600030101010101" pitchFamily="2" charset="-122"/>
                  </a:endParaRPr>
                </a:p>
              </p:txBody>
            </p:sp>
            <p:sp>
              <p:nvSpPr>
                <p:cNvPr id="25632" name="Text Box 74"/>
                <p:cNvSpPr txBox="1"/>
                <p:nvPr/>
              </p:nvSpPr>
              <p:spPr>
                <a:xfrm>
                  <a:off x="2316" y="2292"/>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sp>
              <p:nvSpPr>
                <p:cNvPr id="25633" name="Text Box 75"/>
                <p:cNvSpPr txBox="1"/>
                <p:nvPr/>
              </p:nvSpPr>
              <p:spPr>
                <a:xfrm>
                  <a:off x="2076" y="1908"/>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grpSp>
          <p:sp>
            <p:nvSpPr>
              <p:cNvPr id="25665" name="Text Box 107"/>
              <p:cNvSpPr txBox="1"/>
              <p:nvPr/>
            </p:nvSpPr>
            <p:spPr>
              <a:xfrm>
                <a:off x="3363" y="8395"/>
                <a:ext cx="12600" cy="725"/>
              </a:xfrm>
              <a:prstGeom prst="rect">
                <a:avLst/>
              </a:prstGeom>
              <a:noFill/>
              <a:ln w="9525">
                <a:noFill/>
              </a:ln>
            </p:spPr>
            <p:txBody>
              <a:bodyPr anchor="t" anchorCtr="0">
                <a:spAutoFit/>
              </a:bodyPr>
              <a:p>
                <a:r>
                  <a:rPr lang="zh-CN" altLang="en-US" sz="2400" b="1" dirty="0">
                    <a:solidFill>
                      <a:srgbClr val="004080"/>
                    </a:solidFill>
                    <a:latin typeface="隶书" panose="02010509060101010101" pitchFamily="49" charset="-122"/>
                    <a:ea typeface="楷体" panose="02010609060101010101" charset="-122"/>
                  </a:rPr>
                  <a:t>完全二叉树的顺序表示　　　　　一般二叉树的顺序表示</a:t>
                </a:r>
                <a:endParaRPr lang="zh-CN" altLang="en-US" sz="2400" b="1" dirty="0">
                  <a:solidFill>
                    <a:srgbClr val="004080"/>
                  </a:solidFill>
                  <a:latin typeface="隶书" panose="02010509060101010101" pitchFamily="49" charset="-122"/>
                  <a:ea typeface="楷体" panose="02010609060101010101" charset="-122"/>
                </a:endParaRPr>
              </a:p>
            </p:txBody>
          </p:sp>
          <p:grpSp>
            <p:nvGrpSpPr>
              <p:cNvPr id="25666" name="Group 108"/>
              <p:cNvGrpSpPr/>
              <p:nvPr/>
            </p:nvGrpSpPr>
            <p:grpSpPr>
              <a:xfrm>
                <a:off x="3363" y="7555"/>
                <a:ext cx="5088" cy="967"/>
                <a:chOff x="284" y="3215"/>
                <a:chExt cx="2035" cy="438"/>
              </a:xfrm>
            </p:grpSpPr>
            <p:sp>
              <p:nvSpPr>
                <p:cNvPr id="25667" name="Rectangle 109"/>
                <p:cNvSpPr/>
                <p:nvPr/>
              </p:nvSpPr>
              <p:spPr>
                <a:xfrm>
                  <a:off x="288" y="3311"/>
                  <a:ext cx="1968" cy="288"/>
                </a:xfrm>
                <a:prstGeom prst="rect">
                  <a:avLst/>
                </a:prstGeom>
                <a:solidFill>
                  <a:srgbClr val="FF7C80"/>
                </a:solidFill>
                <a:ln w="9525"/>
                <a:scene3d>
                  <a:camera prst="legacyObliqueTopRight">
                    <a:rot lat="0" lon="0" rev="0"/>
                  </a:camera>
                  <a:lightRig rig="legacyFlat3" dir="b"/>
                </a:scene3d>
                <a:sp3d extrusionH="430200" prstMaterial="legacyMatte">
                  <a:bevelT w="13500" h="13500" prst="angle"/>
                  <a:bevelB w="13500" h="13500" prst="angle"/>
                  <a:extrusionClr>
                    <a:srgbClr val="FF7C80"/>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5668" name="Line 110"/>
                <p:cNvSpPr/>
                <p:nvPr/>
              </p:nvSpPr>
              <p:spPr>
                <a:xfrm>
                  <a:off x="480" y="3311"/>
                  <a:ext cx="0" cy="288"/>
                </a:xfrm>
                <a:prstGeom prst="line">
                  <a:avLst/>
                </a:prstGeom>
                <a:ln w="19050" cap="flat" cmpd="sng">
                  <a:solidFill>
                    <a:schemeClr val="bg1"/>
                  </a:solidFill>
                  <a:prstDash val="solid"/>
                  <a:round/>
                  <a:headEnd type="none" w="med" len="med"/>
                  <a:tailEnd type="none" w="med" len="med"/>
                </a:ln>
              </p:spPr>
            </p:sp>
            <p:sp>
              <p:nvSpPr>
                <p:cNvPr id="25669" name="Text Box 111"/>
                <p:cNvSpPr txBox="1"/>
                <p:nvPr/>
              </p:nvSpPr>
              <p:spPr>
                <a:xfrm>
                  <a:off x="284" y="3237"/>
                  <a:ext cx="2035" cy="416"/>
                </a:xfrm>
                <a:prstGeom prst="rect">
                  <a:avLst/>
                </a:prstGeom>
                <a:noFill/>
                <a:ln w="38100">
                  <a:noFill/>
                </a:ln>
              </p:spPr>
              <p:txBody>
                <a:bodyPr wrap="none" anchor="ctr" anchorCtr="0">
                  <a:spAutoFit/>
                </a:bodyPr>
                <a:p>
                  <a:r>
                    <a:rPr lang="en-US" altLang="zh-CN" sz="3200" b="1" dirty="0">
                      <a:solidFill>
                        <a:schemeClr val="bg1"/>
                      </a:solidFill>
                      <a:latin typeface="Times New Roman" panose="02020603050405020304" pitchFamily="18" charset="0"/>
                      <a:ea typeface="宋体" panose="02010600030101010101" pitchFamily="2" charset="-122"/>
                    </a:rPr>
                    <a:t>1 2 3 4 5 6 7 8 910</a:t>
                  </a:r>
                  <a:endParaRPr lang="en-US" altLang="zh-CN" sz="2800" dirty="0">
                    <a:latin typeface="Times New Roman" panose="02020603050405020304" pitchFamily="18" charset="0"/>
                    <a:ea typeface="宋体" panose="02010600030101010101" pitchFamily="2" charset="-122"/>
                  </a:endParaRPr>
                </a:p>
              </p:txBody>
            </p:sp>
            <p:sp>
              <p:nvSpPr>
                <p:cNvPr id="25670" name="Line 112"/>
                <p:cNvSpPr/>
                <p:nvPr/>
              </p:nvSpPr>
              <p:spPr>
                <a:xfrm>
                  <a:off x="672" y="3311"/>
                  <a:ext cx="0" cy="288"/>
                </a:xfrm>
                <a:prstGeom prst="line">
                  <a:avLst/>
                </a:prstGeom>
                <a:ln w="19050" cap="flat" cmpd="sng">
                  <a:solidFill>
                    <a:schemeClr val="bg1"/>
                  </a:solidFill>
                  <a:prstDash val="solid"/>
                  <a:round/>
                  <a:headEnd type="none" w="med" len="med"/>
                  <a:tailEnd type="none" w="med" len="med"/>
                </a:ln>
              </p:spPr>
            </p:sp>
            <p:sp>
              <p:nvSpPr>
                <p:cNvPr id="25671" name="Line 113"/>
                <p:cNvSpPr/>
                <p:nvPr/>
              </p:nvSpPr>
              <p:spPr>
                <a:xfrm>
                  <a:off x="864" y="3311"/>
                  <a:ext cx="0" cy="288"/>
                </a:xfrm>
                <a:prstGeom prst="line">
                  <a:avLst/>
                </a:prstGeom>
                <a:ln w="19050" cap="flat" cmpd="sng">
                  <a:solidFill>
                    <a:schemeClr val="bg1"/>
                  </a:solidFill>
                  <a:prstDash val="solid"/>
                  <a:round/>
                  <a:headEnd type="none" w="med" len="med"/>
                  <a:tailEnd type="none" w="med" len="med"/>
                </a:ln>
              </p:spPr>
            </p:sp>
            <p:sp>
              <p:nvSpPr>
                <p:cNvPr id="25672" name="Line 114"/>
                <p:cNvSpPr/>
                <p:nvPr/>
              </p:nvSpPr>
              <p:spPr>
                <a:xfrm>
                  <a:off x="1056" y="3311"/>
                  <a:ext cx="0" cy="288"/>
                </a:xfrm>
                <a:prstGeom prst="line">
                  <a:avLst/>
                </a:prstGeom>
                <a:ln w="19050" cap="flat" cmpd="sng">
                  <a:solidFill>
                    <a:schemeClr val="bg1"/>
                  </a:solidFill>
                  <a:prstDash val="solid"/>
                  <a:round/>
                  <a:headEnd type="none" w="med" len="med"/>
                  <a:tailEnd type="none" w="med" len="med"/>
                </a:ln>
              </p:spPr>
            </p:sp>
            <p:sp>
              <p:nvSpPr>
                <p:cNvPr id="25673" name="Line 115"/>
                <p:cNvSpPr/>
                <p:nvPr/>
              </p:nvSpPr>
              <p:spPr>
                <a:xfrm>
                  <a:off x="1248" y="3311"/>
                  <a:ext cx="0" cy="288"/>
                </a:xfrm>
                <a:prstGeom prst="line">
                  <a:avLst/>
                </a:prstGeom>
                <a:ln w="19050" cap="flat" cmpd="sng">
                  <a:solidFill>
                    <a:schemeClr val="bg1"/>
                  </a:solidFill>
                  <a:prstDash val="solid"/>
                  <a:round/>
                  <a:headEnd type="none" w="med" len="med"/>
                  <a:tailEnd type="none" w="med" len="med"/>
                </a:ln>
              </p:spPr>
            </p:sp>
            <p:sp>
              <p:nvSpPr>
                <p:cNvPr id="25674" name="Line 116"/>
                <p:cNvSpPr/>
                <p:nvPr/>
              </p:nvSpPr>
              <p:spPr>
                <a:xfrm>
                  <a:off x="1440" y="3311"/>
                  <a:ext cx="0" cy="288"/>
                </a:xfrm>
                <a:prstGeom prst="line">
                  <a:avLst/>
                </a:prstGeom>
                <a:ln w="19050" cap="flat" cmpd="sng">
                  <a:solidFill>
                    <a:schemeClr val="bg1"/>
                  </a:solidFill>
                  <a:prstDash val="solid"/>
                  <a:round/>
                  <a:headEnd type="none" w="med" len="med"/>
                  <a:tailEnd type="none" w="med" len="med"/>
                </a:ln>
              </p:spPr>
            </p:sp>
            <p:sp>
              <p:nvSpPr>
                <p:cNvPr id="25675" name="Line 117"/>
                <p:cNvSpPr/>
                <p:nvPr/>
              </p:nvSpPr>
              <p:spPr>
                <a:xfrm>
                  <a:off x="1632" y="3311"/>
                  <a:ext cx="0" cy="288"/>
                </a:xfrm>
                <a:prstGeom prst="line">
                  <a:avLst/>
                </a:prstGeom>
                <a:ln w="19050" cap="flat" cmpd="sng">
                  <a:solidFill>
                    <a:schemeClr val="bg1"/>
                  </a:solidFill>
                  <a:prstDash val="solid"/>
                  <a:round/>
                  <a:headEnd type="none" w="med" len="med"/>
                  <a:tailEnd type="none" w="med" len="med"/>
                </a:ln>
              </p:spPr>
            </p:sp>
            <p:sp>
              <p:nvSpPr>
                <p:cNvPr id="25676" name="Line 118"/>
                <p:cNvSpPr/>
                <p:nvPr/>
              </p:nvSpPr>
              <p:spPr>
                <a:xfrm>
                  <a:off x="1824" y="3311"/>
                  <a:ext cx="0" cy="288"/>
                </a:xfrm>
                <a:prstGeom prst="line">
                  <a:avLst/>
                </a:prstGeom>
                <a:ln w="19050" cap="flat" cmpd="sng">
                  <a:solidFill>
                    <a:schemeClr val="bg1"/>
                  </a:solidFill>
                  <a:prstDash val="solid"/>
                  <a:round/>
                  <a:headEnd type="none" w="med" len="med"/>
                  <a:tailEnd type="none" w="med" len="med"/>
                </a:ln>
              </p:spPr>
            </p:sp>
            <p:sp>
              <p:nvSpPr>
                <p:cNvPr id="25677" name="Line 119"/>
                <p:cNvSpPr/>
                <p:nvPr/>
              </p:nvSpPr>
              <p:spPr>
                <a:xfrm>
                  <a:off x="2016" y="3311"/>
                  <a:ext cx="0" cy="288"/>
                </a:xfrm>
                <a:prstGeom prst="line">
                  <a:avLst/>
                </a:prstGeom>
                <a:ln w="19050" cap="flat" cmpd="sng">
                  <a:solidFill>
                    <a:schemeClr val="bg1"/>
                  </a:solidFill>
                  <a:prstDash val="solid"/>
                  <a:round/>
                  <a:headEnd type="none" w="med" len="med"/>
                  <a:tailEnd type="none" w="med" len="med"/>
                </a:ln>
              </p:spPr>
            </p:sp>
            <p:sp>
              <p:nvSpPr>
                <p:cNvPr id="25678" name="Line 120"/>
                <p:cNvSpPr/>
                <p:nvPr/>
              </p:nvSpPr>
              <p:spPr>
                <a:xfrm flipV="1">
                  <a:off x="480" y="3215"/>
                  <a:ext cx="96" cy="96"/>
                </a:xfrm>
                <a:prstGeom prst="line">
                  <a:avLst/>
                </a:prstGeom>
                <a:ln w="12700" cap="flat" cmpd="sng">
                  <a:solidFill>
                    <a:schemeClr val="bg1"/>
                  </a:solidFill>
                  <a:prstDash val="solid"/>
                  <a:round/>
                  <a:headEnd type="none" w="med" len="med"/>
                  <a:tailEnd type="none" w="med" len="med"/>
                </a:ln>
              </p:spPr>
            </p:sp>
            <p:sp>
              <p:nvSpPr>
                <p:cNvPr id="25679" name="Line 121"/>
                <p:cNvSpPr/>
                <p:nvPr/>
              </p:nvSpPr>
              <p:spPr>
                <a:xfrm flipV="1">
                  <a:off x="672" y="3215"/>
                  <a:ext cx="96" cy="96"/>
                </a:xfrm>
                <a:prstGeom prst="line">
                  <a:avLst/>
                </a:prstGeom>
                <a:ln w="12700" cap="flat" cmpd="sng">
                  <a:solidFill>
                    <a:schemeClr val="bg1"/>
                  </a:solidFill>
                  <a:prstDash val="solid"/>
                  <a:round/>
                  <a:headEnd type="none" w="med" len="med"/>
                  <a:tailEnd type="none" w="med" len="med"/>
                </a:ln>
              </p:spPr>
            </p:sp>
            <p:sp>
              <p:nvSpPr>
                <p:cNvPr id="25680" name="Line 122"/>
                <p:cNvSpPr/>
                <p:nvPr/>
              </p:nvSpPr>
              <p:spPr>
                <a:xfrm flipV="1">
                  <a:off x="864" y="3215"/>
                  <a:ext cx="96" cy="96"/>
                </a:xfrm>
                <a:prstGeom prst="line">
                  <a:avLst/>
                </a:prstGeom>
                <a:ln w="12700" cap="flat" cmpd="sng">
                  <a:solidFill>
                    <a:schemeClr val="bg1"/>
                  </a:solidFill>
                  <a:prstDash val="solid"/>
                  <a:round/>
                  <a:headEnd type="none" w="med" len="med"/>
                  <a:tailEnd type="none" w="med" len="med"/>
                </a:ln>
              </p:spPr>
            </p:sp>
            <p:sp>
              <p:nvSpPr>
                <p:cNvPr id="25681" name="Line 123"/>
                <p:cNvSpPr/>
                <p:nvPr/>
              </p:nvSpPr>
              <p:spPr>
                <a:xfrm flipV="1">
                  <a:off x="1056" y="3215"/>
                  <a:ext cx="96" cy="96"/>
                </a:xfrm>
                <a:prstGeom prst="line">
                  <a:avLst/>
                </a:prstGeom>
                <a:ln w="12700" cap="flat" cmpd="sng">
                  <a:solidFill>
                    <a:schemeClr val="bg1"/>
                  </a:solidFill>
                  <a:prstDash val="solid"/>
                  <a:round/>
                  <a:headEnd type="none" w="med" len="med"/>
                  <a:tailEnd type="none" w="med" len="med"/>
                </a:ln>
              </p:spPr>
            </p:sp>
            <p:sp>
              <p:nvSpPr>
                <p:cNvPr id="25682" name="Line 124"/>
                <p:cNvSpPr/>
                <p:nvPr/>
              </p:nvSpPr>
              <p:spPr>
                <a:xfrm flipV="1">
                  <a:off x="1248" y="3215"/>
                  <a:ext cx="96" cy="96"/>
                </a:xfrm>
                <a:prstGeom prst="line">
                  <a:avLst/>
                </a:prstGeom>
                <a:ln w="12700" cap="flat" cmpd="sng">
                  <a:solidFill>
                    <a:schemeClr val="bg1"/>
                  </a:solidFill>
                  <a:prstDash val="solid"/>
                  <a:round/>
                  <a:headEnd type="none" w="med" len="med"/>
                  <a:tailEnd type="none" w="med" len="med"/>
                </a:ln>
              </p:spPr>
            </p:sp>
            <p:sp>
              <p:nvSpPr>
                <p:cNvPr id="25683" name="Line 125"/>
                <p:cNvSpPr/>
                <p:nvPr/>
              </p:nvSpPr>
              <p:spPr>
                <a:xfrm flipV="1">
                  <a:off x="1440" y="3215"/>
                  <a:ext cx="96" cy="96"/>
                </a:xfrm>
                <a:prstGeom prst="line">
                  <a:avLst/>
                </a:prstGeom>
                <a:ln w="12700" cap="flat" cmpd="sng">
                  <a:solidFill>
                    <a:schemeClr val="bg1"/>
                  </a:solidFill>
                  <a:prstDash val="solid"/>
                  <a:round/>
                  <a:headEnd type="none" w="med" len="med"/>
                  <a:tailEnd type="none" w="med" len="med"/>
                </a:ln>
              </p:spPr>
            </p:sp>
            <p:sp>
              <p:nvSpPr>
                <p:cNvPr id="25684" name="Line 126"/>
                <p:cNvSpPr/>
                <p:nvPr/>
              </p:nvSpPr>
              <p:spPr>
                <a:xfrm flipV="1">
                  <a:off x="1632" y="3215"/>
                  <a:ext cx="96" cy="96"/>
                </a:xfrm>
                <a:prstGeom prst="line">
                  <a:avLst/>
                </a:prstGeom>
                <a:ln w="12700" cap="flat" cmpd="sng">
                  <a:solidFill>
                    <a:schemeClr val="bg1"/>
                  </a:solidFill>
                  <a:prstDash val="solid"/>
                  <a:round/>
                  <a:headEnd type="none" w="med" len="med"/>
                  <a:tailEnd type="none" w="med" len="med"/>
                </a:ln>
              </p:spPr>
            </p:sp>
            <p:sp>
              <p:nvSpPr>
                <p:cNvPr id="25685" name="Line 127"/>
                <p:cNvSpPr/>
                <p:nvPr/>
              </p:nvSpPr>
              <p:spPr>
                <a:xfrm flipV="1">
                  <a:off x="1824" y="3215"/>
                  <a:ext cx="96" cy="96"/>
                </a:xfrm>
                <a:prstGeom prst="line">
                  <a:avLst/>
                </a:prstGeom>
                <a:ln w="12700" cap="flat" cmpd="sng">
                  <a:solidFill>
                    <a:schemeClr val="bg1"/>
                  </a:solidFill>
                  <a:prstDash val="solid"/>
                  <a:round/>
                  <a:headEnd type="none" w="med" len="med"/>
                  <a:tailEnd type="none" w="med" len="med"/>
                </a:ln>
              </p:spPr>
            </p:sp>
            <p:sp>
              <p:nvSpPr>
                <p:cNvPr id="25686" name="Line 128"/>
                <p:cNvSpPr/>
                <p:nvPr/>
              </p:nvSpPr>
              <p:spPr>
                <a:xfrm flipV="1">
                  <a:off x="2016" y="3215"/>
                  <a:ext cx="96" cy="96"/>
                </a:xfrm>
                <a:prstGeom prst="line">
                  <a:avLst/>
                </a:prstGeom>
                <a:ln w="12700" cap="flat" cmpd="sng">
                  <a:solidFill>
                    <a:schemeClr val="bg1"/>
                  </a:solidFill>
                  <a:prstDash val="solid"/>
                  <a:round/>
                  <a:headEnd type="none" w="med" len="med"/>
                  <a:tailEnd type="none" w="med" len="med"/>
                </a:ln>
              </p:spPr>
            </p:sp>
          </p:grpSp>
        </p:grpSp>
        <p:grpSp>
          <p:nvGrpSpPr>
            <p:cNvPr id="25687" name="Group 129"/>
            <p:cNvGrpSpPr/>
            <p:nvPr/>
          </p:nvGrpSpPr>
          <p:grpSpPr>
            <a:xfrm>
              <a:off x="9723" y="7435"/>
              <a:ext cx="6720" cy="1082"/>
              <a:chOff x="2544" y="3196"/>
              <a:chExt cx="2688" cy="483"/>
            </a:xfrm>
          </p:grpSpPr>
          <p:sp>
            <p:nvSpPr>
              <p:cNvPr id="25688" name="Rectangle 130"/>
              <p:cNvSpPr/>
              <p:nvPr/>
            </p:nvSpPr>
            <p:spPr>
              <a:xfrm>
                <a:off x="2544" y="3340"/>
                <a:ext cx="2544" cy="259"/>
              </a:xfrm>
              <a:prstGeom prst="rect">
                <a:avLst/>
              </a:prstGeom>
              <a:solidFill>
                <a:srgbClr val="FF7C80"/>
              </a:solidFill>
              <a:ln w="9525"/>
              <a:scene3d>
                <a:camera prst="legacyObliqueTopRight">
                  <a:rot lat="0" lon="0" rev="0"/>
                </a:camera>
                <a:lightRig rig="legacyFlat3" dir="b"/>
              </a:scene3d>
              <a:sp3d extrusionH="430200" prstMaterial="legacyMatte">
                <a:bevelT w="13500" h="13500" prst="angle"/>
                <a:bevelB w="13500" h="13500" prst="angle"/>
                <a:extrusionClr>
                  <a:srgbClr val="FF7C80"/>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5689" name="Line 131"/>
              <p:cNvSpPr/>
              <p:nvPr/>
            </p:nvSpPr>
            <p:spPr>
              <a:xfrm>
                <a:off x="2736" y="3311"/>
                <a:ext cx="0" cy="288"/>
              </a:xfrm>
              <a:prstGeom prst="line">
                <a:avLst/>
              </a:prstGeom>
              <a:ln w="19050" cap="flat" cmpd="sng">
                <a:solidFill>
                  <a:schemeClr val="bg1"/>
                </a:solidFill>
                <a:prstDash val="solid"/>
                <a:round/>
                <a:headEnd type="none" w="med" len="med"/>
                <a:tailEnd type="none" w="med" len="med"/>
              </a:ln>
            </p:spPr>
          </p:sp>
          <p:sp>
            <p:nvSpPr>
              <p:cNvPr id="25690" name="Text Box 132"/>
              <p:cNvSpPr txBox="1"/>
              <p:nvPr/>
            </p:nvSpPr>
            <p:spPr>
              <a:xfrm>
                <a:off x="2544" y="3269"/>
                <a:ext cx="2688" cy="410"/>
              </a:xfrm>
              <a:prstGeom prst="rect">
                <a:avLst/>
              </a:prstGeom>
              <a:noFill/>
              <a:ln w="38100">
                <a:noFill/>
              </a:ln>
            </p:spPr>
            <p:txBody>
              <a:bodyPr anchor="ctr" anchorCtr="0">
                <a:spAutoFit/>
              </a:bodyPr>
              <a:p>
                <a:r>
                  <a:rPr lang="en-US" altLang="zh-CN" sz="3200" b="1" dirty="0">
                    <a:solidFill>
                      <a:schemeClr val="bg1"/>
                    </a:solidFill>
                    <a:latin typeface="Times New Roman" panose="02020603050405020304" pitchFamily="18" charset="0"/>
                    <a:ea typeface="宋体" panose="02010600030101010101" pitchFamily="2" charset="-122"/>
                  </a:rPr>
                  <a:t>1 2 3 4 </a:t>
                </a:r>
                <a:r>
                  <a:rPr lang="en-US" altLang="zh-CN" sz="3200" b="1" dirty="0">
                    <a:latin typeface="Times New Roman" panose="02020603050405020304" pitchFamily="18" charset="0"/>
                    <a:ea typeface="宋体" panose="02010600030101010101" pitchFamily="2" charset="-122"/>
                  </a:rPr>
                  <a:t>0</a:t>
                </a:r>
                <a:r>
                  <a:rPr lang="en-US" altLang="zh-CN" sz="3200" b="1" dirty="0">
                    <a:solidFill>
                      <a:schemeClr val="bg1"/>
                    </a:solidFill>
                    <a:latin typeface="Times New Roman" panose="02020603050405020304" pitchFamily="18" charset="0"/>
                    <a:ea typeface="宋体" panose="02010600030101010101" pitchFamily="2" charset="-122"/>
                  </a:rPr>
                  <a:t> 5 6 7 8 </a:t>
                </a:r>
                <a:r>
                  <a:rPr lang="en-US" altLang="zh-CN" sz="3200" b="1" dirty="0">
                    <a:latin typeface="Times New Roman" panose="02020603050405020304" pitchFamily="18" charset="0"/>
                    <a:ea typeface="宋体" panose="02010600030101010101" pitchFamily="2" charset="-122"/>
                  </a:rPr>
                  <a:t>0 0</a:t>
                </a:r>
                <a:r>
                  <a:rPr lang="en-US" altLang="zh-CN" sz="3200" b="1" dirty="0">
                    <a:solidFill>
                      <a:schemeClr val="bg1"/>
                    </a:solidFill>
                    <a:latin typeface="Times New Roman" panose="02020603050405020304" pitchFamily="18" charset="0"/>
                    <a:ea typeface="宋体" panose="02010600030101010101" pitchFamily="2" charset="-122"/>
                  </a:rPr>
                  <a:t> 910   </a:t>
                </a:r>
                <a:endParaRPr lang="en-US" altLang="zh-CN" sz="2800" dirty="0">
                  <a:latin typeface="Times New Roman" panose="02020603050405020304" pitchFamily="18" charset="0"/>
                  <a:ea typeface="宋体" panose="02010600030101010101" pitchFamily="2" charset="-122"/>
                </a:endParaRPr>
              </a:p>
            </p:txBody>
          </p:sp>
          <p:sp>
            <p:nvSpPr>
              <p:cNvPr id="25691" name="Line 133"/>
              <p:cNvSpPr/>
              <p:nvPr/>
            </p:nvSpPr>
            <p:spPr>
              <a:xfrm>
                <a:off x="2928" y="3311"/>
                <a:ext cx="0" cy="288"/>
              </a:xfrm>
              <a:prstGeom prst="line">
                <a:avLst/>
              </a:prstGeom>
              <a:ln w="19050" cap="flat" cmpd="sng">
                <a:solidFill>
                  <a:schemeClr val="bg1"/>
                </a:solidFill>
                <a:prstDash val="solid"/>
                <a:round/>
                <a:headEnd type="none" w="med" len="med"/>
                <a:tailEnd type="none" w="med" len="med"/>
              </a:ln>
            </p:spPr>
          </p:sp>
          <p:sp>
            <p:nvSpPr>
              <p:cNvPr id="25692" name="Line 134"/>
              <p:cNvSpPr/>
              <p:nvPr/>
            </p:nvSpPr>
            <p:spPr>
              <a:xfrm>
                <a:off x="3120" y="3311"/>
                <a:ext cx="0" cy="288"/>
              </a:xfrm>
              <a:prstGeom prst="line">
                <a:avLst/>
              </a:prstGeom>
              <a:ln w="19050" cap="flat" cmpd="sng">
                <a:solidFill>
                  <a:schemeClr val="bg1"/>
                </a:solidFill>
                <a:prstDash val="solid"/>
                <a:round/>
                <a:headEnd type="none" w="med" len="med"/>
                <a:tailEnd type="none" w="med" len="med"/>
              </a:ln>
            </p:spPr>
          </p:sp>
          <p:sp>
            <p:nvSpPr>
              <p:cNvPr id="25693" name="Line 135"/>
              <p:cNvSpPr/>
              <p:nvPr/>
            </p:nvSpPr>
            <p:spPr>
              <a:xfrm>
                <a:off x="3312" y="3311"/>
                <a:ext cx="0" cy="288"/>
              </a:xfrm>
              <a:prstGeom prst="line">
                <a:avLst/>
              </a:prstGeom>
              <a:ln w="19050" cap="flat" cmpd="sng">
                <a:solidFill>
                  <a:schemeClr val="bg1"/>
                </a:solidFill>
                <a:prstDash val="solid"/>
                <a:round/>
                <a:headEnd type="none" w="med" len="med"/>
                <a:tailEnd type="none" w="med" len="med"/>
              </a:ln>
            </p:spPr>
          </p:sp>
          <p:sp>
            <p:nvSpPr>
              <p:cNvPr id="25694" name="Line 136"/>
              <p:cNvSpPr/>
              <p:nvPr/>
            </p:nvSpPr>
            <p:spPr>
              <a:xfrm>
                <a:off x="3504" y="3311"/>
                <a:ext cx="0" cy="288"/>
              </a:xfrm>
              <a:prstGeom prst="line">
                <a:avLst/>
              </a:prstGeom>
              <a:ln w="19050" cap="flat" cmpd="sng">
                <a:solidFill>
                  <a:schemeClr val="bg1"/>
                </a:solidFill>
                <a:prstDash val="solid"/>
                <a:round/>
                <a:headEnd type="none" w="med" len="med"/>
                <a:tailEnd type="none" w="med" len="med"/>
              </a:ln>
            </p:spPr>
          </p:sp>
          <p:sp>
            <p:nvSpPr>
              <p:cNvPr id="25695" name="Line 137"/>
              <p:cNvSpPr/>
              <p:nvPr/>
            </p:nvSpPr>
            <p:spPr>
              <a:xfrm>
                <a:off x="3696" y="3311"/>
                <a:ext cx="0" cy="288"/>
              </a:xfrm>
              <a:prstGeom prst="line">
                <a:avLst/>
              </a:prstGeom>
              <a:ln w="19050" cap="flat" cmpd="sng">
                <a:solidFill>
                  <a:schemeClr val="bg1"/>
                </a:solidFill>
                <a:prstDash val="solid"/>
                <a:round/>
                <a:headEnd type="none" w="med" len="med"/>
                <a:tailEnd type="none" w="med" len="med"/>
              </a:ln>
            </p:spPr>
          </p:sp>
          <p:sp>
            <p:nvSpPr>
              <p:cNvPr id="25696" name="Line 138"/>
              <p:cNvSpPr/>
              <p:nvPr/>
            </p:nvSpPr>
            <p:spPr>
              <a:xfrm>
                <a:off x="3888" y="3311"/>
                <a:ext cx="0" cy="288"/>
              </a:xfrm>
              <a:prstGeom prst="line">
                <a:avLst/>
              </a:prstGeom>
              <a:ln w="19050" cap="flat" cmpd="sng">
                <a:solidFill>
                  <a:schemeClr val="bg1"/>
                </a:solidFill>
                <a:prstDash val="solid"/>
                <a:round/>
                <a:headEnd type="none" w="med" len="med"/>
                <a:tailEnd type="none" w="med" len="med"/>
              </a:ln>
            </p:spPr>
          </p:sp>
          <p:sp>
            <p:nvSpPr>
              <p:cNvPr id="25697" name="Line 139"/>
              <p:cNvSpPr/>
              <p:nvPr/>
            </p:nvSpPr>
            <p:spPr>
              <a:xfrm>
                <a:off x="4080" y="3311"/>
                <a:ext cx="0" cy="288"/>
              </a:xfrm>
              <a:prstGeom prst="line">
                <a:avLst/>
              </a:prstGeom>
              <a:ln w="19050" cap="flat" cmpd="sng">
                <a:solidFill>
                  <a:schemeClr val="bg1"/>
                </a:solidFill>
                <a:prstDash val="solid"/>
                <a:round/>
                <a:headEnd type="none" w="med" len="med"/>
                <a:tailEnd type="none" w="med" len="med"/>
              </a:ln>
            </p:spPr>
          </p:sp>
          <p:sp>
            <p:nvSpPr>
              <p:cNvPr id="25698" name="Line 140"/>
              <p:cNvSpPr/>
              <p:nvPr/>
            </p:nvSpPr>
            <p:spPr>
              <a:xfrm>
                <a:off x="4272" y="3311"/>
                <a:ext cx="0" cy="288"/>
              </a:xfrm>
              <a:prstGeom prst="line">
                <a:avLst/>
              </a:prstGeom>
              <a:ln w="19050" cap="flat" cmpd="sng">
                <a:solidFill>
                  <a:schemeClr val="bg1"/>
                </a:solidFill>
                <a:prstDash val="solid"/>
                <a:round/>
                <a:headEnd type="none" w="med" len="med"/>
                <a:tailEnd type="none" w="med" len="med"/>
              </a:ln>
            </p:spPr>
          </p:sp>
          <p:sp>
            <p:nvSpPr>
              <p:cNvPr id="25699" name="Line 141"/>
              <p:cNvSpPr/>
              <p:nvPr/>
            </p:nvSpPr>
            <p:spPr>
              <a:xfrm flipV="1">
                <a:off x="2736" y="3215"/>
                <a:ext cx="96" cy="96"/>
              </a:xfrm>
              <a:prstGeom prst="line">
                <a:avLst/>
              </a:prstGeom>
              <a:ln w="12700" cap="flat" cmpd="sng">
                <a:solidFill>
                  <a:schemeClr val="bg1"/>
                </a:solidFill>
                <a:prstDash val="solid"/>
                <a:round/>
                <a:headEnd type="none" w="med" len="med"/>
                <a:tailEnd type="none" w="med" len="med"/>
              </a:ln>
            </p:spPr>
          </p:sp>
          <p:sp>
            <p:nvSpPr>
              <p:cNvPr id="25700" name="Line 142"/>
              <p:cNvSpPr/>
              <p:nvPr/>
            </p:nvSpPr>
            <p:spPr>
              <a:xfrm flipV="1">
                <a:off x="2928" y="3215"/>
                <a:ext cx="96" cy="96"/>
              </a:xfrm>
              <a:prstGeom prst="line">
                <a:avLst/>
              </a:prstGeom>
              <a:ln w="12700" cap="flat" cmpd="sng">
                <a:solidFill>
                  <a:schemeClr val="bg1"/>
                </a:solidFill>
                <a:prstDash val="solid"/>
                <a:round/>
                <a:headEnd type="none" w="med" len="med"/>
                <a:tailEnd type="none" w="med" len="med"/>
              </a:ln>
            </p:spPr>
          </p:sp>
          <p:sp>
            <p:nvSpPr>
              <p:cNvPr id="25701" name="Line 143"/>
              <p:cNvSpPr/>
              <p:nvPr/>
            </p:nvSpPr>
            <p:spPr>
              <a:xfrm flipV="1">
                <a:off x="3120" y="3215"/>
                <a:ext cx="96" cy="96"/>
              </a:xfrm>
              <a:prstGeom prst="line">
                <a:avLst/>
              </a:prstGeom>
              <a:ln w="12700" cap="flat" cmpd="sng">
                <a:solidFill>
                  <a:schemeClr val="bg1"/>
                </a:solidFill>
                <a:prstDash val="solid"/>
                <a:round/>
                <a:headEnd type="none" w="med" len="med"/>
                <a:tailEnd type="none" w="med" len="med"/>
              </a:ln>
            </p:spPr>
          </p:sp>
          <p:sp>
            <p:nvSpPr>
              <p:cNvPr id="25702" name="Line 144"/>
              <p:cNvSpPr/>
              <p:nvPr/>
            </p:nvSpPr>
            <p:spPr>
              <a:xfrm flipV="1">
                <a:off x="3312" y="3215"/>
                <a:ext cx="96" cy="96"/>
              </a:xfrm>
              <a:prstGeom prst="line">
                <a:avLst/>
              </a:prstGeom>
              <a:ln w="12700" cap="flat" cmpd="sng">
                <a:solidFill>
                  <a:schemeClr val="bg1"/>
                </a:solidFill>
                <a:prstDash val="solid"/>
                <a:round/>
                <a:headEnd type="none" w="med" len="med"/>
                <a:tailEnd type="none" w="med" len="med"/>
              </a:ln>
            </p:spPr>
          </p:sp>
          <p:sp>
            <p:nvSpPr>
              <p:cNvPr id="25703" name="Line 145"/>
              <p:cNvSpPr/>
              <p:nvPr/>
            </p:nvSpPr>
            <p:spPr>
              <a:xfrm flipV="1">
                <a:off x="3504" y="3215"/>
                <a:ext cx="96" cy="96"/>
              </a:xfrm>
              <a:prstGeom prst="line">
                <a:avLst/>
              </a:prstGeom>
              <a:ln w="12700" cap="flat" cmpd="sng">
                <a:solidFill>
                  <a:schemeClr val="bg1"/>
                </a:solidFill>
                <a:prstDash val="solid"/>
                <a:round/>
                <a:headEnd type="none" w="med" len="med"/>
                <a:tailEnd type="none" w="med" len="med"/>
              </a:ln>
            </p:spPr>
          </p:sp>
          <p:sp>
            <p:nvSpPr>
              <p:cNvPr id="25704" name="Line 146"/>
              <p:cNvSpPr/>
              <p:nvPr/>
            </p:nvSpPr>
            <p:spPr>
              <a:xfrm flipV="1">
                <a:off x="3696" y="3215"/>
                <a:ext cx="96" cy="96"/>
              </a:xfrm>
              <a:prstGeom prst="line">
                <a:avLst/>
              </a:prstGeom>
              <a:ln w="12700" cap="flat" cmpd="sng">
                <a:solidFill>
                  <a:schemeClr val="bg1"/>
                </a:solidFill>
                <a:prstDash val="solid"/>
                <a:round/>
                <a:headEnd type="none" w="med" len="med"/>
                <a:tailEnd type="none" w="med" len="med"/>
              </a:ln>
            </p:spPr>
          </p:sp>
          <p:sp>
            <p:nvSpPr>
              <p:cNvPr id="25705" name="Line 147"/>
              <p:cNvSpPr/>
              <p:nvPr/>
            </p:nvSpPr>
            <p:spPr>
              <a:xfrm flipV="1">
                <a:off x="3888" y="3215"/>
                <a:ext cx="96" cy="96"/>
              </a:xfrm>
              <a:prstGeom prst="line">
                <a:avLst/>
              </a:prstGeom>
              <a:ln w="12700" cap="flat" cmpd="sng">
                <a:solidFill>
                  <a:schemeClr val="bg1"/>
                </a:solidFill>
                <a:prstDash val="solid"/>
                <a:round/>
                <a:headEnd type="none" w="med" len="med"/>
                <a:tailEnd type="none" w="med" len="med"/>
              </a:ln>
            </p:spPr>
          </p:sp>
          <p:sp>
            <p:nvSpPr>
              <p:cNvPr id="25706" name="Line 148"/>
              <p:cNvSpPr/>
              <p:nvPr/>
            </p:nvSpPr>
            <p:spPr>
              <a:xfrm flipV="1">
                <a:off x="4080" y="3215"/>
                <a:ext cx="96" cy="96"/>
              </a:xfrm>
              <a:prstGeom prst="line">
                <a:avLst/>
              </a:prstGeom>
              <a:ln w="12700" cap="flat" cmpd="sng">
                <a:solidFill>
                  <a:schemeClr val="bg1"/>
                </a:solidFill>
                <a:prstDash val="solid"/>
                <a:round/>
                <a:headEnd type="none" w="med" len="med"/>
                <a:tailEnd type="none" w="med" len="med"/>
              </a:ln>
            </p:spPr>
          </p:sp>
          <p:sp>
            <p:nvSpPr>
              <p:cNvPr id="25707" name="Line 149"/>
              <p:cNvSpPr/>
              <p:nvPr/>
            </p:nvSpPr>
            <p:spPr>
              <a:xfrm flipV="1">
                <a:off x="4272" y="3215"/>
                <a:ext cx="96" cy="96"/>
              </a:xfrm>
              <a:prstGeom prst="line">
                <a:avLst/>
              </a:prstGeom>
              <a:ln w="12700" cap="flat" cmpd="sng">
                <a:solidFill>
                  <a:schemeClr val="bg1"/>
                </a:solidFill>
                <a:prstDash val="solid"/>
                <a:round/>
                <a:headEnd type="none" w="med" len="med"/>
                <a:tailEnd type="none" w="med" len="med"/>
              </a:ln>
            </p:spPr>
          </p:sp>
          <p:sp>
            <p:nvSpPr>
              <p:cNvPr id="25708" name="Line 150"/>
              <p:cNvSpPr/>
              <p:nvPr/>
            </p:nvSpPr>
            <p:spPr>
              <a:xfrm>
                <a:off x="4464" y="3311"/>
                <a:ext cx="0" cy="288"/>
              </a:xfrm>
              <a:prstGeom prst="line">
                <a:avLst/>
              </a:prstGeom>
              <a:ln w="19050" cap="flat" cmpd="sng">
                <a:solidFill>
                  <a:schemeClr val="bg1"/>
                </a:solidFill>
                <a:prstDash val="solid"/>
                <a:round/>
                <a:headEnd type="none" w="med" len="med"/>
                <a:tailEnd type="none" w="med" len="med"/>
              </a:ln>
            </p:spPr>
          </p:sp>
          <p:sp>
            <p:nvSpPr>
              <p:cNvPr id="25709" name="Line 151"/>
              <p:cNvSpPr/>
              <p:nvPr/>
            </p:nvSpPr>
            <p:spPr>
              <a:xfrm flipV="1">
                <a:off x="4464" y="3215"/>
                <a:ext cx="96" cy="96"/>
              </a:xfrm>
              <a:prstGeom prst="line">
                <a:avLst/>
              </a:prstGeom>
              <a:ln w="12700" cap="flat" cmpd="sng">
                <a:solidFill>
                  <a:schemeClr val="bg1"/>
                </a:solidFill>
                <a:prstDash val="solid"/>
                <a:round/>
                <a:headEnd type="none" w="med" len="med"/>
                <a:tailEnd type="none" w="med" len="med"/>
              </a:ln>
            </p:spPr>
          </p:sp>
          <p:sp>
            <p:nvSpPr>
              <p:cNvPr id="25710" name="Line 152"/>
              <p:cNvSpPr/>
              <p:nvPr/>
            </p:nvSpPr>
            <p:spPr>
              <a:xfrm>
                <a:off x="4656" y="3311"/>
                <a:ext cx="0" cy="288"/>
              </a:xfrm>
              <a:prstGeom prst="line">
                <a:avLst/>
              </a:prstGeom>
              <a:ln w="19050" cap="flat" cmpd="sng">
                <a:solidFill>
                  <a:schemeClr val="bg1"/>
                </a:solidFill>
                <a:prstDash val="solid"/>
                <a:round/>
                <a:headEnd type="none" w="med" len="med"/>
                <a:tailEnd type="none" w="med" len="med"/>
              </a:ln>
            </p:spPr>
          </p:sp>
          <p:sp>
            <p:nvSpPr>
              <p:cNvPr id="25711" name="Line 153"/>
              <p:cNvSpPr/>
              <p:nvPr/>
            </p:nvSpPr>
            <p:spPr>
              <a:xfrm flipV="1">
                <a:off x="4656" y="3215"/>
                <a:ext cx="96" cy="96"/>
              </a:xfrm>
              <a:prstGeom prst="line">
                <a:avLst/>
              </a:prstGeom>
              <a:ln w="12700" cap="flat" cmpd="sng">
                <a:solidFill>
                  <a:schemeClr val="bg1"/>
                </a:solidFill>
                <a:prstDash val="solid"/>
                <a:round/>
                <a:headEnd type="none" w="med" len="med"/>
                <a:tailEnd type="none" w="med" len="med"/>
              </a:ln>
            </p:spPr>
          </p:sp>
          <p:sp>
            <p:nvSpPr>
              <p:cNvPr id="25712" name="Line 154"/>
              <p:cNvSpPr/>
              <p:nvPr/>
            </p:nvSpPr>
            <p:spPr>
              <a:xfrm>
                <a:off x="4848" y="3292"/>
                <a:ext cx="0" cy="288"/>
              </a:xfrm>
              <a:prstGeom prst="line">
                <a:avLst/>
              </a:prstGeom>
              <a:ln w="19050" cap="flat" cmpd="sng">
                <a:solidFill>
                  <a:schemeClr val="bg1"/>
                </a:solidFill>
                <a:prstDash val="solid"/>
                <a:round/>
                <a:headEnd type="none" w="med" len="med"/>
                <a:tailEnd type="none" w="med" len="med"/>
              </a:ln>
            </p:spPr>
          </p:sp>
          <p:sp>
            <p:nvSpPr>
              <p:cNvPr id="25713" name="Line 155"/>
              <p:cNvSpPr/>
              <p:nvPr/>
            </p:nvSpPr>
            <p:spPr>
              <a:xfrm flipV="1">
                <a:off x="4848" y="3196"/>
                <a:ext cx="96" cy="96"/>
              </a:xfrm>
              <a:prstGeom prst="line">
                <a:avLst/>
              </a:prstGeom>
              <a:ln w="12700" cap="flat" cmpd="sng">
                <a:solidFill>
                  <a:schemeClr val="bg1"/>
                </a:solidFill>
                <a:prstDash val="solid"/>
                <a:round/>
                <a:headEnd type="none" w="med" len="med"/>
                <a:tailEnd type="none" w="med" len="med"/>
              </a:ln>
            </p:spPr>
          </p:sp>
        </p:grpSp>
      </p:grpSp>
      <p:sp>
        <p:nvSpPr>
          <p:cNvPr id="8" name="文本框 7"/>
          <p:cNvSpPr txBox="1"/>
          <p:nvPr/>
        </p:nvSpPr>
        <p:spPr>
          <a:xfrm>
            <a:off x="429260" y="3327400"/>
            <a:ext cx="1965325" cy="1880235"/>
          </a:xfrm>
          <a:prstGeom prst="rect">
            <a:avLst/>
          </a:prstGeom>
        </p:spPr>
        <p:txBody>
          <a:bodyPr vert="horz" wrap="squar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利用二叉树性质</a:t>
            </a:r>
            <a:r>
              <a:rPr lang="en-US" altLang="zh-CN"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5</a:t>
            </a:r>
            <a:endPar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a:p>
            <a:pPr marL="0" lvl="0" indent="0">
              <a:lnSpc>
                <a:spcPct val="90000"/>
              </a:lnSpc>
              <a:spcBef>
                <a:spcPts val="1000"/>
              </a:spcBef>
              <a:buClr>
                <a:schemeClr val="accent2"/>
              </a:buClr>
              <a:buFont typeface="Wingdings" panose="05000000000000000000" pitchFamily="2" charset="2"/>
              <a:buNone/>
            </a:pP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反映结点之间的双亲孩子关系</a:t>
            </a:r>
            <a:endPar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二叉树的链式存储结构，用指针表示孩子关系、双亲关系</a:t>
            </a:r>
            <a:endParaRPr lang="zh-CN" altLang="en-US" sz="2800" dirty="0">
              <a:latin typeface="黑体" panose="02010609060101010101" pitchFamily="2" charset="-122"/>
              <a:ea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采用二叉链表，数据域加上左、右孩子指针</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采用三叉链表，数据域加上双亲、左、右孩子指针</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6.2 </a:t>
            </a:r>
            <a:r>
              <a:rPr lang="zh-CN" altLang="en-US">
                <a:latin typeface="楷体" panose="02010609060101010101" charset="-122"/>
                <a:ea typeface="楷体" panose="02010609060101010101" charset="-122"/>
                <a:cs typeface="楷体" panose="02010609060101010101" charset="-122"/>
                <a:sym typeface="+mn-ea"/>
              </a:rPr>
              <a:t>二叉</a:t>
            </a:r>
            <a:r>
              <a:rPr lang="zh-CN" altLang="en-US" dirty="0">
                <a:latin typeface="楷体" panose="02010609060101010101" charset="-122"/>
                <a:ea typeface="楷体" panose="02010609060101010101" charset="-122"/>
                <a:sym typeface="+mn-ea"/>
              </a:rPr>
              <a:t>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26628" name="Group 114"/>
          <p:cNvGrpSpPr/>
          <p:nvPr/>
        </p:nvGrpSpPr>
        <p:grpSpPr>
          <a:xfrm>
            <a:off x="1180327" y="3957638"/>
            <a:ext cx="3662818" cy="1462009"/>
            <a:chOff x="1180" y="1872"/>
            <a:chExt cx="3236" cy="969"/>
          </a:xfrm>
        </p:grpSpPr>
        <p:sp>
          <p:nvSpPr>
            <p:cNvPr id="26629" name="AutoShape 115"/>
            <p:cNvSpPr/>
            <p:nvPr/>
          </p:nvSpPr>
          <p:spPr>
            <a:xfrm>
              <a:off x="1968" y="1968"/>
              <a:ext cx="1584" cy="288"/>
            </a:xfrm>
            <a:prstGeom prst="roundRect">
              <a:avLst>
                <a:gd name="adj" fmla="val 16667"/>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6630" name="AutoShape 116"/>
            <p:cNvSpPr/>
            <p:nvPr/>
          </p:nvSpPr>
          <p:spPr>
            <a:xfrm>
              <a:off x="3264" y="2544"/>
              <a:ext cx="1152" cy="288"/>
            </a:xfrm>
            <a:prstGeom prst="roundRect">
              <a:avLst>
                <a:gd name="adj" fmla="val 16667"/>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6631" name="AutoShape 117"/>
            <p:cNvSpPr/>
            <p:nvPr/>
          </p:nvSpPr>
          <p:spPr>
            <a:xfrm>
              <a:off x="1200" y="2544"/>
              <a:ext cx="960" cy="288"/>
            </a:xfrm>
            <a:prstGeom prst="roundRect">
              <a:avLst>
                <a:gd name="adj" fmla="val 16667"/>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6632" name="Text Box 118"/>
            <p:cNvSpPr txBox="1"/>
            <p:nvPr/>
          </p:nvSpPr>
          <p:spPr>
            <a:xfrm>
              <a:off x="2377" y="1919"/>
              <a:ext cx="755" cy="346"/>
            </a:xfrm>
            <a:prstGeom prst="rect">
              <a:avLst/>
            </a:prstGeom>
            <a:noFill/>
            <a:ln w="38100">
              <a:noFill/>
            </a:ln>
          </p:spPr>
          <p:txBody>
            <a:bodyPr wrap="none" anchor="ctr" anchorCtr="0">
              <a:spAutoFit/>
            </a:bodyPr>
            <a:p>
              <a:pPr algn="ctr"/>
              <a:r>
                <a:rPr lang="en-US" altLang="zh-CN" sz="2800" b="1" dirty="0">
                  <a:solidFill>
                    <a:srgbClr val="FFFFCC"/>
                  </a:solidFill>
                  <a:latin typeface="Times New Roman" panose="02020603050405020304" pitchFamily="18" charset="0"/>
                  <a:ea typeface="宋体" panose="02010600030101010101" pitchFamily="2" charset="-122"/>
                </a:rPr>
                <a:t>data</a:t>
              </a:r>
              <a:endParaRPr lang="en-US" altLang="zh-CN" sz="2400" dirty="0">
                <a:latin typeface="Times New Roman" panose="02020603050405020304" pitchFamily="18" charset="0"/>
                <a:ea typeface="宋体" panose="02010600030101010101" pitchFamily="2" charset="-122"/>
              </a:endParaRPr>
            </a:p>
          </p:txBody>
        </p:sp>
        <p:sp>
          <p:nvSpPr>
            <p:cNvPr id="26633" name="Text Box 119"/>
            <p:cNvSpPr txBox="1"/>
            <p:nvPr/>
          </p:nvSpPr>
          <p:spPr>
            <a:xfrm>
              <a:off x="1180" y="2495"/>
              <a:ext cx="1000" cy="346"/>
            </a:xfrm>
            <a:prstGeom prst="rect">
              <a:avLst/>
            </a:prstGeom>
            <a:noFill/>
            <a:ln w="38100">
              <a:noFill/>
            </a:ln>
          </p:spPr>
          <p:txBody>
            <a:bodyPr wrap="none" anchor="ctr" anchorCtr="0">
              <a:spAutoFit/>
            </a:bodyPr>
            <a:p>
              <a:pPr algn="ctr"/>
              <a:r>
                <a:rPr lang="en-US" altLang="zh-CN" sz="2800" b="1" dirty="0">
                  <a:solidFill>
                    <a:srgbClr val="FFFFCC"/>
                  </a:solidFill>
                  <a:latin typeface="Times New Roman" panose="02020603050405020304" pitchFamily="18" charset="0"/>
                  <a:ea typeface="宋体" panose="02010600030101010101" pitchFamily="2" charset="-122"/>
                </a:rPr>
                <a:t>lChild</a:t>
              </a:r>
              <a:endParaRPr lang="en-US" altLang="zh-CN" sz="2400" dirty="0">
                <a:latin typeface="Times New Roman" panose="02020603050405020304" pitchFamily="18" charset="0"/>
                <a:ea typeface="宋体" panose="02010600030101010101" pitchFamily="2" charset="-122"/>
              </a:endParaRPr>
            </a:p>
          </p:txBody>
        </p:sp>
        <p:sp>
          <p:nvSpPr>
            <p:cNvPr id="26634" name="Line 120"/>
            <p:cNvSpPr/>
            <p:nvPr/>
          </p:nvSpPr>
          <p:spPr>
            <a:xfrm flipV="1">
              <a:off x="3072" y="1968"/>
              <a:ext cx="0" cy="288"/>
            </a:xfrm>
            <a:prstGeom prst="line">
              <a:avLst/>
            </a:prstGeom>
            <a:ln w="19050" cap="flat" cmpd="sng">
              <a:solidFill>
                <a:srgbClr val="FFFFCC"/>
              </a:solidFill>
              <a:prstDash val="solid"/>
              <a:round/>
              <a:headEnd type="none" w="med" len="med"/>
              <a:tailEnd type="none" w="med" len="med"/>
            </a:ln>
          </p:spPr>
        </p:sp>
        <p:sp>
          <p:nvSpPr>
            <p:cNvPr id="26635" name="Line 121"/>
            <p:cNvSpPr/>
            <p:nvPr/>
          </p:nvSpPr>
          <p:spPr>
            <a:xfrm flipV="1">
              <a:off x="3072" y="1872"/>
              <a:ext cx="96" cy="96"/>
            </a:xfrm>
            <a:prstGeom prst="line">
              <a:avLst/>
            </a:prstGeom>
            <a:ln w="19050" cap="flat" cmpd="sng">
              <a:solidFill>
                <a:srgbClr val="FFFFCC"/>
              </a:solidFill>
              <a:prstDash val="solid"/>
              <a:round/>
              <a:headEnd type="none" w="med" len="med"/>
              <a:tailEnd type="none" w="med" len="med"/>
            </a:ln>
          </p:spPr>
        </p:sp>
        <p:sp>
          <p:nvSpPr>
            <p:cNvPr id="26636" name="Line 122"/>
            <p:cNvSpPr/>
            <p:nvPr/>
          </p:nvSpPr>
          <p:spPr>
            <a:xfrm flipV="1">
              <a:off x="2448" y="1968"/>
              <a:ext cx="0" cy="288"/>
            </a:xfrm>
            <a:prstGeom prst="line">
              <a:avLst/>
            </a:prstGeom>
            <a:ln w="19050" cap="flat" cmpd="sng">
              <a:solidFill>
                <a:srgbClr val="FFFFCC"/>
              </a:solidFill>
              <a:prstDash val="solid"/>
              <a:round/>
              <a:headEnd type="none" w="med" len="med"/>
              <a:tailEnd type="none" w="med" len="med"/>
            </a:ln>
          </p:spPr>
        </p:sp>
        <p:sp>
          <p:nvSpPr>
            <p:cNvPr id="26637" name="Line 123"/>
            <p:cNvSpPr/>
            <p:nvPr/>
          </p:nvSpPr>
          <p:spPr>
            <a:xfrm flipV="1">
              <a:off x="2448" y="1872"/>
              <a:ext cx="96" cy="96"/>
            </a:xfrm>
            <a:prstGeom prst="line">
              <a:avLst/>
            </a:prstGeom>
            <a:ln w="19050" cap="flat" cmpd="sng">
              <a:solidFill>
                <a:srgbClr val="FFFFCC"/>
              </a:solidFill>
              <a:prstDash val="solid"/>
              <a:round/>
              <a:headEnd type="none" w="med" len="med"/>
              <a:tailEnd type="none" w="med" len="med"/>
            </a:ln>
          </p:spPr>
        </p:sp>
        <p:sp>
          <p:nvSpPr>
            <p:cNvPr id="26638" name="Text Box 124"/>
            <p:cNvSpPr txBox="1"/>
            <p:nvPr/>
          </p:nvSpPr>
          <p:spPr>
            <a:xfrm>
              <a:off x="3299" y="2486"/>
              <a:ext cx="1052" cy="346"/>
            </a:xfrm>
            <a:prstGeom prst="rect">
              <a:avLst/>
            </a:prstGeom>
            <a:noFill/>
            <a:ln w="38100">
              <a:noFill/>
            </a:ln>
          </p:spPr>
          <p:txBody>
            <a:bodyPr wrap="none" anchor="ctr" anchorCtr="0">
              <a:spAutoFit/>
            </a:bodyPr>
            <a:p>
              <a:pPr algn="ctr"/>
              <a:r>
                <a:rPr lang="en-US" altLang="zh-CN" sz="2800" b="1" dirty="0">
                  <a:solidFill>
                    <a:srgbClr val="FFFFCC"/>
                  </a:solidFill>
                  <a:latin typeface="Times New Roman" panose="02020603050405020304" pitchFamily="18" charset="0"/>
                  <a:ea typeface="宋体" panose="02010600030101010101" pitchFamily="2" charset="-122"/>
                </a:rPr>
                <a:t>rChild</a:t>
              </a:r>
              <a:endParaRPr lang="en-US" altLang="zh-CN" sz="2400" dirty="0">
                <a:latin typeface="Times New Roman" panose="02020603050405020304" pitchFamily="18" charset="0"/>
                <a:ea typeface="宋体" panose="02010600030101010101" pitchFamily="2" charset="-122"/>
              </a:endParaRPr>
            </a:p>
          </p:txBody>
        </p:sp>
        <p:sp>
          <p:nvSpPr>
            <p:cNvPr id="26639" name="Line 125"/>
            <p:cNvSpPr/>
            <p:nvPr/>
          </p:nvSpPr>
          <p:spPr>
            <a:xfrm flipH="1">
              <a:off x="1872" y="2256"/>
              <a:ext cx="192" cy="192"/>
            </a:xfrm>
            <a:prstGeom prst="line">
              <a:avLst/>
            </a:prstGeom>
            <a:ln w="38100" cap="flat" cmpd="sng">
              <a:solidFill>
                <a:schemeClr val="tx2"/>
              </a:solidFill>
              <a:prstDash val="solid"/>
              <a:round/>
              <a:headEnd type="none" w="med" len="med"/>
              <a:tailEnd type="triangle" w="sm" len="lg"/>
            </a:ln>
          </p:spPr>
        </p:sp>
        <p:sp>
          <p:nvSpPr>
            <p:cNvPr id="26640" name="Line 126"/>
            <p:cNvSpPr/>
            <p:nvPr/>
          </p:nvSpPr>
          <p:spPr>
            <a:xfrm flipV="1">
              <a:off x="2064" y="2112"/>
              <a:ext cx="144" cy="144"/>
            </a:xfrm>
            <a:prstGeom prst="line">
              <a:avLst/>
            </a:prstGeom>
            <a:ln w="38100" cap="rnd" cmpd="sng">
              <a:solidFill>
                <a:schemeClr val="tx2"/>
              </a:solidFill>
              <a:prstDash val="sysDot"/>
              <a:round/>
              <a:headEnd type="none" w="med" len="med"/>
              <a:tailEnd type="none" w="med" len="med"/>
            </a:ln>
          </p:spPr>
        </p:sp>
        <p:sp>
          <p:nvSpPr>
            <p:cNvPr id="26641" name="Line 127"/>
            <p:cNvSpPr/>
            <p:nvPr/>
          </p:nvSpPr>
          <p:spPr>
            <a:xfrm flipH="1" flipV="1">
              <a:off x="3504" y="2256"/>
              <a:ext cx="192" cy="192"/>
            </a:xfrm>
            <a:prstGeom prst="line">
              <a:avLst/>
            </a:prstGeom>
            <a:ln w="38100" cap="flat" cmpd="sng">
              <a:solidFill>
                <a:schemeClr val="tx2"/>
              </a:solidFill>
              <a:prstDash val="solid"/>
              <a:round/>
              <a:headEnd type="triangle" w="sm" len="lg"/>
              <a:tailEnd type="none" w="sm" len="lg"/>
            </a:ln>
          </p:spPr>
        </p:sp>
        <p:sp>
          <p:nvSpPr>
            <p:cNvPr id="26642" name="Line 128"/>
            <p:cNvSpPr/>
            <p:nvPr/>
          </p:nvSpPr>
          <p:spPr>
            <a:xfrm>
              <a:off x="3360" y="2112"/>
              <a:ext cx="144" cy="144"/>
            </a:xfrm>
            <a:prstGeom prst="line">
              <a:avLst/>
            </a:prstGeom>
            <a:ln w="38100" cap="rnd" cmpd="sng">
              <a:solidFill>
                <a:schemeClr val="tx2"/>
              </a:solidFill>
              <a:prstDash val="sysDot"/>
              <a:round/>
              <a:headEnd type="none" w="med" len="med"/>
              <a:tailEnd type="none" w="med" len="med"/>
            </a:ln>
          </p:spPr>
        </p:sp>
      </p:grpSp>
      <p:grpSp>
        <p:nvGrpSpPr>
          <p:cNvPr id="26643" name="Group 129"/>
          <p:cNvGrpSpPr/>
          <p:nvPr/>
        </p:nvGrpSpPr>
        <p:grpSpPr>
          <a:xfrm>
            <a:off x="1127125" y="3140393"/>
            <a:ext cx="3352800" cy="658813"/>
            <a:chOff x="1200" y="816"/>
            <a:chExt cx="2537" cy="415"/>
          </a:xfrm>
        </p:grpSpPr>
        <p:sp>
          <p:nvSpPr>
            <p:cNvPr id="26644" name="Rectangle 130"/>
            <p:cNvSpPr/>
            <p:nvPr/>
          </p:nvSpPr>
          <p:spPr>
            <a:xfrm>
              <a:off x="1200" y="939"/>
              <a:ext cx="2537" cy="261"/>
            </a:xfrm>
            <a:prstGeom prst="rect">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6645" name="Text Box 131"/>
            <p:cNvSpPr txBox="1"/>
            <p:nvPr/>
          </p:nvSpPr>
          <p:spPr>
            <a:xfrm>
              <a:off x="1203" y="902"/>
              <a:ext cx="2530" cy="329"/>
            </a:xfrm>
            <a:prstGeom prst="rect">
              <a:avLst/>
            </a:prstGeom>
            <a:noFill/>
            <a:ln w="38100">
              <a:noFill/>
            </a:ln>
          </p:spPr>
          <p:txBody>
            <a:bodyPr wrap="none" anchor="ctr" anchorCtr="0">
              <a:spAutoFit/>
            </a:bodyPr>
            <a:p>
              <a:pPr algn="ctr"/>
              <a:r>
                <a:rPr lang="en-US" altLang="zh-CN" sz="2800" b="1" dirty="0">
                  <a:solidFill>
                    <a:srgbClr val="FFFFCC"/>
                  </a:solidFill>
                  <a:latin typeface="Times New Roman" panose="02020603050405020304" pitchFamily="18" charset="0"/>
                  <a:ea typeface="宋体" panose="02010600030101010101" pitchFamily="2" charset="-122"/>
                </a:rPr>
                <a:t>lChild   data   rChild</a:t>
              </a:r>
              <a:endParaRPr lang="en-US" altLang="zh-CN" sz="2400" dirty="0">
                <a:latin typeface="Times New Roman" panose="02020603050405020304" pitchFamily="18" charset="0"/>
                <a:ea typeface="宋体" panose="02010600030101010101" pitchFamily="2" charset="-122"/>
              </a:endParaRPr>
            </a:p>
          </p:txBody>
        </p:sp>
        <p:sp>
          <p:nvSpPr>
            <p:cNvPr id="26646" name="Line 132"/>
            <p:cNvSpPr/>
            <p:nvPr/>
          </p:nvSpPr>
          <p:spPr>
            <a:xfrm flipV="1">
              <a:off x="2119" y="939"/>
              <a:ext cx="0" cy="261"/>
            </a:xfrm>
            <a:prstGeom prst="line">
              <a:avLst/>
            </a:prstGeom>
            <a:ln w="19050" cap="flat" cmpd="sng">
              <a:solidFill>
                <a:srgbClr val="FFFFCC"/>
              </a:solidFill>
              <a:prstDash val="solid"/>
              <a:round/>
              <a:headEnd type="none" w="med" len="med"/>
              <a:tailEnd type="none" w="med" len="med"/>
            </a:ln>
          </p:spPr>
        </p:sp>
        <p:sp>
          <p:nvSpPr>
            <p:cNvPr id="26647" name="Line 133"/>
            <p:cNvSpPr/>
            <p:nvPr/>
          </p:nvSpPr>
          <p:spPr>
            <a:xfrm flipV="1">
              <a:off x="2784" y="960"/>
              <a:ext cx="0" cy="261"/>
            </a:xfrm>
            <a:prstGeom prst="line">
              <a:avLst/>
            </a:prstGeom>
            <a:ln w="19050" cap="flat" cmpd="sng">
              <a:solidFill>
                <a:srgbClr val="FFFFCC"/>
              </a:solidFill>
              <a:prstDash val="solid"/>
              <a:round/>
              <a:headEnd type="none" w="med" len="med"/>
              <a:tailEnd type="none" w="med" len="med"/>
            </a:ln>
          </p:spPr>
        </p:sp>
        <p:sp>
          <p:nvSpPr>
            <p:cNvPr id="26648" name="Line 134"/>
            <p:cNvSpPr/>
            <p:nvPr/>
          </p:nvSpPr>
          <p:spPr>
            <a:xfrm flipV="1">
              <a:off x="2119" y="816"/>
              <a:ext cx="89" cy="123"/>
            </a:xfrm>
            <a:prstGeom prst="line">
              <a:avLst/>
            </a:prstGeom>
            <a:ln w="19050" cap="flat" cmpd="sng">
              <a:solidFill>
                <a:srgbClr val="FFFFCC"/>
              </a:solidFill>
              <a:prstDash val="solid"/>
              <a:round/>
              <a:headEnd type="none" w="med" len="med"/>
              <a:tailEnd type="none" w="med" len="med"/>
            </a:ln>
          </p:spPr>
        </p:sp>
        <p:sp>
          <p:nvSpPr>
            <p:cNvPr id="26649" name="Line 135"/>
            <p:cNvSpPr/>
            <p:nvPr/>
          </p:nvSpPr>
          <p:spPr>
            <a:xfrm flipV="1">
              <a:off x="2784" y="816"/>
              <a:ext cx="96" cy="144"/>
            </a:xfrm>
            <a:prstGeom prst="line">
              <a:avLst/>
            </a:prstGeom>
            <a:ln w="19050" cap="flat" cmpd="sng">
              <a:solidFill>
                <a:srgbClr val="FFFFCC"/>
              </a:solidFill>
              <a:prstDash val="solid"/>
              <a:round/>
              <a:headEnd type="none" w="med" len="med"/>
              <a:tailEnd type="none" w="med" len="med"/>
            </a:ln>
          </p:spPr>
        </p:sp>
      </p:grpSp>
      <p:grpSp>
        <p:nvGrpSpPr>
          <p:cNvPr id="7" name="组合 6"/>
          <p:cNvGrpSpPr/>
          <p:nvPr/>
        </p:nvGrpSpPr>
        <p:grpSpPr>
          <a:xfrm>
            <a:off x="6743700" y="2921635"/>
            <a:ext cx="4283710" cy="2797175"/>
            <a:chOff x="2916" y="4833"/>
            <a:chExt cx="6746" cy="4405"/>
          </a:xfrm>
        </p:grpSpPr>
        <p:grpSp>
          <p:nvGrpSpPr>
            <p:cNvPr id="29700" name="Group 61"/>
            <p:cNvGrpSpPr/>
            <p:nvPr/>
          </p:nvGrpSpPr>
          <p:grpSpPr>
            <a:xfrm>
              <a:off x="2916" y="4833"/>
              <a:ext cx="6746" cy="1012"/>
              <a:chOff x="1071" y="1632"/>
              <a:chExt cx="3483" cy="405"/>
            </a:xfrm>
          </p:grpSpPr>
          <p:sp>
            <p:nvSpPr>
              <p:cNvPr id="29701" name="Rectangle 62"/>
              <p:cNvSpPr/>
              <p:nvPr/>
            </p:nvSpPr>
            <p:spPr>
              <a:xfrm>
                <a:off x="1104" y="1755"/>
                <a:ext cx="3408" cy="261"/>
              </a:xfrm>
              <a:prstGeom prst="rect">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9702" name="Text Box 63"/>
              <p:cNvSpPr txBox="1"/>
              <p:nvPr/>
            </p:nvSpPr>
            <p:spPr>
              <a:xfrm>
                <a:off x="1071" y="1737"/>
                <a:ext cx="3483" cy="290"/>
              </a:xfrm>
              <a:prstGeom prst="rect">
                <a:avLst/>
              </a:prstGeom>
              <a:noFill/>
              <a:ln w="38100">
                <a:noFill/>
              </a:ln>
            </p:spPr>
            <p:txBody>
              <a:bodyPr wrap="none" anchor="ctr" anchorCtr="0">
                <a:spAutoFit/>
              </a:bodyPr>
              <a:p>
                <a:pPr algn="ctr"/>
                <a:r>
                  <a:rPr lang="en-US" altLang="zh-CN" sz="2400" b="1" dirty="0">
                    <a:solidFill>
                      <a:srgbClr val="FFFFCC"/>
                    </a:solidFill>
                    <a:latin typeface="Times New Roman" panose="02020603050405020304" pitchFamily="18" charset="0"/>
                    <a:ea typeface="宋体" panose="02010600030101010101" pitchFamily="2" charset="-122"/>
                  </a:rPr>
                  <a:t>lChild      data   parent    rChild</a:t>
                </a:r>
                <a:endParaRPr lang="en-US" altLang="zh-CN" sz="2400" dirty="0">
                  <a:latin typeface="Times New Roman" panose="02020603050405020304" pitchFamily="18" charset="0"/>
                  <a:ea typeface="宋体" panose="02010600030101010101" pitchFamily="2" charset="-122"/>
                </a:endParaRPr>
              </a:p>
            </p:txBody>
          </p:sp>
          <p:sp>
            <p:nvSpPr>
              <p:cNvPr id="29703" name="Line 64"/>
              <p:cNvSpPr/>
              <p:nvPr/>
            </p:nvSpPr>
            <p:spPr>
              <a:xfrm flipV="1">
                <a:off x="2071" y="1755"/>
                <a:ext cx="0" cy="261"/>
              </a:xfrm>
              <a:prstGeom prst="line">
                <a:avLst/>
              </a:prstGeom>
              <a:ln w="19050" cap="flat" cmpd="sng">
                <a:solidFill>
                  <a:srgbClr val="FFFFCC"/>
                </a:solidFill>
                <a:prstDash val="solid"/>
                <a:round/>
                <a:headEnd type="none" w="med" len="med"/>
                <a:tailEnd type="none" w="med" len="med"/>
              </a:ln>
            </p:spPr>
          </p:sp>
          <p:sp>
            <p:nvSpPr>
              <p:cNvPr id="29704" name="Line 65"/>
              <p:cNvSpPr/>
              <p:nvPr/>
            </p:nvSpPr>
            <p:spPr>
              <a:xfrm flipV="1">
                <a:off x="2736" y="1776"/>
                <a:ext cx="0" cy="261"/>
              </a:xfrm>
              <a:prstGeom prst="line">
                <a:avLst/>
              </a:prstGeom>
              <a:ln w="19050" cap="flat" cmpd="sng">
                <a:solidFill>
                  <a:srgbClr val="FFFFCC"/>
                </a:solidFill>
                <a:prstDash val="solid"/>
                <a:round/>
                <a:headEnd type="none" w="med" len="med"/>
                <a:tailEnd type="none" w="med" len="med"/>
              </a:ln>
            </p:spPr>
          </p:sp>
          <p:sp>
            <p:nvSpPr>
              <p:cNvPr id="29705" name="Line 66"/>
              <p:cNvSpPr/>
              <p:nvPr/>
            </p:nvSpPr>
            <p:spPr>
              <a:xfrm flipV="1">
                <a:off x="2071" y="1632"/>
                <a:ext cx="89" cy="123"/>
              </a:xfrm>
              <a:prstGeom prst="line">
                <a:avLst/>
              </a:prstGeom>
              <a:ln w="19050" cap="flat" cmpd="sng">
                <a:solidFill>
                  <a:srgbClr val="FFFFCC"/>
                </a:solidFill>
                <a:prstDash val="solid"/>
                <a:round/>
                <a:headEnd type="none" w="med" len="med"/>
                <a:tailEnd type="none" w="med" len="med"/>
              </a:ln>
            </p:spPr>
          </p:sp>
          <p:sp>
            <p:nvSpPr>
              <p:cNvPr id="29706" name="Line 67"/>
              <p:cNvSpPr/>
              <p:nvPr/>
            </p:nvSpPr>
            <p:spPr>
              <a:xfrm flipV="1">
                <a:off x="2736" y="1632"/>
                <a:ext cx="96" cy="123"/>
              </a:xfrm>
              <a:prstGeom prst="line">
                <a:avLst/>
              </a:prstGeom>
              <a:ln w="19050" cap="flat" cmpd="sng">
                <a:solidFill>
                  <a:srgbClr val="FFFFCC"/>
                </a:solidFill>
                <a:prstDash val="solid"/>
                <a:round/>
                <a:headEnd type="none" w="med" len="med"/>
                <a:tailEnd type="none" w="med" len="med"/>
              </a:ln>
            </p:spPr>
          </p:sp>
          <p:sp>
            <p:nvSpPr>
              <p:cNvPr id="29707" name="Line 68"/>
              <p:cNvSpPr/>
              <p:nvPr/>
            </p:nvSpPr>
            <p:spPr>
              <a:xfrm flipV="1">
                <a:off x="3552" y="1728"/>
                <a:ext cx="0" cy="288"/>
              </a:xfrm>
              <a:prstGeom prst="line">
                <a:avLst/>
              </a:prstGeom>
              <a:ln w="19050" cap="flat" cmpd="sng">
                <a:solidFill>
                  <a:srgbClr val="FFFFCC"/>
                </a:solidFill>
                <a:prstDash val="solid"/>
                <a:round/>
                <a:headEnd type="none" w="med" len="med"/>
                <a:tailEnd type="none" w="med" len="med"/>
              </a:ln>
            </p:spPr>
          </p:sp>
          <p:sp>
            <p:nvSpPr>
              <p:cNvPr id="29708" name="Line 69"/>
              <p:cNvSpPr/>
              <p:nvPr/>
            </p:nvSpPr>
            <p:spPr>
              <a:xfrm flipV="1">
                <a:off x="3552" y="1632"/>
                <a:ext cx="92" cy="75"/>
              </a:xfrm>
              <a:prstGeom prst="line">
                <a:avLst/>
              </a:prstGeom>
              <a:ln w="19050" cap="flat" cmpd="sng">
                <a:solidFill>
                  <a:srgbClr val="FFFFCC"/>
                </a:solidFill>
                <a:prstDash val="solid"/>
                <a:round/>
                <a:headEnd type="none" w="med" len="med"/>
                <a:tailEnd type="none" w="med" len="med"/>
              </a:ln>
            </p:spPr>
          </p:sp>
        </p:grpSp>
        <p:grpSp>
          <p:nvGrpSpPr>
            <p:cNvPr id="29709" name="Group 70"/>
            <p:cNvGrpSpPr/>
            <p:nvPr/>
          </p:nvGrpSpPr>
          <p:grpSpPr>
            <a:xfrm>
              <a:off x="3125" y="6080"/>
              <a:ext cx="6093" cy="3159"/>
              <a:chOff x="1152" y="1817"/>
              <a:chExt cx="3552" cy="1501"/>
            </a:xfrm>
          </p:grpSpPr>
          <p:sp>
            <p:nvSpPr>
              <p:cNvPr id="29710" name="AutoShape 71"/>
              <p:cNvSpPr/>
              <p:nvPr/>
            </p:nvSpPr>
            <p:spPr>
              <a:xfrm>
                <a:off x="2784" y="1872"/>
                <a:ext cx="864" cy="288"/>
              </a:xfrm>
              <a:prstGeom prst="roundRect">
                <a:avLst>
                  <a:gd name="adj" fmla="val 16667"/>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9711" name="AutoShape 72"/>
              <p:cNvSpPr/>
              <p:nvPr/>
            </p:nvSpPr>
            <p:spPr>
              <a:xfrm>
                <a:off x="1920" y="2448"/>
                <a:ext cx="1920" cy="288"/>
              </a:xfrm>
              <a:prstGeom prst="roundRect">
                <a:avLst>
                  <a:gd name="adj" fmla="val 16667"/>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9712" name="AutoShape 73"/>
              <p:cNvSpPr/>
              <p:nvPr/>
            </p:nvSpPr>
            <p:spPr>
              <a:xfrm>
                <a:off x="3552" y="3024"/>
                <a:ext cx="1152" cy="288"/>
              </a:xfrm>
              <a:prstGeom prst="roundRect">
                <a:avLst>
                  <a:gd name="adj" fmla="val 16667"/>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9713" name="AutoShape 74"/>
              <p:cNvSpPr/>
              <p:nvPr/>
            </p:nvSpPr>
            <p:spPr>
              <a:xfrm>
                <a:off x="1152" y="3024"/>
                <a:ext cx="960" cy="288"/>
              </a:xfrm>
              <a:prstGeom prst="roundRect">
                <a:avLst>
                  <a:gd name="adj" fmla="val 16667"/>
                </a:avLst>
              </a:prstGeom>
              <a:solidFill>
                <a:schemeClr val="accent1"/>
              </a:solidFill>
              <a:ln w="9525"/>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9714" name="Text Box 75"/>
              <p:cNvSpPr txBox="1"/>
              <p:nvPr/>
            </p:nvSpPr>
            <p:spPr>
              <a:xfrm>
                <a:off x="2745" y="1817"/>
                <a:ext cx="956" cy="344"/>
              </a:xfrm>
              <a:prstGeom prst="rect">
                <a:avLst/>
              </a:prstGeom>
              <a:noFill/>
              <a:ln w="38100">
                <a:noFill/>
              </a:ln>
            </p:spPr>
            <p:txBody>
              <a:bodyPr wrap="none" anchor="ctr" anchorCtr="0">
                <a:spAutoFit/>
              </a:bodyPr>
              <a:p>
                <a:pPr algn="ctr"/>
                <a:r>
                  <a:rPr lang="en-US" altLang="zh-CN" sz="2400" b="1" dirty="0">
                    <a:solidFill>
                      <a:srgbClr val="FFFFCC"/>
                    </a:solidFill>
                    <a:latin typeface="Times New Roman" panose="02020603050405020304" pitchFamily="18" charset="0"/>
                    <a:ea typeface="宋体" panose="02010600030101010101" pitchFamily="2" charset="-122"/>
                  </a:rPr>
                  <a:t>parent</a:t>
                </a:r>
                <a:endParaRPr lang="en-US" altLang="zh-CN" sz="2400" dirty="0">
                  <a:latin typeface="Times New Roman" panose="02020603050405020304" pitchFamily="18" charset="0"/>
                  <a:ea typeface="宋体" panose="02010600030101010101" pitchFamily="2" charset="-122"/>
                </a:endParaRPr>
              </a:p>
            </p:txBody>
          </p:sp>
          <p:sp>
            <p:nvSpPr>
              <p:cNvPr id="29715" name="Text Box 76"/>
              <p:cNvSpPr txBox="1"/>
              <p:nvPr/>
            </p:nvSpPr>
            <p:spPr>
              <a:xfrm>
                <a:off x="2311" y="2401"/>
                <a:ext cx="697" cy="344"/>
              </a:xfrm>
              <a:prstGeom prst="rect">
                <a:avLst/>
              </a:prstGeom>
              <a:noFill/>
              <a:ln w="38100">
                <a:noFill/>
              </a:ln>
            </p:spPr>
            <p:txBody>
              <a:bodyPr wrap="none" anchor="ctr" anchorCtr="0">
                <a:spAutoFit/>
              </a:bodyPr>
              <a:p>
                <a:pPr algn="ctr"/>
                <a:r>
                  <a:rPr lang="en-US" altLang="zh-CN" sz="2400" b="1" dirty="0">
                    <a:solidFill>
                      <a:srgbClr val="FFFFCC"/>
                    </a:solidFill>
                    <a:latin typeface="Times New Roman" panose="02020603050405020304" pitchFamily="18" charset="0"/>
                    <a:ea typeface="宋体" panose="02010600030101010101" pitchFamily="2" charset="-122"/>
                  </a:rPr>
                  <a:t>data</a:t>
                </a:r>
                <a:endParaRPr lang="en-US" altLang="zh-CN" sz="2400" dirty="0">
                  <a:latin typeface="Times New Roman" panose="02020603050405020304" pitchFamily="18" charset="0"/>
                  <a:ea typeface="宋体" panose="02010600030101010101" pitchFamily="2" charset="-122"/>
                </a:endParaRPr>
              </a:p>
            </p:txBody>
          </p:sp>
          <p:sp>
            <p:nvSpPr>
              <p:cNvPr id="29716" name="Text Box 77"/>
              <p:cNvSpPr txBox="1"/>
              <p:nvPr/>
            </p:nvSpPr>
            <p:spPr>
              <a:xfrm>
                <a:off x="1176" y="2974"/>
                <a:ext cx="914" cy="344"/>
              </a:xfrm>
              <a:prstGeom prst="rect">
                <a:avLst/>
              </a:prstGeom>
              <a:noFill/>
              <a:ln w="38100">
                <a:noFill/>
              </a:ln>
            </p:spPr>
            <p:txBody>
              <a:bodyPr wrap="none" anchor="ctr" anchorCtr="0">
                <a:spAutoFit/>
              </a:bodyPr>
              <a:p>
                <a:pPr algn="ctr"/>
                <a:r>
                  <a:rPr lang="en-US" altLang="zh-CN" sz="2400" b="1" dirty="0">
                    <a:solidFill>
                      <a:srgbClr val="FFFFCC"/>
                    </a:solidFill>
                    <a:latin typeface="Times New Roman" panose="02020603050405020304" pitchFamily="18" charset="0"/>
                    <a:ea typeface="宋体" panose="02010600030101010101" pitchFamily="2" charset="-122"/>
                  </a:rPr>
                  <a:t>lChild</a:t>
                </a:r>
                <a:endParaRPr lang="en-US" altLang="zh-CN" sz="2400" dirty="0">
                  <a:latin typeface="Times New Roman" panose="02020603050405020304" pitchFamily="18" charset="0"/>
                  <a:ea typeface="宋体" panose="02010600030101010101" pitchFamily="2" charset="-122"/>
                </a:endParaRPr>
              </a:p>
            </p:txBody>
          </p:sp>
          <p:sp>
            <p:nvSpPr>
              <p:cNvPr id="29717" name="Line 78"/>
              <p:cNvSpPr/>
              <p:nvPr/>
            </p:nvSpPr>
            <p:spPr>
              <a:xfrm flipV="1">
                <a:off x="2928" y="2448"/>
                <a:ext cx="0" cy="288"/>
              </a:xfrm>
              <a:prstGeom prst="line">
                <a:avLst/>
              </a:prstGeom>
              <a:ln w="19050" cap="flat" cmpd="sng">
                <a:solidFill>
                  <a:srgbClr val="FFFFCC"/>
                </a:solidFill>
                <a:prstDash val="solid"/>
                <a:round/>
                <a:headEnd type="none" w="med" len="med"/>
                <a:tailEnd type="none" w="med" len="med"/>
              </a:ln>
            </p:spPr>
          </p:sp>
          <p:sp>
            <p:nvSpPr>
              <p:cNvPr id="29718" name="Line 79"/>
              <p:cNvSpPr/>
              <p:nvPr/>
            </p:nvSpPr>
            <p:spPr>
              <a:xfrm flipV="1">
                <a:off x="2928" y="2352"/>
                <a:ext cx="96" cy="96"/>
              </a:xfrm>
              <a:prstGeom prst="line">
                <a:avLst/>
              </a:prstGeom>
              <a:ln w="19050" cap="flat" cmpd="sng">
                <a:solidFill>
                  <a:srgbClr val="FFFFCC"/>
                </a:solidFill>
                <a:prstDash val="solid"/>
                <a:round/>
                <a:headEnd type="none" w="med" len="med"/>
                <a:tailEnd type="none" w="med" len="med"/>
              </a:ln>
            </p:spPr>
          </p:sp>
          <p:sp>
            <p:nvSpPr>
              <p:cNvPr id="29719" name="Line 80"/>
              <p:cNvSpPr/>
              <p:nvPr/>
            </p:nvSpPr>
            <p:spPr>
              <a:xfrm flipV="1">
                <a:off x="2352" y="2448"/>
                <a:ext cx="0" cy="288"/>
              </a:xfrm>
              <a:prstGeom prst="line">
                <a:avLst/>
              </a:prstGeom>
              <a:ln w="19050" cap="flat" cmpd="sng">
                <a:solidFill>
                  <a:srgbClr val="FFFFCC"/>
                </a:solidFill>
                <a:prstDash val="solid"/>
                <a:round/>
                <a:headEnd type="none" w="med" len="med"/>
                <a:tailEnd type="none" w="med" len="med"/>
              </a:ln>
            </p:spPr>
          </p:sp>
          <p:sp>
            <p:nvSpPr>
              <p:cNvPr id="29720" name="Line 81"/>
              <p:cNvSpPr/>
              <p:nvPr/>
            </p:nvSpPr>
            <p:spPr>
              <a:xfrm flipV="1">
                <a:off x="2352" y="2352"/>
                <a:ext cx="96" cy="96"/>
              </a:xfrm>
              <a:prstGeom prst="line">
                <a:avLst/>
              </a:prstGeom>
              <a:ln w="19050" cap="flat" cmpd="sng">
                <a:solidFill>
                  <a:srgbClr val="FFFFCC"/>
                </a:solidFill>
                <a:prstDash val="solid"/>
                <a:round/>
                <a:headEnd type="none" w="med" len="med"/>
                <a:tailEnd type="none" w="med" len="med"/>
              </a:ln>
            </p:spPr>
          </p:sp>
          <p:sp>
            <p:nvSpPr>
              <p:cNvPr id="29721" name="Line 82"/>
              <p:cNvSpPr/>
              <p:nvPr/>
            </p:nvSpPr>
            <p:spPr>
              <a:xfrm flipV="1">
                <a:off x="3408" y="2448"/>
                <a:ext cx="0" cy="288"/>
              </a:xfrm>
              <a:prstGeom prst="line">
                <a:avLst/>
              </a:prstGeom>
              <a:ln w="19050" cap="flat" cmpd="sng">
                <a:solidFill>
                  <a:srgbClr val="FFFFCC"/>
                </a:solidFill>
                <a:prstDash val="solid"/>
                <a:round/>
                <a:headEnd type="none" w="med" len="med"/>
                <a:tailEnd type="none" w="med" len="med"/>
              </a:ln>
            </p:spPr>
          </p:sp>
          <p:sp>
            <p:nvSpPr>
              <p:cNvPr id="29722" name="Line 83"/>
              <p:cNvSpPr/>
              <p:nvPr/>
            </p:nvSpPr>
            <p:spPr>
              <a:xfrm flipV="1">
                <a:off x="3408" y="2352"/>
                <a:ext cx="96" cy="96"/>
              </a:xfrm>
              <a:prstGeom prst="line">
                <a:avLst/>
              </a:prstGeom>
              <a:ln w="19050" cap="flat" cmpd="sng">
                <a:solidFill>
                  <a:srgbClr val="FFFFCC"/>
                </a:solidFill>
                <a:prstDash val="solid"/>
                <a:round/>
                <a:headEnd type="none" w="med" len="med"/>
                <a:tailEnd type="none" w="med" len="med"/>
              </a:ln>
            </p:spPr>
          </p:sp>
          <p:sp>
            <p:nvSpPr>
              <p:cNvPr id="29723" name="Text Box 84"/>
              <p:cNvSpPr txBox="1"/>
              <p:nvPr/>
            </p:nvSpPr>
            <p:spPr>
              <a:xfrm>
                <a:off x="3634" y="2967"/>
                <a:ext cx="961" cy="344"/>
              </a:xfrm>
              <a:prstGeom prst="rect">
                <a:avLst/>
              </a:prstGeom>
              <a:noFill/>
              <a:ln w="38100">
                <a:noFill/>
              </a:ln>
            </p:spPr>
            <p:txBody>
              <a:bodyPr wrap="none" anchor="ctr" anchorCtr="0">
                <a:spAutoFit/>
              </a:bodyPr>
              <a:p>
                <a:pPr algn="ctr"/>
                <a:r>
                  <a:rPr lang="en-US" altLang="zh-CN" sz="2400" b="1" dirty="0">
                    <a:solidFill>
                      <a:srgbClr val="FFFFCC"/>
                    </a:solidFill>
                    <a:latin typeface="Times New Roman" panose="02020603050405020304" pitchFamily="18" charset="0"/>
                    <a:ea typeface="宋体" panose="02010600030101010101" pitchFamily="2" charset="-122"/>
                  </a:rPr>
                  <a:t>rChild</a:t>
                </a:r>
                <a:endParaRPr lang="en-US" altLang="zh-CN" sz="2400" dirty="0">
                  <a:latin typeface="Times New Roman" panose="02020603050405020304" pitchFamily="18" charset="0"/>
                  <a:ea typeface="宋体" panose="02010600030101010101" pitchFamily="2" charset="-122"/>
                </a:endParaRPr>
              </a:p>
            </p:txBody>
          </p:sp>
          <p:sp>
            <p:nvSpPr>
              <p:cNvPr id="29724" name="Line 85"/>
              <p:cNvSpPr/>
              <p:nvPr/>
            </p:nvSpPr>
            <p:spPr>
              <a:xfrm flipV="1">
                <a:off x="3168" y="2160"/>
                <a:ext cx="0" cy="240"/>
              </a:xfrm>
              <a:prstGeom prst="line">
                <a:avLst/>
              </a:prstGeom>
              <a:ln w="38100" cap="flat" cmpd="sng">
                <a:solidFill>
                  <a:schemeClr val="tx2"/>
                </a:solidFill>
                <a:prstDash val="solid"/>
                <a:round/>
                <a:headEnd type="none" w="med" len="med"/>
                <a:tailEnd type="triangle" w="sm" len="lg"/>
              </a:ln>
            </p:spPr>
          </p:sp>
          <p:sp>
            <p:nvSpPr>
              <p:cNvPr id="29725" name="Line 86"/>
              <p:cNvSpPr/>
              <p:nvPr/>
            </p:nvSpPr>
            <p:spPr>
              <a:xfrm>
                <a:off x="3168" y="2400"/>
                <a:ext cx="0" cy="192"/>
              </a:xfrm>
              <a:prstGeom prst="line">
                <a:avLst/>
              </a:prstGeom>
              <a:ln w="38100" cap="rnd" cmpd="sng">
                <a:solidFill>
                  <a:schemeClr val="tx2"/>
                </a:solidFill>
                <a:prstDash val="sysDot"/>
                <a:round/>
                <a:headEnd type="none" w="med" len="med"/>
                <a:tailEnd type="none" w="med" len="med"/>
              </a:ln>
            </p:spPr>
          </p:sp>
          <p:sp>
            <p:nvSpPr>
              <p:cNvPr id="29726" name="Line 87"/>
              <p:cNvSpPr/>
              <p:nvPr/>
            </p:nvSpPr>
            <p:spPr>
              <a:xfrm flipH="1">
                <a:off x="1824" y="2736"/>
                <a:ext cx="192" cy="192"/>
              </a:xfrm>
              <a:prstGeom prst="line">
                <a:avLst/>
              </a:prstGeom>
              <a:ln w="38100" cap="flat" cmpd="sng">
                <a:solidFill>
                  <a:schemeClr val="tx2"/>
                </a:solidFill>
                <a:prstDash val="solid"/>
                <a:round/>
                <a:headEnd type="none" w="med" len="med"/>
                <a:tailEnd type="triangle" w="sm" len="lg"/>
              </a:ln>
            </p:spPr>
          </p:sp>
          <p:sp>
            <p:nvSpPr>
              <p:cNvPr id="29727" name="Line 88"/>
              <p:cNvSpPr/>
              <p:nvPr/>
            </p:nvSpPr>
            <p:spPr>
              <a:xfrm flipV="1">
                <a:off x="2016" y="2592"/>
                <a:ext cx="144" cy="144"/>
              </a:xfrm>
              <a:prstGeom prst="line">
                <a:avLst/>
              </a:prstGeom>
              <a:ln w="38100" cap="rnd" cmpd="sng">
                <a:solidFill>
                  <a:schemeClr val="tx2"/>
                </a:solidFill>
                <a:prstDash val="sysDot"/>
                <a:round/>
                <a:headEnd type="none" w="med" len="med"/>
                <a:tailEnd type="none" w="med" len="med"/>
              </a:ln>
            </p:spPr>
          </p:sp>
          <p:sp>
            <p:nvSpPr>
              <p:cNvPr id="29728" name="Line 89"/>
              <p:cNvSpPr/>
              <p:nvPr/>
            </p:nvSpPr>
            <p:spPr>
              <a:xfrm flipH="1" flipV="1">
                <a:off x="3696" y="2736"/>
                <a:ext cx="192" cy="192"/>
              </a:xfrm>
              <a:prstGeom prst="line">
                <a:avLst/>
              </a:prstGeom>
              <a:ln w="38100" cap="flat" cmpd="sng">
                <a:solidFill>
                  <a:schemeClr val="tx2"/>
                </a:solidFill>
                <a:prstDash val="solid"/>
                <a:round/>
                <a:headEnd type="triangle" w="sm" len="lg"/>
                <a:tailEnd type="none" w="sm" len="lg"/>
              </a:ln>
            </p:spPr>
          </p:sp>
          <p:sp>
            <p:nvSpPr>
              <p:cNvPr id="29729" name="Line 90"/>
              <p:cNvSpPr/>
              <p:nvPr/>
            </p:nvSpPr>
            <p:spPr>
              <a:xfrm>
                <a:off x="3552" y="2592"/>
                <a:ext cx="144" cy="144"/>
              </a:xfrm>
              <a:prstGeom prst="line">
                <a:avLst/>
              </a:prstGeom>
              <a:ln w="38100" cap="rnd" cmpd="sng">
                <a:solidFill>
                  <a:schemeClr val="tx2"/>
                </a:solidFill>
                <a:prstDash val="sysDot"/>
                <a:round/>
                <a:headEnd type="none" w="med" len="med"/>
                <a:tailEnd type="none" w="med" len="med"/>
              </a:ln>
            </p:spPr>
          </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二叉树的二叉链式存储表示</a:t>
            </a:r>
            <a:endParaRPr lang="zh-CN" altLang="en-US" sz="2800" dirty="0">
              <a:latin typeface="黑体" panose="02010609060101010101" pitchFamily="2" charset="-122"/>
              <a:ea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Times New Roman" panose="02020603050405020304" pitchFamily="18" charset="0"/>
                <a:ea typeface="黑体" panose="02010609060101010101" pitchFamily="2" charset="-122"/>
                <a:cs typeface="Times New Roman" panose="02020603050405020304" pitchFamily="18" charset="0"/>
                <a:sym typeface="+mn-ea"/>
              </a:rPr>
              <a:t>typedef struct BiTNode {</a:t>
            </a:r>
            <a:endParaRPr kumimoji="0" lang="en-US" altLang="zh-CN" sz="2400" b="0" i="0" u="none" strike="noStrike" kern="0" cap="none" spc="0" normalizeH="0" baseline="0" noProof="1"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Times New Roman" panose="02020603050405020304" pitchFamily="18" charset="0"/>
                <a:ea typeface="黑体" panose="02010609060101010101" pitchFamily="2" charset="-122"/>
                <a:cs typeface="Times New Roman" panose="02020603050405020304" pitchFamily="18" charset="0"/>
                <a:sym typeface="+mn-ea"/>
              </a:rPr>
              <a:t>		TElemType	  data;</a:t>
            </a:r>
            <a:endParaRPr kumimoji="0" lang="en-US" altLang="zh-CN" sz="2400" b="0" i="0" u="none" strike="noStrike" kern="0" cap="none" spc="0" normalizeH="0" baseline="0" noProof="1"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Times New Roman" panose="02020603050405020304" pitchFamily="18" charset="0"/>
                <a:ea typeface="黑体" panose="02010609060101010101" pitchFamily="2" charset="-122"/>
                <a:cs typeface="Times New Roman" panose="02020603050405020304" pitchFamily="18" charset="0"/>
                <a:sym typeface="+mn-ea"/>
              </a:rPr>
              <a:t>		struct BiTNode *lChild, *rChild;</a:t>
            </a:r>
            <a:endParaRPr kumimoji="0" lang="en-US" altLang="zh-CN" sz="2400" b="0" i="0" u="none" strike="noStrike" kern="0" cap="none" spc="0" normalizeH="0" baseline="0" noProof="1"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Times New Roman" panose="02020603050405020304" pitchFamily="18" charset="0"/>
                <a:ea typeface="黑体" panose="02010609060101010101" pitchFamily="2" charset="-122"/>
                <a:cs typeface="Times New Roman" panose="02020603050405020304" pitchFamily="18" charset="0"/>
                <a:sym typeface="+mn-ea"/>
              </a:rPr>
              <a:t>} BiTNode, *BiTree</a:t>
            </a:r>
            <a:endParaRPr kumimoji="0" lang="en-US" altLang="zh-CN" sz="2400" b="0" i="0" u="none" strike="noStrike" kern="0" cap="none" spc="0" normalizeH="0" baseline="0" noProof="1"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6.2 </a:t>
            </a:r>
            <a:r>
              <a:rPr lang="zh-CN" altLang="en-US">
                <a:latin typeface="楷体" panose="02010609060101010101" charset="-122"/>
                <a:ea typeface="楷体" panose="02010609060101010101" charset="-122"/>
                <a:cs typeface="楷体" panose="02010609060101010101" charset="-122"/>
                <a:sym typeface="+mn-ea"/>
              </a:rPr>
              <a:t>二叉</a:t>
            </a:r>
            <a:r>
              <a:rPr lang="zh-CN" altLang="en-US" dirty="0">
                <a:latin typeface="楷体" panose="02010609060101010101" charset="-122"/>
                <a:ea typeface="楷体" panose="02010609060101010101" charset="-122"/>
                <a:sym typeface="+mn-ea"/>
              </a:rPr>
              <a:t>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28676" name="Group 11"/>
          <p:cNvGrpSpPr/>
          <p:nvPr/>
        </p:nvGrpSpPr>
        <p:grpSpPr>
          <a:xfrm>
            <a:off x="7651115" y="578486"/>
            <a:ext cx="1681163" cy="2760663"/>
            <a:chOff x="1104" y="2523"/>
            <a:chExt cx="1059" cy="1739"/>
          </a:xfrm>
        </p:grpSpPr>
        <p:sp>
          <p:nvSpPr>
            <p:cNvPr id="28677" name="Line 12"/>
            <p:cNvSpPr/>
            <p:nvPr/>
          </p:nvSpPr>
          <p:spPr>
            <a:xfrm flipH="1">
              <a:off x="1488" y="3779"/>
              <a:ext cx="192" cy="351"/>
            </a:xfrm>
            <a:prstGeom prst="line">
              <a:avLst/>
            </a:prstGeom>
            <a:ln w="38100" cap="flat" cmpd="sng">
              <a:solidFill>
                <a:srgbClr val="009900"/>
              </a:solidFill>
              <a:prstDash val="solid"/>
              <a:round/>
              <a:headEnd type="none" w="med" len="med"/>
              <a:tailEnd type="none" w="med" len="med"/>
            </a:ln>
          </p:spPr>
        </p:sp>
        <p:sp>
          <p:nvSpPr>
            <p:cNvPr id="28678" name="Line 13"/>
            <p:cNvSpPr/>
            <p:nvPr/>
          </p:nvSpPr>
          <p:spPr>
            <a:xfrm>
              <a:off x="1536" y="3429"/>
              <a:ext cx="384" cy="631"/>
            </a:xfrm>
            <a:prstGeom prst="line">
              <a:avLst/>
            </a:prstGeom>
            <a:ln w="38100" cap="flat" cmpd="sng">
              <a:solidFill>
                <a:srgbClr val="009900"/>
              </a:solidFill>
              <a:prstDash val="solid"/>
              <a:round/>
              <a:headEnd type="none" w="med" len="med"/>
              <a:tailEnd type="none" w="med" len="med"/>
            </a:ln>
          </p:spPr>
        </p:sp>
        <p:sp>
          <p:nvSpPr>
            <p:cNvPr id="28679" name="Line 14"/>
            <p:cNvSpPr/>
            <p:nvPr/>
          </p:nvSpPr>
          <p:spPr>
            <a:xfrm flipH="1">
              <a:off x="1296" y="3078"/>
              <a:ext cx="336" cy="596"/>
            </a:xfrm>
            <a:prstGeom prst="line">
              <a:avLst/>
            </a:prstGeom>
            <a:ln w="38100" cap="flat" cmpd="sng">
              <a:solidFill>
                <a:srgbClr val="009900"/>
              </a:solidFill>
              <a:prstDash val="solid"/>
              <a:round/>
              <a:headEnd type="none" w="med" len="med"/>
              <a:tailEnd type="none" w="med" len="med"/>
            </a:ln>
          </p:spPr>
        </p:sp>
        <p:sp>
          <p:nvSpPr>
            <p:cNvPr id="28680" name="Oval 15" descr="羊皮纸"/>
            <p:cNvSpPr/>
            <p:nvPr/>
          </p:nvSpPr>
          <p:spPr>
            <a:xfrm>
              <a:off x="1536" y="2902"/>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1" name="Oval 16" descr="羊皮纸"/>
            <p:cNvSpPr/>
            <p:nvPr/>
          </p:nvSpPr>
          <p:spPr>
            <a:xfrm>
              <a:off x="1344" y="3253"/>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2" name="Oval 17" descr="羊皮纸"/>
            <p:cNvSpPr/>
            <p:nvPr/>
          </p:nvSpPr>
          <p:spPr>
            <a:xfrm>
              <a:off x="1104" y="3639"/>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3" name="Oval 18" descr="羊皮纸"/>
            <p:cNvSpPr/>
            <p:nvPr/>
          </p:nvSpPr>
          <p:spPr>
            <a:xfrm>
              <a:off x="1584" y="3639"/>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4" name="Oval 19" descr="羊皮纸"/>
            <p:cNvSpPr/>
            <p:nvPr/>
          </p:nvSpPr>
          <p:spPr>
            <a:xfrm>
              <a:off x="1824" y="4025"/>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5" name="Oval 20" descr="羊皮纸"/>
            <p:cNvSpPr/>
            <p:nvPr/>
          </p:nvSpPr>
          <p:spPr>
            <a:xfrm>
              <a:off x="1344" y="4025"/>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6" name="Text Box 21"/>
            <p:cNvSpPr txBox="1"/>
            <p:nvPr/>
          </p:nvSpPr>
          <p:spPr>
            <a:xfrm>
              <a:off x="1570" y="2867"/>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A</a:t>
              </a:r>
              <a:endParaRPr lang="en-US" altLang="zh-CN" sz="2000" dirty="0">
                <a:latin typeface="Times New Roman" panose="02020603050405020304" pitchFamily="18" charset="0"/>
                <a:ea typeface="宋体" panose="02010600030101010101" pitchFamily="2" charset="-122"/>
              </a:endParaRPr>
            </a:p>
          </p:txBody>
        </p:sp>
        <p:sp>
          <p:nvSpPr>
            <p:cNvPr id="28687" name="Text Box 22"/>
            <p:cNvSpPr txBox="1"/>
            <p:nvPr/>
          </p:nvSpPr>
          <p:spPr>
            <a:xfrm>
              <a:off x="1371" y="3225"/>
              <a:ext cx="22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sp>
          <p:nvSpPr>
            <p:cNvPr id="28688" name="Text Box 23"/>
            <p:cNvSpPr txBox="1"/>
            <p:nvPr/>
          </p:nvSpPr>
          <p:spPr>
            <a:xfrm>
              <a:off x="1139" y="3625"/>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28689" name="Text Box 24"/>
            <p:cNvSpPr txBox="1"/>
            <p:nvPr/>
          </p:nvSpPr>
          <p:spPr>
            <a:xfrm>
              <a:off x="1606" y="3625"/>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D</a:t>
              </a:r>
              <a:endParaRPr lang="en-US" altLang="zh-CN" sz="2000" dirty="0">
                <a:latin typeface="Times New Roman" panose="02020603050405020304" pitchFamily="18" charset="0"/>
                <a:ea typeface="宋体" panose="02010600030101010101" pitchFamily="2" charset="-122"/>
              </a:endParaRPr>
            </a:p>
          </p:txBody>
        </p:sp>
        <p:sp>
          <p:nvSpPr>
            <p:cNvPr id="28690" name="Text Box 25"/>
            <p:cNvSpPr txBox="1"/>
            <p:nvPr/>
          </p:nvSpPr>
          <p:spPr>
            <a:xfrm>
              <a:off x="1870" y="4011"/>
              <a:ext cx="213"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F</a:t>
              </a:r>
              <a:endParaRPr lang="en-US" altLang="zh-CN" sz="2000" dirty="0">
                <a:latin typeface="Times New Roman" panose="02020603050405020304" pitchFamily="18" charset="0"/>
                <a:ea typeface="宋体" panose="02010600030101010101" pitchFamily="2" charset="-122"/>
              </a:endParaRPr>
            </a:p>
          </p:txBody>
        </p:sp>
        <p:sp>
          <p:nvSpPr>
            <p:cNvPr id="28691" name="Text Box 26"/>
            <p:cNvSpPr txBox="1"/>
            <p:nvPr/>
          </p:nvSpPr>
          <p:spPr>
            <a:xfrm>
              <a:off x="1386" y="4011"/>
              <a:ext cx="22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E</a:t>
              </a:r>
              <a:endParaRPr lang="en-US" altLang="zh-CN" sz="2000" dirty="0">
                <a:latin typeface="Times New Roman" panose="02020603050405020304" pitchFamily="18" charset="0"/>
                <a:ea typeface="宋体" panose="02010600030101010101" pitchFamily="2" charset="-122"/>
              </a:endParaRPr>
            </a:p>
          </p:txBody>
        </p:sp>
        <p:sp>
          <p:nvSpPr>
            <p:cNvPr id="28692" name="Line 27"/>
            <p:cNvSpPr/>
            <p:nvPr/>
          </p:nvSpPr>
          <p:spPr>
            <a:xfrm flipH="1">
              <a:off x="1728" y="2762"/>
              <a:ext cx="144" cy="140"/>
            </a:xfrm>
            <a:prstGeom prst="line">
              <a:avLst/>
            </a:prstGeom>
            <a:ln w="38100" cap="flat" cmpd="sng">
              <a:solidFill>
                <a:schemeClr val="tx2"/>
              </a:solidFill>
              <a:prstDash val="solid"/>
              <a:round/>
              <a:headEnd type="none" w="med" len="med"/>
              <a:tailEnd type="triangle" w="med" len="med"/>
            </a:ln>
          </p:spPr>
        </p:sp>
        <p:sp>
          <p:nvSpPr>
            <p:cNvPr id="28693" name="Text Box 28"/>
            <p:cNvSpPr txBox="1"/>
            <p:nvPr/>
          </p:nvSpPr>
          <p:spPr>
            <a:xfrm>
              <a:off x="1767" y="2523"/>
              <a:ext cx="396"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root</a:t>
              </a:r>
              <a:endParaRPr lang="en-US" altLang="zh-CN" sz="2000" dirty="0">
                <a:latin typeface="Times New Roman" panose="02020603050405020304" pitchFamily="18" charset="0"/>
                <a:ea typeface="宋体" panose="02010600030101010101" pitchFamily="2" charset="-122"/>
              </a:endParaRPr>
            </a:p>
          </p:txBody>
        </p:sp>
      </p:grpSp>
      <p:grpSp>
        <p:nvGrpSpPr>
          <p:cNvPr id="28694" name="Group 29"/>
          <p:cNvGrpSpPr/>
          <p:nvPr/>
        </p:nvGrpSpPr>
        <p:grpSpPr>
          <a:xfrm>
            <a:off x="8641398" y="3069272"/>
            <a:ext cx="2711450" cy="2794001"/>
            <a:chOff x="2180" y="2502"/>
            <a:chExt cx="1708" cy="1760"/>
          </a:xfrm>
        </p:grpSpPr>
        <p:sp>
          <p:nvSpPr>
            <p:cNvPr id="28695" name="Rectangle 30" descr="羊皮纸"/>
            <p:cNvSpPr/>
            <p:nvPr/>
          </p:nvSpPr>
          <p:spPr>
            <a:xfrm>
              <a:off x="2928" y="2867"/>
              <a:ext cx="624" cy="211"/>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96" name="Line 31"/>
            <p:cNvSpPr/>
            <p:nvPr/>
          </p:nvSpPr>
          <p:spPr>
            <a:xfrm>
              <a:off x="3120" y="2867"/>
              <a:ext cx="0" cy="211"/>
            </a:xfrm>
            <a:prstGeom prst="line">
              <a:avLst/>
            </a:prstGeom>
            <a:ln w="38100" cap="flat" cmpd="sng">
              <a:solidFill>
                <a:schemeClr val="tx2"/>
              </a:solidFill>
              <a:prstDash val="solid"/>
              <a:round/>
              <a:headEnd type="none" w="med" len="med"/>
              <a:tailEnd type="none" w="med" len="med"/>
            </a:ln>
          </p:spPr>
        </p:sp>
        <p:sp>
          <p:nvSpPr>
            <p:cNvPr id="28697" name="Line 32"/>
            <p:cNvSpPr/>
            <p:nvPr/>
          </p:nvSpPr>
          <p:spPr>
            <a:xfrm>
              <a:off x="3360" y="2867"/>
              <a:ext cx="0" cy="211"/>
            </a:xfrm>
            <a:prstGeom prst="line">
              <a:avLst/>
            </a:prstGeom>
            <a:ln w="38100" cap="flat" cmpd="sng">
              <a:solidFill>
                <a:schemeClr val="tx2"/>
              </a:solidFill>
              <a:prstDash val="solid"/>
              <a:round/>
              <a:headEnd type="none" w="med" len="med"/>
              <a:tailEnd type="none" w="med" len="med"/>
            </a:ln>
          </p:spPr>
        </p:sp>
        <p:sp>
          <p:nvSpPr>
            <p:cNvPr id="28698" name="Rectangle 33" descr="羊皮纸"/>
            <p:cNvSpPr/>
            <p:nvPr/>
          </p:nvSpPr>
          <p:spPr>
            <a:xfrm>
              <a:off x="2592" y="3253"/>
              <a:ext cx="624" cy="211"/>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99" name="Line 34"/>
            <p:cNvSpPr/>
            <p:nvPr/>
          </p:nvSpPr>
          <p:spPr>
            <a:xfrm>
              <a:off x="2784" y="3253"/>
              <a:ext cx="0" cy="211"/>
            </a:xfrm>
            <a:prstGeom prst="line">
              <a:avLst/>
            </a:prstGeom>
            <a:ln w="38100" cap="flat" cmpd="sng">
              <a:solidFill>
                <a:schemeClr val="tx2"/>
              </a:solidFill>
              <a:prstDash val="solid"/>
              <a:round/>
              <a:headEnd type="none" w="med" len="med"/>
              <a:tailEnd type="none" w="med" len="med"/>
            </a:ln>
          </p:spPr>
        </p:sp>
        <p:sp>
          <p:nvSpPr>
            <p:cNvPr id="28700" name="Line 35"/>
            <p:cNvSpPr/>
            <p:nvPr/>
          </p:nvSpPr>
          <p:spPr>
            <a:xfrm>
              <a:off x="3024" y="3253"/>
              <a:ext cx="0" cy="211"/>
            </a:xfrm>
            <a:prstGeom prst="line">
              <a:avLst/>
            </a:prstGeom>
            <a:ln w="38100" cap="flat" cmpd="sng">
              <a:solidFill>
                <a:schemeClr val="tx2"/>
              </a:solidFill>
              <a:prstDash val="solid"/>
              <a:round/>
              <a:headEnd type="none" w="med" len="med"/>
              <a:tailEnd type="none" w="med" len="med"/>
            </a:ln>
          </p:spPr>
        </p:sp>
        <p:sp>
          <p:nvSpPr>
            <p:cNvPr id="28701" name="Rectangle 36" descr="羊皮纸"/>
            <p:cNvSpPr/>
            <p:nvPr/>
          </p:nvSpPr>
          <p:spPr>
            <a:xfrm>
              <a:off x="2544" y="4025"/>
              <a:ext cx="624" cy="211"/>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702" name="Line 37"/>
            <p:cNvSpPr/>
            <p:nvPr/>
          </p:nvSpPr>
          <p:spPr>
            <a:xfrm>
              <a:off x="2736" y="4025"/>
              <a:ext cx="0" cy="211"/>
            </a:xfrm>
            <a:prstGeom prst="line">
              <a:avLst/>
            </a:prstGeom>
            <a:ln w="38100" cap="flat" cmpd="sng">
              <a:solidFill>
                <a:schemeClr val="tx2"/>
              </a:solidFill>
              <a:prstDash val="solid"/>
              <a:round/>
              <a:headEnd type="none" w="med" len="med"/>
              <a:tailEnd type="none" w="med" len="med"/>
            </a:ln>
          </p:spPr>
        </p:sp>
        <p:sp>
          <p:nvSpPr>
            <p:cNvPr id="28703" name="Line 38"/>
            <p:cNvSpPr/>
            <p:nvPr/>
          </p:nvSpPr>
          <p:spPr>
            <a:xfrm>
              <a:off x="2976" y="4025"/>
              <a:ext cx="0" cy="211"/>
            </a:xfrm>
            <a:prstGeom prst="line">
              <a:avLst/>
            </a:prstGeom>
            <a:ln w="38100" cap="flat" cmpd="sng">
              <a:solidFill>
                <a:schemeClr val="tx2"/>
              </a:solidFill>
              <a:prstDash val="solid"/>
              <a:round/>
              <a:headEnd type="none" w="med" len="med"/>
              <a:tailEnd type="none" w="med" len="med"/>
            </a:ln>
          </p:spPr>
        </p:sp>
        <p:sp>
          <p:nvSpPr>
            <p:cNvPr id="28704" name="Rectangle 39" descr="羊皮纸"/>
            <p:cNvSpPr/>
            <p:nvPr/>
          </p:nvSpPr>
          <p:spPr>
            <a:xfrm>
              <a:off x="3264" y="4025"/>
              <a:ext cx="624" cy="211"/>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705" name="Line 40"/>
            <p:cNvSpPr/>
            <p:nvPr/>
          </p:nvSpPr>
          <p:spPr>
            <a:xfrm>
              <a:off x="3456" y="4025"/>
              <a:ext cx="0" cy="211"/>
            </a:xfrm>
            <a:prstGeom prst="line">
              <a:avLst/>
            </a:prstGeom>
            <a:ln w="38100" cap="flat" cmpd="sng">
              <a:solidFill>
                <a:schemeClr val="tx2"/>
              </a:solidFill>
              <a:prstDash val="solid"/>
              <a:round/>
              <a:headEnd type="none" w="med" len="med"/>
              <a:tailEnd type="none" w="med" len="med"/>
            </a:ln>
          </p:spPr>
        </p:sp>
        <p:sp>
          <p:nvSpPr>
            <p:cNvPr id="28706" name="Line 41"/>
            <p:cNvSpPr/>
            <p:nvPr/>
          </p:nvSpPr>
          <p:spPr>
            <a:xfrm>
              <a:off x="3696" y="4025"/>
              <a:ext cx="0" cy="211"/>
            </a:xfrm>
            <a:prstGeom prst="line">
              <a:avLst/>
            </a:prstGeom>
            <a:ln w="38100" cap="flat" cmpd="sng">
              <a:solidFill>
                <a:schemeClr val="tx2"/>
              </a:solidFill>
              <a:prstDash val="solid"/>
              <a:round/>
              <a:headEnd type="none" w="med" len="med"/>
              <a:tailEnd type="none" w="med" len="med"/>
            </a:ln>
          </p:spPr>
        </p:sp>
        <p:sp>
          <p:nvSpPr>
            <p:cNvPr id="28707" name="Rectangle 42" descr="羊皮纸"/>
            <p:cNvSpPr/>
            <p:nvPr/>
          </p:nvSpPr>
          <p:spPr>
            <a:xfrm>
              <a:off x="2928" y="3639"/>
              <a:ext cx="624" cy="211"/>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708" name="Line 43"/>
            <p:cNvSpPr/>
            <p:nvPr/>
          </p:nvSpPr>
          <p:spPr>
            <a:xfrm>
              <a:off x="3120" y="3639"/>
              <a:ext cx="0" cy="211"/>
            </a:xfrm>
            <a:prstGeom prst="line">
              <a:avLst/>
            </a:prstGeom>
            <a:ln w="38100" cap="flat" cmpd="sng">
              <a:solidFill>
                <a:schemeClr val="tx2"/>
              </a:solidFill>
              <a:prstDash val="solid"/>
              <a:round/>
              <a:headEnd type="none" w="med" len="med"/>
              <a:tailEnd type="none" w="med" len="med"/>
            </a:ln>
          </p:spPr>
        </p:sp>
        <p:sp>
          <p:nvSpPr>
            <p:cNvPr id="28709" name="Line 44"/>
            <p:cNvSpPr/>
            <p:nvPr/>
          </p:nvSpPr>
          <p:spPr>
            <a:xfrm>
              <a:off x="3360" y="3639"/>
              <a:ext cx="0" cy="211"/>
            </a:xfrm>
            <a:prstGeom prst="line">
              <a:avLst/>
            </a:prstGeom>
            <a:ln w="38100" cap="flat" cmpd="sng">
              <a:solidFill>
                <a:schemeClr val="tx2"/>
              </a:solidFill>
              <a:prstDash val="solid"/>
              <a:round/>
              <a:headEnd type="none" w="med" len="med"/>
              <a:tailEnd type="none" w="med" len="med"/>
            </a:ln>
          </p:spPr>
        </p:sp>
        <p:sp>
          <p:nvSpPr>
            <p:cNvPr id="28710" name="Rectangle 45" descr="羊皮纸"/>
            <p:cNvSpPr/>
            <p:nvPr/>
          </p:nvSpPr>
          <p:spPr>
            <a:xfrm>
              <a:off x="2208" y="3639"/>
              <a:ext cx="624" cy="211"/>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711" name="Line 46"/>
            <p:cNvSpPr/>
            <p:nvPr/>
          </p:nvSpPr>
          <p:spPr>
            <a:xfrm flipH="1">
              <a:off x="2400" y="3639"/>
              <a:ext cx="0" cy="211"/>
            </a:xfrm>
            <a:prstGeom prst="line">
              <a:avLst/>
            </a:prstGeom>
            <a:ln w="38100" cap="flat" cmpd="sng">
              <a:solidFill>
                <a:schemeClr val="tx2"/>
              </a:solidFill>
              <a:prstDash val="solid"/>
              <a:round/>
              <a:headEnd type="none" w="med" len="med"/>
              <a:tailEnd type="none" w="med" len="med"/>
            </a:ln>
          </p:spPr>
        </p:sp>
        <p:sp>
          <p:nvSpPr>
            <p:cNvPr id="28712" name="Line 47"/>
            <p:cNvSpPr/>
            <p:nvPr/>
          </p:nvSpPr>
          <p:spPr>
            <a:xfrm>
              <a:off x="2640" y="3639"/>
              <a:ext cx="0" cy="211"/>
            </a:xfrm>
            <a:prstGeom prst="line">
              <a:avLst/>
            </a:prstGeom>
            <a:ln w="38100" cap="flat" cmpd="sng">
              <a:solidFill>
                <a:schemeClr val="tx2"/>
              </a:solidFill>
              <a:prstDash val="solid"/>
              <a:round/>
              <a:headEnd type="none" w="med" len="med"/>
              <a:tailEnd type="none" w="med" len="med"/>
            </a:ln>
          </p:spPr>
        </p:sp>
        <p:sp>
          <p:nvSpPr>
            <p:cNvPr id="28713" name="Line 48"/>
            <p:cNvSpPr/>
            <p:nvPr/>
          </p:nvSpPr>
          <p:spPr>
            <a:xfrm flipH="1">
              <a:off x="2832" y="2972"/>
              <a:ext cx="192" cy="281"/>
            </a:xfrm>
            <a:prstGeom prst="line">
              <a:avLst/>
            </a:prstGeom>
            <a:ln w="38100" cap="flat" cmpd="sng">
              <a:solidFill>
                <a:srgbClr val="009900"/>
              </a:solidFill>
              <a:prstDash val="solid"/>
              <a:round/>
              <a:headEnd type="none" w="med" len="med"/>
              <a:tailEnd type="triangle" w="sm" len="lg"/>
            </a:ln>
          </p:spPr>
        </p:sp>
        <p:sp>
          <p:nvSpPr>
            <p:cNvPr id="28714" name="Line 49"/>
            <p:cNvSpPr/>
            <p:nvPr/>
          </p:nvSpPr>
          <p:spPr>
            <a:xfrm flipH="1">
              <a:off x="2496" y="3358"/>
              <a:ext cx="192" cy="281"/>
            </a:xfrm>
            <a:prstGeom prst="line">
              <a:avLst/>
            </a:prstGeom>
            <a:ln w="38100" cap="flat" cmpd="sng">
              <a:solidFill>
                <a:srgbClr val="009900"/>
              </a:solidFill>
              <a:prstDash val="solid"/>
              <a:round/>
              <a:headEnd type="none" w="med" len="med"/>
              <a:tailEnd type="triangle" w="sm" len="lg"/>
            </a:ln>
          </p:spPr>
        </p:sp>
        <p:sp>
          <p:nvSpPr>
            <p:cNvPr id="28715" name="Line 50"/>
            <p:cNvSpPr/>
            <p:nvPr/>
          </p:nvSpPr>
          <p:spPr>
            <a:xfrm flipH="1">
              <a:off x="2832" y="3744"/>
              <a:ext cx="192" cy="281"/>
            </a:xfrm>
            <a:prstGeom prst="line">
              <a:avLst/>
            </a:prstGeom>
            <a:ln w="38100" cap="flat" cmpd="sng">
              <a:solidFill>
                <a:srgbClr val="009900"/>
              </a:solidFill>
              <a:prstDash val="solid"/>
              <a:round/>
              <a:headEnd type="none" w="med" len="med"/>
              <a:tailEnd type="triangle" w="sm" len="lg"/>
            </a:ln>
          </p:spPr>
        </p:sp>
        <p:sp>
          <p:nvSpPr>
            <p:cNvPr id="28716" name="Line 51"/>
            <p:cNvSpPr/>
            <p:nvPr/>
          </p:nvSpPr>
          <p:spPr>
            <a:xfrm>
              <a:off x="3120" y="3358"/>
              <a:ext cx="144" cy="281"/>
            </a:xfrm>
            <a:prstGeom prst="line">
              <a:avLst/>
            </a:prstGeom>
            <a:ln w="38100" cap="flat" cmpd="sng">
              <a:solidFill>
                <a:srgbClr val="009900"/>
              </a:solidFill>
              <a:prstDash val="solid"/>
              <a:round/>
              <a:headEnd type="none" w="med" len="med"/>
              <a:tailEnd type="triangle" w="sm" len="lg"/>
            </a:ln>
          </p:spPr>
        </p:sp>
        <p:sp>
          <p:nvSpPr>
            <p:cNvPr id="28717" name="Line 52"/>
            <p:cNvSpPr/>
            <p:nvPr/>
          </p:nvSpPr>
          <p:spPr>
            <a:xfrm>
              <a:off x="3456" y="3744"/>
              <a:ext cx="144" cy="281"/>
            </a:xfrm>
            <a:prstGeom prst="line">
              <a:avLst/>
            </a:prstGeom>
            <a:ln w="38100" cap="flat" cmpd="sng">
              <a:solidFill>
                <a:srgbClr val="009900"/>
              </a:solidFill>
              <a:prstDash val="solid"/>
              <a:round/>
              <a:headEnd type="none" w="med" len="med"/>
              <a:tailEnd type="triangle" w="sm" len="lg"/>
            </a:ln>
          </p:spPr>
        </p:sp>
        <p:sp>
          <p:nvSpPr>
            <p:cNvPr id="28718" name="Text Box 53"/>
            <p:cNvSpPr txBox="1"/>
            <p:nvPr/>
          </p:nvSpPr>
          <p:spPr>
            <a:xfrm>
              <a:off x="3332" y="2825"/>
              <a:ext cx="21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000" dirty="0">
                <a:latin typeface="Times New Roman" panose="02020603050405020304" pitchFamily="18" charset="0"/>
                <a:ea typeface="宋体" panose="02010600030101010101" pitchFamily="2" charset="-122"/>
              </a:endParaRPr>
            </a:p>
          </p:txBody>
        </p:sp>
        <p:sp>
          <p:nvSpPr>
            <p:cNvPr id="28719" name="Text Box 54"/>
            <p:cNvSpPr txBox="1"/>
            <p:nvPr/>
          </p:nvSpPr>
          <p:spPr>
            <a:xfrm>
              <a:off x="2180" y="3604"/>
              <a:ext cx="21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000" dirty="0">
                <a:latin typeface="Times New Roman" panose="02020603050405020304" pitchFamily="18" charset="0"/>
                <a:ea typeface="宋体" panose="02010600030101010101" pitchFamily="2" charset="-122"/>
              </a:endParaRPr>
            </a:p>
          </p:txBody>
        </p:sp>
        <p:sp>
          <p:nvSpPr>
            <p:cNvPr id="28720" name="Text Box 55"/>
            <p:cNvSpPr txBox="1"/>
            <p:nvPr/>
          </p:nvSpPr>
          <p:spPr>
            <a:xfrm>
              <a:off x="2612" y="3597"/>
              <a:ext cx="21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000" dirty="0">
                <a:latin typeface="Times New Roman" panose="02020603050405020304" pitchFamily="18" charset="0"/>
                <a:ea typeface="宋体" panose="02010600030101010101" pitchFamily="2" charset="-122"/>
              </a:endParaRPr>
            </a:p>
          </p:txBody>
        </p:sp>
        <p:sp>
          <p:nvSpPr>
            <p:cNvPr id="28721" name="Text Box 56"/>
            <p:cNvSpPr txBox="1"/>
            <p:nvPr/>
          </p:nvSpPr>
          <p:spPr>
            <a:xfrm>
              <a:off x="2516" y="3990"/>
              <a:ext cx="21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000" dirty="0">
                <a:latin typeface="Times New Roman" panose="02020603050405020304" pitchFamily="18" charset="0"/>
                <a:ea typeface="宋体" panose="02010600030101010101" pitchFamily="2" charset="-122"/>
              </a:endParaRPr>
            </a:p>
          </p:txBody>
        </p:sp>
        <p:sp>
          <p:nvSpPr>
            <p:cNvPr id="28722" name="Text Box 57"/>
            <p:cNvSpPr txBox="1"/>
            <p:nvPr/>
          </p:nvSpPr>
          <p:spPr>
            <a:xfrm>
              <a:off x="2948" y="3990"/>
              <a:ext cx="21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000" dirty="0">
                <a:latin typeface="Times New Roman" panose="02020603050405020304" pitchFamily="18" charset="0"/>
                <a:ea typeface="宋体" panose="02010600030101010101" pitchFamily="2" charset="-122"/>
              </a:endParaRPr>
            </a:p>
          </p:txBody>
        </p:sp>
        <p:sp>
          <p:nvSpPr>
            <p:cNvPr id="28723" name="Text Box 58"/>
            <p:cNvSpPr txBox="1"/>
            <p:nvPr/>
          </p:nvSpPr>
          <p:spPr>
            <a:xfrm>
              <a:off x="3236" y="3990"/>
              <a:ext cx="21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000" dirty="0">
                <a:latin typeface="Times New Roman" panose="02020603050405020304" pitchFamily="18" charset="0"/>
                <a:ea typeface="宋体" panose="02010600030101010101" pitchFamily="2" charset="-122"/>
              </a:endParaRPr>
            </a:p>
          </p:txBody>
        </p:sp>
        <p:sp>
          <p:nvSpPr>
            <p:cNvPr id="28724" name="Text Box 59"/>
            <p:cNvSpPr txBox="1"/>
            <p:nvPr/>
          </p:nvSpPr>
          <p:spPr>
            <a:xfrm>
              <a:off x="3668" y="3990"/>
              <a:ext cx="21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000" dirty="0">
                <a:latin typeface="Times New Roman" panose="02020603050405020304" pitchFamily="18" charset="0"/>
                <a:ea typeface="宋体" panose="02010600030101010101" pitchFamily="2" charset="-122"/>
              </a:endParaRPr>
            </a:p>
          </p:txBody>
        </p:sp>
        <p:sp>
          <p:nvSpPr>
            <p:cNvPr id="28725" name="Text Box 60"/>
            <p:cNvSpPr txBox="1"/>
            <p:nvPr/>
          </p:nvSpPr>
          <p:spPr>
            <a:xfrm>
              <a:off x="3107" y="2832"/>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A</a:t>
              </a:r>
              <a:endParaRPr lang="en-US" altLang="zh-CN" sz="2000" dirty="0">
                <a:latin typeface="Times New Roman" panose="02020603050405020304" pitchFamily="18" charset="0"/>
                <a:ea typeface="宋体" panose="02010600030101010101" pitchFamily="2" charset="-122"/>
              </a:endParaRPr>
            </a:p>
          </p:txBody>
        </p:sp>
        <p:sp>
          <p:nvSpPr>
            <p:cNvPr id="28726" name="Text Box 61"/>
            <p:cNvSpPr txBox="1"/>
            <p:nvPr/>
          </p:nvSpPr>
          <p:spPr>
            <a:xfrm>
              <a:off x="2770" y="3225"/>
              <a:ext cx="22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sp>
          <p:nvSpPr>
            <p:cNvPr id="28727" name="Text Box 62"/>
            <p:cNvSpPr txBox="1"/>
            <p:nvPr/>
          </p:nvSpPr>
          <p:spPr>
            <a:xfrm>
              <a:off x="2387" y="3625"/>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28728" name="Text Box 63"/>
            <p:cNvSpPr txBox="1"/>
            <p:nvPr/>
          </p:nvSpPr>
          <p:spPr>
            <a:xfrm>
              <a:off x="3107" y="3611"/>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D</a:t>
              </a:r>
              <a:endParaRPr lang="en-US" altLang="zh-CN" sz="2000" dirty="0">
                <a:latin typeface="Times New Roman" panose="02020603050405020304" pitchFamily="18" charset="0"/>
                <a:ea typeface="宋体" panose="02010600030101010101" pitchFamily="2" charset="-122"/>
              </a:endParaRPr>
            </a:p>
          </p:txBody>
        </p:sp>
        <p:sp>
          <p:nvSpPr>
            <p:cNvPr id="28729" name="Text Box 64"/>
            <p:cNvSpPr txBox="1"/>
            <p:nvPr/>
          </p:nvSpPr>
          <p:spPr>
            <a:xfrm>
              <a:off x="3454" y="4011"/>
              <a:ext cx="213"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F</a:t>
              </a:r>
              <a:endParaRPr lang="en-US" altLang="zh-CN" sz="2000" dirty="0">
                <a:latin typeface="Times New Roman" panose="02020603050405020304" pitchFamily="18" charset="0"/>
                <a:ea typeface="宋体" panose="02010600030101010101" pitchFamily="2" charset="-122"/>
              </a:endParaRPr>
            </a:p>
          </p:txBody>
        </p:sp>
        <p:sp>
          <p:nvSpPr>
            <p:cNvPr id="28730" name="Text Box 65"/>
            <p:cNvSpPr txBox="1"/>
            <p:nvPr/>
          </p:nvSpPr>
          <p:spPr>
            <a:xfrm>
              <a:off x="2721" y="4011"/>
              <a:ext cx="22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E</a:t>
              </a:r>
              <a:endParaRPr lang="en-US" altLang="zh-CN" sz="2000" dirty="0">
                <a:latin typeface="Times New Roman" panose="02020603050405020304" pitchFamily="18" charset="0"/>
                <a:ea typeface="宋体" panose="02010600030101010101" pitchFamily="2" charset="-122"/>
              </a:endParaRPr>
            </a:p>
          </p:txBody>
        </p:sp>
        <p:sp>
          <p:nvSpPr>
            <p:cNvPr id="28731" name="Line 66"/>
            <p:cNvSpPr/>
            <p:nvPr/>
          </p:nvSpPr>
          <p:spPr>
            <a:xfrm flipH="1">
              <a:off x="3201" y="2727"/>
              <a:ext cx="144" cy="140"/>
            </a:xfrm>
            <a:prstGeom prst="line">
              <a:avLst/>
            </a:prstGeom>
            <a:ln w="38100" cap="flat" cmpd="sng">
              <a:solidFill>
                <a:schemeClr val="tx2"/>
              </a:solidFill>
              <a:prstDash val="solid"/>
              <a:round/>
              <a:headEnd type="none" w="med" len="med"/>
              <a:tailEnd type="triangle" w="med" len="med"/>
            </a:ln>
          </p:spPr>
        </p:sp>
        <p:sp>
          <p:nvSpPr>
            <p:cNvPr id="28732" name="Text Box 67"/>
            <p:cNvSpPr txBox="1"/>
            <p:nvPr/>
          </p:nvSpPr>
          <p:spPr>
            <a:xfrm>
              <a:off x="3260" y="2502"/>
              <a:ext cx="396"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root</a:t>
              </a:r>
              <a:endParaRPr lang="en-US" altLang="zh-CN" sz="20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二叉树的三叉链式存储表示</a:t>
            </a:r>
            <a:endParaRPr lang="zh-CN" altLang="en-US" sz="2800" dirty="0">
              <a:latin typeface="黑体" panose="02010609060101010101" pitchFamily="2" charset="-122"/>
              <a:ea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Times New Roman" panose="02020603050405020304" pitchFamily="18" charset="0"/>
                <a:ea typeface="黑体" panose="02010609060101010101" pitchFamily="2" charset="-122"/>
                <a:cs typeface="Times New Roman" panose="02020603050405020304" pitchFamily="18" charset="0"/>
                <a:sym typeface="+mn-ea"/>
              </a:rPr>
              <a:t>typedef struct BiTNode {</a:t>
            </a:r>
            <a:endParaRPr kumimoji="0" lang="en-US" altLang="zh-CN" sz="2400" b="0" i="0" u="none" strike="noStrike" kern="0" cap="none" spc="0" normalizeH="0" baseline="0" noProof="1"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Times New Roman" panose="02020603050405020304" pitchFamily="18" charset="0"/>
                <a:ea typeface="黑体" panose="02010609060101010101" pitchFamily="2" charset="-122"/>
                <a:cs typeface="Times New Roman" panose="02020603050405020304" pitchFamily="18" charset="0"/>
                <a:sym typeface="+mn-ea"/>
              </a:rPr>
              <a:t>		TElemType	  data;</a:t>
            </a:r>
            <a:endParaRPr kumimoji="0" lang="en-US" altLang="zh-CN" sz="2400" b="0" i="0" u="none" strike="noStrike" kern="0" cap="none" spc="0" normalizeH="0" baseline="0" noProof="1"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Times New Roman" panose="02020603050405020304" pitchFamily="18" charset="0"/>
                <a:ea typeface="黑体" panose="02010609060101010101" pitchFamily="2" charset="-122"/>
                <a:cs typeface="Times New Roman" panose="02020603050405020304" pitchFamily="18" charset="0"/>
                <a:sym typeface="+mn-ea"/>
              </a:rPr>
              <a:t>		struct BiTNode *parent;</a:t>
            </a:r>
            <a:endParaRPr kumimoji="0" lang="en-US" altLang="zh-CN" sz="2400" b="0" i="0" u="none" strike="noStrike" kern="0" cap="none" spc="0" normalizeH="0" baseline="0" noProof="1"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Times New Roman" panose="02020603050405020304" pitchFamily="18" charset="0"/>
                <a:ea typeface="黑体" panose="02010609060101010101" pitchFamily="2" charset="-122"/>
                <a:cs typeface="Times New Roman" panose="02020603050405020304" pitchFamily="18" charset="0"/>
                <a:sym typeface="+mn-ea"/>
              </a:rPr>
              <a:t>		struct BiTNode *lChild, *rChild;</a:t>
            </a:r>
            <a:endParaRPr kumimoji="0" lang="en-US" altLang="zh-CN" sz="2400" b="0" i="0" u="none" strike="noStrike" kern="0" cap="none" spc="0" normalizeH="0" baseline="0" noProof="1"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Times New Roman" panose="02020603050405020304" pitchFamily="18" charset="0"/>
                <a:ea typeface="黑体" panose="02010609060101010101" pitchFamily="2" charset="-122"/>
                <a:cs typeface="Times New Roman" panose="02020603050405020304" pitchFamily="18" charset="0"/>
                <a:sym typeface="+mn-ea"/>
              </a:rPr>
              <a:t>} BiTNode, *BiTree</a:t>
            </a:r>
            <a:endParaRPr kumimoji="0" lang="en-US" altLang="zh-CN" sz="2400" b="0" i="0" u="none" strike="noStrike" kern="0" cap="none" spc="0" normalizeH="0" baseline="0" noProof="1"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6.2 </a:t>
            </a:r>
            <a:r>
              <a:rPr lang="zh-CN" altLang="en-US">
                <a:latin typeface="楷体" panose="02010609060101010101" charset="-122"/>
                <a:ea typeface="楷体" panose="02010609060101010101" charset="-122"/>
                <a:cs typeface="楷体" panose="02010609060101010101" charset="-122"/>
                <a:sym typeface="+mn-ea"/>
              </a:rPr>
              <a:t>二叉</a:t>
            </a:r>
            <a:r>
              <a:rPr lang="zh-CN" altLang="en-US" dirty="0">
                <a:latin typeface="楷体" panose="02010609060101010101" charset="-122"/>
                <a:ea typeface="楷体" panose="02010609060101010101" charset="-122"/>
                <a:sym typeface="+mn-ea"/>
              </a:rPr>
              <a:t>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28676" name="Group 11"/>
          <p:cNvGrpSpPr/>
          <p:nvPr/>
        </p:nvGrpSpPr>
        <p:grpSpPr>
          <a:xfrm>
            <a:off x="7651115" y="578486"/>
            <a:ext cx="1681163" cy="2760663"/>
            <a:chOff x="1104" y="2523"/>
            <a:chExt cx="1059" cy="1739"/>
          </a:xfrm>
        </p:grpSpPr>
        <p:sp>
          <p:nvSpPr>
            <p:cNvPr id="28677" name="Line 12"/>
            <p:cNvSpPr/>
            <p:nvPr/>
          </p:nvSpPr>
          <p:spPr>
            <a:xfrm flipH="1">
              <a:off x="1488" y="3779"/>
              <a:ext cx="192" cy="351"/>
            </a:xfrm>
            <a:prstGeom prst="line">
              <a:avLst/>
            </a:prstGeom>
            <a:ln w="38100" cap="flat" cmpd="sng">
              <a:solidFill>
                <a:srgbClr val="009900"/>
              </a:solidFill>
              <a:prstDash val="solid"/>
              <a:round/>
              <a:headEnd type="none" w="med" len="med"/>
              <a:tailEnd type="none" w="med" len="med"/>
            </a:ln>
          </p:spPr>
        </p:sp>
        <p:sp>
          <p:nvSpPr>
            <p:cNvPr id="28678" name="Line 13"/>
            <p:cNvSpPr/>
            <p:nvPr/>
          </p:nvSpPr>
          <p:spPr>
            <a:xfrm>
              <a:off x="1536" y="3429"/>
              <a:ext cx="384" cy="631"/>
            </a:xfrm>
            <a:prstGeom prst="line">
              <a:avLst/>
            </a:prstGeom>
            <a:ln w="38100" cap="flat" cmpd="sng">
              <a:solidFill>
                <a:srgbClr val="009900"/>
              </a:solidFill>
              <a:prstDash val="solid"/>
              <a:round/>
              <a:headEnd type="none" w="med" len="med"/>
              <a:tailEnd type="none" w="med" len="med"/>
            </a:ln>
          </p:spPr>
        </p:sp>
        <p:sp>
          <p:nvSpPr>
            <p:cNvPr id="28679" name="Line 14"/>
            <p:cNvSpPr/>
            <p:nvPr/>
          </p:nvSpPr>
          <p:spPr>
            <a:xfrm flipH="1">
              <a:off x="1296" y="3078"/>
              <a:ext cx="336" cy="596"/>
            </a:xfrm>
            <a:prstGeom prst="line">
              <a:avLst/>
            </a:prstGeom>
            <a:ln w="38100" cap="flat" cmpd="sng">
              <a:solidFill>
                <a:srgbClr val="009900"/>
              </a:solidFill>
              <a:prstDash val="solid"/>
              <a:round/>
              <a:headEnd type="none" w="med" len="med"/>
              <a:tailEnd type="none" w="med" len="med"/>
            </a:ln>
          </p:spPr>
        </p:sp>
        <p:sp>
          <p:nvSpPr>
            <p:cNvPr id="28680" name="Oval 15" descr="羊皮纸"/>
            <p:cNvSpPr/>
            <p:nvPr/>
          </p:nvSpPr>
          <p:spPr>
            <a:xfrm>
              <a:off x="1536" y="2902"/>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1" name="Oval 16" descr="羊皮纸"/>
            <p:cNvSpPr/>
            <p:nvPr/>
          </p:nvSpPr>
          <p:spPr>
            <a:xfrm>
              <a:off x="1344" y="3253"/>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2" name="Oval 17" descr="羊皮纸"/>
            <p:cNvSpPr/>
            <p:nvPr/>
          </p:nvSpPr>
          <p:spPr>
            <a:xfrm>
              <a:off x="1104" y="3639"/>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3" name="Oval 18" descr="羊皮纸"/>
            <p:cNvSpPr/>
            <p:nvPr/>
          </p:nvSpPr>
          <p:spPr>
            <a:xfrm>
              <a:off x="1584" y="3639"/>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4" name="Oval 19" descr="羊皮纸"/>
            <p:cNvSpPr/>
            <p:nvPr/>
          </p:nvSpPr>
          <p:spPr>
            <a:xfrm>
              <a:off x="1824" y="4025"/>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5" name="Oval 20" descr="羊皮纸"/>
            <p:cNvSpPr/>
            <p:nvPr/>
          </p:nvSpPr>
          <p:spPr>
            <a:xfrm>
              <a:off x="1344" y="4025"/>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8686" name="Text Box 21"/>
            <p:cNvSpPr txBox="1"/>
            <p:nvPr/>
          </p:nvSpPr>
          <p:spPr>
            <a:xfrm>
              <a:off x="1570" y="2867"/>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A</a:t>
              </a:r>
              <a:endParaRPr lang="en-US" altLang="zh-CN" sz="2000" dirty="0">
                <a:latin typeface="Times New Roman" panose="02020603050405020304" pitchFamily="18" charset="0"/>
                <a:ea typeface="宋体" panose="02010600030101010101" pitchFamily="2" charset="-122"/>
              </a:endParaRPr>
            </a:p>
          </p:txBody>
        </p:sp>
        <p:sp>
          <p:nvSpPr>
            <p:cNvPr id="28687" name="Text Box 22"/>
            <p:cNvSpPr txBox="1"/>
            <p:nvPr/>
          </p:nvSpPr>
          <p:spPr>
            <a:xfrm>
              <a:off x="1371" y="3225"/>
              <a:ext cx="22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sp>
          <p:nvSpPr>
            <p:cNvPr id="28688" name="Text Box 23"/>
            <p:cNvSpPr txBox="1"/>
            <p:nvPr/>
          </p:nvSpPr>
          <p:spPr>
            <a:xfrm>
              <a:off x="1139" y="3625"/>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28689" name="Text Box 24"/>
            <p:cNvSpPr txBox="1"/>
            <p:nvPr/>
          </p:nvSpPr>
          <p:spPr>
            <a:xfrm>
              <a:off x="1606" y="3625"/>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D</a:t>
              </a:r>
              <a:endParaRPr lang="en-US" altLang="zh-CN" sz="2000" dirty="0">
                <a:latin typeface="Times New Roman" panose="02020603050405020304" pitchFamily="18" charset="0"/>
                <a:ea typeface="宋体" panose="02010600030101010101" pitchFamily="2" charset="-122"/>
              </a:endParaRPr>
            </a:p>
          </p:txBody>
        </p:sp>
        <p:sp>
          <p:nvSpPr>
            <p:cNvPr id="28690" name="Text Box 25"/>
            <p:cNvSpPr txBox="1"/>
            <p:nvPr/>
          </p:nvSpPr>
          <p:spPr>
            <a:xfrm>
              <a:off x="1870" y="4011"/>
              <a:ext cx="213"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F</a:t>
              </a:r>
              <a:endParaRPr lang="en-US" altLang="zh-CN" sz="2000" dirty="0">
                <a:latin typeface="Times New Roman" panose="02020603050405020304" pitchFamily="18" charset="0"/>
                <a:ea typeface="宋体" panose="02010600030101010101" pitchFamily="2" charset="-122"/>
              </a:endParaRPr>
            </a:p>
          </p:txBody>
        </p:sp>
        <p:sp>
          <p:nvSpPr>
            <p:cNvPr id="28691" name="Text Box 26"/>
            <p:cNvSpPr txBox="1"/>
            <p:nvPr/>
          </p:nvSpPr>
          <p:spPr>
            <a:xfrm>
              <a:off x="1386" y="4011"/>
              <a:ext cx="22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E</a:t>
              </a:r>
              <a:endParaRPr lang="en-US" altLang="zh-CN" sz="2000" dirty="0">
                <a:latin typeface="Times New Roman" panose="02020603050405020304" pitchFamily="18" charset="0"/>
                <a:ea typeface="宋体" panose="02010600030101010101" pitchFamily="2" charset="-122"/>
              </a:endParaRPr>
            </a:p>
          </p:txBody>
        </p:sp>
        <p:sp>
          <p:nvSpPr>
            <p:cNvPr id="28692" name="Line 27"/>
            <p:cNvSpPr/>
            <p:nvPr/>
          </p:nvSpPr>
          <p:spPr>
            <a:xfrm flipH="1">
              <a:off x="1728" y="2762"/>
              <a:ext cx="144" cy="140"/>
            </a:xfrm>
            <a:prstGeom prst="line">
              <a:avLst/>
            </a:prstGeom>
            <a:ln w="38100" cap="flat" cmpd="sng">
              <a:solidFill>
                <a:schemeClr val="tx2"/>
              </a:solidFill>
              <a:prstDash val="solid"/>
              <a:round/>
              <a:headEnd type="none" w="med" len="med"/>
              <a:tailEnd type="triangle" w="med" len="med"/>
            </a:ln>
          </p:spPr>
        </p:sp>
        <p:sp>
          <p:nvSpPr>
            <p:cNvPr id="28693" name="Text Box 28"/>
            <p:cNvSpPr txBox="1"/>
            <p:nvPr/>
          </p:nvSpPr>
          <p:spPr>
            <a:xfrm>
              <a:off x="1767" y="2523"/>
              <a:ext cx="396"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root</a:t>
              </a:r>
              <a:endParaRPr lang="en-US" altLang="zh-CN" sz="2000" dirty="0">
                <a:latin typeface="Times New Roman" panose="02020603050405020304" pitchFamily="18" charset="0"/>
                <a:ea typeface="宋体" panose="02010600030101010101" pitchFamily="2" charset="-122"/>
              </a:endParaRPr>
            </a:p>
          </p:txBody>
        </p:sp>
      </p:grpSp>
      <p:grpSp>
        <p:nvGrpSpPr>
          <p:cNvPr id="30742" name="Group 79"/>
          <p:cNvGrpSpPr/>
          <p:nvPr/>
        </p:nvGrpSpPr>
        <p:grpSpPr>
          <a:xfrm>
            <a:off x="8255953" y="3284995"/>
            <a:ext cx="3338513" cy="2791039"/>
            <a:chOff x="3129" y="795"/>
            <a:chExt cx="2103" cy="2471"/>
          </a:xfrm>
        </p:grpSpPr>
        <p:sp>
          <p:nvSpPr>
            <p:cNvPr id="30743" name="Rectangle 80" descr="羊皮纸"/>
            <p:cNvSpPr/>
            <p:nvPr/>
          </p:nvSpPr>
          <p:spPr>
            <a:xfrm>
              <a:off x="4416" y="2909"/>
              <a:ext cx="816" cy="288"/>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44" name="Line 81"/>
            <p:cNvSpPr/>
            <p:nvPr/>
          </p:nvSpPr>
          <p:spPr>
            <a:xfrm>
              <a:off x="4847" y="2909"/>
              <a:ext cx="1" cy="288"/>
            </a:xfrm>
            <a:prstGeom prst="line">
              <a:avLst/>
            </a:prstGeom>
            <a:ln w="38100" cap="flat" cmpd="sng">
              <a:solidFill>
                <a:schemeClr val="tx2"/>
              </a:solidFill>
              <a:prstDash val="solid"/>
              <a:round/>
              <a:headEnd type="none" w="med" len="med"/>
              <a:tailEnd type="none" w="med" len="med"/>
            </a:ln>
          </p:spPr>
        </p:sp>
        <p:sp>
          <p:nvSpPr>
            <p:cNvPr id="30745" name="Line 82"/>
            <p:cNvSpPr/>
            <p:nvPr/>
          </p:nvSpPr>
          <p:spPr>
            <a:xfrm>
              <a:off x="5040" y="2909"/>
              <a:ext cx="1" cy="288"/>
            </a:xfrm>
            <a:prstGeom prst="line">
              <a:avLst/>
            </a:prstGeom>
            <a:ln w="38100" cap="flat" cmpd="sng">
              <a:solidFill>
                <a:schemeClr val="tx2"/>
              </a:solidFill>
              <a:prstDash val="solid"/>
              <a:round/>
              <a:headEnd type="none" w="med" len="med"/>
              <a:tailEnd type="none" w="med" len="med"/>
            </a:ln>
          </p:spPr>
        </p:sp>
        <p:sp>
          <p:nvSpPr>
            <p:cNvPr id="30746" name="Line 83"/>
            <p:cNvSpPr/>
            <p:nvPr/>
          </p:nvSpPr>
          <p:spPr>
            <a:xfrm>
              <a:off x="4608" y="2909"/>
              <a:ext cx="1" cy="288"/>
            </a:xfrm>
            <a:prstGeom prst="line">
              <a:avLst/>
            </a:prstGeom>
            <a:ln w="38100" cap="flat" cmpd="sng">
              <a:solidFill>
                <a:schemeClr val="tx2"/>
              </a:solidFill>
              <a:prstDash val="solid"/>
              <a:round/>
              <a:headEnd type="none" w="med" len="med"/>
              <a:tailEnd type="none" w="med" len="med"/>
            </a:ln>
          </p:spPr>
        </p:sp>
        <p:sp>
          <p:nvSpPr>
            <p:cNvPr id="30747" name="Rectangle 84" descr="羊皮纸"/>
            <p:cNvSpPr/>
            <p:nvPr/>
          </p:nvSpPr>
          <p:spPr>
            <a:xfrm>
              <a:off x="3504" y="2909"/>
              <a:ext cx="816" cy="288"/>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48" name="Line 85"/>
            <p:cNvSpPr/>
            <p:nvPr/>
          </p:nvSpPr>
          <p:spPr>
            <a:xfrm>
              <a:off x="3935" y="2909"/>
              <a:ext cx="1" cy="288"/>
            </a:xfrm>
            <a:prstGeom prst="line">
              <a:avLst/>
            </a:prstGeom>
            <a:ln w="38100" cap="flat" cmpd="sng">
              <a:solidFill>
                <a:schemeClr val="tx2"/>
              </a:solidFill>
              <a:prstDash val="solid"/>
              <a:round/>
              <a:headEnd type="none" w="med" len="med"/>
              <a:tailEnd type="none" w="med" len="med"/>
            </a:ln>
          </p:spPr>
        </p:sp>
        <p:sp>
          <p:nvSpPr>
            <p:cNvPr id="30749" name="Line 86"/>
            <p:cNvSpPr/>
            <p:nvPr/>
          </p:nvSpPr>
          <p:spPr>
            <a:xfrm>
              <a:off x="4127" y="2909"/>
              <a:ext cx="1" cy="288"/>
            </a:xfrm>
            <a:prstGeom prst="line">
              <a:avLst/>
            </a:prstGeom>
            <a:ln w="38100" cap="flat" cmpd="sng">
              <a:solidFill>
                <a:schemeClr val="tx2"/>
              </a:solidFill>
              <a:prstDash val="solid"/>
              <a:round/>
              <a:headEnd type="none" w="med" len="med"/>
              <a:tailEnd type="none" w="med" len="med"/>
            </a:ln>
          </p:spPr>
        </p:sp>
        <p:sp>
          <p:nvSpPr>
            <p:cNvPr id="30750" name="Line 87"/>
            <p:cNvSpPr/>
            <p:nvPr/>
          </p:nvSpPr>
          <p:spPr>
            <a:xfrm>
              <a:off x="3696" y="2909"/>
              <a:ext cx="1" cy="288"/>
            </a:xfrm>
            <a:prstGeom prst="line">
              <a:avLst/>
            </a:prstGeom>
            <a:ln w="38100" cap="flat" cmpd="sng">
              <a:solidFill>
                <a:schemeClr val="tx2"/>
              </a:solidFill>
              <a:prstDash val="solid"/>
              <a:round/>
              <a:headEnd type="none" w="med" len="med"/>
              <a:tailEnd type="none" w="med" len="med"/>
            </a:ln>
          </p:spPr>
        </p:sp>
        <p:sp>
          <p:nvSpPr>
            <p:cNvPr id="30751" name="Rectangle 88" descr="羊皮纸"/>
            <p:cNvSpPr/>
            <p:nvPr/>
          </p:nvSpPr>
          <p:spPr>
            <a:xfrm>
              <a:off x="4080" y="2381"/>
              <a:ext cx="816" cy="288"/>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52" name="Line 89"/>
            <p:cNvSpPr/>
            <p:nvPr/>
          </p:nvSpPr>
          <p:spPr>
            <a:xfrm>
              <a:off x="4511" y="2381"/>
              <a:ext cx="1" cy="288"/>
            </a:xfrm>
            <a:prstGeom prst="line">
              <a:avLst/>
            </a:prstGeom>
            <a:ln w="38100" cap="flat" cmpd="sng">
              <a:solidFill>
                <a:schemeClr val="tx2"/>
              </a:solidFill>
              <a:prstDash val="solid"/>
              <a:round/>
              <a:headEnd type="none" w="med" len="med"/>
              <a:tailEnd type="none" w="med" len="med"/>
            </a:ln>
          </p:spPr>
        </p:sp>
        <p:sp>
          <p:nvSpPr>
            <p:cNvPr id="30753" name="Line 90"/>
            <p:cNvSpPr/>
            <p:nvPr/>
          </p:nvSpPr>
          <p:spPr>
            <a:xfrm>
              <a:off x="4704" y="2381"/>
              <a:ext cx="1" cy="288"/>
            </a:xfrm>
            <a:prstGeom prst="line">
              <a:avLst/>
            </a:prstGeom>
            <a:ln w="38100" cap="flat" cmpd="sng">
              <a:solidFill>
                <a:schemeClr val="tx2"/>
              </a:solidFill>
              <a:prstDash val="solid"/>
              <a:round/>
              <a:headEnd type="none" w="med" len="med"/>
              <a:tailEnd type="none" w="med" len="med"/>
            </a:ln>
          </p:spPr>
        </p:sp>
        <p:sp>
          <p:nvSpPr>
            <p:cNvPr id="30754" name="Line 91"/>
            <p:cNvSpPr/>
            <p:nvPr/>
          </p:nvSpPr>
          <p:spPr>
            <a:xfrm>
              <a:off x="4271" y="2381"/>
              <a:ext cx="1" cy="288"/>
            </a:xfrm>
            <a:prstGeom prst="line">
              <a:avLst/>
            </a:prstGeom>
            <a:ln w="38100" cap="flat" cmpd="sng">
              <a:solidFill>
                <a:schemeClr val="tx2"/>
              </a:solidFill>
              <a:prstDash val="solid"/>
              <a:round/>
              <a:headEnd type="none" w="med" len="med"/>
              <a:tailEnd type="none" w="med" len="med"/>
            </a:ln>
          </p:spPr>
        </p:sp>
        <p:sp>
          <p:nvSpPr>
            <p:cNvPr id="30755" name="Rectangle 92" descr="羊皮纸"/>
            <p:cNvSpPr/>
            <p:nvPr/>
          </p:nvSpPr>
          <p:spPr>
            <a:xfrm>
              <a:off x="3168" y="2381"/>
              <a:ext cx="816" cy="288"/>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56" name="Line 93"/>
            <p:cNvSpPr/>
            <p:nvPr/>
          </p:nvSpPr>
          <p:spPr>
            <a:xfrm>
              <a:off x="3599" y="2381"/>
              <a:ext cx="1" cy="288"/>
            </a:xfrm>
            <a:prstGeom prst="line">
              <a:avLst/>
            </a:prstGeom>
            <a:ln w="38100" cap="flat" cmpd="sng">
              <a:solidFill>
                <a:schemeClr val="tx2"/>
              </a:solidFill>
              <a:prstDash val="solid"/>
              <a:round/>
              <a:headEnd type="none" w="med" len="med"/>
              <a:tailEnd type="none" w="med" len="med"/>
            </a:ln>
          </p:spPr>
        </p:sp>
        <p:sp>
          <p:nvSpPr>
            <p:cNvPr id="30757" name="Line 94"/>
            <p:cNvSpPr/>
            <p:nvPr/>
          </p:nvSpPr>
          <p:spPr>
            <a:xfrm>
              <a:off x="3791" y="2381"/>
              <a:ext cx="1" cy="288"/>
            </a:xfrm>
            <a:prstGeom prst="line">
              <a:avLst/>
            </a:prstGeom>
            <a:ln w="38100" cap="flat" cmpd="sng">
              <a:solidFill>
                <a:schemeClr val="tx2"/>
              </a:solidFill>
              <a:prstDash val="solid"/>
              <a:round/>
              <a:headEnd type="none" w="med" len="med"/>
              <a:tailEnd type="none" w="med" len="med"/>
            </a:ln>
          </p:spPr>
        </p:sp>
        <p:sp>
          <p:nvSpPr>
            <p:cNvPr id="30758" name="Rectangle 95" descr="羊皮纸"/>
            <p:cNvSpPr/>
            <p:nvPr/>
          </p:nvSpPr>
          <p:spPr>
            <a:xfrm>
              <a:off x="3600" y="1853"/>
              <a:ext cx="816" cy="288"/>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59" name="Line 96"/>
            <p:cNvSpPr/>
            <p:nvPr/>
          </p:nvSpPr>
          <p:spPr>
            <a:xfrm>
              <a:off x="4031" y="1853"/>
              <a:ext cx="1" cy="288"/>
            </a:xfrm>
            <a:prstGeom prst="line">
              <a:avLst/>
            </a:prstGeom>
            <a:ln w="38100" cap="flat" cmpd="sng">
              <a:solidFill>
                <a:schemeClr val="tx2"/>
              </a:solidFill>
              <a:prstDash val="solid"/>
              <a:round/>
              <a:headEnd type="none" w="med" len="med"/>
              <a:tailEnd type="none" w="med" len="med"/>
            </a:ln>
          </p:spPr>
        </p:sp>
        <p:sp>
          <p:nvSpPr>
            <p:cNvPr id="30760" name="Line 97"/>
            <p:cNvSpPr/>
            <p:nvPr/>
          </p:nvSpPr>
          <p:spPr>
            <a:xfrm>
              <a:off x="4224" y="1853"/>
              <a:ext cx="1" cy="288"/>
            </a:xfrm>
            <a:prstGeom prst="line">
              <a:avLst/>
            </a:prstGeom>
            <a:ln w="38100" cap="flat" cmpd="sng">
              <a:solidFill>
                <a:schemeClr val="tx2"/>
              </a:solidFill>
              <a:prstDash val="solid"/>
              <a:round/>
              <a:headEnd type="none" w="med" len="med"/>
              <a:tailEnd type="none" w="med" len="med"/>
            </a:ln>
          </p:spPr>
        </p:sp>
        <p:sp>
          <p:nvSpPr>
            <p:cNvPr id="30761" name="Line 98"/>
            <p:cNvSpPr/>
            <p:nvPr/>
          </p:nvSpPr>
          <p:spPr>
            <a:xfrm>
              <a:off x="3791" y="1853"/>
              <a:ext cx="1" cy="288"/>
            </a:xfrm>
            <a:prstGeom prst="line">
              <a:avLst/>
            </a:prstGeom>
            <a:ln w="38100" cap="flat" cmpd="sng">
              <a:solidFill>
                <a:schemeClr val="tx2"/>
              </a:solidFill>
              <a:prstDash val="solid"/>
              <a:round/>
              <a:headEnd type="none" w="med" len="med"/>
              <a:tailEnd type="none" w="med" len="med"/>
            </a:ln>
          </p:spPr>
        </p:sp>
        <p:sp>
          <p:nvSpPr>
            <p:cNvPr id="30762" name="Rectangle 99" descr="羊皮纸"/>
            <p:cNvSpPr/>
            <p:nvPr/>
          </p:nvSpPr>
          <p:spPr>
            <a:xfrm>
              <a:off x="3888" y="1325"/>
              <a:ext cx="816" cy="288"/>
            </a:xfrm>
            <a:prstGeom prst="rect">
              <a:avLst/>
            </a:prstGeom>
            <a:blipFill rotWithShape="0">
              <a:blip r:embed="rId1"/>
            </a:blipFill>
            <a:ln w="38100" cap="flat" cmpd="sng">
              <a:solidFill>
                <a:schemeClr val="tx2"/>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63" name="Line 100"/>
            <p:cNvSpPr/>
            <p:nvPr/>
          </p:nvSpPr>
          <p:spPr>
            <a:xfrm>
              <a:off x="4319" y="1325"/>
              <a:ext cx="1" cy="288"/>
            </a:xfrm>
            <a:prstGeom prst="line">
              <a:avLst/>
            </a:prstGeom>
            <a:ln w="38100" cap="flat" cmpd="sng">
              <a:solidFill>
                <a:schemeClr val="tx2"/>
              </a:solidFill>
              <a:prstDash val="solid"/>
              <a:round/>
              <a:headEnd type="none" w="med" len="med"/>
              <a:tailEnd type="none" w="med" len="med"/>
            </a:ln>
          </p:spPr>
        </p:sp>
        <p:sp>
          <p:nvSpPr>
            <p:cNvPr id="30764" name="Line 101"/>
            <p:cNvSpPr/>
            <p:nvPr/>
          </p:nvSpPr>
          <p:spPr>
            <a:xfrm>
              <a:off x="4512" y="1325"/>
              <a:ext cx="1" cy="288"/>
            </a:xfrm>
            <a:prstGeom prst="line">
              <a:avLst/>
            </a:prstGeom>
            <a:ln w="38100" cap="flat" cmpd="sng">
              <a:solidFill>
                <a:schemeClr val="tx2"/>
              </a:solidFill>
              <a:prstDash val="solid"/>
              <a:round/>
              <a:headEnd type="none" w="med" len="med"/>
              <a:tailEnd type="none" w="med" len="med"/>
            </a:ln>
          </p:spPr>
        </p:sp>
        <p:sp>
          <p:nvSpPr>
            <p:cNvPr id="30765" name="Line 102"/>
            <p:cNvSpPr/>
            <p:nvPr/>
          </p:nvSpPr>
          <p:spPr>
            <a:xfrm>
              <a:off x="4079" y="1325"/>
              <a:ext cx="1" cy="288"/>
            </a:xfrm>
            <a:prstGeom prst="line">
              <a:avLst/>
            </a:prstGeom>
            <a:ln w="38100" cap="flat" cmpd="sng">
              <a:solidFill>
                <a:schemeClr val="tx2"/>
              </a:solidFill>
              <a:prstDash val="solid"/>
              <a:round/>
              <a:headEnd type="none" w="med" len="med"/>
              <a:tailEnd type="none" w="med" len="med"/>
            </a:ln>
          </p:spPr>
        </p:sp>
        <p:sp>
          <p:nvSpPr>
            <p:cNvPr id="30766" name="Line 103"/>
            <p:cNvSpPr/>
            <p:nvPr/>
          </p:nvSpPr>
          <p:spPr>
            <a:xfrm flipH="1">
              <a:off x="3792" y="1469"/>
              <a:ext cx="192" cy="384"/>
            </a:xfrm>
            <a:prstGeom prst="line">
              <a:avLst/>
            </a:prstGeom>
            <a:ln w="38100" cap="flat" cmpd="sng">
              <a:solidFill>
                <a:srgbClr val="009900"/>
              </a:solidFill>
              <a:prstDash val="solid"/>
              <a:round/>
              <a:headEnd type="none" w="med" len="med"/>
              <a:tailEnd type="triangle" w="sm" len="lg"/>
            </a:ln>
          </p:spPr>
        </p:sp>
        <p:sp>
          <p:nvSpPr>
            <p:cNvPr id="30767" name="Line 104"/>
            <p:cNvSpPr/>
            <p:nvPr/>
          </p:nvSpPr>
          <p:spPr>
            <a:xfrm flipH="1">
              <a:off x="3504" y="1997"/>
              <a:ext cx="192" cy="384"/>
            </a:xfrm>
            <a:prstGeom prst="line">
              <a:avLst/>
            </a:prstGeom>
            <a:ln w="38100" cap="flat" cmpd="sng">
              <a:solidFill>
                <a:srgbClr val="009900"/>
              </a:solidFill>
              <a:prstDash val="solid"/>
              <a:round/>
              <a:headEnd type="none" w="med" len="med"/>
              <a:tailEnd type="triangle" w="sm" len="lg"/>
            </a:ln>
          </p:spPr>
        </p:sp>
        <p:sp>
          <p:nvSpPr>
            <p:cNvPr id="30768" name="Line 105"/>
            <p:cNvSpPr/>
            <p:nvPr/>
          </p:nvSpPr>
          <p:spPr>
            <a:xfrm flipH="1">
              <a:off x="3984" y="2525"/>
              <a:ext cx="192" cy="384"/>
            </a:xfrm>
            <a:prstGeom prst="line">
              <a:avLst/>
            </a:prstGeom>
            <a:ln w="38100" cap="flat" cmpd="sng">
              <a:solidFill>
                <a:srgbClr val="009900"/>
              </a:solidFill>
              <a:prstDash val="solid"/>
              <a:round/>
              <a:headEnd type="none" w="med" len="med"/>
              <a:tailEnd type="triangle" w="sm" len="lg"/>
            </a:ln>
          </p:spPr>
        </p:sp>
        <p:sp>
          <p:nvSpPr>
            <p:cNvPr id="30769" name="Line 106"/>
            <p:cNvSpPr/>
            <p:nvPr/>
          </p:nvSpPr>
          <p:spPr>
            <a:xfrm>
              <a:off x="4320" y="1997"/>
              <a:ext cx="384" cy="384"/>
            </a:xfrm>
            <a:prstGeom prst="line">
              <a:avLst/>
            </a:prstGeom>
            <a:ln w="38100" cap="flat" cmpd="sng">
              <a:solidFill>
                <a:srgbClr val="009900"/>
              </a:solidFill>
              <a:prstDash val="solid"/>
              <a:round/>
              <a:headEnd type="none" w="med" len="med"/>
              <a:tailEnd type="triangle" w="sm" len="lg"/>
            </a:ln>
          </p:spPr>
        </p:sp>
        <p:sp>
          <p:nvSpPr>
            <p:cNvPr id="30770" name="Line 107"/>
            <p:cNvSpPr/>
            <p:nvPr/>
          </p:nvSpPr>
          <p:spPr>
            <a:xfrm>
              <a:off x="4800" y="2525"/>
              <a:ext cx="288" cy="384"/>
            </a:xfrm>
            <a:prstGeom prst="line">
              <a:avLst/>
            </a:prstGeom>
            <a:ln w="38100" cap="flat" cmpd="sng">
              <a:solidFill>
                <a:srgbClr val="009900"/>
              </a:solidFill>
              <a:prstDash val="solid"/>
              <a:round/>
              <a:headEnd type="none" w="med" len="med"/>
              <a:tailEnd type="triangle" w="sm" len="lg"/>
            </a:ln>
          </p:spPr>
        </p:sp>
        <p:sp>
          <p:nvSpPr>
            <p:cNvPr id="30771" name="Line 108"/>
            <p:cNvSpPr/>
            <p:nvPr/>
          </p:nvSpPr>
          <p:spPr>
            <a:xfrm>
              <a:off x="4224" y="2141"/>
              <a:ext cx="384" cy="384"/>
            </a:xfrm>
            <a:prstGeom prst="line">
              <a:avLst/>
            </a:prstGeom>
            <a:ln w="38100" cap="flat" cmpd="sng">
              <a:solidFill>
                <a:srgbClr val="009900"/>
              </a:solidFill>
              <a:prstDash val="solid"/>
              <a:round/>
              <a:headEnd type="triangle" w="sm" len="lg"/>
              <a:tailEnd type="none" w="sm" len="lg"/>
            </a:ln>
          </p:spPr>
        </p:sp>
        <p:sp>
          <p:nvSpPr>
            <p:cNvPr id="30772" name="Line 109"/>
            <p:cNvSpPr/>
            <p:nvPr/>
          </p:nvSpPr>
          <p:spPr>
            <a:xfrm>
              <a:off x="4608" y="2669"/>
              <a:ext cx="336" cy="384"/>
            </a:xfrm>
            <a:prstGeom prst="line">
              <a:avLst/>
            </a:prstGeom>
            <a:ln w="38100" cap="flat" cmpd="sng">
              <a:solidFill>
                <a:srgbClr val="009900"/>
              </a:solidFill>
              <a:prstDash val="solid"/>
              <a:round/>
              <a:headEnd type="triangle" w="sm" len="lg"/>
              <a:tailEnd type="none" w="sm" len="lg"/>
            </a:ln>
          </p:spPr>
        </p:sp>
        <p:sp>
          <p:nvSpPr>
            <p:cNvPr id="30773" name="Line 110"/>
            <p:cNvSpPr/>
            <p:nvPr/>
          </p:nvSpPr>
          <p:spPr>
            <a:xfrm flipH="1">
              <a:off x="4128" y="1613"/>
              <a:ext cx="192" cy="384"/>
            </a:xfrm>
            <a:prstGeom prst="line">
              <a:avLst/>
            </a:prstGeom>
            <a:ln w="38100" cap="flat" cmpd="sng">
              <a:solidFill>
                <a:srgbClr val="009900"/>
              </a:solidFill>
              <a:prstDash val="solid"/>
              <a:round/>
              <a:headEnd type="triangle" w="sm" len="lg"/>
              <a:tailEnd type="none" w="sm" len="lg"/>
            </a:ln>
          </p:spPr>
        </p:sp>
        <p:sp>
          <p:nvSpPr>
            <p:cNvPr id="30774" name="Line 111"/>
            <p:cNvSpPr/>
            <p:nvPr/>
          </p:nvSpPr>
          <p:spPr>
            <a:xfrm flipH="1">
              <a:off x="4032" y="2669"/>
              <a:ext cx="192" cy="384"/>
            </a:xfrm>
            <a:prstGeom prst="line">
              <a:avLst/>
            </a:prstGeom>
            <a:ln w="38100" cap="flat" cmpd="sng">
              <a:solidFill>
                <a:srgbClr val="009900"/>
              </a:solidFill>
              <a:prstDash val="solid"/>
              <a:round/>
              <a:headEnd type="triangle" w="sm" len="lg"/>
              <a:tailEnd type="none" w="sm" len="lg"/>
            </a:ln>
          </p:spPr>
        </p:sp>
        <p:sp>
          <p:nvSpPr>
            <p:cNvPr id="30775" name="Line 112"/>
            <p:cNvSpPr/>
            <p:nvPr/>
          </p:nvSpPr>
          <p:spPr>
            <a:xfrm flipH="1">
              <a:off x="3696" y="2141"/>
              <a:ext cx="240" cy="384"/>
            </a:xfrm>
            <a:prstGeom prst="line">
              <a:avLst/>
            </a:prstGeom>
            <a:ln w="38100" cap="flat" cmpd="sng">
              <a:solidFill>
                <a:srgbClr val="009900"/>
              </a:solidFill>
              <a:prstDash val="solid"/>
              <a:round/>
              <a:headEnd type="triangle" w="sm" len="lg"/>
              <a:tailEnd type="none" w="sm" len="lg"/>
            </a:ln>
          </p:spPr>
        </p:sp>
        <p:sp>
          <p:nvSpPr>
            <p:cNvPr id="30776" name="Text Box 113"/>
            <p:cNvSpPr txBox="1"/>
            <p:nvPr/>
          </p:nvSpPr>
          <p:spPr>
            <a:xfrm>
              <a:off x="3465" y="2830"/>
              <a:ext cx="231"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30777" name="Text Box 114"/>
            <p:cNvSpPr txBox="1"/>
            <p:nvPr/>
          </p:nvSpPr>
          <p:spPr>
            <a:xfrm>
              <a:off x="4089" y="2830"/>
              <a:ext cx="231"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30778" name="Text Box 115"/>
            <p:cNvSpPr txBox="1"/>
            <p:nvPr/>
          </p:nvSpPr>
          <p:spPr>
            <a:xfrm>
              <a:off x="4377" y="2830"/>
              <a:ext cx="231"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30779" name="Text Box 116"/>
            <p:cNvSpPr txBox="1"/>
            <p:nvPr/>
          </p:nvSpPr>
          <p:spPr>
            <a:xfrm>
              <a:off x="5001" y="2830"/>
              <a:ext cx="231"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30780" name="Text Box 117"/>
            <p:cNvSpPr txBox="1"/>
            <p:nvPr/>
          </p:nvSpPr>
          <p:spPr>
            <a:xfrm>
              <a:off x="3753" y="2292"/>
              <a:ext cx="231"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30781" name="Text Box 118"/>
            <p:cNvSpPr txBox="1"/>
            <p:nvPr/>
          </p:nvSpPr>
          <p:spPr>
            <a:xfrm>
              <a:off x="4281" y="1236"/>
              <a:ext cx="231"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30782" name="Text Box 119"/>
            <p:cNvSpPr txBox="1"/>
            <p:nvPr/>
          </p:nvSpPr>
          <p:spPr>
            <a:xfrm>
              <a:off x="4473" y="1236"/>
              <a:ext cx="231"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30783" name="Text Box 120"/>
            <p:cNvSpPr txBox="1"/>
            <p:nvPr/>
          </p:nvSpPr>
          <p:spPr>
            <a:xfrm>
              <a:off x="4056" y="1256"/>
              <a:ext cx="254"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30784" name="Text Box 121"/>
            <p:cNvSpPr txBox="1"/>
            <p:nvPr/>
          </p:nvSpPr>
          <p:spPr>
            <a:xfrm>
              <a:off x="3765" y="1783"/>
              <a:ext cx="243"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30785" name="Text Box 122"/>
            <p:cNvSpPr txBox="1"/>
            <p:nvPr/>
          </p:nvSpPr>
          <p:spPr>
            <a:xfrm>
              <a:off x="3329" y="2331"/>
              <a:ext cx="254"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30786" name="Text Box 123"/>
            <p:cNvSpPr txBox="1"/>
            <p:nvPr/>
          </p:nvSpPr>
          <p:spPr>
            <a:xfrm>
              <a:off x="4248" y="2312"/>
              <a:ext cx="254"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30787" name="Text Box 124"/>
            <p:cNvSpPr txBox="1"/>
            <p:nvPr/>
          </p:nvSpPr>
          <p:spPr>
            <a:xfrm>
              <a:off x="4593" y="2858"/>
              <a:ext cx="232"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30788" name="Text Box 125"/>
            <p:cNvSpPr txBox="1"/>
            <p:nvPr/>
          </p:nvSpPr>
          <p:spPr>
            <a:xfrm>
              <a:off x="3669" y="2858"/>
              <a:ext cx="243"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30789" name="Line 126"/>
            <p:cNvSpPr/>
            <p:nvPr/>
          </p:nvSpPr>
          <p:spPr>
            <a:xfrm>
              <a:off x="3360" y="2381"/>
              <a:ext cx="1" cy="288"/>
            </a:xfrm>
            <a:prstGeom prst="line">
              <a:avLst/>
            </a:prstGeom>
            <a:ln w="38100" cap="flat" cmpd="sng">
              <a:solidFill>
                <a:schemeClr val="tx2"/>
              </a:solidFill>
              <a:prstDash val="solid"/>
              <a:round/>
              <a:headEnd type="none" w="med" len="med"/>
              <a:tailEnd type="none" w="med" len="med"/>
            </a:ln>
          </p:spPr>
        </p:sp>
        <p:sp>
          <p:nvSpPr>
            <p:cNvPr id="30790" name="Text Box 127"/>
            <p:cNvSpPr txBox="1"/>
            <p:nvPr/>
          </p:nvSpPr>
          <p:spPr>
            <a:xfrm>
              <a:off x="3129" y="2292"/>
              <a:ext cx="231"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30791" name="Line 128"/>
            <p:cNvSpPr/>
            <p:nvPr/>
          </p:nvSpPr>
          <p:spPr>
            <a:xfrm flipH="1">
              <a:off x="4161" y="1133"/>
              <a:ext cx="144" cy="192"/>
            </a:xfrm>
            <a:prstGeom prst="line">
              <a:avLst/>
            </a:prstGeom>
            <a:ln w="38100" cap="flat" cmpd="sng">
              <a:solidFill>
                <a:schemeClr val="tx2"/>
              </a:solidFill>
              <a:prstDash val="solid"/>
              <a:round/>
              <a:headEnd type="none" w="med" len="med"/>
              <a:tailEnd type="triangle" w="med" len="med"/>
            </a:ln>
          </p:spPr>
        </p:sp>
        <p:sp>
          <p:nvSpPr>
            <p:cNvPr id="30792" name="Text Box 129"/>
            <p:cNvSpPr txBox="1"/>
            <p:nvPr/>
          </p:nvSpPr>
          <p:spPr>
            <a:xfrm>
              <a:off x="4192" y="795"/>
              <a:ext cx="453" cy="408"/>
            </a:xfrm>
            <a:prstGeom prst="rect">
              <a:avLst/>
            </a:prstGeom>
            <a:noFill/>
            <a:ln w="38100">
              <a:noFill/>
            </a:ln>
          </p:spPr>
          <p:txBody>
            <a:bodyPr wrap="none" anchor="ctr" anchorCtr="0">
              <a:spAutoFit/>
            </a:bodyPr>
            <a:p>
              <a:pPr algn="ctr"/>
              <a:r>
                <a:rPr lang="en-US" altLang="zh-CN" sz="2400" b="1" dirty="0">
                  <a:latin typeface="Times New Roman" panose="02020603050405020304" pitchFamily="18" charset="0"/>
                  <a:ea typeface="宋体" panose="02010600030101010101" pitchFamily="2" charset="-122"/>
                </a:rPr>
                <a:t>root</a:t>
              </a:r>
              <a:endParaRPr lang="en-US" altLang="zh-CN" sz="24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429260" y="948055"/>
            <a:ext cx="8907145" cy="5144135"/>
          </a:xfrm>
        </p:spPr>
        <p:txBody>
          <a:bodyPr/>
          <a:p>
            <a:pPr marR="0" lvl="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已知二叉树结构如图所示，若二叉树根结点从位置1开始存储，求该二叉树的数组存储</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已知某二叉树采用数组存储，假设从数组下标1开始存储二叉树结点的数值，数组元素数值按下标顺序依次为：ABC0D0000EF，请画出相应的二叉树</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32772" name="组合 76"/>
          <p:cNvGrpSpPr/>
          <p:nvPr/>
        </p:nvGrpSpPr>
        <p:grpSpPr>
          <a:xfrm>
            <a:off x="9055100" y="1029613"/>
            <a:ext cx="2930525" cy="3775115"/>
            <a:chOff x="4857179" y="1625497"/>
            <a:chExt cx="2360834" cy="3161469"/>
          </a:xfrm>
        </p:grpSpPr>
        <p:sp>
          <p:nvSpPr>
            <p:cNvPr id="32773" name="Line 9"/>
            <p:cNvSpPr/>
            <p:nvPr/>
          </p:nvSpPr>
          <p:spPr>
            <a:xfrm>
              <a:off x="5638802" y="2006397"/>
              <a:ext cx="355023" cy="406552"/>
            </a:xfrm>
            <a:prstGeom prst="line">
              <a:avLst/>
            </a:prstGeom>
            <a:ln w="28575" cap="flat" cmpd="sng">
              <a:solidFill>
                <a:schemeClr val="accent2"/>
              </a:solidFill>
              <a:prstDash val="solid"/>
              <a:round/>
              <a:headEnd type="none" w="med" len="med"/>
              <a:tailEnd type="none" w="med" len="med"/>
            </a:ln>
          </p:spPr>
        </p:sp>
        <p:sp>
          <p:nvSpPr>
            <p:cNvPr id="32774" name="Line 10"/>
            <p:cNvSpPr/>
            <p:nvPr/>
          </p:nvSpPr>
          <p:spPr>
            <a:xfrm flipH="1">
              <a:off x="5141770" y="2006397"/>
              <a:ext cx="355023" cy="406552"/>
            </a:xfrm>
            <a:prstGeom prst="line">
              <a:avLst/>
            </a:prstGeom>
            <a:ln w="28575" cap="flat" cmpd="sng">
              <a:solidFill>
                <a:schemeClr val="accent2"/>
              </a:solidFill>
              <a:prstDash val="solid"/>
              <a:round/>
              <a:headEnd type="none" w="med" len="med"/>
              <a:tailEnd type="none" w="med" len="med"/>
            </a:ln>
          </p:spPr>
        </p:sp>
        <p:sp>
          <p:nvSpPr>
            <p:cNvPr id="32775" name="Line 12"/>
            <p:cNvSpPr/>
            <p:nvPr/>
          </p:nvSpPr>
          <p:spPr>
            <a:xfrm>
              <a:off x="6064829" y="2683984"/>
              <a:ext cx="0" cy="406552"/>
            </a:xfrm>
            <a:prstGeom prst="line">
              <a:avLst/>
            </a:prstGeom>
            <a:ln w="28575" cap="flat" cmpd="sng">
              <a:solidFill>
                <a:schemeClr val="accent2"/>
              </a:solidFill>
              <a:prstDash val="solid"/>
              <a:round/>
              <a:headEnd type="none" w="med" len="med"/>
              <a:tailEnd type="none" w="med" len="med"/>
            </a:ln>
          </p:spPr>
        </p:sp>
        <p:sp>
          <p:nvSpPr>
            <p:cNvPr id="10" name="Oval 15"/>
            <p:cNvSpPr>
              <a:spLocks noChangeArrowheads="1"/>
            </p:cNvSpPr>
            <p:nvPr/>
          </p:nvSpPr>
          <p:spPr bwMode="auto">
            <a:xfrm>
              <a:off x="4857179" y="2344763"/>
              <a:ext cx="425871" cy="406812"/>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Oval 17"/>
            <p:cNvSpPr>
              <a:spLocks noChangeArrowheads="1"/>
            </p:cNvSpPr>
            <p:nvPr/>
          </p:nvSpPr>
          <p:spPr bwMode="auto">
            <a:xfrm>
              <a:off x="5850878" y="2344763"/>
              <a:ext cx="428428" cy="406812"/>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Oval 21"/>
            <p:cNvSpPr>
              <a:spLocks noChangeArrowheads="1"/>
            </p:cNvSpPr>
            <p:nvPr/>
          </p:nvSpPr>
          <p:spPr bwMode="auto">
            <a:xfrm>
              <a:off x="5850878" y="3022783"/>
              <a:ext cx="428428" cy="406812"/>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Oval 23"/>
            <p:cNvSpPr>
              <a:spLocks noChangeArrowheads="1"/>
            </p:cNvSpPr>
            <p:nvPr/>
          </p:nvSpPr>
          <p:spPr bwMode="auto">
            <a:xfrm>
              <a:off x="5354668" y="1666743"/>
              <a:ext cx="427150" cy="408142"/>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80" name="Text Box 26"/>
            <p:cNvSpPr txBox="1"/>
            <p:nvPr/>
          </p:nvSpPr>
          <p:spPr>
            <a:xfrm>
              <a:off x="5398195" y="1625497"/>
              <a:ext cx="353997" cy="437124"/>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32781" name="Text Box 29"/>
            <p:cNvSpPr txBox="1"/>
            <p:nvPr/>
          </p:nvSpPr>
          <p:spPr>
            <a:xfrm>
              <a:off x="4908097" y="2303084"/>
              <a:ext cx="338651" cy="437124"/>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32782" name="Text Box 31"/>
            <p:cNvSpPr txBox="1"/>
            <p:nvPr/>
          </p:nvSpPr>
          <p:spPr>
            <a:xfrm>
              <a:off x="5873454" y="2302743"/>
              <a:ext cx="353997" cy="437124"/>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grpSp>
          <p:nvGrpSpPr>
            <p:cNvPr id="32783" name="组合 73"/>
            <p:cNvGrpSpPr/>
            <p:nvPr/>
          </p:nvGrpSpPr>
          <p:grpSpPr>
            <a:xfrm>
              <a:off x="4857179" y="3001479"/>
              <a:ext cx="783961" cy="1268330"/>
              <a:chOff x="6419928" y="1482231"/>
              <a:chExt cx="783961" cy="1268330"/>
            </a:xfrm>
          </p:grpSpPr>
          <p:sp>
            <p:nvSpPr>
              <p:cNvPr id="32784" name="Line 13"/>
              <p:cNvSpPr/>
              <p:nvPr/>
            </p:nvSpPr>
            <p:spPr>
              <a:xfrm flipH="1">
                <a:off x="6632866" y="1859828"/>
                <a:ext cx="296064" cy="553121"/>
              </a:xfrm>
              <a:prstGeom prst="line">
                <a:avLst/>
              </a:prstGeom>
              <a:ln w="28575" cap="flat" cmpd="sng">
                <a:solidFill>
                  <a:schemeClr val="accent2"/>
                </a:solidFill>
                <a:prstDash val="solid"/>
                <a:round/>
                <a:headEnd type="none" w="med" len="med"/>
                <a:tailEnd type="none" w="med" len="med"/>
              </a:ln>
            </p:spPr>
          </p:sp>
          <p:sp>
            <p:nvSpPr>
              <p:cNvPr id="36" name="Oval 18"/>
              <p:cNvSpPr>
                <a:spLocks noChangeArrowheads="1"/>
              </p:cNvSpPr>
              <p:nvPr/>
            </p:nvSpPr>
            <p:spPr bwMode="auto">
              <a:xfrm>
                <a:off x="6419928" y="2345079"/>
                <a:ext cx="425871" cy="405482"/>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Oval 24"/>
              <p:cNvSpPr>
                <a:spLocks noChangeArrowheads="1"/>
              </p:cNvSpPr>
              <p:nvPr/>
            </p:nvSpPr>
            <p:spPr bwMode="auto">
              <a:xfrm>
                <a:off x="6778018" y="1536772"/>
                <a:ext cx="425871" cy="406812"/>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87" name="Text Box 27"/>
              <p:cNvSpPr txBox="1"/>
              <p:nvPr/>
            </p:nvSpPr>
            <p:spPr>
              <a:xfrm>
                <a:off x="6855102" y="1482231"/>
                <a:ext cx="322281" cy="437124"/>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32788" name="Text Box 32"/>
              <p:cNvSpPr txBox="1"/>
              <p:nvPr/>
            </p:nvSpPr>
            <p:spPr>
              <a:xfrm>
                <a:off x="6458758" y="2309799"/>
                <a:ext cx="364486" cy="423694"/>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grpSp>
        <p:sp>
          <p:nvSpPr>
            <p:cNvPr id="32789" name="Text Box 35"/>
            <p:cNvSpPr txBox="1"/>
            <p:nvPr/>
          </p:nvSpPr>
          <p:spPr>
            <a:xfrm>
              <a:off x="5902160" y="2979259"/>
              <a:ext cx="338651" cy="437124"/>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grpSp>
          <p:nvGrpSpPr>
            <p:cNvPr id="32790" name="组合 72"/>
            <p:cNvGrpSpPr/>
            <p:nvPr/>
          </p:nvGrpSpPr>
          <p:grpSpPr>
            <a:xfrm>
              <a:off x="6224314" y="2970114"/>
              <a:ext cx="993699" cy="1816852"/>
              <a:chOff x="7360180" y="3232724"/>
              <a:chExt cx="993699" cy="1816852"/>
            </a:xfrm>
          </p:grpSpPr>
          <p:sp>
            <p:nvSpPr>
              <p:cNvPr id="32791" name="Line 7"/>
              <p:cNvSpPr/>
              <p:nvPr/>
            </p:nvSpPr>
            <p:spPr>
              <a:xfrm>
                <a:off x="7927852" y="3626329"/>
                <a:ext cx="213014" cy="474311"/>
              </a:xfrm>
              <a:prstGeom prst="line">
                <a:avLst/>
              </a:prstGeom>
              <a:ln w="28575" cap="flat" cmpd="sng">
                <a:solidFill>
                  <a:schemeClr val="accent2"/>
                </a:solidFill>
                <a:prstDash val="solid"/>
                <a:round/>
                <a:headEnd type="none" w="med" len="med"/>
                <a:tailEnd type="none" w="med" len="med"/>
              </a:ln>
            </p:spPr>
          </p:sp>
          <p:sp>
            <p:nvSpPr>
              <p:cNvPr id="32792" name="Line 8"/>
              <p:cNvSpPr/>
              <p:nvPr/>
            </p:nvSpPr>
            <p:spPr>
              <a:xfrm flipH="1">
                <a:off x="7572829" y="3626329"/>
                <a:ext cx="213014" cy="474311"/>
              </a:xfrm>
              <a:prstGeom prst="line">
                <a:avLst/>
              </a:prstGeom>
              <a:ln w="28575" cap="flat" cmpd="sng">
                <a:solidFill>
                  <a:schemeClr val="accent2"/>
                </a:solidFill>
                <a:prstDash val="solid"/>
                <a:round/>
                <a:headEnd type="none" w="med" len="med"/>
                <a:tailEnd type="none" w="med" len="med"/>
              </a:ln>
            </p:spPr>
          </p:sp>
          <p:sp>
            <p:nvSpPr>
              <p:cNvPr id="32793" name="Line 11"/>
              <p:cNvSpPr/>
              <p:nvPr/>
            </p:nvSpPr>
            <p:spPr>
              <a:xfrm flipH="1">
                <a:off x="7940808" y="4359590"/>
                <a:ext cx="115100" cy="299127"/>
              </a:xfrm>
              <a:prstGeom prst="line">
                <a:avLst/>
              </a:prstGeom>
              <a:ln w="28575" cap="flat" cmpd="sng">
                <a:solidFill>
                  <a:schemeClr val="accent2"/>
                </a:solidFill>
                <a:prstDash val="solid"/>
                <a:round/>
                <a:headEnd type="none" w="med" len="med"/>
                <a:tailEnd type="none" w="med" len="med"/>
              </a:ln>
            </p:spPr>
          </p:sp>
          <p:sp>
            <p:nvSpPr>
              <p:cNvPr id="27" name="Oval 19"/>
              <p:cNvSpPr>
                <a:spLocks noChangeArrowheads="1"/>
              </p:cNvSpPr>
              <p:nvPr/>
            </p:nvSpPr>
            <p:spPr bwMode="auto">
              <a:xfrm>
                <a:off x="7360180" y="3964744"/>
                <a:ext cx="425871" cy="405482"/>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Oval 20"/>
              <p:cNvSpPr>
                <a:spLocks noChangeArrowheads="1"/>
              </p:cNvSpPr>
              <p:nvPr/>
            </p:nvSpPr>
            <p:spPr bwMode="auto">
              <a:xfrm>
                <a:off x="7928008" y="3964744"/>
                <a:ext cx="425871" cy="405482"/>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Oval 22"/>
              <p:cNvSpPr>
                <a:spLocks noChangeArrowheads="1"/>
              </p:cNvSpPr>
              <p:nvPr/>
            </p:nvSpPr>
            <p:spPr bwMode="auto">
              <a:xfrm>
                <a:off x="7720828" y="4642764"/>
                <a:ext cx="424592" cy="406812"/>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Oval 25"/>
              <p:cNvSpPr>
                <a:spLocks noChangeArrowheads="1"/>
              </p:cNvSpPr>
              <p:nvPr/>
            </p:nvSpPr>
            <p:spPr bwMode="auto">
              <a:xfrm>
                <a:off x="7644094" y="3286724"/>
                <a:ext cx="425871" cy="40814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798" name="Text Box 28"/>
              <p:cNvSpPr txBox="1"/>
              <p:nvPr/>
            </p:nvSpPr>
            <p:spPr>
              <a:xfrm>
                <a:off x="7679799" y="3232724"/>
                <a:ext cx="370367" cy="437124"/>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32799" name="Text Box 33"/>
              <p:cNvSpPr txBox="1"/>
              <p:nvPr/>
            </p:nvSpPr>
            <p:spPr>
              <a:xfrm>
                <a:off x="7450792" y="3927788"/>
                <a:ext cx="258866" cy="42757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32800" name="Text Box 34"/>
              <p:cNvSpPr txBox="1"/>
              <p:nvPr/>
            </p:nvSpPr>
            <p:spPr>
              <a:xfrm>
                <a:off x="8003709" y="3927788"/>
                <a:ext cx="290585" cy="42757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sp>
            <p:nvSpPr>
              <p:cNvPr id="32801" name="Text Box 36"/>
              <p:cNvSpPr txBox="1"/>
              <p:nvPr/>
            </p:nvSpPr>
            <p:spPr>
              <a:xfrm>
                <a:off x="7755788" y="4603963"/>
                <a:ext cx="370394" cy="42757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grpSp>
        <p:sp>
          <p:nvSpPr>
            <p:cNvPr id="32802" name="Line 13"/>
            <p:cNvSpPr/>
            <p:nvPr/>
          </p:nvSpPr>
          <p:spPr>
            <a:xfrm>
              <a:off x="5067302" y="2776533"/>
              <a:ext cx="298878" cy="303417"/>
            </a:xfrm>
            <a:prstGeom prst="line">
              <a:avLst/>
            </a:prstGeom>
            <a:ln w="28575" cap="flat" cmpd="sng">
              <a:solidFill>
                <a:schemeClr val="accent2"/>
              </a:solidFill>
              <a:prstDash val="solid"/>
              <a:round/>
              <a:headEnd type="none" w="med" len="med"/>
              <a:tailEnd type="none" w="med" len="med"/>
            </a:ln>
          </p:spPr>
        </p:sp>
        <p:sp>
          <p:nvSpPr>
            <p:cNvPr id="32803" name="Line 7"/>
            <p:cNvSpPr/>
            <p:nvPr/>
          </p:nvSpPr>
          <p:spPr>
            <a:xfrm>
              <a:off x="6286512" y="2643182"/>
              <a:ext cx="285752" cy="428628"/>
            </a:xfrm>
            <a:prstGeom prst="line">
              <a:avLst/>
            </a:prstGeom>
            <a:ln w="28575" cap="flat" cmpd="sng">
              <a:solidFill>
                <a:schemeClr val="accent2"/>
              </a:solidFill>
              <a:prstDash val="solid"/>
              <a:round/>
              <a:headEnd type="none" w="med" len="med"/>
              <a:tailEnd type="none" w="med" len="med"/>
            </a:ln>
          </p:spPr>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R="0" algn="l" defTabSz="1219200" rtl="0" eaLnBrk="1" fontAlgn="base" latinLnBrk="0"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若二叉树采用二叉链表存储，如何判断指针p指向的结点是叶子？</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algn="l" defTabSz="1219200" rtl="0" eaLnBrk="1" fontAlgn="base" latinLnBrk="0"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在二叉树中，如果要判断指针p指向的结点是根，需要采用何种存储结构？</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树的定义和基本术语</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遍历二叉树和线索二叉树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树和森林</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赫夫曼树及其应用</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回溯法与树的遍历</a:t>
            </a: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2345055"/>
            <a:ext cx="455993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485" y="18859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第六章	树和二叉树</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树的遍历就是按某种次序访问树中的结点，要求每个结点访问一次且仅访问一次</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一个二叉树由根结点与左子树和右子树组成，设访问根结点用D表示，遍历左、右子树用L、R表示，如果规定先左子树后右子树，则共有三种组合</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DLR [先序遍历]</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LDR [中序遍历]</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LRD [后序遍历]</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zh-CN" altLang="en-US" dirty="0">
              <a:latin typeface="楷体" panose="02010609060101010101" charset="-122"/>
              <a:ea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33796" name="Group 43"/>
          <p:cNvGrpSpPr/>
          <p:nvPr/>
        </p:nvGrpSpPr>
        <p:grpSpPr>
          <a:xfrm>
            <a:off x="5303520" y="3356927"/>
            <a:ext cx="1697038" cy="1177926"/>
            <a:chOff x="4032" y="2831"/>
            <a:chExt cx="1069" cy="742"/>
          </a:xfrm>
        </p:grpSpPr>
        <p:sp>
          <p:nvSpPr>
            <p:cNvPr id="33797" name="Line 44"/>
            <p:cNvSpPr/>
            <p:nvPr/>
          </p:nvSpPr>
          <p:spPr>
            <a:xfrm>
              <a:off x="4680" y="3024"/>
              <a:ext cx="216" cy="288"/>
            </a:xfrm>
            <a:prstGeom prst="line">
              <a:avLst/>
            </a:prstGeom>
            <a:ln w="38100" cap="flat" cmpd="sng">
              <a:solidFill>
                <a:srgbClr val="009900"/>
              </a:solidFill>
              <a:prstDash val="solid"/>
              <a:round/>
              <a:headEnd type="none" w="med" len="med"/>
              <a:tailEnd type="none" w="med" len="med"/>
            </a:ln>
          </p:spPr>
        </p:sp>
        <p:sp>
          <p:nvSpPr>
            <p:cNvPr id="33798" name="Line 45"/>
            <p:cNvSpPr/>
            <p:nvPr/>
          </p:nvSpPr>
          <p:spPr>
            <a:xfrm flipH="1">
              <a:off x="4272" y="3024"/>
              <a:ext cx="264" cy="309"/>
            </a:xfrm>
            <a:prstGeom prst="line">
              <a:avLst/>
            </a:prstGeom>
            <a:ln w="38100" cap="flat" cmpd="sng">
              <a:solidFill>
                <a:srgbClr val="009900"/>
              </a:solidFill>
              <a:prstDash val="solid"/>
              <a:round/>
              <a:headEnd type="none" w="med" len="med"/>
              <a:tailEnd type="none" w="med" len="med"/>
            </a:ln>
          </p:spPr>
        </p:sp>
        <p:sp>
          <p:nvSpPr>
            <p:cNvPr id="33799" name="Oval 46"/>
            <p:cNvSpPr/>
            <p:nvPr/>
          </p:nvSpPr>
          <p:spPr>
            <a:xfrm>
              <a:off x="4464" y="285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3800" name="Text Box 47"/>
            <p:cNvSpPr txBox="1"/>
            <p:nvPr/>
          </p:nvSpPr>
          <p:spPr>
            <a:xfrm>
              <a:off x="4432" y="2831"/>
              <a:ext cx="340" cy="329"/>
            </a:xfrm>
            <a:prstGeom prst="rect">
              <a:avLst/>
            </a:prstGeom>
            <a:noFill/>
            <a:ln w="38100">
              <a:noFill/>
            </a:ln>
          </p:spPr>
          <p:txBody>
            <a:bodyPr wrap="none" anchor="ctr" anchorCtr="0">
              <a:spAutoFit/>
            </a:bodyPr>
            <a:p>
              <a:pPr algn="ctr"/>
              <a:r>
                <a:rPr lang="zh-CN" altLang="en-US" sz="2800" b="1" dirty="0">
                  <a:solidFill>
                    <a:schemeClr val="bg1"/>
                  </a:solidFill>
                  <a:latin typeface="Times New Roman" panose="02020603050405020304" pitchFamily="18" charset="0"/>
                  <a:ea typeface="宋体" panose="02010600030101010101" pitchFamily="2" charset="-122"/>
                </a:rPr>
                <a:t>Ｄ</a:t>
              </a:r>
              <a:endParaRPr lang="zh-CN" altLang="en-US" sz="2400" dirty="0">
                <a:latin typeface="Times New Roman" panose="02020603050405020304" pitchFamily="18" charset="0"/>
                <a:ea typeface="宋体" panose="02010600030101010101" pitchFamily="2" charset="-122"/>
              </a:endParaRPr>
            </a:p>
          </p:txBody>
        </p:sp>
        <p:sp>
          <p:nvSpPr>
            <p:cNvPr id="33801" name="Oval 48"/>
            <p:cNvSpPr/>
            <p:nvPr/>
          </p:nvSpPr>
          <p:spPr>
            <a:xfrm>
              <a:off x="4032" y="3285"/>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3802" name="Text Box 49"/>
            <p:cNvSpPr txBox="1"/>
            <p:nvPr/>
          </p:nvSpPr>
          <p:spPr>
            <a:xfrm>
              <a:off x="4080" y="3236"/>
              <a:ext cx="228" cy="329"/>
            </a:xfrm>
            <a:prstGeom prst="rect">
              <a:avLst/>
            </a:prstGeom>
            <a:noFill/>
            <a:ln w="38100">
              <a:noFill/>
            </a:ln>
          </p:spPr>
          <p:txBody>
            <a:bodyPr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L</a:t>
              </a:r>
              <a:endParaRPr lang="en-US" altLang="zh-CN" sz="2800" b="1" dirty="0">
                <a:solidFill>
                  <a:schemeClr val="bg1"/>
                </a:solidFill>
                <a:latin typeface="Times New Roman" panose="02020603050405020304" pitchFamily="18" charset="0"/>
                <a:ea typeface="宋体" panose="02010600030101010101" pitchFamily="2" charset="-122"/>
              </a:endParaRPr>
            </a:p>
          </p:txBody>
        </p:sp>
        <p:sp>
          <p:nvSpPr>
            <p:cNvPr id="33803" name="Oval 50"/>
            <p:cNvSpPr/>
            <p:nvPr/>
          </p:nvSpPr>
          <p:spPr>
            <a:xfrm>
              <a:off x="4800" y="3285"/>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3804" name="Text Box 51"/>
            <p:cNvSpPr txBox="1"/>
            <p:nvPr/>
          </p:nvSpPr>
          <p:spPr>
            <a:xfrm>
              <a:off x="4824" y="3236"/>
              <a:ext cx="27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R</a:t>
              </a:r>
              <a:endParaRPr lang="en-US" altLang="zh-CN" sz="2800" b="1" dirty="0">
                <a:solidFill>
                  <a:schemeClr val="bg1"/>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先序遍历的递归算法</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若二叉树为空，则返回；否则：</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访问当前结点(D)</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先序遍历左子树(L)</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先序遍历右子树(R)</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34820" name="Group 13"/>
          <p:cNvGrpSpPr/>
          <p:nvPr/>
        </p:nvGrpSpPr>
        <p:grpSpPr>
          <a:xfrm>
            <a:off x="7391718" y="1628458"/>
            <a:ext cx="2667000" cy="2514600"/>
            <a:chOff x="3696" y="2565"/>
            <a:chExt cx="1680" cy="1584"/>
          </a:xfrm>
        </p:grpSpPr>
        <p:sp>
          <p:nvSpPr>
            <p:cNvPr id="34821" name="Line 14"/>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34822" name="Line 15"/>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34823" name="Oval 16"/>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34824" name="Line 17"/>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34825" name="Oval 18"/>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34826" name="Line 19"/>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34827" name="Oval 20"/>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34828" name="Line 21"/>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34829" name="Oval 22"/>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34830" name="Oval 23"/>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34831" name="Line 24"/>
            <p:cNvSpPr/>
            <p:nvPr/>
          </p:nvSpPr>
          <p:spPr>
            <a:xfrm flipH="1">
              <a:off x="4176" y="3600"/>
              <a:ext cx="264" cy="309"/>
            </a:xfrm>
            <a:prstGeom prst="line">
              <a:avLst/>
            </a:prstGeom>
            <a:ln w="38100" cap="flat" cmpd="sng">
              <a:solidFill>
                <a:srgbClr val="009900"/>
              </a:solidFill>
              <a:prstDash val="solid"/>
              <a:round/>
              <a:headEnd type="none" w="med" len="med"/>
              <a:tailEnd type="none" w="med" len="med"/>
            </a:ln>
          </p:spPr>
        </p:sp>
        <p:sp>
          <p:nvSpPr>
            <p:cNvPr id="34832" name="Oval 25"/>
            <p:cNvSpPr/>
            <p:nvPr/>
          </p:nvSpPr>
          <p:spPr>
            <a:xfrm>
              <a:off x="3936" y="3861"/>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34833" name="Oval 26"/>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
        <p:nvSpPr>
          <p:cNvPr id="5" name="文本框 4"/>
          <p:cNvSpPr txBox="1"/>
          <p:nvPr/>
        </p:nvSpPr>
        <p:spPr>
          <a:xfrm>
            <a:off x="7176770" y="4220845"/>
            <a:ext cx="4010660" cy="829945"/>
          </a:xfrm>
          <a:prstGeom prst="rect">
            <a:avLst/>
          </a:prstGeom>
        </p:spPr>
        <p:txBody>
          <a:bodyPr vert="horz" wrap="square" lIns="91440" tIns="45720" rIns="91440" bIns="45720" rtlCol="0" anchor="t">
            <a:spAutoFit/>
          </a:bodyPr>
          <a:p>
            <a:pPr marL="609600" marR="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pPr>
            <a:r>
              <a:rPr lang="zh-CN" altLang="en-US" sz="2400" kern="0" dirty="0">
                <a:solidFill>
                  <a:srgbClr val="FF0000"/>
                </a:solidFill>
                <a:latin typeface="黑体" panose="02010609060101010101" pitchFamily="2" charset="-122"/>
                <a:ea typeface="黑体" panose="02010609060101010101" pitchFamily="2" charset="-122"/>
                <a:sym typeface="+mn-ea"/>
              </a:rPr>
              <a:t>先序表遍历结果：</a:t>
            </a:r>
            <a:r>
              <a:rPr lang="en-US" altLang="zh-CN" sz="2400" kern="0" dirty="0">
                <a:solidFill>
                  <a:srgbClr val="FF0000"/>
                </a:solidFill>
                <a:latin typeface="黑体" panose="02010609060101010101" pitchFamily="2" charset="-122"/>
                <a:ea typeface="黑体" panose="02010609060101010101" pitchFamily="2" charset="-122"/>
                <a:sym typeface="+mn-ea"/>
              </a:rPr>
              <a:t>ABDEGCF</a:t>
            </a:r>
            <a:endParaRPr kumimoji="0" lang="en-US" altLang="zh-CN" sz="2400" b="0" i="0" u="none" strike="noStrike" kern="0" cap="none" spc="0" normalizeH="0" baseline="0" noProof="1" dirty="0">
              <a:solidFill>
                <a:srgbClr val="FF0000"/>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pPr>
            <a:r>
              <a:rPr lang="zh-CN" altLang="en-US" sz="2400" i="1" kern="0" dirty="0">
                <a:solidFill>
                  <a:schemeClr val="tx1"/>
                </a:solidFill>
                <a:latin typeface="黑体" panose="02010609060101010101" pitchFamily="2" charset="-122"/>
                <a:ea typeface="黑体" panose="02010609060101010101" pitchFamily="2" charset="-122"/>
                <a:sym typeface="+mn-ea"/>
              </a:rPr>
              <a:t>第一个输出结点必为根</a:t>
            </a:r>
            <a:endParaRPr lang="en-US" altLang="zh-CN" sz="2400" i="1" kern="0" dirty="0">
              <a:solidFill>
                <a:schemeClr val="tx1"/>
              </a:solidFill>
              <a:latin typeface="黑体" panose="02010609060101010101" pitchFamily="2" charset="-122"/>
              <a:ea typeface="黑体" panose="02010609060101010101" pitchFamily="2"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先序遍历的递归程序实现</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void PreOrderTraverse ( BinTree T )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if (T)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cout &lt;&lt; T-&gt;data;</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PreOrderTraverse ( T-&gt;lChild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PreOrderTraverse ( T-&gt;rChild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先序遍历的递归</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C++</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实现</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1414145" y="1638935"/>
            <a:ext cx="4676775" cy="24460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先序遍历的非递归算法，显示地使用栈</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设T是根结点指针，若二叉树为空，则返回；否则，令p=T，执行以下循环：</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965200" marR="0" lvl="1" indent="-5080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mn-ea"/>
                <a:sym typeface="+mn-ea"/>
              </a:rPr>
              <a:t>⑴ 访问p所指向的结点；</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965200" marR="0" lvl="1" indent="-5080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mn-ea"/>
                <a:sym typeface="+mn-ea"/>
              </a:rPr>
              <a:t>⑵ q=p-&gt;Rchild ，若q不为空，则q进栈；</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965200" marR="0" lvl="1" indent="-5080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mn-ea"/>
                <a:sym typeface="+mn-ea"/>
              </a:rPr>
              <a:t>⑶ p=p-&gt;Lchild ，若p不为空，转(1)，否则转(4)；</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965200" marR="0" lvl="1" indent="-5080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mn-ea"/>
                <a:sym typeface="+mn-ea"/>
              </a:rPr>
              <a:t>⑷ 退栈到p ，转(1)，直到栈空为止。</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45060" name="Group 4"/>
          <p:cNvGrpSpPr/>
          <p:nvPr/>
        </p:nvGrpSpPr>
        <p:grpSpPr>
          <a:xfrm>
            <a:off x="8543608" y="2853055"/>
            <a:ext cx="2667000" cy="2514600"/>
            <a:chOff x="3696" y="2565"/>
            <a:chExt cx="1680" cy="1584"/>
          </a:xfrm>
        </p:grpSpPr>
        <p:sp>
          <p:nvSpPr>
            <p:cNvPr id="45061" name="Line 5"/>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45062" name="Line 6"/>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45063" name="Oval 7"/>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45064" name="Line 8"/>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45065" name="Oval 9"/>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45066" name="Line 10"/>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45067" name="Oval 11"/>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45068" name="Line 12"/>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45069" name="Oval 13"/>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45070" name="Oval 14"/>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45071" name="Line 15"/>
            <p:cNvSpPr/>
            <p:nvPr/>
          </p:nvSpPr>
          <p:spPr>
            <a:xfrm flipH="1">
              <a:off x="4176" y="3600"/>
              <a:ext cx="264" cy="309"/>
            </a:xfrm>
            <a:prstGeom prst="line">
              <a:avLst/>
            </a:prstGeom>
            <a:ln w="38100" cap="flat" cmpd="sng">
              <a:solidFill>
                <a:srgbClr val="009900"/>
              </a:solidFill>
              <a:prstDash val="solid"/>
              <a:round/>
              <a:headEnd type="none" w="med" len="med"/>
              <a:tailEnd type="none" w="med" len="med"/>
            </a:ln>
          </p:spPr>
        </p:sp>
        <p:sp>
          <p:nvSpPr>
            <p:cNvPr id="45072" name="Oval 16"/>
            <p:cNvSpPr/>
            <p:nvPr/>
          </p:nvSpPr>
          <p:spPr>
            <a:xfrm>
              <a:off x="3936" y="3861"/>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45073" name="Oval 17"/>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中序遍历的递归算法</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若二叉树为空，则返回；否则：</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中</a:t>
            </a:r>
            <a:r>
              <a:rPr lang="zh-CN" altLang="en-US" dirty="0">
                <a:latin typeface="黑体" panose="02010609060101010101" pitchFamily="2" charset="-122"/>
                <a:ea typeface="黑体" panose="02010609060101010101" pitchFamily="2" charset="-122"/>
                <a:cs typeface="+mn-ea"/>
                <a:sym typeface="+mn-ea"/>
              </a:rPr>
              <a:t>序遍历左子树(L)</a:t>
            </a:r>
            <a:endParaRPr kumimoji="0" lang="zh-CN" altLang="en-US"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访问当前结点(D)</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中先序遍历右子树(R)</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34820" name="Group 13"/>
          <p:cNvGrpSpPr/>
          <p:nvPr/>
        </p:nvGrpSpPr>
        <p:grpSpPr>
          <a:xfrm>
            <a:off x="7391718" y="1628458"/>
            <a:ext cx="2667000" cy="2514600"/>
            <a:chOff x="3696" y="2565"/>
            <a:chExt cx="1680" cy="1584"/>
          </a:xfrm>
        </p:grpSpPr>
        <p:sp>
          <p:nvSpPr>
            <p:cNvPr id="34821" name="Line 14"/>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34822" name="Line 15"/>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34823" name="Oval 16"/>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34824" name="Line 17"/>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34825" name="Oval 18"/>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34826" name="Line 19"/>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34827" name="Oval 20"/>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34828" name="Line 21"/>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34829" name="Oval 22"/>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34830" name="Oval 23"/>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34831" name="Line 24"/>
            <p:cNvSpPr/>
            <p:nvPr/>
          </p:nvSpPr>
          <p:spPr>
            <a:xfrm flipH="1">
              <a:off x="4176" y="3600"/>
              <a:ext cx="264" cy="309"/>
            </a:xfrm>
            <a:prstGeom prst="line">
              <a:avLst/>
            </a:prstGeom>
            <a:ln w="38100" cap="flat" cmpd="sng">
              <a:solidFill>
                <a:srgbClr val="009900"/>
              </a:solidFill>
              <a:prstDash val="solid"/>
              <a:round/>
              <a:headEnd type="none" w="med" len="med"/>
              <a:tailEnd type="none" w="med" len="med"/>
            </a:ln>
          </p:spPr>
        </p:sp>
        <p:sp>
          <p:nvSpPr>
            <p:cNvPr id="34832" name="Oval 25"/>
            <p:cNvSpPr/>
            <p:nvPr/>
          </p:nvSpPr>
          <p:spPr>
            <a:xfrm>
              <a:off x="3936" y="3861"/>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34833" name="Oval 26"/>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
        <p:nvSpPr>
          <p:cNvPr id="5" name="文本框 4"/>
          <p:cNvSpPr txBox="1"/>
          <p:nvPr/>
        </p:nvSpPr>
        <p:spPr>
          <a:xfrm>
            <a:off x="6036945" y="4295775"/>
            <a:ext cx="5110480" cy="829945"/>
          </a:xfrm>
          <a:prstGeom prst="rect">
            <a:avLst/>
          </a:prstGeom>
        </p:spPr>
        <p:txBody>
          <a:bodyPr vert="horz" wrap="square" lIns="91440" tIns="45720" rIns="91440" bIns="45720" rtlCol="0" anchor="t">
            <a:spAutoFit/>
          </a:bodyPr>
          <a:p>
            <a:pPr marL="609600" marR="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pPr>
            <a:r>
              <a:rPr lang="zh-CN" altLang="en-US" sz="2400" kern="0" dirty="0">
                <a:solidFill>
                  <a:srgbClr val="FF0000"/>
                </a:solidFill>
                <a:latin typeface="黑体" panose="02010609060101010101" pitchFamily="2" charset="-122"/>
                <a:ea typeface="黑体" panose="02010609060101010101" pitchFamily="2" charset="-122"/>
                <a:sym typeface="+mn-ea"/>
              </a:rPr>
              <a:t>中序表遍历结果：</a:t>
            </a:r>
            <a:r>
              <a:rPr lang="en-US" altLang="zh-CN" sz="2400" kern="0" dirty="0">
                <a:solidFill>
                  <a:srgbClr val="FF0000"/>
                </a:solidFill>
                <a:latin typeface="黑体" panose="02010609060101010101" pitchFamily="2" charset="-122"/>
                <a:ea typeface="黑体" panose="02010609060101010101" pitchFamily="2" charset="-122"/>
                <a:sym typeface="+mn-ea"/>
              </a:rPr>
              <a:t>DBGEAFC</a:t>
            </a:r>
            <a:endParaRPr kumimoji="0" lang="en-US" altLang="zh-CN" sz="2400" b="0" i="0" u="none" strike="noStrike" kern="0" cap="none" spc="0" normalizeH="0" baseline="0" noProof="1" dirty="0">
              <a:solidFill>
                <a:srgbClr val="FF0000"/>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pPr>
            <a:r>
              <a:rPr lang="zh-CN" altLang="en-US" sz="2400" b="1" i="1" kern="0" dirty="0">
                <a:latin typeface="黑体" panose="02010609060101010101" pitchFamily="2" charset="-122"/>
                <a:ea typeface="黑体" panose="02010609060101010101" pitchFamily="2" charset="-122"/>
                <a:sym typeface="+mn-ea"/>
              </a:rPr>
              <a:t>根结点</a:t>
            </a:r>
            <a:r>
              <a:rPr lang="en-US" altLang="zh-CN" sz="2400" b="1" i="1" kern="0" dirty="0">
                <a:latin typeface="黑体" panose="02010609060101010101" pitchFamily="2" charset="-122"/>
                <a:ea typeface="黑体" panose="02010609060101010101" pitchFamily="2" charset="-122"/>
                <a:sym typeface="+mn-ea"/>
              </a:rPr>
              <a:t>A</a:t>
            </a:r>
            <a:r>
              <a:rPr lang="zh-CN" altLang="en-US" sz="2400" b="1" i="1" kern="0" dirty="0">
                <a:latin typeface="黑体" panose="02010609060101010101" pitchFamily="2" charset="-122"/>
                <a:ea typeface="黑体" panose="02010609060101010101" pitchFamily="2" charset="-122"/>
                <a:sym typeface="+mn-ea"/>
              </a:rPr>
              <a:t>的左右子树分别在</a:t>
            </a:r>
            <a:r>
              <a:rPr lang="en-US" altLang="zh-CN" sz="2400" b="1" i="1" kern="0" dirty="0">
                <a:latin typeface="黑体" panose="02010609060101010101" pitchFamily="2" charset="-122"/>
                <a:ea typeface="黑体" panose="02010609060101010101" pitchFamily="2" charset="-122"/>
                <a:sym typeface="+mn-ea"/>
              </a:rPr>
              <a:t>A</a:t>
            </a:r>
            <a:r>
              <a:rPr lang="zh-CN" altLang="en-US" sz="2400" b="1" i="1" kern="0" dirty="0">
                <a:latin typeface="黑体" panose="02010609060101010101" pitchFamily="2" charset="-122"/>
                <a:ea typeface="黑体" panose="02010609060101010101" pitchFamily="2" charset="-122"/>
                <a:sym typeface="+mn-ea"/>
              </a:rPr>
              <a:t>的两边</a:t>
            </a:r>
            <a:endParaRPr lang="en-US" altLang="zh-CN" sz="2400" b="1" i="1" kern="0" dirty="0">
              <a:solidFill>
                <a:srgbClr val="FF0000"/>
              </a:solidFill>
              <a:latin typeface="黑体" panose="02010609060101010101" pitchFamily="2" charset="-122"/>
              <a:ea typeface="黑体" panose="02010609060101010101" pitchFamily="2"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中序遍历的递归程序实现</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void InOrderTraverse ( BinTree T )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if (T)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a:t>
            </a:r>
            <a:r>
              <a:rPr lang="en-US" altLang="zh-CN" sz="2400" dirty="0">
                <a:latin typeface="黑体" panose="02010609060101010101" pitchFamily="2" charset="-122"/>
                <a:ea typeface="黑体" panose="02010609060101010101" pitchFamily="2" charset="-122"/>
                <a:sym typeface="+mn-ea"/>
              </a:rPr>
              <a:t>In</a:t>
            </a:r>
            <a:r>
              <a:rPr lang="en-US" altLang="zh-CN" sz="2400" dirty="0">
                <a:latin typeface="黑体" panose="02010609060101010101" pitchFamily="2" charset="-122"/>
                <a:ea typeface="黑体" panose="02010609060101010101" pitchFamily="2" charset="-122"/>
                <a:cs typeface="+mn-cs"/>
                <a:sym typeface="+mn-ea"/>
              </a:rPr>
              <a:t>OrderTraverse ( T-&gt;lChild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cout &lt;&lt; T-&gt;data;</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a:t>
            </a:r>
            <a:r>
              <a:rPr lang="en-US" altLang="zh-CN" sz="2400" dirty="0">
                <a:latin typeface="黑体" panose="02010609060101010101" pitchFamily="2" charset="-122"/>
                <a:ea typeface="黑体" panose="02010609060101010101" pitchFamily="2" charset="-122"/>
                <a:sym typeface="+mn-ea"/>
              </a:rPr>
              <a:t>In</a:t>
            </a:r>
            <a:r>
              <a:rPr lang="en-US" altLang="zh-CN" sz="2400" dirty="0">
                <a:latin typeface="黑体" panose="02010609060101010101" pitchFamily="2" charset="-122"/>
                <a:ea typeface="黑体" panose="02010609060101010101" pitchFamily="2" charset="-122"/>
                <a:cs typeface="+mn-cs"/>
                <a:sym typeface="+mn-ea"/>
              </a:rPr>
              <a:t>OrderTraverse ( T-&gt;rChild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中序遍历的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c++</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递归实现</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1600835" y="1845945"/>
            <a:ext cx="5579745" cy="29972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中序遍历的非递归算法，显示地使用栈</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设T是根结点指针，若二叉树为空，则返回；否则，令p=T，执行以下循环：</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zh-CN" altLang="en-US" dirty="0">
                <a:latin typeface="黑体" panose="02010609060101010101" pitchFamily="2" charset="-122"/>
                <a:ea typeface="黑体" panose="02010609060101010101" pitchFamily="2" charset="-122"/>
                <a:cs typeface="+mn-ea"/>
                <a:sym typeface="+mn-ea"/>
              </a:rPr>
              <a:t>⑴ 若p不为空，p进栈， p=p-&gt;Lchild ，转(1) ；</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zh-CN" altLang="en-US" dirty="0">
                <a:latin typeface="黑体" panose="02010609060101010101" pitchFamily="2" charset="-122"/>
                <a:ea typeface="黑体" panose="02010609060101010101" pitchFamily="2" charset="-122"/>
                <a:cs typeface="+mn-ea"/>
                <a:sym typeface="+mn-ea"/>
              </a:rPr>
              <a:t>⑵ 否则(即p为空)，退栈到p，访问p所指向的结点；</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zh-CN" altLang="en-US" dirty="0">
                <a:latin typeface="黑体" panose="02010609060101010101" pitchFamily="2" charset="-122"/>
                <a:ea typeface="黑体" panose="02010609060101010101" pitchFamily="2" charset="-122"/>
                <a:cs typeface="+mn-ea"/>
                <a:sym typeface="+mn-ea"/>
              </a:rPr>
              <a:t>⑶ p=p-&gt;Rchild ，转(1)；</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zh-CN" altLang="en-US" dirty="0">
                <a:latin typeface="黑体" panose="02010609060101010101" pitchFamily="2" charset="-122"/>
                <a:ea typeface="黑体" panose="02010609060101010101" pitchFamily="2" charset="-122"/>
                <a:cs typeface="+mn-ea"/>
                <a:sym typeface="+mn-ea"/>
              </a:rPr>
              <a:t>直到栈空为止。</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34820" name="Group 13"/>
          <p:cNvGrpSpPr/>
          <p:nvPr/>
        </p:nvGrpSpPr>
        <p:grpSpPr>
          <a:xfrm>
            <a:off x="9069388" y="3445193"/>
            <a:ext cx="2667000" cy="2514600"/>
            <a:chOff x="3696" y="2565"/>
            <a:chExt cx="1680" cy="1584"/>
          </a:xfrm>
        </p:grpSpPr>
        <p:sp>
          <p:nvSpPr>
            <p:cNvPr id="34821" name="Line 14"/>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34822" name="Line 15"/>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34823" name="Oval 16"/>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34824" name="Line 17"/>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34825" name="Oval 18"/>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34826" name="Line 19"/>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34827" name="Oval 20"/>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34828" name="Line 21"/>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34829" name="Oval 22"/>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34830" name="Oval 23"/>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34831" name="Line 24"/>
            <p:cNvSpPr/>
            <p:nvPr/>
          </p:nvSpPr>
          <p:spPr>
            <a:xfrm flipH="1">
              <a:off x="4176" y="3600"/>
              <a:ext cx="264" cy="309"/>
            </a:xfrm>
            <a:prstGeom prst="line">
              <a:avLst/>
            </a:prstGeom>
            <a:ln w="38100" cap="flat" cmpd="sng">
              <a:solidFill>
                <a:srgbClr val="009900"/>
              </a:solidFill>
              <a:prstDash val="solid"/>
              <a:round/>
              <a:headEnd type="none" w="med" len="med"/>
              <a:tailEnd type="none" w="med" len="med"/>
            </a:ln>
          </p:spPr>
        </p:sp>
        <p:sp>
          <p:nvSpPr>
            <p:cNvPr id="34832" name="Oval 25"/>
            <p:cNvSpPr/>
            <p:nvPr/>
          </p:nvSpPr>
          <p:spPr>
            <a:xfrm>
              <a:off x="3936" y="3861"/>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34833" name="Oval 26"/>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中序遍历的非递归程序实现，算法</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6.3</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Status InOrderTraverse(BiTree T, Status (*Visit)(ElemType)) {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Stack S;  BiTree p;</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InitStack(S);  p = T;</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while (p || !StackEmpty(S))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if (p) { Push(S, p);  p = p-&gt;lchild; }  // </a:t>
            </a:r>
            <a:r>
              <a:rPr lang="zh-CN" altLang="en-US" sz="2400" dirty="0">
                <a:latin typeface="黑体" panose="02010609060101010101" pitchFamily="2" charset="-122"/>
                <a:ea typeface="黑体" panose="02010609060101010101" pitchFamily="2" charset="-122"/>
                <a:sym typeface="+mn-ea"/>
              </a:rPr>
              <a:t>非空指针进栈，继续左进</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else {       // </a:t>
            </a:r>
            <a:r>
              <a:rPr lang="zh-CN" altLang="en-US" sz="2400" dirty="0">
                <a:latin typeface="黑体" panose="02010609060101010101" pitchFamily="2" charset="-122"/>
                <a:ea typeface="黑体" panose="02010609060101010101" pitchFamily="2" charset="-122"/>
                <a:sym typeface="+mn-ea"/>
              </a:rPr>
              <a:t>上层指针退栈，访问其所指结点，再向右进</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Pop(S, p);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if (!Visit(p-&gt;data)) return ERROR;</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p = p-&gt;rchild;</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return OK;</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a:t>
            </a:r>
            <a:r>
              <a:rPr lang="zh-CN" altLang="en-US" sz="2000" dirty="0">
                <a:latin typeface="黑体" panose="02010609060101010101" pitchFamily="2" charset="-122"/>
                <a:ea typeface="黑体" panose="02010609060101010101" pitchFamily="2" charset="-122"/>
                <a:sym typeface="+mn-ea"/>
              </a:rPr>
              <a:t>代码理解：出栈结点是之前的左孩子，同时也是右子树的双亲</a:t>
            </a:r>
            <a:endParaRPr kumimoji="0" lang="zh-CN" altLang="en-US" sz="20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lang="zh-CN" altLang="en-US" sz="20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34820" name="Group 13"/>
          <p:cNvGrpSpPr/>
          <p:nvPr/>
        </p:nvGrpSpPr>
        <p:grpSpPr>
          <a:xfrm>
            <a:off x="8327708" y="3428683"/>
            <a:ext cx="2667000" cy="2514600"/>
            <a:chOff x="3696" y="2565"/>
            <a:chExt cx="1680" cy="1584"/>
          </a:xfrm>
        </p:grpSpPr>
        <p:sp>
          <p:nvSpPr>
            <p:cNvPr id="34821" name="Line 14"/>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34822" name="Line 15"/>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34823" name="Oval 16"/>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34824" name="Line 17"/>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34825" name="Oval 18"/>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34826" name="Line 19"/>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34827" name="Oval 20"/>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34828" name="Line 21"/>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34829" name="Oval 22"/>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34830" name="Oval 23"/>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34831" name="Line 24"/>
            <p:cNvSpPr/>
            <p:nvPr/>
          </p:nvSpPr>
          <p:spPr>
            <a:xfrm flipH="1">
              <a:off x="4176" y="3600"/>
              <a:ext cx="264" cy="309"/>
            </a:xfrm>
            <a:prstGeom prst="line">
              <a:avLst/>
            </a:prstGeom>
            <a:ln w="38100" cap="flat" cmpd="sng">
              <a:solidFill>
                <a:srgbClr val="009900"/>
              </a:solidFill>
              <a:prstDash val="solid"/>
              <a:round/>
              <a:headEnd type="none" w="med" len="med"/>
              <a:tailEnd type="none" w="med" len="med"/>
            </a:ln>
          </p:spPr>
        </p:sp>
        <p:sp>
          <p:nvSpPr>
            <p:cNvPr id="34832" name="Oval 25"/>
            <p:cNvSpPr/>
            <p:nvPr/>
          </p:nvSpPr>
          <p:spPr>
            <a:xfrm>
              <a:off x="3936" y="3861"/>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34833" name="Oval 26"/>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后序遍历的递归算法</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若二叉树为空，则返回；否则：</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后序遍历左子树(L)</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后序遍历右子树(R)</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访问当前结点(D)</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34820" name="Group 13"/>
          <p:cNvGrpSpPr/>
          <p:nvPr/>
        </p:nvGrpSpPr>
        <p:grpSpPr>
          <a:xfrm>
            <a:off x="7391718" y="1628458"/>
            <a:ext cx="2667000" cy="2514600"/>
            <a:chOff x="3696" y="2565"/>
            <a:chExt cx="1680" cy="1584"/>
          </a:xfrm>
        </p:grpSpPr>
        <p:sp>
          <p:nvSpPr>
            <p:cNvPr id="34821" name="Line 14"/>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34822" name="Line 15"/>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34823" name="Oval 16"/>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34824" name="Line 17"/>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34825" name="Oval 18"/>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34826" name="Line 19"/>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34827" name="Oval 20"/>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34828" name="Line 21"/>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34829" name="Oval 22"/>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34830" name="Oval 23"/>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34831" name="Line 24"/>
            <p:cNvSpPr/>
            <p:nvPr/>
          </p:nvSpPr>
          <p:spPr>
            <a:xfrm flipH="1">
              <a:off x="4176" y="3600"/>
              <a:ext cx="264" cy="309"/>
            </a:xfrm>
            <a:prstGeom prst="line">
              <a:avLst/>
            </a:prstGeom>
            <a:ln w="38100" cap="flat" cmpd="sng">
              <a:solidFill>
                <a:srgbClr val="009900"/>
              </a:solidFill>
              <a:prstDash val="solid"/>
              <a:round/>
              <a:headEnd type="none" w="med" len="med"/>
              <a:tailEnd type="none" w="med" len="med"/>
            </a:ln>
          </p:spPr>
        </p:sp>
        <p:sp>
          <p:nvSpPr>
            <p:cNvPr id="34832" name="Oval 25"/>
            <p:cNvSpPr/>
            <p:nvPr/>
          </p:nvSpPr>
          <p:spPr>
            <a:xfrm>
              <a:off x="3936" y="3861"/>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34833" name="Oval 26"/>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
        <p:nvSpPr>
          <p:cNvPr id="5" name="文本框 4"/>
          <p:cNvSpPr txBox="1"/>
          <p:nvPr/>
        </p:nvSpPr>
        <p:spPr>
          <a:xfrm>
            <a:off x="7176770" y="4220845"/>
            <a:ext cx="4010660" cy="829945"/>
          </a:xfrm>
          <a:prstGeom prst="rect">
            <a:avLst/>
          </a:prstGeom>
        </p:spPr>
        <p:txBody>
          <a:bodyPr vert="horz" wrap="square" lIns="91440" tIns="45720" rIns="91440" bIns="45720" rtlCol="0" anchor="t">
            <a:spAutoFit/>
          </a:bodyPr>
          <a:p>
            <a:pPr marL="609600" marR="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pPr>
            <a:r>
              <a:rPr lang="zh-CN" altLang="en-US" sz="2400" kern="0" dirty="0">
                <a:solidFill>
                  <a:srgbClr val="FF0000"/>
                </a:solidFill>
                <a:latin typeface="黑体" panose="02010609060101010101" pitchFamily="2" charset="-122"/>
                <a:ea typeface="黑体" panose="02010609060101010101" pitchFamily="2" charset="-122"/>
                <a:sym typeface="+mn-ea"/>
              </a:rPr>
              <a:t>后序表遍历结果：</a:t>
            </a:r>
            <a:r>
              <a:rPr lang="en-US" altLang="zh-CN" sz="2400" kern="0" dirty="0">
                <a:solidFill>
                  <a:srgbClr val="FF0000"/>
                </a:solidFill>
                <a:latin typeface="黑体" panose="02010609060101010101" pitchFamily="2" charset="-122"/>
                <a:ea typeface="黑体" panose="02010609060101010101" pitchFamily="2" charset="-122"/>
                <a:sym typeface="+mn-ea"/>
              </a:rPr>
              <a:t>DGEBFCA</a:t>
            </a:r>
            <a:endParaRPr kumimoji="0" lang="en-US" altLang="zh-CN" sz="2400" b="0" i="0" u="none" strike="noStrike" kern="0" cap="none" spc="0" normalizeH="0" baseline="0" noProof="1" dirty="0">
              <a:solidFill>
                <a:srgbClr val="FF0000"/>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pPr>
            <a:r>
              <a:rPr lang="zh-CN" altLang="en-US" sz="2400" i="1" kern="0" dirty="0">
                <a:solidFill>
                  <a:schemeClr val="tx1"/>
                </a:solidFill>
                <a:latin typeface="黑体" panose="02010609060101010101" pitchFamily="2" charset="-122"/>
                <a:ea typeface="黑体" panose="02010609060101010101" pitchFamily="2" charset="-122"/>
                <a:sym typeface="+mn-ea"/>
              </a:rPr>
              <a:t>最后一个输出结点必为根</a:t>
            </a:r>
            <a:endParaRPr lang="zh-CN" altLang="en-US" sz="2400" i="1" kern="0" dirty="0">
              <a:solidFill>
                <a:schemeClr val="tx1"/>
              </a:solidFill>
              <a:latin typeface="黑体" panose="02010609060101010101" pitchFamily="2" charset="-122"/>
              <a:ea typeface="黑体" panose="02010609060101010101" pitchFamily="2"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后序遍历的递归程序实现</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void PostOrderTraverse ( BinTree T )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if (T)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a:t>
            </a:r>
            <a:r>
              <a:rPr lang="en-US" altLang="zh-CN" sz="2400" dirty="0">
                <a:latin typeface="黑体" panose="02010609060101010101" pitchFamily="2" charset="-122"/>
                <a:ea typeface="黑体" panose="02010609060101010101" pitchFamily="2" charset="-122"/>
                <a:sym typeface="+mn-ea"/>
              </a:rPr>
              <a:t>Post</a:t>
            </a:r>
            <a:r>
              <a:rPr lang="en-US" altLang="zh-CN" sz="2400" dirty="0">
                <a:latin typeface="黑体" panose="02010609060101010101" pitchFamily="2" charset="-122"/>
                <a:ea typeface="黑体" panose="02010609060101010101" pitchFamily="2" charset="-122"/>
                <a:cs typeface="+mn-cs"/>
                <a:sym typeface="+mn-ea"/>
              </a:rPr>
              <a:t>OrderTraverse ( T-&gt;lChild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a:t>
            </a:r>
            <a:r>
              <a:rPr lang="en-US" altLang="zh-CN" sz="2400" dirty="0">
                <a:latin typeface="黑体" panose="02010609060101010101" pitchFamily="2" charset="-122"/>
                <a:ea typeface="黑体" panose="02010609060101010101" pitchFamily="2" charset="-122"/>
                <a:sym typeface="+mn-ea"/>
              </a:rPr>
              <a:t>Post</a:t>
            </a:r>
            <a:r>
              <a:rPr lang="en-US" altLang="zh-CN" sz="2400" dirty="0">
                <a:latin typeface="黑体" panose="02010609060101010101" pitchFamily="2" charset="-122"/>
                <a:ea typeface="黑体" panose="02010609060101010101" pitchFamily="2" charset="-122"/>
                <a:cs typeface="+mn-cs"/>
                <a:sym typeface="+mn-ea"/>
              </a:rPr>
              <a:t>OrderTraverse ( T-&gt;rChild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cout &lt;&lt; T-&gt;data;</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3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后序遍历的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c++</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递归实现</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1088390" y="1627505"/>
            <a:ext cx="6590030" cy="347535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三种遍历的主函数调用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C</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实现</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6" name="图片 5"/>
          <p:cNvPicPr>
            <a:picLocks noChangeAspect="1"/>
          </p:cNvPicPr>
          <p:nvPr/>
        </p:nvPicPr>
        <p:blipFill>
          <a:blip r:embed="rId1"/>
          <a:stretch>
            <a:fillRect/>
          </a:stretch>
        </p:blipFill>
        <p:spPr>
          <a:xfrm>
            <a:off x="6344285" y="1019810"/>
            <a:ext cx="4019550" cy="520065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二叉树层次遍历，从根结点开始遍历，按层次“自上而下，从左至右”访问树中的各结点。</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层次遍历的实现算法，设置一个队列：</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设T是指向根结点的指针变量，若二叉树为空，则返回；否则，令p=T，p入队，执行以下循环：</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en-US" altLang="zh-CN" sz="2400" dirty="0">
                <a:latin typeface="黑体" panose="02010609060101010101" pitchFamily="2" charset="-122"/>
                <a:ea typeface="黑体" panose="02010609060101010101" pitchFamily="2" charset="-122"/>
                <a:cs typeface="+mn-ea"/>
                <a:sym typeface="+mn-ea"/>
              </a:rPr>
              <a:t>(1)</a:t>
            </a:r>
            <a:r>
              <a:rPr lang="zh-CN" altLang="en-US" sz="2400" dirty="0">
                <a:latin typeface="黑体" panose="02010609060101010101" pitchFamily="2" charset="-122"/>
                <a:ea typeface="黑体" panose="02010609060101010101" pitchFamily="2" charset="-122"/>
                <a:cs typeface="+mn-ea"/>
                <a:sym typeface="+mn-ea"/>
              </a:rPr>
              <a:t>队首元素出队到p；</a:t>
            </a:r>
            <a:endParaRPr lang="zh-CN" altLang="en-US" sz="2400" dirty="0">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r>
              <a:rPr lang="en-US" altLang="zh-CN" sz="2400" dirty="0">
                <a:latin typeface="黑体" panose="02010609060101010101" pitchFamily="2" charset="-122"/>
                <a:ea typeface="黑体" panose="02010609060101010101" pitchFamily="2" charset="-122"/>
                <a:cs typeface="+mn-ea"/>
                <a:sym typeface="+mn-ea"/>
              </a:rPr>
              <a:t>(2)</a:t>
            </a:r>
            <a:r>
              <a:rPr lang="zh-CN" altLang="en-US" sz="2400" dirty="0">
                <a:latin typeface="黑体" panose="02010609060101010101" pitchFamily="2" charset="-122"/>
                <a:ea typeface="黑体" panose="02010609060101010101" pitchFamily="2" charset="-122"/>
                <a:cs typeface="+mn-ea"/>
                <a:sym typeface="+mn-ea"/>
              </a:rPr>
              <a:t>访问p所指向的结点； </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en-US" altLang="zh-CN" sz="2400" dirty="0">
                <a:latin typeface="黑体" panose="02010609060101010101" pitchFamily="2" charset="-122"/>
                <a:ea typeface="黑体" panose="02010609060101010101" pitchFamily="2" charset="-122"/>
                <a:cs typeface="+mn-ea"/>
                <a:sym typeface="+mn-ea"/>
              </a:rPr>
              <a:t>(3)</a:t>
            </a:r>
            <a:r>
              <a:rPr lang="zh-CN" altLang="en-US" sz="2400" dirty="0">
                <a:latin typeface="黑体" panose="02010609060101010101" pitchFamily="2" charset="-122"/>
                <a:ea typeface="黑体" panose="02010609060101010101" pitchFamily="2" charset="-122"/>
                <a:cs typeface="+mn-ea"/>
                <a:sym typeface="+mn-ea"/>
              </a:rPr>
              <a:t>p所指向的结点的左、右子结点依次入队。</a:t>
            </a:r>
            <a:endParaRPr lang="zh-CN" altLang="en-US" sz="2400" dirty="0">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r>
              <a:rPr lang="en-US" altLang="zh-CN" sz="2400" dirty="0">
                <a:latin typeface="黑体" panose="02010609060101010101" pitchFamily="2" charset="-122"/>
                <a:ea typeface="黑体" panose="02010609060101010101" pitchFamily="2" charset="-122"/>
                <a:cs typeface="+mn-ea"/>
                <a:sym typeface="+mn-ea"/>
              </a:rPr>
              <a:t>(4)</a:t>
            </a:r>
            <a:r>
              <a:rPr lang="zh-CN" altLang="en-US" sz="2400" dirty="0">
                <a:latin typeface="黑体" panose="02010609060101010101" pitchFamily="2" charset="-122"/>
                <a:ea typeface="黑体" panose="02010609060101010101" pitchFamily="2" charset="-122"/>
                <a:cs typeface="+mn-ea"/>
                <a:sym typeface="+mn-ea"/>
              </a:rPr>
              <a:t>跳转步骤</a:t>
            </a:r>
            <a:r>
              <a:rPr lang="en-US" altLang="zh-CN" sz="2400" dirty="0">
                <a:latin typeface="黑体" panose="02010609060101010101" pitchFamily="2" charset="-122"/>
                <a:ea typeface="黑体" panose="02010609060101010101" pitchFamily="2" charset="-122"/>
                <a:cs typeface="+mn-ea"/>
                <a:sym typeface="+mn-ea"/>
              </a:rPr>
              <a:t>1</a:t>
            </a:r>
            <a:r>
              <a:rPr lang="zh-CN" altLang="en-US" sz="2400" dirty="0">
                <a:latin typeface="黑体" panose="02010609060101010101" pitchFamily="2" charset="-122"/>
                <a:ea typeface="黑体" panose="02010609060101010101" pitchFamily="2" charset="-122"/>
                <a:cs typeface="+mn-ea"/>
                <a:sym typeface="+mn-ea"/>
              </a:rPr>
              <a:t>循环，直到队空为止。</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34820" name="Group 13"/>
          <p:cNvGrpSpPr/>
          <p:nvPr/>
        </p:nvGrpSpPr>
        <p:grpSpPr>
          <a:xfrm>
            <a:off x="8497888" y="2936558"/>
            <a:ext cx="2667000" cy="2514600"/>
            <a:chOff x="3696" y="2565"/>
            <a:chExt cx="1680" cy="1584"/>
          </a:xfrm>
        </p:grpSpPr>
        <p:sp>
          <p:nvSpPr>
            <p:cNvPr id="34821" name="Line 14"/>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34822" name="Line 15"/>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34823" name="Oval 16"/>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34824" name="Line 17"/>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34825" name="Oval 18"/>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34826" name="Line 19"/>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34827" name="Oval 20"/>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34828" name="Line 21"/>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34829" name="Oval 22"/>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34830" name="Oval 23"/>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34831" name="Line 24"/>
            <p:cNvSpPr/>
            <p:nvPr/>
          </p:nvSpPr>
          <p:spPr>
            <a:xfrm flipH="1">
              <a:off x="4176" y="3600"/>
              <a:ext cx="264" cy="309"/>
            </a:xfrm>
            <a:prstGeom prst="line">
              <a:avLst/>
            </a:prstGeom>
            <a:ln w="38100" cap="flat" cmpd="sng">
              <a:solidFill>
                <a:srgbClr val="009900"/>
              </a:solidFill>
              <a:prstDash val="solid"/>
              <a:round/>
              <a:headEnd type="none" w="med" len="med"/>
              <a:tailEnd type="none" w="med" len="med"/>
            </a:ln>
          </p:spPr>
        </p:sp>
        <p:sp>
          <p:nvSpPr>
            <p:cNvPr id="34832" name="Oval 25"/>
            <p:cNvSpPr/>
            <p:nvPr/>
          </p:nvSpPr>
          <p:spPr>
            <a:xfrm>
              <a:off x="3936" y="3861"/>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34833" name="Oval 26"/>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
        <p:nvSpPr>
          <p:cNvPr id="5" name="文本框 4"/>
          <p:cNvSpPr txBox="1"/>
          <p:nvPr/>
        </p:nvSpPr>
        <p:spPr>
          <a:xfrm>
            <a:off x="8256270" y="5445125"/>
            <a:ext cx="2826385" cy="460375"/>
          </a:xfrm>
          <a:prstGeom prst="rect">
            <a:avLst/>
          </a:prstGeom>
        </p:spPr>
        <p:txBody>
          <a:bodyPr vert="horz" wrap="square" lIns="91440" tIns="45720" rIns="91440" bIns="45720" rtlCol="0" anchor="t">
            <a:spAutoFit/>
          </a:bodyPr>
          <a:p>
            <a:pPr marL="609600" marR="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pPr>
            <a:r>
              <a:rPr lang="zh-CN" altLang="en-US" sz="2400" kern="0" dirty="0">
                <a:solidFill>
                  <a:srgbClr val="FF0000"/>
                </a:solidFill>
                <a:latin typeface="黑体" panose="02010609060101010101" pitchFamily="2" charset="-122"/>
                <a:ea typeface="黑体" panose="02010609060101010101" pitchFamily="2" charset="-122"/>
                <a:sym typeface="+mn-ea"/>
              </a:rPr>
              <a:t>层次遍历：</a:t>
            </a:r>
            <a:r>
              <a:rPr lang="en-US" altLang="zh-CN" sz="2400" kern="0" dirty="0">
                <a:solidFill>
                  <a:srgbClr val="FF0000"/>
                </a:solidFill>
                <a:latin typeface="黑体" panose="02010609060101010101" pitchFamily="2" charset="-122"/>
                <a:ea typeface="黑体" panose="02010609060101010101" pitchFamily="2" charset="-122"/>
                <a:sym typeface="+mn-ea"/>
              </a:rPr>
              <a:t>ABCDEFG</a:t>
            </a:r>
            <a:endParaRPr lang="en-US" altLang="zh-CN" sz="2400" i="1" kern="0" dirty="0">
              <a:solidFill>
                <a:srgbClr val="FF0000"/>
              </a:solidFill>
              <a:latin typeface="黑体" panose="02010609060101010101" pitchFamily="2" charset="-122"/>
              <a:ea typeface="黑体" panose="02010609060101010101" pitchFamily="2" charset="-122"/>
              <a:sym typeface="+mn-ea"/>
            </a:endParaRPr>
          </a:p>
        </p:txBody>
      </p:sp>
      <p:sp>
        <p:nvSpPr>
          <p:cNvPr id="6" name="文本框 5"/>
          <p:cNvSpPr txBox="1"/>
          <p:nvPr/>
        </p:nvSpPr>
        <p:spPr>
          <a:xfrm>
            <a:off x="911225" y="5229225"/>
            <a:ext cx="2727325" cy="460375"/>
          </a:xfrm>
          <a:prstGeom prst="rect">
            <a:avLst/>
          </a:prstGeom>
        </p:spPr>
        <p:txBody>
          <a:bodyPr vert="horz" wrap="square" lIns="91440" tIns="45720" rIns="91440" bIns="45720" rtlCol="0" anchor="t">
            <a:spAutoFit/>
          </a:bodyPr>
          <a:p>
            <a:pPr marL="609600" marR="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pPr>
            <a:r>
              <a:rPr lang="zh-CN" altLang="en-US" sz="2400" kern="0" dirty="0">
                <a:solidFill>
                  <a:srgbClr val="FF0000"/>
                </a:solidFill>
                <a:latin typeface="黑体" panose="02010609060101010101" pitchFamily="2" charset="-122"/>
                <a:ea typeface="黑体" panose="02010609060101010101" pitchFamily="2" charset="-122"/>
                <a:sym typeface="+mn-ea"/>
              </a:rPr>
              <a:t>程序实现自行编写</a:t>
            </a:r>
            <a:endParaRPr lang="en-US" altLang="zh-CN" sz="2400" b="1" i="1" kern="0" dirty="0">
              <a:solidFill>
                <a:srgbClr val="FF0000"/>
              </a:solidFill>
              <a:latin typeface="黑体" panose="02010609060101010101" pitchFamily="2" charset="-122"/>
              <a:ea typeface="黑体" panose="02010609060101010101" pitchFamily="2"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二叉树的层次遍历应用：已知一颗二叉树的链式存储，把它转化为顺序存储</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rPr>
              <a:t>扩展：二叉树的顺序存储和链式存储互转</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25634" name="Group 76"/>
          <p:cNvGrpSpPr/>
          <p:nvPr/>
        </p:nvGrpSpPr>
        <p:grpSpPr>
          <a:xfrm rot="0">
            <a:off x="848360" y="3060700"/>
            <a:ext cx="3581400" cy="2427605"/>
            <a:chOff x="3024" y="2111"/>
            <a:chExt cx="2256" cy="1529"/>
          </a:xfrm>
        </p:grpSpPr>
        <p:sp>
          <p:nvSpPr>
            <p:cNvPr id="25635" name="Line 77"/>
            <p:cNvSpPr/>
            <p:nvPr/>
          </p:nvSpPr>
          <p:spPr>
            <a:xfrm>
              <a:off x="4896" y="2727"/>
              <a:ext cx="192" cy="240"/>
            </a:xfrm>
            <a:prstGeom prst="line">
              <a:avLst/>
            </a:prstGeom>
            <a:ln w="38100" cap="flat" cmpd="sng">
              <a:solidFill>
                <a:srgbClr val="009900"/>
              </a:solidFill>
              <a:prstDash val="solid"/>
              <a:round/>
              <a:headEnd type="none" w="med" len="med"/>
              <a:tailEnd type="none" w="med" len="med"/>
            </a:ln>
          </p:spPr>
        </p:sp>
        <p:sp>
          <p:nvSpPr>
            <p:cNvPr id="25636" name="Line 78"/>
            <p:cNvSpPr/>
            <p:nvPr/>
          </p:nvSpPr>
          <p:spPr>
            <a:xfrm flipH="1">
              <a:off x="4608" y="2700"/>
              <a:ext cx="223" cy="267"/>
            </a:xfrm>
            <a:prstGeom prst="line">
              <a:avLst/>
            </a:prstGeom>
            <a:ln w="38100" cap="flat" cmpd="sng">
              <a:solidFill>
                <a:srgbClr val="009900"/>
              </a:solidFill>
              <a:prstDash val="solid"/>
              <a:round/>
              <a:headEnd type="none" w="med" len="med"/>
              <a:tailEnd type="none" w="med" len="med"/>
            </a:ln>
          </p:spPr>
        </p:sp>
        <p:sp>
          <p:nvSpPr>
            <p:cNvPr id="25637" name="Line 79"/>
            <p:cNvSpPr/>
            <p:nvPr/>
          </p:nvSpPr>
          <p:spPr>
            <a:xfrm flipH="1">
              <a:off x="3168" y="3063"/>
              <a:ext cx="192" cy="336"/>
            </a:xfrm>
            <a:prstGeom prst="line">
              <a:avLst/>
            </a:prstGeom>
            <a:ln w="38100" cap="flat" cmpd="sng">
              <a:solidFill>
                <a:srgbClr val="009900"/>
              </a:solidFill>
              <a:prstDash val="solid"/>
              <a:round/>
              <a:headEnd type="none" w="med" len="med"/>
              <a:tailEnd type="none" w="med" len="med"/>
            </a:ln>
          </p:spPr>
        </p:sp>
        <p:sp>
          <p:nvSpPr>
            <p:cNvPr id="25638" name="Line 80"/>
            <p:cNvSpPr/>
            <p:nvPr/>
          </p:nvSpPr>
          <p:spPr>
            <a:xfrm flipH="1">
              <a:off x="3408" y="2727"/>
              <a:ext cx="240" cy="288"/>
            </a:xfrm>
            <a:prstGeom prst="line">
              <a:avLst/>
            </a:prstGeom>
            <a:ln w="38100" cap="flat" cmpd="sng">
              <a:solidFill>
                <a:srgbClr val="009900"/>
              </a:solidFill>
              <a:prstDash val="solid"/>
              <a:round/>
              <a:headEnd type="none" w="med" len="med"/>
              <a:tailEnd type="none" w="med" len="med"/>
            </a:ln>
          </p:spPr>
        </p:sp>
        <p:sp>
          <p:nvSpPr>
            <p:cNvPr id="25639" name="Line 81"/>
            <p:cNvSpPr/>
            <p:nvPr/>
          </p:nvSpPr>
          <p:spPr>
            <a:xfrm>
              <a:off x="4368" y="2343"/>
              <a:ext cx="456" cy="274"/>
            </a:xfrm>
            <a:prstGeom prst="line">
              <a:avLst/>
            </a:prstGeom>
            <a:ln w="38100" cap="flat" cmpd="sng">
              <a:solidFill>
                <a:srgbClr val="009900"/>
              </a:solidFill>
              <a:prstDash val="solid"/>
              <a:round/>
              <a:headEnd type="none" w="med" len="med"/>
              <a:tailEnd type="none" w="med" len="med"/>
            </a:ln>
          </p:spPr>
        </p:sp>
        <p:sp>
          <p:nvSpPr>
            <p:cNvPr id="25640" name="Line 82"/>
            <p:cNvSpPr/>
            <p:nvPr/>
          </p:nvSpPr>
          <p:spPr>
            <a:xfrm flipH="1">
              <a:off x="3744" y="2343"/>
              <a:ext cx="480" cy="288"/>
            </a:xfrm>
            <a:prstGeom prst="line">
              <a:avLst/>
            </a:prstGeom>
            <a:ln w="38100" cap="flat" cmpd="sng">
              <a:solidFill>
                <a:srgbClr val="009900"/>
              </a:solidFill>
              <a:prstDash val="solid"/>
              <a:round/>
              <a:headEnd type="none" w="med" len="med"/>
              <a:tailEnd type="none" w="med" len="med"/>
            </a:ln>
          </p:spPr>
        </p:sp>
        <p:sp>
          <p:nvSpPr>
            <p:cNvPr id="25641" name="Line 83"/>
            <p:cNvSpPr/>
            <p:nvPr/>
          </p:nvSpPr>
          <p:spPr>
            <a:xfrm>
              <a:off x="3456" y="3111"/>
              <a:ext cx="87" cy="261"/>
            </a:xfrm>
            <a:prstGeom prst="line">
              <a:avLst/>
            </a:prstGeom>
            <a:ln w="38100" cap="flat" cmpd="sng">
              <a:solidFill>
                <a:srgbClr val="009900"/>
              </a:solidFill>
              <a:prstDash val="solid"/>
              <a:round/>
              <a:headEnd type="none" w="med" len="med"/>
              <a:tailEnd type="none" w="med" len="med"/>
            </a:ln>
          </p:spPr>
        </p:sp>
        <p:sp>
          <p:nvSpPr>
            <p:cNvPr id="25642" name="Line 84"/>
            <p:cNvSpPr/>
            <p:nvPr/>
          </p:nvSpPr>
          <p:spPr>
            <a:xfrm flipH="1">
              <a:off x="4404" y="3072"/>
              <a:ext cx="144" cy="336"/>
            </a:xfrm>
            <a:prstGeom prst="line">
              <a:avLst/>
            </a:prstGeom>
            <a:ln w="38100" cap="flat" cmpd="sng">
              <a:solidFill>
                <a:srgbClr val="009900"/>
              </a:solidFill>
              <a:prstDash val="solid"/>
              <a:round/>
              <a:headEnd type="none" w="med" len="med"/>
              <a:tailEnd type="none" w="med" len="med"/>
            </a:ln>
          </p:spPr>
        </p:sp>
        <p:sp>
          <p:nvSpPr>
            <p:cNvPr id="25643" name="Oval 85"/>
            <p:cNvSpPr/>
            <p:nvPr/>
          </p:nvSpPr>
          <p:spPr>
            <a:xfrm>
              <a:off x="4260"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44" name="Text Box 86"/>
            <p:cNvSpPr txBox="1"/>
            <p:nvPr/>
          </p:nvSpPr>
          <p:spPr>
            <a:xfrm>
              <a:off x="4272" y="3263"/>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9</a:t>
              </a:r>
              <a:endParaRPr lang="en-US" altLang="zh-CN" sz="2400" dirty="0">
                <a:latin typeface="Times New Roman" panose="02020603050405020304" pitchFamily="18" charset="0"/>
                <a:ea typeface="宋体" panose="02010600030101010101" pitchFamily="2" charset="-122"/>
              </a:endParaRPr>
            </a:p>
          </p:txBody>
        </p:sp>
        <p:sp>
          <p:nvSpPr>
            <p:cNvPr id="25645" name="Oval 87"/>
            <p:cNvSpPr/>
            <p:nvPr/>
          </p:nvSpPr>
          <p:spPr>
            <a:xfrm>
              <a:off x="4176" y="215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46" name="Oval 88"/>
            <p:cNvSpPr/>
            <p:nvPr/>
          </p:nvSpPr>
          <p:spPr>
            <a:xfrm>
              <a:off x="3600"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47" name="Oval 89"/>
            <p:cNvSpPr/>
            <p:nvPr/>
          </p:nvSpPr>
          <p:spPr>
            <a:xfrm>
              <a:off x="4704"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48" name="Text Box 90"/>
            <p:cNvSpPr txBox="1"/>
            <p:nvPr/>
          </p:nvSpPr>
          <p:spPr>
            <a:xfrm>
              <a:off x="4188" y="211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25649" name="Text Box 91"/>
            <p:cNvSpPr txBox="1"/>
            <p:nvPr/>
          </p:nvSpPr>
          <p:spPr>
            <a:xfrm>
              <a:off x="3612" y="2447"/>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25650" name="Text Box 92"/>
            <p:cNvSpPr txBox="1"/>
            <p:nvPr/>
          </p:nvSpPr>
          <p:spPr>
            <a:xfrm>
              <a:off x="4716" y="2447"/>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25651" name="Oval 93"/>
            <p:cNvSpPr/>
            <p:nvPr/>
          </p:nvSpPr>
          <p:spPr>
            <a:xfrm>
              <a:off x="4992"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52" name="Text Box 94"/>
            <p:cNvSpPr txBox="1"/>
            <p:nvPr/>
          </p:nvSpPr>
          <p:spPr>
            <a:xfrm>
              <a:off x="5040" y="283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6</a:t>
              </a:r>
              <a:endParaRPr lang="en-US" altLang="zh-CN" sz="2400" dirty="0">
                <a:latin typeface="Times New Roman" panose="02020603050405020304" pitchFamily="18" charset="0"/>
                <a:ea typeface="宋体" panose="02010600030101010101" pitchFamily="2" charset="-122"/>
              </a:endParaRPr>
            </a:p>
          </p:txBody>
        </p:sp>
        <p:sp>
          <p:nvSpPr>
            <p:cNvPr id="25653" name="Oval 95"/>
            <p:cNvSpPr/>
            <p:nvPr/>
          </p:nvSpPr>
          <p:spPr>
            <a:xfrm>
              <a:off x="32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54" name="Text Box 96"/>
            <p:cNvSpPr txBox="1"/>
            <p:nvPr/>
          </p:nvSpPr>
          <p:spPr>
            <a:xfrm>
              <a:off x="3276" y="283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4</a:t>
              </a:r>
              <a:endParaRPr lang="en-US" altLang="zh-CN" sz="2400" dirty="0">
                <a:latin typeface="Times New Roman" panose="02020603050405020304" pitchFamily="18" charset="0"/>
                <a:ea typeface="宋体" panose="02010600030101010101" pitchFamily="2" charset="-122"/>
              </a:endParaRPr>
            </a:p>
          </p:txBody>
        </p:sp>
        <p:sp>
          <p:nvSpPr>
            <p:cNvPr id="25655" name="Oval 97"/>
            <p:cNvSpPr/>
            <p:nvPr/>
          </p:nvSpPr>
          <p:spPr>
            <a:xfrm>
              <a:off x="3024"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56" name="Text Box 98"/>
            <p:cNvSpPr txBox="1"/>
            <p:nvPr/>
          </p:nvSpPr>
          <p:spPr>
            <a:xfrm>
              <a:off x="3036" y="3263"/>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sp>
          <p:nvSpPr>
            <p:cNvPr id="25657" name="Oval 99"/>
            <p:cNvSpPr/>
            <p:nvPr/>
          </p:nvSpPr>
          <p:spPr>
            <a:xfrm>
              <a:off x="3408"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58" name="Text Box 100"/>
            <p:cNvSpPr txBox="1"/>
            <p:nvPr/>
          </p:nvSpPr>
          <p:spPr>
            <a:xfrm>
              <a:off x="3420" y="3254"/>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8</a:t>
              </a:r>
              <a:endParaRPr lang="en-US" altLang="zh-CN" sz="2400" dirty="0">
                <a:latin typeface="Times New Roman" panose="02020603050405020304" pitchFamily="18" charset="0"/>
                <a:ea typeface="宋体" panose="02010600030101010101" pitchFamily="2" charset="-122"/>
              </a:endParaRPr>
            </a:p>
          </p:txBody>
        </p:sp>
        <p:sp>
          <p:nvSpPr>
            <p:cNvPr id="25659" name="Text Box 101"/>
            <p:cNvSpPr txBox="1"/>
            <p:nvPr/>
          </p:nvSpPr>
          <p:spPr>
            <a:xfrm>
              <a:off x="4608" y="331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9</a:t>
              </a:r>
              <a:endParaRPr lang="en-US" altLang="zh-CN" sz="2400" dirty="0">
                <a:latin typeface="Times New Roman" panose="02020603050405020304" pitchFamily="18" charset="0"/>
                <a:ea typeface="宋体" panose="02010600030101010101" pitchFamily="2" charset="-122"/>
              </a:endParaRPr>
            </a:p>
          </p:txBody>
        </p:sp>
        <p:sp>
          <p:nvSpPr>
            <p:cNvPr id="25660" name="Oval 102"/>
            <p:cNvSpPr/>
            <p:nvPr/>
          </p:nvSpPr>
          <p:spPr>
            <a:xfrm>
              <a:off x="4608"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61" name="Text Box 103"/>
            <p:cNvSpPr txBox="1"/>
            <p:nvPr/>
          </p:nvSpPr>
          <p:spPr>
            <a:xfrm>
              <a:off x="4560" y="3311"/>
              <a:ext cx="339"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10</a:t>
              </a:r>
              <a:endParaRPr lang="en-US" altLang="zh-CN" sz="2400" dirty="0">
                <a:latin typeface="Times New Roman" panose="02020603050405020304" pitchFamily="18" charset="0"/>
                <a:ea typeface="宋体" panose="02010600030101010101" pitchFamily="2" charset="-122"/>
              </a:endParaRPr>
            </a:p>
          </p:txBody>
        </p:sp>
        <p:sp>
          <p:nvSpPr>
            <p:cNvPr id="25662" name="Line 104"/>
            <p:cNvSpPr/>
            <p:nvPr/>
          </p:nvSpPr>
          <p:spPr>
            <a:xfrm>
              <a:off x="4608" y="3120"/>
              <a:ext cx="96" cy="192"/>
            </a:xfrm>
            <a:prstGeom prst="line">
              <a:avLst/>
            </a:prstGeom>
            <a:ln w="38100" cap="flat" cmpd="sng">
              <a:solidFill>
                <a:srgbClr val="009900"/>
              </a:solidFill>
              <a:prstDash val="solid"/>
              <a:round/>
              <a:headEnd type="none" w="med" len="med"/>
              <a:tailEnd type="none" w="med" len="med"/>
            </a:ln>
          </p:spPr>
        </p:sp>
        <p:sp>
          <p:nvSpPr>
            <p:cNvPr id="25663" name="Oval 105"/>
            <p:cNvSpPr/>
            <p:nvPr/>
          </p:nvSpPr>
          <p:spPr>
            <a:xfrm>
              <a:off x="44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25664" name="Text Box 106"/>
            <p:cNvSpPr txBox="1"/>
            <p:nvPr/>
          </p:nvSpPr>
          <p:spPr>
            <a:xfrm>
              <a:off x="4464" y="283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grpSp>
      <p:grpSp>
        <p:nvGrpSpPr>
          <p:cNvPr id="25687" name="Group 129"/>
          <p:cNvGrpSpPr/>
          <p:nvPr/>
        </p:nvGrpSpPr>
        <p:grpSpPr>
          <a:xfrm rot="0">
            <a:off x="5880100" y="4418330"/>
            <a:ext cx="4267200" cy="687070"/>
            <a:chOff x="2544" y="3196"/>
            <a:chExt cx="2688" cy="483"/>
          </a:xfrm>
        </p:grpSpPr>
        <p:sp>
          <p:nvSpPr>
            <p:cNvPr id="25688" name="Rectangle 130"/>
            <p:cNvSpPr/>
            <p:nvPr/>
          </p:nvSpPr>
          <p:spPr>
            <a:xfrm>
              <a:off x="2544" y="3340"/>
              <a:ext cx="2544" cy="259"/>
            </a:xfrm>
            <a:prstGeom prst="rect">
              <a:avLst/>
            </a:prstGeom>
            <a:solidFill>
              <a:srgbClr val="FF7C80"/>
            </a:solidFill>
            <a:ln w="9525"/>
            <a:scene3d>
              <a:camera prst="legacyObliqueTopRight">
                <a:rot lat="0" lon="0" rev="0"/>
              </a:camera>
              <a:lightRig rig="legacyFlat3" dir="b"/>
            </a:scene3d>
            <a:sp3d extrusionH="430200" prstMaterial="legacyMatte">
              <a:bevelT w="13500" h="13500" prst="angle"/>
              <a:bevelB w="13500" h="13500" prst="angle"/>
              <a:extrusionClr>
                <a:srgbClr val="FF7C80"/>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25689" name="Line 131"/>
            <p:cNvSpPr/>
            <p:nvPr/>
          </p:nvSpPr>
          <p:spPr>
            <a:xfrm>
              <a:off x="2736" y="3311"/>
              <a:ext cx="0" cy="288"/>
            </a:xfrm>
            <a:prstGeom prst="line">
              <a:avLst/>
            </a:prstGeom>
            <a:ln w="19050" cap="flat" cmpd="sng">
              <a:solidFill>
                <a:schemeClr val="bg1"/>
              </a:solidFill>
              <a:prstDash val="solid"/>
              <a:round/>
              <a:headEnd type="none" w="med" len="med"/>
              <a:tailEnd type="none" w="med" len="med"/>
            </a:ln>
          </p:spPr>
        </p:sp>
        <p:sp>
          <p:nvSpPr>
            <p:cNvPr id="25690" name="Text Box 132"/>
            <p:cNvSpPr txBox="1"/>
            <p:nvPr/>
          </p:nvSpPr>
          <p:spPr>
            <a:xfrm>
              <a:off x="2544" y="3269"/>
              <a:ext cx="2688" cy="410"/>
            </a:xfrm>
            <a:prstGeom prst="rect">
              <a:avLst/>
            </a:prstGeom>
            <a:noFill/>
            <a:ln w="38100">
              <a:noFill/>
            </a:ln>
          </p:spPr>
          <p:txBody>
            <a:bodyPr anchor="ctr" anchorCtr="0">
              <a:spAutoFit/>
            </a:bodyPr>
            <a:p>
              <a:r>
                <a:rPr lang="en-US" altLang="zh-CN" sz="3200" b="1" dirty="0">
                  <a:solidFill>
                    <a:schemeClr val="bg1"/>
                  </a:solidFill>
                  <a:latin typeface="Times New Roman" panose="02020603050405020304" pitchFamily="18" charset="0"/>
                  <a:ea typeface="宋体" panose="02010600030101010101" pitchFamily="2" charset="-122"/>
                </a:rPr>
                <a:t>1 2 3 4 </a:t>
              </a:r>
              <a:r>
                <a:rPr lang="en-US" altLang="zh-CN" sz="3200" b="1" dirty="0">
                  <a:latin typeface="Times New Roman" panose="02020603050405020304" pitchFamily="18" charset="0"/>
                  <a:ea typeface="宋体" panose="02010600030101010101" pitchFamily="2" charset="-122"/>
                </a:rPr>
                <a:t>0</a:t>
              </a:r>
              <a:r>
                <a:rPr lang="en-US" altLang="zh-CN" sz="3200" b="1" dirty="0">
                  <a:solidFill>
                    <a:schemeClr val="bg1"/>
                  </a:solidFill>
                  <a:latin typeface="Times New Roman" panose="02020603050405020304" pitchFamily="18" charset="0"/>
                  <a:ea typeface="宋体" panose="02010600030101010101" pitchFamily="2" charset="-122"/>
                </a:rPr>
                <a:t> 5 6 7 8 </a:t>
              </a:r>
              <a:r>
                <a:rPr lang="en-US" altLang="zh-CN" sz="3200" b="1" dirty="0">
                  <a:latin typeface="Times New Roman" panose="02020603050405020304" pitchFamily="18" charset="0"/>
                  <a:ea typeface="宋体" panose="02010600030101010101" pitchFamily="2" charset="-122"/>
                </a:rPr>
                <a:t>0 0</a:t>
              </a:r>
              <a:r>
                <a:rPr lang="en-US" altLang="zh-CN" sz="3200" b="1" dirty="0">
                  <a:solidFill>
                    <a:schemeClr val="bg1"/>
                  </a:solidFill>
                  <a:latin typeface="Times New Roman" panose="02020603050405020304" pitchFamily="18" charset="0"/>
                  <a:ea typeface="宋体" panose="02010600030101010101" pitchFamily="2" charset="-122"/>
                </a:rPr>
                <a:t> 910   </a:t>
              </a:r>
              <a:endParaRPr lang="en-US" altLang="zh-CN" sz="2800" dirty="0">
                <a:latin typeface="Times New Roman" panose="02020603050405020304" pitchFamily="18" charset="0"/>
                <a:ea typeface="宋体" panose="02010600030101010101" pitchFamily="2" charset="-122"/>
              </a:endParaRPr>
            </a:p>
          </p:txBody>
        </p:sp>
        <p:sp>
          <p:nvSpPr>
            <p:cNvPr id="25691" name="Line 133"/>
            <p:cNvSpPr/>
            <p:nvPr/>
          </p:nvSpPr>
          <p:spPr>
            <a:xfrm>
              <a:off x="2928" y="3311"/>
              <a:ext cx="0" cy="288"/>
            </a:xfrm>
            <a:prstGeom prst="line">
              <a:avLst/>
            </a:prstGeom>
            <a:ln w="19050" cap="flat" cmpd="sng">
              <a:solidFill>
                <a:schemeClr val="bg1"/>
              </a:solidFill>
              <a:prstDash val="solid"/>
              <a:round/>
              <a:headEnd type="none" w="med" len="med"/>
              <a:tailEnd type="none" w="med" len="med"/>
            </a:ln>
          </p:spPr>
        </p:sp>
        <p:sp>
          <p:nvSpPr>
            <p:cNvPr id="25692" name="Line 134"/>
            <p:cNvSpPr/>
            <p:nvPr/>
          </p:nvSpPr>
          <p:spPr>
            <a:xfrm>
              <a:off x="3120" y="3311"/>
              <a:ext cx="0" cy="288"/>
            </a:xfrm>
            <a:prstGeom prst="line">
              <a:avLst/>
            </a:prstGeom>
            <a:ln w="19050" cap="flat" cmpd="sng">
              <a:solidFill>
                <a:schemeClr val="bg1"/>
              </a:solidFill>
              <a:prstDash val="solid"/>
              <a:round/>
              <a:headEnd type="none" w="med" len="med"/>
              <a:tailEnd type="none" w="med" len="med"/>
            </a:ln>
          </p:spPr>
        </p:sp>
        <p:sp>
          <p:nvSpPr>
            <p:cNvPr id="25693" name="Line 135"/>
            <p:cNvSpPr/>
            <p:nvPr/>
          </p:nvSpPr>
          <p:spPr>
            <a:xfrm>
              <a:off x="3312" y="3311"/>
              <a:ext cx="0" cy="288"/>
            </a:xfrm>
            <a:prstGeom prst="line">
              <a:avLst/>
            </a:prstGeom>
            <a:ln w="19050" cap="flat" cmpd="sng">
              <a:solidFill>
                <a:schemeClr val="bg1"/>
              </a:solidFill>
              <a:prstDash val="solid"/>
              <a:round/>
              <a:headEnd type="none" w="med" len="med"/>
              <a:tailEnd type="none" w="med" len="med"/>
            </a:ln>
          </p:spPr>
        </p:sp>
        <p:sp>
          <p:nvSpPr>
            <p:cNvPr id="25694" name="Line 136"/>
            <p:cNvSpPr/>
            <p:nvPr/>
          </p:nvSpPr>
          <p:spPr>
            <a:xfrm>
              <a:off x="3504" y="3311"/>
              <a:ext cx="0" cy="288"/>
            </a:xfrm>
            <a:prstGeom prst="line">
              <a:avLst/>
            </a:prstGeom>
            <a:ln w="19050" cap="flat" cmpd="sng">
              <a:solidFill>
                <a:schemeClr val="bg1"/>
              </a:solidFill>
              <a:prstDash val="solid"/>
              <a:round/>
              <a:headEnd type="none" w="med" len="med"/>
              <a:tailEnd type="none" w="med" len="med"/>
            </a:ln>
          </p:spPr>
        </p:sp>
        <p:sp>
          <p:nvSpPr>
            <p:cNvPr id="25695" name="Line 137"/>
            <p:cNvSpPr/>
            <p:nvPr/>
          </p:nvSpPr>
          <p:spPr>
            <a:xfrm>
              <a:off x="3696" y="3311"/>
              <a:ext cx="0" cy="288"/>
            </a:xfrm>
            <a:prstGeom prst="line">
              <a:avLst/>
            </a:prstGeom>
            <a:ln w="19050" cap="flat" cmpd="sng">
              <a:solidFill>
                <a:schemeClr val="bg1"/>
              </a:solidFill>
              <a:prstDash val="solid"/>
              <a:round/>
              <a:headEnd type="none" w="med" len="med"/>
              <a:tailEnd type="none" w="med" len="med"/>
            </a:ln>
          </p:spPr>
        </p:sp>
        <p:sp>
          <p:nvSpPr>
            <p:cNvPr id="25696" name="Line 138"/>
            <p:cNvSpPr/>
            <p:nvPr/>
          </p:nvSpPr>
          <p:spPr>
            <a:xfrm>
              <a:off x="3888" y="3311"/>
              <a:ext cx="0" cy="288"/>
            </a:xfrm>
            <a:prstGeom prst="line">
              <a:avLst/>
            </a:prstGeom>
            <a:ln w="19050" cap="flat" cmpd="sng">
              <a:solidFill>
                <a:schemeClr val="bg1"/>
              </a:solidFill>
              <a:prstDash val="solid"/>
              <a:round/>
              <a:headEnd type="none" w="med" len="med"/>
              <a:tailEnd type="none" w="med" len="med"/>
            </a:ln>
          </p:spPr>
        </p:sp>
        <p:sp>
          <p:nvSpPr>
            <p:cNvPr id="25697" name="Line 139"/>
            <p:cNvSpPr/>
            <p:nvPr/>
          </p:nvSpPr>
          <p:spPr>
            <a:xfrm>
              <a:off x="4080" y="3311"/>
              <a:ext cx="0" cy="288"/>
            </a:xfrm>
            <a:prstGeom prst="line">
              <a:avLst/>
            </a:prstGeom>
            <a:ln w="19050" cap="flat" cmpd="sng">
              <a:solidFill>
                <a:schemeClr val="bg1"/>
              </a:solidFill>
              <a:prstDash val="solid"/>
              <a:round/>
              <a:headEnd type="none" w="med" len="med"/>
              <a:tailEnd type="none" w="med" len="med"/>
            </a:ln>
          </p:spPr>
        </p:sp>
        <p:sp>
          <p:nvSpPr>
            <p:cNvPr id="25698" name="Line 140"/>
            <p:cNvSpPr/>
            <p:nvPr/>
          </p:nvSpPr>
          <p:spPr>
            <a:xfrm>
              <a:off x="4272" y="3311"/>
              <a:ext cx="0" cy="288"/>
            </a:xfrm>
            <a:prstGeom prst="line">
              <a:avLst/>
            </a:prstGeom>
            <a:ln w="19050" cap="flat" cmpd="sng">
              <a:solidFill>
                <a:schemeClr val="bg1"/>
              </a:solidFill>
              <a:prstDash val="solid"/>
              <a:round/>
              <a:headEnd type="none" w="med" len="med"/>
              <a:tailEnd type="none" w="med" len="med"/>
            </a:ln>
          </p:spPr>
        </p:sp>
        <p:sp>
          <p:nvSpPr>
            <p:cNvPr id="25699" name="Line 141"/>
            <p:cNvSpPr/>
            <p:nvPr/>
          </p:nvSpPr>
          <p:spPr>
            <a:xfrm flipV="1">
              <a:off x="2736" y="3215"/>
              <a:ext cx="96" cy="96"/>
            </a:xfrm>
            <a:prstGeom prst="line">
              <a:avLst/>
            </a:prstGeom>
            <a:ln w="12700" cap="flat" cmpd="sng">
              <a:solidFill>
                <a:schemeClr val="bg1"/>
              </a:solidFill>
              <a:prstDash val="solid"/>
              <a:round/>
              <a:headEnd type="none" w="med" len="med"/>
              <a:tailEnd type="none" w="med" len="med"/>
            </a:ln>
          </p:spPr>
        </p:sp>
        <p:sp>
          <p:nvSpPr>
            <p:cNvPr id="25700" name="Line 142"/>
            <p:cNvSpPr/>
            <p:nvPr/>
          </p:nvSpPr>
          <p:spPr>
            <a:xfrm flipV="1">
              <a:off x="2928" y="3215"/>
              <a:ext cx="96" cy="96"/>
            </a:xfrm>
            <a:prstGeom prst="line">
              <a:avLst/>
            </a:prstGeom>
            <a:ln w="12700" cap="flat" cmpd="sng">
              <a:solidFill>
                <a:schemeClr val="bg1"/>
              </a:solidFill>
              <a:prstDash val="solid"/>
              <a:round/>
              <a:headEnd type="none" w="med" len="med"/>
              <a:tailEnd type="none" w="med" len="med"/>
            </a:ln>
          </p:spPr>
        </p:sp>
        <p:sp>
          <p:nvSpPr>
            <p:cNvPr id="25701" name="Line 143"/>
            <p:cNvSpPr/>
            <p:nvPr/>
          </p:nvSpPr>
          <p:spPr>
            <a:xfrm flipV="1">
              <a:off x="3120" y="3215"/>
              <a:ext cx="96" cy="96"/>
            </a:xfrm>
            <a:prstGeom prst="line">
              <a:avLst/>
            </a:prstGeom>
            <a:ln w="12700" cap="flat" cmpd="sng">
              <a:solidFill>
                <a:schemeClr val="bg1"/>
              </a:solidFill>
              <a:prstDash val="solid"/>
              <a:round/>
              <a:headEnd type="none" w="med" len="med"/>
              <a:tailEnd type="none" w="med" len="med"/>
            </a:ln>
          </p:spPr>
        </p:sp>
        <p:sp>
          <p:nvSpPr>
            <p:cNvPr id="25702" name="Line 144"/>
            <p:cNvSpPr/>
            <p:nvPr/>
          </p:nvSpPr>
          <p:spPr>
            <a:xfrm flipV="1">
              <a:off x="3312" y="3215"/>
              <a:ext cx="96" cy="96"/>
            </a:xfrm>
            <a:prstGeom prst="line">
              <a:avLst/>
            </a:prstGeom>
            <a:ln w="12700" cap="flat" cmpd="sng">
              <a:solidFill>
                <a:schemeClr val="bg1"/>
              </a:solidFill>
              <a:prstDash val="solid"/>
              <a:round/>
              <a:headEnd type="none" w="med" len="med"/>
              <a:tailEnd type="none" w="med" len="med"/>
            </a:ln>
          </p:spPr>
        </p:sp>
        <p:sp>
          <p:nvSpPr>
            <p:cNvPr id="25703" name="Line 145"/>
            <p:cNvSpPr/>
            <p:nvPr/>
          </p:nvSpPr>
          <p:spPr>
            <a:xfrm flipV="1">
              <a:off x="3504" y="3215"/>
              <a:ext cx="96" cy="96"/>
            </a:xfrm>
            <a:prstGeom prst="line">
              <a:avLst/>
            </a:prstGeom>
            <a:ln w="12700" cap="flat" cmpd="sng">
              <a:solidFill>
                <a:schemeClr val="bg1"/>
              </a:solidFill>
              <a:prstDash val="solid"/>
              <a:round/>
              <a:headEnd type="none" w="med" len="med"/>
              <a:tailEnd type="none" w="med" len="med"/>
            </a:ln>
          </p:spPr>
        </p:sp>
        <p:sp>
          <p:nvSpPr>
            <p:cNvPr id="25704" name="Line 146"/>
            <p:cNvSpPr/>
            <p:nvPr/>
          </p:nvSpPr>
          <p:spPr>
            <a:xfrm flipV="1">
              <a:off x="3696" y="3215"/>
              <a:ext cx="96" cy="96"/>
            </a:xfrm>
            <a:prstGeom prst="line">
              <a:avLst/>
            </a:prstGeom>
            <a:ln w="12700" cap="flat" cmpd="sng">
              <a:solidFill>
                <a:schemeClr val="bg1"/>
              </a:solidFill>
              <a:prstDash val="solid"/>
              <a:round/>
              <a:headEnd type="none" w="med" len="med"/>
              <a:tailEnd type="none" w="med" len="med"/>
            </a:ln>
          </p:spPr>
        </p:sp>
        <p:sp>
          <p:nvSpPr>
            <p:cNvPr id="25705" name="Line 147"/>
            <p:cNvSpPr/>
            <p:nvPr/>
          </p:nvSpPr>
          <p:spPr>
            <a:xfrm flipV="1">
              <a:off x="3888" y="3215"/>
              <a:ext cx="96" cy="96"/>
            </a:xfrm>
            <a:prstGeom prst="line">
              <a:avLst/>
            </a:prstGeom>
            <a:ln w="12700" cap="flat" cmpd="sng">
              <a:solidFill>
                <a:schemeClr val="bg1"/>
              </a:solidFill>
              <a:prstDash val="solid"/>
              <a:round/>
              <a:headEnd type="none" w="med" len="med"/>
              <a:tailEnd type="none" w="med" len="med"/>
            </a:ln>
          </p:spPr>
        </p:sp>
        <p:sp>
          <p:nvSpPr>
            <p:cNvPr id="25706" name="Line 148"/>
            <p:cNvSpPr/>
            <p:nvPr/>
          </p:nvSpPr>
          <p:spPr>
            <a:xfrm flipV="1">
              <a:off x="4080" y="3215"/>
              <a:ext cx="96" cy="96"/>
            </a:xfrm>
            <a:prstGeom prst="line">
              <a:avLst/>
            </a:prstGeom>
            <a:ln w="12700" cap="flat" cmpd="sng">
              <a:solidFill>
                <a:schemeClr val="bg1"/>
              </a:solidFill>
              <a:prstDash val="solid"/>
              <a:round/>
              <a:headEnd type="none" w="med" len="med"/>
              <a:tailEnd type="none" w="med" len="med"/>
            </a:ln>
          </p:spPr>
        </p:sp>
        <p:sp>
          <p:nvSpPr>
            <p:cNvPr id="25707" name="Line 149"/>
            <p:cNvSpPr/>
            <p:nvPr/>
          </p:nvSpPr>
          <p:spPr>
            <a:xfrm flipV="1">
              <a:off x="4272" y="3215"/>
              <a:ext cx="96" cy="96"/>
            </a:xfrm>
            <a:prstGeom prst="line">
              <a:avLst/>
            </a:prstGeom>
            <a:ln w="12700" cap="flat" cmpd="sng">
              <a:solidFill>
                <a:schemeClr val="bg1"/>
              </a:solidFill>
              <a:prstDash val="solid"/>
              <a:round/>
              <a:headEnd type="none" w="med" len="med"/>
              <a:tailEnd type="none" w="med" len="med"/>
            </a:ln>
          </p:spPr>
        </p:sp>
        <p:sp>
          <p:nvSpPr>
            <p:cNvPr id="25708" name="Line 150"/>
            <p:cNvSpPr/>
            <p:nvPr/>
          </p:nvSpPr>
          <p:spPr>
            <a:xfrm>
              <a:off x="4464" y="3311"/>
              <a:ext cx="0" cy="288"/>
            </a:xfrm>
            <a:prstGeom prst="line">
              <a:avLst/>
            </a:prstGeom>
            <a:ln w="19050" cap="flat" cmpd="sng">
              <a:solidFill>
                <a:schemeClr val="bg1"/>
              </a:solidFill>
              <a:prstDash val="solid"/>
              <a:round/>
              <a:headEnd type="none" w="med" len="med"/>
              <a:tailEnd type="none" w="med" len="med"/>
            </a:ln>
          </p:spPr>
        </p:sp>
        <p:sp>
          <p:nvSpPr>
            <p:cNvPr id="25709" name="Line 151"/>
            <p:cNvSpPr/>
            <p:nvPr/>
          </p:nvSpPr>
          <p:spPr>
            <a:xfrm flipV="1">
              <a:off x="4464" y="3215"/>
              <a:ext cx="96" cy="96"/>
            </a:xfrm>
            <a:prstGeom prst="line">
              <a:avLst/>
            </a:prstGeom>
            <a:ln w="12700" cap="flat" cmpd="sng">
              <a:solidFill>
                <a:schemeClr val="bg1"/>
              </a:solidFill>
              <a:prstDash val="solid"/>
              <a:round/>
              <a:headEnd type="none" w="med" len="med"/>
              <a:tailEnd type="none" w="med" len="med"/>
            </a:ln>
          </p:spPr>
        </p:sp>
        <p:sp>
          <p:nvSpPr>
            <p:cNvPr id="25710" name="Line 152"/>
            <p:cNvSpPr/>
            <p:nvPr/>
          </p:nvSpPr>
          <p:spPr>
            <a:xfrm>
              <a:off x="4656" y="3311"/>
              <a:ext cx="0" cy="288"/>
            </a:xfrm>
            <a:prstGeom prst="line">
              <a:avLst/>
            </a:prstGeom>
            <a:ln w="19050" cap="flat" cmpd="sng">
              <a:solidFill>
                <a:schemeClr val="bg1"/>
              </a:solidFill>
              <a:prstDash val="solid"/>
              <a:round/>
              <a:headEnd type="none" w="med" len="med"/>
              <a:tailEnd type="none" w="med" len="med"/>
            </a:ln>
          </p:spPr>
        </p:sp>
        <p:sp>
          <p:nvSpPr>
            <p:cNvPr id="25711" name="Line 153"/>
            <p:cNvSpPr/>
            <p:nvPr/>
          </p:nvSpPr>
          <p:spPr>
            <a:xfrm flipV="1">
              <a:off x="4656" y="3215"/>
              <a:ext cx="96" cy="96"/>
            </a:xfrm>
            <a:prstGeom prst="line">
              <a:avLst/>
            </a:prstGeom>
            <a:ln w="12700" cap="flat" cmpd="sng">
              <a:solidFill>
                <a:schemeClr val="bg1"/>
              </a:solidFill>
              <a:prstDash val="solid"/>
              <a:round/>
              <a:headEnd type="none" w="med" len="med"/>
              <a:tailEnd type="none" w="med" len="med"/>
            </a:ln>
          </p:spPr>
        </p:sp>
        <p:sp>
          <p:nvSpPr>
            <p:cNvPr id="25712" name="Line 154"/>
            <p:cNvSpPr/>
            <p:nvPr/>
          </p:nvSpPr>
          <p:spPr>
            <a:xfrm>
              <a:off x="4848" y="3292"/>
              <a:ext cx="0" cy="288"/>
            </a:xfrm>
            <a:prstGeom prst="line">
              <a:avLst/>
            </a:prstGeom>
            <a:ln w="19050" cap="flat" cmpd="sng">
              <a:solidFill>
                <a:schemeClr val="bg1"/>
              </a:solidFill>
              <a:prstDash val="solid"/>
              <a:round/>
              <a:headEnd type="none" w="med" len="med"/>
              <a:tailEnd type="none" w="med" len="med"/>
            </a:ln>
          </p:spPr>
        </p:sp>
        <p:sp>
          <p:nvSpPr>
            <p:cNvPr id="25713" name="Line 155"/>
            <p:cNvSpPr/>
            <p:nvPr/>
          </p:nvSpPr>
          <p:spPr>
            <a:xfrm flipV="1">
              <a:off x="4848" y="3196"/>
              <a:ext cx="96" cy="96"/>
            </a:xfrm>
            <a:prstGeom prst="line">
              <a:avLst/>
            </a:prstGeom>
            <a:ln w="12700" cap="flat" cmpd="sng">
              <a:solidFill>
                <a:schemeClr val="bg1"/>
              </a:solidFill>
              <a:prstDash val="solid"/>
              <a:round/>
              <a:headEnd type="none" w="med" len="med"/>
              <a:tailEnd type="none" w="med" len="med"/>
            </a:ln>
          </p:spPr>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二叉树遍历在算术表达式的应用：一个表达式通过二叉树的不同遍历实现不同操作。</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例子：对二叉树进行先序、中序和后序遍历后，便可得到表达式的前缀、中缀和后缀三种表示：</a:t>
            </a:r>
            <a:endParaRPr lang="zh-CN" altLang="en-US" sz="2400" dirty="0">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r>
              <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rPr>
              <a:t>原表达式：</a:t>
            </a:r>
            <a:r>
              <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rPr>
              <a:t>a+b*(c-d)-e/f</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mn-ea"/>
              </a:rPr>
              <a:t>前缀表示：-+a*b-cd/ef（波兰式）</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mn-ea"/>
              </a:rPr>
              <a:t>中缀</a:t>
            </a:r>
            <a:r>
              <a:rPr lang="zh-CN" altLang="en-US" dirty="0">
                <a:latin typeface="黑体" panose="02010609060101010101" pitchFamily="2" charset="-122"/>
                <a:ea typeface="黑体" panose="02010609060101010101" pitchFamily="2" charset="-122"/>
                <a:cs typeface="+mn-ea"/>
                <a:sym typeface="+mn-ea"/>
              </a:rPr>
              <a:t>表示</a:t>
            </a:r>
            <a:r>
              <a:rPr lang="zh-CN" altLang="en-US" sz="2400" dirty="0">
                <a:latin typeface="黑体" panose="02010609060101010101" pitchFamily="2" charset="-122"/>
                <a:ea typeface="黑体" panose="02010609060101010101" pitchFamily="2" charset="-122"/>
                <a:cs typeface="+mn-ea"/>
                <a:sym typeface="+mn-ea"/>
              </a:rPr>
              <a:t>：a+b*c-d-e/f</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mn-ea"/>
              </a:rPr>
              <a:t>后缀</a:t>
            </a:r>
            <a:r>
              <a:rPr lang="zh-CN" altLang="en-US" dirty="0">
                <a:latin typeface="黑体" panose="02010609060101010101" pitchFamily="2" charset="-122"/>
                <a:ea typeface="黑体" panose="02010609060101010101" pitchFamily="2" charset="-122"/>
                <a:cs typeface="+mn-ea"/>
                <a:sym typeface="+mn-ea"/>
              </a:rPr>
              <a:t>表示</a:t>
            </a:r>
            <a:r>
              <a:rPr lang="zh-CN" altLang="en-US" sz="2400" dirty="0">
                <a:latin typeface="黑体" panose="02010609060101010101" pitchFamily="2" charset="-122"/>
                <a:ea typeface="黑体" panose="02010609060101010101" pitchFamily="2" charset="-122"/>
                <a:cs typeface="+mn-ea"/>
                <a:sym typeface="+mn-ea"/>
              </a:rPr>
              <a:t>：abcd-*+ef/-</a:t>
            </a:r>
            <a:r>
              <a:rPr lang="zh-CN" altLang="en-US" dirty="0">
                <a:latin typeface="黑体" panose="02010609060101010101" pitchFamily="2" charset="-122"/>
                <a:ea typeface="黑体" panose="02010609060101010101" pitchFamily="2" charset="-122"/>
                <a:cs typeface="+mn-ea"/>
                <a:sym typeface="+mn-ea"/>
              </a:rPr>
              <a:t>（逆波兰式）</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中缀形式往往是无括号的表达式展示形式</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后缀形式往往用于表达式求值</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可以用前缀</a:t>
            </a:r>
            <a:r>
              <a:rPr lang="en-US" altLang="zh-CN" sz="2400" dirty="0">
                <a:latin typeface="黑体" panose="02010609060101010101" pitchFamily="2" charset="-122"/>
                <a:ea typeface="黑体" panose="02010609060101010101" pitchFamily="2" charset="-122"/>
                <a:cs typeface="+mn-ea"/>
                <a:sym typeface="+mn-ea"/>
              </a:rPr>
              <a:t>+</a:t>
            </a:r>
            <a:r>
              <a:rPr lang="zh-CN" altLang="en-US" sz="2400" dirty="0">
                <a:latin typeface="黑体" panose="02010609060101010101" pitchFamily="2" charset="-122"/>
                <a:ea typeface="黑体" panose="02010609060101010101" pitchFamily="2" charset="-122"/>
                <a:cs typeface="+mn-ea"/>
                <a:sym typeface="+mn-ea"/>
              </a:rPr>
              <a:t>中缀正确构建出表达式对应的二叉树</a:t>
            </a:r>
            <a:endParaRPr kumimoji="0" lang="zh-CN" altLang="en-US" sz="2400" i="0" u="none" strike="noStrike" kern="0" cap="none" spc="0" normalizeH="0" baseline="0" noProof="1" dirty="0">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5" name="对象 4"/>
          <p:cNvGraphicFramePr/>
          <p:nvPr/>
        </p:nvGraphicFramePr>
        <p:xfrm>
          <a:off x="8553450" y="2493010"/>
          <a:ext cx="2963545" cy="3787140"/>
        </p:xfrm>
        <a:graphic>
          <a:graphicData uri="http://schemas.openxmlformats.org/presentationml/2006/ole">
            <mc:AlternateContent xmlns:mc="http://schemas.openxmlformats.org/markup-compatibility/2006">
              <mc:Choice xmlns:v="urn:schemas-microsoft-com:vml" Requires="v">
                <p:oleObj spid="_x0000_s6" name="" r:id="rId1" imgW="2705100" imgH="3390900" progId="Paint.Picture">
                  <p:embed/>
                </p:oleObj>
              </mc:Choice>
              <mc:Fallback>
                <p:oleObj name="" r:id="rId1" imgW="2705100" imgH="3390900" progId="Paint.Picture">
                  <p:embed/>
                  <p:pic>
                    <p:nvPicPr>
                      <p:cNvPr id="0" name="图片 5"/>
                      <p:cNvPicPr/>
                      <p:nvPr/>
                    </p:nvPicPr>
                    <p:blipFill>
                      <a:blip r:embed="rId2"/>
                      <a:stretch>
                        <a:fillRect/>
                      </a:stretch>
                    </p:blipFill>
                    <p:spPr>
                      <a:xfrm>
                        <a:off x="8553450" y="2493010"/>
                        <a:ext cx="2963545" cy="3787140"/>
                      </a:xfrm>
                      <a:prstGeom prst="rect">
                        <a:avLst/>
                      </a:prstGeom>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已知二叉树结构如图所示，求先、中、后序遍历结果；并画出顺序存储和二叉链式存储结果</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R="0" algn="l" defTabSz="1219200" rtl="0" eaLnBrk="1" fontAlgn="base" latinLnBrk="0" hangingPunct="1">
              <a:lnSpc>
                <a:spcPct val="100000"/>
              </a:lnSpc>
              <a:spcBef>
                <a:spcPct val="20000"/>
              </a:spcBef>
              <a:buClrTx/>
              <a:buSzTx/>
              <a:buChar char="l"/>
            </a:pP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52228" name="Group 56"/>
          <p:cNvGrpSpPr/>
          <p:nvPr/>
        </p:nvGrpSpPr>
        <p:grpSpPr>
          <a:xfrm>
            <a:off x="8183563" y="1700530"/>
            <a:ext cx="2613025" cy="2916238"/>
            <a:chOff x="0" y="0"/>
            <a:chExt cx="1646" cy="1837"/>
          </a:xfrm>
        </p:grpSpPr>
        <p:sp>
          <p:nvSpPr>
            <p:cNvPr id="52229" name="Rectangle 57"/>
            <p:cNvSpPr/>
            <p:nvPr/>
          </p:nvSpPr>
          <p:spPr>
            <a:xfrm>
              <a:off x="298" y="1611"/>
              <a:ext cx="1179" cy="226"/>
            </a:xfrm>
            <a:prstGeom prst="rect">
              <a:avLst/>
            </a:prstGeom>
            <a:noFill/>
            <a:ln w="9525">
              <a:noFill/>
            </a:ln>
          </p:spPr>
          <p:txBody>
            <a:bodyPr wrap="none" anchor="ctr" anchorCtr="0"/>
            <a:p>
              <a:pPr algn="ctr"/>
              <a:endParaRPr lang="zh-CN" altLang="zh-CN" sz="2400" dirty="0">
                <a:latin typeface="Times New Roman" panose="02020603050405020304" pitchFamily="18" charset="0"/>
                <a:ea typeface="宋体" panose="02010600030101010101" pitchFamily="2" charset="-122"/>
              </a:endParaRPr>
            </a:p>
          </p:txBody>
        </p:sp>
        <p:grpSp>
          <p:nvGrpSpPr>
            <p:cNvPr id="52230" name="Group 58"/>
            <p:cNvGrpSpPr/>
            <p:nvPr/>
          </p:nvGrpSpPr>
          <p:grpSpPr>
            <a:xfrm>
              <a:off x="0" y="0"/>
              <a:ext cx="1646" cy="1561"/>
              <a:chOff x="0" y="0"/>
              <a:chExt cx="1646" cy="1561"/>
            </a:xfrm>
          </p:grpSpPr>
          <p:sp>
            <p:nvSpPr>
              <p:cNvPr id="52231" name="Oval 59"/>
              <p:cNvSpPr/>
              <p:nvPr/>
            </p:nvSpPr>
            <p:spPr>
              <a:xfrm>
                <a:off x="624" y="0"/>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52232" name="Oval 60"/>
              <p:cNvSpPr/>
              <p:nvPr/>
            </p:nvSpPr>
            <p:spPr>
              <a:xfrm>
                <a:off x="0" y="869"/>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52233" name="Oval 61"/>
              <p:cNvSpPr/>
              <p:nvPr/>
            </p:nvSpPr>
            <p:spPr>
              <a:xfrm>
                <a:off x="408" y="872"/>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52234" name="Oval 62"/>
              <p:cNvSpPr/>
              <p:nvPr/>
            </p:nvSpPr>
            <p:spPr>
              <a:xfrm>
                <a:off x="208" y="432"/>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52235" name="Line 63"/>
              <p:cNvSpPr/>
              <p:nvPr/>
            </p:nvSpPr>
            <p:spPr>
              <a:xfrm flipH="1">
                <a:off x="128" y="640"/>
                <a:ext cx="136" cy="227"/>
              </a:xfrm>
              <a:prstGeom prst="line">
                <a:avLst/>
              </a:prstGeom>
              <a:ln w="28575" cap="flat" cmpd="sng">
                <a:solidFill>
                  <a:schemeClr val="tx1"/>
                </a:solidFill>
                <a:prstDash val="solid"/>
                <a:round/>
                <a:headEnd type="none" w="med" len="med"/>
                <a:tailEnd type="none" w="med" len="med"/>
              </a:ln>
            </p:spPr>
          </p:sp>
          <p:sp>
            <p:nvSpPr>
              <p:cNvPr id="52236" name="Line 64"/>
              <p:cNvSpPr/>
              <p:nvPr/>
            </p:nvSpPr>
            <p:spPr>
              <a:xfrm>
                <a:off x="392" y="640"/>
                <a:ext cx="136" cy="227"/>
              </a:xfrm>
              <a:prstGeom prst="line">
                <a:avLst/>
              </a:prstGeom>
              <a:ln w="28575" cap="flat" cmpd="sng">
                <a:solidFill>
                  <a:schemeClr val="tx1"/>
                </a:solidFill>
                <a:prstDash val="solid"/>
                <a:round/>
                <a:headEnd type="none" w="med" len="med"/>
                <a:tailEnd type="none" w="med" len="med"/>
              </a:ln>
            </p:spPr>
          </p:sp>
          <p:sp>
            <p:nvSpPr>
              <p:cNvPr id="52237" name="Oval 65"/>
              <p:cNvSpPr/>
              <p:nvPr/>
            </p:nvSpPr>
            <p:spPr>
              <a:xfrm>
                <a:off x="775" y="877"/>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52238" name="Oval 66"/>
              <p:cNvSpPr/>
              <p:nvPr/>
            </p:nvSpPr>
            <p:spPr>
              <a:xfrm>
                <a:off x="1183" y="880"/>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52239" name="Oval 67"/>
              <p:cNvSpPr/>
              <p:nvPr/>
            </p:nvSpPr>
            <p:spPr>
              <a:xfrm>
                <a:off x="983" y="440"/>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52240" name="Line 68"/>
              <p:cNvSpPr/>
              <p:nvPr/>
            </p:nvSpPr>
            <p:spPr>
              <a:xfrm flipH="1">
                <a:off x="903" y="648"/>
                <a:ext cx="136" cy="227"/>
              </a:xfrm>
              <a:prstGeom prst="line">
                <a:avLst/>
              </a:prstGeom>
              <a:ln w="28575" cap="flat" cmpd="sng">
                <a:solidFill>
                  <a:schemeClr val="tx1"/>
                </a:solidFill>
                <a:prstDash val="solid"/>
                <a:round/>
                <a:headEnd type="none" w="med" len="med"/>
                <a:tailEnd type="none" w="med" len="med"/>
              </a:ln>
            </p:spPr>
          </p:sp>
          <p:sp>
            <p:nvSpPr>
              <p:cNvPr id="52241" name="Line 69"/>
              <p:cNvSpPr/>
              <p:nvPr/>
            </p:nvSpPr>
            <p:spPr>
              <a:xfrm>
                <a:off x="1167" y="648"/>
                <a:ext cx="136" cy="227"/>
              </a:xfrm>
              <a:prstGeom prst="line">
                <a:avLst/>
              </a:prstGeom>
              <a:ln w="28575" cap="flat" cmpd="sng">
                <a:solidFill>
                  <a:schemeClr val="tx1"/>
                </a:solidFill>
                <a:prstDash val="solid"/>
                <a:round/>
                <a:headEnd type="none" w="med" len="med"/>
                <a:tailEnd type="none" w="med" len="med"/>
              </a:ln>
            </p:spPr>
          </p:sp>
          <p:sp>
            <p:nvSpPr>
              <p:cNvPr id="52242" name="Line 70"/>
              <p:cNvSpPr/>
              <p:nvPr/>
            </p:nvSpPr>
            <p:spPr>
              <a:xfrm flipH="1">
                <a:off x="368" y="208"/>
                <a:ext cx="295" cy="227"/>
              </a:xfrm>
              <a:prstGeom prst="line">
                <a:avLst/>
              </a:prstGeom>
              <a:ln w="28575" cap="flat" cmpd="sng">
                <a:solidFill>
                  <a:schemeClr val="tx1"/>
                </a:solidFill>
                <a:prstDash val="solid"/>
                <a:round/>
                <a:headEnd type="none" w="med" len="med"/>
                <a:tailEnd type="none" w="med" len="med"/>
              </a:ln>
            </p:spPr>
          </p:sp>
          <p:sp>
            <p:nvSpPr>
              <p:cNvPr id="52243" name="Line 71"/>
              <p:cNvSpPr/>
              <p:nvPr/>
            </p:nvSpPr>
            <p:spPr>
              <a:xfrm>
                <a:off x="832" y="195"/>
                <a:ext cx="287" cy="248"/>
              </a:xfrm>
              <a:prstGeom prst="line">
                <a:avLst/>
              </a:prstGeom>
              <a:ln w="28575" cap="flat" cmpd="sng">
                <a:solidFill>
                  <a:schemeClr val="tx1"/>
                </a:solidFill>
                <a:prstDash val="solid"/>
                <a:round/>
                <a:headEnd type="none" w="med" len="med"/>
                <a:tailEnd type="none" w="med" len="med"/>
              </a:ln>
            </p:spPr>
          </p:sp>
          <p:sp>
            <p:nvSpPr>
              <p:cNvPr id="52244" name="Oval 72"/>
              <p:cNvSpPr/>
              <p:nvPr/>
            </p:nvSpPr>
            <p:spPr>
              <a:xfrm>
                <a:off x="215" y="1317"/>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52245" name="Oval 73"/>
              <p:cNvSpPr/>
              <p:nvPr/>
            </p:nvSpPr>
            <p:spPr>
              <a:xfrm>
                <a:off x="623" y="1312"/>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52246" name="Line 74"/>
              <p:cNvSpPr/>
              <p:nvPr/>
            </p:nvSpPr>
            <p:spPr>
              <a:xfrm flipH="1">
                <a:off x="343" y="1088"/>
                <a:ext cx="136" cy="227"/>
              </a:xfrm>
              <a:prstGeom prst="line">
                <a:avLst/>
              </a:prstGeom>
              <a:ln w="28575" cap="flat" cmpd="sng">
                <a:solidFill>
                  <a:schemeClr val="tx1"/>
                </a:solidFill>
                <a:prstDash val="solid"/>
                <a:round/>
                <a:headEnd type="none" w="med" len="med"/>
                <a:tailEnd type="none" w="med" len="med"/>
              </a:ln>
            </p:spPr>
          </p:sp>
          <p:sp>
            <p:nvSpPr>
              <p:cNvPr id="52247" name="Line 75"/>
              <p:cNvSpPr/>
              <p:nvPr/>
            </p:nvSpPr>
            <p:spPr>
              <a:xfrm>
                <a:off x="607" y="1080"/>
                <a:ext cx="136" cy="227"/>
              </a:xfrm>
              <a:prstGeom prst="line">
                <a:avLst/>
              </a:prstGeom>
              <a:ln w="28575" cap="flat" cmpd="sng">
                <a:solidFill>
                  <a:schemeClr val="tx1"/>
                </a:solidFill>
                <a:prstDash val="solid"/>
                <a:round/>
                <a:headEnd type="none" w="med" len="med"/>
                <a:tailEnd type="none" w="med" len="med"/>
              </a:ln>
            </p:spPr>
          </p:sp>
          <p:sp>
            <p:nvSpPr>
              <p:cNvPr id="52248" name="Oval 76"/>
              <p:cNvSpPr/>
              <p:nvPr/>
            </p:nvSpPr>
            <p:spPr>
              <a:xfrm>
                <a:off x="1011" y="1305"/>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000" dirty="0">
                    <a:latin typeface="Times New Roman" panose="02020603050405020304" pitchFamily="18" charset="0"/>
                    <a:ea typeface="宋体" panose="02010600030101010101" pitchFamily="2" charset="-122"/>
                  </a:rPr>
                  <a:t>j</a:t>
                </a:r>
                <a:endParaRPr lang="en-US" altLang="zh-CN" sz="2000" dirty="0">
                  <a:latin typeface="Times New Roman" panose="02020603050405020304" pitchFamily="18" charset="0"/>
                  <a:ea typeface="宋体" panose="02010600030101010101" pitchFamily="2" charset="-122"/>
                </a:endParaRPr>
              </a:p>
            </p:txBody>
          </p:sp>
          <p:sp>
            <p:nvSpPr>
              <p:cNvPr id="52249" name="Oval 77"/>
              <p:cNvSpPr/>
              <p:nvPr/>
            </p:nvSpPr>
            <p:spPr>
              <a:xfrm>
                <a:off x="1397" y="1334"/>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sp>
            <p:nvSpPr>
              <p:cNvPr id="52250" name="Line 78"/>
              <p:cNvSpPr/>
              <p:nvPr/>
            </p:nvSpPr>
            <p:spPr>
              <a:xfrm flipH="1">
                <a:off x="1117" y="1110"/>
                <a:ext cx="136" cy="227"/>
              </a:xfrm>
              <a:prstGeom prst="line">
                <a:avLst/>
              </a:prstGeom>
              <a:ln w="28575" cap="flat" cmpd="sng">
                <a:solidFill>
                  <a:schemeClr val="tx1"/>
                </a:solidFill>
                <a:prstDash val="solid"/>
                <a:round/>
                <a:headEnd type="none" w="med" len="med"/>
                <a:tailEnd type="none" w="med" len="med"/>
              </a:ln>
            </p:spPr>
          </p:sp>
          <p:sp>
            <p:nvSpPr>
              <p:cNvPr id="52251" name="Line 79"/>
              <p:cNvSpPr/>
              <p:nvPr/>
            </p:nvSpPr>
            <p:spPr>
              <a:xfrm>
                <a:off x="1381" y="1102"/>
                <a:ext cx="136" cy="227"/>
              </a:xfrm>
              <a:prstGeom prst="line">
                <a:avLst/>
              </a:prstGeom>
              <a:ln w="28575" cap="flat" cmpd="sng">
                <a:solidFill>
                  <a:schemeClr val="tx1"/>
                </a:solidFill>
                <a:prstDash val="solid"/>
                <a:round/>
                <a:headEnd type="none" w="med" len="med"/>
                <a:tailEnd type="none" w="med" len="med"/>
              </a:ln>
            </p:spPr>
          </p:sp>
        </p:gr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二叉树构建有以下方法：</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第</a:t>
            </a:r>
            <a:r>
              <a:rPr lang="en-US" altLang="zh-CN"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种方法：特定的先序遍历字符串来生成二叉树</a:t>
            </a:r>
            <a:endParaRPr lang="zh-CN" altLang="en-US"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solidFill>
                  <a:schemeClr val="tx1"/>
                </a:solidFill>
                <a:latin typeface="黑体" panose="02010609060101010101" pitchFamily="2" charset="-122"/>
                <a:ea typeface="黑体" panose="02010609060101010101" pitchFamily="2" charset="-122"/>
                <a:cs typeface="+mn-ea"/>
                <a:sym typeface="+mn-ea"/>
              </a:rPr>
              <a:t>第</a:t>
            </a:r>
            <a:r>
              <a:rPr lang="en-US" altLang="zh-CN" sz="2400" dirty="0">
                <a:solidFill>
                  <a:schemeClr val="tx1"/>
                </a:solidFill>
                <a:latin typeface="黑体" panose="02010609060101010101" pitchFamily="2" charset="-122"/>
                <a:ea typeface="黑体" panose="02010609060101010101" pitchFamily="2" charset="-122"/>
                <a:cs typeface="+mn-ea"/>
                <a:sym typeface="+mn-ea"/>
              </a:rPr>
              <a:t>2</a:t>
            </a:r>
            <a:r>
              <a:rPr lang="zh-CN" altLang="en-US" sz="2400" dirty="0">
                <a:solidFill>
                  <a:schemeClr val="tx1"/>
                </a:solidFill>
                <a:latin typeface="黑体" panose="02010609060101010101" pitchFamily="2" charset="-122"/>
                <a:ea typeface="黑体" panose="02010609060101010101" pitchFamily="2" charset="-122"/>
                <a:cs typeface="+mn-ea"/>
                <a:sym typeface="+mn-ea"/>
              </a:rPr>
              <a:t>种</a:t>
            </a:r>
            <a:r>
              <a:rPr lang="zh-CN" altLang="en-US"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方法：</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已知二叉树的顺序存储，利用二叉树性质</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5</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生成二叉树</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第</a:t>
            </a:r>
            <a:r>
              <a:rPr lang="en-US" altLang="zh-CN" dirty="0">
                <a:latin typeface="黑体" panose="02010609060101010101" pitchFamily="2" charset="-122"/>
                <a:ea typeface="黑体" panose="02010609060101010101" pitchFamily="2" charset="-122"/>
                <a:cs typeface="+mn-ea"/>
                <a:sym typeface="+mn-ea"/>
              </a:rPr>
              <a:t>3</a:t>
            </a:r>
            <a:r>
              <a:rPr lang="zh-CN" altLang="en-US" dirty="0">
                <a:latin typeface="黑体" panose="02010609060101010101" pitchFamily="2" charset="-122"/>
                <a:ea typeface="黑体" panose="02010609060101010101" pitchFamily="2" charset="-122"/>
                <a:cs typeface="+mn-ea"/>
                <a:sym typeface="+mn-ea"/>
              </a:rPr>
              <a:t>种</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方法：已知二叉树的先序</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中序或者中序</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后序，生成二叉树</a:t>
            </a: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二叉树构建</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第</a:t>
            </a:r>
            <a:r>
              <a:rPr lang="en-US" altLang="zh-CN"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1</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种方法</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：特定的先序遍历字符串来生成二叉树</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用特定字符表示空树，例如</a:t>
            </a:r>
            <a:r>
              <a:rPr lang="en-US" altLang="zh-CN" dirty="0">
                <a:latin typeface="黑体" panose="02010609060101010101" pitchFamily="2" charset="-122"/>
                <a:ea typeface="黑体" panose="02010609060101010101" pitchFamily="2" charset="-122"/>
                <a:cs typeface="+mn-ea"/>
                <a:sym typeface="+mn-ea"/>
              </a:rPr>
              <a:t>0</a:t>
            </a:r>
            <a:r>
              <a:rPr lang="zh-CN" altLang="en-US" dirty="0">
                <a:latin typeface="黑体" panose="02010609060101010101" pitchFamily="2" charset="-122"/>
                <a:ea typeface="黑体" panose="02010609060101010101" pitchFamily="2" charset="-122"/>
                <a:cs typeface="+mn-ea"/>
                <a:sym typeface="+mn-ea"/>
              </a:rPr>
              <a:t>。</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二叉树的先序遍历包含空孩子指针遍历，生成特定的</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先序遍历字符串</a:t>
            </a:r>
            <a:endParaRPr lang="zh-CN" altLang="en-US" dirty="0">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endParaRPr lang="zh-CN" altLang="en-US" dirty="0">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r>
              <a:rPr lang="zh-CN" altLang="en-US" sz="2800" dirty="0">
                <a:latin typeface="黑体" panose="02010609060101010101" pitchFamily="2" charset="-122"/>
                <a:ea typeface="黑体" panose="02010609060101010101" pitchFamily="2" charset="-122"/>
                <a:cs typeface="+mn-ea"/>
                <a:sym typeface="+mn-ea"/>
              </a:rPr>
              <a:t>例如ABC00DE0G00F000</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 name="组合 5"/>
          <p:cNvGrpSpPr/>
          <p:nvPr/>
        </p:nvGrpSpPr>
        <p:grpSpPr>
          <a:xfrm>
            <a:off x="5447665" y="2780665"/>
            <a:ext cx="1600200" cy="2918460"/>
            <a:chOff x="9488" y="3243"/>
            <a:chExt cx="2520" cy="4596"/>
          </a:xfrm>
        </p:grpSpPr>
        <p:grpSp>
          <p:nvGrpSpPr>
            <p:cNvPr id="7" name="Group 24"/>
            <p:cNvGrpSpPr/>
            <p:nvPr/>
          </p:nvGrpSpPr>
          <p:grpSpPr>
            <a:xfrm>
              <a:off x="9488" y="3243"/>
              <a:ext cx="2520" cy="3488"/>
              <a:chOff x="1701" y="2004"/>
              <a:chExt cx="1008" cy="1395"/>
            </a:xfrm>
          </p:grpSpPr>
          <p:sp>
            <p:nvSpPr>
              <p:cNvPr id="8" name="Line 19"/>
              <p:cNvSpPr/>
              <p:nvPr/>
            </p:nvSpPr>
            <p:spPr>
              <a:xfrm flipH="1">
                <a:off x="2085" y="2916"/>
                <a:ext cx="192" cy="351"/>
              </a:xfrm>
              <a:prstGeom prst="line">
                <a:avLst/>
              </a:prstGeom>
              <a:ln w="38100" cap="flat" cmpd="sng">
                <a:solidFill>
                  <a:srgbClr val="009900"/>
                </a:solidFill>
                <a:prstDash val="solid"/>
                <a:round/>
                <a:headEnd type="none" w="med" len="med"/>
                <a:tailEnd type="none" w="med" len="med"/>
              </a:ln>
            </p:spPr>
          </p:sp>
          <p:sp>
            <p:nvSpPr>
              <p:cNvPr id="9" name="Line 20"/>
              <p:cNvSpPr/>
              <p:nvPr/>
            </p:nvSpPr>
            <p:spPr>
              <a:xfrm>
                <a:off x="2133" y="2566"/>
                <a:ext cx="384" cy="631"/>
              </a:xfrm>
              <a:prstGeom prst="line">
                <a:avLst/>
              </a:prstGeom>
              <a:ln w="38100" cap="flat" cmpd="sng">
                <a:solidFill>
                  <a:srgbClr val="009900"/>
                </a:solidFill>
                <a:prstDash val="solid"/>
                <a:round/>
                <a:headEnd type="none" w="med" len="med"/>
                <a:tailEnd type="none" w="med" len="med"/>
              </a:ln>
            </p:spPr>
          </p:sp>
          <p:sp>
            <p:nvSpPr>
              <p:cNvPr id="10" name="Line 21"/>
              <p:cNvSpPr/>
              <p:nvPr/>
            </p:nvSpPr>
            <p:spPr>
              <a:xfrm flipH="1">
                <a:off x="1893" y="2215"/>
                <a:ext cx="336" cy="596"/>
              </a:xfrm>
              <a:prstGeom prst="line">
                <a:avLst/>
              </a:prstGeom>
              <a:ln w="38100" cap="flat" cmpd="sng">
                <a:solidFill>
                  <a:srgbClr val="009900"/>
                </a:solidFill>
                <a:prstDash val="solid"/>
                <a:round/>
                <a:headEnd type="none" w="med" len="med"/>
                <a:tailEnd type="none" w="med" len="med"/>
              </a:ln>
            </p:spPr>
          </p:sp>
          <p:sp>
            <p:nvSpPr>
              <p:cNvPr id="11" name="Oval 22" descr="羊皮纸"/>
              <p:cNvSpPr/>
              <p:nvPr/>
            </p:nvSpPr>
            <p:spPr>
              <a:xfrm>
                <a:off x="2133" y="2039"/>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 name="Oval 23" descr="羊皮纸"/>
              <p:cNvSpPr/>
              <p:nvPr/>
            </p:nvSpPr>
            <p:spPr>
              <a:xfrm>
                <a:off x="1941" y="2390"/>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 name="Oval 24" descr="羊皮纸"/>
              <p:cNvSpPr/>
              <p:nvPr/>
            </p:nvSpPr>
            <p:spPr>
              <a:xfrm>
                <a:off x="1701" y="2776"/>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 name="Oval 25" descr="羊皮纸"/>
              <p:cNvSpPr/>
              <p:nvPr/>
            </p:nvSpPr>
            <p:spPr>
              <a:xfrm>
                <a:off x="2181" y="2776"/>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5" name="Oval 26" descr="羊皮纸"/>
              <p:cNvSpPr/>
              <p:nvPr/>
            </p:nvSpPr>
            <p:spPr>
              <a:xfrm>
                <a:off x="2421" y="3162"/>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6" name="Oval 27" descr="羊皮纸"/>
              <p:cNvSpPr/>
              <p:nvPr/>
            </p:nvSpPr>
            <p:spPr>
              <a:xfrm>
                <a:off x="1941" y="3162"/>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7" name="Text Box 28"/>
              <p:cNvSpPr txBox="1"/>
              <p:nvPr/>
            </p:nvSpPr>
            <p:spPr>
              <a:xfrm>
                <a:off x="2167" y="2004"/>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A</a:t>
                </a:r>
                <a:endParaRPr lang="en-US" altLang="zh-CN" sz="2000" dirty="0">
                  <a:latin typeface="Times New Roman" panose="02020603050405020304" pitchFamily="18" charset="0"/>
                  <a:ea typeface="宋体" panose="02010600030101010101" pitchFamily="2" charset="-122"/>
                </a:endParaRPr>
              </a:p>
            </p:txBody>
          </p:sp>
          <p:sp>
            <p:nvSpPr>
              <p:cNvPr id="18" name="Text Box 29"/>
              <p:cNvSpPr txBox="1"/>
              <p:nvPr/>
            </p:nvSpPr>
            <p:spPr>
              <a:xfrm>
                <a:off x="1968" y="2362"/>
                <a:ext cx="22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sp>
            <p:nvSpPr>
              <p:cNvPr id="19" name="Text Box 30"/>
              <p:cNvSpPr txBox="1"/>
              <p:nvPr/>
            </p:nvSpPr>
            <p:spPr>
              <a:xfrm>
                <a:off x="1736" y="2762"/>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20" name="Text Box 31"/>
              <p:cNvSpPr txBox="1"/>
              <p:nvPr/>
            </p:nvSpPr>
            <p:spPr>
              <a:xfrm>
                <a:off x="2203" y="2762"/>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D</a:t>
                </a:r>
                <a:endParaRPr lang="en-US" altLang="zh-CN" sz="2000" dirty="0">
                  <a:latin typeface="Times New Roman" panose="02020603050405020304" pitchFamily="18" charset="0"/>
                  <a:ea typeface="宋体" panose="02010600030101010101" pitchFamily="2" charset="-122"/>
                </a:endParaRPr>
              </a:p>
            </p:txBody>
          </p:sp>
          <p:sp>
            <p:nvSpPr>
              <p:cNvPr id="21" name="Text Box 32"/>
              <p:cNvSpPr txBox="1"/>
              <p:nvPr/>
            </p:nvSpPr>
            <p:spPr>
              <a:xfrm>
                <a:off x="2467" y="3148"/>
                <a:ext cx="213"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F</a:t>
                </a:r>
                <a:endParaRPr lang="en-US" altLang="zh-CN" sz="2000" dirty="0">
                  <a:latin typeface="Times New Roman" panose="02020603050405020304" pitchFamily="18" charset="0"/>
                  <a:ea typeface="宋体" panose="02010600030101010101" pitchFamily="2" charset="-122"/>
                </a:endParaRPr>
              </a:p>
            </p:txBody>
          </p:sp>
          <p:sp>
            <p:nvSpPr>
              <p:cNvPr id="22" name="Text Box 33"/>
              <p:cNvSpPr txBox="1"/>
              <p:nvPr/>
            </p:nvSpPr>
            <p:spPr>
              <a:xfrm>
                <a:off x="1983" y="3148"/>
                <a:ext cx="22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E</a:t>
                </a:r>
                <a:endParaRPr lang="en-US" altLang="zh-CN" sz="2000" dirty="0">
                  <a:latin typeface="Times New Roman" panose="02020603050405020304" pitchFamily="18" charset="0"/>
                  <a:ea typeface="宋体" panose="02010600030101010101" pitchFamily="2" charset="-122"/>
                </a:endParaRPr>
              </a:p>
            </p:txBody>
          </p:sp>
        </p:grpSp>
        <p:sp>
          <p:nvSpPr>
            <p:cNvPr id="48148" name="Line 20"/>
            <p:cNvSpPr/>
            <p:nvPr/>
          </p:nvSpPr>
          <p:spPr>
            <a:xfrm>
              <a:off x="10680" y="6610"/>
              <a:ext cx="383" cy="703"/>
            </a:xfrm>
            <a:prstGeom prst="line">
              <a:avLst/>
            </a:prstGeom>
            <a:ln w="38100" cap="flat" cmpd="sng">
              <a:solidFill>
                <a:srgbClr val="009900"/>
              </a:solidFill>
              <a:prstDash val="solid"/>
              <a:round/>
              <a:headEnd type="none" w="med" len="med"/>
              <a:tailEnd type="none" w="med" len="med"/>
            </a:ln>
          </p:spPr>
        </p:sp>
        <p:sp>
          <p:nvSpPr>
            <p:cNvPr id="48149" name="Oval 26" descr="羊皮纸"/>
            <p:cNvSpPr/>
            <p:nvPr/>
          </p:nvSpPr>
          <p:spPr>
            <a:xfrm>
              <a:off x="10725" y="7313"/>
              <a:ext cx="720" cy="527"/>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pPr algn="ctr"/>
              <a:r>
                <a:rPr lang="en-US" altLang="zh-CN" sz="2000" dirty="0">
                  <a:latin typeface="Times New Roman" panose="02020603050405020304" pitchFamily="18" charset="0"/>
                  <a:ea typeface="宋体" panose="02010600030101010101" pitchFamily="2" charset="-122"/>
                </a:rPr>
                <a:t>G</a:t>
              </a:r>
              <a:endParaRPr lang="zh-CN" altLang="en-US" sz="2000" dirty="0">
                <a:latin typeface="Times New Roman" panose="02020603050405020304" pitchFamily="18" charset="0"/>
                <a:ea typeface="Times New Roman" panose="02020603050405020304" pitchFamily="18" charset="0"/>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特定的先序遍历字符串来生成二叉树，</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C</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语言版</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b="1" dirty="0">
                <a:cs typeface="+mn-cs"/>
                <a:sym typeface="+mn-ea"/>
              </a:rPr>
              <a:t>BiTree CreateBiTree(BiTree &amp;T) {  </a:t>
            </a:r>
            <a:endParaRPr kumimoji="0" lang="en-US" altLang="zh-CN" sz="2400" b="1" i="0" u="none" strike="noStrike" kern="0" cap="none" spc="0" normalizeH="0" baseline="0" noProof="1" dirty="0">
              <a:solidFill>
                <a:schemeClr val="tx1"/>
              </a:solidFill>
              <a:latin typeface="+mn-lt"/>
              <a:ea typeface="+mn-ea"/>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b="1" dirty="0">
                <a:cs typeface="+mn-cs"/>
                <a:sym typeface="+mn-ea"/>
              </a:rPr>
              <a:t>  char ch;</a:t>
            </a:r>
            <a:endParaRPr kumimoji="0" lang="en-US" altLang="zh-CN" sz="2400" b="1" i="0" u="none" strike="noStrike" kern="0" cap="none" spc="0" normalizeH="0" baseline="0" noProof="1" dirty="0">
              <a:solidFill>
                <a:schemeClr val="tx1"/>
              </a:solidFill>
              <a:latin typeface="+mn-lt"/>
              <a:ea typeface="+mn-ea"/>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b="1" dirty="0">
                <a:cs typeface="+mn-cs"/>
                <a:sym typeface="+mn-ea"/>
              </a:rPr>
              <a:t>  scanf("%c",&amp;ch);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//键盘逐个输入先序遍历字符</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，以空格</a:t>
            </a:r>
            <a:r>
              <a:rPr lang="en-US" altLang="zh-CN" sz="2400" b="1" dirty="0">
                <a:sym typeface="+mn-ea"/>
              </a:rPr>
              <a:t>'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为空树</a:t>
            </a:r>
            <a:endParaRPr kumimoji="0" lang="en-US" altLang="zh-CN" sz="2400" b="1" i="0" u="none" strike="noStrike" kern="0" cap="none" spc="0" normalizeH="0" baseline="0" noProof="1" dirty="0">
              <a:solidFill>
                <a:schemeClr val="tx1"/>
              </a:solidFill>
              <a:latin typeface="+mn-lt"/>
              <a:ea typeface="+mn-ea"/>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b="1" dirty="0">
                <a:cs typeface="+mn-cs"/>
                <a:sym typeface="+mn-ea"/>
              </a:rPr>
              <a:t>  if (ch==' ') T = NULL;</a:t>
            </a:r>
            <a:endParaRPr kumimoji="0" lang="en-US" altLang="zh-CN" sz="2400" b="1" i="0" u="none" strike="noStrike" kern="0" cap="none" spc="0" normalizeH="0" baseline="0" noProof="1" dirty="0">
              <a:solidFill>
                <a:schemeClr val="tx1"/>
              </a:solidFill>
              <a:latin typeface="+mn-lt"/>
              <a:ea typeface="+mn-ea"/>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b="1" dirty="0">
                <a:cs typeface="+mn-cs"/>
                <a:sym typeface="+mn-ea"/>
              </a:rPr>
              <a:t>  else {</a:t>
            </a:r>
            <a:endParaRPr kumimoji="0" lang="en-US" altLang="zh-CN" sz="2400" b="1" i="0" u="none" strike="noStrike" kern="0" cap="none" spc="0" normalizeH="0" baseline="0" noProof="1" dirty="0">
              <a:solidFill>
                <a:schemeClr val="tx1"/>
              </a:solidFill>
              <a:latin typeface="+mn-lt"/>
              <a:ea typeface="+mn-ea"/>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b="1" dirty="0">
                <a:cs typeface="+mn-cs"/>
                <a:sym typeface="+mn-ea"/>
              </a:rPr>
              <a:t>    if (!(T = (BiTNode *)malloc(sizeof(BiTNode)))) return ERROR;</a:t>
            </a:r>
            <a:endParaRPr kumimoji="0" lang="en-US" altLang="zh-CN" sz="2400" b="1" i="0" u="none" strike="noStrike" kern="0" cap="none" spc="0" normalizeH="0" baseline="0" noProof="1" dirty="0">
              <a:solidFill>
                <a:schemeClr val="tx1"/>
              </a:solidFill>
              <a:latin typeface="+mn-lt"/>
              <a:ea typeface="+mn-ea"/>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b="1" dirty="0">
                <a:cs typeface="+mn-cs"/>
                <a:sym typeface="+mn-ea"/>
              </a:rPr>
              <a:t>    T-&gt;data = ch;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生成根结点</a:t>
            </a:r>
            <a:endParaRPr kumimoji="0" lang="zh-CN" altLang="en-US" sz="2400" b="1" i="0" u="none" strike="noStrike" kern="0" cap="none" spc="0" normalizeH="0" baseline="0" noProof="1" dirty="0">
              <a:solidFill>
                <a:schemeClr val="tx1"/>
              </a:solidFill>
              <a:latin typeface="+mn-lt"/>
              <a:ea typeface="+mn-ea"/>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b="1" dirty="0">
                <a:cs typeface="+mn-cs"/>
                <a:sym typeface="+mn-ea"/>
              </a:rPr>
              <a:t>    </a:t>
            </a:r>
            <a:r>
              <a:rPr lang="en-US" altLang="zh-CN" sz="2400" b="1" dirty="0">
                <a:cs typeface="+mn-cs"/>
                <a:sym typeface="+mn-ea"/>
              </a:rPr>
              <a:t>CreateBiTree(T-&gt;lchild);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构造左子树</a:t>
            </a:r>
            <a:endParaRPr kumimoji="0" lang="zh-CN" altLang="en-US" sz="2400" b="1" i="0" u="none" strike="noStrike" kern="0" cap="none" spc="0" normalizeH="0" baseline="0" noProof="1" dirty="0">
              <a:solidFill>
                <a:schemeClr val="tx1"/>
              </a:solidFill>
              <a:latin typeface="+mn-lt"/>
              <a:ea typeface="+mn-ea"/>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b="1" dirty="0">
                <a:cs typeface="+mn-cs"/>
                <a:sym typeface="+mn-ea"/>
              </a:rPr>
              <a:t>    </a:t>
            </a:r>
            <a:r>
              <a:rPr lang="en-US" altLang="zh-CN" sz="2400" b="1" dirty="0">
                <a:cs typeface="+mn-cs"/>
                <a:sym typeface="+mn-ea"/>
              </a:rPr>
              <a:t>CreateBiTree(T-&gt;rchild);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构造右子树</a:t>
            </a:r>
            <a:endParaRPr kumimoji="0" lang="zh-CN" altLang="en-US" sz="2400" b="1" i="0" u="none" strike="noStrike" kern="0" cap="none" spc="0" normalizeH="0" baseline="0" noProof="1" dirty="0">
              <a:solidFill>
                <a:schemeClr val="tx1"/>
              </a:solidFill>
              <a:latin typeface="+mn-lt"/>
              <a:ea typeface="+mn-ea"/>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b="1" dirty="0">
                <a:cs typeface="+mn-cs"/>
                <a:sym typeface="+mn-ea"/>
              </a:rPr>
              <a:t>  </a:t>
            </a:r>
            <a:r>
              <a:rPr lang="en-US" altLang="zh-CN" sz="2400" b="1" dirty="0">
                <a:cs typeface="+mn-cs"/>
                <a:sym typeface="+mn-ea"/>
              </a:rPr>
              <a:t>}</a:t>
            </a:r>
            <a:endParaRPr kumimoji="0" lang="en-US" altLang="zh-CN" sz="2400" b="1" i="0" u="none" strike="noStrike" kern="0" cap="none" spc="0" normalizeH="0" baseline="0" noProof="1" dirty="0">
              <a:solidFill>
                <a:schemeClr val="tx1"/>
              </a:solidFill>
              <a:latin typeface="+mn-lt"/>
              <a:ea typeface="+mn-ea"/>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b="1" dirty="0">
                <a:cs typeface="+mn-cs"/>
                <a:sym typeface="+mn-ea"/>
              </a:rPr>
              <a:t>  return T;</a:t>
            </a:r>
            <a:endParaRPr kumimoji="0" lang="en-US" altLang="zh-CN" sz="2400" b="1" i="0" u="none" strike="noStrike" kern="0" cap="none" spc="0" normalizeH="0" baseline="0" noProof="1" dirty="0">
              <a:solidFill>
                <a:schemeClr val="tx1"/>
              </a:solidFill>
              <a:latin typeface="+mn-lt"/>
              <a:ea typeface="+mn-ea"/>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b="1" dirty="0">
                <a:cs typeface="+mn-cs"/>
                <a:sym typeface="+mn-ea"/>
              </a:rPr>
              <a:t>} // CreateBiTre</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 name="组合 5"/>
          <p:cNvGrpSpPr/>
          <p:nvPr/>
        </p:nvGrpSpPr>
        <p:grpSpPr>
          <a:xfrm>
            <a:off x="10036810" y="3068955"/>
            <a:ext cx="1600200" cy="2918460"/>
            <a:chOff x="9488" y="3243"/>
            <a:chExt cx="2520" cy="4596"/>
          </a:xfrm>
        </p:grpSpPr>
        <p:grpSp>
          <p:nvGrpSpPr>
            <p:cNvPr id="7" name="Group 24"/>
            <p:cNvGrpSpPr/>
            <p:nvPr/>
          </p:nvGrpSpPr>
          <p:grpSpPr>
            <a:xfrm>
              <a:off x="9488" y="3243"/>
              <a:ext cx="2520" cy="3488"/>
              <a:chOff x="1701" y="2004"/>
              <a:chExt cx="1008" cy="1395"/>
            </a:xfrm>
          </p:grpSpPr>
          <p:sp>
            <p:nvSpPr>
              <p:cNvPr id="8" name="Line 19"/>
              <p:cNvSpPr/>
              <p:nvPr/>
            </p:nvSpPr>
            <p:spPr>
              <a:xfrm flipH="1">
                <a:off x="2085" y="2916"/>
                <a:ext cx="192" cy="351"/>
              </a:xfrm>
              <a:prstGeom prst="line">
                <a:avLst/>
              </a:prstGeom>
              <a:ln w="38100" cap="flat" cmpd="sng">
                <a:solidFill>
                  <a:srgbClr val="009900"/>
                </a:solidFill>
                <a:prstDash val="solid"/>
                <a:round/>
                <a:headEnd type="none" w="med" len="med"/>
                <a:tailEnd type="none" w="med" len="med"/>
              </a:ln>
            </p:spPr>
          </p:sp>
          <p:sp>
            <p:nvSpPr>
              <p:cNvPr id="9" name="Line 20"/>
              <p:cNvSpPr/>
              <p:nvPr/>
            </p:nvSpPr>
            <p:spPr>
              <a:xfrm>
                <a:off x="2133" y="2566"/>
                <a:ext cx="384" cy="631"/>
              </a:xfrm>
              <a:prstGeom prst="line">
                <a:avLst/>
              </a:prstGeom>
              <a:ln w="38100" cap="flat" cmpd="sng">
                <a:solidFill>
                  <a:srgbClr val="009900"/>
                </a:solidFill>
                <a:prstDash val="solid"/>
                <a:round/>
                <a:headEnd type="none" w="med" len="med"/>
                <a:tailEnd type="none" w="med" len="med"/>
              </a:ln>
            </p:spPr>
          </p:sp>
          <p:sp>
            <p:nvSpPr>
              <p:cNvPr id="10" name="Line 21"/>
              <p:cNvSpPr/>
              <p:nvPr/>
            </p:nvSpPr>
            <p:spPr>
              <a:xfrm flipH="1">
                <a:off x="1893" y="2215"/>
                <a:ext cx="336" cy="596"/>
              </a:xfrm>
              <a:prstGeom prst="line">
                <a:avLst/>
              </a:prstGeom>
              <a:ln w="38100" cap="flat" cmpd="sng">
                <a:solidFill>
                  <a:srgbClr val="009900"/>
                </a:solidFill>
                <a:prstDash val="solid"/>
                <a:round/>
                <a:headEnd type="none" w="med" len="med"/>
                <a:tailEnd type="none" w="med" len="med"/>
              </a:ln>
            </p:spPr>
          </p:sp>
          <p:sp>
            <p:nvSpPr>
              <p:cNvPr id="11" name="Oval 22" descr="羊皮纸"/>
              <p:cNvSpPr/>
              <p:nvPr/>
            </p:nvSpPr>
            <p:spPr>
              <a:xfrm>
                <a:off x="2133" y="2039"/>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2" name="Oval 23" descr="羊皮纸"/>
              <p:cNvSpPr/>
              <p:nvPr/>
            </p:nvSpPr>
            <p:spPr>
              <a:xfrm>
                <a:off x="1941" y="2390"/>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3" name="Oval 24" descr="羊皮纸"/>
              <p:cNvSpPr/>
              <p:nvPr/>
            </p:nvSpPr>
            <p:spPr>
              <a:xfrm>
                <a:off x="1701" y="2776"/>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 name="Oval 25" descr="羊皮纸"/>
              <p:cNvSpPr/>
              <p:nvPr/>
            </p:nvSpPr>
            <p:spPr>
              <a:xfrm>
                <a:off x="2181" y="2776"/>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5" name="Oval 26" descr="羊皮纸"/>
              <p:cNvSpPr/>
              <p:nvPr/>
            </p:nvSpPr>
            <p:spPr>
              <a:xfrm>
                <a:off x="2421" y="3162"/>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6" name="Oval 27" descr="羊皮纸"/>
              <p:cNvSpPr/>
              <p:nvPr/>
            </p:nvSpPr>
            <p:spPr>
              <a:xfrm>
                <a:off x="1941" y="3162"/>
                <a:ext cx="288" cy="211"/>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7" name="Text Box 28"/>
              <p:cNvSpPr txBox="1"/>
              <p:nvPr/>
            </p:nvSpPr>
            <p:spPr>
              <a:xfrm>
                <a:off x="2167" y="2004"/>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A</a:t>
                </a:r>
                <a:endParaRPr lang="en-US" altLang="zh-CN" sz="2000" dirty="0">
                  <a:latin typeface="Times New Roman" panose="02020603050405020304" pitchFamily="18" charset="0"/>
                  <a:ea typeface="宋体" panose="02010600030101010101" pitchFamily="2" charset="-122"/>
                </a:endParaRPr>
              </a:p>
            </p:txBody>
          </p:sp>
          <p:sp>
            <p:nvSpPr>
              <p:cNvPr id="18" name="Text Box 29"/>
              <p:cNvSpPr txBox="1"/>
              <p:nvPr/>
            </p:nvSpPr>
            <p:spPr>
              <a:xfrm>
                <a:off x="1968" y="2362"/>
                <a:ext cx="22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sp>
            <p:nvSpPr>
              <p:cNvPr id="19" name="Text Box 30"/>
              <p:cNvSpPr txBox="1"/>
              <p:nvPr/>
            </p:nvSpPr>
            <p:spPr>
              <a:xfrm>
                <a:off x="1736" y="2762"/>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20" name="Text Box 31"/>
              <p:cNvSpPr txBox="1"/>
              <p:nvPr/>
            </p:nvSpPr>
            <p:spPr>
              <a:xfrm>
                <a:off x="2203" y="2762"/>
                <a:ext cx="231"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D</a:t>
                </a:r>
                <a:endParaRPr lang="en-US" altLang="zh-CN" sz="2000" dirty="0">
                  <a:latin typeface="Times New Roman" panose="02020603050405020304" pitchFamily="18" charset="0"/>
                  <a:ea typeface="宋体" panose="02010600030101010101" pitchFamily="2" charset="-122"/>
                </a:endParaRPr>
              </a:p>
            </p:txBody>
          </p:sp>
          <p:sp>
            <p:nvSpPr>
              <p:cNvPr id="21" name="Text Box 32"/>
              <p:cNvSpPr txBox="1"/>
              <p:nvPr/>
            </p:nvSpPr>
            <p:spPr>
              <a:xfrm>
                <a:off x="2467" y="3148"/>
                <a:ext cx="213"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F</a:t>
                </a:r>
                <a:endParaRPr lang="en-US" altLang="zh-CN" sz="2000" dirty="0">
                  <a:latin typeface="Times New Roman" panose="02020603050405020304" pitchFamily="18" charset="0"/>
                  <a:ea typeface="宋体" panose="02010600030101010101" pitchFamily="2" charset="-122"/>
                </a:endParaRPr>
              </a:p>
            </p:txBody>
          </p:sp>
          <p:sp>
            <p:nvSpPr>
              <p:cNvPr id="22" name="Text Box 33"/>
              <p:cNvSpPr txBox="1"/>
              <p:nvPr/>
            </p:nvSpPr>
            <p:spPr>
              <a:xfrm>
                <a:off x="1983" y="3148"/>
                <a:ext cx="222"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E</a:t>
                </a:r>
                <a:endParaRPr lang="en-US" altLang="zh-CN" sz="2000" dirty="0">
                  <a:latin typeface="Times New Roman" panose="02020603050405020304" pitchFamily="18" charset="0"/>
                  <a:ea typeface="宋体" panose="02010600030101010101" pitchFamily="2" charset="-122"/>
                </a:endParaRPr>
              </a:p>
            </p:txBody>
          </p:sp>
        </p:grpSp>
        <p:sp>
          <p:nvSpPr>
            <p:cNvPr id="48148" name="Line 20"/>
            <p:cNvSpPr/>
            <p:nvPr/>
          </p:nvSpPr>
          <p:spPr>
            <a:xfrm>
              <a:off x="10680" y="6610"/>
              <a:ext cx="383" cy="703"/>
            </a:xfrm>
            <a:prstGeom prst="line">
              <a:avLst/>
            </a:prstGeom>
            <a:ln w="38100" cap="flat" cmpd="sng">
              <a:solidFill>
                <a:srgbClr val="009900"/>
              </a:solidFill>
              <a:prstDash val="solid"/>
              <a:round/>
              <a:headEnd type="none" w="med" len="med"/>
              <a:tailEnd type="none" w="med" len="med"/>
            </a:ln>
          </p:spPr>
        </p:sp>
        <p:sp>
          <p:nvSpPr>
            <p:cNvPr id="48149" name="Oval 26" descr="羊皮纸"/>
            <p:cNvSpPr/>
            <p:nvPr/>
          </p:nvSpPr>
          <p:spPr>
            <a:xfrm>
              <a:off x="10725" y="7313"/>
              <a:ext cx="720" cy="527"/>
            </a:xfrm>
            <a:prstGeom prst="ellipse">
              <a:avLst/>
            </a:prstGeom>
            <a:blipFill rotWithShape="0">
              <a:blip r:embed="rId1"/>
            </a:blipFill>
            <a:ln w="38100" cap="flat" cmpd="sng">
              <a:solidFill>
                <a:schemeClr val="tx2"/>
              </a:solidFill>
              <a:prstDash val="solid"/>
              <a:round/>
              <a:headEnd type="none" w="med" len="med"/>
              <a:tailEnd type="none" w="med" len="med"/>
            </a:ln>
          </p:spPr>
          <p:txBody>
            <a:bodyPr wrap="none" anchor="ctr" anchorCtr="0"/>
            <a:p>
              <a:pPr algn="ctr"/>
              <a:r>
                <a:rPr lang="en-US" altLang="zh-CN" sz="2000" dirty="0">
                  <a:latin typeface="Times New Roman" panose="02020603050405020304" pitchFamily="18" charset="0"/>
                  <a:ea typeface="宋体" panose="02010600030101010101" pitchFamily="2" charset="-122"/>
                </a:rPr>
                <a:t>G</a:t>
              </a:r>
              <a:endParaRPr lang="zh-CN" altLang="en-US" sz="2000" dirty="0">
                <a:latin typeface="Times New Roman" panose="02020603050405020304" pitchFamily="18" charset="0"/>
                <a:ea typeface="Times New Roman" panose="02020603050405020304" pitchFamily="18" charset="0"/>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特定的先序遍历字符串来生成二叉树，</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C++</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版</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二叉树结点和二叉树结构的定义</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1995170" y="1885950"/>
            <a:ext cx="5403850" cy="463232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特定的先序遍历字符串来生成二叉树，</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C++</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版</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根据输入特定的先序遍历字符串，构建二叉树</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6" name="图片 5"/>
          <p:cNvPicPr>
            <a:picLocks noChangeAspect="1"/>
          </p:cNvPicPr>
          <p:nvPr/>
        </p:nvPicPr>
        <p:blipFill>
          <a:blip r:embed="rId1"/>
          <a:stretch>
            <a:fillRect/>
          </a:stretch>
        </p:blipFill>
        <p:spPr>
          <a:xfrm>
            <a:off x="1024890" y="1967230"/>
            <a:ext cx="4953000" cy="4833620"/>
          </a:xfrm>
          <a:prstGeom prst="rect">
            <a:avLst/>
          </a:prstGeom>
        </p:spPr>
      </p:pic>
      <p:pic>
        <p:nvPicPr>
          <p:cNvPr id="7" name="图片 6"/>
          <p:cNvPicPr>
            <a:picLocks noChangeAspect="1"/>
          </p:cNvPicPr>
          <p:nvPr/>
        </p:nvPicPr>
        <p:blipFill>
          <a:blip r:embed="rId2"/>
          <a:stretch>
            <a:fillRect/>
          </a:stretch>
        </p:blipFill>
        <p:spPr>
          <a:xfrm>
            <a:off x="7313930" y="1967230"/>
            <a:ext cx="3639185" cy="471614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R="0" lvl="0" algn="l" defTabSz="1219200" rtl="0" eaLnBrk="1" fontAlgn="base" latinLnBrk="0" hangingPunct="1">
              <a:lnSpc>
                <a:spcPct val="100000"/>
              </a:lnSpc>
              <a:spcBef>
                <a:spcPct val="20000"/>
              </a:spcBef>
              <a:buClrTx/>
              <a:buSzTx/>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树的概念和术语，拥有唯一根结点，双亲与孩子关系</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结点、度、叶结点、孩子、兄弟、祖先、双亲、层次、深度、森林</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r>
              <a:rPr kumimoji="0" lang="zh-CN" altLang="en-US" sz="20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rPr>
              <a:t>树可以是空树，结点数最小为</a:t>
            </a:r>
            <a:r>
              <a:rPr kumimoji="0" lang="en-US" altLang="zh-CN" sz="20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rPr>
              <a:t>0</a:t>
            </a:r>
            <a:endParaRPr kumimoji="0" lang="zh-CN" altLang="en-US" sz="20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0" algn="l" defTabSz="1219200" rtl="0" eaLnBrk="1" fontAlgn="base" latinLnBrk="0" hangingPunct="1">
              <a:lnSpc>
                <a:spcPct val="100000"/>
              </a:lnSpc>
              <a:spcBef>
                <a:spcPct val="20000"/>
              </a:spcBef>
              <a:buClrTx/>
              <a:buSzTx/>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二叉树的概念和五个性质</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914400" marR="0" lvl="2" indent="-457200"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二叉树是有序树</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marL="914400" marR="0" lvl="2" indent="-457200"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二叉树特定形态：满二叉树和完全二叉树</a:t>
            </a:r>
            <a:endParaRPr kumimoji="0" lang="zh-CN" altLang="en-US" sz="20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0" algn="l" defTabSz="1219200" rtl="0" eaLnBrk="1" fontAlgn="base" latinLnBrk="0" hangingPunct="1">
              <a:lnSpc>
                <a:spcPct val="100000"/>
              </a:lnSpc>
              <a:spcBef>
                <a:spcPct val="20000"/>
              </a:spcBef>
              <a:buClrTx/>
              <a:buSzTx/>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二叉树的两种存储结构</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marR="0" lvl="2" indent="-457200"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顺序存储，利用二叉树性质</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5</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和完全二叉树形态</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marL="914400" marR="0" lvl="2" indent="-457200"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链式存储（二叉、三叉）</a:t>
            </a:r>
            <a:endParaRPr kumimoji="0" lang="zh-CN" altLang="en-US" sz="20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0" algn="l" defTabSz="1219200" rtl="0" eaLnBrk="1" fontAlgn="base" latinLnBrk="0" hangingPunct="1">
              <a:lnSpc>
                <a:spcPct val="100000"/>
              </a:lnSpc>
              <a:spcBef>
                <a:spcPct val="20000"/>
              </a:spcBef>
              <a:buClrTx/>
              <a:buSzTx/>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二叉树的四种遍历：先序、中序、后序、层次</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marR="0" lvl="2" indent="-457200"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先序遍历的第一个结点必定是根结点</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marL="914400" marR="0" lvl="2" indent="-457200"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中序遍历的根结点左右两边对应左右子树</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marL="914400" marR="0" lvl="2" indent="-457200"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后序遍历的最后一个结点必定是根结点</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marL="914400" marR="0" lvl="2" indent="-457200"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marR="0" lvl="2" indent="-457200"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sym typeface="+mn-ea"/>
              </a:rPr>
              <a:t>上节课</a:t>
            </a:r>
            <a:r>
              <a:rPr lang="zh-CN" altLang="en-US" sz="4000">
                <a:solidFill>
                  <a:srgbClr val="FF0000"/>
                </a:solidFill>
                <a:latin typeface="楷体" panose="02010609060101010101" charset="-122"/>
                <a:ea typeface="楷体" panose="02010609060101010101" charset="-122"/>
              </a:rPr>
              <a:t>复习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R="0" algn="l" defTabSz="1219200" rtl="0" eaLnBrk="1" fontAlgn="base" latinLnBrk="0"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已知一棵度为</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4</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的树，度为</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4</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的结点有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3</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个，度为</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3</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的结点有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个，度为</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的结点有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个，求叶子数量</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如果一棵二叉树的先序遍历和中序遍历结果相同，那么这棵二叉树是什么形态？</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如果一棵二叉树的先序遍历和后序遍历结果相同，那么这棵二叉树是什么形态</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如果一棵二叉树的先序遍历和后序遍历结果正好相反，那么这棵二叉树是什么形态</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mn-ea"/>
                <a:sym typeface="+mn-ea"/>
              </a:rPr>
              <a:t>如何判断一棵二叉树是完全二叉树</a:t>
            </a:r>
            <a:endParaRPr lang="zh-CN" altLang="en-US" sz="2800" dirty="0">
              <a:latin typeface="黑体" panose="02010609060101010101" pitchFamily="2" charset="-122"/>
              <a:ea typeface="黑体" panose="02010609060101010101" pitchFamily="2" charset="-122"/>
              <a:cs typeface="+mn-ea"/>
              <a:sym typeface="+mn-ea"/>
            </a:endParaRPr>
          </a:p>
          <a:p>
            <a:pPr marR="0" algn="l" defTabSz="1219200" rtl="0" eaLnBrk="1" fontAlgn="base" latinLnBrk="0" hangingPunct="1">
              <a:lnSpc>
                <a:spcPct val="100000"/>
              </a:lnSpc>
              <a:spcBef>
                <a:spcPct val="20000"/>
              </a:spcBef>
              <a:buClrTx/>
              <a:buSzTx/>
              <a:buChar char="l"/>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algn="l" defTabSz="1219200" rtl="0" eaLnBrk="1" fontAlgn="base" latinLnBrk="0" hangingPunct="1">
              <a:lnSpc>
                <a:spcPct val="100000"/>
              </a:lnSpc>
              <a:spcBef>
                <a:spcPct val="20000"/>
              </a:spcBef>
              <a:buClrTx/>
              <a:buSzTx/>
              <a:buChar char="l"/>
            </a:pP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algn="l" defTabSz="1219200" rtl="0" eaLnBrk="1" fontAlgn="base" latinLnBrk="0" hangingPunct="1">
              <a:lnSpc>
                <a:spcPct val="100000"/>
              </a:lnSpc>
              <a:spcBef>
                <a:spcPct val="20000"/>
              </a:spcBef>
              <a:buClrTx/>
              <a:buSzTx/>
              <a:buChar char="l"/>
            </a:pP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复习练习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已知二叉树结构如图所示，求先</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序</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、中</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序</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、后序、层次遍历结果；</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0" algn="l" eaLnBrk="1" hangingPunct="1">
              <a:buClrTx/>
              <a:buSzTx/>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0" algn="l" eaLnBrk="1" hangingPunct="1">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已知二叉树的顺序存储结果是 ABCDEF000G00H</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请画出二叉树</a:t>
            </a:r>
            <a:endParaRPr lang="en-US"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求后序遍历结果</a:t>
            </a:r>
            <a:endParaRPr lang="en-US"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en-US" altLang="zh-CN" sz="28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buClrTx/>
              <a:buSzTx/>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R="0" algn="l" defTabSz="1219200" rtl="0" eaLnBrk="1" fontAlgn="base" latinLnBrk="0" hangingPunct="1">
              <a:lnSpc>
                <a:spcPct val="100000"/>
              </a:lnSpc>
              <a:spcBef>
                <a:spcPct val="20000"/>
              </a:spcBef>
              <a:buClrTx/>
              <a:buSzTx/>
              <a:buChar char="l"/>
            </a:pP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复习练习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55327" name="Group 76"/>
          <p:cNvGrpSpPr/>
          <p:nvPr/>
        </p:nvGrpSpPr>
        <p:grpSpPr>
          <a:xfrm>
            <a:off x="8326438" y="1507173"/>
            <a:ext cx="3592513" cy="2397125"/>
            <a:chOff x="3017" y="2130"/>
            <a:chExt cx="2263" cy="1510"/>
          </a:xfrm>
        </p:grpSpPr>
        <p:sp>
          <p:nvSpPr>
            <p:cNvPr id="55328" name="Line 77"/>
            <p:cNvSpPr/>
            <p:nvPr/>
          </p:nvSpPr>
          <p:spPr>
            <a:xfrm>
              <a:off x="4896" y="2727"/>
              <a:ext cx="192" cy="240"/>
            </a:xfrm>
            <a:prstGeom prst="line">
              <a:avLst/>
            </a:prstGeom>
            <a:ln w="38100" cap="flat" cmpd="sng">
              <a:solidFill>
                <a:srgbClr val="009900"/>
              </a:solidFill>
              <a:prstDash val="solid"/>
              <a:round/>
              <a:headEnd type="none" w="med" len="med"/>
              <a:tailEnd type="none" w="med" len="med"/>
            </a:ln>
          </p:spPr>
        </p:sp>
        <p:sp>
          <p:nvSpPr>
            <p:cNvPr id="55329" name="Line 78"/>
            <p:cNvSpPr/>
            <p:nvPr/>
          </p:nvSpPr>
          <p:spPr>
            <a:xfrm flipH="1">
              <a:off x="4608" y="2700"/>
              <a:ext cx="223" cy="267"/>
            </a:xfrm>
            <a:prstGeom prst="line">
              <a:avLst/>
            </a:prstGeom>
            <a:ln w="38100" cap="flat" cmpd="sng">
              <a:solidFill>
                <a:srgbClr val="009900"/>
              </a:solidFill>
              <a:prstDash val="solid"/>
              <a:round/>
              <a:headEnd type="none" w="med" len="med"/>
              <a:tailEnd type="none" w="med" len="med"/>
            </a:ln>
          </p:spPr>
        </p:sp>
        <p:sp>
          <p:nvSpPr>
            <p:cNvPr id="55330" name="Line 79"/>
            <p:cNvSpPr/>
            <p:nvPr/>
          </p:nvSpPr>
          <p:spPr>
            <a:xfrm flipH="1">
              <a:off x="3168" y="3063"/>
              <a:ext cx="192" cy="336"/>
            </a:xfrm>
            <a:prstGeom prst="line">
              <a:avLst/>
            </a:prstGeom>
            <a:ln w="38100" cap="flat" cmpd="sng">
              <a:solidFill>
                <a:srgbClr val="009900"/>
              </a:solidFill>
              <a:prstDash val="solid"/>
              <a:round/>
              <a:headEnd type="none" w="med" len="med"/>
              <a:tailEnd type="none" w="med" len="med"/>
            </a:ln>
          </p:spPr>
        </p:sp>
        <p:sp>
          <p:nvSpPr>
            <p:cNvPr id="55331" name="Line 80"/>
            <p:cNvSpPr/>
            <p:nvPr/>
          </p:nvSpPr>
          <p:spPr>
            <a:xfrm flipH="1">
              <a:off x="3408" y="2727"/>
              <a:ext cx="240" cy="288"/>
            </a:xfrm>
            <a:prstGeom prst="line">
              <a:avLst/>
            </a:prstGeom>
            <a:ln w="38100" cap="flat" cmpd="sng">
              <a:solidFill>
                <a:srgbClr val="009900"/>
              </a:solidFill>
              <a:prstDash val="solid"/>
              <a:round/>
              <a:headEnd type="none" w="med" len="med"/>
              <a:tailEnd type="none" w="med" len="med"/>
            </a:ln>
          </p:spPr>
        </p:sp>
        <p:sp>
          <p:nvSpPr>
            <p:cNvPr id="55332" name="Line 81"/>
            <p:cNvSpPr/>
            <p:nvPr/>
          </p:nvSpPr>
          <p:spPr>
            <a:xfrm>
              <a:off x="4368" y="2343"/>
              <a:ext cx="456" cy="274"/>
            </a:xfrm>
            <a:prstGeom prst="line">
              <a:avLst/>
            </a:prstGeom>
            <a:ln w="38100" cap="flat" cmpd="sng">
              <a:solidFill>
                <a:srgbClr val="009900"/>
              </a:solidFill>
              <a:prstDash val="solid"/>
              <a:round/>
              <a:headEnd type="none" w="med" len="med"/>
              <a:tailEnd type="none" w="med" len="med"/>
            </a:ln>
          </p:spPr>
        </p:sp>
        <p:sp>
          <p:nvSpPr>
            <p:cNvPr id="55333" name="Line 82"/>
            <p:cNvSpPr/>
            <p:nvPr/>
          </p:nvSpPr>
          <p:spPr>
            <a:xfrm flipH="1">
              <a:off x="3744" y="2343"/>
              <a:ext cx="480" cy="288"/>
            </a:xfrm>
            <a:prstGeom prst="line">
              <a:avLst/>
            </a:prstGeom>
            <a:ln w="38100" cap="flat" cmpd="sng">
              <a:solidFill>
                <a:srgbClr val="009900"/>
              </a:solidFill>
              <a:prstDash val="solid"/>
              <a:round/>
              <a:headEnd type="none" w="med" len="med"/>
              <a:tailEnd type="none" w="med" len="med"/>
            </a:ln>
          </p:spPr>
        </p:sp>
        <p:sp>
          <p:nvSpPr>
            <p:cNvPr id="55334" name="Line 83"/>
            <p:cNvSpPr/>
            <p:nvPr/>
          </p:nvSpPr>
          <p:spPr>
            <a:xfrm>
              <a:off x="3456" y="3111"/>
              <a:ext cx="87" cy="261"/>
            </a:xfrm>
            <a:prstGeom prst="line">
              <a:avLst/>
            </a:prstGeom>
            <a:ln w="38100" cap="flat" cmpd="sng">
              <a:solidFill>
                <a:srgbClr val="009900"/>
              </a:solidFill>
              <a:prstDash val="solid"/>
              <a:round/>
              <a:headEnd type="none" w="med" len="med"/>
              <a:tailEnd type="none" w="med" len="med"/>
            </a:ln>
          </p:spPr>
        </p:sp>
        <p:sp>
          <p:nvSpPr>
            <p:cNvPr id="55335" name="Line 84"/>
            <p:cNvSpPr/>
            <p:nvPr/>
          </p:nvSpPr>
          <p:spPr>
            <a:xfrm flipH="1">
              <a:off x="4404" y="3072"/>
              <a:ext cx="144" cy="336"/>
            </a:xfrm>
            <a:prstGeom prst="line">
              <a:avLst/>
            </a:prstGeom>
            <a:ln w="38100" cap="flat" cmpd="sng">
              <a:solidFill>
                <a:srgbClr val="009900"/>
              </a:solidFill>
              <a:prstDash val="solid"/>
              <a:round/>
              <a:headEnd type="none" w="med" len="med"/>
              <a:tailEnd type="none" w="med" len="med"/>
            </a:ln>
          </p:spPr>
        </p:sp>
        <p:sp>
          <p:nvSpPr>
            <p:cNvPr id="55336" name="Oval 85"/>
            <p:cNvSpPr/>
            <p:nvPr/>
          </p:nvSpPr>
          <p:spPr>
            <a:xfrm>
              <a:off x="4260"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37" name="Text Box 86"/>
            <p:cNvSpPr txBox="1"/>
            <p:nvPr/>
          </p:nvSpPr>
          <p:spPr>
            <a:xfrm>
              <a:off x="4241" y="3263"/>
              <a:ext cx="290"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55338" name="Oval 87"/>
            <p:cNvSpPr/>
            <p:nvPr/>
          </p:nvSpPr>
          <p:spPr>
            <a:xfrm>
              <a:off x="4176" y="215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39" name="Oval 88"/>
            <p:cNvSpPr/>
            <p:nvPr/>
          </p:nvSpPr>
          <p:spPr>
            <a:xfrm>
              <a:off x="3600"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40" name="Oval 89"/>
            <p:cNvSpPr/>
            <p:nvPr/>
          </p:nvSpPr>
          <p:spPr>
            <a:xfrm>
              <a:off x="4704"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41" name="Text Box 90"/>
            <p:cNvSpPr txBox="1"/>
            <p:nvPr/>
          </p:nvSpPr>
          <p:spPr>
            <a:xfrm>
              <a:off x="4175" y="2130"/>
              <a:ext cx="254" cy="290"/>
            </a:xfrm>
            <a:prstGeom prst="rect">
              <a:avLst/>
            </a:prstGeom>
            <a:noFill/>
            <a:ln w="38100">
              <a:noFill/>
            </a:ln>
          </p:spPr>
          <p:txBody>
            <a:bodyPr wrap="none" anchor="ctr" anchorCtr="0">
              <a:spAutoFit/>
            </a:bodyPr>
            <a:p>
              <a:pPr algn="ctr"/>
              <a:r>
                <a:rPr lang="en-US" altLang="zh-CN" sz="2400" b="1" dirty="0">
                  <a:solidFill>
                    <a:schemeClr val="bg1"/>
                  </a:solidFill>
                  <a:latin typeface="Times New Roman" panose="02020603050405020304" pitchFamily="18" charset="0"/>
                  <a:ea typeface="宋体" panose="02010600030101010101" pitchFamily="2" charset="-122"/>
                </a:rPr>
                <a:t>A</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55342" name="Text Box 91"/>
            <p:cNvSpPr txBox="1"/>
            <p:nvPr/>
          </p:nvSpPr>
          <p:spPr>
            <a:xfrm>
              <a:off x="3593" y="2447"/>
              <a:ext cx="265"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55343" name="Text Box 92"/>
            <p:cNvSpPr txBox="1"/>
            <p:nvPr/>
          </p:nvSpPr>
          <p:spPr>
            <a:xfrm>
              <a:off x="4692" y="2447"/>
              <a:ext cx="27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55344" name="Oval 93"/>
            <p:cNvSpPr/>
            <p:nvPr/>
          </p:nvSpPr>
          <p:spPr>
            <a:xfrm>
              <a:off x="4992"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45" name="Text Box 94"/>
            <p:cNvSpPr txBox="1"/>
            <p:nvPr/>
          </p:nvSpPr>
          <p:spPr>
            <a:xfrm>
              <a:off x="5052" y="2831"/>
              <a:ext cx="202"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55346" name="Oval 95"/>
            <p:cNvSpPr/>
            <p:nvPr/>
          </p:nvSpPr>
          <p:spPr>
            <a:xfrm>
              <a:off x="32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47" name="Text Box 96"/>
            <p:cNvSpPr txBox="1"/>
            <p:nvPr/>
          </p:nvSpPr>
          <p:spPr>
            <a:xfrm>
              <a:off x="3251" y="2831"/>
              <a:ext cx="27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55348" name="Oval 97"/>
            <p:cNvSpPr/>
            <p:nvPr/>
          </p:nvSpPr>
          <p:spPr>
            <a:xfrm>
              <a:off x="3024"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49" name="Text Box 98"/>
            <p:cNvSpPr txBox="1"/>
            <p:nvPr/>
          </p:nvSpPr>
          <p:spPr>
            <a:xfrm>
              <a:off x="3017" y="3263"/>
              <a:ext cx="265"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55350" name="Oval 99"/>
            <p:cNvSpPr/>
            <p:nvPr/>
          </p:nvSpPr>
          <p:spPr>
            <a:xfrm>
              <a:off x="3408"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51" name="Text Box 100"/>
            <p:cNvSpPr txBox="1"/>
            <p:nvPr/>
          </p:nvSpPr>
          <p:spPr>
            <a:xfrm>
              <a:off x="3408" y="3254"/>
              <a:ext cx="252"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55352" name="Text Box 101"/>
            <p:cNvSpPr txBox="1"/>
            <p:nvPr/>
          </p:nvSpPr>
          <p:spPr>
            <a:xfrm>
              <a:off x="4608" y="331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9</a:t>
              </a:r>
              <a:endParaRPr lang="en-US" altLang="zh-CN" sz="2400" dirty="0">
                <a:latin typeface="Times New Roman" panose="02020603050405020304" pitchFamily="18" charset="0"/>
                <a:ea typeface="宋体" panose="02010600030101010101" pitchFamily="2" charset="-122"/>
              </a:endParaRPr>
            </a:p>
          </p:txBody>
        </p:sp>
        <p:sp>
          <p:nvSpPr>
            <p:cNvPr id="55353" name="Oval 102"/>
            <p:cNvSpPr/>
            <p:nvPr/>
          </p:nvSpPr>
          <p:spPr>
            <a:xfrm>
              <a:off x="4608"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54" name="Text Box 103"/>
            <p:cNvSpPr txBox="1"/>
            <p:nvPr/>
          </p:nvSpPr>
          <p:spPr>
            <a:xfrm>
              <a:off x="4616" y="331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sp>
          <p:nvSpPr>
            <p:cNvPr id="55355" name="Line 104"/>
            <p:cNvSpPr/>
            <p:nvPr/>
          </p:nvSpPr>
          <p:spPr>
            <a:xfrm>
              <a:off x="4608" y="3120"/>
              <a:ext cx="96" cy="192"/>
            </a:xfrm>
            <a:prstGeom prst="line">
              <a:avLst/>
            </a:prstGeom>
            <a:ln w="38100" cap="flat" cmpd="sng">
              <a:solidFill>
                <a:srgbClr val="009900"/>
              </a:solidFill>
              <a:prstDash val="solid"/>
              <a:round/>
              <a:headEnd type="none" w="med" len="med"/>
              <a:tailEnd type="none" w="med" len="med"/>
            </a:ln>
          </p:spPr>
        </p:sp>
        <p:sp>
          <p:nvSpPr>
            <p:cNvPr id="55356" name="Oval 105"/>
            <p:cNvSpPr/>
            <p:nvPr/>
          </p:nvSpPr>
          <p:spPr>
            <a:xfrm>
              <a:off x="44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57" name="Text Box 106"/>
            <p:cNvSpPr txBox="1"/>
            <p:nvPr/>
          </p:nvSpPr>
          <p:spPr>
            <a:xfrm>
              <a:off x="4433" y="2831"/>
              <a:ext cx="290"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二叉树构建</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第</a:t>
            </a:r>
            <a:r>
              <a:rPr lang="en-US" altLang="zh-CN"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2</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种方法</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：已知二叉树的顺序存储，通过二叉树性质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5</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构建二叉树</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5300" name="Group 129"/>
          <p:cNvGrpSpPr/>
          <p:nvPr/>
        </p:nvGrpSpPr>
        <p:grpSpPr>
          <a:xfrm>
            <a:off x="3792538" y="2276475"/>
            <a:ext cx="4267200" cy="687223"/>
            <a:chOff x="2544" y="3196"/>
            <a:chExt cx="2688" cy="483"/>
          </a:xfrm>
        </p:grpSpPr>
        <p:sp>
          <p:nvSpPr>
            <p:cNvPr id="55301" name="Rectangle 130"/>
            <p:cNvSpPr/>
            <p:nvPr/>
          </p:nvSpPr>
          <p:spPr>
            <a:xfrm>
              <a:off x="2544" y="3340"/>
              <a:ext cx="2544" cy="259"/>
            </a:xfrm>
            <a:prstGeom prst="rect">
              <a:avLst/>
            </a:prstGeom>
            <a:solidFill>
              <a:srgbClr val="FF7C80"/>
            </a:solidFill>
            <a:ln w="9525"/>
            <a:scene3d>
              <a:camera prst="legacyObliqueTopRight">
                <a:rot lat="0" lon="0" rev="0"/>
              </a:camera>
              <a:lightRig rig="legacyFlat3" dir="b"/>
            </a:scene3d>
            <a:sp3d extrusionH="430200" prstMaterial="legacyMatte">
              <a:bevelT w="13500" h="13500" prst="angle"/>
              <a:bevelB w="13500" h="13500" prst="angle"/>
              <a:extrusionClr>
                <a:srgbClr val="FF7C80"/>
              </a:extrusionClr>
            </a:sp3d>
          </p:spPr>
          <p:txBody>
            <a:bodyPr wrap="none" anchor="ctr" anchorCtr="0">
              <a:flatTx/>
            </a:bodyPr>
            <a:p>
              <a:endParaRPr lang="zh-CN" altLang="en-US" dirty="0">
                <a:latin typeface="Arial" panose="020B0604020202020204" pitchFamily="34" charset="0"/>
                <a:ea typeface="宋体" panose="02010600030101010101" pitchFamily="2" charset="-122"/>
              </a:endParaRPr>
            </a:p>
          </p:txBody>
        </p:sp>
        <p:sp>
          <p:nvSpPr>
            <p:cNvPr id="55302" name="Line 131"/>
            <p:cNvSpPr/>
            <p:nvPr/>
          </p:nvSpPr>
          <p:spPr>
            <a:xfrm>
              <a:off x="2736" y="3311"/>
              <a:ext cx="0" cy="288"/>
            </a:xfrm>
            <a:prstGeom prst="line">
              <a:avLst/>
            </a:prstGeom>
            <a:ln w="19050" cap="flat" cmpd="sng">
              <a:solidFill>
                <a:schemeClr val="bg1"/>
              </a:solidFill>
              <a:prstDash val="solid"/>
              <a:round/>
              <a:headEnd type="none" w="med" len="med"/>
              <a:tailEnd type="none" w="med" len="med"/>
            </a:ln>
          </p:spPr>
        </p:sp>
        <p:sp>
          <p:nvSpPr>
            <p:cNvPr id="55303" name="Text Box 132"/>
            <p:cNvSpPr txBox="1"/>
            <p:nvPr/>
          </p:nvSpPr>
          <p:spPr>
            <a:xfrm>
              <a:off x="2544" y="3269"/>
              <a:ext cx="2688" cy="410"/>
            </a:xfrm>
            <a:prstGeom prst="rect">
              <a:avLst/>
            </a:prstGeom>
            <a:noFill/>
            <a:ln w="38100">
              <a:noFill/>
            </a:ln>
          </p:spPr>
          <p:txBody>
            <a:bodyPr anchor="ctr" anchorCtr="0">
              <a:spAutoFit/>
            </a:bodyPr>
            <a:p>
              <a:r>
                <a:rPr lang="en-US" altLang="zh-CN" sz="3200" b="1" dirty="0">
                  <a:solidFill>
                    <a:schemeClr val="bg1"/>
                  </a:solidFill>
                  <a:latin typeface="Times New Roman" panose="02020603050405020304" pitchFamily="18" charset="0"/>
                  <a:ea typeface="宋体" panose="02010600030101010101" pitchFamily="2" charset="-122"/>
                </a:rPr>
                <a:t>1 2 3 4 </a:t>
              </a:r>
              <a:r>
                <a:rPr lang="en-US" altLang="zh-CN" sz="3200" b="1" dirty="0">
                  <a:latin typeface="Times New Roman" panose="02020603050405020304" pitchFamily="18" charset="0"/>
                  <a:ea typeface="宋体" panose="02010600030101010101" pitchFamily="2" charset="-122"/>
                </a:rPr>
                <a:t>0</a:t>
              </a:r>
              <a:r>
                <a:rPr lang="en-US" altLang="zh-CN" sz="3200" b="1" dirty="0">
                  <a:solidFill>
                    <a:schemeClr val="bg1"/>
                  </a:solidFill>
                  <a:latin typeface="Times New Roman" panose="02020603050405020304" pitchFamily="18" charset="0"/>
                  <a:ea typeface="宋体" panose="02010600030101010101" pitchFamily="2" charset="-122"/>
                </a:rPr>
                <a:t> 5 6 7 8 </a:t>
              </a:r>
              <a:r>
                <a:rPr lang="en-US" altLang="zh-CN" sz="3200" b="1" dirty="0">
                  <a:latin typeface="Times New Roman" panose="02020603050405020304" pitchFamily="18" charset="0"/>
                  <a:ea typeface="宋体" panose="02010600030101010101" pitchFamily="2" charset="-122"/>
                </a:rPr>
                <a:t>0 0</a:t>
              </a:r>
              <a:r>
                <a:rPr lang="en-US" altLang="zh-CN" sz="3200" b="1" dirty="0">
                  <a:solidFill>
                    <a:schemeClr val="bg1"/>
                  </a:solidFill>
                  <a:latin typeface="Times New Roman" panose="02020603050405020304" pitchFamily="18" charset="0"/>
                  <a:ea typeface="宋体" panose="02010600030101010101" pitchFamily="2" charset="-122"/>
                </a:rPr>
                <a:t> 910   </a:t>
              </a:r>
              <a:endParaRPr lang="en-US" altLang="zh-CN" sz="2800" dirty="0">
                <a:latin typeface="Times New Roman" panose="02020603050405020304" pitchFamily="18" charset="0"/>
                <a:ea typeface="宋体" panose="02010600030101010101" pitchFamily="2" charset="-122"/>
              </a:endParaRPr>
            </a:p>
          </p:txBody>
        </p:sp>
        <p:sp>
          <p:nvSpPr>
            <p:cNvPr id="55304" name="Line 133"/>
            <p:cNvSpPr/>
            <p:nvPr/>
          </p:nvSpPr>
          <p:spPr>
            <a:xfrm>
              <a:off x="2928" y="3311"/>
              <a:ext cx="0" cy="288"/>
            </a:xfrm>
            <a:prstGeom prst="line">
              <a:avLst/>
            </a:prstGeom>
            <a:ln w="19050" cap="flat" cmpd="sng">
              <a:solidFill>
                <a:schemeClr val="bg1"/>
              </a:solidFill>
              <a:prstDash val="solid"/>
              <a:round/>
              <a:headEnd type="none" w="med" len="med"/>
              <a:tailEnd type="none" w="med" len="med"/>
            </a:ln>
          </p:spPr>
        </p:sp>
        <p:sp>
          <p:nvSpPr>
            <p:cNvPr id="55305" name="Line 134"/>
            <p:cNvSpPr/>
            <p:nvPr/>
          </p:nvSpPr>
          <p:spPr>
            <a:xfrm>
              <a:off x="3120" y="3311"/>
              <a:ext cx="0" cy="288"/>
            </a:xfrm>
            <a:prstGeom prst="line">
              <a:avLst/>
            </a:prstGeom>
            <a:ln w="19050" cap="flat" cmpd="sng">
              <a:solidFill>
                <a:schemeClr val="bg1"/>
              </a:solidFill>
              <a:prstDash val="solid"/>
              <a:round/>
              <a:headEnd type="none" w="med" len="med"/>
              <a:tailEnd type="none" w="med" len="med"/>
            </a:ln>
          </p:spPr>
        </p:sp>
        <p:sp>
          <p:nvSpPr>
            <p:cNvPr id="55306" name="Line 135"/>
            <p:cNvSpPr/>
            <p:nvPr/>
          </p:nvSpPr>
          <p:spPr>
            <a:xfrm>
              <a:off x="3312" y="3311"/>
              <a:ext cx="0" cy="288"/>
            </a:xfrm>
            <a:prstGeom prst="line">
              <a:avLst/>
            </a:prstGeom>
            <a:ln w="19050" cap="flat" cmpd="sng">
              <a:solidFill>
                <a:schemeClr val="bg1"/>
              </a:solidFill>
              <a:prstDash val="solid"/>
              <a:round/>
              <a:headEnd type="none" w="med" len="med"/>
              <a:tailEnd type="none" w="med" len="med"/>
            </a:ln>
          </p:spPr>
        </p:sp>
        <p:sp>
          <p:nvSpPr>
            <p:cNvPr id="55307" name="Line 136"/>
            <p:cNvSpPr/>
            <p:nvPr/>
          </p:nvSpPr>
          <p:spPr>
            <a:xfrm>
              <a:off x="3504" y="3311"/>
              <a:ext cx="0" cy="288"/>
            </a:xfrm>
            <a:prstGeom prst="line">
              <a:avLst/>
            </a:prstGeom>
            <a:ln w="19050" cap="flat" cmpd="sng">
              <a:solidFill>
                <a:schemeClr val="bg1"/>
              </a:solidFill>
              <a:prstDash val="solid"/>
              <a:round/>
              <a:headEnd type="none" w="med" len="med"/>
              <a:tailEnd type="none" w="med" len="med"/>
            </a:ln>
          </p:spPr>
        </p:sp>
        <p:sp>
          <p:nvSpPr>
            <p:cNvPr id="55308" name="Line 137"/>
            <p:cNvSpPr/>
            <p:nvPr/>
          </p:nvSpPr>
          <p:spPr>
            <a:xfrm>
              <a:off x="3696" y="3311"/>
              <a:ext cx="0" cy="288"/>
            </a:xfrm>
            <a:prstGeom prst="line">
              <a:avLst/>
            </a:prstGeom>
            <a:ln w="19050" cap="flat" cmpd="sng">
              <a:solidFill>
                <a:schemeClr val="bg1"/>
              </a:solidFill>
              <a:prstDash val="solid"/>
              <a:round/>
              <a:headEnd type="none" w="med" len="med"/>
              <a:tailEnd type="none" w="med" len="med"/>
            </a:ln>
          </p:spPr>
        </p:sp>
        <p:sp>
          <p:nvSpPr>
            <p:cNvPr id="55309" name="Line 138"/>
            <p:cNvSpPr/>
            <p:nvPr/>
          </p:nvSpPr>
          <p:spPr>
            <a:xfrm>
              <a:off x="3888" y="3311"/>
              <a:ext cx="0" cy="288"/>
            </a:xfrm>
            <a:prstGeom prst="line">
              <a:avLst/>
            </a:prstGeom>
            <a:ln w="19050" cap="flat" cmpd="sng">
              <a:solidFill>
                <a:schemeClr val="bg1"/>
              </a:solidFill>
              <a:prstDash val="solid"/>
              <a:round/>
              <a:headEnd type="none" w="med" len="med"/>
              <a:tailEnd type="none" w="med" len="med"/>
            </a:ln>
          </p:spPr>
        </p:sp>
        <p:sp>
          <p:nvSpPr>
            <p:cNvPr id="55310" name="Line 139"/>
            <p:cNvSpPr/>
            <p:nvPr/>
          </p:nvSpPr>
          <p:spPr>
            <a:xfrm>
              <a:off x="4080" y="3311"/>
              <a:ext cx="0" cy="288"/>
            </a:xfrm>
            <a:prstGeom prst="line">
              <a:avLst/>
            </a:prstGeom>
            <a:ln w="19050" cap="flat" cmpd="sng">
              <a:solidFill>
                <a:schemeClr val="bg1"/>
              </a:solidFill>
              <a:prstDash val="solid"/>
              <a:round/>
              <a:headEnd type="none" w="med" len="med"/>
              <a:tailEnd type="none" w="med" len="med"/>
            </a:ln>
          </p:spPr>
        </p:sp>
        <p:sp>
          <p:nvSpPr>
            <p:cNvPr id="55311" name="Line 140"/>
            <p:cNvSpPr/>
            <p:nvPr/>
          </p:nvSpPr>
          <p:spPr>
            <a:xfrm>
              <a:off x="4272" y="3311"/>
              <a:ext cx="0" cy="288"/>
            </a:xfrm>
            <a:prstGeom prst="line">
              <a:avLst/>
            </a:prstGeom>
            <a:ln w="19050" cap="flat" cmpd="sng">
              <a:solidFill>
                <a:schemeClr val="bg1"/>
              </a:solidFill>
              <a:prstDash val="solid"/>
              <a:round/>
              <a:headEnd type="none" w="med" len="med"/>
              <a:tailEnd type="none" w="med" len="med"/>
            </a:ln>
          </p:spPr>
        </p:sp>
        <p:sp>
          <p:nvSpPr>
            <p:cNvPr id="55312" name="Line 141"/>
            <p:cNvSpPr/>
            <p:nvPr/>
          </p:nvSpPr>
          <p:spPr>
            <a:xfrm flipV="1">
              <a:off x="2736" y="3215"/>
              <a:ext cx="96" cy="96"/>
            </a:xfrm>
            <a:prstGeom prst="line">
              <a:avLst/>
            </a:prstGeom>
            <a:ln w="12700" cap="flat" cmpd="sng">
              <a:solidFill>
                <a:schemeClr val="bg1"/>
              </a:solidFill>
              <a:prstDash val="solid"/>
              <a:round/>
              <a:headEnd type="none" w="med" len="med"/>
              <a:tailEnd type="none" w="med" len="med"/>
            </a:ln>
          </p:spPr>
        </p:sp>
        <p:sp>
          <p:nvSpPr>
            <p:cNvPr id="55313" name="Line 142"/>
            <p:cNvSpPr/>
            <p:nvPr/>
          </p:nvSpPr>
          <p:spPr>
            <a:xfrm flipV="1">
              <a:off x="2928" y="3215"/>
              <a:ext cx="96" cy="96"/>
            </a:xfrm>
            <a:prstGeom prst="line">
              <a:avLst/>
            </a:prstGeom>
            <a:ln w="12700" cap="flat" cmpd="sng">
              <a:solidFill>
                <a:schemeClr val="bg1"/>
              </a:solidFill>
              <a:prstDash val="solid"/>
              <a:round/>
              <a:headEnd type="none" w="med" len="med"/>
              <a:tailEnd type="none" w="med" len="med"/>
            </a:ln>
          </p:spPr>
        </p:sp>
        <p:sp>
          <p:nvSpPr>
            <p:cNvPr id="55314" name="Line 143"/>
            <p:cNvSpPr/>
            <p:nvPr/>
          </p:nvSpPr>
          <p:spPr>
            <a:xfrm flipV="1">
              <a:off x="3120" y="3215"/>
              <a:ext cx="96" cy="96"/>
            </a:xfrm>
            <a:prstGeom prst="line">
              <a:avLst/>
            </a:prstGeom>
            <a:ln w="12700" cap="flat" cmpd="sng">
              <a:solidFill>
                <a:schemeClr val="bg1"/>
              </a:solidFill>
              <a:prstDash val="solid"/>
              <a:round/>
              <a:headEnd type="none" w="med" len="med"/>
              <a:tailEnd type="none" w="med" len="med"/>
            </a:ln>
          </p:spPr>
        </p:sp>
        <p:sp>
          <p:nvSpPr>
            <p:cNvPr id="55315" name="Line 144"/>
            <p:cNvSpPr/>
            <p:nvPr/>
          </p:nvSpPr>
          <p:spPr>
            <a:xfrm flipV="1">
              <a:off x="3312" y="3215"/>
              <a:ext cx="96" cy="96"/>
            </a:xfrm>
            <a:prstGeom prst="line">
              <a:avLst/>
            </a:prstGeom>
            <a:ln w="12700" cap="flat" cmpd="sng">
              <a:solidFill>
                <a:schemeClr val="bg1"/>
              </a:solidFill>
              <a:prstDash val="solid"/>
              <a:round/>
              <a:headEnd type="none" w="med" len="med"/>
              <a:tailEnd type="none" w="med" len="med"/>
            </a:ln>
          </p:spPr>
        </p:sp>
        <p:sp>
          <p:nvSpPr>
            <p:cNvPr id="55316" name="Line 145"/>
            <p:cNvSpPr/>
            <p:nvPr/>
          </p:nvSpPr>
          <p:spPr>
            <a:xfrm flipV="1">
              <a:off x="3504" y="3215"/>
              <a:ext cx="96" cy="96"/>
            </a:xfrm>
            <a:prstGeom prst="line">
              <a:avLst/>
            </a:prstGeom>
            <a:ln w="12700" cap="flat" cmpd="sng">
              <a:solidFill>
                <a:schemeClr val="bg1"/>
              </a:solidFill>
              <a:prstDash val="solid"/>
              <a:round/>
              <a:headEnd type="none" w="med" len="med"/>
              <a:tailEnd type="none" w="med" len="med"/>
            </a:ln>
          </p:spPr>
        </p:sp>
        <p:sp>
          <p:nvSpPr>
            <p:cNvPr id="55317" name="Line 146"/>
            <p:cNvSpPr/>
            <p:nvPr/>
          </p:nvSpPr>
          <p:spPr>
            <a:xfrm flipV="1">
              <a:off x="3696" y="3215"/>
              <a:ext cx="96" cy="96"/>
            </a:xfrm>
            <a:prstGeom prst="line">
              <a:avLst/>
            </a:prstGeom>
            <a:ln w="12700" cap="flat" cmpd="sng">
              <a:solidFill>
                <a:schemeClr val="bg1"/>
              </a:solidFill>
              <a:prstDash val="solid"/>
              <a:round/>
              <a:headEnd type="none" w="med" len="med"/>
              <a:tailEnd type="none" w="med" len="med"/>
            </a:ln>
          </p:spPr>
        </p:sp>
        <p:sp>
          <p:nvSpPr>
            <p:cNvPr id="55318" name="Line 147"/>
            <p:cNvSpPr/>
            <p:nvPr/>
          </p:nvSpPr>
          <p:spPr>
            <a:xfrm flipV="1">
              <a:off x="3888" y="3215"/>
              <a:ext cx="96" cy="96"/>
            </a:xfrm>
            <a:prstGeom prst="line">
              <a:avLst/>
            </a:prstGeom>
            <a:ln w="12700" cap="flat" cmpd="sng">
              <a:solidFill>
                <a:schemeClr val="bg1"/>
              </a:solidFill>
              <a:prstDash val="solid"/>
              <a:round/>
              <a:headEnd type="none" w="med" len="med"/>
              <a:tailEnd type="none" w="med" len="med"/>
            </a:ln>
          </p:spPr>
        </p:sp>
        <p:sp>
          <p:nvSpPr>
            <p:cNvPr id="55319" name="Line 148"/>
            <p:cNvSpPr/>
            <p:nvPr/>
          </p:nvSpPr>
          <p:spPr>
            <a:xfrm flipV="1">
              <a:off x="4080" y="3215"/>
              <a:ext cx="96" cy="96"/>
            </a:xfrm>
            <a:prstGeom prst="line">
              <a:avLst/>
            </a:prstGeom>
            <a:ln w="12700" cap="flat" cmpd="sng">
              <a:solidFill>
                <a:schemeClr val="bg1"/>
              </a:solidFill>
              <a:prstDash val="solid"/>
              <a:round/>
              <a:headEnd type="none" w="med" len="med"/>
              <a:tailEnd type="none" w="med" len="med"/>
            </a:ln>
          </p:spPr>
        </p:sp>
        <p:sp>
          <p:nvSpPr>
            <p:cNvPr id="55320" name="Line 149"/>
            <p:cNvSpPr/>
            <p:nvPr/>
          </p:nvSpPr>
          <p:spPr>
            <a:xfrm flipV="1">
              <a:off x="4272" y="3215"/>
              <a:ext cx="96" cy="96"/>
            </a:xfrm>
            <a:prstGeom prst="line">
              <a:avLst/>
            </a:prstGeom>
            <a:ln w="12700" cap="flat" cmpd="sng">
              <a:solidFill>
                <a:schemeClr val="bg1"/>
              </a:solidFill>
              <a:prstDash val="solid"/>
              <a:round/>
              <a:headEnd type="none" w="med" len="med"/>
              <a:tailEnd type="none" w="med" len="med"/>
            </a:ln>
          </p:spPr>
        </p:sp>
        <p:sp>
          <p:nvSpPr>
            <p:cNvPr id="55321" name="Line 150"/>
            <p:cNvSpPr/>
            <p:nvPr/>
          </p:nvSpPr>
          <p:spPr>
            <a:xfrm>
              <a:off x="4464" y="3311"/>
              <a:ext cx="0" cy="288"/>
            </a:xfrm>
            <a:prstGeom prst="line">
              <a:avLst/>
            </a:prstGeom>
            <a:ln w="19050" cap="flat" cmpd="sng">
              <a:solidFill>
                <a:schemeClr val="bg1"/>
              </a:solidFill>
              <a:prstDash val="solid"/>
              <a:round/>
              <a:headEnd type="none" w="med" len="med"/>
              <a:tailEnd type="none" w="med" len="med"/>
            </a:ln>
          </p:spPr>
        </p:sp>
        <p:sp>
          <p:nvSpPr>
            <p:cNvPr id="55322" name="Line 151"/>
            <p:cNvSpPr/>
            <p:nvPr/>
          </p:nvSpPr>
          <p:spPr>
            <a:xfrm flipV="1">
              <a:off x="4464" y="3215"/>
              <a:ext cx="96" cy="96"/>
            </a:xfrm>
            <a:prstGeom prst="line">
              <a:avLst/>
            </a:prstGeom>
            <a:ln w="12700" cap="flat" cmpd="sng">
              <a:solidFill>
                <a:schemeClr val="bg1"/>
              </a:solidFill>
              <a:prstDash val="solid"/>
              <a:round/>
              <a:headEnd type="none" w="med" len="med"/>
              <a:tailEnd type="none" w="med" len="med"/>
            </a:ln>
          </p:spPr>
        </p:sp>
        <p:sp>
          <p:nvSpPr>
            <p:cNvPr id="55323" name="Line 152"/>
            <p:cNvSpPr/>
            <p:nvPr/>
          </p:nvSpPr>
          <p:spPr>
            <a:xfrm>
              <a:off x="4656" y="3311"/>
              <a:ext cx="0" cy="288"/>
            </a:xfrm>
            <a:prstGeom prst="line">
              <a:avLst/>
            </a:prstGeom>
            <a:ln w="19050" cap="flat" cmpd="sng">
              <a:solidFill>
                <a:schemeClr val="bg1"/>
              </a:solidFill>
              <a:prstDash val="solid"/>
              <a:round/>
              <a:headEnd type="none" w="med" len="med"/>
              <a:tailEnd type="none" w="med" len="med"/>
            </a:ln>
          </p:spPr>
        </p:sp>
        <p:sp>
          <p:nvSpPr>
            <p:cNvPr id="55324" name="Line 153"/>
            <p:cNvSpPr/>
            <p:nvPr/>
          </p:nvSpPr>
          <p:spPr>
            <a:xfrm flipV="1">
              <a:off x="4656" y="3215"/>
              <a:ext cx="96" cy="96"/>
            </a:xfrm>
            <a:prstGeom prst="line">
              <a:avLst/>
            </a:prstGeom>
            <a:ln w="12700" cap="flat" cmpd="sng">
              <a:solidFill>
                <a:schemeClr val="bg1"/>
              </a:solidFill>
              <a:prstDash val="solid"/>
              <a:round/>
              <a:headEnd type="none" w="med" len="med"/>
              <a:tailEnd type="none" w="med" len="med"/>
            </a:ln>
          </p:spPr>
        </p:sp>
        <p:sp>
          <p:nvSpPr>
            <p:cNvPr id="55325" name="Line 154"/>
            <p:cNvSpPr/>
            <p:nvPr/>
          </p:nvSpPr>
          <p:spPr>
            <a:xfrm>
              <a:off x="4848" y="3292"/>
              <a:ext cx="0" cy="288"/>
            </a:xfrm>
            <a:prstGeom prst="line">
              <a:avLst/>
            </a:prstGeom>
            <a:ln w="19050" cap="flat" cmpd="sng">
              <a:solidFill>
                <a:schemeClr val="bg1"/>
              </a:solidFill>
              <a:prstDash val="solid"/>
              <a:round/>
              <a:headEnd type="none" w="med" len="med"/>
              <a:tailEnd type="none" w="med" len="med"/>
            </a:ln>
          </p:spPr>
        </p:sp>
        <p:sp>
          <p:nvSpPr>
            <p:cNvPr id="55326" name="Line 155"/>
            <p:cNvSpPr/>
            <p:nvPr/>
          </p:nvSpPr>
          <p:spPr>
            <a:xfrm flipV="1">
              <a:off x="4848" y="3196"/>
              <a:ext cx="96" cy="96"/>
            </a:xfrm>
            <a:prstGeom prst="line">
              <a:avLst/>
            </a:prstGeom>
            <a:ln w="12700" cap="flat" cmpd="sng">
              <a:solidFill>
                <a:schemeClr val="bg1"/>
              </a:solidFill>
              <a:prstDash val="solid"/>
              <a:round/>
              <a:headEnd type="none" w="med" len="med"/>
              <a:tailEnd type="none" w="med" len="med"/>
            </a:ln>
          </p:spPr>
        </p:sp>
      </p:grpSp>
      <p:grpSp>
        <p:nvGrpSpPr>
          <p:cNvPr id="55327" name="Group 76"/>
          <p:cNvGrpSpPr/>
          <p:nvPr/>
        </p:nvGrpSpPr>
        <p:grpSpPr>
          <a:xfrm>
            <a:off x="3863975" y="3140076"/>
            <a:ext cx="3581400" cy="2427287"/>
            <a:chOff x="3024" y="2111"/>
            <a:chExt cx="2256" cy="1529"/>
          </a:xfrm>
        </p:grpSpPr>
        <p:sp>
          <p:nvSpPr>
            <p:cNvPr id="55328" name="Line 77"/>
            <p:cNvSpPr/>
            <p:nvPr/>
          </p:nvSpPr>
          <p:spPr>
            <a:xfrm>
              <a:off x="4896" y="2727"/>
              <a:ext cx="192" cy="240"/>
            </a:xfrm>
            <a:prstGeom prst="line">
              <a:avLst/>
            </a:prstGeom>
            <a:ln w="38100" cap="flat" cmpd="sng">
              <a:solidFill>
                <a:srgbClr val="009900"/>
              </a:solidFill>
              <a:prstDash val="solid"/>
              <a:round/>
              <a:headEnd type="none" w="med" len="med"/>
              <a:tailEnd type="none" w="med" len="med"/>
            </a:ln>
          </p:spPr>
        </p:sp>
        <p:sp>
          <p:nvSpPr>
            <p:cNvPr id="55329" name="Line 78"/>
            <p:cNvSpPr/>
            <p:nvPr/>
          </p:nvSpPr>
          <p:spPr>
            <a:xfrm flipH="1">
              <a:off x="4608" y="2700"/>
              <a:ext cx="223" cy="267"/>
            </a:xfrm>
            <a:prstGeom prst="line">
              <a:avLst/>
            </a:prstGeom>
            <a:ln w="38100" cap="flat" cmpd="sng">
              <a:solidFill>
                <a:srgbClr val="009900"/>
              </a:solidFill>
              <a:prstDash val="solid"/>
              <a:round/>
              <a:headEnd type="none" w="med" len="med"/>
              <a:tailEnd type="none" w="med" len="med"/>
            </a:ln>
          </p:spPr>
        </p:sp>
        <p:sp>
          <p:nvSpPr>
            <p:cNvPr id="55330" name="Line 79"/>
            <p:cNvSpPr/>
            <p:nvPr/>
          </p:nvSpPr>
          <p:spPr>
            <a:xfrm flipH="1">
              <a:off x="3168" y="3063"/>
              <a:ext cx="192" cy="336"/>
            </a:xfrm>
            <a:prstGeom prst="line">
              <a:avLst/>
            </a:prstGeom>
            <a:ln w="38100" cap="flat" cmpd="sng">
              <a:solidFill>
                <a:srgbClr val="009900"/>
              </a:solidFill>
              <a:prstDash val="solid"/>
              <a:round/>
              <a:headEnd type="none" w="med" len="med"/>
              <a:tailEnd type="none" w="med" len="med"/>
            </a:ln>
          </p:spPr>
        </p:sp>
        <p:sp>
          <p:nvSpPr>
            <p:cNvPr id="55331" name="Line 80"/>
            <p:cNvSpPr/>
            <p:nvPr/>
          </p:nvSpPr>
          <p:spPr>
            <a:xfrm flipH="1">
              <a:off x="3408" y="2727"/>
              <a:ext cx="240" cy="288"/>
            </a:xfrm>
            <a:prstGeom prst="line">
              <a:avLst/>
            </a:prstGeom>
            <a:ln w="38100" cap="flat" cmpd="sng">
              <a:solidFill>
                <a:srgbClr val="009900"/>
              </a:solidFill>
              <a:prstDash val="solid"/>
              <a:round/>
              <a:headEnd type="none" w="med" len="med"/>
              <a:tailEnd type="none" w="med" len="med"/>
            </a:ln>
          </p:spPr>
        </p:sp>
        <p:sp>
          <p:nvSpPr>
            <p:cNvPr id="55332" name="Line 81"/>
            <p:cNvSpPr/>
            <p:nvPr/>
          </p:nvSpPr>
          <p:spPr>
            <a:xfrm>
              <a:off x="4368" y="2343"/>
              <a:ext cx="456" cy="274"/>
            </a:xfrm>
            <a:prstGeom prst="line">
              <a:avLst/>
            </a:prstGeom>
            <a:ln w="38100" cap="flat" cmpd="sng">
              <a:solidFill>
                <a:srgbClr val="009900"/>
              </a:solidFill>
              <a:prstDash val="solid"/>
              <a:round/>
              <a:headEnd type="none" w="med" len="med"/>
              <a:tailEnd type="none" w="med" len="med"/>
            </a:ln>
          </p:spPr>
        </p:sp>
        <p:sp>
          <p:nvSpPr>
            <p:cNvPr id="55333" name="Line 82"/>
            <p:cNvSpPr/>
            <p:nvPr/>
          </p:nvSpPr>
          <p:spPr>
            <a:xfrm flipH="1">
              <a:off x="3744" y="2343"/>
              <a:ext cx="480" cy="288"/>
            </a:xfrm>
            <a:prstGeom prst="line">
              <a:avLst/>
            </a:prstGeom>
            <a:ln w="38100" cap="flat" cmpd="sng">
              <a:solidFill>
                <a:srgbClr val="009900"/>
              </a:solidFill>
              <a:prstDash val="solid"/>
              <a:round/>
              <a:headEnd type="none" w="med" len="med"/>
              <a:tailEnd type="none" w="med" len="med"/>
            </a:ln>
          </p:spPr>
        </p:sp>
        <p:sp>
          <p:nvSpPr>
            <p:cNvPr id="55334" name="Line 83"/>
            <p:cNvSpPr/>
            <p:nvPr/>
          </p:nvSpPr>
          <p:spPr>
            <a:xfrm>
              <a:off x="3456" y="3111"/>
              <a:ext cx="87" cy="261"/>
            </a:xfrm>
            <a:prstGeom prst="line">
              <a:avLst/>
            </a:prstGeom>
            <a:ln w="38100" cap="flat" cmpd="sng">
              <a:solidFill>
                <a:srgbClr val="009900"/>
              </a:solidFill>
              <a:prstDash val="solid"/>
              <a:round/>
              <a:headEnd type="none" w="med" len="med"/>
              <a:tailEnd type="none" w="med" len="med"/>
            </a:ln>
          </p:spPr>
        </p:sp>
        <p:sp>
          <p:nvSpPr>
            <p:cNvPr id="55335" name="Line 84"/>
            <p:cNvSpPr/>
            <p:nvPr/>
          </p:nvSpPr>
          <p:spPr>
            <a:xfrm flipH="1">
              <a:off x="4404" y="3072"/>
              <a:ext cx="144" cy="336"/>
            </a:xfrm>
            <a:prstGeom prst="line">
              <a:avLst/>
            </a:prstGeom>
            <a:ln w="38100" cap="flat" cmpd="sng">
              <a:solidFill>
                <a:srgbClr val="009900"/>
              </a:solidFill>
              <a:prstDash val="solid"/>
              <a:round/>
              <a:headEnd type="none" w="med" len="med"/>
              <a:tailEnd type="none" w="med" len="med"/>
            </a:ln>
          </p:spPr>
        </p:sp>
        <p:sp>
          <p:nvSpPr>
            <p:cNvPr id="55336" name="Oval 85"/>
            <p:cNvSpPr/>
            <p:nvPr/>
          </p:nvSpPr>
          <p:spPr>
            <a:xfrm>
              <a:off x="4260"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37" name="Text Box 86"/>
            <p:cNvSpPr txBox="1"/>
            <p:nvPr/>
          </p:nvSpPr>
          <p:spPr>
            <a:xfrm>
              <a:off x="4272" y="3263"/>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9</a:t>
              </a:r>
              <a:endParaRPr lang="en-US" altLang="zh-CN" sz="2400" dirty="0">
                <a:latin typeface="Times New Roman" panose="02020603050405020304" pitchFamily="18" charset="0"/>
                <a:ea typeface="宋体" panose="02010600030101010101" pitchFamily="2" charset="-122"/>
              </a:endParaRPr>
            </a:p>
          </p:txBody>
        </p:sp>
        <p:sp>
          <p:nvSpPr>
            <p:cNvPr id="55338" name="Oval 87"/>
            <p:cNvSpPr/>
            <p:nvPr/>
          </p:nvSpPr>
          <p:spPr>
            <a:xfrm>
              <a:off x="4176" y="215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39" name="Oval 88"/>
            <p:cNvSpPr/>
            <p:nvPr/>
          </p:nvSpPr>
          <p:spPr>
            <a:xfrm>
              <a:off x="3600"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40" name="Oval 89"/>
            <p:cNvSpPr/>
            <p:nvPr/>
          </p:nvSpPr>
          <p:spPr>
            <a:xfrm>
              <a:off x="4704"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41" name="Text Box 90"/>
            <p:cNvSpPr txBox="1"/>
            <p:nvPr/>
          </p:nvSpPr>
          <p:spPr>
            <a:xfrm>
              <a:off x="4188" y="211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55342" name="Text Box 91"/>
            <p:cNvSpPr txBox="1"/>
            <p:nvPr/>
          </p:nvSpPr>
          <p:spPr>
            <a:xfrm>
              <a:off x="3612" y="2447"/>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55343" name="Text Box 92"/>
            <p:cNvSpPr txBox="1"/>
            <p:nvPr/>
          </p:nvSpPr>
          <p:spPr>
            <a:xfrm>
              <a:off x="4716" y="2447"/>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55344" name="Oval 93"/>
            <p:cNvSpPr/>
            <p:nvPr/>
          </p:nvSpPr>
          <p:spPr>
            <a:xfrm>
              <a:off x="4992"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45" name="Text Box 94"/>
            <p:cNvSpPr txBox="1"/>
            <p:nvPr/>
          </p:nvSpPr>
          <p:spPr>
            <a:xfrm>
              <a:off x="5040" y="283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6</a:t>
              </a:r>
              <a:endParaRPr lang="en-US" altLang="zh-CN" sz="2400" dirty="0">
                <a:latin typeface="Times New Roman" panose="02020603050405020304" pitchFamily="18" charset="0"/>
                <a:ea typeface="宋体" panose="02010600030101010101" pitchFamily="2" charset="-122"/>
              </a:endParaRPr>
            </a:p>
          </p:txBody>
        </p:sp>
        <p:sp>
          <p:nvSpPr>
            <p:cNvPr id="55346" name="Oval 95"/>
            <p:cNvSpPr/>
            <p:nvPr/>
          </p:nvSpPr>
          <p:spPr>
            <a:xfrm>
              <a:off x="32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47" name="Text Box 96"/>
            <p:cNvSpPr txBox="1"/>
            <p:nvPr/>
          </p:nvSpPr>
          <p:spPr>
            <a:xfrm>
              <a:off x="3276" y="283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4</a:t>
              </a:r>
              <a:endParaRPr lang="en-US" altLang="zh-CN" sz="2400" dirty="0">
                <a:latin typeface="Times New Roman" panose="02020603050405020304" pitchFamily="18" charset="0"/>
                <a:ea typeface="宋体" panose="02010600030101010101" pitchFamily="2" charset="-122"/>
              </a:endParaRPr>
            </a:p>
          </p:txBody>
        </p:sp>
        <p:sp>
          <p:nvSpPr>
            <p:cNvPr id="55348" name="Oval 97"/>
            <p:cNvSpPr/>
            <p:nvPr/>
          </p:nvSpPr>
          <p:spPr>
            <a:xfrm>
              <a:off x="3024"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49" name="Text Box 98"/>
            <p:cNvSpPr txBox="1"/>
            <p:nvPr/>
          </p:nvSpPr>
          <p:spPr>
            <a:xfrm>
              <a:off x="3036" y="3263"/>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sp>
          <p:nvSpPr>
            <p:cNvPr id="55350" name="Oval 99"/>
            <p:cNvSpPr/>
            <p:nvPr/>
          </p:nvSpPr>
          <p:spPr>
            <a:xfrm>
              <a:off x="3408"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51" name="Text Box 100"/>
            <p:cNvSpPr txBox="1"/>
            <p:nvPr/>
          </p:nvSpPr>
          <p:spPr>
            <a:xfrm>
              <a:off x="3420" y="3254"/>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8</a:t>
              </a:r>
              <a:endParaRPr lang="en-US" altLang="zh-CN" sz="2400" dirty="0">
                <a:latin typeface="Times New Roman" panose="02020603050405020304" pitchFamily="18" charset="0"/>
                <a:ea typeface="宋体" panose="02010600030101010101" pitchFamily="2" charset="-122"/>
              </a:endParaRPr>
            </a:p>
          </p:txBody>
        </p:sp>
        <p:sp>
          <p:nvSpPr>
            <p:cNvPr id="55352" name="Text Box 101"/>
            <p:cNvSpPr txBox="1"/>
            <p:nvPr/>
          </p:nvSpPr>
          <p:spPr>
            <a:xfrm>
              <a:off x="4608" y="331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9</a:t>
              </a:r>
              <a:endParaRPr lang="en-US" altLang="zh-CN" sz="2400" dirty="0">
                <a:latin typeface="Times New Roman" panose="02020603050405020304" pitchFamily="18" charset="0"/>
                <a:ea typeface="宋体" panose="02010600030101010101" pitchFamily="2" charset="-122"/>
              </a:endParaRPr>
            </a:p>
          </p:txBody>
        </p:sp>
        <p:sp>
          <p:nvSpPr>
            <p:cNvPr id="55353" name="Oval 102"/>
            <p:cNvSpPr/>
            <p:nvPr/>
          </p:nvSpPr>
          <p:spPr>
            <a:xfrm>
              <a:off x="4608"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54" name="Text Box 103"/>
            <p:cNvSpPr txBox="1"/>
            <p:nvPr/>
          </p:nvSpPr>
          <p:spPr>
            <a:xfrm>
              <a:off x="4560" y="3311"/>
              <a:ext cx="339"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10</a:t>
              </a:r>
              <a:endParaRPr lang="en-US" altLang="zh-CN" sz="2400" dirty="0">
                <a:latin typeface="Times New Roman" panose="02020603050405020304" pitchFamily="18" charset="0"/>
                <a:ea typeface="宋体" panose="02010600030101010101" pitchFamily="2" charset="-122"/>
              </a:endParaRPr>
            </a:p>
          </p:txBody>
        </p:sp>
        <p:sp>
          <p:nvSpPr>
            <p:cNvPr id="55355" name="Line 104"/>
            <p:cNvSpPr/>
            <p:nvPr/>
          </p:nvSpPr>
          <p:spPr>
            <a:xfrm>
              <a:off x="4608" y="3120"/>
              <a:ext cx="96" cy="192"/>
            </a:xfrm>
            <a:prstGeom prst="line">
              <a:avLst/>
            </a:prstGeom>
            <a:ln w="38100" cap="flat" cmpd="sng">
              <a:solidFill>
                <a:srgbClr val="009900"/>
              </a:solidFill>
              <a:prstDash val="solid"/>
              <a:round/>
              <a:headEnd type="none" w="med" len="med"/>
              <a:tailEnd type="none" w="med" len="med"/>
            </a:ln>
          </p:spPr>
        </p:sp>
        <p:sp>
          <p:nvSpPr>
            <p:cNvPr id="55356" name="Oval 105"/>
            <p:cNvSpPr/>
            <p:nvPr/>
          </p:nvSpPr>
          <p:spPr>
            <a:xfrm>
              <a:off x="44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5357" name="Text Box 106"/>
            <p:cNvSpPr txBox="1"/>
            <p:nvPr/>
          </p:nvSpPr>
          <p:spPr>
            <a:xfrm>
              <a:off x="4464" y="283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5</a:t>
              </a:r>
              <a:endParaRPr lang="en-US" altLang="zh-CN" sz="24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利用二叉树性质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5</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构建二叉树的算法：数组下标从</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开始存储</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根据二叉树性质5，双亲结点是i，则左右孩子的下标是2i和2i+</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输入：二叉树顺序存储的字符串，其中字符0表示空树</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1.数组是否到达末尾，如果到达则退出，否则往下执行</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2.获取当前位置的数值，如果为字符0，则结点t为空，跳转步骤</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3.如果数值不为0，执行以下过程</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3.1 为结点</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分配空间，并设置</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的数据域</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3.2 在第2i位置递归创建t的左子树</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3.3 在第2i+</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位置递归创建t的右子树</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4.返回结点t</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6323" name="Group 76"/>
          <p:cNvGrpSpPr/>
          <p:nvPr/>
        </p:nvGrpSpPr>
        <p:grpSpPr>
          <a:xfrm>
            <a:off x="8040053" y="3428683"/>
            <a:ext cx="3602037" cy="2424113"/>
            <a:chOff x="3024" y="2113"/>
            <a:chExt cx="2269" cy="1527"/>
          </a:xfrm>
        </p:grpSpPr>
        <p:sp>
          <p:nvSpPr>
            <p:cNvPr id="56324" name="Line 77"/>
            <p:cNvSpPr/>
            <p:nvPr/>
          </p:nvSpPr>
          <p:spPr>
            <a:xfrm>
              <a:off x="4896" y="2727"/>
              <a:ext cx="192" cy="240"/>
            </a:xfrm>
            <a:prstGeom prst="line">
              <a:avLst/>
            </a:prstGeom>
            <a:ln w="38100" cap="flat" cmpd="sng">
              <a:solidFill>
                <a:srgbClr val="009900"/>
              </a:solidFill>
              <a:prstDash val="solid"/>
              <a:round/>
              <a:headEnd type="none" w="med" len="med"/>
              <a:tailEnd type="none" w="med" len="med"/>
            </a:ln>
          </p:spPr>
        </p:sp>
        <p:sp>
          <p:nvSpPr>
            <p:cNvPr id="56325" name="Line 78"/>
            <p:cNvSpPr/>
            <p:nvPr/>
          </p:nvSpPr>
          <p:spPr>
            <a:xfrm flipH="1">
              <a:off x="4608" y="2700"/>
              <a:ext cx="223" cy="267"/>
            </a:xfrm>
            <a:prstGeom prst="line">
              <a:avLst/>
            </a:prstGeom>
            <a:ln w="38100" cap="flat" cmpd="sng">
              <a:solidFill>
                <a:srgbClr val="009900"/>
              </a:solidFill>
              <a:prstDash val="solid"/>
              <a:round/>
              <a:headEnd type="none" w="med" len="med"/>
              <a:tailEnd type="none" w="med" len="med"/>
            </a:ln>
          </p:spPr>
        </p:sp>
        <p:sp>
          <p:nvSpPr>
            <p:cNvPr id="56326" name="Line 79"/>
            <p:cNvSpPr/>
            <p:nvPr/>
          </p:nvSpPr>
          <p:spPr>
            <a:xfrm flipH="1">
              <a:off x="3168" y="3063"/>
              <a:ext cx="192" cy="336"/>
            </a:xfrm>
            <a:prstGeom prst="line">
              <a:avLst/>
            </a:prstGeom>
            <a:ln w="38100" cap="flat" cmpd="sng">
              <a:solidFill>
                <a:srgbClr val="009900"/>
              </a:solidFill>
              <a:prstDash val="solid"/>
              <a:round/>
              <a:headEnd type="none" w="med" len="med"/>
              <a:tailEnd type="none" w="med" len="med"/>
            </a:ln>
          </p:spPr>
        </p:sp>
        <p:sp>
          <p:nvSpPr>
            <p:cNvPr id="56327" name="Line 80"/>
            <p:cNvSpPr/>
            <p:nvPr/>
          </p:nvSpPr>
          <p:spPr>
            <a:xfrm flipH="1">
              <a:off x="3408" y="2727"/>
              <a:ext cx="240" cy="288"/>
            </a:xfrm>
            <a:prstGeom prst="line">
              <a:avLst/>
            </a:prstGeom>
            <a:ln w="38100" cap="flat" cmpd="sng">
              <a:solidFill>
                <a:srgbClr val="009900"/>
              </a:solidFill>
              <a:prstDash val="solid"/>
              <a:round/>
              <a:headEnd type="none" w="med" len="med"/>
              <a:tailEnd type="none" w="med" len="med"/>
            </a:ln>
          </p:spPr>
        </p:sp>
        <p:sp>
          <p:nvSpPr>
            <p:cNvPr id="56328" name="Line 81"/>
            <p:cNvSpPr/>
            <p:nvPr/>
          </p:nvSpPr>
          <p:spPr>
            <a:xfrm>
              <a:off x="4368" y="2343"/>
              <a:ext cx="456" cy="274"/>
            </a:xfrm>
            <a:prstGeom prst="line">
              <a:avLst/>
            </a:prstGeom>
            <a:ln w="38100" cap="flat" cmpd="sng">
              <a:solidFill>
                <a:srgbClr val="009900"/>
              </a:solidFill>
              <a:prstDash val="solid"/>
              <a:round/>
              <a:headEnd type="none" w="med" len="med"/>
              <a:tailEnd type="none" w="med" len="med"/>
            </a:ln>
          </p:spPr>
        </p:sp>
        <p:sp>
          <p:nvSpPr>
            <p:cNvPr id="56329" name="Line 82"/>
            <p:cNvSpPr/>
            <p:nvPr/>
          </p:nvSpPr>
          <p:spPr>
            <a:xfrm flipH="1">
              <a:off x="3744" y="2343"/>
              <a:ext cx="480" cy="288"/>
            </a:xfrm>
            <a:prstGeom prst="line">
              <a:avLst/>
            </a:prstGeom>
            <a:ln w="38100" cap="flat" cmpd="sng">
              <a:solidFill>
                <a:srgbClr val="009900"/>
              </a:solidFill>
              <a:prstDash val="solid"/>
              <a:round/>
              <a:headEnd type="none" w="med" len="med"/>
              <a:tailEnd type="none" w="med" len="med"/>
            </a:ln>
          </p:spPr>
        </p:sp>
        <p:sp>
          <p:nvSpPr>
            <p:cNvPr id="56330" name="Line 83"/>
            <p:cNvSpPr/>
            <p:nvPr/>
          </p:nvSpPr>
          <p:spPr>
            <a:xfrm>
              <a:off x="3456" y="3111"/>
              <a:ext cx="87" cy="261"/>
            </a:xfrm>
            <a:prstGeom prst="line">
              <a:avLst/>
            </a:prstGeom>
            <a:ln w="38100" cap="flat" cmpd="sng">
              <a:solidFill>
                <a:srgbClr val="009900"/>
              </a:solidFill>
              <a:prstDash val="solid"/>
              <a:round/>
              <a:headEnd type="none" w="med" len="med"/>
              <a:tailEnd type="none" w="med" len="med"/>
            </a:ln>
          </p:spPr>
        </p:sp>
        <p:sp>
          <p:nvSpPr>
            <p:cNvPr id="56331" name="Line 84"/>
            <p:cNvSpPr/>
            <p:nvPr/>
          </p:nvSpPr>
          <p:spPr>
            <a:xfrm flipH="1">
              <a:off x="4404" y="3072"/>
              <a:ext cx="144" cy="336"/>
            </a:xfrm>
            <a:prstGeom prst="line">
              <a:avLst/>
            </a:prstGeom>
            <a:ln w="38100" cap="flat" cmpd="sng">
              <a:solidFill>
                <a:srgbClr val="009900"/>
              </a:solidFill>
              <a:prstDash val="solid"/>
              <a:round/>
              <a:headEnd type="none" w="med" len="med"/>
              <a:tailEnd type="none" w="med" len="med"/>
            </a:ln>
          </p:spPr>
        </p:sp>
        <p:sp>
          <p:nvSpPr>
            <p:cNvPr id="56332" name="Oval 85"/>
            <p:cNvSpPr/>
            <p:nvPr/>
          </p:nvSpPr>
          <p:spPr>
            <a:xfrm>
              <a:off x="4260"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6333" name="Text Box 86"/>
            <p:cNvSpPr txBox="1"/>
            <p:nvPr/>
          </p:nvSpPr>
          <p:spPr>
            <a:xfrm>
              <a:off x="4273" y="3265"/>
              <a:ext cx="202"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56334" name="Oval 87"/>
            <p:cNvSpPr/>
            <p:nvPr/>
          </p:nvSpPr>
          <p:spPr>
            <a:xfrm>
              <a:off x="4176" y="215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6335" name="Oval 88"/>
            <p:cNvSpPr/>
            <p:nvPr/>
          </p:nvSpPr>
          <p:spPr>
            <a:xfrm>
              <a:off x="3600"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6336" name="Oval 89"/>
            <p:cNvSpPr/>
            <p:nvPr/>
          </p:nvSpPr>
          <p:spPr>
            <a:xfrm>
              <a:off x="4704"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6337" name="Text Box 90"/>
            <p:cNvSpPr txBox="1"/>
            <p:nvPr/>
          </p:nvSpPr>
          <p:spPr>
            <a:xfrm>
              <a:off x="4190" y="2113"/>
              <a:ext cx="27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56338" name="Text Box 91"/>
            <p:cNvSpPr txBox="1"/>
            <p:nvPr/>
          </p:nvSpPr>
          <p:spPr>
            <a:xfrm>
              <a:off x="3613" y="2449"/>
              <a:ext cx="265"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56339" name="Text Box 92"/>
            <p:cNvSpPr txBox="1"/>
            <p:nvPr/>
          </p:nvSpPr>
          <p:spPr>
            <a:xfrm>
              <a:off x="4718" y="2449"/>
              <a:ext cx="27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56340" name="Oval 93"/>
            <p:cNvSpPr/>
            <p:nvPr/>
          </p:nvSpPr>
          <p:spPr>
            <a:xfrm>
              <a:off x="4992"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6341" name="Text Box 94"/>
            <p:cNvSpPr txBox="1"/>
            <p:nvPr/>
          </p:nvSpPr>
          <p:spPr>
            <a:xfrm>
              <a:off x="5041" y="2833"/>
              <a:ext cx="252"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56342" name="Oval 95"/>
            <p:cNvSpPr/>
            <p:nvPr/>
          </p:nvSpPr>
          <p:spPr>
            <a:xfrm>
              <a:off x="32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6343" name="Text Box 96"/>
            <p:cNvSpPr txBox="1"/>
            <p:nvPr/>
          </p:nvSpPr>
          <p:spPr>
            <a:xfrm>
              <a:off x="3278" y="2833"/>
              <a:ext cx="27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56344" name="Oval 97"/>
            <p:cNvSpPr/>
            <p:nvPr/>
          </p:nvSpPr>
          <p:spPr>
            <a:xfrm>
              <a:off x="3024"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6345" name="Text Box 98"/>
            <p:cNvSpPr txBox="1"/>
            <p:nvPr/>
          </p:nvSpPr>
          <p:spPr>
            <a:xfrm>
              <a:off x="3037" y="3265"/>
              <a:ext cx="290"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56346" name="Oval 99"/>
            <p:cNvSpPr/>
            <p:nvPr/>
          </p:nvSpPr>
          <p:spPr>
            <a:xfrm>
              <a:off x="3408"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6347" name="Text Box 100"/>
            <p:cNvSpPr txBox="1"/>
            <p:nvPr/>
          </p:nvSpPr>
          <p:spPr>
            <a:xfrm>
              <a:off x="3421" y="3256"/>
              <a:ext cx="290"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56348" name="Text Box 101"/>
            <p:cNvSpPr txBox="1"/>
            <p:nvPr/>
          </p:nvSpPr>
          <p:spPr>
            <a:xfrm>
              <a:off x="4608" y="331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9</a:t>
              </a:r>
              <a:endParaRPr lang="en-US" altLang="zh-CN" sz="2400" dirty="0">
                <a:latin typeface="Times New Roman" panose="02020603050405020304" pitchFamily="18" charset="0"/>
                <a:ea typeface="宋体" panose="02010600030101010101" pitchFamily="2" charset="-122"/>
              </a:endParaRPr>
            </a:p>
          </p:txBody>
        </p:sp>
        <p:sp>
          <p:nvSpPr>
            <p:cNvPr id="56349" name="Oval 102"/>
            <p:cNvSpPr/>
            <p:nvPr/>
          </p:nvSpPr>
          <p:spPr>
            <a:xfrm>
              <a:off x="4608"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6350" name="Text Box 103"/>
            <p:cNvSpPr txBox="1"/>
            <p:nvPr/>
          </p:nvSpPr>
          <p:spPr>
            <a:xfrm>
              <a:off x="4645" y="3283"/>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sp>
          <p:nvSpPr>
            <p:cNvPr id="56351" name="Line 104"/>
            <p:cNvSpPr/>
            <p:nvPr/>
          </p:nvSpPr>
          <p:spPr>
            <a:xfrm>
              <a:off x="4608" y="3120"/>
              <a:ext cx="96" cy="192"/>
            </a:xfrm>
            <a:prstGeom prst="line">
              <a:avLst/>
            </a:prstGeom>
            <a:ln w="38100" cap="flat" cmpd="sng">
              <a:solidFill>
                <a:srgbClr val="009900"/>
              </a:solidFill>
              <a:prstDash val="solid"/>
              <a:round/>
              <a:headEnd type="none" w="med" len="med"/>
              <a:tailEnd type="none" w="med" len="med"/>
            </a:ln>
          </p:spPr>
        </p:sp>
        <p:sp>
          <p:nvSpPr>
            <p:cNvPr id="56352" name="Oval 105"/>
            <p:cNvSpPr/>
            <p:nvPr/>
          </p:nvSpPr>
          <p:spPr>
            <a:xfrm>
              <a:off x="44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56353" name="Text Box 106"/>
            <p:cNvSpPr txBox="1"/>
            <p:nvPr/>
          </p:nvSpPr>
          <p:spPr>
            <a:xfrm>
              <a:off x="4465" y="2833"/>
              <a:ext cx="265"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二叉树构建</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第</a:t>
            </a:r>
            <a:r>
              <a:rPr lang="en-US" altLang="zh-CN"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3</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种方法</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：已知中序</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先序</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后序，构建二叉树</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必须知道中序遍历</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先序+中序构建，教材</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P154</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例子</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6-5</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中序+后序构建</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根据遍历的特性已知：</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先序遍历中，第一个输出结点必为根结点</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中序遍历中，先于根结点D输出的结点为左子树的结点，后于根结点D输出的结点为右子树的结点</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后序遍历中，最后一个输出结点必</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为根结点</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已知先中序遍历构建二叉树：P154-P155</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在先序遍历序列中，第一个结点为根结点D</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在中序遍历序列中，根结点D左边的结点归为左子树，根结点D右边的结点归为右子树</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对每个子树反复使用1,2两步，直到确定二叉树</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示例：已知先序遍历序列为：ABDEGCF；中序遍历序列为：DBGEAFC</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1</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根据先序遍历序列，可知根结点为A；再根据中序遍历序列可知，左子树由DBGE组成，右子树由FC组成</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在左子树的DBGE中，根据先序找出根结点是B，然后根据中序遍历，又分为左孙子树为D，右孙子树为GE</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3</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在右子树的FC中，根据先序遍历找出根结点C，然后根据中序遍历，由分为左孙子树为F，右孙子树为空</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以此类推</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9396" name="Group 5"/>
          <p:cNvGrpSpPr/>
          <p:nvPr/>
        </p:nvGrpSpPr>
        <p:grpSpPr>
          <a:xfrm>
            <a:off x="8332788" y="3733483"/>
            <a:ext cx="3124200" cy="2633662"/>
            <a:chOff x="3479" y="1341"/>
            <a:chExt cx="1968" cy="1659"/>
          </a:xfrm>
        </p:grpSpPr>
        <p:sp>
          <p:nvSpPr>
            <p:cNvPr id="59397" name="Line 4"/>
            <p:cNvSpPr/>
            <p:nvPr/>
          </p:nvSpPr>
          <p:spPr>
            <a:xfrm>
              <a:off x="4655" y="1512"/>
              <a:ext cx="264" cy="192"/>
            </a:xfrm>
            <a:prstGeom prst="line">
              <a:avLst/>
            </a:prstGeom>
            <a:ln w="38100" cap="flat" cmpd="sng">
              <a:solidFill>
                <a:srgbClr val="009900"/>
              </a:solidFill>
              <a:prstDash val="solid"/>
              <a:round/>
              <a:headEnd type="none" w="med" len="med"/>
              <a:tailEnd type="none" w="med" len="med"/>
            </a:ln>
          </p:spPr>
        </p:sp>
        <p:sp>
          <p:nvSpPr>
            <p:cNvPr id="59398" name="Line 5"/>
            <p:cNvSpPr/>
            <p:nvPr/>
          </p:nvSpPr>
          <p:spPr>
            <a:xfrm flipH="1">
              <a:off x="4247" y="1512"/>
              <a:ext cx="264" cy="240"/>
            </a:xfrm>
            <a:prstGeom prst="line">
              <a:avLst/>
            </a:prstGeom>
            <a:ln w="38100" cap="flat" cmpd="sng">
              <a:solidFill>
                <a:srgbClr val="009900"/>
              </a:solidFill>
              <a:prstDash val="solid"/>
              <a:round/>
              <a:headEnd type="none" w="med" len="med"/>
              <a:tailEnd type="none" w="med" len="med"/>
            </a:ln>
          </p:spPr>
        </p:sp>
        <p:sp>
          <p:nvSpPr>
            <p:cNvPr id="59399" name="Oval 6"/>
            <p:cNvSpPr/>
            <p:nvPr/>
          </p:nvSpPr>
          <p:spPr>
            <a:xfrm>
              <a:off x="4439" y="1341"/>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59400" name="Oval 7"/>
            <p:cNvSpPr/>
            <p:nvPr/>
          </p:nvSpPr>
          <p:spPr>
            <a:xfrm>
              <a:off x="3575" y="2163"/>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59401" name="Oval 8"/>
            <p:cNvSpPr/>
            <p:nvPr/>
          </p:nvSpPr>
          <p:spPr>
            <a:xfrm>
              <a:off x="3911" y="1752"/>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59402" name="Oval 9"/>
            <p:cNvSpPr/>
            <p:nvPr/>
          </p:nvSpPr>
          <p:spPr>
            <a:xfrm>
              <a:off x="4631" y="2184"/>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59403" name="Oval 10"/>
            <p:cNvSpPr/>
            <p:nvPr/>
          </p:nvSpPr>
          <p:spPr>
            <a:xfrm>
              <a:off x="4967" y="1752"/>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59404" name="Oval 11"/>
            <p:cNvSpPr/>
            <p:nvPr/>
          </p:nvSpPr>
          <p:spPr>
            <a:xfrm>
              <a:off x="3815" y="263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59405" name="Oval 12"/>
            <p:cNvSpPr/>
            <p:nvPr/>
          </p:nvSpPr>
          <p:spPr>
            <a:xfrm>
              <a:off x="4223" y="2184"/>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59406" name="Oval 13"/>
            <p:cNvSpPr/>
            <p:nvPr/>
          </p:nvSpPr>
          <p:spPr>
            <a:xfrm>
              <a:off x="3479" y="1704"/>
              <a:ext cx="1056" cy="1296"/>
            </a:xfrm>
            <a:prstGeom prst="ellipse">
              <a:avLst/>
            </a:prstGeom>
            <a:noFill/>
            <a:ln w="9525" cap="rnd" cmpd="sng">
              <a:solidFill>
                <a:schemeClr val="tx1"/>
              </a:solidFill>
              <a:prstDash val="sysDot"/>
              <a:miter/>
              <a:headEnd type="none" w="med" len="med"/>
              <a:tailEnd type="none" w="med" len="med"/>
            </a:ln>
          </p:spPr>
          <p:txBody>
            <a:bodyPr wrap="none" anchor="ctr" anchorCtr="0"/>
            <a:p>
              <a:pPr algn="ctr"/>
              <a:endParaRPr lang="en-US" altLang="zh-CN" sz="2400" dirty="0">
                <a:latin typeface="Tahoma" panose="020B0604030504040204" charset="0"/>
                <a:ea typeface="宋体" panose="02010600030101010101" pitchFamily="2" charset="-122"/>
              </a:endParaRPr>
            </a:p>
            <a:p>
              <a:pPr algn="ctr"/>
              <a:r>
                <a:rPr lang="zh-CN" altLang="en-US" sz="2400" dirty="0">
                  <a:latin typeface="Tahoma" panose="020B0604030504040204" charset="0"/>
                  <a:ea typeface="宋体" panose="02010600030101010101" pitchFamily="2" charset="-122"/>
                </a:rPr>
                <a:t>左子树</a:t>
              </a:r>
              <a:endParaRPr lang="zh-CN" altLang="en-US" sz="2400" dirty="0">
                <a:latin typeface="Tahoma" panose="020B0604030504040204" charset="0"/>
                <a:ea typeface="宋体" panose="02010600030101010101" pitchFamily="2" charset="-122"/>
              </a:endParaRPr>
            </a:p>
          </p:txBody>
        </p:sp>
        <p:sp>
          <p:nvSpPr>
            <p:cNvPr id="59407" name="Oval 14"/>
            <p:cNvSpPr/>
            <p:nvPr/>
          </p:nvSpPr>
          <p:spPr>
            <a:xfrm>
              <a:off x="4583" y="1704"/>
              <a:ext cx="864" cy="1296"/>
            </a:xfrm>
            <a:prstGeom prst="ellipse">
              <a:avLst/>
            </a:prstGeom>
            <a:noFill/>
            <a:ln w="9525" cap="rnd" cmpd="sng">
              <a:solidFill>
                <a:schemeClr val="tx1"/>
              </a:solidFill>
              <a:prstDash val="sysDot"/>
              <a:miter/>
              <a:headEnd type="none" w="med" len="med"/>
              <a:tailEnd type="none" w="med" len="med"/>
            </a:ln>
          </p:spPr>
          <p:txBody>
            <a:bodyPr wrap="none" anchor="ctr" anchorCtr="0"/>
            <a:p>
              <a:pPr algn="ctr"/>
              <a:endParaRPr lang="en-US" altLang="zh-CN" sz="2400" dirty="0">
                <a:latin typeface="Tahoma" panose="020B0604030504040204" charset="0"/>
                <a:ea typeface="宋体" panose="02010600030101010101" pitchFamily="2" charset="-122"/>
              </a:endParaRPr>
            </a:p>
            <a:p>
              <a:pPr algn="ctr"/>
              <a:endParaRPr lang="en-US" altLang="zh-CN" sz="2400" dirty="0">
                <a:latin typeface="Tahoma" panose="020B0604030504040204" charset="0"/>
                <a:ea typeface="宋体" panose="02010600030101010101" pitchFamily="2" charset="-122"/>
              </a:endParaRPr>
            </a:p>
            <a:p>
              <a:pPr algn="ctr"/>
              <a:r>
                <a:rPr lang="zh-CN" altLang="en-US" sz="2400" dirty="0">
                  <a:latin typeface="Tahoma" panose="020B0604030504040204" charset="0"/>
                  <a:ea typeface="宋体" panose="02010600030101010101" pitchFamily="2" charset="-122"/>
                </a:rPr>
                <a:t>右子树</a:t>
              </a:r>
              <a:endParaRPr lang="zh-CN" altLang="en-US" sz="2400" dirty="0">
                <a:latin typeface="Tahoma" panose="020B0604030504040204" charset="0"/>
                <a:ea typeface="宋体" panose="02010600030101010101" pitchFamily="2" charset="-122"/>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已知中序</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后遍历构建二叉树</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在后序遍历序列中，最后一个结点为根结点D</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在中序遍历序列中，根结点D左边的结点归为左子树，根结点D右边的结点归为右子树</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对每个子树反复使用1,2两步，直到确定二叉树</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示例：已知后序遍历序列为：DGEBFCA；中序遍历序列为：DBGEAFC</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0" marR="0" lvl="1" algn="l" defTabSz="1219200" rtl="0" eaLnBrk="1" fontAlgn="base" latinLnBrk="0" hangingPunct="1">
              <a:lnSpc>
                <a:spcPct val="100000"/>
              </a:lnSpc>
              <a:spcBef>
                <a:spcPct val="20000"/>
              </a:spcBef>
              <a:buClrTx/>
              <a:buSzTx/>
              <a:buFont typeface="Wingdings" panose="05000000000000000000" charset="0"/>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1、根据后序遍历序列，可知根结点为A；再根据中序遍历序列可知，左子树由DBGE组成，右子树由FC组成</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0" marR="0" lvl="1" algn="l" defTabSz="1219200" rtl="0" eaLnBrk="1" fontAlgn="base" latinLnBrk="0" hangingPunct="1">
              <a:lnSpc>
                <a:spcPct val="100000"/>
              </a:lnSpc>
              <a:spcBef>
                <a:spcPct val="20000"/>
              </a:spcBef>
              <a:buClrTx/>
              <a:buSzTx/>
              <a:buFont typeface="Wingdings" panose="05000000000000000000" charset="0"/>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2、在左子树的DBGE中，根据后序找出根结点是B，然后根据中序遍历，又分为左孙子树为D，右孙子树为GE</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0" marR="0" lvl="1" algn="l" defTabSz="1219200" rtl="0" eaLnBrk="1" fontAlgn="base" latinLnBrk="0" hangingPunct="1">
              <a:lnSpc>
                <a:spcPct val="100000"/>
              </a:lnSpc>
              <a:spcBef>
                <a:spcPct val="20000"/>
              </a:spcBef>
              <a:buClrTx/>
              <a:buSzTx/>
              <a:buFont typeface="Wingdings" panose="05000000000000000000" charset="0"/>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3、在右子树的FC中，根据后序遍历找出根结点C，然后根据中序遍历，又分为左孙子树为F，右孙子树为空</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0" marR="0" lvl="1" algn="l" defTabSz="1219200" rtl="0" eaLnBrk="1" fontAlgn="base" latinLnBrk="0" hangingPunct="1">
              <a:lnSpc>
                <a:spcPct val="100000"/>
              </a:lnSpc>
              <a:spcBef>
                <a:spcPct val="20000"/>
              </a:spcBef>
              <a:buClrTx/>
              <a:buSzTx/>
              <a:buFont typeface="Wingdings" panose="05000000000000000000" charset="0"/>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以此类推</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9396" name="Group 5"/>
          <p:cNvGrpSpPr/>
          <p:nvPr/>
        </p:nvGrpSpPr>
        <p:grpSpPr>
          <a:xfrm>
            <a:off x="8332788" y="3661728"/>
            <a:ext cx="3124200" cy="2633662"/>
            <a:chOff x="3479" y="1341"/>
            <a:chExt cx="1968" cy="1659"/>
          </a:xfrm>
        </p:grpSpPr>
        <p:sp>
          <p:nvSpPr>
            <p:cNvPr id="59397" name="Line 4"/>
            <p:cNvSpPr/>
            <p:nvPr/>
          </p:nvSpPr>
          <p:spPr>
            <a:xfrm>
              <a:off x="4655" y="1512"/>
              <a:ext cx="264" cy="192"/>
            </a:xfrm>
            <a:prstGeom prst="line">
              <a:avLst/>
            </a:prstGeom>
            <a:ln w="38100" cap="flat" cmpd="sng">
              <a:solidFill>
                <a:srgbClr val="009900"/>
              </a:solidFill>
              <a:prstDash val="solid"/>
              <a:round/>
              <a:headEnd type="none" w="med" len="med"/>
              <a:tailEnd type="none" w="med" len="med"/>
            </a:ln>
          </p:spPr>
        </p:sp>
        <p:sp>
          <p:nvSpPr>
            <p:cNvPr id="59398" name="Line 5"/>
            <p:cNvSpPr/>
            <p:nvPr/>
          </p:nvSpPr>
          <p:spPr>
            <a:xfrm flipH="1">
              <a:off x="4247" y="1512"/>
              <a:ext cx="264" cy="240"/>
            </a:xfrm>
            <a:prstGeom prst="line">
              <a:avLst/>
            </a:prstGeom>
            <a:ln w="38100" cap="flat" cmpd="sng">
              <a:solidFill>
                <a:srgbClr val="009900"/>
              </a:solidFill>
              <a:prstDash val="solid"/>
              <a:round/>
              <a:headEnd type="none" w="med" len="med"/>
              <a:tailEnd type="none" w="med" len="med"/>
            </a:ln>
          </p:spPr>
        </p:sp>
        <p:sp>
          <p:nvSpPr>
            <p:cNvPr id="59399" name="Oval 6"/>
            <p:cNvSpPr/>
            <p:nvPr/>
          </p:nvSpPr>
          <p:spPr>
            <a:xfrm>
              <a:off x="4439" y="1341"/>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59400" name="Oval 7"/>
            <p:cNvSpPr/>
            <p:nvPr/>
          </p:nvSpPr>
          <p:spPr>
            <a:xfrm>
              <a:off x="3575" y="2163"/>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59401" name="Oval 8"/>
            <p:cNvSpPr/>
            <p:nvPr/>
          </p:nvSpPr>
          <p:spPr>
            <a:xfrm>
              <a:off x="3911" y="1752"/>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59402" name="Oval 9"/>
            <p:cNvSpPr/>
            <p:nvPr/>
          </p:nvSpPr>
          <p:spPr>
            <a:xfrm>
              <a:off x="4631" y="2184"/>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59403" name="Oval 10"/>
            <p:cNvSpPr/>
            <p:nvPr/>
          </p:nvSpPr>
          <p:spPr>
            <a:xfrm>
              <a:off x="4967" y="1752"/>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59404" name="Oval 11"/>
            <p:cNvSpPr/>
            <p:nvPr/>
          </p:nvSpPr>
          <p:spPr>
            <a:xfrm>
              <a:off x="3815" y="263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59405" name="Oval 12"/>
            <p:cNvSpPr/>
            <p:nvPr/>
          </p:nvSpPr>
          <p:spPr>
            <a:xfrm>
              <a:off x="4223" y="2184"/>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59406" name="Oval 13"/>
            <p:cNvSpPr/>
            <p:nvPr/>
          </p:nvSpPr>
          <p:spPr>
            <a:xfrm>
              <a:off x="3479" y="1704"/>
              <a:ext cx="1056" cy="1296"/>
            </a:xfrm>
            <a:prstGeom prst="ellipse">
              <a:avLst/>
            </a:prstGeom>
            <a:noFill/>
            <a:ln w="9525" cap="rnd" cmpd="sng">
              <a:solidFill>
                <a:schemeClr val="tx1"/>
              </a:solidFill>
              <a:prstDash val="sysDot"/>
              <a:miter/>
              <a:headEnd type="none" w="med" len="med"/>
              <a:tailEnd type="none" w="med" len="med"/>
            </a:ln>
          </p:spPr>
          <p:txBody>
            <a:bodyPr wrap="none" anchor="ctr" anchorCtr="0"/>
            <a:p>
              <a:pPr algn="ctr"/>
              <a:endParaRPr lang="en-US" altLang="zh-CN" sz="2400" dirty="0">
                <a:latin typeface="Tahoma" panose="020B0604030504040204" charset="0"/>
                <a:ea typeface="宋体" panose="02010600030101010101" pitchFamily="2" charset="-122"/>
              </a:endParaRPr>
            </a:p>
            <a:p>
              <a:pPr algn="ctr"/>
              <a:r>
                <a:rPr lang="zh-CN" altLang="en-US" sz="2400" dirty="0">
                  <a:latin typeface="Tahoma" panose="020B0604030504040204" charset="0"/>
                  <a:ea typeface="宋体" panose="02010600030101010101" pitchFamily="2" charset="-122"/>
                </a:rPr>
                <a:t>左子树</a:t>
              </a:r>
              <a:endParaRPr lang="zh-CN" altLang="en-US" sz="2400" dirty="0">
                <a:latin typeface="Tahoma" panose="020B0604030504040204" charset="0"/>
                <a:ea typeface="宋体" panose="02010600030101010101" pitchFamily="2" charset="-122"/>
              </a:endParaRPr>
            </a:p>
          </p:txBody>
        </p:sp>
        <p:sp>
          <p:nvSpPr>
            <p:cNvPr id="59407" name="Oval 14"/>
            <p:cNvSpPr/>
            <p:nvPr/>
          </p:nvSpPr>
          <p:spPr>
            <a:xfrm>
              <a:off x="4583" y="1704"/>
              <a:ext cx="864" cy="1296"/>
            </a:xfrm>
            <a:prstGeom prst="ellipse">
              <a:avLst/>
            </a:prstGeom>
            <a:noFill/>
            <a:ln w="9525" cap="rnd" cmpd="sng">
              <a:solidFill>
                <a:schemeClr val="tx1"/>
              </a:solidFill>
              <a:prstDash val="sysDot"/>
              <a:miter/>
              <a:headEnd type="none" w="med" len="med"/>
              <a:tailEnd type="none" w="med" len="med"/>
            </a:ln>
          </p:spPr>
          <p:txBody>
            <a:bodyPr wrap="none" anchor="ctr" anchorCtr="0"/>
            <a:p>
              <a:pPr algn="ctr"/>
              <a:endParaRPr lang="en-US" altLang="zh-CN" sz="2400" dirty="0">
                <a:latin typeface="Tahoma" panose="020B0604030504040204" charset="0"/>
                <a:ea typeface="宋体" panose="02010600030101010101" pitchFamily="2" charset="-122"/>
              </a:endParaRPr>
            </a:p>
            <a:p>
              <a:pPr algn="ctr"/>
              <a:endParaRPr lang="en-US" altLang="zh-CN" sz="2400" dirty="0">
                <a:latin typeface="Tahoma" panose="020B0604030504040204" charset="0"/>
                <a:ea typeface="宋体" panose="02010600030101010101" pitchFamily="2" charset="-122"/>
              </a:endParaRPr>
            </a:p>
            <a:p>
              <a:pPr algn="ctr"/>
              <a:r>
                <a:rPr lang="zh-CN" altLang="en-US" sz="2400" dirty="0">
                  <a:latin typeface="Tahoma" panose="020B0604030504040204" charset="0"/>
                  <a:ea typeface="宋体" panose="02010600030101010101" pitchFamily="2" charset="-122"/>
                </a:rPr>
                <a:t>右子树</a:t>
              </a:r>
              <a:endParaRPr lang="zh-CN" altLang="en-US" sz="2400" dirty="0">
                <a:latin typeface="Tahoma" panose="020B0604030504040204" charset="0"/>
                <a:ea typeface="宋体" panose="02010600030101010101" pitchFamily="2" charset="-122"/>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根据以下遍历结果，求出其他遍历</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先序ABCDEF，中序CBDAFE，求后序</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后序DCBFHGEA，中序DCBAFEGH，求先序</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None/>
            </a:pPr>
            <a:endParaRPr lang="en-US" altLang="zh-CN" sz="2800" dirty="0"/>
          </a:p>
          <a:p>
            <a:pPr marR="0" algn="l" defTabSz="1219200" rtl="0" eaLnBrk="1" fontAlgn="base" latinLnBrk="0" hangingPunct="1">
              <a:lnSpc>
                <a:spcPct val="100000"/>
              </a:lnSpc>
              <a:spcBef>
                <a:spcPct val="20000"/>
              </a:spcBef>
              <a:buClrTx/>
              <a:buSzTx/>
              <a:buChar char="l"/>
            </a:pP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遍历二叉树是按一定的规则将树中的结点排列成一个线性序列，即是对非线性结构的线性化操作</a:t>
            </a:r>
            <a:endParaRPr kumimoji="0" lang="zh-CN" altLang="en-US" sz="2800" i="0" u="none" strike="noStrike" kern="0" cap="none" spc="0" normalizeH="0" baseline="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需要找到遍历过程中动态得到的每个结点的直接前驱和直接后继</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如何保存这些前驱后继信息</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在遍历中，每个结点的前驱后继信息，成为线索。因此线索二叉树就是指在增加保存某种遍历线索的二叉树。</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线索二叉树可以减少重复遍历，用线索即可得到遍历序列，无需重复递归遍历。线索二叉树有：</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先序线索二叉树</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中序线索二叉树</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后序线索二叉树</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线索二叉树的线索设计：</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方法</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：增加新指针是在每个结点中增加前驱(fwd)和后继(bkwd)指针，在做二叉树遍历，将每个结点的前驱和后继信息添入fwd和bkwd域中</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方法</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的每个结点包含</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4</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个指针，浪费空间</a:t>
            </a: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n"/>
              <a:defRPr/>
            </a:pPr>
            <a:endParaRPr kumimoji="0" lang="en-US" altLang="zh-CN" b="1" i="0" u="none" strike="noStrike" kern="0" cap="none" spc="0" normalizeH="0" baseline="0" noProof="0" smtClean="0">
              <a:ln>
                <a:noFill/>
              </a:ln>
              <a:solidFill>
                <a:schemeClr val="tx1"/>
              </a:solidFill>
              <a:effectLst/>
              <a:uLnTx/>
              <a:uFillTx/>
              <a:latin typeface="宋体" panose="02010600030101010101" pitchFamily="2" charset="-122"/>
              <a:ea typeface="+mn-ea"/>
              <a:cs typeface="+mn-cs"/>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4516" name="Group 4"/>
          <p:cNvGrpSpPr/>
          <p:nvPr/>
        </p:nvGrpSpPr>
        <p:grpSpPr>
          <a:xfrm>
            <a:off x="3143568" y="2492693"/>
            <a:ext cx="5410200" cy="460375"/>
            <a:chOff x="960" y="2928"/>
            <a:chExt cx="2928" cy="290"/>
          </a:xfrm>
        </p:grpSpPr>
        <p:sp>
          <p:nvSpPr>
            <p:cNvPr id="64517" name="Text Box 5"/>
            <p:cNvSpPr txBox="1"/>
            <p:nvPr/>
          </p:nvSpPr>
          <p:spPr>
            <a:xfrm>
              <a:off x="960" y="2928"/>
              <a:ext cx="528"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fwd</a:t>
              </a:r>
              <a:endParaRPr lang="en-US" altLang="zh-CN" sz="2400" dirty="0">
                <a:latin typeface="Tahoma" panose="020B0604030504040204" charset="0"/>
                <a:ea typeface="宋体" panose="02010600030101010101" pitchFamily="2" charset="-122"/>
              </a:endParaRPr>
            </a:p>
          </p:txBody>
        </p:sp>
        <p:sp>
          <p:nvSpPr>
            <p:cNvPr id="64518" name="Text Box 6"/>
            <p:cNvSpPr txBox="1"/>
            <p:nvPr/>
          </p:nvSpPr>
          <p:spPr>
            <a:xfrm>
              <a:off x="1488" y="2928"/>
              <a:ext cx="672"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lChild</a:t>
              </a:r>
              <a:endParaRPr lang="en-US" altLang="zh-CN" sz="2400" dirty="0">
                <a:latin typeface="Tahoma" panose="020B0604030504040204" charset="0"/>
                <a:ea typeface="宋体" panose="02010600030101010101" pitchFamily="2" charset="-122"/>
              </a:endParaRPr>
            </a:p>
          </p:txBody>
        </p:sp>
        <p:sp>
          <p:nvSpPr>
            <p:cNvPr id="64519" name="Text Box 7"/>
            <p:cNvSpPr txBox="1"/>
            <p:nvPr/>
          </p:nvSpPr>
          <p:spPr>
            <a:xfrm>
              <a:off x="2160" y="2928"/>
              <a:ext cx="528"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data</a:t>
              </a:r>
              <a:endParaRPr lang="en-US" altLang="zh-CN" sz="2400" dirty="0">
                <a:latin typeface="Tahoma" panose="020B0604030504040204" charset="0"/>
                <a:ea typeface="宋体" panose="02010600030101010101" pitchFamily="2" charset="-122"/>
              </a:endParaRPr>
            </a:p>
          </p:txBody>
        </p:sp>
        <p:sp>
          <p:nvSpPr>
            <p:cNvPr id="64520" name="Text Box 8"/>
            <p:cNvSpPr txBox="1"/>
            <p:nvPr/>
          </p:nvSpPr>
          <p:spPr>
            <a:xfrm>
              <a:off x="2688" y="2928"/>
              <a:ext cx="672"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rChild</a:t>
              </a:r>
              <a:endParaRPr lang="en-US" altLang="zh-CN" sz="2400" dirty="0">
                <a:latin typeface="Tahoma" panose="020B0604030504040204" charset="0"/>
                <a:ea typeface="宋体" panose="02010600030101010101" pitchFamily="2" charset="-122"/>
              </a:endParaRPr>
            </a:p>
          </p:txBody>
        </p:sp>
        <p:sp>
          <p:nvSpPr>
            <p:cNvPr id="64521" name="Text Box 9"/>
            <p:cNvSpPr txBox="1"/>
            <p:nvPr/>
          </p:nvSpPr>
          <p:spPr>
            <a:xfrm>
              <a:off x="3360" y="2928"/>
              <a:ext cx="528"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bkwd</a:t>
              </a:r>
              <a:endParaRPr lang="en-US" altLang="zh-CN" sz="2400" dirty="0">
                <a:latin typeface="Tahoma" panose="020B0604030504040204" charset="0"/>
                <a:ea typeface="宋体" panose="02010600030101010101" pitchFamily="2" charset="-122"/>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线索二叉树的线索设计：</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一棵二叉树有n个结点，则有n-1个分支 ，而n个结点共有2n个指针域(Lchild和Rchild) ，显然有n+1个空闲指针域未用。在有n个结点的二叉树中，必定存在n+1个空链域，因此把</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n+1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个</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空链域作为线索</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。这种方法无需增加额外空间</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方法二：空孩子指针不再指向空，用来保存线索，在结点中增加两个标记位（LTag, RTag)</a:t>
            </a: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LTag=0, lChild域指示结点的左孩子</a:t>
            </a: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LTag=1, lChild域指示结点的前驱结点</a:t>
            </a: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RTag=0, lChild域指示结点的右孩子</a:t>
            </a: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RTag=1, lChild域指示结点的后继结点</a:t>
            </a: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n"/>
              <a:defRPr/>
            </a:pPr>
            <a:endParaRPr kumimoji="0" lang="en-US" altLang="zh-CN" b="1" i="0" u="none" strike="noStrike" kern="0" cap="none" spc="0" normalizeH="0" baseline="0" noProof="0" smtClean="0">
              <a:ln>
                <a:noFill/>
              </a:ln>
              <a:solidFill>
                <a:schemeClr val="tx1"/>
              </a:solidFill>
              <a:effectLst/>
              <a:uLnTx/>
              <a:uFillTx/>
              <a:latin typeface="宋体" panose="02010600030101010101" pitchFamily="2" charset="-122"/>
              <a:ea typeface="+mn-ea"/>
              <a:cs typeface="+mn-cs"/>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5540" name="Group 4"/>
          <p:cNvGrpSpPr/>
          <p:nvPr/>
        </p:nvGrpSpPr>
        <p:grpSpPr>
          <a:xfrm>
            <a:off x="6575425" y="4364673"/>
            <a:ext cx="5410200" cy="460375"/>
            <a:chOff x="960" y="2928"/>
            <a:chExt cx="2928" cy="290"/>
          </a:xfrm>
        </p:grpSpPr>
        <p:sp>
          <p:nvSpPr>
            <p:cNvPr id="65541" name="Text Box 5"/>
            <p:cNvSpPr txBox="1"/>
            <p:nvPr/>
          </p:nvSpPr>
          <p:spPr>
            <a:xfrm>
              <a:off x="960" y="2928"/>
              <a:ext cx="528"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LTag</a:t>
              </a:r>
              <a:endParaRPr lang="en-US" altLang="zh-CN" sz="2400" dirty="0">
                <a:latin typeface="Tahoma" panose="020B0604030504040204" charset="0"/>
                <a:ea typeface="宋体" panose="02010600030101010101" pitchFamily="2" charset="-122"/>
              </a:endParaRPr>
            </a:p>
          </p:txBody>
        </p:sp>
        <p:sp>
          <p:nvSpPr>
            <p:cNvPr id="65542" name="Text Box 6"/>
            <p:cNvSpPr txBox="1"/>
            <p:nvPr/>
          </p:nvSpPr>
          <p:spPr>
            <a:xfrm>
              <a:off x="1488" y="2928"/>
              <a:ext cx="672"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lChild</a:t>
              </a:r>
              <a:endParaRPr lang="en-US" altLang="zh-CN" sz="2400" dirty="0">
                <a:latin typeface="Tahoma" panose="020B0604030504040204" charset="0"/>
                <a:ea typeface="宋体" panose="02010600030101010101" pitchFamily="2" charset="-122"/>
              </a:endParaRPr>
            </a:p>
          </p:txBody>
        </p:sp>
        <p:sp>
          <p:nvSpPr>
            <p:cNvPr id="65543" name="Text Box 7"/>
            <p:cNvSpPr txBox="1"/>
            <p:nvPr/>
          </p:nvSpPr>
          <p:spPr>
            <a:xfrm>
              <a:off x="2160" y="2928"/>
              <a:ext cx="528"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data</a:t>
              </a:r>
              <a:endParaRPr lang="en-US" altLang="zh-CN" sz="2400" dirty="0">
                <a:latin typeface="Tahoma" panose="020B0604030504040204" charset="0"/>
                <a:ea typeface="宋体" panose="02010600030101010101" pitchFamily="2" charset="-122"/>
              </a:endParaRPr>
            </a:p>
          </p:txBody>
        </p:sp>
        <p:sp>
          <p:nvSpPr>
            <p:cNvPr id="65544" name="Text Box 8"/>
            <p:cNvSpPr txBox="1"/>
            <p:nvPr/>
          </p:nvSpPr>
          <p:spPr>
            <a:xfrm>
              <a:off x="2688" y="2928"/>
              <a:ext cx="672"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rChild</a:t>
              </a:r>
              <a:endParaRPr lang="en-US" altLang="zh-CN" sz="2400" dirty="0">
                <a:latin typeface="Tahoma" panose="020B0604030504040204" charset="0"/>
                <a:ea typeface="宋体" panose="02010600030101010101" pitchFamily="2" charset="-122"/>
              </a:endParaRPr>
            </a:p>
          </p:txBody>
        </p:sp>
        <p:sp>
          <p:nvSpPr>
            <p:cNvPr id="65545" name="Text Box 9"/>
            <p:cNvSpPr txBox="1"/>
            <p:nvPr/>
          </p:nvSpPr>
          <p:spPr>
            <a:xfrm>
              <a:off x="3360" y="2928"/>
              <a:ext cx="528"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RTag</a:t>
              </a:r>
              <a:endParaRPr lang="en-US" altLang="zh-CN" sz="2400" dirty="0">
                <a:latin typeface="Tahoma" panose="020B0604030504040204" charset="0"/>
                <a:ea typeface="宋体" panose="02010600030101010101" pitchFamily="2" charset="-122"/>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线索二叉树的存储结构：</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一棵二叉树有n个结点，则有n-1个分支 ，而n个结点共有2n个指针域</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609600" marR="0" lvl="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lang="en-US" altLang="zh-CN" sz="2400" b="1" noProof="0" smtClean="0">
                <a:ln>
                  <a:noFill/>
                </a:ln>
                <a:effectLst/>
                <a:uLnTx/>
                <a:uFillTx/>
                <a:cs typeface="+mn-cs"/>
                <a:sym typeface="+mn-ea"/>
              </a:rPr>
              <a:t>typedef enum PointTag {Link, Thread};</a:t>
            </a:r>
            <a:endParaRPr kumimoji="0" lang="en-US" altLang="zh-CN" sz="2400" b="1" i="0" u="none" strike="noStrike" kern="0" cap="none" spc="0" normalizeH="0" baseline="0" noProof="0" smtClean="0">
              <a:ln>
                <a:noFill/>
              </a:ln>
              <a:solidFill>
                <a:schemeClr val="tx1"/>
              </a:solidFill>
              <a:effectLst/>
              <a:uLnTx/>
              <a:uFillTx/>
              <a:latin typeface="+mn-lt"/>
              <a:ea typeface="+mn-ea"/>
              <a:cs typeface="+mn-cs"/>
            </a:endParaRPr>
          </a:p>
          <a:p>
            <a:pPr marL="609600" marR="0" lvl="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lang="en-US" altLang="zh-CN" sz="2400" b="1" noProof="0" smtClean="0">
                <a:ln>
                  <a:noFill/>
                </a:ln>
                <a:effectLst/>
                <a:uLnTx/>
                <a:uFillTx/>
                <a:cs typeface="+mn-cs"/>
                <a:sym typeface="+mn-ea"/>
              </a:rPr>
              <a:t>typedef struct BiThrNode</a:t>
            </a:r>
            <a:endParaRPr lang="en-US" altLang="zh-CN" sz="2400" b="1" noProof="0" smtClean="0">
              <a:ln>
                <a:noFill/>
              </a:ln>
              <a:effectLst/>
              <a:uLnTx/>
              <a:uFillTx/>
              <a:cs typeface="+mn-cs"/>
              <a:sym typeface="+mn-ea"/>
            </a:endParaRPr>
          </a:p>
          <a:p>
            <a:pPr marL="609600" marR="0" lvl="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lang="en-US" altLang="zh-CN" sz="2400" b="1" noProof="0" smtClean="0">
                <a:ln>
                  <a:noFill/>
                </a:ln>
                <a:effectLst/>
                <a:uLnTx/>
                <a:uFillTx/>
                <a:cs typeface="+mn-ea"/>
                <a:sym typeface="+mn-ea"/>
              </a:rPr>
              <a:t>{  ElemType  data;</a:t>
            </a:r>
            <a:endParaRPr lang="en-US" altLang="zh-CN" sz="2400" b="1" noProof="0" smtClean="0">
              <a:ln>
                <a:noFill/>
              </a:ln>
              <a:effectLst/>
              <a:uLnTx/>
              <a:uFillTx/>
              <a:cs typeface="+mn-ea"/>
              <a:sym typeface="+mn-ea"/>
            </a:endParaRPr>
          </a:p>
          <a:p>
            <a:pPr marL="609600" marR="0" lvl="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lang="en-US" altLang="zh-CN" sz="2400" b="1" noProof="0" smtClean="0">
                <a:ln>
                  <a:noFill/>
                </a:ln>
                <a:effectLst/>
                <a:uLnTx/>
                <a:uFillTx/>
                <a:cs typeface="+mn-ea"/>
                <a:sym typeface="+mn-ea"/>
              </a:rPr>
              <a:t>   struct BiTreeNode *Lchild , *Rchild ; </a:t>
            </a:r>
            <a:endParaRPr lang="en-US" altLang="zh-CN" sz="2400" b="1" noProof="0" smtClean="0">
              <a:ln>
                <a:noFill/>
              </a:ln>
              <a:effectLst/>
              <a:uLnTx/>
              <a:uFillTx/>
              <a:cs typeface="+mn-ea"/>
              <a:sym typeface="+mn-ea"/>
            </a:endParaRPr>
          </a:p>
          <a:p>
            <a:pPr marL="609600" marR="0" lvl="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lang="en-US" altLang="zh-CN" sz="2400" b="1" noProof="0" smtClean="0">
                <a:ln>
                  <a:noFill/>
                </a:ln>
                <a:effectLst/>
                <a:uLnTx/>
                <a:uFillTx/>
                <a:cs typeface="+mn-ea"/>
                <a:sym typeface="+mn-ea"/>
              </a:rPr>
              <a:t>   int  Ltag , Rtag ;</a:t>
            </a:r>
            <a:endParaRPr lang="en-US" altLang="zh-CN" sz="2400" b="1" noProof="0" smtClean="0">
              <a:ln>
                <a:noFill/>
              </a:ln>
              <a:effectLst/>
              <a:uLnTx/>
              <a:uFillTx/>
              <a:cs typeface="+mn-ea"/>
              <a:sym typeface="+mn-ea"/>
            </a:endParaRPr>
          </a:p>
          <a:p>
            <a:pPr marL="609600" marR="0" lvl="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lang="en-US" altLang="zh-CN" sz="2400" b="1" noProof="0" smtClean="0">
                <a:ln>
                  <a:noFill/>
                </a:ln>
                <a:effectLst/>
                <a:uLnTx/>
                <a:uFillTx/>
                <a:cs typeface="+mn-ea"/>
                <a:sym typeface="+mn-ea"/>
              </a:rPr>
              <a:t>} BiThrNode ;</a:t>
            </a:r>
            <a:endParaRPr kumimoji="0" lang="en-US" altLang="zh-CN" sz="2400" b="1" i="0" u="none" strike="noStrike" kern="0" cap="none" spc="0" normalizeH="0" baseline="0" noProof="0" smtClean="0">
              <a:ln>
                <a:noFill/>
              </a:ln>
              <a:solidFill>
                <a:schemeClr val="tx1"/>
              </a:solidFill>
              <a:effectLst/>
              <a:uLnTx/>
              <a:uFillTx/>
              <a:latin typeface="+mn-lt"/>
              <a:ea typeface="+mn-ea"/>
              <a:cs typeface="+mn-ea"/>
            </a:endParaRPr>
          </a:p>
          <a:p>
            <a:pPr marL="965200" marR="0" lvl="1" indent="-508000" algn="l" defTabSz="914400" rtl="0" eaLnBrk="1" fontAlgn="base" latinLnBrk="0" hangingPunct="1">
              <a:lnSpc>
                <a:spcPct val="100000"/>
              </a:lnSpc>
              <a:spcBef>
                <a:spcPct val="20000"/>
              </a:spcBef>
              <a:spcAft>
                <a:spcPct val="0"/>
              </a:spcAft>
              <a:buClr>
                <a:schemeClr val="accent6"/>
              </a:buClr>
              <a:buSzTx/>
              <a:buFont typeface="Wingdings" panose="05000000000000000000" pitchFamily="2" charset="2"/>
              <a:buNone/>
              <a:defRPr/>
            </a:pPr>
            <a:endParaRPr kumimoji="0" lang="en-US" altLang="zh-CN"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n"/>
              <a:defRPr/>
            </a:pPr>
            <a:endParaRPr kumimoji="0" lang="en-US" altLang="zh-CN" b="1" i="0" u="none" strike="noStrike" kern="0" cap="none" spc="0" normalizeH="0" baseline="0" noProof="0" smtClean="0">
              <a:ln>
                <a:noFill/>
              </a:ln>
              <a:solidFill>
                <a:schemeClr val="tx1"/>
              </a:solidFill>
              <a:effectLst/>
              <a:uLnTx/>
              <a:uFillTx/>
              <a:latin typeface="宋体" panose="02010600030101010101" pitchFamily="2" charset="-122"/>
              <a:ea typeface="+mn-ea"/>
              <a:cs typeface="+mn-cs"/>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5540" name="Group 4"/>
          <p:cNvGrpSpPr/>
          <p:nvPr/>
        </p:nvGrpSpPr>
        <p:grpSpPr>
          <a:xfrm>
            <a:off x="5552440" y="4076383"/>
            <a:ext cx="5410200" cy="460375"/>
            <a:chOff x="960" y="2928"/>
            <a:chExt cx="2928" cy="290"/>
          </a:xfrm>
        </p:grpSpPr>
        <p:sp>
          <p:nvSpPr>
            <p:cNvPr id="65541" name="Text Box 5"/>
            <p:cNvSpPr txBox="1"/>
            <p:nvPr/>
          </p:nvSpPr>
          <p:spPr>
            <a:xfrm>
              <a:off x="960" y="2928"/>
              <a:ext cx="528"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LTag</a:t>
              </a:r>
              <a:endParaRPr lang="en-US" altLang="zh-CN" sz="2400" dirty="0">
                <a:latin typeface="Tahoma" panose="020B0604030504040204" charset="0"/>
                <a:ea typeface="宋体" panose="02010600030101010101" pitchFamily="2" charset="-122"/>
              </a:endParaRPr>
            </a:p>
          </p:txBody>
        </p:sp>
        <p:sp>
          <p:nvSpPr>
            <p:cNvPr id="65542" name="Text Box 6"/>
            <p:cNvSpPr txBox="1"/>
            <p:nvPr/>
          </p:nvSpPr>
          <p:spPr>
            <a:xfrm>
              <a:off x="1488" y="2928"/>
              <a:ext cx="672"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lChild</a:t>
              </a:r>
              <a:endParaRPr lang="en-US" altLang="zh-CN" sz="2400" dirty="0">
                <a:latin typeface="Tahoma" panose="020B0604030504040204" charset="0"/>
                <a:ea typeface="宋体" panose="02010600030101010101" pitchFamily="2" charset="-122"/>
              </a:endParaRPr>
            </a:p>
          </p:txBody>
        </p:sp>
        <p:sp>
          <p:nvSpPr>
            <p:cNvPr id="65543" name="Text Box 7"/>
            <p:cNvSpPr txBox="1"/>
            <p:nvPr/>
          </p:nvSpPr>
          <p:spPr>
            <a:xfrm>
              <a:off x="2160" y="2928"/>
              <a:ext cx="528"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data</a:t>
              </a:r>
              <a:endParaRPr lang="en-US" altLang="zh-CN" sz="2400" dirty="0">
                <a:latin typeface="Tahoma" panose="020B0604030504040204" charset="0"/>
                <a:ea typeface="宋体" panose="02010600030101010101" pitchFamily="2" charset="-122"/>
              </a:endParaRPr>
            </a:p>
          </p:txBody>
        </p:sp>
        <p:sp>
          <p:nvSpPr>
            <p:cNvPr id="65544" name="Text Box 8"/>
            <p:cNvSpPr txBox="1"/>
            <p:nvPr/>
          </p:nvSpPr>
          <p:spPr>
            <a:xfrm>
              <a:off x="2688" y="2928"/>
              <a:ext cx="672"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rChild</a:t>
              </a:r>
              <a:endParaRPr lang="en-US" altLang="zh-CN" sz="2400" dirty="0">
                <a:latin typeface="Tahoma" panose="020B0604030504040204" charset="0"/>
                <a:ea typeface="宋体" panose="02010600030101010101" pitchFamily="2" charset="-122"/>
              </a:endParaRPr>
            </a:p>
          </p:txBody>
        </p:sp>
        <p:sp>
          <p:nvSpPr>
            <p:cNvPr id="65545" name="Text Box 9"/>
            <p:cNvSpPr txBox="1"/>
            <p:nvPr/>
          </p:nvSpPr>
          <p:spPr>
            <a:xfrm>
              <a:off x="3360" y="2928"/>
              <a:ext cx="528" cy="29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RTag</a:t>
              </a:r>
              <a:endParaRPr lang="en-US" altLang="zh-CN" sz="2400" dirty="0">
                <a:latin typeface="Tahoma" panose="020B0604030504040204" charset="0"/>
                <a:ea typeface="宋体" panose="02010600030101010101" pitchFamily="2" charset="-122"/>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不同遍历方法产生不同的线索二叉树</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rPr>
              <a:t>先序线索树，已知根节点即可</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7588" name="Group 318"/>
          <p:cNvGrpSpPr/>
          <p:nvPr/>
        </p:nvGrpSpPr>
        <p:grpSpPr>
          <a:xfrm>
            <a:off x="6230620" y="2711450"/>
            <a:ext cx="3454400" cy="3214688"/>
            <a:chOff x="2640" y="73"/>
            <a:chExt cx="2176" cy="2025"/>
          </a:xfrm>
        </p:grpSpPr>
        <p:sp>
          <p:nvSpPr>
            <p:cNvPr id="67589" name="Rectangle 319"/>
            <p:cNvSpPr/>
            <p:nvPr/>
          </p:nvSpPr>
          <p:spPr>
            <a:xfrm>
              <a:off x="2640" y="1735"/>
              <a:ext cx="2176" cy="363"/>
            </a:xfrm>
            <a:prstGeom prst="rect">
              <a:avLst/>
            </a:prstGeom>
            <a:noFill/>
            <a:ln w="9525">
              <a:noFill/>
            </a:ln>
          </p:spPr>
          <p:txBody>
            <a:bodyPr wrap="none" anchor="ctr" anchorCtr="0"/>
            <a:p>
              <a:pPr marL="457200" indent="-457200"/>
              <a:r>
                <a:rPr lang="en-US" altLang="zh-CN" sz="2000" b="1" dirty="0">
                  <a:latin typeface="Times New Roman" panose="02020603050405020304" pitchFamily="18" charset="0"/>
                  <a:ea typeface="宋体" panose="02010600030101010101" pitchFamily="2" charset="-122"/>
                </a:rPr>
                <a:t>(b)   </a:t>
              </a:r>
              <a:r>
                <a:rPr lang="zh-CN" altLang="en-US" sz="2000" b="1" dirty="0">
                  <a:latin typeface="Times New Roman" panose="02020603050405020304" pitchFamily="18" charset="0"/>
                  <a:ea typeface="宋体" panose="02010600030101010101" pitchFamily="2" charset="-122"/>
                </a:rPr>
                <a:t>先序线索树的逻辑形式</a:t>
              </a:r>
              <a:endParaRPr lang="zh-CN" altLang="en-US" sz="2000" b="1" dirty="0">
                <a:latin typeface="Times New Roman" panose="02020603050405020304" pitchFamily="18" charset="0"/>
                <a:ea typeface="宋体" panose="02010600030101010101" pitchFamily="2" charset="-122"/>
              </a:endParaRPr>
            </a:p>
            <a:p>
              <a:pPr marL="457200" indent="-457200"/>
              <a:r>
                <a:rPr lang="zh-CN" altLang="en-US" sz="2000" b="1" dirty="0">
                  <a:latin typeface="Times New Roman" panose="02020603050405020304" pitchFamily="18" charset="0"/>
                  <a:ea typeface="宋体" panose="02010600030101010101" pitchFamily="2" charset="-122"/>
                </a:rPr>
                <a:t>        结点序列：</a:t>
              </a:r>
              <a:r>
                <a:rPr lang="en-US" altLang="zh-CN" sz="2000" b="1" dirty="0">
                  <a:latin typeface="Times New Roman" panose="02020603050405020304" pitchFamily="18" charset="0"/>
                  <a:ea typeface="宋体" panose="02010600030101010101" pitchFamily="2" charset="-122"/>
                </a:rPr>
                <a:t>ABDCEGFHI</a:t>
              </a:r>
              <a:endParaRPr lang="en-US" altLang="zh-CN" sz="2000" b="1" dirty="0">
                <a:latin typeface="Times New Roman" panose="02020603050405020304" pitchFamily="18" charset="0"/>
                <a:ea typeface="宋体" panose="02010600030101010101" pitchFamily="2" charset="-122"/>
              </a:endParaRPr>
            </a:p>
          </p:txBody>
        </p:sp>
        <p:grpSp>
          <p:nvGrpSpPr>
            <p:cNvPr id="67590" name="Group 320"/>
            <p:cNvGrpSpPr/>
            <p:nvPr/>
          </p:nvGrpSpPr>
          <p:grpSpPr>
            <a:xfrm>
              <a:off x="2696" y="73"/>
              <a:ext cx="2032" cy="1558"/>
              <a:chOff x="0" y="0"/>
              <a:chExt cx="2032" cy="1558"/>
            </a:xfrm>
          </p:grpSpPr>
          <p:grpSp>
            <p:nvGrpSpPr>
              <p:cNvPr id="67591" name="Group 321"/>
              <p:cNvGrpSpPr/>
              <p:nvPr/>
            </p:nvGrpSpPr>
            <p:grpSpPr>
              <a:xfrm>
                <a:off x="128" y="0"/>
                <a:ext cx="1496" cy="1542"/>
                <a:chOff x="0" y="0"/>
                <a:chExt cx="1547" cy="1648"/>
              </a:xfrm>
            </p:grpSpPr>
            <p:sp>
              <p:nvSpPr>
                <p:cNvPr id="67592" name="Oval 322"/>
                <p:cNvSpPr/>
                <p:nvPr/>
              </p:nvSpPr>
              <p:spPr>
                <a:xfrm>
                  <a:off x="495" y="0"/>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67593" name="Oval 323"/>
                <p:cNvSpPr/>
                <p:nvPr/>
              </p:nvSpPr>
              <p:spPr>
                <a:xfrm>
                  <a:off x="1028" y="939"/>
                  <a:ext cx="268"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67594" name="Oval 324"/>
                <p:cNvSpPr/>
                <p:nvPr/>
              </p:nvSpPr>
              <p:spPr>
                <a:xfrm>
                  <a:off x="777"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67595" name="Oval 325"/>
                <p:cNvSpPr/>
                <p:nvPr/>
              </p:nvSpPr>
              <p:spPr>
                <a:xfrm>
                  <a:off x="1280"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67596" name="Line 326"/>
                <p:cNvSpPr/>
                <p:nvPr/>
              </p:nvSpPr>
              <p:spPr>
                <a:xfrm flipH="1">
                  <a:off x="919" y="1145"/>
                  <a:ext cx="157" cy="259"/>
                </a:xfrm>
                <a:prstGeom prst="line">
                  <a:avLst/>
                </a:prstGeom>
                <a:ln w="9525" cap="flat" cmpd="sng">
                  <a:solidFill>
                    <a:schemeClr val="tx1"/>
                  </a:solidFill>
                  <a:prstDash val="solid"/>
                  <a:round/>
                  <a:headEnd type="none" w="med" len="med"/>
                  <a:tailEnd type="none" w="med" len="med"/>
                </a:ln>
              </p:spPr>
            </p:sp>
            <p:sp>
              <p:nvSpPr>
                <p:cNvPr id="67597" name="Oval 327"/>
                <p:cNvSpPr/>
                <p:nvPr/>
              </p:nvSpPr>
              <p:spPr>
                <a:xfrm>
                  <a:off x="541" y="94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67598" name="Oval 328"/>
                <p:cNvSpPr/>
                <p:nvPr/>
              </p:nvSpPr>
              <p:spPr>
                <a:xfrm>
                  <a:off x="290" y="1411"/>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67599" name="Oval 329"/>
                <p:cNvSpPr/>
                <p:nvPr/>
              </p:nvSpPr>
              <p:spPr>
                <a:xfrm>
                  <a:off x="251" y="473"/>
                  <a:ext cx="268" cy="238"/>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7600" name="Oval 330"/>
                <p:cNvSpPr/>
                <p:nvPr/>
              </p:nvSpPr>
              <p:spPr>
                <a:xfrm>
                  <a:off x="0" y="945"/>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7601" name="Oval 331"/>
                <p:cNvSpPr/>
                <p:nvPr/>
              </p:nvSpPr>
              <p:spPr>
                <a:xfrm>
                  <a:off x="780" y="46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7602" name="Line 332"/>
                <p:cNvSpPr/>
                <p:nvPr/>
              </p:nvSpPr>
              <p:spPr>
                <a:xfrm>
                  <a:off x="992" y="688"/>
                  <a:ext cx="156" cy="259"/>
                </a:xfrm>
                <a:prstGeom prst="line">
                  <a:avLst/>
                </a:prstGeom>
                <a:ln w="9525" cap="flat" cmpd="sng">
                  <a:solidFill>
                    <a:schemeClr val="tx1"/>
                  </a:solidFill>
                  <a:prstDash val="solid"/>
                  <a:round/>
                  <a:headEnd type="none" w="med" len="med"/>
                  <a:tailEnd type="none" w="med" len="med"/>
                </a:ln>
              </p:spPr>
            </p:sp>
            <p:sp>
              <p:nvSpPr>
                <p:cNvPr id="67603" name="Line 333"/>
                <p:cNvSpPr/>
                <p:nvPr/>
              </p:nvSpPr>
              <p:spPr>
                <a:xfrm flipH="1">
                  <a:off x="439" y="1160"/>
                  <a:ext cx="156" cy="259"/>
                </a:xfrm>
                <a:prstGeom prst="line">
                  <a:avLst/>
                </a:prstGeom>
                <a:ln w="9525" cap="flat" cmpd="sng">
                  <a:solidFill>
                    <a:schemeClr val="tx1"/>
                  </a:solidFill>
                  <a:prstDash val="solid"/>
                  <a:round/>
                  <a:headEnd type="none" w="med" len="med"/>
                  <a:tailEnd type="none" w="med" len="med"/>
                </a:ln>
              </p:spPr>
            </p:sp>
            <p:sp>
              <p:nvSpPr>
                <p:cNvPr id="67604" name="Line 334"/>
                <p:cNvSpPr/>
                <p:nvPr/>
              </p:nvSpPr>
              <p:spPr>
                <a:xfrm flipH="1">
                  <a:off x="699" y="688"/>
                  <a:ext cx="156" cy="259"/>
                </a:xfrm>
                <a:prstGeom prst="line">
                  <a:avLst/>
                </a:prstGeom>
                <a:ln w="9525" cap="flat" cmpd="sng">
                  <a:solidFill>
                    <a:schemeClr val="tx1"/>
                  </a:solidFill>
                  <a:prstDash val="solid"/>
                  <a:round/>
                  <a:headEnd type="none" w="med" len="med"/>
                  <a:tailEnd type="none" w="med" len="med"/>
                </a:ln>
              </p:spPr>
            </p:sp>
            <p:sp>
              <p:nvSpPr>
                <p:cNvPr id="67605" name="Line 335"/>
                <p:cNvSpPr/>
                <p:nvPr/>
              </p:nvSpPr>
              <p:spPr>
                <a:xfrm flipH="1">
                  <a:off x="166" y="695"/>
                  <a:ext cx="156" cy="259"/>
                </a:xfrm>
                <a:prstGeom prst="line">
                  <a:avLst/>
                </a:prstGeom>
                <a:ln w="9525" cap="flat" cmpd="sng">
                  <a:solidFill>
                    <a:schemeClr val="tx1"/>
                  </a:solidFill>
                  <a:prstDash val="solid"/>
                  <a:round/>
                  <a:headEnd type="none" w="med" len="med"/>
                  <a:tailEnd type="none" w="med" len="med"/>
                </a:ln>
              </p:spPr>
            </p:sp>
            <p:sp>
              <p:nvSpPr>
                <p:cNvPr id="67606" name="Line 336"/>
                <p:cNvSpPr/>
                <p:nvPr/>
              </p:nvSpPr>
              <p:spPr>
                <a:xfrm flipH="1">
                  <a:off x="410" y="222"/>
                  <a:ext cx="156" cy="259"/>
                </a:xfrm>
                <a:prstGeom prst="line">
                  <a:avLst/>
                </a:prstGeom>
                <a:ln w="9525" cap="flat" cmpd="sng">
                  <a:solidFill>
                    <a:schemeClr val="tx1"/>
                  </a:solidFill>
                  <a:prstDash val="solid"/>
                  <a:round/>
                  <a:headEnd type="none" w="med" len="med"/>
                  <a:tailEnd type="none" w="med" len="med"/>
                </a:ln>
              </p:spPr>
            </p:sp>
            <p:sp>
              <p:nvSpPr>
                <p:cNvPr id="67607" name="Line 337"/>
                <p:cNvSpPr/>
                <p:nvPr/>
              </p:nvSpPr>
              <p:spPr>
                <a:xfrm>
                  <a:off x="1233" y="1153"/>
                  <a:ext cx="156" cy="259"/>
                </a:xfrm>
                <a:prstGeom prst="line">
                  <a:avLst/>
                </a:prstGeom>
                <a:ln w="9525" cap="flat" cmpd="sng">
                  <a:solidFill>
                    <a:schemeClr val="tx1"/>
                  </a:solidFill>
                  <a:prstDash val="solid"/>
                  <a:round/>
                  <a:headEnd type="none" w="med" len="med"/>
                  <a:tailEnd type="none" w="med" len="med"/>
                </a:ln>
              </p:spPr>
            </p:sp>
            <p:sp>
              <p:nvSpPr>
                <p:cNvPr id="67608" name="Line 338"/>
                <p:cNvSpPr/>
                <p:nvPr/>
              </p:nvSpPr>
              <p:spPr>
                <a:xfrm>
                  <a:off x="707" y="215"/>
                  <a:ext cx="156" cy="259"/>
                </a:xfrm>
                <a:prstGeom prst="line">
                  <a:avLst/>
                </a:prstGeom>
                <a:ln w="9525" cap="flat" cmpd="sng">
                  <a:solidFill>
                    <a:schemeClr val="tx1"/>
                  </a:solidFill>
                  <a:prstDash val="solid"/>
                  <a:round/>
                  <a:headEnd type="none" w="med" len="med"/>
                  <a:tailEnd type="none" w="med" len="med"/>
                </a:ln>
              </p:spPr>
            </p:sp>
          </p:grpSp>
          <p:sp>
            <p:nvSpPr>
              <p:cNvPr id="67609" name="未知"/>
              <p:cNvSpPr/>
              <p:nvPr/>
            </p:nvSpPr>
            <p:spPr>
              <a:xfrm>
                <a:off x="0" y="606"/>
                <a:ext cx="376" cy="336"/>
              </a:xfrm>
              <a:custGeom>
                <a:avLst/>
                <a:gdLst/>
                <a:ahLst/>
                <a:cxnLst>
                  <a:cxn ang="0">
                    <a:pos x="136" y="336"/>
                  </a:cxn>
                  <a:cxn ang="0">
                    <a:pos x="40" y="240"/>
                  </a:cxn>
                  <a:cxn ang="0">
                    <a:pos x="376" y="0"/>
                  </a:cxn>
                </a:cxnLst>
                <a:pathLst>
                  <a:path w="376" h="336">
                    <a:moveTo>
                      <a:pt x="136" y="336"/>
                    </a:moveTo>
                    <a:cubicBezTo>
                      <a:pt x="68" y="316"/>
                      <a:pt x="0" y="296"/>
                      <a:pt x="40" y="240"/>
                    </a:cubicBezTo>
                    <a:cubicBezTo>
                      <a:pt x="80" y="184"/>
                      <a:pt x="320" y="40"/>
                      <a:pt x="376"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7610" name="未知"/>
              <p:cNvSpPr/>
              <p:nvPr/>
            </p:nvSpPr>
            <p:spPr>
              <a:xfrm>
                <a:off x="360" y="622"/>
                <a:ext cx="328" cy="288"/>
              </a:xfrm>
              <a:custGeom>
                <a:avLst/>
                <a:gdLst/>
                <a:ahLst/>
                <a:cxnLst>
                  <a:cxn ang="0">
                    <a:pos x="240" y="0"/>
                  </a:cxn>
                  <a:cxn ang="0">
                    <a:pos x="288" y="96"/>
                  </a:cxn>
                  <a:cxn ang="0">
                    <a:pos x="0" y="288"/>
                  </a:cxn>
                </a:cxnLst>
                <a:pathLst>
                  <a:path w="328" h="288">
                    <a:moveTo>
                      <a:pt x="240" y="0"/>
                    </a:moveTo>
                    <a:cubicBezTo>
                      <a:pt x="284" y="24"/>
                      <a:pt x="328" y="48"/>
                      <a:pt x="288" y="96"/>
                    </a:cubicBezTo>
                    <a:cubicBezTo>
                      <a:pt x="248" y="144"/>
                      <a:pt x="48" y="256"/>
                      <a:pt x="0" y="288"/>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7611" name="未知"/>
              <p:cNvSpPr/>
              <p:nvPr/>
            </p:nvSpPr>
            <p:spPr>
              <a:xfrm>
                <a:off x="376" y="606"/>
                <a:ext cx="528" cy="384"/>
              </a:xfrm>
              <a:custGeom>
                <a:avLst/>
                <a:gdLst/>
                <a:ahLst/>
                <a:cxnLst>
                  <a:cxn ang="0">
                    <a:pos x="0" y="384"/>
                  </a:cxn>
                  <a:cxn ang="0">
                    <a:pos x="528" y="0"/>
                  </a:cxn>
                </a:cxnLst>
                <a:pathLst>
                  <a:path w="528" h="384">
                    <a:moveTo>
                      <a:pt x="0" y="384"/>
                    </a:moveTo>
                    <a:cubicBezTo>
                      <a:pt x="220" y="224"/>
                      <a:pt x="440" y="64"/>
                      <a:pt x="528"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7612" name="未知"/>
              <p:cNvSpPr/>
              <p:nvPr/>
            </p:nvSpPr>
            <p:spPr>
              <a:xfrm>
                <a:off x="288" y="1046"/>
                <a:ext cx="376" cy="336"/>
              </a:xfrm>
              <a:custGeom>
                <a:avLst/>
                <a:gdLst/>
                <a:ahLst/>
                <a:cxnLst>
                  <a:cxn ang="0">
                    <a:pos x="136" y="336"/>
                  </a:cxn>
                  <a:cxn ang="0">
                    <a:pos x="40" y="240"/>
                  </a:cxn>
                  <a:cxn ang="0">
                    <a:pos x="376" y="0"/>
                  </a:cxn>
                </a:cxnLst>
                <a:pathLst>
                  <a:path w="376" h="336">
                    <a:moveTo>
                      <a:pt x="136" y="336"/>
                    </a:moveTo>
                    <a:cubicBezTo>
                      <a:pt x="68" y="316"/>
                      <a:pt x="0" y="296"/>
                      <a:pt x="40" y="240"/>
                    </a:cubicBezTo>
                    <a:cubicBezTo>
                      <a:pt x="80" y="184"/>
                      <a:pt x="320" y="40"/>
                      <a:pt x="376"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7613" name="未知"/>
              <p:cNvSpPr/>
              <p:nvPr/>
            </p:nvSpPr>
            <p:spPr>
              <a:xfrm>
                <a:off x="648" y="1062"/>
                <a:ext cx="328" cy="288"/>
              </a:xfrm>
              <a:custGeom>
                <a:avLst/>
                <a:gdLst/>
                <a:ahLst/>
                <a:cxnLst>
                  <a:cxn ang="0">
                    <a:pos x="240" y="0"/>
                  </a:cxn>
                  <a:cxn ang="0">
                    <a:pos x="288" y="96"/>
                  </a:cxn>
                  <a:cxn ang="0">
                    <a:pos x="0" y="288"/>
                  </a:cxn>
                </a:cxnLst>
                <a:pathLst>
                  <a:path w="328" h="288">
                    <a:moveTo>
                      <a:pt x="240" y="0"/>
                    </a:moveTo>
                    <a:cubicBezTo>
                      <a:pt x="284" y="24"/>
                      <a:pt x="328" y="48"/>
                      <a:pt x="288" y="96"/>
                    </a:cubicBezTo>
                    <a:cubicBezTo>
                      <a:pt x="248" y="144"/>
                      <a:pt x="48" y="256"/>
                      <a:pt x="0" y="288"/>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7614" name="Line 344"/>
              <p:cNvSpPr/>
              <p:nvPr/>
            </p:nvSpPr>
            <p:spPr>
              <a:xfrm flipV="1">
                <a:off x="672" y="1038"/>
                <a:ext cx="464" cy="416"/>
              </a:xfrm>
              <a:prstGeom prst="line">
                <a:avLst/>
              </a:prstGeom>
              <a:ln w="19050" cap="flat" cmpd="sng">
                <a:solidFill>
                  <a:schemeClr val="folHlink"/>
                </a:solidFill>
                <a:prstDash val="dash"/>
                <a:round/>
                <a:headEnd type="none" w="med" len="med"/>
                <a:tailEnd type="triangle" w="med" len="med"/>
              </a:ln>
            </p:spPr>
          </p:sp>
          <p:sp>
            <p:nvSpPr>
              <p:cNvPr id="67615" name="未知"/>
              <p:cNvSpPr/>
              <p:nvPr/>
            </p:nvSpPr>
            <p:spPr>
              <a:xfrm>
                <a:off x="1128" y="1510"/>
                <a:ext cx="288" cy="48"/>
              </a:xfrm>
              <a:custGeom>
                <a:avLst/>
                <a:gdLst/>
                <a:ahLst/>
                <a:cxnLst>
                  <a:cxn ang="0">
                    <a:pos x="288" y="0"/>
                  </a:cxn>
                  <a:cxn ang="0">
                    <a:pos x="240" y="48"/>
                  </a:cxn>
                  <a:cxn ang="0">
                    <a:pos x="0" y="0"/>
                  </a:cxn>
                </a:cxnLst>
                <a:pathLst>
                  <a:path w="288" h="48">
                    <a:moveTo>
                      <a:pt x="288" y="0"/>
                    </a:moveTo>
                    <a:cubicBezTo>
                      <a:pt x="288" y="24"/>
                      <a:pt x="288" y="48"/>
                      <a:pt x="240" y="48"/>
                    </a:cubicBezTo>
                    <a:cubicBezTo>
                      <a:pt x="192" y="48"/>
                      <a:pt x="40" y="8"/>
                      <a:pt x="0"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7616" name="未知"/>
              <p:cNvSpPr/>
              <p:nvPr/>
            </p:nvSpPr>
            <p:spPr>
              <a:xfrm>
                <a:off x="1624" y="1182"/>
                <a:ext cx="144" cy="240"/>
              </a:xfrm>
              <a:custGeom>
                <a:avLst/>
                <a:gdLst/>
                <a:ahLst/>
                <a:cxnLst>
                  <a:cxn ang="0">
                    <a:pos x="0" y="2147483647"/>
                  </a:cxn>
                  <a:cxn ang="0">
                    <a:pos x="63083" y="0"/>
                  </a:cxn>
                </a:cxnLst>
                <a:pathLst>
                  <a:path w="96" h="48">
                    <a:moveTo>
                      <a:pt x="0" y="48"/>
                    </a:moveTo>
                    <a:cubicBezTo>
                      <a:pt x="40" y="28"/>
                      <a:pt x="80" y="8"/>
                      <a:pt x="96"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7617" name="Rectangle 347"/>
              <p:cNvSpPr/>
              <p:nvPr/>
            </p:nvSpPr>
            <p:spPr>
              <a:xfrm>
                <a:off x="1624" y="990"/>
                <a:ext cx="408" cy="227"/>
              </a:xfrm>
              <a:prstGeom prst="rect">
                <a:avLst/>
              </a:prstGeom>
              <a:noFill/>
              <a:ln w="9525">
                <a:noFill/>
              </a:ln>
            </p:spPr>
            <p:txBody>
              <a:bodyPr wrap="none" anchor="ctr" anchorCtr="0"/>
              <a:p>
                <a:r>
                  <a:rPr lang="en-US" altLang="zh-CN" sz="2400" dirty="0">
                    <a:latin typeface="Times New Roman" panose="02020603050405020304" pitchFamily="18" charset="0"/>
                    <a:ea typeface="宋体" panose="02010600030101010101" pitchFamily="2" charset="-122"/>
                  </a:rPr>
                  <a:t>NIL</a:t>
                </a:r>
                <a:endParaRPr lang="en-US" altLang="zh-CN" sz="2400" dirty="0">
                  <a:latin typeface="Times New Roman" panose="02020603050405020304" pitchFamily="18" charset="0"/>
                  <a:ea typeface="宋体" panose="02010600030101010101" pitchFamily="2" charset="-122"/>
                </a:endParaRPr>
              </a:p>
            </p:txBody>
          </p:sp>
          <p:sp>
            <p:nvSpPr>
              <p:cNvPr id="67618" name="未知"/>
              <p:cNvSpPr/>
              <p:nvPr/>
            </p:nvSpPr>
            <p:spPr>
              <a:xfrm>
                <a:off x="1128" y="1102"/>
                <a:ext cx="91" cy="272"/>
              </a:xfrm>
              <a:custGeom>
                <a:avLst/>
                <a:gdLst/>
                <a:ahLst/>
                <a:cxnLst>
                  <a:cxn ang="0">
                    <a:pos x="0" y="1780"/>
                  </a:cxn>
                  <a:cxn ang="0">
                    <a:pos x="22" y="1420"/>
                  </a:cxn>
                  <a:cxn ang="0">
                    <a:pos x="42" y="0"/>
                  </a:cxn>
                </a:cxnLst>
                <a:pathLst>
                  <a:path w="96" h="240">
                    <a:moveTo>
                      <a:pt x="0" y="240"/>
                    </a:moveTo>
                    <a:cubicBezTo>
                      <a:pt x="16" y="236"/>
                      <a:pt x="32" y="232"/>
                      <a:pt x="48" y="192"/>
                    </a:cubicBezTo>
                    <a:cubicBezTo>
                      <a:pt x="64" y="152"/>
                      <a:pt x="88" y="32"/>
                      <a:pt x="96"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7619" name="Line 349"/>
              <p:cNvSpPr/>
              <p:nvPr/>
            </p:nvSpPr>
            <p:spPr>
              <a:xfrm>
                <a:off x="1144" y="1422"/>
                <a:ext cx="215" cy="0"/>
              </a:xfrm>
              <a:prstGeom prst="line">
                <a:avLst/>
              </a:prstGeom>
              <a:ln w="19050" cap="flat" cmpd="sng">
                <a:solidFill>
                  <a:schemeClr val="folHlink"/>
                </a:solidFill>
                <a:prstDash val="dash"/>
                <a:round/>
                <a:headEnd type="none" w="med" len="med"/>
                <a:tailEnd type="triangle" w="med" len="med"/>
              </a:ln>
            </p:spPr>
          </p:sp>
        </p:grpSp>
      </p:grpSp>
      <p:grpSp>
        <p:nvGrpSpPr>
          <p:cNvPr id="67620" name="Group 351"/>
          <p:cNvGrpSpPr/>
          <p:nvPr/>
        </p:nvGrpSpPr>
        <p:grpSpPr>
          <a:xfrm>
            <a:off x="1937703" y="2667000"/>
            <a:ext cx="2374900" cy="3097213"/>
            <a:chOff x="657" y="1298"/>
            <a:chExt cx="1496" cy="1951"/>
          </a:xfrm>
        </p:grpSpPr>
        <p:grpSp>
          <p:nvGrpSpPr>
            <p:cNvPr id="67621" name="Group 236"/>
            <p:cNvGrpSpPr/>
            <p:nvPr/>
          </p:nvGrpSpPr>
          <p:grpSpPr>
            <a:xfrm>
              <a:off x="657" y="1298"/>
              <a:ext cx="1496" cy="1542"/>
              <a:chOff x="0" y="0"/>
              <a:chExt cx="1547" cy="1648"/>
            </a:xfrm>
          </p:grpSpPr>
          <p:sp>
            <p:nvSpPr>
              <p:cNvPr id="67622" name="Oval 237"/>
              <p:cNvSpPr/>
              <p:nvPr/>
            </p:nvSpPr>
            <p:spPr>
              <a:xfrm>
                <a:off x="495" y="0"/>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67623" name="Oval 238"/>
              <p:cNvSpPr/>
              <p:nvPr/>
            </p:nvSpPr>
            <p:spPr>
              <a:xfrm>
                <a:off x="1028" y="939"/>
                <a:ext cx="268"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67624" name="Oval 239"/>
              <p:cNvSpPr/>
              <p:nvPr/>
            </p:nvSpPr>
            <p:spPr>
              <a:xfrm>
                <a:off x="777"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67625" name="Oval 240"/>
              <p:cNvSpPr/>
              <p:nvPr/>
            </p:nvSpPr>
            <p:spPr>
              <a:xfrm>
                <a:off x="1280"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67626" name="Line 241"/>
              <p:cNvSpPr/>
              <p:nvPr/>
            </p:nvSpPr>
            <p:spPr>
              <a:xfrm flipH="1">
                <a:off x="919" y="1145"/>
                <a:ext cx="157" cy="259"/>
              </a:xfrm>
              <a:prstGeom prst="line">
                <a:avLst/>
              </a:prstGeom>
              <a:ln w="9525" cap="flat" cmpd="sng">
                <a:solidFill>
                  <a:schemeClr val="tx1"/>
                </a:solidFill>
                <a:prstDash val="solid"/>
                <a:round/>
                <a:headEnd type="none" w="med" len="med"/>
                <a:tailEnd type="none" w="med" len="med"/>
              </a:ln>
            </p:spPr>
          </p:sp>
          <p:sp>
            <p:nvSpPr>
              <p:cNvPr id="67627" name="Oval 242"/>
              <p:cNvSpPr/>
              <p:nvPr/>
            </p:nvSpPr>
            <p:spPr>
              <a:xfrm>
                <a:off x="541" y="94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67628" name="Oval 243"/>
              <p:cNvSpPr/>
              <p:nvPr/>
            </p:nvSpPr>
            <p:spPr>
              <a:xfrm>
                <a:off x="290" y="1411"/>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67629" name="Oval 244"/>
              <p:cNvSpPr/>
              <p:nvPr/>
            </p:nvSpPr>
            <p:spPr>
              <a:xfrm>
                <a:off x="251" y="473"/>
                <a:ext cx="268" cy="238"/>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7630" name="Oval 245"/>
              <p:cNvSpPr/>
              <p:nvPr/>
            </p:nvSpPr>
            <p:spPr>
              <a:xfrm>
                <a:off x="0" y="945"/>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7631" name="Oval 246"/>
              <p:cNvSpPr/>
              <p:nvPr/>
            </p:nvSpPr>
            <p:spPr>
              <a:xfrm>
                <a:off x="780" y="46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7632" name="Line 247"/>
              <p:cNvSpPr/>
              <p:nvPr/>
            </p:nvSpPr>
            <p:spPr>
              <a:xfrm>
                <a:off x="992" y="688"/>
                <a:ext cx="156" cy="259"/>
              </a:xfrm>
              <a:prstGeom prst="line">
                <a:avLst/>
              </a:prstGeom>
              <a:ln w="9525" cap="flat" cmpd="sng">
                <a:solidFill>
                  <a:schemeClr val="tx1"/>
                </a:solidFill>
                <a:prstDash val="solid"/>
                <a:round/>
                <a:headEnd type="none" w="med" len="med"/>
                <a:tailEnd type="none" w="med" len="med"/>
              </a:ln>
            </p:spPr>
          </p:sp>
          <p:sp>
            <p:nvSpPr>
              <p:cNvPr id="67633" name="Line 248"/>
              <p:cNvSpPr/>
              <p:nvPr/>
            </p:nvSpPr>
            <p:spPr>
              <a:xfrm flipH="1">
                <a:off x="439" y="1160"/>
                <a:ext cx="156" cy="259"/>
              </a:xfrm>
              <a:prstGeom prst="line">
                <a:avLst/>
              </a:prstGeom>
              <a:ln w="9525" cap="flat" cmpd="sng">
                <a:solidFill>
                  <a:schemeClr val="tx1"/>
                </a:solidFill>
                <a:prstDash val="solid"/>
                <a:round/>
                <a:headEnd type="none" w="med" len="med"/>
                <a:tailEnd type="none" w="med" len="med"/>
              </a:ln>
            </p:spPr>
          </p:sp>
          <p:sp>
            <p:nvSpPr>
              <p:cNvPr id="67634" name="Line 249"/>
              <p:cNvSpPr/>
              <p:nvPr/>
            </p:nvSpPr>
            <p:spPr>
              <a:xfrm flipH="1">
                <a:off x="699" y="688"/>
                <a:ext cx="156" cy="259"/>
              </a:xfrm>
              <a:prstGeom prst="line">
                <a:avLst/>
              </a:prstGeom>
              <a:ln w="9525" cap="flat" cmpd="sng">
                <a:solidFill>
                  <a:schemeClr val="tx1"/>
                </a:solidFill>
                <a:prstDash val="solid"/>
                <a:round/>
                <a:headEnd type="none" w="med" len="med"/>
                <a:tailEnd type="none" w="med" len="med"/>
              </a:ln>
            </p:spPr>
          </p:sp>
          <p:sp>
            <p:nvSpPr>
              <p:cNvPr id="67635" name="Line 250"/>
              <p:cNvSpPr/>
              <p:nvPr/>
            </p:nvSpPr>
            <p:spPr>
              <a:xfrm flipH="1">
                <a:off x="166" y="695"/>
                <a:ext cx="156" cy="259"/>
              </a:xfrm>
              <a:prstGeom prst="line">
                <a:avLst/>
              </a:prstGeom>
              <a:ln w="9525" cap="flat" cmpd="sng">
                <a:solidFill>
                  <a:schemeClr val="tx1"/>
                </a:solidFill>
                <a:prstDash val="solid"/>
                <a:round/>
                <a:headEnd type="none" w="med" len="med"/>
                <a:tailEnd type="none" w="med" len="med"/>
              </a:ln>
            </p:spPr>
          </p:sp>
          <p:sp>
            <p:nvSpPr>
              <p:cNvPr id="67636" name="Line 251"/>
              <p:cNvSpPr/>
              <p:nvPr/>
            </p:nvSpPr>
            <p:spPr>
              <a:xfrm flipH="1">
                <a:off x="410" y="222"/>
                <a:ext cx="156" cy="259"/>
              </a:xfrm>
              <a:prstGeom prst="line">
                <a:avLst/>
              </a:prstGeom>
              <a:ln w="9525" cap="flat" cmpd="sng">
                <a:solidFill>
                  <a:schemeClr val="tx1"/>
                </a:solidFill>
                <a:prstDash val="solid"/>
                <a:round/>
                <a:headEnd type="none" w="med" len="med"/>
                <a:tailEnd type="none" w="med" len="med"/>
              </a:ln>
            </p:spPr>
          </p:sp>
          <p:sp>
            <p:nvSpPr>
              <p:cNvPr id="67637" name="Line 252"/>
              <p:cNvSpPr/>
              <p:nvPr/>
            </p:nvSpPr>
            <p:spPr>
              <a:xfrm>
                <a:off x="1233" y="1153"/>
                <a:ext cx="156" cy="259"/>
              </a:xfrm>
              <a:prstGeom prst="line">
                <a:avLst/>
              </a:prstGeom>
              <a:ln w="9525" cap="flat" cmpd="sng">
                <a:solidFill>
                  <a:schemeClr val="tx1"/>
                </a:solidFill>
                <a:prstDash val="solid"/>
                <a:round/>
                <a:headEnd type="none" w="med" len="med"/>
                <a:tailEnd type="none" w="med" len="med"/>
              </a:ln>
            </p:spPr>
          </p:sp>
          <p:sp>
            <p:nvSpPr>
              <p:cNvPr id="67638" name="Line 253"/>
              <p:cNvSpPr/>
              <p:nvPr/>
            </p:nvSpPr>
            <p:spPr>
              <a:xfrm>
                <a:off x="707" y="215"/>
                <a:ext cx="156" cy="259"/>
              </a:xfrm>
              <a:prstGeom prst="line">
                <a:avLst/>
              </a:prstGeom>
              <a:ln w="9525" cap="flat" cmpd="sng">
                <a:solidFill>
                  <a:schemeClr val="tx1"/>
                </a:solidFill>
                <a:prstDash val="solid"/>
                <a:round/>
                <a:headEnd type="none" w="med" len="med"/>
                <a:tailEnd type="none" w="med" len="med"/>
              </a:ln>
            </p:spPr>
          </p:sp>
        </p:grpSp>
        <p:sp>
          <p:nvSpPr>
            <p:cNvPr id="67639" name="Rectangle 350"/>
            <p:cNvSpPr/>
            <p:nvPr/>
          </p:nvSpPr>
          <p:spPr>
            <a:xfrm>
              <a:off x="975" y="3022"/>
              <a:ext cx="816" cy="227"/>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a)  </a:t>
              </a:r>
              <a:r>
                <a:rPr lang="zh-CN" altLang="en-US" sz="2000" b="1" dirty="0">
                  <a:latin typeface="Times New Roman" panose="02020603050405020304" pitchFamily="18" charset="0"/>
                  <a:ea typeface="宋体" panose="02010600030101010101" pitchFamily="2" charset="-122"/>
                </a:rPr>
                <a:t>二叉树</a:t>
              </a:r>
              <a:r>
                <a:rPr lang="zh-CN" altLang="en-US"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rPr>
              <a:t>先序线索树的非递归遍历</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90000"/>
              </a:lnSpc>
              <a:spcBef>
                <a:spcPct val="20000"/>
              </a:spcBef>
              <a:spcAft>
                <a:spcPct val="0"/>
              </a:spcAft>
              <a:buClr>
                <a:schemeClr val="accent1"/>
              </a:buClr>
              <a:buSzTx/>
              <a:buFont typeface="Wingdings" panose="05000000000000000000" pitchFamily="2" charset="2"/>
              <a:buNone/>
              <a:defRPr/>
            </a:pPr>
            <a:r>
              <a:rPr lang="en-US" altLang="zh-CN" b="1" noProof="0" smtClean="0">
                <a:ln>
                  <a:noFill/>
                </a:ln>
                <a:effectLst/>
                <a:uLnTx/>
                <a:uFillTx/>
                <a:cs typeface="+mn-cs"/>
                <a:sym typeface="+mn-ea"/>
              </a:rPr>
              <a:t>void preorder_Thread(BiThrNode *T)</a:t>
            </a:r>
            <a:endParaRPr kumimoji="0" lang="en-US" altLang="zh-CN" b="1" i="0" u="none" strike="noStrike" kern="0" cap="none" spc="0" normalizeH="0" baseline="0" noProof="0" smtClean="0">
              <a:ln>
                <a:noFill/>
              </a:ln>
              <a:solidFill>
                <a:schemeClr val="tx1"/>
              </a:solidFill>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accent1"/>
              </a:buClr>
              <a:buSzTx/>
              <a:buFont typeface="Wingdings" panose="05000000000000000000" pitchFamily="2" charset="2"/>
              <a:buNone/>
              <a:defRPr/>
            </a:pPr>
            <a:r>
              <a:rPr lang="en-US" altLang="zh-CN" b="1" noProof="0" smtClean="0">
                <a:ln>
                  <a:noFill/>
                </a:ln>
                <a:effectLst/>
                <a:uLnTx/>
                <a:uFillTx/>
                <a:cs typeface="+mn-cs"/>
                <a:sym typeface="+mn-ea"/>
              </a:rPr>
              <a:t>{  BiThrNode  *p=T ;</a:t>
            </a:r>
            <a:endParaRPr kumimoji="0" lang="en-US" altLang="zh-CN" b="1" i="0" u="none" strike="noStrike" kern="0" cap="none" spc="0" normalizeH="0" baseline="0" noProof="0" smtClean="0">
              <a:ln>
                <a:noFill/>
              </a:ln>
              <a:solidFill>
                <a:schemeClr val="tx1"/>
              </a:solidFill>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accent1"/>
              </a:buClr>
              <a:buSzTx/>
              <a:buFont typeface="Wingdings" panose="05000000000000000000" pitchFamily="2" charset="2"/>
              <a:buNone/>
              <a:defRPr/>
            </a:pPr>
            <a:r>
              <a:rPr lang="en-US" altLang="zh-CN" b="1" noProof="0" smtClean="0">
                <a:ln>
                  <a:noFill/>
                </a:ln>
                <a:effectLst/>
                <a:uLnTx/>
                <a:uFillTx/>
                <a:cs typeface="+mn-cs"/>
                <a:sym typeface="+mn-ea"/>
              </a:rPr>
              <a:t>   while (p!=NULL)</a:t>
            </a:r>
            <a:endParaRPr kumimoji="0" lang="en-US" altLang="zh-CN" b="1" i="0" u="none" strike="noStrike" kern="0" cap="none" spc="0" normalizeH="0" baseline="0" noProof="0" smtClean="0">
              <a:ln>
                <a:noFill/>
              </a:ln>
              <a:solidFill>
                <a:schemeClr val="tx1"/>
              </a:solidFill>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accent1"/>
              </a:buClr>
              <a:buSzTx/>
              <a:buFont typeface="Wingdings" panose="05000000000000000000" pitchFamily="2" charset="2"/>
              <a:buNone/>
              <a:defRPr/>
            </a:pPr>
            <a:r>
              <a:rPr lang="en-US" altLang="zh-CN" b="1" noProof="0" smtClean="0">
                <a:ln>
                  <a:noFill/>
                </a:ln>
                <a:effectLst/>
                <a:uLnTx/>
                <a:uFillTx/>
                <a:cs typeface="+mn-cs"/>
                <a:sym typeface="+mn-ea"/>
              </a:rPr>
              <a:t>    {  visit(p-&gt;data) ;</a:t>
            </a:r>
            <a:endParaRPr kumimoji="0" lang="en-US" altLang="zh-CN" b="1" i="0" u="none" strike="noStrike" kern="0" cap="none" spc="0" normalizeH="0" baseline="0" noProof="0" smtClean="0">
              <a:ln>
                <a:noFill/>
              </a:ln>
              <a:solidFill>
                <a:schemeClr val="tx1"/>
              </a:solidFill>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accent1"/>
              </a:buClr>
              <a:buSzTx/>
              <a:buFont typeface="Wingdings" panose="05000000000000000000" pitchFamily="2" charset="2"/>
              <a:buNone/>
              <a:defRPr/>
            </a:pPr>
            <a:r>
              <a:rPr lang="en-US" altLang="zh-CN" b="1" noProof="0" smtClean="0">
                <a:ln>
                  <a:noFill/>
                </a:ln>
                <a:effectLst/>
                <a:uLnTx/>
                <a:uFillTx/>
                <a:cs typeface="+mn-cs"/>
                <a:sym typeface="+mn-ea"/>
              </a:rPr>
              <a:t>        if (p-&gt;Ltag==0)  //</a:t>
            </a:r>
            <a:r>
              <a:rPr lang="zh-CN" altLang="en-US" sz="2400" b="1" noProof="0" smtClean="0">
                <a:ln>
                  <a:noFill/>
                </a:ln>
                <a:effectLst/>
                <a:uLnTx/>
                <a:uFillTx/>
                <a:latin typeface="黑体" panose="02010609060101010101" pitchFamily="2" charset="-122"/>
                <a:ea typeface="黑体" panose="02010609060101010101" pitchFamily="2" charset="-122"/>
                <a:cs typeface="+mn-cs"/>
                <a:sym typeface="+mn-ea"/>
              </a:rPr>
              <a:t>左孩子存在</a:t>
            </a:r>
            <a:endParaRPr lang="en-US" altLang="zh-CN" b="1" noProof="0" smtClean="0">
              <a:ln>
                <a:noFill/>
              </a:ln>
              <a:effectLst/>
              <a:uLnTx/>
              <a:uFillTx/>
              <a:cs typeface="+mn-cs"/>
              <a:sym typeface="+mn-ea"/>
            </a:endParaRPr>
          </a:p>
          <a:p>
            <a:pPr marL="609600" marR="0" lvl="0" indent="457200" algn="l" defTabSz="914400" rtl="0" eaLnBrk="1" fontAlgn="base" latinLnBrk="0" hangingPunct="1">
              <a:lnSpc>
                <a:spcPct val="90000"/>
              </a:lnSpc>
              <a:spcBef>
                <a:spcPct val="20000"/>
              </a:spcBef>
              <a:spcAft>
                <a:spcPct val="0"/>
              </a:spcAft>
              <a:buClr>
                <a:schemeClr val="accent1"/>
              </a:buClr>
              <a:buSzTx/>
              <a:buFont typeface="Wingdings" panose="05000000000000000000" pitchFamily="2" charset="2"/>
              <a:buNone/>
              <a:defRPr/>
            </a:pPr>
            <a:r>
              <a:rPr lang="en-US" altLang="zh-CN" b="1" noProof="0" smtClean="0">
                <a:ln>
                  <a:noFill/>
                </a:ln>
                <a:effectLst/>
                <a:uLnTx/>
                <a:uFillTx/>
                <a:cs typeface="+mn-cs"/>
                <a:sym typeface="+mn-ea"/>
              </a:rPr>
              <a:t>      p=p-&gt;Lchild ;</a:t>
            </a:r>
            <a:endParaRPr kumimoji="0" lang="en-US" altLang="zh-CN" b="1" i="0" u="none" strike="noStrike" kern="0" cap="none" spc="0" normalizeH="0" baseline="0" noProof="0" smtClean="0">
              <a:ln>
                <a:noFill/>
              </a:ln>
              <a:solidFill>
                <a:schemeClr val="tx1"/>
              </a:solidFill>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accent1"/>
              </a:buClr>
              <a:buSzTx/>
              <a:buFont typeface="Wingdings" panose="05000000000000000000" pitchFamily="2" charset="2"/>
              <a:buNone/>
              <a:defRPr/>
            </a:pPr>
            <a:r>
              <a:rPr lang="en-US" altLang="zh-CN" b="1" noProof="0" smtClean="0">
                <a:ln>
                  <a:noFill/>
                </a:ln>
                <a:effectLst/>
                <a:uLnTx/>
                <a:uFillTx/>
                <a:cs typeface="+mn-cs"/>
                <a:sym typeface="+mn-ea"/>
              </a:rPr>
              <a:t>        else  </a:t>
            </a:r>
            <a:r>
              <a:rPr lang="en-US" altLang="zh-CN" sz="2400" b="1" noProof="0" smtClean="0">
                <a:ln>
                  <a:noFill/>
                </a:ln>
                <a:effectLst/>
                <a:uLnTx/>
                <a:uFillTx/>
                <a:sym typeface="+mn-ea"/>
              </a:rPr>
              <a:t>//</a:t>
            </a:r>
            <a:r>
              <a:rPr lang="zh-CN" altLang="en-US" sz="2400" b="1" noProof="0" smtClean="0">
                <a:ln>
                  <a:noFill/>
                </a:ln>
                <a:effectLst/>
                <a:uLnTx/>
                <a:uFillTx/>
                <a:latin typeface="黑体" panose="02010609060101010101" pitchFamily="2" charset="-122"/>
                <a:ea typeface="黑体" panose="02010609060101010101" pitchFamily="2" charset="-122"/>
                <a:sym typeface="+mn-ea"/>
              </a:rPr>
              <a:t>左孩子不存在，访问后继</a:t>
            </a:r>
            <a:endParaRPr lang="en-US" altLang="zh-CN" b="1" noProof="0" smtClean="0">
              <a:ln>
                <a:noFill/>
              </a:ln>
              <a:effectLst/>
              <a:uLnTx/>
              <a:uFillTx/>
              <a:cs typeface="+mn-cs"/>
              <a:sym typeface="+mn-ea"/>
            </a:endParaRPr>
          </a:p>
          <a:p>
            <a:pPr marL="609600" marR="0" lvl="0" indent="-609600" algn="l" defTabSz="914400" rtl="0" eaLnBrk="1" fontAlgn="base" latinLnBrk="0" hangingPunct="1">
              <a:lnSpc>
                <a:spcPct val="90000"/>
              </a:lnSpc>
              <a:spcBef>
                <a:spcPct val="20000"/>
              </a:spcBef>
              <a:spcAft>
                <a:spcPct val="0"/>
              </a:spcAft>
              <a:buClr>
                <a:schemeClr val="accent1"/>
              </a:buClr>
              <a:buSzTx/>
              <a:buFont typeface="Wingdings" panose="05000000000000000000" pitchFamily="2" charset="2"/>
              <a:buNone/>
              <a:defRPr/>
            </a:pPr>
            <a:r>
              <a:rPr lang="en-US" altLang="zh-CN" b="1" noProof="0" smtClean="0">
                <a:ln>
                  <a:noFill/>
                </a:ln>
                <a:effectLst/>
                <a:uLnTx/>
                <a:uFillTx/>
                <a:cs typeface="+mn-cs"/>
                <a:sym typeface="+mn-ea"/>
              </a:rPr>
              <a:t>            p=p-&gt;Rchild</a:t>
            </a:r>
            <a:endParaRPr kumimoji="0" lang="en-US" altLang="zh-CN" b="1" i="0" u="none" strike="noStrike" kern="0" cap="none" spc="0" normalizeH="0" baseline="0" noProof="0" smtClean="0">
              <a:ln>
                <a:noFill/>
              </a:ln>
              <a:solidFill>
                <a:schemeClr val="tx1"/>
              </a:solidFill>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accent1"/>
              </a:buClr>
              <a:buSzTx/>
              <a:buFont typeface="Wingdings" panose="05000000000000000000" pitchFamily="2" charset="2"/>
              <a:buNone/>
              <a:defRPr/>
            </a:pPr>
            <a:r>
              <a:rPr lang="en-US" altLang="zh-CN" b="1" noProof="0" smtClean="0">
                <a:ln>
                  <a:noFill/>
                </a:ln>
                <a:effectLst/>
                <a:uLnTx/>
                <a:uFillTx/>
                <a:cs typeface="+mn-cs"/>
                <a:sym typeface="+mn-ea"/>
              </a:rPr>
              <a:t>     }</a:t>
            </a:r>
            <a:endParaRPr kumimoji="0" lang="en-US" altLang="zh-CN" b="1" i="0" u="none" strike="noStrike" kern="0" cap="none" spc="0" normalizeH="0" baseline="0" noProof="0" smtClean="0">
              <a:ln>
                <a:noFill/>
              </a:ln>
              <a:solidFill>
                <a:schemeClr val="tx1"/>
              </a:solidFill>
              <a:effectLst/>
              <a:uLnTx/>
              <a:uFillTx/>
              <a:latin typeface="+mn-lt"/>
              <a:ea typeface="+mn-ea"/>
              <a:cs typeface="+mn-cs"/>
            </a:endParaRPr>
          </a:p>
          <a:p>
            <a:pPr marL="609600" marR="0" lvl="0" indent="-609600" algn="l" defTabSz="914400" rtl="0" eaLnBrk="1" fontAlgn="base" latinLnBrk="0" hangingPunct="1">
              <a:lnSpc>
                <a:spcPct val="90000"/>
              </a:lnSpc>
              <a:spcBef>
                <a:spcPct val="20000"/>
              </a:spcBef>
              <a:spcAft>
                <a:spcPct val="0"/>
              </a:spcAft>
              <a:buClr>
                <a:schemeClr val="accent1"/>
              </a:buClr>
              <a:buSzTx/>
              <a:buFont typeface="Wingdings" panose="05000000000000000000" pitchFamily="2" charset="2"/>
              <a:buNone/>
              <a:defRPr/>
            </a:pPr>
            <a:r>
              <a:rPr lang="en-US" altLang="zh-CN" b="1" noProof="0" smtClean="0">
                <a:ln>
                  <a:noFill/>
                </a:ln>
                <a:effectLst/>
                <a:uLnTx/>
                <a:uFillTx/>
                <a:cs typeface="+mn-cs"/>
                <a:sym typeface="+mn-ea"/>
              </a:rPr>
              <a:t>} </a:t>
            </a:r>
            <a:endParaRPr kumimoji="0" lang="en-US" altLang="zh-CN" b="1" i="0" u="none" strike="noStrike" kern="0" cap="none" spc="0" normalizeH="0" baseline="0" noProof="0" smtClean="0">
              <a:ln>
                <a:noFill/>
              </a:ln>
              <a:solidFill>
                <a:schemeClr val="tx1"/>
              </a:solidFill>
              <a:effectLst/>
              <a:uLnTx/>
              <a:uFillTx/>
              <a:latin typeface="+mn-lt"/>
              <a:ea typeface="+mn-ea"/>
              <a:cs typeface="+mn-cs"/>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7588" name="Group 318"/>
          <p:cNvGrpSpPr/>
          <p:nvPr/>
        </p:nvGrpSpPr>
        <p:grpSpPr>
          <a:xfrm>
            <a:off x="8054975" y="1875155"/>
            <a:ext cx="3454400" cy="3214688"/>
            <a:chOff x="2640" y="73"/>
            <a:chExt cx="2176" cy="2025"/>
          </a:xfrm>
        </p:grpSpPr>
        <p:sp>
          <p:nvSpPr>
            <p:cNvPr id="67589" name="Rectangle 319"/>
            <p:cNvSpPr/>
            <p:nvPr/>
          </p:nvSpPr>
          <p:spPr>
            <a:xfrm>
              <a:off x="2640" y="1735"/>
              <a:ext cx="2176" cy="363"/>
            </a:xfrm>
            <a:prstGeom prst="rect">
              <a:avLst/>
            </a:prstGeom>
            <a:noFill/>
            <a:ln w="9525">
              <a:noFill/>
            </a:ln>
          </p:spPr>
          <p:txBody>
            <a:bodyPr wrap="none" anchor="ctr" anchorCtr="0"/>
            <a:p>
              <a:pPr marL="457200" indent="-457200"/>
              <a:r>
                <a:rPr lang="en-US" altLang="zh-CN" sz="2000" b="1" dirty="0">
                  <a:latin typeface="Times New Roman" panose="02020603050405020304" pitchFamily="18" charset="0"/>
                  <a:ea typeface="宋体" panose="02010600030101010101" pitchFamily="2" charset="-122"/>
                </a:rPr>
                <a:t>(b)   </a:t>
              </a:r>
              <a:r>
                <a:rPr lang="zh-CN" altLang="en-US" sz="2000" b="1" dirty="0">
                  <a:latin typeface="Times New Roman" panose="02020603050405020304" pitchFamily="18" charset="0"/>
                  <a:ea typeface="宋体" panose="02010600030101010101" pitchFamily="2" charset="-122"/>
                </a:rPr>
                <a:t>先序线索树的逻辑形式</a:t>
              </a:r>
              <a:endParaRPr lang="zh-CN" altLang="en-US" sz="2000" b="1" dirty="0">
                <a:latin typeface="Times New Roman" panose="02020603050405020304" pitchFamily="18" charset="0"/>
                <a:ea typeface="宋体" panose="02010600030101010101" pitchFamily="2" charset="-122"/>
              </a:endParaRPr>
            </a:p>
            <a:p>
              <a:pPr marL="457200" indent="-457200"/>
              <a:r>
                <a:rPr lang="zh-CN" altLang="en-US" sz="2000" b="1" dirty="0">
                  <a:latin typeface="Times New Roman" panose="02020603050405020304" pitchFamily="18" charset="0"/>
                  <a:ea typeface="宋体" panose="02010600030101010101" pitchFamily="2" charset="-122"/>
                </a:rPr>
                <a:t>        结点序列：</a:t>
              </a:r>
              <a:r>
                <a:rPr lang="en-US" altLang="zh-CN" sz="2000" b="1" dirty="0">
                  <a:latin typeface="Times New Roman" panose="02020603050405020304" pitchFamily="18" charset="0"/>
                  <a:ea typeface="宋体" panose="02010600030101010101" pitchFamily="2" charset="-122"/>
                </a:rPr>
                <a:t>ABDCEGFHI</a:t>
              </a:r>
              <a:endParaRPr lang="en-US" altLang="zh-CN" sz="2000" b="1" dirty="0">
                <a:latin typeface="Times New Roman" panose="02020603050405020304" pitchFamily="18" charset="0"/>
                <a:ea typeface="宋体" panose="02010600030101010101" pitchFamily="2" charset="-122"/>
              </a:endParaRPr>
            </a:p>
          </p:txBody>
        </p:sp>
        <p:grpSp>
          <p:nvGrpSpPr>
            <p:cNvPr id="67590" name="Group 320"/>
            <p:cNvGrpSpPr/>
            <p:nvPr/>
          </p:nvGrpSpPr>
          <p:grpSpPr>
            <a:xfrm>
              <a:off x="2696" y="73"/>
              <a:ext cx="2032" cy="1558"/>
              <a:chOff x="0" y="0"/>
              <a:chExt cx="2032" cy="1558"/>
            </a:xfrm>
          </p:grpSpPr>
          <p:grpSp>
            <p:nvGrpSpPr>
              <p:cNvPr id="67591" name="Group 321"/>
              <p:cNvGrpSpPr/>
              <p:nvPr/>
            </p:nvGrpSpPr>
            <p:grpSpPr>
              <a:xfrm>
                <a:off x="128" y="0"/>
                <a:ext cx="1496" cy="1542"/>
                <a:chOff x="0" y="0"/>
                <a:chExt cx="1547" cy="1648"/>
              </a:xfrm>
            </p:grpSpPr>
            <p:sp>
              <p:nvSpPr>
                <p:cNvPr id="67592" name="Oval 322"/>
                <p:cNvSpPr/>
                <p:nvPr/>
              </p:nvSpPr>
              <p:spPr>
                <a:xfrm>
                  <a:off x="495" y="0"/>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67593" name="Oval 323"/>
                <p:cNvSpPr/>
                <p:nvPr/>
              </p:nvSpPr>
              <p:spPr>
                <a:xfrm>
                  <a:off x="1028" y="939"/>
                  <a:ext cx="268"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67594" name="Oval 324"/>
                <p:cNvSpPr/>
                <p:nvPr/>
              </p:nvSpPr>
              <p:spPr>
                <a:xfrm>
                  <a:off x="777"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67595" name="Oval 325"/>
                <p:cNvSpPr/>
                <p:nvPr/>
              </p:nvSpPr>
              <p:spPr>
                <a:xfrm>
                  <a:off x="1280"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67596" name="Line 326"/>
                <p:cNvSpPr/>
                <p:nvPr/>
              </p:nvSpPr>
              <p:spPr>
                <a:xfrm flipH="1">
                  <a:off x="919" y="1145"/>
                  <a:ext cx="157" cy="259"/>
                </a:xfrm>
                <a:prstGeom prst="line">
                  <a:avLst/>
                </a:prstGeom>
                <a:ln w="9525" cap="flat" cmpd="sng">
                  <a:solidFill>
                    <a:schemeClr val="tx1"/>
                  </a:solidFill>
                  <a:prstDash val="solid"/>
                  <a:round/>
                  <a:headEnd type="none" w="med" len="med"/>
                  <a:tailEnd type="none" w="med" len="med"/>
                </a:ln>
              </p:spPr>
            </p:sp>
            <p:sp>
              <p:nvSpPr>
                <p:cNvPr id="67597" name="Oval 327"/>
                <p:cNvSpPr/>
                <p:nvPr/>
              </p:nvSpPr>
              <p:spPr>
                <a:xfrm>
                  <a:off x="541" y="94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67598" name="Oval 328"/>
                <p:cNvSpPr/>
                <p:nvPr/>
              </p:nvSpPr>
              <p:spPr>
                <a:xfrm>
                  <a:off x="290" y="1411"/>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67599" name="Oval 329"/>
                <p:cNvSpPr/>
                <p:nvPr/>
              </p:nvSpPr>
              <p:spPr>
                <a:xfrm>
                  <a:off x="251" y="473"/>
                  <a:ext cx="268" cy="238"/>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7600" name="Oval 330"/>
                <p:cNvSpPr/>
                <p:nvPr/>
              </p:nvSpPr>
              <p:spPr>
                <a:xfrm>
                  <a:off x="0" y="945"/>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7601" name="Oval 331"/>
                <p:cNvSpPr/>
                <p:nvPr/>
              </p:nvSpPr>
              <p:spPr>
                <a:xfrm>
                  <a:off x="780" y="46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7602" name="Line 332"/>
                <p:cNvSpPr/>
                <p:nvPr/>
              </p:nvSpPr>
              <p:spPr>
                <a:xfrm>
                  <a:off x="992" y="688"/>
                  <a:ext cx="156" cy="259"/>
                </a:xfrm>
                <a:prstGeom prst="line">
                  <a:avLst/>
                </a:prstGeom>
                <a:ln w="9525" cap="flat" cmpd="sng">
                  <a:solidFill>
                    <a:schemeClr val="tx1"/>
                  </a:solidFill>
                  <a:prstDash val="solid"/>
                  <a:round/>
                  <a:headEnd type="none" w="med" len="med"/>
                  <a:tailEnd type="none" w="med" len="med"/>
                </a:ln>
              </p:spPr>
            </p:sp>
            <p:sp>
              <p:nvSpPr>
                <p:cNvPr id="67603" name="Line 333"/>
                <p:cNvSpPr/>
                <p:nvPr/>
              </p:nvSpPr>
              <p:spPr>
                <a:xfrm flipH="1">
                  <a:off x="439" y="1160"/>
                  <a:ext cx="156" cy="259"/>
                </a:xfrm>
                <a:prstGeom prst="line">
                  <a:avLst/>
                </a:prstGeom>
                <a:ln w="9525" cap="flat" cmpd="sng">
                  <a:solidFill>
                    <a:schemeClr val="tx1"/>
                  </a:solidFill>
                  <a:prstDash val="solid"/>
                  <a:round/>
                  <a:headEnd type="none" w="med" len="med"/>
                  <a:tailEnd type="none" w="med" len="med"/>
                </a:ln>
              </p:spPr>
            </p:sp>
            <p:sp>
              <p:nvSpPr>
                <p:cNvPr id="67604" name="Line 334"/>
                <p:cNvSpPr/>
                <p:nvPr/>
              </p:nvSpPr>
              <p:spPr>
                <a:xfrm flipH="1">
                  <a:off x="699" y="688"/>
                  <a:ext cx="156" cy="259"/>
                </a:xfrm>
                <a:prstGeom prst="line">
                  <a:avLst/>
                </a:prstGeom>
                <a:ln w="9525" cap="flat" cmpd="sng">
                  <a:solidFill>
                    <a:schemeClr val="tx1"/>
                  </a:solidFill>
                  <a:prstDash val="solid"/>
                  <a:round/>
                  <a:headEnd type="none" w="med" len="med"/>
                  <a:tailEnd type="none" w="med" len="med"/>
                </a:ln>
              </p:spPr>
            </p:sp>
            <p:sp>
              <p:nvSpPr>
                <p:cNvPr id="67605" name="Line 335"/>
                <p:cNvSpPr/>
                <p:nvPr/>
              </p:nvSpPr>
              <p:spPr>
                <a:xfrm flipH="1">
                  <a:off x="166" y="695"/>
                  <a:ext cx="156" cy="259"/>
                </a:xfrm>
                <a:prstGeom prst="line">
                  <a:avLst/>
                </a:prstGeom>
                <a:ln w="9525" cap="flat" cmpd="sng">
                  <a:solidFill>
                    <a:schemeClr val="tx1"/>
                  </a:solidFill>
                  <a:prstDash val="solid"/>
                  <a:round/>
                  <a:headEnd type="none" w="med" len="med"/>
                  <a:tailEnd type="none" w="med" len="med"/>
                </a:ln>
              </p:spPr>
            </p:sp>
            <p:sp>
              <p:nvSpPr>
                <p:cNvPr id="67606" name="Line 336"/>
                <p:cNvSpPr/>
                <p:nvPr/>
              </p:nvSpPr>
              <p:spPr>
                <a:xfrm flipH="1">
                  <a:off x="410" y="222"/>
                  <a:ext cx="156" cy="259"/>
                </a:xfrm>
                <a:prstGeom prst="line">
                  <a:avLst/>
                </a:prstGeom>
                <a:ln w="9525" cap="flat" cmpd="sng">
                  <a:solidFill>
                    <a:schemeClr val="tx1"/>
                  </a:solidFill>
                  <a:prstDash val="solid"/>
                  <a:round/>
                  <a:headEnd type="none" w="med" len="med"/>
                  <a:tailEnd type="none" w="med" len="med"/>
                </a:ln>
              </p:spPr>
            </p:sp>
            <p:sp>
              <p:nvSpPr>
                <p:cNvPr id="67607" name="Line 337"/>
                <p:cNvSpPr/>
                <p:nvPr/>
              </p:nvSpPr>
              <p:spPr>
                <a:xfrm>
                  <a:off x="1233" y="1153"/>
                  <a:ext cx="156" cy="259"/>
                </a:xfrm>
                <a:prstGeom prst="line">
                  <a:avLst/>
                </a:prstGeom>
                <a:ln w="9525" cap="flat" cmpd="sng">
                  <a:solidFill>
                    <a:schemeClr val="tx1"/>
                  </a:solidFill>
                  <a:prstDash val="solid"/>
                  <a:round/>
                  <a:headEnd type="none" w="med" len="med"/>
                  <a:tailEnd type="none" w="med" len="med"/>
                </a:ln>
              </p:spPr>
            </p:sp>
            <p:sp>
              <p:nvSpPr>
                <p:cNvPr id="67608" name="Line 338"/>
                <p:cNvSpPr/>
                <p:nvPr/>
              </p:nvSpPr>
              <p:spPr>
                <a:xfrm>
                  <a:off x="707" y="215"/>
                  <a:ext cx="156" cy="259"/>
                </a:xfrm>
                <a:prstGeom prst="line">
                  <a:avLst/>
                </a:prstGeom>
                <a:ln w="9525" cap="flat" cmpd="sng">
                  <a:solidFill>
                    <a:schemeClr val="tx1"/>
                  </a:solidFill>
                  <a:prstDash val="solid"/>
                  <a:round/>
                  <a:headEnd type="none" w="med" len="med"/>
                  <a:tailEnd type="none" w="med" len="med"/>
                </a:ln>
              </p:spPr>
            </p:sp>
          </p:grpSp>
          <p:sp>
            <p:nvSpPr>
              <p:cNvPr id="67609" name="未知"/>
              <p:cNvSpPr/>
              <p:nvPr/>
            </p:nvSpPr>
            <p:spPr>
              <a:xfrm>
                <a:off x="0" y="606"/>
                <a:ext cx="376" cy="336"/>
              </a:xfrm>
              <a:custGeom>
                <a:avLst/>
                <a:gdLst/>
                <a:ahLst/>
                <a:cxnLst>
                  <a:cxn ang="0">
                    <a:pos x="136" y="336"/>
                  </a:cxn>
                  <a:cxn ang="0">
                    <a:pos x="40" y="240"/>
                  </a:cxn>
                  <a:cxn ang="0">
                    <a:pos x="376" y="0"/>
                  </a:cxn>
                </a:cxnLst>
                <a:pathLst>
                  <a:path w="376" h="336">
                    <a:moveTo>
                      <a:pt x="136" y="336"/>
                    </a:moveTo>
                    <a:cubicBezTo>
                      <a:pt x="68" y="316"/>
                      <a:pt x="0" y="296"/>
                      <a:pt x="40" y="240"/>
                    </a:cubicBezTo>
                    <a:cubicBezTo>
                      <a:pt x="80" y="184"/>
                      <a:pt x="320" y="40"/>
                      <a:pt x="376"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7610" name="未知"/>
              <p:cNvSpPr/>
              <p:nvPr/>
            </p:nvSpPr>
            <p:spPr>
              <a:xfrm>
                <a:off x="360" y="622"/>
                <a:ext cx="328" cy="288"/>
              </a:xfrm>
              <a:custGeom>
                <a:avLst/>
                <a:gdLst/>
                <a:ahLst/>
                <a:cxnLst>
                  <a:cxn ang="0">
                    <a:pos x="240" y="0"/>
                  </a:cxn>
                  <a:cxn ang="0">
                    <a:pos x="288" y="96"/>
                  </a:cxn>
                  <a:cxn ang="0">
                    <a:pos x="0" y="288"/>
                  </a:cxn>
                </a:cxnLst>
                <a:pathLst>
                  <a:path w="328" h="288">
                    <a:moveTo>
                      <a:pt x="240" y="0"/>
                    </a:moveTo>
                    <a:cubicBezTo>
                      <a:pt x="284" y="24"/>
                      <a:pt x="328" y="48"/>
                      <a:pt x="288" y="96"/>
                    </a:cubicBezTo>
                    <a:cubicBezTo>
                      <a:pt x="248" y="144"/>
                      <a:pt x="48" y="256"/>
                      <a:pt x="0" y="288"/>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7611" name="未知"/>
              <p:cNvSpPr/>
              <p:nvPr/>
            </p:nvSpPr>
            <p:spPr>
              <a:xfrm>
                <a:off x="376" y="606"/>
                <a:ext cx="528" cy="384"/>
              </a:xfrm>
              <a:custGeom>
                <a:avLst/>
                <a:gdLst/>
                <a:ahLst/>
                <a:cxnLst>
                  <a:cxn ang="0">
                    <a:pos x="0" y="384"/>
                  </a:cxn>
                  <a:cxn ang="0">
                    <a:pos x="528" y="0"/>
                  </a:cxn>
                </a:cxnLst>
                <a:pathLst>
                  <a:path w="528" h="384">
                    <a:moveTo>
                      <a:pt x="0" y="384"/>
                    </a:moveTo>
                    <a:cubicBezTo>
                      <a:pt x="220" y="224"/>
                      <a:pt x="440" y="64"/>
                      <a:pt x="528"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7612" name="未知"/>
              <p:cNvSpPr/>
              <p:nvPr/>
            </p:nvSpPr>
            <p:spPr>
              <a:xfrm>
                <a:off x="288" y="1046"/>
                <a:ext cx="376" cy="336"/>
              </a:xfrm>
              <a:custGeom>
                <a:avLst/>
                <a:gdLst/>
                <a:ahLst/>
                <a:cxnLst>
                  <a:cxn ang="0">
                    <a:pos x="136" y="336"/>
                  </a:cxn>
                  <a:cxn ang="0">
                    <a:pos x="40" y="240"/>
                  </a:cxn>
                  <a:cxn ang="0">
                    <a:pos x="376" y="0"/>
                  </a:cxn>
                </a:cxnLst>
                <a:pathLst>
                  <a:path w="376" h="336">
                    <a:moveTo>
                      <a:pt x="136" y="336"/>
                    </a:moveTo>
                    <a:cubicBezTo>
                      <a:pt x="68" y="316"/>
                      <a:pt x="0" y="296"/>
                      <a:pt x="40" y="240"/>
                    </a:cubicBezTo>
                    <a:cubicBezTo>
                      <a:pt x="80" y="184"/>
                      <a:pt x="320" y="40"/>
                      <a:pt x="376"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7613" name="未知"/>
              <p:cNvSpPr/>
              <p:nvPr/>
            </p:nvSpPr>
            <p:spPr>
              <a:xfrm>
                <a:off x="648" y="1062"/>
                <a:ext cx="328" cy="288"/>
              </a:xfrm>
              <a:custGeom>
                <a:avLst/>
                <a:gdLst/>
                <a:ahLst/>
                <a:cxnLst>
                  <a:cxn ang="0">
                    <a:pos x="240" y="0"/>
                  </a:cxn>
                  <a:cxn ang="0">
                    <a:pos x="288" y="96"/>
                  </a:cxn>
                  <a:cxn ang="0">
                    <a:pos x="0" y="288"/>
                  </a:cxn>
                </a:cxnLst>
                <a:pathLst>
                  <a:path w="328" h="288">
                    <a:moveTo>
                      <a:pt x="240" y="0"/>
                    </a:moveTo>
                    <a:cubicBezTo>
                      <a:pt x="284" y="24"/>
                      <a:pt x="328" y="48"/>
                      <a:pt x="288" y="96"/>
                    </a:cubicBezTo>
                    <a:cubicBezTo>
                      <a:pt x="248" y="144"/>
                      <a:pt x="48" y="256"/>
                      <a:pt x="0" y="288"/>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7614" name="Line 344"/>
              <p:cNvSpPr/>
              <p:nvPr/>
            </p:nvSpPr>
            <p:spPr>
              <a:xfrm flipV="1">
                <a:off x="672" y="1038"/>
                <a:ext cx="464" cy="416"/>
              </a:xfrm>
              <a:prstGeom prst="line">
                <a:avLst/>
              </a:prstGeom>
              <a:ln w="19050" cap="flat" cmpd="sng">
                <a:solidFill>
                  <a:schemeClr val="folHlink"/>
                </a:solidFill>
                <a:prstDash val="dash"/>
                <a:round/>
                <a:headEnd type="none" w="med" len="med"/>
                <a:tailEnd type="triangle" w="med" len="med"/>
              </a:ln>
            </p:spPr>
          </p:sp>
          <p:sp>
            <p:nvSpPr>
              <p:cNvPr id="67615" name="未知"/>
              <p:cNvSpPr/>
              <p:nvPr/>
            </p:nvSpPr>
            <p:spPr>
              <a:xfrm>
                <a:off x="1128" y="1510"/>
                <a:ext cx="288" cy="48"/>
              </a:xfrm>
              <a:custGeom>
                <a:avLst/>
                <a:gdLst/>
                <a:ahLst/>
                <a:cxnLst>
                  <a:cxn ang="0">
                    <a:pos x="288" y="0"/>
                  </a:cxn>
                  <a:cxn ang="0">
                    <a:pos x="240" y="48"/>
                  </a:cxn>
                  <a:cxn ang="0">
                    <a:pos x="0" y="0"/>
                  </a:cxn>
                </a:cxnLst>
                <a:pathLst>
                  <a:path w="288" h="48">
                    <a:moveTo>
                      <a:pt x="288" y="0"/>
                    </a:moveTo>
                    <a:cubicBezTo>
                      <a:pt x="288" y="24"/>
                      <a:pt x="288" y="48"/>
                      <a:pt x="240" y="48"/>
                    </a:cubicBezTo>
                    <a:cubicBezTo>
                      <a:pt x="192" y="48"/>
                      <a:pt x="40" y="8"/>
                      <a:pt x="0"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7616" name="未知"/>
              <p:cNvSpPr/>
              <p:nvPr/>
            </p:nvSpPr>
            <p:spPr>
              <a:xfrm>
                <a:off x="1624" y="1182"/>
                <a:ext cx="144" cy="240"/>
              </a:xfrm>
              <a:custGeom>
                <a:avLst/>
                <a:gdLst/>
                <a:ahLst/>
                <a:cxnLst>
                  <a:cxn ang="0">
                    <a:pos x="0" y="2147483647"/>
                  </a:cxn>
                  <a:cxn ang="0">
                    <a:pos x="63083" y="0"/>
                  </a:cxn>
                </a:cxnLst>
                <a:pathLst>
                  <a:path w="96" h="48">
                    <a:moveTo>
                      <a:pt x="0" y="48"/>
                    </a:moveTo>
                    <a:cubicBezTo>
                      <a:pt x="40" y="28"/>
                      <a:pt x="80" y="8"/>
                      <a:pt x="96"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7617" name="Rectangle 347"/>
              <p:cNvSpPr/>
              <p:nvPr/>
            </p:nvSpPr>
            <p:spPr>
              <a:xfrm>
                <a:off x="1624" y="990"/>
                <a:ext cx="408" cy="227"/>
              </a:xfrm>
              <a:prstGeom prst="rect">
                <a:avLst/>
              </a:prstGeom>
              <a:noFill/>
              <a:ln w="9525">
                <a:noFill/>
              </a:ln>
            </p:spPr>
            <p:txBody>
              <a:bodyPr wrap="none" anchor="ctr" anchorCtr="0"/>
              <a:p>
                <a:r>
                  <a:rPr lang="en-US" altLang="zh-CN" sz="2400" dirty="0">
                    <a:latin typeface="Times New Roman" panose="02020603050405020304" pitchFamily="18" charset="0"/>
                    <a:ea typeface="宋体" panose="02010600030101010101" pitchFamily="2" charset="-122"/>
                  </a:rPr>
                  <a:t>NIL</a:t>
                </a:r>
                <a:endParaRPr lang="en-US" altLang="zh-CN" sz="2400" dirty="0">
                  <a:latin typeface="Times New Roman" panose="02020603050405020304" pitchFamily="18" charset="0"/>
                  <a:ea typeface="宋体" panose="02010600030101010101" pitchFamily="2" charset="-122"/>
                </a:endParaRPr>
              </a:p>
            </p:txBody>
          </p:sp>
          <p:sp>
            <p:nvSpPr>
              <p:cNvPr id="67618" name="未知"/>
              <p:cNvSpPr/>
              <p:nvPr/>
            </p:nvSpPr>
            <p:spPr>
              <a:xfrm>
                <a:off x="1128" y="1102"/>
                <a:ext cx="91" cy="272"/>
              </a:xfrm>
              <a:custGeom>
                <a:avLst/>
                <a:gdLst/>
                <a:ahLst/>
                <a:cxnLst>
                  <a:cxn ang="0">
                    <a:pos x="0" y="1780"/>
                  </a:cxn>
                  <a:cxn ang="0">
                    <a:pos x="22" y="1420"/>
                  </a:cxn>
                  <a:cxn ang="0">
                    <a:pos x="42" y="0"/>
                  </a:cxn>
                </a:cxnLst>
                <a:pathLst>
                  <a:path w="96" h="240">
                    <a:moveTo>
                      <a:pt x="0" y="240"/>
                    </a:moveTo>
                    <a:cubicBezTo>
                      <a:pt x="16" y="236"/>
                      <a:pt x="32" y="232"/>
                      <a:pt x="48" y="192"/>
                    </a:cubicBezTo>
                    <a:cubicBezTo>
                      <a:pt x="64" y="152"/>
                      <a:pt x="88" y="32"/>
                      <a:pt x="96"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7619" name="Line 349"/>
              <p:cNvSpPr/>
              <p:nvPr/>
            </p:nvSpPr>
            <p:spPr>
              <a:xfrm>
                <a:off x="1144" y="1422"/>
                <a:ext cx="215" cy="0"/>
              </a:xfrm>
              <a:prstGeom prst="line">
                <a:avLst/>
              </a:prstGeom>
              <a:ln w="19050" cap="flat" cmpd="sng">
                <a:solidFill>
                  <a:schemeClr val="folHlink"/>
                </a:solidFill>
                <a:prstDash val="dash"/>
                <a:round/>
                <a:headEnd type="none" w="med" len="med"/>
                <a:tailEnd type="triangle" w="med" len="med"/>
              </a:ln>
            </p:spPr>
          </p:sp>
        </p:gr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rPr>
              <a:t>中序线索树，采用二叉树线索链表</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头结点，LChild指向根结点，RChild指向中序遍历最后一个结点</a:t>
            </a: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中序遍历的第一个结点和最后一个结点的RChild均指向头结点，</a:t>
            </a: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这样可以实现双向线索遍历，具体看下面程序实现</a:t>
            </a: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7620" name="Group 351"/>
          <p:cNvGrpSpPr/>
          <p:nvPr/>
        </p:nvGrpSpPr>
        <p:grpSpPr>
          <a:xfrm>
            <a:off x="1721803" y="2811145"/>
            <a:ext cx="2374900" cy="3097213"/>
            <a:chOff x="657" y="1298"/>
            <a:chExt cx="1496" cy="1951"/>
          </a:xfrm>
        </p:grpSpPr>
        <p:grpSp>
          <p:nvGrpSpPr>
            <p:cNvPr id="67621" name="Group 236"/>
            <p:cNvGrpSpPr/>
            <p:nvPr/>
          </p:nvGrpSpPr>
          <p:grpSpPr>
            <a:xfrm>
              <a:off x="657" y="1298"/>
              <a:ext cx="1496" cy="1542"/>
              <a:chOff x="0" y="0"/>
              <a:chExt cx="1547" cy="1648"/>
            </a:xfrm>
          </p:grpSpPr>
          <p:sp>
            <p:nvSpPr>
              <p:cNvPr id="67622" name="Oval 237"/>
              <p:cNvSpPr/>
              <p:nvPr/>
            </p:nvSpPr>
            <p:spPr>
              <a:xfrm>
                <a:off x="495" y="0"/>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67623" name="Oval 238"/>
              <p:cNvSpPr/>
              <p:nvPr/>
            </p:nvSpPr>
            <p:spPr>
              <a:xfrm>
                <a:off x="1028" y="939"/>
                <a:ext cx="268"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67624" name="Oval 239"/>
              <p:cNvSpPr/>
              <p:nvPr/>
            </p:nvSpPr>
            <p:spPr>
              <a:xfrm>
                <a:off x="777"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67625" name="Oval 240"/>
              <p:cNvSpPr/>
              <p:nvPr/>
            </p:nvSpPr>
            <p:spPr>
              <a:xfrm>
                <a:off x="1280"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67626" name="Line 241"/>
              <p:cNvSpPr/>
              <p:nvPr/>
            </p:nvSpPr>
            <p:spPr>
              <a:xfrm flipH="1">
                <a:off x="919" y="1145"/>
                <a:ext cx="157" cy="259"/>
              </a:xfrm>
              <a:prstGeom prst="line">
                <a:avLst/>
              </a:prstGeom>
              <a:ln w="9525" cap="flat" cmpd="sng">
                <a:solidFill>
                  <a:schemeClr val="tx1"/>
                </a:solidFill>
                <a:prstDash val="solid"/>
                <a:round/>
                <a:headEnd type="none" w="med" len="med"/>
                <a:tailEnd type="none" w="med" len="med"/>
              </a:ln>
            </p:spPr>
          </p:sp>
          <p:sp>
            <p:nvSpPr>
              <p:cNvPr id="67627" name="Oval 242"/>
              <p:cNvSpPr/>
              <p:nvPr/>
            </p:nvSpPr>
            <p:spPr>
              <a:xfrm>
                <a:off x="541" y="94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67628" name="Oval 243"/>
              <p:cNvSpPr/>
              <p:nvPr/>
            </p:nvSpPr>
            <p:spPr>
              <a:xfrm>
                <a:off x="290" y="1411"/>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67629" name="Oval 244"/>
              <p:cNvSpPr/>
              <p:nvPr/>
            </p:nvSpPr>
            <p:spPr>
              <a:xfrm>
                <a:off x="251" y="473"/>
                <a:ext cx="268" cy="238"/>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7630" name="Oval 245"/>
              <p:cNvSpPr/>
              <p:nvPr/>
            </p:nvSpPr>
            <p:spPr>
              <a:xfrm>
                <a:off x="0" y="945"/>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7631" name="Oval 246"/>
              <p:cNvSpPr/>
              <p:nvPr/>
            </p:nvSpPr>
            <p:spPr>
              <a:xfrm>
                <a:off x="780" y="46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7632" name="Line 247"/>
              <p:cNvSpPr/>
              <p:nvPr/>
            </p:nvSpPr>
            <p:spPr>
              <a:xfrm>
                <a:off x="992" y="688"/>
                <a:ext cx="156" cy="259"/>
              </a:xfrm>
              <a:prstGeom prst="line">
                <a:avLst/>
              </a:prstGeom>
              <a:ln w="9525" cap="flat" cmpd="sng">
                <a:solidFill>
                  <a:schemeClr val="tx1"/>
                </a:solidFill>
                <a:prstDash val="solid"/>
                <a:round/>
                <a:headEnd type="none" w="med" len="med"/>
                <a:tailEnd type="none" w="med" len="med"/>
              </a:ln>
            </p:spPr>
          </p:sp>
          <p:sp>
            <p:nvSpPr>
              <p:cNvPr id="67633" name="Line 248"/>
              <p:cNvSpPr/>
              <p:nvPr/>
            </p:nvSpPr>
            <p:spPr>
              <a:xfrm flipH="1">
                <a:off x="439" y="1160"/>
                <a:ext cx="156" cy="259"/>
              </a:xfrm>
              <a:prstGeom prst="line">
                <a:avLst/>
              </a:prstGeom>
              <a:ln w="9525" cap="flat" cmpd="sng">
                <a:solidFill>
                  <a:schemeClr val="tx1"/>
                </a:solidFill>
                <a:prstDash val="solid"/>
                <a:round/>
                <a:headEnd type="none" w="med" len="med"/>
                <a:tailEnd type="none" w="med" len="med"/>
              </a:ln>
            </p:spPr>
          </p:sp>
          <p:sp>
            <p:nvSpPr>
              <p:cNvPr id="67634" name="Line 249"/>
              <p:cNvSpPr/>
              <p:nvPr/>
            </p:nvSpPr>
            <p:spPr>
              <a:xfrm flipH="1">
                <a:off x="699" y="688"/>
                <a:ext cx="156" cy="259"/>
              </a:xfrm>
              <a:prstGeom prst="line">
                <a:avLst/>
              </a:prstGeom>
              <a:ln w="9525" cap="flat" cmpd="sng">
                <a:solidFill>
                  <a:schemeClr val="tx1"/>
                </a:solidFill>
                <a:prstDash val="solid"/>
                <a:round/>
                <a:headEnd type="none" w="med" len="med"/>
                <a:tailEnd type="none" w="med" len="med"/>
              </a:ln>
            </p:spPr>
          </p:sp>
          <p:sp>
            <p:nvSpPr>
              <p:cNvPr id="67635" name="Line 250"/>
              <p:cNvSpPr/>
              <p:nvPr/>
            </p:nvSpPr>
            <p:spPr>
              <a:xfrm flipH="1">
                <a:off x="166" y="695"/>
                <a:ext cx="156" cy="259"/>
              </a:xfrm>
              <a:prstGeom prst="line">
                <a:avLst/>
              </a:prstGeom>
              <a:ln w="9525" cap="flat" cmpd="sng">
                <a:solidFill>
                  <a:schemeClr val="tx1"/>
                </a:solidFill>
                <a:prstDash val="solid"/>
                <a:round/>
                <a:headEnd type="none" w="med" len="med"/>
                <a:tailEnd type="none" w="med" len="med"/>
              </a:ln>
            </p:spPr>
          </p:sp>
          <p:sp>
            <p:nvSpPr>
              <p:cNvPr id="67636" name="Line 251"/>
              <p:cNvSpPr/>
              <p:nvPr/>
            </p:nvSpPr>
            <p:spPr>
              <a:xfrm flipH="1">
                <a:off x="410" y="222"/>
                <a:ext cx="156" cy="259"/>
              </a:xfrm>
              <a:prstGeom prst="line">
                <a:avLst/>
              </a:prstGeom>
              <a:ln w="9525" cap="flat" cmpd="sng">
                <a:solidFill>
                  <a:schemeClr val="tx1"/>
                </a:solidFill>
                <a:prstDash val="solid"/>
                <a:round/>
                <a:headEnd type="none" w="med" len="med"/>
                <a:tailEnd type="none" w="med" len="med"/>
              </a:ln>
            </p:spPr>
          </p:sp>
          <p:sp>
            <p:nvSpPr>
              <p:cNvPr id="67637" name="Line 252"/>
              <p:cNvSpPr/>
              <p:nvPr/>
            </p:nvSpPr>
            <p:spPr>
              <a:xfrm>
                <a:off x="1233" y="1153"/>
                <a:ext cx="156" cy="259"/>
              </a:xfrm>
              <a:prstGeom prst="line">
                <a:avLst/>
              </a:prstGeom>
              <a:ln w="9525" cap="flat" cmpd="sng">
                <a:solidFill>
                  <a:schemeClr val="tx1"/>
                </a:solidFill>
                <a:prstDash val="solid"/>
                <a:round/>
                <a:headEnd type="none" w="med" len="med"/>
                <a:tailEnd type="none" w="med" len="med"/>
              </a:ln>
            </p:spPr>
          </p:sp>
          <p:sp>
            <p:nvSpPr>
              <p:cNvPr id="67638" name="Line 253"/>
              <p:cNvSpPr/>
              <p:nvPr/>
            </p:nvSpPr>
            <p:spPr>
              <a:xfrm>
                <a:off x="707" y="215"/>
                <a:ext cx="156" cy="259"/>
              </a:xfrm>
              <a:prstGeom prst="line">
                <a:avLst/>
              </a:prstGeom>
              <a:ln w="9525" cap="flat" cmpd="sng">
                <a:solidFill>
                  <a:schemeClr val="tx1"/>
                </a:solidFill>
                <a:prstDash val="solid"/>
                <a:round/>
                <a:headEnd type="none" w="med" len="med"/>
                <a:tailEnd type="none" w="med" len="med"/>
              </a:ln>
            </p:spPr>
          </p:sp>
        </p:grpSp>
        <p:sp>
          <p:nvSpPr>
            <p:cNvPr id="67639" name="Rectangle 350"/>
            <p:cNvSpPr/>
            <p:nvPr/>
          </p:nvSpPr>
          <p:spPr>
            <a:xfrm>
              <a:off x="975" y="3022"/>
              <a:ext cx="816" cy="227"/>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a)  </a:t>
              </a:r>
              <a:r>
                <a:rPr lang="zh-CN" altLang="en-US" sz="2000" b="1" dirty="0">
                  <a:latin typeface="Times New Roman" panose="02020603050405020304" pitchFamily="18" charset="0"/>
                  <a:ea typeface="宋体" panose="02010600030101010101" pitchFamily="2" charset="-122"/>
                </a:rPr>
                <a:t>二叉树</a:t>
              </a:r>
              <a:r>
                <a:rPr lang="zh-CN" altLang="en-US"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grpSp>
      <p:grpSp>
        <p:nvGrpSpPr>
          <p:cNvPr id="68612" name="Group 54"/>
          <p:cNvGrpSpPr/>
          <p:nvPr/>
        </p:nvGrpSpPr>
        <p:grpSpPr>
          <a:xfrm>
            <a:off x="5735638" y="2853055"/>
            <a:ext cx="3619500" cy="3090863"/>
            <a:chOff x="264" y="2209"/>
            <a:chExt cx="2280" cy="1947"/>
          </a:xfrm>
        </p:grpSpPr>
        <p:sp>
          <p:nvSpPr>
            <p:cNvPr id="68613" name="Rectangle 55"/>
            <p:cNvSpPr/>
            <p:nvPr/>
          </p:nvSpPr>
          <p:spPr>
            <a:xfrm>
              <a:off x="288" y="3793"/>
              <a:ext cx="2131" cy="363"/>
            </a:xfrm>
            <a:prstGeom prst="rect">
              <a:avLst/>
            </a:prstGeom>
            <a:noFill/>
            <a:ln w="9525">
              <a:noFill/>
            </a:ln>
          </p:spPr>
          <p:txBody>
            <a:bodyPr wrap="none" anchor="ctr" anchorCtr="0"/>
            <a:p>
              <a:pPr marL="457200" indent="-457200"/>
              <a:r>
                <a:rPr lang="en-US" altLang="zh-CN" sz="2000" b="1" dirty="0">
                  <a:latin typeface="Times New Roman" panose="02020603050405020304" pitchFamily="18" charset="0"/>
                  <a:ea typeface="宋体" panose="02010600030101010101" pitchFamily="2" charset="-122"/>
                </a:rPr>
                <a:t>(c)   </a:t>
              </a:r>
              <a:r>
                <a:rPr lang="zh-CN" altLang="en-US" sz="2000" b="1" dirty="0">
                  <a:latin typeface="Times New Roman" panose="02020603050405020304" pitchFamily="18" charset="0"/>
                  <a:ea typeface="宋体" panose="02010600030101010101" pitchFamily="2" charset="-122"/>
                </a:rPr>
                <a:t>中序线索树的逻辑形式</a:t>
              </a:r>
              <a:endParaRPr lang="zh-CN" altLang="en-US" sz="2000" b="1" dirty="0">
                <a:latin typeface="Times New Roman" panose="02020603050405020304" pitchFamily="18" charset="0"/>
                <a:ea typeface="宋体" panose="02010600030101010101" pitchFamily="2" charset="-122"/>
              </a:endParaRPr>
            </a:p>
            <a:p>
              <a:pPr marL="457200" indent="-457200"/>
              <a:r>
                <a:rPr lang="zh-CN" altLang="en-US" sz="2000" b="1" dirty="0">
                  <a:latin typeface="Times New Roman" panose="02020603050405020304" pitchFamily="18" charset="0"/>
                  <a:ea typeface="宋体" panose="02010600030101010101" pitchFamily="2" charset="-122"/>
                </a:rPr>
                <a:t>        结点序列：</a:t>
              </a:r>
              <a:r>
                <a:rPr lang="en-US" altLang="zh-CN" sz="2000" b="1" dirty="0">
                  <a:latin typeface="Times New Roman" panose="02020603050405020304" pitchFamily="18" charset="0"/>
                  <a:ea typeface="宋体" panose="02010600030101010101" pitchFamily="2" charset="-122"/>
                </a:rPr>
                <a:t>DBAGECHFI</a:t>
              </a:r>
              <a:endParaRPr lang="en-US" altLang="zh-CN" sz="2000" b="1" dirty="0">
                <a:latin typeface="Times New Roman" panose="02020603050405020304" pitchFamily="18" charset="0"/>
                <a:ea typeface="宋体" panose="02010600030101010101" pitchFamily="2" charset="-122"/>
              </a:endParaRPr>
            </a:p>
          </p:txBody>
        </p:sp>
        <p:grpSp>
          <p:nvGrpSpPr>
            <p:cNvPr id="68614" name="Group 56"/>
            <p:cNvGrpSpPr/>
            <p:nvPr/>
          </p:nvGrpSpPr>
          <p:grpSpPr>
            <a:xfrm>
              <a:off x="264" y="2209"/>
              <a:ext cx="2280" cy="1542"/>
              <a:chOff x="0" y="0"/>
              <a:chExt cx="2280" cy="1542"/>
            </a:xfrm>
          </p:grpSpPr>
          <p:grpSp>
            <p:nvGrpSpPr>
              <p:cNvPr id="68615" name="Group 57"/>
              <p:cNvGrpSpPr/>
              <p:nvPr/>
            </p:nvGrpSpPr>
            <p:grpSpPr>
              <a:xfrm>
                <a:off x="432" y="0"/>
                <a:ext cx="1496" cy="1542"/>
                <a:chOff x="0" y="0"/>
                <a:chExt cx="1547" cy="1648"/>
              </a:xfrm>
            </p:grpSpPr>
            <p:sp>
              <p:nvSpPr>
                <p:cNvPr id="68616" name="Oval 58"/>
                <p:cNvSpPr/>
                <p:nvPr/>
              </p:nvSpPr>
              <p:spPr>
                <a:xfrm>
                  <a:off x="495" y="0"/>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68617" name="Oval 59"/>
                <p:cNvSpPr/>
                <p:nvPr/>
              </p:nvSpPr>
              <p:spPr>
                <a:xfrm>
                  <a:off x="1028" y="939"/>
                  <a:ext cx="268"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68618" name="Oval 60"/>
                <p:cNvSpPr/>
                <p:nvPr/>
              </p:nvSpPr>
              <p:spPr>
                <a:xfrm>
                  <a:off x="777"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68619" name="Oval 61"/>
                <p:cNvSpPr/>
                <p:nvPr/>
              </p:nvSpPr>
              <p:spPr>
                <a:xfrm>
                  <a:off x="1280"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68620" name="Line 62"/>
                <p:cNvSpPr/>
                <p:nvPr/>
              </p:nvSpPr>
              <p:spPr>
                <a:xfrm flipH="1">
                  <a:off x="919" y="1145"/>
                  <a:ext cx="157" cy="259"/>
                </a:xfrm>
                <a:prstGeom prst="line">
                  <a:avLst/>
                </a:prstGeom>
                <a:ln w="9525" cap="flat" cmpd="sng">
                  <a:solidFill>
                    <a:schemeClr val="tx1"/>
                  </a:solidFill>
                  <a:prstDash val="solid"/>
                  <a:round/>
                  <a:headEnd type="none" w="med" len="med"/>
                  <a:tailEnd type="none" w="med" len="med"/>
                </a:ln>
              </p:spPr>
            </p:sp>
            <p:sp>
              <p:nvSpPr>
                <p:cNvPr id="68621" name="Oval 63"/>
                <p:cNvSpPr/>
                <p:nvPr/>
              </p:nvSpPr>
              <p:spPr>
                <a:xfrm>
                  <a:off x="541" y="94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68622" name="Oval 64"/>
                <p:cNvSpPr/>
                <p:nvPr/>
              </p:nvSpPr>
              <p:spPr>
                <a:xfrm>
                  <a:off x="290" y="1411"/>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68623" name="Oval 65"/>
                <p:cNvSpPr/>
                <p:nvPr/>
              </p:nvSpPr>
              <p:spPr>
                <a:xfrm>
                  <a:off x="251" y="473"/>
                  <a:ext cx="268" cy="238"/>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8624" name="Oval 66"/>
                <p:cNvSpPr/>
                <p:nvPr/>
              </p:nvSpPr>
              <p:spPr>
                <a:xfrm>
                  <a:off x="0" y="945"/>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8625" name="Oval 67"/>
                <p:cNvSpPr/>
                <p:nvPr/>
              </p:nvSpPr>
              <p:spPr>
                <a:xfrm>
                  <a:off x="780" y="46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8626" name="Line 68"/>
                <p:cNvSpPr/>
                <p:nvPr/>
              </p:nvSpPr>
              <p:spPr>
                <a:xfrm>
                  <a:off x="992" y="688"/>
                  <a:ext cx="156" cy="259"/>
                </a:xfrm>
                <a:prstGeom prst="line">
                  <a:avLst/>
                </a:prstGeom>
                <a:ln w="9525" cap="flat" cmpd="sng">
                  <a:solidFill>
                    <a:schemeClr val="tx1"/>
                  </a:solidFill>
                  <a:prstDash val="solid"/>
                  <a:round/>
                  <a:headEnd type="none" w="med" len="med"/>
                  <a:tailEnd type="none" w="med" len="med"/>
                </a:ln>
              </p:spPr>
            </p:sp>
            <p:sp>
              <p:nvSpPr>
                <p:cNvPr id="68627" name="Line 69"/>
                <p:cNvSpPr/>
                <p:nvPr/>
              </p:nvSpPr>
              <p:spPr>
                <a:xfrm flipH="1">
                  <a:off x="439" y="1160"/>
                  <a:ext cx="156" cy="259"/>
                </a:xfrm>
                <a:prstGeom prst="line">
                  <a:avLst/>
                </a:prstGeom>
                <a:ln w="9525" cap="flat" cmpd="sng">
                  <a:solidFill>
                    <a:schemeClr val="tx1"/>
                  </a:solidFill>
                  <a:prstDash val="solid"/>
                  <a:round/>
                  <a:headEnd type="none" w="med" len="med"/>
                  <a:tailEnd type="none" w="med" len="med"/>
                </a:ln>
              </p:spPr>
            </p:sp>
            <p:sp>
              <p:nvSpPr>
                <p:cNvPr id="68628" name="Line 70"/>
                <p:cNvSpPr/>
                <p:nvPr/>
              </p:nvSpPr>
              <p:spPr>
                <a:xfrm flipH="1">
                  <a:off x="699" y="688"/>
                  <a:ext cx="156" cy="259"/>
                </a:xfrm>
                <a:prstGeom prst="line">
                  <a:avLst/>
                </a:prstGeom>
                <a:ln w="9525" cap="flat" cmpd="sng">
                  <a:solidFill>
                    <a:schemeClr val="tx1"/>
                  </a:solidFill>
                  <a:prstDash val="solid"/>
                  <a:round/>
                  <a:headEnd type="none" w="med" len="med"/>
                  <a:tailEnd type="none" w="med" len="med"/>
                </a:ln>
              </p:spPr>
            </p:sp>
            <p:sp>
              <p:nvSpPr>
                <p:cNvPr id="68629" name="Line 71"/>
                <p:cNvSpPr/>
                <p:nvPr/>
              </p:nvSpPr>
              <p:spPr>
                <a:xfrm flipH="1">
                  <a:off x="166" y="695"/>
                  <a:ext cx="156" cy="259"/>
                </a:xfrm>
                <a:prstGeom prst="line">
                  <a:avLst/>
                </a:prstGeom>
                <a:ln w="9525" cap="flat" cmpd="sng">
                  <a:solidFill>
                    <a:schemeClr val="tx1"/>
                  </a:solidFill>
                  <a:prstDash val="solid"/>
                  <a:round/>
                  <a:headEnd type="none" w="med" len="med"/>
                  <a:tailEnd type="none" w="med" len="med"/>
                </a:ln>
              </p:spPr>
            </p:sp>
            <p:sp>
              <p:nvSpPr>
                <p:cNvPr id="68630" name="Line 72"/>
                <p:cNvSpPr/>
                <p:nvPr/>
              </p:nvSpPr>
              <p:spPr>
                <a:xfrm flipH="1">
                  <a:off x="410" y="222"/>
                  <a:ext cx="156" cy="259"/>
                </a:xfrm>
                <a:prstGeom prst="line">
                  <a:avLst/>
                </a:prstGeom>
                <a:ln w="9525" cap="flat" cmpd="sng">
                  <a:solidFill>
                    <a:schemeClr val="tx1"/>
                  </a:solidFill>
                  <a:prstDash val="solid"/>
                  <a:round/>
                  <a:headEnd type="none" w="med" len="med"/>
                  <a:tailEnd type="none" w="med" len="med"/>
                </a:ln>
              </p:spPr>
            </p:sp>
            <p:sp>
              <p:nvSpPr>
                <p:cNvPr id="68631" name="Line 73"/>
                <p:cNvSpPr/>
                <p:nvPr/>
              </p:nvSpPr>
              <p:spPr>
                <a:xfrm>
                  <a:off x="1233" y="1153"/>
                  <a:ext cx="156" cy="259"/>
                </a:xfrm>
                <a:prstGeom prst="line">
                  <a:avLst/>
                </a:prstGeom>
                <a:ln w="9525" cap="flat" cmpd="sng">
                  <a:solidFill>
                    <a:schemeClr val="tx1"/>
                  </a:solidFill>
                  <a:prstDash val="solid"/>
                  <a:round/>
                  <a:headEnd type="none" w="med" len="med"/>
                  <a:tailEnd type="none" w="med" len="med"/>
                </a:ln>
              </p:spPr>
            </p:sp>
            <p:sp>
              <p:nvSpPr>
                <p:cNvPr id="68632" name="Line 74"/>
                <p:cNvSpPr/>
                <p:nvPr/>
              </p:nvSpPr>
              <p:spPr>
                <a:xfrm>
                  <a:off x="707" y="215"/>
                  <a:ext cx="156" cy="259"/>
                </a:xfrm>
                <a:prstGeom prst="line">
                  <a:avLst/>
                </a:prstGeom>
                <a:ln w="9525" cap="flat" cmpd="sng">
                  <a:solidFill>
                    <a:schemeClr val="tx1"/>
                  </a:solidFill>
                  <a:prstDash val="solid"/>
                  <a:round/>
                  <a:headEnd type="none" w="med" len="med"/>
                  <a:tailEnd type="none" w="med" len="med"/>
                </a:ln>
              </p:spPr>
            </p:sp>
          </p:grpSp>
          <p:sp>
            <p:nvSpPr>
              <p:cNvPr id="68633" name="未知"/>
              <p:cNvSpPr/>
              <p:nvPr/>
            </p:nvSpPr>
            <p:spPr>
              <a:xfrm>
                <a:off x="592" y="152"/>
                <a:ext cx="328" cy="336"/>
              </a:xfrm>
              <a:custGeom>
                <a:avLst/>
                <a:gdLst/>
                <a:ahLst/>
                <a:cxnLst>
                  <a:cxn ang="0">
                    <a:pos x="88" y="336"/>
                  </a:cxn>
                  <a:cxn ang="0">
                    <a:pos x="40" y="240"/>
                  </a:cxn>
                  <a:cxn ang="0">
                    <a:pos x="328" y="0"/>
                  </a:cxn>
                </a:cxnLst>
                <a:pathLst>
                  <a:path w="328" h="336">
                    <a:moveTo>
                      <a:pt x="88" y="336"/>
                    </a:moveTo>
                    <a:cubicBezTo>
                      <a:pt x="44" y="316"/>
                      <a:pt x="0" y="296"/>
                      <a:pt x="40" y="240"/>
                    </a:cubicBezTo>
                    <a:cubicBezTo>
                      <a:pt x="80" y="184"/>
                      <a:pt x="280" y="40"/>
                      <a:pt x="328" y="0"/>
                    </a:cubicBezTo>
                  </a:path>
                </a:pathLst>
              </a:custGeom>
              <a:noFill/>
              <a:ln w="19050" cap="flat" cmpd="sng">
                <a:solidFill>
                  <a:schemeClr val="folHlink"/>
                </a:solidFill>
                <a:prstDash val="dashDot"/>
                <a:round/>
                <a:headEnd type="none" w="med" len="med"/>
                <a:tailEnd type="triangle" w="med" len="med"/>
              </a:ln>
            </p:spPr>
            <p:txBody>
              <a:bodyPr/>
              <a:p>
                <a:endParaRPr lang="zh-CN" altLang="en-US"/>
              </a:p>
            </p:txBody>
          </p:sp>
          <p:sp>
            <p:nvSpPr>
              <p:cNvPr id="68634" name="未知"/>
              <p:cNvSpPr/>
              <p:nvPr/>
            </p:nvSpPr>
            <p:spPr>
              <a:xfrm>
                <a:off x="672" y="672"/>
                <a:ext cx="136" cy="317"/>
              </a:xfrm>
              <a:custGeom>
                <a:avLst/>
                <a:gdLst/>
                <a:ahLst/>
                <a:cxnLst>
                  <a:cxn ang="0">
                    <a:pos x="0" y="1751"/>
                  </a:cxn>
                  <a:cxn ang="0">
                    <a:pos x="5" y="1751"/>
                  </a:cxn>
                  <a:cxn ang="0">
                    <a:pos x="5" y="0"/>
                  </a:cxn>
                </a:cxnLst>
                <a:pathLst>
                  <a:path w="168" h="280">
                    <a:moveTo>
                      <a:pt x="0" y="240"/>
                    </a:moveTo>
                    <a:cubicBezTo>
                      <a:pt x="60" y="260"/>
                      <a:pt x="120" y="280"/>
                      <a:pt x="144" y="240"/>
                    </a:cubicBezTo>
                    <a:cubicBezTo>
                      <a:pt x="168" y="200"/>
                      <a:pt x="144" y="40"/>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8635" name="未知"/>
              <p:cNvSpPr/>
              <p:nvPr/>
            </p:nvSpPr>
            <p:spPr>
              <a:xfrm>
                <a:off x="568" y="224"/>
                <a:ext cx="560" cy="1168"/>
              </a:xfrm>
              <a:custGeom>
                <a:avLst/>
                <a:gdLst/>
                <a:ahLst/>
                <a:cxnLst>
                  <a:cxn ang="0">
                    <a:pos x="152" y="1152"/>
                  </a:cxn>
                  <a:cxn ang="0">
                    <a:pos x="56" y="1056"/>
                  </a:cxn>
                  <a:cxn ang="0">
                    <a:pos x="488" y="480"/>
                  </a:cxn>
                  <a:cxn ang="0">
                    <a:pos x="488" y="0"/>
                  </a:cxn>
                </a:cxnLst>
                <a:pathLst>
                  <a:path w="560" h="1168">
                    <a:moveTo>
                      <a:pt x="152" y="1152"/>
                    </a:moveTo>
                    <a:cubicBezTo>
                      <a:pt x="76" y="1160"/>
                      <a:pt x="0" y="1168"/>
                      <a:pt x="56" y="1056"/>
                    </a:cubicBezTo>
                    <a:cubicBezTo>
                      <a:pt x="112" y="944"/>
                      <a:pt x="416" y="656"/>
                      <a:pt x="488" y="480"/>
                    </a:cubicBezTo>
                    <a:cubicBezTo>
                      <a:pt x="560" y="304"/>
                      <a:pt x="488" y="80"/>
                      <a:pt x="488"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8636" name="未知"/>
              <p:cNvSpPr/>
              <p:nvPr/>
            </p:nvSpPr>
            <p:spPr>
              <a:xfrm>
                <a:off x="968" y="1112"/>
                <a:ext cx="136" cy="317"/>
              </a:xfrm>
              <a:custGeom>
                <a:avLst/>
                <a:gdLst/>
                <a:ahLst/>
                <a:cxnLst>
                  <a:cxn ang="0">
                    <a:pos x="0" y="90"/>
                  </a:cxn>
                  <a:cxn ang="0">
                    <a:pos x="38" y="77"/>
                  </a:cxn>
                  <a:cxn ang="0">
                    <a:pos x="57" y="0"/>
                  </a:cxn>
                </a:cxnLst>
                <a:pathLst>
                  <a:path w="144" h="344">
                    <a:moveTo>
                      <a:pt x="0" y="336"/>
                    </a:moveTo>
                    <a:cubicBezTo>
                      <a:pt x="36" y="340"/>
                      <a:pt x="72" y="344"/>
                      <a:pt x="96" y="288"/>
                    </a:cubicBezTo>
                    <a:cubicBezTo>
                      <a:pt x="120" y="232"/>
                      <a:pt x="136" y="48"/>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8637" name="未知"/>
              <p:cNvSpPr/>
              <p:nvPr/>
            </p:nvSpPr>
            <p:spPr>
              <a:xfrm>
                <a:off x="1208" y="664"/>
                <a:ext cx="91" cy="317"/>
              </a:xfrm>
              <a:custGeom>
                <a:avLst/>
                <a:gdLst/>
                <a:ahLst/>
                <a:cxnLst>
                  <a:cxn ang="0">
                    <a:pos x="0" y="90"/>
                  </a:cxn>
                  <a:cxn ang="0">
                    <a:pos x="1" y="77"/>
                  </a:cxn>
                  <a:cxn ang="0">
                    <a:pos x="1" y="0"/>
                  </a:cxn>
                </a:cxnLst>
                <a:pathLst>
                  <a:path w="144" h="344">
                    <a:moveTo>
                      <a:pt x="0" y="336"/>
                    </a:moveTo>
                    <a:cubicBezTo>
                      <a:pt x="36" y="340"/>
                      <a:pt x="72" y="344"/>
                      <a:pt x="96" y="288"/>
                    </a:cubicBezTo>
                    <a:cubicBezTo>
                      <a:pt x="120" y="232"/>
                      <a:pt x="136" y="48"/>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8638" name="未知"/>
              <p:cNvSpPr/>
              <p:nvPr/>
            </p:nvSpPr>
            <p:spPr>
              <a:xfrm>
                <a:off x="1192" y="672"/>
                <a:ext cx="192" cy="672"/>
              </a:xfrm>
              <a:custGeom>
                <a:avLst/>
                <a:gdLst/>
                <a:ahLst/>
                <a:cxnLst>
                  <a:cxn ang="0">
                    <a:pos x="24" y="672"/>
                  </a:cxn>
                  <a:cxn ang="0">
                    <a:pos x="24" y="528"/>
                  </a:cxn>
                  <a:cxn ang="0">
                    <a:pos x="168" y="288"/>
                  </a:cxn>
                  <a:cxn ang="0">
                    <a:pos x="168" y="0"/>
                  </a:cxn>
                </a:cxnLst>
                <a:pathLst>
                  <a:path w="192" h="672">
                    <a:moveTo>
                      <a:pt x="24" y="672"/>
                    </a:moveTo>
                    <a:cubicBezTo>
                      <a:pt x="12" y="632"/>
                      <a:pt x="0" y="592"/>
                      <a:pt x="24" y="528"/>
                    </a:cubicBezTo>
                    <a:cubicBezTo>
                      <a:pt x="48" y="464"/>
                      <a:pt x="144" y="376"/>
                      <a:pt x="168" y="288"/>
                    </a:cubicBezTo>
                    <a:cubicBezTo>
                      <a:pt x="192" y="200"/>
                      <a:pt x="168" y="48"/>
                      <a:pt x="168"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8639" name="Rectangle 81"/>
              <p:cNvSpPr/>
              <p:nvPr/>
            </p:nvSpPr>
            <p:spPr>
              <a:xfrm>
                <a:off x="0" y="512"/>
                <a:ext cx="408" cy="227"/>
              </a:xfrm>
              <a:prstGeom prst="rect">
                <a:avLst/>
              </a:prstGeom>
              <a:noFill/>
              <a:ln w="9525">
                <a:noFill/>
              </a:ln>
            </p:spPr>
            <p:txBody>
              <a:bodyPr wrap="none" anchor="ctr" anchorCtr="0"/>
              <a:p>
                <a:r>
                  <a:rPr lang="en-US" altLang="zh-CN" sz="2400" dirty="0">
                    <a:latin typeface="Times New Roman" panose="02020603050405020304" pitchFamily="18" charset="0"/>
                    <a:ea typeface="宋体" panose="02010600030101010101" pitchFamily="2" charset="-122"/>
                  </a:rPr>
                  <a:t>NIL</a:t>
                </a:r>
                <a:endParaRPr lang="en-US" altLang="zh-CN" sz="2400" dirty="0">
                  <a:latin typeface="Times New Roman" panose="02020603050405020304" pitchFamily="18" charset="0"/>
                  <a:ea typeface="宋体" panose="02010600030101010101" pitchFamily="2" charset="-122"/>
                </a:endParaRPr>
              </a:p>
            </p:txBody>
          </p:sp>
          <p:sp>
            <p:nvSpPr>
              <p:cNvPr id="68640" name="未知"/>
              <p:cNvSpPr/>
              <p:nvPr/>
            </p:nvSpPr>
            <p:spPr>
              <a:xfrm>
                <a:off x="240" y="720"/>
                <a:ext cx="192" cy="336"/>
              </a:xfrm>
              <a:custGeom>
                <a:avLst/>
                <a:gdLst/>
                <a:ahLst/>
                <a:cxnLst>
                  <a:cxn ang="0">
                    <a:pos x="192" y="288"/>
                  </a:cxn>
                  <a:cxn ang="0">
                    <a:pos x="48" y="288"/>
                  </a:cxn>
                  <a:cxn ang="0">
                    <a:pos x="0" y="0"/>
                  </a:cxn>
                </a:cxnLst>
                <a:pathLst>
                  <a:path w="192" h="336">
                    <a:moveTo>
                      <a:pt x="192" y="288"/>
                    </a:moveTo>
                    <a:cubicBezTo>
                      <a:pt x="136" y="312"/>
                      <a:pt x="80" y="336"/>
                      <a:pt x="48" y="288"/>
                    </a:cubicBezTo>
                    <a:cubicBezTo>
                      <a:pt x="16" y="240"/>
                      <a:pt x="8" y="48"/>
                      <a:pt x="0"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8641" name="未知"/>
              <p:cNvSpPr/>
              <p:nvPr/>
            </p:nvSpPr>
            <p:spPr>
              <a:xfrm>
                <a:off x="1432" y="1088"/>
                <a:ext cx="91" cy="317"/>
              </a:xfrm>
              <a:custGeom>
                <a:avLst/>
                <a:gdLst/>
                <a:ahLst/>
                <a:cxnLst>
                  <a:cxn ang="0">
                    <a:pos x="0" y="90"/>
                  </a:cxn>
                  <a:cxn ang="0">
                    <a:pos x="1" y="77"/>
                  </a:cxn>
                  <a:cxn ang="0">
                    <a:pos x="1" y="0"/>
                  </a:cxn>
                </a:cxnLst>
                <a:pathLst>
                  <a:path w="144" h="344">
                    <a:moveTo>
                      <a:pt x="0" y="336"/>
                    </a:moveTo>
                    <a:cubicBezTo>
                      <a:pt x="36" y="340"/>
                      <a:pt x="72" y="344"/>
                      <a:pt x="96" y="288"/>
                    </a:cubicBezTo>
                    <a:cubicBezTo>
                      <a:pt x="120" y="232"/>
                      <a:pt x="136" y="48"/>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8642" name="未知"/>
              <p:cNvSpPr/>
              <p:nvPr/>
            </p:nvSpPr>
            <p:spPr>
              <a:xfrm>
                <a:off x="1589" y="1104"/>
                <a:ext cx="91" cy="385"/>
              </a:xfrm>
              <a:custGeom>
                <a:avLst/>
                <a:gdLst/>
                <a:ahLst/>
                <a:cxnLst>
                  <a:cxn ang="0">
                    <a:pos x="5" y="210"/>
                  </a:cxn>
                  <a:cxn ang="0">
                    <a:pos x="2" y="182"/>
                  </a:cxn>
                  <a:cxn ang="0">
                    <a:pos x="2" y="0"/>
                  </a:cxn>
                </a:cxnLst>
                <a:pathLst>
                  <a:path w="112" h="400">
                    <a:moveTo>
                      <a:pt x="112" y="384"/>
                    </a:moveTo>
                    <a:cubicBezTo>
                      <a:pt x="72" y="392"/>
                      <a:pt x="32" y="400"/>
                      <a:pt x="16" y="336"/>
                    </a:cubicBezTo>
                    <a:cubicBezTo>
                      <a:pt x="0" y="272"/>
                      <a:pt x="16" y="56"/>
                      <a:pt x="16"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8643" name="未知"/>
              <p:cNvSpPr/>
              <p:nvPr/>
            </p:nvSpPr>
            <p:spPr>
              <a:xfrm>
                <a:off x="1936" y="1104"/>
                <a:ext cx="136" cy="317"/>
              </a:xfrm>
              <a:custGeom>
                <a:avLst/>
                <a:gdLst/>
                <a:ahLst/>
                <a:cxnLst>
                  <a:cxn ang="0">
                    <a:pos x="0" y="90"/>
                  </a:cxn>
                  <a:cxn ang="0">
                    <a:pos x="38" y="77"/>
                  </a:cxn>
                  <a:cxn ang="0">
                    <a:pos x="57" y="0"/>
                  </a:cxn>
                </a:cxnLst>
                <a:pathLst>
                  <a:path w="144" h="344">
                    <a:moveTo>
                      <a:pt x="0" y="336"/>
                    </a:moveTo>
                    <a:cubicBezTo>
                      <a:pt x="36" y="340"/>
                      <a:pt x="72" y="344"/>
                      <a:pt x="96" y="288"/>
                    </a:cubicBezTo>
                    <a:cubicBezTo>
                      <a:pt x="120" y="232"/>
                      <a:pt x="136" y="48"/>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8644" name="Rectangle 86"/>
              <p:cNvSpPr/>
              <p:nvPr/>
            </p:nvSpPr>
            <p:spPr>
              <a:xfrm>
                <a:off x="1872" y="877"/>
                <a:ext cx="408" cy="227"/>
              </a:xfrm>
              <a:prstGeom prst="rect">
                <a:avLst/>
              </a:prstGeom>
              <a:noFill/>
              <a:ln w="9525">
                <a:noFill/>
              </a:ln>
            </p:spPr>
            <p:txBody>
              <a:bodyPr wrap="none" anchor="ctr" anchorCtr="0"/>
              <a:p>
                <a:r>
                  <a:rPr lang="en-US" altLang="zh-CN" sz="2400" dirty="0">
                    <a:latin typeface="Times New Roman" panose="02020603050405020304" pitchFamily="18" charset="0"/>
                    <a:ea typeface="宋体" panose="02010600030101010101" pitchFamily="2" charset="-122"/>
                  </a:rPr>
                  <a:t>NIL</a:t>
                </a:r>
                <a:endParaRPr lang="en-US" altLang="zh-CN" sz="2400" dirty="0">
                  <a:latin typeface="Times New Roman" panose="02020603050405020304" pitchFamily="18" charset="0"/>
                  <a:ea typeface="宋体" panose="02010600030101010101" pitchFamily="2" charset="-122"/>
                </a:endParaRPr>
              </a:p>
            </p:txBody>
          </p:sp>
        </p:gr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对象 5"/>
          <p:cNvGraphicFramePr/>
          <p:nvPr/>
        </p:nvGraphicFramePr>
        <p:xfrm>
          <a:off x="119380" y="1710690"/>
          <a:ext cx="8880475" cy="4144645"/>
        </p:xfrm>
        <a:graphic>
          <a:graphicData uri="http://schemas.openxmlformats.org/presentationml/2006/ole">
            <mc:AlternateContent xmlns:mc="http://schemas.openxmlformats.org/markup-compatibility/2006">
              <mc:Choice xmlns:v="urn:schemas-microsoft-com:vml" Requires="v">
                <p:oleObj spid="_x0000_s7" name="" r:id="rId1" imgW="7505700" imgH="3248025" progId="Paint.Picture">
                  <p:embed/>
                </p:oleObj>
              </mc:Choice>
              <mc:Fallback>
                <p:oleObj name="" r:id="rId1" imgW="7505700" imgH="3248025" progId="Paint.Picture">
                  <p:embed/>
                  <p:pic>
                    <p:nvPicPr>
                      <p:cNvPr id="0" name="图片 6"/>
                      <p:cNvPicPr/>
                      <p:nvPr/>
                    </p:nvPicPr>
                    <p:blipFill>
                      <a:blip r:embed="rId2"/>
                      <a:stretch>
                        <a:fillRect/>
                      </a:stretch>
                    </p:blipFill>
                    <p:spPr>
                      <a:xfrm>
                        <a:off x="119380" y="1710690"/>
                        <a:ext cx="8880475" cy="4144645"/>
                      </a:xfrm>
                      <a:prstGeom prst="rect">
                        <a:avLst/>
                      </a:prstGeom>
                    </p:spPr>
                  </p:pic>
                </p:oleObj>
              </mc:Fallback>
            </mc:AlternateContent>
          </a:graphicData>
        </a:graphic>
      </p:graphicFrame>
      <p:sp>
        <p:nvSpPr>
          <p:cNvPr id="3" name="内容占位符 2"/>
          <p:cNvSpPr>
            <a:spLocks noGrp="1"/>
          </p:cNvSpPr>
          <p:nvPr>
            <p:ph idx="1"/>
          </p:nvPr>
        </p:nvSpPr>
        <p:spPr>
          <a:xfrm>
            <a:off x="429260" y="948055"/>
            <a:ext cx="11087735" cy="762635"/>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rPr>
              <a:t>中序线索树的非递归遍历，算法</a:t>
            </a:r>
            <a:r>
              <a:rPr kumimoji="0" lang="en-US" altLang="zh-CN"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rPr>
              <a:t>6.5</a:t>
            </a:r>
            <a:endParaRPr kumimoji="0" lang="en-US" altLang="zh-CN"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914400" marR="0" lvl="2"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8612" name="Group 54"/>
          <p:cNvGrpSpPr/>
          <p:nvPr/>
        </p:nvGrpSpPr>
        <p:grpSpPr>
          <a:xfrm>
            <a:off x="8429308" y="3181350"/>
            <a:ext cx="3619500" cy="3090863"/>
            <a:chOff x="264" y="2209"/>
            <a:chExt cx="2280" cy="1947"/>
          </a:xfrm>
        </p:grpSpPr>
        <p:sp>
          <p:nvSpPr>
            <p:cNvPr id="68613" name="Rectangle 55"/>
            <p:cNvSpPr/>
            <p:nvPr/>
          </p:nvSpPr>
          <p:spPr>
            <a:xfrm>
              <a:off x="288" y="3793"/>
              <a:ext cx="2131" cy="363"/>
            </a:xfrm>
            <a:prstGeom prst="rect">
              <a:avLst/>
            </a:prstGeom>
            <a:noFill/>
            <a:ln w="9525">
              <a:noFill/>
            </a:ln>
          </p:spPr>
          <p:txBody>
            <a:bodyPr wrap="none" anchor="ctr" anchorCtr="0"/>
            <a:p>
              <a:pPr marL="457200" indent="-457200"/>
              <a:r>
                <a:rPr lang="en-US" altLang="zh-CN" sz="2000" b="1" dirty="0">
                  <a:latin typeface="Times New Roman" panose="02020603050405020304" pitchFamily="18" charset="0"/>
                  <a:ea typeface="宋体" panose="02010600030101010101" pitchFamily="2" charset="-122"/>
                </a:rPr>
                <a:t>(c)   </a:t>
              </a:r>
              <a:r>
                <a:rPr lang="zh-CN" altLang="en-US" sz="2000" b="1" dirty="0">
                  <a:latin typeface="Times New Roman" panose="02020603050405020304" pitchFamily="18" charset="0"/>
                  <a:ea typeface="宋体" panose="02010600030101010101" pitchFamily="2" charset="-122"/>
                </a:rPr>
                <a:t>中序线索树的逻辑形式</a:t>
              </a:r>
              <a:endParaRPr lang="zh-CN" altLang="en-US" sz="2000" b="1" dirty="0">
                <a:latin typeface="Times New Roman" panose="02020603050405020304" pitchFamily="18" charset="0"/>
                <a:ea typeface="宋体" panose="02010600030101010101" pitchFamily="2" charset="-122"/>
              </a:endParaRPr>
            </a:p>
            <a:p>
              <a:pPr marL="457200" indent="-457200"/>
              <a:r>
                <a:rPr lang="zh-CN" altLang="en-US" sz="2000" b="1" dirty="0">
                  <a:latin typeface="Times New Roman" panose="02020603050405020304" pitchFamily="18" charset="0"/>
                  <a:ea typeface="宋体" panose="02010600030101010101" pitchFamily="2" charset="-122"/>
                </a:rPr>
                <a:t>        结点序列：</a:t>
              </a:r>
              <a:r>
                <a:rPr lang="en-US" altLang="zh-CN" sz="2000" b="1" dirty="0">
                  <a:latin typeface="Times New Roman" panose="02020603050405020304" pitchFamily="18" charset="0"/>
                  <a:ea typeface="宋体" panose="02010600030101010101" pitchFamily="2" charset="-122"/>
                </a:rPr>
                <a:t>DBAGECHFI</a:t>
              </a:r>
              <a:endParaRPr lang="en-US" altLang="zh-CN" sz="2000" b="1" dirty="0">
                <a:latin typeface="Times New Roman" panose="02020603050405020304" pitchFamily="18" charset="0"/>
                <a:ea typeface="宋体" panose="02010600030101010101" pitchFamily="2" charset="-122"/>
              </a:endParaRPr>
            </a:p>
          </p:txBody>
        </p:sp>
        <p:grpSp>
          <p:nvGrpSpPr>
            <p:cNvPr id="68614" name="Group 56"/>
            <p:cNvGrpSpPr/>
            <p:nvPr/>
          </p:nvGrpSpPr>
          <p:grpSpPr>
            <a:xfrm>
              <a:off x="264" y="2209"/>
              <a:ext cx="2280" cy="1542"/>
              <a:chOff x="0" y="0"/>
              <a:chExt cx="2280" cy="1542"/>
            </a:xfrm>
          </p:grpSpPr>
          <p:grpSp>
            <p:nvGrpSpPr>
              <p:cNvPr id="68615" name="Group 57"/>
              <p:cNvGrpSpPr/>
              <p:nvPr/>
            </p:nvGrpSpPr>
            <p:grpSpPr>
              <a:xfrm>
                <a:off x="432" y="0"/>
                <a:ext cx="1496" cy="1542"/>
                <a:chOff x="0" y="0"/>
                <a:chExt cx="1547" cy="1648"/>
              </a:xfrm>
            </p:grpSpPr>
            <p:sp>
              <p:nvSpPr>
                <p:cNvPr id="68616" name="Oval 58"/>
                <p:cNvSpPr/>
                <p:nvPr/>
              </p:nvSpPr>
              <p:spPr>
                <a:xfrm>
                  <a:off x="495" y="0"/>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68617" name="Oval 59"/>
                <p:cNvSpPr/>
                <p:nvPr/>
              </p:nvSpPr>
              <p:spPr>
                <a:xfrm>
                  <a:off x="1028" y="939"/>
                  <a:ext cx="268"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68618" name="Oval 60"/>
                <p:cNvSpPr/>
                <p:nvPr/>
              </p:nvSpPr>
              <p:spPr>
                <a:xfrm>
                  <a:off x="777"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68619" name="Oval 61"/>
                <p:cNvSpPr/>
                <p:nvPr/>
              </p:nvSpPr>
              <p:spPr>
                <a:xfrm>
                  <a:off x="1280"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68620" name="Line 62"/>
                <p:cNvSpPr/>
                <p:nvPr/>
              </p:nvSpPr>
              <p:spPr>
                <a:xfrm flipH="1">
                  <a:off x="919" y="1145"/>
                  <a:ext cx="157" cy="259"/>
                </a:xfrm>
                <a:prstGeom prst="line">
                  <a:avLst/>
                </a:prstGeom>
                <a:ln w="9525" cap="flat" cmpd="sng">
                  <a:solidFill>
                    <a:schemeClr val="tx1"/>
                  </a:solidFill>
                  <a:prstDash val="solid"/>
                  <a:round/>
                  <a:headEnd type="none" w="med" len="med"/>
                  <a:tailEnd type="none" w="med" len="med"/>
                </a:ln>
              </p:spPr>
            </p:sp>
            <p:sp>
              <p:nvSpPr>
                <p:cNvPr id="68621" name="Oval 63"/>
                <p:cNvSpPr/>
                <p:nvPr/>
              </p:nvSpPr>
              <p:spPr>
                <a:xfrm>
                  <a:off x="541" y="94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68622" name="Oval 64"/>
                <p:cNvSpPr/>
                <p:nvPr/>
              </p:nvSpPr>
              <p:spPr>
                <a:xfrm>
                  <a:off x="290" y="1411"/>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68623" name="Oval 65"/>
                <p:cNvSpPr/>
                <p:nvPr/>
              </p:nvSpPr>
              <p:spPr>
                <a:xfrm>
                  <a:off x="251" y="473"/>
                  <a:ext cx="268" cy="238"/>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8624" name="Oval 66"/>
                <p:cNvSpPr/>
                <p:nvPr/>
              </p:nvSpPr>
              <p:spPr>
                <a:xfrm>
                  <a:off x="0" y="945"/>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8625" name="Oval 67"/>
                <p:cNvSpPr/>
                <p:nvPr/>
              </p:nvSpPr>
              <p:spPr>
                <a:xfrm>
                  <a:off x="780" y="46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8626" name="Line 68"/>
                <p:cNvSpPr/>
                <p:nvPr/>
              </p:nvSpPr>
              <p:spPr>
                <a:xfrm>
                  <a:off x="992" y="688"/>
                  <a:ext cx="156" cy="259"/>
                </a:xfrm>
                <a:prstGeom prst="line">
                  <a:avLst/>
                </a:prstGeom>
                <a:ln w="9525" cap="flat" cmpd="sng">
                  <a:solidFill>
                    <a:schemeClr val="tx1"/>
                  </a:solidFill>
                  <a:prstDash val="solid"/>
                  <a:round/>
                  <a:headEnd type="none" w="med" len="med"/>
                  <a:tailEnd type="none" w="med" len="med"/>
                </a:ln>
              </p:spPr>
            </p:sp>
            <p:sp>
              <p:nvSpPr>
                <p:cNvPr id="68627" name="Line 69"/>
                <p:cNvSpPr/>
                <p:nvPr/>
              </p:nvSpPr>
              <p:spPr>
                <a:xfrm flipH="1">
                  <a:off x="439" y="1160"/>
                  <a:ext cx="156" cy="259"/>
                </a:xfrm>
                <a:prstGeom prst="line">
                  <a:avLst/>
                </a:prstGeom>
                <a:ln w="9525" cap="flat" cmpd="sng">
                  <a:solidFill>
                    <a:schemeClr val="tx1"/>
                  </a:solidFill>
                  <a:prstDash val="solid"/>
                  <a:round/>
                  <a:headEnd type="none" w="med" len="med"/>
                  <a:tailEnd type="none" w="med" len="med"/>
                </a:ln>
              </p:spPr>
            </p:sp>
            <p:sp>
              <p:nvSpPr>
                <p:cNvPr id="68628" name="Line 70"/>
                <p:cNvSpPr/>
                <p:nvPr/>
              </p:nvSpPr>
              <p:spPr>
                <a:xfrm flipH="1">
                  <a:off x="699" y="688"/>
                  <a:ext cx="156" cy="259"/>
                </a:xfrm>
                <a:prstGeom prst="line">
                  <a:avLst/>
                </a:prstGeom>
                <a:ln w="9525" cap="flat" cmpd="sng">
                  <a:solidFill>
                    <a:schemeClr val="tx1"/>
                  </a:solidFill>
                  <a:prstDash val="solid"/>
                  <a:round/>
                  <a:headEnd type="none" w="med" len="med"/>
                  <a:tailEnd type="none" w="med" len="med"/>
                </a:ln>
              </p:spPr>
            </p:sp>
            <p:sp>
              <p:nvSpPr>
                <p:cNvPr id="68629" name="Line 71"/>
                <p:cNvSpPr/>
                <p:nvPr/>
              </p:nvSpPr>
              <p:spPr>
                <a:xfrm flipH="1">
                  <a:off x="166" y="695"/>
                  <a:ext cx="156" cy="259"/>
                </a:xfrm>
                <a:prstGeom prst="line">
                  <a:avLst/>
                </a:prstGeom>
                <a:ln w="9525" cap="flat" cmpd="sng">
                  <a:solidFill>
                    <a:schemeClr val="tx1"/>
                  </a:solidFill>
                  <a:prstDash val="solid"/>
                  <a:round/>
                  <a:headEnd type="none" w="med" len="med"/>
                  <a:tailEnd type="none" w="med" len="med"/>
                </a:ln>
              </p:spPr>
            </p:sp>
            <p:sp>
              <p:nvSpPr>
                <p:cNvPr id="68630" name="Line 72"/>
                <p:cNvSpPr/>
                <p:nvPr/>
              </p:nvSpPr>
              <p:spPr>
                <a:xfrm flipH="1">
                  <a:off x="410" y="222"/>
                  <a:ext cx="156" cy="259"/>
                </a:xfrm>
                <a:prstGeom prst="line">
                  <a:avLst/>
                </a:prstGeom>
                <a:ln w="9525" cap="flat" cmpd="sng">
                  <a:solidFill>
                    <a:schemeClr val="tx1"/>
                  </a:solidFill>
                  <a:prstDash val="solid"/>
                  <a:round/>
                  <a:headEnd type="none" w="med" len="med"/>
                  <a:tailEnd type="none" w="med" len="med"/>
                </a:ln>
              </p:spPr>
            </p:sp>
            <p:sp>
              <p:nvSpPr>
                <p:cNvPr id="68631" name="Line 73"/>
                <p:cNvSpPr/>
                <p:nvPr/>
              </p:nvSpPr>
              <p:spPr>
                <a:xfrm>
                  <a:off x="1233" y="1153"/>
                  <a:ext cx="156" cy="259"/>
                </a:xfrm>
                <a:prstGeom prst="line">
                  <a:avLst/>
                </a:prstGeom>
                <a:ln w="9525" cap="flat" cmpd="sng">
                  <a:solidFill>
                    <a:schemeClr val="tx1"/>
                  </a:solidFill>
                  <a:prstDash val="solid"/>
                  <a:round/>
                  <a:headEnd type="none" w="med" len="med"/>
                  <a:tailEnd type="none" w="med" len="med"/>
                </a:ln>
              </p:spPr>
            </p:sp>
            <p:sp>
              <p:nvSpPr>
                <p:cNvPr id="68632" name="Line 74"/>
                <p:cNvSpPr/>
                <p:nvPr/>
              </p:nvSpPr>
              <p:spPr>
                <a:xfrm>
                  <a:off x="707" y="215"/>
                  <a:ext cx="156" cy="259"/>
                </a:xfrm>
                <a:prstGeom prst="line">
                  <a:avLst/>
                </a:prstGeom>
                <a:ln w="9525" cap="flat" cmpd="sng">
                  <a:solidFill>
                    <a:schemeClr val="tx1"/>
                  </a:solidFill>
                  <a:prstDash val="solid"/>
                  <a:round/>
                  <a:headEnd type="none" w="med" len="med"/>
                  <a:tailEnd type="none" w="med" len="med"/>
                </a:ln>
              </p:spPr>
            </p:sp>
          </p:grpSp>
          <p:sp>
            <p:nvSpPr>
              <p:cNvPr id="68633" name="未知"/>
              <p:cNvSpPr/>
              <p:nvPr/>
            </p:nvSpPr>
            <p:spPr>
              <a:xfrm>
                <a:off x="592" y="152"/>
                <a:ext cx="328" cy="336"/>
              </a:xfrm>
              <a:custGeom>
                <a:avLst/>
                <a:gdLst/>
                <a:ahLst/>
                <a:cxnLst>
                  <a:cxn ang="0">
                    <a:pos x="88" y="336"/>
                  </a:cxn>
                  <a:cxn ang="0">
                    <a:pos x="40" y="240"/>
                  </a:cxn>
                  <a:cxn ang="0">
                    <a:pos x="328" y="0"/>
                  </a:cxn>
                </a:cxnLst>
                <a:pathLst>
                  <a:path w="328" h="336">
                    <a:moveTo>
                      <a:pt x="88" y="336"/>
                    </a:moveTo>
                    <a:cubicBezTo>
                      <a:pt x="44" y="316"/>
                      <a:pt x="0" y="296"/>
                      <a:pt x="40" y="240"/>
                    </a:cubicBezTo>
                    <a:cubicBezTo>
                      <a:pt x="80" y="184"/>
                      <a:pt x="280" y="40"/>
                      <a:pt x="328" y="0"/>
                    </a:cubicBezTo>
                  </a:path>
                </a:pathLst>
              </a:custGeom>
              <a:noFill/>
              <a:ln w="19050" cap="flat" cmpd="sng">
                <a:solidFill>
                  <a:schemeClr val="folHlink"/>
                </a:solidFill>
                <a:prstDash val="dashDot"/>
                <a:round/>
                <a:headEnd type="none" w="med" len="med"/>
                <a:tailEnd type="triangle" w="med" len="med"/>
              </a:ln>
            </p:spPr>
            <p:txBody>
              <a:bodyPr/>
              <a:p>
                <a:endParaRPr lang="zh-CN" altLang="en-US"/>
              </a:p>
            </p:txBody>
          </p:sp>
          <p:sp>
            <p:nvSpPr>
              <p:cNvPr id="68634" name="未知"/>
              <p:cNvSpPr/>
              <p:nvPr/>
            </p:nvSpPr>
            <p:spPr>
              <a:xfrm>
                <a:off x="672" y="672"/>
                <a:ext cx="136" cy="317"/>
              </a:xfrm>
              <a:custGeom>
                <a:avLst/>
                <a:gdLst/>
                <a:ahLst/>
                <a:cxnLst>
                  <a:cxn ang="0">
                    <a:pos x="0" y="1751"/>
                  </a:cxn>
                  <a:cxn ang="0">
                    <a:pos x="5" y="1751"/>
                  </a:cxn>
                  <a:cxn ang="0">
                    <a:pos x="5" y="0"/>
                  </a:cxn>
                </a:cxnLst>
                <a:pathLst>
                  <a:path w="168" h="280">
                    <a:moveTo>
                      <a:pt x="0" y="240"/>
                    </a:moveTo>
                    <a:cubicBezTo>
                      <a:pt x="60" y="260"/>
                      <a:pt x="120" y="280"/>
                      <a:pt x="144" y="240"/>
                    </a:cubicBezTo>
                    <a:cubicBezTo>
                      <a:pt x="168" y="200"/>
                      <a:pt x="144" y="40"/>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8635" name="未知"/>
              <p:cNvSpPr/>
              <p:nvPr/>
            </p:nvSpPr>
            <p:spPr>
              <a:xfrm>
                <a:off x="568" y="224"/>
                <a:ext cx="560" cy="1168"/>
              </a:xfrm>
              <a:custGeom>
                <a:avLst/>
                <a:gdLst/>
                <a:ahLst/>
                <a:cxnLst>
                  <a:cxn ang="0">
                    <a:pos x="152" y="1152"/>
                  </a:cxn>
                  <a:cxn ang="0">
                    <a:pos x="56" y="1056"/>
                  </a:cxn>
                  <a:cxn ang="0">
                    <a:pos x="488" y="480"/>
                  </a:cxn>
                  <a:cxn ang="0">
                    <a:pos x="488" y="0"/>
                  </a:cxn>
                </a:cxnLst>
                <a:pathLst>
                  <a:path w="560" h="1168">
                    <a:moveTo>
                      <a:pt x="152" y="1152"/>
                    </a:moveTo>
                    <a:cubicBezTo>
                      <a:pt x="76" y="1160"/>
                      <a:pt x="0" y="1168"/>
                      <a:pt x="56" y="1056"/>
                    </a:cubicBezTo>
                    <a:cubicBezTo>
                      <a:pt x="112" y="944"/>
                      <a:pt x="416" y="656"/>
                      <a:pt x="488" y="480"/>
                    </a:cubicBezTo>
                    <a:cubicBezTo>
                      <a:pt x="560" y="304"/>
                      <a:pt x="488" y="80"/>
                      <a:pt x="488"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8636" name="未知"/>
              <p:cNvSpPr/>
              <p:nvPr/>
            </p:nvSpPr>
            <p:spPr>
              <a:xfrm>
                <a:off x="968" y="1112"/>
                <a:ext cx="136" cy="317"/>
              </a:xfrm>
              <a:custGeom>
                <a:avLst/>
                <a:gdLst/>
                <a:ahLst/>
                <a:cxnLst>
                  <a:cxn ang="0">
                    <a:pos x="0" y="90"/>
                  </a:cxn>
                  <a:cxn ang="0">
                    <a:pos x="38" y="77"/>
                  </a:cxn>
                  <a:cxn ang="0">
                    <a:pos x="57" y="0"/>
                  </a:cxn>
                </a:cxnLst>
                <a:pathLst>
                  <a:path w="144" h="344">
                    <a:moveTo>
                      <a:pt x="0" y="336"/>
                    </a:moveTo>
                    <a:cubicBezTo>
                      <a:pt x="36" y="340"/>
                      <a:pt x="72" y="344"/>
                      <a:pt x="96" y="288"/>
                    </a:cubicBezTo>
                    <a:cubicBezTo>
                      <a:pt x="120" y="232"/>
                      <a:pt x="136" y="48"/>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8637" name="未知"/>
              <p:cNvSpPr/>
              <p:nvPr/>
            </p:nvSpPr>
            <p:spPr>
              <a:xfrm>
                <a:off x="1208" y="664"/>
                <a:ext cx="91" cy="317"/>
              </a:xfrm>
              <a:custGeom>
                <a:avLst/>
                <a:gdLst/>
                <a:ahLst/>
                <a:cxnLst>
                  <a:cxn ang="0">
                    <a:pos x="0" y="90"/>
                  </a:cxn>
                  <a:cxn ang="0">
                    <a:pos x="1" y="77"/>
                  </a:cxn>
                  <a:cxn ang="0">
                    <a:pos x="1" y="0"/>
                  </a:cxn>
                </a:cxnLst>
                <a:pathLst>
                  <a:path w="144" h="344">
                    <a:moveTo>
                      <a:pt x="0" y="336"/>
                    </a:moveTo>
                    <a:cubicBezTo>
                      <a:pt x="36" y="340"/>
                      <a:pt x="72" y="344"/>
                      <a:pt x="96" y="288"/>
                    </a:cubicBezTo>
                    <a:cubicBezTo>
                      <a:pt x="120" y="232"/>
                      <a:pt x="136" y="48"/>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8638" name="未知"/>
              <p:cNvSpPr/>
              <p:nvPr/>
            </p:nvSpPr>
            <p:spPr>
              <a:xfrm>
                <a:off x="1192" y="672"/>
                <a:ext cx="192" cy="672"/>
              </a:xfrm>
              <a:custGeom>
                <a:avLst/>
                <a:gdLst/>
                <a:ahLst/>
                <a:cxnLst>
                  <a:cxn ang="0">
                    <a:pos x="24" y="672"/>
                  </a:cxn>
                  <a:cxn ang="0">
                    <a:pos x="24" y="528"/>
                  </a:cxn>
                  <a:cxn ang="0">
                    <a:pos x="168" y="288"/>
                  </a:cxn>
                  <a:cxn ang="0">
                    <a:pos x="168" y="0"/>
                  </a:cxn>
                </a:cxnLst>
                <a:pathLst>
                  <a:path w="192" h="672">
                    <a:moveTo>
                      <a:pt x="24" y="672"/>
                    </a:moveTo>
                    <a:cubicBezTo>
                      <a:pt x="12" y="632"/>
                      <a:pt x="0" y="592"/>
                      <a:pt x="24" y="528"/>
                    </a:cubicBezTo>
                    <a:cubicBezTo>
                      <a:pt x="48" y="464"/>
                      <a:pt x="144" y="376"/>
                      <a:pt x="168" y="288"/>
                    </a:cubicBezTo>
                    <a:cubicBezTo>
                      <a:pt x="192" y="200"/>
                      <a:pt x="168" y="48"/>
                      <a:pt x="168"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8639" name="Rectangle 81"/>
              <p:cNvSpPr/>
              <p:nvPr/>
            </p:nvSpPr>
            <p:spPr>
              <a:xfrm>
                <a:off x="0" y="512"/>
                <a:ext cx="408" cy="227"/>
              </a:xfrm>
              <a:prstGeom prst="rect">
                <a:avLst/>
              </a:prstGeom>
              <a:noFill/>
              <a:ln w="9525">
                <a:noFill/>
              </a:ln>
            </p:spPr>
            <p:txBody>
              <a:bodyPr wrap="none" anchor="ctr" anchorCtr="0"/>
              <a:p>
                <a:r>
                  <a:rPr lang="en-US" altLang="zh-CN" sz="2400" dirty="0">
                    <a:latin typeface="Times New Roman" panose="02020603050405020304" pitchFamily="18" charset="0"/>
                    <a:ea typeface="宋体" panose="02010600030101010101" pitchFamily="2" charset="-122"/>
                  </a:rPr>
                  <a:t>NIL</a:t>
                </a:r>
                <a:endParaRPr lang="en-US" altLang="zh-CN" sz="2400" dirty="0">
                  <a:latin typeface="Times New Roman" panose="02020603050405020304" pitchFamily="18" charset="0"/>
                  <a:ea typeface="宋体" panose="02010600030101010101" pitchFamily="2" charset="-122"/>
                </a:endParaRPr>
              </a:p>
            </p:txBody>
          </p:sp>
          <p:sp>
            <p:nvSpPr>
              <p:cNvPr id="68640" name="未知"/>
              <p:cNvSpPr/>
              <p:nvPr/>
            </p:nvSpPr>
            <p:spPr>
              <a:xfrm>
                <a:off x="240" y="720"/>
                <a:ext cx="192" cy="336"/>
              </a:xfrm>
              <a:custGeom>
                <a:avLst/>
                <a:gdLst/>
                <a:ahLst/>
                <a:cxnLst>
                  <a:cxn ang="0">
                    <a:pos x="192" y="288"/>
                  </a:cxn>
                  <a:cxn ang="0">
                    <a:pos x="48" y="288"/>
                  </a:cxn>
                  <a:cxn ang="0">
                    <a:pos x="0" y="0"/>
                  </a:cxn>
                </a:cxnLst>
                <a:pathLst>
                  <a:path w="192" h="336">
                    <a:moveTo>
                      <a:pt x="192" y="288"/>
                    </a:moveTo>
                    <a:cubicBezTo>
                      <a:pt x="136" y="312"/>
                      <a:pt x="80" y="336"/>
                      <a:pt x="48" y="288"/>
                    </a:cubicBezTo>
                    <a:cubicBezTo>
                      <a:pt x="16" y="240"/>
                      <a:pt x="8" y="48"/>
                      <a:pt x="0"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8641" name="未知"/>
              <p:cNvSpPr/>
              <p:nvPr/>
            </p:nvSpPr>
            <p:spPr>
              <a:xfrm>
                <a:off x="1432" y="1088"/>
                <a:ext cx="91" cy="317"/>
              </a:xfrm>
              <a:custGeom>
                <a:avLst/>
                <a:gdLst/>
                <a:ahLst/>
                <a:cxnLst>
                  <a:cxn ang="0">
                    <a:pos x="0" y="90"/>
                  </a:cxn>
                  <a:cxn ang="0">
                    <a:pos x="1" y="77"/>
                  </a:cxn>
                  <a:cxn ang="0">
                    <a:pos x="1" y="0"/>
                  </a:cxn>
                </a:cxnLst>
                <a:pathLst>
                  <a:path w="144" h="344">
                    <a:moveTo>
                      <a:pt x="0" y="336"/>
                    </a:moveTo>
                    <a:cubicBezTo>
                      <a:pt x="36" y="340"/>
                      <a:pt x="72" y="344"/>
                      <a:pt x="96" y="288"/>
                    </a:cubicBezTo>
                    <a:cubicBezTo>
                      <a:pt x="120" y="232"/>
                      <a:pt x="136" y="48"/>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8642" name="未知"/>
              <p:cNvSpPr/>
              <p:nvPr/>
            </p:nvSpPr>
            <p:spPr>
              <a:xfrm>
                <a:off x="1589" y="1104"/>
                <a:ext cx="91" cy="385"/>
              </a:xfrm>
              <a:custGeom>
                <a:avLst/>
                <a:gdLst/>
                <a:ahLst/>
                <a:cxnLst>
                  <a:cxn ang="0">
                    <a:pos x="5" y="210"/>
                  </a:cxn>
                  <a:cxn ang="0">
                    <a:pos x="2" y="182"/>
                  </a:cxn>
                  <a:cxn ang="0">
                    <a:pos x="2" y="0"/>
                  </a:cxn>
                </a:cxnLst>
                <a:pathLst>
                  <a:path w="112" h="400">
                    <a:moveTo>
                      <a:pt x="112" y="384"/>
                    </a:moveTo>
                    <a:cubicBezTo>
                      <a:pt x="72" y="392"/>
                      <a:pt x="32" y="400"/>
                      <a:pt x="16" y="336"/>
                    </a:cubicBezTo>
                    <a:cubicBezTo>
                      <a:pt x="0" y="272"/>
                      <a:pt x="16" y="56"/>
                      <a:pt x="16"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8643" name="未知"/>
              <p:cNvSpPr/>
              <p:nvPr/>
            </p:nvSpPr>
            <p:spPr>
              <a:xfrm>
                <a:off x="1936" y="1104"/>
                <a:ext cx="136" cy="317"/>
              </a:xfrm>
              <a:custGeom>
                <a:avLst/>
                <a:gdLst/>
                <a:ahLst/>
                <a:cxnLst>
                  <a:cxn ang="0">
                    <a:pos x="0" y="90"/>
                  </a:cxn>
                  <a:cxn ang="0">
                    <a:pos x="38" y="77"/>
                  </a:cxn>
                  <a:cxn ang="0">
                    <a:pos x="57" y="0"/>
                  </a:cxn>
                </a:cxnLst>
                <a:pathLst>
                  <a:path w="144" h="344">
                    <a:moveTo>
                      <a:pt x="0" y="336"/>
                    </a:moveTo>
                    <a:cubicBezTo>
                      <a:pt x="36" y="340"/>
                      <a:pt x="72" y="344"/>
                      <a:pt x="96" y="288"/>
                    </a:cubicBezTo>
                    <a:cubicBezTo>
                      <a:pt x="120" y="232"/>
                      <a:pt x="136" y="48"/>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8644" name="Rectangle 86"/>
              <p:cNvSpPr/>
              <p:nvPr/>
            </p:nvSpPr>
            <p:spPr>
              <a:xfrm>
                <a:off x="1872" y="877"/>
                <a:ext cx="408" cy="227"/>
              </a:xfrm>
              <a:prstGeom prst="rect">
                <a:avLst/>
              </a:prstGeom>
              <a:noFill/>
              <a:ln w="9525">
                <a:noFill/>
              </a:ln>
            </p:spPr>
            <p:txBody>
              <a:bodyPr wrap="none" anchor="ctr" anchorCtr="0"/>
              <a:p>
                <a:r>
                  <a:rPr lang="en-US" altLang="zh-CN" sz="2400" dirty="0">
                    <a:latin typeface="Times New Roman" panose="02020603050405020304" pitchFamily="18" charset="0"/>
                    <a:ea typeface="宋体" panose="02010600030101010101" pitchFamily="2" charset="-122"/>
                  </a:rPr>
                  <a:t>NIL</a:t>
                </a:r>
                <a:endParaRPr lang="en-US" altLang="zh-CN" sz="2400" dirty="0">
                  <a:latin typeface="Times New Roman" panose="02020603050405020304" pitchFamily="18" charset="0"/>
                  <a:ea typeface="宋体" panose="02010600030101010101" pitchFamily="2" charset="-122"/>
                </a:endParaRPr>
              </a:p>
            </p:txBody>
          </p:sp>
        </p:gr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rPr>
              <a:t>后序线索树</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914400" marR="0" lvl="2" indent="-457200" algn="l" defTabSz="1219200" rtl="0" eaLnBrk="1" fontAlgn="base" latinLnBrk="0" hangingPunct="1">
              <a:lnSpc>
                <a:spcPct val="100000"/>
              </a:lnSpc>
              <a:spcBef>
                <a:spcPct val="20000"/>
              </a:spcBef>
              <a:buClrTx/>
              <a:buSzTx/>
              <a:buFont typeface="Wingdings" panose="05000000000000000000" charset="0"/>
              <a:buChar char="l"/>
            </a:pPr>
            <a:r>
              <a:rPr kumimoji="0" lang="zh-CN" altLang="en-US" sz="233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rPr>
              <a:t>遍历过程自行探索</a:t>
            </a:r>
            <a:endParaRPr kumimoji="0" lang="zh-CN" altLang="en-US" sz="233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7620" name="Group 351"/>
          <p:cNvGrpSpPr/>
          <p:nvPr/>
        </p:nvGrpSpPr>
        <p:grpSpPr>
          <a:xfrm>
            <a:off x="1410018" y="2245360"/>
            <a:ext cx="2374900" cy="3097213"/>
            <a:chOff x="657" y="1298"/>
            <a:chExt cx="1496" cy="1951"/>
          </a:xfrm>
        </p:grpSpPr>
        <p:grpSp>
          <p:nvGrpSpPr>
            <p:cNvPr id="67621" name="Group 236"/>
            <p:cNvGrpSpPr/>
            <p:nvPr/>
          </p:nvGrpSpPr>
          <p:grpSpPr>
            <a:xfrm>
              <a:off x="657" y="1298"/>
              <a:ext cx="1496" cy="1542"/>
              <a:chOff x="0" y="0"/>
              <a:chExt cx="1547" cy="1648"/>
            </a:xfrm>
          </p:grpSpPr>
          <p:sp>
            <p:nvSpPr>
              <p:cNvPr id="67622" name="Oval 237"/>
              <p:cNvSpPr/>
              <p:nvPr/>
            </p:nvSpPr>
            <p:spPr>
              <a:xfrm>
                <a:off x="495" y="0"/>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67623" name="Oval 238"/>
              <p:cNvSpPr/>
              <p:nvPr/>
            </p:nvSpPr>
            <p:spPr>
              <a:xfrm>
                <a:off x="1028" y="939"/>
                <a:ext cx="268"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67624" name="Oval 239"/>
              <p:cNvSpPr/>
              <p:nvPr/>
            </p:nvSpPr>
            <p:spPr>
              <a:xfrm>
                <a:off x="777"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67625" name="Oval 240"/>
              <p:cNvSpPr/>
              <p:nvPr/>
            </p:nvSpPr>
            <p:spPr>
              <a:xfrm>
                <a:off x="1280"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67626" name="Line 241"/>
              <p:cNvSpPr/>
              <p:nvPr/>
            </p:nvSpPr>
            <p:spPr>
              <a:xfrm flipH="1">
                <a:off x="919" y="1145"/>
                <a:ext cx="157" cy="259"/>
              </a:xfrm>
              <a:prstGeom prst="line">
                <a:avLst/>
              </a:prstGeom>
              <a:ln w="9525" cap="flat" cmpd="sng">
                <a:solidFill>
                  <a:schemeClr val="tx1"/>
                </a:solidFill>
                <a:prstDash val="solid"/>
                <a:round/>
                <a:headEnd type="none" w="med" len="med"/>
                <a:tailEnd type="none" w="med" len="med"/>
              </a:ln>
            </p:spPr>
          </p:sp>
          <p:sp>
            <p:nvSpPr>
              <p:cNvPr id="67627" name="Oval 242"/>
              <p:cNvSpPr/>
              <p:nvPr/>
            </p:nvSpPr>
            <p:spPr>
              <a:xfrm>
                <a:off x="541" y="94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67628" name="Oval 243"/>
              <p:cNvSpPr/>
              <p:nvPr/>
            </p:nvSpPr>
            <p:spPr>
              <a:xfrm>
                <a:off x="290" y="1411"/>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67629" name="Oval 244"/>
              <p:cNvSpPr/>
              <p:nvPr/>
            </p:nvSpPr>
            <p:spPr>
              <a:xfrm>
                <a:off x="251" y="473"/>
                <a:ext cx="268" cy="238"/>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7630" name="Oval 245"/>
              <p:cNvSpPr/>
              <p:nvPr/>
            </p:nvSpPr>
            <p:spPr>
              <a:xfrm>
                <a:off x="0" y="945"/>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7631" name="Oval 246"/>
              <p:cNvSpPr/>
              <p:nvPr/>
            </p:nvSpPr>
            <p:spPr>
              <a:xfrm>
                <a:off x="780" y="46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7632" name="Line 247"/>
              <p:cNvSpPr/>
              <p:nvPr/>
            </p:nvSpPr>
            <p:spPr>
              <a:xfrm>
                <a:off x="992" y="688"/>
                <a:ext cx="156" cy="259"/>
              </a:xfrm>
              <a:prstGeom prst="line">
                <a:avLst/>
              </a:prstGeom>
              <a:ln w="9525" cap="flat" cmpd="sng">
                <a:solidFill>
                  <a:schemeClr val="tx1"/>
                </a:solidFill>
                <a:prstDash val="solid"/>
                <a:round/>
                <a:headEnd type="none" w="med" len="med"/>
                <a:tailEnd type="none" w="med" len="med"/>
              </a:ln>
            </p:spPr>
          </p:sp>
          <p:sp>
            <p:nvSpPr>
              <p:cNvPr id="67633" name="Line 248"/>
              <p:cNvSpPr/>
              <p:nvPr/>
            </p:nvSpPr>
            <p:spPr>
              <a:xfrm flipH="1">
                <a:off x="439" y="1160"/>
                <a:ext cx="156" cy="259"/>
              </a:xfrm>
              <a:prstGeom prst="line">
                <a:avLst/>
              </a:prstGeom>
              <a:ln w="9525" cap="flat" cmpd="sng">
                <a:solidFill>
                  <a:schemeClr val="tx1"/>
                </a:solidFill>
                <a:prstDash val="solid"/>
                <a:round/>
                <a:headEnd type="none" w="med" len="med"/>
                <a:tailEnd type="none" w="med" len="med"/>
              </a:ln>
            </p:spPr>
          </p:sp>
          <p:sp>
            <p:nvSpPr>
              <p:cNvPr id="67634" name="Line 249"/>
              <p:cNvSpPr/>
              <p:nvPr/>
            </p:nvSpPr>
            <p:spPr>
              <a:xfrm flipH="1">
                <a:off x="699" y="688"/>
                <a:ext cx="156" cy="259"/>
              </a:xfrm>
              <a:prstGeom prst="line">
                <a:avLst/>
              </a:prstGeom>
              <a:ln w="9525" cap="flat" cmpd="sng">
                <a:solidFill>
                  <a:schemeClr val="tx1"/>
                </a:solidFill>
                <a:prstDash val="solid"/>
                <a:round/>
                <a:headEnd type="none" w="med" len="med"/>
                <a:tailEnd type="none" w="med" len="med"/>
              </a:ln>
            </p:spPr>
          </p:sp>
          <p:sp>
            <p:nvSpPr>
              <p:cNvPr id="67635" name="Line 250"/>
              <p:cNvSpPr/>
              <p:nvPr/>
            </p:nvSpPr>
            <p:spPr>
              <a:xfrm flipH="1">
                <a:off x="166" y="695"/>
                <a:ext cx="156" cy="259"/>
              </a:xfrm>
              <a:prstGeom prst="line">
                <a:avLst/>
              </a:prstGeom>
              <a:ln w="9525" cap="flat" cmpd="sng">
                <a:solidFill>
                  <a:schemeClr val="tx1"/>
                </a:solidFill>
                <a:prstDash val="solid"/>
                <a:round/>
                <a:headEnd type="none" w="med" len="med"/>
                <a:tailEnd type="none" w="med" len="med"/>
              </a:ln>
            </p:spPr>
          </p:sp>
          <p:sp>
            <p:nvSpPr>
              <p:cNvPr id="67636" name="Line 251"/>
              <p:cNvSpPr/>
              <p:nvPr/>
            </p:nvSpPr>
            <p:spPr>
              <a:xfrm flipH="1">
                <a:off x="410" y="222"/>
                <a:ext cx="156" cy="259"/>
              </a:xfrm>
              <a:prstGeom prst="line">
                <a:avLst/>
              </a:prstGeom>
              <a:ln w="9525" cap="flat" cmpd="sng">
                <a:solidFill>
                  <a:schemeClr val="tx1"/>
                </a:solidFill>
                <a:prstDash val="solid"/>
                <a:round/>
                <a:headEnd type="none" w="med" len="med"/>
                <a:tailEnd type="none" w="med" len="med"/>
              </a:ln>
            </p:spPr>
          </p:sp>
          <p:sp>
            <p:nvSpPr>
              <p:cNvPr id="67637" name="Line 252"/>
              <p:cNvSpPr/>
              <p:nvPr/>
            </p:nvSpPr>
            <p:spPr>
              <a:xfrm>
                <a:off x="1233" y="1153"/>
                <a:ext cx="156" cy="259"/>
              </a:xfrm>
              <a:prstGeom prst="line">
                <a:avLst/>
              </a:prstGeom>
              <a:ln w="9525" cap="flat" cmpd="sng">
                <a:solidFill>
                  <a:schemeClr val="tx1"/>
                </a:solidFill>
                <a:prstDash val="solid"/>
                <a:round/>
                <a:headEnd type="none" w="med" len="med"/>
                <a:tailEnd type="none" w="med" len="med"/>
              </a:ln>
            </p:spPr>
          </p:sp>
          <p:sp>
            <p:nvSpPr>
              <p:cNvPr id="67638" name="Line 253"/>
              <p:cNvSpPr/>
              <p:nvPr/>
            </p:nvSpPr>
            <p:spPr>
              <a:xfrm>
                <a:off x="707" y="215"/>
                <a:ext cx="156" cy="259"/>
              </a:xfrm>
              <a:prstGeom prst="line">
                <a:avLst/>
              </a:prstGeom>
              <a:ln w="9525" cap="flat" cmpd="sng">
                <a:solidFill>
                  <a:schemeClr val="tx1"/>
                </a:solidFill>
                <a:prstDash val="solid"/>
                <a:round/>
                <a:headEnd type="none" w="med" len="med"/>
                <a:tailEnd type="none" w="med" len="med"/>
              </a:ln>
            </p:spPr>
          </p:sp>
        </p:grpSp>
        <p:sp>
          <p:nvSpPr>
            <p:cNvPr id="67639" name="Rectangle 350"/>
            <p:cNvSpPr/>
            <p:nvPr/>
          </p:nvSpPr>
          <p:spPr>
            <a:xfrm>
              <a:off x="975" y="3022"/>
              <a:ext cx="816" cy="227"/>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a)  </a:t>
              </a:r>
              <a:r>
                <a:rPr lang="zh-CN" altLang="en-US" sz="2000" b="1" dirty="0">
                  <a:latin typeface="Times New Roman" panose="02020603050405020304" pitchFamily="18" charset="0"/>
                  <a:ea typeface="宋体" panose="02010600030101010101" pitchFamily="2" charset="-122"/>
                </a:rPr>
                <a:t>二叉树</a:t>
              </a:r>
              <a:r>
                <a:rPr lang="zh-CN" altLang="en-US"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grpSp>
      <p:grpSp>
        <p:nvGrpSpPr>
          <p:cNvPr id="69656" name="Group 88"/>
          <p:cNvGrpSpPr/>
          <p:nvPr/>
        </p:nvGrpSpPr>
        <p:grpSpPr>
          <a:xfrm>
            <a:off x="6095683" y="2245360"/>
            <a:ext cx="3670300" cy="3313113"/>
            <a:chOff x="2835" y="1434"/>
            <a:chExt cx="2312" cy="2087"/>
          </a:xfrm>
        </p:grpSpPr>
        <p:grpSp>
          <p:nvGrpSpPr>
            <p:cNvPr id="69657" name="Group 57"/>
            <p:cNvGrpSpPr/>
            <p:nvPr/>
          </p:nvGrpSpPr>
          <p:grpSpPr>
            <a:xfrm>
              <a:off x="2835" y="1434"/>
              <a:ext cx="2000" cy="1552"/>
              <a:chOff x="0" y="0"/>
              <a:chExt cx="2000" cy="1552"/>
            </a:xfrm>
          </p:grpSpPr>
          <p:grpSp>
            <p:nvGrpSpPr>
              <p:cNvPr id="69658" name="Group 58"/>
              <p:cNvGrpSpPr/>
              <p:nvPr/>
            </p:nvGrpSpPr>
            <p:grpSpPr>
              <a:xfrm>
                <a:off x="432" y="0"/>
                <a:ext cx="1496" cy="1542"/>
                <a:chOff x="0" y="0"/>
                <a:chExt cx="1547" cy="1648"/>
              </a:xfrm>
            </p:grpSpPr>
            <p:sp>
              <p:nvSpPr>
                <p:cNvPr id="69659" name="Oval 59"/>
                <p:cNvSpPr/>
                <p:nvPr/>
              </p:nvSpPr>
              <p:spPr>
                <a:xfrm>
                  <a:off x="495" y="0"/>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69660" name="Oval 60"/>
                <p:cNvSpPr/>
                <p:nvPr/>
              </p:nvSpPr>
              <p:spPr>
                <a:xfrm>
                  <a:off x="1028" y="939"/>
                  <a:ext cx="268"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69661" name="Oval 61"/>
                <p:cNvSpPr/>
                <p:nvPr/>
              </p:nvSpPr>
              <p:spPr>
                <a:xfrm>
                  <a:off x="777"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69662" name="Oval 62"/>
                <p:cNvSpPr/>
                <p:nvPr/>
              </p:nvSpPr>
              <p:spPr>
                <a:xfrm>
                  <a:off x="1280" y="1403"/>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69663" name="Line 63"/>
                <p:cNvSpPr/>
                <p:nvPr/>
              </p:nvSpPr>
              <p:spPr>
                <a:xfrm flipH="1">
                  <a:off x="919" y="1145"/>
                  <a:ext cx="157" cy="259"/>
                </a:xfrm>
                <a:prstGeom prst="line">
                  <a:avLst/>
                </a:prstGeom>
                <a:ln w="9525" cap="flat" cmpd="sng">
                  <a:solidFill>
                    <a:schemeClr val="tx1"/>
                  </a:solidFill>
                  <a:prstDash val="solid"/>
                  <a:round/>
                  <a:headEnd type="none" w="med" len="med"/>
                  <a:tailEnd type="none" w="med" len="med"/>
                </a:ln>
              </p:spPr>
            </p:sp>
            <p:sp>
              <p:nvSpPr>
                <p:cNvPr id="69664" name="Oval 64"/>
                <p:cNvSpPr/>
                <p:nvPr/>
              </p:nvSpPr>
              <p:spPr>
                <a:xfrm>
                  <a:off x="541" y="94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69665" name="Oval 65"/>
                <p:cNvSpPr/>
                <p:nvPr/>
              </p:nvSpPr>
              <p:spPr>
                <a:xfrm>
                  <a:off x="290" y="1411"/>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69666" name="Oval 66"/>
                <p:cNvSpPr/>
                <p:nvPr/>
              </p:nvSpPr>
              <p:spPr>
                <a:xfrm>
                  <a:off x="251" y="473"/>
                  <a:ext cx="268" cy="238"/>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69667" name="Oval 67"/>
                <p:cNvSpPr/>
                <p:nvPr/>
              </p:nvSpPr>
              <p:spPr>
                <a:xfrm>
                  <a:off x="0" y="945"/>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69668" name="Oval 68"/>
                <p:cNvSpPr/>
                <p:nvPr/>
              </p:nvSpPr>
              <p:spPr>
                <a:xfrm>
                  <a:off x="780" y="467"/>
                  <a:ext cx="267" cy="23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69669" name="Line 69"/>
                <p:cNvSpPr/>
                <p:nvPr/>
              </p:nvSpPr>
              <p:spPr>
                <a:xfrm>
                  <a:off x="992" y="688"/>
                  <a:ext cx="156" cy="259"/>
                </a:xfrm>
                <a:prstGeom prst="line">
                  <a:avLst/>
                </a:prstGeom>
                <a:ln w="9525" cap="flat" cmpd="sng">
                  <a:solidFill>
                    <a:schemeClr val="tx1"/>
                  </a:solidFill>
                  <a:prstDash val="solid"/>
                  <a:round/>
                  <a:headEnd type="none" w="med" len="med"/>
                  <a:tailEnd type="none" w="med" len="med"/>
                </a:ln>
              </p:spPr>
            </p:sp>
            <p:sp>
              <p:nvSpPr>
                <p:cNvPr id="69670" name="Line 70"/>
                <p:cNvSpPr/>
                <p:nvPr/>
              </p:nvSpPr>
              <p:spPr>
                <a:xfrm flipH="1">
                  <a:off x="439" y="1160"/>
                  <a:ext cx="156" cy="259"/>
                </a:xfrm>
                <a:prstGeom prst="line">
                  <a:avLst/>
                </a:prstGeom>
                <a:ln w="9525" cap="flat" cmpd="sng">
                  <a:solidFill>
                    <a:schemeClr val="tx1"/>
                  </a:solidFill>
                  <a:prstDash val="solid"/>
                  <a:round/>
                  <a:headEnd type="none" w="med" len="med"/>
                  <a:tailEnd type="none" w="med" len="med"/>
                </a:ln>
              </p:spPr>
            </p:sp>
            <p:sp>
              <p:nvSpPr>
                <p:cNvPr id="69671" name="Line 71"/>
                <p:cNvSpPr/>
                <p:nvPr/>
              </p:nvSpPr>
              <p:spPr>
                <a:xfrm flipH="1">
                  <a:off x="699" y="688"/>
                  <a:ext cx="156" cy="259"/>
                </a:xfrm>
                <a:prstGeom prst="line">
                  <a:avLst/>
                </a:prstGeom>
                <a:ln w="9525" cap="flat" cmpd="sng">
                  <a:solidFill>
                    <a:schemeClr val="tx1"/>
                  </a:solidFill>
                  <a:prstDash val="solid"/>
                  <a:round/>
                  <a:headEnd type="none" w="med" len="med"/>
                  <a:tailEnd type="none" w="med" len="med"/>
                </a:ln>
              </p:spPr>
            </p:sp>
            <p:sp>
              <p:nvSpPr>
                <p:cNvPr id="69672" name="Line 72"/>
                <p:cNvSpPr/>
                <p:nvPr/>
              </p:nvSpPr>
              <p:spPr>
                <a:xfrm flipH="1">
                  <a:off x="166" y="695"/>
                  <a:ext cx="156" cy="259"/>
                </a:xfrm>
                <a:prstGeom prst="line">
                  <a:avLst/>
                </a:prstGeom>
                <a:ln w="9525" cap="flat" cmpd="sng">
                  <a:solidFill>
                    <a:schemeClr val="tx1"/>
                  </a:solidFill>
                  <a:prstDash val="solid"/>
                  <a:round/>
                  <a:headEnd type="none" w="med" len="med"/>
                  <a:tailEnd type="none" w="med" len="med"/>
                </a:ln>
              </p:spPr>
            </p:sp>
            <p:sp>
              <p:nvSpPr>
                <p:cNvPr id="69673" name="Line 73"/>
                <p:cNvSpPr/>
                <p:nvPr/>
              </p:nvSpPr>
              <p:spPr>
                <a:xfrm flipH="1">
                  <a:off x="410" y="222"/>
                  <a:ext cx="156" cy="259"/>
                </a:xfrm>
                <a:prstGeom prst="line">
                  <a:avLst/>
                </a:prstGeom>
                <a:ln w="9525" cap="flat" cmpd="sng">
                  <a:solidFill>
                    <a:schemeClr val="tx1"/>
                  </a:solidFill>
                  <a:prstDash val="solid"/>
                  <a:round/>
                  <a:headEnd type="none" w="med" len="med"/>
                  <a:tailEnd type="none" w="med" len="med"/>
                </a:ln>
              </p:spPr>
            </p:sp>
            <p:sp>
              <p:nvSpPr>
                <p:cNvPr id="69674" name="Line 74"/>
                <p:cNvSpPr/>
                <p:nvPr/>
              </p:nvSpPr>
              <p:spPr>
                <a:xfrm>
                  <a:off x="1233" y="1153"/>
                  <a:ext cx="156" cy="259"/>
                </a:xfrm>
                <a:prstGeom prst="line">
                  <a:avLst/>
                </a:prstGeom>
                <a:ln w="9525" cap="flat" cmpd="sng">
                  <a:solidFill>
                    <a:schemeClr val="tx1"/>
                  </a:solidFill>
                  <a:prstDash val="solid"/>
                  <a:round/>
                  <a:headEnd type="none" w="med" len="med"/>
                  <a:tailEnd type="none" w="med" len="med"/>
                </a:ln>
              </p:spPr>
            </p:sp>
            <p:sp>
              <p:nvSpPr>
                <p:cNvPr id="69675" name="Line 75"/>
                <p:cNvSpPr/>
                <p:nvPr/>
              </p:nvSpPr>
              <p:spPr>
                <a:xfrm>
                  <a:off x="707" y="215"/>
                  <a:ext cx="156" cy="259"/>
                </a:xfrm>
                <a:prstGeom prst="line">
                  <a:avLst/>
                </a:prstGeom>
                <a:ln w="9525" cap="flat" cmpd="sng">
                  <a:solidFill>
                    <a:schemeClr val="tx1"/>
                  </a:solidFill>
                  <a:prstDash val="solid"/>
                  <a:round/>
                  <a:headEnd type="none" w="med" len="med"/>
                  <a:tailEnd type="none" w="med" len="med"/>
                </a:ln>
              </p:spPr>
            </p:sp>
          </p:grpSp>
          <p:sp>
            <p:nvSpPr>
              <p:cNvPr id="69676" name="未知"/>
              <p:cNvSpPr/>
              <p:nvPr/>
            </p:nvSpPr>
            <p:spPr>
              <a:xfrm>
                <a:off x="672" y="672"/>
                <a:ext cx="91" cy="317"/>
              </a:xfrm>
              <a:custGeom>
                <a:avLst/>
                <a:gdLst/>
                <a:ahLst/>
                <a:cxnLst>
                  <a:cxn ang="0">
                    <a:pos x="0" y="1751"/>
                  </a:cxn>
                  <a:cxn ang="0">
                    <a:pos x="1" y="1751"/>
                  </a:cxn>
                  <a:cxn ang="0">
                    <a:pos x="1" y="0"/>
                  </a:cxn>
                </a:cxnLst>
                <a:pathLst>
                  <a:path w="168" h="280">
                    <a:moveTo>
                      <a:pt x="0" y="240"/>
                    </a:moveTo>
                    <a:cubicBezTo>
                      <a:pt x="60" y="260"/>
                      <a:pt x="120" y="280"/>
                      <a:pt x="144" y="240"/>
                    </a:cubicBezTo>
                    <a:cubicBezTo>
                      <a:pt x="168" y="200"/>
                      <a:pt x="144" y="40"/>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9677" name="未知"/>
              <p:cNvSpPr/>
              <p:nvPr/>
            </p:nvSpPr>
            <p:spPr>
              <a:xfrm>
                <a:off x="960" y="1104"/>
                <a:ext cx="91" cy="317"/>
              </a:xfrm>
              <a:custGeom>
                <a:avLst/>
                <a:gdLst/>
                <a:ahLst/>
                <a:cxnLst>
                  <a:cxn ang="0">
                    <a:pos x="0" y="90"/>
                  </a:cxn>
                  <a:cxn ang="0">
                    <a:pos x="1" y="77"/>
                  </a:cxn>
                  <a:cxn ang="0">
                    <a:pos x="1" y="0"/>
                  </a:cxn>
                </a:cxnLst>
                <a:pathLst>
                  <a:path w="144" h="344">
                    <a:moveTo>
                      <a:pt x="0" y="336"/>
                    </a:moveTo>
                    <a:cubicBezTo>
                      <a:pt x="36" y="340"/>
                      <a:pt x="72" y="344"/>
                      <a:pt x="96" y="288"/>
                    </a:cubicBezTo>
                    <a:cubicBezTo>
                      <a:pt x="120" y="232"/>
                      <a:pt x="136" y="48"/>
                      <a:pt x="144"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9678" name="Rectangle 78"/>
              <p:cNvSpPr/>
              <p:nvPr/>
            </p:nvSpPr>
            <p:spPr>
              <a:xfrm>
                <a:off x="0" y="512"/>
                <a:ext cx="408" cy="227"/>
              </a:xfrm>
              <a:prstGeom prst="rect">
                <a:avLst/>
              </a:prstGeom>
              <a:noFill/>
              <a:ln w="9525">
                <a:noFill/>
              </a:ln>
            </p:spPr>
            <p:txBody>
              <a:bodyPr wrap="none" anchor="ctr" anchorCtr="0"/>
              <a:p>
                <a:r>
                  <a:rPr lang="en-US" altLang="zh-CN" sz="2400" dirty="0">
                    <a:latin typeface="Times New Roman" panose="02020603050405020304" pitchFamily="18" charset="0"/>
                    <a:ea typeface="宋体" panose="02010600030101010101" pitchFamily="2" charset="-122"/>
                  </a:rPr>
                  <a:t>NIL</a:t>
                </a:r>
                <a:endParaRPr lang="en-US" altLang="zh-CN" sz="2400" dirty="0">
                  <a:latin typeface="Times New Roman" panose="02020603050405020304" pitchFamily="18" charset="0"/>
                  <a:ea typeface="宋体" panose="02010600030101010101" pitchFamily="2" charset="-122"/>
                </a:endParaRPr>
              </a:p>
            </p:txBody>
          </p:sp>
          <p:sp>
            <p:nvSpPr>
              <p:cNvPr id="69679" name="未知"/>
              <p:cNvSpPr/>
              <p:nvPr/>
            </p:nvSpPr>
            <p:spPr>
              <a:xfrm>
                <a:off x="240" y="720"/>
                <a:ext cx="192" cy="336"/>
              </a:xfrm>
              <a:custGeom>
                <a:avLst/>
                <a:gdLst/>
                <a:ahLst/>
                <a:cxnLst>
                  <a:cxn ang="0">
                    <a:pos x="192" y="288"/>
                  </a:cxn>
                  <a:cxn ang="0">
                    <a:pos x="48" y="288"/>
                  </a:cxn>
                  <a:cxn ang="0">
                    <a:pos x="0" y="0"/>
                  </a:cxn>
                </a:cxnLst>
                <a:pathLst>
                  <a:path w="192" h="336">
                    <a:moveTo>
                      <a:pt x="192" y="288"/>
                    </a:moveTo>
                    <a:cubicBezTo>
                      <a:pt x="136" y="312"/>
                      <a:pt x="80" y="336"/>
                      <a:pt x="48" y="288"/>
                    </a:cubicBezTo>
                    <a:cubicBezTo>
                      <a:pt x="16" y="240"/>
                      <a:pt x="8" y="48"/>
                      <a:pt x="0"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9680" name="未知"/>
              <p:cNvSpPr/>
              <p:nvPr/>
            </p:nvSpPr>
            <p:spPr>
              <a:xfrm>
                <a:off x="584" y="672"/>
                <a:ext cx="304" cy="720"/>
              </a:xfrm>
              <a:custGeom>
                <a:avLst/>
                <a:gdLst/>
                <a:ahLst/>
                <a:cxnLst>
                  <a:cxn ang="0">
                    <a:pos x="120" y="720"/>
                  </a:cxn>
                  <a:cxn ang="0">
                    <a:pos x="24" y="576"/>
                  </a:cxn>
                  <a:cxn ang="0">
                    <a:pos x="264" y="288"/>
                  </a:cxn>
                  <a:cxn ang="0">
                    <a:pos x="264" y="0"/>
                  </a:cxn>
                </a:cxnLst>
                <a:pathLst>
                  <a:path w="304" h="720">
                    <a:moveTo>
                      <a:pt x="120" y="720"/>
                    </a:moveTo>
                    <a:cubicBezTo>
                      <a:pt x="60" y="684"/>
                      <a:pt x="0" y="648"/>
                      <a:pt x="24" y="576"/>
                    </a:cubicBezTo>
                    <a:cubicBezTo>
                      <a:pt x="48" y="504"/>
                      <a:pt x="224" y="384"/>
                      <a:pt x="264" y="288"/>
                    </a:cubicBezTo>
                    <a:cubicBezTo>
                      <a:pt x="304" y="192"/>
                      <a:pt x="264" y="48"/>
                      <a:pt x="264"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9681" name="未知"/>
              <p:cNvSpPr/>
              <p:nvPr/>
            </p:nvSpPr>
            <p:spPr>
              <a:xfrm>
                <a:off x="800" y="560"/>
                <a:ext cx="208" cy="768"/>
              </a:xfrm>
              <a:custGeom>
                <a:avLst/>
                <a:gdLst/>
                <a:ahLst/>
                <a:cxnLst>
                  <a:cxn ang="0">
                    <a:pos x="144" y="0"/>
                  </a:cxn>
                  <a:cxn ang="0">
                    <a:pos x="192" y="96"/>
                  </a:cxn>
                  <a:cxn ang="0">
                    <a:pos x="48" y="528"/>
                  </a:cxn>
                  <a:cxn ang="0">
                    <a:pos x="0" y="768"/>
                  </a:cxn>
                </a:cxnLst>
                <a:pathLst>
                  <a:path w="208" h="768">
                    <a:moveTo>
                      <a:pt x="144" y="0"/>
                    </a:moveTo>
                    <a:cubicBezTo>
                      <a:pt x="176" y="4"/>
                      <a:pt x="208" y="8"/>
                      <a:pt x="192" y="96"/>
                    </a:cubicBezTo>
                    <a:cubicBezTo>
                      <a:pt x="176" y="184"/>
                      <a:pt x="80" y="416"/>
                      <a:pt x="48" y="528"/>
                    </a:cubicBezTo>
                    <a:cubicBezTo>
                      <a:pt x="16" y="640"/>
                      <a:pt x="8" y="728"/>
                      <a:pt x="0" y="768"/>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9682" name="未知"/>
              <p:cNvSpPr/>
              <p:nvPr/>
            </p:nvSpPr>
            <p:spPr>
              <a:xfrm>
                <a:off x="1112" y="1104"/>
                <a:ext cx="100" cy="448"/>
              </a:xfrm>
              <a:custGeom>
                <a:avLst/>
                <a:gdLst/>
                <a:ahLst/>
                <a:cxnLst>
                  <a:cxn ang="0">
                    <a:pos x="19" y="384"/>
                  </a:cxn>
                  <a:cxn ang="0">
                    <a:pos x="4" y="384"/>
                  </a:cxn>
                  <a:cxn ang="0">
                    <a:pos x="4" y="0"/>
                  </a:cxn>
                </a:cxnLst>
                <a:pathLst>
                  <a:path w="112" h="448">
                    <a:moveTo>
                      <a:pt x="112" y="384"/>
                    </a:moveTo>
                    <a:cubicBezTo>
                      <a:pt x="72" y="416"/>
                      <a:pt x="32" y="448"/>
                      <a:pt x="16" y="384"/>
                    </a:cubicBezTo>
                    <a:cubicBezTo>
                      <a:pt x="0" y="320"/>
                      <a:pt x="16" y="64"/>
                      <a:pt x="16"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9683" name="未知"/>
              <p:cNvSpPr/>
              <p:nvPr/>
            </p:nvSpPr>
            <p:spPr>
              <a:xfrm>
                <a:off x="1224" y="992"/>
                <a:ext cx="91" cy="340"/>
              </a:xfrm>
              <a:custGeom>
                <a:avLst/>
                <a:gdLst/>
                <a:ahLst/>
                <a:cxnLst>
                  <a:cxn ang="0">
                    <a:pos x="0" y="8"/>
                  </a:cxn>
                  <a:cxn ang="0">
                    <a:pos x="42" y="43"/>
                  </a:cxn>
                  <a:cxn ang="0">
                    <a:pos x="0" y="285"/>
                  </a:cxn>
                </a:cxnLst>
                <a:pathLst>
                  <a:path w="96" h="344">
                    <a:moveTo>
                      <a:pt x="0" y="8"/>
                    </a:moveTo>
                    <a:cubicBezTo>
                      <a:pt x="48" y="4"/>
                      <a:pt x="96" y="0"/>
                      <a:pt x="96" y="56"/>
                    </a:cubicBezTo>
                    <a:cubicBezTo>
                      <a:pt x="96" y="112"/>
                      <a:pt x="16" y="296"/>
                      <a:pt x="0" y="344"/>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9684" name="未知"/>
              <p:cNvSpPr/>
              <p:nvPr/>
            </p:nvSpPr>
            <p:spPr>
              <a:xfrm>
                <a:off x="1416" y="1296"/>
                <a:ext cx="295" cy="45"/>
              </a:xfrm>
              <a:custGeom>
                <a:avLst/>
                <a:gdLst/>
                <a:ahLst/>
                <a:cxnLst>
                  <a:cxn ang="0">
                    <a:pos x="0" y="18"/>
                  </a:cxn>
                  <a:cxn ang="0">
                    <a:pos x="2608" y="0"/>
                  </a:cxn>
                  <a:cxn ang="0">
                    <a:pos x="6516" y="18"/>
                  </a:cxn>
                </a:cxnLst>
                <a:pathLst>
                  <a:path w="240" h="48">
                    <a:moveTo>
                      <a:pt x="0" y="48"/>
                    </a:moveTo>
                    <a:cubicBezTo>
                      <a:pt x="28" y="24"/>
                      <a:pt x="56" y="0"/>
                      <a:pt x="96" y="0"/>
                    </a:cubicBezTo>
                    <a:cubicBezTo>
                      <a:pt x="136" y="0"/>
                      <a:pt x="216" y="40"/>
                      <a:pt x="240" y="48"/>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sp>
            <p:nvSpPr>
              <p:cNvPr id="69685" name="未知"/>
              <p:cNvSpPr/>
              <p:nvPr/>
            </p:nvSpPr>
            <p:spPr>
              <a:xfrm>
                <a:off x="1416" y="1488"/>
                <a:ext cx="272" cy="45"/>
              </a:xfrm>
              <a:custGeom>
                <a:avLst/>
                <a:gdLst/>
                <a:ahLst/>
                <a:cxnLst>
                  <a:cxn ang="0">
                    <a:pos x="114" y="0"/>
                  </a:cxn>
                  <a:cxn ang="0">
                    <a:pos x="96" y="18"/>
                  </a:cxn>
                  <a:cxn ang="0">
                    <a:pos x="0" y="0"/>
                  </a:cxn>
                </a:cxnLst>
                <a:pathLst>
                  <a:path w="288" h="48">
                    <a:moveTo>
                      <a:pt x="288" y="0"/>
                    </a:moveTo>
                    <a:cubicBezTo>
                      <a:pt x="288" y="24"/>
                      <a:pt x="288" y="48"/>
                      <a:pt x="240" y="48"/>
                    </a:cubicBezTo>
                    <a:cubicBezTo>
                      <a:pt x="192" y="48"/>
                      <a:pt x="40" y="8"/>
                      <a:pt x="0" y="0"/>
                    </a:cubicBezTo>
                  </a:path>
                </a:pathLst>
              </a:custGeom>
              <a:noFill/>
              <a:ln w="19050" cap="flat" cmpd="sng">
                <a:solidFill>
                  <a:schemeClr val="hlink"/>
                </a:solidFill>
                <a:prstDash val="dash"/>
                <a:round/>
                <a:headEnd type="none" w="med" len="med"/>
                <a:tailEnd type="triangle" w="med" len="med"/>
              </a:ln>
            </p:spPr>
            <p:txBody>
              <a:bodyPr/>
              <a:p>
                <a:endParaRPr lang="zh-CN" altLang="en-US"/>
              </a:p>
            </p:txBody>
          </p:sp>
          <p:sp>
            <p:nvSpPr>
              <p:cNvPr id="69686" name="未知"/>
              <p:cNvSpPr/>
              <p:nvPr/>
            </p:nvSpPr>
            <p:spPr>
              <a:xfrm>
                <a:off x="1672" y="1024"/>
                <a:ext cx="328" cy="344"/>
              </a:xfrm>
              <a:custGeom>
                <a:avLst/>
                <a:gdLst/>
                <a:ahLst/>
                <a:cxnLst>
                  <a:cxn ang="0">
                    <a:pos x="240" y="336"/>
                  </a:cxn>
                  <a:cxn ang="0">
                    <a:pos x="288" y="288"/>
                  </a:cxn>
                  <a:cxn ang="0">
                    <a:pos x="0" y="0"/>
                  </a:cxn>
                </a:cxnLst>
                <a:pathLst>
                  <a:path w="328" h="344">
                    <a:moveTo>
                      <a:pt x="240" y="336"/>
                    </a:moveTo>
                    <a:cubicBezTo>
                      <a:pt x="284" y="340"/>
                      <a:pt x="328" y="344"/>
                      <a:pt x="288" y="288"/>
                    </a:cubicBezTo>
                    <a:cubicBezTo>
                      <a:pt x="248" y="232"/>
                      <a:pt x="48" y="48"/>
                      <a:pt x="0" y="0"/>
                    </a:cubicBezTo>
                  </a:path>
                </a:pathLst>
              </a:custGeom>
              <a:noFill/>
              <a:ln w="19050" cap="flat" cmpd="sng">
                <a:solidFill>
                  <a:schemeClr val="folHlink"/>
                </a:solidFill>
                <a:prstDash val="dash"/>
                <a:round/>
                <a:headEnd type="none" w="med" len="med"/>
                <a:tailEnd type="triangle" w="med" len="med"/>
              </a:ln>
            </p:spPr>
            <p:txBody>
              <a:bodyPr/>
              <a:p>
                <a:endParaRPr lang="zh-CN" altLang="en-US"/>
              </a:p>
            </p:txBody>
          </p:sp>
        </p:grpSp>
        <p:sp>
          <p:nvSpPr>
            <p:cNvPr id="69687" name="Rectangle 87"/>
            <p:cNvSpPr/>
            <p:nvPr/>
          </p:nvSpPr>
          <p:spPr>
            <a:xfrm>
              <a:off x="3016" y="3158"/>
              <a:ext cx="2131" cy="363"/>
            </a:xfrm>
            <a:prstGeom prst="rect">
              <a:avLst/>
            </a:prstGeom>
            <a:noFill/>
            <a:ln w="9525">
              <a:noFill/>
            </a:ln>
          </p:spPr>
          <p:txBody>
            <a:bodyPr wrap="none" anchor="ctr" anchorCtr="0"/>
            <a:p>
              <a:pPr marL="457200" indent="-457200"/>
              <a:r>
                <a:rPr lang="en-US" altLang="zh-CN" sz="2000" b="1" dirty="0">
                  <a:latin typeface="Times New Roman" panose="02020603050405020304" pitchFamily="18" charset="0"/>
                  <a:ea typeface="宋体" panose="02010600030101010101" pitchFamily="2" charset="-122"/>
                </a:rPr>
                <a:t>(d)   </a:t>
              </a:r>
              <a:r>
                <a:rPr lang="zh-CN" altLang="en-US" sz="2000" b="1" dirty="0">
                  <a:latin typeface="Times New Roman" panose="02020603050405020304" pitchFamily="18" charset="0"/>
                  <a:ea typeface="宋体" panose="02010600030101010101" pitchFamily="2" charset="-122"/>
                </a:rPr>
                <a:t>后序线索树的逻辑形式</a:t>
              </a:r>
              <a:endParaRPr lang="zh-CN" altLang="en-US" sz="2000" b="1" dirty="0">
                <a:latin typeface="Times New Roman" panose="02020603050405020304" pitchFamily="18" charset="0"/>
                <a:ea typeface="宋体" panose="02010600030101010101" pitchFamily="2" charset="-122"/>
              </a:endParaRPr>
            </a:p>
            <a:p>
              <a:pPr marL="457200" indent="-457200"/>
              <a:r>
                <a:rPr lang="zh-CN" altLang="en-US" sz="2000" b="1" dirty="0">
                  <a:latin typeface="Times New Roman" panose="02020603050405020304" pitchFamily="18" charset="0"/>
                  <a:ea typeface="宋体" panose="02010600030101010101" pitchFamily="2" charset="-122"/>
                </a:rPr>
                <a:t>        结点序列：</a:t>
              </a:r>
              <a:r>
                <a:rPr lang="en-US" altLang="zh-CN" sz="2000" b="1" dirty="0">
                  <a:latin typeface="Times New Roman" panose="02020603050405020304" pitchFamily="18" charset="0"/>
                  <a:ea typeface="宋体" panose="02010600030101010101" pitchFamily="2" charset="-122"/>
                </a:rPr>
                <a:t>DBGEHIFCA</a:t>
              </a:r>
              <a:endParaRPr lang="en-US" altLang="zh-CN" sz="2000" b="1"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线索二叉树的优点</a:t>
            </a:r>
            <a:endParaRPr kumimoji="0" lang="zh-CN" altLang="en-US" sz="2800"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充分利用多余的指针域</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可以通过线索使用非递归方法实现遍历 </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6.3 </a:t>
            </a:r>
            <a:r>
              <a:rPr lang="zh-CN" altLang="en-US">
                <a:latin typeface="楷体" panose="02010609060101010101" charset="-122"/>
                <a:ea typeface="楷体" panose="02010609060101010101" charset="-122"/>
                <a:cs typeface="楷体" panose="02010609060101010101" charset="-122"/>
                <a:sym typeface="+mn-ea"/>
              </a:rPr>
              <a:t>遍历二叉</a:t>
            </a:r>
            <a:r>
              <a:rPr lang="zh-CN" altLang="en-US" dirty="0">
                <a:latin typeface="楷体" panose="02010609060101010101" charset="-122"/>
                <a:ea typeface="楷体" panose="02010609060101010101" charset="-122"/>
                <a:sym typeface="+mn-ea"/>
              </a:rPr>
              <a:t>树和线索二叉树</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R="0" lvl="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画出以下二叉树的先序线索二叉树</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假定线索二叉树结点的存储结构如下图，请画出中序线索树的存储结构图</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LTag/RTag为0，表示指针指向是孩子结点</a:t>
            </a: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LTag/Rtag为1，表示指针指向是某种遍历的前驱或后继</a:t>
            </a:r>
            <a:endParaRPr lang="en-US" altLang="zh-CN"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72739" name="Group 4"/>
          <p:cNvGrpSpPr/>
          <p:nvPr/>
        </p:nvGrpSpPr>
        <p:grpSpPr>
          <a:xfrm>
            <a:off x="1496378" y="3429000"/>
            <a:ext cx="5143500" cy="398834"/>
            <a:chOff x="960" y="2928"/>
            <a:chExt cx="2928" cy="328"/>
          </a:xfrm>
        </p:grpSpPr>
        <p:sp>
          <p:nvSpPr>
            <p:cNvPr id="72740" name="Text Box 5"/>
            <p:cNvSpPr txBox="1"/>
            <p:nvPr/>
          </p:nvSpPr>
          <p:spPr>
            <a:xfrm>
              <a:off x="960" y="2928"/>
              <a:ext cx="528" cy="328"/>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LTag</a:t>
              </a:r>
              <a:endParaRPr lang="en-US" altLang="zh-CN" sz="2000" dirty="0">
                <a:latin typeface="Tahoma" panose="020B0604030504040204" charset="0"/>
                <a:ea typeface="宋体" panose="02010600030101010101" pitchFamily="2" charset="-122"/>
              </a:endParaRPr>
            </a:p>
          </p:txBody>
        </p:sp>
        <p:sp>
          <p:nvSpPr>
            <p:cNvPr id="72741" name="Text Box 6"/>
            <p:cNvSpPr txBox="1"/>
            <p:nvPr/>
          </p:nvSpPr>
          <p:spPr>
            <a:xfrm>
              <a:off x="1488" y="2928"/>
              <a:ext cx="672" cy="328"/>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lChild</a:t>
              </a:r>
              <a:endParaRPr lang="en-US" altLang="zh-CN" sz="2000" dirty="0">
                <a:latin typeface="Tahoma" panose="020B0604030504040204" charset="0"/>
                <a:ea typeface="宋体" panose="02010600030101010101" pitchFamily="2" charset="-122"/>
              </a:endParaRPr>
            </a:p>
          </p:txBody>
        </p:sp>
        <p:sp>
          <p:nvSpPr>
            <p:cNvPr id="72742" name="Text Box 7"/>
            <p:cNvSpPr txBox="1"/>
            <p:nvPr/>
          </p:nvSpPr>
          <p:spPr>
            <a:xfrm>
              <a:off x="2160" y="2928"/>
              <a:ext cx="528" cy="328"/>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data</a:t>
              </a:r>
              <a:endParaRPr lang="en-US" altLang="zh-CN" sz="2000" dirty="0">
                <a:latin typeface="Tahoma" panose="020B0604030504040204" charset="0"/>
                <a:ea typeface="宋体" panose="02010600030101010101" pitchFamily="2" charset="-122"/>
              </a:endParaRPr>
            </a:p>
          </p:txBody>
        </p:sp>
        <p:sp>
          <p:nvSpPr>
            <p:cNvPr id="72743" name="Text Box 8"/>
            <p:cNvSpPr txBox="1"/>
            <p:nvPr/>
          </p:nvSpPr>
          <p:spPr>
            <a:xfrm>
              <a:off x="2688" y="2928"/>
              <a:ext cx="672" cy="328"/>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rChild</a:t>
              </a:r>
              <a:endParaRPr lang="en-US" altLang="zh-CN" sz="2000" dirty="0">
                <a:latin typeface="Tahoma" panose="020B0604030504040204" charset="0"/>
                <a:ea typeface="宋体" panose="02010600030101010101" pitchFamily="2" charset="-122"/>
              </a:endParaRPr>
            </a:p>
          </p:txBody>
        </p:sp>
        <p:sp>
          <p:nvSpPr>
            <p:cNvPr id="72744" name="Text Box 9"/>
            <p:cNvSpPr txBox="1"/>
            <p:nvPr/>
          </p:nvSpPr>
          <p:spPr>
            <a:xfrm>
              <a:off x="3360" y="2928"/>
              <a:ext cx="528" cy="328"/>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RTag</a:t>
              </a:r>
              <a:endParaRPr lang="en-US" altLang="zh-CN" sz="2000" dirty="0">
                <a:latin typeface="Tahoma" panose="020B0604030504040204" charset="0"/>
                <a:ea typeface="宋体" panose="02010600030101010101" pitchFamily="2" charset="-122"/>
              </a:endParaRPr>
            </a:p>
          </p:txBody>
        </p:sp>
      </p:grpSp>
      <p:grpSp>
        <p:nvGrpSpPr>
          <p:cNvPr id="72708" name="Group 76"/>
          <p:cNvGrpSpPr/>
          <p:nvPr/>
        </p:nvGrpSpPr>
        <p:grpSpPr>
          <a:xfrm>
            <a:off x="7247573" y="3428683"/>
            <a:ext cx="3602037" cy="2424113"/>
            <a:chOff x="3024" y="2113"/>
            <a:chExt cx="2269" cy="1527"/>
          </a:xfrm>
        </p:grpSpPr>
        <p:sp>
          <p:nvSpPr>
            <p:cNvPr id="72709" name="Line 77"/>
            <p:cNvSpPr/>
            <p:nvPr/>
          </p:nvSpPr>
          <p:spPr>
            <a:xfrm>
              <a:off x="4896" y="2727"/>
              <a:ext cx="192" cy="240"/>
            </a:xfrm>
            <a:prstGeom prst="line">
              <a:avLst/>
            </a:prstGeom>
            <a:ln w="38100" cap="flat" cmpd="sng">
              <a:solidFill>
                <a:srgbClr val="009900"/>
              </a:solidFill>
              <a:prstDash val="solid"/>
              <a:round/>
              <a:headEnd type="none" w="med" len="med"/>
              <a:tailEnd type="none" w="med" len="med"/>
            </a:ln>
          </p:spPr>
        </p:sp>
        <p:sp>
          <p:nvSpPr>
            <p:cNvPr id="72710" name="Line 78"/>
            <p:cNvSpPr/>
            <p:nvPr/>
          </p:nvSpPr>
          <p:spPr>
            <a:xfrm flipH="1">
              <a:off x="4608" y="2700"/>
              <a:ext cx="223" cy="267"/>
            </a:xfrm>
            <a:prstGeom prst="line">
              <a:avLst/>
            </a:prstGeom>
            <a:ln w="38100" cap="flat" cmpd="sng">
              <a:solidFill>
                <a:srgbClr val="009900"/>
              </a:solidFill>
              <a:prstDash val="solid"/>
              <a:round/>
              <a:headEnd type="none" w="med" len="med"/>
              <a:tailEnd type="none" w="med" len="med"/>
            </a:ln>
          </p:spPr>
        </p:sp>
        <p:sp>
          <p:nvSpPr>
            <p:cNvPr id="72711" name="Line 79"/>
            <p:cNvSpPr/>
            <p:nvPr/>
          </p:nvSpPr>
          <p:spPr>
            <a:xfrm flipH="1">
              <a:off x="3168" y="3063"/>
              <a:ext cx="192" cy="336"/>
            </a:xfrm>
            <a:prstGeom prst="line">
              <a:avLst/>
            </a:prstGeom>
            <a:ln w="38100" cap="flat" cmpd="sng">
              <a:solidFill>
                <a:srgbClr val="009900"/>
              </a:solidFill>
              <a:prstDash val="solid"/>
              <a:round/>
              <a:headEnd type="none" w="med" len="med"/>
              <a:tailEnd type="none" w="med" len="med"/>
            </a:ln>
          </p:spPr>
        </p:sp>
        <p:sp>
          <p:nvSpPr>
            <p:cNvPr id="72712" name="Line 80"/>
            <p:cNvSpPr/>
            <p:nvPr/>
          </p:nvSpPr>
          <p:spPr>
            <a:xfrm flipH="1">
              <a:off x="3408" y="2727"/>
              <a:ext cx="240" cy="288"/>
            </a:xfrm>
            <a:prstGeom prst="line">
              <a:avLst/>
            </a:prstGeom>
            <a:ln w="38100" cap="flat" cmpd="sng">
              <a:solidFill>
                <a:srgbClr val="009900"/>
              </a:solidFill>
              <a:prstDash val="solid"/>
              <a:round/>
              <a:headEnd type="none" w="med" len="med"/>
              <a:tailEnd type="none" w="med" len="med"/>
            </a:ln>
          </p:spPr>
        </p:sp>
        <p:sp>
          <p:nvSpPr>
            <p:cNvPr id="72713" name="Line 81"/>
            <p:cNvSpPr/>
            <p:nvPr/>
          </p:nvSpPr>
          <p:spPr>
            <a:xfrm>
              <a:off x="4368" y="2343"/>
              <a:ext cx="456" cy="274"/>
            </a:xfrm>
            <a:prstGeom prst="line">
              <a:avLst/>
            </a:prstGeom>
            <a:ln w="38100" cap="flat" cmpd="sng">
              <a:solidFill>
                <a:srgbClr val="009900"/>
              </a:solidFill>
              <a:prstDash val="solid"/>
              <a:round/>
              <a:headEnd type="none" w="med" len="med"/>
              <a:tailEnd type="none" w="med" len="med"/>
            </a:ln>
          </p:spPr>
        </p:sp>
        <p:sp>
          <p:nvSpPr>
            <p:cNvPr id="72714" name="Line 82"/>
            <p:cNvSpPr/>
            <p:nvPr/>
          </p:nvSpPr>
          <p:spPr>
            <a:xfrm flipH="1">
              <a:off x="3744" y="2343"/>
              <a:ext cx="480" cy="288"/>
            </a:xfrm>
            <a:prstGeom prst="line">
              <a:avLst/>
            </a:prstGeom>
            <a:ln w="38100" cap="flat" cmpd="sng">
              <a:solidFill>
                <a:srgbClr val="009900"/>
              </a:solidFill>
              <a:prstDash val="solid"/>
              <a:round/>
              <a:headEnd type="none" w="med" len="med"/>
              <a:tailEnd type="none" w="med" len="med"/>
            </a:ln>
          </p:spPr>
        </p:sp>
        <p:sp>
          <p:nvSpPr>
            <p:cNvPr id="72715" name="Line 83"/>
            <p:cNvSpPr/>
            <p:nvPr/>
          </p:nvSpPr>
          <p:spPr>
            <a:xfrm>
              <a:off x="3456" y="3111"/>
              <a:ext cx="87" cy="261"/>
            </a:xfrm>
            <a:prstGeom prst="line">
              <a:avLst/>
            </a:prstGeom>
            <a:ln w="38100" cap="flat" cmpd="sng">
              <a:solidFill>
                <a:srgbClr val="009900"/>
              </a:solidFill>
              <a:prstDash val="solid"/>
              <a:round/>
              <a:headEnd type="none" w="med" len="med"/>
              <a:tailEnd type="none" w="med" len="med"/>
            </a:ln>
          </p:spPr>
        </p:sp>
        <p:sp>
          <p:nvSpPr>
            <p:cNvPr id="72716" name="Line 84"/>
            <p:cNvSpPr/>
            <p:nvPr/>
          </p:nvSpPr>
          <p:spPr>
            <a:xfrm flipH="1">
              <a:off x="4404" y="3072"/>
              <a:ext cx="144" cy="336"/>
            </a:xfrm>
            <a:prstGeom prst="line">
              <a:avLst/>
            </a:prstGeom>
            <a:ln w="38100" cap="flat" cmpd="sng">
              <a:solidFill>
                <a:srgbClr val="009900"/>
              </a:solidFill>
              <a:prstDash val="solid"/>
              <a:round/>
              <a:headEnd type="none" w="med" len="med"/>
              <a:tailEnd type="none" w="med" len="med"/>
            </a:ln>
          </p:spPr>
        </p:sp>
        <p:sp>
          <p:nvSpPr>
            <p:cNvPr id="72717" name="Oval 85"/>
            <p:cNvSpPr/>
            <p:nvPr/>
          </p:nvSpPr>
          <p:spPr>
            <a:xfrm>
              <a:off x="4260"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2718" name="Text Box 86"/>
            <p:cNvSpPr txBox="1"/>
            <p:nvPr/>
          </p:nvSpPr>
          <p:spPr>
            <a:xfrm>
              <a:off x="4273" y="3265"/>
              <a:ext cx="202"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72719" name="Oval 87"/>
            <p:cNvSpPr/>
            <p:nvPr/>
          </p:nvSpPr>
          <p:spPr>
            <a:xfrm>
              <a:off x="4176" y="215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2720" name="Oval 88"/>
            <p:cNvSpPr/>
            <p:nvPr/>
          </p:nvSpPr>
          <p:spPr>
            <a:xfrm>
              <a:off x="3600"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2721" name="Oval 89"/>
            <p:cNvSpPr/>
            <p:nvPr/>
          </p:nvSpPr>
          <p:spPr>
            <a:xfrm>
              <a:off x="4704" y="2487"/>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2722" name="Text Box 90"/>
            <p:cNvSpPr txBox="1"/>
            <p:nvPr/>
          </p:nvSpPr>
          <p:spPr>
            <a:xfrm>
              <a:off x="4190" y="2113"/>
              <a:ext cx="27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72723" name="Text Box 91"/>
            <p:cNvSpPr txBox="1"/>
            <p:nvPr/>
          </p:nvSpPr>
          <p:spPr>
            <a:xfrm>
              <a:off x="3613" y="2449"/>
              <a:ext cx="265"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72724" name="Text Box 92"/>
            <p:cNvSpPr txBox="1"/>
            <p:nvPr/>
          </p:nvSpPr>
          <p:spPr>
            <a:xfrm>
              <a:off x="4718" y="2449"/>
              <a:ext cx="27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72725" name="Oval 93"/>
            <p:cNvSpPr/>
            <p:nvPr/>
          </p:nvSpPr>
          <p:spPr>
            <a:xfrm>
              <a:off x="4992"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2726" name="Text Box 94"/>
            <p:cNvSpPr txBox="1"/>
            <p:nvPr/>
          </p:nvSpPr>
          <p:spPr>
            <a:xfrm>
              <a:off x="5041" y="2833"/>
              <a:ext cx="252"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72727" name="Oval 95"/>
            <p:cNvSpPr/>
            <p:nvPr/>
          </p:nvSpPr>
          <p:spPr>
            <a:xfrm>
              <a:off x="32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2728" name="Text Box 96"/>
            <p:cNvSpPr txBox="1"/>
            <p:nvPr/>
          </p:nvSpPr>
          <p:spPr>
            <a:xfrm>
              <a:off x="3278" y="2833"/>
              <a:ext cx="27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72729" name="Oval 97"/>
            <p:cNvSpPr/>
            <p:nvPr/>
          </p:nvSpPr>
          <p:spPr>
            <a:xfrm>
              <a:off x="3024"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2730" name="Text Box 98"/>
            <p:cNvSpPr txBox="1"/>
            <p:nvPr/>
          </p:nvSpPr>
          <p:spPr>
            <a:xfrm>
              <a:off x="3037" y="3265"/>
              <a:ext cx="290"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72731" name="Oval 99"/>
            <p:cNvSpPr/>
            <p:nvPr/>
          </p:nvSpPr>
          <p:spPr>
            <a:xfrm>
              <a:off x="3408" y="3303"/>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2732" name="Text Box 100"/>
            <p:cNvSpPr txBox="1"/>
            <p:nvPr/>
          </p:nvSpPr>
          <p:spPr>
            <a:xfrm>
              <a:off x="3421" y="3256"/>
              <a:ext cx="290"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72733" name="Text Box 101"/>
            <p:cNvSpPr txBox="1"/>
            <p:nvPr/>
          </p:nvSpPr>
          <p:spPr>
            <a:xfrm>
              <a:off x="4608" y="3311"/>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9</a:t>
              </a:r>
              <a:endParaRPr lang="en-US" altLang="zh-CN" sz="2400" dirty="0">
                <a:latin typeface="Times New Roman" panose="02020603050405020304" pitchFamily="18" charset="0"/>
                <a:ea typeface="宋体" panose="02010600030101010101" pitchFamily="2" charset="-122"/>
              </a:endParaRPr>
            </a:p>
          </p:txBody>
        </p:sp>
        <p:sp>
          <p:nvSpPr>
            <p:cNvPr id="72734" name="Oval 102"/>
            <p:cNvSpPr/>
            <p:nvPr/>
          </p:nvSpPr>
          <p:spPr>
            <a:xfrm>
              <a:off x="4608" y="3312"/>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2735" name="Text Box 103"/>
            <p:cNvSpPr txBox="1"/>
            <p:nvPr/>
          </p:nvSpPr>
          <p:spPr>
            <a:xfrm>
              <a:off x="4645" y="3283"/>
              <a:ext cx="227"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sp>
          <p:nvSpPr>
            <p:cNvPr id="72736" name="Line 104"/>
            <p:cNvSpPr/>
            <p:nvPr/>
          </p:nvSpPr>
          <p:spPr>
            <a:xfrm>
              <a:off x="4608" y="3120"/>
              <a:ext cx="96" cy="192"/>
            </a:xfrm>
            <a:prstGeom prst="line">
              <a:avLst/>
            </a:prstGeom>
            <a:ln w="38100" cap="flat" cmpd="sng">
              <a:solidFill>
                <a:srgbClr val="009900"/>
              </a:solidFill>
              <a:prstDash val="solid"/>
              <a:round/>
              <a:headEnd type="none" w="med" len="med"/>
              <a:tailEnd type="none" w="med" len="med"/>
            </a:ln>
          </p:spPr>
        </p:sp>
        <p:sp>
          <p:nvSpPr>
            <p:cNvPr id="72737" name="Oval 105"/>
            <p:cNvSpPr/>
            <p:nvPr/>
          </p:nvSpPr>
          <p:spPr>
            <a:xfrm>
              <a:off x="4464" y="2871"/>
              <a:ext cx="288" cy="288"/>
            </a:xfrm>
            <a:prstGeom prst="ellipse">
              <a:avLst/>
            </a:prstGeom>
            <a:gradFill rotWithShape="0">
              <a:gsLst>
                <a:gs pos="0">
                  <a:srgbClr val="FF6600"/>
                </a:gs>
                <a:gs pos="100000">
                  <a:srgbClr val="762F00"/>
                </a:gs>
              </a:gsLst>
              <a:lin ang="2700000" scaled="1"/>
              <a:tileRect/>
            </a:gradFill>
            <a:ln w="38100">
              <a:noFill/>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72738" name="Text Box 106"/>
            <p:cNvSpPr txBox="1"/>
            <p:nvPr/>
          </p:nvSpPr>
          <p:spPr>
            <a:xfrm>
              <a:off x="4465" y="2833"/>
              <a:ext cx="265" cy="329"/>
            </a:xfrm>
            <a:prstGeom prst="rect">
              <a:avLst/>
            </a:prstGeom>
            <a:noFill/>
            <a:ln w="38100">
              <a:noFill/>
            </a:ln>
          </p:spPr>
          <p:txBody>
            <a:bodyPr wrap="none" anchor="ctr" anchorCtr="0">
              <a:spAutoFit/>
            </a:bodyPr>
            <a:p>
              <a:pPr algn="ctr"/>
              <a:r>
                <a:rPr lang="en-US" altLang="zh-CN" sz="2800" b="1" dirty="0">
                  <a:solidFill>
                    <a:schemeClr val="bg1"/>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树的定义和基本术语</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遍历二叉树和线索二叉树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树和森林</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赫夫曼树及其应用</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回溯法与树的遍历</a:t>
            </a: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3493135"/>
            <a:ext cx="3393440"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485" y="18859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第六章	树和二叉树</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树的路径的概念</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路径是指从树中一个结点到另一个结点之间的分支构成这两个结点之间的路径</a:t>
            </a:r>
            <a:endParaRPr kumimoji="0" lang="zh-CN" altLang="en-US"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路径长度：路径上的分支数目</a:t>
            </a:r>
            <a:endParaRPr lang="zh-CN" altLang="en-US" sz="2400" noProof="0" smtClean="0">
              <a:ln>
                <a:noFill/>
              </a:ln>
              <a:effectLst/>
              <a:uLnTx/>
              <a:uFillTx/>
              <a:latin typeface="黑体" panose="02010609060101010101" pitchFamily="2" charset="-122"/>
              <a:ea typeface="黑体" panose="02010609060101010101" pitchFamily="2" charset="-122"/>
              <a:cs typeface="+mn-ea"/>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树的路径长度的概念</a:t>
            </a:r>
            <a:endParaRPr kumimoji="0" lang="zh-CN" altLang="en-US"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树的路径长度是指从树根到每个结点的路径长度之和</a:t>
            </a: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r>
              <a:rPr lang="en-US" altLang="zh-CN" b="1">
                <a:latin typeface="楷体" panose="02010609060101010101" charset="-122"/>
                <a:ea typeface="楷体" panose="02010609060101010101" charset="-122"/>
                <a:cs typeface="楷体" panose="02010609060101010101" charset="-122"/>
                <a:sym typeface="+mn-ea"/>
              </a:rPr>
              <a:t> </a:t>
            </a:r>
            <a:endParaRPr lang="en-US" altLang="zh-CN" b="1">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20" name="组合 19"/>
          <p:cNvGrpSpPr/>
          <p:nvPr/>
        </p:nvGrpSpPr>
        <p:grpSpPr>
          <a:xfrm>
            <a:off x="6167755" y="2852738"/>
            <a:ext cx="5725160" cy="3531552"/>
            <a:chOff x="9715" y="4519"/>
            <a:chExt cx="9016" cy="5561"/>
          </a:xfrm>
        </p:grpSpPr>
        <p:grpSp>
          <p:nvGrpSpPr>
            <p:cNvPr id="89092" name="Group 4"/>
            <p:cNvGrpSpPr/>
            <p:nvPr/>
          </p:nvGrpSpPr>
          <p:grpSpPr>
            <a:xfrm>
              <a:off x="13263" y="4519"/>
              <a:ext cx="4200" cy="3960"/>
              <a:chOff x="3696" y="2565"/>
              <a:chExt cx="1680" cy="1584"/>
            </a:xfrm>
          </p:grpSpPr>
          <p:sp>
            <p:nvSpPr>
              <p:cNvPr id="89093" name="Line 5"/>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89094" name="Line 6"/>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89095" name="Oval 7"/>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89096" name="Line 8"/>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89097" name="Oval 9"/>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89098" name="Line 10"/>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89099" name="Oval 11"/>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89100" name="Line 12"/>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89101" name="Oval 13"/>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89102" name="Oval 14"/>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89103" name="Line 15"/>
              <p:cNvSpPr/>
              <p:nvPr/>
            </p:nvSpPr>
            <p:spPr>
              <a:xfrm flipH="1">
                <a:off x="4176" y="3600"/>
                <a:ext cx="264" cy="309"/>
              </a:xfrm>
              <a:prstGeom prst="line">
                <a:avLst/>
              </a:prstGeom>
              <a:ln w="38100" cap="flat" cmpd="sng">
                <a:solidFill>
                  <a:srgbClr val="009900"/>
                </a:solidFill>
                <a:prstDash val="solid"/>
                <a:round/>
                <a:headEnd type="none" w="med" len="med"/>
                <a:tailEnd type="none" w="med" len="med"/>
              </a:ln>
            </p:spPr>
          </p:sp>
          <p:sp>
            <p:nvSpPr>
              <p:cNvPr id="89104" name="Oval 16"/>
              <p:cNvSpPr/>
              <p:nvPr/>
            </p:nvSpPr>
            <p:spPr>
              <a:xfrm>
                <a:off x="3936" y="3861"/>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89105" name="Oval 17"/>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
          <p:nvSpPr>
            <p:cNvPr id="19" name="文本框 18"/>
            <p:cNvSpPr txBox="1"/>
            <p:nvPr/>
          </p:nvSpPr>
          <p:spPr>
            <a:xfrm>
              <a:off x="9715" y="8688"/>
              <a:ext cx="9016" cy="1392"/>
            </a:xfrm>
            <a:prstGeom prst="rect">
              <a:avLst/>
            </a:prstGeom>
          </p:spPr>
          <p:txBody>
            <a:bodyPr vert="horz" wrap="squar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sz="2400" b="1" kern="0" noProof="0" smtClean="0">
                  <a:ln>
                    <a:noFill/>
                  </a:ln>
                  <a:solidFill>
                    <a:schemeClr val="accent6">
                      <a:lumMod val="75000"/>
                    </a:schemeClr>
                  </a:solidFill>
                  <a:effectLst/>
                  <a:uLnTx/>
                  <a:uFillTx/>
                  <a:latin typeface="黑体" panose="02010609060101010101" pitchFamily="2" charset="-122"/>
                  <a:ea typeface="黑体" panose="02010609060101010101" pitchFamily="2" charset="-122"/>
                  <a:sym typeface="+mn-ea"/>
                </a:rPr>
                <a:t>树路径长度为：</a:t>
              </a:r>
              <a:r>
                <a:rPr lang="en-US" altLang="zh-CN" sz="2400" b="1" kern="0" noProof="0" smtClean="0">
                  <a:ln>
                    <a:noFill/>
                  </a:ln>
                  <a:solidFill>
                    <a:schemeClr val="accent6">
                      <a:lumMod val="75000"/>
                    </a:schemeClr>
                  </a:solidFill>
                  <a:effectLst/>
                  <a:uLnTx/>
                  <a:uFillTx/>
                  <a:latin typeface="黑体" panose="02010609060101010101" pitchFamily="2" charset="-122"/>
                  <a:ea typeface="黑体" panose="02010609060101010101" pitchFamily="2" charset="-122"/>
                  <a:sym typeface="+mn-ea"/>
                </a:rPr>
                <a:t>2*1 + 3*2 + 1*3 = 11</a:t>
              </a:r>
              <a:endParaRPr lang="en-US" altLang="zh-CN" sz="2400" b="1" kern="0" noProof="0" smtClean="0">
                <a:ln>
                  <a:noFill/>
                </a:ln>
                <a:solidFill>
                  <a:schemeClr val="accent6">
                    <a:lumMod val="75000"/>
                  </a:schemeClr>
                </a:solidFill>
                <a:effectLst/>
                <a:uLnTx/>
                <a:uFillTx/>
                <a:latin typeface="黑体" panose="02010609060101010101" pitchFamily="2" charset="-122"/>
                <a:ea typeface="黑体" panose="02010609060101010101" pitchFamily="2" charset="-122"/>
                <a:sym typeface="+mn-ea"/>
              </a:endParaRPr>
            </a:p>
            <a:p>
              <a:pPr marL="0" lvl="0" indent="0">
                <a:lnSpc>
                  <a:spcPct val="90000"/>
                </a:lnSpc>
                <a:spcBef>
                  <a:spcPts val="1000"/>
                </a:spcBef>
                <a:buClr>
                  <a:schemeClr val="accent2"/>
                </a:buClr>
                <a:buFont typeface="Wingdings" panose="05000000000000000000" pitchFamily="2" charset="2"/>
                <a:buNone/>
              </a:pPr>
              <a:r>
                <a:rPr lang="zh-CN" altLang="en-US" sz="2400" b="1" kern="0" noProof="0" smtClean="0">
                  <a:ln>
                    <a:noFill/>
                  </a:ln>
                  <a:solidFill>
                    <a:schemeClr val="accent6">
                      <a:lumMod val="75000"/>
                    </a:schemeClr>
                  </a:solidFill>
                  <a:effectLst/>
                  <a:uLnTx/>
                  <a:uFillTx/>
                  <a:latin typeface="黑体" panose="02010609060101010101" pitchFamily="2" charset="-122"/>
                  <a:ea typeface="黑体" panose="02010609060101010101" pitchFamily="2" charset="-122"/>
                  <a:sym typeface="+mn-ea"/>
                </a:rPr>
                <a:t>结点</a:t>
              </a:r>
              <a:r>
                <a:rPr lang="en-US" altLang="zh-CN" sz="2400" b="1" kern="0" noProof="0" smtClean="0">
                  <a:ln>
                    <a:noFill/>
                  </a:ln>
                  <a:solidFill>
                    <a:schemeClr val="accent6">
                      <a:lumMod val="75000"/>
                    </a:schemeClr>
                  </a:solidFill>
                  <a:effectLst/>
                  <a:uLnTx/>
                  <a:uFillTx/>
                  <a:latin typeface="黑体" panose="02010609060101010101" pitchFamily="2" charset="-122"/>
                  <a:ea typeface="黑体" panose="02010609060101010101" pitchFamily="2" charset="-122"/>
                  <a:sym typeface="+mn-ea"/>
                </a:rPr>
                <a:t>D</a:t>
              </a:r>
              <a:r>
                <a:rPr lang="zh-CN" altLang="en-US" sz="2400" b="1" kern="0" noProof="0" smtClean="0">
                  <a:ln>
                    <a:noFill/>
                  </a:ln>
                  <a:solidFill>
                    <a:schemeClr val="accent6">
                      <a:lumMod val="75000"/>
                    </a:schemeClr>
                  </a:solidFill>
                  <a:effectLst/>
                  <a:uLnTx/>
                  <a:uFillTx/>
                  <a:latin typeface="黑体" panose="02010609060101010101" pitchFamily="2" charset="-122"/>
                  <a:ea typeface="黑体" panose="02010609060101010101" pitchFamily="2" charset="-122"/>
                  <a:sym typeface="+mn-ea"/>
                </a:rPr>
                <a:t>到结点</a:t>
              </a:r>
              <a:r>
                <a:rPr lang="en-US" altLang="zh-CN" sz="2400" b="1" kern="0" noProof="0" smtClean="0">
                  <a:ln>
                    <a:noFill/>
                  </a:ln>
                  <a:solidFill>
                    <a:schemeClr val="accent6">
                      <a:lumMod val="75000"/>
                    </a:schemeClr>
                  </a:solidFill>
                  <a:effectLst/>
                  <a:uLnTx/>
                  <a:uFillTx/>
                  <a:latin typeface="黑体" panose="02010609060101010101" pitchFamily="2" charset="-122"/>
                  <a:ea typeface="黑体" panose="02010609060101010101" pitchFamily="2" charset="-122"/>
                  <a:sym typeface="+mn-ea"/>
                </a:rPr>
                <a:t>C</a:t>
              </a:r>
              <a:r>
                <a:rPr lang="zh-CN" altLang="en-US" sz="2400" b="1" kern="0" noProof="0" smtClean="0">
                  <a:ln>
                    <a:noFill/>
                  </a:ln>
                  <a:solidFill>
                    <a:schemeClr val="accent6">
                      <a:lumMod val="75000"/>
                    </a:schemeClr>
                  </a:solidFill>
                  <a:effectLst/>
                  <a:uLnTx/>
                  <a:uFillTx/>
                  <a:latin typeface="黑体" panose="02010609060101010101" pitchFamily="2" charset="-122"/>
                  <a:ea typeface="黑体" panose="02010609060101010101" pitchFamily="2" charset="-122"/>
                  <a:sym typeface="+mn-ea"/>
                </a:rPr>
                <a:t>的路径长度是</a:t>
              </a:r>
              <a:r>
                <a:rPr lang="en-US" altLang="zh-CN" sz="2400" b="1" kern="0" noProof="0" smtClean="0">
                  <a:ln>
                    <a:noFill/>
                  </a:ln>
                  <a:solidFill>
                    <a:schemeClr val="accent6">
                      <a:lumMod val="75000"/>
                    </a:schemeClr>
                  </a:solidFill>
                  <a:effectLst/>
                  <a:uLnTx/>
                  <a:uFillTx/>
                  <a:latin typeface="黑体" panose="02010609060101010101" pitchFamily="2" charset="-122"/>
                  <a:ea typeface="黑体" panose="02010609060101010101" pitchFamily="2" charset="-122"/>
                  <a:sym typeface="+mn-ea"/>
                </a:rPr>
                <a:t>3</a:t>
              </a:r>
              <a:endParaRPr lang="en-US" altLang="zh-CN" sz="2400" b="1" kern="0" noProof="0" smtClean="0">
                <a:ln>
                  <a:noFill/>
                </a:ln>
                <a:solidFill>
                  <a:schemeClr val="accent6">
                    <a:lumMod val="75000"/>
                  </a:schemeClr>
                </a:solidFill>
                <a:effectLst/>
                <a:uLnTx/>
                <a:uFillTx/>
                <a:latin typeface="黑体" panose="02010609060101010101" pitchFamily="2" charset="-122"/>
                <a:ea typeface="黑体" panose="02010609060101010101" pitchFamily="2" charset="-122"/>
                <a:sym typeface="+mn-ea"/>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如果树的结点带有权值，则产生树的带权路径长度</a:t>
            </a:r>
            <a:endParaRPr kumimoji="0" lang="zh-CN" altLang="en-US"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结点的带权路径长度：从结点到树根之间的路径长度与结点上权的乘积</a:t>
            </a:r>
            <a:endParaRPr kumimoji="0" lang="zh-CN" altLang="en-US" sz="240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树的带权路径长度(WPL)：树中所有叶子结点的带权路径长度之和</a:t>
            </a:r>
            <a:endParaRPr kumimoji="0" lang="zh-CN" altLang="en-US" sz="240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L="609600" marR="0" indent="-609600" algn="l" defTabSz="914400" rtl="0" eaLnBrk="1" fontAlgn="base" latinLnBrk="0" hangingPunct="1">
              <a:lnSpc>
                <a:spcPct val="100000"/>
              </a:lnSpc>
              <a:spcBef>
                <a:spcPct val="5000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mn-cs"/>
                <a:sym typeface="+mn-ea"/>
              </a:rPr>
              <a:t>	</a:t>
            </a: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r>
              <a:rPr lang="en-US" altLang="zh-CN" b="1">
                <a:latin typeface="楷体" panose="02010609060101010101" charset="-122"/>
                <a:ea typeface="楷体" panose="02010609060101010101" charset="-122"/>
                <a:cs typeface="楷体" panose="02010609060101010101" charset="-122"/>
                <a:sym typeface="+mn-ea"/>
              </a:rPr>
              <a:t> </a:t>
            </a:r>
            <a:endParaRPr lang="en-US" altLang="zh-CN" b="1">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 name="组合 5"/>
          <p:cNvGrpSpPr/>
          <p:nvPr/>
        </p:nvGrpSpPr>
        <p:grpSpPr>
          <a:xfrm>
            <a:off x="3359785" y="2924493"/>
            <a:ext cx="3783330" cy="2871787"/>
            <a:chOff x="2677" y="4606"/>
            <a:chExt cx="5958" cy="4522"/>
          </a:xfrm>
        </p:grpSpPr>
        <p:grpSp>
          <p:nvGrpSpPr>
            <p:cNvPr id="90116" name="Group 4"/>
            <p:cNvGrpSpPr/>
            <p:nvPr/>
          </p:nvGrpSpPr>
          <p:grpSpPr>
            <a:xfrm>
              <a:off x="3136" y="4606"/>
              <a:ext cx="4200" cy="3720"/>
              <a:chOff x="3840" y="2832"/>
              <a:chExt cx="1680" cy="1488"/>
            </a:xfrm>
          </p:grpSpPr>
          <p:grpSp>
            <p:nvGrpSpPr>
              <p:cNvPr id="90117" name="Group 5"/>
              <p:cNvGrpSpPr/>
              <p:nvPr/>
            </p:nvGrpSpPr>
            <p:grpSpPr>
              <a:xfrm>
                <a:off x="3840" y="2832"/>
                <a:ext cx="1680" cy="1488"/>
                <a:chOff x="3696" y="2565"/>
                <a:chExt cx="1680" cy="1584"/>
              </a:xfrm>
            </p:grpSpPr>
            <p:sp>
              <p:nvSpPr>
                <p:cNvPr id="90118" name="Line 6"/>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90119" name="Line 7"/>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90120" name="Oval 8"/>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90121" name="Line 9"/>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90122" name="Oval 10"/>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90123" name="Line 11"/>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90124" name="Oval 12"/>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90125" name="Line 13"/>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90126" name="Oval 14"/>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90127" name="Oval 15"/>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90128" name="Line 16"/>
                <p:cNvSpPr/>
                <p:nvPr/>
              </p:nvSpPr>
              <p:spPr>
                <a:xfrm flipH="1">
                  <a:off x="4176" y="3600"/>
                  <a:ext cx="264" cy="309"/>
                </a:xfrm>
                <a:prstGeom prst="line">
                  <a:avLst/>
                </a:prstGeom>
                <a:ln w="38100" cap="flat" cmpd="sng">
                  <a:solidFill>
                    <a:srgbClr val="009900"/>
                  </a:solidFill>
                  <a:prstDash val="solid"/>
                  <a:round/>
                  <a:headEnd type="none" w="med" len="med"/>
                  <a:tailEnd type="none" w="med" len="med"/>
                </a:ln>
              </p:spPr>
            </p:sp>
            <p:sp>
              <p:nvSpPr>
                <p:cNvPr id="90129" name="Oval 17"/>
                <p:cNvSpPr/>
                <p:nvPr/>
              </p:nvSpPr>
              <p:spPr>
                <a:xfrm>
                  <a:off x="3936" y="3861"/>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90130" name="Oval 18"/>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
            <p:nvSpPr>
              <p:cNvPr id="90131" name="Text Box 19"/>
              <p:cNvSpPr txBox="1"/>
              <p:nvPr/>
            </p:nvSpPr>
            <p:spPr>
              <a:xfrm>
                <a:off x="3888" y="3408"/>
                <a:ext cx="192" cy="251"/>
              </a:xfrm>
              <a:prstGeom prst="rect">
                <a:avLst/>
              </a:prstGeom>
              <a:noFill/>
              <a:ln w="9525">
                <a:noFill/>
              </a:ln>
            </p:spPr>
            <p:txBody>
              <a:bodyPr lIns="0" rIns="0" anchor="t" anchorCtr="0">
                <a:spAutoFit/>
              </a:bodyPr>
              <a:p>
                <a:pPr algn="ctr">
                  <a:spcBef>
                    <a:spcPct val="50000"/>
                  </a:spcBef>
                </a:pP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90132" name="Text Box 20"/>
              <p:cNvSpPr txBox="1"/>
              <p:nvPr/>
            </p:nvSpPr>
            <p:spPr>
              <a:xfrm>
                <a:off x="4128" y="3840"/>
                <a:ext cx="192" cy="251"/>
              </a:xfrm>
              <a:prstGeom prst="rect">
                <a:avLst/>
              </a:prstGeom>
              <a:noFill/>
              <a:ln w="9525">
                <a:noFill/>
              </a:ln>
            </p:spPr>
            <p:txBody>
              <a:bodyPr lIns="0" rIns="0" anchor="t" anchorCtr="0">
                <a:spAutoFit/>
              </a:bodyPr>
              <a:p>
                <a:pPr algn="ctr">
                  <a:spcBef>
                    <a:spcPct val="50000"/>
                  </a:spcBef>
                </a:pPr>
                <a:r>
                  <a:rPr lang="zh-CN" altLang="en-US" sz="2000" dirty="0">
                    <a:latin typeface="Tahoma" panose="020B0604030504040204" charset="0"/>
                    <a:ea typeface="宋体" panose="02010600030101010101" pitchFamily="2" charset="-122"/>
                  </a:rPr>
                  <a:t>３</a:t>
                </a:r>
                <a:endParaRPr lang="zh-CN" altLang="en-US" sz="2000" dirty="0">
                  <a:latin typeface="Tahoma" panose="020B0604030504040204" charset="0"/>
                  <a:ea typeface="宋体" panose="02010600030101010101" pitchFamily="2" charset="-122"/>
                </a:endParaRPr>
              </a:p>
            </p:txBody>
          </p:sp>
          <p:sp>
            <p:nvSpPr>
              <p:cNvPr id="90133" name="Text Box 21"/>
              <p:cNvSpPr txBox="1"/>
              <p:nvPr/>
            </p:nvSpPr>
            <p:spPr>
              <a:xfrm>
                <a:off x="4944" y="3408"/>
                <a:ext cx="192" cy="251"/>
              </a:xfrm>
              <a:prstGeom prst="rect">
                <a:avLst/>
              </a:prstGeom>
              <a:noFill/>
              <a:ln w="9525">
                <a:noFill/>
              </a:ln>
            </p:spPr>
            <p:txBody>
              <a:bodyPr lIns="0" rIns="0" anchor="t" anchorCtr="0">
                <a:spAutoFit/>
              </a:bodyPr>
              <a:p>
                <a:pPr algn="ctr">
                  <a:spcBef>
                    <a:spcPct val="50000"/>
                  </a:spcBef>
                </a:pPr>
                <a:r>
                  <a:rPr lang="zh-CN" altLang="en-US" sz="2000" dirty="0">
                    <a:latin typeface="Tahoma" panose="020B0604030504040204" charset="0"/>
                    <a:ea typeface="宋体" panose="02010600030101010101" pitchFamily="2" charset="-122"/>
                  </a:rPr>
                  <a:t>４</a:t>
                </a:r>
                <a:endParaRPr lang="zh-CN" altLang="en-US" sz="2000" dirty="0">
                  <a:latin typeface="Tahoma" panose="020B0604030504040204" charset="0"/>
                  <a:ea typeface="宋体" panose="02010600030101010101" pitchFamily="2" charset="-122"/>
                </a:endParaRPr>
              </a:p>
            </p:txBody>
          </p:sp>
        </p:grpSp>
        <p:sp>
          <p:nvSpPr>
            <p:cNvPr id="5" name="文本框 4"/>
            <p:cNvSpPr txBox="1"/>
            <p:nvPr/>
          </p:nvSpPr>
          <p:spPr>
            <a:xfrm>
              <a:off x="2677" y="8461"/>
              <a:ext cx="5958" cy="667"/>
            </a:xfrm>
            <a:prstGeom prst="rect">
              <a:avLst/>
            </a:prstGeom>
          </p:spPr>
          <p:txBody>
            <a:bodyPr vert="horz" wrap="squar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en-US" altLang="zh-CN" sz="2400" b="1" dirty="0">
                  <a:solidFill>
                    <a:schemeClr val="accent6">
                      <a:lumMod val="75000"/>
                    </a:schemeClr>
                  </a:solidFill>
                  <a:latin typeface="黑体" panose="02010609060101010101" pitchFamily="2" charset="-122"/>
                  <a:ea typeface="黑体" panose="02010609060101010101" pitchFamily="2" charset="-122"/>
                  <a:sym typeface="+mn-ea"/>
                </a:rPr>
                <a:t>WPL = 2*5+3*3+2*4=27</a:t>
              </a:r>
              <a:endParaRPr lang="en-US" altLang="zh-CN" sz="2400" b="1" kern="0" noProof="0" dirty="0" smtClean="0">
                <a:ln>
                  <a:noFill/>
                </a:ln>
                <a:solidFill>
                  <a:schemeClr val="accent6">
                    <a:lumMod val="75000"/>
                  </a:schemeClr>
                </a:solidFill>
                <a:effectLst/>
                <a:uLnTx/>
                <a:uFillTx/>
                <a:latin typeface="黑体" panose="02010609060101010101" pitchFamily="2" charset="-122"/>
                <a:ea typeface="黑体" panose="02010609060101010101" pitchFamily="2" charset="-122"/>
                <a:sym typeface="+mn-ea"/>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最优二叉树的概念</a:t>
            </a:r>
            <a:endParaRPr kumimoji="0" lang="zh-CN" altLang="en-US"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如果有一个叶子结点集合，具有n个叶子结点(每个结点的权值为w</a:t>
            </a:r>
            <a:r>
              <a:rPr lang="zh-CN" altLang="en-US" sz="2400" baseline="-25000" noProof="0" smtClean="0">
                <a:ln>
                  <a:noFill/>
                </a:ln>
                <a:effectLst/>
                <a:uLnTx/>
                <a:uFillTx/>
                <a:latin typeface="黑体" panose="02010609060101010101" pitchFamily="2" charset="-122"/>
                <a:ea typeface="黑体" panose="02010609060101010101" pitchFamily="2" charset="-122"/>
                <a:cs typeface="+mn-ea"/>
                <a:sym typeface="+mn-ea"/>
              </a:rPr>
              <a:t>i</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 ，根据该叶子结点集合产生的二叉树形态可以有多种，即包含这</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n</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个叶子的二叉树不止一棵</a:t>
            </a:r>
            <a:endParaRPr lang="zh-CN" altLang="en-US" sz="2400"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在所有这些二叉树中，必定存在一棵WPL值最小的树，称这棵树为</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最优二叉树或</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Huffman树(赫夫曼树、哈夫曼树</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a:t>
            </a:r>
            <a:endParaRPr lang="en-US" altLang="zh-CN" sz="2400"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kumimoji="0" lang="en-US" altLang="zh-CN" sz="240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kumimoji="0" lang="zh-CN" altLang="en-US" sz="240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rPr>
              <a:t>对应一个</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叶子结点集合(每个结点都有权值)的</a:t>
            </a: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赫夫曼树是不唯一的</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a:t>
            </a: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r>
              <a:rPr lang="en-US" altLang="zh-CN" b="1">
                <a:latin typeface="楷体" panose="02010609060101010101" charset="-122"/>
                <a:ea typeface="楷体" panose="02010609060101010101" charset="-122"/>
                <a:cs typeface="楷体" panose="02010609060101010101" charset="-122"/>
                <a:sym typeface="+mn-ea"/>
              </a:rPr>
              <a:t> </a:t>
            </a:r>
            <a:endParaRPr lang="en-US" altLang="zh-CN" b="1">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最优二叉树的示例</a:t>
            </a:r>
            <a:endParaRPr kumimoji="0" lang="zh-CN" altLang="en-US"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以下一个叶子结点集合包括叶子权值</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{2, 3, 6, 7}</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，包含该四个叶子的儿二叉树由以下形态</a:t>
            </a:r>
            <a:endParaRPr kumimoji="0" lang="zh-CN" altLang="en-US" sz="240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L="609600" marR="0" indent="-609600" algn="l" defTabSz="914400" rtl="0" eaLnBrk="1" fontAlgn="base" latinLnBrk="0" hangingPunct="1">
              <a:lnSpc>
                <a:spcPct val="100000"/>
              </a:lnSpc>
              <a:spcBef>
                <a:spcPct val="5000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mn-cs"/>
                <a:sym typeface="+mn-ea"/>
              </a:rPr>
              <a:t>	</a:t>
            </a: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r>
              <a:rPr lang="en-US" altLang="zh-CN" b="1">
                <a:latin typeface="楷体" panose="02010609060101010101" charset="-122"/>
                <a:ea typeface="楷体" panose="02010609060101010101" charset="-122"/>
                <a:cs typeface="楷体" panose="02010609060101010101" charset="-122"/>
                <a:sym typeface="+mn-ea"/>
              </a:rPr>
              <a:t> </a:t>
            </a:r>
            <a:endParaRPr lang="en-US" altLang="zh-CN" b="1">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91140" name="Group 5"/>
          <p:cNvGrpSpPr/>
          <p:nvPr/>
        </p:nvGrpSpPr>
        <p:grpSpPr>
          <a:xfrm>
            <a:off x="2351088" y="2132648"/>
            <a:ext cx="7391400" cy="3487737"/>
            <a:chOff x="0" y="0"/>
            <a:chExt cx="4656" cy="2197"/>
          </a:xfrm>
        </p:grpSpPr>
        <p:grpSp>
          <p:nvGrpSpPr>
            <p:cNvPr id="91141" name="Group 6"/>
            <p:cNvGrpSpPr/>
            <p:nvPr/>
          </p:nvGrpSpPr>
          <p:grpSpPr>
            <a:xfrm>
              <a:off x="0" y="322"/>
              <a:ext cx="1432" cy="1107"/>
              <a:chOff x="0" y="0"/>
              <a:chExt cx="1432" cy="1107"/>
            </a:xfrm>
          </p:grpSpPr>
          <p:sp>
            <p:nvSpPr>
              <p:cNvPr id="91142" name="Oval 7"/>
              <p:cNvSpPr/>
              <p:nvPr/>
            </p:nvSpPr>
            <p:spPr>
              <a:xfrm>
                <a:off x="624"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91143" name="Group 8"/>
              <p:cNvGrpSpPr/>
              <p:nvPr/>
            </p:nvGrpSpPr>
            <p:grpSpPr>
              <a:xfrm>
                <a:off x="0" y="432"/>
                <a:ext cx="657" cy="667"/>
                <a:chOff x="0" y="0"/>
                <a:chExt cx="657" cy="667"/>
              </a:xfrm>
            </p:grpSpPr>
            <p:sp>
              <p:nvSpPr>
                <p:cNvPr id="91144" name="Oval 9"/>
                <p:cNvSpPr/>
                <p:nvPr/>
              </p:nvSpPr>
              <p:spPr>
                <a:xfrm>
                  <a:off x="0" y="437"/>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1145" name="Oval 10"/>
                <p:cNvSpPr/>
                <p:nvPr/>
              </p:nvSpPr>
              <p:spPr>
                <a:xfrm>
                  <a:off x="408" y="44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91146" name="Oval 11"/>
                <p:cNvSpPr/>
                <p:nvPr/>
              </p:nvSpPr>
              <p:spPr>
                <a:xfrm>
                  <a:off x="208"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1147" name="Line 12"/>
                <p:cNvSpPr/>
                <p:nvPr/>
              </p:nvSpPr>
              <p:spPr>
                <a:xfrm flipH="1">
                  <a:off x="128" y="208"/>
                  <a:ext cx="136" cy="227"/>
                </a:xfrm>
                <a:prstGeom prst="line">
                  <a:avLst/>
                </a:prstGeom>
                <a:ln w="9525" cap="flat" cmpd="sng">
                  <a:solidFill>
                    <a:schemeClr val="tx1"/>
                  </a:solidFill>
                  <a:prstDash val="solid"/>
                  <a:round/>
                  <a:headEnd type="none" w="med" len="med"/>
                  <a:tailEnd type="none" w="med" len="med"/>
                </a:ln>
              </p:spPr>
            </p:sp>
            <p:sp>
              <p:nvSpPr>
                <p:cNvPr id="91148" name="Line 13"/>
                <p:cNvSpPr/>
                <p:nvPr/>
              </p:nvSpPr>
              <p:spPr>
                <a:xfrm>
                  <a:off x="392" y="208"/>
                  <a:ext cx="136" cy="227"/>
                </a:xfrm>
                <a:prstGeom prst="line">
                  <a:avLst/>
                </a:prstGeom>
                <a:ln w="9525" cap="flat" cmpd="sng">
                  <a:solidFill>
                    <a:schemeClr val="tx1"/>
                  </a:solidFill>
                  <a:prstDash val="solid"/>
                  <a:round/>
                  <a:headEnd type="none" w="med" len="med"/>
                  <a:tailEnd type="none" w="med" len="med"/>
                </a:ln>
              </p:spPr>
            </p:sp>
          </p:grpSp>
          <p:grpSp>
            <p:nvGrpSpPr>
              <p:cNvPr id="91149" name="Group 14"/>
              <p:cNvGrpSpPr/>
              <p:nvPr/>
            </p:nvGrpSpPr>
            <p:grpSpPr>
              <a:xfrm>
                <a:off x="775" y="440"/>
                <a:ext cx="657" cy="667"/>
                <a:chOff x="0" y="0"/>
                <a:chExt cx="657" cy="667"/>
              </a:xfrm>
            </p:grpSpPr>
            <p:sp>
              <p:nvSpPr>
                <p:cNvPr id="91150" name="Oval 15"/>
                <p:cNvSpPr/>
                <p:nvPr/>
              </p:nvSpPr>
              <p:spPr>
                <a:xfrm>
                  <a:off x="0" y="437"/>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6</a:t>
                  </a:r>
                  <a:endParaRPr lang="en-US" altLang="zh-CN" sz="2400" dirty="0">
                    <a:latin typeface="Times New Roman" panose="02020603050405020304" pitchFamily="18" charset="0"/>
                    <a:ea typeface="宋体" panose="02010600030101010101" pitchFamily="2" charset="-122"/>
                  </a:endParaRPr>
                </a:p>
              </p:txBody>
            </p:sp>
            <p:sp>
              <p:nvSpPr>
                <p:cNvPr id="91151" name="Oval 16"/>
                <p:cNvSpPr/>
                <p:nvPr/>
              </p:nvSpPr>
              <p:spPr>
                <a:xfrm>
                  <a:off x="408" y="44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sp>
              <p:nvSpPr>
                <p:cNvPr id="91152" name="Oval 17"/>
                <p:cNvSpPr/>
                <p:nvPr/>
              </p:nvSpPr>
              <p:spPr>
                <a:xfrm>
                  <a:off x="208"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1153" name="Line 18"/>
                <p:cNvSpPr/>
                <p:nvPr/>
              </p:nvSpPr>
              <p:spPr>
                <a:xfrm flipH="1">
                  <a:off x="128" y="208"/>
                  <a:ext cx="136" cy="227"/>
                </a:xfrm>
                <a:prstGeom prst="line">
                  <a:avLst/>
                </a:prstGeom>
                <a:ln w="9525" cap="flat" cmpd="sng">
                  <a:solidFill>
                    <a:schemeClr val="tx1"/>
                  </a:solidFill>
                  <a:prstDash val="solid"/>
                  <a:round/>
                  <a:headEnd type="none" w="med" len="med"/>
                  <a:tailEnd type="none" w="med" len="med"/>
                </a:ln>
              </p:spPr>
            </p:sp>
            <p:sp>
              <p:nvSpPr>
                <p:cNvPr id="91154" name="Line 19"/>
                <p:cNvSpPr/>
                <p:nvPr/>
              </p:nvSpPr>
              <p:spPr>
                <a:xfrm>
                  <a:off x="392" y="208"/>
                  <a:ext cx="136" cy="227"/>
                </a:xfrm>
                <a:prstGeom prst="line">
                  <a:avLst/>
                </a:prstGeom>
                <a:ln w="9525" cap="flat" cmpd="sng">
                  <a:solidFill>
                    <a:schemeClr val="tx1"/>
                  </a:solidFill>
                  <a:prstDash val="solid"/>
                  <a:round/>
                  <a:headEnd type="none" w="med" len="med"/>
                  <a:tailEnd type="none" w="med" len="med"/>
                </a:ln>
              </p:spPr>
            </p:sp>
          </p:grpSp>
          <p:sp>
            <p:nvSpPr>
              <p:cNvPr id="91155" name="Line 20"/>
              <p:cNvSpPr/>
              <p:nvPr/>
            </p:nvSpPr>
            <p:spPr>
              <a:xfrm flipH="1">
                <a:off x="368" y="208"/>
                <a:ext cx="295" cy="227"/>
              </a:xfrm>
              <a:prstGeom prst="line">
                <a:avLst/>
              </a:prstGeom>
              <a:ln w="9525" cap="flat" cmpd="sng">
                <a:solidFill>
                  <a:schemeClr val="tx1"/>
                </a:solidFill>
                <a:prstDash val="solid"/>
                <a:round/>
                <a:headEnd type="none" w="med" len="med"/>
                <a:tailEnd type="none" w="med" len="med"/>
              </a:ln>
            </p:spPr>
          </p:sp>
          <p:sp>
            <p:nvSpPr>
              <p:cNvPr id="91156" name="Line 21"/>
              <p:cNvSpPr/>
              <p:nvPr/>
            </p:nvSpPr>
            <p:spPr>
              <a:xfrm>
                <a:off x="800" y="216"/>
                <a:ext cx="295" cy="227"/>
              </a:xfrm>
              <a:prstGeom prst="line">
                <a:avLst/>
              </a:prstGeom>
              <a:ln w="9525" cap="flat" cmpd="sng">
                <a:solidFill>
                  <a:schemeClr val="tx1"/>
                </a:solidFill>
                <a:prstDash val="solid"/>
                <a:round/>
                <a:headEnd type="none" w="med" len="med"/>
                <a:tailEnd type="none" w="med" len="med"/>
              </a:ln>
            </p:spPr>
          </p:sp>
        </p:grpSp>
        <p:grpSp>
          <p:nvGrpSpPr>
            <p:cNvPr id="91157" name="Group 22"/>
            <p:cNvGrpSpPr/>
            <p:nvPr/>
          </p:nvGrpSpPr>
          <p:grpSpPr>
            <a:xfrm>
              <a:off x="1792" y="0"/>
              <a:ext cx="1088" cy="1531"/>
              <a:chOff x="0" y="0"/>
              <a:chExt cx="1088" cy="1531"/>
            </a:xfrm>
          </p:grpSpPr>
          <p:sp>
            <p:nvSpPr>
              <p:cNvPr id="91158" name="Oval 23"/>
              <p:cNvSpPr/>
              <p:nvPr/>
            </p:nvSpPr>
            <p:spPr>
              <a:xfrm>
                <a:off x="552"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91159" name="Group 24"/>
              <p:cNvGrpSpPr/>
              <p:nvPr/>
            </p:nvGrpSpPr>
            <p:grpSpPr>
              <a:xfrm>
                <a:off x="0" y="424"/>
                <a:ext cx="657" cy="667"/>
                <a:chOff x="0" y="0"/>
                <a:chExt cx="657" cy="667"/>
              </a:xfrm>
            </p:grpSpPr>
            <p:sp>
              <p:nvSpPr>
                <p:cNvPr id="91160" name="Oval 25"/>
                <p:cNvSpPr/>
                <p:nvPr/>
              </p:nvSpPr>
              <p:spPr>
                <a:xfrm>
                  <a:off x="0" y="437"/>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91161" name="Oval 26"/>
                <p:cNvSpPr/>
                <p:nvPr/>
              </p:nvSpPr>
              <p:spPr>
                <a:xfrm>
                  <a:off x="408" y="44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zh-CN" sz="2400" dirty="0">
                    <a:latin typeface="Times New Roman" panose="02020603050405020304" pitchFamily="18" charset="0"/>
                    <a:ea typeface="宋体" panose="02010600030101010101" pitchFamily="2" charset="-122"/>
                  </a:endParaRPr>
                </a:p>
              </p:txBody>
            </p:sp>
            <p:sp>
              <p:nvSpPr>
                <p:cNvPr id="91162" name="Oval 27"/>
                <p:cNvSpPr/>
                <p:nvPr/>
              </p:nvSpPr>
              <p:spPr>
                <a:xfrm>
                  <a:off x="208"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1163" name="Line 28"/>
                <p:cNvSpPr/>
                <p:nvPr/>
              </p:nvSpPr>
              <p:spPr>
                <a:xfrm flipH="1">
                  <a:off x="128" y="208"/>
                  <a:ext cx="136" cy="227"/>
                </a:xfrm>
                <a:prstGeom prst="line">
                  <a:avLst/>
                </a:prstGeom>
                <a:ln w="9525" cap="flat" cmpd="sng">
                  <a:solidFill>
                    <a:schemeClr val="tx1"/>
                  </a:solidFill>
                  <a:prstDash val="solid"/>
                  <a:round/>
                  <a:headEnd type="none" w="med" len="med"/>
                  <a:tailEnd type="none" w="med" len="med"/>
                </a:ln>
              </p:spPr>
            </p:sp>
            <p:sp>
              <p:nvSpPr>
                <p:cNvPr id="91164" name="Line 29"/>
                <p:cNvSpPr/>
                <p:nvPr/>
              </p:nvSpPr>
              <p:spPr>
                <a:xfrm>
                  <a:off x="392" y="208"/>
                  <a:ext cx="136" cy="227"/>
                </a:xfrm>
                <a:prstGeom prst="line">
                  <a:avLst/>
                </a:prstGeom>
                <a:ln w="9525" cap="flat" cmpd="sng">
                  <a:solidFill>
                    <a:schemeClr val="tx1"/>
                  </a:solidFill>
                  <a:prstDash val="solid"/>
                  <a:round/>
                  <a:headEnd type="none" w="med" len="med"/>
                  <a:tailEnd type="none" w="med" len="med"/>
                </a:ln>
              </p:spPr>
            </p:sp>
          </p:grpSp>
          <p:sp>
            <p:nvSpPr>
              <p:cNvPr id="91165" name="Oval 30"/>
              <p:cNvSpPr/>
              <p:nvPr/>
            </p:nvSpPr>
            <p:spPr>
              <a:xfrm>
                <a:off x="208" y="1301"/>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6</a:t>
                </a:r>
                <a:endParaRPr lang="en-US" altLang="zh-CN" sz="2400" dirty="0">
                  <a:latin typeface="Times New Roman" panose="02020603050405020304" pitchFamily="18" charset="0"/>
                  <a:ea typeface="宋体" panose="02010600030101010101" pitchFamily="2" charset="-122"/>
                </a:endParaRPr>
              </a:p>
            </p:txBody>
          </p:sp>
          <p:sp>
            <p:nvSpPr>
              <p:cNvPr id="91166" name="Oval 31"/>
              <p:cNvSpPr/>
              <p:nvPr/>
            </p:nvSpPr>
            <p:spPr>
              <a:xfrm>
                <a:off x="616" y="1304"/>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sp>
            <p:nvSpPr>
              <p:cNvPr id="91167" name="Oval 32"/>
              <p:cNvSpPr/>
              <p:nvPr/>
            </p:nvSpPr>
            <p:spPr>
              <a:xfrm>
                <a:off x="839" y="432"/>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1168" name="Line 33"/>
              <p:cNvSpPr/>
              <p:nvPr/>
            </p:nvSpPr>
            <p:spPr>
              <a:xfrm flipH="1">
                <a:off x="336" y="1072"/>
                <a:ext cx="136" cy="227"/>
              </a:xfrm>
              <a:prstGeom prst="line">
                <a:avLst/>
              </a:prstGeom>
              <a:ln w="9525" cap="flat" cmpd="sng">
                <a:solidFill>
                  <a:schemeClr val="tx1"/>
                </a:solidFill>
                <a:prstDash val="solid"/>
                <a:round/>
                <a:headEnd type="none" w="med" len="med"/>
                <a:tailEnd type="none" w="med" len="med"/>
              </a:ln>
            </p:spPr>
          </p:sp>
          <p:sp>
            <p:nvSpPr>
              <p:cNvPr id="91169" name="Line 34"/>
              <p:cNvSpPr/>
              <p:nvPr/>
            </p:nvSpPr>
            <p:spPr>
              <a:xfrm>
                <a:off x="600" y="1072"/>
                <a:ext cx="136" cy="227"/>
              </a:xfrm>
              <a:prstGeom prst="line">
                <a:avLst/>
              </a:prstGeom>
              <a:ln w="9525" cap="flat" cmpd="sng">
                <a:solidFill>
                  <a:schemeClr val="tx1"/>
                </a:solidFill>
                <a:prstDash val="solid"/>
                <a:round/>
                <a:headEnd type="none" w="med" len="med"/>
                <a:tailEnd type="none" w="med" len="med"/>
              </a:ln>
            </p:spPr>
          </p:sp>
          <p:sp>
            <p:nvSpPr>
              <p:cNvPr id="91170" name="Line 35"/>
              <p:cNvSpPr/>
              <p:nvPr/>
            </p:nvSpPr>
            <p:spPr>
              <a:xfrm flipH="1">
                <a:off x="360" y="192"/>
                <a:ext cx="227" cy="227"/>
              </a:xfrm>
              <a:prstGeom prst="line">
                <a:avLst/>
              </a:prstGeom>
              <a:ln w="9525" cap="flat" cmpd="sng">
                <a:solidFill>
                  <a:schemeClr val="tx1"/>
                </a:solidFill>
                <a:prstDash val="solid"/>
                <a:round/>
                <a:headEnd type="none" w="med" len="med"/>
                <a:tailEnd type="none" w="med" len="med"/>
              </a:ln>
            </p:spPr>
          </p:sp>
          <p:sp>
            <p:nvSpPr>
              <p:cNvPr id="91171" name="Line 36"/>
              <p:cNvSpPr/>
              <p:nvPr/>
            </p:nvSpPr>
            <p:spPr>
              <a:xfrm>
                <a:off x="744" y="200"/>
                <a:ext cx="227" cy="227"/>
              </a:xfrm>
              <a:prstGeom prst="line">
                <a:avLst/>
              </a:prstGeom>
              <a:ln w="9525" cap="flat" cmpd="sng">
                <a:solidFill>
                  <a:schemeClr val="tx1"/>
                </a:solidFill>
                <a:prstDash val="solid"/>
                <a:round/>
                <a:headEnd type="none" w="med" len="med"/>
                <a:tailEnd type="none" w="med" len="med"/>
              </a:ln>
            </p:spPr>
          </p:sp>
        </p:grpSp>
        <p:grpSp>
          <p:nvGrpSpPr>
            <p:cNvPr id="91172" name="Group 37"/>
            <p:cNvGrpSpPr/>
            <p:nvPr/>
          </p:nvGrpSpPr>
          <p:grpSpPr>
            <a:xfrm>
              <a:off x="3307" y="0"/>
              <a:ext cx="1349" cy="1528"/>
              <a:chOff x="0" y="0"/>
              <a:chExt cx="1349" cy="1528"/>
            </a:xfrm>
          </p:grpSpPr>
          <p:sp>
            <p:nvSpPr>
              <p:cNvPr id="91173" name="Oval 38"/>
              <p:cNvSpPr/>
              <p:nvPr/>
            </p:nvSpPr>
            <p:spPr>
              <a:xfrm>
                <a:off x="285"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1174" name="Oval 39"/>
              <p:cNvSpPr/>
              <p:nvPr/>
            </p:nvSpPr>
            <p:spPr>
              <a:xfrm>
                <a:off x="333" y="861"/>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6</a:t>
                </a:r>
                <a:endParaRPr lang="en-US" altLang="zh-CN" sz="2400" dirty="0">
                  <a:latin typeface="Times New Roman" panose="02020603050405020304" pitchFamily="18" charset="0"/>
                  <a:ea typeface="宋体" panose="02010600030101010101" pitchFamily="2" charset="-122"/>
                </a:endParaRPr>
              </a:p>
            </p:txBody>
          </p:sp>
          <p:sp>
            <p:nvSpPr>
              <p:cNvPr id="91175" name="Oval 40"/>
              <p:cNvSpPr/>
              <p:nvPr/>
            </p:nvSpPr>
            <p:spPr>
              <a:xfrm>
                <a:off x="813" y="856"/>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zh-CN" sz="2400" dirty="0">
                  <a:latin typeface="Times New Roman" panose="02020603050405020304" pitchFamily="18" charset="0"/>
                  <a:ea typeface="宋体" panose="02010600030101010101" pitchFamily="2" charset="-122"/>
                </a:endParaRPr>
              </a:p>
            </p:txBody>
          </p:sp>
          <p:sp>
            <p:nvSpPr>
              <p:cNvPr id="91176" name="Oval 41"/>
              <p:cNvSpPr/>
              <p:nvPr/>
            </p:nvSpPr>
            <p:spPr>
              <a:xfrm>
                <a:off x="0" y="448"/>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sp>
            <p:nvSpPr>
              <p:cNvPr id="91177" name="Line 42"/>
              <p:cNvSpPr/>
              <p:nvPr/>
            </p:nvSpPr>
            <p:spPr>
              <a:xfrm flipH="1">
                <a:off x="453" y="640"/>
                <a:ext cx="181" cy="227"/>
              </a:xfrm>
              <a:prstGeom prst="line">
                <a:avLst/>
              </a:prstGeom>
              <a:ln w="9525" cap="flat" cmpd="sng">
                <a:solidFill>
                  <a:schemeClr val="tx1"/>
                </a:solidFill>
                <a:prstDash val="solid"/>
                <a:round/>
                <a:headEnd type="none" w="med" len="med"/>
                <a:tailEnd type="none" w="med" len="med"/>
              </a:ln>
            </p:spPr>
          </p:sp>
          <p:sp>
            <p:nvSpPr>
              <p:cNvPr id="91178" name="Line 43"/>
              <p:cNvSpPr/>
              <p:nvPr/>
            </p:nvSpPr>
            <p:spPr>
              <a:xfrm>
                <a:off x="749" y="624"/>
                <a:ext cx="181" cy="227"/>
              </a:xfrm>
              <a:prstGeom prst="line">
                <a:avLst/>
              </a:prstGeom>
              <a:ln w="9525" cap="flat" cmpd="sng">
                <a:solidFill>
                  <a:schemeClr val="tx1"/>
                </a:solidFill>
                <a:prstDash val="solid"/>
                <a:round/>
                <a:headEnd type="none" w="med" len="med"/>
                <a:tailEnd type="none" w="med" len="med"/>
              </a:ln>
            </p:spPr>
          </p:sp>
          <p:sp>
            <p:nvSpPr>
              <p:cNvPr id="91179" name="Oval 44"/>
              <p:cNvSpPr/>
              <p:nvPr/>
            </p:nvSpPr>
            <p:spPr>
              <a:xfrm>
                <a:off x="597" y="1301"/>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1180" name="Oval 45"/>
              <p:cNvSpPr/>
              <p:nvPr/>
            </p:nvSpPr>
            <p:spPr>
              <a:xfrm>
                <a:off x="1100" y="128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91181" name="Oval 46"/>
              <p:cNvSpPr/>
              <p:nvPr/>
            </p:nvSpPr>
            <p:spPr>
              <a:xfrm>
                <a:off x="548" y="424"/>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zh-CN" sz="2400" dirty="0">
                  <a:latin typeface="Times New Roman" panose="02020603050405020304" pitchFamily="18" charset="0"/>
                  <a:ea typeface="宋体" panose="02010600030101010101" pitchFamily="2" charset="-122"/>
                </a:endParaRPr>
              </a:p>
            </p:txBody>
          </p:sp>
          <p:sp>
            <p:nvSpPr>
              <p:cNvPr id="91182" name="Line 47"/>
              <p:cNvSpPr/>
              <p:nvPr/>
            </p:nvSpPr>
            <p:spPr>
              <a:xfrm flipH="1">
                <a:off x="709" y="1072"/>
                <a:ext cx="181" cy="227"/>
              </a:xfrm>
              <a:prstGeom prst="line">
                <a:avLst/>
              </a:prstGeom>
              <a:ln w="9525" cap="flat" cmpd="sng">
                <a:solidFill>
                  <a:schemeClr val="tx1"/>
                </a:solidFill>
                <a:prstDash val="solid"/>
                <a:round/>
                <a:headEnd type="none" w="med" len="med"/>
                <a:tailEnd type="none" w="med" len="med"/>
              </a:ln>
            </p:spPr>
          </p:sp>
          <p:sp>
            <p:nvSpPr>
              <p:cNvPr id="91183" name="Line 48"/>
              <p:cNvSpPr/>
              <p:nvPr/>
            </p:nvSpPr>
            <p:spPr>
              <a:xfrm>
                <a:off x="1029" y="1048"/>
                <a:ext cx="181" cy="227"/>
              </a:xfrm>
              <a:prstGeom prst="line">
                <a:avLst/>
              </a:prstGeom>
              <a:ln w="9525" cap="flat" cmpd="sng">
                <a:solidFill>
                  <a:schemeClr val="tx1"/>
                </a:solidFill>
                <a:prstDash val="solid"/>
                <a:round/>
                <a:headEnd type="none" w="med" len="med"/>
                <a:tailEnd type="none" w="med" len="med"/>
              </a:ln>
            </p:spPr>
          </p:sp>
          <p:sp>
            <p:nvSpPr>
              <p:cNvPr id="91184" name="Line 49"/>
              <p:cNvSpPr/>
              <p:nvPr/>
            </p:nvSpPr>
            <p:spPr>
              <a:xfrm flipH="1">
                <a:off x="152" y="216"/>
                <a:ext cx="181" cy="227"/>
              </a:xfrm>
              <a:prstGeom prst="line">
                <a:avLst/>
              </a:prstGeom>
              <a:ln w="9525" cap="flat" cmpd="sng">
                <a:solidFill>
                  <a:schemeClr val="tx1"/>
                </a:solidFill>
                <a:prstDash val="solid"/>
                <a:round/>
                <a:headEnd type="none" w="med" len="med"/>
                <a:tailEnd type="none" w="med" len="med"/>
              </a:ln>
            </p:spPr>
          </p:sp>
          <p:sp>
            <p:nvSpPr>
              <p:cNvPr id="91185" name="Line 50"/>
              <p:cNvSpPr/>
              <p:nvPr/>
            </p:nvSpPr>
            <p:spPr>
              <a:xfrm>
                <a:off x="477" y="200"/>
                <a:ext cx="181" cy="227"/>
              </a:xfrm>
              <a:prstGeom prst="line">
                <a:avLst/>
              </a:prstGeom>
              <a:ln w="9525" cap="flat" cmpd="sng">
                <a:solidFill>
                  <a:schemeClr val="tx1"/>
                </a:solidFill>
                <a:prstDash val="solid"/>
                <a:round/>
                <a:headEnd type="none" w="med" len="med"/>
                <a:tailEnd type="none" w="med" len="med"/>
              </a:ln>
            </p:spPr>
          </p:sp>
        </p:grpSp>
        <p:sp>
          <p:nvSpPr>
            <p:cNvPr id="91186" name="Rectangle 51"/>
            <p:cNvSpPr/>
            <p:nvPr/>
          </p:nvSpPr>
          <p:spPr>
            <a:xfrm>
              <a:off x="624" y="1513"/>
              <a:ext cx="272"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a:t>
              </a:r>
              <a:endParaRPr lang="en-US" altLang="zh-CN" sz="2000" dirty="0">
                <a:latin typeface="Times New Roman" panose="02020603050405020304" pitchFamily="18" charset="0"/>
                <a:ea typeface="宋体" panose="02010600030101010101" pitchFamily="2" charset="-122"/>
              </a:endParaRPr>
            </a:p>
          </p:txBody>
        </p:sp>
        <p:sp>
          <p:nvSpPr>
            <p:cNvPr id="91187" name="Rectangle 52"/>
            <p:cNvSpPr/>
            <p:nvPr/>
          </p:nvSpPr>
          <p:spPr>
            <a:xfrm>
              <a:off x="2208" y="1593"/>
              <a:ext cx="272"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sp>
          <p:nvSpPr>
            <p:cNvPr id="91188" name="Rectangle 53"/>
            <p:cNvSpPr/>
            <p:nvPr/>
          </p:nvSpPr>
          <p:spPr>
            <a:xfrm>
              <a:off x="4192" y="1561"/>
              <a:ext cx="272"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91189" name="Rectangle 54"/>
            <p:cNvSpPr/>
            <p:nvPr/>
          </p:nvSpPr>
          <p:spPr>
            <a:xfrm>
              <a:off x="288" y="1970"/>
              <a:ext cx="4081" cy="227"/>
            </a:xfrm>
            <a:prstGeom prst="rect">
              <a:avLst/>
            </a:prstGeom>
            <a:noFill/>
            <a:ln w="9525">
              <a:noFill/>
            </a:ln>
          </p:spPr>
          <p:txBody>
            <a:bodyPr wrap="none" anchor="ctr" anchorCtr="0"/>
            <a:p>
              <a:r>
                <a:rPr lang="zh-CN" altLang="en-US" sz="2000" b="1" dirty="0">
                  <a:latin typeface="Times New Roman" panose="02020603050405020304" pitchFamily="18" charset="0"/>
                  <a:ea typeface="宋体" panose="02010600030101010101" pitchFamily="2" charset="-122"/>
                </a:rPr>
                <a:t>具有相同叶子结点，不同带权路径长度的二叉树</a:t>
              </a:r>
              <a:endParaRPr lang="zh-CN" altLang="en-US" sz="2000" b="1"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最优二叉树的示例，以下二叉树形态的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WPL</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计算为</a:t>
            </a:r>
            <a:endParaRPr kumimoji="0" lang="zh-CN" altLang="en-US"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(a)  WPL=2</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2+3</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2+6</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2+7</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2=36 </a:t>
            </a:r>
            <a:endParaRPr kumimoji="0" lang="en-US" altLang="zh-CN" sz="240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(b)  WPL=2</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1+3</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2+6</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3+7</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3=47</a:t>
            </a:r>
            <a:endParaRPr kumimoji="0" lang="en-US" altLang="zh-CN" sz="240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(c)  WPL=7</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1+6</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2+2</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3+3</a:t>
            </a:r>
            <a:r>
              <a:rPr lang="en-US" altLang="zh-CN" sz="2400" noProof="0" smtClean="0">
                <a:ln>
                  <a:noFill/>
                </a:ln>
                <a:effectLst/>
                <a:uLnTx/>
                <a:uFillTx/>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3=34</a:t>
            </a:r>
            <a:endParaRPr kumimoji="0" lang="en-US" altLang="zh-CN" sz="240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L="609600" marR="0" lvl="0" indent="-609600" algn="l" defTabSz="914400" rtl="0" eaLnBrk="1" fontAlgn="base" latinLnBrk="0" hangingPunct="1">
              <a:lnSpc>
                <a:spcPct val="110000"/>
              </a:lnSpc>
              <a:spcBef>
                <a:spcPct val="20000"/>
              </a:spcBef>
              <a:spcAft>
                <a:spcPct val="0"/>
              </a:spcAft>
              <a:buClr>
                <a:schemeClr val="accent1"/>
              </a:buClr>
              <a:buSzTx/>
              <a:buFont typeface="Wingdings" panose="05000000000000000000" pitchFamily="2" charset="2"/>
              <a:buNone/>
              <a:defRPr/>
            </a:pPr>
            <a:r>
              <a:rPr lang="zh-CN" altLang="en-US" sz="2400" b="1" noProof="0" dirty="0" smtClean="0">
                <a:ln>
                  <a:noFill/>
                </a:ln>
                <a:effectLst/>
                <a:uLnTx/>
                <a:uFillTx/>
                <a:cs typeface="+mn-cs"/>
                <a:sym typeface="+mn-ea"/>
              </a:rPr>
              <a:t>        </a:t>
            </a:r>
            <a:endParaRPr kumimoji="0" lang="zh-CN" altLang="en-US" sz="2400" b="1" i="0" u="none" strike="noStrike" kern="0" cap="none" spc="0" normalizeH="0" baseline="0" noProof="0" dirty="0" smtClean="0">
              <a:ln>
                <a:noFill/>
              </a:ln>
              <a:solidFill>
                <a:schemeClr val="tx1"/>
              </a:solidFill>
              <a:effectLst/>
              <a:uLnTx/>
              <a:uFillTx/>
              <a:latin typeface="+mn-lt"/>
              <a:ea typeface="+mn-ea"/>
              <a:cs typeface="+mn-cs"/>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L="609600" marR="0" indent="-609600" algn="l" defTabSz="914400" rtl="0" eaLnBrk="1" fontAlgn="base" latinLnBrk="0" hangingPunct="1">
              <a:lnSpc>
                <a:spcPct val="100000"/>
              </a:lnSpc>
              <a:spcBef>
                <a:spcPct val="5000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mn-cs"/>
                <a:sym typeface="+mn-ea"/>
              </a:rPr>
              <a:t>	</a:t>
            </a: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r>
              <a:rPr lang="en-US" altLang="zh-CN" b="1">
                <a:latin typeface="楷体" panose="02010609060101010101" charset="-122"/>
                <a:ea typeface="楷体" panose="02010609060101010101" charset="-122"/>
                <a:cs typeface="楷体" panose="02010609060101010101" charset="-122"/>
                <a:sym typeface="+mn-ea"/>
              </a:rPr>
              <a:t> </a:t>
            </a:r>
            <a:endParaRPr lang="en-US" altLang="zh-CN" b="1">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91140" name="Group 5"/>
          <p:cNvGrpSpPr/>
          <p:nvPr/>
        </p:nvGrpSpPr>
        <p:grpSpPr>
          <a:xfrm>
            <a:off x="2377123" y="2430463"/>
            <a:ext cx="7391400" cy="3487737"/>
            <a:chOff x="0" y="0"/>
            <a:chExt cx="4656" cy="2197"/>
          </a:xfrm>
        </p:grpSpPr>
        <p:grpSp>
          <p:nvGrpSpPr>
            <p:cNvPr id="91141" name="Group 6"/>
            <p:cNvGrpSpPr/>
            <p:nvPr/>
          </p:nvGrpSpPr>
          <p:grpSpPr>
            <a:xfrm>
              <a:off x="0" y="322"/>
              <a:ext cx="1432" cy="1107"/>
              <a:chOff x="0" y="0"/>
              <a:chExt cx="1432" cy="1107"/>
            </a:xfrm>
          </p:grpSpPr>
          <p:sp>
            <p:nvSpPr>
              <p:cNvPr id="91142" name="Oval 7"/>
              <p:cNvSpPr/>
              <p:nvPr/>
            </p:nvSpPr>
            <p:spPr>
              <a:xfrm>
                <a:off x="624"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91143" name="Group 8"/>
              <p:cNvGrpSpPr/>
              <p:nvPr/>
            </p:nvGrpSpPr>
            <p:grpSpPr>
              <a:xfrm>
                <a:off x="0" y="432"/>
                <a:ext cx="657" cy="667"/>
                <a:chOff x="0" y="0"/>
                <a:chExt cx="657" cy="667"/>
              </a:xfrm>
            </p:grpSpPr>
            <p:sp>
              <p:nvSpPr>
                <p:cNvPr id="91144" name="Oval 9"/>
                <p:cNvSpPr/>
                <p:nvPr/>
              </p:nvSpPr>
              <p:spPr>
                <a:xfrm>
                  <a:off x="0" y="437"/>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1145" name="Oval 10"/>
                <p:cNvSpPr/>
                <p:nvPr/>
              </p:nvSpPr>
              <p:spPr>
                <a:xfrm>
                  <a:off x="408" y="44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91146" name="Oval 11"/>
                <p:cNvSpPr/>
                <p:nvPr/>
              </p:nvSpPr>
              <p:spPr>
                <a:xfrm>
                  <a:off x="208"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1147" name="Line 12"/>
                <p:cNvSpPr/>
                <p:nvPr/>
              </p:nvSpPr>
              <p:spPr>
                <a:xfrm flipH="1">
                  <a:off x="128" y="208"/>
                  <a:ext cx="136" cy="227"/>
                </a:xfrm>
                <a:prstGeom prst="line">
                  <a:avLst/>
                </a:prstGeom>
                <a:ln w="9525" cap="flat" cmpd="sng">
                  <a:solidFill>
                    <a:schemeClr val="tx1"/>
                  </a:solidFill>
                  <a:prstDash val="solid"/>
                  <a:round/>
                  <a:headEnd type="none" w="med" len="med"/>
                  <a:tailEnd type="none" w="med" len="med"/>
                </a:ln>
              </p:spPr>
            </p:sp>
            <p:sp>
              <p:nvSpPr>
                <p:cNvPr id="91148" name="Line 13"/>
                <p:cNvSpPr/>
                <p:nvPr/>
              </p:nvSpPr>
              <p:spPr>
                <a:xfrm>
                  <a:off x="392" y="208"/>
                  <a:ext cx="136" cy="227"/>
                </a:xfrm>
                <a:prstGeom prst="line">
                  <a:avLst/>
                </a:prstGeom>
                <a:ln w="9525" cap="flat" cmpd="sng">
                  <a:solidFill>
                    <a:schemeClr val="tx1"/>
                  </a:solidFill>
                  <a:prstDash val="solid"/>
                  <a:round/>
                  <a:headEnd type="none" w="med" len="med"/>
                  <a:tailEnd type="none" w="med" len="med"/>
                </a:ln>
              </p:spPr>
            </p:sp>
          </p:grpSp>
          <p:grpSp>
            <p:nvGrpSpPr>
              <p:cNvPr id="91149" name="Group 14"/>
              <p:cNvGrpSpPr/>
              <p:nvPr/>
            </p:nvGrpSpPr>
            <p:grpSpPr>
              <a:xfrm>
                <a:off x="775" y="440"/>
                <a:ext cx="657" cy="667"/>
                <a:chOff x="0" y="0"/>
                <a:chExt cx="657" cy="667"/>
              </a:xfrm>
            </p:grpSpPr>
            <p:sp>
              <p:nvSpPr>
                <p:cNvPr id="91150" name="Oval 15"/>
                <p:cNvSpPr/>
                <p:nvPr/>
              </p:nvSpPr>
              <p:spPr>
                <a:xfrm>
                  <a:off x="0" y="437"/>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6</a:t>
                  </a:r>
                  <a:endParaRPr lang="en-US" altLang="zh-CN" sz="2400" dirty="0">
                    <a:latin typeface="Times New Roman" panose="02020603050405020304" pitchFamily="18" charset="0"/>
                    <a:ea typeface="宋体" panose="02010600030101010101" pitchFamily="2" charset="-122"/>
                  </a:endParaRPr>
                </a:p>
              </p:txBody>
            </p:sp>
            <p:sp>
              <p:nvSpPr>
                <p:cNvPr id="91151" name="Oval 16"/>
                <p:cNvSpPr/>
                <p:nvPr/>
              </p:nvSpPr>
              <p:spPr>
                <a:xfrm>
                  <a:off x="408" y="44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sp>
              <p:nvSpPr>
                <p:cNvPr id="91152" name="Oval 17"/>
                <p:cNvSpPr/>
                <p:nvPr/>
              </p:nvSpPr>
              <p:spPr>
                <a:xfrm>
                  <a:off x="208"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1153" name="Line 18"/>
                <p:cNvSpPr/>
                <p:nvPr/>
              </p:nvSpPr>
              <p:spPr>
                <a:xfrm flipH="1">
                  <a:off x="128" y="208"/>
                  <a:ext cx="136" cy="227"/>
                </a:xfrm>
                <a:prstGeom prst="line">
                  <a:avLst/>
                </a:prstGeom>
                <a:ln w="9525" cap="flat" cmpd="sng">
                  <a:solidFill>
                    <a:schemeClr val="tx1"/>
                  </a:solidFill>
                  <a:prstDash val="solid"/>
                  <a:round/>
                  <a:headEnd type="none" w="med" len="med"/>
                  <a:tailEnd type="none" w="med" len="med"/>
                </a:ln>
              </p:spPr>
            </p:sp>
            <p:sp>
              <p:nvSpPr>
                <p:cNvPr id="91154" name="Line 19"/>
                <p:cNvSpPr/>
                <p:nvPr/>
              </p:nvSpPr>
              <p:spPr>
                <a:xfrm>
                  <a:off x="392" y="208"/>
                  <a:ext cx="136" cy="227"/>
                </a:xfrm>
                <a:prstGeom prst="line">
                  <a:avLst/>
                </a:prstGeom>
                <a:ln w="9525" cap="flat" cmpd="sng">
                  <a:solidFill>
                    <a:schemeClr val="tx1"/>
                  </a:solidFill>
                  <a:prstDash val="solid"/>
                  <a:round/>
                  <a:headEnd type="none" w="med" len="med"/>
                  <a:tailEnd type="none" w="med" len="med"/>
                </a:ln>
              </p:spPr>
            </p:sp>
          </p:grpSp>
          <p:sp>
            <p:nvSpPr>
              <p:cNvPr id="91155" name="Line 20"/>
              <p:cNvSpPr/>
              <p:nvPr/>
            </p:nvSpPr>
            <p:spPr>
              <a:xfrm flipH="1">
                <a:off x="368" y="208"/>
                <a:ext cx="295" cy="227"/>
              </a:xfrm>
              <a:prstGeom prst="line">
                <a:avLst/>
              </a:prstGeom>
              <a:ln w="9525" cap="flat" cmpd="sng">
                <a:solidFill>
                  <a:schemeClr val="tx1"/>
                </a:solidFill>
                <a:prstDash val="solid"/>
                <a:round/>
                <a:headEnd type="none" w="med" len="med"/>
                <a:tailEnd type="none" w="med" len="med"/>
              </a:ln>
            </p:spPr>
          </p:sp>
          <p:sp>
            <p:nvSpPr>
              <p:cNvPr id="91156" name="Line 21"/>
              <p:cNvSpPr/>
              <p:nvPr/>
            </p:nvSpPr>
            <p:spPr>
              <a:xfrm>
                <a:off x="800" y="216"/>
                <a:ext cx="295" cy="227"/>
              </a:xfrm>
              <a:prstGeom prst="line">
                <a:avLst/>
              </a:prstGeom>
              <a:ln w="9525" cap="flat" cmpd="sng">
                <a:solidFill>
                  <a:schemeClr val="tx1"/>
                </a:solidFill>
                <a:prstDash val="solid"/>
                <a:round/>
                <a:headEnd type="none" w="med" len="med"/>
                <a:tailEnd type="none" w="med" len="med"/>
              </a:ln>
            </p:spPr>
          </p:sp>
        </p:grpSp>
        <p:grpSp>
          <p:nvGrpSpPr>
            <p:cNvPr id="91157" name="Group 22"/>
            <p:cNvGrpSpPr/>
            <p:nvPr/>
          </p:nvGrpSpPr>
          <p:grpSpPr>
            <a:xfrm>
              <a:off x="1792" y="0"/>
              <a:ext cx="1088" cy="1531"/>
              <a:chOff x="0" y="0"/>
              <a:chExt cx="1088" cy="1531"/>
            </a:xfrm>
          </p:grpSpPr>
          <p:sp>
            <p:nvSpPr>
              <p:cNvPr id="91158" name="Oval 23"/>
              <p:cNvSpPr/>
              <p:nvPr/>
            </p:nvSpPr>
            <p:spPr>
              <a:xfrm>
                <a:off x="552"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nvGrpSpPr>
              <p:cNvPr id="91159" name="Group 24"/>
              <p:cNvGrpSpPr/>
              <p:nvPr/>
            </p:nvGrpSpPr>
            <p:grpSpPr>
              <a:xfrm>
                <a:off x="0" y="424"/>
                <a:ext cx="657" cy="667"/>
                <a:chOff x="0" y="0"/>
                <a:chExt cx="657" cy="667"/>
              </a:xfrm>
            </p:grpSpPr>
            <p:sp>
              <p:nvSpPr>
                <p:cNvPr id="91160" name="Oval 25"/>
                <p:cNvSpPr/>
                <p:nvPr/>
              </p:nvSpPr>
              <p:spPr>
                <a:xfrm>
                  <a:off x="0" y="437"/>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91161" name="Oval 26"/>
                <p:cNvSpPr/>
                <p:nvPr/>
              </p:nvSpPr>
              <p:spPr>
                <a:xfrm>
                  <a:off x="408" y="44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zh-CN" sz="2400" dirty="0">
                    <a:latin typeface="Times New Roman" panose="02020603050405020304" pitchFamily="18" charset="0"/>
                    <a:ea typeface="宋体" panose="02010600030101010101" pitchFamily="2" charset="-122"/>
                  </a:endParaRPr>
                </a:p>
              </p:txBody>
            </p:sp>
            <p:sp>
              <p:nvSpPr>
                <p:cNvPr id="91162" name="Oval 27"/>
                <p:cNvSpPr/>
                <p:nvPr/>
              </p:nvSpPr>
              <p:spPr>
                <a:xfrm>
                  <a:off x="208"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1163" name="Line 28"/>
                <p:cNvSpPr/>
                <p:nvPr/>
              </p:nvSpPr>
              <p:spPr>
                <a:xfrm flipH="1">
                  <a:off x="128" y="208"/>
                  <a:ext cx="136" cy="227"/>
                </a:xfrm>
                <a:prstGeom prst="line">
                  <a:avLst/>
                </a:prstGeom>
                <a:ln w="9525" cap="flat" cmpd="sng">
                  <a:solidFill>
                    <a:schemeClr val="tx1"/>
                  </a:solidFill>
                  <a:prstDash val="solid"/>
                  <a:round/>
                  <a:headEnd type="none" w="med" len="med"/>
                  <a:tailEnd type="none" w="med" len="med"/>
                </a:ln>
              </p:spPr>
            </p:sp>
            <p:sp>
              <p:nvSpPr>
                <p:cNvPr id="91164" name="Line 29"/>
                <p:cNvSpPr/>
                <p:nvPr/>
              </p:nvSpPr>
              <p:spPr>
                <a:xfrm>
                  <a:off x="392" y="208"/>
                  <a:ext cx="136" cy="227"/>
                </a:xfrm>
                <a:prstGeom prst="line">
                  <a:avLst/>
                </a:prstGeom>
                <a:ln w="9525" cap="flat" cmpd="sng">
                  <a:solidFill>
                    <a:schemeClr val="tx1"/>
                  </a:solidFill>
                  <a:prstDash val="solid"/>
                  <a:round/>
                  <a:headEnd type="none" w="med" len="med"/>
                  <a:tailEnd type="none" w="med" len="med"/>
                </a:ln>
              </p:spPr>
            </p:sp>
          </p:grpSp>
          <p:sp>
            <p:nvSpPr>
              <p:cNvPr id="91165" name="Oval 30"/>
              <p:cNvSpPr/>
              <p:nvPr/>
            </p:nvSpPr>
            <p:spPr>
              <a:xfrm>
                <a:off x="208" y="1301"/>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6</a:t>
                </a:r>
                <a:endParaRPr lang="en-US" altLang="zh-CN" sz="2400" dirty="0">
                  <a:latin typeface="Times New Roman" panose="02020603050405020304" pitchFamily="18" charset="0"/>
                  <a:ea typeface="宋体" panose="02010600030101010101" pitchFamily="2" charset="-122"/>
                </a:endParaRPr>
              </a:p>
            </p:txBody>
          </p:sp>
          <p:sp>
            <p:nvSpPr>
              <p:cNvPr id="91166" name="Oval 31"/>
              <p:cNvSpPr/>
              <p:nvPr/>
            </p:nvSpPr>
            <p:spPr>
              <a:xfrm>
                <a:off x="616" y="1304"/>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sp>
            <p:nvSpPr>
              <p:cNvPr id="91167" name="Oval 32"/>
              <p:cNvSpPr/>
              <p:nvPr/>
            </p:nvSpPr>
            <p:spPr>
              <a:xfrm>
                <a:off x="839" y="432"/>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1168" name="Line 33"/>
              <p:cNvSpPr/>
              <p:nvPr/>
            </p:nvSpPr>
            <p:spPr>
              <a:xfrm flipH="1">
                <a:off x="336" y="1072"/>
                <a:ext cx="136" cy="227"/>
              </a:xfrm>
              <a:prstGeom prst="line">
                <a:avLst/>
              </a:prstGeom>
              <a:ln w="9525" cap="flat" cmpd="sng">
                <a:solidFill>
                  <a:schemeClr val="tx1"/>
                </a:solidFill>
                <a:prstDash val="solid"/>
                <a:round/>
                <a:headEnd type="none" w="med" len="med"/>
                <a:tailEnd type="none" w="med" len="med"/>
              </a:ln>
            </p:spPr>
          </p:sp>
          <p:sp>
            <p:nvSpPr>
              <p:cNvPr id="91169" name="Line 34"/>
              <p:cNvSpPr/>
              <p:nvPr/>
            </p:nvSpPr>
            <p:spPr>
              <a:xfrm>
                <a:off x="600" y="1072"/>
                <a:ext cx="136" cy="227"/>
              </a:xfrm>
              <a:prstGeom prst="line">
                <a:avLst/>
              </a:prstGeom>
              <a:ln w="9525" cap="flat" cmpd="sng">
                <a:solidFill>
                  <a:schemeClr val="tx1"/>
                </a:solidFill>
                <a:prstDash val="solid"/>
                <a:round/>
                <a:headEnd type="none" w="med" len="med"/>
                <a:tailEnd type="none" w="med" len="med"/>
              </a:ln>
            </p:spPr>
          </p:sp>
          <p:sp>
            <p:nvSpPr>
              <p:cNvPr id="91170" name="Line 35"/>
              <p:cNvSpPr/>
              <p:nvPr/>
            </p:nvSpPr>
            <p:spPr>
              <a:xfrm flipH="1">
                <a:off x="360" y="192"/>
                <a:ext cx="227" cy="227"/>
              </a:xfrm>
              <a:prstGeom prst="line">
                <a:avLst/>
              </a:prstGeom>
              <a:ln w="9525" cap="flat" cmpd="sng">
                <a:solidFill>
                  <a:schemeClr val="tx1"/>
                </a:solidFill>
                <a:prstDash val="solid"/>
                <a:round/>
                <a:headEnd type="none" w="med" len="med"/>
                <a:tailEnd type="none" w="med" len="med"/>
              </a:ln>
            </p:spPr>
          </p:sp>
          <p:sp>
            <p:nvSpPr>
              <p:cNvPr id="91171" name="Line 36"/>
              <p:cNvSpPr/>
              <p:nvPr/>
            </p:nvSpPr>
            <p:spPr>
              <a:xfrm>
                <a:off x="744" y="200"/>
                <a:ext cx="227" cy="227"/>
              </a:xfrm>
              <a:prstGeom prst="line">
                <a:avLst/>
              </a:prstGeom>
              <a:ln w="9525" cap="flat" cmpd="sng">
                <a:solidFill>
                  <a:schemeClr val="tx1"/>
                </a:solidFill>
                <a:prstDash val="solid"/>
                <a:round/>
                <a:headEnd type="none" w="med" len="med"/>
                <a:tailEnd type="none" w="med" len="med"/>
              </a:ln>
            </p:spPr>
          </p:sp>
        </p:grpSp>
        <p:grpSp>
          <p:nvGrpSpPr>
            <p:cNvPr id="91172" name="Group 37"/>
            <p:cNvGrpSpPr/>
            <p:nvPr/>
          </p:nvGrpSpPr>
          <p:grpSpPr>
            <a:xfrm>
              <a:off x="3307" y="0"/>
              <a:ext cx="1349" cy="1528"/>
              <a:chOff x="0" y="0"/>
              <a:chExt cx="1349" cy="1528"/>
            </a:xfrm>
          </p:grpSpPr>
          <p:sp>
            <p:nvSpPr>
              <p:cNvPr id="91173" name="Oval 38"/>
              <p:cNvSpPr/>
              <p:nvPr/>
            </p:nvSpPr>
            <p:spPr>
              <a:xfrm>
                <a:off x="285"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91174" name="Oval 39"/>
              <p:cNvSpPr/>
              <p:nvPr/>
            </p:nvSpPr>
            <p:spPr>
              <a:xfrm>
                <a:off x="333" y="861"/>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6</a:t>
                </a:r>
                <a:endParaRPr lang="en-US" altLang="zh-CN" sz="2400" dirty="0">
                  <a:latin typeface="Times New Roman" panose="02020603050405020304" pitchFamily="18" charset="0"/>
                  <a:ea typeface="宋体" panose="02010600030101010101" pitchFamily="2" charset="-122"/>
                </a:endParaRPr>
              </a:p>
            </p:txBody>
          </p:sp>
          <p:sp>
            <p:nvSpPr>
              <p:cNvPr id="91175" name="Oval 40"/>
              <p:cNvSpPr/>
              <p:nvPr/>
            </p:nvSpPr>
            <p:spPr>
              <a:xfrm>
                <a:off x="813" y="856"/>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zh-CN" sz="2400" dirty="0">
                  <a:latin typeface="Times New Roman" panose="02020603050405020304" pitchFamily="18" charset="0"/>
                  <a:ea typeface="宋体" panose="02010600030101010101" pitchFamily="2" charset="-122"/>
                </a:endParaRPr>
              </a:p>
            </p:txBody>
          </p:sp>
          <p:sp>
            <p:nvSpPr>
              <p:cNvPr id="91176" name="Oval 41"/>
              <p:cNvSpPr/>
              <p:nvPr/>
            </p:nvSpPr>
            <p:spPr>
              <a:xfrm>
                <a:off x="0" y="448"/>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7</a:t>
                </a:r>
                <a:endParaRPr lang="en-US" altLang="zh-CN" sz="2400" dirty="0">
                  <a:latin typeface="Times New Roman" panose="02020603050405020304" pitchFamily="18" charset="0"/>
                  <a:ea typeface="宋体" panose="02010600030101010101" pitchFamily="2" charset="-122"/>
                </a:endParaRPr>
              </a:p>
            </p:txBody>
          </p:sp>
          <p:sp>
            <p:nvSpPr>
              <p:cNvPr id="91177" name="Line 42"/>
              <p:cNvSpPr/>
              <p:nvPr/>
            </p:nvSpPr>
            <p:spPr>
              <a:xfrm flipH="1">
                <a:off x="453" y="640"/>
                <a:ext cx="181" cy="227"/>
              </a:xfrm>
              <a:prstGeom prst="line">
                <a:avLst/>
              </a:prstGeom>
              <a:ln w="9525" cap="flat" cmpd="sng">
                <a:solidFill>
                  <a:schemeClr val="tx1"/>
                </a:solidFill>
                <a:prstDash val="solid"/>
                <a:round/>
                <a:headEnd type="none" w="med" len="med"/>
                <a:tailEnd type="none" w="med" len="med"/>
              </a:ln>
            </p:spPr>
          </p:sp>
          <p:sp>
            <p:nvSpPr>
              <p:cNvPr id="91178" name="Line 43"/>
              <p:cNvSpPr/>
              <p:nvPr/>
            </p:nvSpPr>
            <p:spPr>
              <a:xfrm>
                <a:off x="749" y="624"/>
                <a:ext cx="181" cy="227"/>
              </a:xfrm>
              <a:prstGeom prst="line">
                <a:avLst/>
              </a:prstGeom>
              <a:ln w="9525" cap="flat" cmpd="sng">
                <a:solidFill>
                  <a:schemeClr val="tx1"/>
                </a:solidFill>
                <a:prstDash val="solid"/>
                <a:round/>
                <a:headEnd type="none" w="med" len="med"/>
                <a:tailEnd type="none" w="med" len="med"/>
              </a:ln>
            </p:spPr>
          </p:sp>
          <p:sp>
            <p:nvSpPr>
              <p:cNvPr id="91179" name="Oval 44"/>
              <p:cNvSpPr/>
              <p:nvPr/>
            </p:nvSpPr>
            <p:spPr>
              <a:xfrm>
                <a:off x="597" y="1301"/>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91180" name="Oval 45"/>
              <p:cNvSpPr/>
              <p:nvPr/>
            </p:nvSpPr>
            <p:spPr>
              <a:xfrm>
                <a:off x="1100" y="128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3</a:t>
                </a:r>
                <a:endParaRPr lang="en-US" altLang="zh-CN" sz="2400" dirty="0">
                  <a:latin typeface="Times New Roman" panose="02020603050405020304" pitchFamily="18" charset="0"/>
                  <a:ea typeface="宋体" panose="02010600030101010101" pitchFamily="2" charset="-122"/>
                </a:endParaRPr>
              </a:p>
            </p:txBody>
          </p:sp>
          <p:sp>
            <p:nvSpPr>
              <p:cNvPr id="91181" name="Oval 46"/>
              <p:cNvSpPr/>
              <p:nvPr/>
            </p:nvSpPr>
            <p:spPr>
              <a:xfrm>
                <a:off x="548" y="424"/>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endParaRPr lang="zh-CN" altLang="zh-CN" sz="2400" dirty="0">
                  <a:latin typeface="Times New Roman" panose="02020603050405020304" pitchFamily="18" charset="0"/>
                  <a:ea typeface="宋体" panose="02010600030101010101" pitchFamily="2" charset="-122"/>
                </a:endParaRPr>
              </a:p>
            </p:txBody>
          </p:sp>
          <p:sp>
            <p:nvSpPr>
              <p:cNvPr id="91182" name="Line 47"/>
              <p:cNvSpPr/>
              <p:nvPr/>
            </p:nvSpPr>
            <p:spPr>
              <a:xfrm flipH="1">
                <a:off x="709" y="1072"/>
                <a:ext cx="181" cy="227"/>
              </a:xfrm>
              <a:prstGeom prst="line">
                <a:avLst/>
              </a:prstGeom>
              <a:ln w="9525" cap="flat" cmpd="sng">
                <a:solidFill>
                  <a:schemeClr val="tx1"/>
                </a:solidFill>
                <a:prstDash val="solid"/>
                <a:round/>
                <a:headEnd type="none" w="med" len="med"/>
                <a:tailEnd type="none" w="med" len="med"/>
              </a:ln>
            </p:spPr>
          </p:sp>
          <p:sp>
            <p:nvSpPr>
              <p:cNvPr id="91183" name="Line 48"/>
              <p:cNvSpPr/>
              <p:nvPr/>
            </p:nvSpPr>
            <p:spPr>
              <a:xfrm>
                <a:off x="1029" y="1048"/>
                <a:ext cx="181" cy="227"/>
              </a:xfrm>
              <a:prstGeom prst="line">
                <a:avLst/>
              </a:prstGeom>
              <a:ln w="9525" cap="flat" cmpd="sng">
                <a:solidFill>
                  <a:schemeClr val="tx1"/>
                </a:solidFill>
                <a:prstDash val="solid"/>
                <a:round/>
                <a:headEnd type="none" w="med" len="med"/>
                <a:tailEnd type="none" w="med" len="med"/>
              </a:ln>
            </p:spPr>
          </p:sp>
          <p:sp>
            <p:nvSpPr>
              <p:cNvPr id="91184" name="Line 49"/>
              <p:cNvSpPr/>
              <p:nvPr/>
            </p:nvSpPr>
            <p:spPr>
              <a:xfrm flipH="1">
                <a:off x="152" y="216"/>
                <a:ext cx="181" cy="227"/>
              </a:xfrm>
              <a:prstGeom prst="line">
                <a:avLst/>
              </a:prstGeom>
              <a:ln w="9525" cap="flat" cmpd="sng">
                <a:solidFill>
                  <a:schemeClr val="tx1"/>
                </a:solidFill>
                <a:prstDash val="solid"/>
                <a:round/>
                <a:headEnd type="none" w="med" len="med"/>
                <a:tailEnd type="none" w="med" len="med"/>
              </a:ln>
            </p:spPr>
          </p:sp>
          <p:sp>
            <p:nvSpPr>
              <p:cNvPr id="91185" name="Line 50"/>
              <p:cNvSpPr/>
              <p:nvPr/>
            </p:nvSpPr>
            <p:spPr>
              <a:xfrm>
                <a:off x="477" y="200"/>
                <a:ext cx="181" cy="227"/>
              </a:xfrm>
              <a:prstGeom prst="line">
                <a:avLst/>
              </a:prstGeom>
              <a:ln w="9525" cap="flat" cmpd="sng">
                <a:solidFill>
                  <a:schemeClr val="tx1"/>
                </a:solidFill>
                <a:prstDash val="solid"/>
                <a:round/>
                <a:headEnd type="none" w="med" len="med"/>
                <a:tailEnd type="none" w="med" len="med"/>
              </a:ln>
            </p:spPr>
          </p:sp>
        </p:grpSp>
        <p:sp>
          <p:nvSpPr>
            <p:cNvPr id="91186" name="Rectangle 51"/>
            <p:cNvSpPr/>
            <p:nvPr/>
          </p:nvSpPr>
          <p:spPr>
            <a:xfrm>
              <a:off x="624" y="1513"/>
              <a:ext cx="272"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a:t>
              </a:r>
              <a:endParaRPr lang="en-US" altLang="zh-CN" sz="2000" dirty="0">
                <a:latin typeface="Times New Roman" panose="02020603050405020304" pitchFamily="18" charset="0"/>
                <a:ea typeface="宋体" panose="02010600030101010101" pitchFamily="2" charset="-122"/>
              </a:endParaRPr>
            </a:p>
          </p:txBody>
        </p:sp>
        <p:sp>
          <p:nvSpPr>
            <p:cNvPr id="91187" name="Rectangle 52"/>
            <p:cNvSpPr/>
            <p:nvPr/>
          </p:nvSpPr>
          <p:spPr>
            <a:xfrm>
              <a:off x="2208" y="1593"/>
              <a:ext cx="272"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sp>
          <p:nvSpPr>
            <p:cNvPr id="91188" name="Rectangle 53"/>
            <p:cNvSpPr/>
            <p:nvPr/>
          </p:nvSpPr>
          <p:spPr>
            <a:xfrm>
              <a:off x="4192" y="1561"/>
              <a:ext cx="272"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(c)</a:t>
              </a:r>
              <a:endParaRPr lang="en-US" altLang="zh-CN" sz="2000" dirty="0">
                <a:latin typeface="Times New Roman" panose="02020603050405020304" pitchFamily="18" charset="0"/>
                <a:ea typeface="宋体" panose="02010600030101010101" pitchFamily="2" charset="-122"/>
              </a:endParaRPr>
            </a:p>
          </p:txBody>
        </p:sp>
        <p:sp>
          <p:nvSpPr>
            <p:cNvPr id="91189" name="Rectangle 54"/>
            <p:cNvSpPr/>
            <p:nvPr/>
          </p:nvSpPr>
          <p:spPr>
            <a:xfrm>
              <a:off x="288" y="1970"/>
              <a:ext cx="4081" cy="227"/>
            </a:xfrm>
            <a:prstGeom prst="rect">
              <a:avLst/>
            </a:prstGeom>
            <a:noFill/>
            <a:ln w="9525">
              <a:noFill/>
            </a:ln>
          </p:spPr>
          <p:txBody>
            <a:bodyPr wrap="none" anchor="ctr" anchorCtr="0"/>
            <a:p>
              <a:pPr algn="l"/>
              <a:r>
                <a:rPr lang="en-US" altLang="zh-CN" sz="2000" b="1" kern="0" noProof="0" dirty="0" smtClean="0">
                  <a:ln>
                    <a:noFill/>
                  </a:ln>
                  <a:effectLst/>
                  <a:uLnTx/>
                  <a:uFillTx/>
                  <a:latin typeface="宋体" panose="02010600030101010101" pitchFamily="2" charset="-122"/>
                  <a:cs typeface="宋体" panose="02010600030101010101" pitchFamily="2" charset="-122"/>
                  <a:sym typeface="+mn-ea"/>
                </a:rPr>
                <a:t>(c)</a:t>
              </a:r>
              <a:r>
                <a:rPr lang="zh-CN" altLang="en-US" sz="2000" b="1" kern="0" noProof="0" dirty="0" smtClean="0">
                  <a:ln>
                    <a:noFill/>
                  </a:ln>
                  <a:effectLst/>
                  <a:uLnTx/>
                  <a:uFillTx/>
                  <a:latin typeface="宋体" panose="02010600030101010101" pitchFamily="2" charset="-122"/>
                  <a:cs typeface="宋体" panose="02010600030101010101" pitchFamily="2" charset="-122"/>
                  <a:sym typeface="+mn-ea"/>
                </a:rPr>
                <a:t>的 </a:t>
              </a:r>
              <a:r>
                <a:rPr lang="en-US" altLang="zh-CN" sz="2000" b="1" kern="0" noProof="0" dirty="0" smtClean="0">
                  <a:ln>
                    <a:noFill/>
                  </a:ln>
                  <a:effectLst/>
                  <a:uLnTx/>
                  <a:uFillTx/>
                  <a:latin typeface="宋体" panose="02010600030101010101" pitchFamily="2" charset="-122"/>
                  <a:cs typeface="宋体" panose="02010600030101010101" pitchFamily="2" charset="-122"/>
                  <a:sym typeface="+mn-ea"/>
                </a:rPr>
                <a:t>WPL</a:t>
              </a:r>
              <a:r>
                <a:rPr lang="zh-CN" altLang="en-US" sz="2000" b="1" kern="0" noProof="0" dirty="0" smtClean="0">
                  <a:ln>
                    <a:noFill/>
                  </a:ln>
                  <a:effectLst/>
                  <a:uLnTx/>
                  <a:uFillTx/>
                  <a:latin typeface="宋体" panose="02010600030101010101" pitchFamily="2" charset="-122"/>
                  <a:cs typeface="宋体" panose="02010600030101010101" pitchFamily="2" charset="-122"/>
                  <a:sym typeface="+mn-ea"/>
                </a:rPr>
                <a:t>值最小，称</a:t>
              </a:r>
              <a:r>
                <a:rPr lang="en-US" altLang="zh-CN" sz="2000" b="1" kern="0" noProof="0" dirty="0" smtClean="0">
                  <a:ln>
                    <a:noFill/>
                  </a:ln>
                  <a:effectLst/>
                  <a:uLnTx/>
                  <a:uFillTx/>
                  <a:latin typeface="宋体" panose="02010600030101010101" pitchFamily="2" charset="-122"/>
                  <a:cs typeface="宋体" panose="02010600030101010101" pitchFamily="2" charset="-122"/>
                  <a:sym typeface="+mn-ea"/>
                </a:rPr>
                <a:t>(c)</a:t>
              </a:r>
              <a:r>
                <a:rPr lang="zh-CN" altLang="en-US" sz="2000" b="1" kern="0" noProof="0" dirty="0" smtClean="0">
                  <a:ln>
                    <a:noFill/>
                  </a:ln>
                  <a:effectLst/>
                  <a:uLnTx/>
                  <a:uFillTx/>
                  <a:latin typeface="宋体" panose="02010600030101010101" pitchFamily="2" charset="-122"/>
                  <a:cs typeface="宋体" panose="02010600030101010101" pitchFamily="2" charset="-122"/>
                  <a:sym typeface="+mn-ea"/>
                </a:rPr>
                <a:t>二叉树为最优二叉树或</a:t>
              </a:r>
              <a:r>
                <a:rPr lang="en-US" altLang="zh-CN" sz="2000" b="1" kern="0" noProof="0" dirty="0" smtClean="0">
                  <a:ln>
                    <a:noFill/>
                  </a:ln>
                  <a:effectLst/>
                  <a:uLnTx/>
                  <a:uFillTx/>
                  <a:latin typeface="宋体" panose="02010600030101010101" pitchFamily="2" charset="-122"/>
                  <a:cs typeface="宋体" panose="02010600030101010101" pitchFamily="2" charset="-122"/>
                  <a:sym typeface="+mn-ea"/>
                </a:rPr>
                <a:t>Huffman</a:t>
              </a:r>
              <a:r>
                <a:rPr lang="zh-CN" altLang="en-US" sz="2000" b="1" kern="0" noProof="0" dirty="0" smtClean="0">
                  <a:ln>
                    <a:noFill/>
                  </a:ln>
                  <a:effectLst/>
                  <a:uLnTx/>
                  <a:uFillTx/>
                  <a:latin typeface="宋体" panose="02010600030101010101" pitchFamily="2" charset="-122"/>
                  <a:cs typeface="宋体" panose="02010600030101010101" pitchFamily="2" charset="-122"/>
                  <a:sym typeface="+mn-ea"/>
                </a:rPr>
                <a:t>树</a:t>
              </a:r>
              <a:endParaRPr lang="zh-CN" altLang="en-US" sz="2000" b="1" dirty="0">
                <a:latin typeface="宋体" panose="02010600030101010101" pitchFamily="2" charset="-122"/>
                <a:cs typeface="宋体" panose="02010600030101010101" pitchFamily="2" charset="-122"/>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赫夫曼树又称为哈夫曼树</a:t>
            </a:r>
            <a:endParaRPr lang="zh-CN" altLang="en-US" sz="2800" dirty="0">
              <a:latin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1951年，哈夫曼</a:t>
            </a:r>
            <a:r>
              <a:rPr lang="en-US" altLang="zh-CN" dirty="0">
                <a:latin typeface="黑体" panose="02010609060101010101" pitchFamily="2" charset="-122"/>
                <a:cs typeface="+mn-cs"/>
                <a:sym typeface="+mn-ea"/>
              </a:rPr>
              <a:t>Huffuman</a:t>
            </a:r>
            <a:r>
              <a:rPr lang="zh-CN" altLang="en-US" sz="2400" dirty="0">
                <a:latin typeface="黑体" panose="02010609060101010101" pitchFamily="2" charset="-122"/>
                <a:ea typeface="黑体" panose="02010609060101010101" pitchFamily="2" charset="-122"/>
                <a:cs typeface="+mn-ea"/>
                <a:sym typeface="+mn-ea"/>
              </a:rPr>
              <a:t>在麻省理工学院（MIT）攻读博士学位，他修读信息论课程的学期报告题目是：查找最有效的二进制编码。</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由于无法证明哪个已有编码是最有效的，哈夫曼放弃对已有编码的研究，转向新的探索，最终发明哈夫曼编码并证明了这个方法是最有效的。</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哈夫曼编码广泛应用于图像压缩、数据传真、信息安全等领域。</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例如</a:t>
            </a:r>
            <a:r>
              <a:rPr lang="en-US" altLang="zh-CN" sz="2400" dirty="0">
                <a:latin typeface="黑体" panose="02010609060101010101" pitchFamily="2" charset="-122"/>
                <a:ea typeface="黑体" panose="02010609060101010101" pitchFamily="2" charset="-122"/>
                <a:cs typeface="+mn-ea"/>
                <a:sym typeface="+mn-ea"/>
              </a:rPr>
              <a:t>PNG</a:t>
            </a:r>
            <a:r>
              <a:rPr lang="zh-CN" altLang="en-US" sz="2400" dirty="0">
                <a:latin typeface="黑体" panose="02010609060101010101" pitchFamily="2" charset="-122"/>
                <a:ea typeface="黑体" panose="02010609060101010101" pitchFamily="2" charset="-122"/>
                <a:cs typeface="+mn-ea"/>
                <a:sym typeface="+mn-ea"/>
              </a:rPr>
              <a:t>图像编码就是采用哈夫曼编码，属于无损压缩编码</a:t>
            </a:r>
            <a:endParaRPr lang="zh-CN" altLang="en-US" sz="2400" dirty="0">
              <a:latin typeface="黑体" panose="02010609060101010101" pitchFamily="2" charset="-122"/>
              <a:ea typeface="黑体" panose="02010609060101010101" pitchFamily="2" charset="-122"/>
              <a:cs typeface="+mn-ea"/>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dirty="0">
              <a:latin typeface="黑体" panose="02010609060101010101" pitchFamily="2" charset="-122"/>
              <a:cs typeface="+mn-cs"/>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en-US" altLang="zh-CN" sz="2800" dirty="0">
                <a:latin typeface="黑体" panose="02010609060101010101" pitchFamily="2" charset="-122"/>
                <a:cs typeface="+mn-cs"/>
                <a:sym typeface="+mn-ea"/>
              </a:rPr>
              <a:t>Huffman</a:t>
            </a:r>
            <a:r>
              <a:rPr lang="zh-CN" altLang="en-US" sz="2800" dirty="0">
                <a:latin typeface="黑体" panose="02010609060101010101" pitchFamily="2" charset="-122"/>
                <a:cs typeface="+mn-cs"/>
                <a:sym typeface="+mn-ea"/>
              </a:rPr>
              <a:t>从未为哈夫曼算法申请任何专利或请求任何经济</a:t>
            </a:r>
            <a:endParaRPr lang="zh-CN" altLang="en-US" sz="2800" dirty="0">
              <a:latin typeface="黑体" panose="02010609060101010101" pitchFamily="2" charset="-122"/>
              <a:cs typeface="+mn-cs"/>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r>
              <a:rPr lang="zh-CN" altLang="en-US" sz="2800" dirty="0">
                <a:latin typeface="黑体" panose="02010609060101010101" pitchFamily="2" charset="-122"/>
                <a:cs typeface="+mn-cs"/>
                <a:sym typeface="+mn-ea"/>
              </a:rPr>
              <a:t>利益，他离开</a:t>
            </a:r>
            <a:r>
              <a:rPr lang="en-US" altLang="zh-CN" sz="2800" dirty="0">
                <a:latin typeface="黑体" panose="02010609060101010101" pitchFamily="2" charset="-122"/>
                <a:cs typeface="+mn-cs"/>
                <a:sym typeface="+mn-ea"/>
              </a:rPr>
              <a:t>MIT</a:t>
            </a:r>
            <a:r>
              <a:rPr lang="zh-CN" altLang="en-US" sz="2800" dirty="0">
                <a:latin typeface="黑体" panose="02010609060101010101" pitchFamily="2" charset="-122"/>
                <a:cs typeface="+mn-cs"/>
                <a:sym typeface="+mn-ea"/>
              </a:rPr>
              <a:t>后去加州大学任教，专注于教学，</a:t>
            </a:r>
            <a:endParaRPr lang="zh-CN" altLang="en-US" sz="2800" dirty="0">
              <a:latin typeface="黑体" panose="02010609060101010101" pitchFamily="2" charset="-122"/>
              <a:cs typeface="+mn-cs"/>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r>
              <a:rPr lang="zh-CN" altLang="en-US" sz="2800" dirty="0">
                <a:latin typeface="黑体" panose="02010609060101010101" pitchFamily="2" charset="-122"/>
                <a:cs typeface="+mn-cs"/>
                <a:sym typeface="+mn-ea"/>
              </a:rPr>
              <a:t>他说</a:t>
            </a:r>
            <a:r>
              <a:rPr lang="en-US" altLang="zh-CN" sz="2800" dirty="0">
                <a:latin typeface="黑体" panose="02010609060101010101" pitchFamily="2" charset="-122"/>
                <a:cs typeface="+mn-cs"/>
                <a:sym typeface="+mn-ea"/>
              </a:rPr>
              <a:t>“</a:t>
            </a:r>
            <a:r>
              <a:rPr lang="zh-CN" altLang="en-US" sz="2800" dirty="0">
                <a:latin typeface="黑体" panose="02010609060101010101" pitchFamily="2" charset="-122"/>
                <a:cs typeface="+mn-cs"/>
                <a:sym typeface="+mn-ea"/>
              </a:rPr>
              <a:t>我所要带来的就是我的学生</a:t>
            </a:r>
            <a:r>
              <a:rPr lang="en-US" altLang="zh-CN" sz="2800" dirty="0">
                <a:latin typeface="黑体" panose="02010609060101010101" pitchFamily="2" charset="-122"/>
                <a:cs typeface="+mn-cs"/>
                <a:sym typeface="+mn-ea"/>
              </a:rPr>
              <a:t>”</a:t>
            </a:r>
            <a:endParaRPr lang="zh-CN" altLang="en-US" sz="2800" dirty="0">
              <a:latin typeface="黑体" panose="02010609060101010101" pitchFamily="2" charset="-122"/>
              <a:cs typeface="+mn-cs"/>
              <a:sym typeface="+mn-ea"/>
            </a:endParaRPr>
          </a:p>
          <a:p>
            <a:pPr lvl="1" algn="l" eaLnBrk="1" hangingPunct="1">
              <a:buClrTx/>
              <a:buSzTx/>
              <a:buChar char="•"/>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7" name="图片 6"/>
          <p:cNvPicPr>
            <a:picLocks noChangeAspect="1"/>
          </p:cNvPicPr>
          <p:nvPr/>
        </p:nvPicPr>
        <p:blipFill>
          <a:blip r:embed="rId1"/>
          <a:stretch>
            <a:fillRect/>
          </a:stretch>
        </p:blipFill>
        <p:spPr>
          <a:xfrm>
            <a:off x="10090785" y="3716655"/>
            <a:ext cx="1866900" cy="2667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赫夫曼树的简单应用——百分制转五级制</a:t>
            </a:r>
            <a:endParaRPr kumimoji="0" lang="zh-CN" altLang="en-US" sz="2800" b="0" i="0" u="none" strike="noStrike" kern="0" cap="none" spc="0" normalizeH="0" baseline="0" dirty="0">
              <a:solidFill>
                <a:schemeClr val="tx1"/>
              </a:solidFill>
              <a:latin typeface="黑体" panose="02010609060101010101" pitchFamily="2" charset="-122"/>
              <a:cs typeface="+mn-cs"/>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将0～100分转变为不及格、及格、中等、良好、优良五个级别</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分数的分布比例为：</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94212" name="Picture 5"/>
          <p:cNvPicPr>
            <a:picLocks noChangeAspect="1"/>
          </p:cNvPicPr>
          <p:nvPr/>
        </p:nvPicPr>
        <p:blipFill>
          <a:blip r:embed="rId1"/>
          <a:stretch>
            <a:fillRect/>
          </a:stretch>
        </p:blipFill>
        <p:spPr>
          <a:xfrm>
            <a:off x="2279333" y="2420303"/>
            <a:ext cx="5616575" cy="1031875"/>
          </a:xfrm>
          <a:prstGeom prst="rect">
            <a:avLst/>
          </a:prstGeom>
          <a:noFill/>
          <a:ln w="9525">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百分制转五级制的普通方法</a:t>
            </a:r>
            <a:endParaRPr kumimoji="0" lang="zh-CN" altLang="en-US" sz="2800" b="0" i="0" u="none" strike="noStrike" kern="0" cap="none" spc="0" normalizeH="0" baseline="0" dirty="0">
              <a:solidFill>
                <a:schemeClr val="tx1"/>
              </a:solidFill>
              <a:latin typeface="黑体" panose="02010609060101010101" pitchFamily="2" charset="-122"/>
              <a:cs typeface="+mn-cs"/>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用四次判断语句</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若有10000个输入数据，根据分数分布比例需要31500次</a:t>
            </a: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80%以上数据需要经过3次以上的比较才能得到结果</a:t>
            </a: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94212" name="Picture 5"/>
          <p:cNvPicPr>
            <a:picLocks noChangeAspect="1"/>
          </p:cNvPicPr>
          <p:nvPr/>
        </p:nvPicPr>
        <p:blipFill>
          <a:blip r:embed="rId1"/>
          <a:stretch>
            <a:fillRect/>
          </a:stretch>
        </p:blipFill>
        <p:spPr>
          <a:xfrm>
            <a:off x="5591810" y="476250"/>
            <a:ext cx="6169025" cy="1133475"/>
          </a:xfrm>
          <a:prstGeom prst="rect">
            <a:avLst/>
          </a:prstGeom>
          <a:noFill/>
          <a:ln w="9525">
            <a:noFill/>
          </a:ln>
        </p:spPr>
      </p:pic>
      <p:pic>
        <p:nvPicPr>
          <p:cNvPr id="95236" name="Picture 4"/>
          <p:cNvPicPr>
            <a:picLocks noChangeAspect="1"/>
          </p:cNvPicPr>
          <p:nvPr/>
        </p:nvPicPr>
        <p:blipFill>
          <a:blip r:embed="rId2"/>
          <a:stretch>
            <a:fillRect/>
          </a:stretch>
        </p:blipFill>
        <p:spPr>
          <a:xfrm>
            <a:off x="3719830" y="2924810"/>
            <a:ext cx="6793865" cy="2992120"/>
          </a:xfrm>
          <a:prstGeom prst="rect">
            <a:avLst/>
          </a:prstGeom>
          <a:noFill/>
          <a:ln w="9525">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1967865"/>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普通方法的执行过程是一棵二叉树</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五个等级对应五个叶子结点</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五个等级的分数比例是五个叶子的权值</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所有分数的比较总次数，实际上是二叉树的带权路径长度</a:t>
            </a:r>
            <a:r>
              <a:rPr lang="en-US" altLang="zh-CN" dirty="0">
                <a:latin typeface="黑体" panose="02010609060101010101" pitchFamily="2" charset="-122"/>
                <a:ea typeface="黑体" panose="02010609060101010101" pitchFamily="2" charset="-122"/>
                <a:cs typeface="+mn-ea"/>
                <a:sym typeface="+mn-ea"/>
              </a:rPr>
              <a:t>WPL</a:t>
            </a: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94212" name="Picture 5"/>
          <p:cNvPicPr>
            <a:picLocks noChangeAspect="1"/>
          </p:cNvPicPr>
          <p:nvPr/>
        </p:nvPicPr>
        <p:blipFill>
          <a:blip r:embed="rId1"/>
          <a:stretch>
            <a:fillRect/>
          </a:stretch>
        </p:blipFill>
        <p:spPr>
          <a:xfrm>
            <a:off x="6772275" y="443865"/>
            <a:ext cx="5012055" cy="920750"/>
          </a:xfrm>
          <a:prstGeom prst="rect">
            <a:avLst/>
          </a:prstGeom>
          <a:noFill/>
          <a:ln w="9525">
            <a:noFill/>
          </a:ln>
        </p:spPr>
      </p:pic>
      <p:pic>
        <p:nvPicPr>
          <p:cNvPr id="95236" name="Picture 4"/>
          <p:cNvPicPr>
            <a:picLocks noChangeAspect="1"/>
          </p:cNvPicPr>
          <p:nvPr/>
        </p:nvPicPr>
        <p:blipFill>
          <a:blip r:embed="rId2"/>
          <a:stretch>
            <a:fillRect/>
          </a:stretch>
        </p:blipFill>
        <p:spPr>
          <a:xfrm>
            <a:off x="3215640" y="2996565"/>
            <a:ext cx="6379210" cy="2809240"/>
          </a:xfrm>
          <a:prstGeom prst="rect">
            <a:avLst/>
          </a:prstGeom>
          <a:noFill/>
          <a:ln w="9525">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百分制转五级制的赫夫曼方法</a:t>
            </a:r>
            <a:endParaRPr kumimoji="0" lang="zh-CN" altLang="en-US" sz="2800" b="0" i="0" u="none" strike="noStrike" kern="0" cap="none" spc="0" normalizeH="0" baseline="0" dirty="0">
              <a:solidFill>
                <a:schemeClr val="tx1"/>
              </a:solidFill>
              <a:latin typeface="黑体" panose="02010609060101010101" pitchFamily="2" charset="-122"/>
              <a:cs typeface="+mn-cs"/>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五个等级对应五个叶子结点</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五个等级的分数比例是五个叶子的权值</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把高权值结点放在路径短的地方，离根越近</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把低权值结点放在路径长的地方，离根越远</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用上述方法来构造二叉树</a:t>
            </a: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94212" name="Picture 5"/>
          <p:cNvPicPr>
            <a:picLocks noChangeAspect="1"/>
          </p:cNvPicPr>
          <p:nvPr/>
        </p:nvPicPr>
        <p:blipFill>
          <a:blip r:embed="rId1"/>
          <a:stretch>
            <a:fillRect/>
          </a:stretch>
        </p:blipFill>
        <p:spPr>
          <a:xfrm>
            <a:off x="6285865" y="603885"/>
            <a:ext cx="5474970" cy="1005840"/>
          </a:xfrm>
          <a:prstGeom prst="rect">
            <a:avLst/>
          </a:prstGeom>
          <a:noFill/>
          <a:ln w="9525">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百分制转五级制的赫夫曼方法</a:t>
            </a:r>
            <a:endParaRPr kumimoji="0" lang="zh-CN" altLang="en-US" sz="2800" b="0" i="0" u="none" strike="noStrike" kern="0" cap="none" spc="0" normalizeH="0" baseline="0" dirty="0">
              <a:solidFill>
                <a:schemeClr val="tx1"/>
              </a:solidFill>
              <a:latin typeface="黑体" panose="02010609060101010101" pitchFamily="2" charset="-122"/>
              <a:cs typeface="+mn-cs"/>
            </a:endParaRPr>
          </a:p>
          <a:p>
            <a:pPr marR="0" lvl="1" algn="l" defTabSz="1219200" rtl="0" eaLnBrk="1" fontAlgn="base" latinLnBrk="0" hangingPunct="1">
              <a:lnSpc>
                <a:spcPct val="100000"/>
              </a:lnSpc>
              <a:spcBef>
                <a:spcPct val="20000"/>
              </a:spcBef>
              <a:buClrTx/>
              <a:buSzTx/>
              <a:buChar char="•"/>
            </a:pPr>
            <a:r>
              <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rPr>
              <a:t>先比较高比例的分数</a:t>
            </a: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rPr>
              <a:t>程序调整如下二叉树</a:t>
            </a: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96260" name="Picture 5"/>
          <p:cNvPicPr>
            <a:picLocks noChangeAspect="1"/>
          </p:cNvPicPr>
          <p:nvPr/>
        </p:nvPicPr>
        <p:blipFill>
          <a:blip r:embed="rId1"/>
          <a:stretch>
            <a:fillRect/>
          </a:stretch>
        </p:blipFill>
        <p:spPr>
          <a:xfrm>
            <a:off x="6167755" y="908685"/>
            <a:ext cx="5456555" cy="4873625"/>
          </a:xfrm>
          <a:prstGeom prst="rect">
            <a:avLst/>
          </a:prstGeom>
          <a:noFill/>
          <a:ln w="9525">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百分制转五级制的赫夫曼方法</a:t>
            </a:r>
            <a:endParaRPr kumimoji="0" lang="zh-CN" altLang="en-US" sz="2800" b="0" i="0" u="none" strike="noStrike" kern="0" cap="none" spc="0" normalizeH="0" baseline="0" dirty="0">
              <a:solidFill>
                <a:schemeClr val="tx1"/>
              </a:solidFill>
              <a:latin typeface="黑体" panose="02010609060101010101" pitchFamily="2" charset="-122"/>
              <a:cs typeface="+mn-cs"/>
            </a:endParaRPr>
          </a:p>
          <a:p>
            <a:pPr marR="0" lvl="1" algn="l" defTabSz="1219200" rtl="0" eaLnBrk="1" fontAlgn="base" latinLnBrk="0" hangingPunct="1">
              <a:lnSpc>
                <a:spcPct val="100000"/>
              </a:lnSpc>
              <a:spcBef>
                <a:spcPct val="20000"/>
              </a:spcBef>
              <a:buClrTx/>
              <a:buSzTx/>
              <a:buChar char="•"/>
            </a:pPr>
            <a:r>
              <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rPr>
              <a:t>调整后的每个结点包含两次比较</a:t>
            </a: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rPr>
              <a:t>要进一步优化，得到如下结构</a:t>
            </a: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rPr>
              <a:t>按该二叉树结构，</a:t>
            </a:r>
            <a:r>
              <a:rPr kumimoji="0" lang="en-US" altLang="zh-CN"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rPr>
              <a:t>10000</a:t>
            </a:r>
            <a:r>
              <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rPr>
              <a:t>个输入数据的比较次数为</a:t>
            </a:r>
            <a:r>
              <a:rPr kumimoji="0" lang="en-US" altLang="zh-CN"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rPr>
              <a:t>22000</a:t>
            </a:r>
            <a:r>
              <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rPr>
              <a:t>次</a:t>
            </a: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94212" name="Picture 5"/>
          <p:cNvPicPr>
            <a:picLocks noChangeAspect="1"/>
          </p:cNvPicPr>
          <p:nvPr/>
        </p:nvPicPr>
        <p:blipFill>
          <a:blip r:embed="rId1"/>
          <a:stretch>
            <a:fillRect/>
          </a:stretch>
        </p:blipFill>
        <p:spPr>
          <a:xfrm>
            <a:off x="6240145" y="620395"/>
            <a:ext cx="5474970" cy="1005840"/>
          </a:xfrm>
          <a:prstGeom prst="rect">
            <a:avLst/>
          </a:prstGeom>
          <a:noFill/>
          <a:ln w="9525">
            <a:noFill/>
          </a:ln>
        </p:spPr>
      </p:pic>
      <p:pic>
        <p:nvPicPr>
          <p:cNvPr id="6" name="图片 5"/>
          <p:cNvPicPr>
            <a:picLocks noChangeAspect="1"/>
          </p:cNvPicPr>
          <p:nvPr/>
        </p:nvPicPr>
        <p:blipFill>
          <a:blip r:embed="rId2"/>
          <a:stretch>
            <a:fillRect/>
          </a:stretch>
        </p:blipFill>
        <p:spPr>
          <a:xfrm>
            <a:off x="5015865" y="3429000"/>
            <a:ext cx="6142355" cy="2306320"/>
          </a:xfrm>
          <a:prstGeom prst="rect">
            <a:avLst/>
          </a:prstGeom>
        </p:spPr>
      </p:pic>
      <p:graphicFrame>
        <p:nvGraphicFramePr>
          <p:cNvPr id="7" name="对象 6"/>
          <p:cNvGraphicFramePr/>
          <p:nvPr/>
        </p:nvGraphicFramePr>
        <p:xfrm>
          <a:off x="839470" y="3098165"/>
          <a:ext cx="3340100" cy="2967990"/>
        </p:xfrm>
        <a:graphic>
          <a:graphicData uri="http://schemas.openxmlformats.org/presentationml/2006/ole">
            <mc:AlternateContent xmlns:mc="http://schemas.openxmlformats.org/markup-compatibility/2006">
              <mc:Choice xmlns:v="urn:schemas-microsoft-com:vml" Requires="v">
                <p:oleObj spid="_x0000_s8" name="" r:id="rId3" imgW="2781300" imgH="2533650" progId="Paint.Picture">
                  <p:embed/>
                </p:oleObj>
              </mc:Choice>
              <mc:Fallback>
                <p:oleObj name="" r:id="rId3" imgW="2781300" imgH="2533650" progId="Paint.Picture">
                  <p:embed/>
                  <p:pic>
                    <p:nvPicPr>
                      <p:cNvPr id="0" name="图片 7"/>
                      <p:cNvPicPr/>
                      <p:nvPr/>
                    </p:nvPicPr>
                    <p:blipFill>
                      <a:blip r:embed="rId4"/>
                      <a:stretch>
                        <a:fillRect/>
                      </a:stretch>
                    </p:blipFill>
                    <p:spPr>
                      <a:xfrm>
                        <a:off x="839470" y="3098165"/>
                        <a:ext cx="3340100" cy="2967990"/>
                      </a:xfrm>
                      <a:prstGeom prst="rect">
                        <a:avLst/>
                      </a:prstGeom>
                    </p:spPr>
                  </p:pic>
                </p:oleObj>
              </mc:Fallback>
            </mc:AlternateContent>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从上述例子可以看出问题演化为：</a:t>
            </a:r>
            <a:endParaRPr lang="zh-CN" altLang="en-US" sz="2800" dirty="0">
              <a:latin typeface="黑体" panose="02010609060101010101" pitchFamily="2" charset="-122"/>
              <a:cs typeface="+mn-cs"/>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r>
              <a:rPr lang="zh-CN" altLang="en-US" sz="2800" dirty="0">
                <a:latin typeface="黑体" panose="02010609060101010101" pitchFamily="2" charset="-122"/>
                <a:cs typeface="+mn-cs"/>
                <a:sym typeface="+mn-ea"/>
              </a:rPr>
              <a:t>已知一个叶子结点集合，叶子权值分别为</a:t>
            </a:r>
            <a:r>
              <a:rPr lang="en-US" altLang="zh-CN" sz="2800" noProof="0" smtClean="0">
                <a:ln>
                  <a:noFill/>
                </a:ln>
                <a:effectLst/>
                <a:uLnTx/>
                <a:uFillTx/>
                <a:latin typeface="黑体" panose="02010609060101010101" pitchFamily="2" charset="-122"/>
                <a:ea typeface="黑体" panose="02010609060101010101" pitchFamily="2" charset="-122"/>
                <a:cs typeface="+mn-ea"/>
                <a:sym typeface="+mn-ea"/>
              </a:rPr>
              <a:t>5</a:t>
            </a:r>
            <a:r>
              <a:rPr lang="zh-CN" altLang="en-US" sz="2800" noProof="0" smtClean="0">
                <a:ln>
                  <a:noFill/>
                </a:ln>
                <a:effectLst/>
                <a:uLnTx/>
                <a:uFillTx/>
                <a:latin typeface="黑体" panose="02010609060101010101" pitchFamily="2" charset="-122"/>
                <a:ea typeface="黑体" panose="02010609060101010101" pitchFamily="2" charset="-122"/>
                <a:cs typeface="+mn-ea"/>
                <a:sym typeface="+mn-ea"/>
              </a:rPr>
              <a:t>、</a:t>
            </a:r>
            <a:r>
              <a:rPr lang="en-US" altLang="zh-CN" sz="2800" noProof="0" smtClean="0">
                <a:ln>
                  <a:noFill/>
                </a:ln>
                <a:effectLst/>
                <a:uLnTx/>
                <a:uFillTx/>
                <a:latin typeface="黑体" panose="02010609060101010101" pitchFamily="2" charset="-122"/>
                <a:ea typeface="黑体" panose="02010609060101010101" pitchFamily="2" charset="-122"/>
                <a:cs typeface="+mn-ea"/>
                <a:sym typeface="+mn-ea"/>
              </a:rPr>
              <a:t>15</a:t>
            </a:r>
            <a:r>
              <a:rPr lang="zh-CN" altLang="en-US" sz="2800" noProof="0" smtClean="0">
                <a:ln>
                  <a:noFill/>
                </a:ln>
                <a:effectLst/>
                <a:uLnTx/>
                <a:uFillTx/>
                <a:latin typeface="黑体" panose="02010609060101010101" pitchFamily="2" charset="-122"/>
                <a:ea typeface="黑体" panose="02010609060101010101" pitchFamily="2" charset="-122"/>
                <a:cs typeface="+mn-ea"/>
                <a:sym typeface="+mn-ea"/>
              </a:rPr>
              <a:t>、</a:t>
            </a:r>
            <a:r>
              <a:rPr lang="en-US" altLang="zh-CN" sz="2800" noProof="0" smtClean="0">
                <a:ln>
                  <a:noFill/>
                </a:ln>
                <a:effectLst/>
                <a:uLnTx/>
                <a:uFillTx/>
                <a:latin typeface="黑体" panose="02010609060101010101" pitchFamily="2" charset="-122"/>
                <a:ea typeface="黑体" panose="02010609060101010101" pitchFamily="2" charset="-122"/>
                <a:cs typeface="+mn-ea"/>
                <a:sym typeface="+mn-ea"/>
              </a:rPr>
              <a:t>40</a:t>
            </a:r>
            <a:r>
              <a:rPr lang="zh-CN" altLang="en-US" sz="2800" noProof="0" smtClean="0">
                <a:ln>
                  <a:noFill/>
                </a:ln>
                <a:effectLst/>
                <a:uLnTx/>
                <a:uFillTx/>
                <a:latin typeface="黑体" panose="02010609060101010101" pitchFamily="2" charset="-122"/>
                <a:ea typeface="黑体" panose="02010609060101010101" pitchFamily="2" charset="-122"/>
                <a:cs typeface="+mn-ea"/>
                <a:sym typeface="+mn-ea"/>
              </a:rPr>
              <a:t>、</a:t>
            </a:r>
            <a:r>
              <a:rPr lang="en-US" altLang="zh-CN" sz="2800" noProof="0" smtClean="0">
                <a:ln>
                  <a:noFill/>
                </a:ln>
                <a:effectLst/>
                <a:uLnTx/>
                <a:uFillTx/>
                <a:latin typeface="黑体" panose="02010609060101010101" pitchFamily="2" charset="-122"/>
                <a:ea typeface="黑体" panose="02010609060101010101" pitchFamily="2" charset="-122"/>
                <a:cs typeface="+mn-ea"/>
                <a:sym typeface="+mn-ea"/>
              </a:rPr>
              <a:t>30</a:t>
            </a:r>
            <a:r>
              <a:rPr lang="zh-CN" altLang="en-US" sz="2800" noProof="0" smtClean="0">
                <a:ln>
                  <a:noFill/>
                </a:ln>
                <a:effectLst/>
                <a:uLnTx/>
                <a:uFillTx/>
                <a:latin typeface="黑体" panose="02010609060101010101" pitchFamily="2" charset="-122"/>
                <a:ea typeface="黑体" panose="02010609060101010101" pitchFamily="2" charset="-122"/>
                <a:cs typeface="+mn-ea"/>
                <a:sym typeface="+mn-ea"/>
              </a:rPr>
              <a:t>、</a:t>
            </a:r>
            <a:r>
              <a:rPr lang="en-US" altLang="zh-CN" sz="2800" noProof="0" smtClean="0">
                <a:ln>
                  <a:noFill/>
                </a:ln>
                <a:effectLst/>
                <a:uLnTx/>
                <a:uFillTx/>
                <a:latin typeface="黑体" panose="02010609060101010101" pitchFamily="2" charset="-122"/>
                <a:ea typeface="黑体" panose="02010609060101010101" pitchFamily="2" charset="-122"/>
                <a:cs typeface="+mn-ea"/>
                <a:sym typeface="+mn-ea"/>
              </a:rPr>
              <a:t>10</a:t>
            </a:r>
            <a:r>
              <a:rPr lang="zh-CN" altLang="en-US" sz="2800" noProof="0" smtClean="0">
                <a:ln>
                  <a:noFill/>
                </a:ln>
                <a:effectLst/>
                <a:uLnTx/>
                <a:uFillTx/>
                <a:latin typeface="黑体" panose="02010609060101010101" pitchFamily="2" charset="-122"/>
                <a:ea typeface="黑体" panose="02010609060101010101" pitchFamily="2" charset="-122"/>
                <a:cs typeface="+mn-ea"/>
                <a:sym typeface="+mn-ea"/>
              </a:rPr>
              <a:t>，构造一棵带权路径长度最小的二叉树</a:t>
            </a:r>
            <a:endParaRPr lang="zh-CN" altLang="en-US" sz="2800" noProof="0" smtClean="0">
              <a:ln>
                <a:noFill/>
              </a:ln>
              <a:effectLst/>
              <a:uLnTx/>
              <a:uFillTx/>
              <a:latin typeface="黑体" panose="02010609060101010101" pitchFamily="2" charset="-122"/>
              <a:ea typeface="黑体" panose="02010609060101010101" pitchFamily="2" charset="-122"/>
              <a:cs typeface="+mn-ea"/>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r>
              <a:rPr lang="zh-CN" altLang="en-US" sz="2800" noProof="0" smtClean="0">
                <a:ln>
                  <a:noFill/>
                </a:ln>
                <a:effectLst/>
                <a:uLnTx/>
                <a:uFillTx/>
                <a:latin typeface="黑体" panose="02010609060101010101" pitchFamily="2" charset="-122"/>
                <a:ea typeface="黑体" panose="02010609060101010101" pitchFamily="2" charset="-122"/>
                <a:cs typeface="+mn-ea"/>
                <a:sym typeface="+mn-ea"/>
              </a:rPr>
              <a:t>即构建对应的一棵赫夫曼树</a:t>
            </a:r>
            <a:endParaRPr lang="zh-CN" altLang="en-US" sz="2800" noProof="0" smtClean="0">
              <a:ln>
                <a:noFill/>
              </a:ln>
              <a:effectLst/>
              <a:uLnTx/>
              <a:uFillTx/>
              <a:latin typeface="黑体" panose="02010609060101010101" pitchFamily="2" charset="-122"/>
              <a:ea typeface="黑体" panose="02010609060101010101" pitchFamily="2" charset="-122"/>
              <a:cs typeface="+mn-ea"/>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lang="zh-CN" altLang="en-US" sz="2800" noProof="0" dirty="0" smtClean="0">
              <a:ln>
                <a:noFill/>
              </a:ln>
              <a:effectLst/>
              <a:uLnTx/>
              <a:uFillTx/>
              <a:latin typeface="黑体" panose="02010609060101010101" pitchFamily="2" charset="-122"/>
              <a:ea typeface="黑体" panose="02010609060101010101" pitchFamily="2" charset="-122"/>
              <a:cs typeface="+mn-ea"/>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r>
              <a:rPr lang="zh-CN" altLang="en-US" sz="2800" noProof="0" smtClean="0">
                <a:ln>
                  <a:noFill/>
                </a:ln>
                <a:effectLst/>
                <a:uLnTx/>
                <a:uFillTx/>
                <a:latin typeface="黑体" panose="02010609060101010101" pitchFamily="2" charset="-122"/>
                <a:ea typeface="黑体" panose="02010609060101010101" pitchFamily="2" charset="-122"/>
                <a:cs typeface="+mn-ea"/>
                <a:sym typeface="+mn-ea"/>
              </a:rPr>
              <a:t>问题结果对应叶子结点</a:t>
            </a:r>
            <a:endParaRPr lang="zh-CN" altLang="en-US" sz="2800" noProof="0" smtClean="0">
              <a:ln>
                <a:noFill/>
              </a:ln>
              <a:effectLst/>
              <a:uLnTx/>
              <a:uFillTx/>
              <a:latin typeface="黑体" panose="02010609060101010101" pitchFamily="2" charset="-122"/>
              <a:ea typeface="黑体" panose="02010609060101010101" pitchFamily="2" charset="-122"/>
              <a:cs typeface="+mn-ea"/>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r>
              <a:rPr lang="zh-CN" altLang="en-US" sz="2800" noProof="0" smtClean="0">
                <a:ln>
                  <a:noFill/>
                </a:ln>
                <a:effectLst/>
                <a:uLnTx/>
                <a:uFillTx/>
                <a:latin typeface="黑体" panose="02010609060101010101" pitchFamily="2" charset="-122"/>
                <a:ea typeface="黑体" panose="02010609060101010101" pitchFamily="2" charset="-122"/>
                <a:cs typeface="+mn-ea"/>
                <a:sym typeface="+mn-ea"/>
              </a:rPr>
              <a:t>结果发生的概率比例对应叶子权重</a:t>
            </a:r>
            <a:endParaRPr lang="zh-CN" altLang="en-US" sz="2800" noProof="0" smtClean="0">
              <a:ln>
                <a:noFill/>
              </a:ln>
              <a:effectLst/>
              <a:uLnTx/>
              <a:uFillTx/>
              <a:latin typeface="黑体" panose="02010609060101010101" pitchFamily="2" charset="-122"/>
              <a:ea typeface="黑体" panose="02010609060101010101" pitchFamily="2" charset="-122"/>
              <a:cs typeface="+mn-ea"/>
              <a:sym typeface="+mn-ea"/>
            </a:endParaRPr>
          </a:p>
          <a:p>
            <a:pPr marL="0" marR="0" lvl="1" algn="l" defTabSz="1219200" rtl="0" eaLnBrk="1" fontAlgn="base" latinLnBrk="0" hangingPunct="1">
              <a:lnSpc>
                <a:spcPct val="100000"/>
              </a:lnSpc>
              <a:spcBef>
                <a:spcPct val="20000"/>
              </a:spcBef>
              <a:buClrTx/>
              <a:buSzTx/>
              <a:buFont typeface="Wingdings" panose="05000000000000000000" charset="0"/>
              <a:buNone/>
            </a:pPr>
            <a:r>
              <a:rPr lang="zh-CN" altLang="en-US" sz="2800" noProof="0" smtClean="0">
                <a:ln>
                  <a:noFill/>
                </a:ln>
                <a:effectLst/>
                <a:uLnTx/>
                <a:uFillTx/>
                <a:latin typeface="黑体" panose="02010609060101010101" pitchFamily="2" charset="-122"/>
                <a:ea typeface="黑体" panose="02010609060101010101" pitchFamily="2" charset="-122"/>
                <a:cs typeface="+mn-ea"/>
                <a:sym typeface="+mn-ea"/>
              </a:rPr>
              <a:t>目标是问题求解的比较次数最小，即带权路径长度最小</a:t>
            </a:r>
            <a:endParaRPr lang="zh-CN" altLang="en-US" sz="2800"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Picture 5"/>
          <p:cNvPicPr>
            <a:picLocks noChangeAspect="1"/>
          </p:cNvPicPr>
          <p:nvPr/>
        </p:nvPicPr>
        <p:blipFill>
          <a:blip r:embed="rId1"/>
          <a:stretch>
            <a:fillRect/>
          </a:stretch>
        </p:blipFill>
        <p:spPr>
          <a:xfrm>
            <a:off x="5880100" y="2926080"/>
            <a:ext cx="5474970" cy="1005840"/>
          </a:xfrm>
          <a:prstGeom prst="rect">
            <a:avLst/>
          </a:prstGeom>
          <a:noFill/>
          <a:ln w="9525">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赫夫曼树的构造方法</a:t>
            </a:r>
            <a:endParaRPr kumimoji="0" lang="zh-CN" altLang="en-US" sz="2800" i="0" u="none" strike="noStrike" kern="0" cap="none" spc="0" normalizeH="0" baseline="0" dirty="0">
              <a:solidFill>
                <a:schemeClr val="tx1"/>
              </a:solidFill>
              <a:latin typeface="黑体" panose="02010609060101010101" pitchFamily="2" charset="-122"/>
              <a:ea typeface="+mn-ea"/>
              <a:cs typeface="+mn-cs"/>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设计思路：在Huffman树中，权值最大的结点离根最近，权值最小的结点离根最远</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L="1066800" marR="0" lvl="1" indent="-457200" algn="l" defTabSz="1219200" rtl="0" eaLnBrk="1" fontAlgn="base" latinLnBrk="0" hangingPunct="1">
              <a:lnSpc>
                <a:spcPct val="100000"/>
              </a:lnSpc>
              <a:spcBef>
                <a:spcPct val="20000"/>
              </a:spcBef>
              <a:buClrTx/>
              <a:buSzTx/>
              <a:buFont typeface="Segoe Print" panose="02000600000000000000" charset="0"/>
              <a:buAutoNum type="circleNumDbPlain"/>
            </a:pPr>
            <a:r>
              <a:rPr lang="zh-CN" altLang="en-US" sz="2400" dirty="0">
                <a:latin typeface="黑体" panose="02010609060101010101" pitchFamily="2" charset="-122"/>
                <a:ea typeface="黑体" panose="02010609060101010101" pitchFamily="2" charset="-122"/>
                <a:cs typeface="+mn-ea"/>
                <a:sym typeface="+mn-ea"/>
              </a:rPr>
              <a:t>根据给定的n个权值(w1, w2, …, wn)构成n棵二叉树的集合F={T1, T2, …, Tn}，其中每棵二叉树Ti中只有一个带树为Ti的根结点</a:t>
            </a:r>
            <a:endParaRPr lang="zh-CN" altLang="en-US" sz="2400" dirty="0">
              <a:latin typeface="黑体" panose="02010609060101010101" pitchFamily="2" charset="-122"/>
              <a:ea typeface="黑体" panose="02010609060101010101" pitchFamily="2" charset="-122"/>
              <a:cs typeface="+mn-ea"/>
              <a:sym typeface="+mn-ea"/>
            </a:endParaRPr>
          </a:p>
          <a:p>
            <a:pPr marL="1066800" marR="0" lvl="1" indent="-457200" algn="l" defTabSz="1219200" rtl="0" eaLnBrk="1" fontAlgn="base" latinLnBrk="0" hangingPunct="1">
              <a:lnSpc>
                <a:spcPct val="100000"/>
              </a:lnSpc>
              <a:spcBef>
                <a:spcPct val="20000"/>
              </a:spcBef>
              <a:buClrTx/>
              <a:buSzTx/>
              <a:buFont typeface="Segoe Print" panose="02000600000000000000" charset="0"/>
              <a:buAutoNum type="circleNumDbPlain"/>
            </a:pPr>
            <a:r>
              <a:rPr lang="zh-CN" altLang="en-US" sz="2400" dirty="0">
                <a:latin typeface="黑体" panose="02010609060101010101" pitchFamily="2" charset="-122"/>
                <a:ea typeface="黑体" panose="02010609060101010101" pitchFamily="2" charset="-122"/>
                <a:cs typeface="+mn-ea"/>
                <a:sym typeface="+mn-ea"/>
              </a:rPr>
              <a:t>在F中选取两棵根结点的权值最小的树作为左右子树构造一棵新的二叉树，且置其根结点的权值为其左右子树权值之和</a:t>
            </a:r>
            <a:endParaRPr lang="zh-CN" altLang="en-US" sz="2400" dirty="0">
              <a:latin typeface="黑体" panose="02010609060101010101" pitchFamily="2" charset="-122"/>
              <a:ea typeface="黑体" panose="02010609060101010101" pitchFamily="2" charset="-122"/>
              <a:cs typeface="+mn-ea"/>
              <a:sym typeface="+mn-ea"/>
            </a:endParaRPr>
          </a:p>
          <a:p>
            <a:pPr marL="1066800" marR="0" lvl="1" indent="-457200" algn="l" defTabSz="1219200" rtl="0" eaLnBrk="1" fontAlgn="base" latinLnBrk="0" hangingPunct="1">
              <a:lnSpc>
                <a:spcPct val="100000"/>
              </a:lnSpc>
              <a:spcBef>
                <a:spcPct val="20000"/>
              </a:spcBef>
              <a:buClrTx/>
              <a:buSzTx/>
              <a:buFont typeface="Segoe Print" panose="02000600000000000000" charset="0"/>
              <a:buAutoNum type="circleNumDbPlain"/>
            </a:pPr>
            <a:r>
              <a:rPr lang="zh-CN" altLang="en-US" sz="2400" dirty="0">
                <a:latin typeface="黑体" panose="02010609060101010101" pitchFamily="2" charset="-122"/>
                <a:ea typeface="黑体" panose="02010609060101010101" pitchFamily="2" charset="-122"/>
                <a:cs typeface="+mn-ea"/>
                <a:sym typeface="+mn-ea"/>
              </a:rPr>
              <a:t>在F中删除这两棵树，同时将新得到的二叉树加入F中</a:t>
            </a:r>
            <a:endParaRPr lang="zh-CN" altLang="en-US" sz="2400" dirty="0">
              <a:latin typeface="黑体" panose="02010609060101010101" pitchFamily="2" charset="-122"/>
              <a:ea typeface="黑体" panose="02010609060101010101" pitchFamily="2" charset="-122"/>
              <a:cs typeface="+mn-ea"/>
              <a:sym typeface="+mn-ea"/>
            </a:endParaRPr>
          </a:p>
          <a:p>
            <a:pPr marL="1066800" marR="0" lvl="1" indent="-457200" algn="l" defTabSz="1219200" rtl="0" eaLnBrk="1" fontAlgn="base" latinLnBrk="0" hangingPunct="1">
              <a:lnSpc>
                <a:spcPct val="100000"/>
              </a:lnSpc>
              <a:spcBef>
                <a:spcPct val="20000"/>
              </a:spcBef>
              <a:buClrTx/>
              <a:buSzTx/>
              <a:buFont typeface="Segoe Print" panose="02000600000000000000" charset="0"/>
              <a:buAutoNum type="circleNumDbPlain"/>
            </a:pPr>
            <a:r>
              <a:rPr lang="zh-CN" altLang="en-US" sz="2400" dirty="0">
                <a:latin typeface="黑体" panose="02010609060101010101" pitchFamily="2" charset="-122"/>
                <a:ea typeface="黑体" panose="02010609060101010101" pitchFamily="2" charset="-122"/>
                <a:cs typeface="+mn-ea"/>
                <a:sym typeface="+mn-ea"/>
              </a:rPr>
              <a:t>重复步骤2和3，直到F只含一棵树为止</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赫夫曼树的构造示例</a:t>
            </a:r>
            <a:endParaRPr kumimoji="0" lang="zh-CN" altLang="en-US" sz="2800" i="0" u="none" strike="noStrike" kern="0" cap="none" spc="0" normalizeH="0" baseline="0" dirty="0">
              <a:solidFill>
                <a:schemeClr val="tx1"/>
              </a:solidFill>
              <a:latin typeface="黑体" panose="02010609060101010101" pitchFamily="2" charset="-122"/>
              <a:ea typeface="+mn-ea"/>
              <a:cs typeface="+mn-cs"/>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00356" name="Group 4"/>
          <p:cNvGrpSpPr/>
          <p:nvPr/>
        </p:nvGrpSpPr>
        <p:grpSpPr>
          <a:xfrm>
            <a:off x="2186305" y="1712278"/>
            <a:ext cx="7677150" cy="4212363"/>
            <a:chOff x="775" y="1686"/>
            <a:chExt cx="4118" cy="2510"/>
          </a:xfrm>
        </p:grpSpPr>
        <p:sp>
          <p:nvSpPr>
            <p:cNvPr id="100357" name="Text Box 5"/>
            <p:cNvSpPr txBox="1"/>
            <p:nvPr/>
          </p:nvSpPr>
          <p:spPr>
            <a:xfrm>
              <a:off x="879" y="1686"/>
              <a:ext cx="1286"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F : {7} {5} {2} {4}</a:t>
              </a:r>
              <a:endParaRPr lang="en-US" altLang="zh-CN" sz="2000" dirty="0">
                <a:latin typeface="Times New Roman" panose="02020603050405020304" pitchFamily="18" charset="0"/>
                <a:ea typeface="宋体" panose="02010600030101010101" pitchFamily="2" charset="-122"/>
              </a:endParaRPr>
            </a:p>
          </p:txBody>
        </p:sp>
        <p:sp>
          <p:nvSpPr>
            <p:cNvPr id="100358" name="Text Box 6"/>
            <p:cNvSpPr txBox="1"/>
            <p:nvPr/>
          </p:nvSpPr>
          <p:spPr>
            <a:xfrm>
              <a:off x="3128" y="1686"/>
              <a:ext cx="1039"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F : {7} {5} {6}</a:t>
              </a:r>
              <a:endParaRPr lang="en-US" altLang="zh-CN" sz="2000" dirty="0">
                <a:latin typeface="Times New Roman" panose="02020603050405020304" pitchFamily="18" charset="0"/>
                <a:ea typeface="宋体" panose="02010600030101010101" pitchFamily="2" charset="-122"/>
              </a:endParaRPr>
            </a:p>
          </p:txBody>
        </p:sp>
        <p:sp>
          <p:nvSpPr>
            <p:cNvPr id="100359" name="Text Box 7"/>
            <p:cNvSpPr txBox="1"/>
            <p:nvPr/>
          </p:nvSpPr>
          <p:spPr>
            <a:xfrm>
              <a:off x="775" y="2716"/>
              <a:ext cx="904"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F : {7} {11} </a:t>
              </a:r>
              <a:endParaRPr lang="en-US" altLang="zh-CN" sz="2000" dirty="0">
                <a:latin typeface="Times New Roman" panose="02020603050405020304" pitchFamily="18" charset="0"/>
                <a:ea typeface="宋体" panose="02010600030101010101" pitchFamily="2" charset="-122"/>
              </a:endParaRPr>
            </a:p>
          </p:txBody>
        </p:sp>
        <p:sp>
          <p:nvSpPr>
            <p:cNvPr id="829448" name="Rectangle 8"/>
            <p:cNvSpPr>
              <a:spLocks noChangeArrowheads="1"/>
            </p:cNvSpPr>
            <p:nvPr/>
          </p:nvSpPr>
          <p:spPr bwMode="auto">
            <a:xfrm>
              <a:off x="869" y="2118"/>
              <a:ext cx="236" cy="178"/>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49" name="Rectangle 9"/>
            <p:cNvSpPr>
              <a:spLocks noChangeArrowheads="1"/>
            </p:cNvSpPr>
            <p:nvPr/>
          </p:nvSpPr>
          <p:spPr bwMode="auto">
            <a:xfrm>
              <a:off x="1247" y="2118"/>
              <a:ext cx="237" cy="178"/>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50" name="Rectangle 10"/>
            <p:cNvSpPr>
              <a:spLocks noChangeArrowheads="1"/>
            </p:cNvSpPr>
            <p:nvPr/>
          </p:nvSpPr>
          <p:spPr bwMode="auto">
            <a:xfrm>
              <a:off x="1626" y="2118"/>
              <a:ext cx="237" cy="178"/>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51" name="Rectangle 11"/>
            <p:cNvSpPr>
              <a:spLocks noChangeArrowheads="1"/>
            </p:cNvSpPr>
            <p:nvPr/>
          </p:nvSpPr>
          <p:spPr bwMode="auto">
            <a:xfrm>
              <a:off x="2005" y="2118"/>
              <a:ext cx="237" cy="178"/>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0364" name="Text Box 12"/>
            <p:cNvSpPr txBox="1"/>
            <p:nvPr/>
          </p:nvSpPr>
          <p:spPr>
            <a:xfrm>
              <a:off x="884" y="2089"/>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7</a:t>
              </a:r>
              <a:endParaRPr lang="en-US" altLang="zh-CN" sz="2000" dirty="0">
                <a:latin typeface="Times New Roman" panose="02020603050405020304" pitchFamily="18" charset="0"/>
                <a:ea typeface="宋体" panose="02010600030101010101" pitchFamily="2" charset="-122"/>
              </a:endParaRPr>
            </a:p>
          </p:txBody>
        </p:sp>
        <p:sp>
          <p:nvSpPr>
            <p:cNvPr id="100365" name="Text Box 13"/>
            <p:cNvSpPr txBox="1"/>
            <p:nvPr/>
          </p:nvSpPr>
          <p:spPr>
            <a:xfrm>
              <a:off x="1273" y="2084"/>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5</a:t>
              </a:r>
              <a:endParaRPr lang="en-US" altLang="zh-CN" sz="2000" dirty="0">
                <a:latin typeface="Times New Roman" panose="02020603050405020304" pitchFamily="18" charset="0"/>
                <a:ea typeface="宋体" panose="02010600030101010101" pitchFamily="2" charset="-122"/>
              </a:endParaRPr>
            </a:p>
          </p:txBody>
        </p:sp>
        <p:sp>
          <p:nvSpPr>
            <p:cNvPr id="100366" name="Text Box 14"/>
            <p:cNvSpPr txBox="1"/>
            <p:nvPr/>
          </p:nvSpPr>
          <p:spPr>
            <a:xfrm>
              <a:off x="1651" y="2084"/>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p:txBody>
        </p:sp>
        <p:sp>
          <p:nvSpPr>
            <p:cNvPr id="100367" name="Text Box 15"/>
            <p:cNvSpPr txBox="1"/>
            <p:nvPr/>
          </p:nvSpPr>
          <p:spPr>
            <a:xfrm>
              <a:off x="2031" y="2084"/>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p:txBody>
        </p:sp>
        <p:sp>
          <p:nvSpPr>
            <p:cNvPr id="100368" name="Text Box 16"/>
            <p:cNvSpPr txBox="1"/>
            <p:nvPr/>
          </p:nvSpPr>
          <p:spPr>
            <a:xfrm>
              <a:off x="1384" y="2395"/>
              <a:ext cx="435" cy="238"/>
            </a:xfrm>
            <a:prstGeom prst="rect">
              <a:avLst/>
            </a:prstGeom>
            <a:noFill/>
            <a:ln w="38100">
              <a:noFill/>
            </a:ln>
          </p:spPr>
          <p:txBody>
            <a:bodyPr wrap="square" anchor="ctr" anchorCtr="0">
              <a:spAutoFit/>
            </a:bodyPr>
            <a:p>
              <a:pPr algn="ctr"/>
              <a:r>
                <a:rPr lang="zh-CN" altLang="en-US" sz="2000" dirty="0">
                  <a:latin typeface="Times New Roman" panose="02020603050405020304" pitchFamily="18" charset="0"/>
                  <a:ea typeface="隶书" panose="02010509060101010101" pitchFamily="49" charset="-122"/>
                </a:rPr>
                <a:t>初始</a:t>
              </a:r>
              <a:endParaRPr lang="zh-CN" altLang="en-US" sz="2000" dirty="0">
                <a:latin typeface="Times New Roman" panose="02020603050405020304" pitchFamily="18" charset="0"/>
                <a:ea typeface="宋体" panose="02010600030101010101" pitchFamily="2" charset="-122"/>
              </a:endParaRPr>
            </a:p>
          </p:txBody>
        </p:sp>
        <p:sp>
          <p:nvSpPr>
            <p:cNvPr id="100369" name="Text Box 17"/>
            <p:cNvSpPr txBox="1"/>
            <p:nvPr/>
          </p:nvSpPr>
          <p:spPr>
            <a:xfrm>
              <a:off x="3650" y="2537"/>
              <a:ext cx="888" cy="238"/>
            </a:xfrm>
            <a:prstGeom prst="rect">
              <a:avLst/>
            </a:prstGeom>
            <a:noFill/>
            <a:ln w="38100">
              <a:noFill/>
            </a:ln>
          </p:spPr>
          <p:txBody>
            <a:bodyPr wrap="square" anchor="ctr" anchorCtr="0">
              <a:spAutoFit/>
            </a:bodyPr>
            <a:p>
              <a:pPr algn="ctr"/>
              <a:r>
                <a:rPr lang="zh-CN" altLang="en-US" sz="2000" dirty="0">
                  <a:latin typeface="Times New Roman" panose="02020603050405020304" pitchFamily="18" charset="0"/>
                  <a:ea typeface="隶书" panose="02010509060101010101" pitchFamily="49" charset="-122"/>
                </a:rPr>
                <a:t>合并</a:t>
              </a:r>
              <a:r>
                <a:rPr lang="en-US" altLang="zh-CN" sz="2000" b="1" dirty="0">
                  <a:latin typeface="Times New Roman" panose="02020603050405020304" pitchFamily="18" charset="0"/>
                  <a:ea typeface="宋体" panose="02010600030101010101" pitchFamily="2" charset="-122"/>
                </a:rPr>
                <a:t>{2} {4}</a:t>
              </a:r>
              <a:endParaRPr lang="en-US" altLang="zh-CN" sz="2000" dirty="0">
                <a:latin typeface="Times New Roman" panose="02020603050405020304" pitchFamily="18" charset="0"/>
                <a:ea typeface="宋体" panose="02010600030101010101" pitchFamily="2" charset="-122"/>
              </a:endParaRPr>
            </a:p>
          </p:txBody>
        </p:sp>
        <p:grpSp>
          <p:nvGrpSpPr>
            <p:cNvPr id="100370" name="Group 18"/>
            <p:cNvGrpSpPr/>
            <p:nvPr/>
          </p:nvGrpSpPr>
          <p:grpSpPr>
            <a:xfrm>
              <a:off x="3520" y="1991"/>
              <a:ext cx="1326" cy="584"/>
              <a:chOff x="3456" y="1153"/>
              <a:chExt cx="1344" cy="790"/>
            </a:xfrm>
          </p:grpSpPr>
          <p:sp>
            <p:nvSpPr>
              <p:cNvPr id="100371" name="Line 19"/>
              <p:cNvSpPr/>
              <p:nvPr/>
            </p:nvSpPr>
            <p:spPr>
              <a:xfrm>
                <a:off x="4512" y="1421"/>
                <a:ext cx="144" cy="288"/>
              </a:xfrm>
              <a:prstGeom prst="line">
                <a:avLst/>
              </a:prstGeom>
              <a:ln w="28575" cap="flat" cmpd="sng">
                <a:solidFill>
                  <a:srgbClr val="009900"/>
                </a:solidFill>
                <a:prstDash val="solid"/>
                <a:round/>
                <a:headEnd type="none" w="med" len="med"/>
                <a:tailEnd type="none" w="med" len="med"/>
              </a:ln>
            </p:spPr>
          </p:sp>
          <p:sp>
            <p:nvSpPr>
              <p:cNvPr id="100372" name="Line 20"/>
              <p:cNvSpPr/>
              <p:nvPr/>
            </p:nvSpPr>
            <p:spPr>
              <a:xfrm flipH="1">
                <a:off x="4272" y="1421"/>
                <a:ext cx="144" cy="288"/>
              </a:xfrm>
              <a:prstGeom prst="line">
                <a:avLst/>
              </a:prstGeom>
              <a:ln w="28575" cap="flat" cmpd="sng">
                <a:solidFill>
                  <a:srgbClr val="009900"/>
                </a:solidFill>
                <a:prstDash val="solid"/>
                <a:round/>
                <a:headEnd type="none" w="med" len="med"/>
                <a:tailEnd type="none" w="med" len="med"/>
              </a:ln>
            </p:spPr>
          </p:sp>
          <p:sp>
            <p:nvSpPr>
              <p:cNvPr id="829461" name="Rectangle 21"/>
              <p:cNvSpPr>
                <a:spLocks noChangeArrowheads="1"/>
              </p:cNvSpPr>
              <p:nvPr/>
            </p:nvSpPr>
            <p:spPr bwMode="auto">
              <a:xfrm>
                <a:off x="3456" y="1229"/>
                <a:ext cx="240" cy="241"/>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62" name="Rectangle 22"/>
              <p:cNvSpPr>
                <a:spLocks noChangeArrowheads="1"/>
              </p:cNvSpPr>
              <p:nvPr/>
            </p:nvSpPr>
            <p:spPr bwMode="auto">
              <a:xfrm>
                <a:off x="3840" y="1229"/>
                <a:ext cx="240" cy="241"/>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63" name="Rectangle 23"/>
              <p:cNvSpPr>
                <a:spLocks noChangeArrowheads="1"/>
              </p:cNvSpPr>
              <p:nvPr/>
            </p:nvSpPr>
            <p:spPr bwMode="auto">
              <a:xfrm>
                <a:off x="4128" y="1661"/>
                <a:ext cx="240" cy="239"/>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64" name="Rectangle 24"/>
              <p:cNvSpPr>
                <a:spLocks noChangeArrowheads="1"/>
              </p:cNvSpPr>
              <p:nvPr/>
            </p:nvSpPr>
            <p:spPr bwMode="auto">
              <a:xfrm>
                <a:off x="4560" y="1661"/>
                <a:ext cx="240" cy="239"/>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65" name="Oval 25"/>
              <p:cNvSpPr>
                <a:spLocks noChangeArrowheads="1"/>
              </p:cNvSpPr>
              <p:nvPr/>
            </p:nvSpPr>
            <p:spPr bwMode="auto">
              <a:xfrm>
                <a:off x="4320" y="1181"/>
                <a:ext cx="294" cy="288"/>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0378" name="Text Box 26"/>
              <p:cNvSpPr txBox="1"/>
              <p:nvPr/>
            </p:nvSpPr>
            <p:spPr>
              <a:xfrm>
                <a:off x="3481" y="1191"/>
                <a:ext cx="198" cy="321"/>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7</a:t>
                </a:r>
                <a:endParaRPr lang="en-US" altLang="zh-CN" sz="2000" dirty="0">
                  <a:latin typeface="Times New Roman" panose="02020603050405020304" pitchFamily="18" charset="0"/>
                  <a:ea typeface="宋体" panose="02010600030101010101" pitchFamily="2" charset="-122"/>
                </a:endParaRPr>
              </a:p>
            </p:txBody>
          </p:sp>
          <p:sp>
            <p:nvSpPr>
              <p:cNvPr id="100379" name="Text Box 27"/>
              <p:cNvSpPr txBox="1"/>
              <p:nvPr/>
            </p:nvSpPr>
            <p:spPr>
              <a:xfrm>
                <a:off x="3866" y="1183"/>
                <a:ext cx="198" cy="321"/>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5</a:t>
                </a:r>
                <a:endParaRPr lang="en-US" altLang="zh-CN" sz="2000" dirty="0">
                  <a:latin typeface="Times New Roman" panose="02020603050405020304" pitchFamily="18" charset="0"/>
                  <a:ea typeface="宋体" panose="02010600030101010101" pitchFamily="2" charset="-122"/>
                </a:endParaRPr>
              </a:p>
            </p:txBody>
          </p:sp>
          <p:sp>
            <p:nvSpPr>
              <p:cNvPr id="100380" name="Text Box 28"/>
              <p:cNvSpPr txBox="1"/>
              <p:nvPr/>
            </p:nvSpPr>
            <p:spPr>
              <a:xfrm>
                <a:off x="4142" y="1622"/>
                <a:ext cx="198" cy="321"/>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p:txBody>
          </p:sp>
          <p:sp>
            <p:nvSpPr>
              <p:cNvPr id="100381" name="Text Box 29"/>
              <p:cNvSpPr txBox="1"/>
              <p:nvPr/>
            </p:nvSpPr>
            <p:spPr>
              <a:xfrm>
                <a:off x="4587" y="1622"/>
                <a:ext cx="198" cy="321"/>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p:txBody>
          </p:sp>
          <p:sp>
            <p:nvSpPr>
              <p:cNvPr id="100382" name="Text Box 30"/>
              <p:cNvSpPr txBox="1"/>
              <p:nvPr/>
            </p:nvSpPr>
            <p:spPr>
              <a:xfrm>
                <a:off x="4344" y="1153"/>
                <a:ext cx="198" cy="317"/>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6</a:t>
                </a:r>
                <a:endParaRPr lang="en-US" altLang="zh-CN" sz="2000" dirty="0">
                  <a:latin typeface="Times New Roman" panose="02020603050405020304" pitchFamily="18" charset="0"/>
                  <a:ea typeface="宋体" panose="02010600030101010101" pitchFamily="2" charset="-122"/>
                </a:endParaRPr>
              </a:p>
            </p:txBody>
          </p:sp>
        </p:grpSp>
        <p:sp>
          <p:nvSpPr>
            <p:cNvPr id="100383" name="Text Box 31"/>
            <p:cNvSpPr txBox="1"/>
            <p:nvPr/>
          </p:nvSpPr>
          <p:spPr>
            <a:xfrm>
              <a:off x="3021" y="2822"/>
              <a:ext cx="666"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F : {18} </a:t>
              </a:r>
              <a:endParaRPr lang="en-US" altLang="zh-CN" sz="2000" dirty="0">
                <a:latin typeface="Times New Roman" panose="02020603050405020304" pitchFamily="18" charset="0"/>
                <a:ea typeface="宋体" panose="02010600030101010101" pitchFamily="2" charset="-122"/>
              </a:endParaRPr>
            </a:p>
          </p:txBody>
        </p:sp>
        <p:sp>
          <p:nvSpPr>
            <p:cNvPr id="100384" name="Line 32"/>
            <p:cNvSpPr/>
            <p:nvPr/>
          </p:nvSpPr>
          <p:spPr>
            <a:xfrm flipH="1">
              <a:off x="1484" y="3162"/>
              <a:ext cx="142" cy="213"/>
            </a:xfrm>
            <a:prstGeom prst="line">
              <a:avLst/>
            </a:prstGeom>
            <a:ln w="28575" cap="flat" cmpd="sng">
              <a:solidFill>
                <a:srgbClr val="009900"/>
              </a:solidFill>
              <a:prstDash val="solid"/>
              <a:round/>
              <a:headEnd type="none" w="med" len="med"/>
              <a:tailEnd type="none" w="med" len="med"/>
            </a:ln>
          </p:spPr>
        </p:sp>
        <p:sp>
          <p:nvSpPr>
            <p:cNvPr id="100385" name="Line 33"/>
            <p:cNvSpPr/>
            <p:nvPr/>
          </p:nvSpPr>
          <p:spPr>
            <a:xfrm>
              <a:off x="1721" y="3162"/>
              <a:ext cx="142" cy="213"/>
            </a:xfrm>
            <a:prstGeom prst="line">
              <a:avLst/>
            </a:prstGeom>
            <a:ln w="28575" cap="flat" cmpd="sng">
              <a:solidFill>
                <a:srgbClr val="009900"/>
              </a:solidFill>
              <a:prstDash val="solid"/>
              <a:round/>
              <a:headEnd type="none" w="med" len="med"/>
              <a:tailEnd type="none" w="med" len="med"/>
            </a:ln>
          </p:spPr>
        </p:sp>
        <p:sp>
          <p:nvSpPr>
            <p:cNvPr id="100386" name="Line 34"/>
            <p:cNvSpPr/>
            <p:nvPr/>
          </p:nvSpPr>
          <p:spPr>
            <a:xfrm>
              <a:off x="1958" y="3517"/>
              <a:ext cx="142" cy="213"/>
            </a:xfrm>
            <a:prstGeom prst="line">
              <a:avLst/>
            </a:prstGeom>
            <a:ln w="28575" cap="flat" cmpd="sng">
              <a:solidFill>
                <a:srgbClr val="009900"/>
              </a:solidFill>
              <a:prstDash val="solid"/>
              <a:round/>
              <a:headEnd type="none" w="med" len="med"/>
              <a:tailEnd type="none" w="med" len="med"/>
            </a:ln>
          </p:spPr>
        </p:sp>
        <p:sp>
          <p:nvSpPr>
            <p:cNvPr id="100387" name="Line 35"/>
            <p:cNvSpPr/>
            <p:nvPr/>
          </p:nvSpPr>
          <p:spPr>
            <a:xfrm flipH="1">
              <a:off x="1721" y="3475"/>
              <a:ext cx="142" cy="213"/>
            </a:xfrm>
            <a:prstGeom prst="line">
              <a:avLst/>
            </a:prstGeom>
            <a:ln w="28575" cap="flat" cmpd="sng">
              <a:solidFill>
                <a:srgbClr val="009900"/>
              </a:solidFill>
              <a:prstDash val="solid"/>
              <a:round/>
              <a:headEnd type="none" w="med" len="med"/>
              <a:tailEnd type="none" w="med" len="med"/>
            </a:ln>
          </p:spPr>
        </p:sp>
        <p:sp>
          <p:nvSpPr>
            <p:cNvPr id="829476" name="Rectangle 36"/>
            <p:cNvSpPr>
              <a:spLocks noChangeArrowheads="1"/>
            </p:cNvSpPr>
            <p:nvPr/>
          </p:nvSpPr>
          <p:spPr bwMode="auto">
            <a:xfrm>
              <a:off x="916" y="3304"/>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77" name="Rectangle 37"/>
            <p:cNvSpPr>
              <a:spLocks noChangeArrowheads="1"/>
            </p:cNvSpPr>
            <p:nvPr/>
          </p:nvSpPr>
          <p:spPr bwMode="auto">
            <a:xfrm>
              <a:off x="1342" y="3304"/>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78" name="Rectangle 38"/>
            <p:cNvSpPr>
              <a:spLocks noChangeArrowheads="1"/>
            </p:cNvSpPr>
            <p:nvPr/>
          </p:nvSpPr>
          <p:spPr bwMode="auto">
            <a:xfrm>
              <a:off x="1579" y="3652"/>
              <a:ext cx="237" cy="178"/>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79" name="Rectangle 39"/>
            <p:cNvSpPr>
              <a:spLocks noChangeArrowheads="1"/>
            </p:cNvSpPr>
            <p:nvPr/>
          </p:nvSpPr>
          <p:spPr bwMode="auto">
            <a:xfrm>
              <a:off x="1958" y="3652"/>
              <a:ext cx="236" cy="178"/>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80" name="Oval 40"/>
            <p:cNvSpPr>
              <a:spLocks noChangeArrowheads="1"/>
            </p:cNvSpPr>
            <p:nvPr/>
          </p:nvSpPr>
          <p:spPr bwMode="auto">
            <a:xfrm>
              <a:off x="1768" y="3297"/>
              <a:ext cx="284" cy="213"/>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81" name="Oval 41"/>
            <p:cNvSpPr>
              <a:spLocks noChangeArrowheads="1"/>
            </p:cNvSpPr>
            <p:nvPr/>
          </p:nvSpPr>
          <p:spPr bwMode="auto">
            <a:xfrm>
              <a:off x="1531" y="2984"/>
              <a:ext cx="285" cy="213"/>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11</a:t>
              </a:r>
              <a:endParaRPr kumimoji="1" lang="en-US" altLang="zh-CN" sz="2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394" name="Text Box 42"/>
            <p:cNvSpPr txBox="1"/>
            <p:nvPr/>
          </p:nvSpPr>
          <p:spPr>
            <a:xfrm>
              <a:off x="942" y="3268"/>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7</a:t>
              </a:r>
              <a:endParaRPr lang="en-US" altLang="zh-CN" sz="2000" dirty="0">
                <a:latin typeface="Times New Roman" panose="02020603050405020304" pitchFamily="18" charset="0"/>
                <a:ea typeface="宋体" panose="02010600030101010101" pitchFamily="2" charset="-122"/>
              </a:endParaRPr>
            </a:p>
          </p:txBody>
        </p:sp>
        <p:sp>
          <p:nvSpPr>
            <p:cNvPr id="100395" name="Text Box 43"/>
            <p:cNvSpPr txBox="1"/>
            <p:nvPr/>
          </p:nvSpPr>
          <p:spPr>
            <a:xfrm>
              <a:off x="1368" y="3268"/>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5</a:t>
              </a:r>
              <a:endParaRPr lang="en-US" altLang="zh-CN" sz="2000" dirty="0">
                <a:latin typeface="Times New Roman" panose="02020603050405020304" pitchFamily="18" charset="0"/>
                <a:ea typeface="宋体" panose="02010600030101010101" pitchFamily="2" charset="-122"/>
              </a:endParaRPr>
            </a:p>
          </p:txBody>
        </p:sp>
        <p:sp>
          <p:nvSpPr>
            <p:cNvPr id="100396" name="Text Box 44"/>
            <p:cNvSpPr txBox="1"/>
            <p:nvPr/>
          </p:nvSpPr>
          <p:spPr>
            <a:xfrm>
              <a:off x="1593" y="3624"/>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p:txBody>
        </p:sp>
        <p:sp>
          <p:nvSpPr>
            <p:cNvPr id="100397" name="Text Box 45"/>
            <p:cNvSpPr txBox="1"/>
            <p:nvPr/>
          </p:nvSpPr>
          <p:spPr>
            <a:xfrm>
              <a:off x="1984" y="3624"/>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p:txBody>
        </p:sp>
        <p:sp>
          <p:nvSpPr>
            <p:cNvPr id="100398" name="Text Box 46"/>
            <p:cNvSpPr txBox="1"/>
            <p:nvPr/>
          </p:nvSpPr>
          <p:spPr>
            <a:xfrm>
              <a:off x="1722" y="3277"/>
              <a:ext cx="326" cy="238"/>
            </a:xfrm>
            <a:prstGeom prst="rect">
              <a:avLst/>
            </a:prstGeom>
            <a:noFill/>
            <a:ln w="38100">
              <a:noFill/>
            </a:ln>
          </p:spPr>
          <p:txBody>
            <a:bodyPr anchor="ctr" anchorCtr="0">
              <a:spAutoFit/>
            </a:bodyPr>
            <a:p>
              <a:pPr algn="ctr"/>
              <a:r>
                <a:rPr lang="en-US" altLang="zh-CN" sz="2000" b="1" dirty="0">
                  <a:latin typeface="Times New Roman" panose="02020603050405020304" pitchFamily="18" charset="0"/>
                  <a:ea typeface="宋体" panose="02010600030101010101" pitchFamily="2" charset="-122"/>
                </a:rPr>
                <a:t>6</a:t>
              </a:r>
              <a:endParaRPr lang="en-US" altLang="zh-CN" sz="2000" dirty="0">
                <a:latin typeface="Times New Roman" panose="02020603050405020304" pitchFamily="18" charset="0"/>
                <a:ea typeface="宋体" panose="02010600030101010101" pitchFamily="2" charset="-122"/>
              </a:endParaRPr>
            </a:p>
          </p:txBody>
        </p:sp>
        <p:sp>
          <p:nvSpPr>
            <p:cNvPr id="100399" name="Text Box 47"/>
            <p:cNvSpPr txBox="1"/>
            <p:nvPr/>
          </p:nvSpPr>
          <p:spPr>
            <a:xfrm>
              <a:off x="1045" y="3923"/>
              <a:ext cx="888" cy="238"/>
            </a:xfrm>
            <a:prstGeom prst="rect">
              <a:avLst/>
            </a:prstGeom>
            <a:noFill/>
            <a:ln w="38100">
              <a:noFill/>
            </a:ln>
          </p:spPr>
          <p:txBody>
            <a:bodyPr wrap="square" anchor="ctr" anchorCtr="0">
              <a:spAutoFit/>
            </a:bodyPr>
            <a:p>
              <a:pPr algn="ctr"/>
              <a:r>
                <a:rPr lang="zh-CN" altLang="en-US" sz="2000" dirty="0">
                  <a:latin typeface="Times New Roman" panose="02020603050405020304" pitchFamily="18" charset="0"/>
                  <a:ea typeface="隶书" panose="02010509060101010101" pitchFamily="49" charset="-122"/>
                </a:rPr>
                <a:t>合并</a:t>
              </a:r>
              <a:r>
                <a:rPr lang="en-US" altLang="zh-CN" sz="2000" b="1" dirty="0">
                  <a:latin typeface="Times New Roman" panose="02020603050405020304" pitchFamily="18" charset="0"/>
                  <a:ea typeface="宋体" panose="02010600030101010101" pitchFamily="2" charset="-122"/>
                </a:rPr>
                <a:t>{5} {6}</a:t>
              </a:r>
              <a:endParaRPr lang="en-US" altLang="zh-CN" sz="2000" dirty="0">
                <a:latin typeface="Times New Roman" panose="02020603050405020304" pitchFamily="18" charset="0"/>
                <a:ea typeface="宋体" panose="02010600030101010101" pitchFamily="2" charset="-122"/>
              </a:endParaRPr>
            </a:p>
          </p:txBody>
        </p:sp>
        <p:sp>
          <p:nvSpPr>
            <p:cNvPr id="100400" name="Line 48"/>
            <p:cNvSpPr/>
            <p:nvPr/>
          </p:nvSpPr>
          <p:spPr>
            <a:xfrm flipH="1">
              <a:off x="3899" y="3162"/>
              <a:ext cx="142" cy="213"/>
            </a:xfrm>
            <a:prstGeom prst="line">
              <a:avLst/>
            </a:prstGeom>
            <a:ln w="28575" cap="flat" cmpd="sng">
              <a:solidFill>
                <a:srgbClr val="009900"/>
              </a:solidFill>
              <a:prstDash val="solid"/>
              <a:round/>
              <a:headEnd type="none" w="med" len="med"/>
              <a:tailEnd type="none" w="med" len="med"/>
            </a:ln>
          </p:spPr>
        </p:sp>
        <p:sp>
          <p:nvSpPr>
            <p:cNvPr id="100401" name="Line 49"/>
            <p:cNvSpPr/>
            <p:nvPr/>
          </p:nvSpPr>
          <p:spPr>
            <a:xfrm>
              <a:off x="4135" y="3126"/>
              <a:ext cx="143" cy="213"/>
            </a:xfrm>
            <a:prstGeom prst="line">
              <a:avLst/>
            </a:prstGeom>
            <a:ln w="28575" cap="flat" cmpd="sng">
              <a:solidFill>
                <a:srgbClr val="009900"/>
              </a:solidFill>
              <a:prstDash val="solid"/>
              <a:round/>
              <a:headEnd type="none" w="med" len="med"/>
              <a:tailEnd type="none" w="med" len="med"/>
            </a:ln>
          </p:spPr>
        </p:sp>
        <p:sp>
          <p:nvSpPr>
            <p:cNvPr id="100402" name="Line 50"/>
            <p:cNvSpPr/>
            <p:nvPr/>
          </p:nvSpPr>
          <p:spPr>
            <a:xfrm>
              <a:off x="4372" y="3481"/>
              <a:ext cx="142" cy="213"/>
            </a:xfrm>
            <a:prstGeom prst="line">
              <a:avLst/>
            </a:prstGeom>
            <a:ln w="28575" cap="flat" cmpd="sng">
              <a:solidFill>
                <a:srgbClr val="009900"/>
              </a:solidFill>
              <a:prstDash val="solid"/>
              <a:round/>
              <a:headEnd type="none" w="med" len="med"/>
              <a:tailEnd type="none" w="med" len="med"/>
            </a:ln>
          </p:spPr>
        </p:sp>
        <p:sp>
          <p:nvSpPr>
            <p:cNvPr id="100403" name="Line 51"/>
            <p:cNvSpPr/>
            <p:nvPr/>
          </p:nvSpPr>
          <p:spPr>
            <a:xfrm flipH="1">
              <a:off x="4135" y="3475"/>
              <a:ext cx="143" cy="213"/>
            </a:xfrm>
            <a:prstGeom prst="line">
              <a:avLst/>
            </a:prstGeom>
            <a:ln w="28575" cap="flat" cmpd="sng">
              <a:solidFill>
                <a:srgbClr val="009900"/>
              </a:solidFill>
              <a:prstDash val="solid"/>
              <a:round/>
              <a:headEnd type="none" w="med" len="med"/>
              <a:tailEnd type="none" w="med" len="med"/>
            </a:ln>
          </p:spPr>
        </p:sp>
        <p:sp>
          <p:nvSpPr>
            <p:cNvPr id="829492" name="Rectangle 52"/>
            <p:cNvSpPr>
              <a:spLocks noChangeArrowheads="1"/>
            </p:cNvSpPr>
            <p:nvPr/>
          </p:nvSpPr>
          <p:spPr bwMode="auto">
            <a:xfrm>
              <a:off x="3757" y="3304"/>
              <a:ext cx="236"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93" name="Rectangle 53"/>
            <p:cNvSpPr>
              <a:spLocks noChangeArrowheads="1"/>
            </p:cNvSpPr>
            <p:nvPr/>
          </p:nvSpPr>
          <p:spPr bwMode="auto">
            <a:xfrm>
              <a:off x="3993" y="3652"/>
              <a:ext cx="237" cy="178"/>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94" name="Oval 54"/>
            <p:cNvSpPr>
              <a:spLocks noChangeArrowheads="1"/>
            </p:cNvSpPr>
            <p:nvPr/>
          </p:nvSpPr>
          <p:spPr bwMode="auto">
            <a:xfrm>
              <a:off x="4183" y="3297"/>
              <a:ext cx="284" cy="213"/>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495" name="Oval 55"/>
            <p:cNvSpPr>
              <a:spLocks noChangeArrowheads="1"/>
            </p:cNvSpPr>
            <p:nvPr/>
          </p:nvSpPr>
          <p:spPr bwMode="auto">
            <a:xfrm>
              <a:off x="3946" y="2984"/>
              <a:ext cx="284" cy="213"/>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0408" name="Text Box 56"/>
            <p:cNvSpPr txBox="1"/>
            <p:nvPr/>
          </p:nvSpPr>
          <p:spPr>
            <a:xfrm>
              <a:off x="4007" y="3624"/>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5</a:t>
              </a:r>
              <a:endParaRPr lang="en-US" altLang="zh-CN" sz="2000" dirty="0">
                <a:latin typeface="Times New Roman" panose="02020603050405020304" pitchFamily="18" charset="0"/>
                <a:ea typeface="宋体" panose="02010600030101010101" pitchFamily="2" charset="-122"/>
              </a:endParaRPr>
            </a:p>
          </p:txBody>
        </p:sp>
        <p:sp>
          <p:nvSpPr>
            <p:cNvPr id="100409" name="Text Box 57"/>
            <p:cNvSpPr txBox="1"/>
            <p:nvPr/>
          </p:nvSpPr>
          <p:spPr>
            <a:xfrm>
              <a:off x="3053" y="3958"/>
              <a:ext cx="959" cy="238"/>
            </a:xfrm>
            <a:prstGeom prst="rect">
              <a:avLst/>
            </a:prstGeom>
            <a:noFill/>
            <a:ln w="38100">
              <a:noFill/>
            </a:ln>
          </p:spPr>
          <p:txBody>
            <a:bodyPr wrap="square" anchor="ctr" anchorCtr="0">
              <a:spAutoFit/>
            </a:bodyPr>
            <a:p>
              <a:pPr algn="ctr"/>
              <a:r>
                <a:rPr lang="zh-CN" altLang="en-US" sz="2000" dirty="0">
                  <a:latin typeface="Times New Roman" panose="02020603050405020304" pitchFamily="18" charset="0"/>
                  <a:ea typeface="隶书" panose="02010509060101010101" pitchFamily="49" charset="-122"/>
                </a:rPr>
                <a:t>合并</a:t>
              </a:r>
              <a:r>
                <a:rPr lang="en-US" altLang="zh-CN" sz="2000" b="1" dirty="0">
                  <a:latin typeface="Times New Roman" panose="02020603050405020304" pitchFamily="18" charset="0"/>
                  <a:ea typeface="宋体" panose="02010600030101010101" pitchFamily="2" charset="-122"/>
                </a:rPr>
                <a:t>{7} {11}</a:t>
              </a:r>
              <a:endParaRPr lang="en-US" altLang="zh-CN" sz="2000" dirty="0">
                <a:latin typeface="Times New Roman" panose="02020603050405020304" pitchFamily="18" charset="0"/>
                <a:ea typeface="宋体" panose="02010600030101010101" pitchFamily="2" charset="-122"/>
              </a:endParaRPr>
            </a:p>
          </p:txBody>
        </p:sp>
        <p:sp>
          <p:nvSpPr>
            <p:cNvPr id="100410" name="Line 58"/>
            <p:cNvSpPr/>
            <p:nvPr/>
          </p:nvSpPr>
          <p:spPr>
            <a:xfrm>
              <a:off x="4597" y="3801"/>
              <a:ext cx="142" cy="213"/>
            </a:xfrm>
            <a:prstGeom prst="line">
              <a:avLst/>
            </a:prstGeom>
            <a:ln w="28575" cap="flat" cmpd="sng">
              <a:solidFill>
                <a:srgbClr val="009900"/>
              </a:solidFill>
              <a:prstDash val="solid"/>
              <a:round/>
              <a:headEnd type="none" w="med" len="med"/>
              <a:tailEnd type="none" w="med" len="med"/>
            </a:ln>
          </p:spPr>
        </p:sp>
        <p:sp>
          <p:nvSpPr>
            <p:cNvPr id="100411" name="Line 59"/>
            <p:cNvSpPr/>
            <p:nvPr/>
          </p:nvSpPr>
          <p:spPr>
            <a:xfrm flipH="1">
              <a:off x="4360" y="3801"/>
              <a:ext cx="142" cy="213"/>
            </a:xfrm>
            <a:prstGeom prst="line">
              <a:avLst/>
            </a:prstGeom>
            <a:ln w="28575" cap="flat" cmpd="sng">
              <a:solidFill>
                <a:srgbClr val="009900"/>
              </a:solidFill>
              <a:prstDash val="solid"/>
              <a:round/>
              <a:headEnd type="none" w="med" len="med"/>
              <a:tailEnd type="none" w="med" len="med"/>
            </a:ln>
          </p:spPr>
        </p:sp>
        <p:sp>
          <p:nvSpPr>
            <p:cNvPr id="829500" name="Rectangle 60"/>
            <p:cNvSpPr>
              <a:spLocks noChangeArrowheads="1"/>
            </p:cNvSpPr>
            <p:nvPr/>
          </p:nvSpPr>
          <p:spPr bwMode="auto">
            <a:xfrm>
              <a:off x="4218" y="3979"/>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501" name="Rectangle 61"/>
            <p:cNvSpPr>
              <a:spLocks noChangeArrowheads="1"/>
            </p:cNvSpPr>
            <p:nvPr/>
          </p:nvSpPr>
          <p:spPr bwMode="auto">
            <a:xfrm>
              <a:off x="4656" y="3979"/>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29502" name="Oval 62"/>
            <p:cNvSpPr>
              <a:spLocks noChangeArrowheads="1"/>
            </p:cNvSpPr>
            <p:nvPr/>
          </p:nvSpPr>
          <p:spPr bwMode="auto">
            <a:xfrm>
              <a:off x="4408" y="3623"/>
              <a:ext cx="284" cy="214"/>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0415" name="Text Box 63"/>
            <p:cNvSpPr txBox="1"/>
            <p:nvPr/>
          </p:nvSpPr>
          <p:spPr>
            <a:xfrm>
              <a:off x="4231" y="3951"/>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p:txBody>
        </p:sp>
        <p:sp>
          <p:nvSpPr>
            <p:cNvPr id="100416" name="Text Box 64"/>
            <p:cNvSpPr txBox="1"/>
            <p:nvPr/>
          </p:nvSpPr>
          <p:spPr>
            <a:xfrm>
              <a:off x="3772" y="3269"/>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7</a:t>
              </a:r>
              <a:endParaRPr lang="en-US" altLang="zh-CN" sz="2000" dirty="0">
                <a:latin typeface="Times New Roman" panose="02020603050405020304" pitchFamily="18" charset="0"/>
                <a:ea typeface="宋体" panose="02010600030101010101" pitchFamily="2" charset="-122"/>
              </a:endParaRPr>
            </a:p>
          </p:txBody>
        </p:sp>
        <p:sp>
          <p:nvSpPr>
            <p:cNvPr id="100417" name="Text Box 65"/>
            <p:cNvSpPr txBox="1"/>
            <p:nvPr/>
          </p:nvSpPr>
          <p:spPr>
            <a:xfrm>
              <a:off x="4681" y="3951"/>
              <a:ext cx="195" cy="238"/>
            </a:xfrm>
            <a:prstGeom prst="rect">
              <a:avLst/>
            </a:prstGeom>
            <a:noFill/>
            <a:ln w="38100">
              <a:noFill/>
            </a:ln>
          </p:spPr>
          <p:txBody>
            <a:bodyPr wrap="square" anchor="ctr" anchorCtr="0">
              <a:spAutoFit/>
            </a:bodyPr>
            <a:p>
              <a:pPr algn="ctr"/>
              <a:r>
                <a:rPr lang="en-US" altLang="zh-CN" sz="2000" b="1"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p:txBody>
        </p:sp>
        <p:sp>
          <p:nvSpPr>
            <p:cNvPr id="100418" name="Text Box 66"/>
            <p:cNvSpPr txBox="1"/>
            <p:nvPr/>
          </p:nvSpPr>
          <p:spPr>
            <a:xfrm>
              <a:off x="4375" y="3596"/>
              <a:ext cx="329" cy="238"/>
            </a:xfrm>
            <a:prstGeom prst="rect">
              <a:avLst/>
            </a:prstGeom>
            <a:noFill/>
            <a:ln w="38100">
              <a:noFill/>
            </a:ln>
          </p:spPr>
          <p:txBody>
            <a:bodyPr anchor="ctr" anchorCtr="0">
              <a:spAutoFit/>
            </a:bodyPr>
            <a:p>
              <a:pPr algn="ctr"/>
              <a:r>
                <a:rPr lang="en-US" altLang="zh-CN" sz="2000" b="1" dirty="0">
                  <a:latin typeface="Times New Roman" panose="02020603050405020304" pitchFamily="18" charset="0"/>
                  <a:ea typeface="宋体" panose="02010600030101010101" pitchFamily="2" charset="-122"/>
                </a:rPr>
                <a:t>6</a:t>
              </a:r>
              <a:endParaRPr lang="en-US" altLang="zh-CN" sz="2000" dirty="0">
                <a:latin typeface="Times New Roman" panose="02020603050405020304" pitchFamily="18" charset="0"/>
                <a:ea typeface="宋体" panose="02010600030101010101" pitchFamily="2" charset="-122"/>
              </a:endParaRPr>
            </a:p>
          </p:txBody>
        </p:sp>
        <p:sp>
          <p:nvSpPr>
            <p:cNvPr id="100419" name="Text Box 67"/>
            <p:cNvSpPr txBox="1"/>
            <p:nvPr/>
          </p:nvSpPr>
          <p:spPr>
            <a:xfrm>
              <a:off x="4138" y="3277"/>
              <a:ext cx="384" cy="238"/>
            </a:xfrm>
            <a:prstGeom prst="rect">
              <a:avLst/>
            </a:prstGeom>
            <a:noFill/>
            <a:ln w="38100">
              <a:noFill/>
            </a:ln>
          </p:spPr>
          <p:txBody>
            <a:bodyPr anchor="ctr" anchorCtr="0">
              <a:spAutoFit/>
            </a:bodyPr>
            <a:p>
              <a:pPr algn="ctr"/>
              <a:r>
                <a:rPr lang="en-US" altLang="zh-CN" sz="2000" b="1" dirty="0">
                  <a:latin typeface="Times New Roman" panose="02020603050405020304" pitchFamily="18" charset="0"/>
                  <a:ea typeface="宋体" panose="02010600030101010101" pitchFamily="2" charset="-122"/>
                </a:rPr>
                <a:t>11</a:t>
              </a:r>
              <a:endParaRPr lang="en-US" altLang="zh-CN" sz="2000" dirty="0">
                <a:latin typeface="Times New Roman" panose="02020603050405020304" pitchFamily="18" charset="0"/>
                <a:ea typeface="宋体" panose="02010600030101010101" pitchFamily="2" charset="-122"/>
              </a:endParaRPr>
            </a:p>
          </p:txBody>
        </p:sp>
        <p:sp>
          <p:nvSpPr>
            <p:cNvPr id="100420" name="Text Box 68"/>
            <p:cNvSpPr txBox="1"/>
            <p:nvPr/>
          </p:nvSpPr>
          <p:spPr>
            <a:xfrm>
              <a:off x="3899" y="2987"/>
              <a:ext cx="382" cy="238"/>
            </a:xfrm>
            <a:prstGeom prst="rect">
              <a:avLst/>
            </a:prstGeom>
            <a:noFill/>
            <a:ln w="38100">
              <a:noFill/>
            </a:ln>
          </p:spPr>
          <p:txBody>
            <a:bodyPr anchor="ctr" anchorCtr="0">
              <a:spAutoFit/>
            </a:bodyPr>
            <a:p>
              <a:pPr algn="ctr"/>
              <a:r>
                <a:rPr lang="en-US" altLang="zh-CN" sz="2000" b="1" dirty="0">
                  <a:latin typeface="Times New Roman" panose="02020603050405020304" pitchFamily="18" charset="0"/>
                  <a:ea typeface="宋体" panose="02010600030101010101" pitchFamily="2" charset="-122"/>
                </a:rPr>
                <a:t>18</a:t>
              </a:r>
              <a:endParaRPr lang="en-US" altLang="zh-CN" sz="20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赫夫曼树的特点</a:t>
            </a:r>
            <a:endParaRPr kumimoji="0" lang="zh-CN" altLang="en-US" sz="2800" i="0" u="none" strike="noStrike" kern="0" cap="none" spc="0" normalizeH="0" baseline="0" dirty="0">
              <a:solidFill>
                <a:schemeClr val="tx1"/>
              </a:solidFill>
              <a:latin typeface="黑体" panose="02010609060101010101" pitchFamily="2" charset="-122"/>
              <a:ea typeface="+mn-ea"/>
              <a:cs typeface="+mn-cs"/>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根据赫夫曼树的构建方法可知，它没有度为</a:t>
            </a:r>
            <a:r>
              <a:rPr lang="en-US" altLang="zh-CN" dirty="0">
                <a:latin typeface="黑体" panose="02010609060101010101" pitchFamily="2" charset="-122"/>
                <a:ea typeface="黑体" panose="02010609060101010101" pitchFamily="2" charset="-122"/>
                <a:cs typeface="+mn-ea"/>
                <a:sym typeface="+mn-ea"/>
              </a:rPr>
              <a:t>1</a:t>
            </a:r>
            <a:r>
              <a:rPr lang="zh-CN" altLang="en-US" dirty="0">
                <a:latin typeface="黑体" panose="02010609060101010101" pitchFamily="2" charset="-122"/>
                <a:ea typeface="黑体" panose="02010609060101010101" pitchFamily="2" charset="-122"/>
                <a:cs typeface="+mn-ea"/>
                <a:sym typeface="+mn-ea"/>
              </a:rPr>
              <a:t>的结点，只有度为</a:t>
            </a:r>
            <a:r>
              <a:rPr lang="en-US" altLang="zh-CN" dirty="0">
                <a:latin typeface="黑体" panose="02010609060101010101" pitchFamily="2" charset="-122"/>
                <a:ea typeface="黑体" panose="02010609060101010101" pitchFamily="2" charset="-122"/>
                <a:cs typeface="+mn-ea"/>
                <a:sym typeface="+mn-ea"/>
              </a:rPr>
              <a:t>2</a:t>
            </a:r>
            <a:r>
              <a:rPr lang="zh-CN" altLang="en-US" dirty="0">
                <a:latin typeface="黑体" panose="02010609060101010101" pitchFamily="2" charset="-122"/>
                <a:ea typeface="黑体" panose="02010609060101010101" pitchFamily="2" charset="-122"/>
                <a:cs typeface="+mn-ea"/>
                <a:sym typeface="+mn-ea"/>
              </a:rPr>
              <a:t>和度为</a:t>
            </a:r>
            <a:r>
              <a:rPr lang="en-US" altLang="zh-CN" dirty="0">
                <a:latin typeface="黑体" panose="02010609060101010101" pitchFamily="2" charset="-122"/>
                <a:ea typeface="黑体" panose="02010609060101010101" pitchFamily="2" charset="-122"/>
                <a:cs typeface="+mn-ea"/>
                <a:sym typeface="+mn-ea"/>
              </a:rPr>
              <a:t>0</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mn-ea"/>
              </a:rPr>
              <a:t>已知赫夫曼树有</a:t>
            </a:r>
            <a:r>
              <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mn-ea"/>
              </a:rPr>
              <a:t>n</a:t>
            </a:r>
            <a:r>
              <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mn-ea"/>
              </a:rPr>
              <a:t>个叶子，则赫夫曼树总结点数为</a:t>
            </a:r>
            <a:r>
              <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mn-ea"/>
              </a:rPr>
              <a:t>2n-1</a:t>
            </a: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mn-ea"/>
              </a:rPr>
              <a:t>赫夫曼树是不唯一的，为了方便讲解，往往在构建赫夫曼树时加入一个限制：左孩子权值小于右孩子权值</a:t>
            </a: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赫夫曼编码是赫夫曼树最主要的应用</a:t>
            </a:r>
            <a:r>
              <a:rPr lang="en-US" altLang="zh-CN" sz="2800" dirty="0">
                <a:latin typeface="黑体" panose="02010609060101010101" pitchFamily="2" charset="-122"/>
                <a:cs typeface="+mn-cs"/>
                <a:sym typeface="+mn-ea"/>
              </a:rPr>
              <a:t>,</a:t>
            </a:r>
            <a:r>
              <a:rPr lang="zh-CN" altLang="en-US" sz="2800" dirty="0">
                <a:latin typeface="黑体" panose="02010609060101010101" pitchFamily="2" charset="-122"/>
                <a:cs typeface="+mn-cs"/>
                <a:sym typeface="+mn-ea"/>
              </a:rPr>
              <a:t>应用场景是</a:t>
            </a:r>
            <a:r>
              <a:rPr lang="zh-CN" altLang="en-US" sz="2800" noProof="0" smtClean="0">
                <a:ln>
                  <a:noFill/>
                </a:ln>
                <a:effectLst/>
                <a:uLnTx/>
                <a:uFillTx/>
                <a:latin typeface="黑体" panose="02010609060101010101" pitchFamily="2" charset="-122"/>
                <a:ea typeface="黑体" panose="02010609060101010101" pitchFamily="2" charset="-122"/>
                <a:cs typeface="+mn-cs"/>
                <a:sym typeface="+mn-ea"/>
              </a:rPr>
              <a:t>通过赫夫曼树把电文缩短，减少传送时间</a:t>
            </a:r>
            <a:endParaRPr kumimoji="0" lang="zh-CN" altLang="en-US" sz="2800" i="0" u="none" strike="noStrike" kern="0" cap="none" spc="0" normalizeH="0" baseline="0" dirty="0">
              <a:solidFill>
                <a:schemeClr val="tx1"/>
              </a:solidFill>
              <a:latin typeface="黑体" panose="02010609060101010101" pitchFamily="2" charset="-122"/>
              <a:ea typeface="+mn-ea"/>
              <a:cs typeface="+mn-cs"/>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设计思路：在Huffman树中，权值最大的结点离根最近，权值最小的结点离根最远</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赫夫曼编码示例</a:t>
            </a:r>
            <a:endParaRPr lang="zh-CN" altLang="en-US" sz="2800" dirty="0">
              <a:latin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设给出一段报文： GOOD_GOOD_GOOD_GOOOOOOOO_OFF</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字符集合是 { O, G, _, D, F}</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各个字符出现的频度(次数)是 W＝{ 15, 4, 4, 3, 2}</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若给每个字符以等长编码</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O: 000  G: 001  _: 010   D: 011   F: 100</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b="1" dirty="0">
                <a:solidFill>
                  <a:srgbClr val="FF0000"/>
                </a:solidFill>
                <a:latin typeface="黑体" panose="02010609060101010101" pitchFamily="2" charset="-122"/>
                <a:ea typeface="黑体" panose="02010609060101010101" pitchFamily="2" charset="-122"/>
                <a:cs typeface="+mn-ea"/>
                <a:sym typeface="+mn-ea"/>
              </a:rPr>
              <a:t>等长编码</a:t>
            </a:r>
            <a:r>
              <a:rPr lang="zh-CN" altLang="en-US" sz="2400" dirty="0">
                <a:latin typeface="黑体" panose="02010609060101010101" pitchFamily="2" charset="-122"/>
                <a:ea typeface="黑体" panose="02010609060101010101" pitchFamily="2" charset="-122"/>
                <a:cs typeface="+mn-ea"/>
                <a:sym typeface="+mn-ea"/>
              </a:rPr>
              <a:t>的报文总长度为 (15+4+4+3+2) * 3 = 84</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赫夫曼编码示例</a:t>
            </a:r>
            <a:endParaRPr lang="zh-CN" altLang="en-US" sz="2800" dirty="0">
              <a:latin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设给出一段报文： GOOD_GOOD_GOOD_GOOOOOOOO_OFF</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字符集合是 { O, G, _, D, F}</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各个字符出现的频度(次数)是 W＝{ 15, 4, 4, 3, 2}</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若根据字符出现的概率给予</a:t>
            </a:r>
            <a:r>
              <a:rPr lang="zh-CN" altLang="en-US" sz="2400" b="1" dirty="0">
                <a:solidFill>
                  <a:srgbClr val="FF0000"/>
                </a:solidFill>
                <a:latin typeface="黑体" panose="02010609060101010101" pitchFamily="2" charset="-122"/>
                <a:ea typeface="黑体" panose="02010609060101010101" pitchFamily="2" charset="-122"/>
                <a:cs typeface="+mn-ea"/>
                <a:sym typeface="+mn-ea"/>
              </a:rPr>
              <a:t>不等长编码</a:t>
            </a:r>
            <a:r>
              <a:rPr lang="zh-CN" altLang="en-US" sz="2400" dirty="0">
                <a:latin typeface="黑体" panose="02010609060101010101" pitchFamily="2" charset="-122"/>
                <a:ea typeface="黑体" panose="02010609060101010101" pitchFamily="2" charset="-122"/>
                <a:cs typeface="+mn-ea"/>
                <a:sym typeface="+mn-ea"/>
              </a:rPr>
              <a:t>，期望减少总编码长度。</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构成右图Huffman树</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02404" name="Group 4"/>
          <p:cNvGrpSpPr/>
          <p:nvPr/>
        </p:nvGrpSpPr>
        <p:grpSpPr>
          <a:xfrm>
            <a:off x="8183563" y="3716338"/>
            <a:ext cx="2373312" cy="2417762"/>
            <a:chOff x="3916" y="2709"/>
            <a:chExt cx="1495" cy="1523"/>
          </a:xfrm>
        </p:grpSpPr>
        <p:sp>
          <p:nvSpPr>
            <p:cNvPr id="102405" name="Line 5"/>
            <p:cNvSpPr/>
            <p:nvPr/>
          </p:nvSpPr>
          <p:spPr>
            <a:xfrm>
              <a:off x="5012" y="2936"/>
              <a:ext cx="264" cy="300"/>
            </a:xfrm>
            <a:prstGeom prst="line">
              <a:avLst/>
            </a:prstGeom>
            <a:ln w="28575" cap="flat" cmpd="sng">
              <a:solidFill>
                <a:srgbClr val="009900"/>
              </a:solidFill>
              <a:prstDash val="solid"/>
              <a:round/>
              <a:headEnd type="none" w="med" len="med"/>
              <a:tailEnd type="none" w="med" len="med"/>
            </a:ln>
          </p:spPr>
        </p:sp>
        <p:sp>
          <p:nvSpPr>
            <p:cNvPr id="102406" name="Line 6"/>
            <p:cNvSpPr/>
            <p:nvPr/>
          </p:nvSpPr>
          <p:spPr>
            <a:xfrm flipH="1">
              <a:off x="4696" y="2891"/>
              <a:ext cx="230" cy="277"/>
            </a:xfrm>
            <a:prstGeom prst="line">
              <a:avLst/>
            </a:prstGeom>
            <a:ln w="28575" cap="flat" cmpd="sng">
              <a:solidFill>
                <a:srgbClr val="009900"/>
              </a:solidFill>
              <a:prstDash val="solid"/>
              <a:round/>
              <a:headEnd type="none" w="med" len="med"/>
              <a:tailEnd type="none" w="med" len="med"/>
            </a:ln>
          </p:spPr>
        </p:sp>
        <p:sp>
          <p:nvSpPr>
            <p:cNvPr id="102407" name="Line 7"/>
            <p:cNvSpPr/>
            <p:nvPr/>
          </p:nvSpPr>
          <p:spPr>
            <a:xfrm>
              <a:off x="4700" y="3345"/>
              <a:ext cx="272" cy="185"/>
            </a:xfrm>
            <a:prstGeom prst="line">
              <a:avLst/>
            </a:prstGeom>
            <a:ln w="28575" cap="flat" cmpd="sng">
              <a:solidFill>
                <a:srgbClr val="009900"/>
              </a:solidFill>
              <a:prstDash val="solid"/>
              <a:round/>
              <a:headEnd type="none" w="med" len="med"/>
              <a:tailEnd type="none" w="med" len="med"/>
            </a:ln>
          </p:spPr>
        </p:sp>
        <p:sp>
          <p:nvSpPr>
            <p:cNvPr id="102408" name="Line 8"/>
            <p:cNvSpPr/>
            <p:nvPr/>
          </p:nvSpPr>
          <p:spPr>
            <a:xfrm flipH="1">
              <a:off x="4332" y="3339"/>
              <a:ext cx="279" cy="191"/>
            </a:xfrm>
            <a:prstGeom prst="line">
              <a:avLst/>
            </a:prstGeom>
            <a:ln w="28575" cap="flat" cmpd="sng">
              <a:solidFill>
                <a:srgbClr val="009900"/>
              </a:solidFill>
              <a:prstDash val="solid"/>
              <a:round/>
              <a:headEnd type="none" w="med" len="med"/>
              <a:tailEnd type="none" w="med" len="med"/>
            </a:ln>
          </p:spPr>
        </p:sp>
        <p:sp>
          <p:nvSpPr>
            <p:cNvPr id="832521" name="Rectangle 9"/>
            <p:cNvSpPr>
              <a:spLocks noChangeArrowheads="1"/>
            </p:cNvSpPr>
            <p:nvPr/>
          </p:nvSpPr>
          <p:spPr bwMode="auto">
            <a:xfrm>
              <a:off x="5130" y="3159"/>
              <a:ext cx="240" cy="181"/>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2522" name="Oval 10"/>
            <p:cNvSpPr>
              <a:spLocks noChangeArrowheads="1"/>
            </p:cNvSpPr>
            <p:nvPr/>
          </p:nvSpPr>
          <p:spPr bwMode="auto">
            <a:xfrm>
              <a:off x="4511" y="3161"/>
              <a:ext cx="289" cy="217"/>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2523" name="Oval 11"/>
            <p:cNvSpPr>
              <a:spLocks noChangeArrowheads="1"/>
            </p:cNvSpPr>
            <p:nvPr/>
          </p:nvSpPr>
          <p:spPr bwMode="auto">
            <a:xfrm>
              <a:off x="4799" y="2709"/>
              <a:ext cx="289" cy="217"/>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412" name="Line 12"/>
            <p:cNvSpPr/>
            <p:nvPr/>
          </p:nvSpPr>
          <p:spPr>
            <a:xfrm>
              <a:off x="5112" y="3658"/>
              <a:ext cx="145" cy="217"/>
            </a:xfrm>
            <a:prstGeom prst="line">
              <a:avLst/>
            </a:prstGeom>
            <a:ln w="28575" cap="flat" cmpd="sng">
              <a:solidFill>
                <a:srgbClr val="009900"/>
              </a:solidFill>
              <a:prstDash val="solid"/>
              <a:round/>
              <a:headEnd type="none" w="med" len="med"/>
              <a:tailEnd type="none" w="med" len="med"/>
            </a:ln>
          </p:spPr>
        </p:sp>
        <p:sp>
          <p:nvSpPr>
            <p:cNvPr id="102413" name="Line 13"/>
            <p:cNvSpPr/>
            <p:nvPr/>
          </p:nvSpPr>
          <p:spPr>
            <a:xfrm flipH="1">
              <a:off x="4875" y="3658"/>
              <a:ext cx="145" cy="217"/>
            </a:xfrm>
            <a:prstGeom prst="line">
              <a:avLst/>
            </a:prstGeom>
            <a:ln w="28575" cap="flat" cmpd="sng">
              <a:solidFill>
                <a:srgbClr val="009900"/>
              </a:solidFill>
              <a:prstDash val="solid"/>
              <a:round/>
              <a:headEnd type="none" w="med" len="med"/>
              <a:tailEnd type="none" w="med" len="med"/>
            </a:ln>
          </p:spPr>
        </p:sp>
        <p:sp>
          <p:nvSpPr>
            <p:cNvPr id="832526" name="Rectangle 14"/>
            <p:cNvSpPr>
              <a:spLocks noChangeArrowheads="1"/>
            </p:cNvSpPr>
            <p:nvPr/>
          </p:nvSpPr>
          <p:spPr bwMode="auto">
            <a:xfrm>
              <a:off x="4732" y="3836"/>
              <a:ext cx="241" cy="181"/>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2527" name="Rectangle 15"/>
            <p:cNvSpPr>
              <a:spLocks noChangeArrowheads="1"/>
            </p:cNvSpPr>
            <p:nvPr/>
          </p:nvSpPr>
          <p:spPr bwMode="auto">
            <a:xfrm>
              <a:off x="5170" y="3836"/>
              <a:ext cx="241" cy="181"/>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charset="0"/>
                <a:ea typeface="宋体" panose="02010600030101010101" pitchFamily="2" charset="-122"/>
                <a:cs typeface="+mn-cs"/>
              </a:endParaRPr>
            </a:p>
          </p:txBody>
        </p:sp>
        <p:sp>
          <p:nvSpPr>
            <p:cNvPr id="832528" name="Oval 16"/>
            <p:cNvSpPr>
              <a:spLocks noChangeArrowheads="1"/>
            </p:cNvSpPr>
            <p:nvPr/>
          </p:nvSpPr>
          <p:spPr bwMode="auto">
            <a:xfrm>
              <a:off x="4921" y="3480"/>
              <a:ext cx="289" cy="218"/>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417" name="Text Box 17"/>
            <p:cNvSpPr txBox="1"/>
            <p:nvPr/>
          </p:nvSpPr>
          <p:spPr>
            <a:xfrm>
              <a:off x="4747" y="3803"/>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p:txBody>
        </p:sp>
        <p:sp>
          <p:nvSpPr>
            <p:cNvPr id="102418" name="Text Box 18"/>
            <p:cNvSpPr txBox="1"/>
            <p:nvPr/>
          </p:nvSpPr>
          <p:spPr>
            <a:xfrm>
              <a:off x="5105" y="3119"/>
              <a:ext cx="27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15</a:t>
              </a:r>
              <a:endParaRPr lang="en-US" altLang="zh-CN" sz="2000" dirty="0">
                <a:latin typeface="Times New Roman" panose="02020603050405020304" pitchFamily="18" charset="0"/>
                <a:ea typeface="宋体" panose="02010600030101010101" pitchFamily="2" charset="-122"/>
              </a:endParaRPr>
            </a:p>
          </p:txBody>
        </p:sp>
        <p:sp>
          <p:nvSpPr>
            <p:cNvPr id="102419" name="Text Box 19"/>
            <p:cNvSpPr txBox="1"/>
            <p:nvPr/>
          </p:nvSpPr>
          <p:spPr>
            <a:xfrm>
              <a:off x="5197" y="3803"/>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4</a:t>
              </a:r>
              <a:endParaRPr lang="en-US" altLang="zh-CN" sz="2000" b="1" dirty="0">
                <a:latin typeface="Times New Roman" panose="02020603050405020304" pitchFamily="18" charset="0"/>
                <a:ea typeface="宋体" panose="02010600030101010101" pitchFamily="2" charset="-122"/>
              </a:endParaRPr>
            </a:p>
          </p:txBody>
        </p:sp>
        <p:sp>
          <p:nvSpPr>
            <p:cNvPr id="102420" name="Text Box 20"/>
            <p:cNvSpPr txBox="1"/>
            <p:nvPr/>
          </p:nvSpPr>
          <p:spPr>
            <a:xfrm>
              <a:off x="4464" y="3136"/>
              <a:ext cx="391" cy="251"/>
            </a:xfrm>
            <a:prstGeom prst="rect">
              <a:avLst/>
            </a:prstGeom>
            <a:noFill/>
            <a:ln w="38100">
              <a:noFill/>
            </a:ln>
          </p:spPr>
          <p:txBody>
            <a:bodyPr anchor="ctr" anchorCtr="0">
              <a:spAutoFit/>
            </a:bodyPr>
            <a:p>
              <a:pPr algn="ctr"/>
              <a:endParaRPr lang="zh-CN" altLang="zh-CN" sz="2000" dirty="0">
                <a:latin typeface="Times New Roman" panose="02020603050405020304" pitchFamily="18" charset="0"/>
                <a:ea typeface="宋体" panose="02010600030101010101" pitchFamily="2" charset="-122"/>
              </a:endParaRPr>
            </a:p>
          </p:txBody>
        </p:sp>
        <p:sp>
          <p:nvSpPr>
            <p:cNvPr id="102421" name="Text Box 21"/>
            <p:cNvSpPr txBox="1"/>
            <p:nvPr/>
          </p:nvSpPr>
          <p:spPr>
            <a:xfrm>
              <a:off x="4738" y="2710"/>
              <a:ext cx="389" cy="251"/>
            </a:xfrm>
            <a:prstGeom prst="rect">
              <a:avLst/>
            </a:prstGeom>
            <a:noFill/>
            <a:ln w="38100">
              <a:noFill/>
            </a:ln>
          </p:spPr>
          <p:txBody>
            <a:bodyPr anchor="ctr" anchorCtr="0">
              <a:spAutoFit/>
            </a:bodyPr>
            <a:p>
              <a:pPr algn="ctr"/>
              <a:endParaRPr lang="zh-CN" altLang="zh-CN" sz="2000" dirty="0">
                <a:latin typeface="Times New Roman" panose="02020603050405020304" pitchFamily="18" charset="0"/>
                <a:ea typeface="宋体" panose="02010600030101010101" pitchFamily="2" charset="-122"/>
              </a:endParaRPr>
            </a:p>
          </p:txBody>
        </p:sp>
        <p:sp>
          <p:nvSpPr>
            <p:cNvPr id="102422" name="Line 22"/>
            <p:cNvSpPr/>
            <p:nvPr/>
          </p:nvSpPr>
          <p:spPr>
            <a:xfrm>
              <a:off x="4296" y="3658"/>
              <a:ext cx="145" cy="217"/>
            </a:xfrm>
            <a:prstGeom prst="line">
              <a:avLst/>
            </a:prstGeom>
            <a:ln w="28575" cap="flat" cmpd="sng">
              <a:solidFill>
                <a:srgbClr val="009900"/>
              </a:solidFill>
              <a:prstDash val="solid"/>
              <a:round/>
              <a:headEnd type="none" w="med" len="med"/>
              <a:tailEnd type="none" w="med" len="med"/>
            </a:ln>
          </p:spPr>
        </p:sp>
        <p:sp>
          <p:nvSpPr>
            <p:cNvPr id="102423" name="Line 23"/>
            <p:cNvSpPr/>
            <p:nvPr/>
          </p:nvSpPr>
          <p:spPr>
            <a:xfrm flipH="1">
              <a:off x="4059" y="3658"/>
              <a:ext cx="145" cy="217"/>
            </a:xfrm>
            <a:prstGeom prst="line">
              <a:avLst/>
            </a:prstGeom>
            <a:ln w="28575" cap="flat" cmpd="sng">
              <a:solidFill>
                <a:srgbClr val="009900"/>
              </a:solidFill>
              <a:prstDash val="solid"/>
              <a:round/>
              <a:headEnd type="none" w="med" len="med"/>
              <a:tailEnd type="none" w="med" len="med"/>
            </a:ln>
          </p:spPr>
        </p:sp>
        <p:sp>
          <p:nvSpPr>
            <p:cNvPr id="832536" name="Rectangle 24"/>
            <p:cNvSpPr>
              <a:spLocks noChangeArrowheads="1"/>
            </p:cNvSpPr>
            <p:nvPr/>
          </p:nvSpPr>
          <p:spPr bwMode="auto">
            <a:xfrm>
              <a:off x="3916" y="3836"/>
              <a:ext cx="241" cy="181"/>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2537" name="Rectangle 25"/>
            <p:cNvSpPr>
              <a:spLocks noChangeArrowheads="1"/>
            </p:cNvSpPr>
            <p:nvPr/>
          </p:nvSpPr>
          <p:spPr bwMode="auto">
            <a:xfrm>
              <a:off x="4354" y="3836"/>
              <a:ext cx="241" cy="181"/>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charset="0"/>
                <a:ea typeface="宋体" panose="02010600030101010101" pitchFamily="2" charset="-122"/>
                <a:cs typeface="+mn-cs"/>
              </a:endParaRPr>
            </a:p>
          </p:txBody>
        </p:sp>
        <p:sp>
          <p:nvSpPr>
            <p:cNvPr id="832538" name="Oval 26"/>
            <p:cNvSpPr>
              <a:spLocks noChangeArrowheads="1"/>
            </p:cNvSpPr>
            <p:nvPr/>
          </p:nvSpPr>
          <p:spPr bwMode="auto">
            <a:xfrm>
              <a:off x="4105" y="3480"/>
              <a:ext cx="289" cy="218"/>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427" name="Text Box 27"/>
            <p:cNvSpPr txBox="1"/>
            <p:nvPr/>
          </p:nvSpPr>
          <p:spPr>
            <a:xfrm>
              <a:off x="3931" y="3803"/>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p:txBody>
        </p:sp>
        <p:sp>
          <p:nvSpPr>
            <p:cNvPr id="102428" name="Text Box 28"/>
            <p:cNvSpPr txBox="1"/>
            <p:nvPr/>
          </p:nvSpPr>
          <p:spPr>
            <a:xfrm>
              <a:off x="4381" y="3803"/>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3</a:t>
              </a:r>
              <a:endParaRPr lang="en-US" altLang="zh-CN" sz="2000" b="1" dirty="0">
                <a:latin typeface="Times New Roman" panose="02020603050405020304" pitchFamily="18" charset="0"/>
                <a:ea typeface="宋体" panose="02010600030101010101" pitchFamily="2" charset="-122"/>
              </a:endParaRPr>
            </a:p>
          </p:txBody>
        </p:sp>
        <p:sp>
          <p:nvSpPr>
            <p:cNvPr id="102429" name="Text Box 29"/>
            <p:cNvSpPr txBox="1"/>
            <p:nvPr/>
          </p:nvSpPr>
          <p:spPr>
            <a:xfrm>
              <a:off x="4734" y="4020"/>
              <a:ext cx="215"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G</a:t>
              </a:r>
              <a:endParaRPr lang="en-US" altLang="zh-CN" sz="1600" dirty="0">
                <a:solidFill>
                  <a:srgbClr val="CC0066"/>
                </a:solidFill>
                <a:latin typeface="Times New Roman" panose="02020603050405020304" pitchFamily="18" charset="0"/>
                <a:ea typeface="宋体" panose="02010600030101010101" pitchFamily="2" charset="-122"/>
              </a:endParaRPr>
            </a:p>
          </p:txBody>
        </p:sp>
        <p:sp>
          <p:nvSpPr>
            <p:cNvPr id="102430" name="Text Box 30"/>
            <p:cNvSpPr txBox="1"/>
            <p:nvPr/>
          </p:nvSpPr>
          <p:spPr>
            <a:xfrm>
              <a:off x="5188" y="3968"/>
              <a:ext cx="179"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_</a:t>
              </a:r>
              <a:endParaRPr lang="en-US" altLang="zh-CN" sz="1600" b="1" dirty="0">
                <a:solidFill>
                  <a:srgbClr val="CC0066"/>
                </a:solidFill>
                <a:latin typeface="Times New Roman" panose="02020603050405020304" pitchFamily="18" charset="0"/>
                <a:ea typeface="宋体" panose="02010600030101010101" pitchFamily="2" charset="-122"/>
              </a:endParaRPr>
            </a:p>
          </p:txBody>
        </p:sp>
        <p:sp>
          <p:nvSpPr>
            <p:cNvPr id="102431" name="Text Box 31"/>
            <p:cNvSpPr txBox="1"/>
            <p:nvPr/>
          </p:nvSpPr>
          <p:spPr>
            <a:xfrm>
              <a:off x="3923" y="4020"/>
              <a:ext cx="193"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F</a:t>
              </a:r>
              <a:endParaRPr lang="en-US" altLang="zh-CN" sz="1600" dirty="0">
                <a:solidFill>
                  <a:srgbClr val="CC0066"/>
                </a:solidFill>
                <a:latin typeface="Times New Roman" panose="02020603050405020304" pitchFamily="18" charset="0"/>
                <a:ea typeface="宋体" panose="02010600030101010101" pitchFamily="2" charset="-122"/>
              </a:endParaRPr>
            </a:p>
          </p:txBody>
        </p:sp>
        <p:sp>
          <p:nvSpPr>
            <p:cNvPr id="102432" name="Text Box 32"/>
            <p:cNvSpPr txBox="1"/>
            <p:nvPr/>
          </p:nvSpPr>
          <p:spPr>
            <a:xfrm>
              <a:off x="4370" y="4020"/>
              <a:ext cx="208"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D</a:t>
              </a:r>
              <a:endParaRPr lang="en-US" altLang="zh-CN" sz="1600" b="1" dirty="0">
                <a:solidFill>
                  <a:srgbClr val="CC0066"/>
                </a:solidFill>
                <a:latin typeface="Times New Roman" panose="02020603050405020304" pitchFamily="18" charset="0"/>
                <a:ea typeface="宋体" panose="02010600030101010101" pitchFamily="2" charset="-122"/>
              </a:endParaRPr>
            </a:p>
          </p:txBody>
        </p:sp>
        <p:sp>
          <p:nvSpPr>
            <p:cNvPr id="102433" name="Text Box 33"/>
            <p:cNvSpPr txBox="1"/>
            <p:nvPr/>
          </p:nvSpPr>
          <p:spPr>
            <a:xfrm>
              <a:off x="5149" y="3339"/>
              <a:ext cx="215"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O</a:t>
              </a:r>
              <a:endParaRPr lang="en-US" altLang="zh-CN" sz="1600" b="1" dirty="0">
                <a:solidFill>
                  <a:srgbClr val="CC0066"/>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赫夫曼编码示例</a:t>
            </a:r>
            <a:endParaRPr lang="zh-CN" altLang="en-US" sz="2800" dirty="0">
              <a:latin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设给出一段报文： GOOD_GOOD_GOOD_GOOOOOOOO_OFF</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字符集合是 { O, G, _, D, F}，字符出现频度是 W＝{ 15, 4, 4, 3, 2}</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根据赫夫曼树，</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左孩子分支为编码</a:t>
            </a:r>
            <a:r>
              <a:rPr lang="zh-CN" altLang="en-US" noProof="0" smtClean="0">
                <a:ln>
                  <a:noFill/>
                </a:ln>
                <a:effectLst/>
                <a:uLnTx/>
                <a:uFillTx/>
                <a:ea typeface="黑体" panose="02010609060101010101" pitchFamily="2" charset="-122"/>
                <a:cs typeface="+mn-ea"/>
                <a:sym typeface="+mn-ea"/>
              </a:rPr>
              <a:t>‘</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0</a:t>
            </a:r>
            <a:r>
              <a:rPr lang="en-US" altLang="zh-CN" noProof="0" smtClean="0">
                <a:ln>
                  <a:noFill/>
                </a:ln>
                <a:effectLst/>
                <a:uLnTx/>
                <a:uFillTx/>
                <a:ea typeface="黑体" panose="02010609060101010101" pitchFamily="2" charset="-122"/>
                <a:cs typeface="+mn-ea"/>
                <a:sym typeface="+mn-ea"/>
              </a:rPr>
              <a:t>’</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，右孩子分支为编码</a:t>
            </a:r>
            <a:r>
              <a:rPr lang="zh-CN" altLang="en-US" noProof="0" smtClean="0">
                <a:ln>
                  <a:noFill/>
                </a:ln>
                <a:effectLst/>
                <a:uLnTx/>
                <a:uFillTx/>
                <a:ea typeface="黑体" panose="02010609060101010101" pitchFamily="2" charset="-122"/>
                <a:cs typeface="+mn-ea"/>
                <a:sym typeface="+mn-ea"/>
              </a:rPr>
              <a:t>‘</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1</a:t>
            </a:r>
            <a:r>
              <a:rPr lang="en-US" altLang="zh-CN" noProof="0" smtClean="0">
                <a:ln>
                  <a:noFill/>
                </a:ln>
                <a:effectLst/>
                <a:uLnTx/>
                <a:uFillTx/>
                <a:ea typeface="黑体" panose="02010609060101010101" pitchFamily="2" charset="-122"/>
                <a:cs typeface="+mn-ea"/>
                <a:sym typeface="+mn-ea"/>
              </a:rPr>
              <a:t>’</a:t>
            </a:r>
            <a:endParaRPr kumimoji="0" lang="en-US" altLang="zh-CN"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rPr>
              <a:t>从根结点到叶子，经过的分支则为对应的赫夫曼编码</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endParaRPr lang="en-US" altLang="zh-CN" sz="2400" noProof="0" smtClean="0">
              <a:ln>
                <a:noFill/>
              </a:ln>
              <a:effectLst/>
              <a:uLnTx/>
              <a:uFillTx/>
              <a:latin typeface="黑体" panose="02010609060101010101" pitchFamily="2" charset="-122"/>
              <a:ea typeface="黑体" panose="02010609060101010101" pitchFamily="2" charset="-122"/>
              <a:cs typeface="+mn-cs"/>
              <a:sym typeface="+mn-ea"/>
            </a:endParaRPr>
          </a:p>
          <a:p>
            <a:pPr marL="609600" marR="0" lvl="1" indent="0" algn="l" defTabSz="1219200" rtl="0" eaLnBrk="1" fontAlgn="base" latinLnBrk="0" hangingPunct="1">
              <a:lnSpc>
                <a:spcPct val="100000"/>
              </a:lnSpc>
              <a:spcBef>
                <a:spcPct val="20000"/>
              </a:spcBef>
              <a:buClrTx/>
              <a:buSzTx/>
              <a:buNone/>
            </a:pPr>
            <a:r>
              <a:rPr lang="en-US" altLang="zh-CN" sz="2400" noProof="0" smtClean="0">
                <a:ln>
                  <a:noFill/>
                </a:ln>
                <a:effectLst/>
                <a:uLnTx/>
                <a:uFillTx/>
                <a:latin typeface="黑体" panose="02010609060101010101" pitchFamily="2" charset="-122"/>
                <a:ea typeface="黑体" panose="02010609060101010101" pitchFamily="2" charset="-122"/>
                <a:cs typeface="+mn-cs"/>
                <a:sym typeface="+mn-ea"/>
              </a:rPr>
              <a:t>O:1</a:t>
            </a:r>
            <a:endParaRPr kumimoji="0" lang="en-US" altLang="zh-CN"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cs"/>
            </a:endParaRPr>
          </a:p>
          <a:p>
            <a:pPr marL="609600" marR="0" lvl="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defRPr/>
            </a:pPr>
            <a:r>
              <a:rPr lang="en-US" altLang="zh-CN" sz="2400" noProof="0" smtClean="0">
                <a:ln>
                  <a:noFill/>
                </a:ln>
                <a:effectLst/>
                <a:uLnTx/>
                <a:uFillTx/>
                <a:latin typeface="黑体" panose="02010609060101010101" pitchFamily="2" charset="-122"/>
                <a:ea typeface="黑体" panose="02010609060101010101" pitchFamily="2" charset="-122"/>
                <a:cs typeface="+mn-cs"/>
                <a:sym typeface="+mn-ea"/>
              </a:rPr>
              <a:t>	_:011  </a:t>
            </a:r>
            <a:endParaRPr kumimoji="0" lang="en-US" altLang="zh-CN"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cs"/>
            </a:endParaRPr>
          </a:p>
          <a:p>
            <a:pPr marL="609600" marR="0" lvl="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defRPr/>
            </a:pPr>
            <a:r>
              <a:rPr lang="en-US" altLang="zh-CN" sz="2400" noProof="0" smtClean="0">
                <a:ln>
                  <a:noFill/>
                </a:ln>
                <a:effectLst/>
                <a:uLnTx/>
                <a:uFillTx/>
                <a:latin typeface="黑体" panose="02010609060101010101" pitchFamily="2" charset="-122"/>
                <a:ea typeface="黑体" panose="02010609060101010101" pitchFamily="2" charset="-122"/>
                <a:cs typeface="+mn-cs"/>
                <a:sym typeface="+mn-ea"/>
              </a:rPr>
              <a:t>	G:010  </a:t>
            </a:r>
            <a:endParaRPr kumimoji="0" lang="en-US" altLang="zh-CN"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cs"/>
            </a:endParaRPr>
          </a:p>
          <a:p>
            <a:pPr marL="609600" marR="0" lvl="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defRPr/>
            </a:pPr>
            <a:r>
              <a:rPr lang="en-US" altLang="zh-CN" sz="2400" noProof="0" smtClean="0">
                <a:ln>
                  <a:noFill/>
                </a:ln>
                <a:effectLst/>
                <a:uLnTx/>
                <a:uFillTx/>
                <a:latin typeface="黑体" panose="02010609060101010101" pitchFamily="2" charset="-122"/>
                <a:ea typeface="黑体" panose="02010609060101010101" pitchFamily="2" charset="-122"/>
                <a:cs typeface="+mn-cs"/>
                <a:sym typeface="+mn-ea"/>
              </a:rPr>
              <a:t>	D:001   </a:t>
            </a:r>
            <a:endParaRPr kumimoji="0" lang="en-US" altLang="zh-CN"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cs"/>
            </a:endParaRPr>
          </a:p>
          <a:p>
            <a:pPr marL="609600" marR="0" lvl="0" indent="-60960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None/>
              <a:defRPr/>
            </a:pPr>
            <a:r>
              <a:rPr lang="en-US" altLang="zh-CN" sz="2400" noProof="0" smtClean="0">
                <a:ln>
                  <a:noFill/>
                </a:ln>
                <a:effectLst/>
                <a:uLnTx/>
                <a:uFillTx/>
                <a:latin typeface="黑体" panose="02010609060101010101" pitchFamily="2" charset="-122"/>
                <a:ea typeface="黑体" panose="02010609060101010101" pitchFamily="2" charset="-122"/>
                <a:cs typeface="+mn-cs"/>
                <a:sym typeface="+mn-ea"/>
              </a:rPr>
              <a:t>	F:000</a:t>
            </a: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03428" name="Group 34"/>
          <p:cNvGrpSpPr/>
          <p:nvPr/>
        </p:nvGrpSpPr>
        <p:grpSpPr>
          <a:xfrm>
            <a:off x="3287395" y="3500756"/>
            <a:ext cx="2447925" cy="2427288"/>
            <a:chOff x="3969" y="2703"/>
            <a:chExt cx="1542" cy="1529"/>
          </a:xfrm>
        </p:grpSpPr>
        <p:grpSp>
          <p:nvGrpSpPr>
            <p:cNvPr id="103429" name="Group 35"/>
            <p:cNvGrpSpPr/>
            <p:nvPr/>
          </p:nvGrpSpPr>
          <p:grpSpPr>
            <a:xfrm>
              <a:off x="3969" y="2703"/>
              <a:ext cx="1542" cy="1344"/>
              <a:chOff x="3923" y="2204"/>
              <a:chExt cx="1542" cy="1344"/>
            </a:xfrm>
          </p:grpSpPr>
          <p:grpSp>
            <p:nvGrpSpPr>
              <p:cNvPr id="103430" name="Group 36"/>
              <p:cNvGrpSpPr/>
              <p:nvPr/>
            </p:nvGrpSpPr>
            <p:grpSpPr>
              <a:xfrm>
                <a:off x="3923" y="2204"/>
                <a:ext cx="1491" cy="1344"/>
                <a:chOff x="3552" y="2703"/>
                <a:chExt cx="1491" cy="1344"/>
              </a:xfrm>
            </p:grpSpPr>
            <p:sp>
              <p:nvSpPr>
                <p:cNvPr id="103431" name="Line 37"/>
                <p:cNvSpPr/>
                <p:nvPr/>
              </p:nvSpPr>
              <p:spPr>
                <a:xfrm>
                  <a:off x="4649" y="2931"/>
                  <a:ext cx="259" cy="294"/>
                </a:xfrm>
                <a:prstGeom prst="line">
                  <a:avLst/>
                </a:prstGeom>
                <a:ln w="28575" cap="flat" cmpd="sng">
                  <a:solidFill>
                    <a:srgbClr val="009900"/>
                  </a:solidFill>
                  <a:prstDash val="solid"/>
                  <a:round/>
                  <a:headEnd type="none" w="med" len="med"/>
                  <a:tailEnd type="none" w="med" len="med"/>
                </a:ln>
              </p:spPr>
            </p:sp>
            <p:sp>
              <p:nvSpPr>
                <p:cNvPr id="103432" name="Line 38"/>
                <p:cNvSpPr/>
                <p:nvPr/>
              </p:nvSpPr>
              <p:spPr>
                <a:xfrm flipH="1">
                  <a:off x="4332" y="2886"/>
                  <a:ext cx="226" cy="272"/>
                </a:xfrm>
                <a:prstGeom prst="line">
                  <a:avLst/>
                </a:prstGeom>
                <a:ln w="28575" cap="flat" cmpd="sng">
                  <a:solidFill>
                    <a:srgbClr val="009900"/>
                  </a:solidFill>
                  <a:prstDash val="solid"/>
                  <a:round/>
                  <a:headEnd type="none" w="med" len="med"/>
                  <a:tailEnd type="none" w="med" len="med"/>
                </a:ln>
              </p:spPr>
            </p:sp>
            <p:sp>
              <p:nvSpPr>
                <p:cNvPr id="103433" name="Line 39"/>
                <p:cNvSpPr/>
                <p:nvPr/>
              </p:nvSpPr>
              <p:spPr>
                <a:xfrm>
                  <a:off x="4337" y="3340"/>
                  <a:ext cx="267" cy="181"/>
                </a:xfrm>
                <a:prstGeom prst="line">
                  <a:avLst/>
                </a:prstGeom>
                <a:ln w="28575" cap="flat" cmpd="sng">
                  <a:solidFill>
                    <a:srgbClr val="009900"/>
                  </a:solidFill>
                  <a:prstDash val="solid"/>
                  <a:round/>
                  <a:headEnd type="none" w="med" len="med"/>
                  <a:tailEnd type="none" w="med" len="med"/>
                </a:ln>
              </p:spPr>
            </p:sp>
            <p:sp>
              <p:nvSpPr>
                <p:cNvPr id="103434" name="Line 40"/>
                <p:cNvSpPr/>
                <p:nvPr/>
              </p:nvSpPr>
              <p:spPr>
                <a:xfrm flipH="1">
                  <a:off x="3969" y="3334"/>
                  <a:ext cx="274" cy="187"/>
                </a:xfrm>
                <a:prstGeom prst="line">
                  <a:avLst/>
                </a:prstGeom>
                <a:ln w="28575" cap="flat" cmpd="sng">
                  <a:solidFill>
                    <a:srgbClr val="009900"/>
                  </a:solidFill>
                  <a:prstDash val="solid"/>
                  <a:round/>
                  <a:headEnd type="none" w="med" len="med"/>
                  <a:tailEnd type="none" w="med" len="med"/>
                </a:ln>
              </p:spPr>
            </p:sp>
            <p:sp>
              <p:nvSpPr>
                <p:cNvPr id="833577" name="Rectangle 41"/>
                <p:cNvSpPr>
                  <a:spLocks noChangeArrowheads="1"/>
                </p:cNvSpPr>
                <p:nvPr/>
              </p:nvSpPr>
              <p:spPr bwMode="auto">
                <a:xfrm>
                  <a:off x="4766" y="3154"/>
                  <a:ext cx="236"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3578" name="Oval 42"/>
                <p:cNvSpPr>
                  <a:spLocks noChangeArrowheads="1"/>
                </p:cNvSpPr>
                <p:nvPr/>
              </p:nvSpPr>
              <p:spPr bwMode="auto">
                <a:xfrm>
                  <a:off x="4148" y="3156"/>
                  <a:ext cx="284" cy="213"/>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3579" name="Oval 43"/>
                <p:cNvSpPr>
                  <a:spLocks noChangeArrowheads="1"/>
                </p:cNvSpPr>
                <p:nvPr/>
              </p:nvSpPr>
              <p:spPr bwMode="auto">
                <a:xfrm>
                  <a:off x="4436" y="2704"/>
                  <a:ext cx="284" cy="213"/>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38" name="Line 44"/>
                <p:cNvSpPr/>
                <p:nvPr/>
              </p:nvSpPr>
              <p:spPr>
                <a:xfrm>
                  <a:off x="4747" y="3653"/>
                  <a:ext cx="142" cy="213"/>
                </a:xfrm>
                <a:prstGeom prst="line">
                  <a:avLst/>
                </a:prstGeom>
                <a:ln w="28575" cap="flat" cmpd="sng">
                  <a:solidFill>
                    <a:srgbClr val="009900"/>
                  </a:solidFill>
                  <a:prstDash val="solid"/>
                  <a:round/>
                  <a:headEnd type="none" w="med" len="med"/>
                  <a:tailEnd type="none" w="med" len="med"/>
                </a:ln>
              </p:spPr>
            </p:sp>
            <p:sp>
              <p:nvSpPr>
                <p:cNvPr id="103439" name="Line 45"/>
                <p:cNvSpPr/>
                <p:nvPr/>
              </p:nvSpPr>
              <p:spPr>
                <a:xfrm flipH="1">
                  <a:off x="4510" y="3653"/>
                  <a:ext cx="142" cy="213"/>
                </a:xfrm>
                <a:prstGeom prst="line">
                  <a:avLst/>
                </a:prstGeom>
                <a:ln w="28575" cap="flat" cmpd="sng">
                  <a:solidFill>
                    <a:srgbClr val="009900"/>
                  </a:solidFill>
                  <a:prstDash val="solid"/>
                  <a:round/>
                  <a:headEnd type="none" w="med" len="med"/>
                  <a:tailEnd type="none" w="med" len="med"/>
                </a:ln>
              </p:spPr>
            </p:sp>
            <p:sp>
              <p:nvSpPr>
                <p:cNvPr id="833582" name="Rectangle 46"/>
                <p:cNvSpPr>
                  <a:spLocks noChangeArrowheads="1"/>
                </p:cNvSpPr>
                <p:nvPr/>
              </p:nvSpPr>
              <p:spPr bwMode="auto">
                <a:xfrm>
                  <a:off x="4368" y="3831"/>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3583" name="Rectangle 47"/>
                <p:cNvSpPr>
                  <a:spLocks noChangeArrowheads="1"/>
                </p:cNvSpPr>
                <p:nvPr/>
              </p:nvSpPr>
              <p:spPr bwMode="auto">
                <a:xfrm>
                  <a:off x="4806" y="3831"/>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charset="0"/>
                    <a:ea typeface="宋体" panose="02010600030101010101" pitchFamily="2" charset="-122"/>
                    <a:cs typeface="+mn-cs"/>
                  </a:endParaRPr>
                </a:p>
              </p:txBody>
            </p:sp>
            <p:sp>
              <p:nvSpPr>
                <p:cNvPr id="833584" name="Oval 48"/>
                <p:cNvSpPr>
                  <a:spLocks noChangeArrowheads="1"/>
                </p:cNvSpPr>
                <p:nvPr/>
              </p:nvSpPr>
              <p:spPr bwMode="auto">
                <a:xfrm>
                  <a:off x="4558" y="3475"/>
                  <a:ext cx="284" cy="214"/>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43" name="Text Box 49"/>
                <p:cNvSpPr txBox="1"/>
                <p:nvPr/>
              </p:nvSpPr>
              <p:spPr>
                <a:xfrm>
                  <a:off x="4381" y="3796"/>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p:txBody>
            </p:sp>
            <p:sp>
              <p:nvSpPr>
                <p:cNvPr id="103444" name="Text Box 50"/>
                <p:cNvSpPr txBox="1"/>
                <p:nvPr/>
              </p:nvSpPr>
              <p:spPr>
                <a:xfrm>
                  <a:off x="4740" y="3112"/>
                  <a:ext cx="27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15</a:t>
                  </a:r>
                  <a:endParaRPr lang="en-US" altLang="zh-CN" sz="2000" dirty="0">
                    <a:latin typeface="Times New Roman" panose="02020603050405020304" pitchFamily="18" charset="0"/>
                    <a:ea typeface="宋体" panose="02010600030101010101" pitchFamily="2" charset="-122"/>
                  </a:endParaRPr>
                </a:p>
              </p:txBody>
            </p:sp>
            <p:sp>
              <p:nvSpPr>
                <p:cNvPr id="103445" name="Text Box 51"/>
                <p:cNvSpPr txBox="1"/>
                <p:nvPr/>
              </p:nvSpPr>
              <p:spPr>
                <a:xfrm>
                  <a:off x="4831" y="3796"/>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4</a:t>
                  </a:r>
                  <a:endParaRPr lang="en-US" altLang="zh-CN" sz="2000" b="1" dirty="0">
                    <a:latin typeface="Times New Roman" panose="02020603050405020304" pitchFamily="18" charset="0"/>
                    <a:ea typeface="宋体" panose="02010600030101010101" pitchFamily="2" charset="-122"/>
                  </a:endParaRPr>
                </a:p>
              </p:txBody>
            </p:sp>
            <p:sp>
              <p:nvSpPr>
                <p:cNvPr id="103446" name="Text Box 52"/>
                <p:cNvSpPr txBox="1"/>
                <p:nvPr/>
              </p:nvSpPr>
              <p:spPr>
                <a:xfrm>
                  <a:off x="4103" y="3129"/>
                  <a:ext cx="384" cy="251"/>
                </a:xfrm>
                <a:prstGeom prst="rect">
                  <a:avLst/>
                </a:prstGeom>
                <a:noFill/>
                <a:ln w="38100">
                  <a:noFill/>
                </a:ln>
              </p:spPr>
              <p:txBody>
                <a:bodyPr anchor="ctr" anchorCtr="0">
                  <a:spAutoFit/>
                </a:bodyPr>
                <a:p>
                  <a:pPr algn="ctr"/>
                  <a:endParaRPr lang="zh-CN" altLang="zh-CN" sz="2000" dirty="0">
                    <a:latin typeface="Times New Roman" panose="02020603050405020304" pitchFamily="18" charset="0"/>
                    <a:ea typeface="宋体" panose="02010600030101010101" pitchFamily="2" charset="-122"/>
                  </a:endParaRPr>
                </a:p>
              </p:txBody>
            </p:sp>
            <p:sp>
              <p:nvSpPr>
                <p:cNvPr id="103447" name="Text Box 53"/>
                <p:cNvSpPr txBox="1"/>
                <p:nvPr/>
              </p:nvSpPr>
              <p:spPr>
                <a:xfrm>
                  <a:off x="4377" y="2703"/>
                  <a:ext cx="382" cy="251"/>
                </a:xfrm>
                <a:prstGeom prst="rect">
                  <a:avLst/>
                </a:prstGeom>
                <a:noFill/>
                <a:ln w="38100">
                  <a:noFill/>
                </a:ln>
              </p:spPr>
              <p:txBody>
                <a:bodyPr anchor="ctr" anchorCtr="0">
                  <a:spAutoFit/>
                </a:bodyPr>
                <a:p>
                  <a:pPr algn="ctr"/>
                  <a:endParaRPr lang="zh-CN" altLang="zh-CN" sz="2000" dirty="0">
                    <a:latin typeface="Times New Roman" panose="02020603050405020304" pitchFamily="18" charset="0"/>
                    <a:ea typeface="宋体" panose="02010600030101010101" pitchFamily="2" charset="-122"/>
                  </a:endParaRPr>
                </a:p>
              </p:txBody>
            </p:sp>
            <p:sp>
              <p:nvSpPr>
                <p:cNvPr id="103448" name="Line 54"/>
                <p:cNvSpPr/>
                <p:nvPr/>
              </p:nvSpPr>
              <p:spPr>
                <a:xfrm>
                  <a:off x="3931" y="3653"/>
                  <a:ext cx="142" cy="213"/>
                </a:xfrm>
                <a:prstGeom prst="line">
                  <a:avLst/>
                </a:prstGeom>
                <a:ln w="28575" cap="flat" cmpd="sng">
                  <a:solidFill>
                    <a:srgbClr val="009900"/>
                  </a:solidFill>
                  <a:prstDash val="solid"/>
                  <a:round/>
                  <a:headEnd type="none" w="med" len="med"/>
                  <a:tailEnd type="none" w="med" len="med"/>
                </a:ln>
              </p:spPr>
            </p:sp>
            <p:sp>
              <p:nvSpPr>
                <p:cNvPr id="103449" name="Line 55"/>
                <p:cNvSpPr/>
                <p:nvPr/>
              </p:nvSpPr>
              <p:spPr>
                <a:xfrm flipH="1">
                  <a:off x="3694" y="3653"/>
                  <a:ext cx="142" cy="213"/>
                </a:xfrm>
                <a:prstGeom prst="line">
                  <a:avLst/>
                </a:prstGeom>
                <a:ln w="28575" cap="flat" cmpd="sng">
                  <a:solidFill>
                    <a:srgbClr val="009900"/>
                  </a:solidFill>
                  <a:prstDash val="solid"/>
                  <a:round/>
                  <a:headEnd type="none" w="med" len="med"/>
                  <a:tailEnd type="none" w="med" len="med"/>
                </a:ln>
              </p:spPr>
            </p:sp>
            <p:sp>
              <p:nvSpPr>
                <p:cNvPr id="833592" name="Rectangle 56"/>
                <p:cNvSpPr>
                  <a:spLocks noChangeArrowheads="1"/>
                </p:cNvSpPr>
                <p:nvPr/>
              </p:nvSpPr>
              <p:spPr bwMode="auto">
                <a:xfrm>
                  <a:off x="3552" y="3831"/>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3593" name="Rectangle 57"/>
                <p:cNvSpPr>
                  <a:spLocks noChangeArrowheads="1"/>
                </p:cNvSpPr>
                <p:nvPr/>
              </p:nvSpPr>
              <p:spPr bwMode="auto">
                <a:xfrm>
                  <a:off x="3990" y="3831"/>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charset="0"/>
                    <a:ea typeface="宋体" panose="02010600030101010101" pitchFamily="2" charset="-122"/>
                    <a:cs typeface="+mn-cs"/>
                  </a:endParaRPr>
                </a:p>
              </p:txBody>
            </p:sp>
            <p:sp>
              <p:nvSpPr>
                <p:cNvPr id="833594" name="Oval 58"/>
                <p:cNvSpPr>
                  <a:spLocks noChangeArrowheads="1"/>
                </p:cNvSpPr>
                <p:nvPr/>
              </p:nvSpPr>
              <p:spPr bwMode="auto">
                <a:xfrm>
                  <a:off x="3742" y="3475"/>
                  <a:ext cx="284" cy="214"/>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53" name="Text Box 59"/>
                <p:cNvSpPr txBox="1"/>
                <p:nvPr/>
              </p:nvSpPr>
              <p:spPr>
                <a:xfrm>
                  <a:off x="3565" y="3796"/>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p:txBody>
            </p:sp>
            <p:sp>
              <p:nvSpPr>
                <p:cNvPr id="103454" name="Text Box 60"/>
                <p:cNvSpPr txBox="1"/>
                <p:nvPr/>
              </p:nvSpPr>
              <p:spPr>
                <a:xfrm>
                  <a:off x="4015" y="3796"/>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3</a:t>
                  </a:r>
                  <a:endParaRPr lang="en-US" altLang="zh-CN" sz="2000" b="1" dirty="0">
                    <a:latin typeface="Times New Roman" panose="02020603050405020304" pitchFamily="18" charset="0"/>
                    <a:ea typeface="宋体" panose="02010600030101010101" pitchFamily="2" charset="-122"/>
                  </a:endParaRPr>
                </a:p>
              </p:txBody>
            </p:sp>
          </p:grpSp>
          <p:sp>
            <p:nvSpPr>
              <p:cNvPr id="103455" name="Text Box 61"/>
              <p:cNvSpPr txBox="1"/>
              <p:nvPr/>
            </p:nvSpPr>
            <p:spPr>
              <a:xfrm>
                <a:off x="4604" y="2341"/>
                <a:ext cx="272" cy="251"/>
              </a:xfrm>
              <a:prstGeom prst="rect">
                <a:avLst/>
              </a:prstGeom>
              <a:noFill/>
              <a:ln w="9525">
                <a:noFill/>
              </a:ln>
            </p:spPr>
            <p:txBody>
              <a:bodyPr anchor="t" anchorCtr="0">
                <a:spAutoFit/>
              </a:bodyPr>
              <a:p>
                <a:pPr>
                  <a:spcBef>
                    <a:spcPct val="50000"/>
                  </a:spcBef>
                </a:pPr>
                <a:r>
                  <a:rPr lang="en-US" altLang="zh-CN" sz="2000" dirty="0">
                    <a:solidFill>
                      <a:schemeClr val="hlink"/>
                    </a:solidFill>
                    <a:latin typeface="Tahoma" panose="020B0604030504040204" charset="0"/>
                    <a:ea typeface="宋体" panose="02010600030101010101" pitchFamily="2" charset="-122"/>
                  </a:rPr>
                  <a:t>0</a:t>
                </a:r>
                <a:endParaRPr lang="en-US" altLang="zh-CN" sz="2000" dirty="0">
                  <a:solidFill>
                    <a:schemeClr val="hlink"/>
                  </a:solidFill>
                  <a:latin typeface="Tahoma" panose="020B0604030504040204" charset="0"/>
                  <a:ea typeface="宋体" panose="02010600030101010101" pitchFamily="2" charset="-122"/>
                </a:endParaRPr>
              </a:p>
            </p:txBody>
          </p:sp>
          <p:sp>
            <p:nvSpPr>
              <p:cNvPr id="103456" name="Text Box 62"/>
              <p:cNvSpPr txBox="1"/>
              <p:nvPr/>
            </p:nvSpPr>
            <p:spPr>
              <a:xfrm>
                <a:off x="4286" y="2704"/>
                <a:ext cx="272" cy="251"/>
              </a:xfrm>
              <a:prstGeom prst="rect">
                <a:avLst/>
              </a:prstGeom>
              <a:noFill/>
              <a:ln w="9525">
                <a:noFill/>
              </a:ln>
            </p:spPr>
            <p:txBody>
              <a:bodyPr anchor="t" anchorCtr="0">
                <a:spAutoFit/>
              </a:bodyPr>
              <a:p>
                <a:pPr>
                  <a:spcBef>
                    <a:spcPct val="50000"/>
                  </a:spcBef>
                </a:pPr>
                <a:r>
                  <a:rPr lang="en-US" altLang="zh-CN" sz="2000" dirty="0">
                    <a:solidFill>
                      <a:schemeClr val="hlink"/>
                    </a:solidFill>
                    <a:latin typeface="Tahoma" panose="020B0604030504040204" charset="0"/>
                    <a:ea typeface="宋体" panose="02010600030101010101" pitchFamily="2" charset="-122"/>
                  </a:rPr>
                  <a:t>0</a:t>
                </a:r>
                <a:endParaRPr lang="en-US" altLang="zh-CN" sz="2000" dirty="0">
                  <a:solidFill>
                    <a:schemeClr val="hlink"/>
                  </a:solidFill>
                  <a:latin typeface="Tahoma" panose="020B0604030504040204" charset="0"/>
                  <a:ea typeface="宋体" panose="02010600030101010101" pitchFamily="2" charset="-122"/>
                </a:endParaRPr>
              </a:p>
            </p:txBody>
          </p:sp>
          <p:sp>
            <p:nvSpPr>
              <p:cNvPr id="103457" name="Text Box 63"/>
              <p:cNvSpPr txBox="1"/>
              <p:nvPr/>
            </p:nvSpPr>
            <p:spPr>
              <a:xfrm>
                <a:off x="3923" y="3067"/>
                <a:ext cx="272" cy="251"/>
              </a:xfrm>
              <a:prstGeom prst="rect">
                <a:avLst/>
              </a:prstGeom>
              <a:noFill/>
              <a:ln w="9525">
                <a:noFill/>
              </a:ln>
            </p:spPr>
            <p:txBody>
              <a:bodyPr anchor="t" anchorCtr="0">
                <a:spAutoFit/>
              </a:bodyPr>
              <a:p>
                <a:pPr>
                  <a:spcBef>
                    <a:spcPct val="50000"/>
                  </a:spcBef>
                </a:pPr>
                <a:r>
                  <a:rPr lang="en-US" altLang="zh-CN" sz="2000" dirty="0">
                    <a:solidFill>
                      <a:schemeClr val="hlink"/>
                    </a:solidFill>
                    <a:latin typeface="Tahoma" panose="020B0604030504040204" charset="0"/>
                    <a:ea typeface="宋体" panose="02010600030101010101" pitchFamily="2" charset="-122"/>
                  </a:rPr>
                  <a:t>0</a:t>
                </a:r>
                <a:endParaRPr lang="en-US" altLang="zh-CN" sz="2000" dirty="0">
                  <a:solidFill>
                    <a:schemeClr val="hlink"/>
                  </a:solidFill>
                  <a:latin typeface="Tahoma" panose="020B0604030504040204" charset="0"/>
                  <a:ea typeface="宋体" panose="02010600030101010101" pitchFamily="2" charset="-122"/>
                </a:endParaRPr>
              </a:p>
            </p:txBody>
          </p:sp>
          <p:sp>
            <p:nvSpPr>
              <p:cNvPr id="103458" name="Text Box 64"/>
              <p:cNvSpPr txBox="1"/>
              <p:nvPr/>
            </p:nvSpPr>
            <p:spPr>
              <a:xfrm>
                <a:off x="4785" y="3067"/>
                <a:ext cx="272" cy="251"/>
              </a:xfrm>
              <a:prstGeom prst="rect">
                <a:avLst/>
              </a:prstGeom>
              <a:noFill/>
              <a:ln w="9525">
                <a:noFill/>
              </a:ln>
            </p:spPr>
            <p:txBody>
              <a:bodyPr anchor="t" anchorCtr="0">
                <a:spAutoFit/>
              </a:bodyPr>
              <a:p>
                <a:pPr>
                  <a:spcBef>
                    <a:spcPct val="50000"/>
                  </a:spcBef>
                </a:pPr>
                <a:r>
                  <a:rPr lang="en-US" altLang="zh-CN" sz="2000" dirty="0">
                    <a:solidFill>
                      <a:schemeClr val="hlink"/>
                    </a:solidFill>
                    <a:latin typeface="Tahoma" panose="020B0604030504040204" charset="0"/>
                    <a:ea typeface="宋体" panose="02010600030101010101" pitchFamily="2" charset="-122"/>
                  </a:rPr>
                  <a:t>0</a:t>
                </a:r>
                <a:endParaRPr lang="en-US" altLang="zh-CN" sz="2000" dirty="0">
                  <a:solidFill>
                    <a:schemeClr val="hlink"/>
                  </a:solidFill>
                  <a:latin typeface="Tahoma" panose="020B0604030504040204" charset="0"/>
                  <a:ea typeface="宋体" panose="02010600030101010101" pitchFamily="2" charset="-122"/>
                </a:endParaRPr>
              </a:p>
            </p:txBody>
          </p:sp>
          <p:sp>
            <p:nvSpPr>
              <p:cNvPr id="103459" name="Text Box 65"/>
              <p:cNvSpPr txBox="1"/>
              <p:nvPr/>
            </p:nvSpPr>
            <p:spPr>
              <a:xfrm>
                <a:off x="5103" y="2341"/>
                <a:ext cx="272" cy="251"/>
              </a:xfrm>
              <a:prstGeom prst="rect">
                <a:avLst/>
              </a:prstGeom>
              <a:noFill/>
              <a:ln w="9525">
                <a:noFill/>
              </a:ln>
            </p:spPr>
            <p:txBody>
              <a:bodyPr anchor="t" anchorCtr="0">
                <a:spAutoFit/>
              </a:bodyPr>
              <a:p>
                <a:pPr>
                  <a:spcBef>
                    <a:spcPct val="50000"/>
                  </a:spcBef>
                </a:pPr>
                <a:r>
                  <a:rPr lang="en-US" altLang="zh-CN" sz="2000" dirty="0">
                    <a:solidFill>
                      <a:srgbClr val="3333FF"/>
                    </a:solidFill>
                    <a:latin typeface="Tahoma" panose="020B0604030504040204" charset="0"/>
                    <a:ea typeface="宋体" panose="02010600030101010101" pitchFamily="2" charset="-122"/>
                  </a:rPr>
                  <a:t>1</a:t>
                </a:r>
                <a:endParaRPr lang="en-US" altLang="zh-CN" sz="2000" dirty="0">
                  <a:solidFill>
                    <a:srgbClr val="3333FF"/>
                  </a:solidFill>
                  <a:latin typeface="Tahoma" panose="020B0604030504040204" charset="0"/>
                  <a:ea typeface="宋体" panose="02010600030101010101" pitchFamily="2" charset="-122"/>
                </a:endParaRPr>
              </a:p>
            </p:txBody>
          </p:sp>
          <p:sp>
            <p:nvSpPr>
              <p:cNvPr id="103460" name="Text Box 66"/>
              <p:cNvSpPr txBox="1"/>
              <p:nvPr/>
            </p:nvSpPr>
            <p:spPr>
              <a:xfrm>
                <a:off x="4830" y="2750"/>
                <a:ext cx="272" cy="251"/>
              </a:xfrm>
              <a:prstGeom prst="rect">
                <a:avLst/>
              </a:prstGeom>
              <a:noFill/>
              <a:ln w="9525">
                <a:noFill/>
              </a:ln>
            </p:spPr>
            <p:txBody>
              <a:bodyPr anchor="t" anchorCtr="0">
                <a:spAutoFit/>
              </a:bodyPr>
              <a:p>
                <a:pPr>
                  <a:spcBef>
                    <a:spcPct val="50000"/>
                  </a:spcBef>
                </a:pPr>
                <a:r>
                  <a:rPr lang="en-US" altLang="zh-CN" sz="2000" dirty="0">
                    <a:solidFill>
                      <a:srgbClr val="3333FF"/>
                    </a:solidFill>
                    <a:latin typeface="Tahoma" panose="020B0604030504040204" charset="0"/>
                    <a:ea typeface="宋体" panose="02010600030101010101" pitchFamily="2" charset="-122"/>
                  </a:rPr>
                  <a:t>1</a:t>
                </a:r>
                <a:endParaRPr lang="en-US" altLang="zh-CN" sz="2000" dirty="0">
                  <a:solidFill>
                    <a:srgbClr val="3333FF"/>
                  </a:solidFill>
                  <a:latin typeface="Tahoma" panose="020B0604030504040204" charset="0"/>
                  <a:ea typeface="宋体" panose="02010600030101010101" pitchFamily="2" charset="-122"/>
                </a:endParaRPr>
              </a:p>
            </p:txBody>
          </p:sp>
          <p:sp>
            <p:nvSpPr>
              <p:cNvPr id="103461" name="Text Box 67"/>
              <p:cNvSpPr txBox="1"/>
              <p:nvPr/>
            </p:nvSpPr>
            <p:spPr>
              <a:xfrm>
                <a:off x="5193" y="3067"/>
                <a:ext cx="272" cy="251"/>
              </a:xfrm>
              <a:prstGeom prst="rect">
                <a:avLst/>
              </a:prstGeom>
              <a:noFill/>
              <a:ln w="9525">
                <a:noFill/>
              </a:ln>
            </p:spPr>
            <p:txBody>
              <a:bodyPr anchor="t" anchorCtr="0">
                <a:spAutoFit/>
              </a:bodyPr>
              <a:p>
                <a:pPr>
                  <a:spcBef>
                    <a:spcPct val="50000"/>
                  </a:spcBef>
                </a:pPr>
                <a:r>
                  <a:rPr lang="en-US" altLang="zh-CN" sz="2000" dirty="0">
                    <a:solidFill>
                      <a:srgbClr val="3333FF"/>
                    </a:solidFill>
                    <a:latin typeface="Tahoma" panose="020B0604030504040204" charset="0"/>
                    <a:ea typeface="宋体" panose="02010600030101010101" pitchFamily="2" charset="-122"/>
                  </a:rPr>
                  <a:t>1</a:t>
                </a:r>
                <a:endParaRPr lang="en-US" altLang="zh-CN" sz="2000" dirty="0">
                  <a:solidFill>
                    <a:srgbClr val="3333FF"/>
                  </a:solidFill>
                  <a:latin typeface="Tahoma" panose="020B0604030504040204" charset="0"/>
                  <a:ea typeface="宋体" panose="02010600030101010101" pitchFamily="2" charset="-122"/>
                </a:endParaRPr>
              </a:p>
            </p:txBody>
          </p:sp>
          <p:sp>
            <p:nvSpPr>
              <p:cNvPr id="103462" name="Text Box 68"/>
              <p:cNvSpPr txBox="1"/>
              <p:nvPr/>
            </p:nvSpPr>
            <p:spPr>
              <a:xfrm>
                <a:off x="4377" y="3067"/>
                <a:ext cx="272" cy="251"/>
              </a:xfrm>
              <a:prstGeom prst="rect">
                <a:avLst/>
              </a:prstGeom>
              <a:noFill/>
              <a:ln w="9525">
                <a:noFill/>
              </a:ln>
            </p:spPr>
            <p:txBody>
              <a:bodyPr anchor="t" anchorCtr="0">
                <a:spAutoFit/>
              </a:bodyPr>
              <a:p>
                <a:pPr>
                  <a:spcBef>
                    <a:spcPct val="50000"/>
                  </a:spcBef>
                </a:pPr>
                <a:r>
                  <a:rPr lang="en-US" altLang="zh-CN" sz="2000" dirty="0">
                    <a:solidFill>
                      <a:srgbClr val="3333FF"/>
                    </a:solidFill>
                    <a:latin typeface="Tahoma" panose="020B0604030504040204" charset="0"/>
                    <a:ea typeface="宋体" panose="02010600030101010101" pitchFamily="2" charset="-122"/>
                  </a:rPr>
                  <a:t>1</a:t>
                </a:r>
                <a:endParaRPr lang="en-US" altLang="zh-CN" sz="2000" dirty="0">
                  <a:solidFill>
                    <a:srgbClr val="3333FF"/>
                  </a:solidFill>
                  <a:latin typeface="Tahoma" panose="020B0604030504040204" charset="0"/>
                  <a:ea typeface="宋体" panose="02010600030101010101" pitchFamily="2" charset="-122"/>
                </a:endParaRPr>
              </a:p>
            </p:txBody>
          </p:sp>
        </p:grpSp>
        <p:sp>
          <p:nvSpPr>
            <p:cNvPr id="103463" name="Text Box 69"/>
            <p:cNvSpPr txBox="1"/>
            <p:nvPr/>
          </p:nvSpPr>
          <p:spPr>
            <a:xfrm>
              <a:off x="4786" y="4020"/>
              <a:ext cx="215"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G</a:t>
              </a:r>
              <a:endParaRPr lang="en-US" altLang="zh-CN" sz="1600" dirty="0">
                <a:solidFill>
                  <a:srgbClr val="CC0066"/>
                </a:solidFill>
                <a:latin typeface="Times New Roman" panose="02020603050405020304" pitchFamily="18" charset="0"/>
                <a:ea typeface="宋体" panose="02010600030101010101" pitchFamily="2" charset="-122"/>
              </a:endParaRPr>
            </a:p>
          </p:txBody>
        </p:sp>
        <p:sp>
          <p:nvSpPr>
            <p:cNvPr id="103464" name="Text Box 70"/>
            <p:cNvSpPr txBox="1"/>
            <p:nvPr/>
          </p:nvSpPr>
          <p:spPr>
            <a:xfrm>
              <a:off x="5240" y="3968"/>
              <a:ext cx="179"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_</a:t>
              </a:r>
              <a:endParaRPr lang="en-US" altLang="zh-CN" sz="1600" b="1" dirty="0">
                <a:solidFill>
                  <a:srgbClr val="CC0066"/>
                </a:solidFill>
                <a:latin typeface="Times New Roman" panose="02020603050405020304" pitchFamily="18" charset="0"/>
                <a:ea typeface="宋体" panose="02010600030101010101" pitchFamily="2" charset="-122"/>
              </a:endParaRPr>
            </a:p>
          </p:txBody>
        </p:sp>
        <p:sp>
          <p:nvSpPr>
            <p:cNvPr id="103465" name="Text Box 71"/>
            <p:cNvSpPr txBox="1"/>
            <p:nvPr/>
          </p:nvSpPr>
          <p:spPr>
            <a:xfrm>
              <a:off x="3975" y="4020"/>
              <a:ext cx="193"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F</a:t>
              </a:r>
              <a:endParaRPr lang="en-US" altLang="zh-CN" sz="1600" dirty="0">
                <a:solidFill>
                  <a:srgbClr val="CC0066"/>
                </a:solidFill>
                <a:latin typeface="Times New Roman" panose="02020603050405020304" pitchFamily="18" charset="0"/>
                <a:ea typeface="宋体" panose="02010600030101010101" pitchFamily="2" charset="-122"/>
              </a:endParaRPr>
            </a:p>
          </p:txBody>
        </p:sp>
        <p:sp>
          <p:nvSpPr>
            <p:cNvPr id="103466" name="Text Box 72"/>
            <p:cNvSpPr txBox="1"/>
            <p:nvPr/>
          </p:nvSpPr>
          <p:spPr>
            <a:xfrm>
              <a:off x="4422" y="4020"/>
              <a:ext cx="208"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D</a:t>
              </a:r>
              <a:endParaRPr lang="en-US" altLang="zh-CN" sz="1600" b="1" dirty="0">
                <a:solidFill>
                  <a:srgbClr val="CC0066"/>
                </a:solidFill>
                <a:latin typeface="Times New Roman" panose="02020603050405020304" pitchFamily="18" charset="0"/>
                <a:ea typeface="宋体" panose="02010600030101010101" pitchFamily="2" charset="-122"/>
              </a:endParaRPr>
            </a:p>
          </p:txBody>
        </p:sp>
        <p:sp>
          <p:nvSpPr>
            <p:cNvPr id="103467" name="Text Box 73"/>
            <p:cNvSpPr txBox="1"/>
            <p:nvPr/>
          </p:nvSpPr>
          <p:spPr>
            <a:xfrm>
              <a:off x="5194" y="3339"/>
              <a:ext cx="215"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O</a:t>
              </a:r>
              <a:endParaRPr lang="en-US" altLang="zh-CN" sz="1600" b="1" dirty="0">
                <a:solidFill>
                  <a:srgbClr val="CC0066"/>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赫夫曼编码示例</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设给出一段报文： GOOD_GOOD_GOOD_GOOOOOOOO_OFF</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字符集合是 { O, G, _, D, F}，字符出现频度是 W＝{ 15, 4, 4, 3, 2}</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根据</a:t>
            </a:r>
            <a:r>
              <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rPr>
              <a:t>赫夫曼编码（不等长编码）求得报文总长度</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15*1+(2+3+4+4)*3 = 54 </a:t>
            </a:r>
            <a:r>
              <a:rPr lang="en-US" altLang="zh-CN" dirty="0">
                <a:solidFill>
                  <a:schemeClr val="hlink"/>
                </a:solidFill>
                <a:latin typeface="黑体" panose="02010609060101010101" pitchFamily="2" charset="-122"/>
                <a:ea typeface="黑体" panose="02010609060101010101" pitchFamily="2" charset="-122"/>
                <a:cs typeface="黑体" panose="02010609060101010101" pitchFamily="2" charset="-122"/>
                <a:sym typeface="+mn-ea"/>
              </a:rPr>
              <a:t>&lt; 84</a:t>
            </a:r>
            <a:endParaRPr kumimoji="0" lang="en-US" altLang="zh-CN" b="0" i="0" u="none" strike="noStrike" kern="0" cap="none" spc="0" normalizeH="0" baseline="0" noProof="1" dirty="0">
              <a:solidFill>
                <a:schemeClr val="hlink"/>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endParaRPr lang="en-US" altLang="zh-CN" sz="2400" noProof="0" smtClean="0">
              <a:ln>
                <a:noFill/>
              </a:ln>
              <a:effectLst/>
              <a:uLnTx/>
              <a:uFillTx/>
              <a:latin typeface="黑体" panose="02010609060101010101" pitchFamily="2" charset="-122"/>
              <a:ea typeface="黑体" panose="02010609060101010101" pitchFamily="2" charset="-122"/>
              <a:cs typeface="+mn-cs"/>
              <a:sym typeface="+mn-ea"/>
            </a:endParaRPr>
          </a:p>
          <a:p>
            <a:pPr marL="609600" marR="0" lvl="1" indent="0" algn="l" defTabSz="1219200" rtl="0" eaLnBrk="1" fontAlgn="base" latinLnBrk="0" hangingPunct="1">
              <a:lnSpc>
                <a:spcPct val="100000"/>
              </a:lnSpc>
              <a:spcBef>
                <a:spcPct val="20000"/>
              </a:spcBef>
              <a:buClrTx/>
              <a:buSzTx/>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03428" name="Group 34"/>
          <p:cNvGrpSpPr/>
          <p:nvPr/>
        </p:nvGrpSpPr>
        <p:grpSpPr>
          <a:xfrm>
            <a:off x="7174865" y="2995296"/>
            <a:ext cx="2447925" cy="2427288"/>
            <a:chOff x="3969" y="2703"/>
            <a:chExt cx="1542" cy="1529"/>
          </a:xfrm>
        </p:grpSpPr>
        <p:grpSp>
          <p:nvGrpSpPr>
            <p:cNvPr id="103429" name="Group 35"/>
            <p:cNvGrpSpPr/>
            <p:nvPr/>
          </p:nvGrpSpPr>
          <p:grpSpPr>
            <a:xfrm>
              <a:off x="3969" y="2703"/>
              <a:ext cx="1542" cy="1344"/>
              <a:chOff x="3923" y="2204"/>
              <a:chExt cx="1542" cy="1344"/>
            </a:xfrm>
          </p:grpSpPr>
          <p:grpSp>
            <p:nvGrpSpPr>
              <p:cNvPr id="103430" name="Group 36"/>
              <p:cNvGrpSpPr/>
              <p:nvPr/>
            </p:nvGrpSpPr>
            <p:grpSpPr>
              <a:xfrm>
                <a:off x="3923" y="2204"/>
                <a:ext cx="1491" cy="1344"/>
                <a:chOff x="3552" y="2703"/>
                <a:chExt cx="1491" cy="1344"/>
              </a:xfrm>
            </p:grpSpPr>
            <p:sp>
              <p:nvSpPr>
                <p:cNvPr id="103431" name="Line 37"/>
                <p:cNvSpPr/>
                <p:nvPr/>
              </p:nvSpPr>
              <p:spPr>
                <a:xfrm>
                  <a:off x="4649" y="2931"/>
                  <a:ext cx="259" cy="294"/>
                </a:xfrm>
                <a:prstGeom prst="line">
                  <a:avLst/>
                </a:prstGeom>
                <a:ln w="28575" cap="flat" cmpd="sng">
                  <a:solidFill>
                    <a:srgbClr val="009900"/>
                  </a:solidFill>
                  <a:prstDash val="solid"/>
                  <a:round/>
                  <a:headEnd type="none" w="med" len="med"/>
                  <a:tailEnd type="none" w="med" len="med"/>
                </a:ln>
              </p:spPr>
            </p:sp>
            <p:sp>
              <p:nvSpPr>
                <p:cNvPr id="103432" name="Line 38"/>
                <p:cNvSpPr/>
                <p:nvPr/>
              </p:nvSpPr>
              <p:spPr>
                <a:xfrm flipH="1">
                  <a:off x="4332" y="2886"/>
                  <a:ext cx="226" cy="272"/>
                </a:xfrm>
                <a:prstGeom prst="line">
                  <a:avLst/>
                </a:prstGeom>
                <a:ln w="28575" cap="flat" cmpd="sng">
                  <a:solidFill>
                    <a:srgbClr val="009900"/>
                  </a:solidFill>
                  <a:prstDash val="solid"/>
                  <a:round/>
                  <a:headEnd type="none" w="med" len="med"/>
                  <a:tailEnd type="none" w="med" len="med"/>
                </a:ln>
              </p:spPr>
            </p:sp>
            <p:sp>
              <p:nvSpPr>
                <p:cNvPr id="103433" name="Line 39"/>
                <p:cNvSpPr/>
                <p:nvPr/>
              </p:nvSpPr>
              <p:spPr>
                <a:xfrm>
                  <a:off x="4337" y="3340"/>
                  <a:ext cx="267" cy="181"/>
                </a:xfrm>
                <a:prstGeom prst="line">
                  <a:avLst/>
                </a:prstGeom>
                <a:ln w="28575" cap="flat" cmpd="sng">
                  <a:solidFill>
                    <a:srgbClr val="009900"/>
                  </a:solidFill>
                  <a:prstDash val="solid"/>
                  <a:round/>
                  <a:headEnd type="none" w="med" len="med"/>
                  <a:tailEnd type="none" w="med" len="med"/>
                </a:ln>
              </p:spPr>
            </p:sp>
            <p:sp>
              <p:nvSpPr>
                <p:cNvPr id="103434" name="Line 40"/>
                <p:cNvSpPr/>
                <p:nvPr/>
              </p:nvSpPr>
              <p:spPr>
                <a:xfrm flipH="1">
                  <a:off x="3969" y="3334"/>
                  <a:ext cx="274" cy="187"/>
                </a:xfrm>
                <a:prstGeom prst="line">
                  <a:avLst/>
                </a:prstGeom>
                <a:ln w="28575" cap="flat" cmpd="sng">
                  <a:solidFill>
                    <a:srgbClr val="009900"/>
                  </a:solidFill>
                  <a:prstDash val="solid"/>
                  <a:round/>
                  <a:headEnd type="none" w="med" len="med"/>
                  <a:tailEnd type="none" w="med" len="med"/>
                </a:ln>
              </p:spPr>
            </p:sp>
            <p:sp>
              <p:nvSpPr>
                <p:cNvPr id="833577" name="Rectangle 41"/>
                <p:cNvSpPr>
                  <a:spLocks noChangeArrowheads="1"/>
                </p:cNvSpPr>
                <p:nvPr/>
              </p:nvSpPr>
              <p:spPr bwMode="auto">
                <a:xfrm>
                  <a:off x="4766" y="3154"/>
                  <a:ext cx="236"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3578" name="Oval 42"/>
                <p:cNvSpPr>
                  <a:spLocks noChangeArrowheads="1"/>
                </p:cNvSpPr>
                <p:nvPr/>
              </p:nvSpPr>
              <p:spPr bwMode="auto">
                <a:xfrm>
                  <a:off x="4148" y="3156"/>
                  <a:ext cx="284" cy="213"/>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3579" name="Oval 43"/>
                <p:cNvSpPr>
                  <a:spLocks noChangeArrowheads="1"/>
                </p:cNvSpPr>
                <p:nvPr/>
              </p:nvSpPr>
              <p:spPr bwMode="auto">
                <a:xfrm>
                  <a:off x="4436" y="2704"/>
                  <a:ext cx="284" cy="213"/>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38" name="Line 44"/>
                <p:cNvSpPr/>
                <p:nvPr/>
              </p:nvSpPr>
              <p:spPr>
                <a:xfrm>
                  <a:off x="4747" y="3653"/>
                  <a:ext cx="142" cy="213"/>
                </a:xfrm>
                <a:prstGeom prst="line">
                  <a:avLst/>
                </a:prstGeom>
                <a:ln w="28575" cap="flat" cmpd="sng">
                  <a:solidFill>
                    <a:srgbClr val="009900"/>
                  </a:solidFill>
                  <a:prstDash val="solid"/>
                  <a:round/>
                  <a:headEnd type="none" w="med" len="med"/>
                  <a:tailEnd type="none" w="med" len="med"/>
                </a:ln>
              </p:spPr>
            </p:sp>
            <p:sp>
              <p:nvSpPr>
                <p:cNvPr id="103439" name="Line 45"/>
                <p:cNvSpPr/>
                <p:nvPr/>
              </p:nvSpPr>
              <p:spPr>
                <a:xfrm flipH="1">
                  <a:off x="4510" y="3653"/>
                  <a:ext cx="142" cy="213"/>
                </a:xfrm>
                <a:prstGeom prst="line">
                  <a:avLst/>
                </a:prstGeom>
                <a:ln w="28575" cap="flat" cmpd="sng">
                  <a:solidFill>
                    <a:srgbClr val="009900"/>
                  </a:solidFill>
                  <a:prstDash val="solid"/>
                  <a:round/>
                  <a:headEnd type="none" w="med" len="med"/>
                  <a:tailEnd type="none" w="med" len="med"/>
                </a:ln>
              </p:spPr>
            </p:sp>
            <p:sp>
              <p:nvSpPr>
                <p:cNvPr id="833582" name="Rectangle 46"/>
                <p:cNvSpPr>
                  <a:spLocks noChangeArrowheads="1"/>
                </p:cNvSpPr>
                <p:nvPr/>
              </p:nvSpPr>
              <p:spPr bwMode="auto">
                <a:xfrm>
                  <a:off x="4368" y="3831"/>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3583" name="Rectangle 47"/>
                <p:cNvSpPr>
                  <a:spLocks noChangeArrowheads="1"/>
                </p:cNvSpPr>
                <p:nvPr/>
              </p:nvSpPr>
              <p:spPr bwMode="auto">
                <a:xfrm>
                  <a:off x="4806" y="3831"/>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charset="0"/>
                    <a:ea typeface="宋体" panose="02010600030101010101" pitchFamily="2" charset="-122"/>
                    <a:cs typeface="+mn-cs"/>
                  </a:endParaRPr>
                </a:p>
              </p:txBody>
            </p:sp>
            <p:sp>
              <p:nvSpPr>
                <p:cNvPr id="833584" name="Oval 48"/>
                <p:cNvSpPr>
                  <a:spLocks noChangeArrowheads="1"/>
                </p:cNvSpPr>
                <p:nvPr/>
              </p:nvSpPr>
              <p:spPr bwMode="auto">
                <a:xfrm>
                  <a:off x="4558" y="3475"/>
                  <a:ext cx="284" cy="214"/>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43" name="Text Box 49"/>
                <p:cNvSpPr txBox="1"/>
                <p:nvPr/>
              </p:nvSpPr>
              <p:spPr>
                <a:xfrm>
                  <a:off x="4381" y="3796"/>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4</a:t>
                  </a:r>
                  <a:endParaRPr lang="en-US" altLang="zh-CN" sz="2000" dirty="0">
                    <a:latin typeface="Times New Roman" panose="02020603050405020304" pitchFamily="18" charset="0"/>
                    <a:ea typeface="宋体" panose="02010600030101010101" pitchFamily="2" charset="-122"/>
                  </a:endParaRPr>
                </a:p>
              </p:txBody>
            </p:sp>
            <p:sp>
              <p:nvSpPr>
                <p:cNvPr id="103444" name="Text Box 50"/>
                <p:cNvSpPr txBox="1"/>
                <p:nvPr/>
              </p:nvSpPr>
              <p:spPr>
                <a:xfrm>
                  <a:off x="4740" y="3112"/>
                  <a:ext cx="27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15</a:t>
                  </a:r>
                  <a:endParaRPr lang="en-US" altLang="zh-CN" sz="2000" dirty="0">
                    <a:latin typeface="Times New Roman" panose="02020603050405020304" pitchFamily="18" charset="0"/>
                    <a:ea typeface="宋体" panose="02010600030101010101" pitchFamily="2" charset="-122"/>
                  </a:endParaRPr>
                </a:p>
              </p:txBody>
            </p:sp>
            <p:sp>
              <p:nvSpPr>
                <p:cNvPr id="103445" name="Text Box 51"/>
                <p:cNvSpPr txBox="1"/>
                <p:nvPr/>
              </p:nvSpPr>
              <p:spPr>
                <a:xfrm>
                  <a:off x="4831" y="3796"/>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4</a:t>
                  </a:r>
                  <a:endParaRPr lang="en-US" altLang="zh-CN" sz="2000" b="1" dirty="0">
                    <a:latin typeface="Times New Roman" panose="02020603050405020304" pitchFamily="18" charset="0"/>
                    <a:ea typeface="宋体" panose="02010600030101010101" pitchFamily="2" charset="-122"/>
                  </a:endParaRPr>
                </a:p>
              </p:txBody>
            </p:sp>
            <p:sp>
              <p:nvSpPr>
                <p:cNvPr id="103446" name="Text Box 52"/>
                <p:cNvSpPr txBox="1"/>
                <p:nvPr/>
              </p:nvSpPr>
              <p:spPr>
                <a:xfrm>
                  <a:off x="4103" y="3129"/>
                  <a:ext cx="384" cy="251"/>
                </a:xfrm>
                <a:prstGeom prst="rect">
                  <a:avLst/>
                </a:prstGeom>
                <a:noFill/>
                <a:ln w="38100">
                  <a:noFill/>
                </a:ln>
              </p:spPr>
              <p:txBody>
                <a:bodyPr anchor="ctr" anchorCtr="0">
                  <a:spAutoFit/>
                </a:bodyPr>
                <a:p>
                  <a:pPr algn="ctr"/>
                  <a:endParaRPr lang="zh-CN" altLang="zh-CN" sz="2000" dirty="0">
                    <a:latin typeface="Times New Roman" panose="02020603050405020304" pitchFamily="18" charset="0"/>
                    <a:ea typeface="宋体" panose="02010600030101010101" pitchFamily="2" charset="-122"/>
                  </a:endParaRPr>
                </a:p>
              </p:txBody>
            </p:sp>
            <p:sp>
              <p:nvSpPr>
                <p:cNvPr id="103447" name="Text Box 53"/>
                <p:cNvSpPr txBox="1"/>
                <p:nvPr/>
              </p:nvSpPr>
              <p:spPr>
                <a:xfrm>
                  <a:off x="4377" y="2703"/>
                  <a:ext cx="382" cy="251"/>
                </a:xfrm>
                <a:prstGeom prst="rect">
                  <a:avLst/>
                </a:prstGeom>
                <a:noFill/>
                <a:ln w="38100">
                  <a:noFill/>
                </a:ln>
              </p:spPr>
              <p:txBody>
                <a:bodyPr anchor="ctr" anchorCtr="0">
                  <a:spAutoFit/>
                </a:bodyPr>
                <a:p>
                  <a:pPr algn="ctr"/>
                  <a:endParaRPr lang="zh-CN" altLang="zh-CN" sz="2000" dirty="0">
                    <a:latin typeface="Times New Roman" panose="02020603050405020304" pitchFamily="18" charset="0"/>
                    <a:ea typeface="宋体" panose="02010600030101010101" pitchFamily="2" charset="-122"/>
                  </a:endParaRPr>
                </a:p>
              </p:txBody>
            </p:sp>
            <p:sp>
              <p:nvSpPr>
                <p:cNvPr id="103448" name="Line 54"/>
                <p:cNvSpPr/>
                <p:nvPr/>
              </p:nvSpPr>
              <p:spPr>
                <a:xfrm>
                  <a:off x="3931" y="3653"/>
                  <a:ext cx="142" cy="213"/>
                </a:xfrm>
                <a:prstGeom prst="line">
                  <a:avLst/>
                </a:prstGeom>
                <a:ln w="28575" cap="flat" cmpd="sng">
                  <a:solidFill>
                    <a:srgbClr val="009900"/>
                  </a:solidFill>
                  <a:prstDash val="solid"/>
                  <a:round/>
                  <a:headEnd type="none" w="med" len="med"/>
                  <a:tailEnd type="none" w="med" len="med"/>
                </a:ln>
              </p:spPr>
            </p:sp>
            <p:sp>
              <p:nvSpPr>
                <p:cNvPr id="103449" name="Line 55"/>
                <p:cNvSpPr/>
                <p:nvPr/>
              </p:nvSpPr>
              <p:spPr>
                <a:xfrm flipH="1">
                  <a:off x="3694" y="3653"/>
                  <a:ext cx="142" cy="213"/>
                </a:xfrm>
                <a:prstGeom prst="line">
                  <a:avLst/>
                </a:prstGeom>
                <a:ln w="28575" cap="flat" cmpd="sng">
                  <a:solidFill>
                    <a:srgbClr val="009900"/>
                  </a:solidFill>
                  <a:prstDash val="solid"/>
                  <a:round/>
                  <a:headEnd type="none" w="med" len="med"/>
                  <a:tailEnd type="none" w="med" len="med"/>
                </a:ln>
              </p:spPr>
            </p:sp>
            <p:sp>
              <p:nvSpPr>
                <p:cNvPr id="833592" name="Rectangle 56"/>
                <p:cNvSpPr>
                  <a:spLocks noChangeArrowheads="1"/>
                </p:cNvSpPr>
                <p:nvPr/>
              </p:nvSpPr>
              <p:spPr bwMode="auto">
                <a:xfrm>
                  <a:off x="3552" y="3831"/>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3593" name="Rectangle 57"/>
                <p:cNvSpPr>
                  <a:spLocks noChangeArrowheads="1"/>
                </p:cNvSpPr>
                <p:nvPr/>
              </p:nvSpPr>
              <p:spPr bwMode="auto">
                <a:xfrm>
                  <a:off x="3990" y="3831"/>
                  <a:ext cx="237" cy="177"/>
                </a:xfrm>
                <a:prstGeom prst="rect">
                  <a:avLst/>
                </a:prstGeom>
                <a:solidFill>
                  <a:srgbClr val="FFFFCC"/>
                </a:solidFill>
                <a:ln w="19050">
                  <a:solidFill>
                    <a:srgbClr val="009900"/>
                  </a:solidFill>
                  <a:miter lim="800000"/>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charset="0"/>
                    <a:ea typeface="宋体" panose="02010600030101010101" pitchFamily="2" charset="-122"/>
                    <a:cs typeface="+mn-cs"/>
                  </a:endParaRPr>
                </a:p>
              </p:txBody>
            </p:sp>
            <p:sp>
              <p:nvSpPr>
                <p:cNvPr id="833594" name="Oval 58"/>
                <p:cNvSpPr>
                  <a:spLocks noChangeArrowheads="1"/>
                </p:cNvSpPr>
                <p:nvPr/>
              </p:nvSpPr>
              <p:spPr bwMode="auto">
                <a:xfrm>
                  <a:off x="3742" y="3475"/>
                  <a:ext cx="284" cy="214"/>
                </a:xfrm>
                <a:prstGeom prst="ellipse">
                  <a:avLst/>
                </a:prstGeom>
                <a:solidFill>
                  <a:srgbClr val="FFFFCC"/>
                </a:solidFill>
                <a:ln w="19050">
                  <a:solidFill>
                    <a:srgbClr val="0099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53" name="Text Box 59"/>
                <p:cNvSpPr txBox="1"/>
                <p:nvPr/>
              </p:nvSpPr>
              <p:spPr>
                <a:xfrm>
                  <a:off x="3565" y="3796"/>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2</a:t>
                  </a:r>
                  <a:endParaRPr lang="en-US" altLang="zh-CN" sz="2000" dirty="0">
                    <a:latin typeface="Times New Roman" panose="02020603050405020304" pitchFamily="18" charset="0"/>
                    <a:ea typeface="宋体" panose="02010600030101010101" pitchFamily="2" charset="-122"/>
                  </a:endParaRPr>
                </a:p>
              </p:txBody>
            </p:sp>
            <p:sp>
              <p:nvSpPr>
                <p:cNvPr id="103454" name="Text Box 60"/>
                <p:cNvSpPr txBox="1"/>
                <p:nvPr/>
              </p:nvSpPr>
              <p:spPr>
                <a:xfrm>
                  <a:off x="4015" y="3796"/>
                  <a:ext cx="195" cy="251"/>
                </a:xfrm>
                <a:prstGeom prst="rect">
                  <a:avLst/>
                </a:prstGeom>
                <a:noFill/>
                <a:ln w="38100">
                  <a:noFill/>
                </a:ln>
              </p:spPr>
              <p:txBody>
                <a:bodyPr wrap="none" anchor="ctr" anchorCtr="0">
                  <a:spAutoFit/>
                </a:bodyPr>
                <a:p>
                  <a:pPr algn="ctr"/>
                  <a:r>
                    <a:rPr lang="en-US" altLang="zh-CN" sz="2000" b="1" dirty="0">
                      <a:latin typeface="Times New Roman" panose="02020603050405020304" pitchFamily="18" charset="0"/>
                      <a:ea typeface="宋体" panose="02010600030101010101" pitchFamily="2" charset="-122"/>
                    </a:rPr>
                    <a:t>3</a:t>
                  </a:r>
                  <a:endParaRPr lang="en-US" altLang="zh-CN" sz="2000" b="1" dirty="0">
                    <a:latin typeface="Times New Roman" panose="02020603050405020304" pitchFamily="18" charset="0"/>
                    <a:ea typeface="宋体" panose="02010600030101010101" pitchFamily="2" charset="-122"/>
                  </a:endParaRPr>
                </a:p>
              </p:txBody>
            </p:sp>
          </p:grpSp>
          <p:sp>
            <p:nvSpPr>
              <p:cNvPr id="103455" name="Text Box 61"/>
              <p:cNvSpPr txBox="1"/>
              <p:nvPr/>
            </p:nvSpPr>
            <p:spPr>
              <a:xfrm>
                <a:off x="4604" y="2341"/>
                <a:ext cx="272" cy="251"/>
              </a:xfrm>
              <a:prstGeom prst="rect">
                <a:avLst/>
              </a:prstGeom>
              <a:noFill/>
              <a:ln w="9525">
                <a:noFill/>
              </a:ln>
            </p:spPr>
            <p:txBody>
              <a:bodyPr anchor="t" anchorCtr="0">
                <a:spAutoFit/>
              </a:bodyPr>
              <a:p>
                <a:pPr>
                  <a:spcBef>
                    <a:spcPct val="50000"/>
                  </a:spcBef>
                </a:pPr>
                <a:r>
                  <a:rPr lang="en-US" altLang="zh-CN" sz="2000" dirty="0">
                    <a:solidFill>
                      <a:schemeClr val="hlink"/>
                    </a:solidFill>
                    <a:latin typeface="Tahoma" panose="020B0604030504040204" charset="0"/>
                    <a:ea typeface="宋体" panose="02010600030101010101" pitchFamily="2" charset="-122"/>
                  </a:rPr>
                  <a:t>0</a:t>
                </a:r>
                <a:endParaRPr lang="en-US" altLang="zh-CN" sz="2000" dirty="0">
                  <a:solidFill>
                    <a:schemeClr val="hlink"/>
                  </a:solidFill>
                  <a:latin typeface="Tahoma" panose="020B0604030504040204" charset="0"/>
                  <a:ea typeface="宋体" panose="02010600030101010101" pitchFamily="2" charset="-122"/>
                </a:endParaRPr>
              </a:p>
            </p:txBody>
          </p:sp>
          <p:sp>
            <p:nvSpPr>
              <p:cNvPr id="103456" name="Text Box 62"/>
              <p:cNvSpPr txBox="1"/>
              <p:nvPr/>
            </p:nvSpPr>
            <p:spPr>
              <a:xfrm>
                <a:off x="4286" y="2704"/>
                <a:ext cx="272" cy="251"/>
              </a:xfrm>
              <a:prstGeom prst="rect">
                <a:avLst/>
              </a:prstGeom>
              <a:noFill/>
              <a:ln w="9525">
                <a:noFill/>
              </a:ln>
            </p:spPr>
            <p:txBody>
              <a:bodyPr anchor="t" anchorCtr="0">
                <a:spAutoFit/>
              </a:bodyPr>
              <a:p>
                <a:pPr>
                  <a:spcBef>
                    <a:spcPct val="50000"/>
                  </a:spcBef>
                </a:pPr>
                <a:r>
                  <a:rPr lang="en-US" altLang="zh-CN" sz="2000" dirty="0">
                    <a:solidFill>
                      <a:schemeClr val="hlink"/>
                    </a:solidFill>
                    <a:latin typeface="Tahoma" panose="020B0604030504040204" charset="0"/>
                    <a:ea typeface="宋体" panose="02010600030101010101" pitchFamily="2" charset="-122"/>
                  </a:rPr>
                  <a:t>0</a:t>
                </a:r>
                <a:endParaRPr lang="en-US" altLang="zh-CN" sz="2000" dirty="0">
                  <a:solidFill>
                    <a:schemeClr val="hlink"/>
                  </a:solidFill>
                  <a:latin typeface="Tahoma" panose="020B0604030504040204" charset="0"/>
                  <a:ea typeface="宋体" panose="02010600030101010101" pitchFamily="2" charset="-122"/>
                </a:endParaRPr>
              </a:p>
            </p:txBody>
          </p:sp>
          <p:sp>
            <p:nvSpPr>
              <p:cNvPr id="103457" name="Text Box 63"/>
              <p:cNvSpPr txBox="1"/>
              <p:nvPr/>
            </p:nvSpPr>
            <p:spPr>
              <a:xfrm>
                <a:off x="3923" y="3067"/>
                <a:ext cx="272" cy="251"/>
              </a:xfrm>
              <a:prstGeom prst="rect">
                <a:avLst/>
              </a:prstGeom>
              <a:noFill/>
              <a:ln w="9525">
                <a:noFill/>
              </a:ln>
            </p:spPr>
            <p:txBody>
              <a:bodyPr anchor="t" anchorCtr="0">
                <a:spAutoFit/>
              </a:bodyPr>
              <a:p>
                <a:pPr>
                  <a:spcBef>
                    <a:spcPct val="50000"/>
                  </a:spcBef>
                </a:pPr>
                <a:r>
                  <a:rPr lang="en-US" altLang="zh-CN" sz="2000" dirty="0">
                    <a:solidFill>
                      <a:schemeClr val="hlink"/>
                    </a:solidFill>
                    <a:latin typeface="Tahoma" panose="020B0604030504040204" charset="0"/>
                    <a:ea typeface="宋体" panose="02010600030101010101" pitchFamily="2" charset="-122"/>
                  </a:rPr>
                  <a:t>0</a:t>
                </a:r>
                <a:endParaRPr lang="en-US" altLang="zh-CN" sz="2000" dirty="0">
                  <a:solidFill>
                    <a:schemeClr val="hlink"/>
                  </a:solidFill>
                  <a:latin typeface="Tahoma" panose="020B0604030504040204" charset="0"/>
                  <a:ea typeface="宋体" panose="02010600030101010101" pitchFamily="2" charset="-122"/>
                </a:endParaRPr>
              </a:p>
            </p:txBody>
          </p:sp>
          <p:sp>
            <p:nvSpPr>
              <p:cNvPr id="103458" name="Text Box 64"/>
              <p:cNvSpPr txBox="1"/>
              <p:nvPr/>
            </p:nvSpPr>
            <p:spPr>
              <a:xfrm>
                <a:off x="4785" y="3067"/>
                <a:ext cx="272" cy="251"/>
              </a:xfrm>
              <a:prstGeom prst="rect">
                <a:avLst/>
              </a:prstGeom>
              <a:noFill/>
              <a:ln w="9525">
                <a:noFill/>
              </a:ln>
            </p:spPr>
            <p:txBody>
              <a:bodyPr anchor="t" anchorCtr="0">
                <a:spAutoFit/>
              </a:bodyPr>
              <a:p>
                <a:pPr>
                  <a:spcBef>
                    <a:spcPct val="50000"/>
                  </a:spcBef>
                </a:pPr>
                <a:r>
                  <a:rPr lang="en-US" altLang="zh-CN" sz="2000" dirty="0">
                    <a:solidFill>
                      <a:schemeClr val="hlink"/>
                    </a:solidFill>
                    <a:latin typeface="Tahoma" panose="020B0604030504040204" charset="0"/>
                    <a:ea typeface="宋体" panose="02010600030101010101" pitchFamily="2" charset="-122"/>
                  </a:rPr>
                  <a:t>0</a:t>
                </a:r>
                <a:endParaRPr lang="en-US" altLang="zh-CN" sz="2000" dirty="0">
                  <a:solidFill>
                    <a:schemeClr val="hlink"/>
                  </a:solidFill>
                  <a:latin typeface="Tahoma" panose="020B0604030504040204" charset="0"/>
                  <a:ea typeface="宋体" panose="02010600030101010101" pitchFamily="2" charset="-122"/>
                </a:endParaRPr>
              </a:p>
            </p:txBody>
          </p:sp>
          <p:sp>
            <p:nvSpPr>
              <p:cNvPr id="103459" name="Text Box 65"/>
              <p:cNvSpPr txBox="1"/>
              <p:nvPr/>
            </p:nvSpPr>
            <p:spPr>
              <a:xfrm>
                <a:off x="5103" y="2341"/>
                <a:ext cx="272" cy="251"/>
              </a:xfrm>
              <a:prstGeom prst="rect">
                <a:avLst/>
              </a:prstGeom>
              <a:noFill/>
              <a:ln w="9525">
                <a:noFill/>
              </a:ln>
            </p:spPr>
            <p:txBody>
              <a:bodyPr anchor="t" anchorCtr="0">
                <a:spAutoFit/>
              </a:bodyPr>
              <a:p>
                <a:pPr>
                  <a:spcBef>
                    <a:spcPct val="50000"/>
                  </a:spcBef>
                </a:pPr>
                <a:r>
                  <a:rPr lang="en-US" altLang="zh-CN" sz="2000" dirty="0">
                    <a:solidFill>
                      <a:srgbClr val="3333FF"/>
                    </a:solidFill>
                    <a:latin typeface="Tahoma" panose="020B0604030504040204" charset="0"/>
                    <a:ea typeface="宋体" panose="02010600030101010101" pitchFamily="2" charset="-122"/>
                  </a:rPr>
                  <a:t>1</a:t>
                </a:r>
                <a:endParaRPr lang="en-US" altLang="zh-CN" sz="2000" dirty="0">
                  <a:solidFill>
                    <a:srgbClr val="3333FF"/>
                  </a:solidFill>
                  <a:latin typeface="Tahoma" panose="020B0604030504040204" charset="0"/>
                  <a:ea typeface="宋体" panose="02010600030101010101" pitchFamily="2" charset="-122"/>
                </a:endParaRPr>
              </a:p>
            </p:txBody>
          </p:sp>
          <p:sp>
            <p:nvSpPr>
              <p:cNvPr id="103460" name="Text Box 66"/>
              <p:cNvSpPr txBox="1"/>
              <p:nvPr/>
            </p:nvSpPr>
            <p:spPr>
              <a:xfrm>
                <a:off x="4830" y="2750"/>
                <a:ext cx="272" cy="251"/>
              </a:xfrm>
              <a:prstGeom prst="rect">
                <a:avLst/>
              </a:prstGeom>
              <a:noFill/>
              <a:ln w="9525">
                <a:noFill/>
              </a:ln>
            </p:spPr>
            <p:txBody>
              <a:bodyPr anchor="t" anchorCtr="0">
                <a:spAutoFit/>
              </a:bodyPr>
              <a:p>
                <a:pPr>
                  <a:spcBef>
                    <a:spcPct val="50000"/>
                  </a:spcBef>
                </a:pPr>
                <a:r>
                  <a:rPr lang="en-US" altLang="zh-CN" sz="2000" dirty="0">
                    <a:solidFill>
                      <a:srgbClr val="3333FF"/>
                    </a:solidFill>
                    <a:latin typeface="Tahoma" panose="020B0604030504040204" charset="0"/>
                    <a:ea typeface="宋体" panose="02010600030101010101" pitchFamily="2" charset="-122"/>
                  </a:rPr>
                  <a:t>1</a:t>
                </a:r>
                <a:endParaRPr lang="en-US" altLang="zh-CN" sz="2000" dirty="0">
                  <a:solidFill>
                    <a:srgbClr val="3333FF"/>
                  </a:solidFill>
                  <a:latin typeface="Tahoma" panose="020B0604030504040204" charset="0"/>
                  <a:ea typeface="宋体" panose="02010600030101010101" pitchFamily="2" charset="-122"/>
                </a:endParaRPr>
              </a:p>
            </p:txBody>
          </p:sp>
          <p:sp>
            <p:nvSpPr>
              <p:cNvPr id="103461" name="Text Box 67"/>
              <p:cNvSpPr txBox="1"/>
              <p:nvPr/>
            </p:nvSpPr>
            <p:spPr>
              <a:xfrm>
                <a:off x="5193" y="3067"/>
                <a:ext cx="272" cy="251"/>
              </a:xfrm>
              <a:prstGeom prst="rect">
                <a:avLst/>
              </a:prstGeom>
              <a:noFill/>
              <a:ln w="9525">
                <a:noFill/>
              </a:ln>
            </p:spPr>
            <p:txBody>
              <a:bodyPr anchor="t" anchorCtr="0">
                <a:spAutoFit/>
              </a:bodyPr>
              <a:p>
                <a:pPr>
                  <a:spcBef>
                    <a:spcPct val="50000"/>
                  </a:spcBef>
                </a:pPr>
                <a:r>
                  <a:rPr lang="en-US" altLang="zh-CN" sz="2000" dirty="0">
                    <a:solidFill>
                      <a:srgbClr val="3333FF"/>
                    </a:solidFill>
                    <a:latin typeface="Tahoma" panose="020B0604030504040204" charset="0"/>
                    <a:ea typeface="宋体" panose="02010600030101010101" pitchFamily="2" charset="-122"/>
                  </a:rPr>
                  <a:t>1</a:t>
                </a:r>
                <a:endParaRPr lang="en-US" altLang="zh-CN" sz="2000" dirty="0">
                  <a:solidFill>
                    <a:srgbClr val="3333FF"/>
                  </a:solidFill>
                  <a:latin typeface="Tahoma" panose="020B0604030504040204" charset="0"/>
                  <a:ea typeface="宋体" panose="02010600030101010101" pitchFamily="2" charset="-122"/>
                </a:endParaRPr>
              </a:p>
            </p:txBody>
          </p:sp>
          <p:sp>
            <p:nvSpPr>
              <p:cNvPr id="103462" name="Text Box 68"/>
              <p:cNvSpPr txBox="1"/>
              <p:nvPr/>
            </p:nvSpPr>
            <p:spPr>
              <a:xfrm>
                <a:off x="4377" y="3067"/>
                <a:ext cx="272" cy="251"/>
              </a:xfrm>
              <a:prstGeom prst="rect">
                <a:avLst/>
              </a:prstGeom>
              <a:noFill/>
              <a:ln w="9525">
                <a:noFill/>
              </a:ln>
            </p:spPr>
            <p:txBody>
              <a:bodyPr anchor="t" anchorCtr="0">
                <a:spAutoFit/>
              </a:bodyPr>
              <a:p>
                <a:pPr>
                  <a:spcBef>
                    <a:spcPct val="50000"/>
                  </a:spcBef>
                </a:pPr>
                <a:r>
                  <a:rPr lang="en-US" altLang="zh-CN" sz="2000" dirty="0">
                    <a:solidFill>
                      <a:srgbClr val="3333FF"/>
                    </a:solidFill>
                    <a:latin typeface="Tahoma" panose="020B0604030504040204" charset="0"/>
                    <a:ea typeface="宋体" panose="02010600030101010101" pitchFamily="2" charset="-122"/>
                  </a:rPr>
                  <a:t>1</a:t>
                </a:r>
                <a:endParaRPr lang="en-US" altLang="zh-CN" sz="2000" dirty="0">
                  <a:solidFill>
                    <a:srgbClr val="3333FF"/>
                  </a:solidFill>
                  <a:latin typeface="Tahoma" panose="020B0604030504040204" charset="0"/>
                  <a:ea typeface="宋体" panose="02010600030101010101" pitchFamily="2" charset="-122"/>
                </a:endParaRPr>
              </a:p>
            </p:txBody>
          </p:sp>
        </p:grpSp>
        <p:sp>
          <p:nvSpPr>
            <p:cNvPr id="103463" name="Text Box 69"/>
            <p:cNvSpPr txBox="1"/>
            <p:nvPr/>
          </p:nvSpPr>
          <p:spPr>
            <a:xfrm>
              <a:off x="4786" y="4020"/>
              <a:ext cx="215"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G</a:t>
              </a:r>
              <a:endParaRPr lang="en-US" altLang="zh-CN" sz="1600" dirty="0">
                <a:solidFill>
                  <a:srgbClr val="CC0066"/>
                </a:solidFill>
                <a:latin typeface="Times New Roman" panose="02020603050405020304" pitchFamily="18" charset="0"/>
                <a:ea typeface="宋体" panose="02010600030101010101" pitchFamily="2" charset="-122"/>
              </a:endParaRPr>
            </a:p>
          </p:txBody>
        </p:sp>
        <p:sp>
          <p:nvSpPr>
            <p:cNvPr id="103464" name="Text Box 70"/>
            <p:cNvSpPr txBox="1"/>
            <p:nvPr/>
          </p:nvSpPr>
          <p:spPr>
            <a:xfrm>
              <a:off x="5240" y="3968"/>
              <a:ext cx="179"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_</a:t>
              </a:r>
              <a:endParaRPr lang="en-US" altLang="zh-CN" sz="1600" b="1" dirty="0">
                <a:solidFill>
                  <a:srgbClr val="CC0066"/>
                </a:solidFill>
                <a:latin typeface="Times New Roman" panose="02020603050405020304" pitchFamily="18" charset="0"/>
                <a:ea typeface="宋体" panose="02010600030101010101" pitchFamily="2" charset="-122"/>
              </a:endParaRPr>
            </a:p>
          </p:txBody>
        </p:sp>
        <p:sp>
          <p:nvSpPr>
            <p:cNvPr id="103465" name="Text Box 71"/>
            <p:cNvSpPr txBox="1"/>
            <p:nvPr/>
          </p:nvSpPr>
          <p:spPr>
            <a:xfrm>
              <a:off x="3975" y="4020"/>
              <a:ext cx="193"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F</a:t>
              </a:r>
              <a:endParaRPr lang="en-US" altLang="zh-CN" sz="1600" dirty="0">
                <a:solidFill>
                  <a:srgbClr val="CC0066"/>
                </a:solidFill>
                <a:latin typeface="Times New Roman" panose="02020603050405020304" pitchFamily="18" charset="0"/>
                <a:ea typeface="宋体" panose="02010600030101010101" pitchFamily="2" charset="-122"/>
              </a:endParaRPr>
            </a:p>
          </p:txBody>
        </p:sp>
        <p:sp>
          <p:nvSpPr>
            <p:cNvPr id="103466" name="Text Box 72"/>
            <p:cNvSpPr txBox="1"/>
            <p:nvPr/>
          </p:nvSpPr>
          <p:spPr>
            <a:xfrm>
              <a:off x="4422" y="4020"/>
              <a:ext cx="208"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D</a:t>
              </a:r>
              <a:endParaRPr lang="en-US" altLang="zh-CN" sz="1600" b="1" dirty="0">
                <a:solidFill>
                  <a:srgbClr val="CC0066"/>
                </a:solidFill>
                <a:latin typeface="Times New Roman" panose="02020603050405020304" pitchFamily="18" charset="0"/>
                <a:ea typeface="宋体" panose="02010600030101010101" pitchFamily="2" charset="-122"/>
              </a:endParaRPr>
            </a:p>
          </p:txBody>
        </p:sp>
        <p:sp>
          <p:nvSpPr>
            <p:cNvPr id="103467" name="Text Box 73"/>
            <p:cNvSpPr txBox="1"/>
            <p:nvPr/>
          </p:nvSpPr>
          <p:spPr>
            <a:xfrm>
              <a:off x="5194" y="3339"/>
              <a:ext cx="215" cy="212"/>
            </a:xfrm>
            <a:prstGeom prst="rect">
              <a:avLst/>
            </a:prstGeom>
            <a:noFill/>
            <a:ln w="38100">
              <a:noFill/>
            </a:ln>
          </p:spPr>
          <p:txBody>
            <a:bodyPr wrap="none" anchor="ctr" anchorCtr="0">
              <a:spAutoFit/>
            </a:bodyPr>
            <a:p>
              <a:pPr algn="ctr"/>
              <a:r>
                <a:rPr lang="en-US" altLang="zh-CN" sz="1600" b="1" dirty="0">
                  <a:solidFill>
                    <a:srgbClr val="CC0066"/>
                  </a:solidFill>
                  <a:latin typeface="Times New Roman" panose="02020603050405020304" pitchFamily="18" charset="0"/>
                  <a:ea typeface="宋体" panose="02010600030101010101" pitchFamily="2" charset="-122"/>
                </a:rPr>
                <a:t>O</a:t>
              </a:r>
              <a:endParaRPr lang="en-US" altLang="zh-CN" sz="1600" b="1" dirty="0">
                <a:solidFill>
                  <a:srgbClr val="CC0066"/>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R="0" lvl="0" algn="l" defTabSz="1219200" rtl="0" fontAlgn="base" latinLnBrk="0">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已知字符A、B、C、D、E、F，对应权值为13、4、22、38、6、17，若进行赫夫曼编码，请完成以下要求：</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fontAlgn="base" latinLnBrk="0">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构建赫夫曼树</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要求左孩子权值不大于右孩子权值</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fontAlgn="base" latinLnBrk="0">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写出每个字符对应的编码，分支编码对应0或1</a:t>
            </a: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fontAlgn="base" latinLnBrk="0">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对以下三个编码串进行解码，若解码异常则直接输出error</a:t>
            </a: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fontAlgn="base" latinLnBrk="0">
              <a:lnSpc>
                <a:spcPct val="100000"/>
              </a:lnSpc>
              <a:spcBef>
                <a:spcPct val="20000"/>
              </a:spcBef>
              <a:buClrTx/>
              <a:buSzTx/>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01010011101，110101，010011011</a:t>
            </a: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赫夫曼树算法</a:t>
            </a:r>
            <a:endParaRPr lang="zh-CN" altLang="en-US" sz="2800" dirty="0">
              <a:latin typeface="黑体" panose="02010609060101010101" pitchFamily="2" charset="-122"/>
              <a:ea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typedef struct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unsigned int weight;</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unsigned int parent, lchild, rchild;</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}HTNode, *HuffmanTree;</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typedef char * * HuffmanCode;</a:t>
            </a:r>
            <a:endParaRPr lang="en-US" altLang="zh-CN" sz="2400" dirty="0">
              <a:latin typeface="黑体" panose="02010609060101010101" pitchFamily="2" charset="-122"/>
              <a:ea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//HTNode</a:t>
            </a:r>
            <a:r>
              <a:rPr lang="zh-CN" altLang="en-US" sz="2400" dirty="0">
                <a:latin typeface="黑体" panose="02010609060101010101" pitchFamily="2" charset="-122"/>
                <a:ea typeface="黑体" panose="02010609060101010101" pitchFamily="2" charset="-122"/>
                <a:cs typeface="+mn-cs"/>
                <a:sym typeface="+mn-ea"/>
              </a:rPr>
              <a:t>表示赫夫曼树结点类型</a:t>
            </a:r>
            <a:endParaRPr lang="zh-CN" altLang="en-US" sz="2400" dirty="0">
              <a:latin typeface="黑体" panose="02010609060101010101" pitchFamily="2" charset="-122"/>
              <a:ea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a:t>
            </a:r>
            <a:r>
              <a:rPr lang="en-US" altLang="zh-CN" sz="2400" dirty="0">
                <a:latin typeface="黑体" panose="02010609060101010101" pitchFamily="2" charset="-122"/>
                <a:ea typeface="黑体" panose="02010609060101010101" pitchFamily="2" charset="-122"/>
                <a:sym typeface="+mn-ea"/>
              </a:rPr>
              <a:t>HuffmanTree</a:t>
            </a:r>
            <a:r>
              <a:rPr lang="zh-CN" altLang="en-US" sz="2400" dirty="0">
                <a:latin typeface="黑体" panose="02010609060101010101" pitchFamily="2" charset="-122"/>
                <a:ea typeface="黑体" panose="02010609060101010101" pitchFamily="2" charset="-122"/>
                <a:sym typeface="+mn-ea"/>
              </a:rPr>
              <a:t>是一个二维数组，存储赫夫曼树的所有结点信息和双亲孩子关系信息，它的长度是</a:t>
            </a:r>
            <a:r>
              <a:rPr lang="en-US" altLang="zh-CN" sz="2400" dirty="0">
                <a:latin typeface="黑体" panose="02010609060101010101" pitchFamily="2" charset="-122"/>
                <a:ea typeface="黑体" panose="02010609060101010101" pitchFamily="2" charset="-122"/>
                <a:sym typeface="+mn-ea"/>
              </a:rPr>
              <a:t>2n-1,</a:t>
            </a:r>
            <a:r>
              <a:rPr lang="zh-CN" altLang="en-US" sz="2400" dirty="0">
                <a:latin typeface="黑体" panose="02010609060101010101" pitchFamily="2" charset="-122"/>
                <a:ea typeface="黑体" panose="02010609060101010101" pitchFamily="2" charset="-122"/>
                <a:sym typeface="+mn-ea"/>
              </a:rPr>
              <a:t>叶子数为</a:t>
            </a:r>
            <a:r>
              <a:rPr lang="en-US" altLang="zh-CN" sz="2400" dirty="0">
                <a:latin typeface="黑体" panose="02010609060101010101" pitchFamily="2" charset="-122"/>
                <a:ea typeface="黑体" panose="02010609060101010101" pitchFamily="2" charset="-122"/>
                <a:sym typeface="+mn-ea"/>
              </a:rPr>
              <a:t>n</a:t>
            </a:r>
            <a:endParaRPr lang="en-US" altLang="zh-CN" sz="2400" dirty="0">
              <a:latin typeface="黑体" panose="02010609060101010101" pitchFamily="2" charset="-122"/>
              <a:ea typeface="黑体" panose="02010609060101010101" pitchFamily="2" charset="-122"/>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//HuffmanCode</a:t>
            </a:r>
            <a:r>
              <a:rPr lang="zh-CN" altLang="en-US" sz="2400" dirty="0">
                <a:latin typeface="黑体" panose="02010609060101010101" pitchFamily="2" charset="-122"/>
                <a:ea typeface="黑体" panose="02010609060101010101" pitchFamily="2" charset="-122"/>
                <a:sym typeface="+mn-ea"/>
              </a:rPr>
              <a:t>是一个字符串数组，每个数组元素是一个字符串，对应一个字符的赫夫曼编码，它的长度是</a:t>
            </a:r>
            <a:r>
              <a:rPr lang="en-US" altLang="zh-CN" sz="2400" dirty="0">
                <a:latin typeface="黑体" panose="02010609060101010101" pitchFamily="2" charset="-122"/>
                <a:ea typeface="黑体" panose="02010609060101010101" pitchFamily="2" charset="-122"/>
                <a:sym typeface="+mn-ea"/>
              </a:rPr>
              <a:t>n</a:t>
            </a:r>
            <a:r>
              <a:rPr lang="zh-CN" altLang="en-US" sz="2400" dirty="0">
                <a:latin typeface="黑体" panose="02010609060101010101" pitchFamily="2" charset="-122"/>
                <a:ea typeface="黑体" panose="02010609060101010101" pitchFamily="2" charset="-122"/>
                <a:sym typeface="+mn-ea"/>
              </a:rPr>
              <a:t>，对应</a:t>
            </a:r>
            <a:r>
              <a:rPr lang="en-US" altLang="zh-CN" sz="2400" dirty="0">
                <a:latin typeface="黑体" panose="02010609060101010101" pitchFamily="2" charset="-122"/>
                <a:ea typeface="黑体" panose="02010609060101010101" pitchFamily="2" charset="-122"/>
                <a:sym typeface="+mn-ea"/>
              </a:rPr>
              <a:t>n</a:t>
            </a:r>
            <a:r>
              <a:rPr lang="zh-CN" altLang="en-US" sz="2400" dirty="0">
                <a:latin typeface="黑体" panose="02010609060101010101" pitchFamily="2" charset="-122"/>
                <a:ea typeface="黑体" panose="02010609060101010101" pitchFamily="2" charset="-122"/>
                <a:sym typeface="+mn-ea"/>
              </a:rPr>
              <a:t>个叶子</a:t>
            </a:r>
            <a:endParaRPr lang="zh-CN" altLang="en-US" sz="2400" dirty="0">
              <a:latin typeface="黑体" panose="02010609060101010101" pitchFamily="2" charset="-122"/>
              <a:ea typeface="黑体" panose="02010609060101010101" pitchFamily="2" charset="-122"/>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lvl="1" indent="0" algn="l" defTabSz="1219200" rtl="0" eaLnBrk="1" fontAlgn="base" latinLnBrk="0" hangingPunct="1">
              <a:lnSpc>
                <a:spcPct val="100000"/>
              </a:lnSpc>
              <a:spcBef>
                <a:spcPct val="20000"/>
              </a:spcBef>
              <a:buClrTx/>
              <a:buSzTx/>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基于上述结构的赫夫曼树构建示例，课本例子</a:t>
            </a:r>
            <a:r>
              <a:rPr lang="en-US" altLang="zh-CN" sz="2800" dirty="0">
                <a:latin typeface="黑体" panose="02010609060101010101" pitchFamily="2" charset="-122"/>
                <a:ea typeface="黑体" panose="02010609060101010101" pitchFamily="2" charset="-122"/>
                <a:cs typeface="+mn-cs"/>
                <a:sym typeface="+mn-ea"/>
              </a:rPr>
              <a:t>6.2</a:t>
            </a:r>
            <a:r>
              <a:rPr lang="zh-CN" altLang="en-US" sz="2800" dirty="0">
                <a:latin typeface="黑体" panose="02010609060101010101" pitchFamily="2" charset="-122"/>
                <a:ea typeface="黑体" panose="02010609060101010101" pitchFamily="2" charset="-122"/>
                <a:cs typeface="+mn-cs"/>
                <a:sym typeface="+mn-ea"/>
              </a:rPr>
              <a:t>，</a:t>
            </a:r>
            <a:r>
              <a:rPr lang="en-US" altLang="zh-CN" sz="2800" dirty="0">
                <a:latin typeface="黑体" panose="02010609060101010101" pitchFamily="2" charset="-122"/>
                <a:ea typeface="黑体" panose="02010609060101010101" pitchFamily="2" charset="-122"/>
                <a:cs typeface="+mn-cs"/>
                <a:sym typeface="+mn-ea"/>
              </a:rPr>
              <a:t>P149</a:t>
            </a:r>
            <a:r>
              <a:rPr lang="zh-CN" altLang="en-US" sz="2800" dirty="0">
                <a:latin typeface="黑体" panose="02010609060101010101" pitchFamily="2" charset="-122"/>
                <a:ea typeface="黑体" panose="02010609060101010101" pitchFamily="2" charset="-122"/>
                <a:cs typeface="+mn-cs"/>
                <a:sym typeface="+mn-ea"/>
              </a:rPr>
              <a:t>的表格</a:t>
            </a:r>
            <a:endParaRPr lang="en-US" altLang="zh-CN" sz="2800" dirty="0">
              <a:latin typeface="黑体" panose="02010609060101010101" pitchFamily="2" charset="-122"/>
              <a:ea typeface="黑体" panose="02010609060101010101" pitchFamily="2" charset="-122"/>
              <a:cs typeface="+mn-cs"/>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表格</a:t>
            </a:r>
            <a:r>
              <a:rPr lang="en-US" altLang="zh-CN" sz="2800" dirty="0">
                <a:latin typeface="黑体" panose="02010609060101010101" pitchFamily="2" charset="-122"/>
                <a:ea typeface="黑体" panose="02010609060101010101" pitchFamily="2" charset="-122"/>
                <a:cs typeface="+mn-cs"/>
                <a:sym typeface="+mn-ea"/>
              </a:rPr>
              <a:t>a</a:t>
            </a:r>
            <a:r>
              <a:rPr lang="zh-CN" altLang="en-US" sz="2800" dirty="0">
                <a:latin typeface="黑体" panose="02010609060101010101" pitchFamily="2" charset="-122"/>
                <a:ea typeface="黑体" panose="02010609060101010101" pitchFamily="2" charset="-122"/>
                <a:cs typeface="+mn-cs"/>
                <a:sym typeface="+mn-ea"/>
              </a:rPr>
              <a:t>是初始化表格</a:t>
            </a:r>
            <a:endParaRPr lang="zh-CN" altLang="en-US" sz="2800" dirty="0">
              <a:latin typeface="黑体" panose="02010609060101010101" pitchFamily="2" charset="-122"/>
              <a:ea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lvl="1" indent="0" algn="l" defTabSz="1219200" rtl="0" eaLnBrk="1" fontAlgn="base" latinLnBrk="0" hangingPunct="1">
              <a:lnSpc>
                <a:spcPct val="100000"/>
              </a:lnSpc>
              <a:spcBef>
                <a:spcPct val="20000"/>
              </a:spcBef>
              <a:buClrTx/>
              <a:buSzTx/>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5519420" y="404495"/>
            <a:ext cx="6548120" cy="434340"/>
          </a:xfrm>
          <a:prstGeom prst="rect">
            <a:avLst/>
          </a:prstGeom>
        </p:spPr>
      </p:pic>
      <p:pic>
        <p:nvPicPr>
          <p:cNvPr id="6" name="图片 5"/>
          <p:cNvPicPr>
            <a:picLocks noChangeAspect="1"/>
          </p:cNvPicPr>
          <p:nvPr/>
        </p:nvPicPr>
        <p:blipFill>
          <a:blip r:embed="rId2"/>
          <a:stretch>
            <a:fillRect/>
          </a:stretch>
        </p:blipFill>
        <p:spPr>
          <a:xfrm>
            <a:off x="5664200" y="1484630"/>
            <a:ext cx="3689985" cy="526796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赫夫曼树构建的推导过程</a:t>
            </a:r>
            <a:endParaRPr lang="zh-CN" altLang="en-US" sz="2800" dirty="0">
              <a:latin typeface="黑体" panose="02010609060101010101" pitchFamily="2" charset="-122"/>
              <a:ea typeface="黑体" panose="02010609060101010101" pitchFamily="2" charset="-122"/>
              <a:cs typeface="+mn-cs"/>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cs typeface="+mn-cs"/>
                <a:sym typeface="+mn-ea"/>
              </a:rPr>
              <a:t>叶子权重集合：</a:t>
            </a:r>
            <a:endParaRPr lang="en-US" altLang="zh-CN" sz="2800" dirty="0">
              <a:latin typeface="黑体" panose="02010609060101010101" pitchFamily="2" charset="-122"/>
              <a:ea typeface="黑体" panose="02010609060101010101" pitchFamily="2" charset="-122"/>
              <a:cs typeface="+mn-cs"/>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r>
              <a:rPr lang="en-US" altLang="zh-CN" sz="2800" dirty="0">
                <a:latin typeface="黑体" panose="02010609060101010101" pitchFamily="2" charset="-122"/>
                <a:ea typeface="黑体" panose="02010609060101010101" pitchFamily="2" charset="-122"/>
                <a:cs typeface="+mn-cs"/>
                <a:sym typeface="+mn-ea"/>
              </a:rPr>
              <a:t>5 29 7 8 14 23 3 11</a:t>
            </a:r>
            <a:endParaRPr lang="zh-CN" altLang="en-US" sz="2800" dirty="0">
              <a:latin typeface="黑体" panose="02010609060101010101" pitchFamily="2" charset="-122"/>
              <a:ea typeface="黑体" panose="02010609060101010101" pitchFamily="2" charset="-122"/>
              <a:cs typeface="+mn-cs"/>
              <a:sym typeface="+mn-ea"/>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lang="zh-CN" altLang="en-US" sz="2800" dirty="0">
              <a:latin typeface="黑体" panose="02010609060101010101" pitchFamily="2" charset="-122"/>
              <a:ea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lvl="1" indent="0" algn="l" defTabSz="1219200" rtl="0" eaLnBrk="1" fontAlgn="base" latinLnBrk="0" hangingPunct="1">
              <a:lnSpc>
                <a:spcPct val="100000"/>
              </a:lnSpc>
              <a:spcBef>
                <a:spcPct val="20000"/>
              </a:spcBef>
              <a:buClrTx/>
              <a:buSzTx/>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7" name="图片 6"/>
          <p:cNvPicPr>
            <a:picLocks noChangeAspect="1"/>
          </p:cNvPicPr>
          <p:nvPr/>
        </p:nvPicPr>
        <p:blipFill>
          <a:blip r:embed="rId1"/>
          <a:stretch>
            <a:fillRect/>
          </a:stretch>
        </p:blipFill>
        <p:spPr>
          <a:xfrm>
            <a:off x="5663565" y="310515"/>
            <a:ext cx="5055235" cy="641858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基于上述结构的赫夫曼树构建示例，课本例子</a:t>
            </a:r>
            <a:r>
              <a:rPr lang="en-US" altLang="zh-CN" sz="2800" dirty="0">
                <a:latin typeface="黑体" panose="02010609060101010101" pitchFamily="2" charset="-122"/>
                <a:ea typeface="黑体" panose="02010609060101010101" pitchFamily="2" charset="-122"/>
                <a:cs typeface="+mn-cs"/>
                <a:sym typeface="+mn-ea"/>
              </a:rPr>
              <a:t>6.2</a:t>
            </a:r>
            <a:endParaRPr lang="en-US" altLang="zh-CN" sz="2800" dirty="0">
              <a:latin typeface="黑体" panose="02010609060101010101" pitchFamily="2" charset="-122"/>
              <a:ea typeface="黑体" panose="02010609060101010101" pitchFamily="2" charset="-122"/>
              <a:cs typeface="+mn-cs"/>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表格</a:t>
            </a:r>
            <a:r>
              <a:rPr lang="en-US" altLang="zh-CN" sz="2800" dirty="0">
                <a:latin typeface="黑体" panose="02010609060101010101" pitchFamily="2" charset="-122"/>
                <a:ea typeface="黑体" panose="02010609060101010101" pitchFamily="2" charset="-122"/>
                <a:cs typeface="+mn-cs"/>
                <a:sym typeface="+mn-ea"/>
              </a:rPr>
              <a:t>b</a:t>
            </a:r>
            <a:r>
              <a:rPr lang="zh-CN" altLang="en-US" sz="2800" dirty="0">
                <a:latin typeface="黑体" panose="02010609060101010101" pitchFamily="2" charset="-122"/>
                <a:ea typeface="黑体" panose="02010609060101010101" pitchFamily="2" charset="-122"/>
                <a:cs typeface="+mn-cs"/>
                <a:sym typeface="+mn-ea"/>
              </a:rPr>
              <a:t>是赫夫曼树构建后的表格</a:t>
            </a:r>
            <a:endParaRPr lang="zh-CN" altLang="en-US" sz="2800" dirty="0">
              <a:latin typeface="黑体" panose="02010609060101010101" pitchFamily="2" charset="-122"/>
              <a:ea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lvl="1" indent="0" algn="l" defTabSz="1219200" rtl="0" eaLnBrk="1" fontAlgn="base" latinLnBrk="0" hangingPunct="1">
              <a:lnSpc>
                <a:spcPct val="100000"/>
              </a:lnSpc>
              <a:spcBef>
                <a:spcPct val="20000"/>
              </a:spcBef>
              <a:buClrTx/>
              <a:buSzTx/>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7" name="对象 6"/>
          <p:cNvGraphicFramePr/>
          <p:nvPr/>
        </p:nvGraphicFramePr>
        <p:xfrm>
          <a:off x="6743700" y="1700530"/>
          <a:ext cx="4007485" cy="5019040"/>
        </p:xfrm>
        <a:graphic>
          <a:graphicData uri="http://schemas.openxmlformats.org/presentationml/2006/ole">
            <mc:AlternateContent xmlns:mc="http://schemas.openxmlformats.org/markup-compatibility/2006">
              <mc:Choice xmlns:v="urn:schemas-microsoft-com:vml" Requires="v">
                <p:oleObj spid="_x0000_s8" name="" r:id="rId1" imgW="3286125" imgH="4476750" progId="Paint.Picture">
                  <p:embed/>
                </p:oleObj>
              </mc:Choice>
              <mc:Fallback>
                <p:oleObj name="" r:id="rId1" imgW="3286125" imgH="4476750" progId="Paint.Picture">
                  <p:embed/>
                  <p:pic>
                    <p:nvPicPr>
                      <p:cNvPr id="0" name="图片 7"/>
                      <p:cNvPicPr/>
                      <p:nvPr/>
                    </p:nvPicPr>
                    <p:blipFill>
                      <a:blip r:embed="rId2"/>
                      <a:stretch>
                        <a:fillRect/>
                      </a:stretch>
                    </p:blipFill>
                    <p:spPr>
                      <a:xfrm>
                        <a:off x="6743700" y="1700530"/>
                        <a:ext cx="4007485" cy="5019040"/>
                      </a:xfrm>
                      <a:prstGeom prst="rect">
                        <a:avLst/>
                      </a:prstGeom>
                    </p:spPr>
                  </p:pic>
                </p:oleObj>
              </mc:Fallback>
            </mc:AlternateContent>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基于上述结构的赫夫曼树构建示例，课本例子</a:t>
            </a:r>
            <a:r>
              <a:rPr lang="en-US" altLang="zh-CN" sz="2800" dirty="0">
                <a:latin typeface="黑体" panose="02010609060101010101" pitchFamily="2" charset="-122"/>
                <a:ea typeface="黑体" panose="02010609060101010101" pitchFamily="2" charset="-122"/>
                <a:cs typeface="+mn-cs"/>
                <a:sym typeface="+mn-ea"/>
              </a:rPr>
              <a:t>6.2</a:t>
            </a:r>
            <a:endParaRPr lang="en-US" altLang="zh-CN" sz="2800" dirty="0">
              <a:latin typeface="黑体" panose="02010609060101010101" pitchFamily="2" charset="-122"/>
              <a:ea typeface="黑体" panose="02010609060101010101" pitchFamily="2" charset="-122"/>
              <a:cs typeface="+mn-cs"/>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表格</a:t>
            </a:r>
            <a:r>
              <a:rPr lang="en-US" altLang="zh-CN" sz="2800" dirty="0">
                <a:latin typeface="黑体" panose="02010609060101010101" pitchFamily="2" charset="-122"/>
                <a:ea typeface="黑体" panose="02010609060101010101" pitchFamily="2" charset="-122"/>
                <a:cs typeface="+mn-cs"/>
                <a:sym typeface="+mn-ea"/>
              </a:rPr>
              <a:t>b</a:t>
            </a:r>
            <a:r>
              <a:rPr lang="zh-CN" altLang="en-US" sz="2800" dirty="0">
                <a:latin typeface="黑体" panose="02010609060101010101" pitchFamily="2" charset="-122"/>
                <a:ea typeface="黑体" panose="02010609060101010101" pitchFamily="2" charset="-122"/>
                <a:cs typeface="+mn-cs"/>
                <a:sym typeface="+mn-ea"/>
              </a:rPr>
              <a:t>是赫夫曼树构建后的表格</a:t>
            </a:r>
            <a:endParaRPr lang="zh-CN" altLang="en-US" sz="2800" dirty="0">
              <a:latin typeface="黑体" panose="02010609060101010101" pitchFamily="2" charset="-122"/>
              <a:ea typeface="黑体" panose="02010609060101010101" pitchFamily="2" charset="-122"/>
              <a:cs typeface="+mn-cs"/>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表格</a:t>
            </a:r>
            <a:r>
              <a:rPr lang="en-US" altLang="zh-CN" sz="2800" dirty="0">
                <a:latin typeface="黑体" panose="02010609060101010101" pitchFamily="2" charset="-122"/>
                <a:ea typeface="黑体" panose="02010609060101010101" pitchFamily="2" charset="-122"/>
                <a:cs typeface="+mn-cs"/>
                <a:sym typeface="+mn-ea"/>
              </a:rPr>
              <a:t>c</a:t>
            </a:r>
            <a:r>
              <a:rPr lang="zh-CN" altLang="en-US" sz="2800" dirty="0">
                <a:latin typeface="黑体" panose="02010609060101010101" pitchFamily="2" charset="-122"/>
                <a:ea typeface="黑体" panose="02010609060101010101" pitchFamily="2" charset="-122"/>
                <a:cs typeface="+mn-cs"/>
                <a:sym typeface="+mn-ea"/>
              </a:rPr>
              <a:t>是根据表格</a:t>
            </a:r>
            <a:r>
              <a:rPr lang="en-US" altLang="zh-CN" sz="2800" dirty="0">
                <a:latin typeface="黑体" panose="02010609060101010101" pitchFamily="2" charset="-122"/>
                <a:ea typeface="黑体" panose="02010609060101010101" pitchFamily="2" charset="-122"/>
                <a:cs typeface="+mn-cs"/>
                <a:sym typeface="+mn-ea"/>
              </a:rPr>
              <a:t>b</a:t>
            </a:r>
            <a:r>
              <a:rPr lang="zh-CN" altLang="en-US" sz="2800" dirty="0">
                <a:latin typeface="黑体" panose="02010609060101010101" pitchFamily="2" charset="-122"/>
                <a:ea typeface="黑体" panose="02010609060101010101" pitchFamily="2" charset="-122"/>
                <a:cs typeface="+mn-cs"/>
                <a:sym typeface="+mn-ea"/>
              </a:rPr>
              <a:t>推导出赫夫曼编码</a:t>
            </a:r>
            <a:endParaRPr lang="zh-CN" altLang="en-US" sz="2800" dirty="0">
              <a:latin typeface="黑体" panose="02010609060101010101" pitchFamily="2" charset="-122"/>
              <a:ea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lvl="1" indent="0" algn="l" defTabSz="1219200" rtl="0" eaLnBrk="1" fontAlgn="base" latinLnBrk="0" hangingPunct="1">
              <a:lnSpc>
                <a:spcPct val="100000"/>
              </a:lnSpc>
              <a:spcBef>
                <a:spcPct val="20000"/>
              </a:spcBef>
              <a:buClrTx/>
              <a:buSzTx/>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7" name="对象 6"/>
          <p:cNvGraphicFramePr/>
          <p:nvPr/>
        </p:nvGraphicFramePr>
        <p:xfrm>
          <a:off x="7320280" y="1628775"/>
          <a:ext cx="4095750" cy="5108575"/>
        </p:xfrm>
        <a:graphic>
          <a:graphicData uri="http://schemas.openxmlformats.org/presentationml/2006/ole">
            <mc:AlternateContent xmlns:mc="http://schemas.openxmlformats.org/markup-compatibility/2006">
              <mc:Choice xmlns:v="urn:schemas-microsoft-com:vml" Requires="v">
                <p:oleObj spid="_x0000_s8" name="" r:id="rId1" imgW="3286125" imgH="4476750" progId="Paint.Picture">
                  <p:embed/>
                </p:oleObj>
              </mc:Choice>
              <mc:Fallback>
                <p:oleObj name="" r:id="rId1" imgW="3286125" imgH="4476750" progId="Paint.Picture">
                  <p:embed/>
                  <p:pic>
                    <p:nvPicPr>
                      <p:cNvPr id="0" name="图片 7"/>
                      <p:cNvPicPr/>
                      <p:nvPr/>
                    </p:nvPicPr>
                    <p:blipFill>
                      <a:blip r:embed="rId2"/>
                      <a:stretch>
                        <a:fillRect/>
                      </a:stretch>
                    </p:blipFill>
                    <p:spPr>
                      <a:xfrm>
                        <a:off x="7320280" y="1628775"/>
                        <a:ext cx="4095750" cy="5108575"/>
                      </a:xfrm>
                      <a:prstGeom prst="rect">
                        <a:avLst/>
                      </a:prstGeom>
                    </p:spPr>
                  </p:pic>
                </p:oleObj>
              </mc:Fallback>
            </mc:AlternateContent>
          </a:graphicData>
        </a:graphic>
      </p:graphicFrame>
      <p:pic>
        <p:nvPicPr>
          <p:cNvPr id="5" name="图片 4"/>
          <p:cNvPicPr>
            <a:picLocks noChangeAspect="1"/>
          </p:cNvPicPr>
          <p:nvPr/>
        </p:nvPicPr>
        <p:blipFill>
          <a:blip r:embed="rId3"/>
          <a:stretch>
            <a:fillRect/>
          </a:stretch>
        </p:blipFill>
        <p:spPr>
          <a:xfrm>
            <a:off x="1847215" y="2708910"/>
            <a:ext cx="2675255" cy="352679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赫夫曼树算法</a:t>
            </a:r>
            <a:r>
              <a:rPr lang="en-US" altLang="zh-CN" sz="2800" dirty="0">
                <a:latin typeface="黑体" panose="02010609060101010101" pitchFamily="2" charset="-122"/>
                <a:cs typeface="+mn-cs"/>
                <a:sym typeface="+mn-ea"/>
              </a:rPr>
              <a:t>6.12</a:t>
            </a:r>
            <a:r>
              <a:rPr lang="zh-CN" altLang="en-US" sz="2800" dirty="0">
                <a:latin typeface="黑体" panose="02010609060101010101" pitchFamily="2" charset="-122"/>
                <a:cs typeface="+mn-cs"/>
                <a:sym typeface="+mn-ea"/>
              </a:rPr>
              <a:t>，课本</a:t>
            </a:r>
            <a:r>
              <a:rPr lang="en-US" altLang="zh-CN" sz="2800" dirty="0">
                <a:latin typeface="黑体" panose="02010609060101010101" pitchFamily="2" charset="-122"/>
                <a:cs typeface="+mn-cs"/>
                <a:sym typeface="+mn-ea"/>
              </a:rPr>
              <a:t>P147</a:t>
            </a:r>
            <a:endParaRPr lang="zh-CN" altLang="en-US" sz="2800" dirty="0">
              <a:latin typeface="黑体" panose="02010609060101010101" pitchFamily="2" charset="-122"/>
              <a:cs typeface="+mn-cs"/>
              <a:sym typeface="+mn-ea"/>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void HuffmanCoding(HuffmanTree &amp;HT, HuffmanCode &amp;HC, int *w, int n) </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if (n&lt;=1) return;</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m = 2 * n - 1;</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HT = (HuffmanTree)malloc((m+1) * sizeof(HTNode));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下标</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0</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元素不用</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for (i=1; i&lt;=n; i++)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初始化 </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HT[i].weight=w[i-1];    HT[i].parent=0;    </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HT[i].lchild=0;    	HT[i].rchild=0;</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 //end for</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for (i=n+1; i&lt;=m; i++)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初始化</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HT[i].weight=0;    HT[i].parent=0;</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HT[i].lchild=0;      HT[i].rchild=0;</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 //end for</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赫夫曼树算法</a:t>
            </a:r>
            <a:r>
              <a:rPr lang="en-US" altLang="zh-CN" sz="2800" dirty="0">
                <a:latin typeface="黑体" panose="02010609060101010101" pitchFamily="2" charset="-122"/>
                <a:cs typeface="+mn-cs"/>
                <a:sym typeface="+mn-ea"/>
              </a:rPr>
              <a:t>6.12</a:t>
            </a:r>
            <a:endParaRPr lang="zh-CN" altLang="en-US" sz="2800" dirty="0">
              <a:latin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接前边初始化的代码</a:t>
            </a:r>
            <a:endParaRPr lang="en-US" altLang="zh-CN" sz="2400" dirty="0">
              <a:latin typeface="黑体" panose="02010609060101010101" pitchFamily="2" charset="-122"/>
              <a:ea typeface="黑体" panose="02010609060101010101" pitchFamily="2" charset="-122"/>
              <a:sym typeface="+mn-ea"/>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for (i=n+1; i&lt;=m; i++) {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建哈夫曼树</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HT[1..i-1]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中选择</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parent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为</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0</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且</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weight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最小的两个结点，</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其序号分别为</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s1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和</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s2</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Select(HT, i-1, s1, s2);</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HT[s1].parent = i;  HT[s2].parent = i;</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HT[i].lchild = s1;  HT[i].rchild = s2;</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HT[i].weight = HT[s1].weight + HT[s2].weight;</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//end for</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赫夫曼树算法</a:t>
            </a:r>
            <a:r>
              <a:rPr lang="en-US" altLang="zh-CN" sz="2800" dirty="0">
                <a:latin typeface="黑体" panose="02010609060101010101" pitchFamily="2" charset="-122"/>
                <a:cs typeface="+mn-cs"/>
                <a:sym typeface="+mn-ea"/>
              </a:rPr>
              <a:t>6.12</a:t>
            </a:r>
            <a:endParaRPr lang="zh-CN" altLang="en-US" sz="2800" dirty="0">
              <a:latin typeface="黑体" panose="02010609060101010101" pitchFamily="2" charset="-122"/>
              <a:cs typeface="+mn-cs"/>
              <a:sym typeface="+mn-ea"/>
            </a:endParaRPr>
          </a:p>
          <a:p>
            <a:pPr marL="609600" marR="0" indent="-60960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pPr>
            <a:r>
              <a:rPr lang="en-US" altLang="zh-CN" sz="2400" b="1" dirty="0">
                <a:latin typeface="黑体" panose="02010609060101010101" pitchFamily="2" charset="-122"/>
                <a:ea typeface="黑体" panose="02010609060101010101" pitchFamily="2" charset="-122"/>
                <a:sym typeface="+mn-ea"/>
              </a:rPr>
              <a:t>.....</a:t>
            </a:r>
            <a:r>
              <a:rPr lang="zh-CN" altLang="en-US" sz="2400" b="1" dirty="0">
                <a:latin typeface="黑体" panose="02010609060101010101" pitchFamily="2" charset="-122"/>
                <a:ea typeface="黑体" panose="02010609060101010101" pitchFamily="2" charset="-122"/>
                <a:sym typeface="+mn-ea"/>
              </a:rPr>
              <a:t>接前边赫夫曼构建的代码</a:t>
            </a:r>
            <a:endParaRPr lang="en-US" altLang="zh-CN" sz="2400" b="1" dirty="0">
              <a:latin typeface="黑体" panose="02010609060101010101" pitchFamily="2" charset="-122"/>
              <a:ea typeface="黑体" panose="02010609060101010101" pitchFamily="2" charset="-122"/>
              <a:sym typeface="+mn-ea"/>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从叶子到根逆向求每个字符的哈夫曼编码 ---</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cd = (char *)malloc(n*sizeof(char));    // 分配求编码的工作空间</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cd[n-1] = '\0';                         // 编码结束符。</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for (i=1; i&lt;=n; ++i) {                  // 逐个字符求哈夫曼编码</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start = n-1;                          // 编码结束符位置</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for (c=i, f=HT[i].parent; f!=0; c=f, f=HT[f].parent) </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 从叶子到根逆向求编码</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if (HT[f].lchild==c) cd[--start] = '0';</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else cd[--start] = '1';</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HC[i] = (char *)malloc((n-start)*sizeof(char));  // 为第i个字符编码分配空间</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strcpy(HC[i], &amp;cd[start]);    // 从cd复制编码(串)到HC</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  free(cd);   // 释放工作空间</a:t>
            </a:r>
            <a:endParaRPr kumimoji="0" lang="en-US"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en-US" sz="2000" dirty="0">
                <a:latin typeface="黑体" panose="02010609060101010101" pitchFamily="2" charset="-122"/>
                <a:ea typeface="黑体" panose="02010609060101010101" pitchFamily="2" charset="-122"/>
                <a:cs typeface="黑体" panose="02010609060101010101" pitchFamily="2" charset="-122"/>
                <a:sym typeface="+mn-ea"/>
              </a:rPr>
              <a:t>}//end function</a:t>
            </a:r>
            <a:endParaRPr kumimoji="0" lang="en-US" altLang="zh-CN"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endParaRPr kumimoji="0" lang="en-US" altLang="zh-CN"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cs typeface="+mn-cs"/>
                <a:sym typeface="+mn-ea"/>
              </a:rPr>
              <a:t>赫夫曼解码算法</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定义指针p指向赫夫曼树结点，指针i指向编码串，定义ch逐个读取编码串的字符</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初始化：读入编码串，设置p指向根结点，i为0，执行以下循环：</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mn-ea"/>
            </a:endParaRPr>
          </a:p>
          <a:p>
            <a:pPr marL="784225" marR="0" lvl="1" indent="-457200" algn="l" defTabSz="914400" rtl="0" eaLnBrk="1" fontAlgn="base" latinLnBrk="0" hangingPunct="1">
              <a:lnSpc>
                <a:spcPct val="100000"/>
              </a:lnSpc>
              <a:spcBef>
                <a:spcPct val="20000"/>
              </a:spcBef>
              <a:spcAft>
                <a:spcPct val="0"/>
              </a:spcAft>
              <a:buClr>
                <a:schemeClr val="accent6"/>
              </a:buClr>
              <a:buSzTx/>
              <a:buFont typeface="Segoe Print" panose="02000600000000000000" charset="0"/>
              <a:buAutoNum type="circleNumDbPlain"/>
              <a:defRP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取编码串的第</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i</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个字符放入</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ch</a:t>
            </a:r>
            <a:endParaRPr lang="en-US" altLang="zh-CN" sz="2400" noProof="0" smtClean="0">
              <a:ln>
                <a:noFill/>
              </a:ln>
              <a:effectLst/>
              <a:uLnTx/>
              <a:uFillTx/>
              <a:latin typeface="黑体" panose="02010609060101010101" pitchFamily="2" charset="-122"/>
              <a:ea typeface="黑体" panose="02010609060101010101" pitchFamily="2" charset="-122"/>
              <a:cs typeface="+mn-ea"/>
              <a:sym typeface="+mn-ea"/>
            </a:endParaRPr>
          </a:p>
          <a:p>
            <a:pPr marL="784225" marR="0" lvl="1" indent="-457200" algn="l" defTabSz="914400" rtl="0" eaLnBrk="1" fontAlgn="base" latinLnBrk="0" hangingPunct="1">
              <a:lnSpc>
                <a:spcPct val="100000"/>
              </a:lnSpc>
              <a:spcBef>
                <a:spcPct val="20000"/>
              </a:spcBef>
              <a:spcAft>
                <a:spcPct val="0"/>
              </a:spcAft>
              <a:buClr>
                <a:schemeClr val="accent6"/>
              </a:buClr>
              <a:buSzTx/>
              <a:buFont typeface="Segoe Print" panose="02000600000000000000" charset="0"/>
              <a:buAutoNum type="circleNumDbPlain"/>
              <a:defRP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如果</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ch</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是字符</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0</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，则</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p</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跳转到左孩子；如果</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ch</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是字符</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1</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，则</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p</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跳转到右孩子；如果</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ch</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非</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0</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非</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1</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，表示编码串有错误，报错退出</a:t>
            </a:r>
            <a:endParaRPr lang="zh-CN" altLang="en-US" sz="2400" noProof="0" smtClean="0">
              <a:ln>
                <a:noFill/>
              </a:ln>
              <a:effectLst/>
              <a:uLnTx/>
              <a:uFillTx/>
              <a:latin typeface="黑体" panose="02010609060101010101" pitchFamily="2" charset="-122"/>
              <a:ea typeface="黑体" panose="02010609060101010101" pitchFamily="2" charset="-122"/>
              <a:cs typeface="+mn-ea"/>
              <a:sym typeface="+mn-ea"/>
            </a:endParaRPr>
          </a:p>
          <a:p>
            <a:pPr marL="784225" marR="0" lvl="1" indent="-457200" algn="l" defTabSz="914400" rtl="0" eaLnBrk="1" fontAlgn="base" latinLnBrk="0" hangingPunct="1">
              <a:lnSpc>
                <a:spcPct val="100000"/>
              </a:lnSpc>
              <a:spcBef>
                <a:spcPct val="20000"/>
              </a:spcBef>
              <a:spcAft>
                <a:spcPct val="0"/>
              </a:spcAft>
              <a:buClr>
                <a:schemeClr val="accent6"/>
              </a:buClr>
              <a:buSzTx/>
              <a:buFont typeface="Segoe Print" panose="02000600000000000000" charset="0"/>
              <a:buAutoNum type="circleNumDbPlain"/>
              <a:defRP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如果</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p</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指的结点是叶子，</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输出解码字符，</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p</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跳回根结点，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i++</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，跳步骤</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1</a:t>
            </a:r>
            <a:endParaRPr lang="en-US" altLang="zh-CN" noProof="0" smtClean="0">
              <a:ln>
                <a:noFill/>
              </a:ln>
              <a:effectLst/>
              <a:uLnTx/>
              <a:uFillTx/>
              <a:latin typeface="黑体" panose="02010609060101010101" pitchFamily="2" charset="-122"/>
              <a:ea typeface="黑体" panose="02010609060101010101" pitchFamily="2" charset="-122"/>
              <a:cs typeface="+mn-ea"/>
              <a:sym typeface="+mn-ea"/>
            </a:endParaRPr>
          </a:p>
          <a:p>
            <a:pPr marL="784225" marR="0" lvl="1" indent="-457200" algn="l" defTabSz="914400" rtl="0" eaLnBrk="1" fontAlgn="base" latinLnBrk="0" hangingPunct="1">
              <a:lnSpc>
                <a:spcPct val="100000"/>
              </a:lnSpc>
              <a:spcBef>
                <a:spcPct val="20000"/>
              </a:spcBef>
              <a:spcAft>
                <a:spcPct val="0"/>
              </a:spcAft>
              <a:buClr>
                <a:schemeClr val="accent6"/>
              </a:buClr>
              <a:buSzTx/>
              <a:buFont typeface="Segoe Print" panose="02000600000000000000" charset="0"/>
              <a:buAutoNum type="circleNumDbPlain"/>
              <a:defRP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如果</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p</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指的结点不是叶子且</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i</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未到编码串末尾，</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i++</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，跳步骤</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1</a:t>
            </a:r>
            <a:endParaRPr lang="en-US" altLang="zh-CN" noProof="0" smtClean="0">
              <a:ln>
                <a:noFill/>
              </a:ln>
              <a:effectLst/>
              <a:uLnTx/>
              <a:uFillTx/>
              <a:latin typeface="黑体" panose="02010609060101010101" pitchFamily="2" charset="-122"/>
              <a:ea typeface="黑体" panose="02010609060101010101" pitchFamily="2" charset="-122"/>
              <a:cs typeface="+mn-ea"/>
              <a:sym typeface="+mn-ea"/>
            </a:endParaRPr>
          </a:p>
          <a:p>
            <a:pPr marL="784225" marR="0" lvl="1" indent="-457200" algn="l" defTabSz="914400" rtl="0" eaLnBrk="1" fontAlgn="base" latinLnBrk="0" hangingPunct="1">
              <a:lnSpc>
                <a:spcPct val="100000"/>
              </a:lnSpc>
              <a:spcBef>
                <a:spcPct val="20000"/>
              </a:spcBef>
              <a:spcAft>
                <a:spcPct val="0"/>
              </a:spcAft>
              <a:buClr>
                <a:schemeClr val="accent6"/>
              </a:buClr>
              <a:buSzTx/>
              <a:buFont typeface="Segoe Print" panose="02000600000000000000" charset="0"/>
              <a:buAutoNum type="circleNumDbPlain"/>
              <a:defRP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如果</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p</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指的结点不是叶子且</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i</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到达编码串末尾，报错退出</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L="327025" marR="0" lvl="1" indent="0" algn="l" defTabSz="914400" rtl="0" eaLnBrk="1" fontAlgn="base" latinLnBrk="0" hangingPunct="1">
              <a:lnSpc>
                <a:spcPct val="100000"/>
              </a:lnSpc>
              <a:spcBef>
                <a:spcPct val="20000"/>
              </a:spcBef>
              <a:spcAft>
                <a:spcPct val="0"/>
              </a:spcAft>
              <a:buClr>
                <a:schemeClr val="accent6"/>
              </a:buClr>
              <a:buSzTx/>
              <a:buFont typeface="Segoe Print" panose="02000600000000000000" charset="0"/>
              <a:buNone/>
              <a:defRP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当</a:t>
            </a:r>
            <a:r>
              <a:rPr lang="en-US" altLang="zh-CN" sz="2400" noProof="0" smtClean="0">
                <a:ln>
                  <a:noFill/>
                </a:ln>
                <a:effectLst/>
                <a:uLnTx/>
                <a:uFillTx/>
                <a:latin typeface="黑体" panose="02010609060101010101" pitchFamily="2" charset="-122"/>
                <a:ea typeface="黑体" panose="02010609060101010101" pitchFamily="2" charset="-122"/>
                <a:cs typeface="+mn-ea"/>
                <a:sym typeface="+mn-ea"/>
              </a:rPr>
              <a:t>i</a:t>
            </a: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到达编码串末尾，解码结束。</a:t>
            </a:r>
            <a:endParaRPr kumimoji="0" lang="en-US" altLang="zh-CN"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endParaRPr lang="en-US" altLang="zh-CN" sz="2400" noProof="0" smtClean="0">
              <a:ln>
                <a:noFill/>
              </a:ln>
              <a:effectLst/>
              <a:uLnTx/>
              <a:uFillTx/>
              <a:latin typeface="黑体" panose="02010609060101010101" pitchFamily="2" charset="-122"/>
              <a:ea typeface="黑体" panose="02010609060101010101" pitchFamily="2" charset="-122"/>
              <a:cs typeface="+mn-cs"/>
              <a:sym typeface="+mn-ea"/>
            </a:endParaRPr>
          </a:p>
          <a:p>
            <a:pPr marL="609600" marR="0" lvl="1" indent="0" algn="l" defTabSz="1219200" rtl="0" eaLnBrk="1" fontAlgn="base" latinLnBrk="0" hangingPunct="1">
              <a:lnSpc>
                <a:spcPct val="100000"/>
              </a:lnSpc>
              <a:spcBef>
                <a:spcPct val="20000"/>
              </a:spcBef>
              <a:buClrTx/>
              <a:buSzTx/>
              <a:buNone/>
            </a:pPr>
            <a:endParaRPr lang="zh-CN" altLang="en-US" sz="2400" dirty="0">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6.6 </a:t>
            </a:r>
            <a:r>
              <a:rPr lang="zh-CN" altLang="en-US" dirty="0">
                <a:latin typeface="楷体" panose="02010609060101010101" charset="-122"/>
                <a:ea typeface="楷体" panose="02010609060101010101" charset="-122"/>
                <a:cs typeface="楷体" panose="02010609060101010101" charset="-122"/>
                <a:sym typeface="+mn-ea"/>
              </a:rPr>
              <a:t>赫夫曼树及其应用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L="428625" marR="0" lvl="0" indent="-428625" algn="l" rtl="0" eaLnBrk="1" fontAlgn="base" latinLnBrk="0" hangingPunct="1">
              <a:lnSpc>
                <a:spcPct val="90000"/>
              </a:lnSpc>
              <a:spcBef>
                <a:spcPts val="1000"/>
              </a:spcBef>
              <a:buClr>
                <a:srgbClr val="000000"/>
              </a:buClr>
              <a:buSzTx/>
              <a:buFont typeface="Wingdings" panose="05000000000000000000" charset="0"/>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二叉树的三种创建方法：</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cs typeface="+mn-cs"/>
            </a:endParaRPr>
          </a:p>
          <a:p>
            <a:pPr marL="914400" marR="0" lvl="2" indent="-457200" algn="l"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带空子树0的先序遍历</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marL="914400" marR="0" lvl="2" indent="-457200" algn="l"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带空子树0的层次遍历</a:t>
            </a:r>
            <a:endParaRPr kumimoji="0" lang="zh-CN" altLang="en-US" sz="2000" i="0" u="none" strike="noStrike"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914400" marR="0" lvl="2" indent="-457200" algn="l"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先序+中序、后序+中序</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marL="428625" marR="0" lvl="0" indent="-428625" algn="l" rtl="0" eaLnBrk="1" fontAlgn="base" latinLnBrk="0" hangingPunct="1">
              <a:lnSpc>
                <a:spcPct val="90000"/>
              </a:lnSpc>
              <a:spcBef>
                <a:spcPts val="1000"/>
              </a:spcBef>
              <a:buClr>
                <a:srgbClr val="000000"/>
              </a:buClr>
              <a:buSzTx/>
              <a:buFont typeface="Wingdings" panose="05000000000000000000" charset="0"/>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线索二叉树的概念，用孩子指针</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附加标记保存某种遍历的前驱和后继信息</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28625" marR="0" lvl="0" indent="-428625" algn="l" rtl="0" eaLnBrk="1" fontAlgn="base" latinLnBrk="0" hangingPunct="1">
              <a:lnSpc>
                <a:spcPct val="90000"/>
              </a:lnSpc>
              <a:spcBef>
                <a:spcPts val="1000"/>
              </a:spcBef>
              <a:buClr>
                <a:srgbClr val="000000"/>
              </a:buClr>
              <a:buSzTx/>
              <a:buFont typeface="Wingdings" panose="05000000000000000000" charset="0"/>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树的路径长度、树的带权路径长度概念</a:t>
            </a:r>
            <a:endParaRPr kumimoji="0" lang="zh-CN" altLang="en-US" sz="2400" i="0" u="none" strike="noStrike"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28625" marR="0" lvl="0" indent="-428625" algn="l" rtl="0" eaLnBrk="1" fontAlgn="base" latinLnBrk="0" hangingPunct="1">
              <a:lnSpc>
                <a:spcPct val="90000"/>
              </a:lnSpc>
              <a:spcBef>
                <a:spcPts val="1000"/>
              </a:spcBef>
              <a:buClr>
                <a:srgbClr val="000000"/>
              </a:buClr>
              <a:buSzTx/>
              <a:buFont typeface="Wingdings" panose="05000000000000000000" charset="0"/>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赫夫曼树的概念</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885825" marR="0" lvl="1" indent="-428625" algn="l" rtl="0" eaLnBrk="1" fontAlgn="base" latinLnBrk="0" hangingPunct="1">
              <a:lnSpc>
                <a:spcPct val="90000"/>
              </a:lnSpc>
              <a:spcBef>
                <a:spcPts val="1000"/>
              </a:spcBef>
              <a:buClr>
                <a:srgbClr val="000000"/>
              </a:buClr>
              <a:buSzTx/>
              <a:buFont typeface="Wingdings" panose="05000000000000000000" charset="0"/>
              <a:buChar char="l"/>
            </a:pPr>
            <a:r>
              <a:rPr lang="zh-CN" altLang="en-US" sz="2055" dirty="0">
                <a:latin typeface="黑体" panose="02010609060101010101" pitchFamily="2" charset="-122"/>
                <a:ea typeface="黑体" panose="02010609060101010101" pitchFamily="2" charset="-122"/>
                <a:cs typeface="黑体" panose="02010609060101010101" pitchFamily="2" charset="-122"/>
                <a:sym typeface="+mn-ea"/>
              </a:rPr>
              <a:t>赫夫曼树的构建</a:t>
            </a:r>
            <a:endParaRPr lang="zh-CN" altLang="en-US" sz="2055" dirty="0">
              <a:latin typeface="黑体" panose="02010609060101010101" pitchFamily="2" charset="-122"/>
              <a:ea typeface="黑体" panose="02010609060101010101" pitchFamily="2" charset="-122"/>
              <a:cs typeface="黑体" panose="02010609060101010101" pitchFamily="2" charset="-122"/>
              <a:sym typeface="+mn-ea"/>
            </a:endParaRPr>
          </a:p>
          <a:p>
            <a:pPr marL="885825" marR="0" lvl="1" indent="-428625" algn="l" rtl="0" eaLnBrk="1" fontAlgn="base" latinLnBrk="0" hangingPunct="1">
              <a:lnSpc>
                <a:spcPct val="90000"/>
              </a:lnSpc>
              <a:spcBef>
                <a:spcPts val="1000"/>
              </a:spcBef>
              <a:buClr>
                <a:srgbClr val="000000"/>
              </a:buClr>
              <a:buSzTx/>
              <a:buFont typeface="Wingdings" panose="05000000000000000000" charset="0"/>
              <a:buChar char="l"/>
            </a:pPr>
            <a:r>
              <a:rPr lang="zh-CN" altLang="en-US" sz="2055" dirty="0">
                <a:latin typeface="黑体" panose="02010609060101010101" pitchFamily="2" charset="-122"/>
                <a:ea typeface="黑体" panose="02010609060101010101" pitchFamily="2" charset="-122"/>
                <a:cs typeface="黑体" panose="02010609060101010101" pitchFamily="2" charset="-122"/>
                <a:sym typeface="+mn-ea"/>
              </a:rPr>
              <a:t>赫夫曼树结点总数</a:t>
            </a:r>
            <a:r>
              <a:rPr lang="en-US" altLang="zh-CN" sz="2055"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055" dirty="0">
                <a:latin typeface="黑体" panose="02010609060101010101" pitchFamily="2" charset="-122"/>
                <a:ea typeface="黑体" panose="02010609060101010101" pitchFamily="2" charset="-122"/>
                <a:cs typeface="黑体" panose="02010609060101010101" pitchFamily="2" charset="-122"/>
                <a:sym typeface="+mn-ea"/>
              </a:rPr>
              <a:t>叶子数</a:t>
            </a:r>
            <a:r>
              <a:rPr lang="en-US" altLang="zh-CN" sz="2055" dirty="0">
                <a:latin typeface="黑体" panose="02010609060101010101" pitchFamily="2" charset="-122"/>
                <a:ea typeface="黑体" panose="02010609060101010101" pitchFamily="2" charset="-122"/>
                <a:cs typeface="黑体" panose="02010609060101010101" pitchFamily="2" charset="-122"/>
                <a:sym typeface="+mn-ea"/>
              </a:rPr>
              <a:t>*2-1</a:t>
            </a:r>
            <a:endParaRPr lang="zh-CN" altLang="en-US" sz="2055" dirty="0">
              <a:latin typeface="黑体" panose="02010609060101010101" pitchFamily="2" charset="-122"/>
              <a:ea typeface="黑体" panose="02010609060101010101" pitchFamily="2" charset="-122"/>
              <a:cs typeface="黑体" panose="02010609060101010101" pitchFamily="2" charset="-122"/>
              <a:sym typeface="+mn-ea"/>
            </a:endParaRPr>
          </a:p>
          <a:p>
            <a:pPr marL="428625" marR="0" lvl="0" indent="-428625" algn="l" rtl="0" eaLnBrk="1" fontAlgn="base" latinLnBrk="0" hangingPunct="1">
              <a:lnSpc>
                <a:spcPct val="90000"/>
              </a:lnSpc>
              <a:spcBef>
                <a:spcPts val="1000"/>
              </a:spcBef>
              <a:buClr>
                <a:srgbClr val="000000"/>
              </a:buClr>
              <a:buSzTx/>
              <a:buFont typeface="Wingdings" panose="05000000000000000000" charset="0"/>
              <a:buChar char="l"/>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赫夫曼编码与解码</a:t>
            </a:r>
            <a:endParaRPr kumimoji="0" lang="zh-CN" altLang="en-US" sz="2400" i="0" u="none" strike="noStrike"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914400" marR="0" lvl="2" indent="-457200" algn="l" rtl="0" eaLnBrk="1" fontAlgn="base" latinLnBrk="0" hangingPunct="1">
              <a:lnSpc>
                <a:spcPct val="100000"/>
              </a:lnSpc>
              <a:spcBef>
                <a:spcPct val="20000"/>
              </a:spcBef>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上节课复习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已知二叉树</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先序</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遍历为ABEFCDG</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，中序</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遍历为</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EFBCGDA，求</a:t>
            </a:r>
            <a:endParaRPr lang="en-US"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画出该二叉树</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假设空子树用</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表示，画出该二叉树的顺序存储结构</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R="0" algn="l" defTabSz="1219200" rtl="0" eaLnBrk="1" fontAlgn="base" latinLnBrk="0"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已知二叉树共有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10</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个结点，采用二叉链表存储结构，如果二叉树改造为线索二叉树，在不增加指针的情况下，能够保存多少个线索？</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已知一棵最优二叉树有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10</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个叶子，则该二叉树的结点总数为？个</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复习练习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429260" y="948055"/>
            <a:ext cx="6513195" cy="4191635"/>
          </a:xfrm>
        </p:spPr>
        <p:txBody>
          <a:bodyPr/>
          <a:p>
            <a:pPr marR="0" lvl="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已知二叉树如图所示，完成以下要求</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求树的路径长度</a:t>
            </a:r>
            <a:endParaRPr kumimoji="0" lang="en-US" altLang="zh-CN" sz="20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图中</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叶子对应的字符为ABCDEF，若叶子权值分别为3、14、34、26、16、7，求树的带权路径长度</a:t>
            </a:r>
            <a:endParaRPr kumimoji="0" lang="en-US" altLang="zh-CN" sz="20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该树是否</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为</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赫夫曼树，如果不是，请构建赫夫曼树并</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（假设赫夫曼树的左孩子权值不大于右孩子权值），</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计算WPL值</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并列出每个字符的赫夫曼编码</a:t>
            </a:r>
            <a:endParaRPr kumimoji="0" lang="en-US" altLang="zh-CN" sz="20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在</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赫夫曼编码</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后</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，并对以下编码串进行解码，若解码异常则输出error</a:t>
            </a: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11011000101</a:t>
            </a:r>
            <a:endParaRPr lang="en-US" altLang="zh-CN" sz="2400" dirty="0">
              <a:latin typeface="黑体" panose="02010609060101010101" pitchFamily="2" charset="-122"/>
              <a:ea typeface="黑体" panose="02010609060101010101" pitchFamily="2" charset="-122"/>
              <a:cs typeface="黑体" panose="02010609060101010101" pitchFamily="2" charset="-122"/>
              <a:sym typeface="+mn-ea"/>
            </a:endParaRPr>
          </a:p>
          <a:p>
            <a:pPr marL="609600" marR="0" lvl="1" indent="0" algn="l" defTabSz="1219200" rtl="0" eaLnBrk="1" fontAlgn="base" latinLnBrk="0" hangingPunct="1">
              <a:lnSpc>
                <a:spcPct val="100000"/>
              </a:lnSpc>
              <a:spcBef>
                <a:spcPct val="20000"/>
              </a:spcBef>
              <a:buClrTx/>
              <a:buSzTx/>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11101</a:t>
            </a: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000100</a:t>
            </a: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复习练习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111622" name="Group 58"/>
          <p:cNvGrpSpPr/>
          <p:nvPr/>
        </p:nvGrpSpPr>
        <p:grpSpPr>
          <a:xfrm rot="0">
            <a:off x="8853170" y="257175"/>
            <a:ext cx="2613025" cy="2486025"/>
            <a:chOff x="0" y="0"/>
            <a:chExt cx="1646" cy="1566"/>
          </a:xfrm>
        </p:grpSpPr>
        <p:sp>
          <p:nvSpPr>
            <p:cNvPr id="111623" name="Oval 59"/>
            <p:cNvSpPr/>
            <p:nvPr/>
          </p:nvSpPr>
          <p:spPr>
            <a:xfrm>
              <a:off x="624" y="0"/>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111624" name="Oval 60"/>
            <p:cNvSpPr/>
            <p:nvPr/>
          </p:nvSpPr>
          <p:spPr>
            <a:xfrm>
              <a:off x="0" y="869"/>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111625" name="Oval 61"/>
            <p:cNvSpPr/>
            <p:nvPr/>
          </p:nvSpPr>
          <p:spPr>
            <a:xfrm>
              <a:off x="408" y="872"/>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111626" name="Oval 62"/>
            <p:cNvSpPr/>
            <p:nvPr/>
          </p:nvSpPr>
          <p:spPr>
            <a:xfrm>
              <a:off x="208" y="432"/>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111627" name="Line 63"/>
            <p:cNvSpPr/>
            <p:nvPr/>
          </p:nvSpPr>
          <p:spPr>
            <a:xfrm flipH="1">
              <a:off x="128" y="640"/>
              <a:ext cx="136" cy="227"/>
            </a:xfrm>
            <a:prstGeom prst="line">
              <a:avLst/>
            </a:prstGeom>
            <a:ln w="28575" cap="flat" cmpd="sng">
              <a:solidFill>
                <a:schemeClr val="tx1"/>
              </a:solidFill>
              <a:prstDash val="solid"/>
              <a:round/>
              <a:headEnd type="none" w="med" len="med"/>
              <a:tailEnd type="none" w="med" len="med"/>
            </a:ln>
          </p:spPr>
        </p:sp>
        <p:sp>
          <p:nvSpPr>
            <p:cNvPr id="111628" name="Line 64"/>
            <p:cNvSpPr/>
            <p:nvPr/>
          </p:nvSpPr>
          <p:spPr>
            <a:xfrm>
              <a:off x="392" y="640"/>
              <a:ext cx="136" cy="227"/>
            </a:xfrm>
            <a:prstGeom prst="line">
              <a:avLst/>
            </a:prstGeom>
            <a:ln w="28575" cap="flat" cmpd="sng">
              <a:solidFill>
                <a:schemeClr val="tx1"/>
              </a:solidFill>
              <a:prstDash val="solid"/>
              <a:round/>
              <a:headEnd type="none" w="med" len="med"/>
              <a:tailEnd type="none" w="med" len="med"/>
            </a:ln>
          </p:spPr>
        </p:sp>
        <p:sp>
          <p:nvSpPr>
            <p:cNvPr id="111629" name="Oval 65"/>
            <p:cNvSpPr/>
            <p:nvPr/>
          </p:nvSpPr>
          <p:spPr>
            <a:xfrm>
              <a:off x="775" y="877"/>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111630" name="Oval 66"/>
            <p:cNvSpPr/>
            <p:nvPr/>
          </p:nvSpPr>
          <p:spPr>
            <a:xfrm>
              <a:off x="1183" y="880"/>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pPr algn="ctr"/>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111631" name="Oval 67"/>
            <p:cNvSpPr/>
            <p:nvPr/>
          </p:nvSpPr>
          <p:spPr>
            <a:xfrm>
              <a:off x="983" y="440"/>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111632" name="Line 68"/>
            <p:cNvSpPr/>
            <p:nvPr/>
          </p:nvSpPr>
          <p:spPr>
            <a:xfrm flipH="1">
              <a:off x="903" y="648"/>
              <a:ext cx="136" cy="227"/>
            </a:xfrm>
            <a:prstGeom prst="line">
              <a:avLst/>
            </a:prstGeom>
            <a:ln w="28575" cap="flat" cmpd="sng">
              <a:solidFill>
                <a:schemeClr val="tx1"/>
              </a:solidFill>
              <a:prstDash val="solid"/>
              <a:round/>
              <a:headEnd type="none" w="med" len="med"/>
              <a:tailEnd type="none" w="med" len="med"/>
            </a:ln>
          </p:spPr>
        </p:sp>
        <p:sp>
          <p:nvSpPr>
            <p:cNvPr id="111633" name="Line 69"/>
            <p:cNvSpPr/>
            <p:nvPr/>
          </p:nvSpPr>
          <p:spPr>
            <a:xfrm>
              <a:off x="1167" y="648"/>
              <a:ext cx="136" cy="227"/>
            </a:xfrm>
            <a:prstGeom prst="line">
              <a:avLst/>
            </a:prstGeom>
            <a:ln w="28575" cap="flat" cmpd="sng">
              <a:solidFill>
                <a:schemeClr val="tx1"/>
              </a:solidFill>
              <a:prstDash val="solid"/>
              <a:round/>
              <a:headEnd type="none" w="med" len="med"/>
              <a:tailEnd type="none" w="med" len="med"/>
            </a:ln>
          </p:spPr>
        </p:sp>
        <p:sp>
          <p:nvSpPr>
            <p:cNvPr id="111634" name="Line 70"/>
            <p:cNvSpPr/>
            <p:nvPr/>
          </p:nvSpPr>
          <p:spPr>
            <a:xfrm flipH="1">
              <a:off x="368" y="208"/>
              <a:ext cx="295" cy="227"/>
            </a:xfrm>
            <a:prstGeom prst="line">
              <a:avLst/>
            </a:prstGeom>
            <a:ln w="28575" cap="flat" cmpd="sng">
              <a:solidFill>
                <a:schemeClr val="tx1"/>
              </a:solidFill>
              <a:prstDash val="solid"/>
              <a:round/>
              <a:headEnd type="none" w="med" len="med"/>
              <a:tailEnd type="none" w="med" len="med"/>
            </a:ln>
          </p:spPr>
        </p:sp>
        <p:sp>
          <p:nvSpPr>
            <p:cNvPr id="111635" name="Line 71"/>
            <p:cNvSpPr/>
            <p:nvPr/>
          </p:nvSpPr>
          <p:spPr>
            <a:xfrm>
              <a:off x="832" y="195"/>
              <a:ext cx="287" cy="248"/>
            </a:xfrm>
            <a:prstGeom prst="line">
              <a:avLst/>
            </a:prstGeom>
            <a:ln w="28575" cap="flat" cmpd="sng">
              <a:solidFill>
                <a:schemeClr val="tx1"/>
              </a:solidFill>
              <a:prstDash val="solid"/>
              <a:round/>
              <a:headEnd type="none" w="med" len="med"/>
              <a:tailEnd type="none" w="med" len="med"/>
            </a:ln>
          </p:spPr>
        </p:sp>
        <p:sp>
          <p:nvSpPr>
            <p:cNvPr id="111636" name="Oval 72"/>
            <p:cNvSpPr/>
            <p:nvPr/>
          </p:nvSpPr>
          <p:spPr>
            <a:xfrm>
              <a:off x="215" y="1317"/>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111637" name="Oval 73"/>
            <p:cNvSpPr/>
            <p:nvPr/>
          </p:nvSpPr>
          <p:spPr>
            <a:xfrm>
              <a:off x="623" y="1312"/>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111638" name="Line 74"/>
            <p:cNvSpPr/>
            <p:nvPr/>
          </p:nvSpPr>
          <p:spPr>
            <a:xfrm flipH="1">
              <a:off x="343" y="1088"/>
              <a:ext cx="136" cy="227"/>
            </a:xfrm>
            <a:prstGeom prst="line">
              <a:avLst/>
            </a:prstGeom>
            <a:ln w="28575" cap="flat" cmpd="sng">
              <a:solidFill>
                <a:schemeClr val="tx1"/>
              </a:solidFill>
              <a:prstDash val="solid"/>
              <a:round/>
              <a:headEnd type="none" w="med" len="med"/>
              <a:tailEnd type="none" w="med" len="med"/>
            </a:ln>
          </p:spPr>
        </p:sp>
        <p:sp>
          <p:nvSpPr>
            <p:cNvPr id="111639" name="Line 75"/>
            <p:cNvSpPr/>
            <p:nvPr/>
          </p:nvSpPr>
          <p:spPr>
            <a:xfrm>
              <a:off x="607" y="1080"/>
              <a:ext cx="136" cy="227"/>
            </a:xfrm>
            <a:prstGeom prst="line">
              <a:avLst/>
            </a:prstGeom>
            <a:ln w="28575" cap="flat" cmpd="sng">
              <a:solidFill>
                <a:schemeClr val="tx1"/>
              </a:solidFill>
              <a:prstDash val="solid"/>
              <a:round/>
              <a:headEnd type="none" w="med" len="med"/>
              <a:tailEnd type="none" w="med" len="med"/>
            </a:ln>
          </p:spPr>
        </p:sp>
        <p:sp>
          <p:nvSpPr>
            <p:cNvPr id="111640" name="Oval 76"/>
            <p:cNvSpPr/>
            <p:nvPr/>
          </p:nvSpPr>
          <p:spPr>
            <a:xfrm>
              <a:off x="989" y="1339"/>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111641" name="Oval 77"/>
            <p:cNvSpPr/>
            <p:nvPr/>
          </p:nvSpPr>
          <p:spPr>
            <a:xfrm>
              <a:off x="1397" y="1334"/>
              <a:ext cx="249" cy="227"/>
            </a:xfrm>
            <a:prstGeom prst="ellipse">
              <a:avLst/>
            </a:prstGeom>
            <a:noFill/>
            <a:ln w="2857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111642" name="Line 78"/>
            <p:cNvSpPr/>
            <p:nvPr/>
          </p:nvSpPr>
          <p:spPr>
            <a:xfrm flipH="1">
              <a:off x="1117" y="1110"/>
              <a:ext cx="136" cy="227"/>
            </a:xfrm>
            <a:prstGeom prst="line">
              <a:avLst/>
            </a:prstGeom>
            <a:ln w="28575" cap="flat" cmpd="sng">
              <a:solidFill>
                <a:schemeClr val="tx1"/>
              </a:solidFill>
              <a:prstDash val="solid"/>
              <a:round/>
              <a:headEnd type="none" w="med" len="med"/>
              <a:tailEnd type="none" w="med" len="med"/>
            </a:ln>
          </p:spPr>
        </p:sp>
        <p:sp>
          <p:nvSpPr>
            <p:cNvPr id="111643" name="Line 79"/>
            <p:cNvSpPr/>
            <p:nvPr/>
          </p:nvSpPr>
          <p:spPr>
            <a:xfrm>
              <a:off x="1381" y="1102"/>
              <a:ext cx="136" cy="227"/>
            </a:xfrm>
            <a:prstGeom prst="line">
              <a:avLst/>
            </a:prstGeom>
            <a:ln w="28575" cap="flat" cmpd="sng">
              <a:solidFill>
                <a:schemeClr val="tx1"/>
              </a:solidFill>
              <a:prstDash val="solid"/>
              <a:round/>
              <a:headEnd type="none" w="med" len="med"/>
              <a:tailEnd type="none" w="med" len="med"/>
            </a:ln>
          </p:spPr>
        </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429260" y="948055"/>
            <a:ext cx="11087735" cy="4191635"/>
          </a:xfrm>
        </p:spPr>
        <p:txBody>
          <a:bodyPr/>
          <a:p>
            <a:pPr marR="0" lvl="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某系统要做一个数据汇总，现有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7</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个数据表A，B，C，D，E，F，G，分别含有10万，3</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3</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万，</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56</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万，</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78</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万，</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82</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万，</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23</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万和</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118</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万个数据元素。各表中元素已按升序排列。现要求通过6次合并，将7个表最终合并成1个升序表，并在最坏情况下比较的总次数达到最小。请回答下列问题。</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609600" marR="0" lvl="1" indent="0" algn="l" defTabSz="1219200" rtl="0" eaLnBrk="1" fontAlgn="base" latinLnBrk="0" hangingPunct="1">
              <a:lnSpc>
                <a:spcPct val="100000"/>
              </a:lnSpc>
              <a:spcBef>
                <a:spcPct val="20000"/>
              </a:spcBef>
              <a:buClrTx/>
              <a:buSzTx/>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（1）给出完整的合并过程，并求出最坏情况下比较的总次数</a:t>
            </a:r>
            <a:endParaRPr lang="en-US" altLang="zh-CN" sz="2400" dirty="0">
              <a:latin typeface="黑体" panose="02010609060101010101" pitchFamily="2" charset="-122"/>
              <a:ea typeface="黑体" panose="02010609060101010101" pitchFamily="2" charset="-122"/>
              <a:cs typeface="黑体" panose="02010609060101010101" pitchFamily="2" charset="-122"/>
              <a:sym typeface="+mn-ea"/>
            </a:endParaRPr>
          </a:p>
          <a:p>
            <a:pPr marL="609600" marR="0" lvl="1" indent="0" algn="l" defTabSz="1219200" rtl="0" eaLnBrk="1" fontAlgn="base" latinLnBrk="0" hangingPunct="1">
              <a:lnSpc>
                <a:spcPct val="100000"/>
              </a:lnSpc>
              <a:spcBef>
                <a:spcPct val="20000"/>
              </a:spcBef>
              <a:buClrTx/>
              <a:buSzTx/>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（2）根据你的合并过程，描述N（N≥2）个不等长升序表的合并策略并说明理由</a:t>
            </a:r>
            <a:endParaRPr kumimoji="0" lang="en-US" altLang="zh-CN"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复习练习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树的定义和基本术语</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遍历二叉树和线索二叉树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树和森林</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赫夫曼树及其应用</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回溯法与树的遍历</a:t>
            </a: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2919095"/>
            <a:ext cx="179768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485" y="18859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第六章	树和二叉树</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第一节学习了树的逻辑结构：唯一前驱，多个后继，树可以包含子树，可以嵌套定义。</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树的存储结构</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双亲表示法</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孩子表示法—多重链表</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孩子表示法—孩子链表法</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孩子表示法—带双亲的孩子链表</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孩子兄弟表示法</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树的存储结构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双亲表示法</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采用一组连续的存储空间</a:t>
            </a:r>
            <a:endParaRPr kumimoji="0" lang="zh-CN" altLang="en-US" sz="2400"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由于每个结点只有一个双亲，只需要增加多一个下标表示</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实现可以用二维数组或结构体</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26629" name="表格 26628"/>
          <p:cNvGraphicFramePr/>
          <p:nvPr>
            <p:custDataLst>
              <p:tags r:id="rId1"/>
            </p:custDataLst>
          </p:nvPr>
        </p:nvGraphicFramePr>
        <p:xfrm>
          <a:off x="1911350" y="3997325"/>
          <a:ext cx="4728210" cy="1035050"/>
        </p:xfrm>
        <a:graphic>
          <a:graphicData uri="http://schemas.openxmlformats.org/drawingml/2006/table">
            <a:tbl>
              <a:tblPr/>
              <a:tblGrid>
                <a:gridCol w="676910"/>
                <a:gridCol w="673100"/>
                <a:gridCol w="676910"/>
                <a:gridCol w="675005"/>
                <a:gridCol w="676275"/>
                <a:gridCol w="673735"/>
                <a:gridCol w="676275"/>
              </a:tblGrid>
              <a:tr h="517525">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A</a:t>
                      </a:r>
                      <a:endParaRPr lang="en-US" altLang="zh-CN" sz="2400" b="1" dirty="0">
                        <a:latin typeface="Arial" panose="020B0604020202020204" pitchFamily="34" charset="0"/>
                        <a:ea typeface="宋体" panose="02010600030101010101" pitchFamily="2" charset="-122"/>
                      </a:endParaRP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B</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C</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D</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E</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F</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G</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17525">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-1</a:t>
                      </a:r>
                      <a:endParaRPr lang="en-US" altLang="zh-CN" sz="2400" b="1" dirty="0">
                        <a:latin typeface="Arial" panose="020B0604020202020204" pitchFamily="34" charset="0"/>
                        <a:ea typeface="宋体" panose="02010600030101010101" pitchFamily="2" charset="-122"/>
                      </a:endParaRP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0</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0</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0</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1</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1</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400" b="1" dirty="0">
                          <a:latin typeface="Arial" panose="020B0604020202020204" pitchFamily="34" charset="0"/>
                          <a:ea typeface="宋体" panose="02010600030101010101" pitchFamily="2" charset="-122"/>
                        </a:rPr>
                        <a:t>3</a:t>
                      </a:r>
                      <a:endParaRPr lang="en-US" altLang="zh-CN" sz="2400" b="1" dirty="0">
                        <a:latin typeface="Arial" panose="020B0604020202020204" pitchFamily="34" charset="0"/>
                        <a:ea typeface="宋体" panose="02010600030101010101" pitchFamily="2" charset="-122"/>
                      </a:endParaRP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
        <p:nvSpPr>
          <p:cNvPr id="73758" name="Text Box 30"/>
          <p:cNvSpPr txBox="1"/>
          <p:nvPr/>
        </p:nvSpPr>
        <p:spPr>
          <a:xfrm>
            <a:off x="1983105" y="3573780"/>
            <a:ext cx="4528820" cy="460375"/>
          </a:xfrm>
          <a:prstGeom prst="rect">
            <a:avLst/>
          </a:prstGeom>
          <a:noFill/>
          <a:ln w="9525">
            <a:noFill/>
          </a:ln>
        </p:spPr>
        <p:txBody>
          <a:bodyPr wrap="square" anchor="t" anchorCtr="0">
            <a:spAutoFit/>
          </a:bodyPr>
          <a:p>
            <a:pPr>
              <a:spcBef>
                <a:spcPct val="50000"/>
              </a:spcBef>
            </a:pPr>
            <a:r>
              <a:rPr lang="en-US" altLang="zh-CN" sz="2400" dirty="0">
                <a:latin typeface="Tahoma" panose="020B0604030504040204" charset="0"/>
                <a:ea typeface="宋体" panose="02010600030101010101" pitchFamily="2" charset="-122"/>
              </a:rPr>
              <a:t>0      1     2     3     4     5     6</a:t>
            </a:r>
            <a:endParaRPr lang="en-US" altLang="zh-CN" sz="2400" dirty="0">
              <a:latin typeface="Tahoma" panose="020B0604030504040204" charset="0"/>
              <a:ea typeface="宋体" panose="02010600030101010101" pitchFamily="2" charset="-122"/>
            </a:endParaRPr>
          </a:p>
        </p:txBody>
      </p:sp>
      <p:grpSp>
        <p:nvGrpSpPr>
          <p:cNvPr id="73759" name="Group 31"/>
          <p:cNvGrpSpPr/>
          <p:nvPr/>
        </p:nvGrpSpPr>
        <p:grpSpPr>
          <a:xfrm>
            <a:off x="7248525" y="3357563"/>
            <a:ext cx="2667000" cy="1795462"/>
            <a:chOff x="3696" y="2565"/>
            <a:chExt cx="1680" cy="1131"/>
          </a:xfrm>
        </p:grpSpPr>
        <p:sp>
          <p:nvSpPr>
            <p:cNvPr id="73760" name="Line 32"/>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73761" name="Line 33"/>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73762" name="Oval 34"/>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73763" name="Line 35"/>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73764" name="Oval 36"/>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73765" name="Line 37"/>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73766" name="Oval 38"/>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73767" name="Line 39"/>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73768" name="Oval 40"/>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73769" name="Oval 41"/>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73770" name="Oval 42"/>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73771" name="Line 43"/>
            <p:cNvSpPr/>
            <p:nvPr/>
          </p:nvSpPr>
          <p:spPr>
            <a:xfrm flipH="1">
              <a:off x="4704" y="2841"/>
              <a:ext cx="0" cy="144"/>
            </a:xfrm>
            <a:prstGeom prst="line">
              <a:avLst/>
            </a:prstGeom>
            <a:ln w="38100" cap="flat" cmpd="sng">
              <a:solidFill>
                <a:srgbClr val="009900"/>
              </a:solidFill>
              <a:prstDash val="solid"/>
              <a:round/>
              <a:headEnd type="none" w="med" len="med"/>
              <a:tailEnd type="none" w="med" len="med"/>
            </a:ln>
          </p:spPr>
        </p:sp>
        <p:sp>
          <p:nvSpPr>
            <p:cNvPr id="73772" name="Oval 44"/>
            <p:cNvSpPr/>
            <p:nvPr/>
          </p:nvSpPr>
          <p:spPr>
            <a:xfrm>
              <a:off x="4560"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树的存储结构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孩子多重链表法</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可以采用多重链表，即每个结点有多个指针</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根据树的度确定每个结点的孩子指针数，而不是每个结点的度</a:t>
            </a: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缺点是空链域太多</a:t>
            </a: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73759" name="Group 31"/>
          <p:cNvGrpSpPr/>
          <p:nvPr/>
        </p:nvGrpSpPr>
        <p:grpSpPr>
          <a:xfrm>
            <a:off x="7248525" y="3357563"/>
            <a:ext cx="2667000" cy="1795462"/>
            <a:chOff x="3696" y="2565"/>
            <a:chExt cx="1680" cy="1131"/>
          </a:xfrm>
        </p:grpSpPr>
        <p:sp>
          <p:nvSpPr>
            <p:cNvPr id="73760" name="Line 32"/>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73761" name="Line 33"/>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73762" name="Oval 34"/>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73763" name="Line 35"/>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73764" name="Oval 36"/>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73765" name="Line 37"/>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73766" name="Oval 38"/>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73767" name="Line 39"/>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73768" name="Oval 40"/>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73769" name="Oval 41"/>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73770" name="Oval 42"/>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73771" name="Line 43"/>
            <p:cNvSpPr/>
            <p:nvPr/>
          </p:nvSpPr>
          <p:spPr>
            <a:xfrm flipH="1">
              <a:off x="4704" y="2841"/>
              <a:ext cx="0" cy="144"/>
            </a:xfrm>
            <a:prstGeom prst="line">
              <a:avLst/>
            </a:prstGeom>
            <a:ln w="38100" cap="flat" cmpd="sng">
              <a:solidFill>
                <a:srgbClr val="009900"/>
              </a:solidFill>
              <a:prstDash val="solid"/>
              <a:round/>
              <a:headEnd type="none" w="med" len="med"/>
              <a:tailEnd type="none" w="med" len="med"/>
            </a:ln>
          </p:spPr>
        </p:sp>
        <p:sp>
          <p:nvSpPr>
            <p:cNvPr id="73772" name="Oval 44"/>
            <p:cNvSpPr/>
            <p:nvPr/>
          </p:nvSpPr>
          <p:spPr>
            <a:xfrm>
              <a:off x="4560"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grpSp>
      <p:grpSp>
        <p:nvGrpSpPr>
          <p:cNvPr id="74770" name="Group 18"/>
          <p:cNvGrpSpPr/>
          <p:nvPr/>
        </p:nvGrpSpPr>
        <p:grpSpPr>
          <a:xfrm>
            <a:off x="752158" y="3716338"/>
            <a:ext cx="6172200" cy="536575"/>
            <a:chOff x="144" y="3312"/>
            <a:chExt cx="3888" cy="338"/>
          </a:xfrm>
        </p:grpSpPr>
        <p:sp>
          <p:nvSpPr>
            <p:cNvPr id="834579" name="Rectangle 19"/>
            <p:cNvSpPr>
              <a:spLocks noChangeArrowheads="1"/>
            </p:cNvSpPr>
            <p:nvPr/>
          </p:nvSpPr>
          <p:spPr bwMode="auto">
            <a:xfrm>
              <a:off x="144" y="3312"/>
              <a:ext cx="3888" cy="336"/>
            </a:xfrm>
            <a:prstGeom prst="rect">
              <a:avLst/>
            </a:prstGeom>
            <a:solidFill>
              <a:srgbClr val="FFFFCC"/>
            </a:solidFill>
            <a:ln w="19050">
              <a:solidFill>
                <a:srgbClr val="FF0000"/>
              </a:solidFill>
              <a:miter lim="800000"/>
            </a:ln>
            <a:effectLst>
              <a:outerShdw dist="107763"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1"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rPr>
                <a:t> </a:t>
              </a:r>
              <a:r>
                <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rPr>
                <a:t>data </a:t>
              </a:r>
              <a:endParaRPr kumimoji="1"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endParaRPr>
            </a:p>
          </p:txBody>
        </p:sp>
        <p:sp>
          <p:nvSpPr>
            <p:cNvPr id="74772" name="Text Box 20"/>
            <p:cNvSpPr txBox="1"/>
            <p:nvPr/>
          </p:nvSpPr>
          <p:spPr>
            <a:xfrm>
              <a:off x="720" y="3360"/>
              <a:ext cx="597" cy="290"/>
            </a:xfrm>
            <a:prstGeom prst="rect">
              <a:avLst/>
            </a:prstGeom>
            <a:noFill/>
            <a:ln w="9525">
              <a:noFill/>
            </a:ln>
          </p:spPr>
          <p:txBody>
            <a:bodyPr anchor="t" anchorCtr="0">
              <a:spAutoFit/>
            </a:bodyPr>
            <a:p>
              <a:r>
                <a:rPr lang="en-US" altLang="zh-CN" sz="2400" b="1" dirty="0">
                  <a:latin typeface="Times New Roman" panose="02020603050405020304" pitchFamily="18" charset="0"/>
                  <a:ea typeface="黑体" panose="02010609060101010101" pitchFamily="2" charset="-122"/>
                </a:rPr>
                <a:t>child</a:t>
              </a:r>
              <a:r>
                <a:rPr lang="en-US" altLang="zh-CN" sz="2400" b="1" baseline="-25000" dirty="0">
                  <a:latin typeface="Times New Roman" panose="02020603050405020304" pitchFamily="18" charset="0"/>
                  <a:ea typeface="黑体" panose="02010609060101010101" pitchFamily="2" charset="-122"/>
                </a:rPr>
                <a:t>1</a:t>
              </a:r>
              <a:endParaRPr lang="en-US" altLang="zh-CN" sz="2400" dirty="0">
                <a:latin typeface="Arial" panose="020B0604020202020204" pitchFamily="34" charset="0"/>
                <a:ea typeface="黑体" panose="02010609060101010101" pitchFamily="2" charset="-122"/>
              </a:endParaRPr>
            </a:p>
          </p:txBody>
        </p:sp>
        <p:sp>
          <p:nvSpPr>
            <p:cNvPr id="74773" name="Line 21"/>
            <p:cNvSpPr/>
            <p:nvPr/>
          </p:nvSpPr>
          <p:spPr>
            <a:xfrm>
              <a:off x="720" y="3312"/>
              <a:ext cx="0" cy="336"/>
            </a:xfrm>
            <a:prstGeom prst="line">
              <a:avLst/>
            </a:prstGeom>
            <a:ln w="19050" cap="flat" cmpd="sng">
              <a:solidFill>
                <a:srgbClr val="FF0000"/>
              </a:solidFill>
              <a:prstDash val="solid"/>
              <a:round/>
              <a:headEnd type="none" w="med" len="med"/>
              <a:tailEnd type="none" w="med" len="med"/>
            </a:ln>
          </p:spPr>
        </p:sp>
        <p:sp>
          <p:nvSpPr>
            <p:cNvPr id="74774" name="Line 22"/>
            <p:cNvSpPr/>
            <p:nvPr/>
          </p:nvSpPr>
          <p:spPr>
            <a:xfrm>
              <a:off x="1344" y="3312"/>
              <a:ext cx="0" cy="336"/>
            </a:xfrm>
            <a:prstGeom prst="line">
              <a:avLst/>
            </a:prstGeom>
            <a:ln w="19050" cap="flat" cmpd="sng">
              <a:solidFill>
                <a:srgbClr val="FF0000"/>
              </a:solidFill>
              <a:prstDash val="solid"/>
              <a:round/>
              <a:headEnd type="none" w="med" len="med"/>
              <a:tailEnd type="none" w="med" len="med"/>
            </a:ln>
          </p:spPr>
        </p:sp>
        <p:sp>
          <p:nvSpPr>
            <p:cNvPr id="74775" name="Line 23"/>
            <p:cNvSpPr/>
            <p:nvPr/>
          </p:nvSpPr>
          <p:spPr>
            <a:xfrm>
              <a:off x="3360" y="3312"/>
              <a:ext cx="0" cy="336"/>
            </a:xfrm>
            <a:prstGeom prst="line">
              <a:avLst/>
            </a:prstGeom>
            <a:ln w="19050" cap="flat" cmpd="sng">
              <a:solidFill>
                <a:srgbClr val="FF0000"/>
              </a:solidFill>
              <a:prstDash val="solid"/>
              <a:round/>
              <a:headEnd type="none" w="med" len="med"/>
              <a:tailEnd type="none" w="med" len="med"/>
            </a:ln>
          </p:spPr>
        </p:sp>
        <p:sp>
          <p:nvSpPr>
            <p:cNvPr id="74776" name="Text Box 24"/>
            <p:cNvSpPr txBox="1"/>
            <p:nvPr/>
          </p:nvSpPr>
          <p:spPr>
            <a:xfrm>
              <a:off x="1392" y="3360"/>
              <a:ext cx="583" cy="290"/>
            </a:xfrm>
            <a:prstGeom prst="rect">
              <a:avLst/>
            </a:prstGeom>
            <a:noFill/>
            <a:ln w="9525">
              <a:noFill/>
            </a:ln>
          </p:spPr>
          <p:txBody>
            <a:bodyPr wrap="none" anchor="t" anchorCtr="0">
              <a:spAutoFit/>
            </a:bodyPr>
            <a:p>
              <a:r>
                <a:rPr lang="en-US" altLang="zh-CN" sz="2400" b="1" dirty="0">
                  <a:latin typeface="Times New Roman" panose="02020603050405020304" pitchFamily="18" charset="0"/>
                  <a:ea typeface="黑体" panose="02010609060101010101" pitchFamily="2" charset="-122"/>
                </a:rPr>
                <a:t>child</a:t>
              </a:r>
              <a:r>
                <a:rPr lang="en-US" altLang="zh-CN" sz="2400" b="1" baseline="-25000" dirty="0">
                  <a:latin typeface="Times New Roman" panose="02020603050405020304" pitchFamily="18" charset="0"/>
                  <a:ea typeface="黑体" panose="02010609060101010101" pitchFamily="2" charset="-122"/>
                </a:rPr>
                <a:t>2</a:t>
              </a:r>
              <a:endParaRPr lang="en-US" altLang="zh-CN" sz="2400" dirty="0">
                <a:latin typeface="Arial" panose="020B0604020202020204" pitchFamily="34" charset="0"/>
                <a:ea typeface="黑体" panose="02010609060101010101" pitchFamily="2" charset="-122"/>
              </a:endParaRPr>
            </a:p>
          </p:txBody>
        </p:sp>
        <p:sp>
          <p:nvSpPr>
            <p:cNvPr id="74777" name="Text Box 25"/>
            <p:cNvSpPr txBox="1"/>
            <p:nvPr/>
          </p:nvSpPr>
          <p:spPr>
            <a:xfrm>
              <a:off x="2016" y="3360"/>
              <a:ext cx="583" cy="290"/>
            </a:xfrm>
            <a:prstGeom prst="rect">
              <a:avLst/>
            </a:prstGeom>
            <a:noFill/>
            <a:ln w="9525">
              <a:noFill/>
            </a:ln>
          </p:spPr>
          <p:txBody>
            <a:bodyPr wrap="none" anchor="t" anchorCtr="0">
              <a:spAutoFit/>
            </a:bodyPr>
            <a:p>
              <a:r>
                <a:rPr lang="en-US" altLang="zh-CN" sz="2400" b="1" dirty="0">
                  <a:latin typeface="Times New Roman" panose="02020603050405020304" pitchFamily="18" charset="0"/>
                  <a:ea typeface="黑体" panose="02010609060101010101" pitchFamily="2" charset="-122"/>
                </a:rPr>
                <a:t>child</a:t>
              </a:r>
              <a:r>
                <a:rPr lang="en-US" altLang="zh-CN" sz="2400" b="1" baseline="-25000" dirty="0">
                  <a:latin typeface="Times New Roman" panose="02020603050405020304" pitchFamily="18" charset="0"/>
                  <a:ea typeface="黑体" panose="02010609060101010101" pitchFamily="2" charset="-122"/>
                </a:rPr>
                <a:t>3</a:t>
              </a:r>
              <a:endParaRPr lang="en-US" altLang="zh-CN" sz="2400" dirty="0">
                <a:latin typeface="Arial" panose="020B0604020202020204" pitchFamily="34" charset="0"/>
                <a:ea typeface="黑体" panose="02010609060101010101" pitchFamily="2" charset="-122"/>
              </a:endParaRPr>
            </a:p>
          </p:txBody>
        </p:sp>
        <p:sp>
          <p:nvSpPr>
            <p:cNvPr id="74778" name="Line 26"/>
            <p:cNvSpPr/>
            <p:nvPr/>
          </p:nvSpPr>
          <p:spPr>
            <a:xfrm>
              <a:off x="2784" y="3522"/>
              <a:ext cx="420" cy="0"/>
            </a:xfrm>
            <a:prstGeom prst="line">
              <a:avLst/>
            </a:prstGeom>
            <a:ln w="76200" cap="flat" cmpd="sng">
              <a:solidFill>
                <a:schemeClr val="tx1"/>
              </a:solidFill>
              <a:prstDash val="sysDot"/>
              <a:round/>
              <a:headEnd type="none" w="med" len="med"/>
              <a:tailEnd type="none" w="med" len="med"/>
            </a:ln>
          </p:spPr>
        </p:sp>
        <p:sp>
          <p:nvSpPr>
            <p:cNvPr id="74779" name="Text Box 27"/>
            <p:cNvSpPr txBox="1"/>
            <p:nvPr/>
          </p:nvSpPr>
          <p:spPr>
            <a:xfrm>
              <a:off x="3408" y="3360"/>
              <a:ext cx="583" cy="290"/>
            </a:xfrm>
            <a:prstGeom prst="rect">
              <a:avLst/>
            </a:prstGeom>
            <a:noFill/>
            <a:ln w="9525">
              <a:noFill/>
            </a:ln>
          </p:spPr>
          <p:txBody>
            <a:bodyPr wrap="none" anchor="t" anchorCtr="0">
              <a:spAutoFit/>
            </a:bodyPr>
            <a:p>
              <a:r>
                <a:rPr lang="en-US" altLang="zh-CN" sz="2400" b="1" dirty="0">
                  <a:latin typeface="Times New Roman" panose="02020603050405020304" pitchFamily="18" charset="0"/>
                  <a:ea typeface="黑体" panose="02010609060101010101" pitchFamily="2" charset="-122"/>
                </a:rPr>
                <a:t>child</a:t>
              </a:r>
              <a:r>
                <a:rPr lang="en-US" altLang="zh-CN" sz="2400" b="1" i="1" baseline="-25000" dirty="0">
                  <a:latin typeface="Times New Roman" panose="02020603050405020304" pitchFamily="18" charset="0"/>
                  <a:ea typeface="黑体" panose="02010609060101010101" pitchFamily="2" charset="-122"/>
                </a:rPr>
                <a:t>d</a:t>
              </a:r>
              <a:endParaRPr lang="en-US" altLang="zh-CN" sz="2400" dirty="0">
                <a:latin typeface="Arial" panose="020B0604020202020204" pitchFamily="34" charset="0"/>
                <a:ea typeface="黑体" panose="02010609060101010101" pitchFamily="2" charset="-122"/>
              </a:endParaRPr>
            </a:p>
          </p:txBody>
        </p:sp>
        <p:sp>
          <p:nvSpPr>
            <p:cNvPr id="74780" name="Line 28"/>
            <p:cNvSpPr/>
            <p:nvPr/>
          </p:nvSpPr>
          <p:spPr>
            <a:xfrm>
              <a:off x="1968" y="3312"/>
              <a:ext cx="0" cy="336"/>
            </a:xfrm>
            <a:prstGeom prst="line">
              <a:avLst/>
            </a:prstGeom>
            <a:ln w="19050" cap="flat" cmpd="sng">
              <a:solidFill>
                <a:srgbClr val="FF0000"/>
              </a:solidFill>
              <a:prstDash val="solid"/>
              <a:round/>
              <a:headEnd type="none" w="med" len="med"/>
              <a:tailEnd type="none" w="med" len="med"/>
            </a:ln>
          </p:spPr>
        </p:sp>
        <p:sp>
          <p:nvSpPr>
            <p:cNvPr id="74781" name="Line 29"/>
            <p:cNvSpPr/>
            <p:nvPr/>
          </p:nvSpPr>
          <p:spPr>
            <a:xfrm>
              <a:off x="2640" y="3312"/>
              <a:ext cx="0" cy="336"/>
            </a:xfrm>
            <a:prstGeom prst="line">
              <a:avLst/>
            </a:prstGeom>
            <a:ln w="19050" cap="flat" cmpd="sng">
              <a:solidFill>
                <a:srgbClr val="FF0000"/>
              </a:solidFill>
              <a:prstDash val="solid"/>
              <a:round/>
              <a:headEnd type="none" w="med" len="med"/>
              <a:tailEnd type="none" w="med" len="med"/>
            </a:ln>
          </p:spPr>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树的存储结构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孩子链表法</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将所有结点排列成一个线性表</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将每个结点的孩子的</a:t>
            </a:r>
            <a:r>
              <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下标</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排列起来，用单链表表示</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73759" name="Group 31"/>
          <p:cNvGrpSpPr/>
          <p:nvPr/>
        </p:nvGrpSpPr>
        <p:grpSpPr>
          <a:xfrm>
            <a:off x="7248525" y="3357563"/>
            <a:ext cx="2667000" cy="1795462"/>
            <a:chOff x="3696" y="2565"/>
            <a:chExt cx="1680" cy="1131"/>
          </a:xfrm>
        </p:grpSpPr>
        <p:sp>
          <p:nvSpPr>
            <p:cNvPr id="73760" name="Line 32"/>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73761" name="Line 33"/>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73762" name="Oval 34"/>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73763" name="Line 35"/>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73764" name="Oval 36"/>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73765" name="Line 37"/>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73766" name="Oval 38"/>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73767" name="Line 39"/>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73768" name="Oval 40"/>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73769" name="Oval 41"/>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73770" name="Oval 42"/>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73771" name="Line 43"/>
            <p:cNvSpPr/>
            <p:nvPr/>
          </p:nvSpPr>
          <p:spPr>
            <a:xfrm flipH="1">
              <a:off x="4704" y="2841"/>
              <a:ext cx="0" cy="144"/>
            </a:xfrm>
            <a:prstGeom prst="line">
              <a:avLst/>
            </a:prstGeom>
            <a:ln w="38100" cap="flat" cmpd="sng">
              <a:solidFill>
                <a:srgbClr val="009900"/>
              </a:solidFill>
              <a:prstDash val="solid"/>
              <a:round/>
              <a:headEnd type="none" w="med" len="med"/>
              <a:tailEnd type="none" w="med" len="med"/>
            </a:ln>
          </p:spPr>
        </p:sp>
        <p:sp>
          <p:nvSpPr>
            <p:cNvPr id="73772" name="Oval 44"/>
            <p:cNvSpPr/>
            <p:nvPr/>
          </p:nvSpPr>
          <p:spPr>
            <a:xfrm>
              <a:off x="4560"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grpSp>
      <p:graphicFrame>
        <p:nvGraphicFramePr>
          <p:cNvPr id="28678" name="表格 28677"/>
          <p:cNvGraphicFramePr/>
          <p:nvPr>
            <p:custDataLst>
              <p:tags r:id="rId1"/>
            </p:custDataLst>
          </p:nvPr>
        </p:nvGraphicFramePr>
        <p:xfrm>
          <a:off x="2712085" y="3213100"/>
          <a:ext cx="990600" cy="2133600"/>
        </p:xfrm>
        <a:graphic>
          <a:graphicData uri="http://schemas.openxmlformats.org/drawingml/2006/table">
            <a:tbl>
              <a:tblPr/>
              <a:tblGrid>
                <a:gridCol w="495300"/>
                <a:gridCol w="495300"/>
              </a:tblGrid>
              <a:tr h="304800">
                <a:tc>
                  <a:txBody>
                    <a:bodyPr/>
                    <a:p>
                      <a:pPr algn="ctr">
                        <a:spcBef>
                          <a:spcPct val="20000"/>
                        </a:spcBef>
                        <a:buClr>
                          <a:schemeClr val="accent1"/>
                        </a:buClr>
                        <a:buFont typeface="Wingdings" panose="05000000000000000000" pitchFamily="2" charset="2"/>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txBody>
                  <a:tcPr marT="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1800" b="1" dirty="0">
                        <a:latin typeface="Times New Roman" panose="02020603050405020304" pitchFamily="18" charset="0"/>
                        <a:ea typeface="宋体" panose="02010600030101010101" pitchFamily="2" charset="-122"/>
                        <a:cs typeface="Times New Roman" panose="02020603050405020304" pitchFamily="18" charset="0"/>
                      </a:endParaRPr>
                    </a:p>
                  </a:txBody>
                  <a:tcPr marT="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04800">
                <a:tc>
                  <a:txBody>
                    <a:bodyPr/>
                    <a:p>
                      <a:pPr algn="ctr">
                        <a:spcBef>
                          <a:spcPct val="20000"/>
                        </a:spcBef>
                        <a:buClr>
                          <a:schemeClr val="accent1"/>
                        </a:buClr>
                        <a:buFont typeface="Wingdings" panose="05000000000000000000" pitchFamily="2" charset="2"/>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txBody>
                  <a:tcPr marT="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1800" b="1" dirty="0">
                        <a:latin typeface="Times New Roman" panose="02020603050405020304" pitchFamily="18" charset="0"/>
                        <a:ea typeface="宋体" panose="02010600030101010101" pitchFamily="2" charset="-122"/>
                        <a:cs typeface="Times New Roman" panose="02020603050405020304" pitchFamily="18" charset="0"/>
                      </a:endParaRPr>
                    </a:p>
                  </a:txBody>
                  <a:tcPr marT="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04800">
                <a:tc>
                  <a:txBody>
                    <a:bodyPr/>
                    <a:p>
                      <a:pPr algn="ctr">
                        <a:spcBef>
                          <a:spcPct val="20000"/>
                        </a:spcBef>
                        <a:buClr>
                          <a:schemeClr val="accent1"/>
                        </a:buClr>
                        <a:buFont typeface="Wingdings" panose="05000000000000000000" pitchFamily="2" charset="2"/>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txBody>
                  <a:tcPr marT="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txBody>
                  <a:tcPr marT="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04800">
                <a:tc>
                  <a:txBody>
                    <a:bodyPr/>
                    <a:p>
                      <a:pPr algn="ctr">
                        <a:spcBef>
                          <a:spcPct val="20000"/>
                        </a:spcBef>
                        <a:buClr>
                          <a:schemeClr val="accent1"/>
                        </a:buClr>
                        <a:buFont typeface="Wingdings" panose="05000000000000000000" pitchFamily="2" charset="2"/>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D</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txBody>
                  <a:tcPr marT="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1800" b="1" dirty="0">
                        <a:latin typeface="Times New Roman" panose="02020603050405020304" pitchFamily="18" charset="0"/>
                        <a:ea typeface="宋体" panose="02010600030101010101" pitchFamily="2" charset="-122"/>
                        <a:cs typeface="Times New Roman" panose="02020603050405020304" pitchFamily="18" charset="0"/>
                      </a:endParaRPr>
                    </a:p>
                  </a:txBody>
                  <a:tcPr marT="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04800">
                <a:tc>
                  <a:txBody>
                    <a:bodyPr/>
                    <a:p>
                      <a:pPr algn="ctr">
                        <a:spcBef>
                          <a:spcPct val="20000"/>
                        </a:spcBef>
                        <a:buClr>
                          <a:schemeClr val="accent1"/>
                        </a:buClr>
                        <a:buFont typeface="Wingdings" panose="05000000000000000000" pitchFamily="2" charset="2"/>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E</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txBody>
                  <a:tcPr marT="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T="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04800">
                <a:tc>
                  <a:txBody>
                    <a:bodyPr/>
                    <a:p>
                      <a:pPr algn="ctr">
                        <a:spcBef>
                          <a:spcPct val="20000"/>
                        </a:spcBef>
                        <a:buClr>
                          <a:schemeClr val="accent1"/>
                        </a:buClr>
                        <a:buFont typeface="Wingdings" panose="05000000000000000000" pitchFamily="2" charset="2"/>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F</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txBody>
                  <a:tcPr marT="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T="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04800">
                <a:tc>
                  <a:txBody>
                    <a:bodyPr/>
                    <a:p>
                      <a:pPr algn="ctr">
                        <a:spcBef>
                          <a:spcPct val="20000"/>
                        </a:spcBef>
                        <a:buClr>
                          <a:schemeClr val="accent1"/>
                        </a:buClr>
                        <a:buFont typeface="Wingdings" panose="05000000000000000000" pitchFamily="2" charset="2"/>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G</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txBody>
                  <a:tcPr marT="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T="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
        <p:nvSpPr>
          <p:cNvPr id="75820" name="Text Box 44"/>
          <p:cNvSpPr txBox="1"/>
          <p:nvPr/>
        </p:nvSpPr>
        <p:spPr>
          <a:xfrm>
            <a:off x="2407285" y="3213100"/>
            <a:ext cx="381000" cy="2195830"/>
          </a:xfrm>
          <a:prstGeom prst="rect">
            <a:avLst/>
          </a:prstGeom>
          <a:noFill/>
          <a:ln w="9525">
            <a:noFill/>
          </a:ln>
        </p:spPr>
        <p:txBody>
          <a:bodyPr anchor="t" anchorCtr="0">
            <a:spAutoFit/>
          </a:bodyPr>
          <a:p>
            <a:pPr>
              <a:spcBef>
                <a:spcPct val="1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0</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spcBef>
                <a:spcPct val="1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spcBef>
                <a:spcPct val="1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spcBef>
                <a:spcPct val="1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3</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spcBef>
                <a:spcPct val="1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spcBef>
                <a:spcPct val="1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spcBef>
                <a:spcPct val="1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6</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5" name="组合 4"/>
          <p:cNvGrpSpPr/>
          <p:nvPr/>
        </p:nvGrpSpPr>
        <p:grpSpPr>
          <a:xfrm>
            <a:off x="3474085" y="3213100"/>
            <a:ext cx="2940050" cy="276225"/>
            <a:chOff x="5810" y="5060"/>
            <a:chExt cx="4630" cy="435"/>
          </a:xfrm>
        </p:grpSpPr>
        <p:grpSp>
          <p:nvGrpSpPr>
            <p:cNvPr id="75821" name="Group 45"/>
            <p:cNvGrpSpPr/>
            <p:nvPr/>
          </p:nvGrpSpPr>
          <p:grpSpPr>
            <a:xfrm>
              <a:off x="6650" y="5060"/>
              <a:ext cx="910" cy="435"/>
              <a:chOff x="1392" y="2880"/>
              <a:chExt cx="364" cy="174"/>
            </a:xfrm>
          </p:grpSpPr>
          <p:sp>
            <p:nvSpPr>
              <p:cNvPr id="75822" name="Text Box 46"/>
              <p:cNvSpPr txBox="1"/>
              <p:nvPr/>
            </p:nvSpPr>
            <p:spPr>
              <a:xfrm>
                <a:off x="1392" y="2880"/>
                <a:ext cx="240" cy="174"/>
              </a:xfrm>
              <a:prstGeom prst="rect">
                <a:avLst/>
              </a:prstGeom>
              <a:noFill/>
              <a:ln w="9525" cap="flat" cmpd="sng">
                <a:solidFill>
                  <a:schemeClr val="tx1"/>
                </a:solidFill>
                <a:prstDash val="solid"/>
                <a:miter/>
                <a:headEnd type="none" w="med" len="med"/>
                <a:tailEnd type="none" w="med" len="med"/>
              </a:ln>
            </p:spPr>
            <p:txBody>
              <a:bodyPr tIns="0" bIns="0" anchor="t" anchorCtr="0">
                <a:spAutoFit/>
              </a:bodyPr>
              <a:p>
                <a:pPr algn="ctr">
                  <a:spcBef>
                    <a:spcPct val="5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823" name="Text Box 47"/>
              <p:cNvSpPr txBox="1"/>
              <p:nvPr/>
            </p:nvSpPr>
            <p:spPr>
              <a:xfrm>
                <a:off x="1634" y="2880"/>
                <a:ext cx="122" cy="174"/>
              </a:xfrm>
              <a:prstGeom prst="rect">
                <a:avLst/>
              </a:prstGeom>
              <a:noFill/>
              <a:ln w="9525" cap="flat" cmpd="sng">
                <a:solidFill>
                  <a:schemeClr val="tx1"/>
                </a:solidFill>
                <a:prstDash val="solid"/>
                <a:miter/>
                <a:headEnd type="none" w="med" len="med"/>
                <a:tailEnd type="none" w="med" len="med"/>
              </a:ln>
            </p:spPr>
            <p:txBody>
              <a:bodyPr tIns="0" bIns="0" anchor="t" anchorCtr="0">
                <a:spAutoFit/>
              </a:bodyPr>
              <a:p>
                <a:pPr>
                  <a:spcBef>
                    <a:spcPct val="50000"/>
                  </a:spcBef>
                </a:pPr>
                <a:endParaRPr lang="zh-CN"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75824" name="Group 48"/>
            <p:cNvGrpSpPr/>
            <p:nvPr/>
          </p:nvGrpSpPr>
          <p:grpSpPr>
            <a:xfrm>
              <a:off x="8090" y="5060"/>
              <a:ext cx="910" cy="435"/>
              <a:chOff x="1392" y="2880"/>
              <a:chExt cx="364" cy="174"/>
            </a:xfrm>
          </p:grpSpPr>
          <p:sp>
            <p:nvSpPr>
              <p:cNvPr id="75825" name="Text Box 49"/>
              <p:cNvSpPr txBox="1"/>
              <p:nvPr/>
            </p:nvSpPr>
            <p:spPr>
              <a:xfrm>
                <a:off x="1392" y="2880"/>
                <a:ext cx="240" cy="174"/>
              </a:xfrm>
              <a:prstGeom prst="rect">
                <a:avLst/>
              </a:prstGeom>
              <a:noFill/>
              <a:ln w="9525" cap="flat" cmpd="sng">
                <a:solidFill>
                  <a:schemeClr val="tx1"/>
                </a:solidFill>
                <a:prstDash val="solid"/>
                <a:miter/>
                <a:headEnd type="none" w="med" len="med"/>
                <a:tailEnd type="none" w="med" len="med"/>
              </a:ln>
            </p:spPr>
            <p:txBody>
              <a:bodyPr tIns="0" bIns="0" anchor="t" anchorCtr="0">
                <a:spAutoFit/>
              </a:bodyPr>
              <a:p>
                <a:pPr algn="ctr">
                  <a:spcBef>
                    <a:spcPct val="5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826" name="Text Box 50"/>
              <p:cNvSpPr txBox="1"/>
              <p:nvPr/>
            </p:nvSpPr>
            <p:spPr>
              <a:xfrm>
                <a:off x="1634" y="2880"/>
                <a:ext cx="122" cy="156"/>
              </a:xfrm>
              <a:prstGeom prst="rect">
                <a:avLst/>
              </a:prstGeom>
              <a:noFill/>
              <a:ln w="9525" cap="flat" cmpd="sng">
                <a:solidFill>
                  <a:schemeClr val="tx1"/>
                </a:solidFill>
                <a:prstDash val="solid"/>
                <a:miter/>
                <a:headEnd type="none" w="med" len="med"/>
                <a:tailEnd type="none" w="med" len="med"/>
              </a:ln>
            </p:spPr>
            <p:txBody>
              <a:bodyPr tIns="0" bIns="0" anchor="t" anchorCtr="0">
                <a:spAutoFit/>
              </a:bodyPr>
              <a:p>
                <a:pPr>
                  <a:spcBef>
                    <a:spcPct val="50000"/>
                  </a:spcBef>
                </a:pPr>
                <a:endParaRPr lang="zh-CN"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75827" name="Group 51"/>
            <p:cNvGrpSpPr/>
            <p:nvPr/>
          </p:nvGrpSpPr>
          <p:grpSpPr>
            <a:xfrm>
              <a:off x="9530" y="5060"/>
              <a:ext cx="910" cy="435"/>
              <a:chOff x="1392" y="2880"/>
              <a:chExt cx="364" cy="174"/>
            </a:xfrm>
          </p:grpSpPr>
          <p:sp>
            <p:nvSpPr>
              <p:cNvPr id="75828" name="Text Box 52"/>
              <p:cNvSpPr txBox="1"/>
              <p:nvPr/>
            </p:nvSpPr>
            <p:spPr>
              <a:xfrm>
                <a:off x="1392" y="2880"/>
                <a:ext cx="240" cy="174"/>
              </a:xfrm>
              <a:prstGeom prst="rect">
                <a:avLst/>
              </a:prstGeom>
              <a:noFill/>
              <a:ln w="9525" cap="flat" cmpd="sng">
                <a:solidFill>
                  <a:schemeClr val="tx1"/>
                </a:solidFill>
                <a:prstDash val="solid"/>
                <a:miter/>
                <a:headEnd type="none" w="med" len="med"/>
                <a:tailEnd type="none" w="med" len="med"/>
              </a:ln>
            </p:spPr>
            <p:txBody>
              <a:bodyPr lIns="0" tIns="0" rIns="0" bIns="0" anchor="t" anchorCtr="0">
                <a:spAutoFit/>
              </a:bodyPr>
              <a:p>
                <a:pPr algn="ctr">
                  <a:spcBef>
                    <a:spcPct val="5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3</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829" name="Text Box 53"/>
              <p:cNvSpPr txBox="1"/>
              <p:nvPr/>
            </p:nvSpPr>
            <p:spPr>
              <a:xfrm>
                <a:off x="1634" y="2880"/>
                <a:ext cx="122" cy="174"/>
              </a:xfrm>
              <a:prstGeom prst="rect">
                <a:avLst/>
              </a:prstGeom>
              <a:noFill/>
              <a:ln w="9525" cap="flat" cmpd="sng">
                <a:solidFill>
                  <a:schemeClr val="tx1"/>
                </a:solidFill>
                <a:prstDash val="solid"/>
                <a:miter/>
                <a:headEnd type="none" w="med" len="med"/>
                <a:tailEnd type="none" w="med" len="med"/>
              </a:ln>
            </p:spPr>
            <p:txBody>
              <a:bodyPr lIns="0" tIns="0" rIns="0" bIns="0" anchor="t" anchorCtr="0">
                <a:spAutoFit/>
              </a:bodyPr>
              <a:p>
                <a:pPr>
                  <a:spcBef>
                    <a:spcPct val="5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75830" name="Line 54"/>
            <p:cNvSpPr/>
            <p:nvPr/>
          </p:nvSpPr>
          <p:spPr>
            <a:xfrm>
              <a:off x="5810" y="5300"/>
              <a:ext cx="840" cy="0"/>
            </a:xfrm>
            <a:prstGeom prst="line">
              <a:avLst/>
            </a:prstGeom>
            <a:ln w="9525" cap="flat" cmpd="sng">
              <a:solidFill>
                <a:schemeClr val="tx1"/>
              </a:solidFill>
              <a:prstDash val="solid"/>
              <a:miter/>
              <a:headEnd type="none" w="med" len="med"/>
              <a:tailEnd type="triangle" w="med" len="med"/>
            </a:ln>
          </p:spPr>
        </p:sp>
        <p:sp>
          <p:nvSpPr>
            <p:cNvPr id="75831" name="Line 55"/>
            <p:cNvSpPr/>
            <p:nvPr/>
          </p:nvSpPr>
          <p:spPr>
            <a:xfrm>
              <a:off x="7370" y="5300"/>
              <a:ext cx="720" cy="0"/>
            </a:xfrm>
            <a:prstGeom prst="line">
              <a:avLst/>
            </a:prstGeom>
            <a:ln w="9525" cap="flat" cmpd="sng">
              <a:solidFill>
                <a:schemeClr val="tx1"/>
              </a:solidFill>
              <a:prstDash val="solid"/>
              <a:miter/>
              <a:headEnd type="none" w="med" len="med"/>
              <a:tailEnd type="triangle" w="med" len="med"/>
            </a:ln>
          </p:spPr>
        </p:sp>
        <p:sp>
          <p:nvSpPr>
            <p:cNvPr id="75832" name="Line 56"/>
            <p:cNvSpPr/>
            <p:nvPr/>
          </p:nvSpPr>
          <p:spPr>
            <a:xfrm>
              <a:off x="8810" y="5300"/>
              <a:ext cx="720" cy="0"/>
            </a:xfrm>
            <a:prstGeom prst="line">
              <a:avLst/>
            </a:prstGeom>
            <a:ln w="9525" cap="flat" cmpd="sng">
              <a:solidFill>
                <a:schemeClr val="tx1"/>
              </a:solidFill>
              <a:prstDash val="solid"/>
              <a:miter/>
              <a:headEnd type="none" w="med" len="med"/>
              <a:tailEnd type="triangle" w="med" len="med"/>
            </a:ln>
          </p:spPr>
        </p:sp>
      </p:grpSp>
      <p:grpSp>
        <p:nvGrpSpPr>
          <p:cNvPr id="6" name="组合 5"/>
          <p:cNvGrpSpPr/>
          <p:nvPr/>
        </p:nvGrpSpPr>
        <p:grpSpPr>
          <a:xfrm>
            <a:off x="3474085" y="3594100"/>
            <a:ext cx="2025650" cy="276225"/>
            <a:chOff x="5810" y="5660"/>
            <a:chExt cx="3190" cy="435"/>
          </a:xfrm>
        </p:grpSpPr>
        <p:grpSp>
          <p:nvGrpSpPr>
            <p:cNvPr id="75833" name="Group 57"/>
            <p:cNvGrpSpPr/>
            <p:nvPr/>
          </p:nvGrpSpPr>
          <p:grpSpPr>
            <a:xfrm>
              <a:off x="6650" y="5660"/>
              <a:ext cx="910" cy="435"/>
              <a:chOff x="1392" y="2880"/>
              <a:chExt cx="364" cy="174"/>
            </a:xfrm>
          </p:grpSpPr>
          <p:sp>
            <p:nvSpPr>
              <p:cNvPr id="75834" name="Text Box 58"/>
              <p:cNvSpPr txBox="1"/>
              <p:nvPr/>
            </p:nvSpPr>
            <p:spPr>
              <a:xfrm>
                <a:off x="1392" y="2880"/>
                <a:ext cx="240" cy="174"/>
              </a:xfrm>
              <a:prstGeom prst="rect">
                <a:avLst/>
              </a:prstGeom>
              <a:noFill/>
              <a:ln w="9525" cap="flat" cmpd="sng">
                <a:solidFill>
                  <a:schemeClr val="tx1"/>
                </a:solidFill>
                <a:prstDash val="solid"/>
                <a:miter/>
                <a:headEnd type="none" w="med" len="med"/>
                <a:tailEnd type="none" w="med" len="med"/>
              </a:ln>
            </p:spPr>
            <p:txBody>
              <a:bodyPr tIns="0" bIns="0" anchor="t" anchorCtr="0">
                <a:spAutoFit/>
              </a:bodyPr>
              <a:p>
                <a:pPr algn="ctr">
                  <a:spcBef>
                    <a:spcPct val="5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835" name="Text Box 59"/>
              <p:cNvSpPr txBox="1"/>
              <p:nvPr/>
            </p:nvSpPr>
            <p:spPr>
              <a:xfrm>
                <a:off x="1634" y="2880"/>
                <a:ext cx="122" cy="174"/>
              </a:xfrm>
              <a:prstGeom prst="rect">
                <a:avLst/>
              </a:prstGeom>
              <a:noFill/>
              <a:ln w="9525" cap="flat" cmpd="sng">
                <a:solidFill>
                  <a:schemeClr val="tx1"/>
                </a:solidFill>
                <a:prstDash val="solid"/>
                <a:miter/>
                <a:headEnd type="none" w="med" len="med"/>
                <a:tailEnd type="none" w="med" len="med"/>
              </a:ln>
            </p:spPr>
            <p:txBody>
              <a:bodyPr tIns="0" bIns="0" anchor="t" anchorCtr="0">
                <a:spAutoFit/>
              </a:bodyPr>
              <a:p>
                <a:pPr>
                  <a:spcBef>
                    <a:spcPct val="50000"/>
                  </a:spcBef>
                </a:pPr>
                <a:endParaRPr lang="zh-CN"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75836" name="Group 60"/>
            <p:cNvGrpSpPr/>
            <p:nvPr/>
          </p:nvGrpSpPr>
          <p:grpSpPr>
            <a:xfrm>
              <a:off x="8090" y="5660"/>
              <a:ext cx="910" cy="435"/>
              <a:chOff x="1392" y="2880"/>
              <a:chExt cx="364" cy="174"/>
            </a:xfrm>
          </p:grpSpPr>
          <p:sp>
            <p:nvSpPr>
              <p:cNvPr id="75837" name="Text Box 61"/>
              <p:cNvSpPr txBox="1"/>
              <p:nvPr/>
            </p:nvSpPr>
            <p:spPr>
              <a:xfrm>
                <a:off x="1392" y="2880"/>
                <a:ext cx="240" cy="174"/>
              </a:xfrm>
              <a:prstGeom prst="rect">
                <a:avLst/>
              </a:prstGeom>
              <a:noFill/>
              <a:ln w="9525" cap="flat" cmpd="sng">
                <a:solidFill>
                  <a:schemeClr val="tx1"/>
                </a:solidFill>
                <a:prstDash val="solid"/>
                <a:miter/>
                <a:headEnd type="none" w="med" len="med"/>
                <a:tailEnd type="none" w="med" len="med"/>
              </a:ln>
            </p:spPr>
            <p:txBody>
              <a:bodyPr lIns="0" tIns="0" rIns="0" bIns="0" anchor="t" anchorCtr="0">
                <a:spAutoFit/>
              </a:bodyPr>
              <a:p>
                <a:pPr algn="ctr">
                  <a:spcBef>
                    <a:spcPct val="5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838" name="Text Box 62"/>
              <p:cNvSpPr txBox="1"/>
              <p:nvPr/>
            </p:nvSpPr>
            <p:spPr>
              <a:xfrm>
                <a:off x="1634" y="2880"/>
                <a:ext cx="122" cy="174"/>
              </a:xfrm>
              <a:prstGeom prst="rect">
                <a:avLst/>
              </a:prstGeom>
              <a:noFill/>
              <a:ln w="9525" cap="flat" cmpd="sng">
                <a:solidFill>
                  <a:schemeClr val="tx1"/>
                </a:solidFill>
                <a:prstDash val="solid"/>
                <a:miter/>
                <a:headEnd type="none" w="med" len="med"/>
                <a:tailEnd type="none" w="med" len="med"/>
              </a:ln>
            </p:spPr>
            <p:txBody>
              <a:bodyPr lIns="0" tIns="0" rIns="0" bIns="0" anchor="t" anchorCtr="0">
                <a:spAutoFit/>
              </a:bodyPr>
              <a:p>
                <a:pPr>
                  <a:spcBef>
                    <a:spcPct val="5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75839" name="Line 63"/>
            <p:cNvSpPr/>
            <p:nvPr/>
          </p:nvSpPr>
          <p:spPr>
            <a:xfrm>
              <a:off x="5810" y="5900"/>
              <a:ext cx="840" cy="0"/>
            </a:xfrm>
            <a:prstGeom prst="line">
              <a:avLst/>
            </a:prstGeom>
            <a:ln w="9525" cap="flat" cmpd="sng">
              <a:solidFill>
                <a:schemeClr val="tx1"/>
              </a:solidFill>
              <a:prstDash val="solid"/>
              <a:miter/>
              <a:headEnd type="none" w="med" len="med"/>
              <a:tailEnd type="triangle" w="med" len="med"/>
            </a:ln>
          </p:spPr>
        </p:sp>
        <p:sp>
          <p:nvSpPr>
            <p:cNvPr id="75840" name="Line 64"/>
            <p:cNvSpPr/>
            <p:nvPr/>
          </p:nvSpPr>
          <p:spPr>
            <a:xfrm>
              <a:off x="7370" y="5900"/>
              <a:ext cx="720" cy="0"/>
            </a:xfrm>
            <a:prstGeom prst="line">
              <a:avLst/>
            </a:prstGeom>
            <a:ln w="9525" cap="flat" cmpd="sng">
              <a:solidFill>
                <a:schemeClr val="tx1"/>
              </a:solidFill>
              <a:prstDash val="solid"/>
              <a:miter/>
              <a:headEnd type="none" w="med" len="med"/>
              <a:tailEnd type="triangle" w="med" len="med"/>
            </a:ln>
          </p:spPr>
        </p:sp>
      </p:grpSp>
      <p:grpSp>
        <p:nvGrpSpPr>
          <p:cNvPr id="7" name="组合 6"/>
          <p:cNvGrpSpPr/>
          <p:nvPr/>
        </p:nvGrpSpPr>
        <p:grpSpPr>
          <a:xfrm>
            <a:off x="3474085" y="4127500"/>
            <a:ext cx="1111250" cy="276225"/>
            <a:chOff x="5810" y="6500"/>
            <a:chExt cx="1750" cy="435"/>
          </a:xfrm>
        </p:grpSpPr>
        <p:grpSp>
          <p:nvGrpSpPr>
            <p:cNvPr id="75841" name="Group 65"/>
            <p:cNvGrpSpPr/>
            <p:nvPr/>
          </p:nvGrpSpPr>
          <p:grpSpPr>
            <a:xfrm>
              <a:off x="6650" y="6500"/>
              <a:ext cx="910" cy="435"/>
              <a:chOff x="1392" y="2880"/>
              <a:chExt cx="364" cy="174"/>
            </a:xfrm>
          </p:grpSpPr>
          <p:sp>
            <p:nvSpPr>
              <p:cNvPr id="75842" name="Text Box 66"/>
              <p:cNvSpPr txBox="1"/>
              <p:nvPr/>
            </p:nvSpPr>
            <p:spPr>
              <a:xfrm>
                <a:off x="1392" y="2880"/>
                <a:ext cx="240" cy="174"/>
              </a:xfrm>
              <a:prstGeom prst="rect">
                <a:avLst/>
              </a:prstGeom>
              <a:noFill/>
              <a:ln w="9525" cap="flat" cmpd="sng">
                <a:solidFill>
                  <a:schemeClr val="tx1"/>
                </a:solidFill>
                <a:prstDash val="solid"/>
                <a:miter/>
                <a:headEnd type="none" w="med" len="med"/>
                <a:tailEnd type="none" w="med" len="med"/>
              </a:ln>
            </p:spPr>
            <p:txBody>
              <a:bodyPr lIns="0" tIns="0" rIns="0" bIns="0" anchor="t" anchorCtr="0">
                <a:spAutoFit/>
              </a:bodyPr>
              <a:p>
                <a:pPr algn="ctr">
                  <a:spcBef>
                    <a:spcPct val="5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6</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843" name="Text Box 67"/>
              <p:cNvSpPr txBox="1"/>
              <p:nvPr/>
            </p:nvSpPr>
            <p:spPr>
              <a:xfrm>
                <a:off x="1634" y="2880"/>
                <a:ext cx="122" cy="174"/>
              </a:xfrm>
              <a:prstGeom prst="rect">
                <a:avLst/>
              </a:prstGeom>
              <a:noFill/>
              <a:ln w="9525" cap="flat" cmpd="sng">
                <a:solidFill>
                  <a:schemeClr val="tx1"/>
                </a:solidFill>
                <a:prstDash val="solid"/>
                <a:miter/>
                <a:headEnd type="none" w="med" len="med"/>
                <a:tailEnd type="none" w="med" len="med"/>
              </a:ln>
            </p:spPr>
            <p:txBody>
              <a:bodyPr lIns="0" tIns="0" rIns="0" bIns="0" anchor="t" anchorCtr="0">
                <a:spAutoFit/>
              </a:bodyPr>
              <a:p>
                <a:pPr>
                  <a:spcBef>
                    <a:spcPct val="5000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75844" name="Line 68"/>
            <p:cNvSpPr/>
            <p:nvPr/>
          </p:nvSpPr>
          <p:spPr>
            <a:xfrm>
              <a:off x="5810" y="6740"/>
              <a:ext cx="840" cy="0"/>
            </a:xfrm>
            <a:prstGeom prst="line">
              <a:avLst/>
            </a:prstGeom>
            <a:ln w="9525" cap="flat" cmpd="sng">
              <a:solidFill>
                <a:schemeClr val="tx1"/>
              </a:solidFill>
              <a:prstDash val="solid"/>
              <a:miter/>
              <a:headEnd type="none" w="med" len="med"/>
              <a:tailEnd type="triangle" w="med" len="med"/>
            </a:ln>
          </p:spPr>
        </p:sp>
      </p:grpSp>
      <p:sp>
        <p:nvSpPr>
          <p:cNvPr id="75847" name="Text Box 71"/>
          <p:cNvSpPr txBox="1"/>
          <p:nvPr/>
        </p:nvSpPr>
        <p:spPr>
          <a:xfrm>
            <a:off x="1581785" y="3213100"/>
            <a:ext cx="1013460" cy="377825"/>
          </a:xfrm>
          <a:prstGeom prst="rect">
            <a:avLst/>
          </a:prstGeom>
          <a:noFill/>
          <a:ln w="9525">
            <a:noFill/>
          </a:ln>
        </p:spPr>
        <p:txBody>
          <a:bodyPr anchor="t" anchorCtr="0">
            <a:noAutofit/>
          </a:bodyPr>
          <a:p>
            <a:pPr>
              <a:spcBef>
                <a:spcPct val="50000"/>
              </a:spcBef>
            </a:pPr>
            <a:r>
              <a:rPr lang="en-US" altLang="zh-CN" sz="1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Root--&gt;</a:t>
            </a:r>
            <a:endParaRPr lang="en-US" altLang="zh-CN" sz="1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树的存储结构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带双亲的孩子链表</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将所有结点排列成一个线性表</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将每个结点的孩子的</a:t>
            </a:r>
            <a:r>
              <a:rPr lang="zh-CN" altLang="en-US"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下标</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排列起来，用单链表表示</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数组增加一个维度表示双亲下标</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8" name="对象 7"/>
          <p:cNvGraphicFramePr/>
          <p:nvPr>
            <p:custDataLst>
              <p:tags r:id="rId1"/>
            </p:custDataLst>
          </p:nvPr>
        </p:nvGraphicFramePr>
        <p:xfrm>
          <a:off x="6023610" y="2853055"/>
          <a:ext cx="4702810" cy="3120390"/>
        </p:xfrm>
        <a:graphic>
          <a:graphicData uri="http://schemas.openxmlformats.org/presentationml/2006/ole">
            <mc:AlternateContent xmlns:mc="http://schemas.openxmlformats.org/markup-compatibility/2006">
              <mc:Choice xmlns:v="urn:schemas-microsoft-com:vml" Requires="v">
                <p:oleObj spid="_x0000_s9" name="" r:id="rId2" imgW="4124325" imgH="2590800" progId="Paint.Picture">
                  <p:embed/>
                </p:oleObj>
              </mc:Choice>
              <mc:Fallback>
                <p:oleObj name="" r:id="rId2" imgW="4124325" imgH="2590800" progId="Paint.Picture">
                  <p:embed/>
                  <p:pic>
                    <p:nvPicPr>
                      <p:cNvPr id="0" name="图片 8"/>
                      <p:cNvPicPr/>
                      <p:nvPr/>
                    </p:nvPicPr>
                    <p:blipFill>
                      <a:blip r:embed="rId3"/>
                      <a:stretch>
                        <a:fillRect/>
                      </a:stretch>
                    </p:blipFill>
                    <p:spPr>
                      <a:xfrm>
                        <a:off x="6023610" y="2853055"/>
                        <a:ext cx="4702810" cy="3120390"/>
                      </a:xfrm>
                      <a:prstGeom prst="rect">
                        <a:avLst/>
                      </a:prstGeom>
                    </p:spPr>
                  </p:pic>
                </p:oleObj>
              </mc:Fallback>
            </mc:AlternateContent>
          </a:graphicData>
        </a:graphic>
      </p:graphicFrame>
      <p:pic>
        <p:nvPicPr>
          <p:cNvPr id="10" name="图片 9"/>
          <p:cNvPicPr>
            <a:picLocks noChangeAspect="1"/>
          </p:cNvPicPr>
          <p:nvPr/>
        </p:nvPicPr>
        <p:blipFill>
          <a:blip r:embed="rId4"/>
          <a:stretch>
            <a:fillRect/>
          </a:stretch>
        </p:blipFill>
        <p:spPr>
          <a:xfrm>
            <a:off x="8832215" y="404495"/>
            <a:ext cx="2238375" cy="2009775"/>
          </a:xfrm>
          <a:prstGeom prst="rect">
            <a:avLst/>
          </a:prstGeom>
        </p:spPr>
      </p:pic>
      <p:pic>
        <p:nvPicPr>
          <p:cNvPr id="11" name="图片 10"/>
          <p:cNvPicPr>
            <a:picLocks noChangeAspect="1"/>
          </p:cNvPicPr>
          <p:nvPr/>
        </p:nvPicPr>
        <p:blipFill>
          <a:blip r:embed="rId5"/>
          <a:stretch>
            <a:fillRect/>
          </a:stretch>
        </p:blipFill>
        <p:spPr>
          <a:xfrm>
            <a:off x="623570" y="2853055"/>
            <a:ext cx="4512945" cy="3091815"/>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树的存储结构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孩子兄弟表示法</a:t>
            </a:r>
            <a:endParaRPr kumimoji="0" lang="zh-CN" altLang="en-US" sz="24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采用二叉链表</a:t>
            </a:r>
            <a:endParaRPr kumimoji="0" lang="zh-CN" altLang="en-US"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左边指针指向第一个孩子，右边指针指向兄弟</a:t>
            </a:r>
            <a:endParaRPr kumimoji="0" lang="zh-CN" altLang="en-US"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kumimoji="0" lang="zh-CN" altLang="en-US"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76804" name="Group 4"/>
          <p:cNvGrpSpPr/>
          <p:nvPr/>
        </p:nvGrpSpPr>
        <p:grpSpPr>
          <a:xfrm>
            <a:off x="7634288" y="3814763"/>
            <a:ext cx="2667000" cy="1795462"/>
            <a:chOff x="3696" y="2565"/>
            <a:chExt cx="1680" cy="1131"/>
          </a:xfrm>
        </p:grpSpPr>
        <p:sp>
          <p:nvSpPr>
            <p:cNvPr id="76805" name="Line 5"/>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76806" name="Line 6"/>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76807" name="Oval 7"/>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76808" name="Line 8"/>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76809" name="Oval 9"/>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76810" name="Line 10"/>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76811" name="Oval 11"/>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76812" name="Line 12"/>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76813" name="Oval 13"/>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76814" name="Oval 14"/>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76815" name="Oval 15"/>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76816" name="Line 16"/>
            <p:cNvSpPr/>
            <p:nvPr/>
          </p:nvSpPr>
          <p:spPr>
            <a:xfrm flipH="1">
              <a:off x="4704" y="2841"/>
              <a:ext cx="0" cy="144"/>
            </a:xfrm>
            <a:prstGeom prst="line">
              <a:avLst/>
            </a:prstGeom>
            <a:ln w="38100" cap="flat" cmpd="sng">
              <a:solidFill>
                <a:srgbClr val="009900"/>
              </a:solidFill>
              <a:prstDash val="solid"/>
              <a:round/>
              <a:headEnd type="none" w="med" len="med"/>
              <a:tailEnd type="none" w="med" len="med"/>
            </a:ln>
          </p:spPr>
        </p:sp>
        <p:sp>
          <p:nvSpPr>
            <p:cNvPr id="76817" name="Oval 17"/>
            <p:cNvSpPr/>
            <p:nvPr/>
          </p:nvSpPr>
          <p:spPr>
            <a:xfrm>
              <a:off x="4560"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grpSp>
      <p:grpSp>
        <p:nvGrpSpPr>
          <p:cNvPr id="76818" name="Group 18"/>
          <p:cNvGrpSpPr/>
          <p:nvPr/>
        </p:nvGrpSpPr>
        <p:grpSpPr>
          <a:xfrm>
            <a:off x="2279650" y="3284538"/>
            <a:ext cx="3760788" cy="2538364"/>
            <a:chOff x="2665" y="2016"/>
            <a:chExt cx="2465" cy="1649"/>
          </a:xfrm>
        </p:grpSpPr>
        <p:sp>
          <p:nvSpPr>
            <p:cNvPr id="836627" name="Rectangle 19"/>
            <p:cNvSpPr>
              <a:spLocks noChangeArrowheads="1"/>
            </p:cNvSpPr>
            <p:nvPr/>
          </p:nvSpPr>
          <p:spPr bwMode="auto">
            <a:xfrm>
              <a:off x="3646" y="2112"/>
              <a:ext cx="538" cy="19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6820" name="Line 20"/>
            <p:cNvSpPr/>
            <p:nvPr/>
          </p:nvSpPr>
          <p:spPr>
            <a:xfrm>
              <a:off x="3825" y="2112"/>
              <a:ext cx="0" cy="190"/>
            </a:xfrm>
            <a:prstGeom prst="line">
              <a:avLst/>
            </a:prstGeom>
            <a:ln w="19050" cap="flat" cmpd="sng">
              <a:solidFill>
                <a:srgbClr val="009900"/>
              </a:solidFill>
              <a:prstDash val="solid"/>
              <a:round/>
              <a:headEnd type="none" w="med" len="med"/>
              <a:tailEnd type="none" w="med" len="med"/>
            </a:ln>
          </p:spPr>
        </p:sp>
        <p:sp>
          <p:nvSpPr>
            <p:cNvPr id="76821" name="Line 21"/>
            <p:cNvSpPr/>
            <p:nvPr/>
          </p:nvSpPr>
          <p:spPr>
            <a:xfrm>
              <a:off x="4004" y="2112"/>
              <a:ext cx="0" cy="190"/>
            </a:xfrm>
            <a:prstGeom prst="line">
              <a:avLst/>
            </a:prstGeom>
            <a:ln w="19050" cap="flat" cmpd="sng">
              <a:solidFill>
                <a:srgbClr val="009900"/>
              </a:solidFill>
              <a:prstDash val="solid"/>
              <a:round/>
              <a:headEnd type="none" w="med" len="med"/>
              <a:tailEnd type="none" w="med" len="med"/>
            </a:ln>
          </p:spPr>
        </p:sp>
        <p:sp>
          <p:nvSpPr>
            <p:cNvPr id="836630" name="Rectangle 22"/>
            <p:cNvSpPr>
              <a:spLocks noChangeArrowheads="1"/>
            </p:cNvSpPr>
            <p:nvPr/>
          </p:nvSpPr>
          <p:spPr bwMode="auto">
            <a:xfrm>
              <a:off x="3179" y="2429"/>
              <a:ext cx="538" cy="197"/>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6823" name="Line 23"/>
            <p:cNvSpPr/>
            <p:nvPr/>
          </p:nvSpPr>
          <p:spPr>
            <a:xfrm>
              <a:off x="3359" y="2429"/>
              <a:ext cx="0" cy="191"/>
            </a:xfrm>
            <a:prstGeom prst="line">
              <a:avLst/>
            </a:prstGeom>
            <a:ln w="19050" cap="flat" cmpd="sng">
              <a:solidFill>
                <a:srgbClr val="009900"/>
              </a:solidFill>
              <a:prstDash val="solid"/>
              <a:round/>
              <a:headEnd type="none" w="med" len="med"/>
              <a:tailEnd type="none" w="med" len="med"/>
            </a:ln>
          </p:spPr>
        </p:sp>
        <p:sp>
          <p:nvSpPr>
            <p:cNvPr id="76824" name="Line 24"/>
            <p:cNvSpPr/>
            <p:nvPr/>
          </p:nvSpPr>
          <p:spPr>
            <a:xfrm>
              <a:off x="3538" y="2429"/>
              <a:ext cx="0" cy="191"/>
            </a:xfrm>
            <a:prstGeom prst="line">
              <a:avLst/>
            </a:prstGeom>
            <a:ln w="19050" cap="flat" cmpd="sng">
              <a:solidFill>
                <a:srgbClr val="009900"/>
              </a:solidFill>
              <a:prstDash val="solid"/>
              <a:round/>
              <a:headEnd type="none" w="med" len="med"/>
              <a:tailEnd type="none" w="med" len="med"/>
            </a:ln>
          </p:spPr>
        </p:sp>
        <p:sp>
          <p:nvSpPr>
            <p:cNvPr id="836633" name="Rectangle 25"/>
            <p:cNvSpPr>
              <a:spLocks noChangeArrowheads="1"/>
            </p:cNvSpPr>
            <p:nvPr/>
          </p:nvSpPr>
          <p:spPr bwMode="auto">
            <a:xfrm>
              <a:off x="2677" y="2779"/>
              <a:ext cx="565" cy="19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6826" name="Line 26"/>
            <p:cNvSpPr/>
            <p:nvPr/>
          </p:nvSpPr>
          <p:spPr>
            <a:xfrm>
              <a:off x="2857" y="2779"/>
              <a:ext cx="0" cy="190"/>
            </a:xfrm>
            <a:prstGeom prst="line">
              <a:avLst/>
            </a:prstGeom>
            <a:ln w="19050" cap="flat" cmpd="sng">
              <a:solidFill>
                <a:srgbClr val="009900"/>
              </a:solidFill>
              <a:prstDash val="solid"/>
              <a:round/>
              <a:headEnd type="none" w="med" len="med"/>
              <a:tailEnd type="none" w="med" len="med"/>
            </a:ln>
          </p:spPr>
        </p:sp>
        <p:sp>
          <p:nvSpPr>
            <p:cNvPr id="76827" name="Line 27"/>
            <p:cNvSpPr/>
            <p:nvPr/>
          </p:nvSpPr>
          <p:spPr>
            <a:xfrm>
              <a:off x="3072" y="2779"/>
              <a:ext cx="0" cy="190"/>
            </a:xfrm>
            <a:prstGeom prst="line">
              <a:avLst/>
            </a:prstGeom>
            <a:ln w="19050" cap="flat" cmpd="sng">
              <a:solidFill>
                <a:srgbClr val="009900"/>
              </a:solidFill>
              <a:prstDash val="solid"/>
              <a:round/>
              <a:headEnd type="none" w="med" len="med"/>
              <a:tailEnd type="none" w="med" len="med"/>
            </a:ln>
          </p:spPr>
        </p:sp>
        <p:sp>
          <p:nvSpPr>
            <p:cNvPr id="76828" name="Line 28"/>
            <p:cNvSpPr/>
            <p:nvPr/>
          </p:nvSpPr>
          <p:spPr>
            <a:xfrm flipH="1">
              <a:off x="3430" y="2207"/>
              <a:ext cx="323" cy="222"/>
            </a:xfrm>
            <a:prstGeom prst="line">
              <a:avLst/>
            </a:prstGeom>
            <a:ln w="28575" cap="flat" cmpd="sng">
              <a:solidFill>
                <a:schemeClr val="accent2"/>
              </a:solidFill>
              <a:prstDash val="solid"/>
              <a:round/>
              <a:headEnd type="none" w="med" len="med"/>
              <a:tailEnd type="triangle" w="sm" len="lg"/>
            </a:ln>
          </p:spPr>
        </p:sp>
        <p:sp>
          <p:nvSpPr>
            <p:cNvPr id="76829" name="Line 29"/>
            <p:cNvSpPr/>
            <p:nvPr/>
          </p:nvSpPr>
          <p:spPr>
            <a:xfrm flipH="1">
              <a:off x="2964" y="2525"/>
              <a:ext cx="323" cy="254"/>
            </a:xfrm>
            <a:prstGeom prst="line">
              <a:avLst/>
            </a:prstGeom>
            <a:ln w="28575" cap="flat" cmpd="sng">
              <a:solidFill>
                <a:schemeClr val="accent2"/>
              </a:solidFill>
              <a:prstDash val="solid"/>
              <a:round/>
              <a:headEnd type="none" w="med" len="med"/>
              <a:tailEnd type="triangle" w="sm" len="lg"/>
            </a:ln>
          </p:spPr>
        </p:sp>
        <p:sp>
          <p:nvSpPr>
            <p:cNvPr id="836638" name="Rectangle 30"/>
            <p:cNvSpPr>
              <a:spLocks noChangeArrowheads="1"/>
            </p:cNvSpPr>
            <p:nvPr/>
          </p:nvSpPr>
          <p:spPr bwMode="auto">
            <a:xfrm>
              <a:off x="3825" y="2779"/>
              <a:ext cx="538" cy="19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6831" name="Line 31"/>
            <p:cNvSpPr/>
            <p:nvPr/>
          </p:nvSpPr>
          <p:spPr>
            <a:xfrm>
              <a:off x="4004" y="2779"/>
              <a:ext cx="0" cy="190"/>
            </a:xfrm>
            <a:prstGeom prst="line">
              <a:avLst/>
            </a:prstGeom>
            <a:ln w="19050" cap="flat" cmpd="sng">
              <a:solidFill>
                <a:srgbClr val="009900"/>
              </a:solidFill>
              <a:prstDash val="solid"/>
              <a:round/>
              <a:headEnd type="none" w="med" len="med"/>
              <a:tailEnd type="none" w="med" len="med"/>
            </a:ln>
          </p:spPr>
        </p:sp>
        <p:sp>
          <p:nvSpPr>
            <p:cNvPr id="76832" name="Line 32"/>
            <p:cNvSpPr/>
            <p:nvPr/>
          </p:nvSpPr>
          <p:spPr>
            <a:xfrm>
              <a:off x="4184" y="2779"/>
              <a:ext cx="0" cy="190"/>
            </a:xfrm>
            <a:prstGeom prst="line">
              <a:avLst/>
            </a:prstGeom>
            <a:ln w="19050" cap="flat" cmpd="sng">
              <a:solidFill>
                <a:srgbClr val="009900"/>
              </a:solidFill>
              <a:prstDash val="solid"/>
              <a:round/>
              <a:headEnd type="none" w="med" len="med"/>
              <a:tailEnd type="none" w="med" len="med"/>
            </a:ln>
          </p:spPr>
        </p:sp>
        <p:sp>
          <p:nvSpPr>
            <p:cNvPr id="836641" name="Rectangle 33"/>
            <p:cNvSpPr>
              <a:spLocks noChangeArrowheads="1"/>
            </p:cNvSpPr>
            <p:nvPr/>
          </p:nvSpPr>
          <p:spPr bwMode="auto">
            <a:xfrm>
              <a:off x="4577" y="3096"/>
              <a:ext cx="539" cy="191"/>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6834" name="Line 34"/>
            <p:cNvSpPr/>
            <p:nvPr/>
          </p:nvSpPr>
          <p:spPr>
            <a:xfrm>
              <a:off x="4757" y="3096"/>
              <a:ext cx="0" cy="191"/>
            </a:xfrm>
            <a:prstGeom prst="line">
              <a:avLst/>
            </a:prstGeom>
            <a:ln w="19050" cap="flat" cmpd="sng">
              <a:solidFill>
                <a:srgbClr val="009900"/>
              </a:solidFill>
              <a:prstDash val="solid"/>
              <a:round/>
              <a:headEnd type="none" w="med" len="med"/>
              <a:tailEnd type="none" w="med" len="med"/>
            </a:ln>
          </p:spPr>
        </p:sp>
        <p:sp>
          <p:nvSpPr>
            <p:cNvPr id="76835" name="Line 35"/>
            <p:cNvSpPr/>
            <p:nvPr/>
          </p:nvSpPr>
          <p:spPr>
            <a:xfrm>
              <a:off x="4937" y="3096"/>
              <a:ext cx="0" cy="191"/>
            </a:xfrm>
            <a:prstGeom prst="line">
              <a:avLst/>
            </a:prstGeom>
            <a:ln w="19050" cap="flat" cmpd="sng">
              <a:solidFill>
                <a:srgbClr val="009900"/>
              </a:solidFill>
              <a:prstDash val="solid"/>
              <a:round/>
              <a:headEnd type="none" w="med" len="med"/>
              <a:tailEnd type="none" w="med" len="med"/>
            </a:ln>
          </p:spPr>
        </p:sp>
        <p:sp>
          <p:nvSpPr>
            <p:cNvPr id="836644" name="Rectangle 36"/>
            <p:cNvSpPr>
              <a:spLocks noChangeArrowheads="1"/>
            </p:cNvSpPr>
            <p:nvPr/>
          </p:nvSpPr>
          <p:spPr bwMode="auto">
            <a:xfrm>
              <a:off x="4004" y="3414"/>
              <a:ext cx="538" cy="19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6837" name="Line 37"/>
            <p:cNvSpPr/>
            <p:nvPr/>
          </p:nvSpPr>
          <p:spPr>
            <a:xfrm>
              <a:off x="4184" y="3414"/>
              <a:ext cx="0" cy="190"/>
            </a:xfrm>
            <a:prstGeom prst="line">
              <a:avLst/>
            </a:prstGeom>
            <a:ln w="19050" cap="flat" cmpd="sng">
              <a:solidFill>
                <a:srgbClr val="009900"/>
              </a:solidFill>
              <a:prstDash val="solid"/>
              <a:round/>
              <a:headEnd type="none" w="med" len="med"/>
              <a:tailEnd type="none" w="med" len="med"/>
            </a:ln>
          </p:spPr>
        </p:sp>
        <p:sp>
          <p:nvSpPr>
            <p:cNvPr id="76838" name="Line 38"/>
            <p:cNvSpPr/>
            <p:nvPr/>
          </p:nvSpPr>
          <p:spPr>
            <a:xfrm>
              <a:off x="4363" y="3414"/>
              <a:ext cx="0" cy="190"/>
            </a:xfrm>
            <a:prstGeom prst="line">
              <a:avLst/>
            </a:prstGeom>
            <a:ln w="19050" cap="flat" cmpd="sng">
              <a:solidFill>
                <a:srgbClr val="009900"/>
              </a:solidFill>
              <a:prstDash val="solid"/>
              <a:round/>
              <a:headEnd type="none" w="med" len="med"/>
              <a:tailEnd type="none" w="med" len="med"/>
            </a:ln>
          </p:spPr>
        </p:sp>
        <p:sp>
          <p:nvSpPr>
            <p:cNvPr id="836647" name="Rectangle 39"/>
            <p:cNvSpPr>
              <a:spLocks noChangeArrowheads="1"/>
            </p:cNvSpPr>
            <p:nvPr/>
          </p:nvSpPr>
          <p:spPr bwMode="auto">
            <a:xfrm>
              <a:off x="3179" y="3128"/>
              <a:ext cx="538" cy="190"/>
            </a:xfrm>
            <a:prstGeom prst="rect">
              <a:avLst/>
            </a:prstGeom>
            <a:solidFill>
              <a:srgbClr val="FFFFCC"/>
            </a:solidFill>
            <a:ln w="19050">
              <a:solidFill>
                <a:srgbClr val="009900"/>
              </a:solidFill>
              <a:miter lim="800000"/>
            </a:ln>
            <a:effectLst>
              <a:outerShdw dist="107763"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6840" name="Line 40"/>
            <p:cNvSpPr/>
            <p:nvPr/>
          </p:nvSpPr>
          <p:spPr>
            <a:xfrm>
              <a:off x="3359" y="3128"/>
              <a:ext cx="0" cy="190"/>
            </a:xfrm>
            <a:prstGeom prst="line">
              <a:avLst/>
            </a:prstGeom>
            <a:ln w="19050" cap="flat" cmpd="sng">
              <a:solidFill>
                <a:srgbClr val="009900"/>
              </a:solidFill>
              <a:prstDash val="solid"/>
              <a:round/>
              <a:headEnd type="none" w="med" len="med"/>
              <a:tailEnd type="none" w="med" len="med"/>
            </a:ln>
          </p:spPr>
        </p:sp>
        <p:sp>
          <p:nvSpPr>
            <p:cNvPr id="76841" name="Line 41"/>
            <p:cNvSpPr/>
            <p:nvPr/>
          </p:nvSpPr>
          <p:spPr>
            <a:xfrm>
              <a:off x="3538" y="3128"/>
              <a:ext cx="0" cy="190"/>
            </a:xfrm>
            <a:prstGeom prst="line">
              <a:avLst/>
            </a:prstGeom>
            <a:ln w="19050" cap="flat" cmpd="sng">
              <a:solidFill>
                <a:srgbClr val="009900"/>
              </a:solidFill>
              <a:prstDash val="solid"/>
              <a:round/>
              <a:headEnd type="none" w="med" len="med"/>
              <a:tailEnd type="none" w="med" len="med"/>
            </a:ln>
          </p:spPr>
        </p:sp>
        <p:sp>
          <p:nvSpPr>
            <p:cNvPr id="76842" name="Line 42"/>
            <p:cNvSpPr/>
            <p:nvPr/>
          </p:nvSpPr>
          <p:spPr>
            <a:xfrm flipH="1">
              <a:off x="4327" y="3191"/>
              <a:ext cx="359" cy="223"/>
            </a:xfrm>
            <a:prstGeom prst="line">
              <a:avLst/>
            </a:prstGeom>
            <a:ln w="28575" cap="flat" cmpd="sng">
              <a:solidFill>
                <a:schemeClr val="accent2"/>
              </a:solidFill>
              <a:prstDash val="solid"/>
              <a:round/>
              <a:headEnd type="none" w="med" len="med"/>
              <a:tailEnd type="triangle" w="sm" len="lg"/>
            </a:ln>
          </p:spPr>
        </p:sp>
        <p:sp>
          <p:nvSpPr>
            <p:cNvPr id="76843" name="Line 43"/>
            <p:cNvSpPr/>
            <p:nvPr/>
          </p:nvSpPr>
          <p:spPr>
            <a:xfrm>
              <a:off x="3179" y="2874"/>
              <a:ext cx="251" cy="254"/>
            </a:xfrm>
            <a:prstGeom prst="line">
              <a:avLst/>
            </a:prstGeom>
            <a:ln w="28575" cap="flat" cmpd="sng">
              <a:solidFill>
                <a:schemeClr val="accent2"/>
              </a:solidFill>
              <a:prstDash val="solid"/>
              <a:round/>
              <a:headEnd type="none" w="med" len="med"/>
              <a:tailEnd type="triangle" w="sm" len="lg"/>
            </a:ln>
          </p:spPr>
        </p:sp>
        <p:sp>
          <p:nvSpPr>
            <p:cNvPr id="76844" name="Line 44"/>
            <p:cNvSpPr/>
            <p:nvPr/>
          </p:nvSpPr>
          <p:spPr>
            <a:xfrm>
              <a:off x="3646" y="2525"/>
              <a:ext cx="430" cy="254"/>
            </a:xfrm>
            <a:prstGeom prst="line">
              <a:avLst/>
            </a:prstGeom>
            <a:ln w="28575" cap="flat" cmpd="sng">
              <a:solidFill>
                <a:schemeClr val="accent2"/>
              </a:solidFill>
              <a:prstDash val="solid"/>
              <a:round/>
              <a:headEnd type="none" w="med" len="med"/>
              <a:tailEnd type="triangle" w="sm" len="lg"/>
            </a:ln>
          </p:spPr>
        </p:sp>
        <p:sp>
          <p:nvSpPr>
            <p:cNvPr id="76845" name="Line 45"/>
            <p:cNvSpPr/>
            <p:nvPr/>
          </p:nvSpPr>
          <p:spPr>
            <a:xfrm>
              <a:off x="4291" y="2874"/>
              <a:ext cx="466" cy="222"/>
            </a:xfrm>
            <a:prstGeom prst="line">
              <a:avLst/>
            </a:prstGeom>
            <a:ln w="28575" cap="flat" cmpd="sng">
              <a:solidFill>
                <a:schemeClr val="accent2"/>
              </a:solidFill>
              <a:prstDash val="solid"/>
              <a:round/>
              <a:headEnd type="none" w="med" len="med"/>
              <a:tailEnd type="triangle" w="sm" len="lg"/>
            </a:ln>
          </p:spPr>
        </p:sp>
        <p:sp>
          <p:nvSpPr>
            <p:cNvPr id="76846" name="Text Box 46"/>
            <p:cNvSpPr txBox="1"/>
            <p:nvPr/>
          </p:nvSpPr>
          <p:spPr>
            <a:xfrm>
              <a:off x="3303" y="2369"/>
              <a:ext cx="253"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76847" name="Text Box 47"/>
            <p:cNvSpPr txBox="1"/>
            <p:nvPr/>
          </p:nvSpPr>
          <p:spPr>
            <a:xfrm>
              <a:off x="3975" y="2731"/>
              <a:ext cx="264"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76848" name="Text Box 48"/>
            <p:cNvSpPr txBox="1"/>
            <p:nvPr/>
          </p:nvSpPr>
          <p:spPr>
            <a:xfrm>
              <a:off x="4703" y="3048"/>
              <a:ext cx="264"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76849" name="Text Box 49"/>
            <p:cNvSpPr txBox="1"/>
            <p:nvPr/>
          </p:nvSpPr>
          <p:spPr>
            <a:xfrm>
              <a:off x="4129" y="3366"/>
              <a:ext cx="275"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76850" name="Text Box 50"/>
            <p:cNvSpPr txBox="1"/>
            <p:nvPr/>
          </p:nvSpPr>
          <p:spPr>
            <a:xfrm>
              <a:off x="3316" y="3067"/>
              <a:ext cx="242"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76851" name="Text Box 51"/>
            <p:cNvSpPr txBox="1"/>
            <p:nvPr/>
          </p:nvSpPr>
          <p:spPr>
            <a:xfrm>
              <a:off x="2837" y="2731"/>
              <a:ext cx="253"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76852" name="Text Box 52"/>
            <p:cNvSpPr txBox="1"/>
            <p:nvPr/>
          </p:nvSpPr>
          <p:spPr>
            <a:xfrm>
              <a:off x="2665" y="2700"/>
              <a:ext cx="241"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53" name="Text Box 53"/>
            <p:cNvSpPr txBox="1"/>
            <p:nvPr/>
          </p:nvSpPr>
          <p:spPr>
            <a:xfrm>
              <a:off x="3779" y="2700"/>
              <a:ext cx="241"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54" name="Text Box 54"/>
            <p:cNvSpPr txBox="1"/>
            <p:nvPr/>
          </p:nvSpPr>
          <p:spPr>
            <a:xfrm>
              <a:off x="3132" y="3049"/>
              <a:ext cx="241"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55" name="Text Box 55"/>
            <p:cNvSpPr txBox="1"/>
            <p:nvPr/>
          </p:nvSpPr>
          <p:spPr>
            <a:xfrm>
              <a:off x="3491" y="3049"/>
              <a:ext cx="241"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56" name="Text Box 56"/>
            <p:cNvSpPr txBox="1"/>
            <p:nvPr/>
          </p:nvSpPr>
          <p:spPr>
            <a:xfrm>
              <a:off x="3958" y="3321"/>
              <a:ext cx="241"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57" name="Text Box 57"/>
            <p:cNvSpPr txBox="1"/>
            <p:nvPr/>
          </p:nvSpPr>
          <p:spPr>
            <a:xfrm>
              <a:off x="4317" y="3321"/>
              <a:ext cx="241"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58" name="Text Box 58"/>
            <p:cNvSpPr txBox="1"/>
            <p:nvPr/>
          </p:nvSpPr>
          <p:spPr>
            <a:xfrm>
              <a:off x="4889" y="3018"/>
              <a:ext cx="241" cy="299"/>
            </a:xfrm>
            <a:prstGeom prst="rect">
              <a:avLst/>
            </a:prstGeom>
            <a:noFill/>
            <a:ln w="38100">
              <a:noFill/>
            </a:ln>
          </p:spPr>
          <p:txBody>
            <a:bodyPr wrap="none" anchor="ctr" anchorCtr="0">
              <a:spAutoFit/>
            </a:bodyPr>
            <a:p>
              <a:pPr algn="ctr"/>
              <a:r>
                <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59" name="Rectangle 59"/>
            <p:cNvSpPr/>
            <p:nvPr/>
          </p:nvSpPr>
          <p:spPr>
            <a:xfrm>
              <a:off x="3792" y="2016"/>
              <a:ext cx="288" cy="299"/>
            </a:xfrm>
            <a:prstGeom prst="rect">
              <a:avLst/>
            </a:prstGeom>
            <a:noFill/>
            <a:ln w="9525">
              <a:noFill/>
            </a:ln>
          </p:spPr>
          <p:txBody>
            <a:bodyPr anchor="t" anchorCtr="0">
              <a:spAutoFit/>
            </a:bodyPr>
            <a:p>
              <a:r>
                <a:rPr lang="en-US" altLang="zh-CN" sz="2400" b="1" dirty="0">
                  <a:solidFill>
                    <a:schemeClr val="tx2"/>
                  </a:solidFill>
                  <a:latin typeface="Times New Roman" panose="02020603050405020304" pitchFamily="18" charset="0"/>
                  <a:ea typeface="宋体" panose="02010600030101010101" pitchFamily="2" charset="-122"/>
                </a:rPr>
                <a:t>A</a:t>
              </a:r>
              <a:endParaRPr lang="en-US" altLang="zh-CN" sz="2400" b="1" dirty="0">
                <a:solidFill>
                  <a:schemeClr val="tx2"/>
                </a:solidFill>
                <a:latin typeface="Times New Roman" panose="02020603050405020304" pitchFamily="18" charset="0"/>
                <a:ea typeface="宋体" panose="02010600030101010101" pitchFamily="2" charset="-122"/>
              </a:endParaRPr>
            </a:p>
          </p:txBody>
        </p:sp>
        <p:sp>
          <p:nvSpPr>
            <p:cNvPr id="76860" name="Rectangle 60"/>
            <p:cNvSpPr/>
            <p:nvPr/>
          </p:nvSpPr>
          <p:spPr>
            <a:xfrm>
              <a:off x="3984" y="2063"/>
              <a:ext cx="241" cy="299"/>
            </a:xfrm>
            <a:prstGeom prst="rect">
              <a:avLst/>
            </a:prstGeom>
            <a:noFill/>
            <a:ln w="9525">
              <a:noFill/>
            </a:ln>
          </p:spPr>
          <p:txBody>
            <a:bodyPr wrap="none" anchor="t" anchorCtr="0">
              <a:spAutoFit/>
            </a:bodyPr>
            <a:p>
              <a:r>
                <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1" dirty="0">
                <a:solidFill>
                  <a:schemeClr val="tx2"/>
                </a:solidFill>
                <a:latin typeface="Times New Roman" panose="02020603050405020304" pitchFamily="18" charset="0"/>
                <a:ea typeface="宋体" panose="02010600030101010101" pitchFamily="2" charset="-122"/>
                <a:sym typeface="Symbol" panose="05050102010706020507" pitchFamily="18" charset="2"/>
              </a:endParaRPr>
            </a:p>
          </p:txBody>
        </p:sp>
      </p:grpSp>
      <p:grpSp>
        <p:nvGrpSpPr>
          <p:cNvPr id="76861" name="Group 61"/>
          <p:cNvGrpSpPr/>
          <p:nvPr/>
        </p:nvGrpSpPr>
        <p:grpSpPr>
          <a:xfrm>
            <a:off x="5591175" y="2852738"/>
            <a:ext cx="4800600" cy="533400"/>
            <a:chOff x="480" y="2880"/>
            <a:chExt cx="2928" cy="336"/>
          </a:xfrm>
        </p:grpSpPr>
        <p:sp>
          <p:nvSpPr>
            <p:cNvPr id="836670" name="Rectangle 62"/>
            <p:cNvSpPr>
              <a:spLocks noChangeArrowheads="1"/>
            </p:cNvSpPr>
            <p:nvPr/>
          </p:nvSpPr>
          <p:spPr bwMode="auto">
            <a:xfrm>
              <a:off x="480" y="2880"/>
              <a:ext cx="2928" cy="336"/>
            </a:xfrm>
            <a:prstGeom prst="rect">
              <a:avLst/>
            </a:prstGeom>
            <a:solidFill>
              <a:srgbClr val="FFFFCC"/>
            </a:solidFill>
            <a:ln w="19050">
              <a:solidFill>
                <a:srgbClr val="FF0000"/>
              </a:solidFill>
              <a:miter lim="800000"/>
            </a:ln>
            <a:effectLst>
              <a:outerShdw dist="107763"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en-US" sz="2400" b="1" i="1"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rPr>
                <a:t>  </a:t>
              </a:r>
              <a:r>
                <a:rPr kumimoji="1" lang="en-US" altLang="zh-CN" sz="2800" b="1"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rPr>
                <a:t>data</a:t>
              </a:r>
              <a:endParaRPr kumimoji="1" lang="en-US" altLang="zh-CN" sz="2400"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2" charset="-122"/>
                <a:cs typeface="+mn-cs"/>
              </a:endParaRPr>
            </a:p>
          </p:txBody>
        </p:sp>
        <p:sp>
          <p:nvSpPr>
            <p:cNvPr id="76863" name="Text Box 63"/>
            <p:cNvSpPr txBox="1"/>
            <p:nvPr/>
          </p:nvSpPr>
          <p:spPr>
            <a:xfrm>
              <a:off x="1217" y="2880"/>
              <a:ext cx="1015" cy="329"/>
            </a:xfrm>
            <a:prstGeom prst="rect">
              <a:avLst/>
            </a:prstGeom>
            <a:noFill/>
            <a:ln w="9525">
              <a:noFill/>
            </a:ln>
          </p:spPr>
          <p:txBody>
            <a:bodyPr wrap="none" anchor="t" anchorCtr="0">
              <a:spAutoFit/>
            </a:bodyPr>
            <a:p>
              <a:r>
                <a:rPr lang="en-US" altLang="zh-CN" sz="2800" b="1" dirty="0">
                  <a:latin typeface="Times New Roman" panose="02020603050405020304" pitchFamily="18" charset="0"/>
                  <a:ea typeface="黑体" panose="02010609060101010101" pitchFamily="2" charset="-122"/>
                </a:rPr>
                <a:t>firstChild</a:t>
              </a:r>
              <a:endParaRPr lang="en-US" altLang="zh-CN" sz="2400" dirty="0">
                <a:latin typeface="Arial" panose="020B0604020202020204" pitchFamily="34" charset="0"/>
                <a:ea typeface="黑体" panose="02010609060101010101" pitchFamily="2" charset="-122"/>
              </a:endParaRPr>
            </a:p>
          </p:txBody>
        </p:sp>
        <p:sp>
          <p:nvSpPr>
            <p:cNvPr id="76864" name="Text Box 64"/>
            <p:cNvSpPr txBox="1"/>
            <p:nvPr/>
          </p:nvSpPr>
          <p:spPr>
            <a:xfrm>
              <a:off x="2208" y="2880"/>
              <a:ext cx="1160" cy="329"/>
            </a:xfrm>
            <a:prstGeom prst="rect">
              <a:avLst/>
            </a:prstGeom>
            <a:noFill/>
            <a:ln w="9525">
              <a:noFill/>
            </a:ln>
          </p:spPr>
          <p:txBody>
            <a:bodyPr wrap="none" anchor="t" anchorCtr="0">
              <a:spAutoFit/>
            </a:bodyPr>
            <a:p>
              <a:r>
                <a:rPr lang="en-US" altLang="zh-CN" sz="2800" b="1" dirty="0">
                  <a:latin typeface="Times New Roman" panose="02020603050405020304" pitchFamily="18" charset="0"/>
                  <a:ea typeface="黑体" panose="02010609060101010101" pitchFamily="2" charset="-122"/>
                </a:rPr>
                <a:t>nextSibling</a:t>
              </a:r>
              <a:endParaRPr lang="en-US" altLang="zh-CN" sz="2400" dirty="0">
                <a:latin typeface="Arial" panose="020B0604020202020204" pitchFamily="34" charset="0"/>
                <a:ea typeface="黑体" panose="02010609060101010101" pitchFamily="2" charset="-122"/>
              </a:endParaRPr>
            </a:p>
          </p:txBody>
        </p:sp>
        <p:sp>
          <p:nvSpPr>
            <p:cNvPr id="76865" name="Line 65"/>
            <p:cNvSpPr/>
            <p:nvPr/>
          </p:nvSpPr>
          <p:spPr>
            <a:xfrm>
              <a:off x="1212" y="2880"/>
              <a:ext cx="0" cy="336"/>
            </a:xfrm>
            <a:prstGeom prst="line">
              <a:avLst/>
            </a:prstGeom>
            <a:ln w="9525" cap="flat" cmpd="sng">
              <a:solidFill>
                <a:schemeClr val="hlink"/>
              </a:solidFill>
              <a:prstDash val="solid"/>
              <a:miter/>
              <a:headEnd type="none" w="med" len="med"/>
              <a:tailEnd type="none" w="med" len="med"/>
            </a:ln>
          </p:spPr>
        </p:sp>
        <p:sp>
          <p:nvSpPr>
            <p:cNvPr id="76866" name="Line 66"/>
            <p:cNvSpPr/>
            <p:nvPr/>
          </p:nvSpPr>
          <p:spPr>
            <a:xfrm>
              <a:off x="2202" y="2880"/>
              <a:ext cx="0" cy="336"/>
            </a:xfrm>
            <a:prstGeom prst="line">
              <a:avLst/>
            </a:prstGeom>
            <a:ln w="9525" cap="flat" cmpd="sng">
              <a:solidFill>
                <a:schemeClr val="hlink"/>
              </a:solidFill>
              <a:prstDash val="solid"/>
              <a:miter/>
              <a:headEnd type="none" w="med" len="med"/>
              <a:tailEnd type="none" w="med" len="med"/>
            </a:ln>
          </p:spPr>
        </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树、二叉树的关系：因为</a:t>
            </a:r>
            <a:r>
              <a:rPr lang="zh-CN" altLang="en-US" sz="2800" noProof="0" smtClean="0">
                <a:ln>
                  <a:noFill/>
                </a:ln>
                <a:effectLst/>
                <a:uLnTx/>
                <a:uFillTx/>
                <a:latin typeface="黑体" panose="02010609060101010101" pitchFamily="2" charset="-122"/>
                <a:ea typeface="黑体" panose="02010609060101010101" pitchFamily="2" charset="-122"/>
                <a:cs typeface="+mn-ea"/>
                <a:sym typeface="+mn-ea"/>
              </a:rPr>
              <a:t>树与二叉树都可以采用二叉链表作存储结构，所以两者可以相互转化</a:t>
            </a:r>
            <a:endParaRPr lang="zh-CN" altLang="en-US" sz="2400"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任意给定一棵树，可以找到一个唯一的二叉树(根结点没有右子树）</a:t>
            </a:r>
            <a:endParaRPr lang="zh-CN" altLang="en-US" sz="2400"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任意给定一棵二叉树(根结点没有右子树），可以找到一个唯一的树</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kumimoji="0" lang="zh-CN" altLang="en-US" sz="2400"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森林由若干个树组成，因此森林与二叉树可以相互转化</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任意给定一棵二叉树(根结点带右子树），可以找到一个唯一的森林</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任意给定一个森林，可以找到一个唯一的二叉树(根结点带右子树）</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noProof="0" smtClean="0">
              <a:ln>
                <a:noFill/>
              </a:ln>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树转二叉树，用孩子兄弟表示法</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二叉树结点的左孩子指针指向对应树结点的第一个孩子（从左往右）</a:t>
            </a:r>
            <a:endParaRPr lang="zh-CN" altLang="en-US" sz="2400" noProof="0" smtClean="0">
              <a:ln>
                <a:noFill/>
              </a:ln>
              <a:effectLst/>
              <a:uLnTx/>
              <a:uFillTx/>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二叉树结点的右孩子指针指向对应树结点的第一个兄弟（从左往右）</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例如树结点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对应二叉树结点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endParaRPr lang="en-US" altLang="zh-CN" noProof="0" smtClean="0">
              <a:ln>
                <a:noFill/>
              </a:ln>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二叉树结点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的左孩子指向树结点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的第一个孩子</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E</a:t>
            </a:r>
            <a:endParaRPr lang="en-US" altLang="zh-CN" noProof="0" smtClean="0">
              <a:ln>
                <a:noFill/>
              </a:ln>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二叉树结点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的右孩子指向树结点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的第一个兄弟</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C</a:t>
            </a:r>
            <a:endParaRPr lang="en-US" altLang="zh-CN" noProof="0" smtClean="0">
              <a:ln>
                <a:noFill/>
              </a:ln>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树对应的二叉树是唯一的</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且二叉树根结点不带右子树</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因为根结点没有兄弟</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78852" name="Group 4"/>
          <p:cNvGrpSpPr/>
          <p:nvPr/>
        </p:nvGrpSpPr>
        <p:grpSpPr>
          <a:xfrm>
            <a:off x="6109018" y="3949065"/>
            <a:ext cx="2667000" cy="1795463"/>
            <a:chOff x="3696" y="2565"/>
            <a:chExt cx="1680" cy="1131"/>
          </a:xfrm>
        </p:grpSpPr>
        <p:sp>
          <p:nvSpPr>
            <p:cNvPr id="78853" name="Line 5"/>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78854" name="Line 6"/>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78855" name="Oval 7"/>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78856" name="Line 8"/>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78857" name="Oval 9"/>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78858" name="Line 10"/>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78859" name="Oval 11"/>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78860" name="Line 12"/>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78861" name="Oval 13"/>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78862" name="Oval 14"/>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78863" name="Oval 15"/>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78864" name="Line 16"/>
            <p:cNvSpPr/>
            <p:nvPr/>
          </p:nvSpPr>
          <p:spPr>
            <a:xfrm flipH="1">
              <a:off x="4704" y="2841"/>
              <a:ext cx="0" cy="144"/>
            </a:xfrm>
            <a:prstGeom prst="line">
              <a:avLst/>
            </a:prstGeom>
            <a:ln w="38100" cap="flat" cmpd="sng">
              <a:solidFill>
                <a:srgbClr val="009900"/>
              </a:solidFill>
              <a:prstDash val="solid"/>
              <a:round/>
              <a:headEnd type="none" w="med" len="med"/>
              <a:tailEnd type="none" w="med" len="med"/>
            </a:ln>
          </p:spPr>
        </p:sp>
        <p:sp>
          <p:nvSpPr>
            <p:cNvPr id="78865" name="Oval 17"/>
            <p:cNvSpPr/>
            <p:nvPr/>
          </p:nvSpPr>
          <p:spPr>
            <a:xfrm>
              <a:off x="4560"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grpSp>
      <p:grpSp>
        <p:nvGrpSpPr>
          <p:cNvPr id="78866" name="Group 61"/>
          <p:cNvGrpSpPr/>
          <p:nvPr/>
        </p:nvGrpSpPr>
        <p:grpSpPr>
          <a:xfrm>
            <a:off x="9142095" y="3607435"/>
            <a:ext cx="2133600" cy="2454275"/>
            <a:chOff x="4128" y="2630"/>
            <a:chExt cx="1344" cy="1690"/>
          </a:xfrm>
        </p:grpSpPr>
        <p:sp>
          <p:nvSpPr>
            <p:cNvPr id="78867" name="Line 62"/>
            <p:cNvSpPr/>
            <p:nvPr/>
          </p:nvSpPr>
          <p:spPr>
            <a:xfrm>
              <a:off x="5016" y="3590"/>
              <a:ext cx="360" cy="288"/>
            </a:xfrm>
            <a:prstGeom prst="line">
              <a:avLst/>
            </a:prstGeom>
            <a:ln w="38100" cap="flat" cmpd="sng">
              <a:solidFill>
                <a:srgbClr val="009900"/>
              </a:solidFill>
              <a:prstDash val="solid"/>
              <a:round/>
              <a:headEnd type="none" w="med" len="med"/>
              <a:tailEnd type="none" w="med" len="med"/>
            </a:ln>
          </p:spPr>
        </p:sp>
        <p:sp>
          <p:nvSpPr>
            <p:cNvPr id="78868" name="Line 63"/>
            <p:cNvSpPr/>
            <p:nvPr/>
          </p:nvSpPr>
          <p:spPr>
            <a:xfrm flipH="1">
              <a:off x="4704" y="2705"/>
              <a:ext cx="360" cy="336"/>
            </a:xfrm>
            <a:prstGeom prst="line">
              <a:avLst/>
            </a:prstGeom>
            <a:ln w="38100" cap="flat" cmpd="sng">
              <a:solidFill>
                <a:srgbClr val="009900"/>
              </a:solidFill>
              <a:prstDash val="solid"/>
              <a:round/>
              <a:headEnd type="none" w="med" len="med"/>
              <a:tailEnd type="none" w="med" len="med"/>
            </a:ln>
          </p:spPr>
        </p:sp>
        <p:sp>
          <p:nvSpPr>
            <p:cNvPr id="78869" name="Oval 64"/>
            <p:cNvSpPr/>
            <p:nvPr/>
          </p:nvSpPr>
          <p:spPr>
            <a:xfrm>
              <a:off x="4896" y="2630"/>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78870" name="Line 65"/>
            <p:cNvSpPr/>
            <p:nvPr/>
          </p:nvSpPr>
          <p:spPr>
            <a:xfrm flipH="1">
              <a:off x="4368" y="3095"/>
              <a:ext cx="264" cy="309"/>
            </a:xfrm>
            <a:prstGeom prst="line">
              <a:avLst/>
            </a:prstGeom>
            <a:ln w="38100" cap="flat" cmpd="sng">
              <a:solidFill>
                <a:srgbClr val="009900"/>
              </a:solidFill>
              <a:prstDash val="solid"/>
              <a:round/>
              <a:headEnd type="none" w="med" len="med"/>
              <a:tailEnd type="none" w="med" len="med"/>
            </a:ln>
          </p:spPr>
        </p:sp>
        <p:sp>
          <p:nvSpPr>
            <p:cNvPr id="78871" name="Line 66"/>
            <p:cNvSpPr/>
            <p:nvPr/>
          </p:nvSpPr>
          <p:spPr>
            <a:xfrm>
              <a:off x="4272" y="3542"/>
              <a:ext cx="336" cy="240"/>
            </a:xfrm>
            <a:prstGeom prst="line">
              <a:avLst/>
            </a:prstGeom>
            <a:ln w="38100" cap="flat" cmpd="sng">
              <a:solidFill>
                <a:srgbClr val="009900"/>
              </a:solidFill>
              <a:prstDash val="solid"/>
              <a:round/>
              <a:headEnd type="none" w="med" len="med"/>
              <a:tailEnd type="none" w="med" len="med"/>
            </a:ln>
          </p:spPr>
        </p:sp>
        <p:sp>
          <p:nvSpPr>
            <p:cNvPr id="78872" name="Oval 67"/>
            <p:cNvSpPr/>
            <p:nvPr/>
          </p:nvSpPr>
          <p:spPr>
            <a:xfrm>
              <a:off x="4464" y="294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78873" name="Line 68"/>
            <p:cNvSpPr/>
            <p:nvPr/>
          </p:nvSpPr>
          <p:spPr>
            <a:xfrm flipH="1">
              <a:off x="5088" y="3819"/>
              <a:ext cx="264" cy="309"/>
            </a:xfrm>
            <a:prstGeom prst="line">
              <a:avLst/>
            </a:prstGeom>
            <a:ln w="38100" cap="flat" cmpd="sng">
              <a:solidFill>
                <a:srgbClr val="009900"/>
              </a:solidFill>
              <a:prstDash val="solid"/>
              <a:round/>
              <a:headEnd type="none" w="med" len="med"/>
              <a:tailEnd type="none" w="med" len="med"/>
            </a:ln>
          </p:spPr>
        </p:sp>
        <p:sp>
          <p:nvSpPr>
            <p:cNvPr id="78874" name="Oval 69"/>
            <p:cNvSpPr/>
            <p:nvPr/>
          </p:nvSpPr>
          <p:spPr>
            <a:xfrm>
              <a:off x="4896" y="4032"/>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78875" name="Oval 70"/>
            <p:cNvSpPr/>
            <p:nvPr/>
          </p:nvSpPr>
          <p:spPr>
            <a:xfrm>
              <a:off x="5184" y="368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78876" name="Oval 71"/>
            <p:cNvSpPr/>
            <p:nvPr/>
          </p:nvSpPr>
          <p:spPr>
            <a:xfrm>
              <a:off x="4512" y="368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78877" name="Line 72"/>
            <p:cNvSpPr/>
            <p:nvPr/>
          </p:nvSpPr>
          <p:spPr>
            <a:xfrm>
              <a:off x="4704" y="3206"/>
              <a:ext cx="192" cy="192"/>
            </a:xfrm>
            <a:prstGeom prst="line">
              <a:avLst/>
            </a:prstGeom>
            <a:ln w="38100" cap="flat" cmpd="sng">
              <a:solidFill>
                <a:srgbClr val="009900"/>
              </a:solidFill>
              <a:prstDash val="solid"/>
              <a:round/>
              <a:headEnd type="none" w="med" len="med"/>
              <a:tailEnd type="none" w="med" len="med"/>
            </a:ln>
          </p:spPr>
        </p:sp>
        <p:sp>
          <p:nvSpPr>
            <p:cNvPr id="78878" name="Oval 73"/>
            <p:cNvSpPr/>
            <p:nvPr/>
          </p:nvSpPr>
          <p:spPr>
            <a:xfrm>
              <a:off x="4800" y="3350"/>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78879" name="Oval 74"/>
            <p:cNvSpPr/>
            <p:nvPr/>
          </p:nvSpPr>
          <p:spPr>
            <a:xfrm>
              <a:off x="4128" y="335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二叉树转树</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二叉树结点的左孩子对应树结点的第一个孩子（从左往右）</a:t>
            </a:r>
            <a:endParaRPr lang="zh-CN" altLang="en-US" sz="2400" noProof="0" smtClean="0">
              <a:ln>
                <a:noFill/>
              </a:ln>
              <a:effectLst/>
              <a:uLnTx/>
              <a:uFillTx/>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二叉树结点的右孩子对应树结点的第一个兄弟（从左往右）</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例如树结点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对应二叉树结点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endParaRPr lang="en-US" altLang="zh-CN" noProof="0" smtClean="0">
              <a:ln>
                <a:noFill/>
              </a:ln>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二叉树结点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的左孩子</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E</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是树结点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的第一个孩子</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E</a:t>
            </a:r>
            <a:endParaRPr lang="en-US" altLang="zh-CN" noProof="0" smtClean="0">
              <a:ln>
                <a:noFill/>
              </a:ln>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二叉树结点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的右孩子</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C</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是树结点</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的第一个兄弟</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C</a:t>
            </a:r>
            <a:endParaRPr lang="en-US" altLang="zh-CN" noProof="0" smtClean="0">
              <a:ln>
                <a:noFill/>
              </a:ln>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如果二叉树根结点不带右子树</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那么二叉树转换为一棵树</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因为根结点没有兄弟</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78852" name="Group 4"/>
          <p:cNvGrpSpPr/>
          <p:nvPr/>
        </p:nvGrpSpPr>
        <p:grpSpPr>
          <a:xfrm>
            <a:off x="9141778" y="3804920"/>
            <a:ext cx="2667000" cy="1795463"/>
            <a:chOff x="3696" y="2565"/>
            <a:chExt cx="1680" cy="1131"/>
          </a:xfrm>
        </p:grpSpPr>
        <p:sp>
          <p:nvSpPr>
            <p:cNvPr id="78853" name="Line 5"/>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78854" name="Line 6"/>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78855" name="Oval 7"/>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78856" name="Line 8"/>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78857" name="Oval 9"/>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78858" name="Line 10"/>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78859" name="Oval 11"/>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78860" name="Line 12"/>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78861" name="Oval 13"/>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78862" name="Oval 14"/>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78863" name="Oval 15"/>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78864" name="Line 16"/>
            <p:cNvSpPr/>
            <p:nvPr/>
          </p:nvSpPr>
          <p:spPr>
            <a:xfrm flipH="1">
              <a:off x="4704" y="2841"/>
              <a:ext cx="0" cy="144"/>
            </a:xfrm>
            <a:prstGeom prst="line">
              <a:avLst/>
            </a:prstGeom>
            <a:ln w="38100" cap="flat" cmpd="sng">
              <a:solidFill>
                <a:srgbClr val="009900"/>
              </a:solidFill>
              <a:prstDash val="solid"/>
              <a:round/>
              <a:headEnd type="none" w="med" len="med"/>
              <a:tailEnd type="none" w="med" len="med"/>
            </a:ln>
          </p:spPr>
        </p:sp>
        <p:sp>
          <p:nvSpPr>
            <p:cNvPr id="78865" name="Oval 17"/>
            <p:cNvSpPr/>
            <p:nvPr/>
          </p:nvSpPr>
          <p:spPr>
            <a:xfrm>
              <a:off x="4560"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grpSp>
      <p:grpSp>
        <p:nvGrpSpPr>
          <p:cNvPr id="78866" name="Group 61"/>
          <p:cNvGrpSpPr/>
          <p:nvPr/>
        </p:nvGrpSpPr>
        <p:grpSpPr>
          <a:xfrm>
            <a:off x="6477635" y="3751580"/>
            <a:ext cx="2133600" cy="2454275"/>
            <a:chOff x="4128" y="2630"/>
            <a:chExt cx="1344" cy="1690"/>
          </a:xfrm>
        </p:grpSpPr>
        <p:sp>
          <p:nvSpPr>
            <p:cNvPr id="78867" name="Line 62"/>
            <p:cNvSpPr/>
            <p:nvPr/>
          </p:nvSpPr>
          <p:spPr>
            <a:xfrm>
              <a:off x="5016" y="3590"/>
              <a:ext cx="360" cy="288"/>
            </a:xfrm>
            <a:prstGeom prst="line">
              <a:avLst/>
            </a:prstGeom>
            <a:ln w="38100" cap="flat" cmpd="sng">
              <a:solidFill>
                <a:srgbClr val="009900"/>
              </a:solidFill>
              <a:prstDash val="solid"/>
              <a:round/>
              <a:headEnd type="none" w="med" len="med"/>
              <a:tailEnd type="none" w="med" len="med"/>
            </a:ln>
          </p:spPr>
        </p:sp>
        <p:sp>
          <p:nvSpPr>
            <p:cNvPr id="78868" name="Line 63"/>
            <p:cNvSpPr/>
            <p:nvPr/>
          </p:nvSpPr>
          <p:spPr>
            <a:xfrm flipH="1">
              <a:off x="4704" y="2705"/>
              <a:ext cx="360" cy="336"/>
            </a:xfrm>
            <a:prstGeom prst="line">
              <a:avLst/>
            </a:prstGeom>
            <a:ln w="38100" cap="flat" cmpd="sng">
              <a:solidFill>
                <a:srgbClr val="009900"/>
              </a:solidFill>
              <a:prstDash val="solid"/>
              <a:round/>
              <a:headEnd type="none" w="med" len="med"/>
              <a:tailEnd type="none" w="med" len="med"/>
            </a:ln>
          </p:spPr>
        </p:sp>
        <p:sp>
          <p:nvSpPr>
            <p:cNvPr id="78869" name="Oval 64"/>
            <p:cNvSpPr/>
            <p:nvPr/>
          </p:nvSpPr>
          <p:spPr>
            <a:xfrm>
              <a:off x="4896" y="2630"/>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78870" name="Line 65"/>
            <p:cNvSpPr/>
            <p:nvPr/>
          </p:nvSpPr>
          <p:spPr>
            <a:xfrm flipH="1">
              <a:off x="4368" y="3095"/>
              <a:ext cx="264" cy="309"/>
            </a:xfrm>
            <a:prstGeom prst="line">
              <a:avLst/>
            </a:prstGeom>
            <a:ln w="38100" cap="flat" cmpd="sng">
              <a:solidFill>
                <a:srgbClr val="009900"/>
              </a:solidFill>
              <a:prstDash val="solid"/>
              <a:round/>
              <a:headEnd type="none" w="med" len="med"/>
              <a:tailEnd type="none" w="med" len="med"/>
            </a:ln>
          </p:spPr>
        </p:sp>
        <p:sp>
          <p:nvSpPr>
            <p:cNvPr id="78871" name="Line 66"/>
            <p:cNvSpPr/>
            <p:nvPr/>
          </p:nvSpPr>
          <p:spPr>
            <a:xfrm>
              <a:off x="4272" y="3542"/>
              <a:ext cx="336" cy="240"/>
            </a:xfrm>
            <a:prstGeom prst="line">
              <a:avLst/>
            </a:prstGeom>
            <a:ln w="38100" cap="flat" cmpd="sng">
              <a:solidFill>
                <a:srgbClr val="009900"/>
              </a:solidFill>
              <a:prstDash val="solid"/>
              <a:round/>
              <a:headEnd type="none" w="med" len="med"/>
              <a:tailEnd type="none" w="med" len="med"/>
            </a:ln>
          </p:spPr>
        </p:sp>
        <p:sp>
          <p:nvSpPr>
            <p:cNvPr id="78872" name="Oval 67"/>
            <p:cNvSpPr/>
            <p:nvPr/>
          </p:nvSpPr>
          <p:spPr>
            <a:xfrm>
              <a:off x="4464" y="294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78873" name="Line 68"/>
            <p:cNvSpPr/>
            <p:nvPr/>
          </p:nvSpPr>
          <p:spPr>
            <a:xfrm flipH="1">
              <a:off x="5088" y="3819"/>
              <a:ext cx="264" cy="309"/>
            </a:xfrm>
            <a:prstGeom prst="line">
              <a:avLst/>
            </a:prstGeom>
            <a:ln w="38100" cap="flat" cmpd="sng">
              <a:solidFill>
                <a:srgbClr val="009900"/>
              </a:solidFill>
              <a:prstDash val="solid"/>
              <a:round/>
              <a:headEnd type="none" w="med" len="med"/>
              <a:tailEnd type="none" w="med" len="med"/>
            </a:ln>
          </p:spPr>
        </p:sp>
        <p:sp>
          <p:nvSpPr>
            <p:cNvPr id="78874" name="Oval 69"/>
            <p:cNvSpPr/>
            <p:nvPr/>
          </p:nvSpPr>
          <p:spPr>
            <a:xfrm>
              <a:off x="4896" y="4032"/>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78875" name="Oval 70"/>
            <p:cNvSpPr/>
            <p:nvPr/>
          </p:nvSpPr>
          <p:spPr>
            <a:xfrm>
              <a:off x="5184" y="368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78876" name="Oval 71"/>
            <p:cNvSpPr/>
            <p:nvPr/>
          </p:nvSpPr>
          <p:spPr>
            <a:xfrm>
              <a:off x="4512" y="368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78877" name="Line 72"/>
            <p:cNvSpPr/>
            <p:nvPr/>
          </p:nvSpPr>
          <p:spPr>
            <a:xfrm>
              <a:off x="4704" y="3206"/>
              <a:ext cx="192" cy="192"/>
            </a:xfrm>
            <a:prstGeom prst="line">
              <a:avLst/>
            </a:prstGeom>
            <a:ln w="38100" cap="flat" cmpd="sng">
              <a:solidFill>
                <a:srgbClr val="009900"/>
              </a:solidFill>
              <a:prstDash val="solid"/>
              <a:round/>
              <a:headEnd type="none" w="med" len="med"/>
              <a:tailEnd type="none" w="med" len="med"/>
            </a:ln>
          </p:spPr>
        </p:sp>
        <p:sp>
          <p:nvSpPr>
            <p:cNvPr id="78878" name="Oval 73"/>
            <p:cNvSpPr/>
            <p:nvPr/>
          </p:nvSpPr>
          <p:spPr>
            <a:xfrm>
              <a:off x="4800" y="3350"/>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78879" name="Oval 74"/>
            <p:cNvSpPr/>
            <p:nvPr/>
          </p:nvSpPr>
          <p:spPr>
            <a:xfrm>
              <a:off x="4128" y="335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森林转二叉树</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森林从左到右，每棵树按孩子兄弟表示法转换为二叉树</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转换后每棵二叉树的根结点按右孩子关系连接，形成一棵二叉树</a:t>
            </a:r>
            <a:endParaRPr lang="en-US" altLang="zh-CN" noProof="0" smtClean="0">
              <a:ln>
                <a:noFill/>
              </a:ln>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森林对应的二叉树是唯一的</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对应的二叉树根结点必带右子树</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因为森林有多个根结点按右孩子关系接入</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80933" name="Group 37"/>
          <p:cNvGrpSpPr/>
          <p:nvPr/>
        </p:nvGrpSpPr>
        <p:grpSpPr>
          <a:xfrm>
            <a:off x="8094980" y="3120433"/>
            <a:ext cx="3508375" cy="2808244"/>
            <a:chOff x="3072" y="2303"/>
            <a:chExt cx="2210" cy="1769"/>
          </a:xfrm>
        </p:grpSpPr>
        <p:sp>
          <p:nvSpPr>
            <p:cNvPr id="80934" name="Line 38"/>
            <p:cNvSpPr/>
            <p:nvPr/>
          </p:nvSpPr>
          <p:spPr>
            <a:xfrm>
              <a:off x="4032" y="2541"/>
              <a:ext cx="480" cy="234"/>
            </a:xfrm>
            <a:prstGeom prst="line">
              <a:avLst/>
            </a:prstGeom>
            <a:ln w="38100" cap="flat" cmpd="sng">
              <a:solidFill>
                <a:srgbClr val="009900"/>
              </a:solidFill>
              <a:prstDash val="solid"/>
              <a:round/>
              <a:headEnd type="none" w="med" len="med"/>
              <a:tailEnd type="none" w="med" len="med"/>
            </a:ln>
          </p:spPr>
        </p:sp>
        <p:sp>
          <p:nvSpPr>
            <p:cNvPr id="80935" name="Line 39"/>
            <p:cNvSpPr/>
            <p:nvPr/>
          </p:nvSpPr>
          <p:spPr>
            <a:xfrm flipH="1">
              <a:off x="3648" y="3607"/>
              <a:ext cx="240" cy="234"/>
            </a:xfrm>
            <a:prstGeom prst="line">
              <a:avLst/>
            </a:prstGeom>
            <a:ln w="28575" cap="flat" cmpd="sng">
              <a:solidFill>
                <a:schemeClr val="accent2"/>
              </a:solidFill>
              <a:prstDash val="solid"/>
              <a:round/>
              <a:headEnd type="none" w="med" len="med"/>
              <a:tailEnd type="none" w="med" len="med"/>
            </a:ln>
          </p:spPr>
        </p:sp>
        <p:sp>
          <p:nvSpPr>
            <p:cNvPr id="80936" name="Line 40"/>
            <p:cNvSpPr/>
            <p:nvPr/>
          </p:nvSpPr>
          <p:spPr>
            <a:xfrm>
              <a:off x="3264" y="2953"/>
              <a:ext cx="624" cy="561"/>
            </a:xfrm>
            <a:prstGeom prst="line">
              <a:avLst/>
            </a:prstGeom>
            <a:ln w="28575" cap="flat" cmpd="sng">
              <a:solidFill>
                <a:schemeClr val="accent2"/>
              </a:solidFill>
              <a:prstDash val="solid"/>
              <a:round/>
              <a:headEnd type="none" w="med" len="med"/>
              <a:tailEnd type="none" w="med" len="med"/>
            </a:ln>
          </p:spPr>
        </p:sp>
        <p:sp>
          <p:nvSpPr>
            <p:cNvPr id="80937" name="Line 41"/>
            <p:cNvSpPr/>
            <p:nvPr/>
          </p:nvSpPr>
          <p:spPr>
            <a:xfrm flipH="1">
              <a:off x="3264" y="2588"/>
              <a:ext cx="528" cy="318"/>
            </a:xfrm>
            <a:prstGeom prst="line">
              <a:avLst/>
            </a:prstGeom>
            <a:ln w="28575" cap="flat" cmpd="sng">
              <a:solidFill>
                <a:schemeClr val="accent2"/>
              </a:solidFill>
              <a:prstDash val="solid"/>
              <a:round/>
              <a:headEnd type="none" w="med" len="med"/>
              <a:tailEnd type="none" w="med" len="med"/>
            </a:ln>
          </p:spPr>
        </p:sp>
        <p:sp>
          <p:nvSpPr>
            <p:cNvPr id="838698" name="Oval 42"/>
            <p:cNvSpPr>
              <a:spLocks noChangeArrowheads="1"/>
            </p:cNvSpPr>
            <p:nvPr/>
          </p:nvSpPr>
          <p:spPr bwMode="auto">
            <a:xfrm>
              <a:off x="3072" y="2813"/>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99" name="Oval 43"/>
            <p:cNvSpPr>
              <a:spLocks noChangeArrowheads="1"/>
            </p:cNvSpPr>
            <p:nvPr/>
          </p:nvSpPr>
          <p:spPr bwMode="auto">
            <a:xfrm>
              <a:off x="3792" y="3420"/>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00" name="Oval 44"/>
            <p:cNvSpPr>
              <a:spLocks noChangeArrowheads="1"/>
            </p:cNvSpPr>
            <p:nvPr/>
          </p:nvSpPr>
          <p:spPr bwMode="auto">
            <a:xfrm>
              <a:off x="3456" y="3093"/>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01" name="Oval 45"/>
            <p:cNvSpPr>
              <a:spLocks noChangeArrowheads="1"/>
            </p:cNvSpPr>
            <p:nvPr/>
          </p:nvSpPr>
          <p:spPr bwMode="auto">
            <a:xfrm>
              <a:off x="3456" y="3747"/>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80942" name="Group 46"/>
            <p:cNvGrpSpPr/>
            <p:nvPr/>
          </p:nvGrpSpPr>
          <p:grpSpPr>
            <a:xfrm>
              <a:off x="3744" y="2303"/>
              <a:ext cx="288" cy="329"/>
              <a:chOff x="3456" y="2443"/>
              <a:chExt cx="288" cy="338"/>
            </a:xfrm>
          </p:grpSpPr>
          <p:sp>
            <p:nvSpPr>
              <p:cNvPr id="838703" name="Oval 47"/>
              <p:cNvSpPr>
                <a:spLocks noChangeArrowheads="1"/>
              </p:cNvSpPr>
              <p:nvPr/>
            </p:nvSpPr>
            <p:spPr bwMode="auto">
              <a:xfrm>
                <a:off x="3456" y="2487"/>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44" name="Text Box 48"/>
              <p:cNvSpPr txBox="1"/>
              <p:nvPr/>
            </p:nvSpPr>
            <p:spPr>
              <a:xfrm>
                <a:off x="3467" y="2443"/>
                <a:ext cx="277" cy="338"/>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grpSp>
        <p:sp>
          <p:nvSpPr>
            <p:cNvPr id="80945" name="Text Box 49"/>
            <p:cNvSpPr txBox="1"/>
            <p:nvPr/>
          </p:nvSpPr>
          <p:spPr>
            <a:xfrm>
              <a:off x="3088" y="2770"/>
              <a:ext cx="265"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0946" name="Text Box 50"/>
            <p:cNvSpPr txBox="1"/>
            <p:nvPr/>
          </p:nvSpPr>
          <p:spPr>
            <a:xfrm>
              <a:off x="3467" y="3050"/>
              <a:ext cx="277"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0947" name="Text Box 51"/>
            <p:cNvSpPr txBox="1"/>
            <p:nvPr/>
          </p:nvSpPr>
          <p:spPr>
            <a:xfrm>
              <a:off x="3472" y="3705"/>
              <a:ext cx="265"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80948" name="Text Box 52"/>
            <p:cNvSpPr txBox="1"/>
            <p:nvPr/>
          </p:nvSpPr>
          <p:spPr>
            <a:xfrm>
              <a:off x="3803" y="3377"/>
              <a:ext cx="277"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80949" name="Line 53"/>
            <p:cNvSpPr/>
            <p:nvPr/>
          </p:nvSpPr>
          <p:spPr>
            <a:xfrm>
              <a:off x="4848" y="3663"/>
              <a:ext cx="240" cy="187"/>
            </a:xfrm>
            <a:prstGeom prst="line">
              <a:avLst/>
            </a:prstGeom>
            <a:ln w="28575" cap="flat" cmpd="sng">
              <a:solidFill>
                <a:schemeClr val="accent2"/>
              </a:solidFill>
              <a:prstDash val="solid"/>
              <a:round/>
              <a:headEnd type="none" w="med" len="med"/>
              <a:tailEnd type="none" w="med" len="med"/>
            </a:ln>
          </p:spPr>
        </p:sp>
        <p:sp>
          <p:nvSpPr>
            <p:cNvPr id="80950" name="Line 54"/>
            <p:cNvSpPr/>
            <p:nvPr/>
          </p:nvSpPr>
          <p:spPr>
            <a:xfrm flipH="1">
              <a:off x="4512" y="3242"/>
              <a:ext cx="528" cy="561"/>
            </a:xfrm>
            <a:prstGeom prst="line">
              <a:avLst/>
            </a:prstGeom>
            <a:ln w="28575" cap="flat" cmpd="sng">
              <a:solidFill>
                <a:schemeClr val="accent2"/>
              </a:solidFill>
              <a:prstDash val="solid"/>
              <a:round/>
              <a:headEnd type="none" w="med" len="med"/>
              <a:tailEnd type="none" w="med" len="med"/>
            </a:ln>
          </p:spPr>
        </p:sp>
        <p:sp>
          <p:nvSpPr>
            <p:cNvPr id="838711" name="Oval 55"/>
            <p:cNvSpPr>
              <a:spLocks noChangeArrowheads="1"/>
            </p:cNvSpPr>
            <p:nvPr/>
          </p:nvSpPr>
          <p:spPr bwMode="auto">
            <a:xfrm>
              <a:off x="4992" y="3009"/>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12" name="Oval 56"/>
            <p:cNvSpPr>
              <a:spLocks noChangeArrowheads="1"/>
            </p:cNvSpPr>
            <p:nvPr/>
          </p:nvSpPr>
          <p:spPr bwMode="auto">
            <a:xfrm>
              <a:off x="4608" y="3429"/>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13" name="Oval 57"/>
            <p:cNvSpPr>
              <a:spLocks noChangeArrowheads="1"/>
            </p:cNvSpPr>
            <p:nvPr/>
          </p:nvSpPr>
          <p:spPr bwMode="auto">
            <a:xfrm>
              <a:off x="4255" y="3756"/>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14" name="Oval 58"/>
            <p:cNvSpPr>
              <a:spLocks noChangeArrowheads="1"/>
            </p:cNvSpPr>
            <p:nvPr/>
          </p:nvSpPr>
          <p:spPr bwMode="auto">
            <a:xfrm>
              <a:off x="4944" y="3774"/>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55" name="Text Box 59"/>
            <p:cNvSpPr txBox="1"/>
            <p:nvPr/>
          </p:nvSpPr>
          <p:spPr>
            <a:xfrm>
              <a:off x="4992" y="3004"/>
              <a:ext cx="290"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80956" name="Text Box 60"/>
            <p:cNvSpPr txBox="1"/>
            <p:nvPr/>
          </p:nvSpPr>
          <p:spPr>
            <a:xfrm>
              <a:off x="4656" y="3424"/>
              <a:ext cx="202"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80957" name="Text Box 61"/>
            <p:cNvSpPr txBox="1"/>
            <p:nvPr/>
          </p:nvSpPr>
          <p:spPr>
            <a:xfrm>
              <a:off x="4272" y="3728"/>
              <a:ext cx="290" cy="329"/>
            </a:xfrm>
            <a:prstGeom prst="rect">
              <a:avLst/>
            </a:prstGeom>
            <a:noFill/>
            <a:ln w="38100">
              <a:noFill/>
            </a:ln>
          </p:spPr>
          <p:txBody>
            <a:bodyPr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sp>
          <p:nvSpPr>
            <p:cNvPr id="80958" name="Line 62"/>
            <p:cNvSpPr/>
            <p:nvPr/>
          </p:nvSpPr>
          <p:spPr>
            <a:xfrm flipH="1">
              <a:off x="4298" y="2869"/>
              <a:ext cx="288" cy="280"/>
            </a:xfrm>
            <a:prstGeom prst="line">
              <a:avLst/>
            </a:prstGeom>
            <a:ln w="28575" cap="flat" cmpd="sng">
              <a:solidFill>
                <a:schemeClr val="accent2"/>
              </a:solidFill>
              <a:prstDash val="solid"/>
              <a:round/>
              <a:headEnd type="none" w="med" len="med"/>
              <a:tailEnd type="none" w="med" len="med"/>
            </a:ln>
          </p:spPr>
        </p:sp>
        <p:sp>
          <p:nvSpPr>
            <p:cNvPr id="838719" name="Oval 63"/>
            <p:cNvSpPr>
              <a:spLocks noChangeArrowheads="1"/>
            </p:cNvSpPr>
            <p:nvPr/>
          </p:nvSpPr>
          <p:spPr bwMode="auto">
            <a:xfrm>
              <a:off x="4490" y="2682"/>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20" name="Oval 64"/>
            <p:cNvSpPr>
              <a:spLocks noChangeArrowheads="1"/>
            </p:cNvSpPr>
            <p:nvPr/>
          </p:nvSpPr>
          <p:spPr bwMode="auto">
            <a:xfrm>
              <a:off x="4106" y="3055"/>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61" name="Text Box 65"/>
            <p:cNvSpPr txBox="1"/>
            <p:nvPr/>
          </p:nvSpPr>
          <p:spPr>
            <a:xfrm>
              <a:off x="4513" y="2677"/>
              <a:ext cx="252"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80962" name="Text Box 66"/>
            <p:cNvSpPr txBox="1"/>
            <p:nvPr/>
          </p:nvSpPr>
          <p:spPr>
            <a:xfrm>
              <a:off x="4110" y="3012"/>
              <a:ext cx="290"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80963" name="Line 67"/>
            <p:cNvSpPr/>
            <p:nvPr/>
          </p:nvSpPr>
          <p:spPr>
            <a:xfrm>
              <a:off x="4752" y="2915"/>
              <a:ext cx="288" cy="140"/>
            </a:xfrm>
            <a:prstGeom prst="line">
              <a:avLst/>
            </a:prstGeom>
            <a:ln w="38100" cap="flat" cmpd="sng">
              <a:solidFill>
                <a:srgbClr val="009900"/>
              </a:solidFill>
              <a:prstDash val="solid"/>
              <a:round/>
              <a:headEnd type="none" w="med" len="med"/>
              <a:tailEnd type="none" w="med" len="med"/>
            </a:ln>
          </p:spPr>
        </p:sp>
        <p:sp>
          <p:nvSpPr>
            <p:cNvPr id="80964" name="Text Box 68"/>
            <p:cNvSpPr txBox="1"/>
            <p:nvPr/>
          </p:nvSpPr>
          <p:spPr>
            <a:xfrm>
              <a:off x="4992" y="3743"/>
              <a:ext cx="240" cy="329"/>
            </a:xfrm>
            <a:prstGeom prst="rect">
              <a:avLst/>
            </a:prstGeom>
            <a:noFill/>
            <a:ln w="38100">
              <a:noFill/>
            </a:ln>
          </p:spPr>
          <p:txBody>
            <a:bodyPr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grpSp>
      <p:grpSp>
        <p:nvGrpSpPr>
          <p:cNvPr id="6" name="组合 5"/>
          <p:cNvGrpSpPr/>
          <p:nvPr/>
        </p:nvGrpSpPr>
        <p:grpSpPr>
          <a:xfrm>
            <a:off x="3290570" y="3858895"/>
            <a:ext cx="3672840" cy="2016760"/>
            <a:chOff x="5517" y="6080"/>
            <a:chExt cx="5784" cy="3176"/>
          </a:xfrm>
        </p:grpSpPr>
        <p:grpSp>
          <p:nvGrpSpPr>
            <p:cNvPr id="80902" name="Group 6"/>
            <p:cNvGrpSpPr/>
            <p:nvPr/>
          </p:nvGrpSpPr>
          <p:grpSpPr>
            <a:xfrm>
              <a:off x="5858" y="6098"/>
              <a:ext cx="4920" cy="2974"/>
              <a:chOff x="384" y="507"/>
              <a:chExt cx="2112" cy="1338"/>
            </a:xfrm>
          </p:grpSpPr>
          <p:sp>
            <p:nvSpPr>
              <p:cNvPr id="80903" name="Line 7"/>
              <p:cNvSpPr/>
              <p:nvPr/>
            </p:nvSpPr>
            <p:spPr>
              <a:xfrm>
                <a:off x="2208" y="816"/>
                <a:ext cx="144" cy="336"/>
              </a:xfrm>
              <a:prstGeom prst="line">
                <a:avLst/>
              </a:prstGeom>
              <a:ln w="28575" cap="flat" cmpd="sng">
                <a:solidFill>
                  <a:schemeClr val="accent2"/>
                </a:solidFill>
                <a:prstDash val="solid"/>
                <a:round/>
                <a:headEnd type="none" w="med" len="med"/>
                <a:tailEnd type="none" w="med" len="med"/>
              </a:ln>
            </p:spPr>
          </p:sp>
          <p:sp>
            <p:nvSpPr>
              <p:cNvPr id="80904" name="Line 8"/>
              <p:cNvSpPr/>
              <p:nvPr/>
            </p:nvSpPr>
            <p:spPr>
              <a:xfrm flipH="1">
                <a:off x="1968" y="816"/>
                <a:ext cx="144" cy="336"/>
              </a:xfrm>
              <a:prstGeom prst="line">
                <a:avLst/>
              </a:prstGeom>
              <a:ln w="28575" cap="flat" cmpd="sng">
                <a:solidFill>
                  <a:schemeClr val="accent2"/>
                </a:solidFill>
                <a:prstDash val="solid"/>
                <a:round/>
                <a:headEnd type="none" w="med" len="med"/>
                <a:tailEnd type="none" w="med" len="med"/>
              </a:ln>
            </p:spPr>
          </p:sp>
          <p:sp>
            <p:nvSpPr>
              <p:cNvPr id="80905" name="Line 9"/>
              <p:cNvSpPr/>
              <p:nvPr/>
            </p:nvSpPr>
            <p:spPr>
              <a:xfrm>
                <a:off x="912" y="816"/>
                <a:ext cx="240" cy="288"/>
              </a:xfrm>
              <a:prstGeom prst="line">
                <a:avLst/>
              </a:prstGeom>
              <a:ln w="28575" cap="flat" cmpd="sng">
                <a:solidFill>
                  <a:schemeClr val="accent2"/>
                </a:solidFill>
                <a:prstDash val="solid"/>
                <a:round/>
                <a:headEnd type="none" w="med" len="med"/>
                <a:tailEnd type="none" w="med" len="med"/>
              </a:ln>
            </p:spPr>
          </p:sp>
          <p:sp>
            <p:nvSpPr>
              <p:cNvPr id="80906" name="Line 10"/>
              <p:cNvSpPr/>
              <p:nvPr/>
            </p:nvSpPr>
            <p:spPr>
              <a:xfrm flipH="1">
                <a:off x="576" y="816"/>
                <a:ext cx="240" cy="288"/>
              </a:xfrm>
              <a:prstGeom prst="line">
                <a:avLst/>
              </a:prstGeom>
              <a:ln w="28575" cap="flat" cmpd="sng">
                <a:solidFill>
                  <a:schemeClr val="accent2"/>
                </a:solidFill>
                <a:prstDash val="solid"/>
                <a:round/>
                <a:headEnd type="none" w="med" len="med"/>
                <a:tailEnd type="none" w="med" len="med"/>
              </a:ln>
            </p:spPr>
          </p:sp>
          <p:sp>
            <p:nvSpPr>
              <p:cNvPr id="80907" name="Line 11"/>
              <p:cNvSpPr/>
              <p:nvPr/>
            </p:nvSpPr>
            <p:spPr>
              <a:xfrm>
                <a:off x="1968" y="1296"/>
                <a:ext cx="0" cy="288"/>
              </a:xfrm>
              <a:prstGeom prst="line">
                <a:avLst/>
              </a:prstGeom>
              <a:ln w="28575" cap="flat" cmpd="sng">
                <a:solidFill>
                  <a:schemeClr val="accent2"/>
                </a:solidFill>
                <a:prstDash val="solid"/>
                <a:round/>
                <a:headEnd type="none" w="med" len="med"/>
                <a:tailEnd type="none" w="med" len="med"/>
              </a:ln>
            </p:spPr>
          </p:sp>
          <p:sp>
            <p:nvSpPr>
              <p:cNvPr id="80908" name="Line 12"/>
              <p:cNvSpPr/>
              <p:nvPr/>
            </p:nvSpPr>
            <p:spPr>
              <a:xfrm>
                <a:off x="1200" y="1296"/>
                <a:ext cx="0" cy="288"/>
              </a:xfrm>
              <a:prstGeom prst="line">
                <a:avLst/>
              </a:prstGeom>
              <a:ln w="28575" cap="flat" cmpd="sng">
                <a:solidFill>
                  <a:schemeClr val="accent2"/>
                </a:solidFill>
                <a:prstDash val="solid"/>
                <a:round/>
                <a:headEnd type="none" w="med" len="med"/>
                <a:tailEnd type="none" w="med" len="med"/>
              </a:ln>
            </p:spPr>
          </p:sp>
          <p:sp>
            <p:nvSpPr>
              <p:cNvPr id="80909" name="Line 13"/>
              <p:cNvSpPr/>
              <p:nvPr/>
            </p:nvSpPr>
            <p:spPr>
              <a:xfrm>
                <a:off x="1584" y="816"/>
                <a:ext cx="0" cy="288"/>
              </a:xfrm>
              <a:prstGeom prst="line">
                <a:avLst/>
              </a:prstGeom>
              <a:ln w="28575" cap="flat" cmpd="sng">
                <a:solidFill>
                  <a:schemeClr val="accent2"/>
                </a:solidFill>
                <a:prstDash val="solid"/>
                <a:round/>
                <a:headEnd type="none" w="med" len="med"/>
                <a:tailEnd type="none" w="med" len="med"/>
              </a:ln>
            </p:spPr>
          </p:sp>
          <p:sp>
            <p:nvSpPr>
              <p:cNvPr id="80910" name="Line 14"/>
              <p:cNvSpPr/>
              <p:nvPr/>
            </p:nvSpPr>
            <p:spPr>
              <a:xfrm>
                <a:off x="864" y="816"/>
                <a:ext cx="0" cy="288"/>
              </a:xfrm>
              <a:prstGeom prst="line">
                <a:avLst/>
              </a:prstGeom>
              <a:ln w="28575" cap="flat" cmpd="sng">
                <a:solidFill>
                  <a:schemeClr val="accent2"/>
                </a:solidFill>
                <a:prstDash val="solid"/>
                <a:round/>
                <a:headEnd type="none" w="med" len="med"/>
                <a:tailEnd type="none" w="med" len="med"/>
              </a:ln>
            </p:spPr>
          </p:sp>
          <p:sp>
            <p:nvSpPr>
              <p:cNvPr id="838671" name="Oval 15"/>
              <p:cNvSpPr>
                <a:spLocks noChangeArrowheads="1"/>
              </p:cNvSpPr>
              <p:nvPr/>
            </p:nvSpPr>
            <p:spPr bwMode="auto">
              <a:xfrm>
                <a:off x="384"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2" name="Oval 16"/>
              <p:cNvSpPr>
                <a:spLocks noChangeArrowheads="1"/>
              </p:cNvSpPr>
              <p:nvPr/>
            </p:nvSpPr>
            <p:spPr bwMode="auto">
              <a:xfrm>
                <a:off x="720"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3" name="Oval 17"/>
              <p:cNvSpPr>
                <a:spLocks noChangeArrowheads="1"/>
              </p:cNvSpPr>
              <p:nvPr/>
            </p:nvSpPr>
            <p:spPr bwMode="auto">
              <a:xfrm>
                <a:off x="1056" y="1056"/>
                <a:ext cx="289"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4" name="Oval 18"/>
              <p:cNvSpPr>
                <a:spLocks noChangeArrowheads="1"/>
              </p:cNvSpPr>
              <p:nvPr/>
            </p:nvSpPr>
            <p:spPr bwMode="auto">
              <a:xfrm>
                <a:off x="1440"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5" name="Oval 19"/>
              <p:cNvSpPr>
                <a:spLocks noChangeArrowheads="1"/>
              </p:cNvSpPr>
              <p:nvPr/>
            </p:nvSpPr>
            <p:spPr bwMode="auto">
              <a:xfrm>
                <a:off x="1824"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6" name="Oval 20"/>
              <p:cNvSpPr>
                <a:spLocks noChangeArrowheads="1"/>
              </p:cNvSpPr>
              <p:nvPr/>
            </p:nvSpPr>
            <p:spPr bwMode="auto">
              <a:xfrm>
                <a:off x="2208"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7" name="Oval 21"/>
              <p:cNvSpPr>
                <a:spLocks noChangeArrowheads="1"/>
              </p:cNvSpPr>
              <p:nvPr/>
            </p:nvSpPr>
            <p:spPr bwMode="auto">
              <a:xfrm>
                <a:off x="1056" y="1536"/>
                <a:ext cx="289"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8" name="Oval 22"/>
              <p:cNvSpPr>
                <a:spLocks noChangeArrowheads="1"/>
              </p:cNvSpPr>
              <p:nvPr/>
            </p:nvSpPr>
            <p:spPr bwMode="auto">
              <a:xfrm>
                <a:off x="1824" y="153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9" name="Oval 23"/>
              <p:cNvSpPr>
                <a:spLocks noChangeArrowheads="1"/>
              </p:cNvSpPr>
              <p:nvPr/>
            </p:nvSpPr>
            <p:spPr bwMode="auto">
              <a:xfrm>
                <a:off x="720"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80" name="Oval 24"/>
              <p:cNvSpPr>
                <a:spLocks noChangeArrowheads="1"/>
              </p:cNvSpPr>
              <p:nvPr/>
            </p:nvSpPr>
            <p:spPr bwMode="auto">
              <a:xfrm>
                <a:off x="1440"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81" name="Oval 25"/>
              <p:cNvSpPr>
                <a:spLocks noChangeArrowheads="1"/>
              </p:cNvSpPr>
              <p:nvPr/>
            </p:nvSpPr>
            <p:spPr bwMode="auto">
              <a:xfrm>
                <a:off x="2016"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22" name="Text Box 26"/>
              <p:cNvSpPr txBox="1"/>
              <p:nvPr/>
            </p:nvSpPr>
            <p:spPr>
              <a:xfrm>
                <a:off x="720" y="51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0923" name="Text Box 27"/>
              <p:cNvSpPr txBox="1"/>
              <p:nvPr/>
            </p:nvSpPr>
            <p:spPr>
              <a:xfrm>
                <a:off x="1466" y="507"/>
                <a:ext cx="270"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80924" name="Text Box 28"/>
              <p:cNvSpPr txBox="1"/>
              <p:nvPr/>
            </p:nvSpPr>
            <p:spPr>
              <a:xfrm>
                <a:off x="2010" y="507"/>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80925" name="Text Box 29"/>
              <p:cNvSpPr txBox="1"/>
              <p:nvPr/>
            </p:nvSpPr>
            <p:spPr>
              <a:xfrm>
                <a:off x="390" y="996"/>
                <a:ext cx="28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0926" name="Text Box 30"/>
              <p:cNvSpPr txBox="1"/>
              <p:nvPr/>
            </p:nvSpPr>
            <p:spPr>
              <a:xfrm>
                <a:off x="720" y="99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0927" name="Text Box 31"/>
              <p:cNvSpPr txBox="1"/>
              <p:nvPr/>
            </p:nvSpPr>
            <p:spPr>
              <a:xfrm>
                <a:off x="1057" y="99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80928" name="Text Box 32"/>
              <p:cNvSpPr txBox="1"/>
              <p:nvPr/>
            </p:nvSpPr>
            <p:spPr>
              <a:xfrm>
                <a:off x="1434" y="996"/>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80929" name="Text Box 33"/>
              <p:cNvSpPr txBox="1"/>
              <p:nvPr/>
            </p:nvSpPr>
            <p:spPr>
              <a:xfrm>
                <a:off x="1864" y="996"/>
                <a:ext cx="21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80930" name="Text Box 34"/>
              <p:cNvSpPr txBox="1"/>
              <p:nvPr/>
            </p:nvSpPr>
            <p:spPr>
              <a:xfrm>
                <a:off x="2236" y="996"/>
                <a:ext cx="24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sp>
            <p:nvSpPr>
              <p:cNvPr id="80931" name="Text Box 35"/>
              <p:cNvSpPr txBox="1"/>
              <p:nvPr/>
            </p:nvSpPr>
            <p:spPr>
              <a:xfrm>
                <a:off x="1062" y="1475"/>
                <a:ext cx="28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80932" name="Text Box 36"/>
              <p:cNvSpPr txBox="1"/>
              <p:nvPr/>
            </p:nvSpPr>
            <p:spPr>
              <a:xfrm>
                <a:off x="1818" y="1475"/>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grpSp>
        <p:sp>
          <p:nvSpPr>
            <p:cNvPr id="5" name="矩形 4"/>
            <p:cNvSpPr/>
            <p:nvPr/>
          </p:nvSpPr>
          <p:spPr>
            <a:xfrm>
              <a:off x="5517" y="6080"/>
              <a:ext cx="5784" cy="3176"/>
            </a:xfrm>
            <a:prstGeom prst="rect">
              <a:avLst/>
            </a:prstGeom>
            <a:noFill/>
            <a:ln w="19050"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二叉树转森林</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二叉树根结点，按右孩子关系划分出多棵右子树</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noProof="0" smtClean="0">
                <a:ln>
                  <a:noFill/>
                </a:ln>
                <a:effectLst/>
                <a:uLnTx/>
                <a:uFillTx/>
                <a:latin typeface="黑体" panose="02010609060101010101" pitchFamily="2" charset="-122"/>
                <a:ea typeface="黑体" panose="02010609060101010101" pitchFamily="2" charset="-122"/>
                <a:cs typeface="+mn-ea"/>
                <a:sym typeface="+mn-ea"/>
              </a:rPr>
              <a:t>划分后每棵右子树的二叉树转换为一棵树，最后形成一个森林</a:t>
            </a:r>
            <a:endParaRPr lang="en-US" altLang="zh-CN" noProof="0" smtClean="0">
              <a:ln>
                <a:noFill/>
              </a:ln>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如果二叉树的根结点带右子树</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那么该二叉树对应一个森林</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rPr>
              <a:t>因为森林有多个根结点按右孩子关系接入</a:t>
            </a:r>
            <a:endParaRPr lang="zh-CN" altLang="en-US"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80933" name="Group 37"/>
          <p:cNvGrpSpPr/>
          <p:nvPr/>
        </p:nvGrpSpPr>
        <p:grpSpPr>
          <a:xfrm>
            <a:off x="971550" y="3627163"/>
            <a:ext cx="3508375" cy="2808244"/>
            <a:chOff x="3072" y="2303"/>
            <a:chExt cx="2210" cy="1769"/>
          </a:xfrm>
        </p:grpSpPr>
        <p:sp>
          <p:nvSpPr>
            <p:cNvPr id="80934" name="Line 38"/>
            <p:cNvSpPr/>
            <p:nvPr/>
          </p:nvSpPr>
          <p:spPr>
            <a:xfrm>
              <a:off x="4032" y="2541"/>
              <a:ext cx="480" cy="234"/>
            </a:xfrm>
            <a:prstGeom prst="line">
              <a:avLst/>
            </a:prstGeom>
            <a:ln w="38100" cap="flat" cmpd="sng">
              <a:solidFill>
                <a:srgbClr val="009900"/>
              </a:solidFill>
              <a:prstDash val="solid"/>
              <a:round/>
              <a:headEnd type="none" w="med" len="med"/>
              <a:tailEnd type="none" w="med" len="med"/>
            </a:ln>
          </p:spPr>
        </p:sp>
        <p:sp>
          <p:nvSpPr>
            <p:cNvPr id="80935" name="Line 39"/>
            <p:cNvSpPr/>
            <p:nvPr/>
          </p:nvSpPr>
          <p:spPr>
            <a:xfrm flipH="1">
              <a:off x="3648" y="3607"/>
              <a:ext cx="240" cy="234"/>
            </a:xfrm>
            <a:prstGeom prst="line">
              <a:avLst/>
            </a:prstGeom>
            <a:ln w="28575" cap="flat" cmpd="sng">
              <a:solidFill>
                <a:schemeClr val="accent2"/>
              </a:solidFill>
              <a:prstDash val="solid"/>
              <a:round/>
              <a:headEnd type="none" w="med" len="med"/>
              <a:tailEnd type="none" w="med" len="med"/>
            </a:ln>
          </p:spPr>
        </p:sp>
        <p:sp>
          <p:nvSpPr>
            <p:cNvPr id="80936" name="Line 40"/>
            <p:cNvSpPr/>
            <p:nvPr/>
          </p:nvSpPr>
          <p:spPr>
            <a:xfrm>
              <a:off x="3264" y="2953"/>
              <a:ext cx="624" cy="561"/>
            </a:xfrm>
            <a:prstGeom prst="line">
              <a:avLst/>
            </a:prstGeom>
            <a:ln w="28575" cap="flat" cmpd="sng">
              <a:solidFill>
                <a:schemeClr val="accent2"/>
              </a:solidFill>
              <a:prstDash val="solid"/>
              <a:round/>
              <a:headEnd type="none" w="med" len="med"/>
              <a:tailEnd type="none" w="med" len="med"/>
            </a:ln>
          </p:spPr>
        </p:sp>
        <p:sp>
          <p:nvSpPr>
            <p:cNvPr id="80937" name="Line 41"/>
            <p:cNvSpPr/>
            <p:nvPr/>
          </p:nvSpPr>
          <p:spPr>
            <a:xfrm flipH="1">
              <a:off x="3264" y="2588"/>
              <a:ext cx="528" cy="318"/>
            </a:xfrm>
            <a:prstGeom prst="line">
              <a:avLst/>
            </a:prstGeom>
            <a:ln w="28575" cap="flat" cmpd="sng">
              <a:solidFill>
                <a:schemeClr val="accent2"/>
              </a:solidFill>
              <a:prstDash val="solid"/>
              <a:round/>
              <a:headEnd type="none" w="med" len="med"/>
              <a:tailEnd type="none" w="med" len="med"/>
            </a:ln>
          </p:spPr>
        </p:sp>
        <p:sp>
          <p:nvSpPr>
            <p:cNvPr id="838698" name="Oval 42"/>
            <p:cNvSpPr>
              <a:spLocks noChangeArrowheads="1"/>
            </p:cNvSpPr>
            <p:nvPr/>
          </p:nvSpPr>
          <p:spPr bwMode="auto">
            <a:xfrm>
              <a:off x="3072" y="2813"/>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99" name="Oval 43"/>
            <p:cNvSpPr>
              <a:spLocks noChangeArrowheads="1"/>
            </p:cNvSpPr>
            <p:nvPr/>
          </p:nvSpPr>
          <p:spPr bwMode="auto">
            <a:xfrm>
              <a:off x="3792" y="3420"/>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00" name="Oval 44"/>
            <p:cNvSpPr>
              <a:spLocks noChangeArrowheads="1"/>
            </p:cNvSpPr>
            <p:nvPr/>
          </p:nvSpPr>
          <p:spPr bwMode="auto">
            <a:xfrm>
              <a:off x="3456" y="3093"/>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01" name="Oval 45"/>
            <p:cNvSpPr>
              <a:spLocks noChangeArrowheads="1"/>
            </p:cNvSpPr>
            <p:nvPr/>
          </p:nvSpPr>
          <p:spPr bwMode="auto">
            <a:xfrm>
              <a:off x="3456" y="3747"/>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80942" name="Group 46"/>
            <p:cNvGrpSpPr/>
            <p:nvPr/>
          </p:nvGrpSpPr>
          <p:grpSpPr>
            <a:xfrm>
              <a:off x="3744" y="2303"/>
              <a:ext cx="288" cy="329"/>
              <a:chOff x="3456" y="2443"/>
              <a:chExt cx="288" cy="338"/>
            </a:xfrm>
          </p:grpSpPr>
          <p:sp>
            <p:nvSpPr>
              <p:cNvPr id="838703" name="Oval 47"/>
              <p:cNvSpPr>
                <a:spLocks noChangeArrowheads="1"/>
              </p:cNvSpPr>
              <p:nvPr/>
            </p:nvSpPr>
            <p:spPr bwMode="auto">
              <a:xfrm>
                <a:off x="3456" y="2487"/>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44" name="Text Box 48"/>
              <p:cNvSpPr txBox="1"/>
              <p:nvPr/>
            </p:nvSpPr>
            <p:spPr>
              <a:xfrm>
                <a:off x="3467" y="2443"/>
                <a:ext cx="277" cy="338"/>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grpSp>
        <p:sp>
          <p:nvSpPr>
            <p:cNvPr id="80945" name="Text Box 49"/>
            <p:cNvSpPr txBox="1"/>
            <p:nvPr/>
          </p:nvSpPr>
          <p:spPr>
            <a:xfrm>
              <a:off x="3088" y="2770"/>
              <a:ext cx="265"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0946" name="Text Box 50"/>
            <p:cNvSpPr txBox="1"/>
            <p:nvPr/>
          </p:nvSpPr>
          <p:spPr>
            <a:xfrm>
              <a:off x="3467" y="3050"/>
              <a:ext cx="277"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0947" name="Text Box 51"/>
            <p:cNvSpPr txBox="1"/>
            <p:nvPr/>
          </p:nvSpPr>
          <p:spPr>
            <a:xfrm>
              <a:off x="3472" y="3705"/>
              <a:ext cx="265"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80948" name="Text Box 52"/>
            <p:cNvSpPr txBox="1"/>
            <p:nvPr/>
          </p:nvSpPr>
          <p:spPr>
            <a:xfrm>
              <a:off x="3803" y="3377"/>
              <a:ext cx="277"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80949" name="Line 53"/>
            <p:cNvSpPr/>
            <p:nvPr/>
          </p:nvSpPr>
          <p:spPr>
            <a:xfrm>
              <a:off x="4848" y="3663"/>
              <a:ext cx="240" cy="187"/>
            </a:xfrm>
            <a:prstGeom prst="line">
              <a:avLst/>
            </a:prstGeom>
            <a:ln w="28575" cap="flat" cmpd="sng">
              <a:solidFill>
                <a:schemeClr val="accent2"/>
              </a:solidFill>
              <a:prstDash val="solid"/>
              <a:round/>
              <a:headEnd type="none" w="med" len="med"/>
              <a:tailEnd type="none" w="med" len="med"/>
            </a:ln>
          </p:spPr>
        </p:sp>
        <p:sp>
          <p:nvSpPr>
            <p:cNvPr id="80950" name="Line 54"/>
            <p:cNvSpPr/>
            <p:nvPr/>
          </p:nvSpPr>
          <p:spPr>
            <a:xfrm flipH="1">
              <a:off x="4512" y="3242"/>
              <a:ext cx="528" cy="561"/>
            </a:xfrm>
            <a:prstGeom prst="line">
              <a:avLst/>
            </a:prstGeom>
            <a:ln w="28575" cap="flat" cmpd="sng">
              <a:solidFill>
                <a:schemeClr val="accent2"/>
              </a:solidFill>
              <a:prstDash val="solid"/>
              <a:round/>
              <a:headEnd type="none" w="med" len="med"/>
              <a:tailEnd type="none" w="med" len="med"/>
            </a:ln>
          </p:spPr>
        </p:sp>
        <p:sp>
          <p:nvSpPr>
            <p:cNvPr id="838711" name="Oval 55"/>
            <p:cNvSpPr>
              <a:spLocks noChangeArrowheads="1"/>
            </p:cNvSpPr>
            <p:nvPr/>
          </p:nvSpPr>
          <p:spPr bwMode="auto">
            <a:xfrm>
              <a:off x="4992" y="3009"/>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12" name="Oval 56"/>
            <p:cNvSpPr>
              <a:spLocks noChangeArrowheads="1"/>
            </p:cNvSpPr>
            <p:nvPr/>
          </p:nvSpPr>
          <p:spPr bwMode="auto">
            <a:xfrm>
              <a:off x="4608" y="3429"/>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13" name="Oval 57"/>
            <p:cNvSpPr>
              <a:spLocks noChangeArrowheads="1"/>
            </p:cNvSpPr>
            <p:nvPr/>
          </p:nvSpPr>
          <p:spPr bwMode="auto">
            <a:xfrm>
              <a:off x="4255" y="3756"/>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14" name="Oval 58"/>
            <p:cNvSpPr>
              <a:spLocks noChangeArrowheads="1"/>
            </p:cNvSpPr>
            <p:nvPr/>
          </p:nvSpPr>
          <p:spPr bwMode="auto">
            <a:xfrm>
              <a:off x="4944" y="3774"/>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55" name="Text Box 59"/>
            <p:cNvSpPr txBox="1"/>
            <p:nvPr/>
          </p:nvSpPr>
          <p:spPr>
            <a:xfrm>
              <a:off x="4992" y="3004"/>
              <a:ext cx="290"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80956" name="Text Box 60"/>
            <p:cNvSpPr txBox="1"/>
            <p:nvPr/>
          </p:nvSpPr>
          <p:spPr>
            <a:xfrm>
              <a:off x="4656" y="3424"/>
              <a:ext cx="202"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80957" name="Text Box 61"/>
            <p:cNvSpPr txBox="1"/>
            <p:nvPr/>
          </p:nvSpPr>
          <p:spPr>
            <a:xfrm>
              <a:off x="4272" y="3728"/>
              <a:ext cx="290" cy="329"/>
            </a:xfrm>
            <a:prstGeom prst="rect">
              <a:avLst/>
            </a:prstGeom>
            <a:noFill/>
            <a:ln w="38100">
              <a:noFill/>
            </a:ln>
          </p:spPr>
          <p:txBody>
            <a:bodyPr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sp>
          <p:nvSpPr>
            <p:cNvPr id="80958" name="Line 62"/>
            <p:cNvSpPr/>
            <p:nvPr/>
          </p:nvSpPr>
          <p:spPr>
            <a:xfrm flipH="1">
              <a:off x="4298" y="2869"/>
              <a:ext cx="288" cy="280"/>
            </a:xfrm>
            <a:prstGeom prst="line">
              <a:avLst/>
            </a:prstGeom>
            <a:ln w="28575" cap="flat" cmpd="sng">
              <a:solidFill>
                <a:schemeClr val="accent2"/>
              </a:solidFill>
              <a:prstDash val="solid"/>
              <a:round/>
              <a:headEnd type="none" w="med" len="med"/>
              <a:tailEnd type="none" w="med" len="med"/>
            </a:ln>
          </p:spPr>
        </p:sp>
        <p:sp>
          <p:nvSpPr>
            <p:cNvPr id="838719" name="Oval 63"/>
            <p:cNvSpPr>
              <a:spLocks noChangeArrowheads="1"/>
            </p:cNvSpPr>
            <p:nvPr/>
          </p:nvSpPr>
          <p:spPr bwMode="auto">
            <a:xfrm>
              <a:off x="4490" y="2682"/>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20" name="Oval 64"/>
            <p:cNvSpPr>
              <a:spLocks noChangeArrowheads="1"/>
            </p:cNvSpPr>
            <p:nvPr/>
          </p:nvSpPr>
          <p:spPr bwMode="auto">
            <a:xfrm>
              <a:off x="4106" y="3055"/>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61" name="Text Box 65"/>
            <p:cNvSpPr txBox="1"/>
            <p:nvPr/>
          </p:nvSpPr>
          <p:spPr>
            <a:xfrm>
              <a:off x="4513" y="2677"/>
              <a:ext cx="252"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80962" name="Text Box 66"/>
            <p:cNvSpPr txBox="1"/>
            <p:nvPr/>
          </p:nvSpPr>
          <p:spPr>
            <a:xfrm>
              <a:off x="4110" y="3012"/>
              <a:ext cx="290"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80963" name="Line 67"/>
            <p:cNvSpPr/>
            <p:nvPr/>
          </p:nvSpPr>
          <p:spPr>
            <a:xfrm>
              <a:off x="4752" y="2915"/>
              <a:ext cx="288" cy="140"/>
            </a:xfrm>
            <a:prstGeom prst="line">
              <a:avLst/>
            </a:prstGeom>
            <a:ln w="38100" cap="flat" cmpd="sng">
              <a:solidFill>
                <a:srgbClr val="009900"/>
              </a:solidFill>
              <a:prstDash val="solid"/>
              <a:round/>
              <a:headEnd type="none" w="med" len="med"/>
              <a:tailEnd type="none" w="med" len="med"/>
            </a:ln>
          </p:spPr>
        </p:sp>
        <p:sp>
          <p:nvSpPr>
            <p:cNvPr id="80964" name="Text Box 68"/>
            <p:cNvSpPr txBox="1"/>
            <p:nvPr/>
          </p:nvSpPr>
          <p:spPr>
            <a:xfrm>
              <a:off x="4992" y="3743"/>
              <a:ext cx="240" cy="329"/>
            </a:xfrm>
            <a:prstGeom prst="rect">
              <a:avLst/>
            </a:prstGeom>
            <a:noFill/>
            <a:ln w="38100">
              <a:noFill/>
            </a:ln>
          </p:spPr>
          <p:txBody>
            <a:bodyPr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grpSp>
      <p:grpSp>
        <p:nvGrpSpPr>
          <p:cNvPr id="6" name="组合 5"/>
          <p:cNvGrpSpPr/>
          <p:nvPr/>
        </p:nvGrpSpPr>
        <p:grpSpPr>
          <a:xfrm>
            <a:off x="6023610" y="3902710"/>
            <a:ext cx="3672840" cy="2016760"/>
            <a:chOff x="5517" y="6080"/>
            <a:chExt cx="5784" cy="3176"/>
          </a:xfrm>
        </p:grpSpPr>
        <p:grpSp>
          <p:nvGrpSpPr>
            <p:cNvPr id="80902" name="Group 6"/>
            <p:cNvGrpSpPr/>
            <p:nvPr/>
          </p:nvGrpSpPr>
          <p:grpSpPr>
            <a:xfrm>
              <a:off x="5858" y="6098"/>
              <a:ext cx="4920" cy="2974"/>
              <a:chOff x="384" y="507"/>
              <a:chExt cx="2112" cy="1338"/>
            </a:xfrm>
          </p:grpSpPr>
          <p:sp>
            <p:nvSpPr>
              <p:cNvPr id="80903" name="Line 7"/>
              <p:cNvSpPr/>
              <p:nvPr/>
            </p:nvSpPr>
            <p:spPr>
              <a:xfrm>
                <a:off x="2208" y="816"/>
                <a:ext cx="144" cy="336"/>
              </a:xfrm>
              <a:prstGeom prst="line">
                <a:avLst/>
              </a:prstGeom>
              <a:ln w="28575" cap="flat" cmpd="sng">
                <a:solidFill>
                  <a:schemeClr val="accent2"/>
                </a:solidFill>
                <a:prstDash val="solid"/>
                <a:round/>
                <a:headEnd type="none" w="med" len="med"/>
                <a:tailEnd type="none" w="med" len="med"/>
              </a:ln>
            </p:spPr>
          </p:sp>
          <p:sp>
            <p:nvSpPr>
              <p:cNvPr id="80904" name="Line 8"/>
              <p:cNvSpPr/>
              <p:nvPr/>
            </p:nvSpPr>
            <p:spPr>
              <a:xfrm flipH="1">
                <a:off x="1968" y="816"/>
                <a:ext cx="144" cy="336"/>
              </a:xfrm>
              <a:prstGeom prst="line">
                <a:avLst/>
              </a:prstGeom>
              <a:ln w="28575" cap="flat" cmpd="sng">
                <a:solidFill>
                  <a:schemeClr val="accent2"/>
                </a:solidFill>
                <a:prstDash val="solid"/>
                <a:round/>
                <a:headEnd type="none" w="med" len="med"/>
                <a:tailEnd type="none" w="med" len="med"/>
              </a:ln>
            </p:spPr>
          </p:sp>
          <p:sp>
            <p:nvSpPr>
              <p:cNvPr id="80905" name="Line 9"/>
              <p:cNvSpPr/>
              <p:nvPr/>
            </p:nvSpPr>
            <p:spPr>
              <a:xfrm>
                <a:off x="912" y="816"/>
                <a:ext cx="240" cy="288"/>
              </a:xfrm>
              <a:prstGeom prst="line">
                <a:avLst/>
              </a:prstGeom>
              <a:ln w="28575" cap="flat" cmpd="sng">
                <a:solidFill>
                  <a:schemeClr val="accent2"/>
                </a:solidFill>
                <a:prstDash val="solid"/>
                <a:round/>
                <a:headEnd type="none" w="med" len="med"/>
                <a:tailEnd type="none" w="med" len="med"/>
              </a:ln>
            </p:spPr>
          </p:sp>
          <p:sp>
            <p:nvSpPr>
              <p:cNvPr id="80906" name="Line 10"/>
              <p:cNvSpPr/>
              <p:nvPr/>
            </p:nvSpPr>
            <p:spPr>
              <a:xfrm flipH="1">
                <a:off x="576" y="816"/>
                <a:ext cx="240" cy="288"/>
              </a:xfrm>
              <a:prstGeom prst="line">
                <a:avLst/>
              </a:prstGeom>
              <a:ln w="28575" cap="flat" cmpd="sng">
                <a:solidFill>
                  <a:schemeClr val="accent2"/>
                </a:solidFill>
                <a:prstDash val="solid"/>
                <a:round/>
                <a:headEnd type="none" w="med" len="med"/>
                <a:tailEnd type="none" w="med" len="med"/>
              </a:ln>
            </p:spPr>
          </p:sp>
          <p:sp>
            <p:nvSpPr>
              <p:cNvPr id="80907" name="Line 11"/>
              <p:cNvSpPr/>
              <p:nvPr/>
            </p:nvSpPr>
            <p:spPr>
              <a:xfrm>
                <a:off x="1968" y="1296"/>
                <a:ext cx="0" cy="288"/>
              </a:xfrm>
              <a:prstGeom prst="line">
                <a:avLst/>
              </a:prstGeom>
              <a:ln w="28575" cap="flat" cmpd="sng">
                <a:solidFill>
                  <a:schemeClr val="accent2"/>
                </a:solidFill>
                <a:prstDash val="solid"/>
                <a:round/>
                <a:headEnd type="none" w="med" len="med"/>
                <a:tailEnd type="none" w="med" len="med"/>
              </a:ln>
            </p:spPr>
          </p:sp>
          <p:sp>
            <p:nvSpPr>
              <p:cNvPr id="80908" name="Line 12"/>
              <p:cNvSpPr/>
              <p:nvPr/>
            </p:nvSpPr>
            <p:spPr>
              <a:xfrm>
                <a:off x="1200" y="1296"/>
                <a:ext cx="0" cy="288"/>
              </a:xfrm>
              <a:prstGeom prst="line">
                <a:avLst/>
              </a:prstGeom>
              <a:ln w="28575" cap="flat" cmpd="sng">
                <a:solidFill>
                  <a:schemeClr val="accent2"/>
                </a:solidFill>
                <a:prstDash val="solid"/>
                <a:round/>
                <a:headEnd type="none" w="med" len="med"/>
                <a:tailEnd type="none" w="med" len="med"/>
              </a:ln>
            </p:spPr>
          </p:sp>
          <p:sp>
            <p:nvSpPr>
              <p:cNvPr id="80909" name="Line 13"/>
              <p:cNvSpPr/>
              <p:nvPr/>
            </p:nvSpPr>
            <p:spPr>
              <a:xfrm>
                <a:off x="1584" y="816"/>
                <a:ext cx="0" cy="288"/>
              </a:xfrm>
              <a:prstGeom prst="line">
                <a:avLst/>
              </a:prstGeom>
              <a:ln w="28575" cap="flat" cmpd="sng">
                <a:solidFill>
                  <a:schemeClr val="accent2"/>
                </a:solidFill>
                <a:prstDash val="solid"/>
                <a:round/>
                <a:headEnd type="none" w="med" len="med"/>
                <a:tailEnd type="none" w="med" len="med"/>
              </a:ln>
            </p:spPr>
          </p:sp>
          <p:sp>
            <p:nvSpPr>
              <p:cNvPr id="80910" name="Line 14"/>
              <p:cNvSpPr/>
              <p:nvPr/>
            </p:nvSpPr>
            <p:spPr>
              <a:xfrm>
                <a:off x="864" y="816"/>
                <a:ext cx="0" cy="288"/>
              </a:xfrm>
              <a:prstGeom prst="line">
                <a:avLst/>
              </a:prstGeom>
              <a:ln w="28575" cap="flat" cmpd="sng">
                <a:solidFill>
                  <a:schemeClr val="accent2"/>
                </a:solidFill>
                <a:prstDash val="solid"/>
                <a:round/>
                <a:headEnd type="none" w="med" len="med"/>
                <a:tailEnd type="none" w="med" len="med"/>
              </a:ln>
            </p:spPr>
          </p:sp>
          <p:sp>
            <p:nvSpPr>
              <p:cNvPr id="838671" name="Oval 15"/>
              <p:cNvSpPr>
                <a:spLocks noChangeArrowheads="1"/>
              </p:cNvSpPr>
              <p:nvPr/>
            </p:nvSpPr>
            <p:spPr bwMode="auto">
              <a:xfrm>
                <a:off x="384"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2" name="Oval 16"/>
              <p:cNvSpPr>
                <a:spLocks noChangeArrowheads="1"/>
              </p:cNvSpPr>
              <p:nvPr/>
            </p:nvSpPr>
            <p:spPr bwMode="auto">
              <a:xfrm>
                <a:off x="720"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3" name="Oval 17"/>
              <p:cNvSpPr>
                <a:spLocks noChangeArrowheads="1"/>
              </p:cNvSpPr>
              <p:nvPr/>
            </p:nvSpPr>
            <p:spPr bwMode="auto">
              <a:xfrm>
                <a:off x="1056" y="1056"/>
                <a:ext cx="289"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4" name="Oval 18"/>
              <p:cNvSpPr>
                <a:spLocks noChangeArrowheads="1"/>
              </p:cNvSpPr>
              <p:nvPr/>
            </p:nvSpPr>
            <p:spPr bwMode="auto">
              <a:xfrm>
                <a:off x="1440"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5" name="Oval 19"/>
              <p:cNvSpPr>
                <a:spLocks noChangeArrowheads="1"/>
              </p:cNvSpPr>
              <p:nvPr/>
            </p:nvSpPr>
            <p:spPr bwMode="auto">
              <a:xfrm>
                <a:off x="1824"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6" name="Oval 20"/>
              <p:cNvSpPr>
                <a:spLocks noChangeArrowheads="1"/>
              </p:cNvSpPr>
              <p:nvPr/>
            </p:nvSpPr>
            <p:spPr bwMode="auto">
              <a:xfrm>
                <a:off x="2208"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7" name="Oval 21"/>
              <p:cNvSpPr>
                <a:spLocks noChangeArrowheads="1"/>
              </p:cNvSpPr>
              <p:nvPr/>
            </p:nvSpPr>
            <p:spPr bwMode="auto">
              <a:xfrm>
                <a:off x="1056" y="1536"/>
                <a:ext cx="289"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8" name="Oval 22"/>
              <p:cNvSpPr>
                <a:spLocks noChangeArrowheads="1"/>
              </p:cNvSpPr>
              <p:nvPr/>
            </p:nvSpPr>
            <p:spPr bwMode="auto">
              <a:xfrm>
                <a:off x="1824" y="153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9" name="Oval 23"/>
              <p:cNvSpPr>
                <a:spLocks noChangeArrowheads="1"/>
              </p:cNvSpPr>
              <p:nvPr/>
            </p:nvSpPr>
            <p:spPr bwMode="auto">
              <a:xfrm>
                <a:off x="720"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80" name="Oval 24"/>
              <p:cNvSpPr>
                <a:spLocks noChangeArrowheads="1"/>
              </p:cNvSpPr>
              <p:nvPr/>
            </p:nvSpPr>
            <p:spPr bwMode="auto">
              <a:xfrm>
                <a:off x="1440"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81" name="Oval 25"/>
              <p:cNvSpPr>
                <a:spLocks noChangeArrowheads="1"/>
              </p:cNvSpPr>
              <p:nvPr/>
            </p:nvSpPr>
            <p:spPr bwMode="auto">
              <a:xfrm>
                <a:off x="2016"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22" name="Text Box 26"/>
              <p:cNvSpPr txBox="1"/>
              <p:nvPr/>
            </p:nvSpPr>
            <p:spPr>
              <a:xfrm>
                <a:off x="720" y="51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0923" name="Text Box 27"/>
              <p:cNvSpPr txBox="1"/>
              <p:nvPr/>
            </p:nvSpPr>
            <p:spPr>
              <a:xfrm>
                <a:off x="1466" y="507"/>
                <a:ext cx="270"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80924" name="Text Box 28"/>
              <p:cNvSpPr txBox="1"/>
              <p:nvPr/>
            </p:nvSpPr>
            <p:spPr>
              <a:xfrm>
                <a:off x="2010" y="507"/>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80925" name="Text Box 29"/>
              <p:cNvSpPr txBox="1"/>
              <p:nvPr/>
            </p:nvSpPr>
            <p:spPr>
              <a:xfrm>
                <a:off x="390" y="996"/>
                <a:ext cx="28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0926" name="Text Box 30"/>
              <p:cNvSpPr txBox="1"/>
              <p:nvPr/>
            </p:nvSpPr>
            <p:spPr>
              <a:xfrm>
                <a:off x="720" y="99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0927" name="Text Box 31"/>
              <p:cNvSpPr txBox="1"/>
              <p:nvPr/>
            </p:nvSpPr>
            <p:spPr>
              <a:xfrm>
                <a:off x="1057" y="99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80928" name="Text Box 32"/>
              <p:cNvSpPr txBox="1"/>
              <p:nvPr/>
            </p:nvSpPr>
            <p:spPr>
              <a:xfrm>
                <a:off x="1434" y="996"/>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80929" name="Text Box 33"/>
              <p:cNvSpPr txBox="1"/>
              <p:nvPr/>
            </p:nvSpPr>
            <p:spPr>
              <a:xfrm>
                <a:off x="1864" y="996"/>
                <a:ext cx="21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80930" name="Text Box 34"/>
              <p:cNvSpPr txBox="1"/>
              <p:nvPr/>
            </p:nvSpPr>
            <p:spPr>
              <a:xfrm>
                <a:off x="2236" y="996"/>
                <a:ext cx="24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sp>
            <p:nvSpPr>
              <p:cNvPr id="80931" name="Text Box 35"/>
              <p:cNvSpPr txBox="1"/>
              <p:nvPr/>
            </p:nvSpPr>
            <p:spPr>
              <a:xfrm>
                <a:off x="1062" y="1475"/>
                <a:ext cx="28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80932" name="Text Box 36"/>
              <p:cNvSpPr txBox="1"/>
              <p:nvPr/>
            </p:nvSpPr>
            <p:spPr>
              <a:xfrm>
                <a:off x="1818" y="1475"/>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grpSp>
        <p:sp>
          <p:nvSpPr>
            <p:cNvPr id="5" name="矩形 4"/>
            <p:cNvSpPr/>
            <p:nvPr/>
          </p:nvSpPr>
          <p:spPr>
            <a:xfrm>
              <a:off x="5517" y="6080"/>
              <a:ext cx="5784" cy="3176"/>
            </a:xfrm>
            <a:prstGeom prst="rect">
              <a:avLst/>
            </a:prstGeom>
            <a:noFill/>
            <a:ln w="19050"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树的遍历包含两种</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先序（先根）遍历，先访问根结点，从左往右先序遍历每棵子树</a:t>
            </a: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后序（后根）遍历，从左往右后序遍历每棵子树，再访问根结点</a:t>
            </a: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83972" name="Group 4"/>
          <p:cNvGrpSpPr/>
          <p:nvPr/>
        </p:nvGrpSpPr>
        <p:grpSpPr>
          <a:xfrm>
            <a:off x="7175818" y="2982913"/>
            <a:ext cx="3832224" cy="2439987"/>
            <a:chOff x="3515" y="2205"/>
            <a:chExt cx="2414" cy="1537"/>
          </a:xfrm>
        </p:grpSpPr>
        <p:grpSp>
          <p:nvGrpSpPr>
            <p:cNvPr id="83973" name="Group 5"/>
            <p:cNvGrpSpPr/>
            <p:nvPr/>
          </p:nvGrpSpPr>
          <p:grpSpPr>
            <a:xfrm>
              <a:off x="3515" y="2205"/>
              <a:ext cx="1680" cy="1131"/>
              <a:chOff x="3696" y="2565"/>
              <a:chExt cx="1680" cy="1131"/>
            </a:xfrm>
          </p:grpSpPr>
          <p:sp>
            <p:nvSpPr>
              <p:cNvPr id="83974" name="Line 6"/>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83975" name="Line 7"/>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83976" name="Oval 8"/>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83977" name="Line 9"/>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83978" name="Oval 10"/>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83979" name="Line 11"/>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83980" name="Oval 12"/>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83981" name="Line 13"/>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83982" name="Oval 14"/>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83983" name="Oval 15"/>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83984" name="Oval 16"/>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83985" name="Line 17"/>
              <p:cNvSpPr/>
              <p:nvPr/>
            </p:nvSpPr>
            <p:spPr>
              <a:xfrm flipH="1">
                <a:off x="4704" y="2841"/>
                <a:ext cx="0" cy="144"/>
              </a:xfrm>
              <a:prstGeom prst="line">
                <a:avLst/>
              </a:prstGeom>
              <a:ln w="38100" cap="flat" cmpd="sng">
                <a:solidFill>
                  <a:srgbClr val="009900"/>
                </a:solidFill>
                <a:prstDash val="solid"/>
                <a:round/>
                <a:headEnd type="none" w="med" len="med"/>
                <a:tailEnd type="none" w="med" len="med"/>
              </a:ln>
            </p:spPr>
          </p:sp>
          <p:sp>
            <p:nvSpPr>
              <p:cNvPr id="83986" name="Oval 18"/>
              <p:cNvSpPr/>
              <p:nvPr/>
            </p:nvSpPr>
            <p:spPr>
              <a:xfrm>
                <a:off x="4560"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grpSp>
        <p:sp>
          <p:nvSpPr>
            <p:cNvPr id="83987" name="Rectangle 19"/>
            <p:cNvSpPr/>
            <p:nvPr/>
          </p:nvSpPr>
          <p:spPr>
            <a:xfrm>
              <a:off x="3515" y="3475"/>
              <a:ext cx="2414" cy="267"/>
            </a:xfrm>
            <a:prstGeom prst="rect">
              <a:avLst/>
            </a:prstGeom>
            <a:noFill/>
            <a:ln w="9525">
              <a:noFill/>
            </a:ln>
          </p:spPr>
          <p:txBody>
            <a:bodyPr wrap="none" anchor="t" anchorCtr="0">
              <a:spAutoFit/>
            </a:bodyPr>
            <a:p>
              <a:pPr algn="l">
                <a:lnSpc>
                  <a:spcPct val="90000"/>
                </a:lnSpc>
                <a:spcBef>
                  <a:spcPct val="50000"/>
                </a:spcBef>
                <a:buClr>
                  <a:schemeClr val="folHlink"/>
                </a:buClr>
                <a:buSzPct val="60000"/>
                <a:buFont typeface="Wingdings" panose="05000000000000000000" pitchFamily="2" charset="2"/>
              </a:pPr>
              <a:r>
                <a:rPr lang="zh-CN" altLang="en-US" sz="2400" b="1" dirty="0">
                  <a:solidFill>
                    <a:schemeClr val="hlink"/>
                  </a:solidFill>
                  <a:latin typeface="Arial" panose="020B0604020202020204" pitchFamily="34" charset="0"/>
                  <a:ea typeface="宋体" panose="02010600030101010101" pitchFamily="2" charset="-122"/>
                </a:rPr>
                <a:t>树的后</a:t>
              </a:r>
              <a:r>
                <a:rPr lang="zh-CN" altLang="en-US" sz="2400" b="1" dirty="0">
                  <a:solidFill>
                    <a:schemeClr val="hlink"/>
                  </a:solidFill>
                  <a:sym typeface="+mn-ea"/>
                </a:rPr>
                <a:t>根</a:t>
              </a:r>
              <a:r>
                <a:rPr lang="zh-CN" altLang="en-US" sz="2400" b="1" dirty="0">
                  <a:solidFill>
                    <a:schemeClr val="hlink"/>
                  </a:solidFill>
                  <a:latin typeface="Arial" panose="020B0604020202020204" pitchFamily="34" charset="0"/>
                  <a:ea typeface="宋体" panose="02010600030101010101" pitchFamily="2" charset="-122"/>
                </a:rPr>
                <a:t>遍历：</a:t>
              </a:r>
              <a:r>
                <a:rPr lang="en-US" altLang="zh-CN" sz="2400" b="1" dirty="0">
                  <a:solidFill>
                    <a:schemeClr val="hlink"/>
                  </a:solidFill>
                  <a:latin typeface="Arial" panose="020B0604020202020204" pitchFamily="34" charset="0"/>
                  <a:ea typeface="宋体" panose="02010600030101010101" pitchFamily="2" charset="-122"/>
                </a:rPr>
                <a:t>EFBCGDA</a:t>
              </a:r>
              <a:endParaRPr lang="en-US" altLang="zh-CN" sz="2400" b="1" dirty="0">
                <a:solidFill>
                  <a:schemeClr val="hlink"/>
                </a:solidFill>
                <a:latin typeface="Arial" panose="020B0604020202020204" pitchFamily="34" charset="0"/>
                <a:ea typeface="宋体" panose="02010600030101010101" pitchFamily="2" charset="-122"/>
              </a:endParaRPr>
            </a:p>
          </p:txBody>
        </p:sp>
      </p:grpSp>
      <p:grpSp>
        <p:nvGrpSpPr>
          <p:cNvPr id="83988" name="Group 4"/>
          <p:cNvGrpSpPr/>
          <p:nvPr/>
        </p:nvGrpSpPr>
        <p:grpSpPr>
          <a:xfrm>
            <a:off x="942340" y="2983230"/>
            <a:ext cx="3832226" cy="2439988"/>
            <a:chOff x="3515" y="2205"/>
            <a:chExt cx="2414" cy="1537"/>
          </a:xfrm>
        </p:grpSpPr>
        <p:grpSp>
          <p:nvGrpSpPr>
            <p:cNvPr id="83989" name="Group 5"/>
            <p:cNvGrpSpPr/>
            <p:nvPr/>
          </p:nvGrpSpPr>
          <p:grpSpPr>
            <a:xfrm>
              <a:off x="3515" y="2205"/>
              <a:ext cx="1680" cy="1131"/>
              <a:chOff x="3696" y="2565"/>
              <a:chExt cx="1680" cy="1131"/>
            </a:xfrm>
          </p:grpSpPr>
          <p:sp>
            <p:nvSpPr>
              <p:cNvPr id="83990" name="Line 6"/>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83991" name="Line 7"/>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83992" name="Oval 8"/>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83993" name="Line 9"/>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83994" name="Oval 10"/>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83995" name="Line 11"/>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83996" name="Oval 12"/>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83997" name="Line 13"/>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83998" name="Oval 14"/>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83999" name="Oval 15"/>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84000" name="Oval 16"/>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84001" name="Line 17"/>
              <p:cNvSpPr/>
              <p:nvPr/>
            </p:nvSpPr>
            <p:spPr>
              <a:xfrm flipH="1">
                <a:off x="4704" y="2841"/>
                <a:ext cx="0" cy="144"/>
              </a:xfrm>
              <a:prstGeom prst="line">
                <a:avLst/>
              </a:prstGeom>
              <a:ln w="38100" cap="flat" cmpd="sng">
                <a:solidFill>
                  <a:srgbClr val="009900"/>
                </a:solidFill>
                <a:prstDash val="solid"/>
                <a:round/>
                <a:headEnd type="none" w="med" len="med"/>
                <a:tailEnd type="none" w="med" len="med"/>
              </a:ln>
            </p:spPr>
          </p:sp>
          <p:sp>
            <p:nvSpPr>
              <p:cNvPr id="84002" name="Oval 18"/>
              <p:cNvSpPr/>
              <p:nvPr/>
            </p:nvSpPr>
            <p:spPr>
              <a:xfrm>
                <a:off x="4560"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grpSp>
        <p:sp>
          <p:nvSpPr>
            <p:cNvPr id="84003" name="Rectangle 19"/>
            <p:cNvSpPr/>
            <p:nvPr/>
          </p:nvSpPr>
          <p:spPr>
            <a:xfrm>
              <a:off x="3515" y="3475"/>
              <a:ext cx="2414" cy="267"/>
            </a:xfrm>
            <a:prstGeom prst="rect">
              <a:avLst/>
            </a:prstGeom>
            <a:noFill/>
            <a:ln w="9525">
              <a:noFill/>
            </a:ln>
          </p:spPr>
          <p:txBody>
            <a:bodyPr wrap="none" anchor="t" anchorCtr="0">
              <a:spAutoFit/>
            </a:bodyPr>
            <a:p>
              <a:pPr algn="l">
                <a:lnSpc>
                  <a:spcPct val="90000"/>
                </a:lnSpc>
                <a:spcBef>
                  <a:spcPct val="50000"/>
                </a:spcBef>
                <a:buClr>
                  <a:schemeClr val="folHlink"/>
                </a:buClr>
                <a:buSzPct val="60000"/>
                <a:buFont typeface="Wingdings" panose="05000000000000000000" pitchFamily="2" charset="2"/>
              </a:pPr>
              <a:r>
                <a:rPr lang="zh-CN" altLang="en-US" sz="2400" b="1" dirty="0">
                  <a:solidFill>
                    <a:schemeClr val="hlink"/>
                  </a:solidFill>
                  <a:latin typeface="Arial" panose="020B0604020202020204" pitchFamily="34" charset="0"/>
                  <a:ea typeface="宋体" panose="02010600030101010101" pitchFamily="2" charset="-122"/>
                </a:rPr>
                <a:t>树的先</a:t>
              </a:r>
              <a:r>
                <a:rPr lang="zh-CN" altLang="en-US" sz="2400" b="1" dirty="0">
                  <a:solidFill>
                    <a:schemeClr val="hlink"/>
                  </a:solidFill>
                  <a:sym typeface="+mn-ea"/>
                </a:rPr>
                <a:t>根</a:t>
              </a:r>
              <a:r>
                <a:rPr lang="zh-CN" altLang="en-US" sz="2400" b="1" dirty="0">
                  <a:solidFill>
                    <a:schemeClr val="hlink"/>
                  </a:solidFill>
                  <a:latin typeface="Arial" panose="020B0604020202020204" pitchFamily="34" charset="0"/>
                  <a:ea typeface="宋体" panose="02010600030101010101" pitchFamily="2" charset="-122"/>
                </a:rPr>
                <a:t>遍历：</a:t>
              </a:r>
              <a:r>
                <a:rPr lang="en-US" altLang="zh-CN" sz="2400" b="1" dirty="0">
                  <a:solidFill>
                    <a:schemeClr val="hlink"/>
                  </a:solidFill>
                  <a:latin typeface="Arial" panose="020B0604020202020204" pitchFamily="34" charset="0"/>
                  <a:ea typeface="宋体" panose="02010600030101010101" pitchFamily="2" charset="-122"/>
                </a:rPr>
                <a:t>ABEFCDG</a:t>
              </a:r>
              <a:endParaRPr lang="en-US" altLang="zh-CN" sz="2400" b="1" dirty="0">
                <a:solidFill>
                  <a:schemeClr val="hlink"/>
                </a:solidFill>
                <a:latin typeface="Arial" panose="020B0604020202020204" pitchFamily="34" charset="0"/>
                <a:ea typeface="宋体" panose="02010600030101010101" pitchFamily="2" charset="-122"/>
              </a:endParaRPr>
            </a:p>
          </p:txBody>
        </p:sp>
      </p:gr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树的遍历与二叉树遍历的关系</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树的先根遍历，与对应的二叉树的先序遍历完全相同</a:t>
            </a: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树的后根遍历，与对应的二叉树的中序遍历完全相</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84996" name="Group 4"/>
          <p:cNvGrpSpPr/>
          <p:nvPr/>
        </p:nvGrpSpPr>
        <p:grpSpPr>
          <a:xfrm>
            <a:off x="2725103" y="3013075"/>
            <a:ext cx="2667000" cy="1795463"/>
            <a:chOff x="3696" y="2565"/>
            <a:chExt cx="1680" cy="1131"/>
          </a:xfrm>
        </p:grpSpPr>
        <p:sp>
          <p:nvSpPr>
            <p:cNvPr id="84997" name="Line 5"/>
            <p:cNvSpPr/>
            <p:nvPr/>
          </p:nvSpPr>
          <p:spPr>
            <a:xfrm>
              <a:off x="4776" y="2736"/>
              <a:ext cx="360" cy="288"/>
            </a:xfrm>
            <a:prstGeom prst="line">
              <a:avLst/>
            </a:prstGeom>
            <a:ln w="38100" cap="flat" cmpd="sng">
              <a:solidFill>
                <a:srgbClr val="009900"/>
              </a:solidFill>
              <a:prstDash val="solid"/>
              <a:round/>
              <a:headEnd type="none" w="med" len="med"/>
              <a:tailEnd type="none" w="med" len="med"/>
            </a:ln>
          </p:spPr>
        </p:sp>
        <p:sp>
          <p:nvSpPr>
            <p:cNvPr id="84998" name="Line 6"/>
            <p:cNvSpPr/>
            <p:nvPr/>
          </p:nvSpPr>
          <p:spPr>
            <a:xfrm flipH="1">
              <a:off x="4272" y="2736"/>
              <a:ext cx="360" cy="336"/>
            </a:xfrm>
            <a:prstGeom prst="line">
              <a:avLst/>
            </a:prstGeom>
            <a:ln w="38100" cap="flat" cmpd="sng">
              <a:solidFill>
                <a:srgbClr val="009900"/>
              </a:solidFill>
              <a:prstDash val="solid"/>
              <a:round/>
              <a:headEnd type="none" w="med" len="med"/>
              <a:tailEnd type="none" w="med" len="med"/>
            </a:ln>
          </p:spPr>
        </p:sp>
        <p:sp>
          <p:nvSpPr>
            <p:cNvPr id="84999" name="Oval 7"/>
            <p:cNvSpPr/>
            <p:nvPr/>
          </p:nvSpPr>
          <p:spPr>
            <a:xfrm>
              <a:off x="4560" y="256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85000" name="Line 8"/>
            <p:cNvSpPr/>
            <p:nvPr/>
          </p:nvSpPr>
          <p:spPr>
            <a:xfrm flipH="1">
              <a:off x="3936" y="3126"/>
              <a:ext cx="264" cy="309"/>
            </a:xfrm>
            <a:prstGeom prst="line">
              <a:avLst/>
            </a:prstGeom>
            <a:ln w="38100" cap="flat" cmpd="sng">
              <a:solidFill>
                <a:srgbClr val="009900"/>
              </a:solidFill>
              <a:prstDash val="solid"/>
              <a:round/>
              <a:headEnd type="none" w="med" len="med"/>
              <a:tailEnd type="none" w="med" len="med"/>
            </a:ln>
          </p:spPr>
        </p:sp>
        <p:sp>
          <p:nvSpPr>
            <p:cNvPr id="85001" name="Oval 9"/>
            <p:cNvSpPr/>
            <p:nvPr/>
          </p:nvSpPr>
          <p:spPr>
            <a:xfrm>
              <a:off x="3696" y="3387"/>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85002" name="Line 10"/>
            <p:cNvSpPr/>
            <p:nvPr/>
          </p:nvSpPr>
          <p:spPr>
            <a:xfrm>
              <a:off x="4224" y="3147"/>
              <a:ext cx="216" cy="288"/>
            </a:xfrm>
            <a:prstGeom prst="line">
              <a:avLst/>
            </a:prstGeom>
            <a:ln w="38100" cap="flat" cmpd="sng">
              <a:solidFill>
                <a:srgbClr val="009900"/>
              </a:solidFill>
              <a:prstDash val="solid"/>
              <a:round/>
              <a:headEnd type="none" w="med" len="med"/>
              <a:tailEnd type="none" w="med" len="med"/>
            </a:ln>
          </p:spPr>
        </p:sp>
        <p:sp>
          <p:nvSpPr>
            <p:cNvPr id="85003" name="Oval 11"/>
            <p:cNvSpPr/>
            <p:nvPr/>
          </p:nvSpPr>
          <p:spPr>
            <a:xfrm>
              <a:off x="4032"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85004" name="Line 12"/>
            <p:cNvSpPr/>
            <p:nvPr/>
          </p:nvSpPr>
          <p:spPr>
            <a:xfrm flipH="1">
              <a:off x="4992" y="3147"/>
              <a:ext cx="264" cy="309"/>
            </a:xfrm>
            <a:prstGeom prst="line">
              <a:avLst/>
            </a:prstGeom>
            <a:ln w="38100" cap="flat" cmpd="sng">
              <a:solidFill>
                <a:srgbClr val="009900"/>
              </a:solidFill>
              <a:prstDash val="solid"/>
              <a:round/>
              <a:headEnd type="none" w="med" len="med"/>
              <a:tailEnd type="none" w="med" len="med"/>
            </a:ln>
          </p:spPr>
        </p:sp>
        <p:sp>
          <p:nvSpPr>
            <p:cNvPr id="85005" name="Oval 13"/>
            <p:cNvSpPr/>
            <p:nvPr/>
          </p:nvSpPr>
          <p:spPr>
            <a:xfrm>
              <a:off x="4752"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85006" name="Oval 14"/>
            <p:cNvSpPr/>
            <p:nvPr/>
          </p:nvSpPr>
          <p:spPr>
            <a:xfrm>
              <a:off x="5088"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85007" name="Oval 15"/>
            <p:cNvSpPr/>
            <p:nvPr/>
          </p:nvSpPr>
          <p:spPr>
            <a:xfrm>
              <a:off x="4344" y="3408"/>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85008" name="Line 16"/>
            <p:cNvSpPr/>
            <p:nvPr/>
          </p:nvSpPr>
          <p:spPr>
            <a:xfrm flipH="1">
              <a:off x="4704" y="2841"/>
              <a:ext cx="0" cy="144"/>
            </a:xfrm>
            <a:prstGeom prst="line">
              <a:avLst/>
            </a:prstGeom>
            <a:ln w="38100" cap="flat" cmpd="sng">
              <a:solidFill>
                <a:srgbClr val="009900"/>
              </a:solidFill>
              <a:prstDash val="solid"/>
              <a:round/>
              <a:headEnd type="none" w="med" len="med"/>
              <a:tailEnd type="none" w="med" len="med"/>
            </a:ln>
          </p:spPr>
        </p:sp>
        <p:sp>
          <p:nvSpPr>
            <p:cNvPr id="85009" name="Oval 17"/>
            <p:cNvSpPr/>
            <p:nvPr/>
          </p:nvSpPr>
          <p:spPr>
            <a:xfrm>
              <a:off x="4560" y="297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grpSp>
      <p:grpSp>
        <p:nvGrpSpPr>
          <p:cNvPr id="85010" name="Group 18"/>
          <p:cNvGrpSpPr/>
          <p:nvPr/>
        </p:nvGrpSpPr>
        <p:grpSpPr>
          <a:xfrm>
            <a:off x="7341870" y="2671445"/>
            <a:ext cx="2133600" cy="2454275"/>
            <a:chOff x="4128" y="2630"/>
            <a:chExt cx="1344" cy="1690"/>
          </a:xfrm>
        </p:grpSpPr>
        <p:sp>
          <p:nvSpPr>
            <p:cNvPr id="85011" name="Line 19"/>
            <p:cNvSpPr/>
            <p:nvPr/>
          </p:nvSpPr>
          <p:spPr>
            <a:xfrm>
              <a:off x="5016" y="3590"/>
              <a:ext cx="360" cy="288"/>
            </a:xfrm>
            <a:prstGeom prst="line">
              <a:avLst/>
            </a:prstGeom>
            <a:ln w="38100" cap="flat" cmpd="sng">
              <a:solidFill>
                <a:srgbClr val="009900"/>
              </a:solidFill>
              <a:prstDash val="solid"/>
              <a:round/>
              <a:headEnd type="none" w="med" len="med"/>
              <a:tailEnd type="none" w="med" len="med"/>
            </a:ln>
          </p:spPr>
        </p:sp>
        <p:sp>
          <p:nvSpPr>
            <p:cNvPr id="85012" name="Line 20"/>
            <p:cNvSpPr/>
            <p:nvPr/>
          </p:nvSpPr>
          <p:spPr>
            <a:xfrm flipH="1">
              <a:off x="4704" y="2705"/>
              <a:ext cx="360" cy="336"/>
            </a:xfrm>
            <a:prstGeom prst="line">
              <a:avLst/>
            </a:prstGeom>
            <a:ln w="38100" cap="flat" cmpd="sng">
              <a:solidFill>
                <a:srgbClr val="009900"/>
              </a:solidFill>
              <a:prstDash val="solid"/>
              <a:round/>
              <a:headEnd type="none" w="med" len="med"/>
              <a:tailEnd type="none" w="med" len="med"/>
            </a:ln>
          </p:spPr>
        </p:sp>
        <p:sp>
          <p:nvSpPr>
            <p:cNvPr id="85013" name="Oval 21"/>
            <p:cNvSpPr/>
            <p:nvPr/>
          </p:nvSpPr>
          <p:spPr>
            <a:xfrm>
              <a:off x="4896" y="2630"/>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sp>
          <p:nvSpPr>
            <p:cNvPr id="85014" name="Line 22"/>
            <p:cNvSpPr/>
            <p:nvPr/>
          </p:nvSpPr>
          <p:spPr>
            <a:xfrm flipH="1">
              <a:off x="4368" y="3095"/>
              <a:ext cx="264" cy="309"/>
            </a:xfrm>
            <a:prstGeom prst="line">
              <a:avLst/>
            </a:prstGeom>
            <a:ln w="38100" cap="flat" cmpd="sng">
              <a:solidFill>
                <a:srgbClr val="009900"/>
              </a:solidFill>
              <a:prstDash val="solid"/>
              <a:round/>
              <a:headEnd type="none" w="med" len="med"/>
              <a:tailEnd type="none" w="med" len="med"/>
            </a:ln>
          </p:spPr>
        </p:sp>
        <p:sp>
          <p:nvSpPr>
            <p:cNvPr id="85015" name="Line 23"/>
            <p:cNvSpPr/>
            <p:nvPr/>
          </p:nvSpPr>
          <p:spPr>
            <a:xfrm>
              <a:off x="4272" y="3542"/>
              <a:ext cx="336" cy="240"/>
            </a:xfrm>
            <a:prstGeom prst="line">
              <a:avLst/>
            </a:prstGeom>
            <a:ln w="38100" cap="flat" cmpd="sng">
              <a:solidFill>
                <a:srgbClr val="009900"/>
              </a:solidFill>
              <a:prstDash val="solid"/>
              <a:round/>
              <a:headEnd type="none" w="med" len="med"/>
              <a:tailEnd type="none" w="med" len="med"/>
            </a:ln>
          </p:spPr>
        </p:sp>
        <p:sp>
          <p:nvSpPr>
            <p:cNvPr id="85016" name="Oval 24"/>
            <p:cNvSpPr/>
            <p:nvPr/>
          </p:nvSpPr>
          <p:spPr>
            <a:xfrm>
              <a:off x="4464" y="2945"/>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85017" name="Line 25"/>
            <p:cNvSpPr/>
            <p:nvPr/>
          </p:nvSpPr>
          <p:spPr>
            <a:xfrm flipH="1">
              <a:off x="5088" y="3819"/>
              <a:ext cx="264" cy="309"/>
            </a:xfrm>
            <a:prstGeom prst="line">
              <a:avLst/>
            </a:prstGeom>
            <a:ln w="38100" cap="flat" cmpd="sng">
              <a:solidFill>
                <a:srgbClr val="009900"/>
              </a:solidFill>
              <a:prstDash val="solid"/>
              <a:round/>
              <a:headEnd type="none" w="med" len="med"/>
              <a:tailEnd type="none" w="med" len="med"/>
            </a:ln>
          </p:spPr>
        </p:sp>
        <p:sp>
          <p:nvSpPr>
            <p:cNvPr id="85018" name="Oval 26"/>
            <p:cNvSpPr/>
            <p:nvPr/>
          </p:nvSpPr>
          <p:spPr>
            <a:xfrm>
              <a:off x="4896" y="4032"/>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G</a:t>
              </a:r>
              <a:endParaRPr lang="en-US" altLang="zh-CN" sz="2400" dirty="0">
                <a:solidFill>
                  <a:schemeClr val="bg1"/>
                </a:solidFill>
                <a:latin typeface="Tahoma" panose="020B0604030504040204" charset="0"/>
                <a:ea typeface="宋体" panose="02010600030101010101" pitchFamily="2" charset="-122"/>
              </a:endParaRPr>
            </a:p>
          </p:txBody>
        </p:sp>
        <p:sp>
          <p:nvSpPr>
            <p:cNvPr id="85019" name="Oval 27"/>
            <p:cNvSpPr/>
            <p:nvPr/>
          </p:nvSpPr>
          <p:spPr>
            <a:xfrm>
              <a:off x="5184" y="368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85020" name="Oval 28"/>
            <p:cNvSpPr/>
            <p:nvPr/>
          </p:nvSpPr>
          <p:spPr>
            <a:xfrm>
              <a:off x="4512" y="368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85021" name="Line 29"/>
            <p:cNvSpPr/>
            <p:nvPr/>
          </p:nvSpPr>
          <p:spPr>
            <a:xfrm>
              <a:off x="4704" y="3206"/>
              <a:ext cx="192" cy="192"/>
            </a:xfrm>
            <a:prstGeom prst="line">
              <a:avLst/>
            </a:prstGeom>
            <a:ln w="38100" cap="flat" cmpd="sng">
              <a:solidFill>
                <a:srgbClr val="009900"/>
              </a:solidFill>
              <a:prstDash val="solid"/>
              <a:round/>
              <a:headEnd type="none" w="med" len="med"/>
              <a:tailEnd type="none" w="med" len="med"/>
            </a:ln>
          </p:spPr>
        </p:sp>
        <p:sp>
          <p:nvSpPr>
            <p:cNvPr id="85022" name="Oval 30"/>
            <p:cNvSpPr/>
            <p:nvPr/>
          </p:nvSpPr>
          <p:spPr>
            <a:xfrm>
              <a:off x="4800" y="3350"/>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85023" name="Oval 31"/>
            <p:cNvSpPr/>
            <p:nvPr/>
          </p:nvSpPr>
          <p:spPr>
            <a:xfrm>
              <a:off x="4128" y="3356"/>
              <a:ext cx="288" cy="288"/>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grpSp>
      <p:sp>
        <p:nvSpPr>
          <p:cNvPr id="85024" name="Rectangle 32"/>
          <p:cNvSpPr/>
          <p:nvPr/>
        </p:nvSpPr>
        <p:spPr>
          <a:xfrm>
            <a:off x="4122420" y="5088255"/>
            <a:ext cx="4019550" cy="939800"/>
          </a:xfrm>
          <a:prstGeom prst="rect">
            <a:avLst/>
          </a:prstGeom>
          <a:noFill/>
          <a:ln w="9525">
            <a:noFill/>
          </a:ln>
        </p:spPr>
        <p:txBody>
          <a:bodyPr wrap="square" anchor="t" anchorCtr="0">
            <a:spAutoFit/>
          </a:bodyPr>
          <a:p>
            <a:pPr>
              <a:lnSpc>
                <a:spcPct val="90000"/>
              </a:lnSpc>
              <a:spcBef>
                <a:spcPct val="50000"/>
              </a:spcBef>
              <a:buClr>
                <a:schemeClr val="folHlink"/>
              </a:buClr>
              <a:buSzPct val="60000"/>
              <a:buFont typeface="Wingdings" panose="05000000000000000000" pitchFamily="2" charset="2"/>
            </a:pPr>
            <a:r>
              <a:rPr lang="zh-CN" altLang="en-US" sz="2400" b="1" dirty="0">
                <a:solidFill>
                  <a:schemeClr val="hlink"/>
                </a:solidFill>
                <a:latin typeface="Arial" panose="020B0604020202020204" pitchFamily="34" charset="0"/>
                <a:ea typeface="宋体" panose="02010600030101010101" pitchFamily="2" charset="-122"/>
              </a:rPr>
              <a:t>树的先根遍历：</a:t>
            </a:r>
            <a:r>
              <a:rPr lang="en-US" altLang="zh-CN" sz="2400" b="1" dirty="0">
                <a:solidFill>
                  <a:schemeClr val="hlink"/>
                </a:solidFill>
                <a:latin typeface="Arial" panose="020B0604020202020204" pitchFamily="34" charset="0"/>
                <a:ea typeface="宋体" panose="02010600030101010101" pitchFamily="2" charset="-122"/>
              </a:rPr>
              <a:t>ABEFCDG</a:t>
            </a:r>
            <a:endParaRPr lang="en-US" altLang="zh-CN" sz="2400" b="1" dirty="0">
              <a:solidFill>
                <a:schemeClr val="hlink"/>
              </a:solidFill>
              <a:latin typeface="Arial" panose="020B0604020202020204" pitchFamily="34" charset="0"/>
              <a:ea typeface="宋体" panose="02010600030101010101" pitchFamily="2" charset="-122"/>
            </a:endParaRPr>
          </a:p>
          <a:p>
            <a:pPr>
              <a:lnSpc>
                <a:spcPct val="90000"/>
              </a:lnSpc>
              <a:spcBef>
                <a:spcPct val="50000"/>
              </a:spcBef>
              <a:buClr>
                <a:schemeClr val="folHlink"/>
              </a:buClr>
              <a:buSzPct val="60000"/>
              <a:buFont typeface="Wingdings" panose="05000000000000000000" pitchFamily="2" charset="2"/>
            </a:pPr>
            <a:r>
              <a:rPr lang="zh-CN" altLang="en-US" sz="2400" b="1" dirty="0">
                <a:solidFill>
                  <a:schemeClr val="hlink"/>
                </a:solidFill>
                <a:latin typeface="Arial" panose="020B0604020202020204" pitchFamily="34" charset="0"/>
                <a:ea typeface="宋体" panose="02010600030101010101" pitchFamily="2" charset="-122"/>
              </a:rPr>
              <a:t>树的后</a:t>
            </a:r>
            <a:r>
              <a:rPr lang="zh-CN" altLang="en-US" sz="2400" b="1" dirty="0">
                <a:solidFill>
                  <a:schemeClr val="hlink"/>
                </a:solidFill>
                <a:sym typeface="+mn-ea"/>
              </a:rPr>
              <a:t>根</a:t>
            </a:r>
            <a:r>
              <a:rPr lang="zh-CN" altLang="en-US" sz="2400" b="1" dirty="0">
                <a:solidFill>
                  <a:schemeClr val="hlink"/>
                </a:solidFill>
                <a:latin typeface="Arial" panose="020B0604020202020204" pitchFamily="34" charset="0"/>
                <a:ea typeface="宋体" panose="02010600030101010101" pitchFamily="2" charset="-122"/>
              </a:rPr>
              <a:t>遍历：</a:t>
            </a:r>
            <a:r>
              <a:rPr lang="en-US" altLang="zh-CN" sz="2400" b="1" dirty="0">
                <a:solidFill>
                  <a:schemeClr val="hlink"/>
                </a:solidFill>
                <a:latin typeface="Arial" panose="020B0604020202020204" pitchFamily="34" charset="0"/>
                <a:ea typeface="宋体" panose="02010600030101010101" pitchFamily="2" charset="-122"/>
              </a:rPr>
              <a:t>EFBCGDA</a:t>
            </a:r>
            <a:endParaRPr lang="en-US" altLang="zh-CN" sz="2400" b="1" dirty="0">
              <a:solidFill>
                <a:schemeClr val="hlink"/>
              </a:solidFill>
              <a:latin typeface="Arial" panose="020B0604020202020204" pitchFamily="34" charset="0"/>
              <a:ea typeface="宋体" panose="02010600030101010101" pitchFamily="2"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森林的遍历包含两种</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先序遍历，从左往右先序遍历每棵树</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2" algn="l" defTabSz="1219200" rtl="0" eaLnBrk="1" fontAlgn="base" latinLnBrk="0" hangingPunct="1">
              <a:lnSpc>
                <a:spcPct val="100000"/>
              </a:lnSpc>
              <a:spcBef>
                <a:spcPct val="20000"/>
              </a:spcBef>
              <a:buClrTx/>
              <a:buSzTx/>
              <a:buChar char="•"/>
            </a:pPr>
            <a:r>
              <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rPr>
              <a:t>每棵树的先序遍历，先访问根结点，</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从左往右先序遍历每棵子树</a:t>
            </a: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中序遍历，从左往右中序遍历每棵树</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2"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实际上每棵树的中序遍历是树的后序遍历</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2"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去掉该树的根结点，从左往右中序遍历每棵子树，再访问根结点</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r>
              <a:rPr lang="zh-CN" altLang="en-US" sz="2400" noProof="0" smtClean="0">
                <a:ln>
                  <a:noFill/>
                </a:ln>
                <a:solidFill>
                  <a:schemeClr val="tx1"/>
                </a:solidFill>
                <a:effectLst/>
                <a:uLnTx/>
                <a:uFillTx/>
                <a:latin typeface="黑体" panose="02010609060101010101" pitchFamily="2" charset="-122"/>
                <a:ea typeface="黑体" panose="02010609060101010101" pitchFamily="2" charset="-122"/>
                <a:cs typeface="+mn-ea"/>
                <a:sym typeface="+mn-ea"/>
              </a:rPr>
              <a:t>例如右侧森林</a:t>
            </a:r>
            <a:endParaRPr lang="zh-CN" altLang="en-US" sz="2400" noProof="0" smtClean="0">
              <a:ln>
                <a:noFill/>
              </a:ln>
              <a:solidFill>
                <a:schemeClr val="tx1"/>
              </a:solidFill>
              <a:effectLst/>
              <a:uLnTx/>
              <a:uFillTx/>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r>
              <a:rPr lang="zh-CN" altLang="en-US" sz="2400" noProof="0" smtClean="0">
                <a:ln>
                  <a:noFill/>
                </a:ln>
                <a:solidFill>
                  <a:schemeClr val="tx1"/>
                </a:solidFill>
                <a:effectLst/>
                <a:uLnTx/>
                <a:uFillTx/>
                <a:latin typeface="黑体" panose="02010609060101010101" pitchFamily="2" charset="-122"/>
                <a:ea typeface="黑体" panose="02010609060101010101" pitchFamily="2" charset="-122"/>
                <a:cs typeface="+mn-ea"/>
                <a:sym typeface="+mn-ea"/>
              </a:rPr>
              <a:t>先序遍历：</a:t>
            </a:r>
            <a:r>
              <a:rPr lang="en-US" altLang="zh-CN" sz="2400" noProof="0" smtClean="0">
                <a:ln>
                  <a:noFill/>
                </a:ln>
                <a:solidFill>
                  <a:schemeClr val="tx1"/>
                </a:solidFill>
                <a:effectLst/>
                <a:uLnTx/>
                <a:uFillTx/>
                <a:latin typeface="黑体" panose="02010609060101010101" pitchFamily="2" charset="-122"/>
                <a:ea typeface="黑体" panose="02010609060101010101" pitchFamily="2" charset="-122"/>
                <a:cs typeface="+mn-ea"/>
                <a:sym typeface="+mn-ea"/>
              </a:rPr>
              <a:t>ABCDEFGHIKJ</a:t>
            </a:r>
            <a:endParaRPr lang="en-US" altLang="zh-CN" sz="2400" noProof="0" smtClean="0">
              <a:ln>
                <a:noFill/>
              </a:ln>
              <a:solidFill>
                <a:schemeClr val="tx1"/>
              </a:solidFill>
              <a:effectLst/>
              <a:uLnTx/>
              <a:uFillTx/>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r>
              <a:rPr lang="zh-CN" altLang="en-US" sz="2400" noProof="0" smtClean="0">
                <a:ln>
                  <a:noFill/>
                </a:ln>
                <a:solidFill>
                  <a:schemeClr val="tx1"/>
                </a:solidFill>
                <a:effectLst/>
                <a:uLnTx/>
                <a:uFillTx/>
                <a:latin typeface="黑体" panose="02010609060101010101" pitchFamily="2" charset="-122"/>
                <a:ea typeface="黑体" panose="02010609060101010101" pitchFamily="2" charset="-122"/>
                <a:cs typeface="+mn-ea"/>
                <a:sym typeface="+mn-ea"/>
              </a:rPr>
              <a:t>中序</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遍历：</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BCEDAGFKIJH</a:t>
            </a:r>
            <a:endParaRPr lang="zh-CN" altLang="en-US" sz="2400" noProof="0" smtClean="0">
              <a:ln>
                <a:noFill/>
              </a:ln>
              <a:solidFill>
                <a:schemeClr val="tx1"/>
              </a:solidFill>
              <a:effectLst/>
              <a:uLnTx/>
              <a:uFillTx/>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endParaRPr lang="zh-CN" altLang="en-US" sz="2400" noProof="0" smtClean="0">
              <a:ln>
                <a:noFill/>
              </a:ln>
              <a:solidFill>
                <a:schemeClr val="tx1"/>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 name="组合 5"/>
          <p:cNvGrpSpPr/>
          <p:nvPr/>
        </p:nvGrpSpPr>
        <p:grpSpPr>
          <a:xfrm>
            <a:off x="6311900" y="4004945"/>
            <a:ext cx="3672840" cy="2016760"/>
            <a:chOff x="5517" y="6080"/>
            <a:chExt cx="5784" cy="3176"/>
          </a:xfrm>
        </p:grpSpPr>
        <p:grpSp>
          <p:nvGrpSpPr>
            <p:cNvPr id="80902" name="Group 6"/>
            <p:cNvGrpSpPr/>
            <p:nvPr/>
          </p:nvGrpSpPr>
          <p:grpSpPr>
            <a:xfrm>
              <a:off x="5858" y="6098"/>
              <a:ext cx="4920" cy="2974"/>
              <a:chOff x="384" y="507"/>
              <a:chExt cx="2112" cy="1338"/>
            </a:xfrm>
          </p:grpSpPr>
          <p:sp>
            <p:nvSpPr>
              <p:cNvPr id="80903" name="Line 7"/>
              <p:cNvSpPr/>
              <p:nvPr/>
            </p:nvSpPr>
            <p:spPr>
              <a:xfrm>
                <a:off x="2208" y="816"/>
                <a:ext cx="144" cy="336"/>
              </a:xfrm>
              <a:prstGeom prst="line">
                <a:avLst/>
              </a:prstGeom>
              <a:ln w="28575" cap="flat" cmpd="sng">
                <a:solidFill>
                  <a:schemeClr val="accent2"/>
                </a:solidFill>
                <a:prstDash val="solid"/>
                <a:round/>
                <a:headEnd type="none" w="med" len="med"/>
                <a:tailEnd type="none" w="med" len="med"/>
              </a:ln>
            </p:spPr>
          </p:sp>
          <p:sp>
            <p:nvSpPr>
              <p:cNvPr id="80904" name="Line 8"/>
              <p:cNvSpPr/>
              <p:nvPr/>
            </p:nvSpPr>
            <p:spPr>
              <a:xfrm flipH="1">
                <a:off x="1968" y="816"/>
                <a:ext cx="144" cy="336"/>
              </a:xfrm>
              <a:prstGeom prst="line">
                <a:avLst/>
              </a:prstGeom>
              <a:ln w="28575" cap="flat" cmpd="sng">
                <a:solidFill>
                  <a:schemeClr val="accent2"/>
                </a:solidFill>
                <a:prstDash val="solid"/>
                <a:round/>
                <a:headEnd type="none" w="med" len="med"/>
                <a:tailEnd type="none" w="med" len="med"/>
              </a:ln>
            </p:spPr>
          </p:sp>
          <p:sp>
            <p:nvSpPr>
              <p:cNvPr id="80905" name="Line 9"/>
              <p:cNvSpPr/>
              <p:nvPr/>
            </p:nvSpPr>
            <p:spPr>
              <a:xfrm>
                <a:off x="912" y="816"/>
                <a:ext cx="240" cy="288"/>
              </a:xfrm>
              <a:prstGeom prst="line">
                <a:avLst/>
              </a:prstGeom>
              <a:ln w="28575" cap="flat" cmpd="sng">
                <a:solidFill>
                  <a:schemeClr val="accent2"/>
                </a:solidFill>
                <a:prstDash val="solid"/>
                <a:round/>
                <a:headEnd type="none" w="med" len="med"/>
                <a:tailEnd type="none" w="med" len="med"/>
              </a:ln>
            </p:spPr>
          </p:sp>
          <p:sp>
            <p:nvSpPr>
              <p:cNvPr id="80906" name="Line 10"/>
              <p:cNvSpPr/>
              <p:nvPr/>
            </p:nvSpPr>
            <p:spPr>
              <a:xfrm flipH="1">
                <a:off x="576" y="816"/>
                <a:ext cx="240" cy="288"/>
              </a:xfrm>
              <a:prstGeom prst="line">
                <a:avLst/>
              </a:prstGeom>
              <a:ln w="28575" cap="flat" cmpd="sng">
                <a:solidFill>
                  <a:schemeClr val="accent2"/>
                </a:solidFill>
                <a:prstDash val="solid"/>
                <a:round/>
                <a:headEnd type="none" w="med" len="med"/>
                <a:tailEnd type="none" w="med" len="med"/>
              </a:ln>
            </p:spPr>
          </p:sp>
          <p:sp>
            <p:nvSpPr>
              <p:cNvPr id="80907" name="Line 11"/>
              <p:cNvSpPr/>
              <p:nvPr/>
            </p:nvSpPr>
            <p:spPr>
              <a:xfrm>
                <a:off x="1968" y="1296"/>
                <a:ext cx="0" cy="288"/>
              </a:xfrm>
              <a:prstGeom prst="line">
                <a:avLst/>
              </a:prstGeom>
              <a:ln w="28575" cap="flat" cmpd="sng">
                <a:solidFill>
                  <a:schemeClr val="accent2"/>
                </a:solidFill>
                <a:prstDash val="solid"/>
                <a:round/>
                <a:headEnd type="none" w="med" len="med"/>
                <a:tailEnd type="none" w="med" len="med"/>
              </a:ln>
            </p:spPr>
          </p:sp>
          <p:sp>
            <p:nvSpPr>
              <p:cNvPr id="80908" name="Line 12"/>
              <p:cNvSpPr/>
              <p:nvPr/>
            </p:nvSpPr>
            <p:spPr>
              <a:xfrm>
                <a:off x="1200" y="1296"/>
                <a:ext cx="0" cy="288"/>
              </a:xfrm>
              <a:prstGeom prst="line">
                <a:avLst/>
              </a:prstGeom>
              <a:ln w="28575" cap="flat" cmpd="sng">
                <a:solidFill>
                  <a:schemeClr val="accent2"/>
                </a:solidFill>
                <a:prstDash val="solid"/>
                <a:round/>
                <a:headEnd type="none" w="med" len="med"/>
                <a:tailEnd type="none" w="med" len="med"/>
              </a:ln>
            </p:spPr>
          </p:sp>
          <p:sp>
            <p:nvSpPr>
              <p:cNvPr id="80909" name="Line 13"/>
              <p:cNvSpPr/>
              <p:nvPr/>
            </p:nvSpPr>
            <p:spPr>
              <a:xfrm>
                <a:off x="1584" y="816"/>
                <a:ext cx="0" cy="288"/>
              </a:xfrm>
              <a:prstGeom prst="line">
                <a:avLst/>
              </a:prstGeom>
              <a:ln w="28575" cap="flat" cmpd="sng">
                <a:solidFill>
                  <a:schemeClr val="accent2"/>
                </a:solidFill>
                <a:prstDash val="solid"/>
                <a:round/>
                <a:headEnd type="none" w="med" len="med"/>
                <a:tailEnd type="none" w="med" len="med"/>
              </a:ln>
            </p:spPr>
          </p:sp>
          <p:sp>
            <p:nvSpPr>
              <p:cNvPr id="80910" name="Line 14"/>
              <p:cNvSpPr/>
              <p:nvPr/>
            </p:nvSpPr>
            <p:spPr>
              <a:xfrm>
                <a:off x="864" y="816"/>
                <a:ext cx="0" cy="288"/>
              </a:xfrm>
              <a:prstGeom prst="line">
                <a:avLst/>
              </a:prstGeom>
              <a:ln w="28575" cap="flat" cmpd="sng">
                <a:solidFill>
                  <a:schemeClr val="accent2"/>
                </a:solidFill>
                <a:prstDash val="solid"/>
                <a:round/>
                <a:headEnd type="none" w="med" len="med"/>
                <a:tailEnd type="none" w="med" len="med"/>
              </a:ln>
            </p:spPr>
          </p:sp>
          <p:sp>
            <p:nvSpPr>
              <p:cNvPr id="838671" name="Oval 15"/>
              <p:cNvSpPr>
                <a:spLocks noChangeArrowheads="1"/>
              </p:cNvSpPr>
              <p:nvPr/>
            </p:nvSpPr>
            <p:spPr bwMode="auto">
              <a:xfrm>
                <a:off x="384"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2" name="Oval 16"/>
              <p:cNvSpPr>
                <a:spLocks noChangeArrowheads="1"/>
              </p:cNvSpPr>
              <p:nvPr/>
            </p:nvSpPr>
            <p:spPr bwMode="auto">
              <a:xfrm>
                <a:off x="720"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3" name="Oval 17"/>
              <p:cNvSpPr>
                <a:spLocks noChangeArrowheads="1"/>
              </p:cNvSpPr>
              <p:nvPr/>
            </p:nvSpPr>
            <p:spPr bwMode="auto">
              <a:xfrm>
                <a:off x="1056" y="1056"/>
                <a:ext cx="289"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4" name="Oval 18"/>
              <p:cNvSpPr>
                <a:spLocks noChangeArrowheads="1"/>
              </p:cNvSpPr>
              <p:nvPr/>
            </p:nvSpPr>
            <p:spPr bwMode="auto">
              <a:xfrm>
                <a:off x="1440"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5" name="Oval 19"/>
              <p:cNvSpPr>
                <a:spLocks noChangeArrowheads="1"/>
              </p:cNvSpPr>
              <p:nvPr/>
            </p:nvSpPr>
            <p:spPr bwMode="auto">
              <a:xfrm>
                <a:off x="1824"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6" name="Oval 20"/>
              <p:cNvSpPr>
                <a:spLocks noChangeArrowheads="1"/>
              </p:cNvSpPr>
              <p:nvPr/>
            </p:nvSpPr>
            <p:spPr bwMode="auto">
              <a:xfrm>
                <a:off x="2208"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7" name="Oval 21"/>
              <p:cNvSpPr>
                <a:spLocks noChangeArrowheads="1"/>
              </p:cNvSpPr>
              <p:nvPr/>
            </p:nvSpPr>
            <p:spPr bwMode="auto">
              <a:xfrm>
                <a:off x="1056" y="1536"/>
                <a:ext cx="289"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8" name="Oval 22"/>
              <p:cNvSpPr>
                <a:spLocks noChangeArrowheads="1"/>
              </p:cNvSpPr>
              <p:nvPr/>
            </p:nvSpPr>
            <p:spPr bwMode="auto">
              <a:xfrm>
                <a:off x="1824" y="153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9" name="Oval 23"/>
              <p:cNvSpPr>
                <a:spLocks noChangeArrowheads="1"/>
              </p:cNvSpPr>
              <p:nvPr/>
            </p:nvSpPr>
            <p:spPr bwMode="auto">
              <a:xfrm>
                <a:off x="720"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80" name="Oval 24"/>
              <p:cNvSpPr>
                <a:spLocks noChangeArrowheads="1"/>
              </p:cNvSpPr>
              <p:nvPr/>
            </p:nvSpPr>
            <p:spPr bwMode="auto">
              <a:xfrm>
                <a:off x="1440"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81" name="Oval 25"/>
              <p:cNvSpPr>
                <a:spLocks noChangeArrowheads="1"/>
              </p:cNvSpPr>
              <p:nvPr/>
            </p:nvSpPr>
            <p:spPr bwMode="auto">
              <a:xfrm>
                <a:off x="2016"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22" name="Text Box 26"/>
              <p:cNvSpPr txBox="1"/>
              <p:nvPr/>
            </p:nvSpPr>
            <p:spPr>
              <a:xfrm>
                <a:off x="720" y="51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0923" name="Text Box 27"/>
              <p:cNvSpPr txBox="1"/>
              <p:nvPr/>
            </p:nvSpPr>
            <p:spPr>
              <a:xfrm>
                <a:off x="1466" y="507"/>
                <a:ext cx="270"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80924" name="Text Box 28"/>
              <p:cNvSpPr txBox="1"/>
              <p:nvPr/>
            </p:nvSpPr>
            <p:spPr>
              <a:xfrm>
                <a:off x="2010" y="507"/>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80925" name="Text Box 29"/>
              <p:cNvSpPr txBox="1"/>
              <p:nvPr/>
            </p:nvSpPr>
            <p:spPr>
              <a:xfrm>
                <a:off x="390" y="996"/>
                <a:ext cx="28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0926" name="Text Box 30"/>
              <p:cNvSpPr txBox="1"/>
              <p:nvPr/>
            </p:nvSpPr>
            <p:spPr>
              <a:xfrm>
                <a:off x="720" y="99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0927" name="Text Box 31"/>
              <p:cNvSpPr txBox="1"/>
              <p:nvPr/>
            </p:nvSpPr>
            <p:spPr>
              <a:xfrm>
                <a:off x="1057" y="99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80928" name="Text Box 32"/>
              <p:cNvSpPr txBox="1"/>
              <p:nvPr/>
            </p:nvSpPr>
            <p:spPr>
              <a:xfrm>
                <a:off x="1434" y="996"/>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80929" name="Text Box 33"/>
              <p:cNvSpPr txBox="1"/>
              <p:nvPr/>
            </p:nvSpPr>
            <p:spPr>
              <a:xfrm>
                <a:off x="1864" y="996"/>
                <a:ext cx="21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80930" name="Text Box 34"/>
              <p:cNvSpPr txBox="1"/>
              <p:nvPr/>
            </p:nvSpPr>
            <p:spPr>
              <a:xfrm>
                <a:off x="2236" y="996"/>
                <a:ext cx="24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sp>
            <p:nvSpPr>
              <p:cNvPr id="80931" name="Text Box 35"/>
              <p:cNvSpPr txBox="1"/>
              <p:nvPr/>
            </p:nvSpPr>
            <p:spPr>
              <a:xfrm>
                <a:off x="1062" y="1475"/>
                <a:ext cx="28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80932" name="Text Box 36"/>
              <p:cNvSpPr txBox="1"/>
              <p:nvPr/>
            </p:nvSpPr>
            <p:spPr>
              <a:xfrm>
                <a:off x="1818" y="1475"/>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grpSp>
        <p:sp>
          <p:nvSpPr>
            <p:cNvPr id="5" name="矩形 4"/>
            <p:cNvSpPr/>
            <p:nvPr/>
          </p:nvSpPr>
          <p:spPr>
            <a:xfrm>
              <a:off x="5517" y="6080"/>
              <a:ext cx="5784" cy="3176"/>
            </a:xfrm>
            <a:prstGeom prst="rect">
              <a:avLst/>
            </a:prstGeom>
            <a:noFill/>
            <a:ln w="19050"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森林的遍历与二叉树遍历的关系</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森林的先序遍历，与对应的二叉树的先序遍历完全相同</a:t>
            </a:r>
            <a:endParaRPr kumimoji="0" lang="zh-CN" altLang="en-US" b="0" i="0" u="none" strike="noStrike" kern="0" cap="none" spc="0" normalizeH="0" baseline="0" noProof="0" smtClean="0">
              <a:ln>
                <a:noFill/>
              </a:ln>
              <a:solidFill>
                <a:schemeClr val="tx1"/>
              </a:solidFill>
              <a:effectLst/>
              <a:uLnTx/>
              <a:uFillTx/>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森林的中序遍历，与对应的二叉树的中序遍历完全相</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8" name="组合 7"/>
          <p:cNvGrpSpPr/>
          <p:nvPr/>
        </p:nvGrpSpPr>
        <p:grpSpPr>
          <a:xfrm>
            <a:off x="1271270" y="2853055"/>
            <a:ext cx="4817110" cy="3063240"/>
            <a:chOff x="2002" y="4493"/>
            <a:chExt cx="7586" cy="4824"/>
          </a:xfrm>
        </p:grpSpPr>
        <p:grpSp>
          <p:nvGrpSpPr>
            <p:cNvPr id="6" name="组合 5"/>
            <p:cNvGrpSpPr/>
            <p:nvPr/>
          </p:nvGrpSpPr>
          <p:grpSpPr>
            <a:xfrm>
              <a:off x="3250" y="4493"/>
              <a:ext cx="5784" cy="3176"/>
              <a:chOff x="5517" y="6080"/>
              <a:chExt cx="5784" cy="3176"/>
            </a:xfrm>
          </p:grpSpPr>
          <p:grpSp>
            <p:nvGrpSpPr>
              <p:cNvPr id="80902" name="Group 6"/>
              <p:cNvGrpSpPr/>
              <p:nvPr/>
            </p:nvGrpSpPr>
            <p:grpSpPr>
              <a:xfrm>
                <a:off x="5858" y="6098"/>
                <a:ext cx="4920" cy="2974"/>
                <a:chOff x="384" y="507"/>
                <a:chExt cx="2112" cy="1338"/>
              </a:xfrm>
            </p:grpSpPr>
            <p:sp>
              <p:nvSpPr>
                <p:cNvPr id="80903" name="Line 7"/>
                <p:cNvSpPr/>
                <p:nvPr/>
              </p:nvSpPr>
              <p:spPr>
                <a:xfrm>
                  <a:off x="2208" y="816"/>
                  <a:ext cx="144" cy="336"/>
                </a:xfrm>
                <a:prstGeom prst="line">
                  <a:avLst/>
                </a:prstGeom>
                <a:ln w="28575" cap="flat" cmpd="sng">
                  <a:solidFill>
                    <a:schemeClr val="accent2"/>
                  </a:solidFill>
                  <a:prstDash val="solid"/>
                  <a:round/>
                  <a:headEnd type="none" w="med" len="med"/>
                  <a:tailEnd type="none" w="med" len="med"/>
                </a:ln>
              </p:spPr>
            </p:sp>
            <p:sp>
              <p:nvSpPr>
                <p:cNvPr id="80904" name="Line 8"/>
                <p:cNvSpPr/>
                <p:nvPr/>
              </p:nvSpPr>
              <p:spPr>
                <a:xfrm flipH="1">
                  <a:off x="1968" y="816"/>
                  <a:ext cx="144" cy="336"/>
                </a:xfrm>
                <a:prstGeom prst="line">
                  <a:avLst/>
                </a:prstGeom>
                <a:ln w="28575" cap="flat" cmpd="sng">
                  <a:solidFill>
                    <a:schemeClr val="accent2"/>
                  </a:solidFill>
                  <a:prstDash val="solid"/>
                  <a:round/>
                  <a:headEnd type="none" w="med" len="med"/>
                  <a:tailEnd type="none" w="med" len="med"/>
                </a:ln>
              </p:spPr>
            </p:sp>
            <p:sp>
              <p:nvSpPr>
                <p:cNvPr id="80905" name="Line 9"/>
                <p:cNvSpPr/>
                <p:nvPr/>
              </p:nvSpPr>
              <p:spPr>
                <a:xfrm>
                  <a:off x="912" y="816"/>
                  <a:ext cx="240" cy="288"/>
                </a:xfrm>
                <a:prstGeom prst="line">
                  <a:avLst/>
                </a:prstGeom>
                <a:ln w="28575" cap="flat" cmpd="sng">
                  <a:solidFill>
                    <a:schemeClr val="accent2"/>
                  </a:solidFill>
                  <a:prstDash val="solid"/>
                  <a:round/>
                  <a:headEnd type="none" w="med" len="med"/>
                  <a:tailEnd type="none" w="med" len="med"/>
                </a:ln>
              </p:spPr>
            </p:sp>
            <p:sp>
              <p:nvSpPr>
                <p:cNvPr id="80906" name="Line 10"/>
                <p:cNvSpPr/>
                <p:nvPr/>
              </p:nvSpPr>
              <p:spPr>
                <a:xfrm flipH="1">
                  <a:off x="576" y="816"/>
                  <a:ext cx="240" cy="288"/>
                </a:xfrm>
                <a:prstGeom prst="line">
                  <a:avLst/>
                </a:prstGeom>
                <a:ln w="28575" cap="flat" cmpd="sng">
                  <a:solidFill>
                    <a:schemeClr val="accent2"/>
                  </a:solidFill>
                  <a:prstDash val="solid"/>
                  <a:round/>
                  <a:headEnd type="none" w="med" len="med"/>
                  <a:tailEnd type="none" w="med" len="med"/>
                </a:ln>
              </p:spPr>
            </p:sp>
            <p:sp>
              <p:nvSpPr>
                <p:cNvPr id="80907" name="Line 11"/>
                <p:cNvSpPr/>
                <p:nvPr/>
              </p:nvSpPr>
              <p:spPr>
                <a:xfrm>
                  <a:off x="1968" y="1296"/>
                  <a:ext cx="0" cy="288"/>
                </a:xfrm>
                <a:prstGeom prst="line">
                  <a:avLst/>
                </a:prstGeom>
                <a:ln w="28575" cap="flat" cmpd="sng">
                  <a:solidFill>
                    <a:schemeClr val="accent2"/>
                  </a:solidFill>
                  <a:prstDash val="solid"/>
                  <a:round/>
                  <a:headEnd type="none" w="med" len="med"/>
                  <a:tailEnd type="none" w="med" len="med"/>
                </a:ln>
              </p:spPr>
            </p:sp>
            <p:sp>
              <p:nvSpPr>
                <p:cNvPr id="80908" name="Line 12"/>
                <p:cNvSpPr/>
                <p:nvPr/>
              </p:nvSpPr>
              <p:spPr>
                <a:xfrm>
                  <a:off x="1200" y="1296"/>
                  <a:ext cx="0" cy="288"/>
                </a:xfrm>
                <a:prstGeom prst="line">
                  <a:avLst/>
                </a:prstGeom>
                <a:ln w="28575" cap="flat" cmpd="sng">
                  <a:solidFill>
                    <a:schemeClr val="accent2"/>
                  </a:solidFill>
                  <a:prstDash val="solid"/>
                  <a:round/>
                  <a:headEnd type="none" w="med" len="med"/>
                  <a:tailEnd type="none" w="med" len="med"/>
                </a:ln>
              </p:spPr>
            </p:sp>
            <p:sp>
              <p:nvSpPr>
                <p:cNvPr id="80909" name="Line 13"/>
                <p:cNvSpPr/>
                <p:nvPr/>
              </p:nvSpPr>
              <p:spPr>
                <a:xfrm>
                  <a:off x="1584" y="816"/>
                  <a:ext cx="0" cy="288"/>
                </a:xfrm>
                <a:prstGeom prst="line">
                  <a:avLst/>
                </a:prstGeom>
                <a:ln w="28575" cap="flat" cmpd="sng">
                  <a:solidFill>
                    <a:schemeClr val="accent2"/>
                  </a:solidFill>
                  <a:prstDash val="solid"/>
                  <a:round/>
                  <a:headEnd type="none" w="med" len="med"/>
                  <a:tailEnd type="none" w="med" len="med"/>
                </a:ln>
              </p:spPr>
            </p:sp>
            <p:sp>
              <p:nvSpPr>
                <p:cNvPr id="80910" name="Line 14"/>
                <p:cNvSpPr/>
                <p:nvPr/>
              </p:nvSpPr>
              <p:spPr>
                <a:xfrm>
                  <a:off x="864" y="816"/>
                  <a:ext cx="0" cy="288"/>
                </a:xfrm>
                <a:prstGeom prst="line">
                  <a:avLst/>
                </a:prstGeom>
                <a:ln w="28575" cap="flat" cmpd="sng">
                  <a:solidFill>
                    <a:schemeClr val="accent2"/>
                  </a:solidFill>
                  <a:prstDash val="solid"/>
                  <a:round/>
                  <a:headEnd type="none" w="med" len="med"/>
                  <a:tailEnd type="none" w="med" len="med"/>
                </a:ln>
              </p:spPr>
            </p:sp>
            <p:sp>
              <p:nvSpPr>
                <p:cNvPr id="838671" name="Oval 15"/>
                <p:cNvSpPr>
                  <a:spLocks noChangeArrowheads="1"/>
                </p:cNvSpPr>
                <p:nvPr/>
              </p:nvSpPr>
              <p:spPr bwMode="auto">
                <a:xfrm>
                  <a:off x="384"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2" name="Oval 16"/>
                <p:cNvSpPr>
                  <a:spLocks noChangeArrowheads="1"/>
                </p:cNvSpPr>
                <p:nvPr/>
              </p:nvSpPr>
              <p:spPr bwMode="auto">
                <a:xfrm>
                  <a:off x="720"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3" name="Oval 17"/>
                <p:cNvSpPr>
                  <a:spLocks noChangeArrowheads="1"/>
                </p:cNvSpPr>
                <p:nvPr/>
              </p:nvSpPr>
              <p:spPr bwMode="auto">
                <a:xfrm>
                  <a:off x="1056" y="1056"/>
                  <a:ext cx="289"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4" name="Oval 18"/>
                <p:cNvSpPr>
                  <a:spLocks noChangeArrowheads="1"/>
                </p:cNvSpPr>
                <p:nvPr/>
              </p:nvSpPr>
              <p:spPr bwMode="auto">
                <a:xfrm>
                  <a:off x="1440"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5" name="Oval 19"/>
                <p:cNvSpPr>
                  <a:spLocks noChangeArrowheads="1"/>
                </p:cNvSpPr>
                <p:nvPr/>
              </p:nvSpPr>
              <p:spPr bwMode="auto">
                <a:xfrm>
                  <a:off x="1824"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6" name="Oval 20"/>
                <p:cNvSpPr>
                  <a:spLocks noChangeArrowheads="1"/>
                </p:cNvSpPr>
                <p:nvPr/>
              </p:nvSpPr>
              <p:spPr bwMode="auto">
                <a:xfrm>
                  <a:off x="2208" y="105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7" name="Oval 21"/>
                <p:cNvSpPr>
                  <a:spLocks noChangeArrowheads="1"/>
                </p:cNvSpPr>
                <p:nvPr/>
              </p:nvSpPr>
              <p:spPr bwMode="auto">
                <a:xfrm>
                  <a:off x="1056" y="1536"/>
                  <a:ext cx="289"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8" name="Oval 22"/>
                <p:cNvSpPr>
                  <a:spLocks noChangeArrowheads="1"/>
                </p:cNvSpPr>
                <p:nvPr/>
              </p:nvSpPr>
              <p:spPr bwMode="auto">
                <a:xfrm>
                  <a:off x="1824" y="1536"/>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79" name="Oval 23"/>
                <p:cNvSpPr>
                  <a:spLocks noChangeArrowheads="1"/>
                </p:cNvSpPr>
                <p:nvPr/>
              </p:nvSpPr>
              <p:spPr bwMode="auto">
                <a:xfrm>
                  <a:off x="720"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80" name="Oval 24"/>
                <p:cNvSpPr>
                  <a:spLocks noChangeArrowheads="1"/>
                </p:cNvSpPr>
                <p:nvPr/>
              </p:nvSpPr>
              <p:spPr bwMode="auto">
                <a:xfrm>
                  <a:off x="1440"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81" name="Oval 25"/>
                <p:cNvSpPr>
                  <a:spLocks noChangeArrowheads="1"/>
                </p:cNvSpPr>
                <p:nvPr/>
              </p:nvSpPr>
              <p:spPr bwMode="auto">
                <a:xfrm>
                  <a:off x="2016" y="575"/>
                  <a:ext cx="288" cy="289"/>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22" name="Text Box 26"/>
                <p:cNvSpPr txBox="1"/>
                <p:nvPr/>
              </p:nvSpPr>
              <p:spPr>
                <a:xfrm>
                  <a:off x="720" y="51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80923" name="Text Box 27"/>
                <p:cNvSpPr txBox="1"/>
                <p:nvPr/>
              </p:nvSpPr>
              <p:spPr>
                <a:xfrm>
                  <a:off x="1466" y="507"/>
                  <a:ext cx="270"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80924" name="Text Box 28"/>
                <p:cNvSpPr txBox="1"/>
                <p:nvPr/>
              </p:nvSpPr>
              <p:spPr>
                <a:xfrm>
                  <a:off x="2010" y="507"/>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80925" name="Text Box 29"/>
                <p:cNvSpPr txBox="1"/>
                <p:nvPr/>
              </p:nvSpPr>
              <p:spPr>
                <a:xfrm>
                  <a:off x="390" y="996"/>
                  <a:ext cx="28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0926" name="Text Box 30"/>
                <p:cNvSpPr txBox="1"/>
                <p:nvPr/>
              </p:nvSpPr>
              <p:spPr>
                <a:xfrm>
                  <a:off x="720" y="99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0927" name="Text Box 31"/>
                <p:cNvSpPr txBox="1"/>
                <p:nvPr/>
              </p:nvSpPr>
              <p:spPr>
                <a:xfrm>
                  <a:off x="1057" y="996"/>
                  <a:ext cx="29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80928" name="Text Box 32"/>
                <p:cNvSpPr txBox="1"/>
                <p:nvPr/>
              </p:nvSpPr>
              <p:spPr>
                <a:xfrm>
                  <a:off x="1434" y="996"/>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80929" name="Text Box 33"/>
                <p:cNvSpPr txBox="1"/>
                <p:nvPr/>
              </p:nvSpPr>
              <p:spPr>
                <a:xfrm>
                  <a:off x="1864" y="996"/>
                  <a:ext cx="217"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80930" name="Text Box 34"/>
                <p:cNvSpPr txBox="1"/>
                <p:nvPr/>
              </p:nvSpPr>
              <p:spPr>
                <a:xfrm>
                  <a:off x="2236" y="996"/>
                  <a:ext cx="24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sp>
              <p:nvSpPr>
                <p:cNvPr id="80931" name="Text Box 35"/>
                <p:cNvSpPr txBox="1"/>
                <p:nvPr/>
              </p:nvSpPr>
              <p:spPr>
                <a:xfrm>
                  <a:off x="1062" y="1475"/>
                  <a:ext cx="284"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80932" name="Text Box 36"/>
                <p:cNvSpPr txBox="1"/>
                <p:nvPr/>
              </p:nvSpPr>
              <p:spPr>
                <a:xfrm>
                  <a:off x="1818" y="1475"/>
                  <a:ext cx="311" cy="370"/>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grpSp>
          <p:sp>
            <p:nvSpPr>
              <p:cNvPr id="5" name="矩形 4"/>
              <p:cNvSpPr/>
              <p:nvPr/>
            </p:nvSpPr>
            <p:spPr>
              <a:xfrm>
                <a:off x="5517" y="6080"/>
                <a:ext cx="5784" cy="3176"/>
              </a:xfrm>
              <a:prstGeom prst="rect">
                <a:avLst/>
              </a:prstGeom>
              <a:noFill/>
              <a:ln w="19050"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
          <p:nvSpPr>
            <p:cNvPr id="7" name="文本框 6"/>
            <p:cNvSpPr txBox="1"/>
            <p:nvPr/>
          </p:nvSpPr>
          <p:spPr>
            <a:xfrm>
              <a:off x="2002" y="7895"/>
              <a:ext cx="7586" cy="1423"/>
            </a:xfrm>
            <a:prstGeom prst="rect">
              <a:avLst/>
            </a:prstGeom>
          </p:spPr>
          <p:txBody>
            <a:bodyPr vert="horz" wrap="square" lIns="91440" tIns="45720" rIns="91440" bIns="45720" rtlCol="0" anchor="t">
              <a:spAutoFit/>
            </a:bodyPr>
            <a:p>
              <a:pPr marL="609600" marR="0" lvl="1" indent="0" algn="l" defTabSz="1219200" rtl="0" eaLnBrk="1" fontAlgn="base" latinLnBrk="0" hangingPunct="1">
                <a:lnSpc>
                  <a:spcPct val="100000"/>
                </a:lnSpc>
                <a:spcBef>
                  <a:spcPct val="20000"/>
                </a:spcBef>
                <a:buClrTx/>
                <a:buSzTx/>
                <a:buNone/>
              </a:pPr>
              <a:r>
                <a:rPr lang="en-US" altLang="zh-CN" sz="2400" b="1" dirty="0">
                  <a:solidFill>
                    <a:schemeClr val="hlink"/>
                  </a:solidFill>
                  <a:sym typeface="+mn-ea"/>
                </a:rPr>
                <a:t>先序遍历：ABCDEFGHIKJ</a:t>
              </a:r>
              <a:endParaRPr lang="en-US" altLang="zh-CN" sz="2400" b="1" dirty="0">
                <a:solidFill>
                  <a:schemeClr val="hlink"/>
                </a:solidFill>
                <a:sym typeface="+mn-ea"/>
              </a:endParaRPr>
            </a:p>
            <a:p>
              <a:pPr marL="609600" marR="0" lvl="1" algn="l" defTabSz="1219200" rtl="0" eaLnBrk="1" fontAlgn="base" latinLnBrk="0" hangingPunct="1">
                <a:lnSpc>
                  <a:spcPct val="100000"/>
                </a:lnSpc>
                <a:spcBef>
                  <a:spcPct val="20000"/>
                </a:spcBef>
                <a:buClrTx/>
                <a:buSzTx/>
                <a:buNone/>
              </a:pPr>
              <a:r>
                <a:rPr lang="en-US" altLang="zh-CN" sz="2400" b="1" dirty="0">
                  <a:solidFill>
                    <a:schemeClr val="hlink"/>
                  </a:solidFill>
                  <a:sym typeface="+mn-ea"/>
                </a:rPr>
                <a:t>中序遍历：BCEDAGFKIJH</a:t>
              </a:r>
              <a:endParaRPr lang="en-US" altLang="zh-CN" sz="2400" b="1" dirty="0">
                <a:solidFill>
                  <a:schemeClr val="hlink"/>
                </a:solidFill>
                <a:sym typeface="+mn-ea"/>
              </a:endParaRPr>
            </a:p>
          </p:txBody>
        </p:sp>
      </p:grpSp>
      <p:grpSp>
        <p:nvGrpSpPr>
          <p:cNvPr id="80933" name="Group 37"/>
          <p:cNvGrpSpPr/>
          <p:nvPr/>
        </p:nvGrpSpPr>
        <p:grpSpPr>
          <a:xfrm>
            <a:off x="7247890" y="2708953"/>
            <a:ext cx="3508375" cy="2808244"/>
            <a:chOff x="3072" y="2303"/>
            <a:chExt cx="2210" cy="1769"/>
          </a:xfrm>
        </p:grpSpPr>
        <p:sp>
          <p:nvSpPr>
            <p:cNvPr id="80934" name="Line 38"/>
            <p:cNvSpPr/>
            <p:nvPr/>
          </p:nvSpPr>
          <p:spPr>
            <a:xfrm>
              <a:off x="4032" y="2541"/>
              <a:ext cx="480" cy="234"/>
            </a:xfrm>
            <a:prstGeom prst="line">
              <a:avLst/>
            </a:prstGeom>
            <a:ln w="38100" cap="flat" cmpd="sng">
              <a:solidFill>
                <a:srgbClr val="009900"/>
              </a:solidFill>
              <a:prstDash val="solid"/>
              <a:round/>
              <a:headEnd type="none" w="med" len="med"/>
              <a:tailEnd type="none" w="med" len="med"/>
            </a:ln>
          </p:spPr>
        </p:sp>
        <p:sp>
          <p:nvSpPr>
            <p:cNvPr id="80935" name="Line 39"/>
            <p:cNvSpPr/>
            <p:nvPr/>
          </p:nvSpPr>
          <p:spPr>
            <a:xfrm flipH="1">
              <a:off x="3648" y="3607"/>
              <a:ext cx="240" cy="234"/>
            </a:xfrm>
            <a:prstGeom prst="line">
              <a:avLst/>
            </a:prstGeom>
            <a:ln w="28575" cap="flat" cmpd="sng">
              <a:solidFill>
                <a:schemeClr val="accent2"/>
              </a:solidFill>
              <a:prstDash val="solid"/>
              <a:round/>
              <a:headEnd type="none" w="med" len="med"/>
              <a:tailEnd type="none" w="med" len="med"/>
            </a:ln>
          </p:spPr>
        </p:sp>
        <p:sp>
          <p:nvSpPr>
            <p:cNvPr id="80936" name="Line 40"/>
            <p:cNvSpPr/>
            <p:nvPr/>
          </p:nvSpPr>
          <p:spPr>
            <a:xfrm>
              <a:off x="3264" y="2953"/>
              <a:ext cx="624" cy="561"/>
            </a:xfrm>
            <a:prstGeom prst="line">
              <a:avLst/>
            </a:prstGeom>
            <a:ln w="28575" cap="flat" cmpd="sng">
              <a:solidFill>
                <a:schemeClr val="accent2"/>
              </a:solidFill>
              <a:prstDash val="solid"/>
              <a:round/>
              <a:headEnd type="none" w="med" len="med"/>
              <a:tailEnd type="none" w="med" len="med"/>
            </a:ln>
          </p:spPr>
        </p:sp>
        <p:sp>
          <p:nvSpPr>
            <p:cNvPr id="80937" name="Line 41"/>
            <p:cNvSpPr/>
            <p:nvPr/>
          </p:nvSpPr>
          <p:spPr>
            <a:xfrm flipH="1">
              <a:off x="3264" y="2588"/>
              <a:ext cx="528" cy="318"/>
            </a:xfrm>
            <a:prstGeom prst="line">
              <a:avLst/>
            </a:prstGeom>
            <a:ln w="28575" cap="flat" cmpd="sng">
              <a:solidFill>
                <a:schemeClr val="accent2"/>
              </a:solidFill>
              <a:prstDash val="solid"/>
              <a:round/>
              <a:headEnd type="none" w="med" len="med"/>
              <a:tailEnd type="none" w="med" len="med"/>
            </a:ln>
          </p:spPr>
        </p:sp>
        <p:sp>
          <p:nvSpPr>
            <p:cNvPr id="838698" name="Oval 42"/>
            <p:cNvSpPr>
              <a:spLocks noChangeArrowheads="1"/>
            </p:cNvSpPr>
            <p:nvPr/>
          </p:nvSpPr>
          <p:spPr bwMode="auto">
            <a:xfrm>
              <a:off x="3072" y="2813"/>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699" name="Oval 43"/>
            <p:cNvSpPr>
              <a:spLocks noChangeArrowheads="1"/>
            </p:cNvSpPr>
            <p:nvPr/>
          </p:nvSpPr>
          <p:spPr bwMode="auto">
            <a:xfrm>
              <a:off x="3792" y="3420"/>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00" name="Oval 44"/>
            <p:cNvSpPr>
              <a:spLocks noChangeArrowheads="1"/>
            </p:cNvSpPr>
            <p:nvPr/>
          </p:nvSpPr>
          <p:spPr bwMode="auto">
            <a:xfrm>
              <a:off x="3456" y="3093"/>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01" name="Oval 45"/>
            <p:cNvSpPr>
              <a:spLocks noChangeArrowheads="1"/>
            </p:cNvSpPr>
            <p:nvPr/>
          </p:nvSpPr>
          <p:spPr bwMode="auto">
            <a:xfrm>
              <a:off x="3456" y="3747"/>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80942" name="Group 46"/>
            <p:cNvGrpSpPr/>
            <p:nvPr/>
          </p:nvGrpSpPr>
          <p:grpSpPr>
            <a:xfrm>
              <a:off x="3744" y="2303"/>
              <a:ext cx="288" cy="329"/>
              <a:chOff x="3456" y="2443"/>
              <a:chExt cx="288" cy="338"/>
            </a:xfrm>
          </p:grpSpPr>
          <p:sp>
            <p:nvSpPr>
              <p:cNvPr id="838703" name="Oval 47"/>
              <p:cNvSpPr>
                <a:spLocks noChangeArrowheads="1"/>
              </p:cNvSpPr>
              <p:nvPr/>
            </p:nvSpPr>
            <p:spPr bwMode="auto">
              <a:xfrm>
                <a:off x="3456" y="2487"/>
                <a:ext cx="288" cy="288"/>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44" name="Text Box 48"/>
              <p:cNvSpPr txBox="1"/>
              <p:nvPr/>
            </p:nvSpPr>
            <p:spPr>
              <a:xfrm>
                <a:off x="3467" y="2443"/>
                <a:ext cx="277" cy="338"/>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grpSp>
        <p:sp>
          <p:nvSpPr>
            <p:cNvPr id="80945" name="Text Box 49"/>
            <p:cNvSpPr txBox="1"/>
            <p:nvPr/>
          </p:nvSpPr>
          <p:spPr>
            <a:xfrm>
              <a:off x="3088" y="2770"/>
              <a:ext cx="265"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p:txBody>
        </p:sp>
        <p:sp>
          <p:nvSpPr>
            <p:cNvPr id="80946" name="Text Box 50"/>
            <p:cNvSpPr txBox="1"/>
            <p:nvPr/>
          </p:nvSpPr>
          <p:spPr>
            <a:xfrm>
              <a:off x="3467" y="3050"/>
              <a:ext cx="277"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C</a:t>
              </a:r>
              <a:endParaRPr lang="en-US" altLang="zh-CN" sz="2400" dirty="0">
                <a:latin typeface="Times New Roman" panose="02020603050405020304" pitchFamily="18" charset="0"/>
                <a:ea typeface="宋体" panose="02010600030101010101" pitchFamily="2" charset="-122"/>
              </a:endParaRPr>
            </a:p>
          </p:txBody>
        </p:sp>
        <p:sp>
          <p:nvSpPr>
            <p:cNvPr id="80947" name="Text Box 51"/>
            <p:cNvSpPr txBox="1"/>
            <p:nvPr/>
          </p:nvSpPr>
          <p:spPr>
            <a:xfrm>
              <a:off x="3472" y="3705"/>
              <a:ext cx="265"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80948" name="Text Box 52"/>
            <p:cNvSpPr txBox="1"/>
            <p:nvPr/>
          </p:nvSpPr>
          <p:spPr>
            <a:xfrm>
              <a:off x="3803" y="3377"/>
              <a:ext cx="277"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D</a:t>
              </a:r>
              <a:endParaRPr lang="en-US" altLang="zh-CN" sz="2400" dirty="0">
                <a:latin typeface="Times New Roman" panose="02020603050405020304" pitchFamily="18" charset="0"/>
                <a:ea typeface="宋体" panose="02010600030101010101" pitchFamily="2" charset="-122"/>
              </a:endParaRPr>
            </a:p>
          </p:txBody>
        </p:sp>
        <p:sp>
          <p:nvSpPr>
            <p:cNvPr id="80949" name="Line 53"/>
            <p:cNvSpPr/>
            <p:nvPr/>
          </p:nvSpPr>
          <p:spPr>
            <a:xfrm>
              <a:off x="4848" y="3663"/>
              <a:ext cx="240" cy="187"/>
            </a:xfrm>
            <a:prstGeom prst="line">
              <a:avLst/>
            </a:prstGeom>
            <a:ln w="28575" cap="flat" cmpd="sng">
              <a:solidFill>
                <a:schemeClr val="accent2"/>
              </a:solidFill>
              <a:prstDash val="solid"/>
              <a:round/>
              <a:headEnd type="none" w="med" len="med"/>
              <a:tailEnd type="none" w="med" len="med"/>
            </a:ln>
          </p:spPr>
        </p:sp>
        <p:sp>
          <p:nvSpPr>
            <p:cNvPr id="80950" name="Line 54"/>
            <p:cNvSpPr/>
            <p:nvPr/>
          </p:nvSpPr>
          <p:spPr>
            <a:xfrm flipH="1">
              <a:off x="4512" y="3242"/>
              <a:ext cx="528" cy="561"/>
            </a:xfrm>
            <a:prstGeom prst="line">
              <a:avLst/>
            </a:prstGeom>
            <a:ln w="28575" cap="flat" cmpd="sng">
              <a:solidFill>
                <a:schemeClr val="accent2"/>
              </a:solidFill>
              <a:prstDash val="solid"/>
              <a:round/>
              <a:headEnd type="none" w="med" len="med"/>
              <a:tailEnd type="none" w="med" len="med"/>
            </a:ln>
          </p:spPr>
        </p:sp>
        <p:sp>
          <p:nvSpPr>
            <p:cNvPr id="838711" name="Oval 55"/>
            <p:cNvSpPr>
              <a:spLocks noChangeArrowheads="1"/>
            </p:cNvSpPr>
            <p:nvPr/>
          </p:nvSpPr>
          <p:spPr bwMode="auto">
            <a:xfrm>
              <a:off x="4992" y="3009"/>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12" name="Oval 56"/>
            <p:cNvSpPr>
              <a:spLocks noChangeArrowheads="1"/>
            </p:cNvSpPr>
            <p:nvPr/>
          </p:nvSpPr>
          <p:spPr bwMode="auto">
            <a:xfrm>
              <a:off x="4608" y="3429"/>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13" name="Oval 57"/>
            <p:cNvSpPr>
              <a:spLocks noChangeArrowheads="1"/>
            </p:cNvSpPr>
            <p:nvPr/>
          </p:nvSpPr>
          <p:spPr bwMode="auto">
            <a:xfrm>
              <a:off x="4255" y="3756"/>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14" name="Oval 58"/>
            <p:cNvSpPr>
              <a:spLocks noChangeArrowheads="1"/>
            </p:cNvSpPr>
            <p:nvPr/>
          </p:nvSpPr>
          <p:spPr bwMode="auto">
            <a:xfrm>
              <a:off x="4944" y="3774"/>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55" name="Text Box 59"/>
            <p:cNvSpPr txBox="1"/>
            <p:nvPr/>
          </p:nvSpPr>
          <p:spPr>
            <a:xfrm>
              <a:off x="4992" y="3004"/>
              <a:ext cx="290"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80956" name="Text Box 60"/>
            <p:cNvSpPr txBox="1"/>
            <p:nvPr/>
          </p:nvSpPr>
          <p:spPr>
            <a:xfrm>
              <a:off x="4656" y="3424"/>
              <a:ext cx="202"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I</a:t>
              </a:r>
              <a:endParaRPr lang="en-US" altLang="zh-CN" sz="2400" dirty="0">
                <a:latin typeface="Times New Roman" panose="02020603050405020304" pitchFamily="18" charset="0"/>
                <a:ea typeface="宋体" panose="02010600030101010101" pitchFamily="2" charset="-122"/>
              </a:endParaRPr>
            </a:p>
          </p:txBody>
        </p:sp>
        <p:sp>
          <p:nvSpPr>
            <p:cNvPr id="80957" name="Text Box 61"/>
            <p:cNvSpPr txBox="1"/>
            <p:nvPr/>
          </p:nvSpPr>
          <p:spPr>
            <a:xfrm>
              <a:off x="4272" y="3728"/>
              <a:ext cx="290" cy="329"/>
            </a:xfrm>
            <a:prstGeom prst="rect">
              <a:avLst/>
            </a:prstGeom>
            <a:noFill/>
            <a:ln w="38100">
              <a:noFill/>
            </a:ln>
          </p:spPr>
          <p:txBody>
            <a:bodyPr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K</a:t>
              </a:r>
              <a:endParaRPr lang="en-US" altLang="zh-CN" sz="2400" dirty="0">
                <a:latin typeface="Times New Roman" panose="02020603050405020304" pitchFamily="18" charset="0"/>
                <a:ea typeface="宋体" panose="02010600030101010101" pitchFamily="2" charset="-122"/>
              </a:endParaRPr>
            </a:p>
          </p:txBody>
        </p:sp>
        <p:sp>
          <p:nvSpPr>
            <p:cNvPr id="80958" name="Line 62"/>
            <p:cNvSpPr/>
            <p:nvPr/>
          </p:nvSpPr>
          <p:spPr>
            <a:xfrm flipH="1">
              <a:off x="4298" y="2869"/>
              <a:ext cx="288" cy="280"/>
            </a:xfrm>
            <a:prstGeom prst="line">
              <a:avLst/>
            </a:prstGeom>
            <a:ln w="28575" cap="flat" cmpd="sng">
              <a:solidFill>
                <a:schemeClr val="accent2"/>
              </a:solidFill>
              <a:prstDash val="solid"/>
              <a:round/>
              <a:headEnd type="none" w="med" len="med"/>
              <a:tailEnd type="none" w="med" len="med"/>
            </a:ln>
          </p:spPr>
        </p:sp>
        <p:sp>
          <p:nvSpPr>
            <p:cNvPr id="838719" name="Oval 63"/>
            <p:cNvSpPr>
              <a:spLocks noChangeArrowheads="1"/>
            </p:cNvSpPr>
            <p:nvPr/>
          </p:nvSpPr>
          <p:spPr bwMode="auto">
            <a:xfrm>
              <a:off x="4490" y="2682"/>
              <a:ext cx="288" cy="280"/>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38720" name="Oval 64"/>
            <p:cNvSpPr>
              <a:spLocks noChangeArrowheads="1"/>
            </p:cNvSpPr>
            <p:nvPr/>
          </p:nvSpPr>
          <p:spPr bwMode="auto">
            <a:xfrm>
              <a:off x="4106" y="3055"/>
              <a:ext cx="288" cy="281"/>
            </a:xfrm>
            <a:prstGeom prst="ellipse">
              <a:avLst/>
            </a:prstGeom>
            <a:solidFill>
              <a:srgbClr val="FFFFCC"/>
            </a:solidFill>
            <a:ln w="19050">
              <a:solidFill>
                <a:schemeClr val="accent2"/>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961" name="Text Box 65"/>
            <p:cNvSpPr txBox="1"/>
            <p:nvPr/>
          </p:nvSpPr>
          <p:spPr>
            <a:xfrm>
              <a:off x="4513" y="2677"/>
              <a:ext cx="252"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80962" name="Text Box 66"/>
            <p:cNvSpPr txBox="1"/>
            <p:nvPr/>
          </p:nvSpPr>
          <p:spPr>
            <a:xfrm>
              <a:off x="4110" y="3012"/>
              <a:ext cx="290" cy="329"/>
            </a:xfrm>
            <a:prstGeom prst="rect">
              <a:avLst/>
            </a:prstGeom>
            <a:noFill/>
            <a:ln w="38100">
              <a:noFill/>
            </a:ln>
          </p:spPr>
          <p:txBody>
            <a:bodyPr wrap="none"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G</a:t>
              </a:r>
              <a:endParaRPr lang="en-US" altLang="zh-CN" sz="2400" dirty="0">
                <a:latin typeface="Times New Roman" panose="02020603050405020304" pitchFamily="18" charset="0"/>
                <a:ea typeface="宋体" panose="02010600030101010101" pitchFamily="2" charset="-122"/>
              </a:endParaRPr>
            </a:p>
          </p:txBody>
        </p:sp>
        <p:sp>
          <p:nvSpPr>
            <p:cNvPr id="80963" name="Line 67"/>
            <p:cNvSpPr/>
            <p:nvPr/>
          </p:nvSpPr>
          <p:spPr>
            <a:xfrm>
              <a:off x="4752" y="2915"/>
              <a:ext cx="288" cy="140"/>
            </a:xfrm>
            <a:prstGeom prst="line">
              <a:avLst/>
            </a:prstGeom>
            <a:ln w="38100" cap="flat" cmpd="sng">
              <a:solidFill>
                <a:srgbClr val="009900"/>
              </a:solidFill>
              <a:prstDash val="solid"/>
              <a:round/>
              <a:headEnd type="none" w="med" len="med"/>
              <a:tailEnd type="none" w="med" len="med"/>
            </a:ln>
          </p:spPr>
        </p:sp>
        <p:sp>
          <p:nvSpPr>
            <p:cNvPr id="80964" name="Text Box 68"/>
            <p:cNvSpPr txBox="1"/>
            <p:nvPr/>
          </p:nvSpPr>
          <p:spPr>
            <a:xfrm>
              <a:off x="4992" y="3743"/>
              <a:ext cx="240" cy="329"/>
            </a:xfrm>
            <a:prstGeom prst="rect">
              <a:avLst/>
            </a:prstGeom>
            <a:noFill/>
            <a:ln w="38100">
              <a:noFill/>
            </a:ln>
          </p:spPr>
          <p:txBody>
            <a:bodyPr anchor="ctr" anchorCtr="0">
              <a:spAutoFit/>
            </a:bodyPr>
            <a:p>
              <a:pPr algn="ctr"/>
              <a:r>
                <a:rPr lang="en-US" altLang="zh-CN" sz="2800" b="1" dirty="0">
                  <a:solidFill>
                    <a:srgbClr val="CC3300"/>
                  </a:solidFill>
                  <a:latin typeface="Times New Roman" panose="02020603050405020304" pitchFamily="18" charset="0"/>
                  <a:ea typeface="宋体" panose="02010600030101010101" pitchFamily="2" charset="-122"/>
                </a:rPr>
                <a:t>J</a:t>
              </a:r>
              <a:endParaRPr lang="en-US" altLang="zh-CN" sz="2400" dirty="0">
                <a:latin typeface="Times New Roman" panose="02020603050405020304" pitchFamily="18" charset="0"/>
                <a:ea typeface="宋体" panose="02010600030101010101" pitchFamily="2" charset="-122"/>
              </a:endParaRPr>
            </a:p>
          </p:txBody>
        </p:sp>
      </p:gr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05740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树、森林遍历与二叉树遍历</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树遍历没有中序遍历，只有先序遍历、后序遍历</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森林遍历没有后序遍历，只有先序遍历、中序遍历</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树先序遍历</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二叉树先序遍历</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树后序遍历</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二叉树中序遍历</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森林先序遍历</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二叉树先序遍历</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noProof="0" smtClean="0">
                <a:ln>
                  <a:noFill/>
                </a:ln>
                <a:effectLst/>
                <a:uLnTx/>
                <a:uFillTx/>
                <a:latin typeface="黑体" panose="02010609060101010101" pitchFamily="2" charset="-122"/>
                <a:ea typeface="黑体" panose="02010609060101010101" pitchFamily="2" charset="-122"/>
                <a:cs typeface="+mn-ea"/>
                <a:sym typeface="+mn-ea"/>
              </a:rPr>
              <a:t>森林中序遍历</a:t>
            </a:r>
            <a:r>
              <a:rPr lang="en-US" altLang="zh-CN" noProof="0" smtClean="0">
                <a:ln>
                  <a:noFill/>
                </a:ln>
                <a:effectLst/>
                <a:uLnTx/>
                <a:uFillTx/>
                <a:latin typeface="黑体" panose="02010609060101010101" pitchFamily="2" charset="-122"/>
                <a:ea typeface="黑体" panose="02010609060101010101" pitchFamily="2" charset="-122"/>
                <a:cs typeface="+mn-ea"/>
                <a:sym typeface="+mn-ea"/>
              </a:rPr>
              <a:t>==</a:t>
            </a:r>
            <a:r>
              <a:rPr lang="zh-CN" altLang="en-US" noProof="0" smtClean="0">
                <a:ln>
                  <a:noFill/>
                </a:ln>
                <a:effectLst/>
                <a:uLnTx/>
                <a:uFillTx/>
                <a:latin typeface="黑体" panose="02010609060101010101" pitchFamily="2" charset="-122"/>
                <a:ea typeface="黑体" panose="02010609060101010101" pitchFamily="2" charset="-122"/>
                <a:cs typeface="+mn-ea"/>
                <a:sym typeface="+mn-ea"/>
              </a:rPr>
              <a:t>二叉树中序遍历</a:t>
            </a: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noProof="0" smtClean="0">
              <a:ln>
                <a:noFill/>
              </a:ln>
              <a:effectLst/>
              <a:uLnTx/>
              <a:uFillTx/>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noProof="0" smtClean="0">
              <a:ln>
                <a:noFill/>
              </a:ln>
              <a:solidFill>
                <a:srgbClr val="FF0000"/>
              </a:solidFill>
              <a:effectLst/>
              <a:uLnTx/>
              <a:uFillTx/>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6.4 </a:t>
            </a:r>
            <a:r>
              <a:rPr lang="zh-CN" altLang="en-US" dirty="0">
                <a:latin typeface="楷体" panose="02010609060101010101" charset="-122"/>
                <a:ea typeface="楷体" panose="02010609060101010101" charset="-122"/>
                <a:sym typeface="+mn-ea"/>
              </a:rPr>
              <a:t>树和森林</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R="0" lvl="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已知一棵树如下所示，完成以下要求</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请分别用双亲表示法、孩子表示法、孩子兄弟表示法给出该树的存储结构</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请将这棵树转换成二叉树</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请给出该树的先序遍历序列和后序遍历序列。</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87045" name="Group 33"/>
          <p:cNvGrpSpPr/>
          <p:nvPr/>
        </p:nvGrpSpPr>
        <p:grpSpPr>
          <a:xfrm rot="0">
            <a:off x="3359785" y="3140710"/>
            <a:ext cx="3238500" cy="1828165"/>
            <a:chOff x="0" y="0"/>
            <a:chExt cx="2040" cy="1152"/>
          </a:xfrm>
        </p:grpSpPr>
        <p:sp>
          <p:nvSpPr>
            <p:cNvPr id="87046" name="Oval 34"/>
            <p:cNvSpPr/>
            <p:nvPr/>
          </p:nvSpPr>
          <p:spPr>
            <a:xfrm>
              <a:off x="888" y="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a</a:t>
              </a:r>
              <a:endParaRPr lang="en-US" altLang="zh-CN" sz="2800" b="1" dirty="0">
                <a:latin typeface="Times New Roman" panose="02020603050405020304" pitchFamily="18" charset="0"/>
                <a:ea typeface="宋体" panose="02010600030101010101" pitchFamily="2" charset="-122"/>
              </a:endParaRPr>
            </a:p>
          </p:txBody>
        </p:sp>
        <p:sp>
          <p:nvSpPr>
            <p:cNvPr id="87047" name="Oval 35"/>
            <p:cNvSpPr/>
            <p:nvPr/>
          </p:nvSpPr>
          <p:spPr>
            <a:xfrm>
              <a:off x="0" y="885"/>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d</a:t>
              </a:r>
              <a:endParaRPr lang="en-US" altLang="zh-CN" sz="2800" b="1" dirty="0">
                <a:latin typeface="Times New Roman" panose="02020603050405020304" pitchFamily="18" charset="0"/>
                <a:ea typeface="宋体" panose="02010600030101010101" pitchFamily="2" charset="-122"/>
              </a:endParaRPr>
            </a:p>
          </p:txBody>
        </p:sp>
        <p:sp>
          <p:nvSpPr>
            <p:cNvPr id="87048" name="Oval 36"/>
            <p:cNvSpPr/>
            <p:nvPr/>
          </p:nvSpPr>
          <p:spPr>
            <a:xfrm>
              <a:off x="304" y="896"/>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e</a:t>
              </a:r>
              <a:endParaRPr lang="en-US" altLang="zh-CN" sz="2800" b="1" dirty="0">
                <a:latin typeface="Times New Roman" panose="02020603050405020304" pitchFamily="18" charset="0"/>
                <a:ea typeface="宋体" panose="02010600030101010101" pitchFamily="2" charset="-122"/>
              </a:endParaRPr>
            </a:p>
          </p:txBody>
        </p:sp>
        <p:sp>
          <p:nvSpPr>
            <p:cNvPr id="87049" name="Oval 37"/>
            <p:cNvSpPr/>
            <p:nvPr/>
          </p:nvSpPr>
          <p:spPr>
            <a:xfrm>
              <a:off x="304" y="448"/>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b</a:t>
              </a:r>
              <a:endParaRPr lang="en-US" altLang="zh-CN" sz="2800" b="1" dirty="0">
                <a:latin typeface="Times New Roman" panose="02020603050405020304" pitchFamily="18" charset="0"/>
                <a:ea typeface="宋体" panose="02010600030101010101" pitchFamily="2" charset="-122"/>
              </a:endParaRPr>
            </a:p>
          </p:txBody>
        </p:sp>
        <p:sp>
          <p:nvSpPr>
            <p:cNvPr id="87050" name="Line 38"/>
            <p:cNvSpPr/>
            <p:nvPr/>
          </p:nvSpPr>
          <p:spPr>
            <a:xfrm flipH="1">
              <a:off x="160" y="640"/>
              <a:ext cx="181" cy="249"/>
            </a:xfrm>
            <a:prstGeom prst="line">
              <a:avLst/>
            </a:prstGeom>
            <a:ln w="28575" cap="flat" cmpd="sng">
              <a:solidFill>
                <a:schemeClr val="tx1"/>
              </a:solidFill>
              <a:prstDash val="solid"/>
              <a:round/>
              <a:headEnd type="none" w="med" len="med"/>
              <a:tailEnd type="none" w="med" len="med"/>
            </a:ln>
          </p:spPr>
        </p:sp>
        <p:sp>
          <p:nvSpPr>
            <p:cNvPr id="87051" name="Line 39"/>
            <p:cNvSpPr/>
            <p:nvPr/>
          </p:nvSpPr>
          <p:spPr>
            <a:xfrm>
              <a:off x="432" y="672"/>
              <a:ext cx="0" cy="227"/>
            </a:xfrm>
            <a:prstGeom prst="line">
              <a:avLst/>
            </a:prstGeom>
            <a:ln w="28575" cap="flat" cmpd="sng">
              <a:solidFill>
                <a:schemeClr val="tx1"/>
              </a:solidFill>
              <a:prstDash val="solid"/>
              <a:round/>
              <a:headEnd type="none" w="med" len="med"/>
              <a:tailEnd type="none" w="med" len="med"/>
            </a:ln>
          </p:spPr>
        </p:sp>
        <p:sp>
          <p:nvSpPr>
            <p:cNvPr id="87052" name="Oval 40"/>
            <p:cNvSpPr/>
            <p:nvPr/>
          </p:nvSpPr>
          <p:spPr>
            <a:xfrm>
              <a:off x="1503" y="909"/>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f</a:t>
              </a:r>
              <a:endParaRPr lang="en-US" altLang="zh-CN" sz="2800" b="1" dirty="0">
                <a:latin typeface="Times New Roman" panose="02020603050405020304" pitchFamily="18" charset="0"/>
                <a:ea typeface="宋体" panose="02010600030101010101" pitchFamily="2" charset="-122"/>
              </a:endParaRPr>
            </a:p>
          </p:txBody>
        </p:sp>
        <p:sp>
          <p:nvSpPr>
            <p:cNvPr id="87053" name="Oval 41"/>
            <p:cNvSpPr/>
            <p:nvPr/>
          </p:nvSpPr>
          <p:spPr>
            <a:xfrm>
              <a:off x="1192" y="909"/>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g</a:t>
              </a:r>
              <a:endParaRPr lang="en-US" altLang="zh-CN" sz="2800" b="1" dirty="0">
                <a:latin typeface="Times New Roman" panose="02020603050405020304" pitchFamily="18" charset="0"/>
                <a:ea typeface="宋体" panose="02010600030101010101" pitchFamily="2" charset="-122"/>
              </a:endParaRPr>
            </a:p>
          </p:txBody>
        </p:sp>
        <p:sp>
          <p:nvSpPr>
            <p:cNvPr id="87054" name="Oval 42"/>
            <p:cNvSpPr/>
            <p:nvPr/>
          </p:nvSpPr>
          <p:spPr>
            <a:xfrm>
              <a:off x="1463" y="448"/>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m</a:t>
              </a:r>
              <a:endParaRPr lang="en-US" altLang="zh-CN" sz="2800" b="1" dirty="0">
                <a:latin typeface="Times New Roman" panose="02020603050405020304" pitchFamily="18" charset="0"/>
                <a:ea typeface="宋体" panose="02010600030101010101" pitchFamily="2" charset="-122"/>
              </a:endParaRPr>
            </a:p>
          </p:txBody>
        </p:sp>
        <p:sp>
          <p:nvSpPr>
            <p:cNvPr id="87055" name="Line 43"/>
            <p:cNvSpPr/>
            <p:nvPr/>
          </p:nvSpPr>
          <p:spPr>
            <a:xfrm flipH="1">
              <a:off x="1608" y="672"/>
              <a:ext cx="0" cy="249"/>
            </a:xfrm>
            <a:prstGeom prst="line">
              <a:avLst/>
            </a:prstGeom>
            <a:ln w="28575" cap="flat" cmpd="sng">
              <a:solidFill>
                <a:schemeClr val="tx1"/>
              </a:solidFill>
              <a:prstDash val="solid"/>
              <a:round/>
              <a:headEnd type="none" w="med" len="med"/>
              <a:tailEnd type="none" w="med" len="med"/>
            </a:ln>
          </p:spPr>
        </p:sp>
        <p:sp>
          <p:nvSpPr>
            <p:cNvPr id="87056" name="Line 44"/>
            <p:cNvSpPr/>
            <p:nvPr/>
          </p:nvSpPr>
          <p:spPr>
            <a:xfrm>
              <a:off x="1096" y="640"/>
              <a:ext cx="204" cy="272"/>
            </a:xfrm>
            <a:prstGeom prst="line">
              <a:avLst/>
            </a:prstGeom>
            <a:ln w="28575" cap="flat" cmpd="sng">
              <a:solidFill>
                <a:schemeClr val="tx1"/>
              </a:solidFill>
              <a:prstDash val="solid"/>
              <a:round/>
              <a:headEnd type="none" w="med" len="med"/>
              <a:tailEnd type="none" w="med" len="med"/>
            </a:ln>
          </p:spPr>
        </p:sp>
        <p:sp>
          <p:nvSpPr>
            <p:cNvPr id="87057" name="Line 45"/>
            <p:cNvSpPr/>
            <p:nvPr/>
          </p:nvSpPr>
          <p:spPr>
            <a:xfrm flipH="1">
              <a:off x="480" y="184"/>
              <a:ext cx="453" cy="272"/>
            </a:xfrm>
            <a:prstGeom prst="line">
              <a:avLst/>
            </a:prstGeom>
            <a:ln w="28575" cap="flat" cmpd="sng">
              <a:solidFill>
                <a:schemeClr val="tx1"/>
              </a:solidFill>
              <a:prstDash val="solid"/>
              <a:round/>
              <a:headEnd type="none" w="med" len="med"/>
              <a:tailEnd type="none" w="med" len="med"/>
            </a:ln>
          </p:spPr>
        </p:sp>
        <p:sp>
          <p:nvSpPr>
            <p:cNvPr id="87058" name="Line 46"/>
            <p:cNvSpPr/>
            <p:nvPr/>
          </p:nvSpPr>
          <p:spPr>
            <a:xfrm>
              <a:off x="1112" y="179"/>
              <a:ext cx="453" cy="272"/>
            </a:xfrm>
            <a:prstGeom prst="line">
              <a:avLst/>
            </a:prstGeom>
            <a:ln w="28575" cap="flat" cmpd="sng">
              <a:solidFill>
                <a:schemeClr val="tx1"/>
              </a:solidFill>
              <a:prstDash val="solid"/>
              <a:round/>
              <a:headEnd type="none" w="med" len="med"/>
              <a:tailEnd type="none" w="med" len="med"/>
            </a:ln>
          </p:spPr>
        </p:sp>
        <p:sp>
          <p:nvSpPr>
            <p:cNvPr id="87059" name="Oval 47"/>
            <p:cNvSpPr/>
            <p:nvPr/>
          </p:nvSpPr>
          <p:spPr>
            <a:xfrm>
              <a:off x="615" y="925"/>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h</a:t>
              </a:r>
              <a:endParaRPr lang="en-US" altLang="zh-CN" sz="2800" b="1" dirty="0">
                <a:latin typeface="Times New Roman" panose="02020603050405020304" pitchFamily="18" charset="0"/>
                <a:ea typeface="宋体" panose="02010600030101010101" pitchFamily="2" charset="-122"/>
              </a:endParaRPr>
            </a:p>
          </p:txBody>
        </p:sp>
        <p:sp>
          <p:nvSpPr>
            <p:cNvPr id="87060" name="Oval 48"/>
            <p:cNvSpPr/>
            <p:nvPr/>
          </p:nvSpPr>
          <p:spPr>
            <a:xfrm>
              <a:off x="904" y="909"/>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k</a:t>
              </a:r>
              <a:endParaRPr lang="en-US" altLang="zh-CN" sz="2800" b="1" dirty="0">
                <a:latin typeface="Times New Roman" panose="02020603050405020304" pitchFamily="18" charset="0"/>
                <a:ea typeface="宋体" panose="02010600030101010101" pitchFamily="2" charset="-122"/>
              </a:endParaRPr>
            </a:p>
          </p:txBody>
        </p:sp>
        <p:sp>
          <p:nvSpPr>
            <p:cNvPr id="87061" name="Line 49"/>
            <p:cNvSpPr/>
            <p:nvPr/>
          </p:nvSpPr>
          <p:spPr>
            <a:xfrm flipH="1">
              <a:off x="752" y="672"/>
              <a:ext cx="181" cy="249"/>
            </a:xfrm>
            <a:prstGeom prst="line">
              <a:avLst/>
            </a:prstGeom>
            <a:ln w="28575" cap="flat" cmpd="sng">
              <a:solidFill>
                <a:schemeClr val="tx1"/>
              </a:solidFill>
              <a:prstDash val="solid"/>
              <a:round/>
              <a:headEnd type="none" w="med" len="med"/>
              <a:tailEnd type="none" w="med" len="med"/>
            </a:ln>
          </p:spPr>
        </p:sp>
        <p:sp>
          <p:nvSpPr>
            <p:cNvPr id="87062" name="Line 50"/>
            <p:cNvSpPr/>
            <p:nvPr/>
          </p:nvSpPr>
          <p:spPr>
            <a:xfrm>
              <a:off x="1024" y="696"/>
              <a:ext cx="0" cy="227"/>
            </a:xfrm>
            <a:prstGeom prst="line">
              <a:avLst/>
            </a:prstGeom>
            <a:ln w="28575" cap="flat" cmpd="sng">
              <a:solidFill>
                <a:schemeClr val="tx1"/>
              </a:solidFill>
              <a:prstDash val="solid"/>
              <a:round/>
              <a:headEnd type="none" w="med" len="med"/>
              <a:tailEnd type="none" w="med" len="med"/>
            </a:ln>
          </p:spPr>
        </p:sp>
        <p:sp>
          <p:nvSpPr>
            <p:cNvPr id="87063" name="Oval 51"/>
            <p:cNvSpPr/>
            <p:nvPr/>
          </p:nvSpPr>
          <p:spPr>
            <a:xfrm>
              <a:off x="872" y="464"/>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c</a:t>
              </a:r>
              <a:endParaRPr lang="en-US" altLang="zh-CN" sz="2800" b="1" dirty="0">
                <a:latin typeface="Times New Roman" panose="02020603050405020304" pitchFamily="18" charset="0"/>
                <a:ea typeface="宋体" panose="02010600030101010101" pitchFamily="2" charset="-122"/>
              </a:endParaRPr>
            </a:p>
          </p:txBody>
        </p:sp>
        <p:sp>
          <p:nvSpPr>
            <p:cNvPr id="87064" name="Line 52"/>
            <p:cNvSpPr/>
            <p:nvPr/>
          </p:nvSpPr>
          <p:spPr>
            <a:xfrm>
              <a:off x="1016" y="224"/>
              <a:ext cx="0" cy="240"/>
            </a:xfrm>
            <a:prstGeom prst="line">
              <a:avLst/>
            </a:prstGeom>
            <a:ln w="28575" cap="flat" cmpd="sng">
              <a:solidFill>
                <a:schemeClr val="tx1"/>
              </a:solidFill>
              <a:prstDash val="solid"/>
              <a:round/>
              <a:headEnd type="none" w="med" len="med"/>
              <a:tailEnd type="none" w="med" len="med"/>
            </a:ln>
          </p:spPr>
        </p:sp>
        <p:sp>
          <p:nvSpPr>
            <p:cNvPr id="87065" name="Oval 53"/>
            <p:cNvSpPr/>
            <p:nvPr/>
          </p:nvSpPr>
          <p:spPr>
            <a:xfrm>
              <a:off x="1791" y="901"/>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n</a:t>
              </a:r>
              <a:endParaRPr lang="en-US" altLang="zh-CN" sz="2800" b="1" dirty="0">
                <a:latin typeface="Times New Roman" panose="02020603050405020304" pitchFamily="18" charset="0"/>
                <a:ea typeface="宋体" panose="02010600030101010101" pitchFamily="2" charset="-122"/>
              </a:endParaRPr>
            </a:p>
          </p:txBody>
        </p:sp>
        <p:sp>
          <p:nvSpPr>
            <p:cNvPr id="87066" name="Line 54"/>
            <p:cNvSpPr/>
            <p:nvPr/>
          </p:nvSpPr>
          <p:spPr>
            <a:xfrm>
              <a:off x="1695" y="632"/>
              <a:ext cx="204" cy="272"/>
            </a:xfrm>
            <a:prstGeom prst="line">
              <a:avLst/>
            </a:prstGeom>
            <a:ln w="28575" cap="flat" cmpd="sng">
              <a:solidFill>
                <a:schemeClr val="tx1"/>
              </a:solidFill>
              <a:prstDash val="solid"/>
              <a:round/>
              <a:headEnd type="none" w="med" len="med"/>
              <a:tailEnd type="none" w="med" len="med"/>
            </a:ln>
          </p:spPr>
        </p:sp>
      </p:gr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R="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已知二叉树顺序存储是 ABCDEF000G00H，请画出它对应的树或森林</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已知二叉树顺序存储是 AB0CD0000E，请画出它对应的树或森林</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R="0" algn="l" defTabSz="1219200" rtl="0" eaLnBrk="1" fontAlgn="base" latinLnBrk="0" hangingPunct="1">
              <a:lnSpc>
                <a:spcPct val="100000"/>
              </a:lnSpc>
              <a:spcBef>
                <a:spcPct val="20000"/>
              </a:spcBef>
              <a:buClrTx/>
              <a:buSzTx/>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已知森林如下所示，完成以下要求</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请将森林转换成二叉树</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请给出森林的先序遍历序列和中序遍历序列</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88068" name="Group 28"/>
          <p:cNvGrpSpPr/>
          <p:nvPr/>
        </p:nvGrpSpPr>
        <p:grpSpPr>
          <a:xfrm>
            <a:off x="3503930" y="3573145"/>
            <a:ext cx="4151630" cy="1424940"/>
            <a:chOff x="1655" y="2200"/>
            <a:chExt cx="2040" cy="704"/>
          </a:xfrm>
        </p:grpSpPr>
        <p:sp>
          <p:nvSpPr>
            <p:cNvPr id="88069" name="Oval 7"/>
            <p:cNvSpPr/>
            <p:nvPr/>
          </p:nvSpPr>
          <p:spPr>
            <a:xfrm>
              <a:off x="1655" y="2637"/>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d</a:t>
              </a:r>
              <a:endParaRPr lang="en-US" altLang="zh-CN" sz="2800" b="1" dirty="0">
                <a:latin typeface="Times New Roman" panose="02020603050405020304" pitchFamily="18" charset="0"/>
                <a:ea typeface="宋体" panose="02010600030101010101" pitchFamily="2" charset="-122"/>
              </a:endParaRPr>
            </a:p>
          </p:txBody>
        </p:sp>
        <p:sp>
          <p:nvSpPr>
            <p:cNvPr id="88070" name="Oval 8"/>
            <p:cNvSpPr/>
            <p:nvPr/>
          </p:nvSpPr>
          <p:spPr>
            <a:xfrm>
              <a:off x="1959" y="2648"/>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e</a:t>
              </a:r>
              <a:endParaRPr lang="en-US" altLang="zh-CN" sz="2800" b="1" dirty="0">
                <a:latin typeface="Times New Roman" panose="02020603050405020304" pitchFamily="18" charset="0"/>
                <a:ea typeface="宋体" panose="02010600030101010101" pitchFamily="2" charset="-122"/>
              </a:endParaRPr>
            </a:p>
          </p:txBody>
        </p:sp>
        <p:sp>
          <p:nvSpPr>
            <p:cNvPr id="88071" name="Oval 9"/>
            <p:cNvSpPr/>
            <p:nvPr/>
          </p:nvSpPr>
          <p:spPr>
            <a:xfrm>
              <a:off x="1959" y="220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b</a:t>
              </a:r>
              <a:endParaRPr lang="en-US" altLang="zh-CN" sz="2800" b="1" dirty="0">
                <a:latin typeface="Times New Roman" panose="02020603050405020304" pitchFamily="18" charset="0"/>
                <a:ea typeface="宋体" panose="02010600030101010101" pitchFamily="2" charset="-122"/>
              </a:endParaRPr>
            </a:p>
          </p:txBody>
        </p:sp>
        <p:sp>
          <p:nvSpPr>
            <p:cNvPr id="88072" name="Line 10"/>
            <p:cNvSpPr/>
            <p:nvPr/>
          </p:nvSpPr>
          <p:spPr>
            <a:xfrm flipH="1">
              <a:off x="1815" y="2392"/>
              <a:ext cx="181" cy="249"/>
            </a:xfrm>
            <a:prstGeom prst="line">
              <a:avLst/>
            </a:prstGeom>
            <a:ln w="28575" cap="flat" cmpd="sng">
              <a:solidFill>
                <a:schemeClr val="tx1"/>
              </a:solidFill>
              <a:prstDash val="solid"/>
              <a:round/>
              <a:headEnd type="none" w="med" len="med"/>
              <a:tailEnd type="none" w="med" len="med"/>
            </a:ln>
          </p:spPr>
        </p:sp>
        <p:sp>
          <p:nvSpPr>
            <p:cNvPr id="88073" name="Line 11"/>
            <p:cNvSpPr/>
            <p:nvPr/>
          </p:nvSpPr>
          <p:spPr>
            <a:xfrm>
              <a:off x="2087" y="2424"/>
              <a:ext cx="0" cy="227"/>
            </a:xfrm>
            <a:prstGeom prst="line">
              <a:avLst/>
            </a:prstGeom>
            <a:ln w="28575" cap="flat" cmpd="sng">
              <a:solidFill>
                <a:schemeClr val="tx1"/>
              </a:solidFill>
              <a:prstDash val="solid"/>
              <a:round/>
              <a:headEnd type="none" w="med" len="med"/>
              <a:tailEnd type="none" w="med" len="med"/>
            </a:ln>
          </p:spPr>
        </p:sp>
        <p:sp>
          <p:nvSpPr>
            <p:cNvPr id="88074" name="Oval 12"/>
            <p:cNvSpPr/>
            <p:nvPr/>
          </p:nvSpPr>
          <p:spPr>
            <a:xfrm>
              <a:off x="3158" y="2661"/>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f</a:t>
              </a:r>
              <a:endParaRPr lang="en-US" altLang="zh-CN" sz="2800" b="1" dirty="0">
                <a:latin typeface="Times New Roman" panose="02020603050405020304" pitchFamily="18" charset="0"/>
                <a:ea typeface="宋体" panose="02010600030101010101" pitchFamily="2" charset="-122"/>
              </a:endParaRPr>
            </a:p>
          </p:txBody>
        </p:sp>
        <p:sp>
          <p:nvSpPr>
            <p:cNvPr id="88075" name="Oval 13"/>
            <p:cNvSpPr/>
            <p:nvPr/>
          </p:nvSpPr>
          <p:spPr>
            <a:xfrm>
              <a:off x="2847" y="2661"/>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g</a:t>
              </a:r>
              <a:endParaRPr lang="en-US" altLang="zh-CN" sz="2800" b="1" dirty="0">
                <a:latin typeface="Times New Roman" panose="02020603050405020304" pitchFamily="18" charset="0"/>
                <a:ea typeface="宋体" panose="02010600030101010101" pitchFamily="2" charset="-122"/>
              </a:endParaRPr>
            </a:p>
          </p:txBody>
        </p:sp>
        <p:sp>
          <p:nvSpPr>
            <p:cNvPr id="88076" name="Oval 14"/>
            <p:cNvSpPr/>
            <p:nvPr/>
          </p:nvSpPr>
          <p:spPr>
            <a:xfrm>
              <a:off x="3118" y="2200"/>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m</a:t>
              </a:r>
              <a:endParaRPr lang="en-US" altLang="zh-CN" sz="2800" b="1" dirty="0">
                <a:latin typeface="Times New Roman" panose="02020603050405020304" pitchFamily="18" charset="0"/>
                <a:ea typeface="宋体" panose="02010600030101010101" pitchFamily="2" charset="-122"/>
              </a:endParaRPr>
            </a:p>
          </p:txBody>
        </p:sp>
        <p:sp>
          <p:nvSpPr>
            <p:cNvPr id="88077" name="Line 15"/>
            <p:cNvSpPr/>
            <p:nvPr/>
          </p:nvSpPr>
          <p:spPr>
            <a:xfrm flipH="1">
              <a:off x="3263" y="2424"/>
              <a:ext cx="0" cy="249"/>
            </a:xfrm>
            <a:prstGeom prst="line">
              <a:avLst/>
            </a:prstGeom>
            <a:ln w="28575" cap="flat" cmpd="sng">
              <a:solidFill>
                <a:schemeClr val="tx1"/>
              </a:solidFill>
              <a:prstDash val="solid"/>
              <a:round/>
              <a:headEnd type="none" w="med" len="med"/>
              <a:tailEnd type="none" w="med" len="med"/>
            </a:ln>
          </p:spPr>
        </p:sp>
        <p:sp>
          <p:nvSpPr>
            <p:cNvPr id="88078" name="Line 16"/>
            <p:cNvSpPr/>
            <p:nvPr/>
          </p:nvSpPr>
          <p:spPr>
            <a:xfrm>
              <a:off x="2751" y="2392"/>
              <a:ext cx="204" cy="272"/>
            </a:xfrm>
            <a:prstGeom prst="line">
              <a:avLst/>
            </a:prstGeom>
            <a:ln w="28575" cap="flat" cmpd="sng">
              <a:solidFill>
                <a:schemeClr val="tx1"/>
              </a:solidFill>
              <a:prstDash val="solid"/>
              <a:round/>
              <a:headEnd type="none" w="med" len="med"/>
              <a:tailEnd type="none" w="med" len="med"/>
            </a:ln>
          </p:spPr>
        </p:sp>
        <p:sp>
          <p:nvSpPr>
            <p:cNvPr id="88079" name="Oval 19"/>
            <p:cNvSpPr/>
            <p:nvPr/>
          </p:nvSpPr>
          <p:spPr>
            <a:xfrm>
              <a:off x="2270" y="2677"/>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h</a:t>
              </a:r>
              <a:endParaRPr lang="en-US" altLang="zh-CN" sz="2800" b="1" dirty="0">
                <a:latin typeface="Times New Roman" panose="02020603050405020304" pitchFamily="18" charset="0"/>
                <a:ea typeface="宋体" panose="02010600030101010101" pitchFamily="2" charset="-122"/>
              </a:endParaRPr>
            </a:p>
          </p:txBody>
        </p:sp>
        <p:sp>
          <p:nvSpPr>
            <p:cNvPr id="88080" name="Oval 20"/>
            <p:cNvSpPr/>
            <p:nvPr/>
          </p:nvSpPr>
          <p:spPr>
            <a:xfrm>
              <a:off x="2559" y="2661"/>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k</a:t>
              </a:r>
              <a:endParaRPr lang="en-US" altLang="zh-CN" sz="2800" b="1" dirty="0">
                <a:latin typeface="Times New Roman" panose="02020603050405020304" pitchFamily="18" charset="0"/>
                <a:ea typeface="宋体" panose="02010600030101010101" pitchFamily="2" charset="-122"/>
              </a:endParaRPr>
            </a:p>
          </p:txBody>
        </p:sp>
        <p:sp>
          <p:nvSpPr>
            <p:cNvPr id="88081" name="Line 21"/>
            <p:cNvSpPr/>
            <p:nvPr/>
          </p:nvSpPr>
          <p:spPr>
            <a:xfrm flipH="1">
              <a:off x="2407" y="2424"/>
              <a:ext cx="181" cy="249"/>
            </a:xfrm>
            <a:prstGeom prst="line">
              <a:avLst/>
            </a:prstGeom>
            <a:ln w="28575" cap="flat" cmpd="sng">
              <a:solidFill>
                <a:schemeClr val="tx1"/>
              </a:solidFill>
              <a:prstDash val="solid"/>
              <a:round/>
              <a:headEnd type="none" w="med" len="med"/>
              <a:tailEnd type="none" w="med" len="med"/>
            </a:ln>
          </p:spPr>
        </p:sp>
        <p:sp>
          <p:nvSpPr>
            <p:cNvPr id="88082" name="Line 22"/>
            <p:cNvSpPr/>
            <p:nvPr/>
          </p:nvSpPr>
          <p:spPr>
            <a:xfrm>
              <a:off x="2679" y="2448"/>
              <a:ext cx="0" cy="227"/>
            </a:xfrm>
            <a:prstGeom prst="line">
              <a:avLst/>
            </a:prstGeom>
            <a:ln w="28575" cap="flat" cmpd="sng">
              <a:solidFill>
                <a:schemeClr val="tx1"/>
              </a:solidFill>
              <a:prstDash val="solid"/>
              <a:round/>
              <a:headEnd type="none" w="med" len="med"/>
              <a:tailEnd type="none" w="med" len="med"/>
            </a:ln>
          </p:spPr>
        </p:sp>
        <p:sp>
          <p:nvSpPr>
            <p:cNvPr id="88083" name="Oval 23"/>
            <p:cNvSpPr/>
            <p:nvPr/>
          </p:nvSpPr>
          <p:spPr>
            <a:xfrm>
              <a:off x="2527" y="2216"/>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c</a:t>
              </a:r>
              <a:endParaRPr lang="en-US" altLang="zh-CN" sz="2800" b="1" dirty="0">
                <a:latin typeface="Times New Roman" panose="02020603050405020304" pitchFamily="18" charset="0"/>
                <a:ea typeface="宋体" panose="02010600030101010101" pitchFamily="2" charset="-122"/>
              </a:endParaRPr>
            </a:p>
          </p:txBody>
        </p:sp>
        <p:sp>
          <p:nvSpPr>
            <p:cNvPr id="88084" name="Oval 25"/>
            <p:cNvSpPr/>
            <p:nvPr/>
          </p:nvSpPr>
          <p:spPr>
            <a:xfrm>
              <a:off x="3446" y="2653"/>
              <a:ext cx="249"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800" b="1" dirty="0">
                  <a:latin typeface="Times New Roman" panose="02020603050405020304" pitchFamily="18" charset="0"/>
                  <a:ea typeface="宋体" panose="02010600030101010101" pitchFamily="2" charset="-122"/>
                </a:rPr>
                <a:t>n</a:t>
              </a:r>
              <a:endParaRPr lang="en-US" altLang="zh-CN" sz="2800" b="1" dirty="0">
                <a:latin typeface="Times New Roman" panose="02020603050405020304" pitchFamily="18" charset="0"/>
                <a:ea typeface="宋体" panose="02010600030101010101" pitchFamily="2" charset="-122"/>
              </a:endParaRPr>
            </a:p>
          </p:txBody>
        </p:sp>
        <p:sp>
          <p:nvSpPr>
            <p:cNvPr id="88085" name="Line 26"/>
            <p:cNvSpPr/>
            <p:nvPr/>
          </p:nvSpPr>
          <p:spPr>
            <a:xfrm>
              <a:off x="3350" y="2384"/>
              <a:ext cx="204" cy="272"/>
            </a:xfrm>
            <a:prstGeom prst="line">
              <a:avLst/>
            </a:prstGeom>
            <a:ln w="28575" cap="flat" cmpd="sng">
              <a:solidFill>
                <a:schemeClr val="tx1"/>
              </a:solidFill>
              <a:prstDash val="solid"/>
              <a:round/>
              <a:headEnd type="none" w="med" len="med"/>
              <a:tailEnd type="none" w="med" len="med"/>
            </a:ln>
          </p:spPr>
        </p:sp>
      </p:gr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树的定义和基本术语</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遍历二叉树和线索二叉树</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树和森林</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赫夫曼树及其应用</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回溯法与树的遍历</a:t>
            </a: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4067175"/>
            <a:ext cx="3393440"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485" y="18859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第六章	树和二叉树</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树的遍历序列不是预先就建立好的，而是通过函数递归，在遍历过程中生成，因此树的遍历包含了</a:t>
            </a:r>
            <a:r>
              <a:rPr lang="zh-CN" altLang="en-US" sz="2800" dirty="0">
                <a:solidFill>
                  <a:srgbClr val="FF0000"/>
                </a:solidFill>
                <a:latin typeface="黑体" panose="02010609060101010101" pitchFamily="2" charset="-122"/>
                <a:ea typeface="黑体" panose="02010609060101010101" pitchFamily="2" charset="-122"/>
                <a:cs typeface="+mn-cs"/>
                <a:sym typeface="+mn-ea"/>
              </a:rPr>
              <a:t>回溯</a:t>
            </a:r>
            <a:r>
              <a:rPr lang="zh-CN" altLang="en-US" sz="2800" dirty="0">
                <a:latin typeface="黑体" panose="02010609060101010101" pitchFamily="2" charset="-122"/>
                <a:ea typeface="黑体" panose="02010609060101010101" pitchFamily="2" charset="-122"/>
                <a:cs typeface="+mn-cs"/>
                <a:sym typeface="+mn-ea"/>
              </a:rPr>
              <a:t>的思想</a:t>
            </a:r>
            <a:endParaRPr kumimoji="0" lang="zh-CN" altLang="en-US" sz="28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许多问题的递归过程实质与树的遍历是相同的，问题求解过程中的状态等于树遍历的中间结点。问题的结果等于树遍历的叶子</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因此往往把回溯法与树遍历结合起来，进行算法设计</a:t>
            </a:r>
            <a:endParaRPr kumimoji="0" lang="zh-CN" altLang="en-US" sz="28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zh-CN" altLang="en-US" sz="28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lvl="1" indent="0" algn="l" defTabSz="1219200" rtl="0" eaLnBrk="1" fontAlgn="base" latinLnBrk="0" hangingPunct="1">
              <a:lnSpc>
                <a:spcPct val="100000"/>
              </a:lnSpc>
              <a:spcBef>
                <a:spcPct val="20000"/>
              </a:spcBef>
              <a:buClrTx/>
              <a:buSzTx/>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树的遍历序列不是预先就建立好的，而是通过函数递归，在遍历过程中生成，因此树的遍历包含了</a:t>
            </a:r>
            <a:r>
              <a:rPr lang="zh-CN" altLang="en-US" sz="2800" dirty="0">
                <a:solidFill>
                  <a:srgbClr val="FF0000"/>
                </a:solidFill>
                <a:latin typeface="黑体" panose="02010609060101010101" pitchFamily="2" charset="-122"/>
                <a:ea typeface="黑体" panose="02010609060101010101" pitchFamily="2" charset="-122"/>
                <a:cs typeface="+mn-cs"/>
                <a:sym typeface="+mn-ea"/>
              </a:rPr>
              <a:t>回溯</a:t>
            </a:r>
            <a:r>
              <a:rPr lang="zh-CN" altLang="en-US" sz="2800" dirty="0">
                <a:latin typeface="黑体" panose="02010609060101010101" pitchFamily="2" charset="-122"/>
                <a:ea typeface="黑体" panose="02010609060101010101" pitchFamily="2" charset="-122"/>
                <a:cs typeface="+mn-cs"/>
                <a:sym typeface="+mn-ea"/>
              </a:rPr>
              <a:t>的思想</a:t>
            </a:r>
            <a:endParaRPr kumimoji="0" lang="zh-CN" altLang="en-US" sz="28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回溯法是设计递归过程的一种重要方法，它的求解过程实际上是在一棵</a:t>
            </a:r>
            <a:r>
              <a:rPr lang="en-US" altLang="zh-CN" sz="2800" dirty="0">
                <a:latin typeface="黑体" panose="02010609060101010101" pitchFamily="2" charset="-122"/>
                <a:ea typeface="黑体" panose="02010609060101010101" pitchFamily="2" charset="-122"/>
                <a:cs typeface="+mn-cs"/>
                <a:sym typeface="+mn-ea"/>
              </a:rPr>
              <a:t>“</a:t>
            </a:r>
            <a:r>
              <a:rPr lang="zh-CN" altLang="en-US" sz="2800" dirty="0">
                <a:latin typeface="黑体" panose="02010609060101010101" pitchFamily="2" charset="-122"/>
                <a:ea typeface="黑体" panose="02010609060101010101" pitchFamily="2" charset="-122"/>
                <a:cs typeface="+mn-cs"/>
                <a:sym typeface="+mn-ea"/>
              </a:rPr>
              <a:t>状态树</a:t>
            </a:r>
            <a:r>
              <a:rPr lang="en-US" altLang="zh-CN" sz="2800" dirty="0">
                <a:latin typeface="黑体" panose="02010609060101010101" pitchFamily="2" charset="-122"/>
                <a:ea typeface="黑体" panose="02010609060101010101" pitchFamily="2" charset="-122"/>
                <a:cs typeface="+mn-cs"/>
                <a:sym typeface="+mn-ea"/>
              </a:rPr>
              <a:t>”</a:t>
            </a:r>
            <a:r>
              <a:rPr lang="zh-CN" altLang="en-US" sz="2800" dirty="0">
                <a:latin typeface="黑体" panose="02010609060101010101" pitchFamily="2" charset="-122"/>
                <a:ea typeface="黑体" panose="02010609060101010101" pitchFamily="2" charset="-122"/>
                <a:cs typeface="+mn-cs"/>
                <a:sym typeface="+mn-ea"/>
              </a:rPr>
              <a:t>上进行先序遍历的过程</a:t>
            </a:r>
            <a:endParaRPr lang="zh-CN" altLang="en-US" sz="2800" dirty="0">
              <a:latin typeface="黑体" panose="02010609060101010101" pitchFamily="2" charset="-122"/>
              <a:ea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许多问题的递归过程实质与树的遍历是相同的</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问题求解过程中的状态等于树遍历的中间结点</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问题的结果等于树遍历的叶子</a:t>
            </a:r>
            <a:endParaRPr kumimoji="0" lang="zh-CN" altLang="en-US"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求N个元素集合的幂集</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集合的幂集是指由集合的所有子集组成的集合</a:t>
            </a:r>
            <a:endParaRPr kumimoji="0" lang="zh-CN" altLang="en-US"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zh-CN" altLang="en-US" dirty="0">
                <a:latin typeface="黑体" panose="02010609060101010101" pitchFamily="2" charset="-122"/>
                <a:ea typeface="黑体" panose="02010609060101010101" pitchFamily="2" charset="-122"/>
                <a:cs typeface="+mn-ea"/>
                <a:sym typeface="+mn-ea"/>
              </a:rPr>
              <a:t>例如A = {1,2,3}，</a:t>
            </a:r>
            <a:endParaRPr kumimoji="0" lang="zh-CN" altLang="en-US"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zh-CN" altLang="en-US" dirty="0">
                <a:latin typeface="黑体" panose="02010609060101010101" pitchFamily="2" charset="-122"/>
                <a:ea typeface="黑体" panose="02010609060101010101" pitchFamily="2" charset="-122"/>
                <a:cs typeface="+mn-ea"/>
                <a:sym typeface="+mn-ea"/>
              </a:rPr>
              <a:t>幂集p(A)={{1,2,3}{1,2}{1,3}{2,3}{1} {2} {3} {}}</a:t>
            </a:r>
            <a:endParaRPr kumimoji="0" lang="zh-CN" altLang="en-US"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r>
              <a:rPr lang="zh-CN" altLang="en-US" dirty="0">
                <a:latin typeface="黑体" panose="02010609060101010101" pitchFamily="2" charset="-122"/>
                <a:ea typeface="黑体" panose="02010609060101010101" pitchFamily="2" charset="-122"/>
                <a:cs typeface="+mn-ea"/>
                <a:sym typeface="+mn-ea"/>
              </a:rPr>
              <a:t>分析：子集的求解实质就是对集合A的元素进行取或舍的过程，因为是取舍两种操作，实质就是二叉树的遍历过程</a:t>
            </a:r>
            <a:endParaRPr kumimoji="0" lang="zh-CN" altLang="en-US"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求N个元素集合的幂集</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cs"/>
                <a:sym typeface="+mn-ea"/>
              </a:rPr>
              <a:t>用回溯法求解过程就是树的遍历</a:t>
            </a:r>
            <a:endParaRPr lang="zh-CN" altLang="en-US" dirty="0">
              <a:latin typeface="黑体" panose="02010609060101010101" pitchFamily="2" charset="-122"/>
              <a:ea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kumimoji="0" lang="zh-CN" altLang="en-US"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rPr>
              <a:t>二叉树的分支代表取、舍元素的操作</a:t>
            </a:r>
            <a:endParaRPr kumimoji="0" lang="zh-CN" altLang="en-US"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114692" name="Picture 6" descr="4064e4aa-d73b-3708-96c3-b90fc8da49b2"/>
          <p:cNvPicPr>
            <a:picLocks noChangeAspect="1"/>
          </p:cNvPicPr>
          <p:nvPr/>
        </p:nvPicPr>
        <p:blipFill>
          <a:blip r:embed="rId1"/>
          <a:stretch>
            <a:fillRect/>
          </a:stretch>
        </p:blipFill>
        <p:spPr>
          <a:xfrm>
            <a:off x="1775460" y="2493010"/>
            <a:ext cx="7765415" cy="3427730"/>
          </a:xfrm>
          <a:prstGeom prst="rect">
            <a:avLst/>
          </a:prstGeom>
          <a:noFill/>
          <a:ln w="9525">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求N个元素集合的幂集</a:t>
            </a:r>
            <a:r>
              <a:rPr lang="en-US" altLang="zh-CN" sz="2800" dirty="0">
                <a:latin typeface="黑体" panose="02010609060101010101" pitchFamily="2" charset="-122"/>
                <a:ea typeface="黑体" panose="02010609060101010101" pitchFamily="2" charset="-122"/>
                <a:cs typeface="+mn-cs"/>
                <a:sym typeface="+mn-ea"/>
              </a:rPr>
              <a:t>-</a:t>
            </a:r>
            <a:r>
              <a:rPr lang="zh-CN" altLang="en-US" sz="2800" dirty="0">
                <a:latin typeface="黑体" panose="02010609060101010101" pitchFamily="2" charset="-122"/>
                <a:ea typeface="黑体" panose="02010609060101010101" pitchFamily="2" charset="-122"/>
                <a:cs typeface="+mn-cs"/>
                <a:sym typeface="+mn-ea"/>
              </a:rPr>
              <a:t>算法</a:t>
            </a:r>
            <a:endParaRPr kumimoji="0" lang="zh-CN" altLang="en-US"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void GetPowerSet(int i, List A, List &amp;B) {  </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线性表</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表示集合</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，线性表</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表示幂集</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ρ(A)</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的一个元素。</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局部量</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k</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为进入函数时表</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的当前长度。</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第一次调用本函数时，</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为空表，</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i</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ElemType x;</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int k;</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if (i &gt; ListLength(A)) Output(B); //B</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是</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ρ(A)</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的一个元素</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else { </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GetElem(A, i, x);        k = ListLength(B);</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ListInsert(B, k+1, x);   GetPowerSet(i+1, A, B);</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ListDelete(B, k+1, x);   GetPowerSet(i+1, A, B);</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 GetPowerSet</a:t>
            </a: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kumimoji="0" lang="en-US" altLang="zh-CN"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四皇后问题，求四皇后的所有合法布局，合法规则：</a:t>
            </a:r>
            <a:endParaRPr kumimoji="0" lang="zh-CN" altLang="en-US" sz="28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棋盘为4×4格，即4行4列</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共放4个棋子</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要求任意两个棋子不能在同一线上，即不能同行、同列、同对角线</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分析：每放1个棋子就会产生四种状态，所以棋盘的布局过程就是四叉树的遍历过程。在约束条件下，树的一些叶子是非法的</a:t>
            </a:r>
            <a:endParaRPr kumimoji="0" lang="zh-CN" altLang="en-US" sz="28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四皇后问题实际上一棵四叉树的遍历</a:t>
            </a:r>
            <a:endParaRPr lang="zh-CN" altLang="en-US" sz="2800" dirty="0">
              <a:latin typeface="黑体" panose="02010609060101010101" pitchFamily="2" charset="-122"/>
              <a:ea typeface="黑体" panose="02010609060101010101" pitchFamily="2" charset="-122"/>
              <a:cs typeface="+mn-cs"/>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如果遍历到的叶子是在第四层，说明找到答案</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如果</a:t>
            </a:r>
            <a:r>
              <a:rPr lang="zh-CN" altLang="en-US" dirty="0">
                <a:latin typeface="黑体" panose="02010609060101010101" pitchFamily="2" charset="-122"/>
                <a:ea typeface="黑体" panose="02010609060101010101" pitchFamily="2" charset="-122"/>
                <a:cs typeface="+mn-ea"/>
                <a:sym typeface="+mn-ea"/>
              </a:rPr>
              <a:t>遍历到的叶子不在第四层，说明布局非法</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117764" name="Picture 4"/>
          <p:cNvPicPr>
            <a:picLocks noChangeAspect="1"/>
          </p:cNvPicPr>
          <p:nvPr/>
        </p:nvPicPr>
        <p:blipFill>
          <a:blip r:embed="rId1"/>
          <a:stretch>
            <a:fillRect/>
          </a:stretch>
        </p:blipFill>
        <p:spPr>
          <a:xfrm>
            <a:off x="1559560" y="2420620"/>
            <a:ext cx="8509000" cy="4254500"/>
          </a:xfrm>
          <a:prstGeom prst="rect">
            <a:avLst/>
          </a:prstGeom>
          <a:noFill/>
          <a:ln w="9525">
            <a:noFill/>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四皇后问题的合法规则实现算法</a:t>
            </a:r>
            <a:endParaRPr kumimoji="0" lang="zh-CN" altLang="en-US" sz="28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要求任意两个棋子不能在同一线上，即不能同行、同列、同对角线</a:t>
            </a: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同一行不需要检查，因为算法是逐行放一个棋子，不会出现同行有2个棋子</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初始化：棋盘为4×4格，共放4次，每行放一次</a:t>
            </a:r>
            <a:endParaRPr kumimoji="0" lang="zh-CN" altLang="en-US"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当在第i行第j列放入棋子，做以下检查：</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2"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mn-ea"/>
                <a:sym typeface="+mn-ea"/>
              </a:rPr>
              <a:t>检查同一列，如果有超过两个1则非法</a:t>
            </a:r>
            <a:endParaRPr kumimoji="0" lang="zh-CN" altLang="en-US" sz="20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2"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mn-ea"/>
                <a:sym typeface="+mn-ea"/>
              </a:rPr>
              <a:t>检查对角线，分四个方向检查：行列都递减方向、行列都递增方向、行递增列递减方向、往行递减列递增方向</a:t>
            </a:r>
            <a:endParaRPr lang="zh-CN" altLang="en-US" sz="2000" dirty="0">
              <a:latin typeface="黑体" panose="02010609060101010101" pitchFamily="2" charset="-122"/>
              <a:ea typeface="黑体" panose="02010609060101010101" pitchFamily="2" charset="-122"/>
              <a:cs typeface="+mn-ea"/>
              <a:sym typeface="+mn-ea"/>
            </a:endParaRPr>
          </a:p>
          <a:p>
            <a:pPr marR="0" lvl="2"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mn-ea"/>
                <a:sym typeface="+mn-ea"/>
              </a:rPr>
              <a:t>如果上述检查合法，则往下一行</a:t>
            </a:r>
            <a:r>
              <a:rPr lang="zh-CN" altLang="en-US" dirty="0">
                <a:latin typeface="黑体" panose="02010609060101010101" pitchFamily="2" charset="-122"/>
                <a:ea typeface="黑体" panose="02010609060101010101" pitchFamily="2" charset="-122"/>
                <a:cs typeface="+mn-ea"/>
                <a:sym typeface="+mn-ea"/>
              </a:rPr>
              <a:t>放棋子</a:t>
            </a:r>
            <a:endParaRPr lang="zh-CN" altLang="en-US" dirty="0">
              <a:latin typeface="黑体" panose="02010609060101010101" pitchFamily="2" charset="-122"/>
              <a:ea typeface="黑体" panose="02010609060101010101" pitchFamily="2" charset="-122"/>
              <a:cs typeface="+mn-ea"/>
              <a:sym typeface="+mn-ea"/>
            </a:endParaRPr>
          </a:p>
          <a:p>
            <a:pPr marR="0" lvl="2"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如果上述检查出现非法情况，则在撤销第</a:t>
            </a:r>
            <a:r>
              <a:rPr lang="en-US" altLang="zh-CN" dirty="0">
                <a:latin typeface="黑体" panose="02010609060101010101" pitchFamily="2" charset="-122"/>
                <a:ea typeface="黑体" panose="02010609060101010101" pitchFamily="2" charset="-122"/>
                <a:cs typeface="+mn-ea"/>
                <a:sym typeface="+mn-ea"/>
              </a:rPr>
              <a:t>j</a:t>
            </a:r>
            <a:r>
              <a:rPr lang="zh-CN" altLang="en-US" dirty="0">
                <a:latin typeface="黑体" panose="02010609060101010101" pitchFamily="2" charset="-122"/>
                <a:ea typeface="黑体" panose="02010609060101010101" pitchFamily="2" charset="-122"/>
                <a:cs typeface="+mn-ea"/>
                <a:sym typeface="+mn-ea"/>
              </a:rPr>
              <a:t>列棋子，在第</a:t>
            </a:r>
            <a:r>
              <a:rPr lang="en-US" altLang="zh-CN" dirty="0">
                <a:latin typeface="黑体" panose="02010609060101010101" pitchFamily="2" charset="-122"/>
                <a:ea typeface="黑体" panose="02010609060101010101" pitchFamily="2" charset="-122"/>
                <a:cs typeface="+mn-ea"/>
                <a:sym typeface="+mn-ea"/>
              </a:rPr>
              <a:t>j+1</a:t>
            </a:r>
            <a:r>
              <a:rPr lang="zh-CN" altLang="en-US" dirty="0">
                <a:latin typeface="黑体" panose="02010609060101010101" pitchFamily="2" charset="-122"/>
                <a:ea typeface="黑体" panose="02010609060101010101" pitchFamily="2" charset="-122"/>
                <a:cs typeface="+mn-ea"/>
                <a:sym typeface="+mn-ea"/>
              </a:rPr>
              <a:t>列放棋子</a:t>
            </a:r>
            <a:endParaRPr lang="zh-CN" altLang="en-US"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mn-ea"/>
                <a:sym typeface="+mn-ea"/>
              </a:rPr>
              <a:t>在第i</a:t>
            </a:r>
            <a:r>
              <a:rPr lang="en-US" altLang="zh-CN" dirty="0">
                <a:latin typeface="黑体" panose="02010609060101010101" pitchFamily="2" charset="-122"/>
                <a:ea typeface="黑体" panose="02010609060101010101" pitchFamily="2" charset="-122"/>
                <a:cs typeface="+mn-ea"/>
                <a:sym typeface="+mn-ea"/>
              </a:rPr>
              <a:t>+1</a:t>
            </a:r>
            <a:r>
              <a:rPr lang="zh-CN" altLang="en-US" dirty="0">
                <a:latin typeface="黑体" panose="02010609060101010101" pitchFamily="2" charset="-122"/>
                <a:ea typeface="黑体" panose="02010609060101010101" pitchFamily="2" charset="-122"/>
                <a:cs typeface="+mn-ea"/>
                <a:sym typeface="+mn-ea"/>
              </a:rPr>
              <a:t>行开始放入棋子，重复上述检查</a:t>
            </a:r>
            <a:endParaRPr kumimoji="0" lang="zh-CN" altLang="en-US"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2" algn="l" defTabSz="1219200" rtl="0" eaLnBrk="1" fontAlgn="base" latinLnBrk="0" hangingPunct="1">
              <a:lnSpc>
                <a:spcPct val="100000"/>
              </a:lnSpc>
              <a:spcBef>
                <a:spcPct val="20000"/>
              </a:spcBef>
              <a:buClrTx/>
              <a:buSzTx/>
              <a:buChar char="•"/>
            </a:pPr>
            <a:endParaRPr lang="zh-CN" altLang="en-US" dirty="0">
              <a:latin typeface="黑体" panose="02010609060101010101" pitchFamily="2" charset="-122"/>
              <a:ea typeface="黑体" panose="02010609060101010101" pitchFamily="2" charset="-122"/>
              <a:cs typeface="+mn-ea"/>
              <a:sym typeface="+mn-ea"/>
            </a:endParaRPr>
          </a:p>
          <a:p>
            <a:pPr marR="0" lvl="2" algn="l" defTabSz="1219200" rtl="0" eaLnBrk="1" fontAlgn="base" latinLnBrk="0" hangingPunct="1">
              <a:lnSpc>
                <a:spcPct val="100000"/>
              </a:lnSpc>
              <a:spcBef>
                <a:spcPct val="20000"/>
              </a:spcBef>
              <a:buClrTx/>
              <a:buSzTx/>
              <a:buChar char="•"/>
            </a:pPr>
            <a:endParaRPr lang="zh-CN" altLang="en-US" sz="2000" dirty="0">
              <a:latin typeface="黑体" panose="02010609060101010101" pitchFamily="2" charset="-122"/>
              <a:ea typeface="黑体" panose="02010609060101010101" pitchFamily="2" charset="-122"/>
              <a:cs typeface="+mn-ea"/>
              <a:sym typeface="+mn-ea"/>
            </a:endParaRPr>
          </a:p>
          <a:p>
            <a:pPr marR="0" lvl="2" algn="l" defTabSz="1219200" rtl="0" eaLnBrk="1" fontAlgn="base" latinLnBrk="0" hangingPunct="1">
              <a:lnSpc>
                <a:spcPct val="100000"/>
              </a:lnSpc>
              <a:spcBef>
                <a:spcPct val="20000"/>
              </a:spcBef>
              <a:buClrTx/>
              <a:buSzTx/>
              <a:buChar char="•"/>
            </a:pPr>
            <a:endParaRPr lang="zh-CN" altLang="en-US" sz="20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四皇后问题算法</a:t>
            </a:r>
            <a:endParaRPr kumimoji="0" lang="zh-CN" altLang="en-US" sz="28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void Trial(int i, int n)</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if (i&gt;n)  output(matrix);</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else for (j=1; j&lt;=n; ++j)</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	set a chessman in column j (also in row i);</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if (judgelegal) Trial(i+1, n);</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move the chessman out column j;</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	}</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a:t>
            </a:r>
            <a:endParaRPr lang="en-US" altLang="zh-CN" sz="2400" dirty="0">
              <a:latin typeface="黑体" panose="02010609060101010101" pitchFamily="2" charset="-122"/>
              <a:ea typeface="黑体" panose="02010609060101010101" pitchFamily="2" charset="-122"/>
              <a:cs typeface="+mn-cs"/>
              <a:sym typeface="+mn-ea"/>
            </a:endParaRPr>
          </a:p>
          <a:p>
            <a:pPr marL="609600" marR="0" indent="-609600" algn="l" defTabSz="914400" rtl="0" eaLnBrk="1" latinLnBrk="0" hangingPunct="1">
              <a:lnSpc>
                <a:spcPct val="100000"/>
              </a:lnSpc>
              <a:spcBef>
                <a:spcPts val="0"/>
              </a:spcBef>
              <a:spcAft>
                <a:spcPct val="0"/>
              </a:spcAft>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mn-cs"/>
                <a:sym typeface="+mn-ea"/>
              </a:rPr>
              <a:t>//</a:t>
            </a:r>
            <a:r>
              <a:rPr lang="zh-CN" altLang="en-US" sz="2400" dirty="0">
                <a:latin typeface="黑体" panose="02010609060101010101" pitchFamily="2" charset="-122"/>
                <a:ea typeface="黑体" panose="02010609060101010101" pitchFamily="2" charset="-122"/>
                <a:cs typeface="+mn-cs"/>
                <a:sym typeface="+mn-ea"/>
              </a:rPr>
              <a:t>函数</a:t>
            </a:r>
            <a:r>
              <a:rPr lang="en-US" altLang="zh-CN" sz="2400" dirty="0">
                <a:latin typeface="黑体" panose="02010609060101010101" pitchFamily="2" charset="-122"/>
                <a:ea typeface="黑体" panose="02010609060101010101" pitchFamily="2" charset="-122"/>
                <a:sym typeface="+mn-ea"/>
              </a:rPr>
              <a:t>judgelegal</a:t>
            </a:r>
            <a:r>
              <a:rPr lang="zh-CN" altLang="en-US" sz="2400" dirty="0">
                <a:latin typeface="黑体" panose="02010609060101010101" pitchFamily="2" charset="-122"/>
                <a:ea typeface="黑体" panose="02010609060101010101" pitchFamily="2" charset="-122"/>
                <a:sym typeface="+mn-ea"/>
              </a:rPr>
              <a:t>用于判断放入棋子是否合法</a:t>
            </a: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cs"/>
            </a:endParaRPr>
          </a:p>
          <a:p>
            <a:pPr marL="609600" marR="0" lvl="1" indent="0" algn="l" defTabSz="1219200" rtl="0" eaLnBrk="1" fontAlgn="base" latinLnBrk="0" hangingPunct="1">
              <a:lnSpc>
                <a:spcPct val="100000"/>
              </a:lnSpc>
              <a:spcBef>
                <a:spcPct val="20000"/>
              </a:spcBef>
              <a:buClrTx/>
              <a:buSzTx/>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拓展</a:t>
            </a:r>
            <a:r>
              <a:rPr lang="en-US" altLang="zh-CN" sz="2800" dirty="0">
                <a:latin typeface="黑体" panose="02010609060101010101" pitchFamily="2" charset="-122"/>
                <a:ea typeface="黑体" panose="02010609060101010101" pitchFamily="2" charset="-122"/>
                <a:cs typeface="+mn-cs"/>
                <a:sym typeface="+mn-ea"/>
              </a:rPr>
              <a:t>——</a:t>
            </a:r>
            <a:r>
              <a:rPr lang="zh-CN" altLang="en-US" sz="2800" dirty="0">
                <a:latin typeface="黑体" panose="02010609060101010101" pitchFamily="2" charset="-122"/>
                <a:ea typeface="黑体" panose="02010609060101010101" pitchFamily="2" charset="-122"/>
                <a:cs typeface="+mn-cs"/>
                <a:sym typeface="+mn-ea"/>
              </a:rPr>
              <a:t>二叉树相似问题：</a:t>
            </a:r>
            <a:r>
              <a:rPr lang="zh-CN" altLang="en-US" sz="2800" dirty="0">
                <a:latin typeface="黑体" panose="02010609060101010101" pitchFamily="2" charset="-122"/>
                <a:ea typeface="黑体" panose="02010609060101010101" pitchFamily="2" charset="-122"/>
                <a:cs typeface="+mn-ea"/>
                <a:sym typeface="+mn-ea"/>
              </a:rPr>
              <a:t>两棵非空二叉树，结点数相同，结点元素值可能不一样， 但二叉树形态完全一样</a:t>
            </a:r>
            <a:endParaRPr lang="zh-CN" altLang="en-US" sz="2800" dirty="0">
              <a:latin typeface="黑体" panose="02010609060101010101" pitchFamily="2" charset="-122"/>
              <a:ea typeface="黑体" panose="02010609060101010101" pitchFamily="2" charset="-122"/>
              <a:cs typeface="+mn-ea"/>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递归算法描述</a:t>
            </a:r>
            <a:endParaRPr lang="zh-CN" altLang="en-US" sz="2800" dirty="0">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custDataLst>
              <p:tags r:id="rId1"/>
            </p:custDataLst>
          </p:nvPr>
        </p:nvPicPr>
        <p:blipFill>
          <a:blip r:embed="rId2"/>
          <a:stretch>
            <a:fillRect/>
          </a:stretch>
        </p:blipFill>
        <p:spPr>
          <a:xfrm>
            <a:off x="1055370" y="2420620"/>
            <a:ext cx="10026650" cy="3546475"/>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拓展</a:t>
            </a:r>
            <a:r>
              <a:rPr lang="en-US" altLang="zh-CN" sz="2800" dirty="0">
                <a:latin typeface="黑体" panose="02010609060101010101" pitchFamily="2" charset="-122"/>
                <a:ea typeface="黑体" panose="02010609060101010101" pitchFamily="2" charset="-122"/>
                <a:cs typeface="+mn-cs"/>
                <a:sym typeface="+mn-ea"/>
              </a:rPr>
              <a:t>——</a:t>
            </a:r>
            <a:r>
              <a:rPr lang="zh-CN" altLang="en-US" sz="2800" dirty="0">
                <a:latin typeface="黑体" panose="02010609060101010101" pitchFamily="2" charset="-122"/>
                <a:ea typeface="黑体" panose="02010609060101010101" pitchFamily="2" charset="-122"/>
                <a:cs typeface="+mn-cs"/>
                <a:sym typeface="+mn-ea"/>
              </a:rPr>
              <a:t>二叉树对称问题：一棵</a:t>
            </a:r>
            <a:r>
              <a:rPr lang="zh-CN" altLang="en-US" sz="2800" dirty="0">
                <a:latin typeface="黑体" panose="02010609060101010101" pitchFamily="2" charset="-122"/>
                <a:ea typeface="黑体" panose="02010609060101010101" pitchFamily="2" charset="-122"/>
                <a:cs typeface="+mn-ea"/>
                <a:sym typeface="+mn-ea"/>
              </a:rPr>
              <a:t>二叉树以根结点画一根垂直中轴，它的左右子树结点以中轴对称</a:t>
            </a:r>
            <a:endParaRPr lang="zh-CN" altLang="en-US" sz="2800" dirty="0">
              <a:latin typeface="黑体" panose="02010609060101010101" pitchFamily="2" charset="-122"/>
              <a:ea typeface="黑体" panose="02010609060101010101" pitchFamily="2" charset="-122"/>
              <a:cs typeface="+mn-ea"/>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递归算法：若二叉树的左右子树相似，则二叉树是对称的</a:t>
            </a:r>
            <a:endParaRPr lang="zh-CN" altLang="en-US" sz="2800" dirty="0">
              <a:latin typeface="黑体" panose="02010609060101010101" pitchFamily="2" charset="-122"/>
              <a:ea typeface="黑体" panose="02010609060101010101" pitchFamily="2" charset="-122"/>
              <a:cs typeface="+mn-ea"/>
              <a:sym typeface="+mn-ea"/>
            </a:endParaRPr>
          </a:p>
          <a:p>
            <a:pPr marL="609600" marR="0" lvl="1" indent="0" algn="l" defTabSz="1219200" rtl="0" eaLnBrk="1" fontAlgn="base" latinLnBrk="0" hangingPunct="1">
              <a:lnSpc>
                <a:spcPct val="100000"/>
              </a:lnSpc>
              <a:spcBef>
                <a:spcPct val="20000"/>
              </a:spcBef>
              <a:buClrTx/>
              <a:buSzTx/>
              <a:buNone/>
            </a:pPr>
            <a:endParaRPr kumimoji="0" lang="en-US" altLang="zh-CN"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609600" marR="0" lvl="1" indent="0" algn="l" defTabSz="1219200" rtl="0" eaLnBrk="1" fontAlgn="base" latinLnBrk="0" hangingPunct="1">
              <a:lnSpc>
                <a:spcPct val="100000"/>
              </a:lnSpc>
              <a:spcBef>
                <a:spcPct val="20000"/>
              </a:spcBef>
              <a:buClrTx/>
              <a:buSzTx/>
              <a:buNone/>
            </a:pPr>
            <a:endParaRPr kumimoji="0" lang="zh-CN" altLang="en-US" sz="2400" b="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7" name="图片 6"/>
          <p:cNvPicPr>
            <a:picLocks noChangeAspect="1"/>
          </p:cNvPicPr>
          <p:nvPr/>
        </p:nvPicPr>
        <p:blipFill>
          <a:blip r:embed="rId1"/>
          <a:stretch>
            <a:fillRect/>
          </a:stretch>
        </p:blipFill>
        <p:spPr>
          <a:xfrm>
            <a:off x="1703705" y="2564765"/>
            <a:ext cx="7061835" cy="3131820"/>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拓展</a:t>
            </a:r>
            <a:r>
              <a:rPr lang="en-US" altLang="zh-CN" sz="2800" dirty="0">
                <a:latin typeface="黑体" panose="02010609060101010101" pitchFamily="2" charset="-122"/>
                <a:ea typeface="黑体" panose="02010609060101010101" pitchFamily="2" charset="-122"/>
                <a:cs typeface="+mn-cs"/>
                <a:sym typeface="+mn-ea"/>
              </a:rPr>
              <a:t>——</a:t>
            </a:r>
            <a:r>
              <a:rPr lang="zh-CN" altLang="en-US" sz="2800" dirty="0">
                <a:latin typeface="黑体" panose="02010609060101010101" pitchFamily="2" charset="-122"/>
                <a:ea typeface="黑体" panose="02010609060101010101" pitchFamily="2" charset="-122"/>
                <a:cs typeface="+mn-cs"/>
                <a:sym typeface="+mn-ea"/>
              </a:rPr>
              <a:t>二叉树同构问题：对于两棵非空</a:t>
            </a:r>
            <a:r>
              <a:rPr lang="zh-CN" altLang="en-US" sz="2800" dirty="0">
                <a:latin typeface="黑体" panose="02010609060101010101" pitchFamily="2" charset="-122"/>
                <a:ea typeface="黑体" panose="02010609060101010101" pitchFamily="2" charset="-122"/>
                <a:cs typeface="+mn-ea"/>
                <a:sym typeface="+mn-ea"/>
              </a:rPr>
              <a:t>二叉树</a:t>
            </a:r>
            <a:r>
              <a:rPr lang="en-US" altLang="zh-CN" sz="2800" dirty="0">
                <a:latin typeface="黑体" panose="02010609060101010101" pitchFamily="2" charset="-122"/>
                <a:ea typeface="黑体" panose="02010609060101010101" pitchFamily="2" charset="-122"/>
                <a:cs typeface="+mn-ea"/>
                <a:sym typeface="+mn-ea"/>
              </a:rPr>
              <a:t>T1</a:t>
            </a:r>
            <a:r>
              <a:rPr lang="zh-CN" altLang="en-US" sz="2800" dirty="0">
                <a:latin typeface="黑体" panose="02010609060101010101" pitchFamily="2" charset="-122"/>
                <a:ea typeface="黑体" panose="02010609060101010101" pitchFamily="2" charset="-122"/>
                <a:cs typeface="+mn-ea"/>
                <a:sym typeface="+mn-ea"/>
              </a:rPr>
              <a:t>和</a:t>
            </a:r>
            <a:r>
              <a:rPr lang="en-US" altLang="zh-CN" sz="2800" dirty="0">
                <a:latin typeface="黑体" panose="02010609060101010101" pitchFamily="2" charset="-122"/>
                <a:ea typeface="黑体" panose="02010609060101010101" pitchFamily="2" charset="-122"/>
                <a:cs typeface="+mn-ea"/>
                <a:sym typeface="+mn-ea"/>
              </a:rPr>
              <a:t>T2</a:t>
            </a:r>
            <a:r>
              <a:rPr lang="zh-CN" altLang="en-US" sz="2800" dirty="0">
                <a:latin typeface="黑体" panose="02010609060101010101" pitchFamily="2" charset="-122"/>
                <a:ea typeface="黑体" panose="02010609060101010101" pitchFamily="2" charset="-122"/>
                <a:cs typeface="+mn-ea"/>
                <a:sym typeface="+mn-ea"/>
              </a:rPr>
              <a:t>，若</a:t>
            </a:r>
            <a:r>
              <a:rPr lang="en-US" altLang="zh-CN" sz="2800" dirty="0">
                <a:latin typeface="黑体" panose="02010609060101010101" pitchFamily="2" charset="-122"/>
                <a:ea typeface="黑体" panose="02010609060101010101" pitchFamily="2" charset="-122"/>
                <a:cs typeface="+mn-ea"/>
                <a:sym typeface="+mn-ea"/>
              </a:rPr>
              <a:t>T1</a:t>
            </a:r>
            <a:r>
              <a:rPr lang="zh-CN" altLang="en-US" sz="2800" dirty="0">
                <a:latin typeface="黑体" panose="02010609060101010101" pitchFamily="2" charset="-122"/>
                <a:ea typeface="黑体" panose="02010609060101010101" pitchFamily="2" charset="-122"/>
                <a:cs typeface="+mn-ea"/>
                <a:sym typeface="+mn-ea"/>
              </a:rPr>
              <a:t>经过若干次左右孩子互换后，变成</a:t>
            </a:r>
            <a:r>
              <a:rPr lang="en-US" altLang="zh-CN" sz="2800" dirty="0">
                <a:latin typeface="黑体" panose="02010609060101010101" pitchFamily="2" charset="-122"/>
                <a:ea typeface="黑体" panose="02010609060101010101" pitchFamily="2" charset="-122"/>
                <a:cs typeface="+mn-ea"/>
                <a:sym typeface="+mn-ea"/>
              </a:rPr>
              <a:t>T2</a:t>
            </a:r>
            <a:r>
              <a:rPr lang="zh-CN" altLang="en-US" sz="2800" dirty="0">
                <a:latin typeface="黑体" panose="02010609060101010101" pitchFamily="2" charset="-122"/>
                <a:ea typeface="黑体" panose="02010609060101010101" pitchFamily="2" charset="-122"/>
                <a:cs typeface="+mn-ea"/>
                <a:sym typeface="+mn-ea"/>
              </a:rPr>
              <a:t>，我们称这两</a:t>
            </a:r>
            <a:r>
              <a:rPr lang="zh-CN" altLang="en-US" sz="2800" dirty="0">
                <a:latin typeface="黑体" panose="02010609060101010101" pitchFamily="2" charset="-122"/>
                <a:ea typeface="黑体" panose="02010609060101010101" pitchFamily="2" charset="-122"/>
                <a:cs typeface="+mn-cs"/>
                <a:sym typeface="+mn-ea"/>
              </a:rPr>
              <a:t>棵</a:t>
            </a:r>
            <a:r>
              <a:rPr lang="zh-CN" altLang="en-US" sz="2800" dirty="0">
                <a:latin typeface="黑体" panose="02010609060101010101" pitchFamily="2" charset="-122"/>
                <a:ea typeface="黑体" panose="02010609060101010101" pitchFamily="2" charset="-122"/>
                <a:cs typeface="+mn-ea"/>
                <a:sym typeface="+mn-ea"/>
              </a:rPr>
              <a:t>二叉树是同构的</a:t>
            </a:r>
            <a:endParaRPr lang="zh-CN" altLang="en-US" sz="280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r>
              <a:rPr lang="en-US" altLang="zh-CN" sz="2330" dirty="0">
                <a:latin typeface="黑体" panose="02010609060101010101" pitchFamily="2" charset="-122"/>
                <a:ea typeface="黑体" panose="02010609060101010101" pitchFamily="2" charset="-122"/>
                <a:cs typeface="+mn-ea"/>
                <a:sym typeface="+mn-ea"/>
              </a:rPr>
              <a:t>T1</a:t>
            </a:r>
            <a:r>
              <a:rPr lang="zh-CN" altLang="en-US" sz="2330" dirty="0">
                <a:latin typeface="黑体" panose="02010609060101010101" pitchFamily="2" charset="-122"/>
                <a:ea typeface="黑体" panose="02010609060101010101" pitchFamily="2" charset="-122"/>
                <a:cs typeface="+mn-ea"/>
                <a:sym typeface="+mn-ea"/>
              </a:rPr>
              <a:t>经过三次交换就变成</a:t>
            </a:r>
            <a:r>
              <a:rPr lang="en-US" altLang="zh-CN" sz="2330" dirty="0">
                <a:latin typeface="黑体" panose="02010609060101010101" pitchFamily="2" charset="-122"/>
                <a:ea typeface="黑体" panose="02010609060101010101" pitchFamily="2" charset="-122"/>
                <a:cs typeface="+mn-ea"/>
                <a:sym typeface="+mn-ea"/>
              </a:rPr>
              <a:t>T2</a:t>
            </a:r>
            <a:r>
              <a:rPr lang="zh-CN" altLang="en-US" sz="2330" dirty="0">
                <a:latin typeface="黑体" panose="02010609060101010101" pitchFamily="2" charset="-122"/>
                <a:ea typeface="黑体" panose="02010609060101010101" pitchFamily="2" charset="-122"/>
                <a:cs typeface="+mn-ea"/>
                <a:sym typeface="+mn-ea"/>
              </a:rPr>
              <a:t>：</a:t>
            </a:r>
            <a:r>
              <a:rPr lang="en-US" altLang="zh-CN" sz="2330" dirty="0">
                <a:latin typeface="黑体" panose="02010609060101010101" pitchFamily="2" charset="-122"/>
                <a:ea typeface="黑体" panose="02010609060101010101" pitchFamily="2" charset="-122"/>
                <a:cs typeface="+mn-ea"/>
                <a:sym typeface="+mn-ea"/>
              </a:rPr>
              <a:t>A</a:t>
            </a:r>
            <a:r>
              <a:rPr lang="zh-CN" altLang="en-US" sz="2330" dirty="0">
                <a:latin typeface="黑体" panose="02010609060101010101" pitchFamily="2" charset="-122"/>
                <a:ea typeface="黑体" panose="02010609060101010101" pitchFamily="2" charset="-122"/>
                <a:cs typeface="+mn-ea"/>
                <a:sym typeface="+mn-ea"/>
              </a:rPr>
              <a:t>的左右孩子交换、</a:t>
            </a:r>
            <a:r>
              <a:rPr lang="en-US" altLang="zh-CN" sz="2330" dirty="0">
                <a:latin typeface="黑体" panose="02010609060101010101" pitchFamily="2" charset="-122"/>
                <a:ea typeface="黑体" panose="02010609060101010101" pitchFamily="2" charset="-122"/>
                <a:cs typeface="+mn-ea"/>
                <a:sym typeface="+mn-ea"/>
              </a:rPr>
              <a:t>B</a:t>
            </a:r>
            <a:r>
              <a:rPr lang="zh-CN" altLang="en-US" sz="2330" dirty="0">
                <a:latin typeface="黑体" panose="02010609060101010101" pitchFamily="2" charset="-122"/>
                <a:ea typeface="黑体" panose="02010609060101010101" pitchFamily="2" charset="-122"/>
                <a:cs typeface="+mn-ea"/>
                <a:sym typeface="+mn-ea"/>
              </a:rPr>
              <a:t>的左右孩子交换、</a:t>
            </a:r>
            <a:r>
              <a:rPr lang="en-US" altLang="zh-CN" sz="2330" dirty="0">
                <a:latin typeface="黑体" panose="02010609060101010101" pitchFamily="2" charset="-122"/>
                <a:ea typeface="黑体" panose="02010609060101010101" pitchFamily="2" charset="-122"/>
                <a:cs typeface="+mn-ea"/>
                <a:sym typeface="+mn-ea"/>
              </a:rPr>
              <a:t>G</a:t>
            </a:r>
            <a:r>
              <a:rPr lang="zh-CN" altLang="en-US" sz="2330" dirty="0">
                <a:latin typeface="黑体" panose="02010609060101010101" pitchFamily="2" charset="-122"/>
                <a:ea typeface="黑体" panose="02010609060101010101" pitchFamily="2" charset="-122"/>
                <a:cs typeface="+mn-ea"/>
                <a:sym typeface="+mn-ea"/>
              </a:rPr>
              <a:t>的左右孩子交换</a:t>
            </a: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r>
              <a:rPr lang="zh-CN" altLang="en-US" sz="2330" dirty="0">
                <a:latin typeface="黑体" panose="02010609060101010101" pitchFamily="2" charset="-122"/>
                <a:ea typeface="黑体" panose="02010609060101010101" pitchFamily="2" charset="-122"/>
                <a:cs typeface="+mn-ea"/>
                <a:sym typeface="+mn-ea"/>
              </a:rPr>
              <a:t>第一个图的</a:t>
            </a:r>
            <a:r>
              <a:rPr lang="en-US" altLang="zh-CN" sz="2330" dirty="0">
                <a:latin typeface="黑体" panose="02010609060101010101" pitchFamily="2" charset="-122"/>
                <a:ea typeface="黑体" panose="02010609060101010101" pitchFamily="2" charset="-122"/>
                <a:cs typeface="+mn-ea"/>
                <a:sym typeface="+mn-ea"/>
              </a:rPr>
              <a:t>T1</a:t>
            </a:r>
            <a:r>
              <a:rPr lang="zh-CN" altLang="en-US" sz="2330" dirty="0">
                <a:latin typeface="黑体" panose="02010609060101010101" pitchFamily="2" charset="-122"/>
                <a:ea typeface="黑体" panose="02010609060101010101" pitchFamily="2" charset="-122"/>
                <a:cs typeface="+mn-ea"/>
                <a:sym typeface="+mn-ea"/>
              </a:rPr>
              <a:t>和</a:t>
            </a:r>
            <a:r>
              <a:rPr lang="en-US" altLang="zh-CN" sz="2330" dirty="0">
                <a:latin typeface="黑体" panose="02010609060101010101" pitchFamily="2" charset="-122"/>
                <a:ea typeface="黑体" panose="02010609060101010101" pitchFamily="2" charset="-122"/>
                <a:cs typeface="+mn-ea"/>
                <a:sym typeface="+mn-ea"/>
              </a:rPr>
              <a:t>T2</a:t>
            </a:r>
            <a:r>
              <a:rPr lang="zh-CN" altLang="en-US" sz="2330" dirty="0">
                <a:latin typeface="黑体" panose="02010609060101010101" pitchFamily="2" charset="-122"/>
                <a:ea typeface="黑体" panose="02010609060101010101" pitchFamily="2" charset="-122"/>
                <a:cs typeface="+mn-ea"/>
                <a:sym typeface="+mn-ea"/>
              </a:rPr>
              <a:t>同构</a:t>
            </a: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r>
              <a:rPr lang="zh-CN" altLang="en-US" sz="2330" dirty="0">
                <a:latin typeface="黑体" panose="02010609060101010101" pitchFamily="2" charset="-122"/>
                <a:ea typeface="黑体" panose="02010609060101010101" pitchFamily="2" charset="-122"/>
                <a:cs typeface="+mn-ea"/>
                <a:sym typeface="+mn-ea"/>
              </a:rPr>
              <a:t>第二个图的</a:t>
            </a:r>
            <a:r>
              <a:rPr lang="en-US" altLang="zh-CN" sz="2330" dirty="0">
                <a:latin typeface="黑体" panose="02010609060101010101" pitchFamily="2" charset="-122"/>
                <a:ea typeface="黑体" panose="02010609060101010101" pitchFamily="2" charset="-122"/>
                <a:cs typeface="+mn-ea"/>
                <a:sym typeface="+mn-ea"/>
              </a:rPr>
              <a:t>T1</a:t>
            </a:r>
            <a:r>
              <a:rPr lang="zh-CN" altLang="en-US" sz="2330" dirty="0">
                <a:latin typeface="黑体" panose="02010609060101010101" pitchFamily="2" charset="-122"/>
                <a:ea typeface="黑体" panose="02010609060101010101" pitchFamily="2" charset="-122"/>
                <a:cs typeface="+mn-ea"/>
                <a:sym typeface="+mn-ea"/>
              </a:rPr>
              <a:t>和</a:t>
            </a:r>
            <a:r>
              <a:rPr lang="en-US" altLang="zh-CN" sz="2330" dirty="0">
                <a:latin typeface="黑体" panose="02010609060101010101" pitchFamily="2" charset="-122"/>
                <a:ea typeface="黑体" panose="02010609060101010101" pitchFamily="2" charset="-122"/>
                <a:cs typeface="+mn-ea"/>
                <a:sym typeface="+mn-ea"/>
              </a:rPr>
              <a:t>T2</a:t>
            </a:r>
            <a:r>
              <a:rPr lang="zh-CN" altLang="en-US" sz="2330" dirty="0">
                <a:latin typeface="黑体" panose="02010609060101010101" pitchFamily="2" charset="-122"/>
                <a:ea typeface="黑体" panose="02010609060101010101" pitchFamily="2" charset="-122"/>
                <a:cs typeface="+mn-ea"/>
                <a:sym typeface="+mn-ea"/>
              </a:rPr>
              <a:t>异构</a:t>
            </a: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endParaRPr lang="zh-CN" altLang="en-US" sz="233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5598160" y="2447290"/>
            <a:ext cx="5128260" cy="1698625"/>
          </a:xfrm>
          <a:prstGeom prst="rect">
            <a:avLst/>
          </a:prstGeom>
        </p:spPr>
      </p:pic>
      <p:pic>
        <p:nvPicPr>
          <p:cNvPr id="8" name="图片 7"/>
          <p:cNvPicPr>
            <a:picLocks noChangeAspect="1"/>
          </p:cNvPicPr>
          <p:nvPr/>
        </p:nvPicPr>
        <p:blipFill>
          <a:blip r:embed="rId2"/>
          <a:stretch>
            <a:fillRect/>
          </a:stretch>
        </p:blipFill>
        <p:spPr>
          <a:xfrm>
            <a:off x="5598160" y="4436745"/>
            <a:ext cx="5155565" cy="1783080"/>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拓展</a:t>
            </a:r>
            <a:r>
              <a:rPr lang="en-US" altLang="zh-CN" sz="2800" dirty="0">
                <a:latin typeface="黑体" panose="02010609060101010101" pitchFamily="2" charset="-122"/>
                <a:ea typeface="黑体" panose="02010609060101010101" pitchFamily="2" charset="-122"/>
                <a:cs typeface="+mn-cs"/>
                <a:sym typeface="+mn-ea"/>
              </a:rPr>
              <a:t>——</a:t>
            </a:r>
            <a:r>
              <a:rPr lang="zh-CN" altLang="en-US" sz="2800" dirty="0">
                <a:latin typeface="黑体" panose="02010609060101010101" pitchFamily="2" charset="-122"/>
                <a:ea typeface="黑体" panose="02010609060101010101" pitchFamily="2" charset="-122"/>
                <a:cs typeface="+mn-cs"/>
                <a:sym typeface="+mn-ea"/>
              </a:rPr>
              <a:t>二叉树同构问题：对于两棵非空</a:t>
            </a:r>
            <a:r>
              <a:rPr lang="zh-CN" altLang="en-US" sz="2800" dirty="0">
                <a:latin typeface="黑体" panose="02010609060101010101" pitchFamily="2" charset="-122"/>
                <a:ea typeface="黑体" panose="02010609060101010101" pitchFamily="2" charset="-122"/>
                <a:cs typeface="+mn-ea"/>
                <a:sym typeface="+mn-ea"/>
              </a:rPr>
              <a:t>二叉树</a:t>
            </a:r>
            <a:r>
              <a:rPr lang="en-US" altLang="zh-CN" sz="2800" dirty="0">
                <a:latin typeface="黑体" panose="02010609060101010101" pitchFamily="2" charset="-122"/>
                <a:ea typeface="黑体" panose="02010609060101010101" pitchFamily="2" charset="-122"/>
                <a:cs typeface="+mn-ea"/>
                <a:sym typeface="+mn-ea"/>
              </a:rPr>
              <a:t>T1</a:t>
            </a:r>
            <a:r>
              <a:rPr lang="zh-CN" altLang="en-US" sz="2800" dirty="0">
                <a:latin typeface="黑体" panose="02010609060101010101" pitchFamily="2" charset="-122"/>
                <a:ea typeface="黑体" panose="02010609060101010101" pitchFamily="2" charset="-122"/>
                <a:cs typeface="+mn-ea"/>
                <a:sym typeface="+mn-ea"/>
              </a:rPr>
              <a:t>和</a:t>
            </a:r>
            <a:r>
              <a:rPr lang="en-US" altLang="zh-CN" sz="2800" dirty="0">
                <a:latin typeface="黑体" panose="02010609060101010101" pitchFamily="2" charset="-122"/>
                <a:ea typeface="黑体" panose="02010609060101010101" pitchFamily="2" charset="-122"/>
                <a:cs typeface="+mn-ea"/>
                <a:sym typeface="+mn-ea"/>
              </a:rPr>
              <a:t>T2</a:t>
            </a:r>
            <a:r>
              <a:rPr lang="zh-CN" altLang="en-US" sz="2800" dirty="0">
                <a:latin typeface="黑体" panose="02010609060101010101" pitchFamily="2" charset="-122"/>
                <a:ea typeface="黑体" panose="02010609060101010101" pitchFamily="2" charset="-122"/>
                <a:cs typeface="+mn-ea"/>
                <a:sym typeface="+mn-ea"/>
              </a:rPr>
              <a:t>，若</a:t>
            </a:r>
            <a:r>
              <a:rPr lang="en-US" altLang="zh-CN" sz="2800" dirty="0">
                <a:latin typeface="黑体" panose="02010609060101010101" pitchFamily="2" charset="-122"/>
                <a:ea typeface="黑体" panose="02010609060101010101" pitchFamily="2" charset="-122"/>
                <a:cs typeface="+mn-ea"/>
                <a:sym typeface="+mn-ea"/>
              </a:rPr>
              <a:t>T1</a:t>
            </a:r>
            <a:r>
              <a:rPr lang="zh-CN" altLang="en-US" sz="2800" dirty="0">
                <a:latin typeface="黑体" panose="02010609060101010101" pitchFamily="2" charset="-122"/>
                <a:ea typeface="黑体" panose="02010609060101010101" pitchFamily="2" charset="-122"/>
                <a:cs typeface="+mn-ea"/>
                <a:sym typeface="+mn-ea"/>
              </a:rPr>
              <a:t>经过若干次左右孩子互换后，变成</a:t>
            </a:r>
            <a:r>
              <a:rPr lang="en-US" altLang="zh-CN" sz="2800" dirty="0">
                <a:latin typeface="黑体" panose="02010609060101010101" pitchFamily="2" charset="-122"/>
                <a:ea typeface="黑体" panose="02010609060101010101" pitchFamily="2" charset="-122"/>
                <a:cs typeface="+mn-ea"/>
                <a:sym typeface="+mn-ea"/>
              </a:rPr>
              <a:t>T2</a:t>
            </a:r>
            <a:r>
              <a:rPr lang="zh-CN" altLang="en-US" sz="2800" dirty="0">
                <a:latin typeface="黑体" panose="02010609060101010101" pitchFamily="2" charset="-122"/>
                <a:ea typeface="黑体" panose="02010609060101010101" pitchFamily="2" charset="-122"/>
                <a:cs typeface="+mn-ea"/>
                <a:sym typeface="+mn-ea"/>
              </a:rPr>
              <a:t>，我们称这两</a:t>
            </a:r>
            <a:r>
              <a:rPr lang="zh-CN" altLang="en-US" sz="2800" dirty="0">
                <a:latin typeface="黑体" panose="02010609060101010101" pitchFamily="2" charset="-122"/>
                <a:ea typeface="黑体" panose="02010609060101010101" pitchFamily="2" charset="-122"/>
                <a:cs typeface="+mn-cs"/>
                <a:sym typeface="+mn-ea"/>
              </a:rPr>
              <a:t>棵</a:t>
            </a:r>
            <a:r>
              <a:rPr lang="zh-CN" altLang="en-US" sz="2800" dirty="0">
                <a:latin typeface="黑体" panose="02010609060101010101" pitchFamily="2" charset="-122"/>
                <a:ea typeface="黑体" panose="02010609060101010101" pitchFamily="2" charset="-122"/>
                <a:cs typeface="+mn-ea"/>
                <a:sym typeface="+mn-ea"/>
              </a:rPr>
              <a:t>二叉树是同构的</a:t>
            </a:r>
            <a:endParaRPr lang="zh-CN" altLang="en-US" sz="2800" dirty="0">
              <a:latin typeface="黑体" panose="02010609060101010101" pitchFamily="2" charset="-122"/>
              <a:ea typeface="黑体" panose="02010609060101010101" pitchFamily="2" charset="-122"/>
              <a:cs typeface="+mn-ea"/>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递归算法思想：</a:t>
            </a:r>
            <a:endParaRPr lang="zh-CN" altLang="en-US" sz="280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Char char="•"/>
            </a:pPr>
            <a:r>
              <a:rPr lang="en-US" altLang="zh-CN" sz="2330" dirty="0">
                <a:latin typeface="黑体" panose="02010609060101010101" pitchFamily="2" charset="-122"/>
                <a:ea typeface="黑体" panose="02010609060101010101" pitchFamily="2" charset="-122"/>
                <a:cs typeface="+mn-ea"/>
                <a:sym typeface="+mn-ea"/>
              </a:rPr>
              <a:t>两棵树的当前结点比较</a:t>
            </a:r>
            <a:r>
              <a:rPr lang="zh-CN" altLang="en-US" sz="2330" dirty="0">
                <a:latin typeface="黑体" panose="02010609060101010101" pitchFamily="2" charset="-122"/>
                <a:ea typeface="黑体" panose="02010609060101010101" pitchFamily="2" charset="-122"/>
                <a:cs typeface="+mn-ea"/>
                <a:sym typeface="+mn-ea"/>
              </a:rPr>
              <a:t>是否相等，不等则退出</a:t>
            </a:r>
            <a:endParaRPr lang="zh-CN" altLang="en-US"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Char char="•"/>
            </a:pPr>
            <a:r>
              <a:rPr lang="zh-CN" altLang="en-US" sz="2330" dirty="0">
                <a:latin typeface="黑体" panose="02010609060101010101" pitchFamily="2" charset="-122"/>
                <a:ea typeface="黑体" panose="02010609060101010101" pitchFamily="2" charset="-122"/>
                <a:cs typeface="+mn-ea"/>
                <a:sym typeface="+mn-ea"/>
              </a:rPr>
              <a:t>交换</a:t>
            </a:r>
            <a:r>
              <a:rPr lang="en-US" altLang="zh-CN" sz="2330" dirty="0">
                <a:latin typeface="黑体" panose="02010609060101010101" pitchFamily="2" charset="-122"/>
                <a:ea typeface="黑体" panose="02010609060101010101" pitchFamily="2" charset="-122"/>
                <a:cs typeface="+mn-ea"/>
                <a:sym typeface="+mn-ea"/>
              </a:rPr>
              <a:t>T1</a:t>
            </a:r>
            <a:r>
              <a:rPr lang="zh-CN" altLang="en-US" sz="2330" dirty="0">
                <a:latin typeface="黑体" panose="02010609060101010101" pitchFamily="2" charset="-122"/>
                <a:ea typeface="黑体" panose="02010609060101010101" pitchFamily="2" charset="-122"/>
                <a:cs typeface="+mn-ea"/>
                <a:sym typeface="+mn-ea"/>
              </a:rPr>
              <a:t>当前结点的左右子树，递归比较左右子树是否全等</a:t>
            </a:r>
            <a:endParaRPr lang="en-US" altLang="zh-CN" sz="2330" dirty="0">
              <a:latin typeface="黑体" panose="02010609060101010101" pitchFamily="2" charset="-122"/>
              <a:ea typeface="黑体" panose="02010609060101010101" pitchFamily="2" charset="-122"/>
              <a:cs typeface="+mn-ea"/>
              <a:sym typeface="+mn-ea"/>
            </a:endParaRPr>
          </a:p>
          <a:p>
            <a:pPr marL="914400" marR="0" lvl="2" indent="-457200" algn="l" defTabSz="1219200" rtl="0" eaLnBrk="1" fontAlgn="base" latinLnBrk="0" hangingPunct="1">
              <a:lnSpc>
                <a:spcPct val="100000"/>
              </a:lnSpc>
              <a:spcBef>
                <a:spcPct val="20000"/>
              </a:spcBef>
              <a:buClrTx/>
              <a:buSzTx/>
              <a:buFont typeface="Arial" panose="020B0604020202020204" pitchFamily="34" charset="0"/>
              <a:buChar char="•"/>
            </a:pPr>
            <a:endParaRPr lang="zh-CN" altLang="en-US" sz="233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6.7 回溯法与树的遍历</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
        <p:nvSpPr>
          <p:cNvPr id="5" name="文本框 4"/>
          <p:cNvSpPr txBox="1"/>
          <p:nvPr/>
        </p:nvSpPr>
        <p:spPr>
          <a:xfrm>
            <a:off x="407035" y="1052830"/>
            <a:ext cx="11266805" cy="5114290"/>
          </a:xfrm>
          <a:prstGeom prst="rect">
            <a:avLst/>
          </a:prstGeom>
        </p:spPr>
        <p:txBody>
          <a:bodyPr vert="horz" lIns="91440" tIns="45720" rIns="91440" bIns="45720" rtlCol="0">
            <a:noAutofit/>
          </a:bodyPr>
          <a:p>
            <a:pPr marL="428625" marR="0" lvl="0" indent="-428625" algn="l" rtl="0" eaLnBrk="1" fontAlgn="base" latinLnBrk="0"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树的概念和术语，拥有唯一根结点，父子关系</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cs typeface="+mn-cs"/>
            </a:endParaRPr>
          </a:p>
          <a:p>
            <a:pPr marL="885825" marR="0" lvl="2" indent="-428625" algn="l" rtl="0" eaLnBrk="1" fontAlgn="base" latinLnBrk="0"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结点、度、叶结点、孩子、兄弟、祖先、双亲、层次、深度、森林</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a:p>
            <a:pPr marL="428625" marR="0" lvl="0" indent="-428625" algn="l" rtl="0" eaLnBrk="1" fontAlgn="base" latinLnBrk="0"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二叉树的概念和五个性质（性质5）</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cs typeface="+mn-cs"/>
            </a:endParaRPr>
          </a:p>
          <a:p>
            <a:pPr marL="885825" marR="0" lvl="2" indent="-428625" algn="l" rtl="0" eaLnBrk="1" fontAlgn="base" latinLnBrk="0"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二叉树特定形态：满二叉树和完全二叉树</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cs typeface="+mn-cs"/>
            </a:endParaRPr>
          </a:p>
          <a:p>
            <a:pPr marL="428625" marR="0" lvl="0" indent="-428625" algn="l" rtl="0" eaLnBrk="1" fontAlgn="base" latinLnBrk="0"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二叉树的存储结构</a:t>
            </a:r>
            <a:endParaRPr lang="zh-CN" altLang="en-US" sz="2400">
              <a:latin typeface="黑体" panose="02010609060101010101" pitchFamily="2" charset="-122"/>
              <a:ea typeface="黑体" panose="02010609060101010101" pitchFamily="2" charset="-122"/>
              <a:sym typeface="+mn-ea"/>
            </a:endParaRPr>
          </a:p>
          <a:p>
            <a:pPr marL="885825" marR="0" lvl="2" indent="-428625" algn="l" rtl="0" eaLnBrk="1" fontAlgn="base" latinLnBrk="0"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顺序存储、链式存储（二叉、三叉）</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cs typeface="+mn-cs"/>
            </a:endParaRPr>
          </a:p>
          <a:p>
            <a:pPr marL="428625" marR="0" lvl="0" indent="-428625" algn="l" rtl="0" eaLnBrk="1" fontAlgn="base" latinLnBrk="0"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二叉树的四种遍历：先序、中序、后序、层次</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cs typeface="+mn-cs"/>
            </a:endParaRPr>
          </a:p>
          <a:p>
            <a:pPr marL="428625" marR="0" lvl="0" indent="-428625" algn="l" rtl="0" eaLnBrk="1" fontAlgn="base" latinLnBrk="0"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二叉树的三种创建方法：</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cs typeface="+mn-cs"/>
            </a:endParaRPr>
          </a:p>
          <a:p>
            <a:pPr marL="885825" marR="0" lvl="2" indent="-428625" algn="l" rtl="0" eaLnBrk="1" fontAlgn="base" latinLnBrk="0"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带空子树</a:t>
            </a:r>
            <a:r>
              <a:rPr lang="en-US" altLang="zh-CN" sz="2400">
                <a:latin typeface="黑体" panose="02010609060101010101" pitchFamily="2" charset="-122"/>
                <a:ea typeface="黑体" panose="02010609060101010101" pitchFamily="2" charset="-122"/>
                <a:sym typeface="+mn-ea"/>
              </a:rPr>
              <a:t>0</a:t>
            </a:r>
            <a:r>
              <a:rPr lang="zh-CN" altLang="en-US" sz="2400">
                <a:latin typeface="黑体" panose="02010609060101010101" pitchFamily="2" charset="-122"/>
                <a:ea typeface="黑体" panose="02010609060101010101" pitchFamily="2" charset="-122"/>
                <a:sym typeface="+mn-ea"/>
              </a:rPr>
              <a:t>的先序遍历</a:t>
            </a:r>
            <a:endParaRPr lang="zh-CN" altLang="en-US" sz="2400">
              <a:latin typeface="黑体" panose="02010609060101010101" pitchFamily="2" charset="-122"/>
              <a:ea typeface="黑体" panose="02010609060101010101" pitchFamily="2" charset="-122"/>
              <a:sym typeface="+mn-ea"/>
            </a:endParaRPr>
          </a:p>
          <a:p>
            <a:pPr marL="885825" marR="0" lvl="2" indent="-428625" algn="l" rtl="0" eaLnBrk="1" fontAlgn="base" latinLnBrk="0"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带空子树0的层次遍历</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a:p>
            <a:pPr marL="885825" marR="0" lvl="2" indent="-428625" algn="l" rtl="0" eaLnBrk="1" fontAlgn="base" latinLnBrk="0"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先序+中序、后序+中序</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a:p>
            <a:pPr marL="428625" indent="-428625" algn="l" eaLnBrk="1" hangingPunct="1">
              <a:lnSpc>
                <a:spcPct val="90000"/>
              </a:lnSpc>
              <a:spcBef>
                <a:spcPts val="1000"/>
              </a:spcBef>
              <a:buClr>
                <a:schemeClr val="accent2"/>
              </a:buClr>
              <a:buSzTx/>
              <a:buFont typeface="Wingdings" panose="05000000000000000000" charset="0"/>
              <a:buChar char="l"/>
            </a:pP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
        <p:nvSpPr>
          <p:cNvPr id="5" name="文本框 4"/>
          <p:cNvSpPr txBox="1"/>
          <p:nvPr/>
        </p:nvSpPr>
        <p:spPr>
          <a:xfrm>
            <a:off x="407035" y="1052830"/>
            <a:ext cx="11266805" cy="5114290"/>
          </a:xfrm>
          <a:prstGeom prst="rect">
            <a:avLst/>
          </a:prstGeom>
        </p:spPr>
        <p:txBody>
          <a:bodyPr vert="horz" lIns="91440" tIns="45720" rIns="91440" bIns="45720" rtlCol="0">
            <a:noAutofit/>
          </a:bodyPr>
          <a:p>
            <a:pPr marL="428625" marR="0" lvl="0" indent="-428625" algn="l" rtl="0" eaLnBrk="1" fontAlgn="base" latinLnBrk="0"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树的存储结构</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cs typeface="+mn-cs"/>
            </a:endParaRPr>
          </a:p>
          <a:p>
            <a:pPr marL="885825" marR="0" lvl="2" indent="-428625" algn="l" rtl="0" eaLnBrk="1" fontAlgn="base" latinLnBrk="0"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双亲表示法</a:t>
            </a:r>
            <a:endParaRPr lang="zh-CN" altLang="en-US" sz="2400">
              <a:latin typeface="黑体" panose="02010609060101010101" pitchFamily="2" charset="-122"/>
              <a:ea typeface="黑体" panose="02010609060101010101" pitchFamily="2" charset="-122"/>
              <a:sym typeface="+mn-ea"/>
            </a:endParaRPr>
          </a:p>
          <a:p>
            <a:pPr marL="885825" marR="0" lvl="2" indent="-428625" algn="l" rtl="0" eaLnBrk="1" fontAlgn="base" latinLnBrk="0"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孩子多重链表法、</a:t>
            </a:r>
            <a:endParaRPr lang="zh-CN" altLang="en-US" sz="2400">
              <a:latin typeface="黑体" panose="02010609060101010101" pitchFamily="2" charset="-122"/>
              <a:ea typeface="黑体" panose="02010609060101010101" pitchFamily="2" charset="-122"/>
              <a:sym typeface="+mn-ea"/>
            </a:endParaRPr>
          </a:p>
          <a:p>
            <a:pPr marL="885825" marR="0" lvl="2" indent="-428625" algn="l" rtl="0" eaLnBrk="1" fontAlgn="base" latinLnBrk="0"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孩子链表法、带双亲的孩子链表法</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a:p>
            <a:pPr marL="885825" marR="0" lvl="2" indent="-428625" algn="l" rtl="0" eaLnBrk="1" fontAlgn="base" latinLnBrk="0"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孩子兄弟表示法</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a:p>
            <a:pPr marL="428625" marR="0" lvl="0" indent="-428625" algn="l" rtl="0" eaLnBrk="1" fontAlgn="base" latinLnBrk="0"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树、森林与二叉树的相互转换</a:t>
            </a:r>
            <a:endParaRPr lang="zh-CN" altLang="en-US" sz="2400">
              <a:latin typeface="黑体" panose="02010609060101010101" pitchFamily="2" charset="-122"/>
              <a:ea typeface="黑体" panose="02010609060101010101" pitchFamily="2" charset="-122"/>
              <a:sym typeface="+mn-ea"/>
            </a:endParaRPr>
          </a:p>
          <a:p>
            <a:pPr marL="428625" marR="0" lvl="0" indent="-428625" algn="l" rtl="0" eaLnBrk="1" fontAlgn="base" latinLnBrk="0"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树、森林的遍历，与二叉树遍历的对应关系</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cs typeface="+mn-cs"/>
            </a:endParaRPr>
          </a:p>
          <a:p>
            <a:pPr marL="428625" marR="0" lvl="0" indent="-428625" algn="l" rtl="0" eaLnBrk="1" fontAlgn="base" latinLnBrk="0"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树的路径长度、树的带权路径长度</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cs typeface="+mn-cs"/>
            </a:endParaRPr>
          </a:p>
          <a:p>
            <a:pPr marL="428625" marR="0" lvl="0" indent="-428625" algn="l" rtl="0" eaLnBrk="1" fontAlgn="base" latinLnBrk="0"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赫夫曼树的构建、编码、解码</a:t>
            </a: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cs typeface="+mn-cs"/>
            </a:endParaRPr>
          </a:p>
          <a:p>
            <a:pPr marL="428625" indent="-428625" algn="l" eaLnBrk="1" hangingPunct="1">
              <a:lnSpc>
                <a:spcPct val="90000"/>
              </a:lnSpc>
              <a:spcBef>
                <a:spcPts val="1000"/>
              </a:spcBef>
              <a:buClr>
                <a:schemeClr val="accent2"/>
              </a:buClr>
              <a:buSzTx/>
              <a:buFont typeface="Wingdings" panose="05000000000000000000" charset="0"/>
              <a:buChar char="l"/>
            </a:pP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UNIT_PLACING_PICTURE_USER_VIEWPORT" val="{&quot;height&quot;:5644,&quot;width&quot;:6485}"/>
</p:tagLst>
</file>

<file path=ppt/tags/tag2.xml><?xml version="1.0" encoding="utf-8"?>
<p:tagLst xmlns:p="http://schemas.openxmlformats.org/presentationml/2006/main">
  <p:tag name="KSO_WM_UNIT_TABLE_BEAUTIFY" val="smartTable{2c7cd95c-a651-4b9a-9348-231a8c2ed13b}"/>
</p:tagLst>
</file>

<file path=ppt/tags/tag3.xml><?xml version="1.0" encoding="utf-8"?>
<p:tagLst xmlns:p="http://schemas.openxmlformats.org/presentationml/2006/main">
  <p:tag name="KSO_WM_UNIT_TABLE_BEAUTIFY" val="smartTable{dd57e66f-2e8d-40de-8f61-0c7d777d405d}"/>
</p:tagLst>
</file>

<file path=ppt/tags/tag4.xml><?xml version="1.0" encoding="utf-8"?>
<p:tagLst xmlns:p="http://schemas.openxmlformats.org/presentationml/2006/main">
  <p:tag name="KSO_WM_UNIT_PLACING_PICTURE_USER_VIEWPORT" val="{&quot;height&quot;:4083,&quot;width&quot;:6500}"/>
</p:tagLst>
</file>

<file path=ppt/tags/tag5.xml><?xml version="1.0" encoding="utf-8"?>
<p:tagLst xmlns:p="http://schemas.openxmlformats.org/presentationml/2006/main">
  <p:tag name="KSO_WM_UNIT_PLACING_PICTURE_USER_VIEWPORT" val="{&quot;height&quot;:2610,&quot;width&quot;:7380}"/>
</p:tagLst>
</file>

<file path=ppt/theme/theme1.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主题​​">
      <a:majorFont>
        <a:latin typeface="宋体"/>
        <a:ea typeface="微软雅黑"/>
        <a:cs typeface="Segoe Print"/>
      </a:majorFont>
      <a:minorFont>
        <a:latin typeface="宋体"/>
        <a:ea typeface="微软雅黑"/>
        <a:cs typeface="Segoe Prin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bodyPr vert="horz" lIns="91440" tIns="45720" rIns="91440" bIns="45720" rtlCol="0">
        <a:noAutofit/>
      </a:bodyPr>
      <a:lstStyle>
        <a:defPPr marL="571500" lvl="0" indent="-571500">
          <a:lnSpc>
            <a:spcPct val="90000"/>
          </a:lnSpc>
          <a:spcBef>
            <a:spcPts val="1000"/>
          </a:spcBef>
          <a:buClr>
            <a:schemeClr val="accent2"/>
          </a:buClr>
          <a:buFont typeface="Wingdings" panose="05000000000000000000" pitchFamily="2" charset="2"/>
          <a:buChar char="n"/>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Segoe Print"/>
        <a:cs typeface="Segoe Pri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Segoe Print"/>
        <a:cs typeface="Segoe Pri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Segoe Print"/>
        <a:cs typeface="Segoe Pri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Segoe Print"/>
        <a:cs typeface="Segoe Pri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20647</Words>
  <Application>WPS 演示</Application>
  <PresentationFormat>宽屏</PresentationFormat>
  <Paragraphs>3596</Paragraphs>
  <Slides>144</Slides>
  <Notes>12</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7</vt:i4>
      </vt:variant>
      <vt:variant>
        <vt:lpstr>幻灯片标题</vt:lpstr>
      </vt:variant>
      <vt:variant>
        <vt:i4>144</vt:i4>
      </vt:variant>
    </vt:vector>
  </HeadingPairs>
  <TitlesOfParts>
    <vt:vector size="168" baseType="lpstr">
      <vt:lpstr>Arial</vt:lpstr>
      <vt:lpstr>宋体</vt:lpstr>
      <vt:lpstr>Wingdings</vt:lpstr>
      <vt:lpstr>Copperplate Gothic Bold</vt:lpstr>
      <vt:lpstr>微软雅黑</vt:lpstr>
      <vt:lpstr>Tahoma</vt:lpstr>
      <vt:lpstr>Wingdings</vt:lpstr>
      <vt:lpstr>Garamond</vt:lpstr>
      <vt:lpstr>楷体</vt:lpstr>
      <vt:lpstr>黑体</vt:lpstr>
      <vt:lpstr>Lucida Sans Unicode</vt:lpstr>
      <vt:lpstr>Times New Roman</vt:lpstr>
      <vt:lpstr>隶书</vt:lpstr>
      <vt:lpstr>Arial Unicode MS</vt:lpstr>
      <vt:lpstr>Symbol</vt:lpstr>
      <vt:lpstr>Segoe Print</vt:lpstr>
      <vt:lpstr>1_Office 主题​​</vt:lpstr>
      <vt:lpstr>Paint.Picture</vt:lpstr>
      <vt:lpstr>Paint.Picture</vt:lpstr>
      <vt:lpstr>Paint.Picture</vt:lpstr>
      <vt:lpstr>Paint.Picture</vt:lpstr>
      <vt:lpstr>Paint.Picture</vt:lpstr>
      <vt:lpstr>Paint.Picture</vt:lpstr>
      <vt:lpstr>Paint.Picture</vt:lpstr>
      <vt:lpstr>PowerPoint 演示文稿</vt:lpstr>
      <vt:lpstr>课程结构（按教材划分）</vt:lpstr>
      <vt:lpstr>PowerPoint 演示文稿</vt:lpstr>
      <vt:lpstr>6.1 树的定义和基本术语</vt:lpstr>
      <vt:lpstr>6.1 树的定义和基本术语</vt:lpstr>
      <vt:lpstr>6.1 树的定义和基本术语</vt:lpstr>
      <vt:lpstr>6.1 树的定义和基本术语</vt:lpstr>
      <vt:lpstr>6.1 树的定义和基本术语</vt:lpstr>
      <vt:lpstr>6.1 树的定义和基本术语</vt:lpstr>
      <vt:lpstr>6.1 树的定义和基本术语</vt:lpstr>
      <vt:lpstr>练习</vt:lpstr>
      <vt:lpstr>PowerPoint 演示文稿</vt:lpstr>
      <vt:lpstr>6.2 二叉树</vt:lpstr>
      <vt:lpstr>6.2 二叉树</vt:lpstr>
      <vt:lpstr>练习</vt:lpstr>
      <vt:lpstr>6.2 二叉树</vt:lpstr>
      <vt:lpstr>6.2 二叉树</vt:lpstr>
      <vt:lpstr>6.2 二叉树</vt:lpstr>
      <vt:lpstr>6.2 二叉树</vt:lpstr>
      <vt:lpstr>练习</vt:lpstr>
      <vt:lpstr>6.2 二叉树</vt:lpstr>
      <vt:lpstr>6.2 二叉树</vt:lpstr>
      <vt:lpstr>6.2 二叉树</vt:lpstr>
      <vt:lpstr>6.2 二叉树</vt:lpstr>
      <vt:lpstr>6.2 二叉树</vt:lpstr>
      <vt:lpstr>练习</vt:lpstr>
      <vt:lpstr>练习</vt:lpstr>
      <vt:lpstr>PowerPoint 演示文稿</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练习</vt:lpstr>
      <vt:lpstr>6.3 遍历二叉树和线索二叉树</vt:lpstr>
      <vt:lpstr>6.3 遍历二叉树和线索二叉树</vt:lpstr>
      <vt:lpstr>6.3 遍历二叉树和线索二叉树</vt:lpstr>
      <vt:lpstr>6.3 遍历二叉树和线索二叉树</vt:lpstr>
      <vt:lpstr>6.3 遍历二叉树和线索二叉树</vt:lpstr>
      <vt:lpstr>上节课复习</vt:lpstr>
      <vt:lpstr>复习练习</vt:lpstr>
      <vt:lpstr>复习练习</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练习</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6.3 遍历二叉树和线索二叉树</vt:lpstr>
      <vt:lpstr>练习</vt:lpstr>
      <vt:lpstr>PowerPoint 演示文稿</vt:lpstr>
      <vt:lpstr>6.6 赫夫曼树及其应用 </vt:lpstr>
      <vt:lpstr>6.6 赫夫曼树及其应用 </vt:lpstr>
      <vt:lpstr>6.6 赫夫曼树及其应用 </vt:lpstr>
      <vt:lpstr>6.6 赫夫曼树及其应用 </vt:lpstr>
      <vt:lpstr>6.6 赫夫曼树及其应用 </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练习</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6.6 赫夫曼树及其应用</vt:lpstr>
      <vt:lpstr>上节课复习</vt:lpstr>
      <vt:lpstr>复习练习</vt:lpstr>
      <vt:lpstr>复习练习</vt:lpstr>
      <vt:lpstr>复习练习</vt:lpstr>
      <vt:lpstr>PowerPoint 演示文稿</vt:lpstr>
      <vt:lpstr>6.4 树和森林</vt:lpstr>
      <vt:lpstr>6.4 树和森林</vt:lpstr>
      <vt:lpstr>6.4 树和森林</vt:lpstr>
      <vt:lpstr>6.4 树和森林</vt:lpstr>
      <vt:lpstr>6.4 树和森林</vt:lpstr>
      <vt:lpstr>6.4 树和森林</vt:lpstr>
      <vt:lpstr>6.4 树和森林</vt:lpstr>
      <vt:lpstr>6.4 树和森林</vt:lpstr>
      <vt:lpstr>6.4 树和森林</vt:lpstr>
      <vt:lpstr>6.4 树和森林</vt:lpstr>
      <vt:lpstr>6.4 树和森林</vt:lpstr>
      <vt:lpstr>6.4 树和森林</vt:lpstr>
      <vt:lpstr>6.4 树和森林</vt:lpstr>
      <vt:lpstr>6.4 树和森林</vt:lpstr>
      <vt:lpstr>6.4 树和森林</vt:lpstr>
      <vt:lpstr>6.4 树和森林</vt:lpstr>
      <vt:lpstr>练习</vt:lpstr>
      <vt:lpstr>练习</vt:lpstr>
      <vt:lpstr>PowerPoint 演示文稿</vt:lpstr>
      <vt:lpstr>6.7 回溯法与树的遍历</vt:lpstr>
      <vt:lpstr>6.7 回溯法与树的遍历</vt:lpstr>
      <vt:lpstr>6.7 回溯法与树的遍历</vt:lpstr>
      <vt:lpstr>6.7 回溯法与树的遍历</vt:lpstr>
      <vt:lpstr>6.7 回溯法与树的遍历</vt:lpstr>
      <vt:lpstr>6.7 回溯法与树的遍历</vt:lpstr>
      <vt:lpstr>6.7 回溯法与树的遍历</vt:lpstr>
      <vt:lpstr>6.7 回溯法与树的遍历</vt:lpstr>
      <vt:lpstr>6.7 回溯法与树的遍历</vt:lpstr>
      <vt:lpstr>6.7 回溯法与树的遍历</vt:lpstr>
      <vt:lpstr>6.7 回溯法与树的遍历</vt:lpstr>
      <vt:lpstr>6.7 回溯法与树的遍历</vt:lpstr>
      <vt:lpstr>6.7 回溯法与树的遍历</vt:lpstr>
      <vt:lpstr>PowerPoint 演示文稿</vt:lpstr>
      <vt:lpstr>PowerPoint 演示文稿</vt:lpstr>
      <vt:lpstr>PowerPoint 演示文稿</vt:lpstr>
    </vt:vector>
  </TitlesOfParts>
  <Company>SZU</Company>
  <LinksUpToDate>false</LinksUpToDate>
  <SharedDoc>false</SharedDoc>
  <HyperlinksChanged>false</HyperlinksChanged>
  <AppVersion>14.0000</AppVersion>
  <Manager>BJC</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教学讲义</dc:title>
  <dc:creator>白; BJC</dc:creator>
  <dc:subject>C++</dc:subject>
  <cp:lastModifiedBy>bai</cp:lastModifiedBy>
  <cp:revision>2290</cp:revision>
  <dcterms:created xsi:type="dcterms:W3CDTF">2014-01-11T15:22:00Z</dcterms:created>
  <dcterms:modified xsi:type="dcterms:W3CDTF">2023-10-11T14:05:30Z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2052-11.8.2.8361</vt:lpwstr>
  </property>
  <property fmtid="{D5CDD505-2E9C-101B-9397-08002B2CF9AE}" pid="3" name="ICV">
    <vt:lpwstr>4508C18874504005A6F10EDD074A32CB</vt:lpwstr>
  </property>
</Properties>
</file>