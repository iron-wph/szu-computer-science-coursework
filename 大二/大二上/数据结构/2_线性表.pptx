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embedTrueTypeFonts="1" saveSubsetFonts="1">
  <p:sldMasterIdLst>
    <p:sldMasterId id="2147483648" r:id="rId1"/>
  </p:sldMasterIdLst>
  <p:notesMasterIdLst>
    <p:notesMasterId r:id="rId75"/>
  </p:notesMasterIdLst>
  <p:handoutMasterIdLst>
    <p:handoutMasterId r:id="rId76"/>
  </p:handoutMasterIdLst>
  <p:sldIdLst>
    <p:sldId id="606" r:id="rId3"/>
    <p:sldId id="699" r:id="rId4"/>
    <p:sldId id="282" r:id="rId5"/>
    <p:sldId id="740" r:id="rId6"/>
    <p:sldId id="844" r:id="rId7"/>
    <p:sldId id="845" r:id="rId8"/>
    <p:sldId id="846" r:id="rId9"/>
    <p:sldId id="847" r:id="rId10"/>
    <p:sldId id="848" r:id="rId11"/>
    <p:sldId id="849" r:id="rId12"/>
    <p:sldId id="850" r:id="rId13"/>
    <p:sldId id="851" r:id="rId14"/>
    <p:sldId id="852" r:id="rId15"/>
    <p:sldId id="853" r:id="rId16"/>
    <p:sldId id="855" r:id="rId17"/>
    <p:sldId id="856" r:id="rId18"/>
    <p:sldId id="857" r:id="rId19"/>
    <p:sldId id="858" r:id="rId20"/>
    <p:sldId id="859" r:id="rId21"/>
    <p:sldId id="860" r:id="rId22"/>
    <p:sldId id="861" r:id="rId23"/>
    <p:sldId id="862" r:id="rId24"/>
    <p:sldId id="863" r:id="rId25"/>
    <p:sldId id="864" r:id="rId26"/>
    <p:sldId id="872" r:id="rId27"/>
    <p:sldId id="873" r:id="rId28"/>
    <p:sldId id="874" r:id="rId29"/>
    <p:sldId id="865" r:id="rId30"/>
    <p:sldId id="866" r:id="rId31"/>
    <p:sldId id="867" r:id="rId32"/>
    <p:sldId id="868" r:id="rId33"/>
    <p:sldId id="919" r:id="rId34"/>
    <p:sldId id="869" r:id="rId35"/>
    <p:sldId id="870" r:id="rId36"/>
    <p:sldId id="875" r:id="rId37"/>
    <p:sldId id="876" r:id="rId38"/>
    <p:sldId id="877" r:id="rId39"/>
    <p:sldId id="879" r:id="rId40"/>
    <p:sldId id="878" r:id="rId41"/>
    <p:sldId id="886" r:id="rId42"/>
    <p:sldId id="880" r:id="rId43"/>
    <p:sldId id="881" r:id="rId44"/>
    <p:sldId id="882" r:id="rId45"/>
    <p:sldId id="883" r:id="rId46"/>
    <p:sldId id="884" r:id="rId47"/>
    <p:sldId id="885" r:id="rId48"/>
    <p:sldId id="888" r:id="rId49"/>
    <p:sldId id="889" r:id="rId50"/>
    <p:sldId id="890" r:id="rId51"/>
    <p:sldId id="891" r:id="rId52"/>
    <p:sldId id="892" r:id="rId53"/>
    <p:sldId id="893" r:id="rId54"/>
    <p:sldId id="894" r:id="rId55"/>
    <p:sldId id="895" r:id="rId56"/>
    <p:sldId id="896" r:id="rId57"/>
    <p:sldId id="897" r:id="rId58"/>
    <p:sldId id="898" r:id="rId59"/>
    <p:sldId id="899" r:id="rId60"/>
    <p:sldId id="900" r:id="rId61"/>
    <p:sldId id="901" r:id="rId62"/>
    <p:sldId id="902" r:id="rId63"/>
    <p:sldId id="903" r:id="rId64"/>
    <p:sldId id="904" r:id="rId65"/>
    <p:sldId id="905" r:id="rId66"/>
    <p:sldId id="906" r:id="rId67"/>
    <p:sldId id="907" r:id="rId68"/>
    <p:sldId id="908" r:id="rId69"/>
    <p:sldId id="909" r:id="rId70"/>
    <p:sldId id="910" r:id="rId71"/>
    <p:sldId id="911" r:id="rId72"/>
    <p:sldId id="612" r:id="rId73"/>
    <p:sldId id="613" r:id="rId74"/>
  </p:sldIdLst>
  <p:sldSz cx="12192000" cy="6858000"/>
  <p:notesSz cx="6858000" cy="9144000"/>
  <p:embeddedFontLst>
    <p:embeddedFont>
      <p:font typeface="Copperplate Gothic Bold" panose="020E0705020206020404" charset="0"/>
      <p:regular r:id="rId81"/>
    </p:embeddedFont>
    <p:embeddedFont>
      <p:font typeface="微软雅黑" panose="020B0503020204020204" pitchFamily="34" charset="-122"/>
      <p:regular r:id="rId82"/>
    </p:embeddedFont>
    <p:embeddedFont>
      <p:font typeface="Tahoma" panose="020B0604030504040204" charset="0"/>
      <p:regular r:id="rId83"/>
      <p:bold r:id="rId84"/>
    </p:embeddedFont>
    <p:embeddedFont>
      <p:font typeface="Garamond" panose="02020404030301010803" pitchFamily="18" charset="0"/>
      <p:regular r:id="rId85"/>
      <p:bold r:id="rId86"/>
      <p:italic r:id="rId87"/>
    </p:embeddedFont>
    <p:embeddedFont>
      <p:font typeface="楷体" panose="02010609060101010101" charset="-122"/>
      <p:regular r:id="rId88"/>
    </p:embeddedFont>
    <p:embeddedFont>
      <p:font typeface="黑体" panose="02010609060101010101" pitchFamily="2" charset="-122"/>
      <p:regular r:id="rId89"/>
    </p:embeddedFont>
    <p:embeddedFont>
      <p:font typeface="Arial Narrow" panose="020B0606020202030204" pitchFamily="34" charset="0"/>
      <p:regular r:id="rId90"/>
      <p:bold r:id="rId91"/>
      <p:italic r:id="rId92"/>
      <p:boldItalic r:id="rId93"/>
    </p:embeddedFont>
    <p:embeddedFont>
      <p:font typeface="仿宋" panose="02010609060101010101" charset="-122"/>
      <p:regular r:id="rId94"/>
    </p:embeddedFont>
    <p:embeddedFont>
      <p:font typeface="Arial Unicode MS" panose="020B0604020202020204" charset="-122"/>
      <p:regular r:id="rId95"/>
    </p:embeddedFont>
  </p:embeddedFontLst>
  <p:custDataLst>
    <p:tags r:id="rId96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aodongdongzjhw" initials="g" lastIdx="16" clrIdx="0"/>
  <p:cmAuthor id="2" name="Wuqijun" initials="W" lastIdx="7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594" y="102"/>
      </p:cViewPr>
      <p:guideLst>
        <p:guide orient="horz" pos="346"/>
        <p:guide orient="horz" pos="1190"/>
        <p:guide orient="horz" pos="4106"/>
        <p:guide orient="horz" pos="3158"/>
        <p:guide orient="horz" pos="2816"/>
        <p:guide pos="3805"/>
        <p:guide pos="892"/>
        <p:guide pos="7650"/>
        <p:guide pos="6970"/>
        <p:guide pos="1315"/>
        <p:guide pos="6402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7" d="100"/>
          <a:sy n="67" d="100"/>
        </p:scale>
        <p:origin x="-3360" y="-108"/>
      </p:cViewPr>
      <p:guideLst>
        <p:guide orient="horz" pos="2923"/>
        <p:guide pos="214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6" Type="http://schemas.openxmlformats.org/officeDocument/2006/relationships/tags" Target="tags/tag2.xml"/><Relationship Id="rId95" Type="http://schemas.openxmlformats.org/officeDocument/2006/relationships/font" Target="fonts/font15.fntdata"/><Relationship Id="rId94" Type="http://schemas.openxmlformats.org/officeDocument/2006/relationships/font" Target="fonts/font14.fntdata"/><Relationship Id="rId93" Type="http://schemas.openxmlformats.org/officeDocument/2006/relationships/font" Target="fonts/font13.fntdata"/><Relationship Id="rId92" Type="http://schemas.openxmlformats.org/officeDocument/2006/relationships/font" Target="fonts/font12.fntdata"/><Relationship Id="rId91" Type="http://schemas.openxmlformats.org/officeDocument/2006/relationships/font" Target="fonts/font11.fntdata"/><Relationship Id="rId90" Type="http://schemas.openxmlformats.org/officeDocument/2006/relationships/font" Target="fonts/font10.fntdata"/><Relationship Id="rId9" Type="http://schemas.openxmlformats.org/officeDocument/2006/relationships/slide" Target="slides/slide7.xml"/><Relationship Id="rId89" Type="http://schemas.openxmlformats.org/officeDocument/2006/relationships/font" Target="fonts/font9.fntdata"/><Relationship Id="rId88" Type="http://schemas.openxmlformats.org/officeDocument/2006/relationships/font" Target="fonts/font8.fntdata"/><Relationship Id="rId87" Type="http://schemas.openxmlformats.org/officeDocument/2006/relationships/font" Target="fonts/font7.fntdata"/><Relationship Id="rId86" Type="http://schemas.openxmlformats.org/officeDocument/2006/relationships/font" Target="fonts/font6.fntdata"/><Relationship Id="rId85" Type="http://schemas.openxmlformats.org/officeDocument/2006/relationships/font" Target="fonts/font5.fntdata"/><Relationship Id="rId84" Type="http://schemas.openxmlformats.org/officeDocument/2006/relationships/font" Target="fonts/font4.fntdata"/><Relationship Id="rId83" Type="http://schemas.openxmlformats.org/officeDocument/2006/relationships/font" Target="fonts/font3.fntdata"/><Relationship Id="rId82" Type="http://schemas.openxmlformats.org/officeDocument/2006/relationships/font" Target="fonts/font2.fntdata"/><Relationship Id="rId81" Type="http://schemas.openxmlformats.org/officeDocument/2006/relationships/font" Target="fonts/font1.fntdata"/><Relationship Id="rId80" Type="http://schemas.openxmlformats.org/officeDocument/2006/relationships/commentAuthors" Target="commentAuthors.xml"/><Relationship Id="rId8" Type="http://schemas.openxmlformats.org/officeDocument/2006/relationships/slide" Target="slides/slide6.xml"/><Relationship Id="rId79" Type="http://schemas.openxmlformats.org/officeDocument/2006/relationships/tableStyles" Target="tableStyles.xml"/><Relationship Id="rId78" Type="http://schemas.openxmlformats.org/officeDocument/2006/relationships/viewProps" Target="viewProps.xml"/><Relationship Id="rId77" Type="http://schemas.openxmlformats.org/officeDocument/2006/relationships/presProps" Target="presProps.xml"/><Relationship Id="rId76" Type="http://schemas.openxmlformats.org/officeDocument/2006/relationships/handoutMaster" Target="handoutMasters/handoutMaster1.xml"/><Relationship Id="rId75" Type="http://schemas.openxmlformats.org/officeDocument/2006/relationships/notesMaster" Target="notesMasters/notesMaster1.xml"/><Relationship Id="rId74" Type="http://schemas.openxmlformats.org/officeDocument/2006/relationships/slide" Target="slides/slide72.xml"/><Relationship Id="rId73" Type="http://schemas.openxmlformats.org/officeDocument/2006/relationships/slide" Target="slides/slide71.xml"/><Relationship Id="rId72" Type="http://schemas.openxmlformats.org/officeDocument/2006/relationships/slide" Target="slides/slide70.xml"/><Relationship Id="rId71" Type="http://schemas.openxmlformats.org/officeDocument/2006/relationships/slide" Target="slides/slide69.xml"/><Relationship Id="rId70" Type="http://schemas.openxmlformats.org/officeDocument/2006/relationships/slide" Target="slides/slide68.xml"/><Relationship Id="rId7" Type="http://schemas.openxmlformats.org/officeDocument/2006/relationships/slide" Target="slides/slide5.xml"/><Relationship Id="rId69" Type="http://schemas.openxmlformats.org/officeDocument/2006/relationships/slide" Target="slides/slide67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33BA84-6C1D-4F93-A9F4-04B92CE1945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8FCAEF-2C49-435D-B9DA-BA0CC419F84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endParaRPr lang="zh-CN" altLang="zh-CN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defRPr/>
            </a:lvl1pPr>
          </a:lstStyle>
          <a:p>
            <a:fld id="{9DD59B10-E385-4D3C-A0B0-F174EA9AA91B}" type="datetime1">
              <a:rPr lang="zh-CN" altLang="en-US"/>
            </a:fld>
            <a:endParaRPr lang="zh-CN" altLang="en-US" sz="1200"/>
          </a:p>
        </p:txBody>
      </p:sp>
      <p:sp>
        <p:nvSpPr>
          <p:cNvPr id="2052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 cmpd="sng">
            <a:noFill/>
            <a:bevel/>
          </a:ln>
        </p:spPr>
      </p:sp>
      <p:sp>
        <p:nvSpPr>
          <p:cNvPr id="2053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 w="12700" cmpd="sng">
            <a:noFill/>
            <a:bevel/>
          </a:ln>
        </p:spPr>
        <p:txBody>
          <a:bodyPr anchor="ctr"/>
          <a:lstStyle/>
          <a:p>
            <a:pPr defTabSz="0" eaLnBrk="0" hangingPunct="0">
              <a:spcBef>
                <a:spcPct val="30000"/>
              </a:spcBef>
              <a:buFontTx/>
              <a:buNone/>
            </a:pPr>
            <a:r>
              <a:rPr lang="zh-CN" altLang="en-US" sz="1200"/>
              <a:t>单击此处编辑母版文本样式</a:t>
            </a:r>
            <a:endParaRPr lang="zh-CN" altLang="en-US" sz="1200"/>
          </a:p>
          <a:p>
            <a:pPr defTabSz="0" eaLnBrk="0" hangingPunct="0">
              <a:spcBef>
                <a:spcPct val="30000"/>
              </a:spcBef>
              <a:buFontTx/>
              <a:buNone/>
            </a:pPr>
            <a:r>
              <a:rPr lang="zh-CN" altLang="en-US" sz="1200"/>
              <a:t>第二级</a:t>
            </a:r>
            <a:endParaRPr lang="zh-CN" altLang="en-US" sz="1200"/>
          </a:p>
          <a:p>
            <a:pPr defTabSz="0" eaLnBrk="0" hangingPunct="0">
              <a:spcBef>
                <a:spcPct val="30000"/>
              </a:spcBef>
              <a:buFontTx/>
              <a:buNone/>
            </a:pPr>
            <a:r>
              <a:rPr lang="zh-CN" altLang="en-US" sz="1200"/>
              <a:t>第三级</a:t>
            </a:r>
            <a:endParaRPr lang="zh-CN" altLang="en-US" sz="1200"/>
          </a:p>
          <a:p>
            <a:pPr defTabSz="0" eaLnBrk="0" hangingPunct="0">
              <a:spcBef>
                <a:spcPct val="30000"/>
              </a:spcBef>
              <a:buFontTx/>
              <a:buNone/>
            </a:pPr>
            <a:r>
              <a:rPr lang="zh-CN" altLang="en-US" sz="1200"/>
              <a:t>第四级</a:t>
            </a:r>
            <a:endParaRPr lang="zh-CN" altLang="en-US" sz="1200"/>
          </a:p>
          <a:p>
            <a:pPr defTabSz="0" eaLnBrk="0" hangingPunct="0">
              <a:spcBef>
                <a:spcPct val="30000"/>
              </a:spcBef>
              <a:buFontTx/>
              <a:buNone/>
            </a:pPr>
            <a:r>
              <a:rPr lang="zh-CN" altLang="en-US" sz="1200"/>
              <a:t>第五级</a:t>
            </a:r>
            <a:endParaRPr lang="zh-CN" altLang="en-US" sz="1200"/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 sz="1200"/>
            </a:lvl1pPr>
          </a:lstStyle>
          <a:p>
            <a:endParaRPr lang="zh-CN" altLang="zh-CN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/>
            </a:lvl1pPr>
          </a:lstStyle>
          <a:p>
            <a:fld id="{79B3A261-A9C9-4EB5-901F-E33BE236AA87}" type="slidenum">
              <a:rPr lang="zh-CN" altLang="en-US"/>
            </a:fld>
            <a:endParaRPr lang="zh-CN" alt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" name="直接连接符 40"/>
          <p:cNvSpPr>
            <a:spLocks noChangeShapeType="1"/>
          </p:cNvSpPr>
          <p:nvPr userDrawn="1"/>
        </p:nvSpPr>
        <p:spPr bwMode="auto">
          <a:xfrm>
            <a:off x="7872413" y="6439535"/>
            <a:ext cx="4319587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85" name="文本框 42"/>
          <p:cNvSpPr>
            <a:spLocks noChangeArrowheads="1"/>
          </p:cNvSpPr>
          <p:nvPr userDrawn="1"/>
        </p:nvSpPr>
        <p:spPr bwMode="auto">
          <a:xfrm>
            <a:off x="5067300" y="6322695"/>
            <a:ext cx="2606675" cy="2603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dist"/>
            <a:r>
              <a:rPr lang="zh-CN" altLang="en-US" sz="1100" dirty="0" smtClean="0">
                <a:solidFill>
                  <a:srgbClr val="3F3F3F"/>
                </a:solidFill>
                <a:latin typeface="Copperplate Gothic Bold" panose="020E0705020206020404" charset="0"/>
                <a:ea typeface="微软雅黑" panose="020B0503020204020204" pitchFamily="34" charset="-122"/>
                <a:sym typeface="Copperplate Gothic Bold" panose="020E0705020206020404" charset="0"/>
              </a:rPr>
              <a:t>深圳大学计算机与软件学院</a:t>
            </a:r>
            <a:endParaRPr lang="zh-CN" altLang="en-US" sz="1100" dirty="0" smtClean="0">
              <a:solidFill>
                <a:srgbClr val="3F3F3F"/>
              </a:solidFill>
              <a:latin typeface="Copperplate Gothic Bold" panose="020E0705020206020404" charset="0"/>
              <a:ea typeface="微软雅黑" panose="020B0503020204020204" pitchFamily="34" charset="-122"/>
              <a:sym typeface="Copperplate Gothic Bold" panose="020E0705020206020404" charset="0"/>
            </a:endParaRPr>
          </a:p>
        </p:txBody>
      </p:sp>
      <p:sp>
        <p:nvSpPr>
          <p:cNvPr id="15" name="直接连接符 40"/>
          <p:cNvSpPr>
            <a:spLocks noChangeShapeType="1"/>
          </p:cNvSpPr>
          <p:nvPr userDrawn="1"/>
        </p:nvSpPr>
        <p:spPr bwMode="auto">
          <a:xfrm>
            <a:off x="-7302" y="6426835"/>
            <a:ext cx="4319587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0" name="图片 19" descr="图片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40530" y="6153785"/>
            <a:ext cx="869950" cy="582295"/>
          </a:xfrm>
          <a:prstGeom prst="rect">
            <a:avLst/>
          </a:prstGeom>
        </p:spPr>
      </p:pic>
      <p:sp>
        <p:nvSpPr>
          <p:cNvPr id="21" name="任意多边形 28"/>
          <p:cNvSpPr>
            <a:spLocks noChangeArrowheads="1"/>
          </p:cNvSpPr>
          <p:nvPr userDrawn="1"/>
        </p:nvSpPr>
        <p:spPr bwMode="auto">
          <a:xfrm flipV="1">
            <a:off x="174625" y="424180"/>
            <a:ext cx="4765040" cy="421005"/>
          </a:xfrm>
          <a:custGeom>
            <a:avLst/>
            <a:gdLst>
              <a:gd name="T0" fmla="*/ 167822 w 1386790"/>
              <a:gd name="T1" fmla="*/ 524933 h 524933"/>
              <a:gd name="T2" fmla="*/ 168846 w 1386790"/>
              <a:gd name="T3" fmla="*/ 524933 h 524933"/>
              <a:gd name="T4" fmla="*/ 168846 w 1386790"/>
              <a:gd name="T5" fmla="*/ 14598 h 524933"/>
              <a:gd name="T6" fmla="*/ 1386790 w 1386790"/>
              <a:gd name="T7" fmla="*/ 14598 h 524933"/>
              <a:gd name="T8" fmla="*/ 1386790 w 1386790"/>
              <a:gd name="T9" fmla="*/ 0 h 524933"/>
              <a:gd name="T10" fmla="*/ 167822 w 1386790"/>
              <a:gd name="T11" fmla="*/ 0 h 524933"/>
              <a:gd name="T12" fmla="*/ 152999 w 1386790"/>
              <a:gd name="T13" fmla="*/ 0 h 524933"/>
              <a:gd name="T14" fmla="*/ 152999 w 1386790"/>
              <a:gd name="T15" fmla="*/ 507260 h 524933"/>
              <a:gd name="T16" fmla="*/ 107280 w 1386790"/>
              <a:gd name="T17" fmla="*/ 507260 h 524933"/>
              <a:gd name="T18" fmla="*/ 107280 w 1386790"/>
              <a:gd name="T19" fmla="*/ 0 h 524933"/>
              <a:gd name="T20" fmla="*/ 0 w 1386790"/>
              <a:gd name="T21" fmla="*/ 0 h 524933"/>
              <a:gd name="T22" fmla="*/ 0 w 1386790"/>
              <a:gd name="T23" fmla="*/ 524932 h 524933"/>
              <a:gd name="T24" fmla="*/ 33834 w 1386790"/>
              <a:gd name="T25" fmla="*/ 524932 h 524933"/>
              <a:gd name="T26" fmla="*/ 33834 w 1386790"/>
              <a:gd name="T27" fmla="*/ 23810 h 524933"/>
              <a:gd name="T28" fmla="*/ 79553 w 1386790"/>
              <a:gd name="T29" fmla="*/ 23810 h 524933"/>
              <a:gd name="T30" fmla="*/ 79553 w 1386790"/>
              <a:gd name="T31" fmla="*/ 524932 h 524933"/>
              <a:gd name="T32" fmla="*/ 167822 w 1386790"/>
              <a:gd name="T33" fmla="*/ 524932 h 524933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1386790"/>
              <a:gd name="T52" fmla="*/ 0 h 524933"/>
              <a:gd name="T53" fmla="*/ 1386790 w 1386790"/>
              <a:gd name="T54" fmla="*/ 524933 h 524933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1386790" h="524933">
                <a:moveTo>
                  <a:pt x="167822" y="524933"/>
                </a:moveTo>
                <a:lnTo>
                  <a:pt x="168846" y="524933"/>
                </a:lnTo>
                <a:lnTo>
                  <a:pt x="168846" y="14598"/>
                </a:lnTo>
                <a:lnTo>
                  <a:pt x="1386790" y="14598"/>
                </a:lnTo>
                <a:lnTo>
                  <a:pt x="1386790" y="0"/>
                </a:lnTo>
                <a:lnTo>
                  <a:pt x="167822" y="0"/>
                </a:lnTo>
                <a:lnTo>
                  <a:pt x="152999" y="0"/>
                </a:lnTo>
                <a:lnTo>
                  <a:pt x="152999" y="507260"/>
                </a:lnTo>
                <a:lnTo>
                  <a:pt x="107280" y="507260"/>
                </a:lnTo>
                <a:lnTo>
                  <a:pt x="107280" y="0"/>
                </a:lnTo>
                <a:lnTo>
                  <a:pt x="0" y="0"/>
                </a:lnTo>
                <a:lnTo>
                  <a:pt x="0" y="524932"/>
                </a:lnTo>
                <a:lnTo>
                  <a:pt x="33834" y="524932"/>
                </a:lnTo>
                <a:lnTo>
                  <a:pt x="33834" y="23810"/>
                </a:lnTo>
                <a:lnTo>
                  <a:pt x="79553" y="23810"/>
                </a:lnTo>
                <a:lnTo>
                  <a:pt x="79553" y="524932"/>
                </a:lnTo>
                <a:lnTo>
                  <a:pt x="167822" y="524932"/>
                </a:lnTo>
                <a:close/>
              </a:path>
            </a:pathLst>
          </a:custGeom>
          <a:solidFill>
            <a:srgbClr val="28A9D6"/>
          </a:solidFill>
          <a:ln w="25400" cap="flat" cmpd="sng">
            <a:noFill/>
            <a:bevel/>
          </a:ln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1026" name="灯片编号占位符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376025" y="6483668"/>
            <a:ext cx="541338" cy="2825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0" rIns="0" bIns="0" numCol="1" anchor="t" anchorCtr="0" compatLnSpc="1"/>
          <a:lstStyle>
            <a:lvl1pPr algn="ctr">
              <a:defRPr>
                <a:solidFill>
                  <a:srgbClr val="595959"/>
                </a:solidFill>
              </a:defRPr>
            </a:lvl1pPr>
          </a:lstStyle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" name="直接连接符 40"/>
          <p:cNvSpPr>
            <a:spLocks noChangeShapeType="1"/>
          </p:cNvSpPr>
          <p:nvPr userDrawn="1"/>
        </p:nvSpPr>
        <p:spPr bwMode="auto">
          <a:xfrm>
            <a:off x="7872413" y="6439535"/>
            <a:ext cx="4319587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直接连接符 40"/>
          <p:cNvSpPr>
            <a:spLocks noChangeShapeType="1"/>
          </p:cNvSpPr>
          <p:nvPr userDrawn="1"/>
        </p:nvSpPr>
        <p:spPr bwMode="auto">
          <a:xfrm>
            <a:off x="-7302" y="6438900"/>
            <a:ext cx="4319587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文本框 25"/>
          <p:cNvSpPr>
            <a:spLocks noChangeArrowheads="1"/>
          </p:cNvSpPr>
          <p:nvPr userDrawn="1"/>
        </p:nvSpPr>
        <p:spPr bwMode="auto">
          <a:xfrm>
            <a:off x="4707255" y="283210"/>
            <a:ext cx="2707640" cy="6451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dist"/>
            <a:r>
              <a:rPr lang="zh-CN" altLang="en-US" sz="3600" b="1" dirty="0" smtClean="0">
                <a:solidFill>
                  <a:srgbClr val="3F3F3F"/>
                </a:solidFill>
                <a:latin typeface="Copperplate Gothic Bold" panose="020E0705020206020404" charset="0"/>
                <a:ea typeface="微软雅黑" panose="020B0503020204020204" pitchFamily="34" charset="-122"/>
                <a:sym typeface="Copperplate Gothic Bold" panose="020E0705020206020404" charset="0"/>
              </a:rPr>
              <a:t>上次回顾</a:t>
            </a:r>
            <a:endParaRPr lang="zh-CN" altLang="en-US" sz="3600" b="1" dirty="0" smtClean="0">
              <a:solidFill>
                <a:srgbClr val="3F3F3F"/>
              </a:solidFill>
              <a:latin typeface="Copperplate Gothic Bold" panose="020E0705020206020404" charset="0"/>
              <a:ea typeface="微软雅黑" panose="020B0503020204020204" pitchFamily="34" charset="-122"/>
              <a:sym typeface="Copperplate Gothic Bold" panose="020E0705020206020404" charset="0"/>
            </a:endParaRPr>
          </a:p>
        </p:txBody>
      </p:sp>
      <p:sp>
        <p:nvSpPr>
          <p:cNvPr id="33" name="直接连接符 23"/>
          <p:cNvSpPr>
            <a:spLocks noChangeShapeType="1"/>
          </p:cNvSpPr>
          <p:nvPr userDrawn="1"/>
        </p:nvSpPr>
        <p:spPr bwMode="auto">
          <a:xfrm>
            <a:off x="4238612" y="927719"/>
            <a:ext cx="3583940" cy="635"/>
          </a:xfrm>
          <a:prstGeom prst="line">
            <a:avLst/>
          </a:prstGeom>
          <a:noFill/>
          <a:ln w="19050" cap="flat" cmpd="sng">
            <a:solidFill>
              <a:schemeClr val="accent1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4345940" y="6153785"/>
            <a:ext cx="3432810" cy="581660"/>
            <a:chOff x="6755" y="9691"/>
            <a:chExt cx="5406" cy="916"/>
          </a:xfrm>
        </p:grpSpPr>
        <p:sp>
          <p:nvSpPr>
            <p:cNvPr id="3085" name="文本框 42"/>
            <p:cNvSpPr>
              <a:spLocks noChangeArrowheads="1"/>
            </p:cNvSpPr>
            <p:nvPr userDrawn="1"/>
          </p:nvSpPr>
          <p:spPr bwMode="auto">
            <a:xfrm>
              <a:off x="8057" y="9957"/>
              <a:ext cx="4105" cy="43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dist"/>
              <a:r>
                <a:rPr lang="zh-CN" altLang="en-US" sz="1200" dirty="0" smtClean="0">
                  <a:solidFill>
                    <a:srgbClr val="3F3F3F"/>
                  </a:solidFill>
                  <a:latin typeface="Copperplate Gothic Bold" panose="020E0705020206020404" charset="0"/>
                  <a:ea typeface="微软雅黑" panose="020B0503020204020204" pitchFamily="34" charset="-122"/>
                  <a:sym typeface="Copperplate Gothic Bold" panose="020E0705020206020404" charset="0"/>
                </a:rPr>
                <a:t>深圳大学计算机与软件学院</a:t>
              </a:r>
              <a:endParaRPr lang="zh-CN" altLang="en-US" sz="1200" dirty="0" smtClean="0">
                <a:solidFill>
                  <a:srgbClr val="3F3F3F"/>
                </a:solidFill>
                <a:latin typeface="Copperplate Gothic Bold" panose="020E0705020206020404" charset="0"/>
                <a:ea typeface="微软雅黑" panose="020B0503020204020204" pitchFamily="34" charset="-122"/>
                <a:sym typeface="Copperplate Gothic Bold" panose="020E0705020206020404" charset="0"/>
              </a:endParaRPr>
            </a:p>
          </p:txBody>
        </p:sp>
        <p:pic>
          <p:nvPicPr>
            <p:cNvPr id="12" name="图片 11" descr="图片1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6755" y="9691"/>
              <a:ext cx="1370" cy="917"/>
            </a:xfrm>
            <a:prstGeom prst="rect">
              <a:avLst/>
            </a:prstGeom>
          </p:spPr>
        </p:pic>
      </p:grpSp>
      <p:sp>
        <p:nvSpPr>
          <p:cNvPr id="1026" name="灯片编号占位符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416030" y="6517958"/>
            <a:ext cx="541338" cy="2825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0" rIns="0" bIns="0" numCol="1" anchor="t" anchorCtr="0" compatLnSpc="1"/>
          <a:lstStyle>
            <a:lvl1pPr algn="ctr">
              <a:defRPr>
                <a:solidFill>
                  <a:srgbClr val="595959"/>
                </a:solidFill>
              </a:defRPr>
            </a:lvl1pPr>
          </a:lstStyle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  <p:grpSp>
        <p:nvGrpSpPr>
          <p:cNvPr id="33795" name="组合 129"/>
          <p:cNvGrpSpPr/>
          <p:nvPr userDrawn="1"/>
        </p:nvGrpSpPr>
        <p:grpSpPr>
          <a:xfrm>
            <a:off x="3529330" y="264478"/>
            <a:ext cx="615950" cy="584200"/>
            <a:chOff x="2439302" y="2313207"/>
            <a:chExt cx="481033" cy="481033"/>
          </a:xfrm>
        </p:grpSpPr>
        <p:sp>
          <p:nvSpPr>
            <p:cNvPr id="131" name="Oval 351"/>
            <p:cNvSpPr>
              <a:spLocks noChangeArrowheads="1"/>
            </p:cNvSpPr>
            <p:nvPr/>
          </p:nvSpPr>
          <p:spPr bwMode="auto">
            <a:xfrm>
              <a:off x="2439302" y="2313207"/>
              <a:ext cx="481033" cy="481033"/>
            </a:xfrm>
            <a:prstGeom prst="ellipse">
              <a:avLst/>
            </a:prstGeom>
            <a:solidFill>
              <a:srgbClr val="739B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2" name="Freeform 352"/>
            <p:cNvSpPr/>
            <p:nvPr/>
          </p:nvSpPr>
          <p:spPr bwMode="auto">
            <a:xfrm>
              <a:off x="2537400" y="2475127"/>
              <a:ext cx="380571" cy="319113"/>
            </a:xfrm>
            <a:custGeom>
              <a:avLst/>
              <a:gdLst>
                <a:gd name="T0" fmla="*/ 138 w 203"/>
                <a:gd name="T1" fmla="*/ 0 h 170"/>
                <a:gd name="T2" fmla="*/ 112 w 203"/>
                <a:gd name="T3" fmla="*/ 27 h 170"/>
                <a:gd name="T4" fmla="*/ 115 w 203"/>
                <a:gd name="T5" fmla="*/ 31 h 170"/>
                <a:gd name="T6" fmla="*/ 0 w 203"/>
                <a:gd name="T7" fmla="*/ 97 h 170"/>
                <a:gd name="T8" fmla="*/ 73 w 203"/>
                <a:gd name="T9" fmla="*/ 170 h 170"/>
                <a:gd name="T10" fmla="*/ 76 w 203"/>
                <a:gd name="T11" fmla="*/ 170 h 170"/>
                <a:gd name="T12" fmla="*/ 203 w 203"/>
                <a:gd name="T13" fmla="*/ 60 h 170"/>
                <a:gd name="T14" fmla="*/ 152 w 203"/>
                <a:gd name="T15" fmla="*/ 9 h 170"/>
                <a:gd name="T16" fmla="*/ 149 w 203"/>
                <a:gd name="T17" fmla="*/ 11 h 170"/>
                <a:gd name="T18" fmla="*/ 138 w 203"/>
                <a:gd name="T19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3" h="170">
                  <a:moveTo>
                    <a:pt x="138" y="0"/>
                  </a:moveTo>
                  <a:cubicBezTo>
                    <a:pt x="112" y="27"/>
                    <a:pt x="112" y="27"/>
                    <a:pt x="112" y="27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73" y="170"/>
                    <a:pt x="73" y="170"/>
                    <a:pt x="73" y="170"/>
                  </a:cubicBezTo>
                  <a:cubicBezTo>
                    <a:pt x="74" y="170"/>
                    <a:pt x="75" y="170"/>
                    <a:pt x="76" y="170"/>
                  </a:cubicBezTo>
                  <a:cubicBezTo>
                    <a:pt x="141" y="170"/>
                    <a:pt x="194" y="122"/>
                    <a:pt x="203" y="60"/>
                  </a:cubicBezTo>
                  <a:cubicBezTo>
                    <a:pt x="152" y="9"/>
                    <a:pt x="152" y="9"/>
                    <a:pt x="152" y="9"/>
                  </a:cubicBezTo>
                  <a:cubicBezTo>
                    <a:pt x="149" y="11"/>
                    <a:pt x="149" y="11"/>
                    <a:pt x="149" y="11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6188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3" name="Rectangle 353"/>
            <p:cNvSpPr>
              <a:spLocks noChangeArrowheads="1"/>
            </p:cNvSpPr>
            <p:nvPr/>
          </p:nvSpPr>
          <p:spPr bwMode="auto">
            <a:xfrm>
              <a:off x="2537400" y="2491674"/>
              <a:ext cx="284838" cy="165466"/>
            </a:xfrm>
            <a:prstGeom prst="rect">
              <a:avLst/>
            </a:prstGeom>
            <a:solidFill>
              <a:srgbClr val="505A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4" name="Freeform 354"/>
            <p:cNvSpPr/>
            <p:nvPr/>
          </p:nvSpPr>
          <p:spPr bwMode="auto">
            <a:xfrm>
              <a:off x="2563402" y="2471582"/>
              <a:ext cx="232834" cy="200923"/>
            </a:xfrm>
            <a:custGeom>
              <a:avLst/>
              <a:gdLst>
                <a:gd name="T0" fmla="*/ 124 w 124"/>
                <a:gd name="T1" fmla="*/ 93 h 107"/>
                <a:gd name="T2" fmla="*/ 124 w 124"/>
                <a:gd name="T3" fmla="*/ 2 h 107"/>
                <a:gd name="T4" fmla="*/ 114 w 124"/>
                <a:gd name="T5" fmla="*/ 1 h 107"/>
                <a:gd name="T6" fmla="*/ 104 w 124"/>
                <a:gd name="T7" fmla="*/ 0 h 107"/>
                <a:gd name="T8" fmla="*/ 79 w 124"/>
                <a:gd name="T9" fmla="*/ 4 h 107"/>
                <a:gd name="T10" fmla="*/ 62 w 124"/>
                <a:gd name="T11" fmla="*/ 10 h 107"/>
                <a:gd name="T12" fmla="*/ 45 w 124"/>
                <a:gd name="T13" fmla="*/ 4 h 107"/>
                <a:gd name="T14" fmla="*/ 20 w 124"/>
                <a:gd name="T15" fmla="*/ 0 h 107"/>
                <a:gd name="T16" fmla="*/ 10 w 124"/>
                <a:gd name="T17" fmla="*/ 1 h 107"/>
                <a:gd name="T18" fmla="*/ 0 w 124"/>
                <a:gd name="T19" fmla="*/ 2 h 107"/>
                <a:gd name="T20" fmla="*/ 0 w 124"/>
                <a:gd name="T21" fmla="*/ 93 h 107"/>
                <a:gd name="T22" fmla="*/ 48 w 124"/>
                <a:gd name="T23" fmla="*/ 99 h 107"/>
                <a:gd name="T24" fmla="*/ 62 w 124"/>
                <a:gd name="T25" fmla="*/ 107 h 107"/>
                <a:gd name="T26" fmla="*/ 76 w 124"/>
                <a:gd name="T27" fmla="*/ 99 h 107"/>
                <a:gd name="T28" fmla="*/ 124 w 124"/>
                <a:gd name="T29" fmla="*/ 93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4" h="107">
                  <a:moveTo>
                    <a:pt x="124" y="93"/>
                  </a:moveTo>
                  <a:cubicBezTo>
                    <a:pt x="124" y="2"/>
                    <a:pt x="124" y="2"/>
                    <a:pt x="124" y="2"/>
                  </a:cubicBezTo>
                  <a:cubicBezTo>
                    <a:pt x="114" y="1"/>
                    <a:pt x="114" y="1"/>
                    <a:pt x="114" y="1"/>
                  </a:cubicBezTo>
                  <a:cubicBezTo>
                    <a:pt x="111" y="1"/>
                    <a:pt x="107" y="0"/>
                    <a:pt x="104" y="0"/>
                  </a:cubicBezTo>
                  <a:cubicBezTo>
                    <a:pt x="95" y="0"/>
                    <a:pt x="87" y="1"/>
                    <a:pt x="79" y="4"/>
                  </a:cubicBezTo>
                  <a:cubicBezTo>
                    <a:pt x="73" y="5"/>
                    <a:pt x="67" y="7"/>
                    <a:pt x="62" y="10"/>
                  </a:cubicBezTo>
                  <a:cubicBezTo>
                    <a:pt x="57" y="7"/>
                    <a:pt x="51" y="5"/>
                    <a:pt x="45" y="4"/>
                  </a:cubicBezTo>
                  <a:cubicBezTo>
                    <a:pt x="37" y="1"/>
                    <a:pt x="29" y="0"/>
                    <a:pt x="20" y="0"/>
                  </a:cubicBezTo>
                  <a:cubicBezTo>
                    <a:pt x="17" y="0"/>
                    <a:pt x="13" y="1"/>
                    <a:pt x="1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48" y="99"/>
                    <a:pt x="48" y="99"/>
                    <a:pt x="48" y="99"/>
                  </a:cubicBezTo>
                  <a:cubicBezTo>
                    <a:pt x="51" y="100"/>
                    <a:pt x="62" y="107"/>
                    <a:pt x="62" y="107"/>
                  </a:cubicBezTo>
                  <a:cubicBezTo>
                    <a:pt x="62" y="107"/>
                    <a:pt x="73" y="100"/>
                    <a:pt x="76" y="99"/>
                  </a:cubicBezTo>
                  <a:cubicBezTo>
                    <a:pt x="76" y="99"/>
                    <a:pt x="102" y="91"/>
                    <a:pt x="124" y="93"/>
                  </a:cubicBezTo>
                  <a:close/>
                </a:path>
              </a:pathLst>
            </a:custGeom>
            <a:solidFill>
              <a:srgbClr val="F5F7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5" name="Freeform 355"/>
            <p:cNvSpPr/>
            <p:nvPr/>
          </p:nvSpPr>
          <p:spPr bwMode="auto">
            <a:xfrm>
              <a:off x="2668591" y="2484583"/>
              <a:ext cx="22456" cy="187922"/>
            </a:xfrm>
            <a:custGeom>
              <a:avLst/>
              <a:gdLst>
                <a:gd name="T0" fmla="*/ 0 w 12"/>
                <a:gd name="T1" fmla="*/ 96 h 100"/>
                <a:gd name="T2" fmla="*/ 6 w 12"/>
                <a:gd name="T3" fmla="*/ 100 h 100"/>
                <a:gd name="T4" fmla="*/ 12 w 12"/>
                <a:gd name="T5" fmla="*/ 96 h 100"/>
                <a:gd name="T6" fmla="*/ 12 w 12"/>
                <a:gd name="T7" fmla="*/ 0 h 100"/>
                <a:gd name="T8" fmla="*/ 6 w 12"/>
                <a:gd name="T9" fmla="*/ 3 h 100"/>
                <a:gd name="T10" fmla="*/ 0 w 12"/>
                <a:gd name="T11" fmla="*/ 0 h 100"/>
                <a:gd name="T12" fmla="*/ 0 w 12"/>
                <a:gd name="T13" fmla="*/ 96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100">
                  <a:moveTo>
                    <a:pt x="0" y="96"/>
                  </a:moveTo>
                  <a:cubicBezTo>
                    <a:pt x="3" y="98"/>
                    <a:pt x="6" y="100"/>
                    <a:pt x="6" y="100"/>
                  </a:cubicBezTo>
                  <a:cubicBezTo>
                    <a:pt x="6" y="100"/>
                    <a:pt x="9" y="98"/>
                    <a:pt x="12" y="96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0" y="1"/>
                    <a:pt x="8" y="2"/>
                    <a:pt x="6" y="3"/>
                  </a:cubicBezTo>
                  <a:cubicBezTo>
                    <a:pt x="4" y="2"/>
                    <a:pt x="2" y="1"/>
                    <a:pt x="0" y="0"/>
                  </a:cubicBezTo>
                  <a:lnTo>
                    <a:pt x="0" y="96"/>
                  </a:lnTo>
                  <a:close/>
                </a:path>
              </a:pathLst>
            </a:custGeom>
            <a:solidFill>
              <a:srgbClr val="E6E8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" name="直接连接符 40"/>
          <p:cNvSpPr>
            <a:spLocks noChangeShapeType="1"/>
          </p:cNvSpPr>
          <p:nvPr userDrawn="1"/>
        </p:nvSpPr>
        <p:spPr bwMode="auto">
          <a:xfrm>
            <a:off x="7872413" y="6439535"/>
            <a:ext cx="4319587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直接连接符 40"/>
          <p:cNvSpPr>
            <a:spLocks noChangeShapeType="1"/>
          </p:cNvSpPr>
          <p:nvPr userDrawn="1"/>
        </p:nvSpPr>
        <p:spPr bwMode="auto">
          <a:xfrm>
            <a:off x="-7302" y="6438900"/>
            <a:ext cx="4319587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椭圆 24"/>
          <p:cNvSpPr>
            <a:spLocks noChangeArrowheads="1"/>
          </p:cNvSpPr>
          <p:nvPr userDrawn="1"/>
        </p:nvSpPr>
        <p:spPr bwMode="auto">
          <a:xfrm>
            <a:off x="3662667" y="280019"/>
            <a:ext cx="549275" cy="549275"/>
          </a:xfrm>
          <a:prstGeom prst="ellipse">
            <a:avLst/>
          </a:prstGeom>
          <a:pattFill prst="sphere">
            <a:fgClr>
              <a:srgbClr val="4F81BD"/>
            </a:fgClr>
            <a:bgClr>
              <a:srgbClr val="FFFFFF"/>
            </a:bgClr>
          </a:pattFill>
          <a:ln w="9525" cap="flat" cmpd="sng">
            <a:solidFill>
              <a:srgbClr val="4DB8DD"/>
            </a:solidFill>
            <a:bevel/>
          </a:ln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33" name="直接连接符 23"/>
          <p:cNvSpPr>
            <a:spLocks noChangeShapeType="1"/>
          </p:cNvSpPr>
          <p:nvPr userDrawn="1"/>
        </p:nvSpPr>
        <p:spPr bwMode="auto">
          <a:xfrm>
            <a:off x="4238612" y="927719"/>
            <a:ext cx="3583940" cy="635"/>
          </a:xfrm>
          <a:prstGeom prst="line">
            <a:avLst/>
          </a:prstGeom>
          <a:noFill/>
          <a:ln w="19050" cap="flat" cmpd="sng">
            <a:solidFill>
              <a:schemeClr val="accent1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4345940" y="6153785"/>
            <a:ext cx="3432810" cy="581660"/>
            <a:chOff x="6755" y="9691"/>
            <a:chExt cx="5406" cy="916"/>
          </a:xfrm>
        </p:grpSpPr>
        <p:sp>
          <p:nvSpPr>
            <p:cNvPr id="3085" name="文本框 42"/>
            <p:cNvSpPr>
              <a:spLocks noChangeArrowheads="1"/>
            </p:cNvSpPr>
            <p:nvPr userDrawn="1"/>
          </p:nvSpPr>
          <p:spPr bwMode="auto">
            <a:xfrm>
              <a:off x="8057" y="9957"/>
              <a:ext cx="4105" cy="43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dist"/>
              <a:r>
                <a:rPr lang="zh-CN" altLang="en-US" sz="1200" dirty="0" smtClean="0">
                  <a:solidFill>
                    <a:srgbClr val="3F3F3F"/>
                  </a:solidFill>
                  <a:latin typeface="Copperplate Gothic Bold" panose="020E0705020206020404" charset="0"/>
                  <a:ea typeface="微软雅黑" panose="020B0503020204020204" pitchFamily="34" charset="-122"/>
                  <a:sym typeface="Copperplate Gothic Bold" panose="020E0705020206020404" charset="0"/>
                </a:rPr>
                <a:t>深圳大学计算机与软件学院</a:t>
              </a:r>
              <a:endParaRPr lang="zh-CN" altLang="en-US" sz="1200" dirty="0" smtClean="0">
                <a:solidFill>
                  <a:srgbClr val="3F3F3F"/>
                </a:solidFill>
                <a:latin typeface="Copperplate Gothic Bold" panose="020E0705020206020404" charset="0"/>
                <a:ea typeface="微软雅黑" panose="020B0503020204020204" pitchFamily="34" charset="-122"/>
                <a:sym typeface="Copperplate Gothic Bold" panose="020E0705020206020404" charset="0"/>
              </a:endParaRPr>
            </a:p>
          </p:txBody>
        </p:sp>
        <p:pic>
          <p:nvPicPr>
            <p:cNvPr id="12" name="图片 11" descr="图片1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6755" y="9691"/>
              <a:ext cx="1370" cy="917"/>
            </a:xfrm>
            <a:prstGeom prst="rect">
              <a:avLst/>
            </a:prstGeom>
          </p:spPr>
        </p:pic>
      </p:grpSp>
      <p:sp>
        <p:nvSpPr>
          <p:cNvPr id="1026" name="灯片编号占位符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416030" y="6517958"/>
            <a:ext cx="541338" cy="2825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0" rIns="0" bIns="0" numCol="1" anchor="t" anchorCtr="0" compatLnSpc="1"/>
          <a:lstStyle>
            <a:lvl1pPr algn="ctr">
              <a:defRPr>
                <a:solidFill>
                  <a:srgbClr val="595959"/>
                </a:solidFill>
              </a:defRPr>
            </a:lvl1pPr>
          </a:lstStyle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" name="直接连接符 40"/>
          <p:cNvSpPr>
            <a:spLocks noChangeShapeType="1"/>
          </p:cNvSpPr>
          <p:nvPr userDrawn="1"/>
        </p:nvSpPr>
        <p:spPr bwMode="auto">
          <a:xfrm>
            <a:off x="7872413" y="6439535"/>
            <a:ext cx="4319587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直接连接符 40"/>
          <p:cNvSpPr>
            <a:spLocks noChangeShapeType="1"/>
          </p:cNvSpPr>
          <p:nvPr userDrawn="1"/>
        </p:nvSpPr>
        <p:spPr bwMode="auto">
          <a:xfrm>
            <a:off x="-7302" y="6438900"/>
            <a:ext cx="4319587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文本框 25"/>
          <p:cNvSpPr>
            <a:spLocks noChangeArrowheads="1"/>
          </p:cNvSpPr>
          <p:nvPr userDrawn="1"/>
        </p:nvSpPr>
        <p:spPr bwMode="auto">
          <a:xfrm>
            <a:off x="5044440" y="283210"/>
            <a:ext cx="2038350" cy="6451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dist"/>
            <a:r>
              <a:rPr lang="zh-CN" altLang="en-US" sz="3600" b="1" dirty="0" smtClean="0">
                <a:solidFill>
                  <a:srgbClr val="3F3F3F"/>
                </a:solidFill>
                <a:latin typeface="Copperplate Gothic Bold" panose="020E0705020206020404" charset="0"/>
                <a:ea typeface="微软雅黑" panose="020B0503020204020204" pitchFamily="34" charset="-122"/>
                <a:sym typeface="Copperplate Gothic Bold" panose="020E0705020206020404" charset="0"/>
              </a:rPr>
              <a:t>总结</a:t>
            </a:r>
            <a:endParaRPr lang="zh-CN" altLang="en-US" sz="3600" b="1" dirty="0" smtClean="0">
              <a:solidFill>
                <a:srgbClr val="3F3F3F"/>
              </a:solidFill>
              <a:latin typeface="Copperplate Gothic Bold" panose="020E0705020206020404" charset="0"/>
              <a:ea typeface="微软雅黑" panose="020B0503020204020204" pitchFamily="34" charset="-122"/>
              <a:sym typeface="Copperplate Gothic Bold" panose="020E0705020206020404" charset="0"/>
            </a:endParaRPr>
          </a:p>
        </p:txBody>
      </p:sp>
      <p:sp>
        <p:nvSpPr>
          <p:cNvPr id="33" name="直接连接符 23"/>
          <p:cNvSpPr>
            <a:spLocks noChangeShapeType="1"/>
          </p:cNvSpPr>
          <p:nvPr userDrawn="1"/>
        </p:nvSpPr>
        <p:spPr bwMode="auto">
          <a:xfrm>
            <a:off x="4238612" y="927719"/>
            <a:ext cx="3583940" cy="635"/>
          </a:xfrm>
          <a:prstGeom prst="line">
            <a:avLst/>
          </a:prstGeom>
          <a:noFill/>
          <a:ln w="19050" cap="flat" cmpd="sng">
            <a:solidFill>
              <a:schemeClr val="accent1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4345940" y="6153785"/>
            <a:ext cx="3432810" cy="581660"/>
            <a:chOff x="6755" y="9691"/>
            <a:chExt cx="5406" cy="916"/>
          </a:xfrm>
        </p:grpSpPr>
        <p:sp>
          <p:nvSpPr>
            <p:cNvPr id="3085" name="文本框 42"/>
            <p:cNvSpPr>
              <a:spLocks noChangeArrowheads="1"/>
            </p:cNvSpPr>
            <p:nvPr userDrawn="1"/>
          </p:nvSpPr>
          <p:spPr bwMode="auto">
            <a:xfrm>
              <a:off x="8057" y="9957"/>
              <a:ext cx="4105" cy="43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dist"/>
              <a:r>
                <a:rPr lang="zh-CN" altLang="en-US" sz="1200" dirty="0" smtClean="0">
                  <a:solidFill>
                    <a:srgbClr val="3F3F3F"/>
                  </a:solidFill>
                  <a:latin typeface="Copperplate Gothic Bold" panose="020E0705020206020404" charset="0"/>
                  <a:ea typeface="微软雅黑" panose="020B0503020204020204" pitchFamily="34" charset="-122"/>
                  <a:sym typeface="Copperplate Gothic Bold" panose="020E0705020206020404" charset="0"/>
                </a:rPr>
                <a:t>深圳大学计算机与软件学院</a:t>
              </a:r>
              <a:endParaRPr lang="zh-CN" altLang="en-US" sz="1200" dirty="0" smtClean="0">
                <a:solidFill>
                  <a:srgbClr val="3F3F3F"/>
                </a:solidFill>
                <a:latin typeface="Copperplate Gothic Bold" panose="020E0705020206020404" charset="0"/>
                <a:ea typeface="微软雅黑" panose="020B0503020204020204" pitchFamily="34" charset="-122"/>
                <a:sym typeface="Copperplate Gothic Bold" panose="020E0705020206020404" charset="0"/>
              </a:endParaRPr>
            </a:p>
          </p:txBody>
        </p:sp>
        <p:pic>
          <p:nvPicPr>
            <p:cNvPr id="12" name="图片 11" descr="图片1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6755" y="9691"/>
              <a:ext cx="1370" cy="917"/>
            </a:xfrm>
            <a:prstGeom prst="rect">
              <a:avLst/>
            </a:prstGeom>
          </p:spPr>
        </p:pic>
      </p:grpSp>
      <p:sp>
        <p:nvSpPr>
          <p:cNvPr id="1026" name="灯片编号占位符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416030" y="6517958"/>
            <a:ext cx="541338" cy="2825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0" rIns="0" bIns="0" numCol="1" anchor="t" anchorCtr="0" compatLnSpc="1"/>
          <a:lstStyle>
            <a:lvl1pPr algn="ctr">
              <a:defRPr>
                <a:solidFill>
                  <a:srgbClr val="595959"/>
                </a:solidFill>
              </a:defRPr>
            </a:lvl1pPr>
          </a:lstStyle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  <p:grpSp>
        <p:nvGrpSpPr>
          <p:cNvPr id="33795" name="组合 129"/>
          <p:cNvGrpSpPr/>
          <p:nvPr userDrawn="1"/>
        </p:nvGrpSpPr>
        <p:grpSpPr>
          <a:xfrm>
            <a:off x="3529330" y="264478"/>
            <a:ext cx="615950" cy="584200"/>
            <a:chOff x="2439302" y="2313207"/>
            <a:chExt cx="481033" cy="481033"/>
          </a:xfrm>
        </p:grpSpPr>
        <p:sp>
          <p:nvSpPr>
            <p:cNvPr id="131" name="Oval 351"/>
            <p:cNvSpPr>
              <a:spLocks noChangeArrowheads="1"/>
            </p:cNvSpPr>
            <p:nvPr/>
          </p:nvSpPr>
          <p:spPr bwMode="auto">
            <a:xfrm>
              <a:off x="2439302" y="2313207"/>
              <a:ext cx="481033" cy="481033"/>
            </a:xfrm>
            <a:prstGeom prst="ellipse">
              <a:avLst/>
            </a:prstGeom>
            <a:solidFill>
              <a:srgbClr val="739B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2" name="Freeform 352"/>
            <p:cNvSpPr/>
            <p:nvPr/>
          </p:nvSpPr>
          <p:spPr bwMode="auto">
            <a:xfrm>
              <a:off x="2537400" y="2475127"/>
              <a:ext cx="380571" cy="319113"/>
            </a:xfrm>
            <a:custGeom>
              <a:avLst/>
              <a:gdLst>
                <a:gd name="T0" fmla="*/ 138 w 203"/>
                <a:gd name="T1" fmla="*/ 0 h 170"/>
                <a:gd name="T2" fmla="*/ 112 w 203"/>
                <a:gd name="T3" fmla="*/ 27 h 170"/>
                <a:gd name="T4" fmla="*/ 115 w 203"/>
                <a:gd name="T5" fmla="*/ 31 h 170"/>
                <a:gd name="T6" fmla="*/ 0 w 203"/>
                <a:gd name="T7" fmla="*/ 97 h 170"/>
                <a:gd name="T8" fmla="*/ 73 w 203"/>
                <a:gd name="T9" fmla="*/ 170 h 170"/>
                <a:gd name="T10" fmla="*/ 76 w 203"/>
                <a:gd name="T11" fmla="*/ 170 h 170"/>
                <a:gd name="T12" fmla="*/ 203 w 203"/>
                <a:gd name="T13" fmla="*/ 60 h 170"/>
                <a:gd name="T14" fmla="*/ 152 w 203"/>
                <a:gd name="T15" fmla="*/ 9 h 170"/>
                <a:gd name="T16" fmla="*/ 149 w 203"/>
                <a:gd name="T17" fmla="*/ 11 h 170"/>
                <a:gd name="T18" fmla="*/ 138 w 203"/>
                <a:gd name="T19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3" h="170">
                  <a:moveTo>
                    <a:pt x="138" y="0"/>
                  </a:moveTo>
                  <a:cubicBezTo>
                    <a:pt x="112" y="27"/>
                    <a:pt x="112" y="27"/>
                    <a:pt x="112" y="27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73" y="170"/>
                    <a:pt x="73" y="170"/>
                    <a:pt x="73" y="170"/>
                  </a:cubicBezTo>
                  <a:cubicBezTo>
                    <a:pt x="74" y="170"/>
                    <a:pt x="75" y="170"/>
                    <a:pt x="76" y="170"/>
                  </a:cubicBezTo>
                  <a:cubicBezTo>
                    <a:pt x="141" y="170"/>
                    <a:pt x="194" y="122"/>
                    <a:pt x="203" y="60"/>
                  </a:cubicBezTo>
                  <a:cubicBezTo>
                    <a:pt x="152" y="9"/>
                    <a:pt x="152" y="9"/>
                    <a:pt x="152" y="9"/>
                  </a:cubicBezTo>
                  <a:cubicBezTo>
                    <a:pt x="149" y="11"/>
                    <a:pt x="149" y="11"/>
                    <a:pt x="149" y="11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6188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3" name="Rectangle 353"/>
            <p:cNvSpPr>
              <a:spLocks noChangeArrowheads="1"/>
            </p:cNvSpPr>
            <p:nvPr/>
          </p:nvSpPr>
          <p:spPr bwMode="auto">
            <a:xfrm>
              <a:off x="2537400" y="2491674"/>
              <a:ext cx="284838" cy="165466"/>
            </a:xfrm>
            <a:prstGeom prst="rect">
              <a:avLst/>
            </a:prstGeom>
            <a:solidFill>
              <a:srgbClr val="505A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4" name="Freeform 354"/>
            <p:cNvSpPr/>
            <p:nvPr/>
          </p:nvSpPr>
          <p:spPr bwMode="auto">
            <a:xfrm>
              <a:off x="2563402" y="2471582"/>
              <a:ext cx="232834" cy="200923"/>
            </a:xfrm>
            <a:custGeom>
              <a:avLst/>
              <a:gdLst>
                <a:gd name="T0" fmla="*/ 124 w 124"/>
                <a:gd name="T1" fmla="*/ 93 h 107"/>
                <a:gd name="T2" fmla="*/ 124 w 124"/>
                <a:gd name="T3" fmla="*/ 2 h 107"/>
                <a:gd name="T4" fmla="*/ 114 w 124"/>
                <a:gd name="T5" fmla="*/ 1 h 107"/>
                <a:gd name="T6" fmla="*/ 104 w 124"/>
                <a:gd name="T7" fmla="*/ 0 h 107"/>
                <a:gd name="T8" fmla="*/ 79 w 124"/>
                <a:gd name="T9" fmla="*/ 4 h 107"/>
                <a:gd name="T10" fmla="*/ 62 w 124"/>
                <a:gd name="T11" fmla="*/ 10 h 107"/>
                <a:gd name="T12" fmla="*/ 45 w 124"/>
                <a:gd name="T13" fmla="*/ 4 h 107"/>
                <a:gd name="T14" fmla="*/ 20 w 124"/>
                <a:gd name="T15" fmla="*/ 0 h 107"/>
                <a:gd name="T16" fmla="*/ 10 w 124"/>
                <a:gd name="T17" fmla="*/ 1 h 107"/>
                <a:gd name="T18" fmla="*/ 0 w 124"/>
                <a:gd name="T19" fmla="*/ 2 h 107"/>
                <a:gd name="T20" fmla="*/ 0 w 124"/>
                <a:gd name="T21" fmla="*/ 93 h 107"/>
                <a:gd name="T22" fmla="*/ 48 w 124"/>
                <a:gd name="T23" fmla="*/ 99 h 107"/>
                <a:gd name="T24" fmla="*/ 62 w 124"/>
                <a:gd name="T25" fmla="*/ 107 h 107"/>
                <a:gd name="T26" fmla="*/ 76 w 124"/>
                <a:gd name="T27" fmla="*/ 99 h 107"/>
                <a:gd name="T28" fmla="*/ 124 w 124"/>
                <a:gd name="T29" fmla="*/ 93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4" h="107">
                  <a:moveTo>
                    <a:pt x="124" y="93"/>
                  </a:moveTo>
                  <a:cubicBezTo>
                    <a:pt x="124" y="2"/>
                    <a:pt x="124" y="2"/>
                    <a:pt x="124" y="2"/>
                  </a:cubicBezTo>
                  <a:cubicBezTo>
                    <a:pt x="114" y="1"/>
                    <a:pt x="114" y="1"/>
                    <a:pt x="114" y="1"/>
                  </a:cubicBezTo>
                  <a:cubicBezTo>
                    <a:pt x="111" y="1"/>
                    <a:pt x="107" y="0"/>
                    <a:pt x="104" y="0"/>
                  </a:cubicBezTo>
                  <a:cubicBezTo>
                    <a:pt x="95" y="0"/>
                    <a:pt x="87" y="1"/>
                    <a:pt x="79" y="4"/>
                  </a:cubicBezTo>
                  <a:cubicBezTo>
                    <a:pt x="73" y="5"/>
                    <a:pt x="67" y="7"/>
                    <a:pt x="62" y="10"/>
                  </a:cubicBezTo>
                  <a:cubicBezTo>
                    <a:pt x="57" y="7"/>
                    <a:pt x="51" y="5"/>
                    <a:pt x="45" y="4"/>
                  </a:cubicBezTo>
                  <a:cubicBezTo>
                    <a:pt x="37" y="1"/>
                    <a:pt x="29" y="0"/>
                    <a:pt x="20" y="0"/>
                  </a:cubicBezTo>
                  <a:cubicBezTo>
                    <a:pt x="17" y="0"/>
                    <a:pt x="13" y="1"/>
                    <a:pt x="1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48" y="99"/>
                    <a:pt x="48" y="99"/>
                    <a:pt x="48" y="99"/>
                  </a:cubicBezTo>
                  <a:cubicBezTo>
                    <a:pt x="51" y="100"/>
                    <a:pt x="62" y="107"/>
                    <a:pt x="62" y="107"/>
                  </a:cubicBezTo>
                  <a:cubicBezTo>
                    <a:pt x="62" y="107"/>
                    <a:pt x="73" y="100"/>
                    <a:pt x="76" y="99"/>
                  </a:cubicBezTo>
                  <a:cubicBezTo>
                    <a:pt x="76" y="99"/>
                    <a:pt x="102" y="91"/>
                    <a:pt x="124" y="93"/>
                  </a:cubicBezTo>
                  <a:close/>
                </a:path>
              </a:pathLst>
            </a:custGeom>
            <a:solidFill>
              <a:srgbClr val="F5F7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5" name="Freeform 355"/>
            <p:cNvSpPr/>
            <p:nvPr/>
          </p:nvSpPr>
          <p:spPr bwMode="auto">
            <a:xfrm>
              <a:off x="2668591" y="2484583"/>
              <a:ext cx="22456" cy="187922"/>
            </a:xfrm>
            <a:custGeom>
              <a:avLst/>
              <a:gdLst>
                <a:gd name="T0" fmla="*/ 0 w 12"/>
                <a:gd name="T1" fmla="*/ 96 h 100"/>
                <a:gd name="T2" fmla="*/ 6 w 12"/>
                <a:gd name="T3" fmla="*/ 100 h 100"/>
                <a:gd name="T4" fmla="*/ 12 w 12"/>
                <a:gd name="T5" fmla="*/ 96 h 100"/>
                <a:gd name="T6" fmla="*/ 12 w 12"/>
                <a:gd name="T7" fmla="*/ 0 h 100"/>
                <a:gd name="T8" fmla="*/ 6 w 12"/>
                <a:gd name="T9" fmla="*/ 3 h 100"/>
                <a:gd name="T10" fmla="*/ 0 w 12"/>
                <a:gd name="T11" fmla="*/ 0 h 100"/>
                <a:gd name="T12" fmla="*/ 0 w 12"/>
                <a:gd name="T13" fmla="*/ 96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100">
                  <a:moveTo>
                    <a:pt x="0" y="96"/>
                  </a:moveTo>
                  <a:cubicBezTo>
                    <a:pt x="3" y="98"/>
                    <a:pt x="6" y="100"/>
                    <a:pt x="6" y="100"/>
                  </a:cubicBezTo>
                  <a:cubicBezTo>
                    <a:pt x="6" y="100"/>
                    <a:pt x="9" y="98"/>
                    <a:pt x="12" y="96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0" y="1"/>
                    <a:pt x="8" y="2"/>
                    <a:pt x="6" y="3"/>
                  </a:cubicBezTo>
                  <a:cubicBezTo>
                    <a:pt x="4" y="2"/>
                    <a:pt x="2" y="1"/>
                    <a:pt x="0" y="0"/>
                  </a:cubicBezTo>
                  <a:lnTo>
                    <a:pt x="0" y="96"/>
                  </a:lnTo>
                  <a:close/>
                </a:path>
              </a:pathLst>
            </a:custGeom>
            <a:solidFill>
              <a:srgbClr val="E6E8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SZU讲义封面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905"/>
            <a:ext cx="12192000" cy="4400550"/>
          </a:xfrm>
          <a:prstGeom prst="rect">
            <a:avLst/>
          </a:prstGeom>
        </p:spPr>
      </p:pic>
      <p:sp>
        <p:nvSpPr>
          <p:cNvPr id="3075" name="矩形 1"/>
          <p:cNvSpPr>
            <a:spLocks noChangeArrowheads="1"/>
          </p:cNvSpPr>
          <p:nvPr userDrawn="1"/>
        </p:nvSpPr>
        <p:spPr bwMode="auto">
          <a:xfrm>
            <a:off x="635" y="4088765"/>
            <a:ext cx="12192000" cy="824865"/>
          </a:xfrm>
          <a:prstGeom prst="rect">
            <a:avLst/>
          </a:prstGeom>
          <a:solidFill>
            <a:srgbClr val="28A9D6"/>
          </a:solidFill>
          <a:ln w="9525" cmpd="sng">
            <a:noFill/>
            <a:bevel/>
          </a:ln>
        </p:spPr>
        <p:txBody>
          <a:bodyPr lIns="121920" tIns="60960" rIns="121920" bIns="60960" anchor="ctr" anchorCtr="0"/>
          <a:lstStyle/>
          <a:p>
            <a:pPr algn="ctr"/>
            <a:endParaRPr lang="en-US" altLang="zh-CN" sz="3600">
              <a:solidFill>
                <a:srgbClr val="FFFF00"/>
              </a:solidFill>
              <a:latin typeface="Copperplate Gothic Bold" panose="020E0705020206020404" charset="0"/>
              <a:ea typeface="微软雅黑" panose="020B0503020204020204" pitchFamily="34" charset="-122"/>
              <a:sym typeface="Copperplate Gothic Bold" panose="020E0705020206020404" charset="0"/>
            </a:endParaRPr>
          </a:p>
        </p:txBody>
      </p:sp>
      <p:sp>
        <p:nvSpPr>
          <p:cNvPr id="3078" name="直接连接符 27"/>
          <p:cNvSpPr>
            <a:spLocks noChangeShapeType="1"/>
          </p:cNvSpPr>
          <p:nvPr userDrawn="1"/>
        </p:nvSpPr>
        <p:spPr bwMode="auto">
          <a:xfrm>
            <a:off x="0" y="6087428"/>
            <a:ext cx="4319588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79" name="直接连接符 29"/>
          <p:cNvSpPr>
            <a:spLocks noChangeShapeType="1"/>
          </p:cNvSpPr>
          <p:nvPr userDrawn="1"/>
        </p:nvSpPr>
        <p:spPr bwMode="auto">
          <a:xfrm>
            <a:off x="0" y="6152515"/>
            <a:ext cx="4319588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80" name="直接连接符 31"/>
          <p:cNvSpPr>
            <a:spLocks noChangeShapeType="1"/>
          </p:cNvSpPr>
          <p:nvPr userDrawn="1"/>
        </p:nvSpPr>
        <p:spPr bwMode="auto">
          <a:xfrm>
            <a:off x="0" y="6219190"/>
            <a:ext cx="4319588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81" name="直接连接符 39"/>
          <p:cNvSpPr>
            <a:spLocks noChangeShapeType="1"/>
          </p:cNvSpPr>
          <p:nvPr userDrawn="1"/>
        </p:nvSpPr>
        <p:spPr bwMode="auto">
          <a:xfrm>
            <a:off x="7872413" y="6087428"/>
            <a:ext cx="4319587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82" name="直接连接符 40"/>
          <p:cNvSpPr>
            <a:spLocks noChangeShapeType="1"/>
          </p:cNvSpPr>
          <p:nvPr userDrawn="1"/>
        </p:nvSpPr>
        <p:spPr bwMode="auto">
          <a:xfrm>
            <a:off x="7872413" y="6152515"/>
            <a:ext cx="4319587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83" name="直接连接符 41"/>
          <p:cNvSpPr>
            <a:spLocks noChangeShapeType="1"/>
          </p:cNvSpPr>
          <p:nvPr userDrawn="1"/>
        </p:nvSpPr>
        <p:spPr bwMode="auto">
          <a:xfrm>
            <a:off x="7872413" y="6219190"/>
            <a:ext cx="4319587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3" name="组合 2"/>
          <p:cNvGrpSpPr/>
          <p:nvPr userDrawn="1"/>
        </p:nvGrpSpPr>
        <p:grpSpPr>
          <a:xfrm>
            <a:off x="4474845" y="5816600"/>
            <a:ext cx="3270250" cy="698500"/>
            <a:chOff x="6934" y="9160"/>
            <a:chExt cx="5150" cy="1100"/>
          </a:xfrm>
        </p:grpSpPr>
        <p:sp>
          <p:nvSpPr>
            <p:cNvPr id="3085" name="文本框 42"/>
            <p:cNvSpPr>
              <a:spLocks noChangeArrowheads="1"/>
            </p:cNvSpPr>
            <p:nvPr userDrawn="1"/>
          </p:nvSpPr>
          <p:spPr bwMode="auto">
            <a:xfrm>
              <a:off x="7980" y="9505"/>
              <a:ext cx="4105" cy="43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dist"/>
              <a:r>
                <a:rPr lang="zh-CN" altLang="en-US" sz="1200" b="1" dirty="0" smtClean="0">
                  <a:solidFill>
                    <a:srgbClr val="00B0F0"/>
                  </a:solidFill>
                  <a:latin typeface="Copperplate Gothic Bold" panose="020E0705020206020404" charset="0"/>
                  <a:ea typeface="微软雅黑" panose="020B0503020204020204" pitchFamily="34" charset="-122"/>
                  <a:sym typeface="Copperplate Gothic Bold" panose="020E0705020206020404" charset="0"/>
                </a:rPr>
                <a:t>深圳大学计算机与软件学院</a:t>
              </a:r>
              <a:endParaRPr lang="en-US" altLang="zh-CN" sz="1200" b="1" dirty="0" smtClean="0">
                <a:solidFill>
                  <a:srgbClr val="00B0F0"/>
                </a:solidFill>
                <a:latin typeface="Copperplate Gothic Bold" panose="020E0705020206020404" charset="0"/>
                <a:ea typeface="微软雅黑" panose="020B0503020204020204" pitchFamily="34" charset="-122"/>
                <a:sym typeface="Copperplate Gothic Bold" panose="020E0705020206020404" charset="0"/>
              </a:endParaRPr>
            </a:p>
          </p:txBody>
        </p:sp>
        <p:pic>
          <p:nvPicPr>
            <p:cNvPr id="6" name="Picture 3"/>
            <p:cNvPicPr>
              <a:picLocks noChangeAspect="1" noChangeArrowheads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6934" y="9160"/>
              <a:ext cx="1101" cy="11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grpSp>
        <p:nvGrpSpPr>
          <p:cNvPr id="4" name="组合 3"/>
          <p:cNvGrpSpPr/>
          <p:nvPr userDrawn="1"/>
        </p:nvGrpSpPr>
        <p:grpSpPr>
          <a:xfrm>
            <a:off x="948055" y="5455920"/>
            <a:ext cx="10026650" cy="398780"/>
            <a:chOff x="1493" y="8366"/>
            <a:chExt cx="15790" cy="628"/>
          </a:xfrm>
        </p:grpSpPr>
        <p:sp>
          <p:nvSpPr>
            <p:cNvPr id="7175" name="直接连接符 29"/>
            <p:cNvSpPr/>
            <p:nvPr userDrawn="1"/>
          </p:nvSpPr>
          <p:spPr>
            <a:xfrm>
              <a:off x="1493" y="8671"/>
              <a:ext cx="5983" cy="22"/>
            </a:xfrm>
            <a:prstGeom prst="line">
              <a:avLst/>
            </a:prstGeom>
            <a:ln w="3175" cap="flat" cmpd="sng">
              <a:solidFill>
                <a:srgbClr val="28A9D6"/>
              </a:solidFill>
              <a:prstDash val="solid"/>
              <a:bevel/>
              <a:headEnd type="none" w="med" len="med"/>
              <a:tailEnd type="none" w="med" len="med"/>
            </a:ln>
          </p:spPr>
        </p:sp>
        <p:sp>
          <p:nvSpPr>
            <p:cNvPr id="7178" name="直接连接符 40"/>
            <p:cNvSpPr/>
            <p:nvPr userDrawn="1"/>
          </p:nvSpPr>
          <p:spPr>
            <a:xfrm>
              <a:off x="11671" y="8672"/>
              <a:ext cx="5612" cy="21"/>
            </a:xfrm>
            <a:prstGeom prst="line">
              <a:avLst/>
            </a:prstGeom>
            <a:ln w="3175" cap="flat" cmpd="sng">
              <a:solidFill>
                <a:srgbClr val="28A9D6"/>
              </a:solidFill>
              <a:prstDash val="solid"/>
              <a:bevel/>
              <a:headEnd type="none" w="med" len="med"/>
              <a:tailEnd type="none" w="med" len="med"/>
            </a:ln>
          </p:spPr>
        </p:sp>
        <p:sp>
          <p:nvSpPr>
            <p:cNvPr id="7181" name="TextBox 14"/>
            <p:cNvSpPr txBox="1"/>
            <p:nvPr userDrawn="1"/>
          </p:nvSpPr>
          <p:spPr>
            <a:xfrm>
              <a:off x="8491" y="8366"/>
              <a:ext cx="2479" cy="62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algn="dist"/>
              <a:r>
                <a:rPr lang="zh-CN" altLang="en-US" sz="2000" dirty="0">
                  <a:latin typeface="Tahoma" panose="020B0604030504040204" charset="0"/>
                  <a:ea typeface="宋体" panose="02010600030101010101" pitchFamily="2" charset="-122"/>
                </a:rPr>
                <a:t>主讲白鉴聪</a:t>
              </a:r>
              <a:endParaRPr lang="zh-CN" altLang="en-US" sz="2000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" name="组合 4"/>
          <p:cNvGrpSpPr/>
          <p:nvPr userDrawn="1"/>
        </p:nvGrpSpPr>
        <p:grpSpPr>
          <a:xfrm>
            <a:off x="1198245" y="5008880"/>
            <a:ext cx="9531350" cy="398780"/>
            <a:chOff x="1868" y="8366"/>
            <a:chExt cx="15010" cy="628"/>
          </a:xfrm>
        </p:grpSpPr>
        <p:sp>
          <p:nvSpPr>
            <p:cNvPr id="7" name="直接连接符 29"/>
            <p:cNvSpPr/>
            <p:nvPr userDrawn="1"/>
          </p:nvSpPr>
          <p:spPr>
            <a:xfrm>
              <a:off x="1868" y="8671"/>
              <a:ext cx="5159" cy="21"/>
            </a:xfrm>
            <a:prstGeom prst="line">
              <a:avLst/>
            </a:prstGeom>
            <a:ln w="3175" cap="flat" cmpd="sng">
              <a:solidFill>
                <a:srgbClr val="28A9D6"/>
              </a:solidFill>
              <a:prstDash val="solid"/>
              <a:bevel/>
              <a:headEnd type="none" w="med" len="med"/>
              <a:tailEnd type="none" w="med" len="med"/>
            </a:ln>
          </p:spPr>
        </p:sp>
        <p:sp>
          <p:nvSpPr>
            <p:cNvPr id="8" name="直接连接符 40"/>
            <p:cNvSpPr/>
            <p:nvPr userDrawn="1"/>
          </p:nvSpPr>
          <p:spPr>
            <a:xfrm>
              <a:off x="11897" y="8692"/>
              <a:ext cx="4981" cy="2"/>
            </a:xfrm>
            <a:prstGeom prst="line">
              <a:avLst/>
            </a:prstGeom>
            <a:ln w="3175" cap="flat" cmpd="sng">
              <a:solidFill>
                <a:srgbClr val="28A9D6"/>
              </a:solidFill>
              <a:prstDash val="solid"/>
              <a:bevel/>
              <a:headEnd type="none" w="med" len="med"/>
              <a:tailEnd type="none" w="med" len="med"/>
            </a:ln>
          </p:spPr>
        </p:sp>
        <p:sp>
          <p:nvSpPr>
            <p:cNvPr id="9" name="TextBox 14"/>
            <p:cNvSpPr txBox="1"/>
            <p:nvPr userDrawn="1"/>
          </p:nvSpPr>
          <p:spPr>
            <a:xfrm>
              <a:off x="7792" y="8366"/>
              <a:ext cx="3621" cy="62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algn="dist"/>
              <a:r>
                <a:rPr lang="zh-CN" altLang="en-US" sz="2000" dirty="0">
                  <a:latin typeface="Tahoma" panose="020B0604030504040204" charset="0"/>
                  <a:ea typeface="宋体" panose="02010600030101010101" pitchFamily="2" charset="-122"/>
                </a:rPr>
                <a:t>数据结构</a:t>
              </a:r>
              <a:endParaRPr lang="zh-CN" altLang="en-US" sz="2000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矩形 1"/>
          <p:cNvSpPr>
            <a:spLocks noChangeArrowheads="1"/>
          </p:cNvSpPr>
          <p:nvPr userDrawn="1"/>
        </p:nvSpPr>
        <p:spPr bwMode="auto">
          <a:xfrm>
            <a:off x="0" y="4728210"/>
            <a:ext cx="12192000" cy="903605"/>
          </a:xfrm>
          <a:prstGeom prst="rect">
            <a:avLst/>
          </a:prstGeom>
          <a:solidFill>
            <a:srgbClr val="28A9D6"/>
          </a:solidFill>
          <a:ln w="9525" cmpd="sng">
            <a:noFill/>
            <a:bevel/>
          </a:ln>
        </p:spPr>
        <p:txBody>
          <a:bodyPr lIns="121920" tIns="60960" rIns="121920" bIns="60960" anchor="ctr" anchorCtr="0"/>
          <a:lstStyle/>
          <a:p>
            <a:pPr algn="ctr"/>
            <a:r>
              <a:rPr lang="zh-CN" altLang="zh-CN" sz="4000">
                <a:solidFill>
                  <a:srgbClr val="FFFF00"/>
                </a:solidFill>
                <a:latin typeface="Copperplate Gothic Bold" panose="020E0705020206020404" charset="0"/>
                <a:ea typeface="微软雅黑" panose="020B0503020204020204" pitchFamily="34" charset="-122"/>
                <a:sym typeface="Copperplate Gothic Bold" panose="020E0705020206020404" charset="0"/>
              </a:rPr>
              <a:t>谢谢观看</a:t>
            </a:r>
            <a:endParaRPr lang="zh-CN" altLang="zh-CN" sz="4000">
              <a:solidFill>
                <a:srgbClr val="FFFF00"/>
              </a:solidFill>
              <a:latin typeface="Copperplate Gothic Bold" panose="020E0705020206020404" charset="0"/>
              <a:ea typeface="微软雅黑" panose="020B0503020204020204" pitchFamily="34" charset="-122"/>
              <a:sym typeface="Copperplate Gothic Bold" panose="020E0705020206020404" charset="0"/>
            </a:endParaRPr>
          </a:p>
        </p:txBody>
      </p:sp>
      <p:sp>
        <p:nvSpPr>
          <p:cNvPr id="3076" name="直接连接符 24"/>
          <p:cNvSpPr>
            <a:spLocks noChangeShapeType="1"/>
          </p:cNvSpPr>
          <p:nvPr userDrawn="1"/>
        </p:nvSpPr>
        <p:spPr bwMode="auto">
          <a:xfrm>
            <a:off x="0" y="5665153"/>
            <a:ext cx="12192000" cy="1587"/>
          </a:xfrm>
          <a:prstGeom prst="line">
            <a:avLst/>
          </a:prstGeom>
          <a:noFill/>
          <a:ln w="19050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78" name="直接连接符 27"/>
          <p:cNvSpPr>
            <a:spLocks noChangeShapeType="1"/>
          </p:cNvSpPr>
          <p:nvPr userDrawn="1"/>
        </p:nvSpPr>
        <p:spPr bwMode="auto">
          <a:xfrm>
            <a:off x="0" y="6087428"/>
            <a:ext cx="4319588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79" name="直接连接符 29"/>
          <p:cNvSpPr>
            <a:spLocks noChangeShapeType="1"/>
          </p:cNvSpPr>
          <p:nvPr userDrawn="1"/>
        </p:nvSpPr>
        <p:spPr bwMode="auto">
          <a:xfrm>
            <a:off x="0" y="6152515"/>
            <a:ext cx="4319588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80" name="直接连接符 31"/>
          <p:cNvSpPr>
            <a:spLocks noChangeShapeType="1"/>
          </p:cNvSpPr>
          <p:nvPr userDrawn="1"/>
        </p:nvSpPr>
        <p:spPr bwMode="auto">
          <a:xfrm>
            <a:off x="0" y="6219190"/>
            <a:ext cx="4319588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81" name="直接连接符 39"/>
          <p:cNvSpPr>
            <a:spLocks noChangeShapeType="1"/>
          </p:cNvSpPr>
          <p:nvPr userDrawn="1"/>
        </p:nvSpPr>
        <p:spPr bwMode="auto">
          <a:xfrm>
            <a:off x="7872413" y="6087428"/>
            <a:ext cx="4319587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82" name="直接连接符 40"/>
          <p:cNvSpPr>
            <a:spLocks noChangeShapeType="1"/>
          </p:cNvSpPr>
          <p:nvPr userDrawn="1"/>
        </p:nvSpPr>
        <p:spPr bwMode="auto">
          <a:xfrm>
            <a:off x="7872413" y="6152515"/>
            <a:ext cx="4319587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83" name="直接连接符 41"/>
          <p:cNvSpPr>
            <a:spLocks noChangeShapeType="1"/>
          </p:cNvSpPr>
          <p:nvPr userDrawn="1"/>
        </p:nvSpPr>
        <p:spPr bwMode="auto">
          <a:xfrm>
            <a:off x="7872413" y="6219190"/>
            <a:ext cx="4319587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4" name="组合 3"/>
          <p:cNvGrpSpPr/>
          <p:nvPr userDrawn="1"/>
        </p:nvGrpSpPr>
        <p:grpSpPr>
          <a:xfrm>
            <a:off x="4474845" y="5816600"/>
            <a:ext cx="3270250" cy="698500"/>
            <a:chOff x="6934" y="9160"/>
            <a:chExt cx="5150" cy="1100"/>
          </a:xfrm>
        </p:grpSpPr>
        <p:sp>
          <p:nvSpPr>
            <p:cNvPr id="3085" name="文本框 42"/>
            <p:cNvSpPr>
              <a:spLocks noChangeArrowheads="1"/>
            </p:cNvSpPr>
            <p:nvPr userDrawn="1"/>
          </p:nvSpPr>
          <p:spPr bwMode="auto">
            <a:xfrm>
              <a:off x="7980" y="9505"/>
              <a:ext cx="4105" cy="43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dist"/>
              <a:r>
                <a:rPr lang="zh-CN" altLang="en-US" sz="1200" b="1" dirty="0" smtClean="0">
                  <a:solidFill>
                    <a:srgbClr val="00B0F0"/>
                  </a:solidFill>
                  <a:latin typeface="Copperplate Gothic Bold" panose="020E0705020206020404" charset="0"/>
                  <a:ea typeface="微软雅黑" panose="020B0503020204020204" pitchFamily="34" charset="-122"/>
                  <a:sym typeface="Copperplate Gothic Bold" panose="020E0705020206020404" charset="0"/>
                </a:rPr>
                <a:t>深圳大学计算机与软件学院</a:t>
              </a:r>
              <a:endParaRPr lang="en-US" altLang="zh-CN" sz="1200" b="1" dirty="0" smtClean="0">
                <a:solidFill>
                  <a:srgbClr val="00B0F0"/>
                </a:solidFill>
                <a:latin typeface="Copperplate Gothic Bold" panose="020E0705020206020404" charset="0"/>
                <a:ea typeface="微软雅黑" panose="020B0503020204020204" pitchFamily="34" charset="-122"/>
                <a:sym typeface="Copperplate Gothic Bold" panose="020E0705020206020404" charset="0"/>
              </a:endParaRPr>
            </a:p>
          </p:txBody>
        </p:sp>
        <p:pic>
          <p:nvPicPr>
            <p:cNvPr id="6" name="Picture 3"/>
            <p:cNvPicPr>
              <a:picLocks noChangeAspect="1" noChangeArrowheads="1"/>
            </p:cNvPicPr>
            <p:nvPr userDrawn="1"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6934" y="9160"/>
              <a:ext cx="1101" cy="11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pic>
        <p:nvPicPr>
          <p:cNvPr id="2" name="图片 1" descr="SZU讲义尾页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-35560"/>
            <a:ext cx="12191365" cy="4763770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9260" y="948055"/>
            <a:ext cx="11087735" cy="5144135"/>
          </a:xfrm>
        </p:spPr>
        <p:txBody>
          <a:bodyPr/>
          <a:lstStyle>
            <a:lvl1pPr>
              <a:buFont typeface="Wingdings" panose="05000000000000000000" charset="0"/>
              <a:buChar char="l"/>
              <a:defRPr sz="2800"/>
            </a:lvl1pPr>
            <a:lvl2pPr>
              <a:defRPr sz="2400"/>
            </a:lvl2pPr>
            <a:lvl3pPr>
              <a:buFont typeface="Arial" panose="020B0604020202020204" pitchFamily="34" charset="0"/>
              <a:buChar char="•"/>
              <a:defRPr sz="2000"/>
            </a:lvl3pPr>
            <a:lvl4pPr>
              <a:defRPr sz="2000"/>
            </a:lvl4pPr>
            <a:lvl5pPr>
              <a:defRPr sz="12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endParaRPr lang="en-US" dirty="0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752475" y="150813"/>
            <a:ext cx="10972800" cy="796908"/>
          </a:xfrm>
        </p:spPr>
        <p:txBody>
          <a:bodyPr rtlCol="0"/>
          <a:lstStyle>
            <a:lvl1pPr algn="l">
              <a:defRPr sz="360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21" name="任意多边形 28"/>
          <p:cNvSpPr>
            <a:spLocks noChangeArrowheads="1"/>
          </p:cNvSpPr>
          <p:nvPr userDrawn="1"/>
        </p:nvSpPr>
        <p:spPr bwMode="auto">
          <a:xfrm flipV="1">
            <a:off x="174625" y="424180"/>
            <a:ext cx="4765040" cy="421005"/>
          </a:xfrm>
          <a:custGeom>
            <a:avLst/>
            <a:gdLst>
              <a:gd name="T0" fmla="*/ 167822 w 1386790"/>
              <a:gd name="T1" fmla="*/ 524933 h 524933"/>
              <a:gd name="T2" fmla="*/ 168846 w 1386790"/>
              <a:gd name="T3" fmla="*/ 524933 h 524933"/>
              <a:gd name="T4" fmla="*/ 168846 w 1386790"/>
              <a:gd name="T5" fmla="*/ 14598 h 524933"/>
              <a:gd name="T6" fmla="*/ 1386790 w 1386790"/>
              <a:gd name="T7" fmla="*/ 14598 h 524933"/>
              <a:gd name="T8" fmla="*/ 1386790 w 1386790"/>
              <a:gd name="T9" fmla="*/ 0 h 524933"/>
              <a:gd name="T10" fmla="*/ 167822 w 1386790"/>
              <a:gd name="T11" fmla="*/ 0 h 524933"/>
              <a:gd name="T12" fmla="*/ 152999 w 1386790"/>
              <a:gd name="T13" fmla="*/ 0 h 524933"/>
              <a:gd name="T14" fmla="*/ 152999 w 1386790"/>
              <a:gd name="T15" fmla="*/ 507260 h 524933"/>
              <a:gd name="T16" fmla="*/ 107280 w 1386790"/>
              <a:gd name="T17" fmla="*/ 507260 h 524933"/>
              <a:gd name="T18" fmla="*/ 107280 w 1386790"/>
              <a:gd name="T19" fmla="*/ 0 h 524933"/>
              <a:gd name="T20" fmla="*/ 0 w 1386790"/>
              <a:gd name="T21" fmla="*/ 0 h 524933"/>
              <a:gd name="T22" fmla="*/ 0 w 1386790"/>
              <a:gd name="T23" fmla="*/ 524932 h 524933"/>
              <a:gd name="T24" fmla="*/ 33834 w 1386790"/>
              <a:gd name="T25" fmla="*/ 524932 h 524933"/>
              <a:gd name="T26" fmla="*/ 33834 w 1386790"/>
              <a:gd name="T27" fmla="*/ 23810 h 524933"/>
              <a:gd name="T28" fmla="*/ 79553 w 1386790"/>
              <a:gd name="T29" fmla="*/ 23810 h 524933"/>
              <a:gd name="T30" fmla="*/ 79553 w 1386790"/>
              <a:gd name="T31" fmla="*/ 524932 h 524933"/>
              <a:gd name="T32" fmla="*/ 167822 w 1386790"/>
              <a:gd name="T33" fmla="*/ 524932 h 524933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1386790"/>
              <a:gd name="T52" fmla="*/ 0 h 524933"/>
              <a:gd name="T53" fmla="*/ 1386790 w 1386790"/>
              <a:gd name="T54" fmla="*/ 524933 h 524933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1386790" h="524933">
                <a:moveTo>
                  <a:pt x="167822" y="524933"/>
                </a:moveTo>
                <a:lnTo>
                  <a:pt x="168846" y="524933"/>
                </a:lnTo>
                <a:lnTo>
                  <a:pt x="168846" y="14598"/>
                </a:lnTo>
                <a:lnTo>
                  <a:pt x="1386790" y="14598"/>
                </a:lnTo>
                <a:lnTo>
                  <a:pt x="1386790" y="0"/>
                </a:lnTo>
                <a:lnTo>
                  <a:pt x="167822" y="0"/>
                </a:lnTo>
                <a:lnTo>
                  <a:pt x="152999" y="0"/>
                </a:lnTo>
                <a:lnTo>
                  <a:pt x="152999" y="507260"/>
                </a:lnTo>
                <a:lnTo>
                  <a:pt x="107280" y="507260"/>
                </a:lnTo>
                <a:lnTo>
                  <a:pt x="107280" y="0"/>
                </a:lnTo>
                <a:lnTo>
                  <a:pt x="0" y="0"/>
                </a:lnTo>
                <a:lnTo>
                  <a:pt x="0" y="524932"/>
                </a:lnTo>
                <a:lnTo>
                  <a:pt x="33834" y="524932"/>
                </a:lnTo>
                <a:lnTo>
                  <a:pt x="33834" y="23810"/>
                </a:lnTo>
                <a:lnTo>
                  <a:pt x="79553" y="23810"/>
                </a:lnTo>
                <a:lnTo>
                  <a:pt x="79553" y="524932"/>
                </a:lnTo>
                <a:lnTo>
                  <a:pt x="167822" y="524932"/>
                </a:lnTo>
                <a:close/>
              </a:path>
            </a:pathLst>
          </a:custGeom>
          <a:solidFill>
            <a:srgbClr val="28A9D6"/>
          </a:solidFill>
          <a:ln w="25400" cap="flat" cmpd="sng">
            <a:noFill/>
            <a:bevel/>
          </a:ln>
        </p:spPr>
        <p:txBody>
          <a:bodyPr anchor="ctr"/>
          <a:p>
            <a:pPr algn="ctr"/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15" name="直接连接符 40"/>
          <p:cNvSpPr>
            <a:spLocks noChangeShapeType="1"/>
          </p:cNvSpPr>
          <p:nvPr userDrawn="1"/>
        </p:nvSpPr>
        <p:spPr bwMode="auto">
          <a:xfrm>
            <a:off x="-7302" y="6438900"/>
            <a:ext cx="4319587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4345940" y="6153785"/>
            <a:ext cx="3432810" cy="581660"/>
            <a:chOff x="6755" y="9691"/>
            <a:chExt cx="5406" cy="916"/>
          </a:xfrm>
        </p:grpSpPr>
        <p:sp>
          <p:nvSpPr>
            <p:cNvPr id="3085" name="文本框 42"/>
            <p:cNvSpPr>
              <a:spLocks noChangeArrowheads="1"/>
            </p:cNvSpPr>
            <p:nvPr userDrawn="1"/>
          </p:nvSpPr>
          <p:spPr bwMode="auto">
            <a:xfrm>
              <a:off x="8057" y="9957"/>
              <a:ext cx="4105" cy="43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dist"/>
              <a:r>
                <a:rPr lang="zh-CN" altLang="en-US" sz="1200" dirty="0" smtClean="0">
                  <a:solidFill>
                    <a:srgbClr val="3F3F3F"/>
                  </a:solidFill>
                  <a:latin typeface="Copperplate Gothic Bold" panose="020E0705020206020404" charset="0"/>
                  <a:ea typeface="微软雅黑" panose="020B0503020204020204" pitchFamily="34" charset="-122"/>
                  <a:sym typeface="Copperplate Gothic Bold" panose="020E0705020206020404" charset="0"/>
                </a:rPr>
                <a:t>深圳大学计算机与软件学院</a:t>
              </a:r>
              <a:endParaRPr lang="zh-CN" altLang="en-US" sz="1200" dirty="0" smtClean="0">
                <a:solidFill>
                  <a:srgbClr val="3F3F3F"/>
                </a:solidFill>
                <a:latin typeface="Copperplate Gothic Bold" panose="020E0705020206020404" charset="0"/>
                <a:ea typeface="微软雅黑" panose="020B0503020204020204" pitchFamily="34" charset="-122"/>
                <a:sym typeface="Copperplate Gothic Bold" panose="020E0705020206020404" charset="0"/>
              </a:endParaRPr>
            </a:p>
          </p:txBody>
        </p:sp>
        <p:pic>
          <p:nvPicPr>
            <p:cNvPr id="12" name="图片 11" descr="图片1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6755" y="9691"/>
              <a:ext cx="1370" cy="917"/>
            </a:xfrm>
            <a:prstGeom prst="rect">
              <a:avLst/>
            </a:prstGeom>
          </p:spPr>
        </p:pic>
      </p:grpSp>
      <p:sp>
        <p:nvSpPr>
          <p:cNvPr id="1026" name="灯片编号占位符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416030" y="6517958"/>
            <a:ext cx="541338" cy="2825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0" rIns="0" bIns="0" numCol="1" anchor="t" anchorCtr="0" compatLnSpc="1"/>
          <a:lstStyle>
            <a:lvl1pPr algn="ctr">
              <a:defRPr>
                <a:solidFill>
                  <a:srgbClr val="595959"/>
                </a:solidFill>
              </a:defRPr>
            </a:lvl1pPr>
          </a:lstStyle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  <p:sp>
        <p:nvSpPr>
          <p:cNvPr id="3082" name="直接连接符 40"/>
          <p:cNvSpPr>
            <a:spLocks noChangeShapeType="1"/>
          </p:cNvSpPr>
          <p:nvPr userDrawn="1"/>
        </p:nvSpPr>
        <p:spPr bwMode="auto">
          <a:xfrm>
            <a:off x="7872413" y="6439535"/>
            <a:ext cx="4319587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p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4433" y="188913"/>
            <a:ext cx="10972800" cy="792162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31800" y="1268413"/>
            <a:ext cx="5611284" cy="47529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46284" y="1268413"/>
            <a:ext cx="5611283" cy="47529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>
          <a:xfrm>
            <a:off x="334433" y="6237288"/>
            <a:ext cx="3860800" cy="457200"/>
          </a:xfrm>
        </p:spPr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OS</a:t>
            </a: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en-US" altLang="zh-CN" sz="1200" strike="noStrike" noProof="1" dirty="0"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</a:fld>
            <a:endParaRPr lang="en-US" altLang="zh-CN" sz="1200" strike="noStrike" noProof="1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gradFill rotWithShape="0">
          <a:gsLst>
            <a:gs pos="0">
              <a:srgbClr val="F4F8FB"/>
            </a:gs>
            <a:gs pos="63000">
              <a:srgbClr val="F2F2F2"/>
            </a:gs>
            <a:gs pos="100000">
              <a:srgbClr val="D8D8D8"/>
            </a:gs>
          </a:gsLst>
          <a:path path="rect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灯片编号占位符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42975" y="6338888"/>
            <a:ext cx="541338" cy="2825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0" rIns="0" bIns="0" numCol="1" anchor="t" anchorCtr="0" compatLnSpc="1"/>
          <a:lstStyle>
            <a:lvl1pPr algn="ctr">
              <a:defRPr>
                <a:solidFill>
                  <a:srgbClr val="595959"/>
                </a:solidFill>
              </a:defRPr>
            </a:lvl1pPr>
          </a:lstStyle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ftr="0" dt="0"/>
  <p:txStyles>
    <p:titleStyle>
      <a:lvl1pPr marL="1219200" indent="-1219200" algn="ctr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+mj-lt"/>
          <a:ea typeface="+mj-ea"/>
          <a:cs typeface="+mj-cs"/>
          <a:sym typeface="Copperplate Gothic Bold" panose="020E0705020206020404" charset="0"/>
        </a:defRPr>
      </a:lvl1pPr>
      <a:lvl2pPr marL="1219200" indent="-1219200" algn="ctr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opperplate Gothic Bold" panose="020E0705020206020404" charset="0"/>
          <a:ea typeface="微软雅黑" panose="020B0503020204020204" pitchFamily="34" charset="-122"/>
          <a:sym typeface="Copperplate Gothic Bold" panose="020E0705020206020404" charset="0"/>
        </a:defRPr>
      </a:lvl2pPr>
      <a:lvl3pPr marL="1219200" indent="-1219200" algn="ctr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opperplate Gothic Bold" panose="020E0705020206020404" charset="0"/>
          <a:ea typeface="微软雅黑" panose="020B0503020204020204" pitchFamily="34" charset="-122"/>
          <a:sym typeface="Copperplate Gothic Bold" panose="020E0705020206020404" charset="0"/>
        </a:defRPr>
      </a:lvl3pPr>
      <a:lvl4pPr marL="1219200" indent="-1219200" algn="ctr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opperplate Gothic Bold" panose="020E0705020206020404" charset="0"/>
          <a:ea typeface="微软雅黑" panose="020B0503020204020204" pitchFamily="34" charset="-122"/>
          <a:sym typeface="Copperplate Gothic Bold" panose="020E0705020206020404" charset="0"/>
        </a:defRPr>
      </a:lvl4pPr>
      <a:lvl5pPr marL="1219200" indent="-1219200" algn="ctr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opperplate Gothic Bold" panose="020E0705020206020404" charset="0"/>
          <a:ea typeface="微软雅黑" panose="020B0503020204020204" pitchFamily="34" charset="-122"/>
          <a:sym typeface="Copperplate Gothic Bold" panose="020E0705020206020404" charset="0"/>
        </a:defRPr>
      </a:lvl5pPr>
      <a:lvl6pPr marL="1676400" indent="-1219200" algn="ctr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opperplate Gothic Bold" panose="020E0705020206020404" charset="0"/>
          <a:ea typeface="微软雅黑" panose="020B0503020204020204" pitchFamily="34" charset="-122"/>
          <a:sym typeface="Copperplate Gothic Bold" panose="020E0705020206020404" charset="0"/>
        </a:defRPr>
      </a:lvl6pPr>
      <a:lvl7pPr marL="2133600" indent="-1219200" algn="ctr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opperplate Gothic Bold" panose="020E0705020206020404" charset="0"/>
          <a:ea typeface="微软雅黑" panose="020B0503020204020204" pitchFamily="34" charset="-122"/>
          <a:sym typeface="Copperplate Gothic Bold" panose="020E0705020206020404" charset="0"/>
        </a:defRPr>
      </a:lvl7pPr>
      <a:lvl8pPr marL="2590800" indent="-1219200" algn="ctr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opperplate Gothic Bold" panose="020E0705020206020404" charset="0"/>
          <a:ea typeface="微软雅黑" panose="020B0503020204020204" pitchFamily="34" charset="-122"/>
          <a:sym typeface="Copperplate Gothic Bold" panose="020E0705020206020404" charset="0"/>
        </a:defRPr>
      </a:lvl8pPr>
      <a:lvl9pPr marL="3048000" indent="-1219200" algn="ctr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opperplate Gothic Bold" panose="020E0705020206020404" charset="0"/>
          <a:ea typeface="微软雅黑" panose="020B0503020204020204" pitchFamily="34" charset="-122"/>
          <a:sym typeface="Copperplate Gothic Bold" panose="020E0705020206020404" charset="0"/>
        </a:defRPr>
      </a:lvl9pPr>
    </p:titleStyle>
    <p:bodyStyle>
      <a:lvl1pPr marL="457200" indent="-457200" algn="l" defTabSz="1219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Copperplate Gothic Bold" panose="020E0705020206020404" charset="0"/>
        </a:defRPr>
      </a:lvl1pPr>
      <a:lvl2pPr marL="990600" indent="-381000" algn="l" defTabSz="1219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00">
          <a:solidFill>
            <a:schemeClr val="tx1"/>
          </a:solidFill>
          <a:latin typeface="+mn-lt"/>
          <a:ea typeface="+mn-ea"/>
          <a:sym typeface="Copperplate Gothic Bold" panose="020E0705020206020404" charset="0"/>
        </a:defRPr>
      </a:lvl2pPr>
      <a:lvl3pPr marL="1524000" indent="-304800" algn="l" defTabSz="1219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>
          <a:solidFill>
            <a:schemeClr val="tx1"/>
          </a:solidFill>
          <a:latin typeface="+mn-lt"/>
          <a:ea typeface="+mn-ea"/>
          <a:sym typeface="Copperplate Gothic Bold" panose="020E0705020206020404" charset="0"/>
        </a:defRPr>
      </a:lvl3pPr>
      <a:lvl4pPr marL="2133600" indent="-304800" algn="l" defTabSz="1219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00">
          <a:solidFill>
            <a:schemeClr val="tx1"/>
          </a:solidFill>
          <a:latin typeface="+mn-lt"/>
          <a:ea typeface="+mn-ea"/>
          <a:sym typeface="Copperplate Gothic Bold" panose="020E0705020206020404" charset="0"/>
        </a:defRPr>
      </a:lvl4pPr>
      <a:lvl5pPr marL="2743200" indent="-304800" algn="l" defTabSz="1219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00">
          <a:solidFill>
            <a:schemeClr val="tx1"/>
          </a:solidFill>
          <a:latin typeface="+mn-lt"/>
          <a:ea typeface="+mn-ea"/>
          <a:sym typeface="Copperplate Gothic Bold" panose="020E0705020206020404" charset="0"/>
        </a:defRPr>
      </a:lvl5pPr>
      <a:lvl6pPr marL="3200400" indent="-304800" algn="l" defTabSz="1219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00">
          <a:solidFill>
            <a:schemeClr val="tx1"/>
          </a:solidFill>
          <a:latin typeface="+mn-lt"/>
          <a:ea typeface="+mn-ea"/>
          <a:sym typeface="Copperplate Gothic Bold" panose="020E0705020206020404" charset="0"/>
        </a:defRPr>
      </a:lvl6pPr>
      <a:lvl7pPr marL="3657600" indent="-304800" algn="l" defTabSz="1219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00">
          <a:solidFill>
            <a:schemeClr val="tx1"/>
          </a:solidFill>
          <a:latin typeface="+mn-lt"/>
          <a:ea typeface="+mn-ea"/>
          <a:sym typeface="Copperplate Gothic Bold" panose="020E0705020206020404" charset="0"/>
        </a:defRPr>
      </a:lvl7pPr>
      <a:lvl8pPr marL="4114800" indent="-304800" algn="l" defTabSz="1219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00">
          <a:solidFill>
            <a:schemeClr val="tx1"/>
          </a:solidFill>
          <a:latin typeface="+mn-lt"/>
          <a:ea typeface="+mn-ea"/>
          <a:sym typeface="Copperplate Gothic Bold" panose="020E0705020206020404" charset="0"/>
        </a:defRPr>
      </a:lvl8pPr>
      <a:lvl9pPr marL="4572000" indent="-304800" algn="l" defTabSz="1219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00">
          <a:solidFill>
            <a:schemeClr val="tx1"/>
          </a:solidFill>
          <a:latin typeface="+mn-lt"/>
          <a:ea typeface="+mn-ea"/>
          <a:sym typeface="Copperplate Gothic Bold" panose="020E070502020602040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tags" Target="../tags/tag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jpe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jpe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pn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4159885" y="4126230"/>
            <a:ext cx="3880485" cy="81534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p>
            <a:pPr marL="0" lvl="0" indent="0" algn="ctr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4400">
                <a:solidFill>
                  <a:srgbClr val="FFFF00"/>
                </a:solidFill>
              </a:rPr>
              <a:t>2 </a:t>
            </a:r>
            <a:r>
              <a:rPr lang="zh-CN" altLang="en-US" sz="4400">
                <a:solidFill>
                  <a:srgbClr val="FFFF00"/>
                </a:solidFill>
              </a:rPr>
              <a:t>线性表</a:t>
            </a:r>
            <a:endParaRPr lang="zh-CN" altLang="en-US" sz="44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内容占位符 2"/>
          <p:cNvSpPr>
            <a:spLocks noGrp="1"/>
          </p:cNvSpPr>
          <p:nvPr>
            <p:ph idx="1"/>
          </p:nvPr>
        </p:nvSpPr>
        <p:spPr>
          <a:xfrm>
            <a:off x="191770" y="1052830"/>
            <a:ext cx="8229600" cy="4386580"/>
          </a:xfrm>
        </p:spPr>
        <p:txBody>
          <a:bodyPr/>
          <a:lstStyle/>
          <a:p>
            <a:pPr eaLnBrk="1" hangingPunct="1"/>
            <a:r>
              <a:rPr lang="zh-CN" altLang="en-US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绪论</a:t>
            </a:r>
            <a:endParaRPr lang="en-US" altLang="zh-CN" smtClean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eaLnBrk="1" hangingPunct="1"/>
            <a:r>
              <a:rPr lang="zh-CN" altLang="en-US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线性表</a:t>
            </a:r>
            <a:endParaRPr lang="zh-CN" altLang="en-US" smtClean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eaLnBrk="1" hangingPunct="1"/>
            <a:r>
              <a:rPr lang="zh-CN" altLang="en-US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栈和队列</a:t>
            </a:r>
            <a:endParaRPr lang="zh-CN" altLang="en-US" smtClean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eaLnBrk="1" hangingPunct="1"/>
            <a:r>
              <a:rPr lang="zh-CN" altLang="en-US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串</a:t>
            </a:r>
            <a:endParaRPr lang="zh-CN" altLang="en-US" smtClean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eaLnBrk="1" hangingPunct="1"/>
            <a:r>
              <a:rPr lang="zh-CN" altLang="en-US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数组和广义表</a:t>
            </a:r>
            <a:endParaRPr lang="zh-CN" altLang="en-US" smtClean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eaLnBrk="1" hangingPunct="1"/>
            <a:r>
              <a:rPr lang="zh-CN" altLang="en-US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树和二叉树</a:t>
            </a:r>
            <a:endParaRPr lang="zh-CN" altLang="en-US" smtClean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eaLnBrk="1" hangingPunct="1"/>
            <a:r>
              <a:rPr lang="zh-CN" altLang="en-US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图</a:t>
            </a:r>
            <a:endParaRPr lang="zh-CN" altLang="en-US" smtClean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eaLnBrk="1" hangingPunct="1"/>
            <a:r>
              <a:rPr lang="zh-CN" altLang="en-US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查找</a:t>
            </a:r>
            <a:endParaRPr lang="zh-CN" altLang="en-US" smtClean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eaLnBrk="1" hangingPunct="1"/>
            <a:r>
              <a:rPr lang="zh-CN" altLang="en-US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内部排序</a:t>
            </a:r>
            <a:endParaRPr lang="zh-CN" altLang="en-US" smtClean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 smtClean="0"/>
              <a:t>课程结构（按教材划分）</a:t>
            </a:r>
            <a:endParaRPr lang="zh-CN" altLang="en-US" dirty="0"/>
          </a:p>
        </p:txBody>
      </p:sp>
      <p:sp>
        <p:nvSpPr>
          <p:cNvPr id="4" name="右大括号 3"/>
          <p:cNvSpPr/>
          <p:nvPr/>
        </p:nvSpPr>
        <p:spPr>
          <a:xfrm>
            <a:off x="2999105" y="1628775"/>
            <a:ext cx="504190" cy="1669415"/>
          </a:xfrm>
          <a:prstGeom prst="rightBrace">
            <a:avLst/>
          </a:prstGeom>
          <a:ln w="28575" cmpd="sng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线性结构</a:t>
            </a:r>
            <a:endParaRPr lang="zh-CN" altLang="en-US" sz="2000" b="1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" name="右大括号 4"/>
          <p:cNvSpPr/>
          <p:nvPr/>
        </p:nvSpPr>
        <p:spPr>
          <a:xfrm>
            <a:off x="4007485" y="4653280"/>
            <a:ext cx="504190" cy="929640"/>
          </a:xfrm>
          <a:prstGeom prst="rightBrace">
            <a:avLst/>
          </a:prstGeom>
          <a:ln w="28575" cmpd="sng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应用</a:t>
            </a:r>
            <a:endParaRPr lang="zh-CN" altLang="en-US" sz="2000" b="1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7" name="右大括号 6"/>
          <p:cNvSpPr/>
          <p:nvPr/>
        </p:nvSpPr>
        <p:spPr>
          <a:xfrm>
            <a:off x="4871720" y="2111375"/>
            <a:ext cx="876935" cy="3006725"/>
          </a:xfrm>
          <a:prstGeom prst="rightBrace">
            <a:avLst/>
          </a:prstGeom>
          <a:ln w="28575" cmpd="sng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三类结构</a:t>
            </a:r>
            <a:r>
              <a:rPr lang="en-US" altLang="zh-CN" sz="2000" b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+</a:t>
            </a:r>
            <a:r>
              <a:rPr lang="zh-CN" altLang="en-US" sz="2000" b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两种应用</a:t>
            </a:r>
            <a:endParaRPr lang="zh-CN" altLang="en-US" sz="2000" b="1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sp>
        <p:nvSpPr>
          <p:cNvPr id="8" name="标题 1"/>
          <p:cNvSpPr>
            <a:spLocks noGrp="1"/>
          </p:cNvSpPr>
          <p:nvPr/>
        </p:nvSpPr>
        <p:spPr>
          <a:xfrm>
            <a:off x="4968875" y="5544820"/>
            <a:ext cx="7044055" cy="796925"/>
          </a:xfrm>
          <a:prstGeom prst="rect">
            <a:avLst/>
          </a:prstGeom>
        </p:spPr>
        <p:txBody>
          <a:bodyPr vert="horz" rtlCol="0" anchor="ctr"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anose="020B0602030504020204" pitchFamily="34" charset="0"/>
                <a:ea typeface="黑体" panose="0201060906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anose="020B0602030504020204" pitchFamily="34" charset="0"/>
                <a:ea typeface="黑体" panose="0201060906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anose="020B0602030504020204" pitchFamily="34" charset="0"/>
                <a:ea typeface="黑体" panose="0201060906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anose="020B0602030504020204" pitchFamily="34" charset="0"/>
                <a:ea typeface="黑体" panose="0201060906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anose="020B0602030504020204" pitchFamily="34" charset="0"/>
                <a:ea typeface="黑体" panose="0201060906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anose="020B0602030504020204" pitchFamily="34" charset="0"/>
                <a:ea typeface="黑体" panose="0201060906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anose="020B0602030504020204" pitchFamily="34" charset="0"/>
                <a:ea typeface="黑体" panose="0201060906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anose="020B0602030504020204" pitchFamily="34" charset="0"/>
                <a:ea typeface="黑体" panose="02010609060101010101" pitchFamily="2" charset="-122"/>
              </a:defRPr>
            </a:lvl9pPr>
          </a:lstStyle>
          <a:p>
            <a:pPr algn="ctr" eaLnBrk="1" fontAlgn="auto" hangingPunct="1">
              <a:spcAft>
                <a:spcPts val="0"/>
              </a:spcAft>
              <a:defRPr/>
            </a:pPr>
            <a:r>
              <a:rPr lang="zh-CN" altLang="en-US" sz="2400" u="sng" dirty="0" smtClean="0">
                <a:solidFill>
                  <a:srgbClr val="FF0000"/>
                </a:solidFill>
              </a:rPr>
              <a:t>成绩：实验</a:t>
            </a:r>
            <a:r>
              <a:rPr lang="en-US" altLang="zh-CN" sz="2400" u="sng" dirty="0" smtClean="0">
                <a:solidFill>
                  <a:srgbClr val="FF0000"/>
                </a:solidFill>
              </a:rPr>
              <a:t>30%+</a:t>
            </a:r>
            <a:r>
              <a:rPr lang="zh-CN" altLang="en-US" sz="2400" u="sng" dirty="0" smtClean="0">
                <a:solidFill>
                  <a:srgbClr val="FF0000"/>
                </a:solidFill>
              </a:rPr>
              <a:t>作业</a:t>
            </a:r>
            <a:r>
              <a:rPr lang="en-US" altLang="zh-CN" sz="2400" u="sng" dirty="0" smtClean="0">
                <a:solidFill>
                  <a:srgbClr val="FF0000"/>
                </a:solidFill>
              </a:rPr>
              <a:t>10%+</a:t>
            </a:r>
            <a:r>
              <a:rPr lang="zh-CN" altLang="en-US" sz="2400" u="sng" dirty="0" smtClean="0">
                <a:solidFill>
                  <a:srgbClr val="FF0000"/>
                </a:solidFill>
              </a:rPr>
              <a:t>机考</a:t>
            </a:r>
            <a:r>
              <a:rPr lang="en-US" altLang="zh-CN" sz="2400" u="sng" dirty="0" smtClean="0">
                <a:solidFill>
                  <a:srgbClr val="FF0000"/>
                </a:solidFill>
              </a:rPr>
              <a:t>20%+</a:t>
            </a:r>
            <a:r>
              <a:rPr lang="zh-CN" altLang="en-US" sz="2400" u="sng" dirty="0" smtClean="0">
                <a:solidFill>
                  <a:srgbClr val="FF0000"/>
                </a:solidFill>
              </a:rPr>
              <a:t>笔试</a:t>
            </a:r>
            <a:r>
              <a:rPr lang="en-US" altLang="zh-CN" sz="2400" u="sng" dirty="0" smtClean="0">
                <a:solidFill>
                  <a:srgbClr val="FF0000"/>
                </a:solidFill>
              </a:rPr>
              <a:t>40%</a:t>
            </a:r>
            <a:endParaRPr lang="en-US" altLang="zh-CN" sz="2400" u="sng" dirty="0" smtClean="0">
              <a:solidFill>
                <a:srgbClr val="FF0000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0" y="838200"/>
            <a:ext cx="3651885" cy="4601210"/>
          </a:xfrm>
          <a:prstGeom prst="rect">
            <a:avLst/>
          </a:prstGeom>
        </p:spPr>
      </p:pic>
      <p:sp>
        <p:nvSpPr>
          <p:cNvPr id="11" name="右大括号 10"/>
          <p:cNvSpPr/>
          <p:nvPr/>
        </p:nvSpPr>
        <p:spPr>
          <a:xfrm>
            <a:off x="3359150" y="3425825"/>
            <a:ext cx="504190" cy="594995"/>
          </a:xfrm>
          <a:prstGeom prst="rightBrace">
            <a:avLst/>
          </a:prstGeom>
          <a:ln w="28575" cmpd="sng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树</a:t>
            </a:r>
            <a:endParaRPr lang="zh-CN" altLang="en-US" sz="2000" b="1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2" name="右大括号 11"/>
          <p:cNvSpPr/>
          <p:nvPr/>
        </p:nvSpPr>
        <p:spPr>
          <a:xfrm>
            <a:off x="3647440" y="4076700"/>
            <a:ext cx="504190" cy="473075"/>
          </a:xfrm>
          <a:prstGeom prst="rightBrace">
            <a:avLst/>
          </a:prstGeom>
          <a:ln w="28575" cmpd="sng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图</a:t>
            </a:r>
            <a:endParaRPr lang="zh-CN" altLang="en-US" sz="2000" b="1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" name="直接连接符 23" hidden="1"/>
          <p:cNvSpPr>
            <a:spLocks noChangeShapeType="1"/>
          </p:cNvSpPr>
          <p:nvPr/>
        </p:nvSpPr>
        <p:spPr bwMode="auto">
          <a:xfrm>
            <a:off x="3181350" y="431800"/>
            <a:ext cx="0" cy="525463"/>
          </a:xfrm>
          <a:prstGeom prst="line">
            <a:avLst/>
          </a:prstGeom>
          <a:noFill/>
          <a:ln w="12700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椭圆 24"/>
          <p:cNvSpPr>
            <a:spLocks noChangeArrowheads="1"/>
          </p:cNvSpPr>
          <p:nvPr/>
        </p:nvSpPr>
        <p:spPr bwMode="auto">
          <a:xfrm>
            <a:off x="3662667" y="280019"/>
            <a:ext cx="549275" cy="549275"/>
          </a:xfrm>
          <a:prstGeom prst="ellipse">
            <a:avLst/>
          </a:prstGeom>
          <a:pattFill prst="sphere">
            <a:fgClr>
              <a:srgbClr val="4F81BD"/>
            </a:fgClr>
            <a:bgClr>
              <a:srgbClr val="FFFFFF"/>
            </a:bgClr>
          </a:pattFill>
          <a:ln w="9525" cap="flat" cmpd="sng">
            <a:solidFill>
              <a:srgbClr val="4DB8DD"/>
            </a:solidFill>
            <a:bevel/>
          </a:ln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33" name="直接连接符 23"/>
          <p:cNvSpPr>
            <a:spLocks noChangeShapeType="1"/>
          </p:cNvSpPr>
          <p:nvPr/>
        </p:nvSpPr>
        <p:spPr bwMode="auto">
          <a:xfrm>
            <a:off x="4238612" y="927719"/>
            <a:ext cx="3583940" cy="635"/>
          </a:xfrm>
          <a:prstGeom prst="line">
            <a:avLst/>
          </a:prstGeom>
          <a:noFill/>
          <a:ln w="19050" cap="flat" cmpd="sng">
            <a:solidFill>
              <a:schemeClr val="accent1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Rectangle 3"/>
          <p:cNvSpPr txBox="1">
            <a:spLocks noChangeArrowheads="1"/>
          </p:cNvSpPr>
          <p:nvPr/>
        </p:nvSpPr>
        <p:spPr>
          <a:xfrm>
            <a:off x="3469640" y="1268730"/>
            <a:ext cx="6001385" cy="4664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altLang="en-US" sz="3200" b="1" dirty="0">
                <a:latin typeface="宋体" panose="02010600030101010101" pitchFamily="2" charset="-122"/>
                <a:sym typeface="+mn-ea"/>
              </a:rPr>
              <a:t>线性表的类型定义</a:t>
            </a:r>
            <a:endParaRPr lang="zh-CN" altLang="en-US" sz="3200" b="1" dirty="0">
              <a:latin typeface="宋体" panose="02010600030101010101" pitchFamily="2" charset="-122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altLang="en-US" sz="3200" b="1" dirty="0">
                <a:latin typeface="宋体" panose="02010600030101010101" pitchFamily="2" charset="-122"/>
                <a:sym typeface="+mn-ea"/>
              </a:rPr>
              <a:t>线性表的顺序表示和实现</a:t>
            </a:r>
            <a:endParaRPr lang="zh-CN" altLang="en-US" sz="3200" b="1" dirty="0">
              <a:latin typeface="宋体" panose="02010600030101010101" pitchFamily="2" charset="-122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altLang="en-US" sz="3200" b="1" dirty="0">
                <a:latin typeface="宋体" panose="02010600030101010101" pitchFamily="2" charset="-122"/>
                <a:sym typeface="+mn-ea"/>
              </a:rPr>
              <a:t>线性表的链式表示和实现</a:t>
            </a:r>
            <a:endParaRPr lang="zh-CN" altLang="en-US" sz="3200" b="1" dirty="0">
              <a:latin typeface="宋体" panose="02010600030101010101" pitchFamily="2" charset="-122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altLang="en-US" sz="3200" b="1" dirty="0">
                <a:latin typeface="宋体" panose="02010600030101010101" pitchFamily="2" charset="-122"/>
                <a:sym typeface="+mn-ea"/>
              </a:rPr>
              <a:t>一元多项式的表示和实现</a:t>
            </a:r>
            <a:endParaRPr lang="zh-CN" altLang="en-US" sz="3200" b="1" dirty="0">
              <a:latin typeface="宋体" panose="02010600030101010101" pitchFamily="2" charset="-122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endParaRPr lang="zh-CN" altLang="en-US" sz="3200" b="1" dirty="0">
              <a:latin typeface="楷体" panose="02010609060101010101" charset="-122"/>
              <a:ea typeface="楷体" panose="02010609060101010101" charset="-122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endParaRPr kumimoji="0" lang="zh-CN" altLang="en-US" sz="3200" b="0" i="0" u="none" strike="noStrike" kern="1200" cap="none" spc="0" normalizeH="0" baseline="0" noProof="0" dirty="0" err="1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charset="-122"/>
              <a:ea typeface="楷体" panose="02010609060101010101" charset="-122"/>
              <a:cs typeface="+mn-cs"/>
            </a:endParaRPr>
          </a:p>
          <a:p>
            <a:pPr marL="1028700" marR="0" lvl="1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charset="0"/>
              <a:buChar char="Ø"/>
              <a:defRPr/>
            </a:pPr>
            <a:endParaRPr kumimoji="0" lang="zh-CN" altLang="en-US" sz="3200" b="0" i="0" u="none" strike="noStrike" kern="1200" cap="none" spc="0" normalizeH="0" baseline="0" noProof="0" dirty="0" err="1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charset="-122"/>
              <a:ea typeface="楷体" panose="02010609060101010101" charset="-122"/>
              <a:cs typeface="+mn-cs"/>
              <a:sym typeface="+mn-l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4088130" y="1252220"/>
            <a:ext cx="3408680" cy="530860"/>
          </a:xfrm>
          <a:prstGeom prst="rect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46" name="Text Box 2"/>
          <p:cNvSpPr txBox="1"/>
          <p:nvPr/>
        </p:nvSpPr>
        <p:spPr>
          <a:xfrm>
            <a:off x="4007168" y="188278"/>
            <a:ext cx="3960812" cy="7683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/>
            <a:r>
              <a:rPr lang="zh-CN" altLang="en-US" sz="4400" b="1" dirty="0">
                <a:solidFill>
                  <a:srgbClr val="0000CC"/>
                </a:solidFill>
                <a:latin typeface="宋体" panose="02010600030101010101" pitchFamily="2" charset="-122"/>
              </a:rPr>
              <a:t>第二章	线性表</a:t>
            </a:r>
            <a:endParaRPr lang="zh-CN" altLang="en-US" sz="4400" b="1" dirty="0">
              <a:solidFill>
                <a:srgbClr val="0000CC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algn="l" eaLnBrk="1" hangingPunct="1">
              <a:buClrTx/>
              <a:buSzTx/>
              <a:buChar char="l"/>
            </a:pPr>
            <a:r>
              <a:rPr lang="zh-CN" altLang="en-US" dirty="0">
                <a:latin typeface="宋体" panose="02010600030101010101" pitchFamily="2" charset="-122"/>
                <a:sym typeface="+mn-ea"/>
              </a:rPr>
              <a:t>线性表概念：</a:t>
            </a:r>
            <a:r>
              <a:rPr lang="zh-CN" altLang="en-US" sz="2800" dirty="0">
                <a:latin typeface="黑体" panose="02010609060101010101" pitchFamily="2" charset="-122"/>
                <a:sym typeface="+mn-ea"/>
              </a:rPr>
              <a:t>线性表是n个数据元素的有限序列</a:t>
            </a:r>
            <a:endParaRPr lang="zh-CN" altLang="en-US" sz="2800" dirty="0">
              <a:latin typeface="黑体" panose="02010609060101010101" pitchFamily="2" charset="-122"/>
              <a:sym typeface="+mn-ea"/>
            </a:endParaRPr>
          </a:p>
          <a:p>
            <a:pPr marL="609600" lvl="1" indent="0" algn="l" eaLnBrk="1" hangingPunct="1">
              <a:buClrTx/>
              <a:buSzTx/>
              <a:buNone/>
            </a:pP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(a</a:t>
            </a:r>
            <a:r>
              <a:rPr lang="en-US" altLang="zh-CN" sz="2800" baseline="-25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1</a:t>
            </a: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, a</a:t>
            </a:r>
            <a:r>
              <a:rPr lang="en-US" altLang="zh-CN" sz="2800" baseline="-25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2</a:t>
            </a: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,</a:t>
            </a:r>
            <a:r>
              <a:rPr lang="en-US" altLang="zh-CN" sz="2800" dirty="0">
                <a:ea typeface="黑体" panose="02010609060101010101" pitchFamily="2" charset="-122"/>
                <a:sym typeface="+mn-ea"/>
              </a:rPr>
              <a:t>…</a:t>
            </a: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a</a:t>
            </a:r>
            <a:r>
              <a:rPr lang="en-US" altLang="zh-CN" sz="2800" baseline="-25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i-1</a:t>
            </a: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, a</a:t>
            </a:r>
            <a:r>
              <a:rPr lang="en-US" altLang="zh-CN" sz="2800" baseline="-25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i</a:t>
            </a: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, a</a:t>
            </a:r>
            <a:r>
              <a:rPr lang="en-US" altLang="zh-CN" sz="2800" baseline="-25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i+1</a:t>
            </a: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,</a:t>
            </a:r>
            <a:r>
              <a:rPr lang="en-US" altLang="zh-CN" sz="2800" dirty="0">
                <a:ea typeface="黑体" panose="02010609060101010101" pitchFamily="2" charset="-122"/>
                <a:sym typeface="+mn-ea"/>
              </a:rPr>
              <a:t>…</a:t>
            </a: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a</a:t>
            </a:r>
            <a:r>
              <a:rPr lang="en-US" altLang="zh-CN" sz="2800" baseline="-25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n-1</a:t>
            </a: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, a</a:t>
            </a:r>
            <a:r>
              <a:rPr lang="en-US" altLang="zh-CN" sz="2800" baseline="-25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n</a:t>
            </a: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)</a:t>
            </a:r>
            <a:endParaRPr lang="en-US" altLang="zh-CN" sz="2800" dirty="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  <a:p>
            <a:pPr marL="609600" lvl="1" indent="0" algn="l" eaLnBrk="1" hangingPunct="1">
              <a:buClrTx/>
              <a:buSzTx/>
              <a:buNone/>
            </a:pP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	</a:t>
            </a: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其中</a:t>
            </a: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,a</a:t>
            </a:r>
            <a:r>
              <a:rPr lang="en-US" altLang="zh-CN" sz="2800" baseline="-25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i</a:t>
            </a:r>
            <a:r>
              <a:rPr lang="zh-CN" altLang="zh-CN" sz="28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是表中元素</a:t>
            </a: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,i</a:t>
            </a: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表示元素</a:t>
            </a: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a</a:t>
            </a:r>
            <a:r>
              <a:rPr lang="en-US" altLang="zh-CN" sz="2800" baseline="-25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i</a:t>
            </a: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的位置</a:t>
            </a: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,n</a:t>
            </a:r>
            <a:r>
              <a:rPr lang="zh-CN" altLang="zh-CN" sz="28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是表长</a:t>
            </a:r>
            <a:endParaRPr lang="zh-CN" altLang="en-US" sz="2800" b="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0" indent="0" algn="l" eaLnBrk="1" hangingPunct="1">
              <a:buClrTx/>
              <a:buSzTx/>
              <a:buNone/>
            </a:pPr>
            <a:endParaRPr lang="zh-CN" altLang="en-US" sz="2800" dirty="0">
              <a:latin typeface="黑体" panose="02010609060101010101" pitchFamily="2" charset="-122"/>
            </a:endParaRPr>
          </a:p>
          <a:p>
            <a:pPr algn="l" eaLnBrk="1" hangingPunct="1">
              <a:buClrTx/>
              <a:buSzTx/>
              <a:buChar char="l"/>
            </a:pPr>
            <a:r>
              <a:rPr lang="zh-CN" altLang="en-US" sz="2800" dirty="0">
                <a:latin typeface="黑体" panose="02010609060101010101" pitchFamily="2" charset="-122"/>
                <a:sym typeface="+mn-ea"/>
              </a:rPr>
              <a:t>线性数据结构的特点</a:t>
            </a:r>
            <a:endParaRPr lang="zh-CN" altLang="en-US" sz="2800" dirty="0">
              <a:latin typeface="黑体" panose="02010609060101010101" pitchFamily="2" charset="-122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同一性，同一个线性表的数据属同一类数据对象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顺序性，数据之间存在序偶关系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  <a:p>
            <a:pPr lvl="1" algn="l">
              <a:buClrTx/>
              <a:buSzTx/>
              <a:buChar char="•"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2.1 线性表的类型定义</a:t>
            </a:r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algn="l" eaLnBrk="1" hangingPunct="1">
              <a:buClrTx/>
              <a:buSzTx/>
              <a:buChar char="l"/>
            </a:pPr>
            <a:r>
              <a:rPr lang="zh-CN" altLang="en-US" sz="2800" dirty="0">
                <a:latin typeface="黑体" panose="02010609060101010101" pitchFamily="2" charset="-122"/>
                <a:sym typeface="+mn-ea"/>
              </a:rPr>
              <a:t>数据同一性</a:t>
            </a:r>
            <a:endParaRPr lang="zh-CN" altLang="en-US" sz="2800" dirty="0">
              <a:latin typeface="黑体" panose="02010609060101010101" pitchFamily="2" charset="-122"/>
            </a:endParaRPr>
          </a:p>
          <a:p>
            <a:pPr lvl="1" algn="l" eaLnBrk="1" hangingPunct="1">
              <a:buClrTx/>
              <a:buSzTx/>
              <a:buChar char="–"/>
            </a:pPr>
            <a:r>
              <a:rPr lang="zh-CN" altLang="en-US" sz="2400">
                <a:cs typeface="+mn-cs"/>
                <a:sym typeface="+mn-ea"/>
              </a:rPr>
              <a:t>线性表中的元素具有相同的特性，属于同一数据对象，如：</a:t>
            </a:r>
            <a:endParaRPr lang="zh-CN" altLang="en-US" sz="2400" b="0">
              <a:cs typeface="+mn-cs"/>
            </a:endParaRPr>
          </a:p>
          <a:p>
            <a:pPr marL="609600" lvl="1" indent="0" algn="l" eaLnBrk="1" hangingPunct="1">
              <a:buClrTx/>
              <a:buSzTx/>
              <a:buNone/>
            </a:pPr>
            <a:r>
              <a:rPr lang="zh-CN" altLang="en-US" sz="2400">
                <a:cs typeface="+mn-cs"/>
                <a:sym typeface="+mn-ea"/>
              </a:rPr>
              <a:t>26个字母的字母表</a:t>
            </a:r>
            <a:r>
              <a:rPr lang="zh-CN" altLang="en-US" sz="2400">
                <a:cs typeface="+mn-cs"/>
                <a:sym typeface="Wingdings" panose="05000000000000000000" pitchFamily="2" charset="2"/>
              </a:rPr>
              <a:t>: (A,B,C,D,…,Z)</a:t>
            </a:r>
            <a:endParaRPr lang="zh-CN" altLang="en-US" sz="2400" b="0">
              <a:cs typeface="+mn-cs"/>
              <a:sym typeface="Wingdings" panose="05000000000000000000" pitchFamily="2" charset="2"/>
            </a:endParaRPr>
          </a:p>
          <a:p>
            <a:pPr marL="609600" lvl="1" indent="0" algn="l" eaLnBrk="1" hangingPunct="1">
              <a:buClrTx/>
              <a:buSzTx/>
              <a:buNone/>
            </a:pPr>
            <a:r>
              <a:rPr lang="zh-CN" altLang="en-US" sz="2400">
                <a:cs typeface="+mn-cs"/>
                <a:sym typeface="Wingdings" panose="05000000000000000000" pitchFamily="2" charset="2"/>
              </a:rPr>
              <a:t>近期每天的平均温度:(30℃, 28℃, 29℃,…)</a:t>
            </a:r>
            <a:endParaRPr lang="zh-CN" altLang="en-US" sz="2400">
              <a:cs typeface="+mn-cs"/>
            </a:endParaRPr>
          </a:p>
          <a:p>
            <a:pPr marL="609600" lvl="1" indent="0" algn="l" eaLnBrk="1" hangingPunct="1">
              <a:buClrTx/>
              <a:buSzTx/>
              <a:buNone/>
            </a:pPr>
            <a:endParaRPr lang="en-US" altLang="zh-CN" sz="2800" dirty="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  <a:p>
            <a:pPr marL="609600" lvl="1" indent="0" algn="l" eaLnBrk="1" hangingPunct="1">
              <a:buClrTx/>
              <a:buSzTx/>
              <a:buNone/>
            </a:pP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(a</a:t>
            </a:r>
            <a:r>
              <a:rPr lang="en-US" altLang="zh-CN" sz="2800" baseline="-25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1</a:t>
            </a: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, a</a:t>
            </a:r>
            <a:r>
              <a:rPr lang="en-US" altLang="zh-CN" sz="2800" baseline="-25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2</a:t>
            </a: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,</a:t>
            </a:r>
            <a:r>
              <a:rPr lang="en-US" altLang="zh-CN" sz="2800" dirty="0">
                <a:ea typeface="黑体" panose="02010609060101010101" pitchFamily="2" charset="-122"/>
                <a:sym typeface="+mn-ea"/>
              </a:rPr>
              <a:t>…</a:t>
            </a: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a</a:t>
            </a:r>
            <a:r>
              <a:rPr lang="en-US" altLang="zh-CN" sz="2800" baseline="-25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i-1</a:t>
            </a: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, a</a:t>
            </a:r>
            <a:r>
              <a:rPr lang="en-US" altLang="zh-CN" sz="2800" baseline="-25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i</a:t>
            </a: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, a</a:t>
            </a:r>
            <a:r>
              <a:rPr lang="en-US" altLang="zh-CN" sz="2800" baseline="-25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i+1</a:t>
            </a: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,</a:t>
            </a:r>
            <a:r>
              <a:rPr lang="en-US" altLang="zh-CN" sz="2800" dirty="0">
                <a:ea typeface="黑体" panose="02010609060101010101" pitchFamily="2" charset="-122"/>
                <a:sym typeface="+mn-ea"/>
              </a:rPr>
              <a:t>…</a:t>
            </a: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a</a:t>
            </a:r>
            <a:r>
              <a:rPr lang="en-US" altLang="zh-CN" sz="2800" baseline="-25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n-1</a:t>
            </a: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, a</a:t>
            </a:r>
            <a:r>
              <a:rPr lang="en-US" altLang="zh-CN" sz="2800" baseline="-25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n</a:t>
            </a: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)</a:t>
            </a:r>
            <a:endParaRPr lang="en-US" altLang="zh-CN" sz="2800" dirty="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  <a:p>
            <a:pPr marL="609600" lvl="1" indent="0" algn="l" eaLnBrk="1" hangingPunct="1">
              <a:buClrTx/>
              <a:buSzTx/>
              <a:buNone/>
            </a:pP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	</a:t>
            </a: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其中</a:t>
            </a: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,a</a:t>
            </a:r>
            <a:r>
              <a:rPr lang="en-US" altLang="zh-CN" sz="2800" baseline="-25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i</a:t>
            </a:r>
            <a:r>
              <a:rPr lang="zh-CN" altLang="zh-CN" sz="28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是表中元素</a:t>
            </a: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,i</a:t>
            </a: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表示元素</a:t>
            </a: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a</a:t>
            </a:r>
            <a:r>
              <a:rPr lang="en-US" altLang="zh-CN" sz="2800" baseline="-25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i</a:t>
            </a: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的位置</a:t>
            </a: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,n</a:t>
            </a:r>
            <a:r>
              <a:rPr lang="zh-CN" altLang="zh-CN" sz="28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是表长</a:t>
            </a:r>
            <a:endParaRPr lang="zh-CN" altLang="en-US" sz="2800" b="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endParaRPr lang="zh-CN" altLang="en-US" dirty="0">
              <a:latin typeface="黑体" panose="02010609060101010101" pitchFamily="2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2.1 线性表的类型定义</a:t>
            </a:r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algn="l" eaLnBrk="1" hangingPunct="1">
              <a:buClrTx/>
              <a:buSzTx/>
              <a:buChar char="l"/>
            </a:pPr>
            <a:r>
              <a:rPr lang="zh-CN" altLang="en-US" sz="2800" dirty="0">
                <a:latin typeface="黑体" panose="02010609060101010101" pitchFamily="2" charset="-122"/>
                <a:sym typeface="+mn-ea"/>
              </a:rPr>
              <a:t>数据顺序性</a:t>
            </a:r>
            <a:endParaRPr lang="zh-CN" altLang="en-US" sz="2400" dirty="0">
              <a:latin typeface="宋体" panose="02010600030101010101" pitchFamily="2" charset="-122"/>
            </a:endParaRPr>
          </a:p>
          <a:p>
            <a:pPr lvl="1" algn="l" eaLnBrk="1" hangingPunct="1">
              <a:buClrTx/>
              <a:buSzTx/>
              <a:buChar char="–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除第一个元素外，每个数据元素均只有一个直接前驱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–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除最后一个元素外，每个数据元素均只有一个直接后继(next)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  <a:p>
            <a:pPr lvl="1" algn="l" eaLnBrk="1" hangingPunct="1">
              <a:buClrTx/>
              <a:buSzTx/>
              <a:buChar char="–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没有直接前驱的元素即第一个数据元素</a:t>
            </a:r>
            <a:endParaRPr lang="zh-CN" altLang="en-US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–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没有直接后继的元素即最后一个元素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>
              <a:buClrTx/>
              <a:buSzTx/>
            </a:pPr>
            <a:endParaRPr lang="zh-CN" altLang="en-US">
              <a:cs typeface="+mn-cs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2.1 线性表的类型定义</a:t>
            </a:r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  <p:grpSp>
        <p:nvGrpSpPr>
          <p:cNvPr id="9220" name="Group 4"/>
          <p:cNvGrpSpPr/>
          <p:nvPr/>
        </p:nvGrpSpPr>
        <p:grpSpPr>
          <a:xfrm>
            <a:off x="3863975" y="4437063"/>
            <a:ext cx="3887788" cy="533400"/>
            <a:chOff x="2640" y="2207"/>
            <a:chExt cx="3129" cy="289"/>
          </a:xfrm>
        </p:grpSpPr>
        <p:sp>
          <p:nvSpPr>
            <p:cNvPr id="9221" name="Oval 5"/>
            <p:cNvSpPr/>
            <p:nvPr/>
          </p:nvSpPr>
          <p:spPr>
            <a:xfrm>
              <a:off x="2640" y="2227"/>
              <a:ext cx="288" cy="269"/>
            </a:xfrm>
            <a:prstGeom prst="ellipse">
              <a:avLst/>
            </a:prstGeom>
            <a:solidFill>
              <a:schemeClr val="accent1"/>
            </a:solidFill>
            <a:ln w="28575" cap="flat" cmpd="sng">
              <a:solidFill>
                <a:srgbClr val="0000CC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lIns="0" tIns="0" rIns="0" bIns="0" anchor="ctr" anchorCtr="0"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222" name="Oval 6"/>
            <p:cNvSpPr/>
            <p:nvPr/>
          </p:nvSpPr>
          <p:spPr>
            <a:xfrm>
              <a:off x="3214" y="2221"/>
              <a:ext cx="287" cy="269"/>
            </a:xfrm>
            <a:prstGeom prst="ellipse">
              <a:avLst/>
            </a:prstGeom>
            <a:solidFill>
              <a:schemeClr val="accent1"/>
            </a:solidFill>
            <a:ln w="28575" cap="flat" cmpd="sng">
              <a:solidFill>
                <a:srgbClr val="0000CC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lIns="0" tIns="0" rIns="0" bIns="0" anchor="ctr" anchorCtr="0"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223" name="Line 7"/>
            <p:cNvSpPr/>
            <p:nvPr/>
          </p:nvSpPr>
          <p:spPr>
            <a:xfrm>
              <a:off x="2930" y="2359"/>
              <a:ext cx="284" cy="0"/>
            </a:xfrm>
            <a:prstGeom prst="line">
              <a:avLst/>
            </a:prstGeom>
            <a:ln w="28575" cap="flat" cmpd="sng">
              <a:solidFill>
                <a:srgbClr val="0000CC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224" name="Line 8"/>
            <p:cNvSpPr/>
            <p:nvPr/>
          </p:nvSpPr>
          <p:spPr>
            <a:xfrm>
              <a:off x="3501" y="2359"/>
              <a:ext cx="283" cy="0"/>
            </a:xfrm>
            <a:prstGeom prst="line">
              <a:avLst/>
            </a:prstGeom>
            <a:ln w="28575" cap="flat" cmpd="sng">
              <a:solidFill>
                <a:srgbClr val="0000CC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225" name="Oval 9"/>
            <p:cNvSpPr/>
            <p:nvPr/>
          </p:nvSpPr>
          <p:spPr>
            <a:xfrm>
              <a:off x="3784" y="2221"/>
              <a:ext cx="288" cy="269"/>
            </a:xfrm>
            <a:prstGeom prst="ellipse">
              <a:avLst/>
            </a:prstGeom>
            <a:solidFill>
              <a:schemeClr val="accent1"/>
            </a:solidFill>
            <a:ln w="28575" cap="flat" cmpd="sng">
              <a:solidFill>
                <a:srgbClr val="0000CC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lIns="0" tIns="0" rIns="0" bIns="0" anchor="ctr" anchorCtr="0"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226" name="Line 10"/>
            <p:cNvSpPr/>
            <p:nvPr/>
          </p:nvSpPr>
          <p:spPr>
            <a:xfrm>
              <a:off x="4072" y="2359"/>
              <a:ext cx="282" cy="0"/>
            </a:xfrm>
            <a:prstGeom prst="line">
              <a:avLst/>
            </a:prstGeom>
            <a:ln w="28575" cap="flat" cmpd="sng">
              <a:solidFill>
                <a:srgbClr val="0000CC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227" name="Oval 11"/>
            <p:cNvSpPr/>
            <p:nvPr/>
          </p:nvSpPr>
          <p:spPr>
            <a:xfrm>
              <a:off x="4344" y="2221"/>
              <a:ext cx="288" cy="269"/>
            </a:xfrm>
            <a:prstGeom prst="ellipse">
              <a:avLst/>
            </a:prstGeom>
            <a:solidFill>
              <a:schemeClr val="accent1"/>
            </a:solidFill>
            <a:ln w="28575" cap="flat" cmpd="sng">
              <a:solidFill>
                <a:srgbClr val="0000CC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lIns="0" tIns="0" rIns="0" bIns="0" anchor="ctr" anchorCtr="0"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228" name="Line 12"/>
            <p:cNvSpPr/>
            <p:nvPr/>
          </p:nvSpPr>
          <p:spPr>
            <a:xfrm>
              <a:off x="4632" y="2353"/>
              <a:ext cx="282" cy="0"/>
            </a:xfrm>
            <a:prstGeom prst="line">
              <a:avLst/>
            </a:prstGeom>
            <a:ln w="28575" cap="flat" cmpd="sng">
              <a:solidFill>
                <a:srgbClr val="0000CC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229" name="Oval 13"/>
            <p:cNvSpPr/>
            <p:nvPr/>
          </p:nvSpPr>
          <p:spPr>
            <a:xfrm>
              <a:off x="4914" y="2208"/>
              <a:ext cx="288" cy="269"/>
            </a:xfrm>
            <a:prstGeom prst="ellipse">
              <a:avLst/>
            </a:prstGeom>
            <a:solidFill>
              <a:schemeClr val="accent1"/>
            </a:solidFill>
            <a:ln w="28575" cap="flat" cmpd="sng">
              <a:solidFill>
                <a:srgbClr val="0000CC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lIns="0" tIns="0" rIns="0" bIns="0" anchor="ctr" anchorCtr="0"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230" name="Text Box 14"/>
            <p:cNvSpPr txBox="1"/>
            <p:nvPr/>
          </p:nvSpPr>
          <p:spPr>
            <a:xfrm>
              <a:off x="2712" y="2258"/>
              <a:ext cx="102" cy="1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>
                <a:lnSpc>
                  <a:spcPct val="90000"/>
                </a:lnSpc>
              </a:pPr>
              <a:r>
                <a:rPr lang="en-US" altLang="zh-CN" sz="2000" b="1" dirty="0">
                  <a:solidFill>
                    <a:srgbClr val="CC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1</a:t>
              </a:r>
              <a:endParaRPr lang="en-US" altLang="zh-CN" sz="20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9231" name="Text Box 15"/>
            <p:cNvSpPr txBox="1"/>
            <p:nvPr/>
          </p:nvSpPr>
          <p:spPr>
            <a:xfrm>
              <a:off x="3317" y="2254"/>
              <a:ext cx="152" cy="15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 anchorCtr="0">
              <a:spAutoFit/>
            </a:bodyPr>
            <a:p>
              <a:pPr>
                <a:lnSpc>
                  <a:spcPct val="90000"/>
                </a:lnSpc>
              </a:pPr>
              <a:r>
                <a:rPr lang="en-US" altLang="zh-CN" sz="2000" b="1" dirty="0">
                  <a:solidFill>
                    <a:srgbClr val="CC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2</a:t>
              </a:r>
              <a:endParaRPr lang="en-US" altLang="zh-CN" sz="20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9232" name="Text Box 16"/>
            <p:cNvSpPr txBox="1"/>
            <p:nvPr/>
          </p:nvSpPr>
          <p:spPr>
            <a:xfrm>
              <a:off x="3890" y="2255"/>
              <a:ext cx="102" cy="1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>
                <a:lnSpc>
                  <a:spcPct val="90000"/>
                </a:lnSpc>
              </a:pPr>
              <a:r>
                <a:rPr lang="en-US" altLang="zh-CN" sz="2000" b="1" dirty="0">
                  <a:solidFill>
                    <a:srgbClr val="CC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3</a:t>
              </a:r>
              <a:endParaRPr lang="en-US" altLang="zh-CN" sz="20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9233" name="Text Box 17"/>
            <p:cNvSpPr txBox="1"/>
            <p:nvPr/>
          </p:nvSpPr>
          <p:spPr>
            <a:xfrm>
              <a:off x="4433" y="2258"/>
              <a:ext cx="102" cy="1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>
                <a:lnSpc>
                  <a:spcPct val="90000"/>
                </a:lnSpc>
              </a:pPr>
              <a:r>
                <a:rPr lang="en-US" altLang="zh-CN" sz="2000" b="1" dirty="0">
                  <a:solidFill>
                    <a:srgbClr val="CC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4</a:t>
              </a:r>
              <a:endParaRPr lang="en-US" altLang="zh-CN" sz="20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9234" name="Text Box 18"/>
            <p:cNvSpPr txBox="1"/>
            <p:nvPr/>
          </p:nvSpPr>
          <p:spPr>
            <a:xfrm>
              <a:off x="5016" y="2248"/>
              <a:ext cx="102" cy="1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>
                <a:lnSpc>
                  <a:spcPct val="90000"/>
                </a:lnSpc>
              </a:pPr>
              <a:r>
                <a:rPr lang="en-US" altLang="zh-CN" sz="2000" b="1" dirty="0">
                  <a:solidFill>
                    <a:srgbClr val="CC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5</a:t>
              </a:r>
              <a:endParaRPr lang="en-US" altLang="zh-CN" sz="20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9235" name="Line 19"/>
            <p:cNvSpPr/>
            <p:nvPr/>
          </p:nvSpPr>
          <p:spPr>
            <a:xfrm>
              <a:off x="5199" y="2352"/>
              <a:ext cx="282" cy="0"/>
            </a:xfrm>
            <a:prstGeom prst="line">
              <a:avLst/>
            </a:prstGeom>
            <a:ln w="28575" cap="flat" cmpd="sng">
              <a:solidFill>
                <a:srgbClr val="0000CC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236" name="Oval 20"/>
            <p:cNvSpPr/>
            <p:nvPr/>
          </p:nvSpPr>
          <p:spPr>
            <a:xfrm>
              <a:off x="5481" y="2207"/>
              <a:ext cx="288" cy="269"/>
            </a:xfrm>
            <a:prstGeom prst="ellipse">
              <a:avLst/>
            </a:prstGeom>
            <a:solidFill>
              <a:schemeClr val="accent1"/>
            </a:solidFill>
            <a:ln w="28575" cap="flat" cmpd="sng">
              <a:solidFill>
                <a:srgbClr val="0000CC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lIns="0" tIns="0" rIns="0" bIns="0" anchor="ctr" anchorCtr="0"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237" name="Text Box 21"/>
            <p:cNvSpPr txBox="1"/>
            <p:nvPr/>
          </p:nvSpPr>
          <p:spPr>
            <a:xfrm>
              <a:off x="5582" y="2246"/>
              <a:ext cx="102" cy="1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>
                <a:lnSpc>
                  <a:spcPct val="90000"/>
                </a:lnSpc>
              </a:pPr>
              <a:r>
                <a:rPr lang="en-US" altLang="zh-CN" sz="2000" b="1" dirty="0">
                  <a:solidFill>
                    <a:srgbClr val="CC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6</a:t>
              </a:r>
              <a:endParaRPr lang="en-US" altLang="zh-CN" sz="20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algn="l" eaLnBrk="1" hangingPunct="1">
              <a:lnSpc>
                <a:spcPct val="100000"/>
              </a:lnSpc>
              <a:buClrTx/>
              <a:buSzTx/>
            </a:pPr>
            <a:r>
              <a:rPr lang="zh-CN" altLang="en-US" dirty="0">
                <a:latin typeface="宋体" panose="02010600030101010101" pitchFamily="2" charset="-122"/>
                <a:sym typeface="+mn-ea"/>
              </a:rPr>
              <a:t>线性表的</a:t>
            </a:r>
            <a:r>
              <a:rPr lang="en-US" altLang="zh-CN" dirty="0">
                <a:latin typeface="宋体" panose="02010600030101010101" pitchFamily="2" charset="-122"/>
                <a:sym typeface="+mn-ea"/>
              </a:rPr>
              <a:t>ADT</a:t>
            </a:r>
            <a:r>
              <a:rPr lang="zh-CN" altLang="en-US" dirty="0">
                <a:latin typeface="宋体" panose="02010600030101010101" pitchFamily="2" charset="-122"/>
                <a:sym typeface="+mn-ea"/>
              </a:rPr>
              <a:t>定义</a:t>
            </a:r>
            <a:endParaRPr lang="zh-CN" altLang="en-US" dirty="0">
              <a:latin typeface="宋体" panose="02010600030101010101" pitchFamily="2" charset="-122"/>
              <a:sym typeface="+mn-ea"/>
            </a:endParaRPr>
          </a:p>
          <a:p>
            <a:pPr marL="0" indent="0" algn="l" eaLnBrk="1" hangingPunct="1">
              <a:lnSpc>
                <a:spcPct val="100000"/>
              </a:lnSpc>
              <a:buClrTx/>
              <a:buSzTx/>
              <a:buNone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ADT List{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hangingPunct="1">
              <a:lnSpc>
                <a:spcPct val="90000"/>
              </a:lnSpc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	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数据对象：数据元素同属一个集合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hangingPunct="1">
              <a:lnSpc>
                <a:spcPct val="90000"/>
              </a:lnSpc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	数据关系：序偶关系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hangingPunct="1">
              <a:lnSpc>
                <a:spcPct val="90000"/>
              </a:lnSpc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	基本操作：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hangingPunct="1">
              <a:lnSpc>
                <a:spcPct val="90000"/>
              </a:lnSpc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		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Init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创建、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Destroy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销毁、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hangingPunct="1">
              <a:lnSpc>
                <a:spcPct val="90000"/>
              </a:lnSpc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		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Clear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清空、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Empty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是否为空、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hangingPunct="1">
              <a:lnSpc>
                <a:spcPct val="90000"/>
              </a:lnSpc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		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Length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取表长度、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Get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取表元素、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Locate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查找元素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hangingPunct="1">
              <a:lnSpc>
                <a:spcPct val="90000"/>
              </a:lnSpc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		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Prior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取元素前驱、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Next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取元素后继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hangingPunct="1">
              <a:lnSpc>
                <a:spcPct val="90000"/>
              </a:lnSpc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		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Insert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插入元素、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Delete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删除元素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hangingPunct="1">
              <a:lnSpc>
                <a:spcPct val="90000"/>
              </a:lnSpc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		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Traverse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遍历表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hangingPunct="1">
              <a:lnSpc>
                <a:spcPct val="90000"/>
              </a:lnSpc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}</a:t>
            </a:r>
            <a:endParaRPr lang="en-US" altLang="zh-CN" sz="2400" b="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endParaRPr lang="en-US" altLang="zh-CN" sz="2400" b="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2.1 线性表的类型定义</a:t>
            </a:r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" name="直接连接符 23" hidden="1"/>
          <p:cNvSpPr>
            <a:spLocks noChangeShapeType="1"/>
          </p:cNvSpPr>
          <p:nvPr/>
        </p:nvSpPr>
        <p:spPr bwMode="auto">
          <a:xfrm>
            <a:off x="3181350" y="431800"/>
            <a:ext cx="0" cy="525463"/>
          </a:xfrm>
          <a:prstGeom prst="line">
            <a:avLst/>
          </a:prstGeom>
          <a:noFill/>
          <a:ln w="12700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椭圆 24"/>
          <p:cNvSpPr>
            <a:spLocks noChangeArrowheads="1"/>
          </p:cNvSpPr>
          <p:nvPr/>
        </p:nvSpPr>
        <p:spPr bwMode="auto">
          <a:xfrm>
            <a:off x="3662667" y="280019"/>
            <a:ext cx="549275" cy="549275"/>
          </a:xfrm>
          <a:prstGeom prst="ellipse">
            <a:avLst/>
          </a:prstGeom>
          <a:pattFill prst="sphere">
            <a:fgClr>
              <a:srgbClr val="4F81BD"/>
            </a:fgClr>
            <a:bgClr>
              <a:srgbClr val="FFFFFF"/>
            </a:bgClr>
          </a:pattFill>
          <a:ln w="9525" cap="flat" cmpd="sng">
            <a:solidFill>
              <a:srgbClr val="4DB8DD"/>
            </a:solidFill>
            <a:bevel/>
          </a:ln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33" name="直接连接符 23"/>
          <p:cNvSpPr>
            <a:spLocks noChangeShapeType="1"/>
          </p:cNvSpPr>
          <p:nvPr/>
        </p:nvSpPr>
        <p:spPr bwMode="auto">
          <a:xfrm>
            <a:off x="4238612" y="927719"/>
            <a:ext cx="3583940" cy="635"/>
          </a:xfrm>
          <a:prstGeom prst="line">
            <a:avLst/>
          </a:prstGeom>
          <a:noFill/>
          <a:ln w="19050" cap="flat" cmpd="sng">
            <a:solidFill>
              <a:schemeClr val="accent1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Rectangle 3"/>
          <p:cNvSpPr txBox="1">
            <a:spLocks noChangeArrowheads="1"/>
          </p:cNvSpPr>
          <p:nvPr/>
        </p:nvSpPr>
        <p:spPr>
          <a:xfrm>
            <a:off x="3469640" y="1268730"/>
            <a:ext cx="6001385" cy="4664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altLang="en-US" sz="3200" b="1" dirty="0">
                <a:latin typeface="宋体" panose="02010600030101010101" pitchFamily="2" charset="-122"/>
                <a:sym typeface="+mn-ea"/>
              </a:rPr>
              <a:t>线性表的类型定义</a:t>
            </a:r>
            <a:endParaRPr lang="zh-CN" altLang="en-US" sz="3200" b="1" dirty="0">
              <a:latin typeface="宋体" panose="02010600030101010101" pitchFamily="2" charset="-122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altLang="en-US" sz="3200" b="1" dirty="0">
                <a:latin typeface="宋体" panose="02010600030101010101" pitchFamily="2" charset="-122"/>
                <a:sym typeface="+mn-ea"/>
              </a:rPr>
              <a:t>线性表的顺序表示和实现</a:t>
            </a:r>
            <a:endParaRPr lang="zh-CN" altLang="en-US" sz="3200" b="1" dirty="0">
              <a:latin typeface="宋体" panose="02010600030101010101" pitchFamily="2" charset="-122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altLang="en-US" sz="3200" b="1" dirty="0">
                <a:latin typeface="宋体" panose="02010600030101010101" pitchFamily="2" charset="-122"/>
                <a:sym typeface="+mn-ea"/>
              </a:rPr>
              <a:t>线性表的链式表示和实现</a:t>
            </a:r>
            <a:endParaRPr lang="zh-CN" altLang="en-US" sz="3200" b="1" dirty="0">
              <a:latin typeface="宋体" panose="02010600030101010101" pitchFamily="2" charset="-122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altLang="en-US" sz="3200" b="1" dirty="0">
                <a:latin typeface="宋体" panose="02010600030101010101" pitchFamily="2" charset="-122"/>
                <a:sym typeface="+mn-ea"/>
              </a:rPr>
              <a:t>一元多项式的表示和实现</a:t>
            </a:r>
            <a:endParaRPr lang="zh-CN" altLang="en-US" sz="3200" b="1" dirty="0">
              <a:latin typeface="宋体" panose="02010600030101010101" pitchFamily="2" charset="-122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endParaRPr lang="zh-CN" altLang="en-US" sz="3200" b="1" dirty="0">
              <a:latin typeface="楷体" panose="02010609060101010101" charset="-122"/>
              <a:ea typeface="楷体" panose="02010609060101010101" charset="-122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endParaRPr kumimoji="0" lang="zh-CN" altLang="en-US" sz="3200" b="0" i="0" u="none" strike="noStrike" kern="1200" cap="none" spc="0" normalizeH="0" baseline="0" noProof="0" dirty="0" err="1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charset="-122"/>
              <a:ea typeface="楷体" panose="02010609060101010101" charset="-122"/>
              <a:cs typeface="+mn-cs"/>
            </a:endParaRPr>
          </a:p>
          <a:p>
            <a:pPr marL="1028700" marR="0" lvl="1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charset="0"/>
              <a:buChar char="Ø"/>
              <a:defRPr/>
            </a:pPr>
            <a:endParaRPr kumimoji="0" lang="zh-CN" altLang="en-US" sz="3200" b="0" i="0" u="none" strike="noStrike" kern="1200" cap="none" spc="0" normalizeH="0" baseline="0" noProof="0" dirty="0" err="1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charset="-122"/>
              <a:ea typeface="楷体" panose="02010609060101010101" charset="-122"/>
              <a:cs typeface="+mn-cs"/>
              <a:sym typeface="+mn-l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4088130" y="1809750"/>
            <a:ext cx="4613275" cy="530860"/>
          </a:xfrm>
          <a:prstGeom prst="rect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46" name="Text Box 2"/>
          <p:cNvSpPr txBox="1"/>
          <p:nvPr/>
        </p:nvSpPr>
        <p:spPr>
          <a:xfrm>
            <a:off x="4007168" y="188278"/>
            <a:ext cx="3960812" cy="7683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/>
            <a:r>
              <a:rPr lang="zh-CN" altLang="en-US" sz="4400" b="1" dirty="0">
                <a:solidFill>
                  <a:srgbClr val="0000CC"/>
                </a:solidFill>
                <a:latin typeface="宋体" panose="02010600030101010101" pitchFamily="2" charset="-122"/>
              </a:rPr>
              <a:t>第二章 线性表</a:t>
            </a:r>
            <a:endParaRPr lang="zh-CN" altLang="en-US" sz="4400" dirty="0">
              <a:solidFill>
                <a:srgbClr val="0000CC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algn="l" eaLnBrk="1" hangingPunct="1">
              <a:buClrTx/>
              <a:buSzTx/>
              <a:buChar char="l"/>
            </a:pPr>
            <a:r>
              <a:rPr lang="zh-CN" altLang="en-US" dirty="0">
                <a:latin typeface="黑体" panose="02010609060101010101" pitchFamily="2" charset="-122"/>
                <a:sym typeface="+mn-ea"/>
              </a:rPr>
              <a:t>顺序表是线性表的顺序表示，用一组地址连续的存储单元依次存储线性表的数据元素</a:t>
            </a:r>
            <a:endParaRPr lang="zh-CN" altLang="en-US" dirty="0">
              <a:latin typeface="黑体" panose="02010609060101010101" pitchFamily="2" charset="-122"/>
              <a:sym typeface="+mn-ea"/>
            </a:endParaRPr>
          </a:p>
          <a:p>
            <a:pPr algn="l" eaLnBrk="1" hangingPunct="1">
              <a:buClrTx/>
              <a:buSzTx/>
              <a:buChar char="l"/>
            </a:pPr>
            <a:endParaRPr lang="zh-CN" altLang="en-US" sz="2800" b="0" dirty="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  <a:p>
            <a:pPr algn="l" eaLnBrk="1" hangingPunct="1">
              <a:buClrTx/>
              <a:buSzTx/>
              <a:buChar char="l"/>
            </a:pPr>
            <a:endParaRPr lang="zh-CN" altLang="en-US" sz="2800" b="0" dirty="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  <a:p>
            <a:pPr algn="l" eaLnBrk="1" hangingPunct="1">
              <a:buClrTx/>
              <a:buSzTx/>
              <a:buChar char="l"/>
            </a:pPr>
            <a:endParaRPr lang="zh-CN" altLang="en-US" sz="2800" b="0" dirty="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  <a:p>
            <a:pPr algn="l" eaLnBrk="1" hangingPunct="1">
              <a:buClrTx/>
              <a:buSzTx/>
              <a:buChar char="l"/>
            </a:pPr>
            <a:endParaRPr lang="zh-CN" altLang="en-US" sz="2800" b="0" dirty="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  <a:p>
            <a:pPr algn="l" eaLnBrk="1" hangingPunct="1">
              <a:buClrTx/>
              <a:buSzTx/>
              <a:buChar char="l"/>
            </a:pPr>
            <a:endParaRPr lang="zh-CN" altLang="en-US" sz="2800" b="0" dirty="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  <a:p>
            <a:endParaRPr lang="zh-CN" altLang="en-US" dirty="0">
              <a:latin typeface="黑体" panose="02010609060101010101" pitchFamily="2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2.2 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线性表的顺序表示和实现</a:t>
            </a:r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  <p:graphicFrame>
        <p:nvGraphicFramePr>
          <p:cNvPr id="11269" name="表格 11268"/>
          <p:cNvGraphicFramePr/>
          <p:nvPr/>
        </p:nvGraphicFramePr>
        <p:xfrm>
          <a:off x="3220085" y="3021965"/>
          <a:ext cx="5181600" cy="517525"/>
        </p:xfrm>
        <a:graphic>
          <a:graphicData uri="http://schemas.openxmlformats.org/drawingml/2006/table">
            <a:tbl>
              <a:tblPr/>
              <a:tblGrid>
                <a:gridCol w="647700"/>
                <a:gridCol w="647700"/>
                <a:gridCol w="647700"/>
                <a:gridCol w="647700"/>
                <a:gridCol w="647700"/>
                <a:gridCol w="647700"/>
                <a:gridCol w="647700"/>
                <a:gridCol w="647700"/>
              </a:tblGrid>
              <a:tr h="517525"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  <a:endParaRPr lang="en-US" altLang="zh-CN" sz="2400" b="1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  <a:endParaRPr lang="en-US" altLang="zh-CN" sz="2400" b="1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  <a:endParaRPr lang="en-US" altLang="zh-CN" sz="2400" b="1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</a:t>
                      </a:r>
                      <a:endParaRPr lang="en-US" altLang="zh-CN" sz="2400" b="1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E</a:t>
                      </a:r>
                      <a:endParaRPr lang="en-US" altLang="zh-CN" sz="2400" b="1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…</a:t>
                      </a:r>
                      <a:endParaRPr lang="en-US" altLang="zh-CN" sz="2400" b="1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</a:t>
                      </a:r>
                      <a:endParaRPr lang="en-US" altLang="zh-CN" sz="2400" b="1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Z</a:t>
                      </a:r>
                      <a:endParaRPr lang="en-US" altLang="zh-CN" sz="2400" b="1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1288" name="Text Box 24"/>
          <p:cNvSpPr txBox="1"/>
          <p:nvPr/>
        </p:nvSpPr>
        <p:spPr>
          <a:xfrm>
            <a:off x="3143885" y="2564765"/>
            <a:ext cx="5638800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1800" dirty="0">
                <a:latin typeface="Tahoma" panose="020B0604030504040204" charset="0"/>
                <a:ea typeface="宋体" panose="02010600030101010101" pitchFamily="2" charset="-122"/>
              </a:rPr>
              <a:t>   b      b+1   b+2   b+3   b+4      </a:t>
            </a:r>
            <a:r>
              <a:rPr lang="en-US" altLang="zh-CN" sz="1800" dirty="0">
                <a:latin typeface="Times New Roman" panose="02020603050405020304" charset="0"/>
                <a:ea typeface="宋体" panose="02010600030101010101" pitchFamily="2" charset="-122"/>
              </a:rPr>
              <a:t>…</a:t>
            </a:r>
            <a:r>
              <a:rPr lang="en-US" altLang="zh-CN" sz="1800" dirty="0">
                <a:latin typeface="Tahoma" panose="020B0604030504040204" charset="0"/>
                <a:ea typeface="宋体" panose="02010600030101010101" pitchFamily="2" charset="-122"/>
              </a:rPr>
              <a:t>  b+24  b+25</a:t>
            </a:r>
            <a:endParaRPr lang="en-US" altLang="zh-CN" sz="1800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525" y="908685"/>
            <a:ext cx="11087735" cy="5144135"/>
          </a:xfrm>
        </p:spPr>
        <p:txBody>
          <a:bodyPr/>
          <a:p>
            <a:pPr algn="l" eaLnBrk="1" hangingPunct="1">
              <a:buClrTx/>
              <a:buSzTx/>
              <a:buChar char="l"/>
            </a:pPr>
            <a:r>
              <a:rPr lang="zh-CN" altLang="en-US" dirty="0">
                <a:latin typeface="黑体" panose="02010609060101010101" pitchFamily="2" charset="-122"/>
                <a:sym typeface="+mn-ea"/>
              </a:rPr>
              <a:t>顺序表是线性表的一种存储结构，它通过地址连续来反映数据元素的逻辑关系（前驱</a:t>
            </a:r>
            <a:r>
              <a:rPr lang="en-US" altLang="zh-CN" dirty="0">
                <a:latin typeface="黑体" panose="02010609060101010101" pitchFamily="2" charset="-122"/>
                <a:sym typeface="+mn-ea"/>
              </a:rPr>
              <a:t>-</a:t>
            </a:r>
            <a:r>
              <a:rPr lang="zh-CN" altLang="en-US" dirty="0">
                <a:latin typeface="黑体" panose="02010609060101010101" pitchFamily="2" charset="-122"/>
                <a:sym typeface="+mn-ea"/>
              </a:rPr>
              <a:t>后继）</a:t>
            </a:r>
            <a:endParaRPr lang="zh-CN" altLang="en-US" dirty="0">
              <a:latin typeface="黑体" panose="02010609060101010101" pitchFamily="2" charset="-122"/>
              <a:sym typeface="+mn-ea"/>
            </a:endParaRPr>
          </a:p>
          <a:p>
            <a:pPr algn="l" eaLnBrk="1" hangingPunct="1">
              <a:buClrTx/>
              <a:buSzTx/>
              <a:buChar char="l"/>
            </a:pPr>
            <a:r>
              <a:rPr lang="zh-CN" altLang="en-US" dirty="0">
                <a:latin typeface="宋体" panose="02010600030101010101" pitchFamily="2" charset="-122"/>
                <a:sym typeface="+mn-ea"/>
              </a:rPr>
              <a:t>顺序表中数据元素的位置反映了元素之间的前后关系</a:t>
            </a:r>
            <a:endParaRPr lang="zh-CN" altLang="en-US" dirty="0">
              <a:latin typeface="宋体" panose="02010600030101010101" pitchFamily="2" charset="-122"/>
              <a:sym typeface="+mn-ea"/>
            </a:endParaRPr>
          </a:p>
          <a:p>
            <a:pPr marL="609600" indent="-60960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charset="0"/>
                <a:sym typeface="+mn-ea"/>
              </a:rPr>
              <a:t>	</a:t>
            </a:r>
            <a:endParaRPr lang="en-US" altLang="zh-CN" dirty="0">
              <a:latin typeface="Times New Roman" panose="02020603050405020304" charset="0"/>
              <a:sym typeface="+mn-ea"/>
            </a:endParaRPr>
          </a:p>
          <a:p>
            <a:pPr marL="609600" indent="-60960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charset="0"/>
                <a:sym typeface="+mn-ea"/>
              </a:rPr>
              <a:t>	LOC(</a:t>
            </a:r>
            <a:r>
              <a:rPr lang="en-US" altLang="zh-CN" i="1" dirty="0">
                <a:latin typeface="Times New Roman" panose="02020603050405020304" charset="0"/>
                <a:sym typeface="+mn-ea"/>
              </a:rPr>
              <a:t>a </a:t>
            </a:r>
            <a:r>
              <a:rPr lang="en-US" altLang="zh-CN" i="1" baseline="-25000" dirty="0">
                <a:latin typeface="Times New Roman" panose="02020603050405020304" charset="0"/>
                <a:sym typeface="+mn-ea"/>
              </a:rPr>
              <a:t>i</a:t>
            </a:r>
            <a:r>
              <a:rPr lang="en-US" altLang="zh-CN" dirty="0">
                <a:latin typeface="Times New Roman" panose="02020603050405020304" charset="0"/>
                <a:sym typeface="+mn-ea"/>
              </a:rPr>
              <a:t>) = LOC(</a:t>
            </a:r>
            <a:r>
              <a:rPr lang="en-US" altLang="zh-CN" i="1" dirty="0">
                <a:latin typeface="Times New Roman" panose="02020603050405020304" charset="0"/>
                <a:sym typeface="+mn-ea"/>
              </a:rPr>
              <a:t> a</a:t>
            </a:r>
            <a:r>
              <a:rPr lang="en-US" altLang="zh-CN" i="1" baseline="-25000" dirty="0">
                <a:latin typeface="Times New Roman" panose="02020603050405020304" charset="0"/>
                <a:sym typeface="+mn-ea"/>
              </a:rPr>
              <a:t> i-1</a:t>
            </a:r>
            <a:r>
              <a:rPr lang="en-US" altLang="zh-CN" i="1" dirty="0">
                <a:latin typeface="Times New Roman" panose="02020603050405020304" charset="0"/>
                <a:sym typeface="+mn-ea"/>
              </a:rPr>
              <a:t> ) </a:t>
            </a:r>
            <a:r>
              <a:rPr lang="en-US" altLang="zh-CN" dirty="0">
                <a:latin typeface="Times New Roman" panose="02020603050405020304" charset="0"/>
                <a:sym typeface="+mn-ea"/>
              </a:rPr>
              <a:t>+ </a:t>
            </a:r>
            <a:r>
              <a:rPr lang="en-US" altLang="zh-CN" i="1" dirty="0">
                <a:latin typeface="Times New Roman" panose="02020603050405020304" charset="0"/>
                <a:sym typeface="+mn-ea"/>
              </a:rPr>
              <a:t>l</a:t>
            </a:r>
            <a:endParaRPr lang="en-US" altLang="zh-CN" b="0" i="1" dirty="0">
              <a:latin typeface="Times New Roman" panose="02020603050405020304" charset="0"/>
            </a:endParaRPr>
          </a:p>
          <a:p>
            <a:pPr marL="609600" indent="-60960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charset="0"/>
                <a:sym typeface="+mn-ea"/>
              </a:rPr>
              <a:t>       LOC(</a:t>
            </a:r>
            <a:r>
              <a:rPr lang="en-US" altLang="zh-CN" i="1" dirty="0">
                <a:latin typeface="Times New Roman" panose="02020603050405020304" charset="0"/>
                <a:sym typeface="+mn-ea"/>
              </a:rPr>
              <a:t>a</a:t>
            </a:r>
            <a:r>
              <a:rPr lang="en-US" altLang="zh-CN" i="1" baseline="-25000" dirty="0">
                <a:latin typeface="Times New Roman" panose="02020603050405020304" charset="0"/>
                <a:sym typeface="+mn-ea"/>
              </a:rPr>
              <a:t> i</a:t>
            </a:r>
            <a:r>
              <a:rPr lang="en-US" altLang="zh-CN" dirty="0">
                <a:latin typeface="Times New Roman" panose="02020603050405020304" charset="0"/>
                <a:sym typeface="+mn-ea"/>
              </a:rPr>
              <a:t>) = LOC(</a:t>
            </a:r>
            <a:r>
              <a:rPr lang="en-US" altLang="zh-CN" i="1" dirty="0">
                <a:latin typeface="Times New Roman" panose="02020603050405020304" charset="0"/>
                <a:sym typeface="+mn-ea"/>
              </a:rPr>
              <a:t>a</a:t>
            </a:r>
            <a:r>
              <a:rPr lang="en-US" altLang="zh-CN" i="1" baseline="-25000" dirty="0">
                <a:latin typeface="Times New Roman" panose="02020603050405020304" charset="0"/>
                <a:sym typeface="+mn-ea"/>
              </a:rPr>
              <a:t>1</a:t>
            </a:r>
            <a:r>
              <a:rPr lang="en-US" altLang="zh-CN" dirty="0">
                <a:latin typeface="Times New Roman" panose="02020603050405020304" charset="0"/>
                <a:sym typeface="+mn-ea"/>
              </a:rPr>
              <a:t>)+(i-1)*</a:t>
            </a:r>
            <a:r>
              <a:rPr lang="en-US" altLang="zh-CN" i="1" dirty="0">
                <a:latin typeface="Times New Roman" panose="02020603050405020304" charset="0"/>
                <a:sym typeface="+mn-ea"/>
              </a:rPr>
              <a:t>l</a:t>
            </a:r>
            <a:r>
              <a:rPr lang="en-US" altLang="zh-CN" dirty="0">
                <a:latin typeface="Times New Roman" panose="02020603050405020304" charset="0"/>
                <a:sym typeface="+mn-ea"/>
              </a:rPr>
              <a:t>     </a:t>
            </a:r>
            <a:r>
              <a:rPr lang="en-US" altLang="zh-CN" i="1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l</a:t>
            </a:r>
            <a:r>
              <a:rPr lang="zh-CN" altLang="en-US" i="1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表示元素占用的内存单元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数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0" indent="0">
              <a:buNone/>
            </a:pPr>
            <a:endParaRPr lang="zh-CN" altLang="en-US" dirty="0">
              <a:latin typeface="黑体" panose="02010609060101010101" pitchFamily="2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2.2 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线性表的顺序表示和实现</a:t>
            </a:r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  <p:grpSp>
        <p:nvGrpSpPr>
          <p:cNvPr id="12292" name="Group 26"/>
          <p:cNvGrpSpPr/>
          <p:nvPr/>
        </p:nvGrpSpPr>
        <p:grpSpPr>
          <a:xfrm>
            <a:off x="1846898" y="3716338"/>
            <a:ext cx="7010400" cy="2190750"/>
            <a:chOff x="624" y="2736"/>
            <a:chExt cx="4416" cy="1380"/>
          </a:xfrm>
        </p:grpSpPr>
        <p:sp>
          <p:nvSpPr>
            <p:cNvPr id="12293" name="Text Box 27"/>
            <p:cNvSpPr txBox="1"/>
            <p:nvPr/>
          </p:nvSpPr>
          <p:spPr>
            <a:xfrm>
              <a:off x="768" y="3107"/>
              <a:ext cx="4256" cy="364"/>
            </a:xfrm>
            <a:prstGeom prst="rect">
              <a:avLst/>
            </a:prstGeom>
            <a:solidFill>
              <a:srgbClr val="CCFFCC"/>
            </a:solidFill>
            <a:ln w="19050" cap="flat" cmpd="sng">
              <a:solidFill>
                <a:srgbClr val="000066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tIns="0" anchor="t" anchorCtr="0"/>
            <a:p>
              <a:r>
                <a:rPr lang="en-US" altLang="zh-CN" sz="3200" b="1" i="1" dirty="0">
                  <a:solidFill>
                    <a:srgbClr val="C8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 a</a:t>
              </a:r>
              <a:r>
                <a:rPr lang="en-US" altLang="zh-CN" sz="3200" b="1" i="1" baseline="-25000" dirty="0">
                  <a:solidFill>
                    <a:srgbClr val="C8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1</a:t>
              </a:r>
              <a:r>
                <a:rPr lang="en-US" altLang="zh-CN" sz="3200" b="1" dirty="0">
                  <a:solidFill>
                    <a:srgbClr val="CC0000"/>
                  </a:solidFill>
                  <a:latin typeface="Arial Narrow" panose="020B0606020202030204" pitchFamily="34" charset="0"/>
                  <a:ea typeface="仿宋" panose="02010609060101010101" charset="-122"/>
                </a:rPr>
                <a:t>    </a:t>
              </a:r>
              <a:r>
                <a:rPr lang="en-US" altLang="zh-CN" sz="3200" b="1" i="1" dirty="0">
                  <a:solidFill>
                    <a:srgbClr val="C8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r>
                <a:rPr lang="en-US" altLang="zh-CN" sz="3200" b="1" i="1" baseline="-25000" dirty="0">
                  <a:solidFill>
                    <a:srgbClr val="C8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2</a:t>
              </a:r>
              <a:r>
                <a:rPr lang="en-US" altLang="zh-CN" sz="3200" b="1" baseline="-25000" dirty="0">
                  <a:solidFill>
                    <a:srgbClr val="CC0000"/>
                  </a:solidFill>
                  <a:latin typeface="Arial Narrow" panose="020B0606020202030204" pitchFamily="34" charset="0"/>
                  <a:ea typeface="仿宋" panose="02010609060101010101" charset="-122"/>
                </a:rPr>
                <a:t> </a:t>
              </a:r>
              <a:r>
                <a:rPr lang="en-US" altLang="zh-CN" sz="3200" b="1" dirty="0">
                  <a:solidFill>
                    <a:srgbClr val="CC0000"/>
                  </a:solidFill>
                  <a:latin typeface="Arial Narrow" panose="020B0606020202030204" pitchFamily="34" charset="0"/>
                  <a:ea typeface="仿宋" panose="02010609060101010101" charset="-122"/>
                </a:rPr>
                <a:t>  …    </a:t>
              </a:r>
              <a:r>
                <a:rPr lang="en-US" altLang="zh-CN" sz="3200" b="1" i="1" dirty="0">
                  <a:solidFill>
                    <a:srgbClr val="C8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r>
                <a:rPr lang="en-US" altLang="zh-CN" sz="3200" b="1" baseline="-25000" dirty="0">
                  <a:solidFill>
                    <a:srgbClr val="C8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 i</a:t>
              </a:r>
              <a:r>
                <a:rPr lang="en-US" altLang="zh-CN" sz="3200" b="1" dirty="0">
                  <a:solidFill>
                    <a:srgbClr val="CC0000"/>
                  </a:solidFill>
                  <a:latin typeface="Arial Narrow" panose="020B0606020202030204" pitchFamily="34" charset="0"/>
                  <a:ea typeface="仿宋" panose="02010609060101010101" charset="-122"/>
                </a:rPr>
                <a:t>    …   …     …   </a:t>
              </a:r>
              <a:r>
                <a:rPr lang="en-US" altLang="zh-CN" sz="3200" b="1" i="1" dirty="0">
                  <a:solidFill>
                    <a:srgbClr val="C8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r>
                <a:rPr lang="en-US" altLang="zh-CN" sz="3200" b="1" i="1" baseline="-25000" dirty="0">
                  <a:solidFill>
                    <a:srgbClr val="C8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n</a:t>
              </a:r>
              <a:endParaRPr lang="en-US" altLang="zh-CN" sz="3200" b="1" i="1" baseline="-25000" dirty="0">
                <a:solidFill>
                  <a:srgbClr val="C8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2294" name="Line 28"/>
            <p:cNvSpPr/>
            <p:nvPr/>
          </p:nvSpPr>
          <p:spPr>
            <a:xfrm>
              <a:off x="1200" y="3107"/>
              <a:ext cx="0" cy="371"/>
            </a:xfrm>
            <a:prstGeom prst="line">
              <a:avLst/>
            </a:prstGeom>
            <a:ln w="19050" cap="flat" cmpd="sng">
              <a:solidFill>
                <a:srgbClr val="000066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2295" name="Line 29"/>
            <p:cNvSpPr/>
            <p:nvPr/>
          </p:nvSpPr>
          <p:spPr>
            <a:xfrm>
              <a:off x="1632" y="3107"/>
              <a:ext cx="0" cy="371"/>
            </a:xfrm>
            <a:prstGeom prst="line">
              <a:avLst/>
            </a:prstGeom>
            <a:ln w="19050" cap="flat" cmpd="sng">
              <a:solidFill>
                <a:srgbClr val="000066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2296" name="Line 30"/>
            <p:cNvSpPr/>
            <p:nvPr/>
          </p:nvSpPr>
          <p:spPr>
            <a:xfrm>
              <a:off x="2064" y="3107"/>
              <a:ext cx="0" cy="371"/>
            </a:xfrm>
            <a:prstGeom prst="line">
              <a:avLst/>
            </a:prstGeom>
            <a:ln w="19050" cap="flat" cmpd="sng">
              <a:solidFill>
                <a:srgbClr val="000066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2297" name="Line 31"/>
            <p:cNvSpPr/>
            <p:nvPr/>
          </p:nvSpPr>
          <p:spPr>
            <a:xfrm>
              <a:off x="2496" y="3107"/>
              <a:ext cx="0" cy="371"/>
            </a:xfrm>
            <a:prstGeom prst="line">
              <a:avLst/>
            </a:prstGeom>
            <a:ln w="19050" cap="flat" cmpd="sng">
              <a:solidFill>
                <a:srgbClr val="000066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2298" name="Line 32"/>
            <p:cNvSpPr/>
            <p:nvPr/>
          </p:nvSpPr>
          <p:spPr>
            <a:xfrm>
              <a:off x="2928" y="3107"/>
              <a:ext cx="0" cy="371"/>
            </a:xfrm>
            <a:prstGeom prst="line">
              <a:avLst/>
            </a:prstGeom>
            <a:ln w="19050" cap="flat" cmpd="sng">
              <a:solidFill>
                <a:srgbClr val="000066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2299" name="Line 33"/>
            <p:cNvSpPr/>
            <p:nvPr/>
          </p:nvSpPr>
          <p:spPr>
            <a:xfrm>
              <a:off x="3360" y="3107"/>
              <a:ext cx="0" cy="371"/>
            </a:xfrm>
            <a:prstGeom prst="line">
              <a:avLst/>
            </a:prstGeom>
            <a:ln w="19050" cap="flat" cmpd="sng">
              <a:solidFill>
                <a:srgbClr val="000066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2300" name="Line 34"/>
            <p:cNvSpPr/>
            <p:nvPr/>
          </p:nvSpPr>
          <p:spPr>
            <a:xfrm>
              <a:off x="3792" y="3107"/>
              <a:ext cx="0" cy="371"/>
            </a:xfrm>
            <a:prstGeom prst="line">
              <a:avLst/>
            </a:prstGeom>
            <a:ln w="19050" cap="flat" cmpd="sng">
              <a:solidFill>
                <a:srgbClr val="000066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2301" name="Line 35"/>
            <p:cNvSpPr/>
            <p:nvPr/>
          </p:nvSpPr>
          <p:spPr>
            <a:xfrm>
              <a:off x="4224" y="3107"/>
              <a:ext cx="0" cy="371"/>
            </a:xfrm>
            <a:prstGeom prst="line">
              <a:avLst/>
            </a:prstGeom>
            <a:ln w="19050" cap="flat" cmpd="sng">
              <a:solidFill>
                <a:srgbClr val="000066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2302" name="Line 36"/>
            <p:cNvSpPr/>
            <p:nvPr/>
          </p:nvSpPr>
          <p:spPr>
            <a:xfrm>
              <a:off x="4656" y="3107"/>
              <a:ext cx="0" cy="371"/>
            </a:xfrm>
            <a:prstGeom prst="line">
              <a:avLst/>
            </a:prstGeom>
            <a:ln w="19050" cap="flat" cmpd="sng">
              <a:solidFill>
                <a:srgbClr val="000066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2303" name="Text Box 37"/>
            <p:cNvSpPr txBox="1"/>
            <p:nvPr/>
          </p:nvSpPr>
          <p:spPr>
            <a:xfrm>
              <a:off x="816" y="2736"/>
              <a:ext cx="3408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sz="3200" b="1" dirty="0">
                  <a:solidFill>
                    <a:srgbClr val="000066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  </a:t>
              </a:r>
              <a:r>
                <a:rPr lang="en-US" altLang="zh-CN" sz="2000" dirty="0">
                  <a:solidFill>
                    <a:srgbClr val="000066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1        2       …         i        …      …       …       n</a:t>
              </a:r>
              <a:endParaRPr lang="en-US" altLang="zh-CN" sz="2000" dirty="0">
                <a:solidFill>
                  <a:srgbClr val="000066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2304" name="AutoShape 38"/>
            <p:cNvSpPr/>
            <p:nvPr/>
          </p:nvSpPr>
          <p:spPr>
            <a:xfrm rot="-5400000">
              <a:off x="934" y="3305"/>
              <a:ext cx="93" cy="432"/>
            </a:xfrm>
            <a:prstGeom prst="leftBrace">
              <a:avLst>
                <a:gd name="adj1" fmla="val 38645"/>
                <a:gd name="adj2" fmla="val 49699"/>
              </a:avLst>
            </a:prstGeom>
            <a:noFill/>
            <a:ln w="38100" cap="flat" cmpd="sng">
              <a:solidFill>
                <a:srgbClr val="003366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305" name="AutoShape 39"/>
            <p:cNvSpPr/>
            <p:nvPr/>
          </p:nvSpPr>
          <p:spPr>
            <a:xfrm rot="-5400000">
              <a:off x="1366" y="3305"/>
              <a:ext cx="93" cy="432"/>
            </a:xfrm>
            <a:prstGeom prst="leftBrace">
              <a:avLst>
                <a:gd name="adj1" fmla="val 38645"/>
                <a:gd name="adj2" fmla="val 49699"/>
              </a:avLst>
            </a:prstGeom>
            <a:noFill/>
            <a:ln w="38100" cap="flat" cmpd="sng">
              <a:solidFill>
                <a:srgbClr val="003366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306" name="AutoShape 40"/>
            <p:cNvSpPr/>
            <p:nvPr/>
          </p:nvSpPr>
          <p:spPr>
            <a:xfrm rot="-5400000">
              <a:off x="1798" y="3305"/>
              <a:ext cx="93" cy="432"/>
            </a:xfrm>
            <a:prstGeom prst="leftBrace">
              <a:avLst>
                <a:gd name="adj1" fmla="val 38645"/>
                <a:gd name="adj2" fmla="val 49699"/>
              </a:avLst>
            </a:prstGeom>
            <a:noFill/>
            <a:ln w="38100" cap="flat" cmpd="sng">
              <a:solidFill>
                <a:srgbClr val="003366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307" name="AutoShape 41"/>
            <p:cNvSpPr/>
            <p:nvPr/>
          </p:nvSpPr>
          <p:spPr>
            <a:xfrm rot="-5400000">
              <a:off x="2230" y="3305"/>
              <a:ext cx="93" cy="432"/>
            </a:xfrm>
            <a:prstGeom prst="leftBrace">
              <a:avLst>
                <a:gd name="adj1" fmla="val 38645"/>
                <a:gd name="adj2" fmla="val 49699"/>
              </a:avLst>
            </a:prstGeom>
            <a:noFill/>
            <a:ln w="38100" cap="flat" cmpd="sng">
              <a:solidFill>
                <a:srgbClr val="003366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308" name="AutoShape 42"/>
            <p:cNvSpPr/>
            <p:nvPr/>
          </p:nvSpPr>
          <p:spPr>
            <a:xfrm rot="-5400000">
              <a:off x="2662" y="3305"/>
              <a:ext cx="93" cy="432"/>
            </a:xfrm>
            <a:prstGeom prst="leftBrace">
              <a:avLst>
                <a:gd name="adj1" fmla="val 38645"/>
                <a:gd name="adj2" fmla="val 49699"/>
              </a:avLst>
            </a:prstGeom>
            <a:noFill/>
            <a:ln w="38100" cap="flat" cmpd="sng">
              <a:solidFill>
                <a:srgbClr val="003366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309" name="AutoShape 43"/>
            <p:cNvSpPr/>
            <p:nvPr/>
          </p:nvSpPr>
          <p:spPr>
            <a:xfrm rot="-5400000">
              <a:off x="3094" y="3305"/>
              <a:ext cx="93" cy="432"/>
            </a:xfrm>
            <a:prstGeom prst="leftBrace">
              <a:avLst>
                <a:gd name="adj1" fmla="val 38645"/>
                <a:gd name="adj2" fmla="val 49699"/>
              </a:avLst>
            </a:prstGeom>
            <a:noFill/>
            <a:ln w="38100" cap="flat" cmpd="sng">
              <a:solidFill>
                <a:srgbClr val="003366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310" name="AutoShape 44"/>
            <p:cNvSpPr/>
            <p:nvPr/>
          </p:nvSpPr>
          <p:spPr>
            <a:xfrm rot="-5400000">
              <a:off x="3526" y="3305"/>
              <a:ext cx="93" cy="432"/>
            </a:xfrm>
            <a:prstGeom prst="leftBrace">
              <a:avLst>
                <a:gd name="adj1" fmla="val 38645"/>
                <a:gd name="adj2" fmla="val 49699"/>
              </a:avLst>
            </a:prstGeom>
            <a:noFill/>
            <a:ln w="38100" cap="flat" cmpd="sng">
              <a:solidFill>
                <a:srgbClr val="003366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311" name="AutoShape 45"/>
            <p:cNvSpPr/>
            <p:nvPr/>
          </p:nvSpPr>
          <p:spPr>
            <a:xfrm rot="-5400000">
              <a:off x="3958" y="3305"/>
              <a:ext cx="93" cy="432"/>
            </a:xfrm>
            <a:prstGeom prst="leftBrace">
              <a:avLst>
                <a:gd name="adj1" fmla="val 38645"/>
                <a:gd name="adj2" fmla="val 49699"/>
              </a:avLst>
            </a:prstGeom>
            <a:noFill/>
            <a:ln w="38100" cap="flat" cmpd="sng">
              <a:solidFill>
                <a:srgbClr val="003366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312" name="AutoShape 46"/>
            <p:cNvSpPr/>
            <p:nvPr/>
          </p:nvSpPr>
          <p:spPr>
            <a:xfrm rot="-5400000">
              <a:off x="4586" y="3211"/>
              <a:ext cx="92" cy="720"/>
            </a:xfrm>
            <a:prstGeom prst="leftBrace">
              <a:avLst>
                <a:gd name="adj1" fmla="val 65108"/>
                <a:gd name="adj2" fmla="val 49699"/>
              </a:avLst>
            </a:prstGeom>
            <a:noFill/>
            <a:ln w="38100" cap="flat" cmpd="sng">
              <a:solidFill>
                <a:srgbClr val="003366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313" name="Text Box 47"/>
            <p:cNvSpPr txBox="1"/>
            <p:nvPr/>
          </p:nvSpPr>
          <p:spPr>
            <a:xfrm>
              <a:off x="624" y="3710"/>
              <a:ext cx="4416" cy="40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sz="3600" b="1" i="1" dirty="0">
                  <a:solidFill>
                    <a:srgbClr val="C8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   </a:t>
              </a:r>
              <a:r>
                <a:rPr lang="en-US" altLang="zh-CN" sz="2000" i="1" dirty="0">
                  <a:solidFill>
                    <a:srgbClr val="C8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b       b+l        …  b+(i-1)*l   …     …      …    b+(n-1)*l  idle</a:t>
              </a:r>
              <a:endParaRPr lang="en-US" altLang="zh-CN" sz="2000" i="1" dirty="0">
                <a:solidFill>
                  <a:srgbClr val="C8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2314" name="Line 48"/>
            <p:cNvSpPr/>
            <p:nvPr/>
          </p:nvSpPr>
          <p:spPr>
            <a:xfrm flipV="1">
              <a:off x="4032" y="3571"/>
              <a:ext cx="0" cy="23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2315" name="Line 49"/>
            <p:cNvSpPr/>
            <p:nvPr/>
          </p:nvSpPr>
          <p:spPr>
            <a:xfrm flipV="1">
              <a:off x="2304" y="3571"/>
              <a:ext cx="0" cy="27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2316" name="Line 50"/>
            <p:cNvSpPr/>
            <p:nvPr/>
          </p:nvSpPr>
          <p:spPr>
            <a:xfrm flipV="1">
              <a:off x="912" y="3571"/>
              <a:ext cx="0" cy="27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2317" name="Line 51"/>
            <p:cNvSpPr/>
            <p:nvPr/>
          </p:nvSpPr>
          <p:spPr>
            <a:xfrm flipV="1">
              <a:off x="1344" y="3571"/>
              <a:ext cx="0" cy="27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525" y="908685"/>
            <a:ext cx="11087735" cy="5144135"/>
          </a:xfrm>
        </p:spPr>
        <p:txBody>
          <a:bodyPr/>
          <a:p>
            <a:pPr algn="l" eaLnBrk="1" hangingPunct="1">
              <a:buClrTx/>
              <a:buSzTx/>
              <a:buChar char="l"/>
            </a:pPr>
            <a:r>
              <a:rPr lang="zh-CN" altLang="en-US" dirty="0">
                <a:latin typeface="黑体" panose="02010609060101010101" pitchFamily="2" charset="-122"/>
                <a:sym typeface="+mn-ea"/>
              </a:rPr>
              <a:t>顺序表的定义：</a:t>
            </a:r>
            <a:r>
              <a:rPr lang="zh-CN" altLang="en-US" dirty="0">
                <a:latin typeface="宋体" panose="02010600030101010101" pitchFamily="2" charset="-122"/>
                <a:sym typeface="+mn-ea"/>
              </a:rPr>
              <a:t>采用</a:t>
            </a:r>
            <a:r>
              <a:rPr lang="en-US" altLang="zh-CN" dirty="0">
                <a:latin typeface="宋体" panose="02010600030101010101" pitchFamily="2" charset="-122"/>
                <a:sym typeface="+mn-ea"/>
              </a:rPr>
              <a:t>C</a:t>
            </a:r>
            <a:r>
              <a:rPr lang="zh-CN" altLang="en-US" dirty="0">
                <a:latin typeface="宋体" panose="02010600030101010101" pitchFamily="2" charset="-122"/>
                <a:sym typeface="+mn-ea"/>
              </a:rPr>
              <a:t>语言中动态分配的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  <a:sym typeface="+mn-ea"/>
              </a:rPr>
              <a:t>一维数组</a:t>
            </a:r>
            <a:r>
              <a:rPr lang="zh-CN" altLang="en-US" dirty="0">
                <a:latin typeface="宋体" panose="02010600030101010101" pitchFamily="2" charset="-122"/>
                <a:sym typeface="+mn-ea"/>
              </a:rPr>
              <a:t>表示顺序表</a:t>
            </a:r>
            <a:endParaRPr lang="zh-CN" altLang="en-US" dirty="0">
              <a:latin typeface="宋体" panose="02010600030101010101" pitchFamily="2" charset="-122"/>
              <a:sym typeface="+mn-ea"/>
            </a:endParaRPr>
          </a:p>
          <a:p>
            <a:pPr marL="609600" indent="-609600" eaLnBrk="1" hangingPunct="1"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endParaRPr lang="en-US" altLang="zh-CN" sz="2400" dirty="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  <a:p>
            <a:pPr marL="609600" indent="-609600" eaLnBrk="1" hangingPunct="1"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#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define LIST_INIT_SIZE  100	// 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线性表存储空间的初始分配量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hangingPunct="1"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#define LISTINCREMENT   10	// 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线性表存储空间的分配增量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hangingPunct="1"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Typedef struct {</a:t>
            </a:r>
            <a:endParaRPr lang="en-US" altLang="zh-CN" sz="2400" b="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hangingPunct="1"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	ElemType	*elem;		// 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存储空间基址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hangingPunct="1"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	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int	length;		// 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当前长度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hangingPunct="1"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	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int 	listsize;	// 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当前分配的存储容量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(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元素数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)</a:t>
            </a:r>
            <a:endParaRPr lang="en-US" altLang="zh-CN" sz="2400" b="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hangingPunct="1"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} Sqlist;</a:t>
            </a:r>
            <a:endParaRPr lang="en-US" altLang="zh-CN" sz="2400" b="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hangingPunct="1"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endParaRPr lang="en-US" altLang="zh-CN" sz="2400" b="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hangingPunct="1"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预定义变量说明在课本</a:t>
            </a:r>
            <a:r>
              <a:rPr lang="en-US" altLang="zh-CN" sz="2400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P10</a:t>
            </a:r>
            <a:endParaRPr lang="zh-CN" altLang="en-US" sz="2400" dirty="0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0" indent="0" algn="l" eaLnBrk="1" hangingPunct="1">
              <a:buClrTx/>
              <a:buSzTx/>
              <a:buNone/>
            </a:pPr>
            <a:endParaRPr lang="zh-CN" altLang="en-US" dirty="0">
              <a:latin typeface="宋体" panose="02010600030101010101" pitchFamily="2" charset="-122"/>
              <a:sym typeface="+mn-ea"/>
            </a:endParaRPr>
          </a:p>
          <a:p>
            <a:pPr algn="l" eaLnBrk="1" hangingPunct="1">
              <a:buClrTx/>
              <a:buSzTx/>
              <a:buChar char="l"/>
            </a:pPr>
            <a:endParaRPr lang="zh-CN" altLang="en-US" dirty="0">
              <a:latin typeface="黑体" panose="02010609060101010101" pitchFamily="2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2.2 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线性表的顺序表示和实现</a:t>
            </a:r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525" y="908685"/>
            <a:ext cx="11087735" cy="5144135"/>
          </a:xfrm>
        </p:spPr>
        <p:txBody>
          <a:bodyPr/>
          <a:p>
            <a:pPr algn="l" eaLnBrk="1" hangingPunct="1">
              <a:buClrTx/>
              <a:buSzTx/>
              <a:buChar char="l"/>
            </a:pPr>
            <a:r>
              <a:rPr lang="zh-CN" altLang="en-US" dirty="0">
                <a:latin typeface="黑体" panose="02010609060101010101" pitchFamily="2" charset="-122"/>
                <a:sym typeface="+mn-ea"/>
              </a:rPr>
              <a:t>顺序表的定义：</a:t>
            </a:r>
            <a:r>
              <a:rPr lang="zh-CN" altLang="en-US" dirty="0">
                <a:latin typeface="宋体" panose="02010600030101010101" pitchFamily="2" charset="-122"/>
                <a:sym typeface="+mn-ea"/>
              </a:rPr>
              <a:t>采用</a:t>
            </a:r>
            <a:r>
              <a:rPr lang="en-US" altLang="zh-CN" dirty="0">
                <a:latin typeface="宋体" panose="02010600030101010101" pitchFamily="2" charset="-122"/>
                <a:sym typeface="+mn-ea"/>
              </a:rPr>
              <a:t>C</a:t>
            </a:r>
            <a:r>
              <a:rPr lang="zh-CN" altLang="en-US" dirty="0">
                <a:latin typeface="宋体" panose="02010600030101010101" pitchFamily="2" charset="-122"/>
                <a:sym typeface="+mn-ea"/>
              </a:rPr>
              <a:t>语言中动态分配的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  <a:sym typeface="+mn-ea"/>
              </a:rPr>
              <a:t>一维数组</a:t>
            </a:r>
            <a:r>
              <a:rPr lang="zh-CN" altLang="en-US" dirty="0">
                <a:latin typeface="宋体" panose="02010600030101010101" pitchFamily="2" charset="-122"/>
                <a:sym typeface="+mn-ea"/>
              </a:rPr>
              <a:t>表示顺序表</a:t>
            </a:r>
            <a:endParaRPr lang="zh-CN" altLang="en-US" dirty="0">
              <a:latin typeface="宋体" panose="02010600030101010101" pitchFamily="2" charset="-122"/>
              <a:sym typeface="+mn-ea"/>
            </a:endParaRPr>
          </a:p>
          <a:p>
            <a:pPr marL="609600" indent="-609600" eaLnBrk="1" hangingPunct="1"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endParaRPr lang="en-US" altLang="zh-CN" sz="2400" dirty="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  <a:p>
            <a:pPr marL="609600" indent="-609600" eaLnBrk="1" hangingPunct="1"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#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define LIST_INIT_SIZE  100	// 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线性表存储空间的初始分配量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hangingPunct="1"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#define LISTINCREMENT   10	// 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线性表存储空间的分配增量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hangingPunct="1"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Typedef struct {</a:t>
            </a:r>
            <a:endParaRPr lang="en-US" altLang="zh-CN" sz="2400" b="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hangingPunct="1"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	ElemType	*elem;		// 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存储空间基址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hangingPunct="1"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	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int	length;		// 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当前长度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hangingPunct="1"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	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int 	listsize;	// 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当前分配的存储容量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(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元素数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)</a:t>
            </a:r>
            <a:endParaRPr lang="en-US" altLang="zh-CN" sz="2400" b="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hangingPunct="1"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} Sqlist;</a:t>
            </a:r>
            <a:endParaRPr lang="en-US" altLang="zh-CN" sz="2400" b="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hangingPunct="1"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endParaRPr lang="en-US" altLang="zh-CN" sz="2400" b="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hangingPunct="1"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预定义变量说明在课本</a:t>
            </a:r>
            <a:r>
              <a:rPr lang="en-US" altLang="zh-CN" sz="2400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P10</a:t>
            </a:r>
            <a:endParaRPr lang="zh-CN" altLang="en-US" sz="2400" dirty="0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0" indent="0" algn="l" eaLnBrk="1" hangingPunct="1">
              <a:buClrTx/>
              <a:buSzTx/>
              <a:buNone/>
            </a:pPr>
            <a:endParaRPr lang="zh-CN" altLang="en-US" dirty="0">
              <a:latin typeface="宋体" panose="02010600030101010101" pitchFamily="2" charset="-122"/>
              <a:sym typeface="+mn-ea"/>
            </a:endParaRPr>
          </a:p>
          <a:p>
            <a:pPr algn="l" eaLnBrk="1" hangingPunct="1">
              <a:buClrTx/>
              <a:buSzTx/>
              <a:buChar char="l"/>
            </a:pPr>
            <a:endParaRPr lang="zh-CN" altLang="en-US" dirty="0">
              <a:latin typeface="黑体" panose="02010609060101010101" pitchFamily="2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2.2 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线性表的顺序表示和实现</a:t>
            </a:r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525" y="908685"/>
            <a:ext cx="11087735" cy="5144135"/>
          </a:xfrm>
        </p:spPr>
        <p:txBody>
          <a:bodyPr/>
          <a:p>
            <a:pPr algn="l" eaLnBrk="1" hangingPunct="1">
              <a:buClrTx/>
              <a:buSzTx/>
              <a:buChar char="l"/>
            </a:pPr>
            <a:r>
              <a:rPr lang="zh-CN" altLang="en-US" dirty="0">
                <a:latin typeface="黑体" panose="02010609060101010101" pitchFamily="2" charset="-122"/>
                <a:sym typeface="+mn-ea"/>
              </a:rPr>
              <a:t>顺序表的创建</a:t>
            </a:r>
            <a:endParaRPr lang="zh-CN" altLang="en-US" dirty="0">
              <a:latin typeface="黑体" panose="02010609060101010101" pitchFamily="2" charset="-122"/>
              <a:sym typeface="+mn-ea"/>
            </a:endParaRPr>
          </a:p>
          <a:p>
            <a:pPr marL="609600" indent="-609600" eaLnBrk="1" hangingPunct="1"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endParaRPr lang="en-US" altLang="zh-CN" sz="2400" dirty="0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  <a:p>
            <a:pPr marL="609600" indent="-609600" eaLnBrk="1" hangingPunct="1"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Status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 InitList_Sq(Sqlist &amp;L) {</a:t>
            </a:r>
            <a:endParaRPr lang="en-US" altLang="zh-CN" sz="2400" b="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609600" indent="-609600" eaLnBrk="1" hangingPunct="1"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	L.elem = (ElemType *)malloc(LIST_INIT_SIZE*sizeof(ElemType));</a:t>
            </a:r>
            <a:endParaRPr lang="en-US" altLang="zh-CN" sz="2400" b="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609600" indent="-609600" eaLnBrk="1" hangingPunct="1"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	if (!L.elem) exit(OVERFLOW);		// 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存储分配失败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609600" indent="-609600" eaLnBrk="1" hangingPunct="1"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	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L.length = 0;				// 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空表长度为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0</a:t>
            </a:r>
            <a:endParaRPr lang="en-US" altLang="zh-CN" sz="2400" b="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609600" indent="-609600" eaLnBrk="1" hangingPunct="1"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	L.listsize = LIST_INIT_SIZE;		// 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初始存储容量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609600" indent="-609600" eaLnBrk="1" hangingPunct="1"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	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return </a:t>
            </a:r>
            <a:r>
              <a:rPr lang="en-US" altLang="zh-CN" sz="2400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OK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;</a:t>
            </a:r>
            <a:endParaRPr lang="en-US" altLang="zh-CN" sz="2400" b="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609600" indent="-609600" eaLnBrk="1" hangingPunct="1"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}; // InitList_Sq</a:t>
            </a:r>
            <a:endParaRPr lang="en-US" altLang="zh-CN" sz="2400" b="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609600" indent="-609600" eaLnBrk="1" hangingPunct="1"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endParaRPr lang="en-US" altLang="zh-CN" b="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0" indent="0" algn="l" eaLnBrk="1" hangingPunct="1">
              <a:buClrTx/>
              <a:buSzTx/>
              <a:buNone/>
            </a:pPr>
            <a:endParaRPr lang="zh-CN" altLang="en-US" dirty="0">
              <a:latin typeface="宋体" panose="02010600030101010101" pitchFamily="2" charset="-122"/>
              <a:sym typeface="+mn-ea"/>
            </a:endParaRPr>
          </a:p>
          <a:p>
            <a:pPr marL="609600" indent="-609600" eaLnBrk="1" hangingPunct="1"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endParaRPr lang="en-US" altLang="zh-CN" sz="2400" dirty="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  <a:p>
            <a:pPr marL="0" indent="0" algn="l" eaLnBrk="1" hangingPunct="1">
              <a:buClrTx/>
              <a:buSzTx/>
              <a:buNone/>
            </a:pPr>
            <a:endParaRPr lang="zh-CN" altLang="en-US" dirty="0">
              <a:latin typeface="宋体" panose="02010600030101010101" pitchFamily="2" charset="-122"/>
              <a:sym typeface="+mn-ea"/>
            </a:endParaRPr>
          </a:p>
          <a:p>
            <a:pPr algn="l" eaLnBrk="1" hangingPunct="1">
              <a:buClrTx/>
              <a:buSzTx/>
              <a:buChar char="l"/>
            </a:pPr>
            <a:endParaRPr lang="zh-CN" altLang="en-US" dirty="0">
              <a:latin typeface="黑体" panose="02010609060101010101" pitchFamily="2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2.2 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线性表的顺序表示和实现</a:t>
            </a:r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525" y="908685"/>
            <a:ext cx="11087735" cy="5144135"/>
          </a:xfrm>
        </p:spPr>
        <p:txBody>
          <a:bodyPr/>
          <a:p>
            <a:pPr algn="l" eaLnBrk="1" hangingPunct="1">
              <a:buClrTx/>
              <a:buSzTx/>
              <a:buChar char="l"/>
            </a:pPr>
            <a:r>
              <a:rPr lang="zh-CN" altLang="en-US" dirty="0">
                <a:latin typeface="黑体" panose="02010609060101010101" pitchFamily="2" charset="-122"/>
                <a:sym typeface="+mn-ea"/>
              </a:rPr>
              <a:t>顺序表的</a:t>
            </a:r>
            <a:r>
              <a:rPr lang="en-US" altLang="zh-CN" dirty="0">
                <a:latin typeface="黑体" panose="02010609060101010101" pitchFamily="2" charset="-122"/>
                <a:sym typeface="+mn-ea"/>
              </a:rPr>
              <a:t>C++</a:t>
            </a:r>
            <a:r>
              <a:rPr lang="zh-CN" altLang="en-US" dirty="0">
                <a:latin typeface="黑体" panose="02010609060101010101" pitchFamily="2" charset="-122"/>
                <a:sym typeface="+mn-ea"/>
              </a:rPr>
              <a:t>类定义</a:t>
            </a:r>
            <a:endParaRPr lang="zh-CN" altLang="en-US" dirty="0">
              <a:latin typeface="黑体" panose="02010609060101010101" pitchFamily="2" charset="-122"/>
              <a:sym typeface="+mn-ea"/>
            </a:endParaRPr>
          </a:p>
          <a:p>
            <a:pPr marL="609600" indent="-609600" eaLnBrk="1" hangingPunct="1"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endParaRPr lang="en-US" altLang="zh-CN" sz="2400" dirty="0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  <a:p>
            <a:pPr marL="609600" indent="-609600" eaLnBrk="1" hangingPunct="1"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endParaRPr lang="en-US" altLang="zh-CN" sz="2400" dirty="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  <a:p>
            <a:pPr marL="0" indent="0" algn="l" eaLnBrk="1" hangingPunct="1">
              <a:buClrTx/>
              <a:buSzTx/>
              <a:buNone/>
            </a:pPr>
            <a:endParaRPr lang="zh-CN" altLang="en-US" dirty="0">
              <a:latin typeface="宋体" panose="02010600030101010101" pitchFamily="2" charset="-122"/>
              <a:sym typeface="+mn-ea"/>
            </a:endParaRPr>
          </a:p>
          <a:p>
            <a:pPr algn="l" eaLnBrk="1" hangingPunct="1">
              <a:buClrTx/>
              <a:buSzTx/>
              <a:buChar char="l"/>
            </a:pPr>
            <a:endParaRPr lang="zh-CN" altLang="en-US" dirty="0">
              <a:latin typeface="黑体" panose="02010609060101010101" pitchFamily="2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2.2 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线性表的顺序表示和实现</a:t>
            </a:r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  <p:pic>
        <p:nvPicPr>
          <p:cNvPr id="15364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007485" y="908685"/>
            <a:ext cx="7649210" cy="543306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525" y="908685"/>
            <a:ext cx="11087735" cy="5144135"/>
          </a:xfrm>
        </p:spPr>
        <p:txBody>
          <a:bodyPr/>
          <a:p>
            <a:pPr algn="l" eaLnBrk="1" hangingPunct="1">
              <a:buClrTx/>
              <a:buSzTx/>
              <a:buChar char="l"/>
            </a:pPr>
            <a:r>
              <a:rPr lang="zh-CN" altLang="en-US" dirty="0">
                <a:latin typeface="黑体" panose="02010609060101010101" pitchFamily="2" charset="-122"/>
                <a:sym typeface="+mn-ea"/>
              </a:rPr>
              <a:t>顺序表的插入：</a:t>
            </a:r>
            <a:r>
              <a:rPr lang="zh-CN" altLang="en-US" sz="2800" dirty="0">
                <a:latin typeface="黑体" panose="02010609060101010101" pitchFamily="2" charset="-122"/>
                <a:sym typeface="+mn-ea"/>
              </a:rPr>
              <a:t>给出插入的队列对象、位置、数据</a:t>
            </a:r>
            <a:endParaRPr lang="zh-CN" altLang="en-US" sz="2800" dirty="0">
              <a:latin typeface="黑体" panose="02010609060101010101" pitchFamily="2" charset="-122"/>
              <a:sym typeface="+mn-ea"/>
            </a:endParaRPr>
          </a:p>
          <a:p>
            <a:pPr lvl="1" algn="l" eaLnBrk="1" hangingPunct="1"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在顺序表的第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i-1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个数据元素和第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i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个数据元素之间插入一个新的数据元素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  <a:p>
            <a:pPr lvl="1" algn="l" eaLnBrk="1" hangingPunct="1"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操作包括后移、插入、长度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+1</a:t>
            </a:r>
            <a:endParaRPr lang="en-US" altLang="zh-CN" dirty="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  <a:p>
            <a:pPr marL="609600" lvl="1" indent="0" algn="l" eaLnBrk="1" hangingPunct="1">
              <a:buClrTx/>
              <a:buSzTx/>
              <a:buFont typeface="Arial" panose="020B0604020202020204" pitchFamily="34" charset="0"/>
              <a:buNone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例如在第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[2]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个元素与第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[3]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个元素之间插入新元素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e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，需要将最后元素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n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至第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4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元素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(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共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7-4+1)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都向后移一位置，长度加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1</a:t>
            </a:r>
            <a:endParaRPr lang="en-US" altLang="zh-CN" b="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algn="l" eaLnBrk="1" hangingPunct="1">
              <a:buClrTx/>
              <a:buSzTx/>
              <a:buChar char="l"/>
            </a:pPr>
            <a:endParaRPr lang="en-US" altLang="zh-CN" b="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2.2 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线性表的顺序表示和实现</a:t>
            </a:r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95550" y="3140710"/>
            <a:ext cx="6858000" cy="30099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525" y="908685"/>
            <a:ext cx="11087735" cy="5144135"/>
          </a:xfrm>
        </p:spPr>
        <p:txBody>
          <a:bodyPr/>
          <a:p>
            <a:pPr algn="l" eaLnBrk="1" hangingPunct="1">
              <a:buClrTx/>
              <a:buSzTx/>
              <a:buChar char="l"/>
            </a:pPr>
            <a:r>
              <a:rPr lang="zh-CN" altLang="en-US" dirty="0">
                <a:latin typeface="黑体" panose="02010609060101010101" pitchFamily="2" charset="-122"/>
                <a:sym typeface="+mn-ea"/>
              </a:rPr>
              <a:t>顺序表插入的实现</a:t>
            </a:r>
            <a:endParaRPr lang="zh-CN" altLang="en-US" dirty="0">
              <a:latin typeface="黑体" panose="02010609060101010101" pitchFamily="2" charset="-122"/>
              <a:sym typeface="+mn-ea"/>
            </a:endParaRPr>
          </a:p>
          <a:p>
            <a:pPr marL="609600" indent="-60960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//</a:t>
            </a:r>
            <a:r>
              <a:rPr lang="zh-CN" altLang="en-US" sz="2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注意程序是数组下标</a:t>
            </a:r>
            <a:r>
              <a:rPr lang="en-US" altLang="zh-CN" sz="2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0</a:t>
            </a:r>
            <a:r>
              <a:rPr lang="zh-CN" altLang="en-US" sz="2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为第一个元素位置</a:t>
            </a:r>
            <a:endParaRPr lang="en-US" altLang="zh-CN" sz="2000" dirty="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  <a:p>
            <a:pPr marL="609600" indent="-60960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Status ListInsert_Sq(Sqlist &amp;L, int i, ElemType &amp;e) {</a:t>
            </a:r>
            <a:endParaRPr lang="en-US" altLang="zh-CN" sz="2000" b="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609600" indent="-60960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        if (i&lt;1 || i&gt;L.length+1) return ERROR;</a:t>
            </a:r>
            <a:endParaRPr lang="en-US" altLang="zh-CN" sz="2000" b="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609600" indent="-60960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        if (L.length &gt;= L.listsize) {</a:t>
            </a:r>
            <a:endParaRPr lang="en-US" altLang="zh-CN" sz="2000" b="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609600" indent="-60960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           newbase = realloc(L,L.listsize+LISTINCREMENT)*sizeof(ElemType); </a:t>
            </a:r>
            <a:endParaRPr lang="en-US" altLang="zh-CN" sz="2000" b="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609600" indent="-60960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		   if (!newbase) exit(OVERFLOW);    </a:t>
            </a:r>
            <a:endParaRPr lang="en-US" altLang="zh-CN" sz="2000" b="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609600" indent="-60960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		   L.elem = newbase;</a:t>
            </a:r>
            <a:endParaRPr lang="en-US" altLang="zh-CN" sz="2000" b="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609600" indent="-60960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           L.listsize += LISTINCRMENT; }	// </a:t>
            </a:r>
            <a:r>
              <a:rPr lang="zh-CN" altLang="en-US" sz="2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以上皆为准备阶段</a:t>
            </a:r>
            <a:endParaRPr lang="zh-CN" altLang="en-US" sz="2000" b="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609600" indent="-60960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        </a:t>
            </a:r>
            <a:r>
              <a:rPr lang="en-US" altLang="zh-CN" sz="2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q = &amp;(L.elem[</a:t>
            </a:r>
            <a:r>
              <a:rPr lang="en-US" altLang="zh-CN" sz="2000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i-1</a:t>
            </a:r>
            <a:r>
              <a:rPr lang="en-US" altLang="zh-CN" sz="2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]);			// </a:t>
            </a:r>
            <a:r>
              <a:rPr lang="zh-CN" altLang="en-US" sz="2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找到插入位置</a:t>
            </a:r>
            <a:endParaRPr lang="zh-CN" altLang="en-US" sz="2000" b="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609600" indent="-60960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        </a:t>
            </a:r>
            <a:r>
              <a:rPr lang="en-US" altLang="zh-CN" sz="2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for (p=&amp;(L.elem[L.length-1]); p&gt;=q; --p) *(p+1) = *p;	// </a:t>
            </a:r>
            <a:r>
              <a:rPr lang="zh-CN" altLang="en-US" sz="2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右移</a:t>
            </a:r>
            <a:endParaRPr lang="zh-CN" altLang="en-US" sz="2000" b="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609600" indent="-60960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        *</a:t>
            </a:r>
            <a:r>
              <a:rPr lang="en-US" altLang="zh-CN" sz="2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q = e; </a:t>
            </a:r>
            <a:endParaRPr lang="en-US" altLang="zh-CN" sz="2000" b="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609600" indent="-60960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	  ++L.length; </a:t>
            </a:r>
            <a:endParaRPr lang="en-US" altLang="zh-CN" sz="2000" b="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609600" indent="-60960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	  return OK;</a:t>
            </a:r>
            <a:endParaRPr lang="en-US" altLang="zh-CN" sz="2000" b="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609600" indent="-60960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} // ListInsert_Sq	</a:t>
            </a:r>
            <a:endParaRPr lang="en-US" altLang="zh-CN" sz="2000" b="0" dirty="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2.2 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线性表的顺序表示和实现</a:t>
            </a:r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525" y="908685"/>
            <a:ext cx="11087735" cy="5144135"/>
          </a:xfrm>
        </p:spPr>
        <p:txBody>
          <a:bodyPr/>
          <a:p>
            <a:pPr algn="l" eaLnBrk="1" hangingPunct="1">
              <a:buClrTx/>
              <a:buSzTx/>
              <a:buChar char="l"/>
            </a:pPr>
            <a:r>
              <a:rPr lang="zh-CN" altLang="en-US" dirty="0">
                <a:latin typeface="黑体" panose="02010609060101010101" pitchFamily="2" charset="-122"/>
                <a:sym typeface="+mn-ea"/>
              </a:rPr>
              <a:t>顺序表插入的时间复杂度</a:t>
            </a:r>
            <a:endParaRPr lang="zh-CN" altLang="en-US" dirty="0">
              <a:latin typeface="黑体" panose="02010609060101010101" pitchFamily="2" charset="-122"/>
              <a:sym typeface="+mn-ea"/>
            </a:endParaRPr>
          </a:p>
          <a:p>
            <a:pPr lvl="1" algn="l" eaLnBrk="1" hangingPunct="1">
              <a:lnSpc>
                <a:spcPct val="100000"/>
              </a:lnSpc>
              <a:spcBef>
                <a:spcPct val="2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dirty="0">
                <a:latin typeface="黑体" panose="02010609060101010101" pitchFamily="2" charset="-122"/>
                <a:sym typeface="+mn-ea"/>
              </a:rPr>
              <a:t>在顺序表中插入一个元素，需要向后移动元素个数为：n-i+1</a:t>
            </a:r>
            <a:endParaRPr lang="zh-CN" altLang="en-US" dirty="0">
              <a:latin typeface="黑体" panose="02010609060101010101" pitchFamily="2" charset="-122"/>
            </a:endParaRPr>
          </a:p>
          <a:p>
            <a:pPr lvl="1" algn="l" eaLnBrk="1" hangingPunct="1">
              <a:lnSpc>
                <a:spcPct val="100000"/>
              </a:lnSpc>
              <a:spcBef>
                <a:spcPct val="20000"/>
              </a:spcBef>
              <a:buClrTx/>
              <a:buSzTx/>
              <a:buChar char="•"/>
            </a:pPr>
            <a:r>
              <a:rPr lang="zh-CN" altLang="en-US" dirty="0">
                <a:latin typeface="黑体" panose="02010609060101010101" pitchFamily="2" charset="-122"/>
                <a:cs typeface="+mn-ea"/>
                <a:sym typeface="+mn-ea"/>
              </a:rPr>
              <a:t>平均移动元素数为：</a:t>
            </a:r>
            <a:endParaRPr lang="zh-CN" altLang="en-US" dirty="0">
              <a:latin typeface="黑体" panose="02010609060101010101" pitchFamily="2" charset="-122"/>
              <a:cs typeface="+mn-ea"/>
            </a:endParaRPr>
          </a:p>
          <a:p>
            <a:pPr marL="609600" indent="-609600" eaLnBrk="1" hangingPunct="1">
              <a:lnSpc>
                <a:spcPct val="80000"/>
              </a:lnSpc>
              <a:spcBef>
                <a:spcPct val="3000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        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n+1</a:t>
            </a:r>
            <a:endParaRPr lang="en-US" altLang="zh-CN" b="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609600" indent="-609600" eaLnBrk="1" hangingPunct="1">
              <a:lnSpc>
                <a:spcPct val="80000"/>
              </a:lnSpc>
              <a:spcBef>
                <a:spcPct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   E</a:t>
            </a:r>
            <a:r>
              <a:rPr lang="en-US" altLang="zh-CN" baseline="-25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is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 = </a:t>
            </a:r>
            <a:r>
              <a:rPr lang="en-US" altLang="zh-CN" dirty="0">
                <a:latin typeface="宋体" panose="02010600030101010101" pitchFamily="2" charset="-122"/>
                <a:sym typeface="+mn-ea"/>
              </a:rPr>
              <a:t>∑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 p</a:t>
            </a:r>
            <a:r>
              <a:rPr lang="en-US" altLang="zh-CN" baseline="-25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i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 x (n-i+1)</a:t>
            </a:r>
            <a:endParaRPr lang="en-US" altLang="zh-CN" b="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609600" indent="-609600" eaLnBrk="1" hangingPunct="1">
              <a:lnSpc>
                <a:spcPct val="80000"/>
              </a:lnSpc>
              <a:spcBef>
                <a:spcPct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        i=1</a:t>
            </a:r>
            <a:endParaRPr lang="en-US" altLang="zh-CN" b="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lvl="1" algn="l" eaLnBrk="1" hangingPunct="1">
              <a:lnSpc>
                <a:spcPct val="100000"/>
              </a:lnSpc>
              <a:spcBef>
                <a:spcPct val="20000"/>
              </a:spcBef>
              <a:buClrTx/>
              <a:buSzTx/>
              <a:buChar char="•"/>
            </a:pPr>
            <a:r>
              <a:rPr lang="zh-CN" altLang="en-US" dirty="0">
                <a:latin typeface="黑体" panose="02010609060101010101" pitchFamily="2" charset="-122"/>
                <a:cs typeface="+mn-ea"/>
                <a:sym typeface="+mn-ea"/>
              </a:rPr>
              <a:t>当插入位置等概率时，pi=1/(n+1)，因此：</a:t>
            </a:r>
            <a:endParaRPr lang="zh-CN" altLang="en-US" dirty="0">
              <a:latin typeface="黑体" panose="02010609060101010101" pitchFamily="2" charset="-122"/>
              <a:cs typeface="+mn-ea"/>
            </a:endParaRPr>
          </a:p>
          <a:p>
            <a:pPr marL="609600" indent="-609600" eaLnBrk="1" hangingPunct="1">
              <a:lnSpc>
                <a:spcPct val="80000"/>
              </a:lnSpc>
              <a:spcBef>
                <a:spcPct val="3000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        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n+1</a:t>
            </a:r>
            <a:endParaRPr lang="en-US" altLang="zh-CN" b="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609600" indent="-609600" eaLnBrk="1" hangingPunct="1">
              <a:lnSpc>
                <a:spcPct val="80000"/>
              </a:lnSpc>
              <a:spcBef>
                <a:spcPct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   E</a:t>
            </a:r>
            <a:r>
              <a:rPr lang="en-US" altLang="zh-CN" baseline="-25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is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 = </a:t>
            </a:r>
            <a:r>
              <a:rPr lang="en-US" altLang="zh-CN" dirty="0">
                <a:latin typeface="宋体" panose="02010600030101010101" pitchFamily="2" charset="-122"/>
                <a:sym typeface="+mn-ea"/>
              </a:rPr>
              <a:t>∑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 [1/(n+1)] x (n-i+1) = n/2</a:t>
            </a:r>
            <a:endParaRPr lang="en-US" altLang="zh-CN" b="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609600" indent="-609600" eaLnBrk="1" hangingPunct="1">
              <a:lnSpc>
                <a:spcPct val="80000"/>
              </a:lnSpc>
              <a:spcBef>
                <a:spcPct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        i=1</a:t>
            </a:r>
            <a:endParaRPr lang="en-US" altLang="zh-CN" b="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lvl="1" algn="l" eaLnBrk="1" hangingPunct="1">
              <a:lnSpc>
                <a:spcPct val="100000"/>
              </a:lnSpc>
              <a:spcBef>
                <a:spcPct val="20000"/>
              </a:spcBef>
              <a:buClrTx/>
              <a:buSzTx/>
              <a:buChar char="•"/>
            </a:pPr>
            <a:r>
              <a:rPr lang="zh-CN" altLang="en-US" dirty="0">
                <a:latin typeface="黑体" panose="02010609060101010101" pitchFamily="2" charset="-122"/>
                <a:cs typeface="+mn-ea"/>
                <a:sym typeface="+mn-ea"/>
              </a:rPr>
              <a:t>顺序表插入操作的时间复杂度为O(n)</a:t>
            </a:r>
            <a:endParaRPr lang="zh-CN" altLang="en-US" dirty="0">
              <a:latin typeface="黑体" panose="02010609060101010101" pitchFamily="2" charset="-122"/>
              <a:cs typeface="+mn-ea"/>
            </a:endParaRPr>
          </a:p>
          <a:p>
            <a:pPr lvl="1" algn="l" eaLnBrk="1" hangingPunct="1">
              <a:lnSpc>
                <a:spcPct val="100000"/>
              </a:lnSpc>
              <a:spcBef>
                <a:spcPct val="20000"/>
              </a:spcBef>
              <a:buClrTx/>
              <a:buSzTx/>
              <a:buChar char="•"/>
            </a:pPr>
            <a:endParaRPr lang="zh-CN" altLang="en-US" dirty="0">
              <a:latin typeface="黑体" panose="02010609060101010101" pitchFamily="2" charset="-122"/>
              <a:cs typeface="+mn-ea"/>
            </a:endParaRPr>
          </a:p>
          <a:p>
            <a:pPr marL="0" indent="0" algn="l" eaLnBrk="1" hangingPunct="1">
              <a:buClrTx/>
              <a:buSzTx/>
              <a:buNone/>
            </a:pPr>
            <a:endParaRPr lang="en-US" altLang="zh-CN" b="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2.2 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线性表的顺序表示和实现</a:t>
            </a:r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525" y="908685"/>
            <a:ext cx="11087735" cy="5144135"/>
          </a:xfrm>
        </p:spPr>
        <p:txBody>
          <a:bodyPr/>
          <a:p>
            <a:pPr algn="l" eaLnBrk="1" hangingPunct="1">
              <a:buClrTx/>
              <a:buSzTx/>
              <a:buChar char="l"/>
            </a:pPr>
            <a:r>
              <a:rPr lang="zh-CN" altLang="en-US" dirty="0">
                <a:latin typeface="黑体" panose="02010609060101010101" pitchFamily="2" charset="-122"/>
                <a:sym typeface="+mn-ea"/>
              </a:rPr>
              <a:t>顺序表的删除：</a:t>
            </a:r>
            <a:r>
              <a:rPr lang="zh-CN" altLang="en-US" sz="2800" dirty="0">
                <a:latin typeface="宋体" panose="02010600030101010101" pitchFamily="2" charset="-122"/>
                <a:sym typeface="+mn-ea"/>
              </a:rPr>
              <a:t>给出删除的顺序表、位置</a:t>
            </a:r>
            <a:endParaRPr lang="zh-CN" altLang="en-US" sz="2800" dirty="0">
              <a:latin typeface="宋体" panose="02010600030101010101" pitchFamily="2" charset="-122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指将顺序表的第i个数据元素删除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操作包括前移(即删除)、长度-1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marL="609600" lvl="1" indent="0" algn="l" eaLnBrk="1" hangingPunct="1">
              <a:buClrTx/>
              <a:buSzTx/>
              <a:buNone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例如将第4个元素删除，需要将最后元素n至第5元素(共7-4)都向前移一位置，长度减1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algn="l" eaLnBrk="1" hangingPunct="1">
              <a:buClrTx/>
              <a:buSzTx/>
              <a:buChar char="l"/>
            </a:pPr>
            <a:endParaRPr lang="en-US" altLang="zh-CN" b="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2.2 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线性表的顺序表示和实现</a:t>
            </a:r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95550" y="3068955"/>
            <a:ext cx="7263130" cy="3111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525" y="908685"/>
            <a:ext cx="11087735" cy="5144135"/>
          </a:xfrm>
        </p:spPr>
        <p:txBody>
          <a:bodyPr/>
          <a:p>
            <a:pPr algn="l" eaLnBrk="1" hangingPunct="1">
              <a:buClrTx/>
              <a:buSzTx/>
              <a:buChar char="l"/>
            </a:pPr>
            <a:r>
              <a:rPr lang="zh-CN" altLang="en-US" dirty="0">
                <a:latin typeface="黑体" panose="02010609060101010101" pitchFamily="2" charset="-122"/>
                <a:sym typeface="+mn-ea"/>
              </a:rPr>
              <a:t>顺序表删除的实现</a:t>
            </a:r>
            <a:endParaRPr lang="zh-CN" altLang="en-US" dirty="0">
              <a:latin typeface="黑体" panose="02010609060101010101" pitchFamily="2" charset="-122"/>
              <a:sym typeface="+mn-ea"/>
            </a:endParaRPr>
          </a:p>
          <a:p>
            <a:pPr marL="609600" indent="-60960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//</a:t>
            </a:r>
            <a:r>
              <a:rPr lang="zh-CN" altLang="en-US" sz="2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注意程序是数组下标</a:t>
            </a:r>
            <a:r>
              <a:rPr lang="en-US" altLang="zh-CN" sz="2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1</a:t>
            </a:r>
            <a:r>
              <a:rPr lang="zh-CN" altLang="en-US" sz="2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为第一个元素位置</a:t>
            </a:r>
            <a:endParaRPr lang="en-US" altLang="zh-CN" sz="2000" dirty="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  <a:p>
            <a:pPr marL="609600" indent="-609600" eaLnBrk="1" hangingPunct="1"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Status ListDelete_Sq(Sqlist &amp;L, int i, ElemType &amp;e) {</a:t>
            </a:r>
            <a:endParaRPr lang="en-US" altLang="zh-CN" sz="2000" b="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hangingPunct="1"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       if (i&lt;1 || i&gt;L.length) return ERROR;</a:t>
            </a:r>
            <a:endParaRPr lang="en-US" altLang="zh-CN" sz="2000" b="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hangingPunct="1"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       p = &amp;(L.elem[i-1]);			// </a:t>
            </a:r>
            <a:r>
              <a:rPr lang="zh-CN" altLang="en-US" sz="2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找到要删除的元素位置</a:t>
            </a:r>
            <a:endParaRPr lang="zh-CN" altLang="en-US" sz="2000" b="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hangingPunct="1"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       </a:t>
            </a:r>
            <a:r>
              <a:rPr lang="en-US" altLang="zh-CN" sz="2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e = *p;</a:t>
            </a:r>
            <a:endParaRPr lang="en-US" altLang="zh-CN" sz="2000" b="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hangingPunct="1"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       q = L.elem + L.length –1;		// </a:t>
            </a:r>
            <a:r>
              <a:rPr lang="zh-CN" altLang="en-US" sz="2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找到最后一个元素位置</a:t>
            </a:r>
            <a:endParaRPr lang="zh-CN" altLang="en-US" sz="2000" b="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hangingPunct="1"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       </a:t>
            </a:r>
            <a:r>
              <a:rPr lang="en-US" altLang="zh-CN" sz="2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for (++p; p&lt;=q; ++p) *(p-1) = *p;	// </a:t>
            </a:r>
            <a:r>
              <a:rPr lang="zh-CN" altLang="en-US" sz="2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左移</a:t>
            </a:r>
            <a:endParaRPr lang="zh-CN" altLang="en-US" sz="2000" b="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hangingPunct="1"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       </a:t>
            </a:r>
            <a:r>
              <a:rPr lang="en-US" altLang="zh-CN" sz="2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--L.length;		// </a:t>
            </a:r>
            <a:r>
              <a:rPr lang="zh-CN" altLang="en-US" sz="2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表长减</a:t>
            </a:r>
            <a:r>
              <a:rPr lang="en-US" altLang="zh-CN" sz="2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1</a:t>
            </a:r>
            <a:endParaRPr lang="en-US" altLang="zh-CN" sz="2000" b="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hangingPunct="1"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       return OK;</a:t>
            </a:r>
            <a:endParaRPr lang="en-US" altLang="zh-CN" sz="2000" b="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hangingPunct="1"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} // ListDelete_Sq</a:t>
            </a:r>
            <a:endParaRPr lang="en-US" altLang="zh-CN" sz="2000" b="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endParaRPr lang="en-US" altLang="zh-CN" sz="2000" b="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2.2 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线性表的顺序表示和实现</a:t>
            </a:r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525" y="908685"/>
            <a:ext cx="11087735" cy="5144135"/>
          </a:xfrm>
        </p:spPr>
        <p:txBody>
          <a:bodyPr/>
          <a:p>
            <a:pPr algn="l" eaLnBrk="1" hangingPunct="1">
              <a:buClrTx/>
              <a:buSzTx/>
              <a:buChar char="l"/>
            </a:pPr>
            <a:r>
              <a:rPr lang="zh-CN" altLang="en-US" dirty="0">
                <a:latin typeface="黑体" panose="02010609060101010101" pitchFamily="2" charset="-122"/>
                <a:sym typeface="+mn-ea"/>
              </a:rPr>
              <a:t>顺序表的另一种删除：</a:t>
            </a:r>
            <a:r>
              <a:rPr lang="zh-CN" altLang="en-US" sz="2800" dirty="0">
                <a:latin typeface="宋体" panose="02010600030101010101" pitchFamily="2" charset="-122"/>
                <a:sym typeface="+mn-ea"/>
              </a:rPr>
              <a:t>给出删除的顺序表、要删除的数值</a:t>
            </a:r>
            <a:endParaRPr lang="zh-CN" altLang="en-US" sz="2800" dirty="0">
              <a:latin typeface="宋体" panose="02010600030101010101" pitchFamily="2" charset="-122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先查找定位被删除元素的位置，然后执行删除操作，包含前移和长度减一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algn="l" eaLnBrk="1" hangingPunct="1">
              <a:buClrTx/>
              <a:buSzTx/>
              <a:buChar char="l"/>
            </a:pPr>
            <a:endParaRPr lang="en-US" altLang="zh-CN" b="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2.2 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线性表的顺序表示和实现</a:t>
            </a:r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35280" y="1844675"/>
            <a:ext cx="8870950" cy="470789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p>
            <a:pPr marL="609600" indent="-609600" eaLnBrk="1" hangingPunct="1"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Status  Locate_Delete_SqList(Sqlist *L</a:t>
            </a:r>
            <a:r>
              <a:rPr lang="zh-CN" altLang="en-US" sz="2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，</a:t>
            </a:r>
            <a:r>
              <a:rPr lang="en-US" altLang="zh-CN" sz="2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ElemType x)</a:t>
            </a:r>
            <a:endParaRPr lang="en-US" altLang="zh-CN" sz="20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hangingPunct="1"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    /*  </a:t>
            </a:r>
            <a:r>
              <a:rPr lang="zh-CN" altLang="en-US" sz="2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删除线性表</a:t>
            </a:r>
            <a:r>
              <a:rPr lang="en-US" altLang="zh-CN" sz="2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L</a:t>
            </a:r>
            <a:r>
              <a:rPr lang="zh-CN" altLang="en-US" sz="2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中值为</a:t>
            </a:r>
            <a:r>
              <a:rPr lang="en-US" altLang="zh-CN" sz="2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x</a:t>
            </a:r>
            <a:r>
              <a:rPr lang="zh-CN" altLang="en-US" sz="2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的第一个结点  *</a:t>
            </a:r>
            <a:r>
              <a:rPr lang="en-US" altLang="zh-CN" sz="2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/</a:t>
            </a:r>
            <a:endParaRPr lang="en-US" altLang="zh-CN" sz="20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hangingPunct="1"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{  int  i=0 , k ; </a:t>
            </a:r>
            <a:endParaRPr lang="en-US" altLang="zh-CN" sz="20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hangingPunct="1"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  while  (i&lt;L-&gt;length)      /*</a:t>
            </a:r>
            <a:r>
              <a:rPr lang="zh-CN" altLang="en-US" sz="2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查找值为</a:t>
            </a:r>
            <a:r>
              <a:rPr lang="en-US" altLang="zh-CN" sz="2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x</a:t>
            </a:r>
            <a:r>
              <a:rPr lang="zh-CN" altLang="en-US" sz="2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的第一个结点*</a:t>
            </a:r>
            <a:r>
              <a:rPr lang="en-US" altLang="zh-CN" sz="2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/ </a:t>
            </a:r>
            <a:endParaRPr lang="en-US" altLang="zh-CN" sz="20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hangingPunct="1"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	{	if  (L-&gt;Elem_array[i]!=x )  i++ ; </a:t>
            </a:r>
            <a:endParaRPr lang="en-US" altLang="zh-CN" sz="20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hangingPunct="1"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		else  </a:t>
            </a:r>
            <a:endParaRPr lang="en-US" altLang="zh-CN" sz="20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hangingPunct="1"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	   {  for ( k=i+1; k&lt; L-&gt;length; k++)</a:t>
            </a:r>
            <a:endParaRPr lang="en-US" altLang="zh-CN" sz="20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hangingPunct="1"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     	   L-&gt;Elem_array[k-1]=L-&gt;Elem_array[k]; </a:t>
            </a:r>
            <a:endParaRPr lang="en-US" altLang="zh-CN" sz="20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hangingPunct="1"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	      L-&gt;length--;  break ; </a:t>
            </a:r>
            <a:endParaRPr lang="en-US" altLang="zh-CN" sz="20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hangingPunct="1"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  		}</a:t>
            </a:r>
            <a:endParaRPr lang="en-US" altLang="zh-CN" sz="20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hangingPunct="1"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	}</a:t>
            </a:r>
            <a:endParaRPr lang="en-US" altLang="zh-CN" sz="20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hangingPunct="1"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 if  (i&gt;L-&gt;length)</a:t>
            </a:r>
            <a:endParaRPr lang="en-US" altLang="zh-CN" sz="20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hangingPunct="1"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 {  printf(“</a:t>
            </a:r>
            <a:r>
              <a:rPr lang="zh-CN" altLang="en-US" sz="2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要删除的数据元素不存在</a:t>
            </a:r>
            <a:r>
              <a:rPr lang="en-US" altLang="zh-CN" sz="2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!\n”) ;  return ERROR ;  }</a:t>
            </a:r>
            <a:endParaRPr lang="en-US" altLang="zh-CN" sz="20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hangingPunct="1"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 return  OK;</a:t>
            </a:r>
            <a:endParaRPr lang="en-US" altLang="zh-CN" sz="20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hangingPunct="1"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}</a:t>
            </a:r>
            <a:endParaRPr lang="en-US" altLang="zh-CN" sz="20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525" y="908685"/>
            <a:ext cx="11087735" cy="5144135"/>
          </a:xfrm>
        </p:spPr>
        <p:txBody>
          <a:bodyPr/>
          <a:p>
            <a:pPr algn="l" eaLnBrk="1" hangingPunct="1">
              <a:buClrTx/>
              <a:buSzTx/>
              <a:buChar char="l"/>
            </a:pPr>
            <a:r>
              <a:rPr lang="zh-CN" altLang="en-US" dirty="0">
                <a:latin typeface="黑体" panose="02010609060101010101" pitchFamily="2" charset="-122"/>
                <a:sym typeface="+mn-ea"/>
              </a:rPr>
              <a:t>顺序表删除的时间复杂度</a:t>
            </a:r>
            <a:endParaRPr lang="zh-CN" altLang="en-US" dirty="0">
              <a:latin typeface="黑体" panose="02010609060101010101" pitchFamily="2" charset="-122"/>
              <a:sym typeface="+mn-ea"/>
            </a:endParaRPr>
          </a:p>
          <a:p>
            <a:pPr lvl="1" algn="l" eaLnBrk="1" hangingPunct="1">
              <a:lnSpc>
                <a:spcPct val="100000"/>
              </a:lnSpc>
              <a:buClrTx/>
              <a:buSzTx/>
              <a:buChar char="•"/>
            </a:pPr>
            <a:r>
              <a:rPr lang="zh-CN" altLang="en-US" dirty="0">
                <a:latin typeface="黑体" panose="02010609060101010101" pitchFamily="2" charset="-122"/>
                <a:cs typeface="+mn-ea"/>
                <a:sym typeface="+mn-ea"/>
              </a:rPr>
              <a:t>当删除位置等概率时，qi=1/n，因此：</a:t>
            </a:r>
            <a:endParaRPr lang="zh-CN" altLang="en-US" dirty="0">
              <a:latin typeface="黑体" panose="02010609060101010101" pitchFamily="2" charset="-122"/>
              <a:cs typeface="+mn-ea"/>
            </a:endParaRPr>
          </a:p>
          <a:p>
            <a:pPr marL="609600" indent="-60960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        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n</a:t>
            </a:r>
            <a:endParaRPr lang="en-US" altLang="zh-CN" b="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609600" indent="-609600" eaLnBrk="1" latinLnBrk="0" hangingPunct="1">
              <a:lnSpc>
                <a:spcPct val="80000"/>
              </a:lnSpc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  E</a:t>
            </a:r>
            <a:r>
              <a:rPr lang="en-US" altLang="zh-CN" baseline="-25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dl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 = </a:t>
            </a:r>
            <a:r>
              <a:rPr lang="en-US" altLang="zh-CN" dirty="0">
                <a:latin typeface="宋体" panose="02010600030101010101" pitchFamily="2" charset="-122"/>
                <a:sym typeface="+mn-ea"/>
              </a:rPr>
              <a:t>∑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 [1/n] x (n-i) = (n-1)/2</a:t>
            </a:r>
            <a:endParaRPr lang="en-US" altLang="zh-CN" b="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609600" indent="-609600" eaLnBrk="1" latinLnBrk="0" hangingPunct="1">
              <a:lnSpc>
                <a:spcPct val="80000"/>
              </a:lnSpc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       i=1</a:t>
            </a:r>
            <a:endParaRPr lang="en-US" altLang="zh-CN" dirty="0">
              <a:latin typeface="宋体" panose="02010600030101010101" pitchFamily="2" charset="-122"/>
            </a:endParaRPr>
          </a:p>
          <a:p>
            <a:pPr lvl="1" algn="l" eaLnBrk="1" hangingPunct="1">
              <a:lnSpc>
                <a:spcPct val="100000"/>
              </a:lnSpc>
              <a:buClrTx/>
              <a:buSzTx/>
              <a:buChar char="•"/>
            </a:pPr>
            <a:r>
              <a:rPr lang="zh-CN" altLang="en-US" dirty="0">
                <a:latin typeface="黑体" panose="02010609060101010101" pitchFamily="2" charset="-122"/>
                <a:cs typeface="+mn-ea"/>
                <a:sym typeface="+mn-ea"/>
              </a:rPr>
              <a:t>在顺序表中删除一个元素，需要向前移动元素个数为：n-i，平均移动元素数为： </a:t>
            </a:r>
            <a:endParaRPr lang="zh-CN" altLang="en-US" dirty="0">
              <a:latin typeface="黑体" panose="02010609060101010101" pitchFamily="2" charset="-122"/>
              <a:cs typeface="+mn-ea"/>
            </a:endParaRPr>
          </a:p>
          <a:p>
            <a:pPr marL="609600" indent="-60960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         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n</a:t>
            </a:r>
            <a:endParaRPr lang="en-US" altLang="zh-CN" b="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609600" indent="-609600" eaLnBrk="1" latinLnBrk="0" hangingPunct="1">
              <a:lnSpc>
                <a:spcPct val="80000"/>
              </a:lnSpc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   E</a:t>
            </a:r>
            <a:r>
              <a:rPr lang="en-US" altLang="zh-CN" baseline="-25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dl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 = </a:t>
            </a:r>
            <a:r>
              <a:rPr lang="en-US" altLang="zh-CN" dirty="0">
                <a:latin typeface="宋体" panose="02010600030101010101" pitchFamily="2" charset="-122"/>
                <a:sym typeface="+mn-ea"/>
              </a:rPr>
              <a:t>∑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 q</a:t>
            </a:r>
            <a:r>
              <a:rPr lang="en-US" altLang="zh-CN" baseline="-25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i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 x (n-i)</a:t>
            </a:r>
            <a:endParaRPr lang="en-US" altLang="zh-CN" b="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609600" indent="-609600" eaLnBrk="1" latinLnBrk="0" hangingPunct="1">
              <a:lnSpc>
                <a:spcPct val="80000"/>
              </a:lnSpc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        i=1</a:t>
            </a:r>
            <a:endParaRPr lang="en-US" altLang="zh-CN" b="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lvl="1" algn="l" eaLnBrk="1" hangingPunct="1">
              <a:lnSpc>
                <a:spcPct val="100000"/>
              </a:lnSpc>
              <a:buClrTx/>
              <a:buSzTx/>
              <a:buChar char="•"/>
            </a:pPr>
            <a:r>
              <a:rPr lang="zh-CN" altLang="en-US" dirty="0">
                <a:latin typeface="黑体" panose="02010609060101010101" pitchFamily="2" charset="-122"/>
                <a:cs typeface="+mn-ea"/>
                <a:sym typeface="+mn-ea"/>
              </a:rPr>
              <a:t>顺序表删除操作的时间复杂度为O(n)</a:t>
            </a:r>
            <a:endParaRPr lang="zh-CN" altLang="en-US" dirty="0">
              <a:latin typeface="黑体" panose="02010609060101010101" pitchFamily="2" charset="-122"/>
              <a:cs typeface="+mn-ea"/>
            </a:endParaRPr>
          </a:p>
          <a:p>
            <a:pPr marL="0" indent="0" algn="l" eaLnBrk="1" hangingPunct="1">
              <a:buClrTx/>
              <a:buSzTx/>
              <a:buNone/>
            </a:pPr>
            <a:endParaRPr lang="en-US" altLang="zh-CN" b="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2.2 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线性表的顺序表示和实现</a:t>
            </a:r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525" y="908685"/>
            <a:ext cx="11087735" cy="5144135"/>
          </a:xfrm>
        </p:spPr>
        <p:txBody>
          <a:bodyPr/>
          <a:p>
            <a:pPr algn="l" eaLnBrk="1" hangingPunct="1">
              <a:buClrTx/>
              <a:buSzTx/>
              <a:buChar char="l"/>
            </a:pPr>
            <a:r>
              <a:rPr lang="zh-CN" altLang="en-US" dirty="0">
                <a:latin typeface="黑体" panose="02010609060101010101" pitchFamily="2" charset="-122"/>
                <a:sym typeface="+mn-ea"/>
              </a:rPr>
              <a:t>顺序表的简单合并：头尾相接</a:t>
            </a:r>
            <a:endParaRPr lang="zh-CN" altLang="en-US" dirty="0">
              <a:latin typeface="黑体" panose="02010609060101010101" pitchFamily="2" charset="-122"/>
              <a:sym typeface="+mn-ea"/>
            </a:endParaRPr>
          </a:p>
          <a:p>
            <a:pPr algn="l" eaLnBrk="1" hangingPunct="1">
              <a:buClrTx/>
              <a:buSzTx/>
              <a:buChar char="l"/>
            </a:pPr>
            <a:r>
              <a:rPr lang="zh-CN" altLang="en-US" dirty="0">
                <a:latin typeface="黑体" panose="02010609060101010101" pitchFamily="2" charset="-122"/>
                <a:sym typeface="+mn-ea"/>
              </a:rPr>
              <a:t>递增顺序表的合并：</a:t>
            </a:r>
            <a:r>
              <a:rPr lang="zh-CN" altLang="en-US" dirty="0">
                <a:latin typeface="宋体" panose="02010600030101010101" pitchFamily="2" charset="-122"/>
                <a:sym typeface="+mn-ea"/>
              </a:rPr>
              <a:t>两个递增有序的队列合并成一个新的有序队</a:t>
            </a:r>
            <a:endParaRPr lang="zh-CN" altLang="en-US" dirty="0">
              <a:latin typeface="宋体" panose="02010600030101010101" pitchFamily="2" charset="-122"/>
              <a:sym typeface="+mn-ea"/>
            </a:endParaRPr>
          </a:p>
          <a:p>
            <a:pPr lvl="1" algn="l" eaLnBrk="1" hangingPunct="1"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已知两个顺序表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a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和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b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，合并成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c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，三者都是递增有序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pPr marL="936625" lvl="1" indent="-609600" eaLnBrk="1" hangingPunct="1">
              <a:lnSpc>
                <a:spcPct val="90000"/>
              </a:lnSpc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1. 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设定指针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pa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、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pb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、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pc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分别指向顺序表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a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、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b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、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c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的起始位置</a:t>
            </a:r>
            <a:endParaRPr lang="en-US" altLang="zh-CN" sz="24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936625" lvl="1" indent="-609600" eaLnBrk="1" hangingPunct="1">
              <a:lnSpc>
                <a:spcPct val="90000"/>
              </a:lnSpc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2. 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循环，条件是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pa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和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pb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都没到末尾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  <a:sym typeface="+mn-ea"/>
            </a:endParaRPr>
          </a:p>
          <a:p>
            <a:pPr marL="936625" lvl="1" indent="-609600" eaLnBrk="1" hangingPunct="1">
              <a:lnSpc>
                <a:spcPct val="90000"/>
              </a:lnSpc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	2-1.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比较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pa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和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pb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指向表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a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和表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b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的元素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  <a:sym typeface="+mn-ea"/>
            </a:endParaRPr>
          </a:p>
          <a:p>
            <a:pPr marL="936625" lvl="1" indent="-609600" eaLnBrk="1" hangingPunct="1">
              <a:lnSpc>
                <a:spcPct val="90000"/>
              </a:lnSpc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	2-2.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把较小元素插入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pc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位置，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  <a:sym typeface="+mn-ea"/>
            </a:endParaRPr>
          </a:p>
          <a:p>
            <a:pPr marL="936625" lvl="1" indent="-609600" eaLnBrk="1" hangingPunct="1">
              <a:lnSpc>
                <a:spcPct val="90000"/>
              </a:lnSpc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	2-3.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较小元素所在顺序表的指针往后移动，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pc++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，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重复循环</a:t>
            </a:r>
            <a:endParaRPr lang="en-US" altLang="zh-CN" sz="24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936625" lvl="1" indent="-609600" eaLnBrk="1" hangingPunct="1">
              <a:lnSpc>
                <a:spcPct val="90000"/>
              </a:lnSpc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3. 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把表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a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或表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b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的剩余元素复制到表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c</a:t>
            </a:r>
            <a:endParaRPr lang="en-US" altLang="zh-CN" sz="24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936625" lvl="1" indent="-609600" eaLnBrk="1" hangingPunct="1">
              <a:lnSpc>
                <a:spcPct val="90000"/>
              </a:lnSpc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结束</a:t>
            </a:r>
            <a:endParaRPr lang="en-US" altLang="zh-CN" sz="24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936625" lvl="1" indent="-609600" eaLnBrk="1" hangingPunct="1">
              <a:lnSpc>
                <a:spcPct val="90000"/>
              </a:lnSpc>
              <a:buClr>
                <a:schemeClr val="accent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宋体" panose="02010600030101010101" pitchFamily="2" charset="-122"/>
            </a:endParaRPr>
          </a:p>
          <a:p>
            <a:pPr lvl="1" algn="l" eaLnBrk="1" hangingPunct="1">
              <a:lnSpc>
                <a:spcPct val="100000"/>
              </a:lnSpc>
              <a:buClrTx/>
              <a:buSzTx/>
              <a:buChar char="•"/>
            </a:pPr>
            <a:endParaRPr lang="zh-CN" altLang="en-US" dirty="0">
              <a:latin typeface="黑体" panose="02010609060101010101" pitchFamily="2" charset="-122"/>
              <a:cs typeface="+mn-ea"/>
            </a:endParaRPr>
          </a:p>
          <a:p>
            <a:pPr marL="0" indent="0" algn="l" eaLnBrk="1" hangingPunct="1">
              <a:buClrTx/>
              <a:buSzTx/>
              <a:buNone/>
            </a:pPr>
            <a:endParaRPr lang="en-US" altLang="zh-CN" b="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2.2 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线性表的顺序表示和实现</a:t>
            </a:r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525" y="908685"/>
            <a:ext cx="11087735" cy="5144135"/>
          </a:xfrm>
        </p:spPr>
        <p:txBody>
          <a:bodyPr/>
          <a:p>
            <a:pPr algn="l" eaLnBrk="1" hangingPunct="1">
              <a:buClrTx/>
              <a:buSzTx/>
              <a:buChar char="l"/>
            </a:pPr>
            <a:r>
              <a:rPr lang="zh-CN" altLang="en-US" dirty="0">
                <a:latin typeface="黑体" panose="02010609060101010101" pitchFamily="2" charset="-122"/>
                <a:sym typeface="+mn-ea"/>
              </a:rPr>
              <a:t>递增顺序表合并的实现</a:t>
            </a:r>
            <a:endParaRPr lang="zh-CN" altLang="en-US" dirty="0">
              <a:latin typeface="黑体" panose="02010609060101010101" pitchFamily="2" charset="-122"/>
              <a:sym typeface="+mn-ea"/>
            </a:endParaRPr>
          </a:p>
          <a:p>
            <a:pPr marL="936625" lvl="1" indent="-609600" eaLnBrk="1" hangingPunct="1">
              <a:lnSpc>
                <a:spcPct val="90000"/>
              </a:lnSpc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void MergeList_Sq(SqList La, SqList Lb, SqList &amp;Lc) {</a:t>
            </a:r>
            <a:endParaRPr lang="zh-CN" altLang="en-US" sz="20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936625" lvl="1" indent="-609600" eaLnBrk="1" hangingPunct="1">
              <a:lnSpc>
                <a:spcPct val="90000"/>
              </a:lnSpc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 </a:t>
            </a:r>
            <a:r>
              <a:rPr lang="en-US" altLang="zh-CN" sz="2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ElemType *pa,*pb,*pc,*pa_last,*pb_last;</a:t>
            </a:r>
            <a:endParaRPr lang="en-US" altLang="zh-CN" sz="20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936625" lvl="1" indent="-609600" eaLnBrk="1" hangingPunct="1">
              <a:lnSpc>
                <a:spcPct val="90000"/>
              </a:lnSpc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 pa = La.elem;  pb = Lb.elem;</a:t>
            </a:r>
            <a:endParaRPr lang="en-US" altLang="zh-CN" sz="20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936625" lvl="1" indent="-609600" eaLnBrk="1" hangingPunct="1">
              <a:lnSpc>
                <a:spcPct val="90000"/>
              </a:lnSpc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 Lc.listsize = Lc.length = La.length+Lb.length;</a:t>
            </a:r>
            <a:endParaRPr lang="en-US" altLang="zh-CN" sz="20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936625" lvl="1" indent="-609600" eaLnBrk="1" hangingPunct="1">
              <a:lnSpc>
                <a:spcPct val="90000"/>
              </a:lnSpc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 pc = Lc.elem = (ElemType *)malloc(Lc.listsize*sizeof(ElemType));</a:t>
            </a:r>
            <a:endParaRPr lang="en-US" altLang="zh-CN" sz="20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936625" lvl="1" indent="-609600" eaLnBrk="1" hangingPunct="1">
              <a:lnSpc>
                <a:spcPct val="90000"/>
              </a:lnSpc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 if (!Lc.elem)    exit(OVERFLOW);   // </a:t>
            </a:r>
            <a:r>
              <a:rPr lang="zh-CN" altLang="en-US" sz="2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存储分配失败</a:t>
            </a:r>
            <a:endParaRPr lang="zh-CN" altLang="en-US" sz="20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936625" lvl="1" indent="-609600" eaLnBrk="1" hangingPunct="1">
              <a:lnSpc>
                <a:spcPct val="90000"/>
              </a:lnSpc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 </a:t>
            </a:r>
            <a:r>
              <a:rPr lang="en-US" altLang="zh-CN" sz="2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pa_last = La.elem+La.length-1;</a:t>
            </a:r>
            <a:endParaRPr lang="en-US" altLang="zh-CN" sz="20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936625" lvl="1" indent="-609600" eaLnBrk="1" hangingPunct="1">
              <a:lnSpc>
                <a:spcPct val="90000"/>
              </a:lnSpc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 pb_last = Lb.elem+Lb.length-1;</a:t>
            </a:r>
            <a:endParaRPr lang="en-US" altLang="zh-CN" sz="20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936625" lvl="1" indent="-609600" eaLnBrk="1" hangingPunct="1">
              <a:lnSpc>
                <a:spcPct val="90000"/>
              </a:lnSpc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 while (pa &lt;= pa_last &amp;&amp; pb &lt;= pb_last) {  // </a:t>
            </a:r>
            <a:r>
              <a:rPr lang="zh-CN" altLang="en-US" sz="2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归并</a:t>
            </a:r>
            <a:endParaRPr lang="zh-CN" altLang="en-US" sz="20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936625" lvl="1" indent="-609600" eaLnBrk="1" hangingPunct="1">
              <a:lnSpc>
                <a:spcPct val="90000"/>
              </a:lnSpc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   </a:t>
            </a:r>
            <a:r>
              <a:rPr lang="en-US" altLang="zh-CN" sz="2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if (*pa &lt;= *pb) *pc++ = *pa++;</a:t>
            </a:r>
            <a:endParaRPr lang="en-US" altLang="zh-CN" sz="20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936625" lvl="1" indent="-609600" eaLnBrk="1" hangingPunct="1">
              <a:lnSpc>
                <a:spcPct val="90000"/>
              </a:lnSpc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   else *pc++ = *pb++;</a:t>
            </a:r>
            <a:endParaRPr lang="en-US" altLang="zh-CN" sz="20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936625" lvl="1" indent="-609600" eaLnBrk="1" hangingPunct="1">
              <a:lnSpc>
                <a:spcPct val="90000"/>
              </a:lnSpc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 }</a:t>
            </a:r>
            <a:endParaRPr lang="en-US" altLang="zh-CN" sz="20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936625" lvl="1" indent="-609600" eaLnBrk="1" hangingPunct="1">
              <a:lnSpc>
                <a:spcPct val="90000"/>
              </a:lnSpc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 while (pa &lt;= pa_last) *pc++ = *pa++;      // </a:t>
            </a:r>
            <a:r>
              <a:rPr lang="zh-CN" altLang="en-US" sz="2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插入</a:t>
            </a:r>
            <a:r>
              <a:rPr lang="en-US" altLang="zh-CN" sz="2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La</a:t>
            </a:r>
            <a:r>
              <a:rPr lang="zh-CN" altLang="en-US" sz="2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的剩余元素</a:t>
            </a:r>
            <a:endParaRPr lang="zh-CN" altLang="en-US" sz="20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936625" lvl="1" indent="-609600" eaLnBrk="1" hangingPunct="1">
              <a:lnSpc>
                <a:spcPct val="90000"/>
              </a:lnSpc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 </a:t>
            </a:r>
            <a:r>
              <a:rPr lang="en-US" altLang="zh-CN" sz="2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while (pb &lt;= pb_last) *pc++ = *pb++;      // </a:t>
            </a:r>
            <a:r>
              <a:rPr lang="zh-CN" altLang="en-US" sz="2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插入</a:t>
            </a:r>
            <a:r>
              <a:rPr lang="en-US" altLang="zh-CN" sz="2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Lb</a:t>
            </a:r>
            <a:r>
              <a:rPr lang="zh-CN" altLang="en-US" sz="2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的剩余元素</a:t>
            </a:r>
            <a:endParaRPr lang="zh-CN" altLang="en-US" sz="20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936625" lvl="1" indent="-609600" eaLnBrk="1" hangingPunct="1">
              <a:lnSpc>
                <a:spcPct val="90000"/>
              </a:lnSpc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} // MergeList</a:t>
            </a:r>
            <a:endParaRPr lang="en-US" altLang="zh-CN" sz="20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0" indent="0" algn="l" eaLnBrk="1" hangingPunct="1">
              <a:buClrTx/>
              <a:buSzTx/>
              <a:buNone/>
            </a:pPr>
            <a:endParaRPr lang="en-US" altLang="zh-CN" sz="2000" b="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2.2 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线性表的顺序表示和实现</a:t>
            </a:r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525" y="908685"/>
            <a:ext cx="11087735" cy="5144135"/>
          </a:xfrm>
        </p:spPr>
        <p:txBody>
          <a:bodyPr/>
          <a:p>
            <a:pPr algn="l" eaLnBrk="1" hangingPunct="1">
              <a:buClrTx/>
              <a:buSzTx/>
              <a:buChar char="l"/>
            </a:pPr>
            <a:r>
              <a:rPr lang="zh-CN" altLang="en-US" dirty="0">
                <a:latin typeface="黑体" panose="02010609060101010101" pitchFamily="2" charset="-122"/>
                <a:sym typeface="+mn-ea"/>
              </a:rPr>
              <a:t>顺序表的优点：</a:t>
            </a:r>
            <a:endParaRPr lang="zh-CN" altLang="en-US" sz="2800" dirty="0">
              <a:latin typeface="宋体" panose="02010600030101010101" pitchFamily="2" charset="-122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元素位置可用一个简单、直观的公式表示并读写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元素可以随机存取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  <a:p>
            <a:pPr algn="l" eaLnBrk="1" hangingPunct="1">
              <a:buClrTx/>
              <a:buSzTx/>
              <a:buChar char="l"/>
            </a:pPr>
            <a:r>
              <a:rPr lang="zh-CN" altLang="en-US" dirty="0">
                <a:latin typeface="黑体" panose="02010609060101010101" pitchFamily="2" charset="-122"/>
                <a:sym typeface="+mn-ea"/>
              </a:rPr>
              <a:t>顺序表的</a:t>
            </a:r>
            <a:r>
              <a:rPr lang="zh-CN" altLang="en-US" sz="2800" dirty="0">
                <a:latin typeface="黑体" panose="02010609060101010101" pitchFamily="2" charset="-122"/>
                <a:sym typeface="+mn-ea"/>
              </a:rPr>
              <a:t>缺点：</a:t>
            </a:r>
            <a:endParaRPr lang="zh-CN" altLang="en-US" sz="2800" dirty="0">
              <a:latin typeface="黑体" panose="02010609060101010101" pitchFamily="2" charset="-122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在作插入或删除操作时，需要移动大量元素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因此引入链表，减少移动操作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  <a:p>
            <a:pPr algn="l" eaLnBrk="1" hangingPunct="1">
              <a:buClrTx/>
              <a:buSzTx/>
              <a:buChar char="l"/>
            </a:pPr>
            <a:endParaRPr lang="en-US" altLang="zh-CN" b="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2.2 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线性表的顺序表示和实现</a:t>
            </a:r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525" y="908685"/>
            <a:ext cx="11087735" cy="5144135"/>
          </a:xfrm>
        </p:spPr>
        <p:txBody>
          <a:bodyPr/>
          <a:p>
            <a:pPr marR="0" lvl="0" algn="l" defTabSz="12192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Char char="l"/>
            </a:pPr>
            <a:r>
              <a:rPr lang="zh-CN" altLang="en-US" sz="2800" dirty="0">
                <a:latin typeface="黑体" panose="02010609060101010101" pitchFamily="2" charset="-122"/>
                <a:sym typeface="+mn-ea"/>
              </a:rPr>
              <a:t>线性表是n个数据元素的有限序列，特征：</a:t>
            </a:r>
            <a:r>
              <a:rPr lang="zh-CN" altLang="en-US" sz="2800" dirty="0">
                <a:latin typeface="黑体" panose="02010609060101010101" pitchFamily="2" charset="-122"/>
                <a:cs typeface="+mn-cs"/>
                <a:sym typeface="+mn-ea"/>
              </a:rPr>
              <a:t>同一性、顺序性</a:t>
            </a:r>
            <a:endParaRPr kumimoji="0" lang="zh-CN" altLang="en-US" sz="2800" i="0" u="none" strike="noStrike" kern="0" cap="none" spc="0" normalizeH="0" baseline="0" dirty="0">
              <a:solidFill>
                <a:schemeClr val="tx1"/>
              </a:solidFill>
              <a:latin typeface="黑体" panose="02010609060101010101" pitchFamily="2" charset="-122"/>
              <a:ea typeface="+mn-ea"/>
              <a:cs typeface="+mn-cs"/>
            </a:endParaRPr>
          </a:p>
          <a:p>
            <a:pPr marR="0" lvl="0" algn="l" defTabSz="12192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Char char="l"/>
            </a:pPr>
            <a:r>
              <a:rPr lang="zh-CN" altLang="en-US" sz="2800" dirty="0">
                <a:latin typeface="黑体" panose="02010609060101010101" pitchFamily="2" charset="-122"/>
                <a:sym typeface="+mn-ea"/>
              </a:rPr>
              <a:t>顺序表是用一组地址连续的存储单元依次存储线性表的数据元素</a:t>
            </a:r>
            <a:endParaRPr kumimoji="0" lang="zh-CN" altLang="en-US" sz="2800" i="0" u="none" strike="noStrike" kern="0" cap="none" spc="0" normalizeH="0" baseline="0" dirty="0">
              <a:solidFill>
                <a:schemeClr val="tx1"/>
              </a:solidFill>
              <a:latin typeface="黑体" panose="02010609060101010101" pitchFamily="2" charset="-122"/>
              <a:ea typeface="+mn-ea"/>
              <a:cs typeface="+mn-cs"/>
            </a:endParaRPr>
          </a:p>
          <a:p>
            <a:pPr marR="0" lvl="1" algn="l" defTabSz="12192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采用C语言中动态分配的一维数组表示顺序表</a:t>
            </a:r>
            <a:endParaRPr kumimoji="0" lang="zh-CN" altLang="en-US" sz="2400" i="0" u="none" strike="noStrike" kern="0" cap="none" spc="0" normalizeH="0" baseline="0" dirty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marR="0" lvl="1" algn="l" defTabSz="12192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数据结构包括elem[]、length、listsize</a:t>
            </a:r>
            <a:endParaRPr kumimoji="0" lang="zh-CN" altLang="en-US" sz="2400" i="0" u="none" strike="noStrike" kern="0" cap="none" spc="0" normalizeH="0" baseline="0" dirty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marR="0" lvl="1" algn="l" defTabSz="12192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分配空间给elem，length=0，listsize=初始设定值</a:t>
            </a:r>
            <a:endParaRPr kumimoji="0" lang="zh-CN" altLang="en-US" sz="2400" i="0" u="none" strike="noStrike" kern="0" cap="none" spc="0" normalizeH="0" baseline="0" dirty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marL="457200" marR="0" lvl="1" indent="-457200" algn="l" defTabSz="12192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 typeface="Wingdings" panose="05000000000000000000" charset="0"/>
              <a:buChar char="l"/>
            </a:pPr>
            <a:r>
              <a:rPr lang="zh-CN" altLang="en-US" sz="2800" dirty="0">
                <a:latin typeface="黑体" panose="02010609060101010101" pitchFamily="2" charset="-122"/>
                <a:cs typeface="+mn-cs"/>
                <a:sym typeface="+mn-ea"/>
              </a:rPr>
              <a:t>顺序表的插入：顺序表对象、位置、数据，时间复杂度O(n)</a:t>
            </a:r>
            <a:endParaRPr kumimoji="0" lang="zh-CN" altLang="en-US" sz="2800" i="0" u="none" strike="noStrike" kern="0" cap="none" spc="0" normalizeH="0" baseline="0" dirty="0">
              <a:solidFill>
                <a:schemeClr val="tx1"/>
              </a:solidFill>
              <a:latin typeface="黑体" panose="02010609060101010101" pitchFamily="2" charset="-122"/>
              <a:ea typeface="+mn-ea"/>
              <a:cs typeface="+mn-cs"/>
            </a:endParaRPr>
          </a:p>
          <a:p>
            <a:pPr marR="0" lvl="1" algn="l" defTabSz="12192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后移元素，插入，length+1，n-i+1个元素往后移动</a:t>
            </a:r>
            <a:endParaRPr kumimoji="0" lang="zh-CN" altLang="en-US" sz="2400" i="0" u="none" strike="noStrike" kern="0" cap="none" spc="0" normalizeH="0" baseline="0" dirty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marL="457200" marR="0" lvl="1" indent="-457200" algn="l" defTabSz="12192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 typeface="Wingdings" panose="05000000000000000000" charset="0"/>
              <a:buChar char="l"/>
            </a:pPr>
            <a:r>
              <a:rPr lang="zh-CN" altLang="en-US" sz="2800" dirty="0">
                <a:latin typeface="黑体" panose="02010609060101010101" pitchFamily="2" charset="-122"/>
                <a:cs typeface="+mn-cs"/>
                <a:sym typeface="+mn-ea"/>
              </a:rPr>
              <a:t>顺序表的删除：顺序表对象、位置，时间复杂度O(n)</a:t>
            </a:r>
            <a:endParaRPr kumimoji="0" lang="zh-CN" altLang="en-US" sz="2800" i="0" u="none" strike="noStrike" kern="0" cap="none" spc="0" normalizeH="0" baseline="0" dirty="0">
              <a:solidFill>
                <a:schemeClr val="tx1"/>
              </a:solidFill>
              <a:latin typeface="黑体" panose="02010609060101010101" pitchFamily="2" charset="-122"/>
              <a:ea typeface="+mn-ea"/>
              <a:cs typeface="+mn-cs"/>
            </a:endParaRPr>
          </a:p>
          <a:p>
            <a:pPr marR="0" lvl="1" algn="l" defTabSz="12192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前移元素（覆盖第i元素），length-1，n-i个元素往前移动</a:t>
            </a:r>
            <a:endParaRPr kumimoji="0" lang="zh-CN" altLang="en-US" sz="2400" i="0" u="none" strike="noStrike" kern="0" cap="none" spc="0" normalizeH="0" baseline="0" dirty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marL="457200" marR="0" lvl="1" indent="-457200" algn="l" defTabSz="12192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 typeface="Wingdings" panose="05000000000000000000" charset="0"/>
              <a:buChar char="l"/>
            </a:pPr>
            <a:r>
              <a:rPr lang="zh-CN" altLang="en-US" sz="2800" dirty="0">
                <a:latin typeface="黑体" panose="02010609060101010101" pitchFamily="2" charset="-122"/>
                <a:cs typeface="+mn-cs"/>
                <a:sym typeface="+mn-ea"/>
              </a:rPr>
              <a:t>掌握C++类方法实现顺序表</a:t>
            </a:r>
            <a:endParaRPr kumimoji="0" lang="zh-CN" altLang="en-US" sz="2800" i="0" u="none" strike="noStrike" kern="0" cap="none" spc="0" normalizeH="0" baseline="0" dirty="0">
              <a:solidFill>
                <a:schemeClr val="tx1"/>
              </a:solidFill>
              <a:latin typeface="黑体" panose="02010609060101010101" pitchFamily="2" charset="-122"/>
              <a:ea typeface="+mn-ea"/>
              <a:cs typeface="+mn-cs"/>
            </a:endParaRPr>
          </a:p>
          <a:p>
            <a:pPr marL="457200" marR="0" lvl="1" indent="-457200" algn="l" defTabSz="12192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 typeface="Wingdings" panose="05000000000000000000" charset="0"/>
              <a:buChar char="l"/>
            </a:pPr>
            <a:r>
              <a:rPr lang="zh-CN" altLang="en-US" sz="2800" dirty="0">
                <a:latin typeface="黑体" panose="02010609060101010101" pitchFamily="2" charset="-122"/>
                <a:cs typeface="+mn-cs"/>
                <a:sym typeface="+mn-ea"/>
              </a:rPr>
              <a:t>顺序表的优缺点</a:t>
            </a:r>
            <a:endParaRPr kumimoji="0" lang="zh-CN" altLang="en-US" sz="2800" i="0" u="none" strike="noStrike" kern="0" cap="none" spc="0" normalizeH="0" baseline="0" dirty="0">
              <a:solidFill>
                <a:schemeClr val="tx1"/>
              </a:solidFill>
              <a:latin typeface="黑体" panose="02010609060101010101" pitchFamily="2" charset="-122"/>
              <a:ea typeface="+mn-ea"/>
              <a:cs typeface="+mn-cs"/>
            </a:endParaRPr>
          </a:p>
          <a:p>
            <a:pPr algn="l" eaLnBrk="1" hangingPunct="1">
              <a:buClrTx/>
              <a:buSzTx/>
              <a:buChar char="l"/>
            </a:pPr>
            <a:endParaRPr lang="en-US" altLang="zh-CN" b="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p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顺序表的知识点总结</a:t>
            </a:r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已知一顺序表包含数值</a:t>
            </a: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11,22,33,44,55,66,77,88,99,111</a:t>
            </a: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共</a:t>
            </a: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10</a:t>
            </a: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个元素，若执行以下操作，计算共移动了多少次，并给出执行后的结果</a:t>
            </a:r>
            <a:endParaRPr lang="zh-CN" altLang="en-US" sz="28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在第</a:t>
            </a:r>
            <a:r>
              <a:rPr lang="en-US" altLang="zh-CN" dirty="0">
                <a:sym typeface="+mn-ea"/>
              </a:rPr>
              <a:t>5</a:t>
            </a:r>
            <a:r>
              <a:rPr lang="zh-CN" altLang="en-US" dirty="0">
                <a:sym typeface="+mn-ea"/>
              </a:rPr>
              <a:t>位置插入数值</a:t>
            </a:r>
            <a:r>
              <a:rPr lang="en-US" altLang="zh-CN" dirty="0">
                <a:sym typeface="+mn-ea"/>
              </a:rPr>
              <a:t>101</a:t>
            </a:r>
            <a:endParaRPr lang="en-US" altLang="zh-CN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在第</a:t>
            </a:r>
            <a:r>
              <a:rPr lang="en-US" altLang="zh-CN" dirty="0">
                <a:sym typeface="+mn-ea"/>
              </a:rPr>
              <a:t>8</a:t>
            </a:r>
            <a:r>
              <a:rPr lang="zh-CN" altLang="en-US" dirty="0">
                <a:sym typeface="+mn-ea"/>
              </a:rPr>
              <a:t>位置插入数值</a:t>
            </a:r>
            <a:r>
              <a:rPr lang="en-US" altLang="zh-CN" dirty="0">
                <a:sym typeface="+mn-ea"/>
              </a:rPr>
              <a:t>202</a:t>
            </a:r>
            <a:endParaRPr lang="en-US" altLang="zh-CN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删除第</a:t>
            </a:r>
            <a:r>
              <a:rPr lang="en-US" altLang="zh-CN" dirty="0">
                <a:sym typeface="+mn-ea"/>
              </a:rPr>
              <a:t>3</a:t>
            </a:r>
            <a:r>
              <a:rPr lang="zh-CN" altLang="en-US" dirty="0">
                <a:sym typeface="+mn-ea"/>
              </a:rPr>
              <a:t>位置元素</a:t>
            </a:r>
            <a:endParaRPr lang="en-US" altLang="zh-CN" dirty="0"/>
          </a:p>
          <a:p>
            <a:pPr marL="965200" lvl="1" indent="-508000" eaLnBrk="1" hangingPunct="1">
              <a:buClr>
                <a:schemeClr val="accent2"/>
              </a:buClr>
              <a:buFont typeface="Wingdings" panose="05000000000000000000" pitchFamily="2" charset="2"/>
              <a:buNone/>
            </a:pPr>
            <a:endParaRPr lang="en-US" altLang="zh-CN" sz="2800" dirty="0"/>
          </a:p>
          <a:p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pPr algn="l">
              <a:buClrTx/>
              <a:buSzTx/>
              <a:buFontTx/>
            </a:pPr>
            <a:r>
              <a:rPr lang="zh-CN" altLang="en-US" sz="400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练习</a:t>
            </a:r>
            <a:endParaRPr lang="zh-CN" altLang="en-US" sz="4000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dirty="0">
                <a:sym typeface="+mn-ea"/>
              </a:rPr>
              <a:t>两个递增有序的顺序表合并，且保持递增有序</a:t>
            </a:r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pPr algn="l">
              <a:buClrTx/>
              <a:buSzTx/>
              <a:buFontTx/>
            </a:pPr>
            <a:r>
              <a:rPr lang="zh-CN" altLang="en-US" sz="400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编程练习讲解</a:t>
            </a:r>
            <a:endParaRPr lang="zh-CN" altLang="en-US" sz="4000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  <p:pic>
        <p:nvPicPr>
          <p:cNvPr id="34820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3750" y="1484630"/>
            <a:ext cx="7038340" cy="44145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" name="直接连接符 23" hidden="1"/>
          <p:cNvSpPr>
            <a:spLocks noChangeShapeType="1"/>
          </p:cNvSpPr>
          <p:nvPr/>
        </p:nvSpPr>
        <p:spPr bwMode="auto">
          <a:xfrm>
            <a:off x="3181350" y="431800"/>
            <a:ext cx="0" cy="525463"/>
          </a:xfrm>
          <a:prstGeom prst="line">
            <a:avLst/>
          </a:prstGeom>
          <a:noFill/>
          <a:ln w="12700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椭圆 24"/>
          <p:cNvSpPr>
            <a:spLocks noChangeArrowheads="1"/>
          </p:cNvSpPr>
          <p:nvPr/>
        </p:nvSpPr>
        <p:spPr bwMode="auto">
          <a:xfrm>
            <a:off x="3662667" y="280019"/>
            <a:ext cx="549275" cy="549275"/>
          </a:xfrm>
          <a:prstGeom prst="ellipse">
            <a:avLst/>
          </a:prstGeom>
          <a:pattFill prst="sphere">
            <a:fgClr>
              <a:srgbClr val="4F81BD"/>
            </a:fgClr>
            <a:bgClr>
              <a:srgbClr val="FFFFFF"/>
            </a:bgClr>
          </a:pattFill>
          <a:ln w="9525" cap="flat" cmpd="sng">
            <a:solidFill>
              <a:srgbClr val="4DB8DD"/>
            </a:solidFill>
            <a:bevel/>
          </a:ln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33" name="直接连接符 23"/>
          <p:cNvSpPr>
            <a:spLocks noChangeShapeType="1"/>
          </p:cNvSpPr>
          <p:nvPr/>
        </p:nvSpPr>
        <p:spPr bwMode="auto">
          <a:xfrm>
            <a:off x="4238612" y="927719"/>
            <a:ext cx="3583940" cy="635"/>
          </a:xfrm>
          <a:prstGeom prst="line">
            <a:avLst/>
          </a:prstGeom>
          <a:noFill/>
          <a:ln w="19050" cap="flat" cmpd="sng">
            <a:solidFill>
              <a:schemeClr val="accent1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Rectangle 3"/>
          <p:cNvSpPr txBox="1">
            <a:spLocks noChangeArrowheads="1"/>
          </p:cNvSpPr>
          <p:nvPr/>
        </p:nvSpPr>
        <p:spPr>
          <a:xfrm>
            <a:off x="3469640" y="1268730"/>
            <a:ext cx="6001385" cy="4664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altLang="en-US" sz="3200" b="1" dirty="0">
                <a:latin typeface="宋体" panose="02010600030101010101" pitchFamily="2" charset="-122"/>
                <a:sym typeface="+mn-ea"/>
              </a:rPr>
              <a:t>线性表的类型定义</a:t>
            </a:r>
            <a:endParaRPr lang="zh-CN" altLang="en-US" sz="3200" b="1" dirty="0">
              <a:latin typeface="宋体" panose="02010600030101010101" pitchFamily="2" charset="-122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altLang="en-US" sz="3200" b="1" dirty="0">
                <a:latin typeface="宋体" panose="02010600030101010101" pitchFamily="2" charset="-122"/>
                <a:sym typeface="+mn-ea"/>
              </a:rPr>
              <a:t>线性表的顺序表示和实现</a:t>
            </a:r>
            <a:endParaRPr lang="zh-CN" altLang="en-US" sz="3200" b="1" dirty="0">
              <a:latin typeface="宋体" panose="02010600030101010101" pitchFamily="2" charset="-122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altLang="en-US" sz="3200" b="1" dirty="0">
                <a:latin typeface="宋体" panose="02010600030101010101" pitchFamily="2" charset="-122"/>
                <a:sym typeface="+mn-ea"/>
              </a:rPr>
              <a:t>线性表的链式表示和实现</a:t>
            </a:r>
            <a:endParaRPr lang="zh-CN" altLang="en-US" sz="3200" b="1" dirty="0">
              <a:latin typeface="宋体" panose="02010600030101010101" pitchFamily="2" charset="-122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altLang="en-US" sz="3200" b="1" dirty="0">
                <a:latin typeface="宋体" panose="02010600030101010101" pitchFamily="2" charset="-122"/>
                <a:sym typeface="+mn-ea"/>
              </a:rPr>
              <a:t>一元多项式的表示和实现</a:t>
            </a:r>
            <a:endParaRPr lang="zh-CN" altLang="en-US" sz="3200" b="1" dirty="0">
              <a:latin typeface="宋体" panose="02010600030101010101" pitchFamily="2" charset="-122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endParaRPr lang="zh-CN" altLang="en-US" sz="3200" b="1" dirty="0">
              <a:latin typeface="楷体" panose="02010609060101010101" charset="-122"/>
              <a:ea typeface="楷体" panose="02010609060101010101" charset="-122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endParaRPr kumimoji="0" lang="zh-CN" altLang="en-US" sz="3200" b="0" i="0" u="none" strike="noStrike" kern="1200" cap="none" spc="0" normalizeH="0" baseline="0" noProof="0" dirty="0" err="1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charset="-122"/>
              <a:ea typeface="楷体" panose="02010609060101010101" charset="-122"/>
              <a:cs typeface="+mn-cs"/>
            </a:endParaRPr>
          </a:p>
          <a:p>
            <a:pPr marL="1028700" marR="0" lvl="1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charset="0"/>
              <a:buChar char="Ø"/>
              <a:defRPr/>
            </a:pPr>
            <a:endParaRPr kumimoji="0" lang="zh-CN" altLang="en-US" sz="3200" b="0" i="0" u="none" strike="noStrike" kern="1200" cap="none" spc="0" normalizeH="0" baseline="0" noProof="0" dirty="0" err="1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charset="-122"/>
              <a:ea typeface="楷体" panose="02010609060101010101" charset="-122"/>
              <a:cs typeface="+mn-cs"/>
              <a:sym typeface="+mn-l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4079875" y="2375535"/>
            <a:ext cx="4613275" cy="530860"/>
          </a:xfrm>
          <a:prstGeom prst="rect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46" name="Text Box 2"/>
          <p:cNvSpPr txBox="1"/>
          <p:nvPr/>
        </p:nvSpPr>
        <p:spPr>
          <a:xfrm>
            <a:off x="4007168" y="188278"/>
            <a:ext cx="3960812" cy="7683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/>
            <a:r>
              <a:rPr lang="zh-CN" altLang="en-US" sz="4400" b="1" dirty="0">
                <a:solidFill>
                  <a:srgbClr val="0000CC"/>
                </a:solidFill>
                <a:latin typeface="宋体" panose="02010600030101010101" pitchFamily="2" charset="-122"/>
              </a:rPr>
              <a:t>第二章 线性表</a:t>
            </a:r>
            <a:endParaRPr lang="zh-CN" altLang="en-US" sz="4400" dirty="0">
              <a:solidFill>
                <a:srgbClr val="0000CC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525" y="908685"/>
            <a:ext cx="11087735" cy="5144135"/>
          </a:xfrm>
        </p:spPr>
        <p:txBody>
          <a:bodyPr/>
          <a:p>
            <a:pPr algn="l" eaLnBrk="1" hangingPunct="1">
              <a:buClrTx/>
              <a:buSzTx/>
              <a:buChar char="l"/>
            </a:pP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链表是线性表的链式存储表示</a:t>
            </a:r>
            <a:endParaRPr lang="zh-CN" altLang="en-US" sz="280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链表中逻辑关系相邻的元素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不一定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在存储位置上相连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链表由一系列链表结点组成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链表结点用指针表示元素之间的邻接关系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algn="l" eaLnBrk="1" hangingPunct="1">
              <a:buClrTx/>
              <a:buSzTx/>
              <a:buChar char="l"/>
            </a:pP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线性表的链式存储表示主要有三种形式：</a:t>
            </a:r>
            <a:endParaRPr lang="zh-CN" altLang="en-US" sz="2800" dirty="0">
              <a:latin typeface="宋体" panose="02010600030101010101" pitchFamily="2" charset="-122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线性链表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循环链表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双向链表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algn="l" eaLnBrk="1" hangingPunct="1">
              <a:buClrTx/>
              <a:buSzTx/>
              <a:buChar char="l"/>
            </a:pPr>
            <a:endParaRPr lang="en-US" altLang="zh-CN" b="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2.3 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线性表的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链式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表示和实现</a:t>
            </a:r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525" y="908685"/>
            <a:ext cx="11087735" cy="5144135"/>
          </a:xfrm>
        </p:spPr>
        <p:txBody>
          <a:bodyPr/>
          <a:p>
            <a:pPr algn="l" eaLnBrk="1" hangingPunct="1">
              <a:buClrTx/>
              <a:buSzTx/>
              <a:buChar char="l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线性链表的元素称为结点(node)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algn="l" eaLnBrk="1" hangingPunct="1">
              <a:buClrTx/>
              <a:buSzTx/>
              <a:buChar char="l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结点除包含数据元素信息的数据域外，还包含指示直接后继的指针域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algn="l" eaLnBrk="1" hangingPunct="1">
              <a:buClrTx/>
              <a:buSzTx/>
              <a:buChar char="l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每个结点，在需要时动态生成，在删除时释放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algn="l" eaLnBrk="1" hangingPunct="1">
              <a:buClrTx/>
              <a:buSzTx/>
              <a:buChar char="l"/>
            </a:pPr>
            <a:endParaRPr lang="en-US" altLang="zh-CN" b="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2.3 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线性表的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链式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表示和实现</a:t>
            </a:r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  <p:grpSp>
        <p:nvGrpSpPr>
          <p:cNvPr id="28676" name="Group 4"/>
          <p:cNvGrpSpPr/>
          <p:nvPr/>
        </p:nvGrpSpPr>
        <p:grpSpPr>
          <a:xfrm>
            <a:off x="3903663" y="3284538"/>
            <a:ext cx="2971800" cy="644525"/>
            <a:chOff x="1860" y="3312"/>
            <a:chExt cx="1872" cy="406"/>
          </a:xfrm>
        </p:grpSpPr>
        <p:sp>
          <p:nvSpPr>
            <p:cNvPr id="703493" name="Rectangle 5"/>
            <p:cNvSpPr>
              <a:spLocks noChangeArrowheads="1"/>
            </p:cNvSpPr>
            <p:nvPr/>
          </p:nvSpPr>
          <p:spPr bwMode="auto">
            <a:xfrm>
              <a:off x="1860" y="3332"/>
              <a:ext cx="1872" cy="384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chemeClr val="tx1"/>
              </a:solidFill>
              <a:miter lim="800000"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678" name="Text Box 6"/>
            <p:cNvSpPr txBox="1"/>
            <p:nvPr/>
          </p:nvSpPr>
          <p:spPr>
            <a:xfrm>
              <a:off x="2016" y="3312"/>
              <a:ext cx="1547" cy="40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3600" b="1" dirty="0">
                  <a:solidFill>
                    <a:schemeClr val="hlink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data     next</a:t>
              </a:r>
              <a:endParaRPr lang="en-US" altLang="zh-CN" sz="3600" b="1" dirty="0">
                <a:solidFill>
                  <a:schemeClr val="hlink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679" name="Line 7"/>
            <p:cNvSpPr/>
            <p:nvPr/>
          </p:nvSpPr>
          <p:spPr>
            <a:xfrm>
              <a:off x="2772" y="3332"/>
              <a:ext cx="0" cy="384"/>
            </a:xfrm>
            <a:prstGeom prst="line">
              <a:avLst/>
            </a:prstGeom>
            <a:ln w="38100" cap="flat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525" y="908685"/>
            <a:ext cx="11087735" cy="5144135"/>
          </a:xfrm>
        </p:spPr>
        <p:txBody>
          <a:bodyPr/>
          <a:p>
            <a:pPr algn="l" eaLnBrk="1" hangingPunct="1">
              <a:buClrTx/>
              <a:buSzTx/>
              <a:buChar char="l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每个结点只包含一个指针域的链表称为单链表，单链表可由头指针惟一确定，单链表最后一个元素的指针域为空（NULL）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algn="l" eaLnBrk="1" hangingPunct="1">
              <a:buClrTx/>
              <a:buSzTx/>
              <a:buChar char="l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为了操作方便，往往在链表的第一个结点之前附设一个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头结点</a:t>
            </a:r>
            <a:endParaRPr lang="zh-CN" altLang="en-US" dirty="0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  <a:p>
            <a:pPr algn="l" eaLnBrk="1" hangingPunct="1">
              <a:buClrTx/>
              <a:buSzTx/>
              <a:buChar char="l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头结点类似一个火车头，无论后面的多少节车厢发生变化，火车头始终不变，引领方向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  <a:p>
            <a:pPr algn="l" eaLnBrk="1" hangingPunct="1">
              <a:buClrTx/>
              <a:buSzTx/>
              <a:buChar char="l"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  <a:p>
            <a:pPr algn="l" eaLnBrk="1" hangingPunct="1">
              <a:buClrTx/>
              <a:buSzTx/>
              <a:buChar char="l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头结点虽然有数据域，但是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  <a:p>
            <a:pPr marL="0" indent="0" algn="l" eaLnBrk="1" hangingPunct="1">
              <a:buClrTx/>
              <a:buSzTx/>
              <a:buNone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不存放数据，主要由指针域指明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  <a:p>
            <a:pPr marL="0" indent="0" algn="l" eaLnBrk="1" hangingPunct="1">
              <a:buClrTx/>
              <a:buSzTx/>
              <a:buNone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链表头部位置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  <a:p>
            <a:pPr algn="l" eaLnBrk="1" hangingPunct="1">
              <a:buClrTx/>
              <a:buSzTx/>
              <a:buChar char="l"/>
            </a:pPr>
            <a:endParaRPr lang="zh-CN" altLang="en-US" b="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2.3 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线性表的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链式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表示和实现</a:t>
            </a:r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0" y="3068955"/>
            <a:ext cx="5266690" cy="292036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525" y="908685"/>
            <a:ext cx="11087735" cy="5144135"/>
          </a:xfrm>
        </p:spPr>
        <p:txBody>
          <a:bodyPr/>
          <a:p>
            <a:pPr algn="l" eaLnBrk="1" hangingPunct="1">
              <a:buClrTx/>
              <a:buSzTx/>
              <a:buChar char="l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不带头结点带头指针的单链表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  <a:p>
            <a:pPr algn="l" eaLnBrk="1" hangingPunct="1">
              <a:buClrTx/>
              <a:buSzTx/>
              <a:buChar char="l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带头结点的单链表：</a:t>
            </a:r>
            <a:r>
              <a:rPr lang="zh-CN" altLang="en-US" b="0" dirty="0">
                <a:latin typeface="黑体" panose="02010609060101010101" pitchFamily="2" charset="-122"/>
                <a:ea typeface="黑体" panose="02010609060101010101" pitchFamily="2" charset="-122"/>
              </a:rPr>
              <a:t>头结点、首结点、尾结点</a:t>
            </a:r>
            <a:endParaRPr lang="zh-CN" altLang="en-US" b="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algn="l" eaLnBrk="1" hangingPunct="1">
              <a:buClrTx/>
              <a:buSzTx/>
              <a:buChar char="l"/>
            </a:pPr>
            <a:r>
              <a:rPr lang="zh-CN" altLang="en-US" b="0" dirty="0">
                <a:latin typeface="黑体" panose="02010609060101010101" pitchFamily="2" charset="-122"/>
                <a:ea typeface="黑体" panose="02010609060101010101" pitchFamily="2" charset="-122"/>
              </a:rPr>
              <a:t>空链表</a:t>
            </a:r>
            <a:endParaRPr lang="zh-CN" altLang="en-US" b="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2.3 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线性表的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链式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表示和实现</a:t>
            </a:r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1758315" y="3136900"/>
            <a:ext cx="7467600" cy="2117441"/>
            <a:chOff x="3590" y="5968"/>
            <a:chExt cx="11760" cy="3335"/>
          </a:xfrm>
        </p:grpSpPr>
        <p:grpSp>
          <p:nvGrpSpPr>
            <p:cNvPr id="30724" name="Group 4"/>
            <p:cNvGrpSpPr/>
            <p:nvPr/>
          </p:nvGrpSpPr>
          <p:grpSpPr>
            <a:xfrm>
              <a:off x="5258" y="7100"/>
              <a:ext cx="10093" cy="1040"/>
              <a:chOff x="1195" y="3264"/>
              <a:chExt cx="4037" cy="416"/>
            </a:xfrm>
          </p:grpSpPr>
          <p:sp>
            <p:nvSpPr>
              <p:cNvPr id="705541" name="Rectangle 5"/>
              <p:cNvSpPr>
                <a:spLocks noChangeArrowheads="1"/>
              </p:cNvSpPr>
              <p:nvPr/>
            </p:nvSpPr>
            <p:spPr bwMode="auto">
              <a:xfrm>
                <a:off x="1195" y="3312"/>
                <a:ext cx="617" cy="336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chemeClr val="tx1"/>
                </a:solidFill>
                <a:miter lim="800000"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0726" name="Line 6"/>
              <p:cNvSpPr/>
              <p:nvPr/>
            </p:nvSpPr>
            <p:spPr>
              <a:xfrm>
                <a:off x="1587" y="3312"/>
                <a:ext cx="0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05544" name="Rectangle 8"/>
              <p:cNvSpPr>
                <a:spLocks noChangeArrowheads="1"/>
              </p:cNvSpPr>
              <p:nvPr/>
            </p:nvSpPr>
            <p:spPr bwMode="auto">
              <a:xfrm>
                <a:off x="2036" y="3312"/>
                <a:ext cx="617" cy="336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chemeClr val="tx1"/>
                </a:solidFill>
                <a:miter lim="800000"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0729" name="Line 9"/>
              <p:cNvSpPr/>
              <p:nvPr/>
            </p:nvSpPr>
            <p:spPr>
              <a:xfrm>
                <a:off x="2429" y="3312"/>
                <a:ext cx="0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0730" name="Line 10"/>
              <p:cNvSpPr/>
              <p:nvPr/>
            </p:nvSpPr>
            <p:spPr>
              <a:xfrm>
                <a:off x="1700" y="3504"/>
                <a:ext cx="33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sm" len="med"/>
              </a:ln>
            </p:spPr>
          </p:sp>
          <p:sp>
            <p:nvSpPr>
              <p:cNvPr id="705547" name="Rectangle 11"/>
              <p:cNvSpPr>
                <a:spLocks noChangeArrowheads="1"/>
              </p:cNvSpPr>
              <p:nvPr/>
            </p:nvSpPr>
            <p:spPr bwMode="auto">
              <a:xfrm>
                <a:off x="2877" y="3312"/>
                <a:ext cx="617" cy="336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chemeClr val="tx1"/>
                </a:solidFill>
                <a:miter lim="800000"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0732" name="Line 12"/>
              <p:cNvSpPr/>
              <p:nvPr/>
            </p:nvSpPr>
            <p:spPr>
              <a:xfrm>
                <a:off x="3270" y="3312"/>
                <a:ext cx="0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0733" name="Line 13"/>
              <p:cNvSpPr/>
              <p:nvPr/>
            </p:nvSpPr>
            <p:spPr>
              <a:xfrm>
                <a:off x="2541" y="3504"/>
                <a:ext cx="33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sm" len="med"/>
              </a:ln>
            </p:spPr>
          </p:sp>
          <p:sp>
            <p:nvSpPr>
              <p:cNvPr id="705550" name="Rectangle 14"/>
              <p:cNvSpPr>
                <a:spLocks noChangeArrowheads="1"/>
              </p:cNvSpPr>
              <p:nvPr/>
            </p:nvSpPr>
            <p:spPr bwMode="auto">
              <a:xfrm>
                <a:off x="3718" y="3312"/>
                <a:ext cx="617" cy="336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chemeClr val="tx1"/>
                </a:solidFill>
                <a:miter lim="800000"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0735" name="Line 15"/>
              <p:cNvSpPr/>
              <p:nvPr/>
            </p:nvSpPr>
            <p:spPr>
              <a:xfrm>
                <a:off x="4111" y="3312"/>
                <a:ext cx="0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0736" name="Line 16"/>
              <p:cNvSpPr/>
              <p:nvPr/>
            </p:nvSpPr>
            <p:spPr>
              <a:xfrm>
                <a:off x="3382" y="3504"/>
                <a:ext cx="33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sm" len="med"/>
              </a:ln>
            </p:spPr>
          </p:sp>
          <p:sp>
            <p:nvSpPr>
              <p:cNvPr id="705553" name="Rectangle 17"/>
              <p:cNvSpPr>
                <a:spLocks noChangeArrowheads="1"/>
              </p:cNvSpPr>
              <p:nvPr/>
            </p:nvSpPr>
            <p:spPr bwMode="auto">
              <a:xfrm>
                <a:off x="4615" y="3312"/>
                <a:ext cx="617" cy="336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chemeClr val="tx1"/>
                </a:solidFill>
                <a:miter lim="800000"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0738" name="Line 18"/>
              <p:cNvSpPr/>
              <p:nvPr/>
            </p:nvSpPr>
            <p:spPr>
              <a:xfrm>
                <a:off x="4952" y="3312"/>
                <a:ext cx="1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0739" name="Line 19"/>
              <p:cNvSpPr/>
              <p:nvPr/>
            </p:nvSpPr>
            <p:spPr>
              <a:xfrm>
                <a:off x="4223" y="3504"/>
                <a:ext cx="367" cy="1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sm" len="med"/>
              </a:ln>
            </p:spPr>
          </p:sp>
          <p:sp>
            <p:nvSpPr>
              <p:cNvPr id="30740" name="Text Box 20"/>
              <p:cNvSpPr txBox="1"/>
              <p:nvPr/>
            </p:nvSpPr>
            <p:spPr>
              <a:xfrm>
                <a:off x="1195" y="3313"/>
                <a:ext cx="293" cy="36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 algn="ctr"/>
                <a:endParaRPr lang="en-US" altLang="zh-CN" sz="320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741" name="Text Box 21"/>
              <p:cNvSpPr txBox="1"/>
              <p:nvPr/>
            </p:nvSpPr>
            <p:spPr>
              <a:xfrm>
                <a:off x="2045" y="3264"/>
                <a:ext cx="326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3200" b="1" i="1" dirty="0">
                    <a:solidFill>
                      <a:srgbClr val="FF505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a</a:t>
                </a:r>
                <a:r>
                  <a:rPr lang="en-US" altLang="zh-CN" sz="3200" b="1" baseline="-25000" dirty="0">
                    <a:solidFill>
                      <a:srgbClr val="FF505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1</a:t>
                </a:r>
                <a:endParaRPr lang="en-US" altLang="zh-CN" sz="240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742" name="Text Box 22"/>
              <p:cNvSpPr txBox="1"/>
              <p:nvPr/>
            </p:nvSpPr>
            <p:spPr>
              <a:xfrm>
                <a:off x="2886" y="3264"/>
                <a:ext cx="326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3200" b="1" i="1" dirty="0">
                    <a:solidFill>
                      <a:srgbClr val="FF505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a</a:t>
                </a:r>
                <a:r>
                  <a:rPr lang="en-US" altLang="zh-CN" sz="3200" b="1" baseline="-25000" dirty="0">
                    <a:solidFill>
                      <a:srgbClr val="FF505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2</a:t>
                </a:r>
                <a:endParaRPr lang="en-US" altLang="zh-CN" sz="240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743" name="Text Box 23"/>
              <p:cNvSpPr txBox="1"/>
              <p:nvPr/>
            </p:nvSpPr>
            <p:spPr>
              <a:xfrm>
                <a:off x="3727" y="3264"/>
                <a:ext cx="326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3200" b="1" i="1" dirty="0">
                    <a:solidFill>
                      <a:srgbClr val="FF505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a</a:t>
                </a:r>
                <a:r>
                  <a:rPr lang="en-US" altLang="zh-CN" sz="3200" b="1" baseline="-25000" dirty="0">
                    <a:solidFill>
                      <a:srgbClr val="FF505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3</a:t>
                </a:r>
                <a:endParaRPr lang="en-US" altLang="zh-CN" sz="240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744" name="Text Box 24"/>
              <p:cNvSpPr txBox="1"/>
              <p:nvPr/>
            </p:nvSpPr>
            <p:spPr>
              <a:xfrm>
                <a:off x="4615" y="3264"/>
                <a:ext cx="326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3200" b="1" i="1" dirty="0">
                    <a:solidFill>
                      <a:srgbClr val="FF505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a</a:t>
                </a:r>
                <a:r>
                  <a:rPr lang="en-US" altLang="zh-CN" sz="3200" b="1" baseline="-25000" dirty="0">
                    <a:solidFill>
                      <a:srgbClr val="FF505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4</a:t>
                </a:r>
                <a:endParaRPr lang="en-US" altLang="zh-CN" sz="240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745" name="Text Box 25"/>
              <p:cNvSpPr txBox="1"/>
              <p:nvPr/>
            </p:nvSpPr>
            <p:spPr>
              <a:xfrm>
                <a:off x="4961" y="3318"/>
                <a:ext cx="271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r>
                  <a:rPr lang="en-US" altLang="zh-CN" sz="2400" b="1" dirty="0">
                    <a:solidFill>
                      <a:schemeClr val="hlink"/>
                    </a:solidFill>
                    <a:latin typeface="Times New Roman" panose="02020603050405020304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</a:t>
                </a:r>
                <a:endParaRPr lang="en-US" altLang="zh-CN" sz="2400" dirty="0">
                  <a:solidFill>
                    <a:schemeClr val="hlink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0748" name="Group 28"/>
            <p:cNvGrpSpPr/>
            <p:nvPr/>
          </p:nvGrpSpPr>
          <p:grpSpPr>
            <a:xfrm rot="0">
              <a:off x="5253" y="8463"/>
              <a:ext cx="1655" cy="840"/>
              <a:chOff x="4609" y="3206"/>
              <a:chExt cx="662" cy="336"/>
            </a:xfrm>
          </p:grpSpPr>
          <p:sp>
            <p:nvSpPr>
              <p:cNvPr id="705565" name="Rectangle 29"/>
              <p:cNvSpPr>
                <a:spLocks noChangeArrowheads="1"/>
              </p:cNvSpPr>
              <p:nvPr/>
            </p:nvSpPr>
            <p:spPr bwMode="auto">
              <a:xfrm>
                <a:off x="4609" y="3206"/>
                <a:ext cx="617" cy="336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chemeClr val="tx1"/>
                </a:solidFill>
                <a:miter lim="800000"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4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0750" name="Line 30"/>
              <p:cNvSpPr/>
              <p:nvPr/>
            </p:nvSpPr>
            <p:spPr>
              <a:xfrm>
                <a:off x="4991" y="3206"/>
                <a:ext cx="1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0752" name="Text Box 32"/>
              <p:cNvSpPr txBox="1"/>
              <p:nvPr/>
            </p:nvSpPr>
            <p:spPr>
              <a:xfrm>
                <a:off x="5000" y="3212"/>
                <a:ext cx="271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r>
                  <a:rPr lang="en-US" altLang="zh-CN" sz="2400" b="1" dirty="0">
                    <a:solidFill>
                      <a:schemeClr val="hlink"/>
                    </a:solidFill>
                    <a:latin typeface="Times New Roman" panose="02020603050405020304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</a:t>
                </a:r>
                <a:endParaRPr lang="en-US" altLang="zh-CN" sz="2400" dirty="0">
                  <a:solidFill>
                    <a:schemeClr val="hlink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0754" name="Group 34"/>
            <p:cNvGrpSpPr/>
            <p:nvPr/>
          </p:nvGrpSpPr>
          <p:grpSpPr>
            <a:xfrm>
              <a:off x="3590" y="5968"/>
              <a:ext cx="9605" cy="960"/>
              <a:chOff x="1383" y="2387"/>
              <a:chExt cx="3842" cy="384"/>
            </a:xfrm>
          </p:grpSpPr>
          <p:sp>
            <p:nvSpPr>
              <p:cNvPr id="705571" name="Rectangle 35"/>
              <p:cNvSpPr>
                <a:spLocks noChangeArrowheads="1"/>
              </p:cNvSpPr>
              <p:nvPr/>
            </p:nvSpPr>
            <p:spPr bwMode="auto">
              <a:xfrm>
                <a:off x="2029" y="2435"/>
                <a:ext cx="617" cy="336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chemeClr val="tx1"/>
                </a:solidFill>
                <a:miter lim="800000"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4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0756" name="Line 36"/>
              <p:cNvSpPr/>
              <p:nvPr/>
            </p:nvSpPr>
            <p:spPr>
              <a:xfrm>
                <a:off x="2422" y="2435"/>
                <a:ext cx="0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0757" name="Line 37"/>
              <p:cNvSpPr/>
              <p:nvPr/>
            </p:nvSpPr>
            <p:spPr>
              <a:xfrm>
                <a:off x="1693" y="2627"/>
                <a:ext cx="33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sm" len="med"/>
              </a:ln>
            </p:spPr>
          </p:sp>
          <p:sp>
            <p:nvSpPr>
              <p:cNvPr id="705574" name="Rectangle 38"/>
              <p:cNvSpPr>
                <a:spLocks noChangeArrowheads="1"/>
              </p:cNvSpPr>
              <p:nvPr/>
            </p:nvSpPr>
            <p:spPr bwMode="auto">
              <a:xfrm>
                <a:off x="2870" y="2435"/>
                <a:ext cx="617" cy="336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chemeClr val="tx1"/>
                </a:solidFill>
                <a:miter lim="800000"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4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0759" name="Line 39"/>
              <p:cNvSpPr/>
              <p:nvPr/>
            </p:nvSpPr>
            <p:spPr>
              <a:xfrm>
                <a:off x="3263" y="2435"/>
                <a:ext cx="0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0760" name="Line 40"/>
              <p:cNvSpPr/>
              <p:nvPr/>
            </p:nvSpPr>
            <p:spPr>
              <a:xfrm>
                <a:off x="2534" y="2627"/>
                <a:ext cx="33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sm" len="med"/>
              </a:ln>
            </p:spPr>
          </p:sp>
          <p:sp>
            <p:nvSpPr>
              <p:cNvPr id="705577" name="Rectangle 41"/>
              <p:cNvSpPr>
                <a:spLocks noChangeArrowheads="1"/>
              </p:cNvSpPr>
              <p:nvPr/>
            </p:nvSpPr>
            <p:spPr bwMode="auto">
              <a:xfrm>
                <a:off x="3711" y="2435"/>
                <a:ext cx="617" cy="336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chemeClr val="tx1"/>
                </a:solidFill>
                <a:miter lim="800000"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4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0762" name="Line 42"/>
              <p:cNvSpPr/>
              <p:nvPr/>
            </p:nvSpPr>
            <p:spPr>
              <a:xfrm>
                <a:off x="4104" y="2435"/>
                <a:ext cx="0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0763" name="Line 43"/>
              <p:cNvSpPr/>
              <p:nvPr/>
            </p:nvSpPr>
            <p:spPr>
              <a:xfrm>
                <a:off x="3375" y="2627"/>
                <a:ext cx="33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sm" len="med"/>
              </a:ln>
            </p:spPr>
          </p:sp>
          <p:sp>
            <p:nvSpPr>
              <p:cNvPr id="705580" name="Rectangle 44"/>
              <p:cNvSpPr>
                <a:spLocks noChangeArrowheads="1"/>
              </p:cNvSpPr>
              <p:nvPr/>
            </p:nvSpPr>
            <p:spPr bwMode="auto">
              <a:xfrm>
                <a:off x="4608" y="2435"/>
                <a:ext cx="617" cy="336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chemeClr val="tx1"/>
                </a:solidFill>
                <a:miter lim="800000"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4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0765" name="Line 45"/>
              <p:cNvSpPr/>
              <p:nvPr/>
            </p:nvSpPr>
            <p:spPr>
              <a:xfrm>
                <a:off x="4945" y="2435"/>
                <a:ext cx="1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0766" name="Line 46"/>
              <p:cNvSpPr/>
              <p:nvPr/>
            </p:nvSpPr>
            <p:spPr>
              <a:xfrm>
                <a:off x="4216" y="2627"/>
                <a:ext cx="367" cy="1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sm" len="med"/>
              </a:ln>
            </p:spPr>
          </p:sp>
          <p:sp>
            <p:nvSpPr>
              <p:cNvPr id="30767" name="Text Box 47"/>
              <p:cNvSpPr txBox="1"/>
              <p:nvPr/>
            </p:nvSpPr>
            <p:spPr>
              <a:xfrm>
                <a:off x="2038" y="2387"/>
                <a:ext cx="326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3200" b="1" i="1" dirty="0">
                    <a:solidFill>
                      <a:srgbClr val="FF505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a</a:t>
                </a:r>
                <a:r>
                  <a:rPr lang="en-US" altLang="zh-CN" sz="3200" b="1" baseline="-25000" dirty="0">
                    <a:solidFill>
                      <a:srgbClr val="FF505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1</a:t>
                </a:r>
                <a:endParaRPr lang="en-US" altLang="zh-CN" sz="240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768" name="Text Box 48"/>
              <p:cNvSpPr txBox="1"/>
              <p:nvPr/>
            </p:nvSpPr>
            <p:spPr>
              <a:xfrm>
                <a:off x="2879" y="2387"/>
                <a:ext cx="326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3200" b="1" i="1" dirty="0">
                    <a:solidFill>
                      <a:srgbClr val="FF505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a</a:t>
                </a:r>
                <a:r>
                  <a:rPr lang="en-US" altLang="zh-CN" sz="3200" b="1" baseline="-25000" dirty="0">
                    <a:solidFill>
                      <a:srgbClr val="FF505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2</a:t>
                </a:r>
                <a:endParaRPr lang="en-US" altLang="zh-CN" sz="240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769" name="Text Box 49"/>
              <p:cNvSpPr txBox="1"/>
              <p:nvPr/>
            </p:nvSpPr>
            <p:spPr>
              <a:xfrm>
                <a:off x="3720" y="2387"/>
                <a:ext cx="326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3200" b="1" i="1" dirty="0">
                    <a:solidFill>
                      <a:srgbClr val="FF505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a</a:t>
                </a:r>
                <a:r>
                  <a:rPr lang="en-US" altLang="zh-CN" sz="3200" b="1" baseline="-25000" dirty="0">
                    <a:solidFill>
                      <a:srgbClr val="FF505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3</a:t>
                </a:r>
                <a:endParaRPr lang="en-US" altLang="zh-CN" sz="240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770" name="Text Box 50"/>
              <p:cNvSpPr txBox="1"/>
              <p:nvPr/>
            </p:nvSpPr>
            <p:spPr>
              <a:xfrm>
                <a:off x="4608" y="2387"/>
                <a:ext cx="326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3200" b="1" i="1" dirty="0">
                    <a:solidFill>
                      <a:srgbClr val="FF505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a</a:t>
                </a:r>
                <a:r>
                  <a:rPr lang="en-US" altLang="zh-CN" sz="3200" b="1" baseline="-25000" dirty="0">
                    <a:solidFill>
                      <a:srgbClr val="FF505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4</a:t>
                </a:r>
                <a:endParaRPr lang="en-US" altLang="zh-CN" sz="240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771" name="Text Box 51"/>
              <p:cNvSpPr txBox="1"/>
              <p:nvPr/>
            </p:nvSpPr>
            <p:spPr>
              <a:xfrm>
                <a:off x="4954" y="2441"/>
                <a:ext cx="271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r>
                  <a:rPr lang="en-US" altLang="zh-CN" sz="2400" b="1" dirty="0">
                    <a:solidFill>
                      <a:schemeClr val="hlink"/>
                    </a:solidFill>
                    <a:latin typeface="Times New Roman" panose="02020603050405020304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</a:t>
                </a:r>
                <a:endParaRPr lang="en-US" altLang="zh-CN" sz="2400" dirty="0">
                  <a:solidFill>
                    <a:schemeClr val="hlink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772" name="Text Box 52"/>
              <p:cNvSpPr txBox="1"/>
              <p:nvPr/>
            </p:nvSpPr>
            <p:spPr>
              <a:xfrm>
                <a:off x="1383" y="2432"/>
                <a:ext cx="265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800" b="1" dirty="0">
                    <a:solidFill>
                      <a:srgbClr val="CC330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L</a:t>
                </a:r>
                <a:endParaRPr lang="en-US" altLang="zh-CN" sz="280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525" y="908685"/>
            <a:ext cx="11087735" cy="5144135"/>
          </a:xfrm>
        </p:spPr>
        <p:txBody>
          <a:bodyPr/>
          <a:p>
            <a:pPr algn="l" eaLnBrk="1" hangingPunct="1">
              <a:buClrTx/>
              <a:buSzTx/>
              <a:buChar char="l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单链表的定义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  <a:p>
            <a:pPr marL="609600" indent="-609600" eaLnBrk="1" latinLnBrk="0" hangingPunct="1"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typedef struct LNode {</a:t>
            </a:r>
            <a:endParaRPr lang="en-US" altLang="zh-CN" sz="24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latinLnBrk="0" hangingPunct="1"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		ElemType 	data;			// 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数据域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latinLnBrk="0" hangingPunct="1"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		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struct LNode	*next;			// 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后继指针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latinLnBrk="0" hangingPunct="1"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} LNode, *LinkList;</a:t>
            </a:r>
            <a:endParaRPr lang="en-US" altLang="zh-CN" sz="24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0" indent="0" algn="l" eaLnBrk="1" hangingPunct="1">
              <a:buClrTx/>
              <a:buSzTx/>
              <a:buNone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//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定义一个链表结点，也定义一个链表头指针变量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algn="l" eaLnBrk="1" hangingPunct="1">
              <a:buClrTx/>
              <a:buSzTx/>
              <a:buChar char="l"/>
            </a:pPr>
            <a:endParaRPr lang="zh-CN" altLang="en-US" b="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2.3 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线性表的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链式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表示和实现</a:t>
            </a:r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525" y="908685"/>
            <a:ext cx="11087735" cy="5144135"/>
          </a:xfrm>
        </p:spPr>
        <p:txBody>
          <a:bodyPr/>
          <a:p>
            <a:pPr algn="l" eaLnBrk="1" hangingPunct="1">
              <a:buClrTx/>
              <a:buSzTx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单链表的类定义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  <a:p>
            <a:pPr algn="l" eaLnBrk="1" hangingPunct="1">
              <a:buClrTx/>
              <a:buSzTx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algn="l" eaLnBrk="1" hangingPunct="1">
              <a:buClrTx/>
              <a:buSzTx/>
              <a:buChar char="l"/>
            </a:pPr>
            <a:endParaRPr lang="zh-CN" altLang="en-US" b="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2.3 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线性表的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链式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表示和实现</a:t>
            </a:r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  <p:pic>
        <p:nvPicPr>
          <p:cNvPr id="31748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525" y="1484630"/>
            <a:ext cx="6857365" cy="393509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749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2035" y="1412875"/>
            <a:ext cx="4267835" cy="25463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750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2035" y="4076700"/>
            <a:ext cx="3077845" cy="182753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525" y="908685"/>
            <a:ext cx="11087735" cy="5144135"/>
          </a:xfrm>
        </p:spPr>
        <p:txBody>
          <a:bodyPr/>
          <a:p>
            <a:pPr algn="l" eaLnBrk="1" hangingPunct="1">
              <a:buClrTx/>
              <a:buSzTx/>
              <a:buChar char="l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单链表的其他处理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带头结点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的单链表为空链表：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  <a:p>
            <a:pPr marL="609600" lvl="1" indent="0" algn="l" eaLnBrk="1" hangingPunct="1">
              <a:buClrTx/>
              <a:buSzTx/>
              <a:buNone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head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-&gt;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next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=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=NULL;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 //head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是头结点指针，判断要用==而不是=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如何判断链表是否到末尾？？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2.3 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线性表的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链式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表示和实现</a:t>
            </a:r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525" y="908685"/>
            <a:ext cx="11087735" cy="5144135"/>
          </a:xfrm>
        </p:spPr>
        <p:txBody>
          <a:bodyPr/>
          <a:p>
            <a:pPr algn="l" eaLnBrk="1" hangingPunct="1">
              <a:lnSpc>
                <a:spcPct val="100000"/>
              </a:lnSpc>
              <a:buClrTx/>
              <a:buSzTx/>
              <a:buChar char="l"/>
            </a:pP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因为链表的元素的存储位置不一定连续，它是依靠指针来表示元素之间的逻辑顺序关系，因此链表元素不像顺序表元素可以根据下标直接定位。</a:t>
            </a: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链表不是随机存取结构</a:t>
            </a:r>
            <a:endParaRPr lang="zh-CN" altLang="en-US" sz="2800" dirty="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  <a:p>
            <a:pPr algn="l" eaLnBrk="1" hangingPunct="1">
              <a:lnSpc>
                <a:spcPct val="100000"/>
              </a:lnSpc>
              <a:buClrTx/>
              <a:buSzTx/>
              <a:buChar char="l"/>
            </a:pP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单链表的查找是其他操作的基础，插入和删除操作都要先用查找，找到相应位置再操作</a:t>
            </a:r>
            <a:endParaRPr lang="zh-CN" altLang="en-US" sz="280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algn="l" eaLnBrk="1" hangingPunct="1">
              <a:lnSpc>
                <a:spcPct val="100000"/>
              </a:lnSpc>
              <a:buClrTx/>
              <a:buSzTx/>
              <a:buChar char="l"/>
            </a:pP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按序号查找，取单链表中的第i个元素</a:t>
            </a:r>
            <a:endParaRPr lang="zh-CN" altLang="en-US" sz="280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lvl="1" algn="l" eaLnBrk="1" hangingPunct="1">
              <a:lnSpc>
                <a:spcPct val="100000"/>
              </a:lnSpc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从链表的头结点出发，沿链域next逐个结点往下搜索，直到搜索到第i个结点为止。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algn="l" eaLnBrk="1" hangingPunct="1">
              <a:lnSpc>
                <a:spcPct val="100000"/>
              </a:lnSpc>
              <a:buClrTx/>
              <a:buSzTx/>
              <a:buChar char="l"/>
            </a:pP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按值查找，在链表中查找是否有等于给定值key的结点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2.3 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线性表的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链式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表示和实现</a:t>
            </a:r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525" y="908685"/>
            <a:ext cx="11087735" cy="5144135"/>
          </a:xfrm>
        </p:spPr>
        <p:txBody>
          <a:bodyPr/>
          <a:p>
            <a:pPr algn="l" eaLnBrk="1" hangingPunct="1">
              <a:lnSpc>
                <a:spcPct val="100000"/>
              </a:lnSpc>
              <a:buClrTx/>
              <a:buSzTx/>
              <a:buChar char="l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单链表按位置查找的实现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sz="2400" b="1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 ElemType</a:t>
            </a: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  </a:t>
            </a:r>
            <a:r>
              <a:rPr lang="en-US" sz="2400" b="1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Get_Elem</a:t>
            </a: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(</a:t>
            </a:r>
            <a:r>
              <a:rPr lang="en-US" sz="2400" b="1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LNode</a:t>
            </a: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*L </a:t>
            </a:r>
            <a:r>
              <a:rPr lang="zh-CN" alt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， </a:t>
            </a:r>
            <a:r>
              <a:rPr lang="en-US" sz="2400" b="1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int</a:t>
            </a: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 </a:t>
            </a:r>
            <a:r>
              <a:rPr lang="en-US" sz="2400" b="1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i</a:t>
            </a: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)</a:t>
            </a: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355600" marR="0" lvl="1" indent="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None/>
              <a:defRPr/>
            </a:pPr>
            <a:r>
              <a:rPr lang="en-US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{ </a:t>
            </a:r>
            <a:r>
              <a:rPr lang="en-US" b="1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int</a:t>
            </a:r>
            <a:r>
              <a:rPr lang="en-US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j ;   </a:t>
            </a:r>
            <a:r>
              <a:rPr lang="en-US" b="1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LNode</a:t>
            </a:r>
            <a:r>
              <a:rPr lang="en-US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*p;</a:t>
            </a:r>
            <a:endParaRPr kumimoji="0" lang="en-US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723900" marR="0" lvl="2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p=L-&gt;next;  j=1;      /*  </a:t>
            </a:r>
            <a:r>
              <a:rPr lang="zh-CN" alt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使</a:t>
            </a: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p</a:t>
            </a:r>
            <a:r>
              <a:rPr lang="zh-CN" alt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指向第一个结点  *</a:t>
            </a: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/</a:t>
            </a: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723900" marR="0" lvl="2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while  (p!=NULL &amp;&amp; j&lt;</a:t>
            </a:r>
            <a:r>
              <a:rPr lang="en-US" sz="2400" b="1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i</a:t>
            </a: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)</a:t>
            </a: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1079500" marR="0" lvl="3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None/>
              <a:defRPr/>
            </a:pP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{   p=p–&gt;next;  j++;  }        /*  </a:t>
            </a:r>
            <a:r>
              <a:rPr lang="zh-CN" alt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移动指针</a:t>
            </a: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p , j</a:t>
            </a:r>
            <a:r>
              <a:rPr lang="zh-CN" alt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计数  *</a:t>
            </a: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/</a:t>
            </a: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723900" marR="0" lvl="2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if  (j!=</a:t>
            </a:r>
            <a:r>
              <a:rPr lang="en-US" sz="2400" b="1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i</a:t>
            </a: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)  return(error) ;</a:t>
            </a: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723900" marR="0" lvl="2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else      return(p-&gt;data);</a:t>
            </a: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3556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None/>
              <a:defRPr/>
            </a:pPr>
            <a:r>
              <a:rPr lang="en-US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}</a:t>
            </a:r>
            <a:endParaRPr kumimoji="0" lang="en-US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3556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None/>
              <a:defRPr/>
            </a:pPr>
            <a:r>
              <a:rPr lang="en-US" altLang="zh-CN" b="1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//</a:t>
            </a:r>
            <a:r>
              <a:rPr lang="zh-CN" altLang="en-US" b="1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链表位置也是从</a:t>
            </a:r>
            <a:r>
              <a:rPr lang="en-US" altLang="zh-CN" b="1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1</a:t>
            </a:r>
            <a:r>
              <a:rPr lang="zh-CN" altLang="en-US" b="1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开始计算，头结点对应位置</a:t>
            </a:r>
            <a:r>
              <a:rPr lang="en-US" altLang="zh-CN" b="1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0</a:t>
            </a:r>
            <a:r>
              <a:rPr lang="zh-CN" altLang="en-US" b="1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，首结点对应位置</a:t>
            </a:r>
            <a:r>
              <a:rPr lang="en-US" altLang="zh-CN" b="1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1</a:t>
            </a:r>
            <a:endParaRPr kumimoji="0" lang="en-US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0" indent="0" algn="l" eaLnBrk="1" hangingPunct="1">
              <a:lnSpc>
                <a:spcPct val="100000"/>
              </a:lnSpc>
              <a:buClrTx/>
              <a:buSzTx/>
              <a:buNone/>
            </a:pPr>
            <a:endParaRPr kumimoji="0" lang="en-US" altLang="en-US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2.3 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线性表的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链式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表示和实现</a:t>
            </a:r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525" y="908685"/>
            <a:ext cx="11087735" cy="5144135"/>
          </a:xfrm>
        </p:spPr>
        <p:txBody>
          <a:bodyPr/>
          <a:p>
            <a:pPr algn="l" eaLnBrk="1" hangingPunct="1">
              <a:lnSpc>
                <a:spcPct val="100000"/>
              </a:lnSpc>
              <a:buClrTx/>
              <a:buSzTx/>
              <a:buChar char="l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单链表按值查找的实现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  <a:p>
            <a:pPr marL="36195" marR="0" lv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lang="en-US" sz="2400" b="1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 LNode</a:t>
            </a: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*</a:t>
            </a:r>
            <a:r>
              <a:rPr lang="en-US" sz="2400" b="1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Locate_Node</a:t>
            </a: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(</a:t>
            </a:r>
            <a:r>
              <a:rPr lang="en-US" sz="2400" b="1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LNode</a:t>
            </a: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*L</a:t>
            </a:r>
            <a:r>
              <a:rPr lang="zh-CN" alt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，</a:t>
            </a:r>
            <a:r>
              <a:rPr lang="en-US" sz="2400" b="1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int</a:t>
            </a: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key)</a:t>
            </a: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36195" marR="0" lvl="1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None/>
              <a:defRPr/>
            </a:pPr>
            <a:r>
              <a:rPr lang="en-US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 {   </a:t>
            </a:r>
            <a:r>
              <a:rPr lang="en-US" b="1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LNode</a:t>
            </a:r>
            <a:r>
              <a:rPr lang="en-US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*p=L–&gt;next;</a:t>
            </a:r>
            <a:endParaRPr kumimoji="0" lang="en-US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36195" marR="0" lvl="2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     while  ( p!=NULL&amp;&amp; p–&gt;data!=key)    p=p–&gt;next;</a:t>
            </a: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36195" marR="0" lvl="2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	if  (p–&gt;data==key)   </a:t>
            </a:r>
            <a:endParaRPr lang="en-US" sz="2400" b="1" noProof="0" dirty="0" smtClean="0">
              <a:ln>
                <a:noFill/>
              </a:ln>
              <a:effectLst/>
              <a:uLnTx/>
              <a:uFillTx/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  <a:sym typeface="+mn-ea"/>
            </a:endParaRPr>
          </a:p>
          <a:p>
            <a:pPr marL="36195" marR="0" lvl="2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		return p;</a:t>
            </a: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36195" marR="0" lvl="2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	else  </a:t>
            </a: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36195" marR="0" lvl="3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None/>
              <a:defRPr/>
            </a:pP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	{	</a:t>
            </a:r>
            <a:r>
              <a:rPr lang="en-US" sz="2400" b="1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printf</a:t>
            </a: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(“</a:t>
            </a:r>
            <a:r>
              <a:rPr lang="zh-CN" alt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所要查找的结点不存在</a:t>
            </a: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!!\n”); </a:t>
            </a: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36195" marR="0" lvl="4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lang="en-US" sz="2400" b="1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		retutn</a:t>
            </a: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(NULL);  </a:t>
            </a: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36195" marR="0" lvl="3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None/>
              <a:defRPr/>
            </a:pP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	}</a:t>
            </a:r>
            <a:endParaRPr lang="en-US" sz="2400" b="1" noProof="0" dirty="0" smtClean="0">
              <a:ln>
                <a:noFill/>
              </a:ln>
              <a:effectLst/>
              <a:uLnTx/>
              <a:uFillTx/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  <a:sym typeface="+mn-ea"/>
            </a:endParaRPr>
          </a:p>
          <a:p>
            <a:pPr marL="36195" marR="0" lvl="3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None/>
              <a:defRPr/>
            </a:pP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 }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36195" indent="0" algn="l" eaLnBrk="1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None/>
            </a:pP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2.3 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线性表的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链式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表示和实现</a:t>
            </a:r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525" y="908685"/>
            <a:ext cx="11087735" cy="5144135"/>
          </a:xfrm>
        </p:spPr>
        <p:txBody>
          <a:bodyPr/>
          <a:p>
            <a:pPr algn="l" eaLnBrk="1" hangingPunct="1">
              <a:lnSpc>
                <a:spcPct val="100000"/>
              </a:lnSpc>
              <a:buClrTx/>
              <a:buSzTx/>
              <a:buChar char="l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单链表搜索的实现框架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sz="2800" b="1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 </a:t>
            </a:r>
            <a:r>
              <a:rPr lang="en-US" sz="2400" b="1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ElemType</a:t>
            </a: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  Traverse(</a:t>
            </a:r>
            <a:r>
              <a:rPr lang="en-US" sz="2400" b="1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LNode</a:t>
            </a: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*L)</a:t>
            </a: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355600" marR="0" lvl="1" indent="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None/>
              <a:defRPr/>
            </a:pPr>
            <a:r>
              <a:rPr lang="en-US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{  </a:t>
            </a:r>
            <a:r>
              <a:rPr lang="en-US" b="1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LNode</a:t>
            </a:r>
            <a:r>
              <a:rPr lang="en-US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*p;</a:t>
            </a:r>
            <a:endParaRPr kumimoji="0" lang="en-US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723900" marR="0" lvl="2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p=L-&gt;next;      /*  </a:t>
            </a:r>
            <a:r>
              <a:rPr lang="zh-CN" alt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使</a:t>
            </a: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p</a:t>
            </a:r>
            <a:r>
              <a:rPr lang="zh-CN" alt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指向首结点  *</a:t>
            </a: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/</a:t>
            </a: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723900" marR="0" lvl="2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while  (p!=NULL)  {   </a:t>
            </a: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1079500" marR="0" lvl="3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None/>
              <a:defRPr/>
            </a:pP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//………</a:t>
            </a:r>
            <a:r>
              <a:rPr lang="zh-CN" alt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搜索整个链表过程中，要执行的代码写这里</a:t>
            </a: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1079500" marR="0" lvl="3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None/>
              <a:defRPr/>
            </a:pP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 p=p–&gt;next;   }</a:t>
            </a: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723900" marR="0" lvl="2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// ………</a:t>
            </a:r>
            <a:r>
              <a:rPr lang="zh-CN" alt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搜索完毕后续操作代码写这里</a:t>
            </a: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723900" marR="0" lvl="2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return  0;</a:t>
            </a: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3556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None/>
              <a:defRPr/>
            </a:pPr>
            <a:r>
              <a:rPr lang="en-US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}</a:t>
            </a:r>
            <a:endParaRPr kumimoji="0" lang="en-US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2.3 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线性表的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链式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表示和实现</a:t>
            </a:r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525" y="908685"/>
            <a:ext cx="11087735" cy="5144135"/>
          </a:xfrm>
        </p:spPr>
        <p:txBody>
          <a:bodyPr/>
          <a:p>
            <a:pPr algn="l" eaLnBrk="1" hangingPunct="1">
              <a:buClrTx/>
              <a:buSzTx/>
              <a:buChar char="l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单链表查找的因为要从头开始逐个查找，因此时间复杂度为O(n)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algn="l" eaLnBrk="1" hangingPunct="1">
              <a:buClrTx/>
              <a:buSzTx/>
              <a:buChar char="l"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algn="l" eaLnBrk="1" hangingPunct="1">
              <a:buClrTx/>
              <a:buSzTx/>
              <a:buChar char="l"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  <a:p>
            <a:pPr lvl="1" algn="l" eaLnBrk="1" hangingPunct="1">
              <a:buClrTx/>
              <a:buSzTx/>
              <a:buChar char="•"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2.3 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线性表的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链式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表示和实现</a:t>
            </a:r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525" y="908685"/>
            <a:ext cx="11087735" cy="5144135"/>
          </a:xfrm>
        </p:spPr>
        <p:txBody>
          <a:bodyPr/>
          <a:p>
            <a:pPr algn="l" eaLnBrk="1" hangingPunct="1">
              <a:buClrTx/>
              <a:buSzTx/>
              <a:buChar char="l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单链表的插入：给出要插入的链表、插入位置、插入的新元素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dirty="0">
                <a:latin typeface="宋体" panose="02010600030101010101" pitchFamily="2" charset="-122"/>
                <a:sym typeface="+mn-ea"/>
              </a:rPr>
              <a:t>插入是在链表的第</a:t>
            </a:r>
            <a:r>
              <a:rPr lang="en-US" altLang="zh-CN" dirty="0">
                <a:latin typeface="宋体" panose="02010600030101010101" pitchFamily="2" charset="-122"/>
                <a:sym typeface="+mn-ea"/>
              </a:rPr>
              <a:t>i-1</a:t>
            </a:r>
            <a:r>
              <a:rPr lang="zh-CN" altLang="en-US" dirty="0">
                <a:latin typeface="宋体" panose="02010600030101010101" pitchFamily="2" charset="-122"/>
                <a:sym typeface="+mn-ea"/>
              </a:rPr>
              <a:t>元素与第</a:t>
            </a:r>
            <a:r>
              <a:rPr lang="en-US" altLang="zh-CN" dirty="0">
                <a:latin typeface="宋体" panose="02010600030101010101" pitchFamily="2" charset="-122"/>
                <a:sym typeface="+mn-ea"/>
              </a:rPr>
              <a:t>i</a:t>
            </a:r>
            <a:r>
              <a:rPr lang="zh-CN" altLang="en-US" dirty="0">
                <a:latin typeface="宋体" panose="02010600030101010101" pitchFamily="2" charset="-122"/>
                <a:sym typeface="+mn-ea"/>
              </a:rPr>
              <a:t>元素之间插入一个新元素</a:t>
            </a:r>
            <a:endParaRPr lang="zh-CN" altLang="en-US" dirty="0">
              <a:latin typeface="宋体" panose="02010600030101010101" pitchFamily="2" charset="-122"/>
              <a:sym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dirty="0">
                <a:latin typeface="宋体" panose="02010600030101010101" pitchFamily="2" charset="-122"/>
                <a:sym typeface="+mn-ea"/>
              </a:rPr>
              <a:t>链表的插入不需要移动元素，只需要修改指针</a:t>
            </a:r>
            <a:endParaRPr lang="zh-CN" altLang="en-US" dirty="0">
              <a:latin typeface="宋体" panose="02010600030101010101" pitchFamily="2" charset="-122"/>
              <a:sym typeface="+mn-ea"/>
            </a:endParaRPr>
          </a:p>
          <a:p>
            <a:pPr marL="609600" lvl="1" indent="0" algn="l" eaLnBrk="1" hangingPunct="1">
              <a:buClrTx/>
              <a:buSzTx/>
              <a:buNone/>
            </a:pPr>
            <a:endParaRPr lang="en-US" altLang="zh-CN" sz="2800" dirty="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  <a:p>
            <a:pPr marL="609600" lvl="1" indent="0" algn="l" eaLnBrk="1" hangingPunct="1">
              <a:buClrTx/>
              <a:buSzTx/>
              <a:buNone/>
            </a:pP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s-&gt;next = p-&gt;next; </a:t>
            </a:r>
            <a:endParaRPr lang="en-US" altLang="zh-CN" sz="2800" dirty="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  <a:p>
            <a:pPr marL="609600" lvl="1" indent="0" algn="l" eaLnBrk="1" hangingPunct="1">
              <a:buClrTx/>
              <a:buSzTx/>
              <a:buNone/>
            </a:pP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p-&gt;next = s;</a:t>
            </a:r>
            <a:endParaRPr lang="en-US" altLang="zh-CN" sz="2800" b="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609600" lvl="1" indent="0" algn="l" eaLnBrk="1" hangingPunct="1">
              <a:buClrTx/>
              <a:buSzTx/>
              <a:buNone/>
            </a:pPr>
            <a:endParaRPr lang="zh-CN" altLang="en-US" sz="280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lvl="1" algn="l" eaLnBrk="1" hangingPunct="1">
              <a:buClrTx/>
              <a:buSzTx/>
              <a:buChar char="•"/>
            </a:pPr>
            <a:endParaRPr lang="zh-CN" altLang="en-US" sz="2800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2.3 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线性表的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链式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表示和实现</a:t>
            </a:r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3309620" y="3471545"/>
            <a:ext cx="8270875" cy="2435860"/>
            <a:chOff x="2683" y="3926"/>
            <a:chExt cx="13025" cy="3836"/>
          </a:xfrm>
        </p:grpSpPr>
        <p:grpSp>
          <p:nvGrpSpPr>
            <p:cNvPr id="46084" name="Group 4"/>
            <p:cNvGrpSpPr/>
            <p:nvPr/>
          </p:nvGrpSpPr>
          <p:grpSpPr>
            <a:xfrm>
              <a:off x="2683" y="3926"/>
              <a:ext cx="6840" cy="3725"/>
              <a:chOff x="144" y="2736"/>
              <a:chExt cx="2736" cy="1490"/>
            </a:xfrm>
          </p:grpSpPr>
          <p:sp>
            <p:nvSpPr>
              <p:cNvPr id="709637" name="Rectangle 5"/>
              <p:cNvSpPr>
                <a:spLocks noChangeArrowheads="1"/>
              </p:cNvSpPr>
              <p:nvPr/>
            </p:nvSpPr>
            <p:spPr bwMode="auto">
              <a:xfrm>
                <a:off x="788" y="3456"/>
                <a:ext cx="617" cy="336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chemeClr val="tx1"/>
                </a:solidFill>
                <a:miter lim="800000"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6086" name="Line 6"/>
              <p:cNvSpPr/>
              <p:nvPr/>
            </p:nvSpPr>
            <p:spPr>
              <a:xfrm>
                <a:off x="1181" y="3456"/>
                <a:ext cx="0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6087" name="Line 7"/>
              <p:cNvSpPr/>
              <p:nvPr/>
            </p:nvSpPr>
            <p:spPr>
              <a:xfrm>
                <a:off x="452" y="3648"/>
                <a:ext cx="33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sm" len="med"/>
              </a:ln>
            </p:spPr>
          </p:sp>
          <p:sp>
            <p:nvSpPr>
              <p:cNvPr id="46088" name="Line 8"/>
              <p:cNvSpPr/>
              <p:nvPr/>
            </p:nvSpPr>
            <p:spPr>
              <a:xfrm>
                <a:off x="1293" y="3648"/>
                <a:ext cx="33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sm" len="med"/>
              </a:ln>
            </p:spPr>
          </p:sp>
          <p:sp>
            <p:nvSpPr>
              <p:cNvPr id="46089" name="Text Box 9"/>
              <p:cNvSpPr txBox="1"/>
              <p:nvPr/>
            </p:nvSpPr>
            <p:spPr>
              <a:xfrm>
                <a:off x="797" y="3408"/>
                <a:ext cx="428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3200" b="1" i="1" dirty="0">
                    <a:solidFill>
                      <a:srgbClr val="FF505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a</a:t>
                </a:r>
                <a:r>
                  <a:rPr lang="en-US" altLang="zh-CN" sz="3200" b="1" baseline="-25000" dirty="0">
                    <a:solidFill>
                      <a:srgbClr val="FF505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i-1</a:t>
                </a:r>
                <a:endParaRPr lang="en-US" altLang="zh-CN" sz="240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46090" name="Group 10"/>
              <p:cNvGrpSpPr/>
              <p:nvPr/>
            </p:nvGrpSpPr>
            <p:grpSpPr>
              <a:xfrm>
                <a:off x="1629" y="3408"/>
                <a:ext cx="617" cy="384"/>
                <a:chOff x="2877" y="3696"/>
                <a:chExt cx="617" cy="384"/>
              </a:xfrm>
            </p:grpSpPr>
            <p:sp>
              <p:nvSpPr>
                <p:cNvPr id="709643" name="Rectangle 11"/>
                <p:cNvSpPr>
                  <a:spLocks noChangeArrowheads="1"/>
                </p:cNvSpPr>
                <p:nvPr/>
              </p:nvSpPr>
              <p:spPr bwMode="auto">
                <a:xfrm>
                  <a:off x="2877" y="3744"/>
                  <a:ext cx="617" cy="336"/>
                </a:xfrm>
                <a:prstGeom prst="rect">
                  <a:avLst/>
                </a:prstGeom>
                <a:solidFill>
                  <a:srgbClr val="FFFFCC"/>
                </a:solidFill>
                <a:ln w="9525">
                  <a:solidFill>
                    <a:schemeClr val="tx1"/>
                  </a:solidFill>
                  <a:miter lim="800000"/>
                </a:ln>
                <a:effectLst>
                  <a:outerShdw dist="107763" dir="2700000" algn="ctr" rotWithShape="0">
                    <a:schemeClr val="bg2"/>
                  </a:outerShdw>
                </a:effectLst>
              </p:spPr>
              <p:txBody>
                <a:bodyPr wrap="none" anchor="ctr"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6092" name="Line 12"/>
                <p:cNvSpPr/>
                <p:nvPr/>
              </p:nvSpPr>
              <p:spPr>
                <a:xfrm>
                  <a:off x="3270" y="3744"/>
                  <a:ext cx="0" cy="336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46093" name="Text Box 13"/>
                <p:cNvSpPr txBox="1"/>
                <p:nvPr/>
              </p:nvSpPr>
              <p:spPr>
                <a:xfrm>
                  <a:off x="2886" y="3696"/>
                  <a:ext cx="290" cy="36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p>
                  <a:r>
                    <a:rPr lang="en-US" altLang="zh-CN" sz="3200" b="1" i="1" dirty="0">
                      <a:solidFill>
                        <a:srgbClr val="FF5050"/>
                      </a:solidFill>
                      <a:latin typeface="Times New Roman" panose="02020603050405020304" charset="0"/>
                      <a:ea typeface="宋体" panose="02010600030101010101" pitchFamily="2" charset="-122"/>
                    </a:rPr>
                    <a:t>a</a:t>
                  </a:r>
                  <a:r>
                    <a:rPr lang="en-US" altLang="zh-CN" sz="3200" b="1" baseline="-25000" dirty="0">
                      <a:solidFill>
                        <a:srgbClr val="FF5050"/>
                      </a:solidFill>
                      <a:latin typeface="Times New Roman" panose="02020603050405020304" charset="0"/>
                      <a:ea typeface="宋体" panose="02010600030101010101" pitchFamily="2" charset="-122"/>
                    </a:rPr>
                    <a:t>i</a:t>
                  </a:r>
                  <a:endParaRPr lang="en-US" altLang="zh-CN" sz="2400" dirty="0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46094" name="Text Box 14"/>
              <p:cNvSpPr txBox="1"/>
              <p:nvPr/>
            </p:nvSpPr>
            <p:spPr>
              <a:xfrm>
                <a:off x="624" y="2736"/>
                <a:ext cx="202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800" b="1" dirty="0">
                    <a:solidFill>
                      <a:srgbClr val="CC330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s</a:t>
                </a:r>
                <a:endParaRPr lang="en-US" altLang="zh-CN" sz="280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6095" name="Text Box 15"/>
              <p:cNvSpPr txBox="1"/>
              <p:nvPr/>
            </p:nvSpPr>
            <p:spPr>
              <a:xfrm>
                <a:off x="144" y="3456"/>
                <a:ext cx="432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400" b="1" dirty="0">
                    <a:latin typeface="Times New Roman" panose="02020603050405020304" charset="0"/>
                    <a:ea typeface="宋体" panose="02010600030101010101" pitchFamily="2" charset="-122"/>
                  </a:rPr>
                  <a:t>…</a:t>
                </a:r>
                <a:endParaRPr lang="en-US" altLang="zh-CN" sz="2400" b="1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6096" name="Text Box 16"/>
              <p:cNvSpPr txBox="1"/>
              <p:nvPr/>
            </p:nvSpPr>
            <p:spPr>
              <a:xfrm>
                <a:off x="2448" y="3456"/>
                <a:ext cx="432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400" b="1" dirty="0">
                    <a:latin typeface="Times New Roman" panose="02020603050405020304" charset="0"/>
                    <a:ea typeface="宋体" panose="02010600030101010101" pitchFamily="2" charset="-122"/>
                  </a:rPr>
                  <a:t>…</a:t>
                </a:r>
                <a:endParaRPr lang="en-US" altLang="zh-CN" sz="2400" b="1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46097" name="Group 17"/>
              <p:cNvGrpSpPr/>
              <p:nvPr/>
            </p:nvGrpSpPr>
            <p:grpSpPr>
              <a:xfrm>
                <a:off x="1200" y="2736"/>
                <a:ext cx="617" cy="384"/>
                <a:chOff x="2448" y="3024"/>
                <a:chExt cx="617" cy="384"/>
              </a:xfrm>
            </p:grpSpPr>
            <p:sp>
              <p:nvSpPr>
                <p:cNvPr id="709650" name="Rectangle 18"/>
                <p:cNvSpPr>
                  <a:spLocks noChangeArrowheads="1"/>
                </p:cNvSpPr>
                <p:nvPr/>
              </p:nvSpPr>
              <p:spPr bwMode="auto">
                <a:xfrm>
                  <a:off x="2448" y="3072"/>
                  <a:ext cx="617" cy="336"/>
                </a:xfrm>
                <a:prstGeom prst="rect">
                  <a:avLst/>
                </a:prstGeom>
                <a:solidFill>
                  <a:srgbClr val="FFFFCC"/>
                </a:solidFill>
                <a:ln w="9525">
                  <a:solidFill>
                    <a:schemeClr val="tx1"/>
                  </a:solidFill>
                  <a:miter lim="800000"/>
                </a:ln>
                <a:effectLst>
                  <a:outerShdw dist="107763" dir="2700000" algn="ctr" rotWithShape="0">
                    <a:schemeClr val="bg2"/>
                  </a:outerShdw>
                </a:effectLst>
              </p:spPr>
              <p:txBody>
                <a:bodyPr wrap="none" anchor="ctr"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6099" name="Line 19"/>
                <p:cNvSpPr/>
                <p:nvPr/>
              </p:nvSpPr>
              <p:spPr>
                <a:xfrm>
                  <a:off x="2841" y="3072"/>
                  <a:ext cx="0" cy="336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46100" name="Text Box 20"/>
                <p:cNvSpPr txBox="1"/>
                <p:nvPr/>
              </p:nvSpPr>
              <p:spPr>
                <a:xfrm>
                  <a:off x="2457" y="3024"/>
                  <a:ext cx="375" cy="36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>
                  <a:spAutoFit/>
                </a:bodyPr>
                <a:p>
                  <a:pPr algn="ctr"/>
                  <a:r>
                    <a:rPr lang="en-US" altLang="zh-CN" sz="3200" b="1" i="1" dirty="0">
                      <a:solidFill>
                        <a:srgbClr val="FF5050"/>
                      </a:solidFill>
                      <a:latin typeface="Times New Roman" panose="02020603050405020304" charset="0"/>
                      <a:ea typeface="宋体" panose="02010600030101010101" pitchFamily="2" charset="-122"/>
                    </a:rPr>
                    <a:t>e</a:t>
                  </a:r>
                  <a:endParaRPr lang="en-US" altLang="zh-CN" sz="2400" dirty="0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46101" name="Line 21"/>
              <p:cNvSpPr/>
              <p:nvPr/>
            </p:nvSpPr>
            <p:spPr>
              <a:xfrm>
                <a:off x="2134" y="3648"/>
                <a:ext cx="33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sm" len="med"/>
              </a:ln>
            </p:spPr>
          </p:sp>
          <p:sp>
            <p:nvSpPr>
              <p:cNvPr id="46102" name="Line 22"/>
              <p:cNvSpPr/>
              <p:nvPr/>
            </p:nvSpPr>
            <p:spPr>
              <a:xfrm>
                <a:off x="864" y="2928"/>
                <a:ext cx="33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sm" len="med"/>
              </a:ln>
            </p:spPr>
          </p:sp>
          <p:sp>
            <p:nvSpPr>
              <p:cNvPr id="46103" name="Text Box 23"/>
              <p:cNvSpPr txBox="1"/>
              <p:nvPr/>
            </p:nvSpPr>
            <p:spPr>
              <a:xfrm>
                <a:off x="1200" y="3936"/>
                <a:ext cx="768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400" dirty="0">
                    <a:latin typeface="Tahoma" panose="020B0604030504040204" charset="0"/>
                    <a:ea typeface="宋体" panose="02010600030101010101" pitchFamily="2" charset="-122"/>
                  </a:rPr>
                  <a:t>插入前</a:t>
                </a:r>
                <a:endParaRPr lang="zh-CN" altLang="en-US" sz="240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6104" name="Line 24"/>
              <p:cNvSpPr/>
              <p:nvPr/>
            </p:nvSpPr>
            <p:spPr>
              <a:xfrm>
                <a:off x="960" y="3216"/>
                <a:ext cx="0" cy="24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sm" len="med"/>
              </a:ln>
            </p:spPr>
          </p:sp>
          <p:sp>
            <p:nvSpPr>
              <p:cNvPr id="46105" name="Text Box 25"/>
              <p:cNvSpPr txBox="1"/>
              <p:nvPr/>
            </p:nvSpPr>
            <p:spPr>
              <a:xfrm>
                <a:off x="720" y="3072"/>
                <a:ext cx="432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400" dirty="0">
                    <a:latin typeface="Tahoma" panose="020B0604030504040204" charset="0"/>
                    <a:ea typeface="宋体" panose="02010600030101010101" pitchFamily="2" charset="-122"/>
                  </a:rPr>
                  <a:t>p</a:t>
                </a:r>
                <a:endParaRPr lang="en-US" altLang="zh-CN" sz="240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46106" name="Group 26"/>
            <p:cNvGrpSpPr/>
            <p:nvPr/>
          </p:nvGrpSpPr>
          <p:grpSpPr>
            <a:xfrm>
              <a:off x="9828" y="4038"/>
              <a:ext cx="5880" cy="3725"/>
              <a:chOff x="3216" y="2736"/>
              <a:chExt cx="2352" cy="1490"/>
            </a:xfrm>
          </p:grpSpPr>
          <p:sp>
            <p:nvSpPr>
              <p:cNvPr id="46107" name="Text Box 27"/>
              <p:cNvSpPr txBox="1"/>
              <p:nvPr/>
            </p:nvSpPr>
            <p:spPr>
              <a:xfrm>
                <a:off x="5136" y="3552"/>
                <a:ext cx="432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400" b="1" dirty="0">
                    <a:latin typeface="Times New Roman" panose="02020603050405020304" charset="0"/>
                    <a:ea typeface="宋体" panose="02010600030101010101" pitchFamily="2" charset="-122"/>
                  </a:rPr>
                  <a:t>…</a:t>
                </a:r>
                <a:endParaRPr lang="en-US" altLang="zh-CN" sz="2400" b="1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46108" name="Group 28"/>
              <p:cNvGrpSpPr/>
              <p:nvPr/>
            </p:nvGrpSpPr>
            <p:grpSpPr>
              <a:xfrm>
                <a:off x="3216" y="2736"/>
                <a:ext cx="2326" cy="1056"/>
                <a:chOff x="2832" y="2832"/>
                <a:chExt cx="2326" cy="1056"/>
              </a:xfrm>
            </p:grpSpPr>
            <p:sp>
              <p:nvSpPr>
                <p:cNvPr id="709661" name="Rectangle 29"/>
                <p:cNvSpPr>
                  <a:spLocks noChangeArrowheads="1"/>
                </p:cNvSpPr>
                <p:nvPr/>
              </p:nvSpPr>
              <p:spPr bwMode="auto">
                <a:xfrm>
                  <a:off x="3476" y="3552"/>
                  <a:ext cx="617" cy="336"/>
                </a:xfrm>
                <a:prstGeom prst="rect">
                  <a:avLst/>
                </a:prstGeom>
                <a:solidFill>
                  <a:srgbClr val="FFFFCC"/>
                </a:solidFill>
                <a:ln w="9525">
                  <a:solidFill>
                    <a:schemeClr val="tx1"/>
                  </a:solidFill>
                  <a:miter lim="800000"/>
                </a:ln>
                <a:effectLst>
                  <a:outerShdw dist="107763" dir="2700000" algn="ctr" rotWithShape="0">
                    <a:schemeClr val="bg2"/>
                  </a:outerShdw>
                </a:effectLst>
              </p:spPr>
              <p:txBody>
                <a:bodyPr wrap="none" anchor="ctr"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6110" name="Line 30"/>
                <p:cNvSpPr/>
                <p:nvPr/>
              </p:nvSpPr>
              <p:spPr>
                <a:xfrm>
                  <a:off x="3869" y="3552"/>
                  <a:ext cx="0" cy="336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46111" name="Line 31"/>
                <p:cNvSpPr/>
                <p:nvPr/>
              </p:nvSpPr>
              <p:spPr>
                <a:xfrm>
                  <a:off x="3140" y="3744"/>
                  <a:ext cx="336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sm" len="med"/>
                </a:ln>
              </p:spPr>
            </p:sp>
            <p:sp>
              <p:nvSpPr>
                <p:cNvPr id="46112" name="Text Box 32"/>
                <p:cNvSpPr txBox="1"/>
                <p:nvPr/>
              </p:nvSpPr>
              <p:spPr>
                <a:xfrm>
                  <a:off x="3485" y="3504"/>
                  <a:ext cx="428" cy="36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p>
                  <a:r>
                    <a:rPr lang="en-US" altLang="zh-CN" sz="3200" b="1" i="1" dirty="0">
                      <a:solidFill>
                        <a:srgbClr val="FF5050"/>
                      </a:solidFill>
                      <a:latin typeface="Times New Roman" panose="02020603050405020304" charset="0"/>
                      <a:ea typeface="宋体" panose="02010600030101010101" pitchFamily="2" charset="-122"/>
                    </a:rPr>
                    <a:t>a</a:t>
                  </a:r>
                  <a:r>
                    <a:rPr lang="en-US" altLang="zh-CN" sz="3200" b="1" baseline="-25000" dirty="0">
                      <a:solidFill>
                        <a:srgbClr val="FF5050"/>
                      </a:solidFill>
                      <a:latin typeface="Times New Roman" panose="02020603050405020304" charset="0"/>
                      <a:ea typeface="宋体" panose="02010600030101010101" pitchFamily="2" charset="-122"/>
                    </a:rPr>
                    <a:t>i-1</a:t>
                  </a:r>
                  <a:endParaRPr lang="en-US" altLang="zh-CN" sz="2400" dirty="0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46113" name="Group 33"/>
                <p:cNvGrpSpPr/>
                <p:nvPr/>
              </p:nvGrpSpPr>
              <p:grpSpPr>
                <a:xfrm>
                  <a:off x="4317" y="3504"/>
                  <a:ext cx="617" cy="384"/>
                  <a:chOff x="2877" y="3696"/>
                  <a:chExt cx="617" cy="384"/>
                </a:xfrm>
              </p:grpSpPr>
              <p:sp>
                <p:nvSpPr>
                  <p:cNvPr id="709666" name="Rectangle 34"/>
                  <p:cNvSpPr>
                    <a:spLocks noChangeArrowheads="1"/>
                  </p:cNvSpPr>
                  <p:nvPr/>
                </p:nvSpPr>
                <p:spPr bwMode="auto">
                  <a:xfrm>
                    <a:off x="2877" y="3744"/>
                    <a:ext cx="617" cy="336"/>
                  </a:xfrm>
                  <a:prstGeom prst="rect">
                    <a:avLst/>
                  </a:prstGeom>
                  <a:solidFill>
                    <a:srgbClr val="FFFFCC"/>
                  </a:solidFill>
                  <a:ln w="9525">
                    <a:solidFill>
                      <a:schemeClr val="tx1"/>
                    </a:solidFill>
                    <a:miter lim="800000"/>
                  </a:ln>
                  <a:effectLst>
                    <a:outerShdw dist="107763" dir="2700000" algn="ctr" rotWithShape="0">
                      <a:schemeClr val="bg2"/>
                    </a:outerShdw>
                  </a:effectLst>
                </p:spPr>
                <p:txBody>
                  <a:bodyPr wrap="none" anchor="ctr"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40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46115" name="Line 35"/>
                  <p:cNvSpPr/>
                  <p:nvPr/>
                </p:nvSpPr>
                <p:spPr>
                  <a:xfrm>
                    <a:off x="3270" y="3744"/>
                    <a:ext cx="0" cy="336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46116" name="Text Box 36"/>
                  <p:cNvSpPr txBox="1"/>
                  <p:nvPr/>
                </p:nvSpPr>
                <p:spPr>
                  <a:xfrm>
                    <a:off x="2886" y="3696"/>
                    <a:ext cx="290" cy="36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anchor="t" anchorCtr="0">
                    <a:spAutoFit/>
                  </a:bodyPr>
                  <a:p>
                    <a:r>
                      <a:rPr lang="en-US" altLang="zh-CN" sz="3200" b="1" i="1" dirty="0">
                        <a:solidFill>
                          <a:srgbClr val="FF5050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</a:rPr>
                      <a:t>a</a:t>
                    </a:r>
                    <a:r>
                      <a:rPr lang="en-US" altLang="zh-CN" sz="3200" b="1" baseline="-25000" dirty="0">
                        <a:solidFill>
                          <a:srgbClr val="FF5050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</a:rPr>
                      <a:t>i</a:t>
                    </a:r>
                    <a:endParaRPr lang="en-US" altLang="zh-CN" sz="2400" dirty="0">
                      <a:latin typeface="Times New Roman" panose="02020603050405020304" charset="0"/>
                      <a:ea typeface="宋体" panose="02010600030101010101" pitchFamily="2" charset="-122"/>
                    </a:endParaRPr>
                  </a:p>
                </p:txBody>
              </p:sp>
            </p:grpSp>
            <p:sp>
              <p:nvSpPr>
                <p:cNvPr id="46117" name="Text Box 37"/>
                <p:cNvSpPr txBox="1"/>
                <p:nvPr/>
              </p:nvSpPr>
              <p:spPr>
                <a:xfrm>
                  <a:off x="3312" y="2832"/>
                  <a:ext cx="202" cy="32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p>
                  <a:r>
                    <a:rPr lang="en-US" altLang="zh-CN" sz="2800" b="1" dirty="0">
                      <a:solidFill>
                        <a:srgbClr val="CC3300"/>
                      </a:solidFill>
                      <a:latin typeface="Times New Roman" panose="02020603050405020304" charset="0"/>
                      <a:ea typeface="宋体" panose="02010600030101010101" pitchFamily="2" charset="-122"/>
                    </a:rPr>
                    <a:t>s</a:t>
                  </a:r>
                  <a:endParaRPr lang="en-US" altLang="zh-CN" sz="2800" dirty="0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6118" name="Text Box 38"/>
                <p:cNvSpPr txBox="1"/>
                <p:nvPr/>
              </p:nvSpPr>
              <p:spPr>
                <a:xfrm>
                  <a:off x="2832" y="3552"/>
                  <a:ext cx="432" cy="29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sz="2400" b="1" dirty="0">
                      <a:latin typeface="Times New Roman" panose="02020603050405020304" charset="0"/>
                      <a:ea typeface="宋体" panose="02010600030101010101" pitchFamily="2" charset="-122"/>
                    </a:rPr>
                    <a:t>…</a:t>
                  </a:r>
                  <a:endParaRPr lang="en-US" altLang="zh-CN" sz="2400" b="1" dirty="0">
                    <a:latin typeface="Tahoma" panose="020B0604030504040204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46119" name="Group 39"/>
                <p:cNvGrpSpPr/>
                <p:nvPr/>
              </p:nvGrpSpPr>
              <p:grpSpPr>
                <a:xfrm>
                  <a:off x="3888" y="2832"/>
                  <a:ext cx="617" cy="384"/>
                  <a:chOff x="2448" y="3024"/>
                  <a:chExt cx="617" cy="384"/>
                </a:xfrm>
              </p:grpSpPr>
              <p:sp>
                <p:nvSpPr>
                  <p:cNvPr id="709672" name="Rectangle 40"/>
                  <p:cNvSpPr>
                    <a:spLocks noChangeArrowheads="1"/>
                  </p:cNvSpPr>
                  <p:nvPr/>
                </p:nvSpPr>
                <p:spPr bwMode="auto">
                  <a:xfrm>
                    <a:off x="2448" y="3072"/>
                    <a:ext cx="617" cy="336"/>
                  </a:xfrm>
                  <a:prstGeom prst="rect">
                    <a:avLst/>
                  </a:prstGeom>
                  <a:solidFill>
                    <a:srgbClr val="FFFFCC"/>
                  </a:solidFill>
                  <a:ln w="9525">
                    <a:solidFill>
                      <a:schemeClr val="tx1"/>
                    </a:solidFill>
                    <a:miter lim="800000"/>
                  </a:ln>
                  <a:effectLst>
                    <a:outerShdw dist="107763" dir="2700000" algn="ctr" rotWithShape="0">
                      <a:schemeClr val="bg2"/>
                    </a:outerShdw>
                  </a:effectLst>
                </p:spPr>
                <p:txBody>
                  <a:bodyPr wrap="none" anchor="ctr"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40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46121" name="Line 41"/>
                  <p:cNvSpPr/>
                  <p:nvPr/>
                </p:nvSpPr>
                <p:spPr>
                  <a:xfrm>
                    <a:off x="2841" y="3072"/>
                    <a:ext cx="0" cy="336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46122" name="Text Box 42"/>
                  <p:cNvSpPr txBox="1"/>
                  <p:nvPr/>
                </p:nvSpPr>
                <p:spPr>
                  <a:xfrm>
                    <a:off x="2457" y="3024"/>
                    <a:ext cx="375" cy="36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anchor="t" anchorCtr="0">
                    <a:spAutoFit/>
                  </a:bodyPr>
                  <a:p>
                    <a:pPr algn="ctr"/>
                    <a:r>
                      <a:rPr lang="en-US" altLang="zh-CN" sz="3200" b="1" i="1" dirty="0">
                        <a:solidFill>
                          <a:srgbClr val="FF5050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</a:rPr>
                      <a:t>e</a:t>
                    </a:r>
                    <a:endParaRPr lang="en-US" altLang="zh-CN" sz="2400" dirty="0">
                      <a:latin typeface="Times New Roman" panose="02020603050405020304" charset="0"/>
                      <a:ea typeface="宋体" panose="02010600030101010101" pitchFamily="2" charset="-122"/>
                    </a:endParaRPr>
                  </a:p>
                </p:txBody>
              </p:sp>
            </p:grpSp>
            <p:sp>
              <p:nvSpPr>
                <p:cNvPr id="46123" name="Line 43"/>
                <p:cNvSpPr/>
                <p:nvPr/>
              </p:nvSpPr>
              <p:spPr>
                <a:xfrm>
                  <a:off x="4822" y="3744"/>
                  <a:ext cx="336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sm" len="med"/>
                </a:ln>
              </p:spPr>
            </p:sp>
            <p:sp>
              <p:nvSpPr>
                <p:cNvPr id="46124" name="Line 44"/>
                <p:cNvSpPr/>
                <p:nvPr/>
              </p:nvSpPr>
              <p:spPr>
                <a:xfrm>
                  <a:off x="3552" y="3024"/>
                  <a:ext cx="336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sm" len="med"/>
                </a:ln>
              </p:spPr>
            </p:sp>
            <p:grpSp>
              <p:nvGrpSpPr>
                <p:cNvPr id="46125" name="Group 45"/>
                <p:cNvGrpSpPr/>
                <p:nvPr/>
              </p:nvGrpSpPr>
              <p:grpSpPr>
                <a:xfrm>
                  <a:off x="3744" y="3168"/>
                  <a:ext cx="240" cy="576"/>
                  <a:chOff x="3744" y="3168"/>
                  <a:chExt cx="240" cy="576"/>
                </a:xfrm>
              </p:grpSpPr>
              <p:sp>
                <p:nvSpPr>
                  <p:cNvPr id="46126" name="Line 46"/>
                  <p:cNvSpPr/>
                  <p:nvPr/>
                </p:nvSpPr>
                <p:spPr>
                  <a:xfrm flipV="1">
                    <a:off x="3981" y="3408"/>
                    <a:ext cx="3" cy="336"/>
                  </a:xfrm>
                  <a:prstGeom prst="line">
                    <a:avLst/>
                  </a:prstGeom>
                  <a:ln w="38100" cap="flat" cmpd="sng">
                    <a:solidFill>
                      <a:srgbClr val="FF00FF"/>
                    </a:solidFill>
                    <a:prstDash val="solid"/>
                    <a:round/>
                    <a:headEnd type="none" w="med" len="med"/>
                    <a:tailEnd type="none" w="sm" len="med"/>
                  </a:ln>
                </p:spPr>
              </p:sp>
              <p:sp>
                <p:nvSpPr>
                  <p:cNvPr id="46127" name="Line 47"/>
                  <p:cNvSpPr/>
                  <p:nvPr/>
                </p:nvSpPr>
                <p:spPr>
                  <a:xfrm flipH="1" flipV="1">
                    <a:off x="3744" y="3408"/>
                    <a:ext cx="240" cy="0"/>
                  </a:xfrm>
                  <a:prstGeom prst="line">
                    <a:avLst/>
                  </a:prstGeom>
                  <a:ln w="38100" cap="flat" cmpd="sng">
                    <a:solidFill>
                      <a:srgbClr val="FF00FF"/>
                    </a:solidFill>
                    <a:prstDash val="solid"/>
                    <a:round/>
                    <a:headEnd type="none" w="med" len="med"/>
                    <a:tailEnd type="none" w="sm" len="med"/>
                  </a:ln>
                </p:spPr>
              </p:sp>
              <p:sp>
                <p:nvSpPr>
                  <p:cNvPr id="46128" name="Line 48"/>
                  <p:cNvSpPr/>
                  <p:nvPr/>
                </p:nvSpPr>
                <p:spPr>
                  <a:xfrm>
                    <a:off x="3744" y="3168"/>
                    <a:ext cx="0" cy="240"/>
                  </a:xfrm>
                  <a:prstGeom prst="line">
                    <a:avLst/>
                  </a:prstGeom>
                  <a:ln w="38100" cap="flat" cmpd="sng">
                    <a:solidFill>
                      <a:srgbClr val="FF00FF"/>
                    </a:solidFill>
                    <a:prstDash val="solid"/>
                    <a:round/>
                    <a:headEnd type="none" w="med" len="med"/>
                    <a:tailEnd type="none" w="sm" len="med"/>
                  </a:ln>
                </p:spPr>
              </p:sp>
              <p:sp>
                <p:nvSpPr>
                  <p:cNvPr id="46129" name="Line 49"/>
                  <p:cNvSpPr/>
                  <p:nvPr/>
                </p:nvSpPr>
                <p:spPr>
                  <a:xfrm flipH="1" flipV="1">
                    <a:off x="3744" y="3168"/>
                    <a:ext cx="144" cy="0"/>
                  </a:xfrm>
                  <a:prstGeom prst="line">
                    <a:avLst/>
                  </a:prstGeom>
                  <a:ln w="38100" cap="flat" cmpd="sng">
                    <a:solidFill>
                      <a:srgbClr val="FF00FF"/>
                    </a:solidFill>
                    <a:prstDash val="solid"/>
                    <a:round/>
                    <a:headEnd type="triangle" w="sm" len="sm"/>
                    <a:tailEnd type="none" w="sm" len="sm"/>
                  </a:ln>
                </p:spPr>
              </p:sp>
            </p:grpSp>
            <p:grpSp>
              <p:nvGrpSpPr>
                <p:cNvPr id="46130" name="Group 50"/>
                <p:cNvGrpSpPr/>
                <p:nvPr/>
              </p:nvGrpSpPr>
              <p:grpSpPr>
                <a:xfrm>
                  <a:off x="4368" y="3072"/>
                  <a:ext cx="307" cy="480"/>
                  <a:chOff x="4368" y="3072"/>
                  <a:chExt cx="307" cy="480"/>
                </a:xfrm>
              </p:grpSpPr>
              <p:sp>
                <p:nvSpPr>
                  <p:cNvPr id="46131" name="Line 51"/>
                  <p:cNvSpPr/>
                  <p:nvPr/>
                </p:nvSpPr>
                <p:spPr>
                  <a:xfrm flipH="1" flipV="1">
                    <a:off x="4464" y="3312"/>
                    <a:ext cx="0" cy="240"/>
                  </a:xfrm>
                  <a:prstGeom prst="line">
                    <a:avLst/>
                  </a:prstGeom>
                  <a:ln w="38100" cap="flat" cmpd="sng">
                    <a:solidFill>
                      <a:srgbClr val="00FF00"/>
                    </a:solidFill>
                    <a:prstDash val="solid"/>
                    <a:round/>
                    <a:headEnd type="triangle" w="sm" len="lg"/>
                    <a:tailEnd type="none" w="sm" len="med"/>
                  </a:ln>
                </p:spPr>
              </p:sp>
              <p:sp>
                <p:nvSpPr>
                  <p:cNvPr id="46132" name="Line 52"/>
                  <p:cNvSpPr/>
                  <p:nvPr/>
                </p:nvSpPr>
                <p:spPr>
                  <a:xfrm flipV="1">
                    <a:off x="4464" y="3312"/>
                    <a:ext cx="192" cy="0"/>
                  </a:xfrm>
                  <a:prstGeom prst="line">
                    <a:avLst/>
                  </a:prstGeom>
                  <a:ln w="38100" cap="flat" cmpd="sng">
                    <a:solidFill>
                      <a:srgbClr val="00FF00"/>
                    </a:solidFill>
                    <a:prstDash val="solid"/>
                    <a:round/>
                    <a:headEnd type="none" w="med" len="med"/>
                    <a:tailEnd type="none" w="sm" len="med"/>
                  </a:ln>
                </p:spPr>
              </p:sp>
              <p:sp>
                <p:nvSpPr>
                  <p:cNvPr id="46133" name="Line 53"/>
                  <p:cNvSpPr/>
                  <p:nvPr/>
                </p:nvSpPr>
                <p:spPr>
                  <a:xfrm flipH="1">
                    <a:off x="4656" y="3072"/>
                    <a:ext cx="0" cy="240"/>
                  </a:xfrm>
                  <a:prstGeom prst="line">
                    <a:avLst/>
                  </a:prstGeom>
                  <a:ln w="38100" cap="flat" cmpd="sng">
                    <a:solidFill>
                      <a:srgbClr val="00FF00"/>
                    </a:solidFill>
                    <a:prstDash val="solid"/>
                    <a:round/>
                    <a:headEnd type="none" w="med" len="med"/>
                    <a:tailEnd type="none" w="sm" len="med"/>
                  </a:ln>
                </p:spPr>
              </p:sp>
              <p:sp>
                <p:nvSpPr>
                  <p:cNvPr id="46134" name="Line 54"/>
                  <p:cNvSpPr/>
                  <p:nvPr/>
                </p:nvSpPr>
                <p:spPr>
                  <a:xfrm flipV="1">
                    <a:off x="4368" y="3072"/>
                    <a:ext cx="307" cy="0"/>
                  </a:xfrm>
                  <a:prstGeom prst="line">
                    <a:avLst/>
                  </a:prstGeom>
                  <a:ln w="38100" cap="flat" cmpd="sng">
                    <a:solidFill>
                      <a:srgbClr val="00FF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sp>
            </p:grpSp>
          </p:grpSp>
          <p:sp>
            <p:nvSpPr>
              <p:cNvPr id="46135" name="Text Box 55"/>
              <p:cNvSpPr txBox="1"/>
              <p:nvPr/>
            </p:nvSpPr>
            <p:spPr>
              <a:xfrm>
                <a:off x="4272" y="3936"/>
                <a:ext cx="816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400" dirty="0">
                    <a:latin typeface="Tahoma" panose="020B0604030504040204" charset="0"/>
                    <a:ea typeface="宋体" panose="02010600030101010101" pitchFamily="2" charset="-122"/>
                  </a:rPr>
                  <a:t>插入后</a:t>
                </a:r>
                <a:endParaRPr lang="zh-CN" altLang="en-US" sz="240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6136" name="Line 56"/>
              <p:cNvSpPr/>
              <p:nvPr/>
            </p:nvSpPr>
            <p:spPr>
              <a:xfrm>
                <a:off x="4032" y="3216"/>
                <a:ext cx="0" cy="24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sm" len="med"/>
              </a:ln>
            </p:spPr>
          </p:sp>
          <p:sp>
            <p:nvSpPr>
              <p:cNvPr id="46137" name="Text Box 57"/>
              <p:cNvSpPr txBox="1"/>
              <p:nvPr/>
            </p:nvSpPr>
            <p:spPr>
              <a:xfrm>
                <a:off x="3792" y="3072"/>
                <a:ext cx="432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400" dirty="0">
                    <a:latin typeface="Tahoma" panose="020B0604030504040204" charset="0"/>
                    <a:ea typeface="宋体" panose="02010600030101010101" pitchFamily="2" charset="-122"/>
                  </a:rPr>
                  <a:t>p</a:t>
                </a:r>
                <a:endParaRPr lang="en-US" altLang="zh-CN" sz="240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</p:grp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525" y="908685"/>
            <a:ext cx="11087735" cy="5144135"/>
          </a:xfrm>
        </p:spPr>
        <p:txBody>
          <a:bodyPr/>
          <a:p>
            <a:pPr algn="l" eaLnBrk="1" hangingPunct="1">
              <a:buClrTx/>
              <a:buSzTx/>
              <a:buChar char="l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单链表插入的实现：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  <a:p>
            <a:pPr marL="609600" indent="-609600" eaLnBrk="1" hangingPunct="1"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Status ListInsert_L(LinkList &amp;L, int i, ElemType e) {</a:t>
            </a:r>
            <a:endParaRPr lang="en-US" altLang="zh-CN" sz="24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hangingPunct="1">
              <a:spcBef>
                <a:spcPct val="3000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		// 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在带头结点的单链表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L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中第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i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个位置之前插入元素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e</a:t>
            </a:r>
            <a:endParaRPr lang="en-US" altLang="zh-CN" sz="24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hangingPunct="1">
              <a:spcBef>
                <a:spcPct val="3000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		p = L; j = 0;</a:t>
            </a:r>
            <a:endParaRPr lang="en-US" altLang="zh-CN" sz="24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hangingPunct="1">
              <a:spcBef>
                <a:spcPct val="3000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		while (p &amp;&amp; j&lt;i-1) {p = p-&gt;next; j++;}		// 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寻找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i-1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结点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hangingPunct="1">
              <a:spcBef>
                <a:spcPct val="3000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		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if (!p || j&gt;i-1) return ERROR;</a:t>
            </a:r>
            <a:endParaRPr lang="en-US" altLang="zh-CN" sz="24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hangingPunct="1">
              <a:spcBef>
                <a:spcPct val="3000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		s = (LinkList) </a:t>
            </a:r>
            <a:r>
              <a:rPr lang="en-US" altLang="zh-CN" sz="2400" dirty="0">
                <a:solidFill>
                  <a:schemeClr val="hlink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malloc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(sizeof(LNode));		// </a:t>
            </a:r>
            <a:r>
              <a:rPr lang="zh-CN" altLang="en-US" sz="2400" dirty="0">
                <a:solidFill>
                  <a:schemeClr val="hlink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生成新结点</a:t>
            </a:r>
            <a:endParaRPr lang="zh-CN" altLang="en-US" sz="2400" dirty="0">
              <a:solidFill>
                <a:schemeClr val="hlink"/>
              </a:solidFill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hangingPunct="1">
              <a:spcBef>
                <a:spcPct val="3000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		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s-&gt;data = e; s-&gt;next = p-&gt;next; p-&gt;next = s;	// 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插入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L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中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hangingPunct="1">
              <a:spcBef>
                <a:spcPct val="3000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		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return OK;</a:t>
            </a:r>
            <a:endParaRPr lang="en-US" altLang="zh-CN" sz="24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hangingPunct="1">
              <a:spcBef>
                <a:spcPct val="3000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} // ListInsert_L</a:t>
            </a:r>
            <a:endParaRPr lang="en-US" altLang="zh-CN" sz="24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0" indent="0" algn="l" eaLnBrk="1" hangingPunct="1">
              <a:buClrTx/>
              <a:buSzTx/>
              <a:buNone/>
            </a:pPr>
            <a:endParaRPr lang="zh-CN" altLang="en-US" dirty="0">
              <a:latin typeface="宋体" panose="02010600030101010101" pitchFamily="2" charset="-122"/>
            </a:endParaRPr>
          </a:p>
          <a:p>
            <a:pPr lvl="1" algn="l" eaLnBrk="1" hangingPunct="1">
              <a:buClrTx/>
              <a:buSzTx/>
              <a:buChar char="•"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2.3 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线性表的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链式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表示和实现</a:t>
            </a:r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525" y="908685"/>
            <a:ext cx="11087735" cy="5144135"/>
          </a:xfrm>
        </p:spPr>
        <p:txBody>
          <a:bodyPr/>
          <a:p>
            <a:pPr algn="l" eaLnBrk="1" hangingPunct="1">
              <a:buClrTx/>
              <a:buSzTx/>
              <a:buChar char="l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单链表插入的时间复杂度主要取决于while循环中的语句频度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algn="l" eaLnBrk="1" hangingPunct="1">
              <a:buClrTx/>
              <a:buSzTx/>
              <a:buChar char="l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循环频度与在链表中的元素位置查找有关，因此线性链表插入的时间复杂度为O(n)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algn="l" eaLnBrk="1" hangingPunct="1">
              <a:buClrTx/>
              <a:buSzTx/>
              <a:buChar char="l"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algn="l" eaLnBrk="1" hangingPunct="1">
              <a:buClrTx/>
              <a:buSzTx/>
              <a:buChar char="l"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  <a:p>
            <a:pPr lvl="1" algn="l" eaLnBrk="1" hangingPunct="1">
              <a:buClrTx/>
              <a:buSzTx/>
              <a:buChar char="•"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2.3 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线性表的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链式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表示和实现</a:t>
            </a:r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525" y="908685"/>
            <a:ext cx="11087735" cy="5144135"/>
          </a:xfrm>
        </p:spPr>
        <p:txBody>
          <a:bodyPr/>
          <a:p>
            <a:pPr algn="l" eaLnBrk="1" hangingPunct="1">
              <a:buClrTx/>
              <a:buSzTx/>
              <a:buChar char="l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单链表的删除：给出要删除的链表、删除位置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dirty="0">
                <a:latin typeface="宋体" panose="02010600030101010101" pitchFamily="2" charset="-122"/>
                <a:sym typeface="+mn-ea"/>
              </a:rPr>
              <a:t>删除是把链表的第</a:t>
            </a:r>
            <a:r>
              <a:rPr lang="en-US" altLang="zh-CN" dirty="0">
                <a:latin typeface="宋体" panose="02010600030101010101" pitchFamily="2" charset="-122"/>
                <a:sym typeface="+mn-ea"/>
              </a:rPr>
              <a:t>i-1</a:t>
            </a:r>
            <a:r>
              <a:rPr lang="zh-CN" altLang="en-US" dirty="0">
                <a:latin typeface="宋体" panose="02010600030101010101" pitchFamily="2" charset="-122"/>
                <a:sym typeface="+mn-ea"/>
              </a:rPr>
              <a:t>元素与第</a:t>
            </a:r>
            <a:r>
              <a:rPr lang="en-US" altLang="zh-CN" dirty="0">
                <a:latin typeface="宋体" panose="02010600030101010101" pitchFamily="2" charset="-122"/>
                <a:sym typeface="+mn-ea"/>
              </a:rPr>
              <a:t>i+1</a:t>
            </a:r>
            <a:r>
              <a:rPr lang="zh-CN" altLang="en-US" dirty="0">
                <a:latin typeface="宋体" panose="02010600030101010101" pitchFamily="2" charset="-122"/>
                <a:sym typeface="+mn-ea"/>
              </a:rPr>
              <a:t>元素之间的第</a:t>
            </a:r>
            <a:r>
              <a:rPr lang="en-US" altLang="zh-CN" dirty="0">
                <a:latin typeface="宋体" panose="02010600030101010101" pitchFamily="2" charset="-122"/>
                <a:sym typeface="+mn-ea"/>
              </a:rPr>
              <a:t>i</a:t>
            </a:r>
            <a:r>
              <a:rPr lang="zh-CN" altLang="en-US" dirty="0">
                <a:latin typeface="宋体" panose="02010600030101010101" pitchFamily="2" charset="-122"/>
                <a:sym typeface="+mn-ea"/>
              </a:rPr>
              <a:t>元素删除</a:t>
            </a:r>
            <a:endParaRPr lang="zh-CN" altLang="en-US" dirty="0">
              <a:latin typeface="宋体" panose="02010600030101010101" pitchFamily="2" charset="-122"/>
              <a:sym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dirty="0">
                <a:latin typeface="宋体" panose="02010600030101010101" pitchFamily="2" charset="-122"/>
                <a:sym typeface="+mn-ea"/>
              </a:rPr>
              <a:t>链表的删除不需要移动元素，只需要修改指针</a:t>
            </a:r>
            <a:endParaRPr lang="zh-CN" altLang="en-US" dirty="0">
              <a:latin typeface="宋体" panose="02010600030101010101" pitchFamily="2" charset="-122"/>
              <a:sym typeface="+mn-ea"/>
            </a:endParaRPr>
          </a:p>
          <a:p>
            <a:pPr marL="609600" lvl="1" indent="0" algn="l" eaLnBrk="1" hangingPunct="1">
              <a:buClrTx/>
              <a:buSzTx/>
              <a:buNone/>
            </a:pP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q = p-&gt;next;</a:t>
            </a:r>
            <a:endParaRPr lang="en-US" altLang="zh-CN" sz="2800" dirty="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  <a:p>
            <a:pPr marL="609600" lvl="1" indent="0" algn="l" eaLnBrk="1" hangingPunct="1">
              <a:buClrTx/>
              <a:buSzTx/>
              <a:buNone/>
            </a:pP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p-&gt;next = p-&gt;next -&gt;next;</a:t>
            </a:r>
            <a:endParaRPr lang="en-US" altLang="zh-CN" sz="2800" dirty="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  <a:p>
            <a:pPr marL="609600" lvl="1" indent="0" algn="l" eaLnBrk="1" hangingPunct="1">
              <a:buClrTx/>
              <a:buSzTx/>
              <a:buNone/>
            </a:pP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free(q);</a:t>
            </a:r>
            <a:endParaRPr lang="en-US" altLang="zh-CN" sz="2800" b="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609600" lvl="1" indent="0" algn="l" eaLnBrk="1" hangingPunct="1">
              <a:buClrTx/>
              <a:buSzTx/>
              <a:buNone/>
            </a:pPr>
            <a:endParaRPr lang="zh-CN" altLang="en-US" dirty="0">
              <a:latin typeface="宋体" panose="02010600030101010101" pitchFamily="2" charset="-122"/>
            </a:endParaRPr>
          </a:p>
          <a:p>
            <a:pPr lvl="1" algn="l" eaLnBrk="1" hangingPunct="1">
              <a:buClrTx/>
              <a:buSzTx/>
              <a:buChar char="•"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2.3 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线性表的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链式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表示和实现</a:t>
            </a:r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4090035" y="3424555"/>
            <a:ext cx="7025640" cy="2807335"/>
            <a:chOff x="3671" y="3806"/>
            <a:chExt cx="11064" cy="4421"/>
          </a:xfrm>
        </p:grpSpPr>
        <p:grpSp>
          <p:nvGrpSpPr>
            <p:cNvPr id="7" name="组合 6"/>
            <p:cNvGrpSpPr/>
            <p:nvPr/>
          </p:nvGrpSpPr>
          <p:grpSpPr>
            <a:xfrm>
              <a:off x="3703" y="3806"/>
              <a:ext cx="11032" cy="1924"/>
              <a:chOff x="3688" y="3813"/>
              <a:chExt cx="11032" cy="1924"/>
            </a:xfrm>
          </p:grpSpPr>
          <p:grpSp>
            <p:nvGrpSpPr>
              <p:cNvPr id="49156" name="Group 4"/>
              <p:cNvGrpSpPr/>
              <p:nvPr/>
            </p:nvGrpSpPr>
            <p:grpSpPr>
              <a:xfrm>
                <a:off x="5858" y="3813"/>
                <a:ext cx="8862" cy="1925"/>
                <a:chOff x="1204" y="2448"/>
                <a:chExt cx="3545" cy="770"/>
              </a:xfrm>
            </p:grpSpPr>
            <p:sp>
              <p:nvSpPr>
                <p:cNvPr id="49157" name="Line 5"/>
                <p:cNvSpPr/>
                <p:nvPr/>
              </p:nvSpPr>
              <p:spPr>
                <a:xfrm>
                  <a:off x="1204" y="2661"/>
                  <a:ext cx="292" cy="0"/>
                </a:xfrm>
                <a:prstGeom prst="line">
                  <a:avLst/>
                </a:prstGeom>
                <a:ln w="28575" cap="flat" cmpd="sng">
                  <a:solidFill>
                    <a:srgbClr val="009900"/>
                  </a:solidFill>
                  <a:prstDash val="solid"/>
                  <a:round/>
                  <a:headEnd type="none" w="med" len="med"/>
                  <a:tailEnd type="triangle" w="sm" len="lg"/>
                </a:ln>
              </p:spPr>
            </p:sp>
            <p:sp>
              <p:nvSpPr>
                <p:cNvPr id="712710" name="Rectangle 6"/>
                <p:cNvSpPr>
                  <a:spLocks noChangeArrowheads="1"/>
                </p:cNvSpPr>
                <p:nvPr/>
              </p:nvSpPr>
              <p:spPr bwMode="auto">
                <a:xfrm>
                  <a:off x="1496" y="2496"/>
                  <a:ext cx="631" cy="288"/>
                </a:xfrm>
                <a:prstGeom prst="rect">
                  <a:avLst/>
                </a:prstGeom>
                <a:solidFill>
                  <a:srgbClr val="FFFFCC"/>
                </a:solidFill>
                <a:ln w="9525">
                  <a:solidFill>
                    <a:srgbClr val="009900"/>
                  </a:solidFill>
                  <a:miter lim="800000"/>
                </a:ln>
                <a:effectLst>
                  <a:outerShdw dist="107763" dir="2700000" algn="ctr" rotWithShape="0">
                    <a:schemeClr val="bg2"/>
                  </a:outerShdw>
                </a:effectLst>
              </p:spPr>
              <p:txBody>
                <a:bodyPr wrap="none" anchor="ctr"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9159" name="Line 7"/>
                <p:cNvSpPr/>
                <p:nvPr/>
              </p:nvSpPr>
              <p:spPr>
                <a:xfrm>
                  <a:off x="1933" y="2496"/>
                  <a:ext cx="0" cy="288"/>
                </a:xfrm>
                <a:prstGeom prst="line">
                  <a:avLst/>
                </a:prstGeom>
                <a:ln w="19050" cap="flat" cmpd="sng">
                  <a:solidFill>
                    <a:srgbClr val="00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49160" name="Line 8"/>
                <p:cNvSpPr/>
                <p:nvPr/>
              </p:nvSpPr>
              <p:spPr>
                <a:xfrm>
                  <a:off x="2030" y="2661"/>
                  <a:ext cx="631" cy="0"/>
                </a:xfrm>
                <a:prstGeom prst="line">
                  <a:avLst/>
                </a:prstGeom>
                <a:ln w="28575" cap="flat" cmpd="sng">
                  <a:solidFill>
                    <a:srgbClr val="009900"/>
                  </a:solidFill>
                  <a:prstDash val="solid"/>
                  <a:round/>
                  <a:headEnd type="none" w="med" len="med"/>
                  <a:tailEnd type="triangle" w="sm" len="lg"/>
                </a:ln>
              </p:spPr>
            </p:sp>
            <p:sp>
              <p:nvSpPr>
                <p:cNvPr id="712713" name="Rectangle 9"/>
                <p:cNvSpPr>
                  <a:spLocks noChangeArrowheads="1"/>
                </p:cNvSpPr>
                <p:nvPr/>
              </p:nvSpPr>
              <p:spPr bwMode="auto">
                <a:xfrm>
                  <a:off x="2661" y="2496"/>
                  <a:ext cx="631" cy="288"/>
                </a:xfrm>
                <a:prstGeom prst="rect">
                  <a:avLst/>
                </a:prstGeom>
                <a:solidFill>
                  <a:srgbClr val="FFFFCC"/>
                </a:solidFill>
                <a:ln w="9525">
                  <a:solidFill>
                    <a:srgbClr val="009900"/>
                  </a:solidFill>
                  <a:miter lim="800000"/>
                </a:ln>
                <a:effectLst>
                  <a:outerShdw dist="107763" dir="2700000" algn="ctr" rotWithShape="0">
                    <a:schemeClr val="bg2"/>
                  </a:outerShdw>
                </a:effectLst>
              </p:spPr>
              <p:txBody>
                <a:bodyPr wrap="none" anchor="ctr"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9162" name="Line 10"/>
                <p:cNvSpPr/>
                <p:nvPr/>
              </p:nvSpPr>
              <p:spPr>
                <a:xfrm>
                  <a:off x="3098" y="2496"/>
                  <a:ext cx="0" cy="288"/>
                </a:xfrm>
                <a:prstGeom prst="line">
                  <a:avLst/>
                </a:prstGeom>
                <a:ln w="19050" cap="flat" cmpd="sng">
                  <a:solidFill>
                    <a:srgbClr val="00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49163" name="Line 11"/>
                <p:cNvSpPr/>
                <p:nvPr/>
              </p:nvSpPr>
              <p:spPr>
                <a:xfrm>
                  <a:off x="3195" y="2661"/>
                  <a:ext cx="631" cy="0"/>
                </a:xfrm>
                <a:prstGeom prst="line">
                  <a:avLst/>
                </a:prstGeom>
                <a:ln w="28575" cap="flat" cmpd="sng">
                  <a:solidFill>
                    <a:srgbClr val="009900"/>
                  </a:solidFill>
                  <a:prstDash val="solid"/>
                  <a:round/>
                  <a:headEnd type="none" w="med" len="med"/>
                  <a:tailEnd type="triangle" w="sm" len="lg"/>
                </a:ln>
              </p:spPr>
            </p:sp>
            <p:sp>
              <p:nvSpPr>
                <p:cNvPr id="712716" name="Rectangle 12"/>
                <p:cNvSpPr>
                  <a:spLocks noChangeArrowheads="1"/>
                </p:cNvSpPr>
                <p:nvPr/>
              </p:nvSpPr>
              <p:spPr bwMode="auto">
                <a:xfrm>
                  <a:off x="3826" y="2496"/>
                  <a:ext cx="631" cy="288"/>
                </a:xfrm>
                <a:prstGeom prst="rect">
                  <a:avLst/>
                </a:prstGeom>
                <a:solidFill>
                  <a:srgbClr val="FFFFCC"/>
                </a:solidFill>
                <a:ln w="9525">
                  <a:solidFill>
                    <a:srgbClr val="009900"/>
                  </a:solidFill>
                  <a:miter lim="800000"/>
                </a:ln>
                <a:effectLst>
                  <a:outerShdw dist="107763" dir="2700000" algn="ctr" rotWithShape="0">
                    <a:schemeClr val="bg2"/>
                  </a:outerShdw>
                </a:effectLst>
              </p:spPr>
              <p:txBody>
                <a:bodyPr wrap="none" anchor="ctr"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9165" name="Line 13"/>
                <p:cNvSpPr/>
                <p:nvPr/>
              </p:nvSpPr>
              <p:spPr>
                <a:xfrm>
                  <a:off x="4263" y="2496"/>
                  <a:ext cx="0" cy="288"/>
                </a:xfrm>
                <a:prstGeom prst="line">
                  <a:avLst/>
                </a:prstGeom>
                <a:ln w="19050" cap="flat" cmpd="sng">
                  <a:solidFill>
                    <a:srgbClr val="00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49166" name="Line 14"/>
                <p:cNvSpPr/>
                <p:nvPr/>
              </p:nvSpPr>
              <p:spPr>
                <a:xfrm>
                  <a:off x="4360" y="2661"/>
                  <a:ext cx="389" cy="0"/>
                </a:xfrm>
                <a:prstGeom prst="line">
                  <a:avLst/>
                </a:prstGeom>
                <a:ln w="28575" cap="flat" cmpd="sng">
                  <a:solidFill>
                    <a:srgbClr val="009900"/>
                  </a:solidFill>
                  <a:prstDash val="solid"/>
                  <a:round/>
                  <a:headEnd type="none" w="med" len="med"/>
                  <a:tailEnd type="triangle" w="sm" len="lg"/>
                </a:ln>
              </p:spPr>
            </p:sp>
            <p:sp>
              <p:nvSpPr>
                <p:cNvPr id="49167" name="Text Box 15"/>
                <p:cNvSpPr txBox="1"/>
                <p:nvPr/>
              </p:nvSpPr>
              <p:spPr>
                <a:xfrm>
                  <a:off x="1680" y="2928"/>
                  <a:ext cx="222" cy="29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p>
                  <a:r>
                    <a:rPr lang="en-US" altLang="zh-CN" sz="2400" b="1" dirty="0">
                      <a:solidFill>
                        <a:schemeClr val="tx2"/>
                      </a:solidFill>
                      <a:latin typeface="Times New Roman" panose="02020603050405020304" charset="0"/>
                    </a:rPr>
                    <a:t>p</a:t>
                  </a:r>
                  <a:endParaRPr lang="en-US" altLang="zh-CN" sz="2400" b="1" dirty="0">
                    <a:latin typeface="Times New Roman" panose="02020603050405020304" charset="0"/>
                  </a:endParaRPr>
                </a:p>
              </p:txBody>
            </p:sp>
            <p:sp>
              <p:nvSpPr>
                <p:cNvPr id="49168" name="Line 16"/>
                <p:cNvSpPr/>
                <p:nvPr/>
              </p:nvSpPr>
              <p:spPr>
                <a:xfrm flipV="1">
                  <a:off x="1680" y="2784"/>
                  <a:ext cx="0" cy="240"/>
                </a:xfrm>
                <a:prstGeom prst="line">
                  <a:avLst/>
                </a:prstGeom>
                <a:ln w="2857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triangle" w="sm" len="lg"/>
                </a:ln>
              </p:spPr>
            </p:sp>
            <p:grpSp>
              <p:nvGrpSpPr>
                <p:cNvPr id="49169" name="Group 17"/>
                <p:cNvGrpSpPr/>
                <p:nvPr/>
              </p:nvGrpSpPr>
              <p:grpSpPr>
                <a:xfrm>
                  <a:off x="1536" y="2448"/>
                  <a:ext cx="2684" cy="340"/>
                  <a:chOff x="1584" y="1776"/>
                  <a:chExt cx="2684" cy="340"/>
                </a:xfrm>
              </p:grpSpPr>
              <p:sp>
                <p:nvSpPr>
                  <p:cNvPr id="49170" name="Rectangle 18"/>
                  <p:cNvSpPr/>
                  <p:nvPr/>
                </p:nvSpPr>
                <p:spPr>
                  <a:xfrm>
                    <a:off x="1584" y="1776"/>
                    <a:ext cx="350" cy="290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anchor="t" anchorCtr="0">
                    <a:spAutoFit/>
                  </a:bodyPr>
                  <a:p>
                    <a:r>
                      <a:rPr lang="en-US" altLang="zh-CN" sz="2400" b="1" dirty="0">
                        <a:solidFill>
                          <a:schemeClr val="tx2"/>
                        </a:solidFill>
                        <a:latin typeface="Times New Roman" panose="02020603050405020304" charset="0"/>
                      </a:rPr>
                      <a:t>a</a:t>
                    </a:r>
                    <a:r>
                      <a:rPr lang="en-US" altLang="zh-CN" sz="2400" b="1" baseline="-25000" dirty="0">
                        <a:solidFill>
                          <a:schemeClr val="tx2"/>
                        </a:solidFill>
                        <a:latin typeface="Times New Roman" panose="02020603050405020304" charset="0"/>
                      </a:rPr>
                      <a:t>i-1</a:t>
                    </a:r>
                    <a:endParaRPr lang="en-US" altLang="zh-CN" sz="2400" b="1" baseline="-25000" dirty="0">
                      <a:solidFill>
                        <a:schemeClr val="tx2"/>
                      </a:solidFill>
                      <a:latin typeface="Times New Roman" panose="02020603050405020304" charset="0"/>
                    </a:endParaRPr>
                  </a:p>
                </p:txBody>
              </p:sp>
              <p:sp>
                <p:nvSpPr>
                  <p:cNvPr id="49171" name="Rectangle 19"/>
                  <p:cNvSpPr/>
                  <p:nvPr/>
                </p:nvSpPr>
                <p:spPr>
                  <a:xfrm>
                    <a:off x="3888" y="1824"/>
                    <a:ext cx="380" cy="290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anchor="t" anchorCtr="0">
                    <a:spAutoFit/>
                  </a:bodyPr>
                  <a:p>
                    <a:r>
                      <a:rPr lang="en-US" altLang="zh-CN" sz="2400" b="1" dirty="0">
                        <a:solidFill>
                          <a:schemeClr val="tx2"/>
                        </a:solidFill>
                        <a:latin typeface="Times New Roman" panose="02020603050405020304" charset="0"/>
                      </a:rPr>
                      <a:t>a</a:t>
                    </a:r>
                    <a:r>
                      <a:rPr lang="en-US" altLang="zh-CN" sz="2400" b="1" baseline="-25000" dirty="0">
                        <a:solidFill>
                          <a:schemeClr val="tx2"/>
                        </a:solidFill>
                        <a:latin typeface="Times New Roman" panose="02020603050405020304" charset="0"/>
                      </a:rPr>
                      <a:t>i+1</a:t>
                    </a:r>
                    <a:endParaRPr lang="en-US" altLang="zh-CN" sz="2400" b="1" baseline="-25000" dirty="0">
                      <a:solidFill>
                        <a:schemeClr val="tx2"/>
                      </a:solidFill>
                      <a:latin typeface="Times New Roman" panose="02020603050405020304" charset="0"/>
                    </a:endParaRPr>
                  </a:p>
                </p:txBody>
              </p:sp>
              <p:sp>
                <p:nvSpPr>
                  <p:cNvPr id="49172" name="Rectangle 20"/>
                  <p:cNvSpPr/>
                  <p:nvPr/>
                </p:nvSpPr>
                <p:spPr>
                  <a:xfrm>
                    <a:off x="2736" y="1824"/>
                    <a:ext cx="246" cy="292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anchor="t" anchorCtr="0">
                    <a:spAutoFit/>
                  </a:bodyPr>
                  <a:p>
                    <a:r>
                      <a:rPr lang="en-US" altLang="zh-CN" sz="2400" b="1" dirty="0">
                        <a:solidFill>
                          <a:schemeClr val="tx2"/>
                        </a:solidFill>
                        <a:latin typeface="Times New Roman" panose="02020603050405020304" charset="0"/>
                      </a:rPr>
                      <a:t>a</a:t>
                    </a:r>
                    <a:r>
                      <a:rPr lang="en-US" altLang="zh-CN" sz="2400" b="1" baseline="-25000" dirty="0">
                        <a:solidFill>
                          <a:schemeClr val="tx2"/>
                        </a:solidFill>
                        <a:latin typeface="Times New Roman" panose="02020603050405020304" charset="0"/>
                      </a:rPr>
                      <a:t>i</a:t>
                    </a:r>
                    <a:endParaRPr lang="en-US" altLang="zh-CN" sz="2400" b="1" baseline="-25000" dirty="0">
                      <a:solidFill>
                        <a:schemeClr val="tx2"/>
                      </a:solidFill>
                      <a:latin typeface="Times New Roman" panose="02020603050405020304" charset="0"/>
                    </a:endParaRPr>
                  </a:p>
                </p:txBody>
              </p:sp>
            </p:grpSp>
          </p:grpSp>
          <p:sp>
            <p:nvSpPr>
              <p:cNvPr id="49173" name="Text Box 21"/>
              <p:cNvSpPr txBox="1"/>
              <p:nvPr/>
            </p:nvSpPr>
            <p:spPr>
              <a:xfrm>
                <a:off x="3688" y="3933"/>
                <a:ext cx="2400" cy="72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400" b="1" dirty="0">
                    <a:latin typeface="Tahoma" panose="020B0604030504040204" charset="0"/>
                    <a:ea typeface="宋体" panose="02010600030101010101" pitchFamily="2" charset="-122"/>
                  </a:rPr>
                  <a:t>删除前</a:t>
                </a:r>
                <a:endParaRPr lang="zh-CN" altLang="en-US" sz="2400" b="1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49174" name="Group 22"/>
            <p:cNvGrpSpPr/>
            <p:nvPr/>
          </p:nvGrpSpPr>
          <p:grpSpPr>
            <a:xfrm>
              <a:off x="3671" y="6213"/>
              <a:ext cx="11032" cy="2015"/>
              <a:chOff x="336" y="3360"/>
              <a:chExt cx="4413" cy="806"/>
            </a:xfrm>
          </p:grpSpPr>
          <p:sp>
            <p:nvSpPr>
              <p:cNvPr id="49175" name="Line 23"/>
              <p:cNvSpPr/>
              <p:nvPr/>
            </p:nvSpPr>
            <p:spPr>
              <a:xfrm>
                <a:off x="1204" y="3649"/>
                <a:ext cx="292" cy="0"/>
              </a:xfrm>
              <a:prstGeom prst="line">
                <a:avLst/>
              </a:prstGeom>
              <a:ln w="28575" cap="flat" cmpd="sng">
                <a:solidFill>
                  <a:srgbClr val="009900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sp>
            <p:nvSpPr>
              <p:cNvPr id="712728" name="Rectangle 24"/>
              <p:cNvSpPr>
                <a:spLocks noChangeArrowheads="1"/>
              </p:cNvSpPr>
              <p:nvPr/>
            </p:nvSpPr>
            <p:spPr bwMode="auto">
              <a:xfrm>
                <a:off x="1496" y="3484"/>
                <a:ext cx="631" cy="289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rgbClr val="009900"/>
                </a:solidFill>
                <a:miter lim="800000"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9177" name="Line 25"/>
              <p:cNvSpPr/>
              <p:nvPr/>
            </p:nvSpPr>
            <p:spPr>
              <a:xfrm>
                <a:off x="1933" y="3484"/>
                <a:ext cx="0" cy="289"/>
              </a:xfrm>
              <a:prstGeom prst="line">
                <a:avLst/>
              </a:prstGeom>
              <a:ln w="19050" cap="flat" cmpd="sng">
                <a:solidFill>
                  <a:srgbClr val="00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9178" name="Line 26"/>
              <p:cNvSpPr/>
              <p:nvPr/>
            </p:nvSpPr>
            <p:spPr>
              <a:xfrm>
                <a:off x="2030" y="3649"/>
                <a:ext cx="631" cy="0"/>
              </a:xfrm>
              <a:prstGeom prst="line">
                <a:avLst/>
              </a:prstGeom>
              <a:ln w="28575" cap="flat" cmpd="sng">
                <a:solidFill>
                  <a:srgbClr val="009900"/>
                </a:solidFill>
                <a:prstDash val="sysDot"/>
                <a:round/>
                <a:headEnd type="none" w="med" len="med"/>
                <a:tailEnd type="triangle" w="sm" len="lg"/>
              </a:ln>
            </p:spPr>
          </p:sp>
          <p:sp>
            <p:nvSpPr>
              <p:cNvPr id="712731" name="Rectangle 27"/>
              <p:cNvSpPr>
                <a:spLocks noChangeArrowheads="1"/>
              </p:cNvSpPr>
              <p:nvPr/>
            </p:nvSpPr>
            <p:spPr bwMode="auto">
              <a:xfrm>
                <a:off x="2661" y="3484"/>
                <a:ext cx="631" cy="289"/>
              </a:xfrm>
              <a:prstGeom prst="rect">
                <a:avLst/>
              </a:prstGeom>
              <a:solidFill>
                <a:srgbClr val="000066"/>
              </a:solidFill>
              <a:ln w="9525">
                <a:solidFill>
                  <a:srgbClr val="000066"/>
                </a:solidFill>
                <a:miter lim="800000"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9180" name="Line 28"/>
              <p:cNvSpPr/>
              <p:nvPr/>
            </p:nvSpPr>
            <p:spPr>
              <a:xfrm>
                <a:off x="3098" y="3484"/>
                <a:ext cx="0" cy="289"/>
              </a:xfrm>
              <a:prstGeom prst="line">
                <a:avLst/>
              </a:prstGeom>
              <a:ln w="19050" cap="flat" cmpd="sng">
                <a:solidFill>
                  <a:srgbClr val="00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9181" name="Line 29"/>
              <p:cNvSpPr/>
              <p:nvPr/>
            </p:nvSpPr>
            <p:spPr>
              <a:xfrm>
                <a:off x="3195" y="3649"/>
                <a:ext cx="631" cy="0"/>
              </a:xfrm>
              <a:prstGeom prst="line">
                <a:avLst/>
              </a:prstGeom>
              <a:ln w="28575" cap="flat" cmpd="sng">
                <a:solidFill>
                  <a:srgbClr val="009900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sp>
            <p:nvSpPr>
              <p:cNvPr id="712734" name="Rectangle 30"/>
              <p:cNvSpPr>
                <a:spLocks noChangeArrowheads="1"/>
              </p:cNvSpPr>
              <p:nvPr/>
            </p:nvSpPr>
            <p:spPr bwMode="auto">
              <a:xfrm>
                <a:off x="3826" y="3484"/>
                <a:ext cx="631" cy="289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rgbClr val="009900"/>
                </a:solidFill>
                <a:miter lim="800000"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9183" name="Line 31"/>
              <p:cNvSpPr/>
              <p:nvPr/>
            </p:nvSpPr>
            <p:spPr>
              <a:xfrm>
                <a:off x="4263" y="3484"/>
                <a:ext cx="0" cy="289"/>
              </a:xfrm>
              <a:prstGeom prst="line">
                <a:avLst/>
              </a:prstGeom>
              <a:ln w="19050" cap="flat" cmpd="sng">
                <a:solidFill>
                  <a:srgbClr val="00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9184" name="Line 32"/>
              <p:cNvSpPr/>
              <p:nvPr/>
            </p:nvSpPr>
            <p:spPr>
              <a:xfrm>
                <a:off x="4360" y="3649"/>
                <a:ext cx="389" cy="0"/>
              </a:xfrm>
              <a:prstGeom prst="line">
                <a:avLst/>
              </a:prstGeom>
              <a:ln w="28575" cap="flat" cmpd="sng">
                <a:solidFill>
                  <a:srgbClr val="009900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sp>
            <p:nvSpPr>
              <p:cNvPr id="49185" name="Text Box 33"/>
              <p:cNvSpPr txBox="1"/>
              <p:nvPr/>
            </p:nvSpPr>
            <p:spPr>
              <a:xfrm>
                <a:off x="816" y="3487"/>
                <a:ext cx="195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endParaRPr lang="zh-CN" altLang="zh-CN" sz="2400" b="1" dirty="0">
                  <a:latin typeface="Times New Roman" panose="02020603050405020304" charset="0"/>
                </a:endParaRPr>
              </a:p>
            </p:txBody>
          </p:sp>
          <p:sp>
            <p:nvSpPr>
              <p:cNvPr id="49187" name="Text Box 35"/>
              <p:cNvSpPr txBox="1"/>
              <p:nvPr/>
            </p:nvSpPr>
            <p:spPr>
              <a:xfrm>
                <a:off x="1496" y="3480"/>
                <a:ext cx="350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400" b="1" dirty="0">
                    <a:solidFill>
                      <a:schemeClr val="tx2"/>
                    </a:solidFill>
                    <a:latin typeface="Times New Roman" panose="02020603050405020304" charset="0"/>
                  </a:rPr>
                  <a:t>a</a:t>
                </a:r>
                <a:r>
                  <a:rPr lang="en-US" altLang="zh-CN" sz="2400" b="1" baseline="-25000" dirty="0">
                    <a:solidFill>
                      <a:schemeClr val="tx2"/>
                    </a:solidFill>
                    <a:latin typeface="Times New Roman" panose="02020603050405020304" charset="0"/>
                  </a:rPr>
                  <a:t>i-1</a:t>
                </a:r>
                <a:endParaRPr lang="en-US" altLang="zh-CN" sz="2400" b="1" dirty="0">
                  <a:latin typeface="Times New Roman" panose="02020603050405020304" charset="0"/>
                </a:endParaRPr>
              </a:p>
            </p:txBody>
          </p:sp>
          <p:sp>
            <p:nvSpPr>
              <p:cNvPr id="49188" name="Text Box 36"/>
              <p:cNvSpPr txBox="1"/>
              <p:nvPr/>
            </p:nvSpPr>
            <p:spPr>
              <a:xfrm>
                <a:off x="2758" y="3480"/>
                <a:ext cx="246" cy="290"/>
              </a:xfrm>
              <a:prstGeom prst="rect">
                <a:avLst/>
              </a:prstGeom>
              <a:solidFill>
                <a:srgbClr val="000066"/>
              </a:solidFill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400" b="1" dirty="0">
                    <a:solidFill>
                      <a:schemeClr val="bg1"/>
                    </a:solidFill>
                    <a:latin typeface="Times New Roman" panose="02020603050405020304" charset="0"/>
                  </a:rPr>
                  <a:t>a</a:t>
                </a:r>
                <a:r>
                  <a:rPr lang="en-US" altLang="zh-CN" sz="2400" b="1" baseline="-25000" dirty="0">
                    <a:solidFill>
                      <a:schemeClr val="bg1"/>
                    </a:solidFill>
                    <a:latin typeface="Times New Roman" panose="02020603050405020304" charset="0"/>
                  </a:rPr>
                  <a:t>i</a:t>
                </a:r>
                <a:endParaRPr lang="en-US" altLang="zh-CN" sz="2400" b="1" dirty="0">
                  <a:latin typeface="Times New Roman" panose="02020603050405020304" charset="0"/>
                </a:endParaRPr>
              </a:p>
            </p:txBody>
          </p:sp>
          <p:sp>
            <p:nvSpPr>
              <p:cNvPr id="49189" name="Text Box 37"/>
              <p:cNvSpPr txBox="1"/>
              <p:nvPr/>
            </p:nvSpPr>
            <p:spPr>
              <a:xfrm>
                <a:off x="3835" y="3480"/>
                <a:ext cx="380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400" b="1" dirty="0">
                    <a:solidFill>
                      <a:schemeClr val="tx2"/>
                    </a:solidFill>
                    <a:latin typeface="Times New Roman" panose="02020603050405020304" charset="0"/>
                  </a:rPr>
                  <a:t>a</a:t>
                </a:r>
                <a:r>
                  <a:rPr lang="en-US" altLang="zh-CN" sz="2400" b="1" baseline="-25000" dirty="0">
                    <a:solidFill>
                      <a:schemeClr val="tx2"/>
                    </a:solidFill>
                    <a:latin typeface="Times New Roman" panose="02020603050405020304" charset="0"/>
                  </a:rPr>
                  <a:t>i+1</a:t>
                </a:r>
                <a:endParaRPr lang="en-US" altLang="zh-CN" sz="2400" b="1" dirty="0">
                  <a:latin typeface="Times New Roman" panose="02020603050405020304" charset="0"/>
                </a:endParaRPr>
              </a:p>
            </p:txBody>
          </p:sp>
          <p:sp>
            <p:nvSpPr>
              <p:cNvPr id="49190" name="Line 38"/>
              <p:cNvSpPr/>
              <p:nvPr/>
            </p:nvSpPr>
            <p:spPr>
              <a:xfrm flipV="1">
                <a:off x="1690" y="3814"/>
                <a:ext cx="0" cy="247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sp>
            <p:nvSpPr>
              <p:cNvPr id="49191" name="Line 39"/>
              <p:cNvSpPr/>
              <p:nvPr/>
            </p:nvSpPr>
            <p:spPr>
              <a:xfrm flipV="1">
                <a:off x="2855" y="3814"/>
                <a:ext cx="0" cy="247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sp>
            <p:nvSpPr>
              <p:cNvPr id="49192" name="Text Box 40"/>
              <p:cNvSpPr txBox="1"/>
              <p:nvPr/>
            </p:nvSpPr>
            <p:spPr>
              <a:xfrm>
                <a:off x="1690" y="3876"/>
                <a:ext cx="222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400" b="1" dirty="0">
                    <a:solidFill>
                      <a:schemeClr val="tx2"/>
                    </a:solidFill>
                    <a:latin typeface="Times New Roman" panose="02020603050405020304" charset="0"/>
                  </a:rPr>
                  <a:t>p</a:t>
                </a:r>
                <a:endParaRPr lang="en-US" altLang="zh-CN" sz="2400" b="1" dirty="0">
                  <a:latin typeface="Times New Roman" panose="02020603050405020304" charset="0"/>
                </a:endParaRPr>
              </a:p>
            </p:txBody>
          </p:sp>
          <p:sp>
            <p:nvSpPr>
              <p:cNvPr id="49193" name="Text Box 41"/>
              <p:cNvSpPr txBox="1"/>
              <p:nvPr/>
            </p:nvSpPr>
            <p:spPr>
              <a:xfrm>
                <a:off x="2885" y="3876"/>
                <a:ext cx="222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400" b="1" dirty="0">
                    <a:solidFill>
                      <a:schemeClr val="tx2"/>
                    </a:solidFill>
                    <a:latin typeface="Times New Roman" panose="02020603050405020304" charset="0"/>
                  </a:rPr>
                  <a:t>q</a:t>
                </a:r>
                <a:endParaRPr lang="en-US" altLang="zh-CN" sz="2400" b="1" dirty="0">
                  <a:latin typeface="Times New Roman" panose="02020603050405020304" charset="0"/>
                </a:endParaRPr>
              </a:p>
            </p:txBody>
          </p:sp>
          <p:sp>
            <p:nvSpPr>
              <p:cNvPr id="49194" name="Line 42"/>
              <p:cNvSpPr/>
              <p:nvPr/>
            </p:nvSpPr>
            <p:spPr>
              <a:xfrm flipV="1">
                <a:off x="2030" y="3360"/>
                <a:ext cx="243" cy="206"/>
              </a:xfrm>
              <a:prstGeom prst="line">
                <a:avLst/>
              </a:prstGeom>
              <a:ln w="28575" cap="flat" cmpd="sng">
                <a:solidFill>
                  <a:srgbClr val="00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9195" name="Line 43"/>
              <p:cNvSpPr/>
              <p:nvPr/>
            </p:nvSpPr>
            <p:spPr>
              <a:xfrm>
                <a:off x="3632" y="3360"/>
                <a:ext cx="194" cy="124"/>
              </a:xfrm>
              <a:prstGeom prst="line">
                <a:avLst/>
              </a:prstGeom>
              <a:ln w="28575" cap="flat" cmpd="sng">
                <a:solidFill>
                  <a:srgbClr val="009900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sp>
            <p:nvSpPr>
              <p:cNvPr id="49196" name="Line 44"/>
              <p:cNvSpPr/>
              <p:nvPr/>
            </p:nvSpPr>
            <p:spPr>
              <a:xfrm flipH="1">
                <a:off x="2273" y="3360"/>
                <a:ext cx="1359" cy="0"/>
              </a:xfrm>
              <a:prstGeom prst="line">
                <a:avLst/>
              </a:prstGeom>
              <a:ln w="28575" cap="flat" cmpd="sng">
                <a:solidFill>
                  <a:srgbClr val="00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9197" name="Text Box 45"/>
              <p:cNvSpPr txBox="1"/>
              <p:nvPr/>
            </p:nvSpPr>
            <p:spPr>
              <a:xfrm>
                <a:off x="336" y="3504"/>
                <a:ext cx="720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400" b="1" dirty="0">
                    <a:latin typeface="Tahoma" panose="020B0604030504040204" charset="0"/>
                    <a:ea typeface="宋体" panose="02010600030101010101" pitchFamily="2" charset="-122"/>
                  </a:rPr>
                  <a:t>删除后</a:t>
                </a:r>
                <a:endParaRPr lang="zh-CN" altLang="en-US" sz="2400" b="1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</p:grp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525" y="908685"/>
            <a:ext cx="11087735" cy="5144135"/>
          </a:xfrm>
        </p:spPr>
        <p:txBody>
          <a:bodyPr/>
          <a:p>
            <a:pPr algn="l" eaLnBrk="1" hangingPunct="1">
              <a:buClrTx/>
              <a:buSzTx/>
              <a:buChar char="l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单链表删除的实现：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  <a:p>
            <a:pPr marL="609600" indent="-609600" eaLnBrk="1" hangingPunct="1"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Status ListDelete_L(LinkList &amp;L, int i, ElemType &amp;e) {</a:t>
            </a:r>
            <a:endParaRPr lang="en-US" altLang="zh-CN" sz="24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hangingPunct="1">
              <a:spcBef>
                <a:spcPct val="3000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		// 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在带头结点的单链表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L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中，删除第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i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个位置的元素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hangingPunct="1">
              <a:spcBef>
                <a:spcPct val="3000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		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p = L; j = 0;</a:t>
            </a:r>
            <a:endParaRPr lang="en-US" altLang="zh-CN" sz="24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hangingPunct="1">
              <a:spcBef>
                <a:spcPct val="3000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		while (p-&gt;next &amp;&amp; j&lt;i-1) {p = p-&gt;next; j++;}	// 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寻找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i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结点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hangingPunct="1">
              <a:spcBef>
                <a:spcPct val="3000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		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if (!p-&gt;next || j&gt;i-1) return ERROR;</a:t>
            </a:r>
            <a:endParaRPr lang="en-US" altLang="zh-CN" sz="24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hangingPunct="1">
              <a:spcBef>
                <a:spcPct val="3000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		q = p-&gt;next; p-&gt;next = q-&gt;next;		// 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删除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i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结点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hangingPunct="1">
              <a:spcBef>
                <a:spcPct val="3000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		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e = q-&gt;data; 				// 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取值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hangingPunct="1">
              <a:spcBef>
                <a:spcPct val="3000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		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free(q);				// 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释放结点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hangingPunct="1">
              <a:spcBef>
                <a:spcPct val="3000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		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return OK;</a:t>
            </a:r>
            <a:endParaRPr lang="en-US" altLang="zh-CN" sz="24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hangingPunct="1">
              <a:spcBef>
                <a:spcPct val="3000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} // ListDelete_L</a:t>
            </a:r>
            <a:endParaRPr lang="en-US" altLang="zh-CN" sz="24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0" indent="0" algn="l" eaLnBrk="1" hangingPunct="1">
              <a:buClrTx/>
              <a:buSzTx/>
              <a:buNone/>
            </a:pPr>
            <a:endParaRPr lang="zh-CN" altLang="en-US" dirty="0">
              <a:latin typeface="宋体" panose="02010600030101010101" pitchFamily="2" charset="-122"/>
            </a:endParaRPr>
          </a:p>
          <a:p>
            <a:pPr lvl="1" algn="l" eaLnBrk="1" hangingPunct="1">
              <a:buClrTx/>
              <a:buSzTx/>
              <a:buChar char="•"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2.3 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线性表的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链式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表示和实现</a:t>
            </a:r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525" y="908685"/>
            <a:ext cx="11087735" cy="5144135"/>
          </a:xfrm>
        </p:spPr>
        <p:txBody>
          <a:bodyPr/>
          <a:p>
            <a:pPr algn="l" eaLnBrk="1" hangingPunct="1">
              <a:buClrTx/>
              <a:buSzTx/>
              <a:buChar char="l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单链表删除的时间复杂度主要取决于while循环中的语句频度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algn="l" eaLnBrk="1" hangingPunct="1">
              <a:buClrTx/>
              <a:buSzTx/>
              <a:buChar char="l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循环频度与在链表中的元素位置查找有关，因此线性链表删除的时间复杂度为O(n)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algn="l" eaLnBrk="1" hangingPunct="1">
              <a:buClrTx/>
              <a:buSzTx/>
              <a:buChar char="l"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algn="l" eaLnBrk="1" hangingPunct="1">
              <a:buClrTx/>
              <a:buSzTx/>
              <a:buChar char="l"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  <a:p>
            <a:pPr lvl="1" algn="l" eaLnBrk="1" hangingPunct="1">
              <a:buClrTx/>
              <a:buSzTx/>
              <a:buChar char="•"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2.3 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线性表的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链式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表示和实现</a:t>
            </a:r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525" y="908685"/>
            <a:ext cx="11087735" cy="5144135"/>
          </a:xfrm>
        </p:spPr>
        <p:txBody>
          <a:bodyPr/>
          <a:p>
            <a:pPr algn="l" eaLnBrk="1" hangingPunct="1">
              <a:buClrTx/>
              <a:buSzTx/>
              <a:buChar char="l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单链表的简单合并插入：头尾拼接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  <a:p>
            <a:pPr algn="l" eaLnBrk="1" hangingPunct="1">
              <a:buClrTx/>
              <a:buSzTx/>
              <a:buChar char="l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有序单链表的合并：把两个递增有序的单链表La和Lb合并成Lc，保持递增有序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头结点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La\Lb\Lc\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，链表指针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pa\pb\pc</a:t>
            </a:r>
            <a:endParaRPr lang="zh-CN" altLang="en-US" sz="28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2.3 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线性表的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链式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表示和实现</a:t>
            </a:r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  <p:grpSp>
        <p:nvGrpSpPr>
          <p:cNvPr id="53252" name="Group 6"/>
          <p:cNvGrpSpPr/>
          <p:nvPr/>
        </p:nvGrpSpPr>
        <p:grpSpPr>
          <a:xfrm>
            <a:off x="1919605" y="3068955"/>
            <a:ext cx="7418388" cy="2657475"/>
            <a:chOff x="0" y="0"/>
            <a:chExt cx="4673" cy="1674"/>
          </a:xfrm>
        </p:grpSpPr>
        <p:grpSp>
          <p:nvGrpSpPr>
            <p:cNvPr id="53254" name="Group 8"/>
            <p:cNvGrpSpPr/>
            <p:nvPr/>
          </p:nvGrpSpPr>
          <p:grpSpPr>
            <a:xfrm>
              <a:off x="432" y="731"/>
              <a:ext cx="3642" cy="943"/>
              <a:chOff x="0" y="0"/>
              <a:chExt cx="3642" cy="943"/>
            </a:xfrm>
          </p:grpSpPr>
          <p:grpSp>
            <p:nvGrpSpPr>
              <p:cNvPr id="53255" name="Group 9"/>
              <p:cNvGrpSpPr/>
              <p:nvPr/>
            </p:nvGrpSpPr>
            <p:grpSpPr>
              <a:xfrm>
                <a:off x="742" y="259"/>
                <a:ext cx="720" cy="317"/>
                <a:chOff x="0" y="0"/>
                <a:chExt cx="720" cy="317"/>
              </a:xfrm>
            </p:grpSpPr>
            <p:sp>
              <p:nvSpPr>
                <p:cNvPr id="53256" name="Rectangle 10"/>
                <p:cNvSpPr/>
                <p:nvPr/>
              </p:nvSpPr>
              <p:spPr>
                <a:xfrm>
                  <a:off x="0" y="0"/>
                  <a:ext cx="544" cy="317"/>
                </a:xfrm>
                <a:prstGeom prst="rect">
                  <a:avLst/>
                </a:prstGeom>
                <a:noFill/>
                <a:ln w="127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/>
                  <a:r>
                    <a:rPr lang="en-US" altLang="zh-CN" sz="2400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-2    </a:t>
                  </a:r>
                  <a:endParaRPr lang="en-US" altLang="zh-CN" sz="240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3257" name="Line 11"/>
                <p:cNvSpPr/>
                <p:nvPr/>
              </p:nvSpPr>
              <p:spPr>
                <a:xfrm>
                  <a:off x="430" y="0"/>
                  <a:ext cx="0" cy="317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53258" name="Line 12"/>
                <p:cNvSpPr/>
                <p:nvPr/>
              </p:nvSpPr>
              <p:spPr>
                <a:xfrm>
                  <a:off x="480" y="144"/>
                  <a:ext cx="240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53259" name="Group 13"/>
              <p:cNvGrpSpPr/>
              <p:nvPr/>
            </p:nvGrpSpPr>
            <p:grpSpPr>
              <a:xfrm>
                <a:off x="1472" y="249"/>
                <a:ext cx="720" cy="317"/>
                <a:chOff x="0" y="0"/>
                <a:chExt cx="720" cy="317"/>
              </a:xfrm>
            </p:grpSpPr>
            <p:sp>
              <p:nvSpPr>
                <p:cNvPr id="53260" name="Rectangle 14"/>
                <p:cNvSpPr/>
                <p:nvPr/>
              </p:nvSpPr>
              <p:spPr>
                <a:xfrm>
                  <a:off x="0" y="0"/>
                  <a:ext cx="544" cy="317"/>
                </a:xfrm>
                <a:prstGeom prst="rect">
                  <a:avLst/>
                </a:prstGeom>
                <a:noFill/>
                <a:ln w="127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/>
                  <a:r>
                    <a:rPr lang="en-US" altLang="zh-CN" sz="2400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4   </a:t>
                  </a:r>
                  <a:endParaRPr lang="en-US" altLang="zh-CN" sz="240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3261" name="Line 15"/>
                <p:cNvSpPr/>
                <p:nvPr/>
              </p:nvSpPr>
              <p:spPr>
                <a:xfrm>
                  <a:off x="430" y="0"/>
                  <a:ext cx="0" cy="317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53262" name="Line 16"/>
                <p:cNvSpPr/>
                <p:nvPr/>
              </p:nvSpPr>
              <p:spPr>
                <a:xfrm>
                  <a:off x="480" y="144"/>
                  <a:ext cx="240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53263" name="Group 17"/>
              <p:cNvGrpSpPr/>
              <p:nvPr/>
            </p:nvGrpSpPr>
            <p:grpSpPr>
              <a:xfrm>
                <a:off x="2202" y="240"/>
                <a:ext cx="720" cy="317"/>
                <a:chOff x="0" y="0"/>
                <a:chExt cx="720" cy="317"/>
              </a:xfrm>
            </p:grpSpPr>
            <p:sp>
              <p:nvSpPr>
                <p:cNvPr id="53264" name="Rectangle 18"/>
                <p:cNvSpPr/>
                <p:nvPr/>
              </p:nvSpPr>
              <p:spPr>
                <a:xfrm>
                  <a:off x="0" y="0"/>
                  <a:ext cx="544" cy="317"/>
                </a:xfrm>
                <a:prstGeom prst="rect">
                  <a:avLst/>
                </a:prstGeom>
                <a:noFill/>
                <a:ln w="127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/>
                  <a:r>
                    <a:rPr lang="en-US" altLang="zh-CN" sz="2400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9    </a:t>
                  </a:r>
                  <a:endParaRPr lang="en-US" altLang="zh-CN" sz="240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3265" name="Line 19"/>
                <p:cNvSpPr/>
                <p:nvPr/>
              </p:nvSpPr>
              <p:spPr>
                <a:xfrm>
                  <a:off x="430" y="0"/>
                  <a:ext cx="0" cy="317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53266" name="Line 20"/>
                <p:cNvSpPr/>
                <p:nvPr/>
              </p:nvSpPr>
              <p:spPr>
                <a:xfrm>
                  <a:off x="480" y="144"/>
                  <a:ext cx="240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53267" name="Group 21"/>
              <p:cNvGrpSpPr/>
              <p:nvPr/>
            </p:nvGrpSpPr>
            <p:grpSpPr>
              <a:xfrm>
                <a:off x="2949" y="171"/>
                <a:ext cx="693" cy="317"/>
                <a:chOff x="0" y="0"/>
                <a:chExt cx="693" cy="317"/>
              </a:xfrm>
            </p:grpSpPr>
            <p:sp>
              <p:nvSpPr>
                <p:cNvPr id="53268" name="Rectangle 22"/>
                <p:cNvSpPr/>
                <p:nvPr/>
              </p:nvSpPr>
              <p:spPr>
                <a:xfrm>
                  <a:off x="0" y="0"/>
                  <a:ext cx="544" cy="31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/>
                <a:p>
                  <a:pPr algn="ctr"/>
                  <a:r>
                    <a:rPr lang="en-US" altLang="zh-CN" sz="2400" dirty="0">
                      <a:latin typeface="Arial" panose="020B0604020202020204" pitchFamily="34" charset="0"/>
                      <a:ea typeface="Arial Unicode MS" panose="020B0604020202020204" charset="-122"/>
                    </a:rPr>
                    <a:t>……</a:t>
                  </a:r>
                  <a:r>
                    <a:rPr lang="en-US" altLang="zh-CN" sz="2400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  </a:t>
                  </a:r>
                  <a:endParaRPr lang="en-US" altLang="zh-CN" sz="240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3269" name="Line 23"/>
                <p:cNvSpPr/>
                <p:nvPr/>
              </p:nvSpPr>
              <p:spPr>
                <a:xfrm>
                  <a:off x="453" y="213"/>
                  <a:ext cx="240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53270" name="Group 24"/>
              <p:cNvGrpSpPr/>
              <p:nvPr/>
            </p:nvGrpSpPr>
            <p:grpSpPr>
              <a:xfrm>
                <a:off x="0" y="0"/>
                <a:ext cx="720" cy="577"/>
                <a:chOff x="0" y="0"/>
                <a:chExt cx="720" cy="577"/>
              </a:xfrm>
            </p:grpSpPr>
            <p:sp>
              <p:nvSpPr>
                <p:cNvPr id="53271" name="Rectangle 25"/>
                <p:cNvSpPr/>
                <p:nvPr/>
              </p:nvSpPr>
              <p:spPr>
                <a:xfrm>
                  <a:off x="38" y="0"/>
                  <a:ext cx="528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/>
                <a:p>
                  <a:pPr algn="ctr"/>
                  <a:r>
                    <a:rPr lang="en-US" altLang="zh-CN" sz="2400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Lb</a:t>
                  </a:r>
                  <a:endParaRPr lang="en-US" altLang="zh-CN" sz="240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53272" name="Group 26"/>
                <p:cNvGrpSpPr/>
                <p:nvPr/>
              </p:nvGrpSpPr>
              <p:grpSpPr>
                <a:xfrm>
                  <a:off x="0" y="260"/>
                  <a:ext cx="720" cy="317"/>
                  <a:chOff x="0" y="0"/>
                  <a:chExt cx="720" cy="317"/>
                </a:xfrm>
              </p:grpSpPr>
              <p:sp>
                <p:nvSpPr>
                  <p:cNvPr id="53273" name="Rectangle 27"/>
                  <p:cNvSpPr/>
                  <p:nvPr/>
                </p:nvSpPr>
                <p:spPr>
                  <a:xfrm>
                    <a:off x="0" y="0"/>
                    <a:ext cx="544" cy="317"/>
                  </a:xfrm>
                  <a:prstGeom prst="rect">
                    <a:avLst/>
                  </a:prstGeom>
                  <a:noFill/>
                  <a:ln w="127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 algn="ctr"/>
                    <a:r>
                      <a:rPr lang="zh-CN" altLang="en-US" sz="2400" dirty="0">
                        <a:latin typeface="Arial" panose="020B0604020202020204" pitchFamily="34" charset="0"/>
                        <a:ea typeface="宋体" panose="02010600030101010101" pitchFamily="2" charset="-122"/>
                      </a:rPr>
                      <a:t>   </a:t>
                    </a:r>
                    <a:endParaRPr lang="zh-CN" altLang="en-US" sz="2400" dirty="0"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53274" name="Line 28"/>
                  <p:cNvSpPr/>
                  <p:nvPr/>
                </p:nvSpPr>
                <p:spPr>
                  <a:xfrm>
                    <a:off x="430" y="0"/>
                    <a:ext cx="0" cy="317"/>
                  </a:xfrm>
                  <a:prstGeom prst="line">
                    <a:avLst/>
                  </a:prstGeom>
                  <a:ln w="127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3275" name="Line 29"/>
                  <p:cNvSpPr/>
                  <p:nvPr/>
                </p:nvSpPr>
                <p:spPr>
                  <a:xfrm>
                    <a:off x="480" y="144"/>
                    <a:ext cx="240" cy="0"/>
                  </a:xfrm>
                  <a:prstGeom prst="line">
                    <a:avLst/>
                  </a:prstGeom>
                  <a:ln w="127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triangle" w="med" len="med"/>
                  </a:ln>
                </p:spPr>
              </p:sp>
            </p:grpSp>
          </p:grpSp>
          <p:grpSp>
            <p:nvGrpSpPr>
              <p:cNvPr id="53276" name="Group 30"/>
              <p:cNvGrpSpPr/>
              <p:nvPr/>
            </p:nvGrpSpPr>
            <p:grpSpPr>
              <a:xfrm>
                <a:off x="798" y="571"/>
                <a:ext cx="336" cy="372"/>
                <a:chOff x="0" y="0"/>
                <a:chExt cx="336" cy="372"/>
              </a:xfrm>
            </p:grpSpPr>
            <p:sp>
              <p:nvSpPr>
                <p:cNvPr id="53277" name="Rectangle 31"/>
                <p:cNvSpPr/>
                <p:nvPr/>
              </p:nvSpPr>
              <p:spPr>
                <a:xfrm>
                  <a:off x="0" y="132"/>
                  <a:ext cx="336" cy="240"/>
                </a:xfrm>
                <a:prstGeom prst="rect">
                  <a:avLst/>
                </a:prstGeom>
                <a:noFill/>
                <a:ln w="127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/>
                  <a:r>
                    <a:rPr lang="en-US" altLang="zh-CN" sz="2400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pb</a:t>
                  </a:r>
                  <a:endParaRPr lang="en-US" altLang="zh-CN" sz="240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3278" name="Line 32"/>
                <p:cNvSpPr/>
                <p:nvPr/>
              </p:nvSpPr>
              <p:spPr>
                <a:xfrm flipV="1">
                  <a:off x="183" y="0"/>
                  <a:ext cx="0" cy="181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</p:grpSp>
        <p:grpSp>
          <p:nvGrpSpPr>
            <p:cNvPr id="53279" name="Group 33"/>
            <p:cNvGrpSpPr/>
            <p:nvPr/>
          </p:nvGrpSpPr>
          <p:grpSpPr>
            <a:xfrm>
              <a:off x="0" y="0"/>
              <a:ext cx="4673" cy="906"/>
              <a:chOff x="0" y="0"/>
              <a:chExt cx="4673" cy="906"/>
            </a:xfrm>
          </p:grpSpPr>
          <p:grpSp>
            <p:nvGrpSpPr>
              <p:cNvPr id="53280" name="Group 34"/>
              <p:cNvGrpSpPr/>
              <p:nvPr/>
            </p:nvGrpSpPr>
            <p:grpSpPr>
              <a:xfrm>
                <a:off x="1183" y="415"/>
                <a:ext cx="720" cy="317"/>
                <a:chOff x="0" y="0"/>
                <a:chExt cx="720" cy="317"/>
              </a:xfrm>
            </p:grpSpPr>
            <p:sp>
              <p:nvSpPr>
                <p:cNvPr id="53281" name="Rectangle 35"/>
                <p:cNvSpPr/>
                <p:nvPr/>
              </p:nvSpPr>
              <p:spPr>
                <a:xfrm>
                  <a:off x="0" y="0"/>
                  <a:ext cx="544" cy="317"/>
                </a:xfrm>
                <a:prstGeom prst="rect">
                  <a:avLst/>
                </a:prstGeom>
                <a:noFill/>
                <a:ln w="127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/>
                  <a:r>
                    <a:rPr lang="en-US" altLang="zh-CN" sz="2400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-7    </a:t>
                  </a:r>
                  <a:endParaRPr lang="en-US" altLang="zh-CN" sz="240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3282" name="Line 36"/>
                <p:cNvSpPr/>
                <p:nvPr/>
              </p:nvSpPr>
              <p:spPr>
                <a:xfrm>
                  <a:off x="430" y="0"/>
                  <a:ext cx="0" cy="317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53283" name="Line 37"/>
                <p:cNvSpPr/>
                <p:nvPr/>
              </p:nvSpPr>
              <p:spPr>
                <a:xfrm>
                  <a:off x="480" y="144"/>
                  <a:ext cx="240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53284" name="Group 38"/>
              <p:cNvGrpSpPr/>
              <p:nvPr/>
            </p:nvGrpSpPr>
            <p:grpSpPr>
              <a:xfrm>
                <a:off x="1913" y="405"/>
                <a:ext cx="720" cy="317"/>
                <a:chOff x="0" y="0"/>
                <a:chExt cx="720" cy="317"/>
              </a:xfrm>
            </p:grpSpPr>
            <p:sp>
              <p:nvSpPr>
                <p:cNvPr id="53285" name="Rectangle 39"/>
                <p:cNvSpPr/>
                <p:nvPr/>
              </p:nvSpPr>
              <p:spPr>
                <a:xfrm>
                  <a:off x="0" y="0"/>
                  <a:ext cx="544" cy="317"/>
                </a:xfrm>
                <a:prstGeom prst="rect">
                  <a:avLst/>
                </a:prstGeom>
                <a:noFill/>
                <a:ln w="127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/>
                  <a:r>
                    <a:rPr lang="en-US" altLang="zh-CN" sz="2400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3    </a:t>
                  </a:r>
                  <a:endParaRPr lang="en-US" altLang="zh-CN" sz="240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3286" name="Line 40"/>
                <p:cNvSpPr/>
                <p:nvPr/>
              </p:nvSpPr>
              <p:spPr>
                <a:xfrm>
                  <a:off x="430" y="0"/>
                  <a:ext cx="0" cy="317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53287" name="Line 41"/>
                <p:cNvSpPr/>
                <p:nvPr/>
              </p:nvSpPr>
              <p:spPr>
                <a:xfrm>
                  <a:off x="480" y="144"/>
                  <a:ext cx="240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53288" name="Group 42"/>
              <p:cNvGrpSpPr/>
              <p:nvPr/>
            </p:nvGrpSpPr>
            <p:grpSpPr>
              <a:xfrm>
                <a:off x="2643" y="396"/>
                <a:ext cx="720" cy="317"/>
                <a:chOff x="0" y="0"/>
                <a:chExt cx="720" cy="317"/>
              </a:xfrm>
            </p:grpSpPr>
            <p:sp>
              <p:nvSpPr>
                <p:cNvPr id="53289" name="Rectangle 43"/>
                <p:cNvSpPr/>
                <p:nvPr/>
              </p:nvSpPr>
              <p:spPr>
                <a:xfrm>
                  <a:off x="0" y="0"/>
                  <a:ext cx="544" cy="317"/>
                </a:xfrm>
                <a:prstGeom prst="rect">
                  <a:avLst/>
                </a:prstGeom>
                <a:noFill/>
                <a:ln w="127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/>
                  <a:r>
                    <a:rPr lang="en-US" altLang="zh-CN" sz="2400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12    </a:t>
                  </a:r>
                  <a:endParaRPr lang="en-US" altLang="zh-CN" sz="240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3290" name="Line 44"/>
                <p:cNvSpPr/>
                <p:nvPr/>
              </p:nvSpPr>
              <p:spPr>
                <a:xfrm>
                  <a:off x="430" y="0"/>
                  <a:ext cx="0" cy="317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53291" name="Line 45"/>
                <p:cNvSpPr/>
                <p:nvPr/>
              </p:nvSpPr>
              <p:spPr>
                <a:xfrm>
                  <a:off x="480" y="144"/>
                  <a:ext cx="240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53292" name="Group 46"/>
              <p:cNvGrpSpPr/>
              <p:nvPr/>
            </p:nvGrpSpPr>
            <p:grpSpPr>
              <a:xfrm>
                <a:off x="3390" y="327"/>
                <a:ext cx="693" cy="317"/>
                <a:chOff x="0" y="0"/>
                <a:chExt cx="693" cy="317"/>
              </a:xfrm>
            </p:grpSpPr>
            <p:sp>
              <p:nvSpPr>
                <p:cNvPr id="53293" name="Rectangle 47"/>
                <p:cNvSpPr/>
                <p:nvPr/>
              </p:nvSpPr>
              <p:spPr>
                <a:xfrm>
                  <a:off x="0" y="0"/>
                  <a:ext cx="544" cy="31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/>
                <a:p>
                  <a:pPr algn="ctr"/>
                  <a:r>
                    <a:rPr lang="en-US" altLang="zh-CN" sz="2400" dirty="0">
                      <a:latin typeface="Arial" panose="020B0604020202020204" pitchFamily="34" charset="0"/>
                      <a:ea typeface="Arial Unicode MS" panose="020B0604020202020204" charset="-122"/>
                    </a:rPr>
                    <a:t>……</a:t>
                  </a:r>
                  <a:r>
                    <a:rPr lang="en-US" altLang="zh-CN" sz="2400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  </a:t>
                  </a:r>
                  <a:endParaRPr lang="en-US" altLang="zh-CN" sz="240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3294" name="Line 48"/>
                <p:cNvSpPr/>
                <p:nvPr/>
              </p:nvSpPr>
              <p:spPr>
                <a:xfrm>
                  <a:off x="453" y="213"/>
                  <a:ext cx="240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53295" name="Group 49"/>
              <p:cNvGrpSpPr/>
              <p:nvPr/>
            </p:nvGrpSpPr>
            <p:grpSpPr>
              <a:xfrm>
                <a:off x="4073" y="404"/>
                <a:ext cx="600" cy="317"/>
                <a:chOff x="0" y="0"/>
                <a:chExt cx="600" cy="317"/>
              </a:xfrm>
            </p:grpSpPr>
            <p:sp>
              <p:nvSpPr>
                <p:cNvPr id="53296" name="Rectangle 50"/>
                <p:cNvSpPr/>
                <p:nvPr/>
              </p:nvSpPr>
              <p:spPr>
                <a:xfrm>
                  <a:off x="0" y="0"/>
                  <a:ext cx="600" cy="317"/>
                </a:xfrm>
                <a:prstGeom prst="rect">
                  <a:avLst/>
                </a:prstGeom>
                <a:noFill/>
                <a:ln w="127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r>
                    <a:rPr lang="en-US" altLang="zh-CN" sz="2400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23    ⋀</a:t>
                  </a:r>
                  <a:endParaRPr lang="en-US" altLang="zh-CN" sz="240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3297" name="Line 51"/>
                <p:cNvSpPr/>
                <p:nvPr/>
              </p:nvSpPr>
              <p:spPr>
                <a:xfrm>
                  <a:off x="384" y="0"/>
                  <a:ext cx="0" cy="317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53298" name="Group 52"/>
              <p:cNvGrpSpPr/>
              <p:nvPr/>
            </p:nvGrpSpPr>
            <p:grpSpPr>
              <a:xfrm>
                <a:off x="441" y="156"/>
                <a:ext cx="720" cy="577"/>
                <a:chOff x="0" y="0"/>
                <a:chExt cx="720" cy="577"/>
              </a:xfrm>
            </p:grpSpPr>
            <p:sp>
              <p:nvSpPr>
                <p:cNvPr id="53299" name="Rectangle 53"/>
                <p:cNvSpPr/>
                <p:nvPr/>
              </p:nvSpPr>
              <p:spPr>
                <a:xfrm>
                  <a:off x="38" y="0"/>
                  <a:ext cx="528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/>
                <a:p>
                  <a:pPr algn="ctr"/>
                  <a:r>
                    <a:rPr lang="en-US" altLang="zh-CN" sz="2400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La</a:t>
                  </a:r>
                  <a:endParaRPr lang="en-US" altLang="zh-CN" sz="240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53300" name="Group 54"/>
                <p:cNvGrpSpPr/>
                <p:nvPr/>
              </p:nvGrpSpPr>
              <p:grpSpPr>
                <a:xfrm>
                  <a:off x="0" y="260"/>
                  <a:ext cx="720" cy="317"/>
                  <a:chOff x="0" y="0"/>
                  <a:chExt cx="720" cy="317"/>
                </a:xfrm>
              </p:grpSpPr>
              <p:sp>
                <p:nvSpPr>
                  <p:cNvPr id="53301" name="Rectangle 55"/>
                  <p:cNvSpPr/>
                  <p:nvPr/>
                </p:nvSpPr>
                <p:spPr>
                  <a:xfrm>
                    <a:off x="0" y="0"/>
                    <a:ext cx="544" cy="317"/>
                  </a:xfrm>
                  <a:prstGeom prst="rect">
                    <a:avLst/>
                  </a:prstGeom>
                  <a:noFill/>
                  <a:ln w="127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 algn="ctr"/>
                    <a:r>
                      <a:rPr lang="zh-CN" altLang="en-US" sz="2400" dirty="0">
                        <a:latin typeface="Arial" panose="020B0604020202020204" pitchFamily="34" charset="0"/>
                        <a:ea typeface="宋体" panose="02010600030101010101" pitchFamily="2" charset="-122"/>
                      </a:rPr>
                      <a:t>   </a:t>
                    </a:r>
                    <a:endParaRPr lang="zh-CN" altLang="en-US" sz="2400" dirty="0"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53302" name="Line 56"/>
                  <p:cNvSpPr/>
                  <p:nvPr/>
                </p:nvSpPr>
                <p:spPr>
                  <a:xfrm>
                    <a:off x="430" y="0"/>
                    <a:ext cx="0" cy="317"/>
                  </a:xfrm>
                  <a:prstGeom prst="line">
                    <a:avLst/>
                  </a:prstGeom>
                  <a:ln w="127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3303" name="Line 57"/>
                  <p:cNvSpPr/>
                  <p:nvPr/>
                </p:nvSpPr>
                <p:spPr>
                  <a:xfrm>
                    <a:off x="480" y="144"/>
                    <a:ext cx="240" cy="0"/>
                  </a:xfrm>
                  <a:prstGeom prst="line">
                    <a:avLst/>
                  </a:prstGeom>
                  <a:ln w="127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triangle" w="med" len="med"/>
                  </a:ln>
                </p:spPr>
              </p:sp>
            </p:grpSp>
          </p:grpSp>
          <p:grpSp>
            <p:nvGrpSpPr>
              <p:cNvPr id="53304" name="Group 58"/>
              <p:cNvGrpSpPr/>
              <p:nvPr/>
            </p:nvGrpSpPr>
            <p:grpSpPr>
              <a:xfrm>
                <a:off x="0" y="300"/>
                <a:ext cx="441" cy="240"/>
                <a:chOff x="0" y="0"/>
                <a:chExt cx="441" cy="240"/>
              </a:xfrm>
            </p:grpSpPr>
            <p:sp>
              <p:nvSpPr>
                <p:cNvPr id="53305" name="Rectangle 59"/>
                <p:cNvSpPr/>
                <p:nvPr/>
              </p:nvSpPr>
              <p:spPr>
                <a:xfrm>
                  <a:off x="0" y="0"/>
                  <a:ext cx="336" cy="24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/>
                <a:p>
                  <a:pPr algn="ctr"/>
                  <a:r>
                    <a:rPr lang="en-US" altLang="zh-CN" sz="2400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Lc</a:t>
                  </a:r>
                  <a:endParaRPr lang="en-US" altLang="zh-CN" sz="240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3306" name="Line 60"/>
                <p:cNvSpPr/>
                <p:nvPr/>
              </p:nvSpPr>
              <p:spPr>
                <a:xfrm>
                  <a:off x="78" y="237"/>
                  <a:ext cx="363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53307" name="Group 61"/>
              <p:cNvGrpSpPr/>
              <p:nvPr/>
            </p:nvGrpSpPr>
            <p:grpSpPr>
              <a:xfrm>
                <a:off x="1242" y="0"/>
                <a:ext cx="336" cy="405"/>
                <a:chOff x="0" y="0"/>
                <a:chExt cx="336" cy="405"/>
              </a:xfrm>
            </p:grpSpPr>
            <p:sp>
              <p:nvSpPr>
                <p:cNvPr id="53308" name="Rectangle 62"/>
                <p:cNvSpPr/>
                <p:nvPr/>
              </p:nvSpPr>
              <p:spPr>
                <a:xfrm>
                  <a:off x="0" y="0"/>
                  <a:ext cx="336" cy="272"/>
                </a:xfrm>
                <a:prstGeom prst="rect">
                  <a:avLst/>
                </a:prstGeom>
                <a:noFill/>
                <a:ln w="127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/>
                  <a:r>
                    <a:rPr lang="en-US" altLang="zh-CN" sz="2400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pa</a:t>
                  </a:r>
                  <a:endParaRPr lang="en-US" altLang="zh-CN" sz="240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3309" name="Line 63"/>
                <p:cNvSpPr/>
                <p:nvPr/>
              </p:nvSpPr>
              <p:spPr>
                <a:xfrm>
                  <a:off x="162" y="246"/>
                  <a:ext cx="0" cy="159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53310" name="Group 64"/>
              <p:cNvGrpSpPr/>
              <p:nvPr/>
            </p:nvGrpSpPr>
            <p:grpSpPr>
              <a:xfrm>
                <a:off x="0" y="666"/>
                <a:ext cx="441" cy="240"/>
                <a:chOff x="0" y="0"/>
                <a:chExt cx="441" cy="240"/>
              </a:xfrm>
            </p:grpSpPr>
            <p:sp>
              <p:nvSpPr>
                <p:cNvPr id="53311" name="Rectangle 65"/>
                <p:cNvSpPr/>
                <p:nvPr/>
              </p:nvSpPr>
              <p:spPr>
                <a:xfrm>
                  <a:off x="0" y="0"/>
                  <a:ext cx="336" cy="24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/>
                <a:p>
                  <a:pPr algn="ctr"/>
                  <a:r>
                    <a:rPr lang="en-US" altLang="zh-CN" sz="2400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pc</a:t>
                  </a:r>
                  <a:endParaRPr lang="en-US" altLang="zh-CN" sz="240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3312" name="Line 66"/>
                <p:cNvSpPr/>
                <p:nvPr/>
              </p:nvSpPr>
              <p:spPr>
                <a:xfrm>
                  <a:off x="78" y="0"/>
                  <a:ext cx="363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</p:grp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525" y="908685"/>
            <a:ext cx="11087735" cy="5144135"/>
          </a:xfrm>
        </p:spPr>
        <p:txBody>
          <a:bodyPr/>
          <a:p>
            <a:pPr algn="l" eaLnBrk="1" hangingPunct="1">
              <a:buClrTx/>
              <a:buSzTx/>
              <a:buChar char="l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有序单链表的合并：合并过程只需要修改指针，不需要复制数据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头结点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La\Lb\Lc\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，链表指针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pa\pb\pc</a:t>
            </a:r>
            <a:endParaRPr lang="en-US" altLang="zh-CN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  <a:sym typeface="+mn-ea"/>
            </a:endParaRPr>
          </a:p>
          <a:p>
            <a:pPr lvl="1" algn="l" eaLnBrk="1" hangingPunct="1">
              <a:buClrTx/>
              <a:buSzTx/>
              <a:buChar char="•"/>
            </a:pPr>
            <a:endParaRPr lang="en-US" altLang="zh-CN" sz="28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2.3 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线性表的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链式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表示和实现</a:t>
            </a:r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  <p:grpSp>
        <p:nvGrpSpPr>
          <p:cNvPr id="54276" name="Group 3"/>
          <p:cNvGrpSpPr/>
          <p:nvPr/>
        </p:nvGrpSpPr>
        <p:grpSpPr>
          <a:xfrm>
            <a:off x="2095500" y="2214563"/>
            <a:ext cx="7505700" cy="3427412"/>
            <a:chOff x="0" y="0"/>
            <a:chExt cx="4728" cy="2159"/>
          </a:xfrm>
        </p:grpSpPr>
        <p:sp>
          <p:nvSpPr>
            <p:cNvPr id="54277" name="Rectangle 4"/>
            <p:cNvSpPr/>
            <p:nvPr/>
          </p:nvSpPr>
          <p:spPr>
            <a:xfrm>
              <a:off x="615" y="1887"/>
              <a:ext cx="3357" cy="27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 anchor="ctr" anchorCtr="0"/>
            <a:p>
              <a:pPr algn="ctr"/>
              <a:r>
                <a:rPr lang="zh-CN" altLang="en-US" sz="2000" b="1" dirty="0">
                  <a:latin typeface="Arial" panose="020B0604020202020204" pitchFamily="34" charset="0"/>
                </a:rPr>
                <a:t>合并了值为</a:t>
              </a:r>
              <a:r>
                <a:rPr lang="en-US" altLang="zh-CN" sz="2000" b="1" dirty="0">
                  <a:latin typeface="Arial" panose="020B0604020202020204" pitchFamily="34" charset="0"/>
                </a:rPr>
                <a:t>-7 </a:t>
              </a:r>
              <a:r>
                <a:rPr lang="zh-CN" altLang="en-US" sz="2000" b="1" dirty="0">
                  <a:latin typeface="Arial" panose="020B0604020202020204" pitchFamily="34" charset="0"/>
                </a:rPr>
                <a:t>，</a:t>
              </a:r>
              <a:r>
                <a:rPr lang="en-US" altLang="zh-CN" sz="2000" b="1" dirty="0">
                  <a:latin typeface="Arial" panose="020B0604020202020204" pitchFamily="34" charset="0"/>
                </a:rPr>
                <a:t>-2</a:t>
              </a:r>
              <a:r>
                <a:rPr lang="zh-CN" altLang="en-US" sz="2000" b="1" dirty="0">
                  <a:latin typeface="Arial" panose="020B0604020202020204" pitchFamily="34" charset="0"/>
                </a:rPr>
                <a:t>的结点后的状态</a:t>
              </a:r>
              <a:endParaRPr lang="zh-CN" altLang="en-US" sz="2000" b="1" dirty="0">
                <a:latin typeface="Arial" panose="020B0604020202020204" pitchFamily="34" charset="0"/>
              </a:endParaRPr>
            </a:p>
          </p:txBody>
        </p:sp>
        <p:grpSp>
          <p:nvGrpSpPr>
            <p:cNvPr id="54278" name="Group 5"/>
            <p:cNvGrpSpPr/>
            <p:nvPr/>
          </p:nvGrpSpPr>
          <p:grpSpPr>
            <a:xfrm>
              <a:off x="450" y="759"/>
              <a:ext cx="4278" cy="990"/>
              <a:chOff x="0" y="0"/>
              <a:chExt cx="4278" cy="990"/>
            </a:xfrm>
          </p:grpSpPr>
          <p:grpSp>
            <p:nvGrpSpPr>
              <p:cNvPr id="54279" name="Group 6"/>
              <p:cNvGrpSpPr/>
              <p:nvPr/>
            </p:nvGrpSpPr>
            <p:grpSpPr>
              <a:xfrm>
                <a:off x="742" y="259"/>
                <a:ext cx="720" cy="317"/>
                <a:chOff x="0" y="0"/>
                <a:chExt cx="720" cy="317"/>
              </a:xfrm>
            </p:grpSpPr>
            <p:sp>
              <p:nvSpPr>
                <p:cNvPr id="54280" name="Rectangle 7"/>
                <p:cNvSpPr/>
                <p:nvPr/>
              </p:nvSpPr>
              <p:spPr>
                <a:xfrm>
                  <a:off x="0" y="0"/>
                  <a:ext cx="544" cy="317"/>
                </a:xfrm>
                <a:prstGeom prst="rect">
                  <a:avLst/>
                </a:prstGeom>
                <a:noFill/>
                <a:ln w="127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/>
                  <a:r>
                    <a:rPr lang="en-US" altLang="zh-CN" sz="2400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-2    </a:t>
                  </a:r>
                  <a:endParaRPr lang="en-US" altLang="zh-CN" sz="240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4281" name="Line 8"/>
                <p:cNvSpPr/>
                <p:nvPr/>
              </p:nvSpPr>
              <p:spPr>
                <a:xfrm>
                  <a:off x="430" y="0"/>
                  <a:ext cx="0" cy="317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54282" name="Line 9"/>
                <p:cNvSpPr/>
                <p:nvPr/>
              </p:nvSpPr>
              <p:spPr>
                <a:xfrm>
                  <a:off x="480" y="144"/>
                  <a:ext cx="240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54283" name="Group 10"/>
              <p:cNvGrpSpPr/>
              <p:nvPr/>
            </p:nvGrpSpPr>
            <p:grpSpPr>
              <a:xfrm>
                <a:off x="1472" y="249"/>
                <a:ext cx="720" cy="317"/>
                <a:chOff x="0" y="0"/>
                <a:chExt cx="720" cy="317"/>
              </a:xfrm>
            </p:grpSpPr>
            <p:sp>
              <p:nvSpPr>
                <p:cNvPr id="54284" name="Rectangle 11"/>
                <p:cNvSpPr/>
                <p:nvPr/>
              </p:nvSpPr>
              <p:spPr>
                <a:xfrm>
                  <a:off x="0" y="0"/>
                  <a:ext cx="544" cy="317"/>
                </a:xfrm>
                <a:prstGeom prst="rect">
                  <a:avLst/>
                </a:prstGeom>
                <a:noFill/>
                <a:ln w="127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/>
                  <a:r>
                    <a:rPr lang="en-US" altLang="zh-CN" sz="2400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4   </a:t>
                  </a:r>
                  <a:endParaRPr lang="en-US" altLang="zh-CN" sz="240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4285" name="Line 12"/>
                <p:cNvSpPr/>
                <p:nvPr/>
              </p:nvSpPr>
              <p:spPr>
                <a:xfrm>
                  <a:off x="430" y="0"/>
                  <a:ext cx="0" cy="317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54286" name="Line 13"/>
                <p:cNvSpPr/>
                <p:nvPr/>
              </p:nvSpPr>
              <p:spPr>
                <a:xfrm>
                  <a:off x="480" y="144"/>
                  <a:ext cx="240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54287" name="Group 14"/>
              <p:cNvGrpSpPr/>
              <p:nvPr/>
            </p:nvGrpSpPr>
            <p:grpSpPr>
              <a:xfrm>
                <a:off x="2202" y="240"/>
                <a:ext cx="720" cy="317"/>
                <a:chOff x="0" y="0"/>
                <a:chExt cx="720" cy="317"/>
              </a:xfrm>
            </p:grpSpPr>
            <p:sp>
              <p:nvSpPr>
                <p:cNvPr id="54288" name="Rectangle 15"/>
                <p:cNvSpPr/>
                <p:nvPr/>
              </p:nvSpPr>
              <p:spPr>
                <a:xfrm>
                  <a:off x="0" y="0"/>
                  <a:ext cx="544" cy="317"/>
                </a:xfrm>
                <a:prstGeom prst="rect">
                  <a:avLst/>
                </a:prstGeom>
                <a:noFill/>
                <a:ln w="127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/>
                  <a:r>
                    <a:rPr lang="en-US" altLang="zh-CN" sz="2400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9    </a:t>
                  </a:r>
                  <a:endParaRPr lang="en-US" altLang="zh-CN" sz="240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4289" name="Line 16"/>
                <p:cNvSpPr/>
                <p:nvPr/>
              </p:nvSpPr>
              <p:spPr>
                <a:xfrm>
                  <a:off x="430" y="0"/>
                  <a:ext cx="0" cy="317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54290" name="Line 17"/>
                <p:cNvSpPr/>
                <p:nvPr/>
              </p:nvSpPr>
              <p:spPr>
                <a:xfrm>
                  <a:off x="480" y="144"/>
                  <a:ext cx="240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54291" name="Group 18"/>
              <p:cNvGrpSpPr/>
              <p:nvPr/>
            </p:nvGrpSpPr>
            <p:grpSpPr>
              <a:xfrm>
                <a:off x="2949" y="171"/>
                <a:ext cx="693" cy="317"/>
                <a:chOff x="0" y="0"/>
                <a:chExt cx="693" cy="317"/>
              </a:xfrm>
            </p:grpSpPr>
            <p:sp>
              <p:nvSpPr>
                <p:cNvPr id="54292" name="Rectangle 19"/>
                <p:cNvSpPr/>
                <p:nvPr/>
              </p:nvSpPr>
              <p:spPr>
                <a:xfrm>
                  <a:off x="0" y="0"/>
                  <a:ext cx="544" cy="31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/>
                <a:p>
                  <a:pPr algn="ctr"/>
                  <a:r>
                    <a:rPr lang="en-US" altLang="zh-CN" sz="2400" dirty="0">
                      <a:latin typeface="Arial" panose="020B0604020202020204" pitchFamily="34" charset="0"/>
                      <a:ea typeface="Arial Unicode MS" panose="020B0604020202020204" charset="-122"/>
                    </a:rPr>
                    <a:t>……</a:t>
                  </a:r>
                  <a:r>
                    <a:rPr lang="en-US" altLang="zh-CN" sz="2400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  </a:t>
                  </a:r>
                  <a:endParaRPr lang="en-US" altLang="zh-CN" sz="240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4293" name="Line 20"/>
                <p:cNvSpPr/>
                <p:nvPr/>
              </p:nvSpPr>
              <p:spPr>
                <a:xfrm>
                  <a:off x="453" y="213"/>
                  <a:ext cx="240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54294" name="Group 21"/>
              <p:cNvGrpSpPr/>
              <p:nvPr/>
            </p:nvGrpSpPr>
            <p:grpSpPr>
              <a:xfrm>
                <a:off x="3632" y="248"/>
                <a:ext cx="646" cy="317"/>
                <a:chOff x="0" y="0"/>
                <a:chExt cx="646" cy="317"/>
              </a:xfrm>
            </p:grpSpPr>
            <p:sp>
              <p:nvSpPr>
                <p:cNvPr id="54295" name="Rectangle 22"/>
                <p:cNvSpPr/>
                <p:nvPr/>
              </p:nvSpPr>
              <p:spPr>
                <a:xfrm>
                  <a:off x="0" y="0"/>
                  <a:ext cx="646" cy="317"/>
                </a:xfrm>
                <a:prstGeom prst="rect">
                  <a:avLst/>
                </a:prstGeom>
                <a:noFill/>
                <a:ln w="127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/>
                  <a:r>
                    <a:rPr lang="zh-CN" altLang="en-US" sz="2400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 </a:t>
                  </a:r>
                  <a:r>
                    <a:rPr lang="en-US" altLang="zh-CN" sz="2400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15   ⋀ </a:t>
                  </a:r>
                  <a:endParaRPr lang="en-US" altLang="zh-CN" sz="240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4296" name="Line 23"/>
                <p:cNvSpPr/>
                <p:nvPr/>
              </p:nvSpPr>
              <p:spPr>
                <a:xfrm>
                  <a:off x="384" y="0"/>
                  <a:ext cx="0" cy="317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54297" name="Group 24"/>
              <p:cNvGrpSpPr/>
              <p:nvPr/>
            </p:nvGrpSpPr>
            <p:grpSpPr>
              <a:xfrm>
                <a:off x="0" y="0"/>
                <a:ext cx="720" cy="577"/>
                <a:chOff x="0" y="0"/>
                <a:chExt cx="720" cy="577"/>
              </a:xfrm>
            </p:grpSpPr>
            <p:sp>
              <p:nvSpPr>
                <p:cNvPr id="54298" name="Rectangle 25"/>
                <p:cNvSpPr/>
                <p:nvPr/>
              </p:nvSpPr>
              <p:spPr>
                <a:xfrm>
                  <a:off x="38" y="0"/>
                  <a:ext cx="528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/>
                <a:p>
                  <a:pPr algn="ctr"/>
                  <a:r>
                    <a:rPr lang="en-US" altLang="zh-CN" sz="2400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Lb</a:t>
                  </a:r>
                  <a:endParaRPr lang="en-US" altLang="zh-CN" sz="240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54299" name="Group 26"/>
                <p:cNvGrpSpPr/>
                <p:nvPr/>
              </p:nvGrpSpPr>
              <p:grpSpPr>
                <a:xfrm>
                  <a:off x="0" y="260"/>
                  <a:ext cx="720" cy="317"/>
                  <a:chOff x="0" y="0"/>
                  <a:chExt cx="720" cy="317"/>
                </a:xfrm>
              </p:grpSpPr>
              <p:sp>
                <p:nvSpPr>
                  <p:cNvPr id="54300" name="Rectangle 27"/>
                  <p:cNvSpPr/>
                  <p:nvPr/>
                </p:nvSpPr>
                <p:spPr>
                  <a:xfrm>
                    <a:off x="0" y="0"/>
                    <a:ext cx="544" cy="317"/>
                  </a:xfrm>
                  <a:prstGeom prst="rect">
                    <a:avLst/>
                  </a:prstGeom>
                  <a:noFill/>
                  <a:ln w="127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 algn="ctr"/>
                    <a:r>
                      <a:rPr lang="zh-CN" altLang="en-US" sz="2400" dirty="0">
                        <a:latin typeface="Arial" panose="020B0604020202020204" pitchFamily="34" charset="0"/>
                        <a:ea typeface="宋体" panose="02010600030101010101" pitchFamily="2" charset="-122"/>
                      </a:rPr>
                      <a:t>   </a:t>
                    </a:r>
                    <a:endParaRPr lang="zh-CN" altLang="en-US" sz="2400" dirty="0"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54301" name="Line 28"/>
                  <p:cNvSpPr/>
                  <p:nvPr/>
                </p:nvSpPr>
                <p:spPr>
                  <a:xfrm>
                    <a:off x="430" y="0"/>
                    <a:ext cx="0" cy="317"/>
                  </a:xfrm>
                  <a:prstGeom prst="line">
                    <a:avLst/>
                  </a:prstGeom>
                  <a:ln w="127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4302" name="Line 29"/>
                  <p:cNvSpPr/>
                  <p:nvPr/>
                </p:nvSpPr>
                <p:spPr>
                  <a:xfrm>
                    <a:off x="480" y="144"/>
                    <a:ext cx="240" cy="0"/>
                  </a:xfrm>
                  <a:prstGeom prst="line">
                    <a:avLst/>
                  </a:prstGeom>
                  <a:ln w="127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triangle" w="med" len="med"/>
                  </a:ln>
                </p:spPr>
              </p:sp>
            </p:grpSp>
          </p:grpSp>
          <p:grpSp>
            <p:nvGrpSpPr>
              <p:cNvPr id="54303" name="Group 30"/>
              <p:cNvGrpSpPr/>
              <p:nvPr/>
            </p:nvGrpSpPr>
            <p:grpSpPr>
              <a:xfrm>
                <a:off x="798" y="571"/>
                <a:ext cx="336" cy="372"/>
                <a:chOff x="0" y="0"/>
                <a:chExt cx="336" cy="372"/>
              </a:xfrm>
            </p:grpSpPr>
            <p:sp>
              <p:nvSpPr>
                <p:cNvPr id="54304" name="Rectangle 31"/>
                <p:cNvSpPr/>
                <p:nvPr/>
              </p:nvSpPr>
              <p:spPr>
                <a:xfrm>
                  <a:off x="0" y="132"/>
                  <a:ext cx="336" cy="240"/>
                </a:xfrm>
                <a:prstGeom prst="rect">
                  <a:avLst/>
                </a:prstGeom>
                <a:noFill/>
                <a:ln w="127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/>
                  <a:r>
                    <a:rPr lang="en-US" altLang="zh-CN" sz="2400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pc</a:t>
                  </a:r>
                  <a:endParaRPr lang="en-US" altLang="zh-CN" sz="240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4305" name="Line 32"/>
                <p:cNvSpPr/>
                <p:nvPr/>
              </p:nvSpPr>
              <p:spPr>
                <a:xfrm flipV="1">
                  <a:off x="183" y="0"/>
                  <a:ext cx="0" cy="181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54306" name="Group 33"/>
              <p:cNvGrpSpPr/>
              <p:nvPr/>
            </p:nvGrpSpPr>
            <p:grpSpPr>
              <a:xfrm>
                <a:off x="1563" y="568"/>
                <a:ext cx="336" cy="422"/>
                <a:chOff x="0" y="0"/>
                <a:chExt cx="336" cy="422"/>
              </a:xfrm>
            </p:grpSpPr>
            <p:sp>
              <p:nvSpPr>
                <p:cNvPr id="54307" name="Rectangle 34"/>
                <p:cNvSpPr/>
                <p:nvPr/>
              </p:nvSpPr>
              <p:spPr>
                <a:xfrm>
                  <a:off x="0" y="150"/>
                  <a:ext cx="336" cy="272"/>
                </a:xfrm>
                <a:prstGeom prst="rect">
                  <a:avLst/>
                </a:prstGeom>
                <a:noFill/>
                <a:ln w="127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/>
                  <a:r>
                    <a:rPr lang="en-US" altLang="zh-CN" sz="2400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pb</a:t>
                  </a:r>
                  <a:endParaRPr lang="en-US" altLang="zh-CN" sz="240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4308" name="Line 35"/>
                <p:cNvSpPr/>
                <p:nvPr/>
              </p:nvSpPr>
              <p:spPr>
                <a:xfrm>
                  <a:off x="162" y="0"/>
                  <a:ext cx="0" cy="159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triangle" w="med" len="med"/>
                  <a:tailEnd type="none" w="med" len="med"/>
                </a:ln>
              </p:spPr>
            </p:sp>
          </p:grpSp>
        </p:grpSp>
        <p:grpSp>
          <p:nvGrpSpPr>
            <p:cNvPr id="54309" name="Group 36"/>
            <p:cNvGrpSpPr/>
            <p:nvPr/>
          </p:nvGrpSpPr>
          <p:grpSpPr>
            <a:xfrm>
              <a:off x="1241" y="555"/>
              <a:ext cx="583" cy="462"/>
              <a:chOff x="0" y="0"/>
              <a:chExt cx="583" cy="462"/>
            </a:xfrm>
          </p:grpSpPr>
          <p:sp>
            <p:nvSpPr>
              <p:cNvPr id="54310" name="Line 37"/>
              <p:cNvSpPr/>
              <p:nvPr/>
            </p:nvSpPr>
            <p:spPr>
              <a:xfrm>
                <a:off x="0" y="270"/>
                <a:ext cx="576" cy="0"/>
              </a:xfrm>
              <a:prstGeom prst="line">
                <a:avLst/>
              </a:prstGeom>
              <a:ln w="12700" cap="flat" cmpd="sng">
                <a:solidFill>
                  <a:schemeClr val="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4311" name="Line 38"/>
              <p:cNvSpPr/>
              <p:nvPr/>
            </p:nvSpPr>
            <p:spPr>
              <a:xfrm>
                <a:off x="436" y="0"/>
                <a:ext cx="144" cy="0"/>
              </a:xfrm>
              <a:prstGeom prst="line">
                <a:avLst/>
              </a:prstGeom>
              <a:ln w="12700" cap="flat" cmpd="sng">
                <a:solidFill>
                  <a:schemeClr val="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4312" name="Line 39"/>
              <p:cNvSpPr/>
              <p:nvPr/>
            </p:nvSpPr>
            <p:spPr>
              <a:xfrm>
                <a:off x="583" y="3"/>
                <a:ext cx="0" cy="272"/>
              </a:xfrm>
              <a:prstGeom prst="line">
                <a:avLst/>
              </a:prstGeom>
              <a:ln w="12700" cap="flat" cmpd="sng">
                <a:solidFill>
                  <a:schemeClr val="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4313" name="Line 40"/>
              <p:cNvSpPr/>
              <p:nvPr/>
            </p:nvSpPr>
            <p:spPr>
              <a:xfrm>
                <a:off x="0" y="270"/>
                <a:ext cx="0" cy="192"/>
              </a:xfrm>
              <a:prstGeom prst="line">
                <a:avLst/>
              </a:prstGeom>
              <a:ln w="12700" cap="flat" cmpd="sng">
                <a:solidFill>
                  <a:schemeClr val="hlink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</p:grpSp>
        <p:grpSp>
          <p:nvGrpSpPr>
            <p:cNvPr id="54314" name="Group 41"/>
            <p:cNvGrpSpPr/>
            <p:nvPr/>
          </p:nvGrpSpPr>
          <p:grpSpPr>
            <a:xfrm>
              <a:off x="0" y="0"/>
              <a:ext cx="4682" cy="730"/>
              <a:chOff x="0" y="0"/>
              <a:chExt cx="4682" cy="730"/>
            </a:xfrm>
          </p:grpSpPr>
          <p:grpSp>
            <p:nvGrpSpPr>
              <p:cNvPr id="54315" name="Group 42"/>
              <p:cNvGrpSpPr/>
              <p:nvPr/>
            </p:nvGrpSpPr>
            <p:grpSpPr>
              <a:xfrm>
                <a:off x="0" y="354"/>
                <a:ext cx="441" cy="240"/>
                <a:chOff x="0" y="0"/>
                <a:chExt cx="441" cy="240"/>
              </a:xfrm>
            </p:grpSpPr>
            <p:sp>
              <p:nvSpPr>
                <p:cNvPr id="54316" name="Rectangle 43"/>
                <p:cNvSpPr/>
                <p:nvPr/>
              </p:nvSpPr>
              <p:spPr>
                <a:xfrm>
                  <a:off x="0" y="0"/>
                  <a:ext cx="336" cy="24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/>
                <a:p>
                  <a:pPr algn="ctr"/>
                  <a:r>
                    <a:rPr lang="en-US" altLang="zh-CN" sz="2400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Lc</a:t>
                  </a:r>
                  <a:endParaRPr lang="en-US" altLang="zh-CN" sz="240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4317" name="Line 44"/>
                <p:cNvSpPr/>
                <p:nvPr/>
              </p:nvSpPr>
              <p:spPr>
                <a:xfrm>
                  <a:off x="78" y="237"/>
                  <a:ext cx="363" cy="0"/>
                </a:xfrm>
                <a:prstGeom prst="line">
                  <a:avLst/>
                </a:prstGeom>
                <a:ln w="12700" cap="flat" cmpd="sng">
                  <a:solidFill>
                    <a:schemeClr val="hlink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54318" name="Group 45"/>
              <p:cNvGrpSpPr/>
              <p:nvPr/>
            </p:nvGrpSpPr>
            <p:grpSpPr>
              <a:xfrm>
                <a:off x="1183" y="412"/>
                <a:ext cx="544" cy="317"/>
                <a:chOff x="0" y="0"/>
                <a:chExt cx="544" cy="317"/>
              </a:xfrm>
            </p:grpSpPr>
            <p:sp>
              <p:nvSpPr>
                <p:cNvPr id="54319" name="Rectangle 46"/>
                <p:cNvSpPr/>
                <p:nvPr/>
              </p:nvSpPr>
              <p:spPr>
                <a:xfrm>
                  <a:off x="0" y="0"/>
                  <a:ext cx="544" cy="317"/>
                </a:xfrm>
                <a:prstGeom prst="rect">
                  <a:avLst/>
                </a:prstGeom>
                <a:noFill/>
                <a:ln w="127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/>
                  <a:r>
                    <a:rPr lang="en-US" altLang="zh-CN" sz="2400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-7    </a:t>
                  </a:r>
                  <a:endParaRPr lang="en-US" altLang="zh-CN" sz="240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4320" name="Line 47"/>
                <p:cNvSpPr/>
                <p:nvPr/>
              </p:nvSpPr>
              <p:spPr>
                <a:xfrm>
                  <a:off x="430" y="0"/>
                  <a:ext cx="0" cy="317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54321" name="Group 48"/>
              <p:cNvGrpSpPr/>
              <p:nvPr/>
            </p:nvGrpSpPr>
            <p:grpSpPr>
              <a:xfrm>
                <a:off x="1913" y="402"/>
                <a:ext cx="720" cy="317"/>
                <a:chOff x="0" y="0"/>
                <a:chExt cx="720" cy="317"/>
              </a:xfrm>
            </p:grpSpPr>
            <p:sp>
              <p:nvSpPr>
                <p:cNvPr id="54322" name="Rectangle 49"/>
                <p:cNvSpPr/>
                <p:nvPr/>
              </p:nvSpPr>
              <p:spPr>
                <a:xfrm>
                  <a:off x="0" y="0"/>
                  <a:ext cx="544" cy="317"/>
                </a:xfrm>
                <a:prstGeom prst="rect">
                  <a:avLst/>
                </a:prstGeom>
                <a:noFill/>
                <a:ln w="127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/>
                  <a:r>
                    <a:rPr lang="en-US" altLang="zh-CN" sz="2400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3    </a:t>
                  </a:r>
                  <a:endParaRPr lang="en-US" altLang="zh-CN" sz="240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4323" name="Line 50"/>
                <p:cNvSpPr/>
                <p:nvPr/>
              </p:nvSpPr>
              <p:spPr>
                <a:xfrm>
                  <a:off x="430" y="0"/>
                  <a:ext cx="0" cy="317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54324" name="Line 51"/>
                <p:cNvSpPr/>
                <p:nvPr/>
              </p:nvSpPr>
              <p:spPr>
                <a:xfrm>
                  <a:off x="480" y="144"/>
                  <a:ext cx="240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54325" name="Group 52"/>
              <p:cNvGrpSpPr/>
              <p:nvPr/>
            </p:nvGrpSpPr>
            <p:grpSpPr>
              <a:xfrm>
                <a:off x="2643" y="393"/>
                <a:ext cx="720" cy="317"/>
                <a:chOff x="0" y="0"/>
                <a:chExt cx="720" cy="317"/>
              </a:xfrm>
            </p:grpSpPr>
            <p:sp>
              <p:nvSpPr>
                <p:cNvPr id="54326" name="Rectangle 53"/>
                <p:cNvSpPr/>
                <p:nvPr/>
              </p:nvSpPr>
              <p:spPr>
                <a:xfrm>
                  <a:off x="0" y="0"/>
                  <a:ext cx="544" cy="317"/>
                </a:xfrm>
                <a:prstGeom prst="rect">
                  <a:avLst/>
                </a:prstGeom>
                <a:noFill/>
                <a:ln w="127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/>
                  <a:r>
                    <a:rPr lang="en-US" altLang="zh-CN" sz="2400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12    </a:t>
                  </a:r>
                  <a:endParaRPr lang="en-US" altLang="zh-CN" sz="240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4327" name="Line 54"/>
                <p:cNvSpPr/>
                <p:nvPr/>
              </p:nvSpPr>
              <p:spPr>
                <a:xfrm>
                  <a:off x="430" y="0"/>
                  <a:ext cx="0" cy="317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54328" name="Line 55"/>
                <p:cNvSpPr/>
                <p:nvPr/>
              </p:nvSpPr>
              <p:spPr>
                <a:xfrm>
                  <a:off x="480" y="144"/>
                  <a:ext cx="240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54329" name="Group 56"/>
              <p:cNvGrpSpPr/>
              <p:nvPr/>
            </p:nvGrpSpPr>
            <p:grpSpPr>
              <a:xfrm>
                <a:off x="3390" y="324"/>
                <a:ext cx="693" cy="317"/>
                <a:chOff x="0" y="0"/>
                <a:chExt cx="693" cy="317"/>
              </a:xfrm>
            </p:grpSpPr>
            <p:sp>
              <p:nvSpPr>
                <p:cNvPr id="54330" name="Rectangle 57"/>
                <p:cNvSpPr/>
                <p:nvPr/>
              </p:nvSpPr>
              <p:spPr>
                <a:xfrm>
                  <a:off x="0" y="0"/>
                  <a:ext cx="544" cy="31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/>
                <a:p>
                  <a:pPr algn="ctr"/>
                  <a:r>
                    <a:rPr lang="en-US" altLang="zh-CN" sz="2400" dirty="0">
                      <a:latin typeface="Arial" panose="020B0604020202020204" pitchFamily="34" charset="0"/>
                      <a:ea typeface="Arial Unicode MS" panose="020B0604020202020204" charset="-122"/>
                    </a:rPr>
                    <a:t>……</a:t>
                  </a:r>
                  <a:r>
                    <a:rPr lang="en-US" altLang="zh-CN" sz="2400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  </a:t>
                  </a:r>
                  <a:endParaRPr lang="en-US" altLang="zh-CN" sz="240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4331" name="Line 58"/>
                <p:cNvSpPr/>
                <p:nvPr/>
              </p:nvSpPr>
              <p:spPr>
                <a:xfrm>
                  <a:off x="453" y="213"/>
                  <a:ext cx="240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54332" name="Group 59"/>
              <p:cNvGrpSpPr/>
              <p:nvPr/>
            </p:nvGrpSpPr>
            <p:grpSpPr>
              <a:xfrm>
                <a:off x="4073" y="401"/>
                <a:ext cx="609" cy="317"/>
                <a:chOff x="0" y="0"/>
                <a:chExt cx="609" cy="317"/>
              </a:xfrm>
            </p:grpSpPr>
            <p:sp>
              <p:nvSpPr>
                <p:cNvPr id="54333" name="Rectangle 60"/>
                <p:cNvSpPr/>
                <p:nvPr/>
              </p:nvSpPr>
              <p:spPr>
                <a:xfrm>
                  <a:off x="0" y="0"/>
                  <a:ext cx="609" cy="317"/>
                </a:xfrm>
                <a:prstGeom prst="rect">
                  <a:avLst/>
                </a:prstGeom>
                <a:noFill/>
                <a:ln w="127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r>
                    <a:rPr lang="en-US" altLang="zh-CN" sz="2400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23    ⋀ </a:t>
                  </a:r>
                  <a:endParaRPr lang="en-US" altLang="zh-CN" sz="240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4334" name="Line 61"/>
                <p:cNvSpPr/>
                <p:nvPr/>
              </p:nvSpPr>
              <p:spPr>
                <a:xfrm>
                  <a:off x="384" y="0"/>
                  <a:ext cx="0" cy="317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54335" name="Group 62"/>
              <p:cNvGrpSpPr/>
              <p:nvPr/>
            </p:nvGrpSpPr>
            <p:grpSpPr>
              <a:xfrm>
                <a:off x="441" y="153"/>
                <a:ext cx="720" cy="577"/>
                <a:chOff x="0" y="0"/>
                <a:chExt cx="720" cy="577"/>
              </a:xfrm>
            </p:grpSpPr>
            <p:sp>
              <p:nvSpPr>
                <p:cNvPr id="54336" name="Rectangle 63"/>
                <p:cNvSpPr/>
                <p:nvPr/>
              </p:nvSpPr>
              <p:spPr>
                <a:xfrm>
                  <a:off x="38" y="0"/>
                  <a:ext cx="394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/>
                <a:p>
                  <a:pPr algn="ctr"/>
                  <a:r>
                    <a:rPr lang="en-US" altLang="zh-CN" sz="2400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La</a:t>
                  </a:r>
                  <a:endParaRPr lang="en-US" altLang="zh-CN" sz="240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4337" name="Rectangle 64"/>
                <p:cNvSpPr/>
                <p:nvPr/>
              </p:nvSpPr>
              <p:spPr>
                <a:xfrm>
                  <a:off x="0" y="260"/>
                  <a:ext cx="544" cy="317"/>
                </a:xfrm>
                <a:prstGeom prst="rect">
                  <a:avLst/>
                </a:prstGeom>
                <a:noFill/>
                <a:ln w="127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/>
                  <a:r>
                    <a:rPr lang="zh-CN" altLang="en-US" sz="2400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   </a:t>
                  </a:r>
                  <a:endParaRPr lang="zh-CN" altLang="en-US" sz="240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4338" name="Line 65"/>
                <p:cNvSpPr/>
                <p:nvPr/>
              </p:nvSpPr>
              <p:spPr>
                <a:xfrm>
                  <a:off x="430" y="260"/>
                  <a:ext cx="0" cy="317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54339" name="Line 66"/>
                <p:cNvSpPr/>
                <p:nvPr/>
              </p:nvSpPr>
              <p:spPr>
                <a:xfrm>
                  <a:off x="480" y="404"/>
                  <a:ext cx="240" cy="0"/>
                </a:xfrm>
                <a:prstGeom prst="line">
                  <a:avLst/>
                </a:prstGeom>
                <a:ln w="12700" cap="flat" cmpd="sng">
                  <a:solidFill>
                    <a:schemeClr val="hlink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54340" name="Group 67"/>
              <p:cNvGrpSpPr/>
              <p:nvPr/>
            </p:nvGrpSpPr>
            <p:grpSpPr>
              <a:xfrm>
                <a:off x="1968" y="0"/>
                <a:ext cx="336" cy="405"/>
                <a:chOff x="0" y="0"/>
                <a:chExt cx="336" cy="405"/>
              </a:xfrm>
            </p:grpSpPr>
            <p:sp>
              <p:nvSpPr>
                <p:cNvPr id="54341" name="Rectangle 68"/>
                <p:cNvSpPr/>
                <p:nvPr/>
              </p:nvSpPr>
              <p:spPr>
                <a:xfrm>
                  <a:off x="0" y="0"/>
                  <a:ext cx="336" cy="272"/>
                </a:xfrm>
                <a:prstGeom prst="rect">
                  <a:avLst/>
                </a:prstGeom>
                <a:noFill/>
                <a:ln w="127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/>
                  <a:r>
                    <a:rPr lang="en-US" altLang="zh-CN" sz="2400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pa</a:t>
                  </a:r>
                  <a:endParaRPr lang="en-US" altLang="zh-CN" sz="240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4342" name="Line 69"/>
                <p:cNvSpPr/>
                <p:nvPr/>
              </p:nvSpPr>
              <p:spPr>
                <a:xfrm>
                  <a:off x="162" y="246"/>
                  <a:ext cx="0" cy="159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</p:grpSp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525" y="908685"/>
            <a:ext cx="11087735" cy="5144135"/>
          </a:xfrm>
        </p:spPr>
        <p:txBody>
          <a:bodyPr/>
          <a:p>
            <a:pPr algn="l" eaLnBrk="1" hangingPunct="1">
              <a:buClrTx/>
              <a:buSzTx/>
              <a:buChar char="l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有序单链表合并的实现：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  <a:p>
            <a:pPr marL="0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void </a:t>
            </a:r>
            <a:r>
              <a:rPr lang="en-US" sz="2400" b="1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MergeList_L</a:t>
            </a: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(</a:t>
            </a:r>
            <a:r>
              <a:rPr lang="en-US" sz="2400" b="1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LinkList</a:t>
            </a: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&amp;La, </a:t>
            </a:r>
            <a:r>
              <a:rPr lang="en-US" sz="2400" b="1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LinkList</a:t>
            </a: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&amp;Lb, </a:t>
            </a:r>
            <a:r>
              <a:rPr lang="en-US" sz="2400" b="1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LinkList</a:t>
            </a: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&amp;</a:t>
            </a:r>
            <a:r>
              <a:rPr lang="en-US" sz="2400" b="1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Lc</a:t>
            </a: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) {</a:t>
            </a: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0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lang="en-US" sz="2400" b="1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 LinkList</a:t>
            </a: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pa, </a:t>
            </a:r>
            <a:r>
              <a:rPr lang="en-US" sz="2400" b="1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pb</a:t>
            </a: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, pc;</a:t>
            </a: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0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 pa = La-&gt;next;    </a:t>
            </a:r>
            <a:r>
              <a:rPr lang="en-US" sz="2400" b="1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pb</a:t>
            </a: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= Lb-&gt;next;</a:t>
            </a: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0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 </a:t>
            </a:r>
            <a:r>
              <a:rPr lang="en-US" sz="2400" b="1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Lc</a:t>
            </a: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= pc = La;             // </a:t>
            </a:r>
            <a:r>
              <a:rPr lang="zh-CN" alt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用</a:t>
            </a: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La</a:t>
            </a:r>
            <a:r>
              <a:rPr lang="zh-CN" alt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的头结点作为</a:t>
            </a:r>
            <a:r>
              <a:rPr lang="en-US" sz="2400" b="1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Lc</a:t>
            </a:r>
            <a:r>
              <a:rPr lang="zh-CN" alt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的头结点</a:t>
            </a:r>
            <a:endParaRPr kumimoji="0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0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lang="zh-CN" alt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 </a:t>
            </a: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while (pa &amp;&amp; </a:t>
            </a:r>
            <a:r>
              <a:rPr lang="en-US" sz="2400" b="1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pb</a:t>
            </a: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) {</a:t>
            </a: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0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   if (pa-&gt;data &lt;= </a:t>
            </a:r>
            <a:r>
              <a:rPr lang="en-US" sz="2400" b="1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pb</a:t>
            </a: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-&gt;data) </a:t>
            </a: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0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   </a:t>
            </a:r>
            <a:r>
              <a:rPr lang="en-US" altLang="zh-CN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{</a:t>
            </a: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 pc-&gt;next = pa;   pc = pa;   pa = pa-&gt;next;  }</a:t>
            </a: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0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   else { pc-&gt;next = </a:t>
            </a:r>
            <a:r>
              <a:rPr lang="en-US" sz="2400" b="1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pb</a:t>
            </a: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;   pc = </a:t>
            </a:r>
            <a:r>
              <a:rPr lang="en-US" sz="2400" b="1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pb</a:t>
            </a: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;   </a:t>
            </a:r>
            <a:r>
              <a:rPr lang="en-US" sz="2400" b="1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pb</a:t>
            </a: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= </a:t>
            </a:r>
            <a:r>
              <a:rPr lang="en-US" sz="2400" b="1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pb</a:t>
            </a: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-&gt;next; }</a:t>
            </a: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0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 }</a:t>
            </a: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0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 pc-&gt;next = pa ? pa : </a:t>
            </a:r>
            <a:r>
              <a:rPr lang="en-US" sz="2400" b="1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pb</a:t>
            </a: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;  // </a:t>
            </a:r>
            <a:r>
              <a:rPr lang="zh-CN" alt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插入剩余段</a:t>
            </a:r>
            <a:endParaRPr kumimoji="0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0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lang="zh-CN" alt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 </a:t>
            </a: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free(Lb);                 // </a:t>
            </a:r>
            <a:r>
              <a:rPr lang="zh-CN" alt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释放</a:t>
            </a: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Lb</a:t>
            </a:r>
            <a:r>
              <a:rPr lang="zh-CN" alt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的头结点</a:t>
            </a:r>
            <a:endParaRPr kumimoji="0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0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lang="en-US" altLang="zh-CN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} // </a:t>
            </a:r>
            <a:r>
              <a:rPr lang="en-US" sz="2400" b="1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MergeList_L</a:t>
            </a: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0" indent="0" algn="l" eaLnBrk="1" hangingPunct="1">
              <a:buClrTx/>
              <a:buSzTx/>
              <a:buNone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  <a:p>
            <a:pPr lvl="1" algn="l" eaLnBrk="1" hangingPunct="1">
              <a:buClrTx/>
              <a:buSzTx/>
              <a:buChar char="•"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2.3 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线性表的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链式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表示和实现</a:t>
            </a:r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p>
            <a:pPr algn="l" eaLnBrk="1" hangingPunct="1">
              <a:lnSpc>
                <a:spcPct val="100000"/>
              </a:lnSpc>
              <a:buClrTx/>
              <a:buSzTx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已知单链表L，用一行代码写出判断单链表为空【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     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】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  <a:p>
            <a:pPr algn="l" eaLnBrk="1" hangingPunct="1">
              <a:lnSpc>
                <a:spcPct val="100000"/>
              </a:lnSpc>
              <a:buClrTx/>
              <a:buSzTx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在一个单链表中，指针p所指的结点是q所指结点的前驱，则在结点p、q之间插插入结点s的代码是【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     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】；s-&gt;next=q;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algn="l" eaLnBrk="1" hangingPunct="1">
              <a:lnSpc>
                <a:spcPct val="100000"/>
              </a:lnSpc>
              <a:buClrTx/>
              <a:buSzTx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写一算法将单链表中值重复的结点删除，使所得的结果链表中所有结点的值均不相同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algn="l" eaLnBrk="1" hangingPunct="1">
              <a:lnSpc>
                <a:spcPct val="100000"/>
              </a:lnSpc>
              <a:buClrTx/>
              <a:buSzTx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已知带头结点head的单链表，请写出判断链表元素是否递减的算法。</a:t>
            </a:r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pPr algn="l">
              <a:buClrTx/>
              <a:buSzTx/>
              <a:buFontTx/>
            </a:pPr>
            <a:r>
              <a:rPr lang="zh-CN" altLang="en-US" sz="400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练习</a:t>
            </a:r>
            <a:endParaRPr lang="zh-CN" altLang="en-US" sz="4000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525" y="908685"/>
            <a:ext cx="11087735" cy="5144135"/>
          </a:xfrm>
        </p:spPr>
        <p:txBody>
          <a:bodyPr/>
          <a:p>
            <a:pPr algn="l" eaLnBrk="1" hangingPunct="1">
              <a:buClrTx/>
              <a:buSzTx/>
              <a:buChar char="l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静态链表，用数组方式表示链表，为了与一般链表区分，称为静态链表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0" indent="0" algn="l" eaLnBrk="1" hangingPunct="1">
              <a:buClrTx/>
              <a:buSzTx/>
              <a:buNone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例如下图，插入X到第4个位置，删除B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algn="l" eaLnBrk="1" hangingPunct="1">
              <a:buClrTx/>
              <a:buSzTx/>
              <a:buChar char="l"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  <a:p>
            <a:pPr lvl="1" algn="l" eaLnBrk="1" hangingPunct="1">
              <a:buClrTx/>
              <a:buSzTx/>
              <a:buChar char="•"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2.3 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线性表的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链式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表示和实现</a:t>
            </a:r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  <p:pic>
        <p:nvPicPr>
          <p:cNvPr id="57348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280" y="2636520"/>
            <a:ext cx="3457575" cy="306768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7349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9875" y="2636520"/>
            <a:ext cx="3428365" cy="30670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7350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7980" y="2636520"/>
            <a:ext cx="3357880" cy="318960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525" y="908685"/>
            <a:ext cx="11087735" cy="5144135"/>
          </a:xfrm>
        </p:spPr>
        <p:txBody>
          <a:bodyPr/>
          <a:p>
            <a:pPr algn="l" eaLnBrk="1" hangingPunct="1">
              <a:buClrTx/>
              <a:buSzTx/>
              <a:buChar char="l"/>
            </a:pP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循环链表是一种特殊的线性链表，循环链表中最后一个结点的指针域指向头结点，整个链表形成一个环</a:t>
            </a:r>
            <a:endParaRPr lang="zh-CN" altLang="en-US" sz="280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algn="l" eaLnBrk="1" hangingPunct="1">
              <a:buClrTx/>
              <a:buSzTx/>
              <a:buChar char="l"/>
            </a:pP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循环链表的查找、插入、删除和单链表基本一致</a:t>
            </a:r>
            <a:endParaRPr lang="zh-CN" altLang="en-US" sz="280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algn="l" eaLnBrk="1" hangingPunct="1">
              <a:buClrTx/>
              <a:buSzTx/>
              <a:buChar char="l"/>
            </a:pP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与单链表的区别</a:t>
            </a:r>
            <a:endParaRPr lang="zh-CN" altLang="en-US" sz="280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判断是否是空链表：head-&gt;next==head ;</a:t>
            </a:r>
            <a:endParaRPr lang="en-US" altLang="zh-CN" sz="24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判断是否是表尾结点：p-&gt;next==head ;</a:t>
            </a:r>
            <a:endParaRPr lang="en-US" altLang="zh-CN" sz="24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endParaRPr lang="en-US" altLang="zh-CN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2.3 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线性表的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链式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表示和实现</a:t>
            </a:r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  <p:grpSp>
        <p:nvGrpSpPr>
          <p:cNvPr id="58372" name="Group 4"/>
          <p:cNvGrpSpPr/>
          <p:nvPr/>
        </p:nvGrpSpPr>
        <p:grpSpPr>
          <a:xfrm>
            <a:off x="1487170" y="4725035"/>
            <a:ext cx="8153400" cy="827088"/>
            <a:chOff x="432" y="3552"/>
            <a:chExt cx="5136" cy="521"/>
          </a:xfrm>
        </p:grpSpPr>
        <p:sp>
          <p:nvSpPr>
            <p:cNvPr id="717829" name="Rectangle 5"/>
            <p:cNvSpPr>
              <a:spLocks noChangeArrowheads="1"/>
            </p:cNvSpPr>
            <p:nvPr/>
          </p:nvSpPr>
          <p:spPr bwMode="auto">
            <a:xfrm>
              <a:off x="1065" y="3654"/>
              <a:ext cx="585" cy="336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8374" name="Line 6"/>
            <p:cNvSpPr/>
            <p:nvPr/>
          </p:nvSpPr>
          <p:spPr>
            <a:xfrm>
              <a:off x="1436" y="3654"/>
              <a:ext cx="1" cy="3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8375" name="Line 7"/>
            <p:cNvSpPr/>
            <p:nvPr/>
          </p:nvSpPr>
          <p:spPr>
            <a:xfrm>
              <a:off x="720" y="3888"/>
              <a:ext cx="33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717832" name="Rectangle 8"/>
            <p:cNvSpPr>
              <a:spLocks noChangeArrowheads="1"/>
            </p:cNvSpPr>
            <p:nvPr/>
          </p:nvSpPr>
          <p:spPr bwMode="auto">
            <a:xfrm>
              <a:off x="1862" y="3654"/>
              <a:ext cx="585" cy="336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8377" name="Line 9"/>
            <p:cNvSpPr/>
            <p:nvPr/>
          </p:nvSpPr>
          <p:spPr>
            <a:xfrm>
              <a:off x="2235" y="3654"/>
              <a:ext cx="1" cy="3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8378" name="Line 10"/>
            <p:cNvSpPr/>
            <p:nvPr/>
          </p:nvSpPr>
          <p:spPr>
            <a:xfrm flipV="1">
              <a:off x="1543" y="3840"/>
              <a:ext cx="329" cy="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58379" name="Line 11"/>
            <p:cNvSpPr/>
            <p:nvPr/>
          </p:nvSpPr>
          <p:spPr>
            <a:xfrm flipV="1">
              <a:off x="2341" y="3840"/>
              <a:ext cx="299" cy="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717836" name="Rectangle 12"/>
            <p:cNvSpPr>
              <a:spLocks noChangeArrowheads="1"/>
            </p:cNvSpPr>
            <p:nvPr/>
          </p:nvSpPr>
          <p:spPr bwMode="auto">
            <a:xfrm>
              <a:off x="3284" y="3648"/>
              <a:ext cx="585" cy="336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8381" name="Line 13"/>
            <p:cNvSpPr/>
            <p:nvPr/>
          </p:nvSpPr>
          <p:spPr>
            <a:xfrm>
              <a:off x="3656" y="3648"/>
              <a:ext cx="1" cy="3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8382" name="Line 14"/>
            <p:cNvSpPr/>
            <p:nvPr/>
          </p:nvSpPr>
          <p:spPr>
            <a:xfrm>
              <a:off x="2965" y="3840"/>
              <a:ext cx="319" cy="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717839" name="Rectangle 15"/>
            <p:cNvSpPr>
              <a:spLocks noChangeArrowheads="1"/>
            </p:cNvSpPr>
            <p:nvPr/>
          </p:nvSpPr>
          <p:spPr bwMode="auto">
            <a:xfrm>
              <a:off x="4822" y="3642"/>
              <a:ext cx="585" cy="336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8384" name="Line 16"/>
            <p:cNvSpPr/>
            <p:nvPr/>
          </p:nvSpPr>
          <p:spPr>
            <a:xfrm>
              <a:off x="5141" y="3642"/>
              <a:ext cx="1" cy="3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8385" name="Line 17"/>
            <p:cNvSpPr/>
            <p:nvPr/>
          </p:nvSpPr>
          <p:spPr>
            <a:xfrm>
              <a:off x="3763" y="3840"/>
              <a:ext cx="348" cy="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58386" name="Text Box 18"/>
            <p:cNvSpPr txBox="1"/>
            <p:nvPr/>
          </p:nvSpPr>
          <p:spPr>
            <a:xfrm>
              <a:off x="1065" y="3655"/>
              <a:ext cx="277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r"/>
              <a:r>
                <a:rPr lang="en-US" altLang="zh-CN" sz="3200" dirty="0">
                  <a:latin typeface="Times New Roman" panose="02020603050405020304" charset="0"/>
                  <a:ea typeface="宋体" panose="02010600030101010101" pitchFamily="2" charset="-122"/>
                </a:rPr>
                <a:t>n</a:t>
              </a:r>
              <a:endParaRPr lang="en-US" altLang="zh-CN" sz="32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8387" name="Text Box 19"/>
            <p:cNvSpPr txBox="1"/>
            <p:nvPr/>
          </p:nvSpPr>
          <p:spPr>
            <a:xfrm>
              <a:off x="1871" y="3606"/>
              <a:ext cx="326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3200" b="1" i="1" dirty="0">
                  <a:solidFill>
                    <a:srgbClr val="FF505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r>
                <a:rPr lang="en-US" altLang="zh-CN" sz="3200" b="1" baseline="-25000" dirty="0">
                  <a:solidFill>
                    <a:srgbClr val="FF505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1</a:t>
              </a:r>
              <a:endParaRPr lang="en-US" altLang="zh-CN" sz="24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8388" name="Text Box 20"/>
            <p:cNvSpPr txBox="1"/>
            <p:nvPr/>
          </p:nvSpPr>
          <p:spPr>
            <a:xfrm>
              <a:off x="3292" y="3600"/>
              <a:ext cx="290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3200" b="1" i="1" dirty="0">
                  <a:solidFill>
                    <a:srgbClr val="FF505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r>
                <a:rPr lang="en-US" altLang="zh-CN" sz="3200" b="1" baseline="-25000" dirty="0">
                  <a:solidFill>
                    <a:srgbClr val="FF505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i</a:t>
              </a:r>
              <a:endParaRPr lang="en-US" altLang="zh-CN" sz="24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8389" name="Text Box 21"/>
            <p:cNvSpPr txBox="1"/>
            <p:nvPr/>
          </p:nvSpPr>
          <p:spPr>
            <a:xfrm>
              <a:off x="4822" y="3594"/>
              <a:ext cx="336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3200" b="1" i="1" dirty="0">
                  <a:solidFill>
                    <a:srgbClr val="FF505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r>
                <a:rPr lang="en-US" altLang="zh-CN" sz="3200" b="1" baseline="-25000" dirty="0">
                  <a:solidFill>
                    <a:srgbClr val="FF505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n</a:t>
              </a:r>
              <a:endParaRPr lang="en-US" altLang="zh-CN" sz="24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8390" name="Text Box 22"/>
            <p:cNvSpPr txBox="1"/>
            <p:nvPr/>
          </p:nvSpPr>
          <p:spPr>
            <a:xfrm>
              <a:off x="432" y="3744"/>
              <a:ext cx="265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1" dirty="0">
                  <a:solidFill>
                    <a:srgbClr val="CC33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L</a:t>
              </a:r>
              <a:endParaRPr lang="en-US" altLang="zh-CN" sz="28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8391" name="Line 23"/>
            <p:cNvSpPr/>
            <p:nvPr/>
          </p:nvSpPr>
          <p:spPr>
            <a:xfrm>
              <a:off x="4467" y="3840"/>
              <a:ext cx="348" cy="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58392" name="Text Box 24"/>
            <p:cNvSpPr txBox="1"/>
            <p:nvPr/>
          </p:nvSpPr>
          <p:spPr>
            <a:xfrm>
              <a:off x="2646" y="3552"/>
              <a:ext cx="319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dirty="0">
                  <a:latin typeface="Times New Roman" panose="02020603050405020304" charset="0"/>
                  <a:ea typeface="宋体" panose="02010600030101010101" pitchFamily="2" charset="-122"/>
                </a:rPr>
                <a:t>…</a:t>
              </a:r>
              <a:endParaRPr lang="en-US" altLang="zh-CN" sz="3200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58393" name="Text Box 25"/>
            <p:cNvSpPr txBox="1"/>
            <p:nvPr/>
          </p:nvSpPr>
          <p:spPr>
            <a:xfrm>
              <a:off x="4103" y="3552"/>
              <a:ext cx="319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dirty="0">
                  <a:latin typeface="Times New Roman" panose="02020603050405020304" charset="0"/>
                  <a:ea typeface="宋体" panose="02010600030101010101" pitchFamily="2" charset="-122"/>
                </a:rPr>
                <a:t>…</a:t>
              </a:r>
              <a:endParaRPr lang="en-US" altLang="zh-CN" sz="3200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grpSp>
          <p:nvGrpSpPr>
            <p:cNvPr id="58394" name="Group 26"/>
            <p:cNvGrpSpPr/>
            <p:nvPr/>
          </p:nvGrpSpPr>
          <p:grpSpPr>
            <a:xfrm>
              <a:off x="816" y="3552"/>
              <a:ext cx="4752" cy="288"/>
              <a:chOff x="816" y="3408"/>
              <a:chExt cx="4752" cy="336"/>
            </a:xfrm>
          </p:grpSpPr>
          <p:sp>
            <p:nvSpPr>
              <p:cNvPr id="58395" name="Line 27"/>
              <p:cNvSpPr/>
              <p:nvPr/>
            </p:nvSpPr>
            <p:spPr>
              <a:xfrm>
                <a:off x="816" y="3600"/>
                <a:ext cx="240" cy="0"/>
              </a:xfrm>
              <a:prstGeom prst="line">
                <a:avLst/>
              </a:prstGeom>
              <a:ln w="38100" cap="flat" cmpd="sng">
                <a:solidFill>
                  <a:schemeClr val="hlink"/>
                </a:solidFill>
                <a:prstDash val="solid"/>
                <a:round/>
                <a:headEnd type="none" w="med" len="med"/>
                <a:tailEnd type="triangle" w="sm" len="med"/>
              </a:ln>
            </p:spPr>
          </p:sp>
          <p:sp>
            <p:nvSpPr>
              <p:cNvPr id="58396" name="Line 28"/>
              <p:cNvSpPr/>
              <p:nvPr/>
            </p:nvSpPr>
            <p:spPr>
              <a:xfrm flipV="1">
                <a:off x="816" y="3408"/>
                <a:ext cx="0" cy="192"/>
              </a:xfrm>
              <a:prstGeom prst="line">
                <a:avLst/>
              </a:prstGeom>
              <a:ln w="38100" cap="flat" cmpd="sng">
                <a:solidFill>
                  <a:schemeClr val="hlink"/>
                </a:solidFill>
                <a:prstDash val="solid"/>
                <a:round/>
                <a:headEnd type="none" w="med" len="med"/>
                <a:tailEnd type="none" w="sm" len="med"/>
              </a:ln>
            </p:spPr>
          </p:sp>
          <p:sp>
            <p:nvSpPr>
              <p:cNvPr id="58397" name="Line 29"/>
              <p:cNvSpPr/>
              <p:nvPr/>
            </p:nvSpPr>
            <p:spPr>
              <a:xfrm flipH="1" flipV="1">
                <a:off x="816" y="3408"/>
                <a:ext cx="4752" cy="0"/>
              </a:xfrm>
              <a:prstGeom prst="line">
                <a:avLst/>
              </a:prstGeom>
              <a:ln w="38100" cap="flat" cmpd="sng">
                <a:solidFill>
                  <a:schemeClr val="hlink"/>
                </a:solidFill>
                <a:prstDash val="solid"/>
                <a:round/>
                <a:headEnd type="none" w="med" len="med"/>
                <a:tailEnd type="none" w="sm" len="med"/>
              </a:ln>
            </p:spPr>
          </p:sp>
          <p:sp>
            <p:nvSpPr>
              <p:cNvPr id="58398" name="Line 30"/>
              <p:cNvSpPr/>
              <p:nvPr/>
            </p:nvSpPr>
            <p:spPr>
              <a:xfrm flipV="1">
                <a:off x="5568" y="3408"/>
                <a:ext cx="0" cy="336"/>
              </a:xfrm>
              <a:prstGeom prst="line">
                <a:avLst/>
              </a:prstGeom>
              <a:ln w="38100" cap="flat" cmpd="sng">
                <a:solidFill>
                  <a:schemeClr val="hlink"/>
                </a:solidFill>
                <a:prstDash val="solid"/>
                <a:round/>
                <a:headEnd type="none" w="med" len="med"/>
                <a:tailEnd type="none" w="sm" len="med"/>
              </a:ln>
            </p:spPr>
          </p:sp>
          <p:sp>
            <p:nvSpPr>
              <p:cNvPr id="58399" name="Line 31"/>
              <p:cNvSpPr/>
              <p:nvPr/>
            </p:nvSpPr>
            <p:spPr>
              <a:xfrm flipH="1" flipV="1">
                <a:off x="5280" y="3744"/>
                <a:ext cx="288" cy="0"/>
              </a:xfrm>
              <a:prstGeom prst="line">
                <a:avLst/>
              </a:prstGeom>
              <a:ln w="38100" cap="flat" cmpd="sng">
                <a:solidFill>
                  <a:schemeClr val="hlink"/>
                </a:solidFill>
                <a:prstDash val="solid"/>
                <a:round/>
                <a:headEnd type="none" w="med" len="med"/>
                <a:tailEnd type="none" w="sm" len="med"/>
              </a:ln>
            </p:spPr>
          </p:sp>
        </p:grpSp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525" y="908685"/>
            <a:ext cx="11087735" cy="5144135"/>
          </a:xfrm>
        </p:spPr>
        <p:txBody>
          <a:bodyPr/>
          <a:p>
            <a:pPr algn="l" eaLnBrk="1" hangingPunct="1">
              <a:buClrTx/>
              <a:buSzTx/>
              <a:buChar char="l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双向链表也是一种特殊的线性链表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algn="l" eaLnBrk="1" hangingPunct="1">
              <a:buClrTx/>
              <a:buSzTx/>
              <a:buChar char="l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双向链表中每个结点有两个指针，一个指针指向直接后继(next)，另一个指向直接前驱(prior)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lvl="1" algn="l" eaLnBrk="1" hangingPunct="1">
              <a:buClrTx/>
              <a:buSzTx/>
              <a:buChar char="•"/>
            </a:pPr>
            <a:endParaRPr lang="en-US" altLang="zh-CN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2.3 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线性表的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链式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表示和实现</a:t>
            </a:r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  <p:grpSp>
        <p:nvGrpSpPr>
          <p:cNvPr id="59396" name="Group 4"/>
          <p:cNvGrpSpPr/>
          <p:nvPr/>
        </p:nvGrpSpPr>
        <p:grpSpPr>
          <a:xfrm>
            <a:off x="2711450" y="2924810"/>
            <a:ext cx="5352415" cy="1801361"/>
            <a:chOff x="1728" y="3168"/>
            <a:chExt cx="2645" cy="802"/>
          </a:xfrm>
        </p:grpSpPr>
        <p:sp>
          <p:nvSpPr>
            <p:cNvPr id="718853" name="Rectangle 5"/>
            <p:cNvSpPr>
              <a:spLocks noChangeArrowheads="1"/>
            </p:cNvSpPr>
            <p:nvPr/>
          </p:nvSpPr>
          <p:spPr bwMode="auto">
            <a:xfrm>
              <a:off x="1824" y="3264"/>
              <a:ext cx="2400" cy="384"/>
            </a:xfrm>
            <a:prstGeom prst="rect">
              <a:avLst/>
            </a:prstGeom>
            <a:solidFill>
              <a:srgbClr val="00FFFF"/>
            </a:solidFill>
            <a:ln w="9525">
              <a:miter lim="800000"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00FFFF"/>
              </a:extrusionClr>
            </a:sp3d>
          </p:spPr>
          <p:txBody>
            <a:bodyPr wrap="none" anchor="ctr">
              <a:flatTx/>
            </a:bodyPr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charset="0"/>
                  <a:ea typeface="仿宋" panose="02010609060101010101" charset="-122"/>
                  <a:cs typeface="+mn-cs"/>
                </a:rPr>
                <a:t>prior          data           next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charset="0"/>
                <a:ea typeface="仿宋" panose="02010609060101010101" charset="-122"/>
                <a:cs typeface="+mn-cs"/>
              </a:endParaRPr>
            </a:p>
          </p:txBody>
        </p:sp>
        <p:grpSp>
          <p:nvGrpSpPr>
            <p:cNvPr id="59398" name="Group 6"/>
            <p:cNvGrpSpPr/>
            <p:nvPr/>
          </p:nvGrpSpPr>
          <p:grpSpPr>
            <a:xfrm>
              <a:off x="2544" y="3168"/>
              <a:ext cx="1104" cy="480"/>
              <a:chOff x="2304" y="2016"/>
              <a:chExt cx="1104" cy="480"/>
            </a:xfrm>
          </p:grpSpPr>
          <p:sp>
            <p:nvSpPr>
              <p:cNvPr id="59399" name="Line 7"/>
              <p:cNvSpPr/>
              <p:nvPr/>
            </p:nvSpPr>
            <p:spPr>
              <a:xfrm>
                <a:off x="2304" y="2112"/>
                <a:ext cx="0" cy="38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9400" name="Line 8"/>
              <p:cNvSpPr/>
              <p:nvPr/>
            </p:nvSpPr>
            <p:spPr>
              <a:xfrm flipV="1">
                <a:off x="2304" y="2016"/>
                <a:ext cx="96" cy="9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9401" name="Line 9"/>
              <p:cNvSpPr/>
              <p:nvPr/>
            </p:nvSpPr>
            <p:spPr>
              <a:xfrm>
                <a:off x="3312" y="2112"/>
                <a:ext cx="0" cy="38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9402" name="Line 10"/>
              <p:cNvSpPr/>
              <p:nvPr/>
            </p:nvSpPr>
            <p:spPr>
              <a:xfrm flipV="1">
                <a:off x="3312" y="2016"/>
                <a:ext cx="96" cy="9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59403" name="Text Box 11"/>
            <p:cNvSpPr txBox="1"/>
            <p:nvPr/>
          </p:nvSpPr>
          <p:spPr>
            <a:xfrm>
              <a:off x="1728" y="3792"/>
              <a:ext cx="2645" cy="17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r>
                <a:rPr lang="zh-CN" altLang="en-US" sz="2000" b="1" dirty="0">
                  <a:solidFill>
                    <a:srgbClr val="000066"/>
                  </a:solidFill>
                  <a:latin typeface="Times New Roman" panose="02020603050405020304" charset="0"/>
                </a:rPr>
                <a:t>指向直接前驱               指向直接</a:t>
              </a:r>
              <a:r>
                <a:rPr lang="zh-CN" altLang="en-US" sz="2000" b="1" dirty="0">
                  <a:solidFill>
                    <a:srgbClr val="000066"/>
                  </a:solidFill>
                  <a:latin typeface="Times New Roman" panose="02020603050405020304" charset="0"/>
                  <a:sym typeface="Wingdings" panose="05000000000000000000" pitchFamily="2" charset="2"/>
                </a:rPr>
                <a:t>后继</a:t>
              </a:r>
              <a:endParaRPr lang="zh-CN" altLang="en-US" sz="2000" b="1" dirty="0">
                <a:solidFill>
                  <a:srgbClr val="000066"/>
                </a:solidFill>
                <a:latin typeface="Times New Roman" panose="02020603050405020304" charset="0"/>
                <a:sym typeface="Wingdings" panose="05000000000000000000" pitchFamily="2" charset="2"/>
              </a:endParaRPr>
            </a:p>
          </p:txBody>
        </p:sp>
        <p:sp>
          <p:nvSpPr>
            <p:cNvPr id="59404" name="Line 12"/>
            <p:cNvSpPr/>
            <p:nvPr/>
          </p:nvSpPr>
          <p:spPr>
            <a:xfrm flipV="1">
              <a:off x="2160" y="3600"/>
              <a:ext cx="0" cy="288"/>
            </a:xfrm>
            <a:prstGeom prst="line">
              <a:avLst/>
            </a:prstGeom>
            <a:ln w="9525" cap="flat" cmpd="sng">
              <a:solidFill>
                <a:srgbClr val="C8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9405" name="Line 13"/>
            <p:cNvSpPr/>
            <p:nvPr/>
          </p:nvSpPr>
          <p:spPr>
            <a:xfrm flipV="1">
              <a:off x="3888" y="3600"/>
              <a:ext cx="0" cy="240"/>
            </a:xfrm>
            <a:prstGeom prst="line">
              <a:avLst/>
            </a:prstGeom>
            <a:ln w="9525" cap="flat" cmpd="sng">
              <a:solidFill>
                <a:srgbClr val="C8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525" y="908685"/>
            <a:ext cx="11087735" cy="5144135"/>
          </a:xfrm>
        </p:spPr>
        <p:txBody>
          <a:bodyPr/>
          <a:p>
            <a:pPr algn="l" eaLnBrk="1" hangingPunct="1">
              <a:buClrTx/>
              <a:buSzTx/>
              <a:buChar char="l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双向链表一般是指双向循环链表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  <a:p>
            <a:pPr algn="l" eaLnBrk="1" hangingPunct="1">
              <a:buClrTx/>
              <a:buSzTx/>
              <a:buChar char="l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双向链表中存在两个环(一个是直接后继环(红)，另一个是直接前驱环(蓝))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endParaRPr lang="zh-CN" altLang="en-US" sz="2800" dirty="0">
              <a:latin typeface="黑体" panose="02010609060101010101" pitchFamily="2" charset="-122"/>
              <a:ea typeface="黑体" panose="02010609060101010101" pitchFamily="2" charset="-122"/>
              <a:cs typeface="+mn-cs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2.3 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线性表的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链式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表示和实现</a:t>
            </a:r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  <p:grpSp>
        <p:nvGrpSpPr>
          <p:cNvPr id="60420" name="Group 4"/>
          <p:cNvGrpSpPr/>
          <p:nvPr/>
        </p:nvGrpSpPr>
        <p:grpSpPr>
          <a:xfrm>
            <a:off x="1847215" y="2708593"/>
            <a:ext cx="7620000" cy="1660524"/>
            <a:chOff x="480" y="3024"/>
            <a:chExt cx="4800" cy="1046"/>
          </a:xfrm>
        </p:grpSpPr>
        <p:sp>
          <p:nvSpPr>
            <p:cNvPr id="60421" name="Text Box 5"/>
            <p:cNvSpPr txBox="1"/>
            <p:nvPr/>
          </p:nvSpPr>
          <p:spPr>
            <a:xfrm>
              <a:off x="1440" y="3767"/>
              <a:ext cx="3429" cy="30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112947" tIns="56473" rIns="112947" bIns="56473" anchor="t" anchorCtr="0">
              <a:spAutoFit/>
            </a:bodyPr>
            <a:p>
              <a:pPr defTabSz="1129030"/>
              <a:r>
                <a:rPr lang="zh-CN" altLang="en-US" sz="2400" b="1" dirty="0">
                  <a:solidFill>
                    <a:srgbClr val="FF3300"/>
                  </a:solidFill>
                  <a:latin typeface="仿宋" panose="02010609060101010101" charset="-122"/>
                </a:rPr>
                <a:t>非空表                        空表</a:t>
              </a:r>
              <a:endParaRPr lang="zh-CN" altLang="en-US" sz="2400" b="1" dirty="0">
                <a:solidFill>
                  <a:srgbClr val="FF3300"/>
                </a:solidFill>
                <a:latin typeface="Times New Roman" panose="02020603050405020304" charset="0"/>
              </a:endParaRPr>
            </a:p>
          </p:txBody>
        </p:sp>
        <p:grpSp>
          <p:nvGrpSpPr>
            <p:cNvPr id="60422" name="Group 6"/>
            <p:cNvGrpSpPr/>
            <p:nvPr/>
          </p:nvGrpSpPr>
          <p:grpSpPr>
            <a:xfrm>
              <a:off x="1008" y="3120"/>
              <a:ext cx="576" cy="432"/>
              <a:chOff x="1008" y="3120"/>
              <a:chExt cx="576" cy="432"/>
            </a:xfrm>
          </p:grpSpPr>
          <p:sp>
            <p:nvSpPr>
              <p:cNvPr id="60423" name="Rectangle 7"/>
              <p:cNvSpPr/>
              <p:nvPr/>
            </p:nvSpPr>
            <p:spPr>
              <a:xfrm>
                <a:off x="1008" y="3216"/>
                <a:ext cx="576" cy="336"/>
              </a:xfrm>
              <a:prstGeom prst="rect">
                <a:avLst/>
              </a:prstGeom>
              <a:solidFill>
                <a:srgbClr val="99CC00"/>
              </a:solidFill>
              <a:ln w="9525"/>
              <a:scene3d>
                <a:camera prst="legacyObliqueTopRight">
                  <a:rot lat="0" lon="0" rev="0"/>
                </a:camera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99CC00"/>
                </a:extrusionClr>
              </a:sp3d>
            </p:spPr>
            <p:txBody>
              <a:bodyPr wrap="none" anchor="ctr" anchorCtr="0">
                <a:flatTx/>
              </a:bodyPr>
              <a:p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0424" name="Line 8"/>
              <p:cNvSpPr/>
              <p:nvPr/>
            </p:nvSpPr>
            <p:spPr>
              <a:xfrm>
                <a:off x="1152" y="3216"/>
                <a:ext cx="0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0425" name="Line 9"/>
              <p:cNvSpPr/>
              <p:nvPr/>
            </p:nvSpPr>
            <p:spPr>
              <a:xfrm>
                <a:off x="1440" y="3216"/>
                <a:ext cx="0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0426" name="Line 10"/>
              <p:cNvSpPr/>
              <p:nvPr/>
            </p:nvSpPr>
            <p:spPr>
              <a:xfrm flipV="1">
                <a:off x="1152" y="3120"/>
                <a:ext cx="96" cy="9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0427" name="Line 11"/>
              <p:cNvSpPr/>
              <p:nvPr/>
            </p:nvSpPr>
            <p:spPr>
              <a:xfrm flipV="1">
                <a:off x="1440" y="3120"/>
                <a:ext cx="96" cy="9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60428" name="Group 12"/>
            <p:cNvGrpSpPr/>
            <p:nvPr/>
          </p:nvGrpSpPr>
          <p:grpSpPr>
            <a:xfrm>
              <a:off x="1824" y="3120"/>
              <a:ext cx="576" cy="432"/>
              <a:chOff x="1824" y="3120"/>
              <a:chExt cx="576" cy="432"/>
            </a:xfrm>
          </p:grpSpPr>
          <p:sp>
            <p:nvSpPr>
              <p:cNvPr id="60429" name="Rectangle 13"/>
              <p:cNvSpPr/>
              <p:nvPr/>
            </p:nvSpPr>
            <p:spPr>
              <a:xfrm>
                <a:off x="1824" y="3216"/>
                <a:ext cx="576" cy="336"/>
              </a:xfrm>
              <a:prstGeom prst="rect">
                <a:avLst/>
              </a:prstGeom>
              <a:solidFill>
                <a:srgbClr val="00FFFF"/>
              </a:solidFill>
              <a:ln w="9525"/>
              <a:scene3d>
                <a:camera prst="legacyObliqueTopRight">
                  <a:rot lat="0" lon="0" rev="0"/>
                </a:camera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00FFFF"/>
                </a:extrusionClr>
              </a:sp3d>
            </p:spPr>
            <p:txBody>
              <a:bodyPr wrap="none" anchor="ctr" anchorCtr="0">
                <a:flatTx/>
              </a:bodyPr>
              <a:p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0430" name="Line 14"/>
              <p:cNvSpPr/>
              <p:nvPr/>
            </p:nvSpPr>
            <p:spPr>
              <a:xfrm>
                <a:off x="1968" y="3216"/>
                <a:ext cx="0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0431" name="Line 15"/>
              <p:cNvSpPr/>
              <p:nvPr/>
            </p:nvSpPr>
            <p:spPr>
              <a:xfrm>
                <a:off x="2256" y="3216"/>
                <a:ext cx="0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0432" name="Line 16"/>
              <p:cNvSpPr/>
              <p:nvPr/>
            </p:nvSpPr>
            <p:spPr>
              <a:xfrm flipV="1">
                <a:off x="1968" y="3120"/>
                <a:ext cx="96" cy="9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0433" name="Line 17"/>
              <p:cNvSpPr/>
              <p:nvPr/>
            </p:nvSpPr>
            <p:spPr>
              <a:xfrm flipV="1">
                <a:off x="2256" y="3120"/>
                <a:ext cx="96" cy="9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60434" name="Group 18"/>
            <p:cNvGrpSpPr/>
            <p:nvPr/>
          </p:nvGrpSpPr>
          <p:grpSpPr>
            <a:xfrm>
              <a:off x="2880" y="3120"/>
              <a:ext cx="576" cy="432"/>
              <a:chOff x="2880" y="3120"/>
              <a:chExt cx="576" cy="432"/>
            </a:xfrm>
          </p:grpSpPr>
          <p:sp>
            <p:nvSpPr>
              <p:cNvPr id="60435" name="Rectangle 19"/>
              <p:cNvSpPr/>
              <p:nvPr/>
            </p:nvSpPr>
            <p:spPr>
              <a:xfrm>
                <a:off x="2880" y="3216"/>
                <a:ext cx="576" cy="336"/>
              </a:xfrm>
              <a:prstGeom prst="rect">
                <a:avLst/>
              </a:prstGeom>
              <a:solidFill>
                <a:srgbClr val="00FFFF"/>
              </a:solidFill>
              <a:ln w="9525"/>
              <a:scene3d>
                <a:camera prst="legacyObliqueTopRight">
                  <a:rot lat="0" lon="0" rev="0"/>
                </a:camera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00FFFF"/>
                </a:extrusionClr>
              </a:sp3d>
            </p:spPr>
            <p:txBody>
              <a:bodyPr wrap="none" anchor="ctr" anchorCtr="0">
                <a:flatTx/>
              </a:bodyPr>
              <a:p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0436" name="Line 20"/>
              <p:cNvSpPr/>
              <p:nvPr/>
            </p:nvSpPr>
            <p:spPr>
              <a:xfrm>
                <a:off x="3024" y="3216"/>
                <a:ext cx="0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0437" name="Line 21"/>
              <p:cNvSpPr/>
              <p:nvPr/>
            </p:nvSpPr>
            <p:spPr>
              <a:xfrm>
                <a:off x="3312" y="3216"/>
                <a:ext cx="0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0438" name="Line 22"/>
              <p:cNvSpPr/>
              <p:nvPr/>
            </p:nvSpPr>
            <p:spPr>
              <a:xfrm flipV="1">
                <a:off x="3024" y="3120"/>
                <a:ext cx="96" cy="9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0439" name="Line 23"/>
              <p:cNvSpPr/>
              <p:nvPr/>
            </p:nvSpPr>
            <p:spPr>
              <a:xfrm flipV="1">
                <a:off x="3312" y="3120"/>
                <a:ext cx="96" cy="9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60440" name="Group 24"/>
            <p:cNvGrpSpPr/>
            <p:nvPr/>
          </p:nvGrpSpPr>
          <p:grpSpPr>
            <a:xfrm>
              <a:off x="4464" y="3120"/>
              <a:ext cx="576" cy="432"/>
              <a:chOff x="4464" y="3120"/>
              <a:chExt cx="576" cy="432"/>
            </a:xfrm>
          </p:grpSpPr>
          <p:sp>
            <p:nvSpPr>
              <p:cNvPr id="60441" name="Rectangle 25"/>
              <p:cNvSpPr/>
              <p:nvPr/>
            </p:nvSpPr>
            <p:spPr>
              <a:xfrm>
                <a:off x="4464" y="3216"/>
                <a:ext cx="576" cy="336"/>
              </a:xfrm>
              <a:prstGeom prst="rect">
                <a:avLst/>
              </a:prstGeom>
              <a:solidFill>
                <a:srgbClr val="99CC00"/>
              </a:solidFill>
              <a:ln w="9525"/>
              <a:scene3d>
                <a:camera prst="legacyObliqueTopRight">
                  <a:rot lat="0" lon="0" rev="0"/>
                </a:camera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99CC00"/>
                </a:extrusionClr>
              </a:sp3d>
            </p:spPr>
            <p:txBody>
              <a:bodyPr wrap="none" anchor="ctr" anchorCtr="0">
                <a:flatTx/>
              </a:bodyPr>
              <a:p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0442" name="Line 26"/>
              <p:cNvSpPr/>
              <p:nvPr/>
            </p:nvSpPr>
            <p:spPr>
              <a:xfrm>
                <a:off x="4608" y="3216"/>
                <a:ext cx="0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0443" name="Line 27"/>
              <p:cNvSpPr/>
              <p:nvPr/>
            </p:nvSpPr>
            <p:spPr>
              <a:xfrm>
                <a:off x="4896" y="3216"/>
                <a:ext cx="0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0444" name="Line 28"/>
              <p:cNvSpPr/>
              <p:nvPr/>
            </p:nvSpPr>
            <p:spPr>
              <a:xfrm flipV="1">
                <a:off x="4608" y="3120"/>
                <a:ext cx="96" cy="9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0445" name="Line 29"/>
              <p:cNvSpPr/>
              <p:nvPr/>
            </p:nvSpPr>
            <p:spPr>
              <a:xfrm flipV="1">
                <a:off x="4896" y="3120"/>
                <a:ext cx="96" cy="9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60446" name="Line 30"/>
            <p:cNvSpPr/>
            <p:nvPr/>
          </p:nvSpPr>
          <p:spPr>
            <a:xfrm>
              <a:off x="816" y="3360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sm"/>
            </a:ln>
          </p:spPr>
        </p:sp>
        <p:sp>
          <p:nvSpPr>
            <p:cNvPr id="60447" name="Line 31"/>
            <p:cNvSpPr/>
            <p:nvPr/>
          </p:nvSpPr>
          <p:spPr>
            <a:xfrm>
              <a:off x="4176" y="3360"/>
              <a:ext cx="28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sm"/>
            </a:ln>
          </p:spPr>
        </p:sp>
        <p:grpSp>
          <p:nvGrpSpPr>
            <p:cNvPr id="60448" name="Group 32"/>
            <p:cNvGrpSpPr/>
            <p:nvPr/>
          </p:nvGrpSpPr>
          <p:grpSpPr>
            <a:xfrm>
              <a:off x="864" y="3408"/>
              <a:ext cx="2832" cy="240"/>
              <a:chOff x="864" y="3408"/>
              <a:chExt cx="2832" cy="240"/>
            </a:xfrm>
          </p:grpSpPr>
          <p:sp>
            <p:nvSpPr>
              <p:cNvPr id="60449" name="Line 33"/>
              <p:cNvSpPr/>
              <p:nvPr/>
            </p:nvSpPr>
            <p:spPr>
              <a:xfrm>
                <a:off x="3504" y="3408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round/>
                <a:headEnd type="triangle" w="sm" len="sm"/>
                <a:tailEnd type="none" w="sm" len="sm"/>
              </a:ln>
            </p:spPr>
          </p:sp>
          <p:sp>
            <p:nvSpPr>
              <p:cNvPr id="60450" name="Line 34"/>
              <p:cNvSpPr/>
              <p:nvPr/>
            </p:nvSpPr>
            <p:spPr>
              <a:xfrm>
                <a:off x="2688" y="3408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round/>
                <a:headEnd type="triangle" w="sm" len="sm"/>
                <a:tailEnd type="none" w="sm" len="sm"/>
              </a:ln>
            </p:spPr>
          </p:sp>
          <p:sp>
            <p:nvSpPr>
              <p:cNvPr id="60451" name="Line 35"/>
              <p:cNvSpPr/>
              <p:nvPr/>
            </p:nvSpPr>
            <p:spPr>
              <a:xfrm>
                <a:off x="2448" y="3408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round/>
                <a:headEnd type="triangle" w="sm" len="sm"/>
                <a:tailEnd type="none" w="sm" len="sm"/>
              </a:ln>
            </p:spPr>
          </p:sp>
          <p:sp>
            <p:nvSpPr>
              <p:cNvPr id="60452" name="Line 36"/>
              <p:cNvSpPr/>
              <p:nvPr/>
            </p:nvSpPr>
            <p:spPr>
              <a:xfrm>
                <a:off x="1632" y="3408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round/>
                <a:headEnd type="triangle" w="sm" len="sm"/>
                <a:tailEnd type="none" w="sm" len="sm"/>
              </a:ln>
            </p:spPr>
          </p:sp>
          <p:sp>
            <p:nvSpPr>
              <p:cNvPr id="60453" name="Line 37"/>
              <p:cNvSpPr/>
              <p:nvPr/>
            </p:nvSpPr>
            <p:spPr>
              <a:xfrm flipH="1">
                <a:off x="864" y="3456"/>
                <a:ext cx="144" cy="0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0454" name="Line 38"/>
              <p:cNvSpPr/>
              <p:nvPr/>
            </p:nvSpPr>
            <p:spPr>
              <a:xfrm>
                <a:off x="864" y="3456"/>
                <a:ext cx="0" cy="192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0455" name="Line 39"/>
              <p:cNvSpPr/>
              <p:nvPr/>
            </p:nvSpPr>
            <p:spPr>
              <a:xfrm>
                <a:off x="864" y="3648"/>
                <a:ext cx="2832" cy="0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0456" name="Line 40"/>
              <p:cNvSpPr/>
              <p:nvPr/>
            </p:nvSpPr>
            <p:spPr>
              <a:xfrm>
                <a:off x="3696" y="3408"/>
                <a:ext cx="0" cy="240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60457" name="Group 41"/>
            <p:cNvGrpSpPr/>
            <p:nvPr/>
          </p:nvGrpSpPr>
          <p:grpSpPr>
            <a:xfrm>
              <a:off x="864" y="3024"/>
              <a:ext cx="2832" cy="288"/>
              <a:chOff x="864" y="3024"/>
              <a:chExt cx="2832" cy="288"/>
            </a:xfrm>
          </p:grpSpPr>
          <p:sp>
            <p:nvSpPr>
              <p:cNvPr id="60458" name="Line 42"/>
              <p:cNvSpPr/>
              <p:nvPr/>
            </p:nvSpPr>
            <p:spPr>
              <a:xfrm>
                <a:off x="1632" y="3312"/>
                <a:ext cx="192" cy="0"/>
              </a:xfrm>
              <a:prstGeom prst="line">
                <a:avLst/>
              </a:prstGeom>
              <a:ln w="38100" cap="flat" cmpd="sng">
                <a:solidFill>
                  <a:srgbClr val="FF00FF"/>
                </a:solidFill>
                <a:prstDash val="solid"/>
                <a:round/>
                <a:headEnd type="none" w="med" len="med"/>
                <a:tailEnd type="triangle" w="sm" len="sm"/>
              </a:ln>
            </p:spPr>
          </p:sp>
          <p:sp>
            <p:nvSpPr>
              <p:cNvPr id="60459" name="Line 43"/>
              <p:cNvSpPr/>
              <p:nvPr/>
            </p:nvSpPr>
            <p:spPr>
              <a:xfrm>
                <a:off x="2448" y="3312"/>
                <a:ext cx="192" cy="0"/>
              </a:xfrm>
              <a:prstGeom prst="line">
                <a:avLst/>
              </a:prstGeom>
              <a:ln w="38100" cap="flat" cmpd="sng">
                <a:solidFill>
                  <a:srgbClr val="FF00FF"/>
                </a:solidFill>
                <a:prstDash val="solid"/>
                <a:round/>
                <a:headEnd type="none" w="med" len="med"/>
                <a:tailEnd type="triangle" w="sm" len="sm"/>
              </a:ln>
            </p:spPr>
          </p:sp>
          <p:sp>
            <p:nvSpPr>
              <p:cNvPr id="60460" name="Line 44"/>
              <p:cNvSpPr/>
              <p:nvPr/>
            </p:nvSpPr>
            <p:spPr>
              <a:xfrm>
                <a:off x="2688" y="3312"/>
                <a:ext cx="192" cy="0"/>
              </a:xfrm>
              <a:prstGeom prst="line">
                <a:avLst/>
              </a:prstGeom>
              <a:ln w="38100" cap="flat" cmpd="sng">
                <a:solidFill>
                  <a:srgbClr val="FF00FF"/>
                </a:solidFill>
                <a:prstDash val="solid"/>
                <a:round/>
                <a:headEnd type="none" w="med" len="med"/>
                <a:tailEnd type="triangle" w="sm" len="sm"/>
              </a:ln>
            </p:spPr>
          </p:sp>
          <p:sp>
            <p:nvSpPr>
              <p:cNvPr id="60461" name="Line 45"/>
              <p:cNvSpPr/>
              <p:nvPr/>
            </p:nvSpPr>
            <p:spPr>
              <a:xfrm>
                <a:off x="864" y="3264"/>
                <a:ext cx="144" cy="0"/>
              </a:xfrm>
              <a:prstGeom prst="line">
                <a:avLst/>
              </a:prstGeom>
              <a:ln w="38100" cap="flat" cmpd="sng">
                <a:solidFill>
                  <a:srgbClr val="FF00FF"/>
                </a:solidFill>
                <a:prstDash val="solid"/>
                <a:round/>
                <a:headEnd type="none" w="med" len="med"/>
                <a:tailEnd type="triangle" w="sm" len="sm"/>
              </a:ln>
            </p:spPr>
          </p:sp>
          <p:sp>
            <p:nvSpPr>
              <p:cNvPr id="60462" name="Line 46"/>
              <p:cNvSpPr/>
              <p:nvPr/>
            </p:nvSpPr>
            <p:spPr>
              <a:xfrm>
                <a:off x="864" y="3024"/>
                <a:ext cx="0" cy="240"/>
              </a:xfrm>
              <a:prstGeom prst="line">
                <a:avLst/>
              </a:prstGeom>
              <a:ln w="38100" cap="flat" cmpd="sng">
                <a:solidFill>
                  <a:srgbClr val="FF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0463" name="Line 47"/>
              <p:cNvSpPr/>
              <p:nvPr/>
            </p:nvSpPr>
            <p:spPr>
              <a:xfrm>
                <a:off x="864" y="3024"/>
                <a:ext cx="2832" cy="0"/>
              </a:xfrm>
              <a:prstGeom prst="line">
                <a:avLst/>
              </a:prstGeom>
              <a:ln w="38100" cap="flat" cmpd="sng">
                <a:solidFill>
                  <a:srgbClr val="FF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0464" name="Line 48"/>
              <p:cNvSpPr/>
              <p:nvPr/>
            </p:nvSpPr>
            <p:spPr>
              <a:xfrm>
                <a:off x="3696" y="3024"/>
                <a:ext cx="0" cy="240"/>
              </a:xfrm>
              <a:prstGeom prst="line">
                <a:avLst/>
              </a:prstGeom>
              <a:ln w="38100" cap="flat" cmpd="sng">
                <a:solidFill>
                  <a:srgbClr val="FF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0465" name="Line 49"/>
              <p:cNvSpPr/>
              <p:nvPr/>
            </p:nvSpPr>
            <p:spPr>
              <a:xfrm flipH="1">
                <a:off x="3504" y="3264"/>
                <a:ext cx="192" cy="0"/>
              </a:xfrm>
              <a:prstGeom prst="line">
                <a:avLst/>
              </a:prstGeom>
              <a:ln w="38100" cap="flat" cmpd="sng">
                <a:solidFill>
                  <a:srgbClr val="FF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60466" name="Group 50"/>
            <p:cNvGrpSpPr/>
            <p:nvPr/>
          </p:nvGrpSpPr>
          <p:grpSpPr>
            <a:xfrm>
              <a:off x="4272" y="3024"/>
              <a:ext cx="1008" cy="240"/>
              <a:chOff x="4272" y="3024"/>
              <a:chExt cx="1008" cy="240"/>
            </a:xfrm>
          </p:grpSpPr>
          <p:sp>
            <p:nvSpPr>
              <p:cNvPr id="60467" name="Line 51"/>
              <p:cNvSpPr/>
              <p:nvPr/>
            </p:nvSpPr>
            <p:spPr>
              <a:xfrm>
                <a:off x="4272" y="3264"/>
                <a:ext cx="192" cy="0"/>
              </a:xfrm>
              <a:prstGeom prst="line">
                <a:avLst/>
              </a:prstGeom>
              <a:ln w="38100" cap="flat" cmpd="sng">
                <a:solidFill>
                  <a:srgbClr val="FF00FF"/>
                </a:solidFill>
                <a:prstDash val="solid"/>
                <a:round/>
                <a:headEnd type="none" w="med" len="med"/>
                <a:tailEnd type="triangle" w="sm" len="sm"/>
              </a:ln>
            </p:spPr>
          </p:sp>
          <p:sp>
            <p:nvSpPr>
              <p:cNvPr id="60468" name="Line 52"/>
              <p:cNvSpPr/>
              <p:nvPr/>
            </p:nvSpPr>
            <p:spPr>
              <a:xfrm>
                <a:off x="4272" y="3024"/>
                <a:ext cx="0" cy="240"/>
              </a:xfrm>
              <a:prstGeom prst="line">
                <a:avLst/>
              </a:prstGeom>
              <a:ln w="38100" cap="flat" cmpd="sng">
                <a:solidFill>
                  <a:srgbClr val="FF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0469" name="Line 53"/>
              <p:cNvSpPr/>
              <p:nvPr/>
            </p:nvSpPr>
            <p:spPr>
              <a:xfrm>
                <a:off x="5280" y="3024"/>
                <a:ext cx="0" cy="240"/>
              </a:xfrm>
              <a:prstGeom prst="line">
                <a:avLst/>
              </a:prstGeom>
              <a:ln w="38100" cap="flat" cmpd="sng">
                <a:solidFill>
                  <a:srgbClr val="FF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0470" name="Line 54"/>
              <p:cNvSpPr/>
              <p:nvPr/>
            </p:nvSpPr>
            <p:spPr>
              <a:xfrm flipH="1">
                <a:off x="5088" y="3264"/>
                <a:ext cx="192" cy="0"/>
              </a:xfrm>
              <a:prstGeom prst="line">
                <a:avLst/>
              </a:prstGeom>
              <a:ln w="38100" cap="flat" cmpd="sng">
                <a:solidFill>
                  <a:srgbClr val="FF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0471" name="Line 55"/>
              <p:cNvSpPr/>
              <p:nvPr/>
            </p:nvSpPr>
            <p:spPr>
              <a:xfrm>
                <a:off x="4272" y="3024"/>
                <a:ext cx="1008" cy="0"/>
              </a:xfrm>
              <a:prstGeom prst="line">
                <a:avLst/>
              </a:prstGeom>
              <a:ln w="38100" cap="flat" cmpd="sng">
                <a:solidFill>
                  <a:srgbClr val="FF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60472" name="Group 56"/>
            <p:cNvGrpSpPr/>
            <p:nvPr/>
          </p:nvGrpSpPr>
          <p:grpSpPr>
            <a:xfrm>
              <a:off x="4272" y="3408"/>
              <a:ext cx="1008" cy="240"/>
              <a:chOff x="4272" y="3408"/>
              <a:chExt cx="1008" cy="240"/>
            </a:xfrm>
          </p:grpSpPr>
          <p:sp>
            <p:nvSpPr>
              <p:cNvPr id="60473" name="Line 57"/>
              <p:cNvSpPr/>
              <p:nvPr/>
            </p:nvSpPr>
            <p:spPr>
              <a:xfrm>
                <a:off x="5088" y="3408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round/>
                <a:headEnd type="triangle" w="sm" len="sm"/>
                <a:tailEnd type="none" w="sm" len="sm"/>
              </a:ln>
            </p:spPr>
          </p:sp>
          <p:sp>
            <p:nvSpPr>
              <p:cNvPr id="60474" name="Line 58"/>
              <p:cNvSpPr/>
              <p:nvPr/>
            </p:nvSpPr>
            <p:spPr>
              <a:xfrm>
                <a:off x="4272" y="3456"/>
                <a:ext cx="0" cy="192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0475" name="Line 59"/>
              <p:cNvSpPr/>
              <p:nvPr/>
            </p:nvSpPr>
            <p:spPr>
              <a:xfrm>
                <a:off x="4272" y="3648"/>
                <a:ext cx="1008" cy="0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0476" name="Line 60"/>
              <p:cNvSpPr/>
              <p:nvPr/>
            </p:nvSpPr>
            <p:spPr>
              <a:xfrm>
                <a:off x="5280" y="3408"/>
                <a:ext cx="0" cy="240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0477" name="Line 61"/>
              <p:cNvSpPr/>
              <p:nvPr/>
            </p:nvSpPr>
            <p:spPr>
              <a:xfrm flipH="1">
                <a:off x="4272" y="3456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60478" name="Text Box 62"/>
            <p:cNvSpPr txBox="1"/>
            <p:nvPr/>
          </p:nvSpPr>
          <p:spPr>
            <a:xfrm>
              <a:off x="3936" y="3216"/>
              <a:ext cx="24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400" b="1" dirty="0">
                  <a:solidFill>
                    <a:srgbClr val="FF3300"/>
                  </a:solidFill>
                  <a:latin typeface="Times New Roman" panose="02020603050405020304" charset="0"/>
                </a:rPr>
                <a:t>L</a:t>
              </a:r>
              <a:endParaRPr lang="en-US" altLang="zh-CN" sz="2400" dirty="0">
                <a:solidFill>
                  <a:srgbClr val="FF3300"/>
                </a:solidFill>
                <a:latin typeface="Times New Roman" panose="02020603050405020304" charset="0"/>
              </a:endParaRPr>
            </a:p>
          </p:txBody>
        </p:sp>
        <p:sp>
          <p:nvSpPr>
            <p:cNvPr id="60479" name="Text Box 63"/>
            <p:cNvSpPr txBox="1"/>
            <p:nvPr/>
          </p:nvSpPr>
          <p:spPr>
            <a:xfrm>
              <a:off x="480" y="3168"/>
              <a:ext cx="265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1" dirty="0">
                  <a:solidFill>
                    <a:srgbClr val="FF33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L</a:t>
              </a:r>
              <a:endParaRPr lang="en-US" altLang="zh-CN" sz="2400" dirty="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525" y="908685"/>
            <a:ext cx="11087735" cy="5144135"/>
          </a:xfrm>
        </p:spPr>
        <p:txBody>
          <a:bodyPr/>
          <a:p>
            <a:pPr algn="l" eaLnBrk="1" hangingPunct="1">
              <a:buClrTx/>
              <a:buSzTx/>
              <a:buChar char="l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双向链表的定义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  <a:p>
            <a:pPr marL="609600" indent="-609600" eaLnBrk="1" hangingPunct="1">
              <a:spcBef>
                <a:spcPct val="3000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//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定义一个双向链表的结点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hangingPunct="1">
              <a:spcBef>
                <a:spcPct val="3000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Typedef struct DuLNode {</a:t>
            </a:r>
            <a:endParaRPr lang="en-US" altLang="zh-CN" sz="24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hangingPunct="1">
              <a:spcBef>
                <a:spcPct val="3000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		ElemType	data;</a:t>
            </a:r>
            <a:endParaRPr lang="en-US" altLang="zh-CN" sz="24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hangingPunct="1">
              <a:spcBef>
                <a:spcPct val="3000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		struct DuLNode	*prior;</a:t>
            </a:r>
            <a:endParaRPr lang="en-US" altLang="zh-CN" sz="24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hangingPunct="1">
              <a:spcBef>
                <a:spcPct val="3000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		struct DuLNode	*next;</a:t>
            </a:r>
            <a:endParaRPr lang="en-US" altLang="zh-CN" sz="24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hangingPunct="1">
              <a:spcBef>
                <a:spcPct val="3000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}DuLNode, *DuLinkList;</a:t>
            </a:r>
            <a:endParaRPr lang="en-US" altLang="zh-CN" sz="24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  <a:sym typeface="+mn-ea"/>
            </a:endParaRPr>
          </a:p>
          <a:p>
            <a:pPr algn="l" eaLnBrk="1" hangingPunct="1">
              <a:spcBef>
                <a:spcPct val="20000"/>
              </a:spcBef>
              <a:buClrTx/>
              <a:buSzTx/>
            </a:pP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对于双向链表的任意结点满足</a:t>
            </a:r>
            <a:endParaRPr lang="zh-CN" altLang="en-US" sz="2800" dirty="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  <a:p>
            <a:pPr marL="457200" lvl="1" indent="0" eaLnBrk="1" hangingPunct="1"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p = p-&gt;next-&gt;prior</a:t>
            </a:r>
            <a:endParaRPr lang="en-US" altLang="zh-CN" sz="280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457200" lvl="1" indent="0" eaLnBrk="1" hangingPunct="1"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p = p-&gt;prior-&gt;next</a:t>
            </a:r>
            <a:endParaRPr lang="zh-CN" altLang="en-US" sz="2800" dirty="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  <a:p>
            <a:pPr marL="0" indent="0" algn="l" eaLnBrk="1" hangingPunct="1">
              <a:spcBef>
                <a:spcPct val="20000"/>
              </a:spcBef>
              <a:buClrTx/>
              <a:buSzTx/>
              <a:buNone/>
            </a:pPr>
            <a:endParaRPr lang="zh-CN" altLang="en-US" sz="2800" dirty="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  <a:p>
            <a:pPr marL="609600" indent="-609600" eaLnBrk="1" hangingPunct="1">
              <a:spcBef>
                <a:spcPct val="3000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endParaRPr lang="en-US" altLang="zh-CN" sz="24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hangingPunct="1">
              <a:buClr>
                <a:schemeClr val="accent1"/>
              </a:buClr>
              <a:buSzTx/>
              <a:buFont typeface="Wingdings" panose="05000000000000000000" pitchFamily="2" charset="2"/>
              <a:buChar char="n"/>
            </a:pPr>
            <a:endParaRPr lang="en-US" altLang="zh-CN" dirty="0">
              <a:latin typeface="宋体" panose="02010600030101010101" pitchFamily="2" charset="-122"/>
            </a:endParaRPr>
          </a:p>
          <a:p>
            <a:pPr marL="0" indent="0" algn="l" eaLnBrk="1" hangingPunct="1">
              <a:buClrTx/>
              <a:buSzTx/>
              <a:buNone/>
            </a:pPr>
            <a:endParaRPr lang="zh-CN" altLang="en-US" sz="2800" dirty="0">
              <a:latin typeface="黑体" panose="02010609060101010101" pitchFamily="2" charset="-122"/>
              <a:ea typeface="黑体" panose="02010609060101010101" pitchFamily="2" charset="-122"/>
              <a:cs typeface="+mn-cs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2.3 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线性表的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链式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表示和实现</a:t>
            </a:r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  <p:grpSp>
        <p:nvGrpSpPr>
          <p:cNvPr id="61444" name="Group 4"/>
          <p:cNvGrpSpPr/>
          <p:nvPr/>
        </p:nvGrpSpPr>
        <p:grpSpPr>
          <a:xfrm>
            <a:off x="7095173" y="2124075"/>
            <a:ext cx="4198938" cy="1389063"/>
            <a:chOff x="1728" y="3168"/>
            <a:chExt cx="2645" cy="875"/>
          </a:xfrm>
        </p:grpSpPr>
        <p:sp>
          <p:nvSpPr>
            <p:cNvPr id="720901" name="Rectangle 5"/>
            <p:cNvSpPr>
              <a:spLocks noChangeArrowheads="1"/>
            </p:cNvSpPr>
            <p:nvPr/>
          </p:nvSpPr>
          <p:spPr bwMode="auto">
            <a:xfrm>
              <a:off x="1824" y="3264"/>
              <a:ext cx="2400" cy="384"/>
            </a:xfrm>
            <a:prstGeom prst="rect">
              <a:avLst/>
            </a:prstGeom>
            <a:solidFill>
              <a:srgbClr val="00FFFF"/>
            </a:solidFill>
            <a:ln w="9525">
              <a:miter lim="800000"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00FFFF"/>
              </a:extrusionClr>
            </a:sp3d>
          </p:spPr>
          <p:txBody>
            <a:bodyPr wrap="none" anchor="ctr">
              <a:flatTx/>
            </a:bodyPr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charset="0"/>
                  <a:ea typeface="仿宋" panose="02010609060101010101" charset="-122"/>
                  <a:cs typeface="+mn-cs"/>
                </a:rPr>
                <a:t>prior          data           next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charset="0"/>
                <a:ea typeface="仿宋" panose="02010609060101010101" charset="-122"/>
                <a:cs typeface="+mn-cs"/>
              </a:endParaRPr>
            </a:p>
          </p:txBody>
        </p:sp>
        <p:grpSp>
          <p:nvGrpSpPr>
            <p:cNvPr id="61446" name="Group 6"/>
            <p:cNvGrpSpPr/>
            <p:nvPr/>
          </p:nvGrpSpPr>
          <p:grpSpPr>
            <a:xfrm>
              <a:off x="2544" y="3168"/>
              <a:ext cx="1104" cy="480"/>
              <a:chOff x="2304" y="2016"/>
              <a:chExt cx="1104" cy="480"/>
            </a:xfrm>
          </p:grpSpPr>
          <p:sp>
            <p:nvSpPr>
              <p:cNvPr id="61447" name="Line 7"/>
              <p:cNvSpPr/>
              <p:nvPr/>
            </p:nvSpPr>
            <p:spPr>
              <a:xfrm>
                <a:off x="2304" y="2112"/>
                <a:ext cx="0" cy="38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1448" name="Line 8"/>
              <p:cNvSpPr/>
              <p:nvPr/>
            </p:nvSpPr>
            <p:spPr>
              <a:xfrm flipV="1">
                <a:off x="2304" y="2016"/>
                <a:ext cx="96" cy="9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1449" name="Line 9"/>
              <p:cNvSpPr/>
              <p:nvPr/>
            </p:nvSpPr>
            <p:spPr>
              <a:xfrm>
                <a:off x="3312" y="2112"/>
                <a:ext cx="0" cy="38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1450" name="Line 10"/>
              <p:cNvSpPr/>
              <p:nvPr/>
            </p:nvSpPr>
            <p:spPr>
              <a:xfrm flipV="1">
                <a:off x="3312" y="2016"/>
                <a:ext cx="96" cy="9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61451" name="Text Box 11"/>
            <p:cNvSpPr txBox="1"/>
            <p:nvPr/>
          </p:nvSpPr>
          <p:spPr>
            <a:xfrm>
              <a:off x="1728" y="3792"/>
              <a:ext cx="264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2000" b="1" dirty="0">
                  <a:solidFill>
                    <a:srgbClr val="000066"/>
                  </a:solidFill>
                  <a:latin typeface="Times New Roman" panose="02020603050405020304" charset="0"/>
                </a:rPr>
                <a:t>指向直接前驱               指向直接</a:t>
              </a:r>
              <a:r>
                <a:rPr lang="zh-CN" altLang="en-US" sz="2000" b="1" dirty="0">
                  <a:solidFill>
                    <a:srgbClr val="000066"/>
                  </a:solidFill>
                  <a:latin typeface="Times New Roman" panose="02020603050405020304" charset="0"/>
                  <a:sym typeface="Wingdings" panose="05000000000000000000" pitchFamily="2" charset="2"/>
                </a:rPr>
                <a:t>后继</a:t>
              </a:r>
              <a:endParaRPr lang="zh-CN" altLang="en-US" sz="2000" b="1" dirty="0">
                <a:solidFill>
                  <a:srgbClr val="000066"/>
                </a:solidFill>
                <a:latin typeface="Times New Roman" panose="02020603050405020304" charset="0"/>
                <a:sym typeface="Wingdings" panose="05000000000000000000" pitchFamily="2" charset="2"/>
              </a:endParaRPr>
            </a:p>
          </p:txBody>
        </p:sp>
        <p:sp>
          <p:nvSpPr>
            <p:cNvPr id="61452" name="Line 12"/>
            <p:cNvSpPr/>
            <p:nvPr/>
          </p:nvSpPr>
          <p:spPr>
            <a:xfrm flipV="1">
              <a:off x="2160" y="3600"/>
              <a:ext cx="0" cy="288"/>
            </a:xfrm>
            <a:prstGeom prst="line">
              <a:avLst/>
            </a:prstGeom>
            <a:ln w="9525" cap="flat" cmpd="sng">
              <a:solidFill>
                <a:srgbClr val="C8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1453" name="Line 13"/>
            <p:cNvSpPr/>
            <p:nvPr/>
          </p:nvSpPr>
          <p:spPr>
            <a:xfrm flipV="1">
              <a:off x="3888" y="3600"/>
              <a:ext cx="0" cy="240"/>
            </a:xfrm>
            <a:prstGeom prst="line">
              <a:avLst/>
            </a:prstGeom>
            <a:ln w="9525" cap="flat" cmpd="sng">
              <a:solidFill>
                <a:srgbClr val="C8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525" y="908685"/>
            <a:ext cx="11087735" cy="5144135"/>
          </a:xfrm>
        </p:spPr>
        <p:txBody>
          <a:bodyPr/>
          <a:p>
            <a:pPr algn="l" eaLnBrk="1" hangingPunct="1">
              <a:buClrTx/>
              <a:buSzTx/>
              <a:buChar char="l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双向链表的查找第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i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个位置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  <a:sym typeface="+mn-ea"/>
            </a:endParaRPr>
          </a:p>
          <a:p>
            <a:pPr marL="609600" indent="-609600" eaLnBrk="1" latinLnBrk="0" hangingPunct="1"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DuLinkList GetElemP_DuL(DuLinkList va, int i) {  </a:t>
            </a:r>
            <a:endParaRPr lang="en-US" altLang="zh-CN" sz="24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latinLnBrk="0" hangingPunct="1"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 DuLinkList p;</a:t>
            </a:r>
            <a:endParaRPr lang="en-US" altLang="zh-CN" sz="24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latinLnBrk="0" hangingPunct="1"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 p = va-&gt;next;   </a:t>
            </a:r>
            <a:endParaRPr lang="en-US" altLang="zh-CN" sz="24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latinLnBrk="0" hangingPunct="1"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 int j = 1;  // 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初始化，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p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指向第一个结点，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j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为计数器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latinLnBrk="0" hangingPunct="1"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 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while (p!=va &amp;&amp; j&lt;i) { //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顺指针向后查找，直到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p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指向第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i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个元素或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p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为空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latinLnBrk="0" hangingPunct="1"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   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p = p-&gt;next;</a:t>
            </a:r>
            <a:endParaRPr lang="en-US" altLang="zh-CN" sz="24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latinLnBrk="0" hangingPunct="1"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   ++j;</a:t>
            </a:r>
            <a:endParaRPr lang="en-US" altLang="zh-CN" sz="24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latinLnBrk="0" hangingPunct="1"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 }</a:t>
            </a:r>
            <a:endParaRPr lang="en-US" altLang="zh-CN" sz="24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latinLnBrk="0" hangingPunct="1"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 if (p==va &amp;&amp; j&lt;i) return NULL;  // 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第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i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个元素不存在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latinLnBrk="0" hangingPunct="1"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 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else return p;</a:t>
            </a:r>
            <a:endParaRPr lang="en-US" altLang="zh-CN" sz="24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latinLnBrk="0" hangingPunct="1"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} // GetElem_L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2.3 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线性表的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链式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表示和实现</a:t>
            </a:r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525" y="908685"/>
            <a:ext cx="11087735" cy="5144135"/>
          </a:xfrm>
        </p:spPr>
        <p:txBody>
          <a:bodyPr/>
          <a:p>
            <a:pPr algn="l" eaLnBrk="1" hangingPunct="1">
              <a:buClrTx/>
              <a:buSzTx/>
              <a:buChar char="l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双向链表的插入需要改变两个方向的指针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hangingPunct="1"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s-&gt;next = p;</a:t>
            </a:r>
            <a:endParaRPr lang="en-US" altLang="zh-CN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609600" indent="-609600" eaLnBrk="1" hangingPunct="1"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s-&gt;prior = p-&gt;prior;</a:t>
            </a:r>
            <a:endParaRPr lang="en-US" altLang="zh-CN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609600" indent="-609600" eaLnBrk="1" hangingPunct="1"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p-&gt;prior-&gt;next = s;</a:t>
            </a:r>
            <a:endParaRPr lang="en-US" altLang="zh-CN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609600" indent="-609600" eaLnBrk="1" hangingPunct="1"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p-&gt;prior = s;</a:t>
            </a:r>
            <a:endParaRPr lang="en-US" altLang="zh-CN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algn="l" eaLnBrk="1" hangingPunct="1">
              <a:buClrTx/>
              <a:buSzTx/>
              <a:buChar char="l"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  <a:sym typeface="+mn-ea"/>
            </a:endParaRPr>
          </a:p>
          <a:p>
            <a:pPr marL="609600" indent="-609600" eaLnBrk="1" latinLnBrk="0" hangingPunct="1"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2.3 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线性表的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链式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表示和实现</a:t>
            </a:r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3879850" y="3140710"/>
            <a:ext cx="6934200" cy="2992120"/>
            <a:chOff x="4838" y="5165"/>
            <a:chExt cx="10920" cy="4712"/>
          </a:xfrm>
        </p:grpSpPr>
        <p:grpSp>
          <p:nvGrpSpPr>
            <p:cNvPr id="63492" name="Group 4"/>
            <p:cNvGrpSpPr/>
            <p:nvPr/>
          </p:nvGrpSpPr>
          <p:grpSpPr>
            <a:xfrm>
              <a:off x="4838" y="5165"/>
              <a:ext cx="9035" cy="2265"/>
              <a:chOff x="336" y="2437"/>
              <a:chExt cx="3614" cy="906"/>
            </a:xfrm>
          </p:grpSpPr>
          <p:sp>
            <p:nvSpPr>
              <p:cNvPr id="63493" name="Text Box 5"/>
              <p:cNvSpPr txBox="1"/>
              <p:nvPr/>
            </p:nvSpPr>
            <p:spPr>
              <a:xfrm>
                <a:off x="336" y="2495"/>
                <a:ext cx="265" cy="32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/>
                <a:r>
                  <a:rPr lang="en-US" altLang="zh-CN" sz="2800" b="1" dirty="0">
                    <a:solidFill>
                      <a:srgbClr val="FF330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L</a:t>
                </a:r>
                <a:endParaRPr lang="en-US" altLang="zh-CN" sz="2800" b="1" dirty="0">
                  <a:solidFill>
                    <a:srgbClr val="FF3300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63494" name="Group 6"/>
              <p:cNvGrpSpPr/>
              <p:nvPr/>
            </p:nvGrpSpPr>
            <p:grpSpPr>
              <a:xfrm>
                <a:off x="864" y="2528"/>
                <a:ext cx="528" cy="410"/>
                <a:chOff x="1474" y="2491"/>
                <a:chExt cx="528" cy="410"/>
              </a:xfrm>
            </p:grpSpPr>
            <p:sp>
              <p:nvSpPr>
                <p:cNvPr id="63495" name="Rectangle 7"/>
                <p:cNvSpPr/>
                <p:nvPr/>
              </p:nvSpPr>
              <p:spPr>
                <a:xfrm>
                  <a:off x="1474" y="2582"/>
                  <a:ext cx="528" cy="319"/>
                </a:xfrm>
                <a:prstGeom prst="rect">
                  <a:avLst/>
                </a:prstGeom>
                <a:solidFill>
                  <a:srgbClr val="FFFF99"/>
                </a:solidFill>
                <a:ln w="9525"/>
                <a:scene3d>
                  <a:camera prst="legacyObliqueTopRight">
                    <a:rot lat="0" lon="0" rev="0"/>
                  </a:camera>
                  <a:lightRig rig="legacyFlat3" dir="b"/>
                </a:scene3d>
                <a:sp3d extrusionH="430200" prstMaterial="legacyMatte">
                  <a:bevelT w="13500" h="13500" prst="angle"/>
                  <a:bevelB w="13500" h="13500" prst="angle"/>
                  <a:extrusionClr>
                    <a:srgbClr val="FFFF99"/>
                  </a:extrusionClr>
                </a:sp3d>
              </p:spPr>
              <p:txBody>
                <a:bodyPr wrap="none" anchor="ctr" anchorCtr="0">
                  <a:flatTx/>
                </a:bodyPr>
                <a:p>
                  <a:endParaRPr lang="zh-CN" altLang="en-US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3496" name="Line 8"/>
                <p:cNvSpPr/>
                <p:nvPr/>
              </p:nvSpPr>
              <p:spPr>
                <a:xfrm>
                  <a:off x="1618" y="2582"/>
                  <a:ext cx="0" cy="273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3497" name="Line 9"/>
                <p:cNvSpPr/>
                <p:nvPr/>
              </p:nvSpPr>
              <p:spPr>
                <a:xfrm>
                  <a:off x="1858" y="2582"/>
                  <a:ext cx="0" cy="319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3498" name="Line 10"/>
                <p:cNvSpPr/>
                <p:nvPr/>
              </p:nvSpPr>
              <p:spPr>
                <a:xfrm flipV="1">
                  <a:off x="1618" y="2491"/>
                  <a:ext cx="96" cy="91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3499" name="Line 11"/>
                <p:cNvSpPr/>
                <p:nvPr/>
              </p:nvSpPr>
              <p:spPr>
                <a:xfrm flipV="1">
                  <a:off x="1858" y="2491"/>
                  <a:ext cx="96" cy="91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3500" name="Line 12"/>
                <p:cNvSpPr/>
                <p:nvPr/>
              </p:nvSpPr>
              <p:spPr>
                <a:xfrm>
                  <a:off x="1618" y="2582"/>
                  <a:ext cx="0" cy="319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63501" name="Line 13"/>
              <p:cNvSpPr/>
              <p:nvPr/>
            </p:nvSpPr>
            <p:spPr>
              <a:xfrm flipV="1">
                <a:off x="576" y="2756"/>
                <a:ext cx="28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sm" len="med"/>
              </a:ln>
            </p:spPr>
          </p:sp>
          <p:grpSp>
            <p:nvGrpSpPr>
              <p:cNvPr id="63502" name="Group 14"/>
              <p:cNvGrpSpPr/>
              <p:nvPr/>
            </p:nvGrpSpPr>
            <p:grpSpPr>
              <a:xfrm>
                <a:off x="720" y="2801"/>
                <a:ext cx="3216" cy="228"/>
                <a:chOff x="1330" y="2764"/>
                <a:chExt cx="3216" cy="228"/>
              </a:xfrm>
            </p:grpSpPr>
            <p:sp>
              <p:nvSpPr>
                <p:cNvPr id="63503" name="Line 15"/>
                <p:cNvSpPr/>
                <p:nvPr/>
              </p:nvSpPr>
              <p:spPr>
                <a:xfrm>
                  <a:off x="2050" y="2764"/>
                  <a:ext cx="192" cy="0"/>
                </a:xfrm>
                <a:prstGeom prst="line">
                  <a:avLst/>
                </a:prstGeom>
                <a:ln w="38100" cap="flat" cmpd="sng">
                  <a:solidFill>
                    <a:srgbClr val="0000FF"/>
                  </a:solidFill>
                  <a:prstDash val="solid"/>
                  <a:round/>
                  <a:headEnd type="triangle" w="sm" len="med"/>
                  <a:tailEnd type="none" w="sm" len="med"/>
                </a:ln>
              </p:spPr>
            </p:sp>
            <p:sp>
              <p:nvSpPr>
                <p:cNvPr id="63504" name="Line 16"/>
                <p:cNvSpPr/>
                <p:nvPr/>
              </p:nvSpPr>
              <p:spPr>
                <a:xfrm>
                  <a:off x="2818" y="2764"/>
                  <a:ext cx="192" cy="0"/>
                </a:xfrm>
                <a:prstGeom prst="line">
                  <a:avLst/>
                </a:prstGeom>
                <a:ln w="38100" cap="flat" cmpd="sng">
                  <a:solidFill>
                    <a:srgbClr val="0000FF"/>
                  </a:solidFill>
                  <a:prstDash val="solid"/>
                  <a:round/>
                  <a:headEnd type="triangle" w="sm" len="med"/>
                  <a:tailEnd type="none" w="sm" len="med"/>
                </a:ln>
              </p:spPr>
            </p:sp>
            <p:sp>
              <p:nvSpPr>
                <p:cNvPr id="63505" name="Line 17"/>
                <p:cNvSpPr/>
                <p:nvPr/>
              </p:nvSpPr>
              <p:spPr>
                <a:xfrm>
                  <a:off x="3586" y="2764"/>
                  <a:ext cx="192" cy="0"/>
                </a:xfrm>
                <a:prstGeom prst="line">
                  <a:avLst/>
                </a:prstGeom>
                <a:ln w="38100" cap="flat" cmpd="sng">
                  <a:solidFill>
                    <a:srgbClr val="0000FF"/>
                  </a:solidFill>
                  <a:prstDash val="solid"/>
                  <a:round/>
                  <a:headEnd type="triangle" w="sm" len="med"/>
                  <a:tailEnd type="none" w="sm" len="med"/>
                </a:ln>
              </p:spPr>
            </p:sp>
            <p:sp>
              <p:nvSpPr>
                <p:cNvPr id="63506" name="Line 18"/>
                <p:cNvSpPr/>
                <p:nvPr/>
              </p:nvSpPr>
              <p:spPr>
                <a:xfrm>
                  <a:off x="4354" y="2764"/>
                  <a:ext cx="192" cy="0"/>
                </a:xfrm>
                <a:prstGeom prst="line">
                  <a:avLst/>
                </a:prstGeom>
                <a:ln w="38100" cap="flat" cmpd="sng">
                  <a:solidFill>
                    <a:srgbClr val="0000FF"/>
                  </a:solidFill>
                  <a:prstDash val="solid"/>
                  <a:round/>
                  <a:headEnd type="triangle" w="sm" len="med"/>
                  <a:tailEnd type="none" w="sm" len="med"/>
                </a:ln>
              </p:spPr>
            </p:sp>
            <p:sp>
              <p:nvSpPr>
                <p:cNvPr id="63507" name="Line 19"/>
                <p:cNvSpPr/>
                <p:nvPr/>
              </p:nvSpPr>
              <p:spPr>
                <a:xfrm>
                  <a:off x="4546" y="2764"/>
                  <a:ext cx="0" cy="228"/>
                </a:xfrm>
                <a:prstGeom prst="line">
                  <a:avLst/>
                </a:prstGeom>
                <a:ln w="381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3508" name="Line 20"/>
                <p:cNvSpPr/>
                <p:nvPr/>
              </p:nvSpPr>
              <p:spPr>
                <a:xfrm>
                  <a:off x="1330" y="2810"/>
                  <a:ext cx="144" cy="0"/>
                </a:xfrm>
                <a:prstGeom prst="line">
                  <a:avLst/>
                </a:prstGeom>
                <a:ln w="381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3509" name="Line 21"/>
                <p:cNvSpPr/>
                <p:nvPr/>
              </p:nvSpPr>
              <p:spPr>
                <a:xfrm flipH="1">
                  <a:off x="1330" y="2992"/>
                  <a:ext cx="3216" cy="0"/>
                </a:xfrm>
                <a:prstGeom prst="line">
                  <a:avLst/>
                </a:prstGeom>
                <a:ln w="381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3510" name="Line 22"/>
                <p:cNvSpPr/>
                <p:nvPr/>
              </p:nvSpPr>
              <p:spPr>
                <a:xfrm>
                  <a:off x="1330" y="2810"/>
                  <a:ext cx="0" cy="182"/>
                </a:xfrm>
                <a:prstGeom prst="line">
                  <a:avLst/>
                </a:prstGeom>
                <a:ln w="381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63511" name="Group 23"/>
              <p:cNvGrpSpPr/>
              <p:nvPr/>
            </p:nvGrpSpPr>
            <p:grpSpPr>
              <a:xfrm>
                <a:off x="734" y="2437"/>
                <a:ext cx="3216" cy="228"/>
                <a:chOff x="1330" y="2400"/>
                <a:chExt cx="3216" cy="228"/>
              </a:xfrm>
            </p:grpSpPr>
            <p:sp>
              <p:nvSpPr>
                <p:cNvPr id="63512" name="Line 24"/>
                <p:cNvSpPr/>
                <p:nvPr/>
              </p:nvSpPr>
              <p:spPr>
                <a:xfrm>
                  <a:off x="2050" y="2628"/>
                  <a:ext cx="192" cy="0"/>
                </a:xfrm>
                <a:prstGeom prst="line">
                  <a:avLst/>
                </a:prstGeom>
                <a:ln w="38100" cap="flat" cmpd="sng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triangle" w="sm" len="med"/>
                </a:ln>
              </p:spPr>
            </p:sp>
            <p:sp>
              <p:nvSpPr>
                <p:cNvPr id="63513" name="Line 25"/>
                <p:cNvSpPr/>
                <p:nvPr/>
              </p:nvSpPr>
              <p:spPr>
                <a:xfrm>
                  <a:off x="2818" y="2628"/>
                  <a:ext cx="192" cy="0"/>
                </a:xfrm>
                <a:prstGeom prst="line">
                  <a:avLst/>
                </a:prstGeom>
                <a:ln w="38100" cap="flat" cmpd="sng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triangle" w="sm" len="med"/>
                </a:ln>
              </p:spPr>
            </p:sp>
            <p:sp>
              <p:nvSpPr>
                <p:cNvPr id="63514" name="Line 26"/>
                <p:cNvSpPr/>
                <p:nvPr/>
              </p:nvSpPr>
              <p:spPr>
                <a:xfrm>
                  <a:off x="3586" y="2628"/>
                  <a:ext cx="192" cy="0"/>
                </a:xfrm>
                <a:prstGeom prst="line">
                  <a:avLst/>
                </a:prstGeom>
                <a:ln w="38100" cap="flat" cmpd="sng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triangle" w="sm" len="med"/>
                </a:ln>
              </p:spPr>
            </p:sp>
            <p:sp>
              <p:nvSpPr>
                <p:cNvPr id="63515" name="Line 27"/>
                <p:cNvSpPr/>
                <p:nvPr/>
              </p:nvSpPr>
              <p:spPr>
                <a:xfrm>
                  <a:off x="1330" y="2628"/>
                  <a:ext cx="144" cy="0"/>
                </a:xfrm>
                <a:prstGeom prst="line">
                  <a:avLst/>
                </a:prstGeom>
                <a:ln w="38100" cap="flat" cmpd="sng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triangle" w="sm" len="med"/>
                </a:ln>
              </p:spPr>
            </p:sp>
            <p:sp>
              <p:nvSpPr>
                <p:cNvPr id="63516" name="Line 28"/>
                <p:cNvSpPr/>
                <p:nvPr/>
              </p:nvSpPr>
              <p:spPr>
                <a:xfrm flipH="1">
                  <a:off x="1330" y="2400"/>
                  <a:ext cx="3216" cy="0"/>
                </a:xfrm>
                <a:prstGeom prst="line">
                  <a:avLst/>
                </a:prstGeom>
                <a:ln w="38100" cap="flat" cmpd="sng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3517" name="Line 29"/>
                <p:cNvSpPr/>
                <p:nvPr/>
              </p:nvSpPr>
              <p:spPr>
                <a:xfrm>
                  <a:off x="1330" y="2400"/>
                  <a:ext cx="0" cy="228"/>
                </a:xfrm>
                <a:prstGeom prst="line">
                  <a:avLst/>
                </a:prstGeom>
                <a:ln w="38100" cap="flat" cmpd="sng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3518" name="Line 30"/>
                <p:cNvSpPr/>
                <p:nvPr/>
              </p:nvSpPr>
              <p:spPr>
                <a:xfrm>
                  <a:off x="4546" y="2400"/>
                  <a:ext cx="0" cy="228"/>
                </a:xfrm>
                <a:prstGeom prst="line">
                  <a:avLst/>
                </a:prstGeom>
                <a:ln w="38100" cap="flat" cmpd="sng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3519" name="Line 31"/>
                <p:cNvSpPr/>
                <p:nvPr/>
              </p:nvSpPr>
              <p:spPr>
                <a:xfrm>
                  <a:off x="4354" y="2628"/>
                  <a:ext cx="192" cy="0"/>
                </a:xfrm>
                <a:prstGeom prst="line">
                  <a:avLst/>
                </a:prstGeom>
                <a:ln w="38100" cap="flat" cmpd="sng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none" w="sm" len="med"/>
                </a:ln>
              </p:spPr>
            </p:sp>
          </p:grpSp>
          <p:sp>
            <p:nvSpPr>
              <p:cNvPr id="63520" name="Line 32"/>
              <p:cNvSpPr/>
              <p:nvPr/>
            </p:nvSpPr>
            <p:spPr>
              <a:xfrm flipV="1">
                <a:off x="2640" y="2938"/>
                <a:ext cx="0" cy="273"/>
              </a:xfrm>
              <a:prstGeom prst="line">
                <a:avLst/>
              </a:prstGeom>
              <a:ln w="38100" cap="flat" cmpd="sng">
                <a:solidFill>
                  <a:srgbClr val="009900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grpSp>
            <p:nvGrpSpPr>
              <p:cNvPr id="63521" name="Group 33"/>
              <p:cNvGrpSpPr/>
              <p:nvPr/>
            </p:nvGrpSpPr>
            <p:grpSpPr>
              <a:xfrm>
                <a:off x="1632" y="2528"/>
                <a:ext cx="528" cy="411"/>
                <a:chOff x="2242" y="2491"/>
                <a:chExt cx="528" cy="411"/>
              </a:xfrm>
            </p:grpSpPr>
            <p:sp>
              <p:nvSpPr>
                <p:cNvPr id="63522" name="Rectangle 34" descr="白色大理石"/>
                <p:cNvSpPr/>
                <p:nvPr/>
              </p:nvSpPr>
              <p:spPr>
                <a:xfrm>
                  <a:off x="2242" y="2582"/>
                  <a:ext cx="528" cy="319"/>
                </a:xfrm>
                <a:prstGeom prst="rect">
                  <a:avLst/>
                </a:prstGeom>
                <a:blipFill rotWithShape="0">
                  <a:blip r:embed="rId1"/>
                </a:blipFill>
                <a:ln w="9525"/>
                <a:scene3d>
                  <a:camera prst="legacyObliqueTopRight">
                    <a:rot lat="0" lon="0" rev="0"/>
                  </a:camera>
                  <a:lightRig rig="legacyFlat3" dir="b"/>
                </a:scene3d>
                <a:sp3d extrusionH="430200" prstMaterial="legacyMatte">
                  <a:bevelT w="13500" h="13500" prst="angle"/>
                  <a:bevelB w="13500" h="13500" prst="angle"/>
                  <a:extrusionClr>
                    <a:srgbClr val="FFFFFF"/>
                  </a:extrusionClr>
                </a:sp3d>
              </p:spPr>
              <p:txBody>
                <a:bodyPr wrap="none" anchor="ctr" anchorCtr="0">
                  <a:flatTx/>
                </a:bodyPr>
                <a:p>
                  <a:endParaRPr lang="zh-CN" altLang="en-US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3523" name="Line 35"/>
                <p:cNvSpPr/>
                <p:nvPr/>
              </p:nvSpPr>
              <p:spPr>
                <a:xfrm>
                  <a:off x="2626" y="2582"/>
                  <a:ext cx="0" cy="319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3524" name="Line 36"/>
                <p:cNvSpPr/>
                <p:nvPr/>
              </p:nvSpPr>
              <p:spPr>
                <a:xfrm flipV="1">
                  <a:off x="2386" y="2491"/>
                  <a:ext cx="96" cy="91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3525" name="Line 37"/>
                <p:cNvSpPr/>
                <p:nvPr/>
              </p:nvSpPr>
              <p:spPr>
                <a:xfrm flipV="1">
                  <a:off x="2626" y="2491"/>
                  <a:ext cx="96" cy="91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3526" name="Line 38"/>
                <p:cNvSpPr/>
                <p:nvPr/>
              </p:nvSpPr>
              <p:spPr>
                <a:xfrm>
                  <a:off x="2386" y="2582"/>
                  <a:ext cx="0" cy="319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3527" name="Text Box 39"/>
                <p:cNvSpPr txBox="1"/>
                <p:nvPr/>
              </p:nvSpPr>
              <p:spPr>
                <a:xfrm>
                  <a:off x="2354" y="2573"/>
                  <a:ext cx="319" cy="329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/>
                  <a:r>
                    <a:rPr lang="en-US" altLang="zh-CN" sz="2800" b="1" dirty="0">
                      <a:solidFill>
                        <a:srgbClr val="FF3300"/>
                      </a:solidFill>
                      <a:latin typeface="Arial Narrow" panose="020B0606020202030204" pitchFamily="34" charset="0"/>
                      <a:ea typeface="宋体" panose="02010600030101010101" pitchFamily="2" charset="-122"/>
                    </a:rPr>
                    <a:t>31</a:t>
                  </a:r>
                  <a:endParaRPr lang="en-US" altLang="zh-CN" sz="2800" dirty="0">
                    <a:solidFill>
                      <a:srgbClr val="FF3300"/>
                    </a:solidFill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63528" name="Group 40"/>
              <p:cNvGrpSpPr/>
              <p:nvPr/>
            </p:nvGrpSpPr>
            <p:grpSpPr>
              <a:xfrm>
                <a:off x="2400" y="2528"/>
                <a:ext cx="528" cy="411"/>
                <a:chOff x="3010" y="2491"/>
                <a:chExt cx="528" cy="411"/>
              </a:xfrm>
            </p:grpSpPr>
            <p:sp>
              <p:nvSpPr>
                <p:cNvPr id="63529" name="Rectangle 41" descr="白色大理石"/>
                <p:cNvSpPr/>
                <p:nvPr/>
              </p:nvSpPr>
              <p:spPr>
                <a:xfrm>
                  <a:off x="3010" y="2582"/>
                  <a:ext cx="528" cy="319"/>
                </a:xfrm>
                <a:prstGeom prst="rect">
                  <a:avLst/>
                </a:prstGeom>
                <a:blipFill rotWithShape="0">
                  <a:blip r:embed="rId1"/>
                </a:blipFill>
                <a:ln w="9525"/>
                <a:scene3d>
                  <a:camera prst="legacyObliqueTopRight">
                    <a:rot lat="0" lon="0" rev="0"/>
                  </a:camera>
                  <a:lightRig rig="legacyFlat3" dir="b"/>
                </a:scene3d>
                <a:sp3d extrusionH="430200" prstMaterial="legacyMatte">
                  <a:bevelT w="13500" h="13500" prst="angle"/>
                  <a:bevelB w="13500" h="13500" prst="angle"/>
                  <a:extrusionClr>
                    <a:srgbClr val="FFFFFF"/>
                  </a:extrusionClr>
                </a:sp3d>
              </p:spPr>
              <p:txBody>
                <a:bodyPr wrap="none" anchor="ctr" anchorCtr="0">
                  <a:flatTx/>
                </a:bodyPr>
                <a:p>
                  <a:endParaRPr lang="zh-CN" altLang="en-US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3530" name="Line 42"/>
                <p:cNvSpPr/>
                <p:nvPr/>
              </p:nvSpPr>
              <p:spPr>
                <a:xfrm>
                  <a:off x="3394" y="2582"/>
                  <a:ext cx="0" cy="319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3531" name="Line 43"/>
                <p:cNvSpPr/>
                <p:nvPr/>
              </p:nvSpPr>
              <p:spPr>
                <a:xfrm flipV="1">
                  <a:off x="3154" y="2491"/>
                  <a:ext cx="96" cy="91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3532" name="Line 44"/>
                <p:cNvSpPr/>
                <p:nvPr/>
              </p:nvSpPr>
              <p:spPr>
                <a:xfrm flipV="1">
                  <a:off x="3394" y="2491"/>
                  <a:ext cx="96" cy="91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3533" name="Line 45"/>
                <p:cNvSpPr/>
                <p:nvPr/>
              </p:nvSpPr>
              <p:spPr>
                <a:xfrm>
                  <a:off x="3154" y="2582"/>
                  <a:ext cx="0" cy="319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3534" name="Text Box 46"/>
                <p:cNvSpPr txBox="1"/>
                <p:nvPr/>
              </p:nvSpPr>
              <p:spPr>
                <a:xfrm>
                  <a:off x="3122" y="2573"/>
                  <a:ext cx="319" cy="329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/>
                  <a:r>
                    <a:rPr lang="en-US" altLang="zh-CN" sz="2800" b="1" dirty="0">
                      <a:solidFill>
                        <a:srgbClr val="FF3300"/>
                      </a:solidFill>
                      <a:latin typeface="Arial Narrow" panose="020B0606020202030204" pitchFamily="34" charset="0"/>
                      <a:ea typeface="宋体" panose="02010600030101010101" pitchFamily="2" charset="-122"/>
                    </a:rPr>
                    <a:t>48</a:t>
                  </a:r>
                  <a:endParaRPr lang="en-US" altLang="zh-CN" sz="2800" dirty="0">
                    <a:solidFill>
                      <a:srgbClr val="FF3300"/>
                    </a:solidFill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63535" name="Group 47"/>
              <p:cNvGrpSpPr/>
              <p:nvPr/>
            </p:nvGrpSpPr>
            <p:grpSpPr>
              <a:xfrm>
                <a:off x="3168" y="2528"/>
                <a:ext cx="528" cy="411"/>
                <a:chOff x="3778" y="2491"/>
                <a:chExt cx="528" cy="411"/>
              </a:xfrm>
            </p:grpSpPr>
            <p:sp>
              <p:nvSpPr>
                <p:cNvPr id="63536" name="Rectangle 48" descr="白色大理石"/>
                <p:cNvSpPr/>
                <p:nvPr/>
              </p:nvSpPr>
              <p:spPr>
                <a:xfrm>
                  <a:off x="3778" y="2582"/>
                  <a:ext cx="528" cy="319"/>
                </a:xfrm>
                <a:prstGeom prst="rect">
                  <a:avLst/>
                </a:prstGeom>
                <a:blipFill rotWithShape="0">
                  <a:blip r:embed="rId1"/>
                </a:blipFill>
                <a:ln w="9525"/>
                <a:scene3d>
                  <a:camera prst="legacyObliqueTopRight">
                    <a:rot lat="0" lon="0" rev="0"/>
                  </a:camera>
                  <a:lightRig rig="legacyFlat3" dir="b"/>
                </a:scene3d>
                <a:sp3d extrusionH="430200" prstMaterial="legacyMatte">
                  <a:bevelT w="13500" h="13500" prst="angle"/>
                  <a:bevelB w="13500" h="13500" prst="angle"/>
                  <a:extrusionClr>
                    <a:srgbClr val="FFFFFF"/>
                  </a:extrusionClr>
                </a:sp3d>
              </p:spPr>
              <p:txBody>
                <a:bodyPr wrap="none" anchor="ctr" anchorCtr="0">
                  <a:flatTx/>
                </a:bodyPr>
                <a:p>
                  <a:endParaRPr lang="zh-CN" altLang="en-US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3537" name="Line 49"/>
                <p:cNvSpPr/>
                <p:nvPr/>
              </p:nvSpPr>
              <p:spPr>
                <a:xfrm>
                  <a:off x="4162" y="2582"/>
                  <a:ext cx="0" cy="319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3538" name="Line 50"/>
                <p:cNvSpPr/>
                <p:nvPr/>
              </p:nvSpPr>
              <p:spPr>
                <a:xfrm flipV="1">
                  <a:off x="3922" y="2491"/>
                  <a:ext cx="96" cy="91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3539" name="Line 51"/>
                <p:cNvSpPr/>
                <p:nvPr/>
              </p:nvSpPr>
              <p:spPr>
                <a:xfrm flipV="1">
                  <a:off x="4162" y="2491"/>
                  <a:ext cx="96" cy="91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3540" name="Line 52"/>
                <p:cNvSpPr/>
                <p:nvPr/>
              </p:nvSpPr>
              <p:spPr>
                <a:xfrm>
                  <a:off x="3922" y="2582"/>
                  <a:ext cx="0" cy="319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3541" name="Text Box 53"/>
                <p:cNvSpPr txBox="1"/>
                <p:nvPr/>
              </p:nvSpPr>
              <p:spPr>
                <a:xfrm>
                  <a:off x="3890" y="2573"/>
                  <a:ext cx="319" cy="329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/>
                  <a:r>
                    <a:rPr lang="en-US" altLang="zh-CN" sz="2800" b="1" dirty="0">
                      <a:solidFill>
                        <a:srgbClr val="FF3300"/>
                      </a:solidFill>
                      <a:latin typeface="Arial Narrow" panose="020B0606020202030204" pitchFamily="34" charset="0"/>
                      <a:ea typeface="宋体" panose="02010600030101010101" pitchFamily="2" charset="-122"/>
                    </a:rPr>
                    <a:t>15</a:t>
                  </a:r>
                  <a:endParaRPr lang="en-US" altLang="zh-CN" sz="2800" dirty="0">
                    <a:solidFill>
                      <a:srgbClr val="FF3300"/>
                    </a:solidFill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63542" name="Text Box 54"/>
              <p:cNvSpPr txBox="1"/>
              <p:nvPr/>
            </p:nvSpPr>
            <p:spPr>
              <a:xfrm>
                <a:off x="2640" y="2975"/>
                <a:ext cx="258" cy="36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/>
                <a:r>
                  <a:rPr lang="en-US" altLang="zh-CN" sz="3200" b="1" dirty="0">
                    <a:solidFill>
                      <a:srgbClr val="FF330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p</a:t>
                </a:r>
                <a:endParaRPr lang="en-US" altLang="zh-CN" sz="3200" b="1" dirty="0">
                  <a:solidFill>
                    <a:srgbClr val="FF3300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63543" name="Group 55"/>
            <p:cNvGrpSpPr/>
            <p:nvPr/>
          </p:nvGrpSpPr>
          <p:grpSpPr>
            <a:xfrm>
              <a:off x="4838" y="7555"/>
              <a:ext cx="10920" cy="2323"/>
              <a:chOff x="96" y="3393"/>
              <a:chExt cx="4368" cy="929"/>
            </a:xfrm>
          </p:grpSpPr>
          <p:sp>
            <p:nvSpPr>
              <p:cNvPr id="63544" name="Text Box 56"/>
              <p:cNvSpPr txBox="1"/>
              <p:nvPr/>
            </p:nvSpPr>
            <p:spPr>
              <a:xfrm>
                <a:off x="96" y="3503"/>
                <a:ext cx="265" cy="32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/>
                <a:r>
                  <a:rPr lang="en-US" altLang="zh-CN" sz="2800" b="1" dirty="0">
                    <a:solidFill>
                      <a:srgbClr val="FF330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L</a:t>
                </a:r>
                <a:endParaRPr lang="en-US" altLang="zh-CN" sz="2800" b="1" dirty="0">
                  <a:solidFill>
                    <a:srgbClr val="FF3300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63545" name="Group 57"/>
              <p:cNvGrpSpPr/>
              <p:nvPr/>
            </p:nvGrpSpPr>
            <p:grpSpPr>
              <a:xfrm>
                <a:off x="624" y="3484"/>
                <a:ext cx="528" cy="423"/>
                <a:chOff x="1474" y="3447"/>
                <a:chExt cx="528" cy="423"/>
              </a:xfrm>
            </p:grpSpPr>
            <p:sp>
              <p:nvSpPr>
                <p:cNvPr id="63546" name="Rectangle 58"/>
                <p:cNvSpPr/>
                <p:nvPr/>
              </p:nvSpPr>
              <p:spPr>
                <a:xfrm>
                  <a:off x="1474" y="3552"/>
                  <a:ext cx="528" cy="318"/>
                </a:xfrm>
                <a:prstGeom prst="rect">
                  <a:avLst/>
                </a:prstGeom>
                <a:solidFill>
                  <a:srgbClr val="FFFF99"/>
                </a:solidFill>
                <a:ln w="9525"/>
                <a:scene3d>
                  <a:camera prst="legacyObliqueTopRight">
                    <a:rot lat="0" lon="0" rev="0"/>
                  </a:camera>
                  <a:lightRig rig="legacyFlat3" dir="b"/>
                </a:scene3d>
                <a:sp3d extrusionH="430200" prstMaterial="legacyMatte">
                  <a:bevelT w="13500" h="13500" prst="angle"/>
                  <a:bevelB w="13500" h="13500" prst="angle"/>
                  <a:extrusionClr>
                    <a:srgbClr val="FFFF99"/>
                  </a:extrusionClr>
                </a:sp3d>
              </p:spPr>
              <p:txBody>
                <a:bodyPr wrap="none" anchor="ctr" anchorCtr="0">
                  <a:flatTx/>
                </a:bodyPr>
                <a:p>
                  <a:endParaRPr lang="zh-CN" altLang="en-US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3547" name="Line 59"/>
                <p:cNvSpPr/>
                <p:nvPr/>
              </p:nvSpPr>
              <p:spPr>
                <a:xfrm>
                  <a:off x="1858" y="3538"/>
                  <a:ext cx="0" cy="318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3548" name="Line 60"/>
                <p:cNvSpPr/>
                <p:nvPr/>
              </p:nvSpPr>
              <p:spPr>
                <a:xfrm flipV="1">
                  <a:off x="1618" y="3447"/>
                  <a:ext cx="96" cy="91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3549" name="Line 61"/>
                <p:cNvSpPr/>
                <p:nvPr/>
              </p:nvSpPr>
              <p:spPr>
                <a:xfrm flipV="1">
                  <a:off x="1858" y="3447"/>
                  <a:ext cx="96" cy="91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3550" name="Line 62"/>
                <p:cNvSpPr/>
                <p:nvPr/>
              </p:nvSpPr>
              <p:spPr>
                <a:xfrm>
                  <a:off x="1618" y="3538"/>
                  <a:ext cx="0" cy="318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63551" name="Line 63"/>
              <p:cNvSpPr/>
              <p:nvPr/>
            </p:nvSpPr>
            <p:spPr>
              <a:xfrm flipV="1">
                <a:off x="336" y="3711"/>
                <a:ext cx="28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sm" len="med"/>
              </a:ln>
            </p:spPr>
          </p:sp>
          <p:sp>
            <p:nvSpPr>
              <p:cNvPr id="63552" name="Line 64"/>
              <p:cNvSpPr/>
              <p:nvPr/>
            </p:nvSpPr>
            <p:spPr>
              <a:xfrm flipV="1">
                <a:off x="2400" y="3893"/>
                <a:ext cx="0" cy="274"/>
              </a:xfrm>
              <a:prstGeom prst="line">
                <a:avLst/>
              </a:prstGeom>
              <a:ln w="38100" cap="flat" cmpd="sng">
                <a:solidFill>
                  <a:srgbClr val="009900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grpSp>
            <p:nvGrpSpPr>
              <p:cNvPr id="63553" name="Group 65"/>
              <p:cNvGrpSpPr/>
              <p:nvPr/>
            </p:nvGrpSpPr>
            <p:grpSpPr>
              <a:xfrm>
                <a:off x="1392" y="3484"/>
                <a:ext cx="528" cy="420"/>
                <a:chOff x="2242" y="3447"/>
                <a:chExt cx="528" cy="420"/>
              </a:xfrm>
            </p:grpSpPr>
            <p:sp>
              <p:nvSpPr>
                <p:cNvPr id="63554" name="Rectangle 66" descr="白色大理石"/>
                <p:cNvSpPr/>
                <p:nvPr/>
              </p:nvSpPr>
              <p:spPr>
                <a:xfrm>
                  <a:off x="2242" y="3538"/>
                  <a:ext cx="528" cy="318"/>
                </a:xfrm>
                <a:prstGeom prst="rect">
                  <a:avLst/>
                </a:prstGeom>
                <a:blipFill rotWithShape="0">
                  <a:blip r:embed="rId1"/>
                </a:blipFill>
                <a:ln w="9525"/>
                <a:scene3d>
                  <a:camera prst="legacyObliqueTopRight">
                    <a:rot lat="0" lon="0" rev="0"/>
                  </a:camera>
                  <a:lightRig rig="legacyFlat3" dir="b"/>
                </a:scene3d>
                <a:sp3d extrusionH="430200" prstMaterial="legacyMatte">
                  <a:bevelT w="13500" h="13500" prst="angle"/>
                  <a:bevelB w="13500" h="13500" prst="angle"/>
                  <a:extrusionClr>
                    <a:srgbClr val="FFFFFF"/>
                  </a:extrusionClr>
                </a:sp3d>
              </p:spPr>
              <p:txBody>
                <a:bodyPr wrap="none" anchor="ctr" anchorCtr="0">
                  <a:flatTx/>
                </a:bodyPr>
                <a:p>
                  <a:endParaRPr lang="zh-CN" altLang="en-US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3555" name="Line 67"/>
                <p:cNvSpPr/>
                <p:nvPr/>
              </p:nvSpPr>
              <p:spPr>
                <a:xfrm>
                  <a:off x="2626" y="3538"/>
                  <a:ext cx="0" cy="318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3556" name="Line 68"/>
                <p:cNvSpPr/>
                <p:nvPr/>
              </p:nvSpPr>
              <p:spPr>
                <a:xfrm flipV="1">
                  <a:off x="2386" y="3447"/>
                  <a:ext cx="96" cy="91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3557" name="Line 69"/>
                <p:cNvSpPr/>
                <p:nvPr/>
              </p:nvSpPr>
              <p:spPr>
                <a:xfrm flipV="1">
                  <a:off x="2626" y="3447"/>
                  <a:ext cx="96" cy="91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3558" name="Line 70"/>
                <p:cNvSpPr/>
                <p:nvPr/>
              </p:nvSpPr>
              <p:spPr>
                <a:xfrm>
                  <a:off x="2386" y="3538"/>
                  <a:ext cx="0" cy="318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3559" name="Text Box 71"/>
                <p:cNvSpPr txBox="1"/>
                <p:nvPr/>
              </p:nvSpPr>
              <p:spPr>
                <a:xfrm>
                  <a:off x="2354" y="3538"/>
                  <a:ext cx="319" cy="329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/>
                  <a:r>
                    <a:rPr lang="en-US" altLang="zh-CN" sz="2800" b="1" dirty="0">
                      <a:solidFill>
                        <a:srgbClr val="FF3300"/>
                      </a:solidFill>
                      <a:latin typeface="Arial Narrow" panose="020B0606020202030204" pitchFamily="34" charset="0"/>
                      <a:ea typeface="宋体" panose="02010600030101010101" pitchFamily="2" charset="-122"/>
                    </a:rPr>
                    <a:t>31</a:t>
                  </a:r>
                  <a:endParaRPr lang="en-US" altLang="zh-CN" sz="2800" dirty="0">
                    <a:solidFill>
                      <a:srgbClr val="FF3300"/>
                    </a:solidFill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63560" name="Group 72"/>
              <p:cNvGrpSpPr/>
              <p:nvPr/>
            </p:nvGrpSpPr>
            <p:grpSpPr>
              <a:xfrm>
                <a:off x="2942" y="3493"/>
                <a:ext cx="528" cy="420"/>
                <a:chOff x="3010" y="3447"/>
                <a:chExt cx="528" cy="420"/>
              </a:xfrm>
            </p:grpSpPr>
            <p:sp>
              <p:nvSpPr>
                <p:cNvPr id="63561" name="Rectangle 73" descr="白色大理石"/>
                <p:cNvSpPr/>
                <p:nvPr/>
              </p:nvSpPr>
              <p:spPr>
                <a:xfrm>
                  <a:off x="3010" y="3538"/>
                  <a:ext cx="528" cy="318"/>
                </a:xfrm>
                <a:prstGeom prst="rect">
                  <a:avLst/>
                </a:prstGeom>
                <a:blipFill rotWithShape="0">
                  <a:blip r:embed="rId1"/>
                </a:blipFill>
                <a:ln w="9525"/>
                <a:scene3d>
                  <a:camera prst="legacyObliqueTopRight">
                    <a:rot lat="0" lon="0" rev="0"/>
                  </a:camera>
                  <a:lightRig rig="legacyFlat3" dir="b"/>
                </a:scene3d>
                <a:sp3d extrusionH="430200" prstMaterial="legacyMatte">
                  <a:bevelT w="13500" h="13500" prst="angle"/>
                  <a:bevelB w="13500" h="13500" prst="angle"/>
                  <a:extrusionClr>
                    <a:srgbClr val="FFFFFF"/>
                  </a:extrusionClr>
                </a:sp3d>
              </p:spPr>
              <p:txBody>
                <a:bodyPr wrap="none" anchor="ctr" anchorCtr="0">
                  <a:flatTx/>
                </a:bodyPr>
                <a:p>
                  <a:endParaRPr lang="zh-CN" altLang="en-US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3562" name="Line 74"/>
                <p:cNvSpPr/>
                <p:nvPr/>
              </p:nvSpPr>
              <p:spPr>
                <a:xfrm>
                  <a:off x="3394" y="3538"/>
                  <a:ext cx="0" cy="318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3563" name="Line 75"/>
                <p:cNvSpPr/>
                <p:nvPr/>
              </p:nvSpPr>
              <p:spPr>
                <a:xfrm flipV="1">
                  <a:off x="3154" y="3447"/>
                  <a:ext cx="96" cy="91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3564" name="Line 76"/>
                <p:cNvSpPr/>
                <p:nvPr/>
              </p:nvSpPr>
              <p:spPr>
                <a:xfrm flipV="1">
                  <a:off x="3394" y="3447"/>
                  <a:ext cx="96" cy="91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3565" name="Line 77"/>
                <p:cNvSpPr/>
                <p:nvPr/>
              </p:nvSpPr>
              <p:spPr>
                <a:xfrm>
                  <a:off x="3154" y="3538"/>
                  <a:ext cx="0" cy="318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3566" name="Text Box 78"/>
                <p:cNvSpPr txBox="1"/>
                <p:nvPr/>
              </p:nvSpPr>
              <p:spPr>
                <a:xfrm>
                  <a:off x="3122" y="3538"/>
                  <a:ext cx="319" cy="329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/>
                  <a:r>
                    <a:rPr lang="en-US" altLang="zh-CN" sz="2800" b="1" dirty="0">
                      <a:solidFill>
                        <a:srgbClr val="FF3300"/>
                      </a:solidFill>
                      <a:latin typeface="Arial Narrow" panose="020B0606020202030204" pitchFamily="34" charset="0"/>
                      <a:ea typeface="宋体" panose="02010600030101010101" pitchFamily="2" charset="-122"/>
                    </a:rPr>
                    <a:t>48</a:t>
                  </a:r>
                  <a:endParaRPr lang="en-US" altLang="zh-CN" sz="2800" dirty="0">
                    <a:solidFill>
                      <a:srgbClr val="FF3300"/>
                    </a:solidFill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63567" name="Group 79"/>
              <p:cNvGrpSpPr/>
              <p:nvPr/>
            </p:nvGrpSpPr>
            <p:grpSpPr>
              <a:xfrm>
                <a:off x="2158" y="3497"/>
                <a:ext cx="528" cy="420"/>
                <a:chOff x="3008" y="3460"/>
                <a:chExt cx="528" cy="420"/>
              </a:xfrm>
            </p:grpSpPr>
            <p:sp>
              <p:nvSpPr>
                <p:cNvPr id="63568" name="Rectangle 80"/>
                <p:cNvSpPr/>
                <p:nvPr/>
              </p:nvSpPr>
              <p:spPr>
                <a:xfrm>
                  <a:off x="3008" y="3551"/>
                  <a:ext cx="528" cy="318"/>
                </a:xfrm>
                <a:prstGeom prst="rect">
                  <a:avLst/>
                </a:prstGeom>
                <a:solidFill>
                  <a:srgbClr val="CCFFCC"/>
                </a:solidFill>
                <a:ln w="9525"/>
                <a:scene3d>
                  <a:camera prst="legacyObliqueTopRight">
                    <a:rot lat="0" lon="0" rev="0"/>
                  </a:camera>
                  <a:lightRig rig="legacyFlat3" dir="b"/>
                </a:scene3d>
                <a:sp3d extrusionH="430200" prstMaterial="legacyMatte">
                  <a:bevelT w="13500" h="13500" prst="angle"/>
                  <a:bevelB w="13500" h="13500" prst="angle"/>
                  <a:extrusionClr>
                    <a:srgbClr val="CCFFCC"/>
                  </a:extrusionClr>
                </a:sp3d>
              </p:spPr>
              <p:txBody>
                <a:bodyPr wrap="none" anchor="ctr" anchorCtr="0">
                  <a:flatTx/>
                </a:bodyPr>
                <a:p>
                  <a:endParaRPr lang="zh-CN" altLang="en-US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3569" name="Line 81"/>
                <p:cNvSpPr/>
                <p:nvPr/>
              </p:nvSpPr>
              <p:spPr>
                <a:xfrm>
                  <a:off x="3392" y="3551"/>
                  <a:ext cx="0" cy="318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3570" name="Line 82"/>
                <p:cNvSpPr/>
                <p:nvPr/>
              </p:nvSpPr>
              <p:spPr>
                <a:xfrm flipV="1">
                  <a:off x="3152" y="3460"/>
                  <a:ext cx="96" cy="91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3571" name="Line 83"/>
                <p:cNvSpPr/>
                <p:nvPr/>
              </p:nvSpPr>
              <p:spPr>
                <a:xfrm flipV="1">
                  <a:off x="3392" y="3460"/>
                  <a:ext cx="96" cy="91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3572" name="Line 84"/>
                <p:cNvSpPr/>
                <p:nvPr/>
              </p:nvSpPr>
              <p:spPr>
                <a:xfrm>
                  <a:off x="3152" y="3551"/>
                  <a:ext cx="0" cy="318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3573" name="Text Box 85"/>
                <p:cNvSpPr txBox="1"/>
                <p:nvPr/>
              </p:nvSpPr>
              <p:spPr>
                <a:xfrm>
                  <a:off x="3120" y="3551"/>
                  <a:ext cx="319" cy="329"/>
                </a:xfrm>
                <a:prstGeom prst="rect">
                  <a:avLst/>
                </a:prstGeom>
                <a:solidFill>
                  <a:srgbClr val="CCFFCC"/>
                </a:solidFill>
                <a:ln w="38100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/>
                  <a:r>
                    <a:rPr lang="en-US" altLang="zh-CN" sz="2800" b="1" dirty="0">
                      <a:solidFill>
                        <a:srgbClr val="FF3300"/>
                      </a:solidFill>
                      <a:latin typeface="Arial Narrow" panose="020B0606020202030204" pitchFamily="34" charset="0"/>
                      <a:ea typeface="宋体" panose="02010600030101010101" pitchFamily="2" charset="-122"/>
                    </a:rPr>
                    <a:t>25</a:t>
                  </a:r>
                  <a:endParaRPr lang="en-US" altLang="zh-CN" sz="2800" dirty="0">
                    <a:solidFill>
                      <a:srgbClr val="FF3300"/>
                    </a:solidFill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63574" name="Group 86"/>
              <p:cNvGrpSpPr/>
              <p:nvPr/>
            </p:nvGrpSpPr>
            <p:grpSpPr>
              <a:xfrm>
                <a:off x="3696" y="3484"/>
                <a:ext cx="528" cy="416"/>
                <a:chOff x="4546" y="3447"/>
                <a:chExt cx="528" cy="416"/>
              </a:xfrm>
            </p:grpSpPr>
            <p:sp>
              <p:nvSpPr>
                <p:cNvPr id="63575" name="Rectangle 87" descr="白色大理石"/>
                <p:cNvSpPr/>
                <p:nvPr/>
              </p:nvSpPr>
              <p:spPr>
                <a:xfrm>
                  <a:off x="4546" y="3538"/>
                  <a:ext cx="528" cy="318"/>
                </a:xfrm>
                <a:prstGeom prst="rect">
                  <a:avLst/>
                </a:prstGeom>
                <a:blipFill rotWithShape="0">
                  <a:blip r:embed="rId1"/>
                </a:blipFill>
                <a:ln w="9525"/>
                <a:scene3d>
                  <a:camera prst="legacyObliqueTopRight">
                    <a:rot lat="0" lon="0" rev="0"/>
                  </a:camera>
                  <a:lightRig rig="legacyFlat3" dir="b"/>
                </a:scene3d>
                <a:sp3d extrusionH="430200" prstMaterial="legacyMatte">
                  <a:bevelT w="13500" h="13500" prst="angle"/>
                  <a:bevelB w="13500" h="13500" prst="angle"/>
                  <a:extrusionClr>
                    <a:srgbClr val="FFFFFF"/>
                  </a:extrusionClr>
                </a:sp3d>
              </p:spPr>
              <p:txBody>
                <a:bodyPr wrap="none" anchor="ctr" anchorCtr="0">
                  <a:flatTx/>
                </a:bodyPr>
                <a:p>
                  <a:endParaRPr lang="zh-CN" altLang="en-US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3576" name="Line 88"/>
                <p:cNvSpPr/>
                <p:nvPr/>
              </p:nvSpPr>
              <p:spPr>
                <a:xfrm>
                  <a:off x="4928" y="3544"/>
                  <a:ext cx="0" cy="319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3577" name="Line 89"/>
                <p:cNvSpPr/>
                <p:nvPr/>
              </p:nvSpPr>
              <p:spPr>
                <a:xfrm flipV="1">
                  <a:off x="4690" y="3447"/>
                  <a:ext cx="96" cy="91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3578" name="Line 90"/>
                <p:cNvSpPr/>
                <p:nvPr/>
              </p:nvSpPr>
              <p:spPr>
                <a:xfrm flipV="1">
                  <a:off x="4930" y="3447"/>
                  <a:ext cx="96" cy="91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3579" name="Line 91"/>
                <p:cNvSpPr/>
                <p:nvPr/>
              </p:nvSpPr>
              <p:spPr>
                <a:xfrm>
                  <a:off x="4690" y="3538"/>
                  <a:ext cx="0" cy="318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3580" name="Text Box 92"/>
                <p:cNvSpPr txBox="1"/>
                <p:nvPr/>
              </p:nvSpPr>
              <p:spPr>
                <a:xfrm>
                  <a:off x="4642" y="3529"/>
                  <a:ext cx="319" cy="329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/>
                  <a:r>
                    <a:rPr lang="en-US" altLang="zh-CN" sz="2800" b="1" dirty="0">
                      <a:solidFill>
                        <a:srgbClr val="FF3300"/>
                      </a:solidFill>
                      <a:latin typeface="Arial Narrow" panose="020B0606020202030204" pitchFamily="34" charset="0"/>
                      <a:ea typeface="宋体" panose="02010600030101010101" pitchFamily="2" charset="-122"/>
                    </a:rPr>
                    <a:t>15</a:t>
                  </a:r>
                  <a:endParaRPr lang="en-US" altLang="zh-CN" sz="2800" dirty="0">
                    <a:solidFill>
                      <a:srgbClr val="FF3300"/>
                    </a:solidFill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63581" name="Line 93"/>
              <p:cNvSpPr/>
              <p:nvPr/>
            </p:nvSpPr>
            <p:spPr>
              <a:xfrm flipV="1">
                <a:off x="3168" y="3893"/>
                <a:ext cx="0" cy="274"/>
              </a:xfrm>
              <a:prstGeom prst="line">
                <a:avLst/>
              </a:prstGeom>
              <a:ln w="38100" cap="flat" cmpd="sng">
                <a:solidFill>
                  <a:srgbClr val="009900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sp>
            <p:nvSpPr>
              <p:cNvPr id="63582" name="Line 94"/>
              <p:cNvSpPr/>
              <p:nvPr/>
            </p:nvSpPr>
            <p:spPr>
              <a:xfrm>
                <a:off x="1200" y="3757"/>
                <a:ext cx="192" cy="0"/>
              </a:xfrm>
              <a:prstGeom prst="line">
                <a:avLst/>
              </a:prstGeom>
              <a:ln w="38100" cap="flat" cmpd="sng">
                <a:solidFill>
                  <a:srgbClr val="0000FF"/>
                </a:solidFill>
                <a:prstDash val="solid"/>
                <a:round/>
                <a:headEnd type="triangle" w="sm" len="med"/>
                <a:tailEnd type="none" w="sm" len="med"/>
              </a:ln>
            </p:spPr>
          </p:sp>
          <p:sp>
            <p:nvSpPr>
              <p:cNvPr id="63583" name="Line 95"/>
              <p:cNvSpPr/>
              <p:nvPr/>
            </p:nvSpPr>
            <p:spPr>
              <a:xfrm>
                <a:off x="3518" y="3781"/>
                <a:ext cx="192" cy="0"/>
              </a:xfrm>
              <a:prstGeom prst="line">
                <a:avLst/>
              </a:prstGeom>
              <a:ln w="38100" cap="flat" cmpd="sng">
                <a:solidFill>
                  <a:srgbClr val="0000FF"/>
                </a:solidFill>
                <a:prstDash val="solid"/>
                <a:round/>
                <a:headEnd type="triangle" w="sm" len="med"/>
                <a:tailEnd type="none" w="sm" len="med"/>
              </a:ln>
            </p:spPr>
          </p:sp>
          <p:sp>
            <p:nvSpPr>
              <p:cNvPr id="63584" name="Line 96"/>
              <p:cNvSpPr/>
              <p:nvPr/>
            </p:nvSpPr>
            <p:spPr>
              <a:xfrm>
                <a:off x="2750" y="3774"/>
                <a:ext cx="192" cy="0"/>
              </a:xfrm>
              <a:prstGeom prst="line">
                <a:avLst/>
              </a:prstGeom>
              <a:ln w="38100" cap="flat" cmpd="sng">
                <a:solidFill>
                  <a:srgbClr val="00FF00"/>
                </a:solidFill>
                <a:prstDash val="solid"/>
                <a:round/>
                <a:headEnd type="triangle" w="med" len="med"/>
                <a:tailEnd type="none" w="sm" len="med"/>
              </a:ln>
            </p:spPr>
          </p:sp>
          <p:sp>
            <p:nvSpPr>
              <p:cNvPr id="63585" name="Line 97"/>
              <p:cNvSpPr/>
              <p:nvPr/>
            </p:nvSpPr>
            <p:spPr>
              <a:xfrm>
                <a:off x="4272" y="3757"/>
                <a:ext cx="192" cy="0"/>
              </a:xfrm>
              <a:prstGeom prst="line">
                <a:avLst/>
              </a:prstGeom>
              <a:ln w="38100" cap="flat" cmpd="sng">
                <a:solidFill>
                  <a:srgbClr val="0000FF"/>
                </a:solidFill>
                <a:prstDash val="solid"/>
                <a:round/>
                <a:headEnd type="triangle" w="sm" len="med"/>
                <a:tailEnd type="none" w="sm" len="med"/>
              </a:ln>
            </p:spPr>
          </p:sp>
          <p:sp>
            <p:nvSpPr>
              <p:cNvPr id="63586" name="Line 98"/>
              <p:cNvSpPr/>
              <p:nvPr/>
            </p:nvSpPr>
            <p:spPr>
              <a:xfrm>
                <a:off x="4464" y="3757"/>
                <a:ext cx="0" cy="227"/>
              </a:xfrm>
              <a:prstGeom prst="line">
                <a:avLst/>
              </a:prstGeom>
              <a:ln w="3810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3587" name="Line 99"/>
              <p:cNvSpPr/>
              <p:nvPr/>
            </p:nvSpPr>
            <p:spPr>
              <a:xfrm>
                <a:off x="480" y="3802"/>
                <a:ext cx="144" cy="0"/>
              </a:xfrm>
              <a:prstGeom prst="line">
                <a:avLst/>
              </a:prstGeom>
              <a:ln w="3810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3588" name="Line 100"/>
              <p:cNvSpPr/>
              <p:nvPr/>
            </p:nvSpPr>
            <p:spPr>
              <a:xfrm flipH="1">
                <a:off x="480" y="3984"/>
                <a:ext cx="3984" cy="0"/>
              </a:xfrm>
              <a:prstGeom prst="line">
                <a:avLst/>
              </a:prstGeom>
              <a:ln w="3810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3589" name="Line 101"/>
              <p:cNvSpPr/>
              <p:nvPr/>
            </p:nvSpPr>
            <p:spPr>
              <a:xfrm>
                <a:off x="480" y="3802"/>
                <a:ext cx="0" cy="182"/>
              </a:xfrm>
              <a:prstGeom prst="line">
                <a:avLst/>
              </a:prstGeom>
              <a:ln w="3810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3590" name="Line 102"/>
              <p:cNvSpPr/>
              <p:nvPr/>
            </p:nvSpPr>
            <p:spPr>
              <a:xfrm>
                <a:off x="1200" y="3620"/>
                <a:ext cx="192" cy="0"/>
              </a:xfrm>
              <a:prstGeom prst="line">
                <a:avLst/>
              </a:prstGeom>
              <a:ln w="38100" cap="flat" cmpd="sng">
                <a:solidFill>
                  <a:srgbClr val="FF00FF"/>
                </a:solidFill>
                <a:prstDash val="solid"/>
                <a:round/>
                <a:headEnd type="none" w="med" len="med"/>
                <a:tailEnd type="triangle" w="sm" len="med"/>
              </a:ln>
            </p:spPr>
          </p:sp>
          <p:sp>
            <p:nvSpPr>
              <p:cNvPr id="63591" name="Line 103"/>
              <p:cNvSpPr/>
              <p:nvPr/>
            </p:nvSpPr>
            <p:spPr>
              <a:xfrm>
                <a:off x="3566" y="3637"/>
                <a:ext cx="192" cy="0"/>
              </a:xfrm>
              <a:prstGeom prst="line">
                <a:avLst/>
              </a:prstGeom>
              <a:ln w="38100" cap="flat" cmpd="sng">
                <a:solidFill>
                  <a:srgbClr val="FF00FF"/>
                </a:solidFill>
                <a:prstDash val="solid"/>
                <a:round/>
                <a:headEnd type="none" w="med" len="med"/>
                <a:tailEnd type="triangle" w="sm" len="med"/>
              </a:ln>
            </p:spPr>
          </p:sp>
          <p:sp>
            <p:nvSpPr>
              <p:cNvPr id="63592" name="Line 104"/>
              <p:cNvSpPr/>
              <p:nvPr/>
            </p:nvSpPr>
            <p:spPr>
              <a:xfrm>
                <a:off x="2750" y="3637"/>
                <a:ext cx="192" cy="0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63593" name="Line 105"/>
              <p:cNvSpPr/>
              <p:nvPr/>
            </p:nvSpPr>
            <p:spPr>
              <a:xfrm>
                <a:off x="480" y="3620"/>
                <a:ext cx="144" cy="0"/>
              </a:xfrm>
              <a:prstGeom prst="line">
                <a:avLst/>
              </a:prstGeom>
              <a:ln w="38100" cap="flat" cmpd="sng">
                <a:solidFill>
                  <a:srgbClr val="FF00FF"/>
                </a:solidFill>
                <a:prstDash val="solid"/>
                <a:round/>
                <a:headEnd type="none" w="med" len="med"/>
                <a:tailEnd type="triangle" w="sm" len="med"/>
              </a:ln>
            </p:spPr>
          </p:sp>
          <p:sp>
            <p:nvSpPr>
              <p:cNvPr id="63594" name="Line 106"/>
              <p:cNvSpPr/>
              <p:nvPr/>
            </p:nvSpPr>
            <p:spPr>
              <a:xfrm flipH="1">
                <a:off x="480" y="3393"/>
                <a:ext cx="3984" cy="0"/>
              </a:xfrm>
              <a:prstGeom prst="line">
                <a:avLst/>
              </a:prstGeom>
              <a:ln w="38100" cap="flat" cmpd="sng">
                <a:solidFill>
                  <a:srgbClr val="FF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3595" name="Line 107"/>
              <p:cNvSpPr/>
              <p:nvPr/>
            </p:nvSpPr>
            <p:spPr>
              <a:xfrm>
                <a:off x="480" y="3393"/>
                <a:ext cx="0" cy="227"/>
              </a:xfrm>
              <a:prstGeom prst="line">
                <a:avLst/>
              </a:prstGeom>
              <a:ln w="38100" cap="flat" cmpd="sng">
                <a:solidFill>
                  <a:srgbClr val="FF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3596" name="Line 108"/>
              <p:cNvSpPr/>
              <p:nvPr/>
            </p:nvSpPr>
            <p:spPr>
              <a:xfrm>
                <a:off x="4464" y="3393"/>
                <a:ext cx="0" cy="227"/>
              </a:xfrm>
              <a:prstGeom prst="line">
                <a:avLst/>
              </a:prstGeom>
              <a:ln w="38100" cap="flat" cmpd="sng">
                <a:solidFill>
                  <a:srgbClr val="FF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3597" name="Line 109"/>
              <p:cNvSpPr/>
              <p:nvPr/>
            </p:nvSpPr>
            <p:spPr>
              <a:xfrm>
                <a:off x="4272" y="3620"/>
                <a:ext cx="192" cy="0"/>
              </a:xfrm>
              <a:prstGeom prst="line">
                <a:avLst/>
              </a:prstGeom>
              <a:ln w="38100" cap="flat" cmpd="sng">
                <a:solidFill>
                  <a:srgbClr val="FF00FF"/>
                </a:solidFill>
                <a:prstDash val="solid"/>
                <a:round/>
                <a:headEnd type="none" w="med" len="med"/>
                <a:tailEnd type="none" w="sm" len="med"/>
              </a:ln>
            </p:spPr>
          </p:sp>
          <p:sp>
            <p:nvSpPr>
              <p:cNvPr id="63598" name="Line 110"/>
              <p:cNvSpPr/>
              <p:nvPr/>
            </p:nvSpPr>
            <p:spPr>
              <a:xfrm>
                <a:off x="1966" y="3770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accent1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sp>
          <p:sp>
            <p:nvSpPr>
              <p:cNvPr id="63599" name="Line 111"/>
              <p:cNvSpPr/>
              <p:nvPr/>
            </p:nvSpPr>
            <p:spPr>
              <a:xfrm flipV="1">
                <a:off x="1980" y="3633"/>
                <a:ext cx="178" cy="17"/>
              </a:xfrm>
              <a:prstGeom prst="line">
                <a:avLst/>
              </a:prstGeom>
              <a:ln w="38100" cap="flat" cmpd="sng">
                <a:solidFill>
                  <a:srgbClr val="333333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63600" name="Text Box 112"/>
              <p:cNvSpPr txBox="1"/>
              <p:nvPr/>
            </p:nvSpPr>
            <p:spPr>
              <a:xfrm>
                <a:off x="3168" y="3954"/>
                <a:ext cx="258" cy="36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/>
                <a:r>
                  <a:rPr lang="en-US" altLang="zh-CN" sz="3200" b="1" dirty="0">
                    <a:solidFill>
                      <a:srgbClr val="FF330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p</a:t>
                </a:r>
                <a:endParaRPr lang="en-US" altLang="zh-CN" sz="3200" b="1" dirty="0">
                  <a:solidFill>
                    <a:srgbClr val="FF3300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3601" name="Text Box 113"/>
              <p:cNvSpPr txBox="1"/>
              <p:nvPr/>
            </p:nvSpPr>
            <p:spPr>
              <a:xfrm>
                <a:off x="2401" y="3954"/>
                <a:ext cx="215" cy="36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/>
                <a:r>
                  <a:rPr lang="en-US" altLang="zh-CN" sz="3200" b="1" dirty="0">
                    <a:solidFill>
                      <a:srgbClr val="FF330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s</a:t>
                </a:r>
                <a:endParaRPr lang="en-US" altLang="zh-CN" sz="3200" b="1" dirty="0">
                  <a:solidFill>
                    <a:srgbClr val="FF3300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</p:grp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525" y="908685"/>
            <a:ext cx="11087735" cy="5144135"/>
          </a:xfrm>
        </p:spPr>
        <p:txBody>
          <a:bodyPr/>
          <a:p>
            <a:pPr algn="l" eaLnBrk="1" hangingPunct="1">
              <a:buClrTx/>
              <a:buSzTx/>
              <a:buChar char="l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双向链表的删除需要改变两个方向的指针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hangingPunct="1"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p-&gt;prior-&gt;next = p-&gt;next;</a:t>
            </a:r>
            <a:endParaRPr lang="en-US" altLang="zh-CN" b="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609600" indent="-609600" eaLnBrk="1" hangingPunct="1"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p-&gt;next-&gt;prior = p-&gt;prior;</a:t>
            </a:r>
            <a:endParaRPr lang="en-US" altLang="zh-CN" b="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609600" indent="-609600" eaLnBrk="1" latinLnBrk="0" hangingPunct="1"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2.3 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线性表的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链式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表示和实现</a:t>
            </a:r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4528185" y="3284855"/>
            <a:ext cx="5736590" cy="2419985"/>
            <a:chOff x="3138" y="5057"/>
            <a:chExt cx="9034" cy="3811"/>
          </a:xfrm>
        </p:grpSpPr>
        <p:grpSp>
          <p:nvGrpSpPr>
            <p:cNvPr id="65540" name="Group 4"/>
            <p:cNvGrpSpPr/>
            <p:nvPr/>
          </p:nvGrpSpPr>
          <p:grpSpPr>
            <a:xfrm>
              <a:off x="3138" y="5057"/>
              <a:ext cx="9035" cy="2265"/>
              <a:chOff x="336" y="2437"/>
              <a:chExt cx="3614" cy="906"/>
            </a:xfrm>
          </p:grpSpPr>
          <p:sp>
            <p:nvSpPr>
              <p:cNvPr id="65541" name="Text Box 5"/>
              <p:cNvSpPr txBox="1"/>
              <p:nvPr/>
            </p:nvSpPr>
            <p:spPr>
              <a:xfrm>
                <a:off x="336" y="2495"/>
                <a:ext cx="265" cy="32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/>
                <a:r>
                  <a:rPr lang="en-US" altLang="zh-CN" sz="2800" b="1" dirty="0">
                    <a:solidFill>
                      <a:srgbClr val="FF330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L</a:t>
                </a:r>
                <a:endParaRPr lang="en-US" altLang="zh-CN" sz="2800" b="1" dirty="0">
                  <a:solidFill>
                    <a:srgbClr val="FF3300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65542" name="Group 6"/>
              <p:cNvGrpSpPr/>
              <p:nvPr/>
            </p:nvGrpSpPr>
            <p:grpSpPr>
              <a:xfrm>
                <a:off x="864" y="2528"/>
                <a:ext cx="528" cy="410"/>
                <a:chOff x="1474" y="2491"/>
                <a:chExt cx="528" cy="410"/>
              </a:xfrm>
            </p:grpSpPr>
            <p:sp>
              <p:nvSpPr>
                <p:cNvPr id="65543" name="Rectangle 7"/>
                <p:cNvSpPr/>
                <p:nvPr/>
              </p:nvSpPr>
              <p:spPr>
                <a:xfrm>
                  <a:off x="1474" y="2582"/>
                  <a:ext cx="528" cy="319"/>
                </a:xfrm>
                <a:prstGeom prst="rect">
                  <a:avLst/>
                </a:prstGeom>
                <a:solidFill>
                  <a:srgbClr val="FFFF99"/>
                </a:solidFill>
                <a:ln w="9525"/>
                <a:scene3d>
                  <a:camera prst="legacyObliqueTopRight">
                    <a:rot lat="0" lon="0" rev="0"/>
                  </a:camera>
                  <a:lightRig rig="legacyFlat3" dir="b"/>
                </a:scene3d>
                <a:sp3d extrusionH="430200" prstMaterial="legacyMatte">
                  <a:bevelT w="13500" h="13500" prst="angle"/>
                  <a:bevelB w="13500" h="13500" prst="angle"/>
                  <a:extrusionClr>
                    <a:srgbClr val="FFFF99"/>
                  </a:extrusionClr>
                </a:sp3d>
              </p:spPr>
              <p:txBody>
                <a:bodyPr wrap="none" anchor="ctr" anchorCtr="0">
                  <a:flatTx/>
                </a:bodyPr>
                <a:p>
                  <a:endParaRPr lang="zh-CN" altLang="en-US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5544" name="Line 8"/>
                <p:cNvSpPr/>
                <p:nvPr/>
              </p:nvSpPr>
              <p:spPr>
                <a:xfrm>
                  <a:off x="1618" y="2582"/>
                  <a:ext cx="0" cy="273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5545" name="Line 9"/>
                <p:cNvSpPr/>
                <p:nvPr/>
              </p:nvSpPr>
              <p:spPr>
                <a:xfrm>
                  <a:off x="1858" y="2582"/>
                  <a:ext cx="0" cy="319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5546" name="Line 10"/>
                <p:cNvSpPr/>
                <p:nvPr/>
              </p:nvSpPr>
              <p:spPr>
                <a:xfrm flipV="1">
                  <a:off x="1618" y="2491"/>
                  <a:ext cx="96" cy="91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5547" name="Line 11"/>
                <p:cNvSpPr/>
                <p:nvPr/>
              </p:nvSpPr>
              <p:spPr>
                <a:xfrm flipV="1">
                  <a:off x="1858" y="2491"/>
                  <a:ext cx="96" cy="91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5548" name="Line 12"/>
                <p:cNvSpPr/>
                <p:nvPr/>
              </p:nvSpPr>
              <p:spPr>
                <a:xfrm>
                  <a:off x="1618" y="2582"/>
                  <a:ext cx="0" cy="319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65549" name="Line 13"/>
              <p:cNvSpPr/>
              <p:nvPr/>
            </p:nvSpPr>
            <p:spPr>
              <a:xfrm flipV="1">
                <a:off x="576" y="2756"/>
                <a:ext cx="28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sm" len="med"/>
              </a:ln>
            </p:spPr>
          </p:sp>
          <p:grpSp>
            <p:nvGrpSpPr>
              <p:cNvPr id="65550" name="Group 14"/>
              <p:cNvGrpSpPr/>
              <p:nvPr/>
            </p:nvGrpSpPr>
            <p:grpSpPr>
              <a:xfrm>
                <a:off x="720" y="2801"/>
                <a:ext cx="3216" cy="228"/>
                <a:chOff x="1330" y="2764"/>
                <a:chExt cx="3216" cy="228"/>
              </a:xfrm>
            </p:grpSpPr>
            <p:sp>
              <p:nvSpPr>
                <p:cNvPr id="65551" name="Line 15"/>
                <p:cNvSpPr/>
                <p:nvPr/>
              </p:nvSpPr>
              <p:spPr>
                <a:xfrm>
                  <a:off x="2050" y="2764"/>
                  <a:ext cx="192" cy="0"/>
                </a:xfrm>
                <a:prstGeom prst="line">
                  <a:avLst/>
                </a:prstGeom>
                <a:ln w="38100" cap="flat" cmpd="sng">
                  <a:solidFill>
                    <a:srgbClr val="0000FF"/>
                  </a:solidFill>
                  <a:prstDash val="solid"/>
                  <a:round/>
                  <a:headEnd type="triangle" w="sm" len="med"/>
                  <a:tailEnd type="none" w="sm" len="med"/>
                </a:ln>
              </p:spPr>
            </p:sp>
            <p:sp>
              <p:nvSpPr>
                <p:cNvPr id="65552" name="Line 16"/>
                <p:cNvSpPr/>
                <p:nvPr/>
              </p:nvSpPr>
              <p:spPr>
                <a:xfrm>
                  <a:off x="2818" y="2764"/>
                  <a:ext cx="192" cy="0"/>
                </a:xfrm>
                <a:prstGeom prst="line">
                  <a:avLst/>
                </a:prstGeom>
                <a:ln w="38100" cap="flat" cmpd="sng">
                  <a:solidFill>
                    <a:srgbClr val="0000FF"/>
                  </a:solidFill>
                  <a:prstDash val="solid"/>
                  <a:round/>
                  <a:headEnd type="triangle" w="sm" len="med"/>
                  <a:tailEnd type="none" w="sm" len="med"/>
                </a:ln>
              </p:spPr>
            </p:sp>
            <p:sp>
              <p:nvSpPr>
                <p:cNvPr id="65553" name="Line 17"/>
                <p:cNvSpPr/>
                <p:nvPr/>
              </p:nvSpPr>
              <p:spPr>
                <a:xfrm>
                  <a:off x="3586" y="2764"/>
                  <a:ext cx="192" cy="0"/>
                </a:xfrm>
                <a:prstGeom prst="line">
                  <a:avLst/>
                </a:prstGeom>
                <a:ln w="38100" cap="flat" cmpd="sng">
                  <a:solidFill>
                    <a:srgbClr val="0000FF"/>
                  </a:solidFill>
                  <a:prstDash val="solid"/>
                  <a:round/>
                  <a:headEnd type="triangle" w="sm" len="med"/>
                  <a:tailEnd type="none" w="sm" len="med"/>
                </a:ln>
              </p:spPr>
            </p:sp>
            <p:sp>
              <p:nvSpPr>
                <p:cNvPr id="65554" name="Line 18"/>
                <p:cNvSpPr/>
                <p:nvPr/>
              </p:nvSpPr>
              <p:spPr>
                <a:xfrm>
                  <a:off x="4354" y="2764"/>
                  <a:ext cx="192" cy="0"/>
                </a:xfrm>
                <a:prstGeom prst="line">
                  <a:avLst/>
                </a:prstGeom>
                <a:ln w="38100" cap="flat" cmpd="sng">
                  <a:solidFill>
                    <a:srgbClr val="0000FF"/>
                  </a:solidFill>
                  <a:prstDash val="solid"/>
                  <a:round/>
                  <a:headEnd type="triangle" w="sm" len="med"/>
                  <a:tailEnd type="none" w="sm" len="med"/>
                </a:ln>
              </p:spPr>
            </p:sp>
            <p:sp>
              <p:nvSpPr>
                <p:cNvPr id="65555" name="Line 19"/>
                <p:cNvSpPr/>
                <p:nvPr/>
              </p:nvSpPr>
              <p:spPr>
                <a:xfrm>
                  <a:off x="4546" y="2764"/>
                  <a:ext cx="0" cy="228"/>
                </a:xfrm>
                <a:prstGeom prst="line">
                  <a:avLst/>
                </a:prstGeom>
                <a:ln w="381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5556" name="Line 20"/>
                <p:cNvSpPr/>
                <p:nvPr/>
              </p:nvSpPr>
              <p:spPr>
                <a:xfrm>
                  <a:off x="1330" y="2810"/>
                  <a:ext cx="144" cy="0"/>
                </a:xfrm>
                <a:prstGeom prst="line">
                  <a:avLst/>
                </a:prstGeom>
                <a:ln w="381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5557" name="Line 21"/>
                <p:cNvSpPr/>
                <p:nvPr/>
              </p:nvSpPr>
              <p:spPr>
                <a:xfrm flipH="1">
                  <a:off x="1330" y="2992"/>
                  <a:ext cx="3216" cy="0"/>
                </a:xfrm>
                <a:prstGeom prst="line">
                  <a:avLst/>
                </a:prstGeom>
                <a:ln w="381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5558" name="Line 22"/>
                <p:cNvSpPr/>
                <p:nvPr/>
              </p:nvSpPr>
              <p:spPr>
                <a:xfrm>
                  <a:off x="1330" y="2810"/>
                  <a:ext cx="0" cy="182"/>
                </a:xfrm>
                <a:prstGeom prst="line">
                  <a:avLst/>
                </a:prstGeom>
                <a:ln w="381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65559" name="Group 23"/>
              <p:cNvGrpSpPr/>
              <p:nvPr/>
            </p:nvGrpSpPr>
            <p:grpSpPr>
              <a:xfrm>
                <a:off x="734" y="2437"/>
                <a:ext cx="3216" cy="228"/>
                <a:chOff x="1330" y="2400"/>
                <a:chExt cx="3216" cy="228"/>
              </a:xfrm>
            </p:grpSpPr>
            <p:sp>
              <p:nvSpPr>
                <p:cNvPr id="65560" name="Line 24"/>
                <p:cNvSpPr/>
                <p:nvPr/>
              </p:nvSpPr>
              <p:spPr>
                <a:xfrm>
                  <a:off x="2050" y="2628"/>
                  <a:ext cx="192" cy="0"/>
                </a:xfrm>
                <a:prstGeom prst="line">
                  <a:avLst/>
                </a:prstGeom>
                <a:ln w="38100" cap="flat" cmpd="sng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triangle" w="sm" len="med"/>
                </a:ln>
              </p:spPr>
            </p:sp>
            <p:sp>
              <p:nvSpPr>
                <p:cNvPr id="65561" name="Line 25"/>
                <p:cNvSpPr/>
                <p:nvPr/>
              </p:nvSpPr>
              <p:spPr>
                <a:xfrm>
                  <a:off x="2818" y="2628"/>
                  <a:ext cx="192" cy="0"/>
                </a:xfrm>
                <a:prstGeom prst="line">
                  <a:avLst/>
                </a:prstGeom>
                <a:ln w="38100" cap="flat" cmpd="sng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triangle" w="sm" len="med"/>
                </a:ln>
              </p:spPr>
            </p:sp>
            <p:sp>
              <p:nvSpPr>
                <p:cNvPr id="65562" name="Line 26"/>
                <p:cNvSpPr/>
                <p:nvPr/>
              </p:nvSpPr>
              <p:spPr>
                <a:xfrm>
                  <a:off x="3586" y="2628"/>
                  <a:ext cx="192" cy="0"/>
                </a:xfrm>
                <a:prstGeom prst="line">
                  <a:avLst/>
                </a:prstGeom>
                <a:ln w="38100" cap="flat" cmpd="sng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triangle" w="sm" len="med"/>
                </a:ln>
              </p:spPr>
            </p:sp>
            <p:sp>
              <p:nvSpPr>
                <p:cNvPr id="65563" name="Line 27"/>
                <p:cNvSpPr/>
                <p:nvPr/>
              </p:nvSpPr>
              <p:spPr>
                <a:xfrm>
                  <a:off x="1330" y="2628"/>
                  <a:ext cx="144" cy="0"/>
                </a:xfrm>
                <a:prstGeom prst="line">
                  <a:avLst/>
                </a:prstGeom>
                <a:ln w="38100" cap="flat" cmpd="sng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triangle" w="sm" len="med"/>
                </a:ln>
              </p:spPr>
            </p:sp>
            <p:sp>
              <p:nvSpPr>
                <p:cNvPr id="65564" name="Line 28"/>
                <p:cNvSpPr/>
                <p:nvPr/>
              </p:nvSpPr>
              <p:spPr>
                <a:xfrm flipH="1">
                  <a:off x="1330" y="2400"/>
                  <a:ext cx="3216" cy="0"/>
                </a:xfrm>
                <a:prstGeom prst="line">
                  <a:avLst/>
                </a:prstGeom>
                <a:ln w="38100" cap="flat" cmpd="sng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5565" name="Line 29"/>
                <p:cNvSpPr/>
                <p:nvPr/>
              </p:nvSpPr>
              <p:spPr>
                <a:xfrm>
                  <a:off x="1330" y="2400"/>
                  <a:ext cx="0" cy="228"/>
                </a:xfrm>
                <a:prstGeom prst="line">
                  <a:avLst/>
                </a:prstGeom>
                <a:ln w="38100" cap="flat" cmpd="sng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5566" name="Line 30"/>
                <p:cNvSpPr/>
                <p:nvPr/>
              </p:nvSpPr>
              <p:spPr>
                <a:xfrm>
                  <a:off x="4546" y="2400"/>
                  <a:ext cx="0" cy="228"/>
                </a:xfrm>
                <a:prstGeom prst="line">
                  <a:avLst/>
                </a:prstGeom>
                <a:ln w="38100" cap="flat" cmpd="sng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5567" name="Line 31"/>
                <p:cNvSpPr/>
                <p:nvPr/>
              </p:nvSpPr>
              <p:spPr>
                <a:xfrm>
                  <a:off x="4354" y="2628"/>
                  <a:ext cx="192" cy="0"/>
                </a:xfrm>
                <a:prstGeom prst="line">
                  <a:avLst/>
                </a:prstGeom>
                <a:ln w="38100" cap="flat" cmpd="sng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none" w="sm" len="med"/>
                </a:ln>
              </p:spPr>
            </p:sp>
          </p:grpSp>
          <p:sp>
            <p:nvSpPr>
              <p:cNvPr id="65568" name="Line 32"/>
              <p:cNvSpPr/>
              <p:nvPr/>
            </p:nvSpPr>
            <p:spPr>
              <a:xfrm flipV="1">
                <a:off x="2640" y="2938"/>
                <a:ext cx="0" cy="273"/>
              </a:xfrm>
              <a:prstGeom prst="line">
                <a:avLst/>
              </a:prstGeom>
              <a:ln w="38100" cap="flat" cmpd="sng">
                <a:solidFill>
                  <a:srgbClr val="009900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grpSp>
            <p:nvGrpSpPr>
              <p:cNvPr id="65569" name="Group 33"/>
              <p:cNvGrpSpPr/>
              <p:nvPr/>
            </p:nvGrpSpPr>
            <p:grpSpPr>
              <a:xfrm>
                <a:off x="1632" y="2528"/>
                <a:ext cx="528" cy="411"/>
                <a:chOff x="2242" y="2491"/>
                <a:chExt cx="528" cy="411"/>
              </a:xfrm>
            </p:grpSpPr>
            <p:sp>
              <p:nvSpPr>
                <p:cNvPr id="65570" name="Rectangle 34" descr="白色大理石"/>
                <p:cNvSpPr/>
                <p:nvPr/>
              </p:nvSpPr>
              <p:spPr>
                <a:xfrm>
                  <a:off x="2242" y="2582"/>
                  <a:ext cx="528" cy="319"/>
                </a:xfrm>
                <a:prstGeom prst="rect">
                  <a:avLst/>
                </a:prstGeom>
                <a:blipFill rotWithShape="0">
                  <a:blip r:embed="rId1"/>
                </a:blipFill>
                <a:ln w="9525"/>
                <a:scene3d>
                  <a:camera prst="legacyObliqueTopRight">
                    <a:rot lat="0" lon="0" rev="0"/>
                  </a:camera>
                  <a:lightRig rig="legacyFlat3" dir="b"/>
                </a:scene3d>
                <a:sp3d extrusionH="430200" prstMaterial="legacyMatte">
                  <a:bevelT w="13500" h="13500" prst="angle"/>
                  <a:bevelB w="13500" h="13500" prst="angle"/>
                  <a:extrusionClr>
                    <a:srgbClr val="FFFFFF"/>
                  </a:extrusionClr>
                </a:sp3d>
              </p:spPr>
              <p:txBody>
                <a:bodyPr wrap="none" anchor="ctr" anchorCtr="0">
                  <a:flatTx/>
                </a:bodyPr>
                <a:p>
                  <a:endParaRPr lang="zh-CN" altLang="en-US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5571" name="Line 35"/>
                <p:cNvSpPr/>
                <p:nvPr/>
              </p:nvSpPr>
              <p:spPr>
                <a:xfrm>
                  <a:off x="2626" y="2582"/>
                  <a:ext cx="0" cy="319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5572" name="Line 36"/>
                <p:cNvSpPr/>
                <p:nvPr/>
              </p:nvSpPr>
              <p:spPr>
                <a:xfrm flipV="1">
                  <a:off x="2386" y="2491"/>
                  <a:ext cx="96" cy="91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5573" name="Line 37"/>
                <p:cNvSpPr/>
                <p:nvPr/>
              </p:nvSpPr>
              <p:spPr>
                <a:xfrm flipV="1">
                  <a:off x="2626" y="2491"/>
                  <a:ext cx="96" cy="91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5574" name="Line 38"/>
                <p:cNvSpPr/>
                <p:nvPr/>
              </p:nvSpPr>
              <p:spPr>
                <a:xfrm>
                  <a:off x="2386" y="2582"/>
                  <a:ext cx="0" cy="319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5575" name="Text Box 39"/>
                <p:cNvSpPr txBox="1"/>
                <p:nvPr/>
              </p:nvSpPr>
              <p:spPr>
                <a:xfrm>
                  <a:off x="2354" y="2573"/>
                  <a:ext cx="319" cy="329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/>
                  <a:r>
                    <a:rPr lang="en-US" altLang="zh-CN" sz="2800" b="1" dirty="0">
                      <a:solidFill>
                        <a:srgbClr val="FF3300"/>
                      </a:solidFill>
                      <a:latin typeface="Arial Narrow" panose="020B0606020202030204" pitchFamily="34" charset="0"/>
                      <a:ea typeface="宋体" panose="02010600030101010101" pitchFamily="2" charset="-122"/>
                    </a:rPr>
                    <a:t>31</a:t>
                  </a:r>
                  <a:endParaRPr lang="en-US" altLang="zh-CN" sz="2800" dirty="0">
                    <a:solidFill>
                      <a:srgbClr val="FF3300"/>
                    </a:solidFill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65576" name="Group 40"/>
              <p:cNvGrpSpPr/>
              <p:nvPr/>
            </p:nvGrpSpPr>
            <p:grpSpPr>
              <a:xfrm>
                <a:off x="2400" y="2528"/>
                <a:ext cx="528" cy="411"/>
                <a:chOff x="3010" y="2491"/>
                <a:chExt cx="528" cy="411"/>
              </a:xfrm>
            </p:grpSpPr>
            <p:sp>
              <p:nvSpPr>
                <p:cNvPr id="65577" name="Rectangle 41" descr="白色大理石"/>
                <p:cNvSpPr/>
                <p:nvPr/>
              </p:nvSpPr>
              <p:spPr>
                <a:xfrm>
                  <a:off x="3010" y="2582"/>
                  <a:ext cx="528" cy="319"/>
                </a:xfrm>
                <a:prstGeom prst="rect">
                  <a:avLst/>
                </a:prstGeom>
                <a:blipFill rotWithShape="0">
                  <a:blip r:embed="rId1"/>
                </a:blipFill>
                <a:ln w="9525"/>
                <a:scene3d>
                  <a:camera prst="legacyObliqueTopRight">
                    <a:rot lat="0" lon="0" rev="0"/>
                  </a:camera>
                  <a:lightRig rig="legacyFlat3" dir="b"/>
                </a:scene3d>
                <a:sp3d extrusionH="430200" prstMaterial="legacyMatte">
                  <a:bevelT w="13500" h="13500" prst="angle"/>
                  <a:bevelB w="13500" h="13500" prst="angle"/>
                  <a:extrusionClr>
                    <a:srgbClr val="FFFFFF"/>
                  </a:extrusionClr>
                </a:sp3d>
              </p:spPr>
              <p:txBody>
                <a:bodyPr wrap="none" anchor="ctr" anchorCtr="0">
                  <a:flatTx/>
                </a:bodyPr>
                <a:p>
                  <a:endParaRPr lang="zh-CN" altLang="en-US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5578" name="Line 42"/>
                <p:cNvSpPr/>
                <p:nvPr/>
              </p:nvSpPr>
              <p:spPr>
                <a:xfrm>
                  <a:off x="3394" y="2582"/>
                  <a:ext cx="0" cy="319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5579" name="Line 43"/>
                <p:cNvSpPr/>
                <p:nvPr/>
              </p:nvSpPr>
              <p:spPr>
                <a:xfrm flipV="1">
                  <a:off x="3154" y="2491"/>
                  <a:ext cx="96" cy="91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5580" name="Line 44"/>
                <p:cNvSpPr/>
                <p:nvPr/>
              </p:nvSpPr>
              <p:spPr>
                <a:xfrm flipV="1">
                  <a:off x="3394" y="2491"/>
                  <a:ext cx="96" cy="91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5581" name="Line 45"/>
                <p:cNvSpPr/>
                <p:nvPr/>
              </p:nvSpPr>
              <p:spPr>
                <a:xfrm>
                  <a:off x="3154" y="2582"/>
                  <a:ext cx="0" cy="319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5582" name="Text Box 46"/>
                <p:cNvSpPr txBox="1"/>
                <p:nvPr/>
              </p:nvSpPr>
              <p:spPr>
                <a:xfrm>
                  <a:off x="3122" y="2573"/>
                  <a:ext cx="319" cy="329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/>
                  <a:r>
                    <a:rPr lang="en-US" altLang="zh-CN" sz="2800" b="1" dirty="0">
                      <a:solidFill>
                        <a:srgbClr val="FF3300"/>
                      </a:solidFill>
                      <a:latin typeface="Arial Narrow" panose="020B0606020202030204" pitchFamily="34" charset="0"/>
                      <a:ea typeface="宋体" panose="02010600030101010101" pitchFamily="2" charset="-122"/>
                    </a:rPr>
                    <a:t>48</a:t>
                  </a:r>
                  <a:endParaRPr lang="en-US" altLang="zh-CN" sz="2800" dirty="0">
                    <a:solidFill>
                      <a:srgbClr val="FF3300"/>
                    </a:solidFill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65583" name="Group 47"/>
              <p:cNvGrpSpPr/>
              <p:nvPr/>
            </p:nvGrpSpPr>
            <p:grpSpPr>
              <a:xfrm>
                <a:off x="3168" y="2528"/>
                <a:ext cx="528" cy="411"/>
                <a:chOff x="3778" y="2491"/>
                <a:chExt cx="528" cy="411"/>
              </a:xfrm>
            </p:grpSpPr>
            <p:sp>
              <p:nvSpPr>
                <p:cNvPr id="65584" name="Rectangle 48" descr="白色大理石"/>
                <p:cNvSpPr/>
                <p:nvPr/>
              </p:nvSpPr>
              <p:spPr>
                <a:xfrm>
                  <a:off x="3778" y="2582"/>
                  <a:ext cx="528" cy="319"/>
                </a:xfrm>
                <a:prstGeom prst="rect">
                  <a:avLst/>
                </a:prstGeom>
                <a:blipFill rotWithShape="0">
                  <a:blip r:embed="rId1"/>
                </a:blipFill>
                <a:ln w="9525"/>
                <a:scene3d>
                  <a:camera prst="legacyObliqueTopRight">
                    <a:rot lat="0" lon="0" rev="0"/>
                  </a:camera>
                  <a:lightRig rig="legacyFlat3" dir="b"/>
                </a:scene3d>
                <a:sp3d extrusionH="430200" prstMaterial="legacyMatte">
                  <a:bevelT w="13500" h="13500" prst="angle"/>
                  <a:bevelB w="13500" h="13500" prst="angle"/>
                  <a:extrusionClr>
                    <a:srgbClr val="FFFFFF"/>
                  </a:extrusionClr>
                </a:sp3d>
              </p:spPr>
              <p:txBody>
                <a:bodyPr wrap="none" anchor="ctr" anchorCtr="0">
                  <a:flatTx/>
                </a:bodyPr>
                <a:p>
                  <a:endParaRPr lang="zh-CN" altLang="en-US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5585" name="Line 49"/>
                <p:cNvSpPr/>
                <p:nvPr/>
              </p:nvSpPr>
              <p:spPr>
                <a:xfrm>
                  <a:off x="4162" y="2582"/>
                  <a:ext cx="0" cy="319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5586" name="Line 50"/>
                <p:cNvSpPr/>
                <p:nvPr/>
              </p:nvSpPr>
              <p:spPr>
                <a:xfrm flipV="1">
                  <a:off x="3922" y="2491"/>
                  <a:ext cx="96" cy="91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5587" name="Line 51"/>
                <p:cNvSpPr/>
                <p:nvPr/>
              </p:nvSpPr>
              <p:spPr>
                <a:xfrm flipV="1">
                  <a:off x="4162" y="2491"/>
                  <a:ext cx="96" cy="91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5588" name="Line 52"/>
                <p:cNvSpPr/>
                <p:nvPr/>
              </p:nvSpPr>
              <p:spPr>
                <a:xfrm>
                  <a:off x="3922" y="2582"/>
                  <a:ext cx="0" cy="319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5589" name="Text Box 53"/>
                <p:cNvSpPr txBox="1"/>
                <p:nvPr/>
              </p:nvSpPr>
              <p:spPr>
                <a:xfrm>
                  <a:off x="3890" y="2573"/>
                  <a:ext cx="319" cy="329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/>
                  <a:r>
                    <a:rPr lang="en-US" altLang="zh-CN" sz="2800" b="1" dirty="0">
                      <a:solidFill>
                        <a:srgbClr val="FF3300"/>
                      </a:solidFill>
                      <a:latin typeface="Arial Narrow" panose="020B0606020202030204" pitchFamily="34" charset="0"/>
                      <a:ea typeface="宋体" panose="02010600030101010101" pitchFamily="2" charset="-122"/>
                    </a:rPr>
                    <a:t>15</a:t>
                  </a:r>
                  <a:endParaRPr lang="en-US" altLang="zh-CN" sz="2800" dirty="0">
                    <a:solidFill>
                      <a:srgbClr val="FF3300"/>
                    </a:solidFill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65590" name="Text Box 54"/>
              <p:cNvSpPr txBox="1"/>
              <p:nvPr/>
            </p:nvSpPr>
            <p:spPr>
              <a:xfrm>
                <a:off x="2640" y="2975"/>
                <a:ext cx="258" cy="36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/>
                <a:r>
                  <a:rPr lang="en-US" altLang="zh-CN" sz="3200" b="1" dirty="0">
                    <a:solidFill>
                      <a:srgbClr val="FF330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p</a:t>
                </a:r>
                <a:endParaRPr lang="en-US" altLang="zh-CN" sz="3200" b="1" dirty="0">
                  <a:solidFill>
                    <a:srgbClr val="FF3300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65591" name="Group 55"/>
            <p:cNvGrpSpPr/>
            <p:nvPr/>
          </p:nvGrpSpPr>
          <p:grpSpPr>
            <a:xfrm>
              <a:off x="3193" y="7428"/>
              <a:ext cx="7115" cy="1440"/>
              <a:chOff x="317" y="2971"/>
              <a:chExt cx="2846" cy="576"/>
            </a:xfrm>
          </p:grpSpPr>
          <p:sp>
            <p:nvSpPr>
              <p:cNvPr id="65592" name="Text Box 56"/>
              <p:cNvSpPr txBox="1"/>
              <p:nvPr/>
            </p:nvSpPr>
            <p:spPr>
              <a:xfrm>
                <a:off x="317" y="3066"/>
                <a:ext cx="265" cy="32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/>
                <a:r>
                  <a:rPr lang="en-US" altLang="zh-CN" sz="2800" b="1" dirty="0">
                    <a:solidFill>
                      <a:srgbClr val="FF330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L</a:t>
                </a:r>
                <a:endParaRPr lang="en-US" altLang="zh-CN" sz="2800" b="1" dirty="0">
                  <a:solidFill>
                    <a:srgbClr val="FF3300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65593" name="Group 57"/>
              <p:cNvGrpSpPr/>
              <p:nvPr/>
            </p:nvGrpSpPr>
            <p:grpSpPr>
              <a:xfrm>
                <a:off x="845" y="3047"/>
                <a:ext cx="528" cy="423"/>
                <a:chOff x="1474" y="3447"/>
                <a:chExt cx="528" cy="423"/>
              </a:xfrm>
            </p:grpSpPr>
            <p:sp>
              <p:nvSpPr>
                <p:cNvPr id="65594" name="Rectangle 58"/>
                <p:cNvSpPr/>
                <p:nvPr/>
              </p:nvSpPr>
              <p:spPr>
                <a:xfrm>
                  <a:off x="1474" y="3552"/>
                  <a:ext cx="528" cy="318"/>
                </a:xfrm>
                <a:prstGeom prst="rect">
                  <a:avLst/>
                </a:prstGeom>
                <a:solidFill>
                  <a:srgbClr val="FFFF99"/>
                </a:solidFill>
                <a:ln w="9525"/>
                <a:scene3d>
                  <a:camera prst="legacyObliqueTopRight">
                    <a:rot lat="0" lon="0" rev="0"/>
                  </a:camera>
                  <a:lightRig rig="legacyFlat3" dir="b"/>
                </a:scene3d>
                <a:sp3d extrusionH="430200" prstMaterial="legacyMatte">
                  <a:bevelT w="13500" h="13500" prst="angle"/>
                  <a:bevelB w="13500" h="13500" prst="angle"/>
                  <a:extrusionClr>
                    <a:srgbClr val="FFFF99"/>
                  </a:extrusionClr>
                </a:sp3d>
              </p:spPr>
              <p:txBody>
                <a:bodyPr wrap="none" anchor="ctr" anchorCtr="0">
                  <a:flatTx/>
                </a:bodyPr>
                <a:p>
                  <a:endParaRPr lang="zh-CN" altLang="en-US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5595" name="Line 59"/>
                <p:cNvSpPr/>
                <p:nvPr/>
              </p:nvSpPr>
              <p:spPr>
                <a:xfrm>
                  <a:off x="1858" y="3538"/>
                  <a:ext cx="0" cy="318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5596" name="Line 60"/>
                <p:cNvSpPr/>
                <p:nvPr/>
              </p:nvSpPr>
              <p:spPr>
                <a:xfrm flipV="1">
                  <a:off x="1618" y="3447"/>
                  <a:ext cx="96" cy="91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5597" name="Line 61"/>
                <p:cNvSpPr/>
                <p:nvPr/>
              </p:nvSpPr>
              <p:spPr>
                <a:xfrm flipV="1">
                  <a:off x="1858" y="3447"/>
                  <a:ext cx="96" cy="91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5598" name="Line 62"/>
                <p:cNvSpPr/>
                <p:nvPr/>
              </p:nvSpPr>
              <p:spPr>
                <a:xfrm>
                  <a:off x="1618" y="3538"/>
                  <a:ext cx="0" cy="318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65599" name="Line 63"/>
              <p:cNvSpPr/>
              <p:nvPr/>
            </p:nvSpPr>
            <p:spPr>
              <a:xfrm flipV="1">
                <a:off x="557" y="3274"/>
                <a:ext cx="28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sm" len="med"/>
              </a:ln>
            </p:spPr>
          </p:sp>
          <p:grpSp>
            <p:nvGrpSpPr>
              <p:cNvPr id="65600" name="Group 64"/>
              <p:cNvGrpSpPr/>
              <p:nvPr/>
            </p:nvGrpSpPr>
            <p:grpSpPr>
              <a:xfrm>
                <a:off x="1613" y="3047"/>
                <a:ext cx="528" cy="420"/>
                <a:chOff x="2242" y="3447"/>
                <a:chExt cx="528" cy="420"/>
              </a:xfrm>
            </p:grpSpPr>
            <p:sp>
              <p:nvSpPr>
                <p:cNvPr id="65601" name="Rectangle 65" descr="白色大理石"/>
                <p:cNvSpPr/>
                <p:nvPr/>
              </p:nvSpPr>
              <p:spPr>
                <a:xfrm>
                  <a:off x="2242" y="3538"/>
                  <a:ext cx="528" cy="318"/>
                </a:xfrm>
                <a:prstGeom prst="rect">
                  <a:avLst/>
                </a:prstGeom>
                <a:blipFill rotWithShape="0">
                  <a:blip r:embed="rId1"/>
                </a:blipFill>
                <a:ln w="9525"/>
                <a:scene3d>
                  <a:camera prst="legacyObliqueTopRight">
                    <a:rot lat="0" lon="0" rev="0"/>
                  </a:camera>
                  <a:lightRig rig="legacyFlat3" dir="b"/>
                </a:scene3d>
                <a:sp3d extrusionH="430200" prstMaterial="legacyMatte">
                  <a:bevelT w="13500" h="13500" prst="angle"/>
                  <a:bevelB w="13500" h="13500" prst="angle"/>
                  <a:extrusionClr>
                    <a:srgbClr val="FFFFFF"/>
                  </a:extrusionClr>
                </a:sp3d>
              </p:spPr>
              <p:txBody>
                <a:bodyPr wrap="none" anchor="ctr" anchorCtr="0">
                  <a:flatTx/>
                </a:bodyPr>
                <a:p>
                  <a:endParaRPr lang="zh-CN" altLang="en-US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5602" name="Line 66"/>
                <p:cNvSpPr/>
                <p:nvPr/>
              </p:nvSpPr>
              <p:spPr>
                <a:xfrm>
                  <a:off x="2626" y="3538"/>
                  <a:ext cx="0" cy="318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5603" name="Line 67"/>
                <p:cNvSpPr/>
                <p:nvPr/>
              </p:nvSpPr>
              <p:spPr>
                <a:xfrm flipV="1">
                  <a:off x="2386" y="3447"/>
                  <a:ext cx="96" cy="91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5604" name="Line 68"/>
                <p:cNvSpPr/>
                <p:nvPr/>
              </p:nvSpPr>
              <p:spPr>
                <a:xfrm flipV="1">
                  <a:off x="2626" y="3447"/>
                  <a:ext cx="96" cy="91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5605" name="Line 69"/>
                <p:cNvSpPr/>
                <p:nvPr/>
              </p:nvSpPr>
              <p:spPr>
                <a:xfrm>
                  <a:off x="2386" y="3538"/>
                  <a:ext cx="0" cy="318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5606" name="Text Box 70"/>
                <p:cNvSpPr txBox="1"/>
                <p:nvPr/>
              </p:nvSpPr>
              <p:spPr>
                <a:xfrm>
                  <a:off x="2354" y="3538"/>
                  <a:ext cx="319" cy="329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/>
                  <a:r>
                    <a:rPr lang="en-US" altLang="zh-CN" sz="2800" b="1" dirty="0">
                      <a:solidFill>
                        <a:srgbClr val="FF3300"/>
                      </a:solidFill>
                      <a:latin typeface="Arial Narrow" panose="020B0606020202030204" pitchFamily="34" charset="0"/>
                      <a:ea typeface="宋体" panose="02010600030101010101" pitchFamily="2" charset="-122"/>
                    </a:rPr>
                    <a:t>31</a:t>
                  </a:r>
                  <a:endParaRPr lang="en-US" altLang="zh-CN" sz="2800" dirty="0">
                    <a:solidFill>
                      <a:srgbClr val="FF3300"/>
                    </a:solidFill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65607" name="Group 71"/>
              <p:cNvGrpSpPr/>
              <p:nvPr/>
            </p:nvGrpSpPr>
            <p:grpSpPr>
              <a:xfrm>
                <a:off x="2381" y="3067"/>
                <a:ext cx="528" cy="416"/>
                <a:chOff x="4546" y="3447"/>
                <a:chExt cx="528" cy="416"/>
              </a:xfrm>
            </p:grpSpPr>
            <p:sp>
              <p:nvSpPr>
                <p:cNvPr id="65608" name="Rectangle 72" descr="白色大理石"/>
                <p:cNvSpPr/>
                <p:nvPr/>
              </p:nvSpPr>
              <p:spPr>
                <a:xfrm>
                  <a:off x="4546" y="3538"/>
                  <a:ext cx="528" cy="318"/>
                </a:xfrm>
                <a:prstGeom prst="rect">
                  <a:avLst/>
                </a:prstGeom>
                <a:blipFill rotWithShape="0">
                  <a:blip r:embed="rId1"/>
                </a:blipFill>
                <a:ln w="9525"/>
                <a:scene3d>
                  <a:camera prst="legacyObliqueTopRight">
                    <a:rot lat="0" lon="0" rev="0"/>
                  </a:camera>
                  <a:lightRig rig="legacyFlat3" dir="b"/>
                </a:scene3d>
                <a:sp3d extrusionH="430200" prstMaterial="legacyMatte">
                  <a:bevelT w="13500" h="13500" prst="angle"/>
                  <a:bevelB w="13500" h="13500" prst="angle"/>
                  <a:extrusionClr>
                    <a:srgbClr val="FFFFFF"/>
                  </a:extrusionClr>
                </a:sp3d>
              </p:spPr>
              <p:txBody>
                <a:bodyPr wrap="none" anchor="ctr" anchorCtr="0">
                  <a:flatTx/>
                </a:bodyPr>
                <a:p>
                  <a:endParaRPr lang="zh-CN" altLang="en-US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5609" name="Line 73"/>
                <p:cNvSpPr/>
                <p:nvPr/>
              </p:nvSpPr>
              <p:spPr>
                <a:xfrm>
                  <a:off x="4928" y="3544"/>
                  <a:ext cx="0" cy="319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5610" name="Line 74"/>
                <p:cNvSpPr/>
                <p:nvPr/>
              </p:nvSpPr>
              <p:spPr>
                <a:xfrm flipV="1">
                  <a:off x="4690" y="3447"/>
                  <a:ext cx="96" cy="91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5611" name="Line 75"/>
                <p:cNvSpPr/>
                <p:nvPr/>
              </p:nvSpPr>
              <p:spPr>
                <a:xfrm flipV="1">
                  <a:off x="4930" y="3447"/>
                  <a:ext cx="96" cy="91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5612" name="Line 76"/>
                <p:cNvSpPr/>
                <p:nvPr/>
              </p:nvSpPr>
              <p:spPr>
                <a:xfrm>
                  <a:off x="4690" y="3538"/>
                  <a:ext cx="0" cy="318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5613" name="Text Box 77"/>
                <p:cNvSpPr txBox="1"/>
                <p:nvPr/>
              </p:nvSpPr>
              <p:spPr>
                <a:xfrm>
                  <a:off x="4642" y="3529"/>
                  <a:ext cx="319" cy="329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/>
                  <a:r>
                    <a:rPr lang="en-US" altLang="zh-CN" sz="2800" b="1" dirty="0">
                      <a:solidFill>
                        <a:srgbClr val="FF3300"/>
                      </a:solidFill>
                      <a:latin typeface="Arial Narrow" panose="020B0606020202030204" pitchFamily="34" charset="0"/>
                      <a:ea typeface="宋体" panose="02010600030101010101" pitchFamily="2" charset="-122"/>
                    </a:rPr>
                    <a:t>15</a:t>
                  </a:r>
                  <a:endParaRPr lang="en-US" altLang="zh-CN" sz="2800" dirty="0">
                    <a:solidFill>
                      <a:srgbClr val="FF3300"/>
                    </a:solidFill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65614" name="Line 78"/>
              <p:cNvSpPr/>
              <p:nvPr/>
            </p:nvSpPr>
            <p:spPr>
              <a:xfrm>
                <a:off x="1421" y="3320"/>
                <a:ext cx="192" cy="0"/>
              </a:xfrm>
              <a:prstGeom prst="line">
                <a:avLst/>
              </a:prstGeom>
              <a:ln w="38100" cap="flat" cmpd="sng">
                <a:solidFill>
                  <a:srgbClr val="0000FF"/>
                </a:solidFill>
                <a:prstDash val="solid"/>
                <a:round/>
                <a:headEnd type="triangle" w="sm" len="med"/>
                <a:tailEnd type="none" w="sm" len="med"/>
              </a:ln>
            </p:spPr>
          </p:sp>
          <p:sp>
            <p:nvSpPr>
              <p:cNvPr id="65615" name="Line 79"/>
              <p:cNvSpPr/>
              <p:nvPr/>
            </p:nvSpPr>
            <p:spPr>
              <a:xfrm>
                <a:off x="2971" y="3337"/>
                <a:ext cx="192" cy="0"/>
              </a:xfrm>
              <a:prstGeom prst="line">
                <a:avLst/>
              </a:prstGeom>
              <a:ln w="38100" cap="flat" cmpd="sng">
                <a:solidFill>
                  <a:srgbClr val="0000FF"/>
                </a:solidFill>
                <a:prstDash val="solid"/>
                <a:round/>
                <a:headEnd type="triangle" w="med" len="med"/>
                <a:tailEnd type="none" w="sm" len="med"/>
              </a:ln>
            </p:spPr>
          </p:sp>
          <p:sp>
            <p:nvSpPr>
              <p:cNvPr id="65616" name="Line 80"/>
              <p:cNvSpPr/>
              <p:nvPr/>
            </p:nvSpPr>
            <p:spPr>
              <a:xfrm>
                <a:off x="3149" y="3355"/>
                <a:ext cx="0" cy="192"/>
              </a:xfrm>
              <a:prstGeom prst="line">
                <a:avLst/>
              </a:prstGeom>
              <a:ln w="3810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5617" name="Line 81"/>
              <p:cNvSpPr/>
              <p:nvPr/>
            </p:nvSpPr>
            <p:spPr>
              <a:xfrm>
                <a:off x="701" y="3365"/>
                <a:ext cx="144" cy="0"/>
              </a:xfrm>
              <a:prstGeom prst="line">
                <a:avLst/>
              </a:prstGeom>
              <a:ln w="3810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5618" name="Line 82"/>
              <p:cNvSpPr/>
              <p:nvPr/>
            </p:nvSpPr>
            <p:spPr>
              <a:xfrm flipH="1">
                <a:off x="697" y="3537"/>
                <a:ext cx="2448" cy="0"/>
              </a:xfrm>
              <a:prstGeom prst="line">
                <a:avLst/>
              </a:prstGeom>
              <a:ln w="3810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5619" name="Line 83"/>
              <p:cNvSpPr/>
              <p:nvPr/>
            </p:nvSpPr>
            <p:spPr>
              <a:xfrm>
                <a:off x="701" y="3365"/>
                <a:ext cx="0" cy="182"/>
              </a:xfrm>
              <a:prstGeom prst="line">
                <a:avLst/>
              </a:prstGeom>
              <a:ln w="3810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5620" name="Line 84"/>
              <p:cNvSpPr/>
              <p:nvPr/>
            </p:nvSpPr>
            <p:spPr>
              <a:xfrm>
                <a:off x="1421" y="3183"/>
                <a:ext cx="192" cy="0"/>
              </a:xfrm>
              <a:prstGeom prst="line">
                <a:avLst/>
              </a:prstGeom>
              <a:ln w="38100" cap="flat" cmpd="sng">
                <a:solidFill>
                  <a:srgbClr val="FF00FF"/>
                </a:solidFill>
                <a:prstDash val="solid"/>
                <a:round/>
                <a:headEnd type="none" w="med" len="med"/>
                <a:tailEnd type="triangle" w="sm" len="med"/>
              </a:ln>
            </p:spPr>
          </p:sp>
          <p:sp>
            <p:nvSpPr>
              <p:cNvPr id="65621" name="Line 85"/>
              <p:cNvSpPr/>
              <p:nvPr/>
            </p:nvSpPr>
            <p:spPr>
              <a:xfrm>
                <a:off x="2971" y="3200"/>
                <a:ext cx="192" cy="0"/>
              </a:xfrm>
              <a:prstGeom prst="line">
                <a:avLst/>
              </a:prstGeom>
              <a:ln w="38100" cap="flat" cmpd="sng">
                <a:solidFill>
                  <a:srgbClr val="FF00F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65622" name="Line 86"/>
              <p:cNvSpPr/>
              <p:nvPr/>
            </p:nvSpPr>
            <p:spPr>
              <a:xfrm>
                <a:off x="701" y="3183"/>
                <a:ext cx="144" cy="0"/>
              </a:xfrm>
              <a:prstGeom prst="line">
                <a:avLst/>
              </a:prstGeom>
              <a:ln w="38100" cap="flat" cmpd="sng">
                <a:solidFill>
                  <a:srgbClr val="FF00FF"/>
                </a:solidFill>
                <a:prstDash val="solid"/>
                <a:round/>
                <a:headEnd type="none" w="med" len="med"/>
                <a:tailEnd type="triangle" w="sm" len="med"/>
              </a:ln>
            </p:spPr>
          </p:sp>
          <p:sp>
            <p:nvSpPr>
              <p:cNvPr id="65623" name="Line 87"/>
              <p:cNvSpPr/>
              <p:nvPr/>
            </p:nvSpPr>
            <p:spPr>
              <a:xfrm flipH="1" flipV="1">
                <a:off x="701" y="2971"/>
                <a:ext cx="2448" cy="0"/>
              </a:xfrm>
              <a:prstGeom prst="line">
                <a:avLst/>
              </a:prstGeom>
              <a:ln w="38100" cap="flat" cmpd="sng">
                <a:solidFill>
                  <a:srgbClr val="FF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5624" name="Line 88"/>
              <p:cNvSpPr/>
              <p:nvPr/>
            </p:nvSpPr>
            <p:spPr>
              <a:xfrm>
                <a:off x="701" y="2971"/>
                <a:ext cx="0" cy="212"/>
              </a:xfrm>
              <a:prstGeom prst="line">
                <a:avLst/>
              </a:prstGeom>
              <a:ln w="38100" cap="flat" cmpd="sng">
                <a:solidFill>
                  <a:srgbClr val="FF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5625" name="Line 89"/>
              <p:cNvSpPr/>
              <p:nvPr/>
            </p:nvSpPr>
            <p:spPr>
              <a:xfrm>
                <a:off x="3149" y="2971"/>
                <a:ext cx="0" cy="227"/>
              </a:xfrm>
              <a:prstGeom prst="line">
                <a:avLst/>
              </a:prstGeom>
              <a:ln w="38100" cap="flat" cmpd="sng">
                <a:solidFill>
                  <a:srgbClr val="FF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5626" name="Line 90"/>
              <p:cNvSpPr/>
              <p:nvPr/>
            </p:nvSpPr>
            <p:spPr>
              <a:xfrm>
                <a:off x="2187" y="3333"/>
                <a:ext cx="192" cy="0"/>
              </a:xfrm>
              <a:prstGeom prst="line">
                <a:avLst/>
              </a:prstGeom>
              <a:ln w="38100" cap="flat" cmpd="sng">
                <a:solidFill>
                  <a:srgbClr val="00FF00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sp>
          <p:sp>
            <p:nvSpPr>
              <p:cNvPr id="65627" name="Line 91"/>
              <p:cNvSpPr/>
              <p:nvPr/>
            </p:nvSpPr>
            <p:spPr>
              <a:xfrm flipV="1">
                <a:off x="2201" y="3196"/>
                <a:ext cx="178" cy="17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</p:grpSp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525" y="908685"/>
            <a:ext cx="11087735" cy="5144135"/>
          </a:xfrm>
        </p:spPr>
        <p:txBody>
          <a:bodyPr/>
          <a:p>
            <a:pPr algn="l" eaLnBrk="1" hangingPunct="1">
              <a:buClrTx/>
              <a:buSzTx/>
            </a:pP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顺序表与链表的比较（空间）</a:t>
            </a:r>
            <a:endParaRPr lang="zh-CN" altLang="en-US" sz="280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algn="l" eaLnBrk="1" hangingPunct="1">
              <a:buClrTx/>
              <a:buSzTx/>
              <a:buChar char="l"/>
            </a:pP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存储分配的方式</a:t>
            </a:r>
            <a:endParaRPr lang="zh-CN" altLang="en-US" sz="280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顺序表的存储空间是静态分配的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链表的存储空间是动态分配的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algn="l" eaLnBrk="1" hangingPunct="1">
              <a:buClrTx/>
              <a:buSzTx/>
              <a:buChar char="l"/>
            </a:pP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存储密度 = 结点数据本身所占的存储量/结点结构所占的存储总量</a:t>
            </a:r>
            <a:endParaRPr lang="zh-CN" altLang="en-US" sz="280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顺序表的存储密度 = 1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链表的存储密度 &lt; 1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algn="l" eaLnBrk="1" hangingPunct="1">
              <a:lnSpc>
                <a:spcPct val="100000"/>
              </a:lnSpc>
              <a:buClrTx/>
              <a:buSzTx/>
              <a:buChar char="l"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2.3 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线性表的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链式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表示和实现</a:t>
            </a:r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525" y="908685"/>
            <a:ext cx="11087735" cy="5144135"/>
          </a:xfrm>
        </p:spPr>
        <p:txBody>
          <a:bodyPr/>
          <a:p>
            <a:pPr algn="l" eaLnBrk="1" hangingPunct="1">
              <a:buClrTx/>
              <a:buSzTx/>
            </a:pP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顺序表与链表的比较（时间）</a:t>
            </a:r>
            <a:endParaRPr lang="zh-CN" altLang="en-US" sz="280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algn="l" eaLnBrk="1" hangingPunct="1">
              <a:buClrTx/>
              <a:buSzTx/>
              <a:buChar char="l"/>
            </a:pP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存取方式</a:t>
            </a:r>
            <a:endParaRPr lang="zh-CN" altLang="en-US" sz="280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顺序表可以随机存取，也可以顺序存取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链表必须顺序存取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algn="l" eaLnBrk="1" hangingPunct="1">
              <a:buClrTx/>
              <a:buSzTx/>
              <a:buChar char="l"/>
            </a:pP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插入/删除时移动元素个数</a:t>
            </a:r>
            <a:endParaRPr lang="zh-CN" altLang="en-US" sz="280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顺序表平均需要移动近一半元素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链表不需要移动元素，只需要修改指针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marL="609600" indent="-609600" eaLnBrk="1" hangingPunct="1">
              <a:buClr>
                <a:schemeClr val="accent1"/>
              </a:buClr>
              <a:buSzTx/>
              <a:buFont typeface="Wingdings" panose="05000000000000000000" pitchFamily="2" charset="2"/>
              <a:buChar char="n"/>
            </a:pPr>
            <a:endParaRPr lang="en-US" altLang="zh-CN" sz="2800" dirty="0">
              <a:latin typeface="黑体" panose="02010609060101010101" pitchFamily="2" charset="-122"/>
            </a:endParaRPr>
          </a:p>
          <a:p>
            <a:pPr algn="l" eaLnBrk="1" hangingPunct="1">
              <a:lnSpc>
                <a:spcPct val="100000"/>
              </a:lnSpc>
              <a:buClrTx/>
              <a:buSzTx/>
              <a:buChar char="l"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2.3 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线性表的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链式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表示和实现</a:t>
            </a:r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525" y="908685"/>
            <a:ext cx="11087735" cy="5144135"/>
          </a:xfrm>
        </p:spPr>
        <p:txBody>
          <a:bodyPr/>
          <a:p>
            <a:pPr algn="l" eaLnBrk="1" hangingPunct="1">
              <a:buClrTx/>
              <a:buSzTx/>
            </a:pP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当应用场景决定使用线性表作为数据结构，顺序表与链表的比较</a:t>
            </a:r>
            <a:endParaRPr lang="zh-CN" altLang="en-US" sz="280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如果线性表主要是存储大量的数据，并主要用于查找时，采用顺序表较好，如数据库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如果线性表存储的数据元素经常需要做插入与删除操作，则采用链表较好，如操作系统中进程控制块(PCB)的管理，内存空间的管理等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endParaRPr lang="zh-CN" altLang="en-US" sz="2800" b="0" dirty="0">
              <a:latin typeface="黑体" panose="02010609060101010101" pitchFamily="2" charset="-122"/>
              <a:ea typeface="黑体" panose="02010609060101010101" pitchFamily="2" charset="-122"/>
              <a:cs typeface="+mn-cs"/>
            </a:endParaRPr>
          </a:p>
          <a:p>
            <a:pPr algn="l" eaLnBrk="1" hangingPunct="1">
              <a:lnSpc>
                <a:spcPct val="100000"/>
              </a:lnSpc>
              <a:buClrTx/>
              <a:buSzTx/>
              <a:buChar char="l"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2.3 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线性表的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链式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表示和实现</a:t>
            </a:r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p>
            <a:pPr marR="0" lvl="0" algn="l" defTabSz="12192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已知非空循环链表，设h是指向头结点的指针，p是辅助指针。执行以下程序段的作用是什么？</a:t>
            </a:r>
            <a:endParaRPr kumimoji="0" lang="zh-CN" altLang="en-US" i="0" u="none" strike="noStrike" kern="0" cap="none" spc="0" normalizeH="0" baseline="0" dirty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  <a:cs typeface="+mn-cs"/>
            </a:endParaRPr>
          </a:p>
          <a:p>
            <a:pPr marL="0" marR="0" lvl="0" indent="0" algn="l" defTabSz="1219200" rtl="0" eaLnBrk="1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None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	p=h; </a:t>
            </a:r>
            <a:endParaRPr kumimoji="0" lang="zh-CN" altLang="en-US" i="0" u="none" strike="noStrike" kern="0" cap="none" spc="0" normalizeH="0" baseline="0" dirty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  <a:cs typeface="+mn-cs"/>
            </a:endParaRPr>
          </a:p>
          <a:p>
            <a:pPr marL="0" marR="0" lvl="0" indent="0" algn="l" defTabSz="1219200" rtl="0" eaLnBrk="1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None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	while (p-&gt;next-&gt;next!=h) </a:t>
            </a:r>
            <a:endParaRPr kumimoji="0" lang="zh-CN" altLang="en-US" i="0" u="none" strike="noStrike" kern="0" cap="none" spc="0" normalizeH="0" baseline="0" dirty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  <a:cs typeface="+mn-cs"/>
            </a:endParaRPr>
          </a:p>
          <a:p>
            <a:pPr marL="0" marR="0" lvl="0" indent="0" algn="l" defTabSz="1219200" rtl="0" eaLnBrk="1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None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	       p=p-&gt;next; </a:t>
            </a:r>
            <a:endParaRPr kumimoji="0" lang="zh-CN" altLang="en-US" i="0" u="none" strike="noStrike" kern="0" cap="none" spc="0" normalizeH="0" baseline="0" dirty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  <a:cs typeface="+mn-cs"/>
            </a:endParaRPr>
          </a:p>
          <a:p>
            <a:pPr marL="0" marR="0" lvl="0" indent="0" algn="l" defTabSz="1219200" rtl="0" eaLnBrk="1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None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	p-&gt;next=h; </a:t>
            </a:r>
            <a:endParaRPr kumimoji="0" lang="zh-CN" altLang="en-US" i="0" u="none" strike="noStrike" kern="0" cap="none" spc="0" normalizeH="0" baseline="0" dirty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  <a:cs typeface="+mn-cs"/>
            </a:endParaRPr>
          </a:p>
          <a:p>
            <a:pPr marR="0" lvl="0" algn="l" defTabSz="12192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</a:pPr>
            <a:endParaRPr kumimoji="0" lang="zh-CN" altLang="en-US" i="0" u="none" strike="noStrike" kern="0" cap="none" spc="0" normalizeH="0" baseline="0" dirty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  <a:cs typeface="+mn-cs"/>
            </a:endParaRPr>
          </a:p>
          <a:p>
            <a:pPr marR="0" lvl="0" algn="l" defTabSz="12192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习题2.双向链表中前驱指针为prior，后继指针为next，在指针P所指结点前插入指针S所指的结点，请写出要执行的四行语句？ 	</a:t>
            </a:r>
            <a:endParaRPr kumimoji="0" lang="zh-CN" altLang="en-US" i="0" u="none" strike="noStrike" kern="0" cap="none" spc="0" normalizeH="0" baseline="0" dirty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  <a:cs typeface="+mn-cs"/>
            </a:endParaRPr>
          </a:p>
          <a:p>
            <a:pPr marR="0" lvl="0" algn="l" defTabSz="12192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</a:pPr>
            <a:endParaRPr kumimoji="0" lang="zh-CN" altLang="en-US" i="0" u="none" strike="noStrike" kern="0" cap="none" spc="0" normalizeH="0" baseline="0" dirty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  <a:cs typeface="+mn-cs"/>
            </a:endParaRPr>
          </a:p>
          <a:p>
            <a:pPr marR="0" lvl="0" algn="l" defTabSz="12192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pPr algn="l">
              <a:buClrTx/>
              <a:buSzTx/>
              <a:buFontTx/>
            </a:pPr>
            <a:r>
              <a:rPr lang="zh-CN" altLang="en-US" sz="400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练习</a:t>
            </a:r>
            <a:endParaRPr lang="zh-CN" altLang="en-US" sz="4000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" name="直接连接符 23" hidden="1"/>
          <p:cNvSpPr>
            <a:spLocks noChangeShapeType="1"/>
          </p:cNvSpPr>
          <p:nvPr/>
        </p:nvSpPr>
        <p:spPr bwMode="auto">
          <a:xfrm>
            <a:off x="3181350" y="431800"/>
            <a:ext cx="0" cy="525463"/>
          </a:xfrm>
          <a:prstGeom prst="line">
            <a:avLst/>
          </a:prstGeom>
          <a:noFill/>
          <a:ln w="12700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椭圆 24"/>
          <p:cNvSpPr>
            <a:spLocks noChangeArrowheads="1"/>
          </p:cNvSpPr>
          <p:nvPr/>
        </p:nvSpPr>
        <p:spPr bwMode="auto">
          <a:xfrm>
            <a:off x="3662667" y="280019"/>
            <a:ext cx="549275" cy="549275"/>
          </a:xfrm>
          <a:prstGeom prst="ellipse">
            <a:avLst/>
          </a:prstGeom>
          <a:pattFill prst="sphere">
            <a:fgClr>
              <a:srgbClr val="4F81BD"/>
            </a:fgClr>
            <a:bgClr>
              <a:srgbClr val="FFFFFF"/>
            </a:bgClr>
          </a:pattFill>
          <a:ln w="9525" cap="flat" cmpd="sng">
            <a:solidFill>
              <a:srgbClr val="4DB8DD"/>
            </a:solidFill>
            <a:bevel/>
          </a:ln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33" name="直接连接符 23"/>
          <p:cNvSpPr>
            <a:spLocks noChangeShapeType="1"/>
          </p:cNvSpPr>
          <p:nvPr/>
        </p:nvSpPr>
        <p:spPr bwMode="auto">
          <a:xfrm>
            <a:off x="4238612" y="927719"/>
            <a:ext cx="3583940" cy="635"/>
          </a:xfrm>
          <a:prstGeom prst="line">
            <a:avLst/>
          </a:prstGeom>
          <a:noFill/>
          <a:ln w="19050" cap="flat" cmpd="sng">
            <a:solidFill>
              <a:schemeClr val="accent1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Rectangle 3"/>
          <p:cNvSpPr txBox="1">
            <a:spLocks noChangeArrowheads="1"/>
          </p:cNvSpPr>
          <p:nvPr/>
        </p:nvSpPr>
        <p:spPr>
          <a:xfrm>
            <a:off x="3469640" y="1268730"/>
            <a:ext cx="6001385" cy="4664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altLang="en-US" sz="3200" b="1" dirty="0">
                <a:latin typeface="宋体" panose="02010600030101010101" pitchFamily="2" charset="-122"/>
                <a:sym typeface="+mn-ea"/>
              </a:rPr>
              <a:t>线性表的类型定义</a:t>
            </a:r>
            <a:endParaRPr lang="zh-CN" altLang="en-US" sz="3200" b="1" dirty="0">
              <a:latin typeface="宋体" panose="02010600030101010101" pitchFamily="2" charset="-122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altLang="en-US" sz="3200" b="1" dirty="0">
                <a:latin typeface="宋体" panose="02010600030101010101" pitchFamily="2" charset="-122"/>
                <a:sym typeface="+mn-ea"/>
              </a:rPr>
              <a:t>线性表的顺序表示和实现</a:t>
            </a:r>
            <a:endParaRPr lang="zh-CN" altLang="en-US" sz="3200" b="1" dirty="0">
              <a:latin typeface="宋体" panose="02010600030101010101" pitchFamily="2" charset="-122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altLang="en-US" sz="3200" b="1" dirty="0">
                <a:latin typeface="宋体" panose="02010600030101010101" pitchFamily="2" charset="-122"/>
                <a:sym typeface="+mn-ea"/>
              </a:rPr>
              <a:t>线性表的链式表示和实现</a:t>
            </a:r>
            <a:endParaRPr lang="zh-CN" altLang="en-US" sz="3200" b="1" dirty="0">
              <a:latin typeface="宋体" panose="02010600030101010101" pitchFamily="2" charset="-122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altLang="en-US" sz="3200" b="1" dirty="0">
                <a:latin typeface="宋体" panose="02010600030101010101" pitchFamily="2" charset="-122"/>
                <a:sym typeface="+mn-ea"/>
              </a:rPr>
              <a:t>一元多项式的表示和实现</a:t>
            </a:r>
            <a:endParaRPr lang="zh-CN" altLang="en-US" sz="3200" b="1" dirty="0">
              <a:latin typeface="宋体" panose="02010600030101010101" pitchFamily="2" charset="-122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endParaRPr lang="zh-CN" altLang="en-US" sz="3200" b="1" dirty="0">
              <a:latin typeface="楷体" panose="02010609060101010101" charset="-122"/>
              <a:ea typeface="楷体" panose="02010609060101010101" charset="-122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endParaRPr kumimoji="0" lang="zh-CN" altLang="en-US" sz="3200" b="0" i="0" u="none" strike="noStrike" kern="1200" cap="none" spc="0" normalizeH="0" baseline="0" noProof="0" dirty="0" err="1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charset="-122"/>
              <a:ea typeface="楷体" panose="02010609060101010101" charset="-122"/>
              <a:cs typeface="+mn-cs"/>
            </a:endParaRPr>
          </a:p>
          <a:p>
            <a:pPr marL="1028700" marR="0" lvl="1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charset="0"/>
              <a:buChar char="Ø"/>
              <a:defRPr/>
            </a:pPr>
            <a:endParaRPr kumimoji="0" lang="zh-CN" altLang="en-US" sz="3200" b="0" i="0" u="none" strike="noStrike" kern="1200" cap="none" spc="0" normalizeH="0" baseline="0" noProof="0" dirty="0" err="1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charset="-122"/>
              <a:ea typeface="楷体" panose="02010609060101010101" charset="-122"/>
              <a:cs typeface="+mn-cs"/>
              <a:sym typeface="+mn-l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4079875" y="2941320"/>
            <a:ext cx="4613275" cy="530860"/>
          </a:xfrm>
          <a:prstGeom prst="rect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46" name="Text Box 2"/>
          <p:cNvSpPr txBox="1"/>
          <p:nvPr/>
        </p:nvSpPr>
        <p:spPr>
          <a:xfrm>
            <a:off x="4007168" y="188278"/>
            <a:ext cx="3960812" cy="7683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/>
            <a:r>
              <a:rPr lang="zh-CN" altLang="en-US" sz="4400" b="1" dirty="0">
                <a:solidFill>
                  <a:srgbClr val="0000CC"/>
                </a:solidFill>
                <a:latin typeface="宋体" panose="02010600030101010101" pitchFamily="2" charset="-122"/>
              </a:rPr>
              <a:t>第二章 线性表</a:t>
            </a:r>
            <a:endParaRPr lang="zh-CN" altLang="en-US" sz="4400" dirty="0">
              <a:solidFill>
                <a:srgbClr val="0000CC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525" y="908685"/>
            <a:ext cx="11087735" cy="5144135"/>
          </a:xfrm>
        </p:spPr>
        <p:txBody>
          <a:bodyPr/>
          <a:p>
            <a:pPr algn="l" eaLnBrk="1" hangingPunct="1">
              <a:buClrTx/>
              <a:buSzTx/>
            </a:pP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一元多项式  </a:t>
            </a: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p(x)=p</a:t>
            </a:r>
            <a:r>
              <a:rPr lang="en-US" altLang="zh-CN" sz="2800" baseline="-25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0</a:t>
            </a: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+p</a:t>
            </a:r>
            <a:r>
              <a:rPr lang="en-US" altLang="zh-CN" sz="2800" baseline="-25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1</a:t>
            </a: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x+p</a:t>
            </a:r>
            <a:r>
              <a:rPr lang="en-US" altLang="zh-CN" sz="2800" baseline="-25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2</a:t>
            </a: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x</a:t>
            </a:r>
            <a:r>
              <a:rPr lang="en-US" altLang="zh-CN" sz="2800" baseline="30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2</a:t>
            </a: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+ … +p</a:t>
            </a:r>
            <a:r>
              <a:rPr lang="en-US" altLang="zh-CN" sz="2800" baseline="-25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n</a:t>
            </a: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x</a:t>
            </a:r>
            <a:r>
              <a:rPr lang="en-US" altLang="zh-CN" sz="2800" baseline="30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n </a:t>
            </a: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，</a:t>
            </a:r>
            <a:endParaRPr lang="en-US" altLang="zh-CN" sz="28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由n+1个系数唯一确定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在计算机中可用线性表(p</a:t>
            </a:r>
            <a:r>
              <a:rPr lang="zh-CN" altLang="en-US" sz="2400" baseline="-250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0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 ，p</a:t>
            </a:r>
            <a:r>
              <a:rPr lang="zh-CN" altLang="en-US" sz="2400" baseline="-250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1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 ，p</a:t>
            </a:r>
            <a:r>
              <a:rPr lang="zh-CN" altLang="en-US" sz="2400" baseline="-250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2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 ，… ，p</a:t>
            </a:r>
            <a:r>
              <a:rPr lang="zh-CN" altLang="en-US" sz="2400" baseline="-250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n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 )表示。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可以用顺序表和链表来实现。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lnSpc>
                <a:spcPct val="100000"/>
              </a:lnSpc>
              <a:buClrTx/>
              <a:buSzTx/>
              <a:buChar char="•"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2.4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一元多项式的表示和实现</a:t>
            </a:r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983615" y="3068955"/>
            <a:ext cx="9455150" cy="2743200"/>
            <a:chOff x="2850" y="5175"/>
            <a:chExt cx="14890" cy="4320"/>
          </a:xfrm>
        </p:grpSpPr>
        <p:sp>
          <p:nvSpPr>
            <p:cNvPr id="71684" name="Rectangle 4"/>
            <p:cNvSpPr/>
            <p:nvPr/>
          </p:nvSpPr>
          <p:spPr>
            <a:xfrm>
              <a:off x="2850" y="5288"/>
              <a:ext cx="6733" cy="384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 anchor="t" anchorCtr="0"/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en-US" altLang="zh-CN" sz="2000" b="1" dirty="0">
                  <a:latin typeface="黑体" panose="02010609060101010101" pitchFamily="2" charset="-122"/>
                  <a:ea typeface="黑体" panose="02010609060101010101" pitchFamily="2" charset="-122"/>
                  <a:cs typeface="黑体" panose="02010609060101010101" pitchFamily="2" charset="-122"/>
                </a:rPr>
                <a:t>(1)    </a:t>
              </a:r>
              <a:r>
                <a:rPr lang="zh-CN" altLang="en-US" sz="2000" b="1" dirty="0">
                  <a:latin typeface="黑体" panose="02010609060101010101" pitchFamily="2" charset="-122"/>
                  <a:ea typeface="黑体" panose="02010609060101010101" pitchFamily="2" charset="-122"/>
                  <a:cs typeface="黑体" panose="02010609060101010101" pitchFamily="2" charset="-122"/>
                </a:rPr>
                <a:t>顺序存储表示的类型</a:t>
              </a:r>
              <a:endParaRPr lang="zh-CN" altLang="en-US" sz="2000" b="1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en-US" altLang="zh-CN" sz="2000" b="1" dirty="0">
                  <a:latin typeface="黑体" panose="02010609060101010101" pitchFamily="2" charset="-122"/>
                  <a:ea typeface="黑体" panose="02010609060101010101" pitchFamily="2" charset="-122"/>
                  <a:cs typeface="黑体" panose="02010609060101010101" pitchFamily="2" charset="-122"/>
                </a:rPr>
                <a:t>typedef struct</a:t>
              </a:r>
              <a:endParaRPr lang="en-US" altLang="zh-CN" sz="2000" b="1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en-US" altLang="zh-CN" sz="2000" b="1" dirty="0">
                  <a:latin typeface="黑体" panose="02010609060101010101" pitchFamily="2" charset="-122"/>
                  <a:ea typeface="黑体" panose="02010609060101010101" pitchFamily="2" charset="-122"/>
                  <a:cs typeface="黑体" panose="02010609060101010101" pitchFamily="2" charset="-122"/>
                </a:rPr>
                <a:t>{  float  coef;   /*</a:t>
              </a:r>
              <a:r>
                <a:rPr lang="zh-CN" altLang="en-US" sz="2000" b="1" dirty="0">
                  <a:latin typeface="黑体" panose="02010609060101010101" pitchFamily="2" charset="-122"/>
                  <a:ea typeface="黑体" panose="02010609060101010101" pitchFamily="2" charset="-122"/>
                  <a:cs typeface="黑体" panose="02010609060101010101" pitchFamily="2" charset="-122"/>
                </a:rPr>
                <a:t>系数部分*</a:t>
              </a:r>
              <a:r>
                <a:rPr lang="en-US" altLang="zh-CN" sz="2000" b="1" dirty="0">
                  <a:latin typeface="黑体" panose="02010609060101010101" pitchFamily="2" charset="-122"/>
                  <a:ea typeface="黑体" panose="02010609060101010101" pitchFamily="2" charset="-122"/>
                  <a:cs typeface="黑体" panose="02010609060101010101" pitchFamily="2" charset="-122"/>
                </a:rPr>
                <a:t>/   </a:t>
              </a:r>
              <a:endParaRPr lang="en-US" altLang="zh-CN" sz="2000" b="1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en-US" altLang="zh-CN" sz="2000" b="1" dirty="0">
                  <a:latin typeface="黑体" panose="02010609060101010101" pitchFamily="2" charset="-122"/>
                  <a:ea typeface="黑体" panose="02010609060101010101" pitchFamily="2" charset="-122"/>
                  <a:cs typeface="黑体" panose="02010609060101010101" pitchFamily="2" charset="-122"/>
                </a:rPr>
                <a:t>   int    expn;   /*</a:t>
              </a:r>
              <a:r>
                <a:rPr lang="zh-CN" altLang="en-US" sz="2000" b="1" dirty="0">
                  <a:latin typeface="黑体" panose="02010609060101010101" pitchFamily="2" charset="-122"/>
                  <a:ea typeface="黑体" panose="02010609060101010101" pitchFamily="2" charset="-122"/>
                  <a:cs typeface="黑体" panose="02010609060101010101" pitchFamily="2" charset="-122"/>
                </a:rPr>
                <a:t>指数部分*</a:t>
              </a:r>
              <a:r>
                <a:rPr lang="en-US" altLang="zh-CN" sz="2000" b="1" dirty="0">
                  <a:latin typeface="黑体" panose="02010609060101010101" pitchFamily="2" charset="-122"/>
                  <a:ea typeface="黑体" panose="02010609060101010101" pitchFamily="2" charset="-122"/>
                  <a:cs typeface="黑体" panose="02010609060101010101" pitchFamily="2" charset="-122"/>
                </a:rPr>
                <a:t>/</a:t>
              </a:r>
              <a:endParaRPr lang="en-US" altLang="zh-CN" sz="2000" b="1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en-US" altLang="zh-CN" sz="2000" b="1" dirty="0">
                  <a:latin typeface="黑体" panose="02010609060101010101" pitchFamily="2" charset="-122"/>
                  <a:ea typeface="黑体" panose="02010609060101010101" pitchFamily="2" charset="-122"/>
                  <a:cs typeface="黑体" panose="02010609060101010101" pitchFamily="2" charset="-122"/>
                </a:rPr>
                <a:t>} ElemType ;</a:t>
              </a:r>
              <a:endParaRPr lang="en-US" altLang="zh-CN" sz="2000" b="1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endParaRPr>
            </a:p>
          </p:txBody>
        </p:sp>
        <p:sp>
          <p:nvSpPr>
            <p:cNvPr id="71685" name="Rectangle 5"/>
            <p:cNvSpPr/>
            <p:nvPr/>
          </p:nvSpPr>
          <p:spPr>
            <a:xfrm>
              <a:off x="10787" y="5175"/>
              <a:ext cx="6953" cy="432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 anchor="t" anchorCtr="0"/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en-US" altLang="zh-CN" sz="2000" b="1" dirty="0">
                  <a:latin typeface="黑体" panose="02010609060101010101" pitchFamily="2" charset="-122"/>
                  <a:ea typeface="黑体" panose="02010609060101010101" pitchFamily="2" charset="-122"/>
                  <a:cs typeface="黑体" panose="02010609060101010101" pitchFamily="2" charset="-122"/>
                </a:rPr>
                <a:t>(2)    </a:t>
              </a:r>
              <a:r>
                <a:rPr lang="zh-CN" altLang="en-US" sz="2000" b="1" dirty="0">
                  <a:latin typeface="黑体" panose="02010609060101010101" pitchFamily="2" charset="-122"/>
                  <a:ea typeface="黑体" panose="02010609060101010101" pitchFamily="2" charset="-122"/>
                  <a:cs typeface="黑体" panose="02010609060101010101" pitchFamily="2" charset="-122"/>
                </a:rPr>
                <a:t>链式存储表示的类型</a:t>
              </a:r>
              <a:endParaRPr lang="zh-CN" altLang="en-US" sz="2000" b="1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en-US" altLang="zh-CN" sz="2000" b="1" dirty="0">
                  <a:latin typeface="黑体" panose="02010609060101010101" pitchFamily="2" charset="-122"/>
                  <a:ea typeface="黑体" panose="02010609060101010101" pitchFamily="2" charset="-122"/>
                  <a:cs typeface="黑体" panose="02010609060101010101" pitchFamily="2" charset="-122"/>
                </a:rPr>
                <a:t>typedef struct ploy</a:t>
              </a:r>
              <a:endParaRPr lang="en-US" altLang="zh-CN" sz="2000" b="1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en-US" altLang="zh-CN" sz="2000" b="1" dirty="0">
                  <a:latin typeface="黑体" panose="02010609060101010101" pitchFamily="2" charset="-122"/>
                  <a:ea typeface="黑体" panose="02010609060101010101" pitchFamily="2" charset="-122"/>
                  <a:cs typeface="黑体" panose="02010609060101010101" pitchFamily="2" charset="-122"/>
                </a:rPr>
                <a:t>{   float coef ;    /*</a:t>
              </a:r>
              <a:r>
                <a:rPr lang="zh-CN" altLang="en-US" sz="2000" b="1" dirty="0">
                  <a:latin typeface="黑体" panose="02010609060101010101" pitchFamily="2" charset="-122"/>
                  <a:ea typeface="黑体" panose="02010609060101010101" pitchFamily="2" charset="-122"/>
                  <a:cs typeface="黑体" panose="02010609060101010101" pitchFamily="2" charset="-122"/>
                </a:rPr>
                <a:t>系数部分*</a:t>
              </a:r>
              <a:r>
                <a:rPr lang="en-US" altLang="zh-CN" sz="2000" b="1" dirty="0">
                  <a:latin typeface="黑体" panose="02010609060101010101" pitchFamily="2" charset="-122"/>
                  <a:ea typeface="黑体" panose="02010609060101010101" pitchFamily="2" charset="-122"/>
                  <a:cs typeface="黑体" panose="02010609060101010101" pitchFamily="2" charset="-122"/>
                </a:rPr>
                <a:t>/   </a:t>
              </a:r>
              <a:endParaRPr lang="en-US" altLang="zh-CN" sz="2000" b="1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en-US" altLang="zh-CN" sz="2000" b="1" dirty="0">
                  <a:latin typeface="黑体" panose="02010609060101010101" pitchFamily="2" charset="-122"/>
                  <a:ea typeface="黑体" panose="02010609060101010101" pitchFamily="2" charset="-122"/>
                  <a:cs typeface="黑体" panose="02010609060101010101" pitchFamily="2" charset="-122"/>
                </a:rPr>
                <a:t>    int   expn ;   /*</a:t>
              </a:r>
              <a:r>
                <a:rPr lang="zh-CN" altLang="en-US" sz="2000" b="1" dirty="0">
                  <a:latin typeface="黑体" panose="02010609060101010101" pitchFamily="2" charset="-122"/>
                  <a:ea typeface="黑体" panose="02010609060101010101" pitchFamily="2" charset="-122"/>
                  <a:cs typeface="黑体" panose="02010609060101010101" pitchFamily="2" charset="-122"/>
                </a:rPr>
                <a:t>指数部分*</a:t>
              </a:r>
              <a:r>
                <a:rPr lang="en-US" altLang="zh-CN" sz="2000" b="1" dirty="0">
                  <a:latin typeface="黑体" panose="02010609060101010101" pitchFamily="2" charset="-122"/>
                  <a:ea typeface="黑体" panose="02010609060101010101" pitchFamily="2" charset="-122"/>
                  <a:cs typeface="黑体" panose="02010609060101010101" pitchFamily="2" charset="-122"/>
                </a:rPr>
                <a:t>/ </a:t>
              </a:r>
              <a:endParaRPr lang="en-US" altLang="zh-CN" sz="2000" b="1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en-US" altLang="zh-CN" sz="2000" b="1" dirty="0">
                  <a:latin typeface="黑体" panose="02010609060101010101" pitchFamily="2" charset="-122"/>
                  <a:ea typeface="黑体" panose="02010609060101010101" pitchFamily="2" charset="-122"/>
                  <a:cs typeface="黑体" panose="02010609060101010101" pitchFamily="2" charset="-122"/>
                </a:rPr>
                <a:t>    struct ploy  *next ;</a:t>
              </a:r>
              <a:endParaRPr lang="en-US" altLang="zh-CN" sz="2000" b="1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en-US" altLang="zh-CN" sz="2000" b="1" dirty="0">
                  <a:latin typeface="黑体" panose="02010609060101010101" pitchFamily="2" charset="-122"/>
                  <a:ea typeface="黑体" panose="02010609060101010101" pitchFamily="2" charset="-122"/>
                  <a:cs typeface="黑体" panose="02010609060101010101" pitchFamily="2" charset="-122"/>
                </a:rPr>
                <a:t>} Ploy ;</a:t>
              </a:r>
              <a:endParaRPr lang="en-US" altLang="zh-CN" sz="2000" b="1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525" y="908685"/>
            <a:ext cx="11087735" cy="5144135"/>
          </a:xfrm>
        </p:spPr>
        <p:txBody>
          <a:bodyPr/>
          <a:p>
            <a:pPr algn="l" eaLnBrk="1" hangingPunct="1">
              <a:buClrTx/>
              <a:buSzTx/>
            </a:pP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一元多项式的相加</a:t>
            </a: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,</a:t>
            </a: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不失一般性，设有两个一元多项式：</a:t>
            </a:r>
            <a:endParaRPr kumimoji="0" lang="zh-CN" altLang="en-US" sz="2800" i="0" u="none" strike="noStrike" kern="0" cap="none" spc="0" normalizeH="0" baseline="0" dirty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533400" marR="0" lvl="1" indent="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None/>
              <a:defRPr/>
            </a:pP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P(x)=p</a:t>
            </a:r>
            <a:r>
              <a:rPr lang="en-US" sz="2400" b="1" baseline="-25000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0</a:t>
            </a: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+p</a:t>
            </a:r>
            <a:r>
              <a:rPr lang="en-US" sz="2400" b="1" baseline="-25000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1</a:t>
            </a: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x+p</a:t>
            </a:r>
            <a:r>
              <a:rPr lang="en-US" sz="2400" b="1" baseline="-25000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2</a:t>
            </a: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x</a:t>
            </a:r>
            <a:r>
              <a:rPr lang="en-US" sz="2400" b="1" baseline="30000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2</a:t>
            </a: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+ … +</a:t>
            </a:r>
            <a:r>
              <a:rPr lang="en-US" sz="2400" b="1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p</a:t>
            </a:r>
            <a:r>
              <a:rPr lang="en-US" sz="2400" b="1" baseline="-25000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n</a:t>
            </a:r>
            <a:r>
              <a:rPr lang="en-US" sz="2400" b="1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x</a:t>
            </a:r>
            <a:r>
              <a:rPr lang="en-US" sz="2400" b="1" baseline="30000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n</a:t>
            </a:r>
            <a:r>
              <a:rPr lang="en-US" sz="2400" b="1" baseline="30000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</a:t>
            </a:r>
            <a:r>
              <a:rPr lang="zh-CN" alt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，</a:t>
            </a:r>
            <a:endParaRPr kumimoji="0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533400" marR="0" lvl="1" indent="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None/>
              <a:defRPr/>
            </a:pP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Q(x)=q</a:t>
            </a:r>
            <a:r>
              <a:rPr lang="en-US" sz="2400" b="1" baseline="-25000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0</a:t>
            </a: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+q</a:t>
            </a:r>
            <a:r>
              <a:rPr lang="en-US" sz="2400" b="1" baseline="-25000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1</a:t>
            </a: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x+q</a:t>
            </a:r>
            <a:r>
              <a:rPr lang="en-US" sz="2400" b="1" baseline="-25000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2</a:t>
            </a: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x</a:t>
            </a:r>
            <a:r>
              <a:rPr lang="en-US" sz="2400" b="1" baseline="30000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2</a:t>
            </a: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+ … +</a:t>
            </a:r>
            <a:r>
              <a:rPr lang="en-US" sz="2400" b="1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q</a:t>
            </a:r>
            <a:r>
              <a:rPr lang="en-US" sz="2400" b="1" baseline="-25000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m</a:t>
            </a:r>
            <a:r>
              <a:rPr lang="en-US" sz="2400" b="1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x</a:t>
            </a:r>
            <a:r>
              <a:rPr lang="en-US" sz="2400" b="1" baseline="30000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m</a:t>
            </a:r>
            <a:r>
              <a:rPr lang="en-US" sz="2400" b="1" baseline="30000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   </a:t>
            </a: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(m&lt;n)</a:t>
            </a: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533400" marR="0" lvl="1" indent="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None/>
              <a:defRPr/>
            </a:pP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R(x)=P(x)+ Q(x)</a:t>
            </a: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  R(x)</a:t>
            </a:r>
            <a:r>
              <a:rPr lang="zh-CN" alt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由线性表</a:t>
            </a: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R((p</a:t>
            </a:r>
            <a:r>
              <a:rPr lang="en-US" sz="2400" b="1" baseline="-25000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0</a:t>
            </a: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+q</a:t>
            </a:r>
            <a:r>
              <a:rPr lang="en-US" sz="2400" b="1" baseline="-25000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0</a:t>
            </a: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) </a:t>
            </a:r>
            <a:r>
              <a:rPr lang="zh-CN" alt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，</a:t>
            </a: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(p</a:t>
            </a:r>
            <a:r>
              <a:rPr lang="en-US" sz="2400" b="1" baseline="-25000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1</a:t>
            </a: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+q</a:t>
            </a:r>
            <a:r>
              <a:rPr lang="en-US" sz="2400" b="1" baseline="-25000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1</a:t>
            </a: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) </a:t>
            </a:r>
            <a:r>
              <a:rPr lang="zh-CN" alt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，</a:t>
            </a: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(p</a:t>
            </a:r>
            <a:r>
              <a:rPr lang="en-US" sz="2400" b="1" baseline="-25000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2</a:t>
            </a: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+q</a:t>
            </a:r>
            <a:r>
              <a:rPr lang="en-US" sz="2400" b="1" baseline="-25000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2</a:t>
            </a: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) </a:t>
            </a:r>
            <a:r>
              <a:rPr lang="zh-CN" alt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， </a:t>
            </a: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… </a:t>
            </a:r>
            <a:r>
              <a:rPr lang="zh-CN" alt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，</a:t>
            </a: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(</a:t>
            </a:r>
            <a:r>
              <a:rPr lang="en-US" sz="2400" b="1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p</a:t>
            </a:r>
            <a:r>
              <a:rPr lang="en-US" sz="2400" b="1" baseline="-25000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m</a:t>
            </a:r>
            <a:r>
              <a:rPr lang="en-US" sz="2400" b="1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+q</a:t>
            </a:r>
            <a:r>
              <a:rPr lang="en-US" sz="2400" b="1" baseline="-25000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m</a:t>
            </a: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) </a:t>
            </a:r>
            <a:r>
              <a:rPr lang="zh-CN" alt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， </a:t>
            </a: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… </a:t>
            </a:r>
            <a:r>
              <a:rPr lang="zh-CN" alt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， </a:t>
            </a:r>
            <a:r>
              <a:rPr lang="en-US" sz="2400" b="1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p</a:t>
            </a:r>
            <a:r>
              <a:rPr lang="en-US" sz="2400" b="1" baseline="-25000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n</a:t>
            </a: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)</a:t>
            </a:r>
            <a:r>
              <a:rPr lang="zh-CN" alt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唯一表示。</a:t>
            </a:r>
            <a:endParaRPr kumimoji="0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 algn="l" eaLnBrk="1" hangingPunct="1">
              <a:buClrTx/>
              <a:buSzTx/>
              <a:buChar char="•"/>
            </a:pP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lnSpc>
                <a:spcPct val="100000"/>
              </a:lnSpc>
              <a:buClrTx/>
              <a:buSzTx/>
              <a:buChar char="•"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2.4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一元多项式的表示和实现</a:t>
            </a:r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525" y="908685"/>
            <a:ext cx="11087735" cy="5144135"/>
          </a:xfrm>
        </p:spPr>
        <p:txBody>
          <a:bodyPr/>
          <a:p>
            <a:pPr marR="0" lvl="0" algn="l" defTabSz="12192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Char char="l"/>
            </a:pP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顺序存储表示的相加非常简单</a:t>
            </a:r>
            <a:endParaRPr kumimoji="0" lang="zh-CN" altLang="en-US" sz="2800" i="0" u="none" strike="noStrike" kern="0" cap="none" spc="0" normalizeH="0" baseline="0" dirty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R="0" lvl="1" algn="l" defTabSz="12192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Char char="•"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第5项可直接访问：L.a[4].coef 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和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L.a[4].expn</a:t>
            </a:r>
            <a:endParaRPr kumimoji="0" lang="en-US" altLang="zh-CN" sz="2400" i="0" u="none" strike="noStrike" kern="0" cap="none" spc="0" normalizeH="0" baseline="0" dirty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marR="0" lvl="1" algn="l" defTabSz="12192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Char char="•"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两个多项式相加就是在两个顺序表中寻找指数expn相同的元素把两者的系数coef相加</a:t>
            </a:r>
            <a:endParaRPr lang="en-US" altLang="zh-CN" sz="2400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  <a:p>
            <a:pPr marL="609600" marR="0" lvl="1" indent="0" algn="l" defTabSz="12192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None/>
            </a:pPr>
            <a:r>
              <a:rPr lang="zh-CN" altLang="en-US" sz="2400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例如</a:t>
            </a:r>
            <a:r>
              <a:rPr lang="en-US" altLang="zh-CN" sz="2400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5+x+2x</a:t>
            </a:r>
            <a:r>
              <a:rPr lang="en-US" altLang="zh-CN" sz="2400" baseline="30000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2</a:t>
            </a:r>
            <a:r>
              <a:rPr lang="en-US" altLang="zh-CN" sz="2400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+3x</a:t>
            </a:r>
            <a:r>
              <a:rPr lang="en-US" altLang="zh-CN" sz="2400" baseline="30000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3</a:t>
            </a:r>
            <a:r>
              <a:rPr lang="zh-CN" altLang="en-US" sz="2400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，</a:t>
            </a:r>
            <a:r>
              <a:rPr lang="en-US" altLang="zh-CN" sz="2400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-5-x+6x</a:t>
            </a:r>
            <a:r>
              <a:rPr lang="en-US" altLang="zh-CN" sz="2400" baseline="30000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2</a:t>
            </a:r>
            <a:r>
              <a:rPr lang="en-US" altLang="zh-CN" sz="2400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+4x</a:t>
            </a:r>
            <a:r>
              <a:rPr lang="en-US" altLang="zh-CN" sz="2400" baseline="30000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4</a:t>
            </a:r>
            <a:r>
              <a:rPr lang="zh-CN" altLang="en-US" sz="2400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，两者相加</a:t>
            </a:r>
            <a:endParaRPr kumimoji="0" lang="en-US" altLang="zh-CN" sz="24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marR="0" lvl="1" algn="l" defTabSz="12192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None/>
            </a:pPr>
            <a:r>
              <a:rPr lang="zh-CN" altLang="en-US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X的0次方的系数为0，X的1次方的系数为0</a:t>
            </a:r>
            <a:endParaRPr kumimoji="0" lang="zh-CN" altLang="en-US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marR="0" lvl="1" algn="l" defTabSz="12192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None/>
            </a:pPr>
            <a:r>
              <a:rPr lang="zh-CN" altLang="en-US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X的2次方的系数为8，X的3次方的系数为3</a:t>
            </a:r>
            <a:endParaRPr kumimoji="0" lang="zh-CN" altLang="en-US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marR="0" lvl="1" algn="l" defTabSz="12192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None/>
            </a:pPr>
            <a:r>
              <a:rPr lang="zh-CN" altLang="en-US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X的4次方的系数为4，</a:t>
            </a:r>
            <a:r>
              <a:rPr lang="zh-CN" altLang="en-US" sz="2400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系数为</a:t>
            </a:r>
            <a:r>
              <a:rPr lang="en-US" altLang="zh-CN" sz="2400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0</a:t>
            </a:r>
            <a:r>
              <a:rPr lang="zh-CN" altLang="en-US" sz="2400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的部分不显示，最终结果：</a:t>
            </a:r>
            <a:r>
              <a:rPr lang="en-US" altLang="zh-CN" sz="2400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8x</a:t>
            </a:r>
            <a:r>
              <a:rPr lang="en-US" altLang="zh-CN" sz="2400" baseline="30000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2</a:t>
            </a:r>
            <a:r>
              <a:rPr lang="en-US" altLang="zh-CN" sz="2400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+3x</a:t>
            </a:r>
            <a:r>
              <a:rPr lang="en-US" altLang="zh-CN" sz="2400" baseline="30000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3</a:t>
            </a:r>
            <a:r>
              <a:rPr lang="en-US" altLang="zh-CN" sz="2400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+4x</a:t>
            </a:r>
            <a:r>
              <a:rPr lang="en-US" altLang="zh-CN" sz="2400" baseline="30000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4</a:t>
            </a:r>
            <a:endParaRPr kumimoji="0" lang="en-US" altLang="zh-CN" sz="24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R="0" lvl="0" algn="l" defTabSz="12192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Char char="l"/>
            </a:pP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相关顺序表操作：按值查找、插入、合并</a:t>
            </a:r>
            <a:endParaRPr lang="zh-CN" altLang="en-US" sz="28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  <a:sym typeface="+mn-ea"/>
            </a:endParaRPr>
          </a:p>
          <a:p>
            <a:pPr marR="0" lvl="0" algn="l" defTabSz="12192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Char char="l"/>
            </a:pPr>
            <a:r>
              <a:rPr kumimoji="0" lang="zh-CN" altLang="en-US" sz="2800" i="0" u="none" strike="noStrike" kern="0" cap="none" spc="0" normalizeH="0" baseline="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缺点：当</a:t>
            </a:r>
            <a:r>
              <a:rPr kumimoji="0" lang="en-US" altLang="zh-CN" sz="2800" i="0" u="none" strike="noStrike" kern="0" cap="none" spc="0" normalizeH="0" baseline="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x</a:t>
            </a:r>
            <a:r>
              <a:rPr kumimoji="0" lang="zh-CN" altLang="en-US" sz="2800" i="0" u="none" strike="noStrike" kern="0" cap="none" spc="0" normalizeH="0" baseline="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最高次幂很大但只有少数几项，不得不浪费数组空间</a:t>
            </a:r>
            <a:endParaRPr kumimoji="0" lang="zh-CN" altLang="en-US" sz="2800" i="0" u="none" strike="noStrike" kern="0" cap="none" spc="0" normalizeH="0" baseline="0" dirty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0" marR="0" lvl="0" indent="0" algn="l" defTabSz="12192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None/>
            </a:pPr>
            <a:r>
              <a:rPr lang="zh-CN" altLang="en-US" sz="2800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例如</a:t>
            </a:r>
            <a:r>
              <a:rPr lang="en-US" altLang="zh-CN" sz="2800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5+x</a:t>
            </a:r>
            <a:r>
              <a:rPr lang="en-US" altLang="zh-CN" sz="2800" baseline="30000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10</a:t>
            </a:r>
            <a:r>
              <a:rPr lang="en-US" altLang="zh-CN" sz="2800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+2x</a:t>
            </a:r>
            <a:r>
              <a:rPr lang="en-US" altLang="zh-CN" sz="2800" baseline="30000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3000</a:t>
            </a:r>
            <a:r>
              <a:rPr lang="en-US" altLang="zh-CN" sz="2800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+3x</a:t>
            </a:r>
            <a:r>
              <a:rPr lang="en-US" altLang="zh-CN" sz="2800" baseline="30000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10000</a:t>
            </a:r>
            <a:r>
              <a:rPr lang="zh-CN" altLang="en-US" sz="2800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，</a:t>
            </a:r>
            <a:r>
              <a:rPr lang="en-US" altLang="zh-CN" sz="2800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-5-x+6x</a:t>
            </a:r>
            <a:r>
              <a:rPr lang="en-US" altLang="zh-CN" sz="2800" baseline="30000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500</a:t>
            </a:r>
            <a:r>
              <a:rPr lang="en-US" altLang="zh-CN" sz="2800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+4x</a:t>
            </a:r>
            <a:r>
              <a:rPr lang="en-US" altLang="zh-CN" sz="2800" baseline="30000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1000</a:t>
            </a:r>
            <a:r>
              <a:rPr lang="zh-CN" altLang="en-US" sz="2800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，两者相加</a:t>
            </a:r>
            <a:endParaRPr kumimoji="0" lang="en-US" altLang="zh-CN" sz="28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R="0" lvl="0" algn="l" defTabSz="12192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Char char="l"/>
            </a:pPr>
            <a:endParaRPr kumimoji="0" lang="zh-CN" altLang="en-US" sz="2800" i="0" u="none" strike="noStrike" kern="0" cap="none" spc="0" normalizeH="0" baseline="0" dirty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1289050" marR="0" lvl="2" indent="-609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n"/>
              <a:defRPr/>
            </a:pP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1289050" marR="0" lvl="2" indent="-609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n"/>
              <a:defRPr/>
            </a:pP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lvl="1" algn="l" eaLnBrk="1" hangingPunct="1">
              <a:lnSpc>
                <a:spcPct val="100000"/>
              </a:lnSpc>
              <a:buClrTx/>
              <a:buSzTx/>
              <a:buChar char="•"/>
            </a:pPr>
            <a:endParaRPr lang="en-US" altLang="zh-CN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2.4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一元多项式的表示和实现</a:t>
            </a:r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525" y="908685"/>
            <a:ext cx="11087735" cy="5144135"/>
          </a:xfrm>
        </p:spPr>
        <p:txBody>
          <a:bodyPr/>
          <a:p>
            <a:pPr marR="0" lvl="0" algn="l" defTabSz="12192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Char char="l"/>
            </a:pP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链式存储表示的相加</a:t>
            </a:r>
            <a:endParaRPr kumimoji="0" lang="zh-CN" altLang="en-US" sz="2800" i="0" u="none" strike="noStrike" kern="0" cap="none" spc="0" normalizeH="0" baseline="0" dirty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R="0" lvl="1" algn="l" defTabSz="12192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Char char="•"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当采用链式存储表示时，根据结点类型定义，凡是系数为0的项不在链表中出现，从而可以大大减少链表的长度。</a:t>
            </a:r>
            <a:endParaRPr kumimoji="0" lang="en-US" altLang="zh-CN" sz="2400" i="0" u="none" strike="noStrike" kern="0" cap="none" spc="0" normalizeH="0" baseline="0" dirty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marR="0" lvl="0" algn="l" defTabSz="12192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Char char="l"/>
            </a:pP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相加的实质是： </a:t>
            </a:r>
            <a:endParaRPr kumimoji="0" lang="zh-CN" altLang="en-US" sz="2800" i="0" u="none" strike="noStrike" kern="0" cap="none" spc="0" normalizeH="0" baseline="0" dirty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R="0" lvl="1" algn="l" defTabSz="12192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Char char="•"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指数不同： 是链表的合并</a:t>
            </a:r>
            <a:endParaRPr kumimoji="0" lang="en-US" altLang="zh-CN" sz="2400" i="0" u="none" strike="noStrike" kern="0" cap="none" spc="0" normalizeH="0" baseline="0" dirty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marR="0" lvl="1" algn="l" defTabSz="12192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Char char="•"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指数相同： 系数相加，和为0，去掉结点，和不为0，修改结点的系数域</a:t>
            </a:r>
            <a:endParaRPr kumimoji="0" lang="en-US" altLang="zh-CN" sz="2400" i="0" u="none" strike="noStrike" kern="0" cap="none" spc="0" normalizeH="0" baseline="0" dirty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marR="0" lvl="0" algn="l" defTabSz="12192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Char char="l"/>
            </a:pP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程序实现的操作包括：</a:t>
            </a:r>
            <a:endParaRPr kumimoji="0" lang="zh-CN" altLang="en-US" sz="2800" i="0" u="none" strike="noStrike" kern="0" cap="none" spc="0" normalizeH="0" baseline="0" dirty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R="0" lvl="1" algn="l" defTabSz="12192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Char char="•"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多项式链表创建、相加、输出</a:t>
            </a:r>
            <a:endParaRPr kumimoji="0" lang="en-US" altLang="zh-CN" sz="2400" i="0" u="none" strike="noStrike" kern="0" cap="none" spc="0" normalizeH="0" baseline="0" dirty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marR="0" lvl="1" algn="l" defTabSz="12192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Char char="•"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项插入、删除、查找</a:t>
            </a:r>
            <a:endParaRPr kumimoji="0" lang="en-US" altLang="zh-CN" sz="2400" i="0" u="none" strike="noStrike" kern="0" cap="none" spc="0" normalizeH="0" baseline="0" dirty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marR="0" lvl="1" algn="l" defTabSz="12192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Char char="•"/>
            </a:pPr>
            <a:endParaRPr kumimoji="0" lang="en-US" altLang="zh-CN" sz="2400" i="0" u="none" strike="noStrike" kern="0" cap="none" spc="0" normalizeH="0" baseline="0" dirty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marL="1289050" marR="0" lvl="2" indent="-609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n"/>
              <a:defRPr/>
            </a:pP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1289050" marR="0" lvl="2" indent="-609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n"/>
              <a:defRPr/>
            </a:pP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lvl="1" algn="l" eaLnBrk="1" hangingPunct="1">
              <a:lnSpc>
                <a:spcPct val="100000"/>
              </a:lnSpc>
              <a:buClrTx/>
              <a:buSzTx/>
              <a:buChar char="•"/>
            </a:pPr>
            <a:endParaRPr lang="en-US" altLang="zh-CN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2.4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一元多项式的表示和实现</a:t>
            </a:r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525" y="908685"/>
            <a:ext cx="2966720" cy="5018405"/>
          </a:xfrm>
        </p:spPr>
        <p:txBody>
          <a:bodyPr/>
          <a:p>
            <a:pPr marR="0" lvl="0" algn="l" defTabSz="12192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Char char="l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多项式链表相加的实现</a:t>
            </a:r>
            <a:endParaRPr lang="en-US" altLang="zh-CN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2.4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一元多项式的表示和实现</a:t>
            </a:r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31540" y="980440"/>
            <a:ext cx="7480300" cy="57277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p>
            <a:pPr marR="0" lvl="0" algn="l" defTabSz="1219200" rtl="0" fontAlgn="base" latinLnBrk="0">
              <a:lnSpc>
                <a:spcPct val="100000"/>
              </a:lnSpc>
              <a:spcBef>
                <a:spcPct val="20000"/>
              </a:spcBef>
              <a:buClrTx/>
              <a:buSzTx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若线性表最常用的操作是存取第i个元素及其后继的值,则最节省操作时间的存储结构是</a:t>
            </a:r>
            <a:endParaRPr kumimoji="0" lang="zh-CN" altLang="en-US" i="0" u="none" strike="noStrike" kern="0" cap="none" spc="0" normalizeH="0" baseline="0" dirty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A.</a:t>
            </a:r>
            <a:r>
              <a:rPr lang="zh-CN" alt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单链表</a:t>
            </a: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	B.</a:t>
            </a:r>
            <a:r>
              <a:rPr lang="zh-CN" alt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双链表</a:t>
            </a:r>
            <a:r>
              <a:rPr lang="en-US" altLang="zh-CN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	</a:t>
            </a: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C.</a:t>
            </a:r>
            <a:r>
              <a:rPr lang="zh-CN" alt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单循环链表</a:t>
            </a:r>
            <a:r>
              <a:rPr lang="en-US" altLang="zh-CN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		</a:t>
            </a: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D.</a:t>
            </a:r>
            <a:r>
              <a:rPr lang="zh-CN" alt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顺序表</a:t>
            </a:r>
            <a:endParaRPr lang="zh-CN" altLang="en-US" sz="2400" b="1" noProof="0" dirty="0" smtClean="0">
              <a:ln>
                <a:noFill/>
              </a:ln>
              <a:effectLst/>
              <a:uLnTx/>
              <a:uFillTx/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  <a:sym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altLang="zh-CN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R="0" lvl="0" algn="l" defTabSz="1219200" rtl="0" fontAlgn="base" latinLnBrk="0">
              <a:lnSpc>
                <a:spcPct val="100000"/>
              </a:lnSpc>
              <a:spcBef>
                <a:spcPct val="20000"/>
              </a:spcBef>
              <a:buClrTx/>
              <a:buSzTx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设带头结点的单链表的头指针为head，则判断链表为空的条件</a:t>
            </a:r>
            <a:endParaRPr kumimoji="0" lang="zh-CN" altLang="en-US" i="0" u="none" strike="noStrike" kern="0" cap="none" spc="0" normalizeH="0" baseline="0" dirty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A. head-&gt;next==head 	  B. head-&gt;next==NULL    C. head==NULL</a:t>
            </a:r>
            <a:endParaRPr lang="en-US" sz="2400" b="1" noProof="0" dirty="0" smtClean="0">
              <a:ln>
                <a:noFill/>
              </a:ln>
              <a:effectLst/>
              <a:uLnTx/>
              <a:uFillTx/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  <a:sym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altLang="zh-CN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219200" rtl="0" fontAlgn="base" latinLnBrk="0">
              <a:lnSpc>
                <a:spcPct val="100000"/>
              </a:lnSpc>
              <a:spcBef>
                <a:spcPct val="20000"/>
              </a:spcBef>
              <a:buClrTx/>
              <a:buSzTx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设带头结点的单循环链表的头指针为head，则判断链表为空的条件</a:t>
            </a:r>
            <a:endParaRPr kumimoji="0" lang="zh-CN" altLang="en-US" i="0" u="none" strike="noStrike" kern="0" cap="none" spc="0" normalizeH="0" baseline="0" dirty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lang="en-US" sz="24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A. head-&gt;next==head 	B. head-&gt;next==NULL      C. head==NULL</a:t>
            </a: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marR="0" lvl="0" indent="-609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altLang="zh-CN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609600" marR="0" lvl="0" indent="-609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altLang="zh-CN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R="0" lvl="0" algn="l" defTabSz="12192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pPr algn="l">
              <a:buClrTx/>
              <a:buSzTx/>
              <a:buFontTx/>
            </a:pPr>
            <a:r>
              <a:rPr lang="zh-CN" altLang="en-US" sz="400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练习</a:t>
            </a:r>
            <a:endParaRPr lang="zh-CN" altLang="en-US" sz="4000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p>
            <a:pPr marR="0" lvl="0" algn="l" defTabSz="12192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已知单链表第3号结点p，在第6号位置插入新结点s，写出两行语句</a:t>
            </a:r>
            <a:endParaRPr kumimoji="0" lang="zh-CN" altLang="en-US" i="0" u="none" strike="noStrike" kern="0" cap="none" spc="0" normalizeH="0" baseline="0" dirty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  <a:cs typeface="+mn-cs"/>
            </a:endParaRPr>
          </a:p>
          <a:p>
            <a:pPr marR="0" lvl="0" algn="l" defTabSz="12192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双向循环链表中前后指针分别为prior和next，已知尾指针P，在第4号位置插入新结点s，写出四行语句？若删除第2号结点，写出两行语句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  <a:p>
            <a:pPr marR="0" lvl="0" algn="l" defTabSz="12192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已知双向循环链表的任意一个结点p，能否找出它的头结点和尾结点？</a:t>
            </a:r>
            <a:endParaRPr kumimoji="0" lang="zh-CN" altLang="en-US" i="0" u="none" strike="noStrike" kern="0" cap="none" spc="0" normalizeH="0" baseline="0" dirty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  <a:cs typeface="+mn-cs"/>
            </a:endParaRPr>
          </a:p>
          <a:p>
            <a:pPr marL="0" marR="0" lvl="0" indent="0" algn="l" defTabSz="1219200" rtl="0" fontAlgn="base" latinLnBrk="0">
              <a:lnSpc>
                <a:spcPct val="100000"/>
              </a:lnSpc>
              <a:spcBef>
                <a:spcPct val="20000"/>
              </a:spcBef>
              <a:buClrTx/>
              <a:buSzTx/>
              <a:buNone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pPr algn="l">
              <a:buClrTx/>
              <a:buSzTx/>
              <a:buFontTx/>
            </a:pPr>
            <a:r>
              <a:rPr lang="zh-CN" altLang="en-US" sz="400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练习</a:t>
            </a:r>
            <a:endParaRPr lang="zh-CN" altLang="en-US" sz="4000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07035" y="1052830"/>
            <a:ext cx="11266805" cy="51142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p>
            <a:pPr marL="428625" indent="-428625" algn="l" eaLnBrk="1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SzTx/>
              <a:buFont typeface="Wingdings" panose="05000000000000000000" charset="0"/>
              <a:buChar char="l"/>
            </a:pPr>
            <a:r>
              <a:rPr lang="zh-CN" altLang="en-US" sz="20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线性表是n个数据元素的有限序列，数据同一性、数据顺序性</a:t>
            </a:r>
            <a:endParaRPr lang="zh-CN" altLang="en-US" sz="200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428625" indent="-428625" algn="l" eaLnBrk="1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SzTx/>
              <a:buFont typeface="Wingdings" panose="05000000000000000000" charset="0"/>
              <a:buChar char="l"/>
            </a:pPr>
            <a:r>
              <a:rPr lang="zh-CN" altLang="en-US" sz="20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顺序表是用一组地址连续的存储单元依次存储线性表的数据元素</a:t>
            </a:r>
            <a:endParaRPr lang="zh-CN" altLang="en-US" sz="200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885825" lvl="2" indent="-428625" algn="l" eaLnBrk="1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SzTx/>
              <a:buFont typeface="Arial" panose="020B0604020202020204" pitchFamily="34" charset="0"/>
              <a:buChar char="•"/>
            </a:pPr>
            <a:r>
              <a:rPr lang="zh-CN" altLang="en-US" sz="20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采用一维数组表示顺序表，顺序表可以随机存取</a:t>
            </a:r>
            <a:endParaRPr lang="zh-CN" altLang="en-US" sz="200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885825" lvl="1" indent="-428625" algn="l" eaLnBrk="1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SzTx/>
              <a:buFont typeface="Arial" panose="020B0604020202020204" pitchFamily="34" charset="0"/>
              <a:buChar char="•"/>
            </a:pPr>
            <a:r>
              <a:rPr lang="zh-CN" altLang="en-US" sz="20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顺序表的插入：n-i+1个元素往后移动，时间复杂度O(n)</a:t>
            </a:r>
            <a:endParaRPr lang="zh-CN" altLang="en-US" sz="200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885825" lvl="1" indent="-428625" algn="l" eaLnBrk="1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SzTx/>
              <a:buFont typeface="Arial" panose="020B0604020202020204" pitchFamily="34" charset="0"/>
              <a:buChar char="•"/>
            </a:pPr>
            <a:r>
              <a:rPr lang="zh-CN" altLang="en-US" sz="20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顺序表的删除：n-i个元素往前移动，时间复杂度O(n)</a:t>
            </a:r>
            <a:endParaRPr lang="zh-CN" altLang="en-US" sz="200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428625" indent="-428625" algn="l" eaLnBrk="1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SzTx/>
              <a:buFont typeface="Wingdings" panose="05000000000000000000" charset="0"/>
              <a:buChar char="l"/>
            </a:pPr>
            <a:r>
              <a:rPr lang="zh-CN" altLang="en-US" sz="20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链表是线性表的链式存储，逻辑相邻的元素不一定在存储位置上相连</a:t>
            </a:r>
            <a:endParaRPr lang="zh-CN" altLang="en-US" sz="200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885825" lvl="2" indent="-428625" algn="l" eaLnBrk="1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SzTx/>
              <a:buChar char="•"/>
            </a:pPr>
            <a:r>
              <a:rPr lang="zh-CN" altLang="en-US" sz="20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链表由结点组成，每个结点包含数据域Data和指针Next</a:t>
            </a:r>
            <a:endParaRPr lang="zh-CN" altLang="en-US" sz="200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  <a:p>
            <a:pPr marL="885825" lvl="2" indent="-428625" algn="l" eaLnBrk="1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SzTx/>
              <a:buChar char="•"/>
            </a:pPr>
            <a:r>
              <a:rPr lang="zh-CN" altLang="en-US" sz="20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链表的查找只有从头结点开始，顺链一步步查找，时间复杂度O(n)</a:t>
            </a:r>
            <a:endParaRPr lang="zh-CN" altLang="en-US" sz="200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885825" lvl="2" indent="-428625" algn="l" eaLnBrk="1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SzTx/>
              <a:buChar char="•"/>
            </a:pPr>
            <a:r>
              <a:rPr lang="zh-CN" altLang="en-US" sz="20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带头结点的单链表</a:t>
            </a:r>
            <a:endParaRPr lang="zh-CN" altLang="en-US" sz="200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885825" lvl="2" indent="-428625" algn="l" eaLnBrk="1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SzTx/>
              <a:buChar char="•"/>
            </a:pPr>
            <a:r>
              <a:rPr lang="zh-CN" altLang="en-US" sz="20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静态链表、循环链表、双向链表</a:t>
            </a:r>
            <a:endParaRPr lang="zh-CN" altLang="en-US" sz="200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885825" lvl="2" indent="-428625" algn="l" eaLnBrk="1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SzTx/>
              <a:buChar char="•"/>
            </a:pPr>
            <a:r>
              <a:rPr lang="zh-CN" altLang="en-US" sz="20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链表主要操作是对指针的修改，掌握各种类型链表的指针操作</a:t>
            </a:r>
            <a:endParaRPr lang="zh-CN" altLang="en-US" sz="200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  <a:p>
            <a:pPr marL="885825" lvl="2" indent="-428625" algn="l" eaLnBrk="1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SzTx/>
              <a:buChar char="•"/>
            </a:pPr>
            <a:r>
              <a:rPr lang="zh-CN" altLang="en-US" sz="20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链表插入和删除，对指针的修改，时间复杂度O(n)</a:t>
            </a:r>
            <a:endParaRPr lang="zh-CN" altLang="en-US" sz="200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885825" lvl="2" indent="-428625" algn="l" eaLnBrk="1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SzTx/>
              <a:buChar char="•"/>
            </a:pPr>
            <a:r>
              <a:rPr lang="zh-CN" altLang="en-US" sz="20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链表操作：判空、判首、判尾、插入、删除</a:t>
            </a:r>
            <a:endParaRPr lang="zh-CN" altLang="en-US" sz="240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7425,&quot;width&quot;:10455}"/>
</p:tagLst>
</file>

<file path=ppt/tags/tag2.xml><?xml version="1.0" encoding="utf-8"?>
<p:tagLst xmlns:p="http://schemas.openxmlformats.org/presentationml/2006/main">
  <p:tag name="KSO_WPP_MARK_KEY" val="2edeed4d-cc40-405e-b491-e5b6af4233f6"/>
  <p:tag name="COMMONDATA" val="eyJoZGlkIjoiYmQ3NjQxYmZmN2ZkODIxYWNiNTEzMzQyMTZmNzQ1MmMifQ=="/>
</p:tagLst>
</file>

<file path=ppt/theme/theme1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_Office 主题​​">
      <a:majorFont>
        <a:latin typeface="Copperplate Gothic Bold"/>
        <a:ea typeface="微软雅黑"/>
        <a:cs typeface=""/>
      </a:majorFont>
      <a:minorFont>
        <a:latin typeface="Copperplate Gothic Bold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/>
      <a:bodyPr vert="horz" lIns="91440" tIns="45720" rIns="91440" bIns="45720" rtlCol="0">
        <a:noAutofit/>
      </a:bodyPr>
      <a:lstStyle>
        <a:defPPr marL="571500" lvl="0" indent="-571500">
          <a:lnSpc>
            <a:spcPct val="90000"/>
          </a:lnSpc>
          <a:spcBef>
            <a:spcPts val="1000"/>
          </a:spcBef>
          <a:buClr>
            <a:schemeClr val="accent2"/>
          </a:buClr>
          <a:buFont typeface="Wingdings" panose="05000000000000000000" pitchFamily="2" charset="2"/>
          <a:buChar char="n"/>
          <a:defRPr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12630</Words>
  <Application>WPS 演示</Application>
  <PresentationFormat>宽屏</PresentationFormat>
  <Paragraphs>1206</Paragraphs>
  <Slides>72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72</vt:i4>
      </vt:variant>
    </vt:vector>
  </HeadingPairs>
  <TitlesOfParts>
    <vt:vector size="89" baseType="lpstr">
      <vt:lpstr>Arial</vt:lpstr>
      <vt:lpstr>宋体</vt:lpstr>
      <vt:lpstr>Wingdings</vt:lpstr>
      <vt:lpstr>Copperplate Gothic Bold</vt:lpstr>
      <vt:lpstr>微软雅黑</vt:lpstr>
      <vt:lpstr>Tahoma</vt:lpstr>
      <vt:lpstr>Wingdings</vt:lpstr>
      <vt:lpstr>Garamond</vt:lpstr>
      <vt:lpstr>楷体</vt:lpstr>
      <vt:lpstr>黑体</vt:lpstr>
      <vt:lpstr>Lucida Sans Unicode</vt:lpstr>
      <vt:lpstr>Times New Roman</vt:lpstr>
      <vt:lpstr>Arial Narrow</vt:lpstr>
      <vt:lpstr>仿宋</vt:lpstr>
      <vt:lpstr>Arial Unicode MS</vt:lpstr>
      <vt:lpstr>Symbol</vt:lpstr>
      <vt:lpstr>1_Office 主题​​</vt:lpstr>
      <vt:lpstr>PowerPoint 演示文稿</vt:lpstr>
      <vt:lpstr>课程结构（按教材划分）</vt:lpstr>
      <vt:lpstr>PowerPoint 演示文稿</vt:lpstr>
      <vt:lpstr>2.1 线性表的类型定义</vt:lpstr>
      <vt:lpstr>2.1 线性表的类型定义</vt:lpstr>
      <vt:lpstr>2.1 线性表的类型定义</vt:lpstr>
      <vt:lpstr>2.1 线性表的类型定义</vt:lpstr>
      <vt:lpstr>PowerPoint 演示文稿</vt:lpstr>
      <vt:lpstr>2.2 线性表的顺序表示和实现</vt:lpstr>
      <vt:lpstr>2.2 线性表的顺序表示和实现</vt:lpstr>
      <vt:lpstr>2.2 线性表的顺序表示和实现</vt:lpstr>
      <vt:lpstr>2.2 线性表的顺序表示和实现</vt:lpstr>
      <vt:lpstr>2.2 线性表的顺序表示和实现</vt:lpstr>
      <vt:lpstr>2.2 线性表的顺序表示和实现</vt:lpstr>
      <vt:lpstr>2.2 线性表的顺序表示和实现</vt:lpstr>
      <vt:lpstr>2.2 线性表的顺序表示和实现</vt:lpstr>
      <vt:lpstr>2.2 线性表的顺序表示和实现</vt:lpstr>
      <vt:lpstr>2.2 线性表的顺序表示和实现</vt:lpstr>
      <vt:lpstr>2.2 线性表的顺序表示和实现</vt:lpstr>
      <vt:lpstr>2.2 线性表的顺序表示和实现</vt:lpstr>
      <vt:lpstr>2.2 线性表的顺序表示和实现</vt:lpstr>
      <vt:lpstr>2.2 线性表的顺序表示和实现</vt:lpstr>
      <vt:lpstr>2.2 线性表的顺序表示和实现</vt:lpstr>
      <vt:lpstr>2.2 线性表的顺序表示和实现</vt:lpstr>
      <vt:lpstr>顺序表的知识点总结</vt:lpstr>
      <vt:lpstr>练习</vt:lpstr>
      <vt:lpstr>编程练习讲解</vt:lpstr>
      <vt:lpstr>PowerPoint 演示文稿</vt:lpstr>
      <vt:lpstr>2.3 线性表的链式表示和实现</vt:lpstr>
      <vt:lpstr>2.3 线性表的链式表示和实现</vt:lpstr>
      <vt:lpstr>2.3 线性表的链式表示和实现</vt:lpstr>
      <vt:lpstr>2.3 线性表的链式表示和实现</vt:lpstr>
      <vt:lpstr>2.3 线性表的链式表示和实现</vt:lpstr>
      <vt:lpstr>2.3 线性表的链式表示和实现</vt:lpstr>
      <vt:lpstr>2.3 线性表的链式表示和实现</vt:lpstr>
      <vt:lpstr>2.3 线性表的链式表示和实现</vt:lpstr>
      <vt:lpstr>2.3 线性表的链式表示和实现</vt:lpstr>
      <vt:lpstr>2.3 线性表的链式表示和实现</vt:lpstr>
      <vt:lpstr>2.3 线性表的链式表示和实现</vt:lpstr>
      <vt:lpstr>2.3 线性表的链式表示和实现</vt:lpstr>
      <vt:lpstr>2.3 线性表的链式表示和实现</vt:lpstr>
      <vt:lpstr>2.3 线性表的链式表示和实现</vt:lpstr>
      <vt:lpstr>2.3 线性表的链式表示和实现</vt:lpstr>
      <vt:lpstr>2.3 线性表的链式表示和实现</vt:lpstr>
      <vt:lpstr>2.3 线性表的链式表示和实现</vt:lpstr>
      <vt:lpstr>2.3 线性表的链式表示和实现</vt:lpstr>
      <vt:lpstr>2.3 线性表的链式表示和实现</vt:lpstr>
      <vt:lpstr>2.3 线性表的链式表示和实现</vt:lpstr>
      <vt:lpstr>2.3 线性表的链式表示和实现</vt:lpstr>
      <vt:lpstr>练习</vt:lpstr>
      <vt:lpstr>2.3 线性表的链式表示和实现</vt:lpstr>
      <vt:lpstr>2.3 线性表的链式表示和实现</vt:lpstr>
      <vt:lpstr>2.3 线性表的链式表示和实现</vt:lpstr>
      <vt:lpstr>2.3 线性表的链式表示和实现</vt:lpstr>
      <vt:lpstr>2.3 线性表的链式表示和实现</vt:lpstr>
      <vt:lpstr>2.3 线性表的链式表示和实现</vt:lpstr>
      <vt:lpstr>2.3 线性表的链式表示和实现</vt:lpstr>
      <vt:lpstr>2.3 线性表的链式表示和实现</vt:lpstr>
      <vt:lpstr>2.3 线性表的链式表示和实现</vt:lpstr>
      <vt:lpstr>2.3 线性表的链式表示和实现</vt:lpstr>
      <vt:lpstr>2.3 线性表的链式表示和实现</vt:lpstr>
      <vt:lpstr>练习</vt:lpstr>
      <vt:lpstr>PowerPoint 演示文稿</vt:lpstr>
      <vt:lpstr>2.4 一元多项式的表示和实现</vt:lpstr>
      <vt:lpstr>2.4 一元多项式的表示和实现</vt:lpstr>
      <vt:lpstr>2.4 一元多项式的表示和实现</vt:lpstr>
      <vt:lpstr>2.4 一元多项式的表示和实现</vt:lpstr>
      <vt:lpstr>2.4 一元多项式的表示和实现</vt:lpstr>
      <vt:lpstr>练习</vt:lpstr>
      <vt:lpstr>练习</vt:lpstr>
      <vt:lpstr>PowerPoint 演示文稿</vt:lpstr>
      <vt:lpstr>PowerPoint 演示文稿</vt:lpstr>
    </vt:vector>
  </TitlesOfParts>
  <Company>SZU</Company>
  <LinksUpToDate>false</LinksUpToDate>
  <SharedDoc>false</SharedDoc>
  <HyperlinksChanged>false</HyperlinksChanged>
  <AppVersion>14.0000</AppVersion>
  <Manager>BJC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教学讲义</dc:title>
  <dc:creator>白; BJC</dc:creator>
  <dc:subject>C++</dc:subject>
  <cp:lastModifiedBy>白_szu</cp:lastModifiedBy>
  <cp:revision>2089</cp:revision>
  <dcterms:created xsi:type="dcterms:W3CDTF">2014-01-11T15:22:00Z</dcterms:created>
  <dcterms:modified xsi:type="dcterms:W3CDTF">2022-09-21T01:15:03Z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2052-11.1.0.12358</vt:lpwstr>
  </property>
  <property fmtid="{D5CDD505-2E9C-101B-9397-08002B2CF9AE}" pid="3" name="ICV">
    <vt:lpwstr>4508C18874504005A6F10EDD074A32CB</vt:lpwstr>
  </property>
</Properties>
</file>