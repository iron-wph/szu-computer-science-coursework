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</p:sldMasterIdLst>
  <p:notesMasterIdLst>
    <p:notesMasterId r:id="rId35"/>
  </p:notesMasterIdLst>
  <p:sldIdLst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98" r:id="rId12"/>
    <p:sldId id="267" r:id="rId13"/>
    <p:sldId id="276" r:id="rId14"/>
    <p:sldId id="268" r:id="rId15"/>
    <p:sldId id="277" r:id="rId16"/>
    <p:sldId id="278" r:id="rId17"/>
    <p:sldId id="287" r:id="rId18"/>
    <p:sldId id="279" r:id="rId19"/>
    <p:sldId id="288" r:id="rId20"/>
    <p:sldId id="281" r:id="rId21"/>
    <p:sldId id="289" r:id="rId22"/>
    <p:sldId id="282" r:id="rId23"/>
    <p:sldId id="283" r:id="rId24"/>
    <p:sldId id="284" r:id="rId25"/>
    <p:sldId id="285" r:id="rId26"/>
    <p:sldId id="286" r:id="rId27"/>
    <p:sldId id="299" r:id="rId28"/>
    <p:sldId id="300" r:id="rId29"/>
    <p:sldId id="301" r:id="rId30"/>
    <p:sldId id="303" r:id="rId31"/>
    <p:sldId id="304" r:id="rId32"/>
    <p:sldId id="305" r:id="rId33"/>
    <p:sldId id="306" r:id="rId3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0066"/>
    <a:srgbClr val="3366CC"/>
    <a:srgbClr val="FF3300"/>
    <a:srgbClr val="D6F4FE"/>
    <a:srgbClr val="CEF9FE"/>
    <a:srgbClr val="A5002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07" autoAdjust="0"/>
  </p:normalViewPr>
  <p:slideViewPr>
    <p:cSldViewPr>
      <p:cViewPr varScale="1">
        <p:scale>
          <a:sx n="53" d="100"/>
          <a:sy n="53" d="100"/>
        </p:scale>
        <p:origin x="166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E4D1AAF-B21B-4EE8-A0C8-659D702199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B16EA4-6BC2-4D46-8421-4EBD9D9BD603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2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b="1">
                <a:solidFill>
                  <a:srgbClr val="003399"/>
                </a:solidFill>
                <a:latin typeface="Times New Roman" pitchFamily="18" charset="0"/>
              </a:rPr>
              <a:t>是点割集吗？不是！因为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b="1">
                <a:solidFill>
                  <a:srgbClr val="003399"/>
                </a:solidFill>
                <a:latin typeface="Times New Roman" pitchFamily="18" charset="0"/>
              </a:rPr>
              <a:t>是割点，若</a:t>
            </a:r>
            <a:r>
              <a:rPr lang="en-US" altLang="zh-CN" b="1" i="1">
                <a:latin typeface="Times New Roman" pitchFamily="18" charset="0"/>
                <a:sym typeface="Symbol" pitchFamily="18" charset="2"/>
              </a:rPr>
              <a:t>V </a:t>
            </a:r>
            <a:r>
              <a:rPr lang="en-US" altLang="zh-CN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zh-CN" altLang="en-US" b="1">
                <a:cs typeface="Times New Roman" pitchFamily="18" charset="0"/>
                <a:sym typeface="Symbol" pitchFamily="18" charset="2"/>
              </a:rPr>
              <a:t>＝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rgbClr val="003399"/>
                </a:solidFill>
                <a:latin typeface="Times New Roman" pitchFamily="18" charset="0"/>
              </a:rPr>
              <a:t>} 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b="1" i="1">
                <a:latin typeface="Times New Roman" pitchFamily="18" charset="0"/>
              </a:rPr>
              <a:t>V </a:t>
            </a:r>
            <a:r>
              <a:rPr lang="en-US" altLang="zh-CN" b="1">
                <a:cs typeface="Times New Roman" pitchFamily="18" charset="0"/>
                <a:sym typeface="Symbol" pitchFamily="18" charset="2"/>
              </a:rPr>
              <a:t></a:t>
            </a:r>
            <a:r>
              <a:rPr lang="zh-CN" altLang="en-US" b="1">
                <a:cs typeface="Times New Roman" pitchFamily="18" charset="0"/>
                <a:sym typeface="Symbol" pitchFamily="18" charset="2"/>
              </a:rPr>
              <a:t>， 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b="1" i="1">
                <a:latin typeface="Times New Roman" pitchFamily="18" charset="0"/>
              </a:rPr>
              <a:t>V 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＝</a:t>
            </a:r>
            <a:r>
              <a:rPr lang="en-US" altLang="zh-CN" b="1">
                <a:latin typeface="Times New Roman" pitchFamily="18" charset="0"/>
              </a:rPr>
              <a:t>2&gt;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</a:rPr>
              <a:t>)=1,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377F9E-F738-4B17-A01F-9B4F29ACF819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just" eaLnBrk="1" hangingPunct="1">
              <a:lnSpc>
                <a:spcPct val="125000"/>
              </a:lnSpc>
              <a:spcBef>
                <a:spcPct val="0"/>
              </a:spcBef>
            </a:pP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7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9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5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-30000">
                <a:solidFill>
                  <a:schemeClr val="bg2"/>
                </a:solidFill>
                <a:latin typeface="Times New Roman" pitchFamily="18" charset="0"/>
              </a:rPr>
              <a:t>6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b="1">
                <a:solidFill>
                  <a:schemeClr val="bg2"/>
                </a:solidFill>
                <a:latin typeface="Times New Roman" pitchFamily="18" charset="0"/>
              </a:rPr>
              <a:t>是边割集吗？不是，因为若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b="1" baseline="30000">
                <a:solidFill>
                  <a:schemeClr val="bg2"/>
                </a:solidFill>
                <a:latin typeface="Times New Roman" pitchFamily="18" charset="0"/>
              </a:rPr>
              <a:t>’’</a:t>
            </a:r>
            <a:r>
              <a:rPr lang="en-US" altLang="zh-CN" b="1">
                <a:solidFill>
                  <a:schemeClr val="bg2"/>
                </a:solidFill>
                <a:latin typeface="Times New Roman" pitchFamily="18" charset="0"/>
              </a:rPr>
              <a:t>={e9,e5,e6} 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b="1" i="1">
                <a:latin typeface="Times New Roman" pitchFamily="18" charset="0"/>
              </a:rPr>
              <a:t>E</a:t>
            </a:r>
            <a:r>
              <a:rPr lang="en-US" altLang="zh-CN" b="1">
                <a:cs typeface="Times New Roman" pitchFamily="18" charset="0"/>
                <a:sym typeface="Symbol" pitchFamily="18" charset="2"/>
              </a:rPr>
              <a:t>, 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b="1" i="1">
                <a:latin typeface="Times New Roman" pitchFamily="18" charset="0"/>
              </a:rPr>
              <a:t>E</a:t>
            </a:r>
            <a:r>
              <a:rPr lang="en-US" altLang="zh-CN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b="1">
                <a:latin typeface="Times New Roman" pitchFamily="18" charset="0"/>
              </a:rPr>
              <a:t>)=2&gt;</a:t>
            </a:r>
            <a:r>
              <a:rPr lang="en-US" altLang="zh-CN" b="1" i="1">
                <a:latin typeface="Times New Roman" pitchFamily="18" charset="0"/>
              </a:rPr>
              <a:t>p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G</a:t>
            </a:r>
            <a:r>
              <a:rPr lang="en-US" altLang="zh-CN" b="1">
                <a:latin typeface="Times New Roman" pitchFamily="18" charset="0"/>
              </a:rPr>
              <a:t>)=1, </a:t>
            </a:r>
            <a:endParaRPr lang="en-US" altLang="zh-CN" b="1">
              <a:solidFill>
                <a:schemeClr val="bg2"/>
              </a:solidFill>
              <a:latin typeface="Times New Roman" pitchFamily="18" charset="0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使用关联矩阵，行是顶点（</a:t>
            </a:r>
            <a:r>
              <a:rPr lang="en-US" altLang="zh-CN" dirty="0"/>
              <a:t>7</a:t>
            </a:r>
            <a:r>
              <a:rPr lang="zh-CN" altLang="en-US" dirty="0"/>
              <a:t>个人），列是边（</a:t>
            </a:r>
            <a:r>
              <a:rPr lang="en-US" altLang="zh-CN" dirty="0"/>
              <a:t>6</a:t>
            </a:r>
            <a:r>
              <a:rPr lang="zh-CN" altLang="en-US" dirty="0"/>
              <a:t>种语言）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4D1AAF-B21B-4EE8-A0C8-659D70219941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77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7B6EB-BAC5-4620-941D-6B2E69AB8F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20B0-63A5-466E-A202-798B444589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2909C3-8075-42C4-A29C-0D9E5C9406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A5357-1B90-4EF6-AA22-7A090F7C89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4D5EC-018C-48D8-B6B8-A9D5EC9F32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0EDA4-EF0B-496F-9731-E6D3EB6447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19141-48A2-4DBD-BE5B-30BE6624DE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170BE-8B77-451A-A4FE-626B8D2411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A4EDB0-9137-45CD-98B2-C4C5EA799A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19982-5B3B-4F14-B76E-F69EA88860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6063" y="0"/>
            <a:ext cx="2090737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19813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A79CA-2B5C-4F1D-B52A-F70033B47B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C1D9A-141B-43CC-AD26-1385173123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17364-7E81-4DBD-8B5B-D4CACD02D5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DD46B-0711-44FB-97CA-D95AE09A82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F0148-B6B7-4590-BF55-CBF6570625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20370-9798-4771-96DA-9748696C0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62668-BD68-40CC-BB7F-681A31D809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5131F-369B-45B7-887C-63A9EFE63F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075CD-0419-4B65-8CEC-D1391FA0E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EFF7F9-B431-4ECE-B58B-082AC8D589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BD0EC-9B5E-465E-9E98-2D786AA4E6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1600200"/>
            <a:ext cx="2078037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817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0D7B4-BAF1-45B3-A25C-053C745013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C7C28F56-0CC9-481A-B0E2-533C1C5B0C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7412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0"/>
            <a:ext cx="8002588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413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50000">
              <a:srgbClr val="EE8E00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2420938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+mn-ea"/>
              </a:defRPr>
            </a:lvl1pPr>
          </a:lstStyle>
          <a:p>
            <a:pPr>
              <a:defRPr/>
            </a:pPr>
            <a:fld id="{D48E84BF-12CB-40CD-88E3-0C748F331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png"/><Relationship Id="rId4" Type="http://schemas.openxmlformats.org/officeDocument/2006/relationships/image" Target="../media/image2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F5E3DC-9059-49C6-AA0C-191E43EA66D8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135937" cy="1295400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5.2 </a:t>
            </a:r>
            <a:r>
              <a:rPr lang="zh-CN" altLang="en-US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通路、回路与图的连通性</a:t>
            </a:r>
            <a:r>
              <a:rPr lang="zh-CN" altLang="en-US" sz="4000" b="1" dirty="0">
                <a:latin typeface="Times New Roman" pitchFamily="18" charset="0"/>
              </a:rPr>
              <a:t> 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5775" y="1727200"/>
            <a:ext cx="8229600" cy="3733800"/>
          </a:xfrm>
        </p:spPr>
        <p:txBody>
          <a:bodyPr/>
          <a:lstStyle/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简单通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路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初级通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路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复杂通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路</a:t>
            </a:r>
          </a:p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无向连通图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连通分支</a:t>
            </a:r>
          </a:p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弱连通图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单向连通图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强连通图</a:t>
            </a:r>
          </a:p>
          <a:p>
            <a:pPr algn="just"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点割集与割点</a:t>
            </a:r>
          </a:p>
          <a:p>
            <a:pPr>
              <a:spcBef>
                <a:spcPct val="5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Times New Roman" pitchFamily="18" charset="0"/>
              </a:rPr>
              <a:t>边割集与割边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桥</a:t>
            </a:r>
            <a:r>
              <a:rPr lang="en-US" altLang="zh-CN" b="1">
                <a:latin typeface="Times New Roman" pitchFamily="18" charset="0"/>
              </a:rPr>
              <a:t>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4B61F1-710F-40A6-82C3-A5A1706659D0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1066800"/>
          </a:xfrm>
        </p:spPr>
        <p:txBody>
          <a:bodyPr/>
          <a:lstStyle/>
          <a:p>
            <a:r>
              <a:rPr lang="zh-CN" altLang="en-US" b="1">
                <a:solidFill>
                  <a:srgbClr val="A50021"/>
                </a:solidFill>
                <a:latin typeface="宋体" charset="-122"/>
              </a:rPr>
              <a:t>通路与回路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5132387"/>
          </a:xfrm>
        </p:spPr>
        <p:txBody>
          <a:bodyPr/>
          <a:lstStyle/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3600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latin typeface="Times New Roman" pitchFamily="18" charset="0"/>
              </a:rPr>
              <a:t> 给定图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</a:t>
            </a:r>
            <a:r>
              <a:rPr lang="zh-CN" altLang="en-US" sz="2800" b="1">
                <a:latin typeface="Times New Roman" pitchFamily="18" charset="0"/>
              </a:rPr>
              <a:t>（无向或有向的），设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中顶点与边的交替序列</a:t>
            </a:r>
            <a:r>
              <a:rPr lang="zh-CN" altLang="en-US" sz="2800" b="1" i="1">
                <a:latin typeface="Times New Roman" pitchFamily="18" charset="0"/>
                <a:sym typeface="Symbol" pitchFamily="18" charset="2"/>
              </a:rPr>
              <a:t> </a:t>
            </a:r>
            <a:r>
              <a:rPr lang="en-US" altLang="zh-CN" sz="2800" b="1">
                <a:latin typeface="Times New Roman" pitchFamily="18" charset="0"/>
              </a:rPr>
              <a:t>=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…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，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(1)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zh-CN" altLang="en-US" sz="2800" b="1"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(1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i</a:t>
            </a:r>
            <a:r>
              <a:rPr lang="en-US" altLang="zh-CN" sz="2800" b="1">
                <a:sym typeface="Symbol" pitchFamily="18" charset="2"/>
              </a:rPr>
              <a:t>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l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),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 baseline="-3000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30000">
                <a:latin typeface="Times New Roman" pitchFamily="18" charset="0"/>
              </a:rPr>
              <a:t>1  </a:t>
            </a:r>
            <a:r>
              <a:rPr lang="zh-CN" altLang="en-US" sz="2800" b="1">
                <a:latin typeface="Times New Roman" pitchFamily="18" charset="0"/>
              </a:rPr>
              <a:t>和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的端点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zh-CN" altLang="en-US" sz="2800" b="1">
                <a:latin typeface="Times New Roman" pitchFamily="18" charset="0"/>
              </a:rPr>
              <a:t>对于有向图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要求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 baseline="-3000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是始点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是终点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zh-CN" altLang="en-US" sz="2800" b="1" i="1">
                <a:latin typeface="Times New Roman" pitchFamily="18" charset="0"/>
                <a:sym typeface="Symbol" pitchFamily="18" charset="2"/>
              </a:rPr>
              <a:t> 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通路的起点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通路的终点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通路的长度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latin typeface="Times New Roman" pitchFamily="18" charset="0"/>
              </a:rPr>
              <a:t>又若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en-US" altLang="zh-CN" sz="2800" b="1">
                <a:latin typeface="Times New Roman" pitchFamily="18" charset="0"/>
              </a:rPr>
              <a:t>=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zh-CN" altLang="en-US" sz="2800" b="1">
                <a:latin typeface="Times New Roman" pitchFamily="18" charset="0"/>
              </a:rPr>
              <a:t>，则称</a:t>
            </a:r>
            <a:r>
              <a:rPr lang="zh-CN" altLang="en-US" sz="2800" b="1" i="1">
                <a:latin typeface="Times New Roman" pitchFamily="18" charset="0"/>
                <a:sym typeface="Symbol" pitchFamily="18" charset="2"/>
              </a:rPr>
              <a:t> 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回路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(2) </a:t>
            </a:r>
            <a:r>
              <a:rPr lang="zh-CN" altLang="en-US" sz="2800" b="1">
                <a:latin typeface="Times New Roman" pitchFamily="18" charset="0"/>
              </a:rPr>
              <a:t>若通路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zh-CN" altLang="en-US" sz="2800" b="1">
                <a:latin typeface="Times New Roman" pitchFamily="18" charset="0"/>
              </a:rPr>
              <a:t>回路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中所有顶点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zh-CN" altLang="en-US" sz="2800" b="1">
                <a:latin typeface="Times New Roman" pitchFamily="18" charset="0"/>
              </a:rPr>
              <a:t>对于回路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除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0</a:t>
            </a:r>
            <a:r>
              <a:rPr lang="en-US" altLang="zh-CN" sz="2800" b="1">
                <a:latin typeface="Times New Roman" pitchFamily="18" charset="0"/>
              </a:rPr>
              <a:t>=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l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各异，所有边也不相同，则称为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初级通路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初级回路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.</a:t>
            </a:r>
            <a:r>
              <a:rPr lang="zh-CN" altLang="en-US" sz="2800" b="1">
                <a:latin typeface="Times New Roman" pitchFamily="18" charset="0"/>
              </a:rPr>
              <a:t>初级通路又称作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路径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初级回路又称作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圈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96DA0C-18B5-4A65-916B-DCE36076EC49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通路与回路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168400"/>
            <a:ext cx="8308975" cy="5545138"/>
          </a:xfrm>
        </p:spPr>
        <p:txBody>
          <a:bodyPr/>
          <a:lstStyle/>
          <a:p>
            <a:pPr algn="just">
              <a:buFont typeface="Wingdings" pitchFamily="2" charset="2"/>
              <a:buNone/>
              <a:defRPr/>
            </a:pPr>
            <a:r>
              <a:rPr lang="en-US" altLang="zh-CN" sz="3600" b="1">
                <a:latin typeface="Times New Roman" pitchFamily="18" charset="0"/>
              </a:rPr>
              <a:t>(3) </a:t>
            </a:r>
            <a:r>
              <a:rPr lang="zh-CN" altLang="en-US" b="1">
                <a:latin typeface="Times New Roman" pitchFamily="18" charset="0"/>
              </a:rPr>
              <a:t>若通路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回路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中所有边各异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则称为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简单通路</a:t>
            </a:r>
            <a:r>
              <a:rPr lang="zh-CN" altLang="en-US" b="1">
                <a:latin typeface="Times New Roman" pitchFamily="18" charset="0"/>
              </a:rPr>
              <a:t>或一条迹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简单回路</a:t>
            </a:r>
            <a:r>
              <a:rPr lang="zh-CN" altLang="en-US" b="1">
                <a:latin typeface="Times New Roman" pitchFamily="18" charset="0"/>
              </a:rPr>
              <a:t>或一条闭迹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否则称为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复杂通路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复杂回路</a:t>
            </a:r>
            <a:r>
              <a:rPr lang="en-US" altLang="zh-CN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3600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说明</a:t>
            </a:r>
            <a:r>
              <a:rPr lang="en-US" altLang="zh-CN" sz="3600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endParaRPr lang="en-US" altLang="zh-CN" sz="3600" b="1" baseline="-25000">
              <a:solidFill>
                <a:srgbClr val="3366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defRPr/>
            </a:pPr>
            <a:r>
              <a:rPr lang="zh-CN" altLang="en-US" b="1">
                <a:latin typeface="Times New Roman" pitchFamily="18" charset="0"/>
              </a:rPr>
              <a:t>在无向图中，环是长度为</a:t>
            </a:r>
            <a:r>
              <a:rPr lang="en-US" altLang="zh-CN" b="1">
                <a:latin typeface="Times New Roman" pitchFamily="18" charset="0"/>
              </a:rPr>
              <a:t>1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两条平行边构成长度为</a:t>
            </a:r>
            <a:r>
              <a:rPr lang="en-US" altLang="zh-CN" b="1">
                <a:latin typeface="Times New Roman" pitchFamily="18" charset="0"/>
              </a:rPr>
              <a:t>2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>
              <a:defRPr/>
            </a:pPr>
            <a:r>
              <a:rPr lang="zh-CN" altLang="en-US" b="1">
                <a:latin typeface="Times New Roman" pitchFamily="18" charset="0"/>
              </a:rPr>
              <a:t>在有向图中，环是长度为</a:t>
            </a:r>
            <a:r>
              <a:rPr lang="en-US" altLang="zh-CN" b="1">
                <a:latin typeface="Times New Roman" pitchFamily="18" charset="0"/>
              </a:rPr>
              <a:t>1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两条方向相反边构成长度为</a:t>
            </a:r>
            <a:r>
              <a:rPr lang="en-US" altLang="zh-CN" b="1">
                <a:latin typeface="Times New Roman" pitchFamily="18" charset="0"/>
              </a:rPr>
              <a:t>2</a:t>
            </a:r>
            <a:r>
              <a:rPr lang="zh-CN" altLang="en-US" b="1">
                <a:latin typeface="Times New Roman" pitchFamily="18" charset="0"/>
              </a:rPr>
              <a:t>的圈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>
              <a:defRPr/>
            </a:pPr>
            <a:r>
              <a:rPr lang="zh-CN" altLang="en-US" b="1">
                <a:latin typeface="Times New Roman" pitchFamily="18" charset="0"/>
              </a:rPr>
              <a:t>初级通路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回路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是简单通路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回路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，反之不真。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5DF748-1F75-497B-AED2-74424F80D06B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通路与回路</a:t>
            </a:r>
            <a:r>
              <a:rPr lang="en-US" altLang="zh-CN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  <a:r>
              <a:rPr lang="en-US" altLang="zh-CN" sz="4000" b="1">
                <a:latin typeface="宋体" charset="-122"/>
              </a:rPr>
              <a:t> 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113337"/>
          </a:xfrm>
          <a:noFill/>
          <a:ln w="28575">
            <a:solidFill>
              <a:schemeClr val="bg1"/>
            </a:solidFill>
          </a:ln>
        </p:spPr>
        <p:txBody>
          <a:bodyPr/>
          <a:lstStyle/>
          <a:p>
            <a:pPr marL="0" indent="0" algn="just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定理</a:t>
            </a:r>
            <a:r>
              <a:rPr lang="zh-CN" altLang="en-US" sz="2800" b="1">
                <a:latin typeface="Times New Roman" pitchFamily="18" charset="0"/>
              </a:rPr>
              <a:t> 在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中，若从顶点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）存在通</a:t>
            </a:r>
          </a:p>
          <a:p>
            <a:pPr marL="0" indent="0"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路，则从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存在长度小于等于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的通路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推论</a:t>
            </a:r>
            <a:r>
              <a:rPr lang="zh-CN" altLang="en-US" sz="2800" b="1">
                <a:latin typeface="Times New Roman" pitchFamily="18" charset="0"/>
              </a:rPr>
              <a:t>  在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中，若从顶点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（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）存在通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路，则从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存在长度小于等于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>
                <a:latin typeface="Times New Roman" pitchFamily="18" charset="0"/>
              </a:rPr>
              <a:t>1</a:t>
            </a:r>
            <a:r>
              <a:rPr lang="zh-CN" altLang="en-US" sz="2800" b="1">
                <a:latin typeface="Times New Roman" pitchFamily="18" charset="0"/>
              </a:rPr>
              <a:t>的初级通路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endParaRPr lang="en-US" altLang="zh-CN" sz="2800" b="1">
              <a:solidFill>
                <a:srgbClr val="FF3300"/>
              </a:solidFill>
              <a:latin typeface="Times New Roman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定理</a:t>
            </a:r>
            <a:r>
              <a:rPr lang="zh-CN" altLang="en-US" sz="2800" b="1">
                <a:latin typeface="Times New Roman" pitchFamily="18" charset="0"/>
              </a:rPr>
              <a:t>  在一个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中，若存在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到自身的回路，则一定存在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到自身长度小于等于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的回路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推论</a:t>
            </a:r>
            <a:r>
              <a:rPr lang="zh-CN" altLang="en-US" sz="2800" b="1">
                <a:latin typeface="Times New Roman" pitchFamily="18" charset="0"/>
              </a:rPr>
              <a:t>  在一个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中，若存在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到自身的简单回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路，则一定存在长度小于等于</a:t>
            </a:r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的初级回路</a:t>
            </a:r>
            <a:r>
              <a:rPr lang="en-US" altLang="zh-CN" sz="2800" b="1">
                <a:latin typeface="Times New Roman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D123AB-42E1-42F3-B2C1-B562CA807C5E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03200"/>
            <a:ext cx="8229600" cy="1066800"/>
          </a:xfrm>
        </p:spPr>
        <p:txBody>
          <a:bodyPr/>
          <a:lstStyle/>
          <a:p>
            <a:pPr>
              <a:defRPr/>
            </a:pPr>
            <a:r>
              <a:rPr lang="zh-CN" altLang="en-US" sz="40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无向图的连通性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5327650"/>
          </a:xfrm>
        </p:spPr>
        <p:txBody>
          <a:bodyPr/>
          <a:lstStyle/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  </a:t>
            </a:r>
            <a:r>
              <a:rPr lang="zh-CN" altLang="en-US" sz="2800" b="1">
                <a:latin typeface="Times New Roman" pitchFamily="18" charset="0"/>
              </a:rPr>
              <a:t>设无向图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之间有通路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规定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与自身总连通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连通关系 </a:t>
            </a:r>
            <a:r>
              <a:rPr lang="en-US" altLang="zh-CN" sz="2800" b="1" i="1">
                <a:latin typeface="Times New Roman" pitchFamily="18" charset="0"/>
              </a:rPr>
              <a:t>R</a:t>
            </a:r>
            <a:r>
              <a:rPr lang="en-US" altLang="zh-CN" sz="2800" b="1">
                <a:latin typeface="Times New Roman" pitchFamily="18" charset="0"/>
              </a:rPr>
              <a:t>={&lt;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&gt;|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}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上的等价关系。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连通图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平凡图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或者任意两点都连通的图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连通分支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关于</a:t>
            </a:r>
            <a:r>
              <a:rPr lang="en-US" altLang="zh-CN" sz="2800" b="1" i="1">
                <a:latin typeface="Times New Roman" pitchFamily="18" charset="0"/>
              </a:rPr>
              <a:t>R</a:t>
            </a:r>
            <a:r>
              <a:rPr lang="zh-CN" altLang="en-US" sz="2800" b="1">
                <a:latin typeface="Times New Roman" pitchFamily="18" charset="0"/>
              </a:rPr>
              <a:t>的等价类的导出子图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</a:t>
            </a:r>
            <a:r>
              <a:rPr lang="zh-CN" altLang="en-US" sz="2800" b="1">
                <a:latin typeface="Times New Roman" pitchFamily="18" charset="0"/>
              </a:rPr>
              <a:t>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/</a:t>
            </a:r>
            <a:r>
              <a:rPr lang="en-US" altLang="zh-CN" sz="2800" b="1" i="1">
                <a:latin typeface="Times New Roman" pitchFamily="18" charset="0"/>
              </a:rPr>
              <a:t>R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,…,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k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[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],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[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], …,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[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k</a:t>
            </a:r>
            <a:r>
              <a:rPr lang="en-US" altLang="zh-CN" sz="2800" b="1">
                <a:latin typeface="Times New Roman" pitchFamily="18" charset="0"/>
              </a:rPr>
              <a:t>]</a:t>
            </a:r>
            <a:r>
              <a:rPr lang="zh-CN" altLang="en-US" sz="2800" b="1">
                <a:latin typeface="Times New Roman" pitchFamily="18" charset="0"/>
              </a:rPr>
              <a:t>是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的连通分支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其个数记作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k.</a:t>
            </a:r>
            <a:endParaRPr lang="en-US" altLang="zh-CN" sz="2800" b="1">
              <a:latin typeface="Times New Roman" pitchFamily="18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800" b="1" i="1">
                <a:latin typeface="Times New Roman" pitchFamily="18" charset="0"/>
              </a:rPr>
              <a:t>     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是连通图</a:t>
            </a:r>
            <a:r>
              <a:rPr lang="zh-CN" altLang="en-US" sz="2800" b="1">
                <a:solidFill>
                  <a:srgbClr val="3366CC"/>
                </a:solidFill>
                <a:sym typeface="Symbol" pitchFamily="18" charset="2"/>
              </a:rPr>
              <a:t>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 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p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(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)=1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；若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p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(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)≥2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，则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G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一定是非连通的。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DD0BB8-F518-4A55-9CF8-957240D1CAA7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39738" y="230188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短程线与距离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29600" cy="4867275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之间的短程线</a:t>
            </a:r>
            <a:r>
              <a:rPr lang="en-US" altLang="zh-CN" sz="2800" b="1">
                <a:latin typeface="Times New Roman" pitchFamily="18" charset="0"/>
              </a:rPr>
              <a:t>:</a:t>
            </a:r>
            <a:r>
              <a:rPr lang="zh-CN" altLang="en-US" sz="2800" b="1">
                <a:solidFill>
                  <a:schemeClr val="tx2"/>
                </a:solidFill>
                <a:latin typeface="Times New Roman" pitchFamily="18" charset="0"/>
              </a:rPr>
              <a:t>顶点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之间长度最短的通路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连通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之间的距离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之间短程线的长度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不连通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规定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cs typeface="Times New Roman" pitchFamily="18" charset="0"/>
              </a:rPr>
              <a:t>∞.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性质：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 i="1">
                <a:latin typeface="Times New Roman" pitchFamily="18" charset="0"/>
              </a:rPr>
              <a:t>    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>
                <a:latin typeface="Times New Roman" pitchFamily="18" charset="0"/>
              </a:rPr>
              <a:t>0, 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latin typeface="Times New Roman" pitchFamily="18" charset="0"/>
              </a:rPr>
              <a:t>0 </a:t>
            </a:r>
            <a:r>
              <a:rPr lang="en-US" altLang="zh-CN" b="1">
                <a:solidFill>
                  <a:srgbClr val="333300"/>
                </a:solidFill>
                <a:sym typeface="Symbol" pitchFamily="18" charset="2"/>
              </a:rPr>
              <a:t>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</a:rPr>
              <a:t>u=v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latin typeface="Times New Roman" pitchFamily="18" charset="0"/>
              </a:rPr>
              <a:t>    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zh-CN" altLang="en-US" sz="2800" b="1">
                <a:latin typeface="Times New Roman" pitchFamily="18" charset="0"/>
              </a:rPr>
              <a:t>（对称性）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i="1">
                <a:latin typeface="Times New Roman" pitchFamily="18" charset="0"/>
              </a:rPr>
              <a:t>    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)+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</a:t>
            </a:r>
            <a:r>
              <a:rPr lang="en-US" altLang="zh-CN" sz="2800" b="1">
                <a:latin typeface="Times New Roman" pitchFamily="18" charset="0"/>
              </a:rPr>
              <a:t>) </a:t>
            </a:r>
            <a:r>
              <a:rPr lang="zh-CN" altLang="en-US" sz="2800" b="1">
                <a:latin typeface="Times New Roman" pitchFamily="18" charset="0"/>
              </a:rPr>
              <a:t>（三角不等式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BEBE263-C5CC-4769-BCA6-22BADE31894E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点割集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41438"/>
            <a:ext cx="8686800" cy="4830762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记</a:t>
            </a:r>
            <a:r>
              <a:rPr lang="zh-CN" altLang="en-US" sz="2800" b="1">
                <a:solidFill>
                  <a:srgbClr val="33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及关联的边。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   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中所有的顶点及关联的边。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   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 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zh-CN" altLang="en-US" sz="2800" b="1" i="1">
                <a:latin typeface="Times New Roman" pitchFamily="18" charset="0"/>
              </a:rPr>
              <a:t>。</a:t>
            </a:r>
            <a:endParaRPr lang="zh-CN" altLang="en-US" sz="2800" b="1">
              <a:latin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    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从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中删除</a:t>
            </a:r>
            <a:r>
              <a:rPr lang="en-US" altLang="zh-CN" sz="2800" b="1" i="1">
                <a:latin typeface="Times New Roman" pitchFamily="18" charset="0"/>
              </a:rPr>
              <a:t>E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中所有边。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  <a:defRPr/>
            </a:pPr>
            <a:endParaRPr lang="zh-CN" altLang="en-US" sz="2800" b="1">
              <a:latin typeface="Times New Roman" pitchFamily="18" charset="0"/>
            </a:endParaRPr>
          </a:p>
          <a:p>
            <a:pPr algn="just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latin typeface="Times New Roman" pitchFamily="18" charset="0"/>
              </a:rPr>
              <a:t> 设无向图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zh-CN" altLang="en-US" sz="2800" b="1">
                <a:latin typeface="Times New Roman" pitchFamily="18" charset="0"/>
              </a:rPr>
              <a:t>如果存在顶点子集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</a:t>
            </a:r>
            <a:r>
              <a:rPr lang="en-US" altLang="zh-CN" sz="2800" b="1" i="1">
                <a:latin typeface="Times New Roman" pitchFamily="18" charset="0"/>
              </a:rPr>
              <a:t>V, 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en-US" altLang="zh-CN" sz="2800" b="1">
                <a:latin typeface="Times New Roman" pitchFamily="18" charset="0"/>
              </a:rPr>
              <a:t>     </a:t>
            </a:r>
            <a:r>
              <a:rPr lang="zh-CN" altLang="en-US" sz="2800" b="1">
                <a:latin typeface="Times New Roman" pitchFamily="18" charset="0"/>
              </a:rPr>
              <a:t>使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)&gt;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而且删除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的任何真子集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V 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zh-CN" altLang="en-US" sz="2800" b="1">
                <a:latin typeface="Times New Roman" pitchFamily="18" charset="0"/>
              </a:rPr>
              <a:t>后</a:t>
            </a:r>
          </a:p>
          <a:p>
            <a:pPr algn="just">
              <a:lnSpc>
                <a:spcPct val="115000"/>
              </a:lnSpc>
              <a:buFont typeface="Wingdings" pitchFamily="2" charset="2"/>
              <a:buNone/>
              <a:defRPr/>
            </a:pPr>
            <a:r>
              <a:rPr lang="zh-CN" altLang="en-US" sz="2800" b="1">
                <a:latin typeface="Times New Roman" pitchFamily="18" charset="0"/>
              </a:rPr>
              <a:t>  （</a:t>
            </a:r>
            <a:r>
              <a:rPr lang="zh-CN" altLang="en-US" sz="2800" b="1">
                <a:sym typeface="Symbol" pitchFamily="18" charset="2"/>
              </a:rPr>
              <a:t> 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V 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  <a:sym typeface="Symbol" pitchFamily="18" charset="2"/>
              </a:rPr>
              <a:t>），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V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的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点割集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>
                <a:latin typeface="Times New Roman" pitchFamily="18" charset="0"/>
              </a:rPr>
              <a:t>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}</a:t>
            </a:r>
            <a:r>
              <a:rPr lang="zh-CN" altLang="en-US" sz="2800" b="1">
                <a:latin typeface="Times New Roman" pitchFamily="18" charset="0"/>
              </a:rPr>
              <a:t>为点割集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割点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354ACF-FA8E-419D-92A5-2F6461289935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002588" cy="1039813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点割集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1143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>
                <a:solidFill>
                  <a:srgbClr val="3366CC"/>
                </a:solidFill>
                <a:latin typeface="Times New Roman" pitchFamily="18" charset="0"/>
              </a:rPr>
              <a:t>例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  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4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}, {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6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是点割集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, 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6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是割点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.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      {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003399"/>
                </a:solidFill>
                <a:latin typeface="Times New Roman" pitchFamily="18" charset="0"/>
              </a:rPr>
              <a:t>v</a:t>
            </a:r>
            <a:r>
              <a:rPr lang="en-US" altLang="zh-CN" sz="2800" b="1" baseline="-30000">
                <a:solidFill>
                  <a:srgbClr val="003399"/>
                </a:solidFill>
                <a:latin typeface="Times New Roman" pitchFamily="18" charset="0"/>
              </a:rPr>
              <a:t>5</a:t>
            </a:r>
            <a:r>
              <a:rPr lang="en-US" altLang="zh-CN" sz="2800" b="1">
                <a:solidFill>
                  <a:srgbClr val="003399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rgbClr val="003399"/>
                </a:solidFill>
                <a:latin typeface="Times New Roman" pitchFamily="18" charset="0"/>
              </a:rPr>
              <a:t>是点割集吗？ </a:t>
            </a: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3589338" y="2944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26630" name="Picture 6" descr="14-7"/>
          <p:cNvPicPr>
            <a:picLocks noChangeAspect="1" noChangeArrowheads="1"/>
          </p:cNvPicPr>
          <p:nvPr/>
        </p:nvPicPr>
        <p:blipFill>
          <a:blip r:embed="rId3" cstate="print"/>
          <a:srcRect b="35701"/>
          <a:stretch>
            <a:fillRect/>
          </a:stretch>
        </p:blipFill>
        <p:spPr bwMode="auto">
          <a:xfrm>
            <a:off x="1476375" y="3213100"/>
            <a:ext cx="561022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F3B558-0437-4B73-A0DD-79634964FB2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边割集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229600" cy="4822825"/>
          </a:xfrm>
        </p:spPr>
        <p:txBody>
          <a:bodyPr/>
          <a:lstStyle/>
          <a:p>
            <a:pPr algn="just">
              <a:lnSpc>
                <a:spcPct val="11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设无向图</a:t>
            </a:r>
            <a:r>
              <a:rPr lang="en-US" altLang="zh-CN" sz="2800" b="1" i="1">
                <a:latin typeface="Times New Roman" pitchFamily="18" charset="0"/>
              </a:rPr>
              <a:t>G </a:t>
            </a:r>
            <a:r>
              <a:rPr lang="en-US" altLang="zh-CN" sz="2800" b="1">
                <a:latin typeface="Times New Roman" pitchFamily="18" charset="0"/>
              </a:rPr>
              <a:t>= 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</a:t>
            </a:r>
            <a:r>
              <a:rPr lang="en-US" altLang="zh-CN" sz="2800" b="1" i="1">
                <a:latin typeface="Times New Roman" pitchFamily="18" charset="0"/>
              </a:rPr>
              <a:t>E, </a:t>
            </a: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)&gt;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 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zh-CN" altLang="en-US" sz="2800" b="1"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  <a:sym typeface="Symbol" pitchFamily="18" charset="2"/>
              </a:rPr>
              <a:t>E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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cs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</a:t>
            </a:r>
            <a:r>
              <a:rPr lang="en-US" altLang="zh-CN" sz="2800" b="1">
                <a:latin typeface="Times New Roman" pitchFamily="18" charset="0"/>
              </a:rPr>
              <a:t>)=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的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边割集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latin typeface="Times New Roman" pitchFamily="18" charset="0"/>
              </a:rPr>
              <a:t>若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   </a:t>
            </a:r>
            <a:r>
              <a:rPr lang="en-US" altLang="zh-CN" sz="2800" b="1">
                <a:latin typeface="Times New Roman" pitchFamily="18" charset="0"/>
              </a:rPr>
              <a:t>{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}</a:t>
            </a:r>
            <a:r>
              <a:rPr lang="zh-CN" altLang="en-US" sz="2800" b="1">
                <a:latin typeface="Times New Roman" pitchFamily="18" charset="0"/>
              </a:rPr>
              <a:t>为边割集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则称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割边</a:t>
            </a:r>
            <a:r>
              <a:rPr lang="zh-CN" altLang="en-US" sz="2800" b="1">
                <a:latin typeface="Times New Roman" pitchFamily="18" charset="0"/>
              </a:rPr>
              <a:t>或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桥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例：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图中，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3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5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6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8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等是边割集，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i="1">
                <a:solidFill>
                  <a:schemeClr val="bg2"/>
                </a:solidFill>
                <a:latin typeface="Times New Roman" pitchFamily="18" charset="0"/>
              </a:rPr>
              <a:t>       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8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是桥，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{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7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9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5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chemeClr val="bg2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30000">
                <a:solidFill>
                  <a:schemeClr val="bg2"/>
                </a:solidFill>
                <a:latin typeface="Times New Roman" pitchFamily="18" charset="0"/>
              </a:rPr>
              <a:t>6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}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是边割集吗？</a:t>
            </a:r>
          </a:p>
        </p:txBody>
      </p:sp>
      <p:pic>
        <p:nvPicPr>
          <p:cNvPr id="27653" name="Picture 4" descr="14-7"/>
          <p:cNvPicPr>
            <a:picLocks noChangeAspect="1" noChangeArrowheads="1"/>
          </p:cNvPicPr>
          <p:nvPr/>
        </p:nvPicPr>
        <p:blipFill>
          <a:blip r:embed="rId3" cstate="print"/>
          <a:srcRect b="35701"/>
          <a:stretch>
            <a:fillRect/>
          </a:stretch>
        </p:blipFill>
        <p:spPr bwMode="auto">
          <a:xfrm>
            <a:off x="1792288" y="3978275"/>
            <a:ext cx="5610225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58D049-3D5D-40F3-B871-CC8194B9DE0D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边割集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3886200"/>
          </a:xfrm>
        </p:spPr>
        <p:txBody>
          <a:bodyPr/>
          <a:lstStyle/>
          <a:p>
            <a:pPr algn="just">
              <a:spcBef>
                <a:spcPct val="60000"/>
              </a:spcBef>
              <a:buFont typeface="Wingdings" pitchFamily="2" charset="2"/>
              <a:buNone/>
            </a:pPr>
            <a:r>
              <a:rPr lang="zh-CN" altLang="en-US" b="1">
                <a:solidFill>
                  <a:srgbClr val="3366CC"/>
                </a:solidFill>
                <a:latin typeface="Times New Roman" pitchFamily="18" charset="0"/>
              </a:rPr>
              <a:t>几点说明：</a:t>
            </a:r>
          </a:p>
          <a:p>
            <a:pPr algn="just"/>
            <a:r>
              <a:rPr lang="en-US" altLang="zh-CN" sz="2800" b="1" i="1">
                <a:latin typeface="Times New Roman" pitchFamily="18" charset="0"/>
              </a:rPr>
              <a:t>K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无点割集</a:t>
            </a:r>
          </a:p>
          <a:p>
            <a:pPr algn="just"/>
            <a:r>
              <a:rPr lang="en-US" altLang="zh-CN" sz="2800" b="1" i="1">
                <a:latin typeface="Times New Roman" pitchFamily="18" charset="0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阶零图既无点割集，也无边割集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/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连通，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为边割集，则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)=2</a:t>
            </a:r>
          </a:p>
          <a:p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zh-CN" altLang="en-US" sz="2800" b="1">
                <a:latin typeface="Times New Roman" pitchFamily="18" charset="0"/>
              </a:rPr>
              <a:t>连通，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 sz="2800" b="1">
                <a:latin typeface="Times New Roman" pitchFamily="18" charset="0"/>
              </a:rPr>
              <a:t>为点割集，则</a:t>
            </a:r>
            <a:r>
              <a:rPr lang="en-US" altLang="zh-CN" sz="2800" b="1" i="1">
                <a:latin typeface="Times New Roman" pitchFamily="18" charset="0"/>
              </a:rPr>
              <a:t>p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 </a:t>
            </a:r>
          </a:p>
          <a:p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796D7C-E662-4E2D-876A-355F517F44B5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74625"/>
            <a:ext cx="8002587" cy="795338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有向图的连通性</a:t>
            </a:r>
            <a:r>
              <a:rPr lang="zh-CN" altLang="en-US" sz="4000" b="1">
                <a:latin typeface="宋体" charset="-122"/>
              </a:rPr>
              <a:t> 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229600" cy="47244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   </a:t>
            </a:r>
            <a:r>
              <a:rPr lang="zh-CN" altLang="en-US" sz="2800" b="1">
                <a:latin typeface="Times New Roman" pitchFamily="18" charset="0"/>
              </a:rPr>
              <a:t>设有向图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可达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有通路</a:t>
            </a:r>
            <a:r>
              <a:rPr lang="en-US" altLang="zh-CN" sz="2800" b="1">
                <a:latin typeface="Times New Roman" pitchFamily="18" charset="0"/>
              </a:rPr>
              <a:t>. 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规定</a:t>
            </a:r>
            <a:r>
              <a:rPr lang="en-US" altLang="zh-CN" sz="2800" b="1" i="1">
                <a:solidFill>
                  <a:srgbClr val="3366CC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到自身总是可达的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可达具有自反性和传递性</a:t>
            </a:r>
            <a:r>
              <a:rPr lang="en-US" altLang="zh-CN" sz="2800" b="1">
                <a:latin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None/>
            </a:pPr>
            <a:endParaRPr lang="en-US" altLang="zh-CN" sz="2800" b="1" i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弱连通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(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连通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)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基图为无向连通图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单向连通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，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可达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或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  <a:sym typeface="Symbol" pitchFamily="18" charset="2"/>
              </a:rPr>
              <a:t>可达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强连通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，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  <a:sym typeface="Symbol" pitchFamily="18" charset="2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相互可达</a:t>
            </a:r>
          </a:p>
          <a:p>
            <a:pPr>
              <a:buFont typeface="Wingdings" pitchFamily="2" charset="2"/>
              <a:buNone/>
            </a:pPr>
            <a:endParaRPr lang="zh-CN" altLang="en-US" sz="2800" b="1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强连通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单向连通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弱连通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842FB7-A957-434E-AF1F-942B840D937C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88913"/>
            <a:ext cx="8002587" cy="7953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有向图的连通性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  <a:r>
              <a:rPr lang="en-US" altLang="zh-CN" sz="4000" b="1">
                <a:latin typeface="宋体" charset="-122"/>
              </a:rPr>
              <a:t> </a:t>
            </a:r>
          </a:p>
        </p:txBody>
      </p:sp>
      <p:pic>
        <p:nvPicPr>
          <p:cNvPr id="30724" name="Picture 4" descr="14-12"/>
          <p:cNvPicPr>
            <a:picLocks noChangeAspect="1" noChangeArrowheads="1"/>
          </p:cNvPicPr>
          <p:nvPr/>
        </p:nvPicPr>
        <p:blipFill>
          <a:blip r:embed="rId2" cstate="print"/>
          <a:srcRect t="26393"/>
          <a:stretch>
            <a:fillRect/>
          </a:stretch>
        </p:blipFill>
        <p:spPr bwMode="auto">
          <a:xfrm>
            <a:off x="1258888" y="2997200"/>
            <a:ext cx="6337300" cy="118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1619250" y="43656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(1)</a:t>
            </a: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4211638" y="4365625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(2)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6659563" y="4365625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(3)</a:t>
            </a: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684213" y="1989138"/>
            <a:ext cx="68405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chemeClr val="bg2"/>
                </a:solidFill>
                <a:latin typeface="Times New Roman" pitchFamily="18" charset="0"/>
              </a:rPr>
              <a:t>例  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下图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59755" name="Text Box 11"/>
          <p:cNvSpPr txBox="1">
            <a:spLocks noChangeArrowheads="1"/>
          </p:cNvSpPr>
          <p:nvPr/>
        </p:nvSpPr>
        <p:spPr bwMode="auto">
          <a:xfrm>
            <a:off x="1258888" y="5013325"/>
            <a:ext cx="6626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(1)</a:t>
            </a:r>
            <a:r>
              <a:rPr lang="zh-CN" altLang="en-US" sz="2800" b="1">
                <a:solidFill>
                  <a:schemeClr val="bg2"/>
                </a:solidFill>
              </a:rPr>
              <a:t>强连通</a:t>
            </a:r>
            <a:r>
              <a:rPr lang="en-US" altLang="zh-CN" sz="2800" b="1">
                <a:solidFill>
                  <a:schemeClr val="bg2"/>
                </a:solidFill>
              </a:rPr>
              <a:t>,      (2)</a:t>
            </a:r>
            <a:r>
              <a:rPr lang="zh-CN" altLang="en-US" sz="2800" b="1">
                <a:solidFill>
                  <a:schemeClr val="bg2"/>
                </a:solidFill>
              </a:rPr>
              <a:t>单连通</a:t>
            </a:r>
            <a:r>
              <a:rPr lang="en-US" altLang="zh-CN" sz="2800" b="1">
                <a:solidFill>
                  <a:schemeClr val="bg2"/>
                </a:solidFill>
              </a:rPr>
              <a:t>,     (3) </a:t>
            </a:r>
            <a:r>
              <a:rPr lang="zh-CN" altLang="en-US" sz="2800" b="1">
                <a:solidFill>
                  <a:schemeClr val="bg2"/>
                </a:solidFill>
              </a:rPr>
              <a:t>弱连通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D21DA9-2A82-4983-9166-77754624A223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002588" cy="795338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短程线与距离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628775"/>
            <a:ext cx="8229600" cy="4648200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到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的短程线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zh-CN" altLang="en-US" sz="2800" b="1">
                <a:latin typeface="Times New Roman" pitchFamily="18" charset="0"/>
              </a:rPr>
              <a:t>顶点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长度最短的通路 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可达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u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之间的距离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d&lt;u</a:t>
            </a:r>
            <a:r>
              <a:rPr lang="en-US" altLang="zh-CN" sz="2800" b="1">
                <a:solidFill>
                  <a:srgbClr val="FF3300"/>
                </a:solidFill>
                <a:latin typeface="Times New Roman" pitchFamily="18" charset="0"/>
              </a:rPr>
              <a:t>,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</a:rPr>
              <a:t>: 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到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zh-CN" altLang="en-US" sz="2800" b="1">
                <a:latin typeface="Times New Roman" pitchFamily="18" charset="0"/>
              </a:rPr>
              <a:t>的短程线的长度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</a:rPr>
              <a:t>若</a:t>
            </a:r>
            <a:r>
              <a:rPr lang="en-US" altLang="zh-CN" sz="2800" b="1" i="1">
                <a:latin typeface="Times New Roman" pitchFamily="18" charset="0"/>
              </a:rPr>
              <a:t>u</a:t>
            </a:r>
            <a:r>
              <a:rPr lang="zh-CN" altLang="en-US" sz="2800" b="1">
                <a:latin typeface="Times New Roman" pitchFamily="18" charset="0"/>
              </a:rPr>
              <a:t>不可达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规定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cs typeface="Times New Roman" pitchFamily="18" charset="0"/>
              </a:rPr>
              <a:t>∞.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性质：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 i="1">
                <a:latin typeface="Times New Roman" pitchFamily="18" charset="0"/>
              </a:rPr>
              <a:t>    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>
                <a:latin typeface="Times New Roman" pitchFamily="18" charset="0"/>
              </a:rPr>
              <a:t>0, </a:t>
            </a:r>
            <a:r>
              <a:rPr lang="zh-CN" altLang="en-US" sz="2800" b="1">
                <a:latin typeface="Times New Roman" pitchFamily="18" charset="0"/>
              </a:rPr>
              <a:t>且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=</a:t>
            </a:r>
            <a:r>
              <a:rPr lang="en-US" altLang="zh-CN" sz="2800" b="1">
                <a:latin typeface="Times New Roman" pitchFamily="18" charset="0"/>
              </a:rPr>
              <a:t>0 </a:t>
            </a:r>
            <a:r>
              <a:rPr lang="en-US" altLang="zh-CN" sz="2800" b="1">
                <a:solidFill>
                  <a:srgbClr val="333300"/>
                </a:solidFill>
                <a:sym typeface="Symbol" pitchFamily="18" charset="2"/>
              </a:rPr>
              <a:t>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</a:rPr>
              <a:t>u=v</a:t>
            </a:r>
            <a:endParaRPr lang="en-US" altLang="zh-CN" sz="2800" b="1">
              <a:latin typeface="Times New Roman" pitchFamily="18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altLang="zh-CN" sz="2800" b="1" i="1">
                <a:latin typeface="Times New Roman" pitchFamily="18" charset="0"/>
              </a:rPr>
              <a:t>    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v&gt;</a:t>
            </a:r>
            <a:r>
              <a:rPr lang="en-US" altLang="zh-CN" sz="2800" b="1">
                <a:latin typeface="Times New Roman" pitchFamily="18" charset="0"/>
              </a:rPr>
              <a:t>+</a:t>
            </a:r>
            <a:r>
              <a:rPr lang="en-US" altLang="zh-CN" sz="2800" b="1" i="1">
                <a:latin typeface="Times New Roman" pitchFamily="18" charset="0"/>
              </a:rPr>
              <a:t>d&lt;v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w&gt; </a:t>
            </a:r>
            <a:r>
              <a:rPr lang="en-US" altLang="zh-CN" sz="2800" b="1">
                <a:latin typeface="Times New Roman" pitchFamily="18" charset="0"/>
                <a:sym typeface="Symbol" pitchFamily="18" charset="2"/>
              </a:rPr>
              <a:t></a:t>
            </a:r>
            <a:r>
              <a:rPr lang="en-US" altLang="zh-CN" sz="2800" b="1" i="1">
                <a:latin typeface="Times New Roman" pitchFamily="18" charset="0"/>
              </a:rPr>
              <a:t>d&lt;u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w&gt;</a:t>
            </a:r>
            <a:r>
              <a:rPr lang="en-US" altLang="zh-CN" sz="2800" b="1">
                <a:latin typeface="Times New Roman" pitchFamily="18" charset="0"/>
              </a:rPr>
              <a:t> 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注意</a:t>
            </a:r>
            <a:r>
              <a:rPr lang="en-US" altLang="zh-CN" sz="2800" b="1">
                <a:solidFill>
                  <a:srgbClr val="3366CC"/>
                </a:solidFill>
                <a:latin typeface="Times New Roman" pitchFamily="18" charset="0"/>
              </a:rPr>
              <a:t>:</a:t>
            </a:r>
            <a:r>
              <a:rPr lang="en-US" altLang="zh-CN" sz="2800" b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没有对称性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021FB7-8A18-4EE5-BB76-784E493A6844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075613" cy="1260475"/>
          </a:xfrm>
        </p:spPr>
        <p:txBody>
          <a:bodyPr/>
          <a:lstStyle/>
          <a:p>
            <a:pPr>
              <a:defRPr/>
            </a:pPr>
            <a:r>
              <a:rPr lang="en-US" altLang="zh-CN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5.3 </a:t>
            </a:r>
            <a:r>
              <a:rPr lang="zh-CN" altLang="en-US" b="1" dirty="0">
                <a:solidFill>
                  <a:srgbClr val="FF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图的矩阵表示</a:t>
            </a:r>
            <a:r>
              <a:rPr lang="zh-CN" altLang="en-US" b="1" dirty="0">
                <a:latin typeface="Times New Roman" pitchFamily="18" charset="0"/>
              </a:rPr>
              <a:t> 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229600" cy="3581400"/>
          </a:xfrm>
        </p:spPr>
        <p:txBody>
          <a:bodyPr/>
          <a:lstStyle/>
          <a:p>
            <a:pPr algn="just"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无向图的关联矩阵</a:t>
            </a:r>
          </a:p>
          <a:p>
            <a:pPr algn="just"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有向图的关联矩阵</a:t>
            </a:r>
          </a:p>
          <a:p>
            <a:pPr algn="just"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有向图的邻接矩阵</a:t>
            </a:r>
          </a:p>
          <a:p>
            <a:pPr>
              <a:spcBef>
                <a:spcPct val="80000"/>
              </a:spcBef>
              <a:buSzPct val="150000"/>
              <a:buFont typeface="Wingdings" pitchFamily="2" charset="2"/>
              <a:buChar char="§"/>
            </a:pPr>
            <a:r>
              <a:rPr lang="zh-CN" altLang="en-US" b="1">
                <a:latin typeface="宋体" charset="-122"/>
              </a:rPr>
              <a:t>有向图的可达矩阵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280FE28-E64E-44B8-9B5E-8E41A7E48954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217488"/>
            <a:ext cx="8002587" cy="7953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无向图的关联矩阵</a:t>
            </a:r>
          </a:p>
        </p:txBody>
      </p:sp>
      <p:graphicFrame>
        <p:nvGraphicFramePr>
          <p:cNvPr id="194560" name="Object 0"/>
          <p:cNvGraphicFramePr>
            <a:graphicFrameLocks noChangeAspect="1"/>
          </p:cNvGraphicFramePr>
          <p:nvPr/>
        </p:nvGraphicFramePr>
        <p:xfrm>
          <a:off x="1547813" y="3357563"/>
          <a:ext cx="6192837" cy="318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公式" r:id="rId3" imgW="3009600" imgH="1549080" progId="Equation.3">
                  <p:embed/>
                </p:oleObj>
              </mc:Choice>
              <mc:Fallback>
                <p:oleObj name="公式" r:id="rId3" imgW="3009600" imgH="154908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357563"/>
                        <a:ext cx="6192837" cy="318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539750" y="1412875"/>
            <a:ext cx="8229600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latin typeface="Times New Roman" pitchFamily="18" charset="0"/>
              </a:rPr>
              <a:t> 设无向图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m</a:t>
            </a:r>
            <a:r>
              <a:rPr lang="en-US" altLang="zh-CN" sz="2800" b="1">
                <a:latin typeface="Times New Roman" pitchFamily="18" charset="0"/>
              </a:rPr>
              <a:t>},</a:t>
            </a:r>
            <a:r>
              <a:rPr lang="en-US" altLang="zh-CN" sz="2800" b="1" i="1"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令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en-US" altLang="zh-CN" sz="2800" b="1" i="1" baseline="-30000">
                <a:latin typeface="Times New Roman" pitchFamily="18" charset="0"/>
              </a:rPr>
              <a:t>ij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与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的关联次数，称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en-US" altLang="zh-CN" sz="2800" b="1" i="1" baseline="-30000">
                <a:latin typeface="Times New Roman" pitchFamily="18" charset="0"/>
              </a:rPr>
              <a:t>ij</a:t>
            </a:r>
            <a:r>
              <a:rPr lang="en-US" altLang="zh-CN" sz="2800" b="1">
                <a:latin typeface="Times New Roman" pitchFamily="18" charset="0"/>
              </a:rPr>
              <a:t>)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en-US" altLang="zh-CN" sz="2800" b="1" baseline="-3000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 sz="2800" b="1" i="1" baseline="-30000">
                <a:latin typeface="Times New Roman" pitchFamily="18" charset="0"/>
              </a:rPr>
              <a:t>m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G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的关联矩阵</a:t>
            </a:r>
            <a:r>
              <a:rPr lang="zh-CN" altLang="en-US" sz="2800" b="1">
                <a:latin typeface="Times New Roman" pitchFamily="18" charset="0"/>
              </a:rPr>
              <a:t>，记为</a:t>
            </a:r>
            <a:r>
              <a:rPr lang="en-US" altLang="zh-CN" sz="2800" b="1" i="1">
                <a:latin typeface="Times New Roman" pitchFamily="18" charset="0"/>
              </a:rPr>
              <a:t>M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G</a:t>
            </a:r>
            <a:r>
              <a:rPr lang="en-US" altLang="zh-CN" sz="2800" b="1">
                <a:latin typeface="Times New Roman" pitchFamily="18" charset="0"/>
              </a:rPr>
              <a:t>). 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3BF5DB-3A07-484D-95C5-D4C4A759B381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grpSp>
        <p:nvGrpSpPr>
          <p:cNvPr id="2053" name="Group 24"/>
          <p:cNvGrpSpPr>
            <a:grpSpLocks/>
          </p:cNvGrpSpPr>
          <p:nvPr/>
        </p:nvGrpSpPr>
        <p:grpSpPr bwMode="auto">
          <a:xfrm>
            <a:off x="1979613" y="836613"/>
            <a:ext cx="5040312" cy="2473325"/>
            <a:chOff x="1296" y="720"/>
            <a:chExt cx="2448" cy="889"/>
          </a:xfrm>
        </p:grpSpPr>
        <p:sp>
          <p:nvSpPr>
            <p:cNvPr id="2055" name="Oval 2"/>
            <p:cNvSpPr>
              <a:spLocks noChangeArrowheads="1"/>
            </p:cNvSpPr>
            <p:nvPr/>
          </p:nvSpPr>
          <p:spPr bwMode="auto">
            <a:xfrm>
              <a:off x="1646" y="878"/>
              <a:ext cx="58" cy="5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" name="Oval 3"/>
            <p:cNvSpPr>
              <a:spLocks noChangeArrowheads="1"/>
            </p:cNvSpPr>
            <p:nvPr/>
          </p:nvSpPr>
          <p:spPr bwMode="auto">
            <a:xfrm>
              <a:off x="1646" y="1406"/>
              <a:ext cx="58" cy="5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" name="Oval 4"/>
            <p:cNvSpPr>
              <a:spLocks noChangeArrowheads="1"/>
            </p:cNvSpPr>
            <p:nvPr/>
          </p:nvSpPr>
          <p:spPr bwMode="auto">
            <a:xfrm>
              <a:off x="3045" y="1195"/>
              <a:ext cx="58" cy="5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Oval 6"/>
            <p:cNvSpPr>
              <a:spLocks noChangeArrowheads="1"/>
            </p:cNvSpPr>
            <p:nvPr/>
          </p:nvSpPr>
          <p:spPr bwMode="auto">
            <a:xfrm>
              <a:off x="1587" y="931"/>
              <a:ext cx="175" cy="4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Oval 7"/>
            <p:cNvSpPr>
              <a:spLocks noChangeArrowheads="1"/>
            </p:cNvSpPr>
            <p:nvPr/>
          </p:nvSpPr>
          <p:spPr bwMode="auto">
            <a:xfrm>
              <a:off x="3045" y="1036"/>
              <a:ext cx="349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" name="Line 8"/>
            <p:cNvSpPr>
              <a:spLocks noChangeShapeType="1"/>
            </p:cNvSpPr>
            <p:nvPr/>
          </p:nvSpPr>
          <p:spPr bwMode="auto">
            <a:xfrm>
              <a:off x="1704" y="931"/>
              <a:ext cx="1341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Line 9"/>
            <p:cNvSpPr>
              <a:spLocks noChangeShapeType="1"/>
            </p:cNvSpPr>
            <p:nvPr/>
          </p:nvSpPr>
          <p:spPr bwMode="auto">
            <a:xfrm flipV="1">
              <a:off x="1704" y="1247"/>
              <a:ext cx="1341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Oval 10"/>
            <p:cNvSpPr>
              <a:spLocks noChangeArrowheads="1"/>
            </p:cNvSpPr>
            <p:nvPr/>
          </p:nvSpPr>
          <p:spPr bwMode="auto">
            <a:xfrm>
              <a:off x="3103" y="1458"/>
              <a:ext cx="58" cy="5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3" name="Text Box 11"/>
            <p:cNvSpPr txBox="1">
              <a:spLocks noChangeArrowheads="1"/>
            </p:cNvSpPr>
            <p:nvPr/>
          </p:nvSpPr>
          <p:spPr bwMode="auto">
            <a:xfrm>
              <a:off x="1529" y="720"/>
              <a:ext cx="292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1</a:t>
              </a:r>
              <a:endParaRPr lang="en-US" altLang="zh-CN" sz="1200" b="1"/>
            </a:p>
          </p:txBody>
        </p:sp>
        <p:sp>
          <p:nvSpPr>
            <p:cNvPr id="2064" name="Text Box 12"/>
            <p:cNvSpPr txBox="1">
              <a:spLocks noChangeArrowheads="1"/>
            </p:cNvSpPr>
            <p:nvPr/>
          </p:nvSpPr>
          <p:spPr bwMode="auto">
            <a:xfrm>
              <a:off x="1587" y="1458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2</a:t>
              </a:r>
              <a:endParaRPr lang="en-US" altLang="zh-CN" sz="1200" b="1"/>
            </a:p>
          </p:txBody>
        </p:sp>
        <p:sp>
          <p:nvSpPr>
            <p:cNvPr id="2065" name="Text Box 13"/>
            <p:cNvSpPr txBox="1">
              <a:spLocks noChangeArrowheads="1"/>
            </p:cNvSpPr>
            <p:nvPr/>
          </p:nvSpPr>
          <p:spPr bwMode="auto">
            <a:xfrm>
              <a:off x="3045" y="1511"/>
              <a:ext cx="349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4</a:t>
              </a:r>
              <a:endParaRPr lang="en-US" altLang="zh-CN" sz="1200" b="1"/>
            </a:p>
          </p:txBody>
        </p:sp>
        <p:sp>
          <p:nvSpPr>
            <p:cNvPr id="2066" name="Text Box 14"/>
            <p:cNvSpPr txBox="1">
              <a:spLocks noChangeArrowheads="1"/>
            </p:cNvSpPr>
            <p:nvPr/>
          </p:nvSpPr>
          <p:spPr bwMode="auto">
            <a:xfrm>
              <a:off x="2880" y="1008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v</a:t>
              </a:r>
              <a:r>
                <a:rPr lang="en-US" altLang="zh-CN" sz="1200" b="1" baseline="-25000"/>
                <a:t>3</a:t>
              </a:r>
              <a:endParaRPr lang="en-US" altLang="zh-CN" sz="1200" b="1"/>
            </a:p>
          </p:txBody>
        </p:sp>
        <p:sp>
          <p:nvSpPr>
            <p:cNvPr id="2067" name="Text Box 15"/>
            <p:cNvSpPr txBox="1">
              <a:spLocks noChangeArrowheads="1"/>
            </p:cNvSpPr>
            <p:nvPr/>
          </p:nvSpPr>
          <p:spPr bwMode="auto">
            <a:xfrm>
              <a:off x="2112" y="825"/>
              <a:ext cx="29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1</a:t>
              </a:r>
              <a:endParaRPr lang="en-US" altLang="zh-CN" sz="1200" b="1"/>
            </a:p>
          </p:txBody>
        </p:sp>
        <p:sp>
          <p:nvSpPr>
            <p:cNvPr id="2068" name="Text Box 16"/>
            <p:cNvSpPr txBox="1">
              <a:spLocks noChangeArrowheads="1"/>
            </p:cNvSpPr>
            <p:nvPr/>
          </p:nvSpPr>
          <p:spPr bwMode="auto">
            <a:xfrm>
              <a:off x="1296" y="1089"/>
              <a:ext cx="291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2</a:t>
              </a:r>
              <a:endParaRPr lang="en-US" altLang="zh-CN" sz="1200" b="1"/>
            </a:p>
          </p:txBody>
        </p:sp>
        <p:sp>
          <p:nvSpPr>
            <p:cNvPr id="2069" name="Text Box 17"/>
            <p:cNvSpPr txBox="1">
              <a:spLocks noChangeArrowheads="1"/>
            </p:cNvSpPr>
            <p:nvPr/>
          </p:nvSpPr>
          <p:spPr bwMode="auto">
            <a:xfrm>
              <a:off x="1762" y="1089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3</a:t>
              </a:r>
              <a:endParaRPr lang="en-US" altLang="zh-CN" sz="1200" b="1"/>
            </a:p>
          </p:txBody>
        </p:sp>
        <p:sp>
          <p:nvSpPr>
            <p:cNvPr id="2070" name="Text Box 18"/>
            <p:cNvSpPr txBox="1">
              <a:spLocks noChangeArrowheads="1"/>
            </p:cNvSpPr>
            <p:nvPr/>
          </p:nvSpPr>
          <p:spPr bwMode="auto">
            <a:xfrm>
              <a:off x="2112" y="1353"/>
              <a:ext cx="291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4</a:t>
              </a:r>
              <a:endParaRPr lang="en-US" altLang="zh-CN" sz="1200" b="1"/>
            </a:p>
          </p:txBody>
        </p:sp>
        <p:sp>
          <p:nvSpPr>
            <p:cNvPr id="2071" name="Text Box 19"/>
            <p:cNvSpPr txBox="1">
              <a:spLocks noChangeArrowheads="1"/>
            </p:cNvSpPr>
            <p:nvPr/>
          </p:nvSpPr>
          <p:spPr bwMode="auto">
            <a:xfrm>
              <a:off x="3394" y="1036"/>
              <a:ext cx="350" cy="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b="1"/>
                <a:t>e</a:t>
              </a:r>
              <a:r>
                <a:rPr lang="en-US" altLang="zh-CN" sz="1200" b="1" baseline="-25000"/>
                <a:t>5</a:t>
              </a:r>
              <a:endParaRPr lang="en-US" altLang="zh-CN" sz="1200" b="1"/>
            </a:p>
          </p:txBody>
        </p:sp>
      </p:grpSp>
      <p:graphicFrame>
        <p:nvGraphicFramePr>
          <p:cNvPr id="2050" name="Object 21"/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3" imgW="914400" imgH="198720" progId="">
                  <p:embed/>
                </p:oleObj>
              </mc:Choice>
              <mc:Fallback>
                <p:oleObj name="Equation" r:id="rId3" imgW="914400" imgH="198720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55" name="Object 23"/>
          <p:cNvGraphicFramePr>
            <a:graphicFrameLocks noChangeAspect="1"/>
          </p:cNvGraphicFramePr>
          <p:nvPr/>
        </p:nvGraphicFramePr>
        <p:xfrm>
          <a:off x="2286000" y="4343400"/>
          <a:ext cx="2819400" cy="161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5" imgW="1600200" imgH="914400" progId="">
                  <p:embed/>
                </p:oleObj>
              </mc:Choice>
              <mc:Fallback>
                <p:oleObj name="Equation" r:id="rId5" imgW="1600200" imgH="914400" progId="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343400"/>
                        <a:ext cx="2819400" cy="161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57" name="Text Box 25"/>
          <p:cNvSpPr txBox="1">
            <a:spLocks noChangeArrowheads="1"/>
          </p:cNvSpPr>
          <p:nvPr/>
        </p:nvSpPr>
        <p:spPr bwMode="auto">
          <a:xfrm>
            <a:off x="2124075" y="3429000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关联次数的可能取值为</a:t>
            </a:r>
            <a:r>
              <a:rPr lang="en-US" altLang="zh-CN" sz="2400" b="1"/>
              <a:t>0</a:t>
            </a:r>
            <a:r>
              <a:rPr lang="zh-CN" altLang="en-US" sz="2400" b="1"/>
              <a:t>，</a:t>
            </a:r>
            <a:r>
              <a:rPr lang="en-US" altLang="zh-CN" sz="2400" b="1"/>
              <a:t>1</a:t>
            </a:r>
            <a:r>
              <a:rPr lang="zh-CN" altLang="en-US" sz="2400" b="1"/>
              <a:t>，</a:t>
            </a:r>
            <a:r>
              <a:rPr lang="en-US" altLang="zh-CN" sz="2400" b="1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34DF3E-550D-404E-A278-F78E264CDD39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60338"/>
            <a:ext cx="8002588" cy="795337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有向图的关联矩阵</a:t>
            </a: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3798888" y="3086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3078" name="Group 7"/>
          <p:cNvGrpSpPr>
            <a:grpSpLocks/>
          </p:cNvGrpSpPr>
          <p:nvPr/>
        </p:nvGrpSpPr>
        <p:grpSpPr bwMode="auto">
          <a:xfrm>
            <a:off x="533400" y="1814513"/>
            <a:ext cx="8229600" cy="3656012"/>
            <a:chOff x="336" y="1143"/>
            <a:chExt cx="5184" cy="2303"/>
          </a:xfrm>
        </p:grpSpPr>
        <p:graphicFrame>
          <p:nvGraphicFramePr>
            <p:cNvPr id="3074" name="Object 0"/>
            <p:cNvGraphicFramePr>
              <a:graphicFrameLocks noChangeAspect="1"/>
            </p:cNvGraphicFramePr>
            <p:nvPr/>
          </p:nvGraphicFramePr>
          <p:xfrm>
            <a:off x="1247" y="1888"/>
            <a:ext cx="2586" cy="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3" imgW="1676160" imgH="736560" progId="Equation.3">
                    <p:embed/>
                  </p:oleObj>
                </mc:Choice>
                <mc:Fallback>
                  <p:oleObj name="Equation" r:id="rId3" imgW="1676160" imgH="736560" progId="Equation.3">
                    <p:embed/>
                    <p:pic>
                      <p:nvPicPr>
                        <p:cNvPr id="0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888"/>
                          <a:ext cx="2586" cy="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" name="Text Box 6"/>
            <p:cNvSpPr txBox="1">
              <a:spLocks noChangeArrowheads="1"/>
            </p:cNvSpPr>
            <p:nvPr/>
          </p:nvSpPr>
          <p:spPr bwMode="auto">
            <a:xfrm>
              <a:off x="336" y="1143"/>
              <a:ext cx="5184" cy="2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定义</a:t>
              </a:r>
              <a:r>
                <a:rPr lang="zh-CN" altLang="en-US" sz="3200" b="1">
                  <a:latin typeface="Times New Roman" pitchFamily="18" charset="0"/>
                </a:rPr>
                <a:t> </a:t>
              </a:r>
              <a:r>
                <a:rPr lang="zh-CN" altLang="en-US" sz="2800" b="1">
                  <a:latin typeface="Times New Roman" pitchFamily="18" charset="0"/>
                </a:rPr>
                <a:t>设</a:t>
              </a:r>
              <a:r>
                <a:rPr lang="zh-CN" altLang="en-US" sz="2800" b="1">
                  <a:solidFill>
                    <a:srgbClr val="3366CC"/>
                  </a:solidFill>
                  <a:latin typeface="Times New Roman" pitchFamily="18" charset="0"/>
                </a:rPr>
                <a:t>无环</a:t>
              </a:r>
              <a:r>
                <a:rPr lang="zh-CN" altLang="en-US" sz="2800" b="1">
                  <a:latin typeface="Times New Roman" pitchFamily="18" charset="0"/>
                </a:rPr>
                <a:t>有向图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=&lt;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,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>
                  <a:latin typeface="Times New Roman" pitchFamily="18" charset="0"/>
                </a:rPr>
                <a:t>&gt;,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={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, …,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>
                  <a:latin typeface="Times New Roman" pitchFamily="18" charset="0"/>
                </a:rPr>
                <a:t>},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>
                  <a:latin typeface="Times New Roman" pitchFamily="18" charset="0"/>
                </a:rPr>
                <a:t>={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 baseline="-30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 baseline="-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, …, 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 i="1" baseline="-30000">
                  <a:latin typeface="Times New Roman" pitchFamily="18" charset="0"/>
                </a:rPr>
                <a:t>m</a:t>
              </a:r>
              <a:r>
                <a:rPr lang="en-US" altLang="zh-CN" sz="2800" b="1">
                  <a:latin typeface="Times New Roman" pitchFamily="18" charset="0"/>
                </a:rPr>
                <a:t>}, </a:t>
              </a:r>
              <a:r>
                <a:rPr lang="zh-CN" altLang="en-US" sz="2800" b="1">
                  <a:latin typeface="Times New Roman" pitchFamily="18" charset="0"/>
                </a:rPr>
                <a:t>令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则称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m</a:t>
              </a:r>
              <a:r>
                <a:rPr lang="en-US" altLang="zh-CN" sz="2800" b="1" i="1" baseline="-30000">
                  <a:latin typeface="Times New Roman" pitchFamily="18" charset="0"/>
                </a:rPr>
                <a:t>ij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 baseline="-30000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lang="en-US" altLang="zh-CN" sz="2800" b="1" i="1" baseline="-30000">
                  <a:latin typeface="Times New Roman" pitchFamily="18" charset="0"/>
                </a:rPr>
                <a:t>m</a:t>
              </a:r>
              <a:r>
                <a:rPr lang="zh-CN" altLang="en-US" sz="2800" b="1">
                  <a:latin typeface="Times New Roman" pitchFamily="18" charset="0"/>
                </a:rPr>
                <a:t>为</a:t>
              </a:r>
              <a:r>
                <a:rPr lang="en-US" altLang="zh-CN" sz="2800" b="1" i="1">
                  <a:solidFill>
                    <a:srgbClr val="FF3300"/>
                  </a:solidFill>
                  <a:latin typeface="Times New Roman" pitchFamily="18" charset="0"/>
                </a:rPr>
                <a:t>D</a:t>
              </a:r>
              <a:r>
                <a:rPr lang="zh-CN" altLang="en-US" sz="2800" b="1">
                  <a:solidFill>
                    <a:srgbClr val="FF3300"/>
                  </a:solidFill>
                  <a:latin typeface="Times New Roman" pitchFamily="18" charset="0"/>
                </a:rPr>
                <a:t>的关联矩阵</a:t>
              </a:r>
              <a:r>
                <a:rPr lang="zh-CN" altLang="en-US" sz="2800" b="1">
                  <a:latin typeface="Times New Roman" pitchFamily="18" charset="0"/>
                </a:rPr>
                <a:t>，记为</a:t>
              </a:r>
              <a:r>
                <a:rPr lang="en-US" altLang="zh-CN" sz="2800" b="1" i="1">
                  <a:latin typeface="Times New Roman" pitchFamily="18" charset="0"/>
                </a:rPr>
                <a:t>M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).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0E396B-163D-499B-B520-7F912E15FDBC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grpSp>
        <p:nvGrpSpPr>
          <p:cNvPr id="4101" name="Group 27"/>
          <p:cNvGrpSpPr>
            <a:grpSpLocks/>
          </p:cNvGrpSpPr>
          <p:nvPr/>
        </p:nvGrpSpPr>
        <p:grpSpPr bwMode="auto">
          <a:xfrm>
            <a:off x="638175" y="863600"/>
            <a:ext cx="3200400" cy="1941513"/>
            <a:chOff x="1776" y="480"/>
            <a:chExt cx="1632" cy="1082"/>
          </a:xfrm>
        </p:grpSpPr>
        <p:sp>
          <p:nvSpPr>
            <p:cNvPr id="4104" name="Oval 2"/>
            <p:cNvSpPr>
              <a:spLocks noChangeArrowheads="1"/>
            </p:cNvSpPr>
            <p:nvPr/>
          </p:nvSpPr>
          <p:spPr bwMode="auto">
            <a:xfrm>
              <a:off x="2928" y="72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" name="Oval 3"/>
            <p:cNvSpPr>
              <a:spLocks noChangeArrowheads="1"/>
            </p:cNvSpPr>
            <p:nvPr/>
          </p:nvSpPr>
          <p:spPr bwMode="auto">
            <a:xfrm>
              <a:off x="2064" y="720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6" name="Oval 4"/>
            <p:cNvSpPr>
              <a:spLocks noChangeArrowheads="1"/>
            </p:cNvSpPr>
            <p:nvPr/>
          </p:nvSpPr>
          <p:spPr bwMode="auto">
            <a:xfrm>
              <a:off x="2064" y="134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7" name="Oval 5"/>
            <p:cNvSpPr>
              <a:spLocks noChangeArrowheads="1"/>
            </p:cNvSpPr>
            <p:nvPr/>
          </p:nvSpPr>
          <p:spPr bwMode="auto">
            <a:xfrm>
              <a:off x="2928" y="1344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" name="Line 6"/>
            <p:cNvSpPr>
              <a:spLocks noChangeShapeType="1"/>
            </p:cNvSpPr>
            <p:nvPr/>
          </p:nvSpPr>
          <p:spPr bwMode="auto">
            <a:xfrm flipH="1">
              <a:off x="2112" y="720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9" name="Line 7"/>
            <p:cNvSpPr>
              <a:spLocks noChangeShapeType="1"/>
            </p:cNvSpPr>
            <p:nvPr/>
          </p:nvSpPr>
          <p:spPr bwMode="auto">
            <a:xfrm>
              <a:off x="2064" y="768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0" name="Line 8"/>
            <p:cNvSpPr>
              <a:spLocks noChangeShapeType="1"/>
            </p:cNvSpPr>
            <p:nvPr/>
          </p:nvSpPr>
          <p:spPr bwMode="auto">
            <a:xfrm>
              <a:off x="2112" y="1392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1" name="Freeform 11"/>
            <p:cNvSpPr>
              <a:spLocks/>
            </p:cNvSpPr>
            <p:nvPr/>
          </p:nvSpPr>
          <p:spPr bwMode="auto">
            <a:xfrm>
              <a:off x="2064" y="768"/>
              <a:ext cx="864" cy="576"/>
            </a:xfrm>
            <a:custGeom>
              <a:avLst/>
              <a:gdLst>
                <a:gd name="T0" fmla="*/ 0 w 864"/>
                <a:gd name="T1" fmla="*/ 576 h 576"/>
                <a:gd name="T2" fmla="*/ 240 w 864"/>
                <a:gd name="T3" fmla="*/ 240 h 576"/>
                <a:gd name="T4" fmla="*/ 864 w 864"/>
                <a:gd name="T5" fmla="*/ 0 h 576"/>
                <a:gd name="T6" fmla="*/ 0 60000 65536"/>
                <a:gd name="T7" fmla="*/ 0 60000 65536"/>
                <a:gd name="T8" fmla="*/ 0 60000 65536"/>
                <a:gd name="T9" fmla="*/ 0 w 864"/>
                <a:gd name="T10" fmla="*/ 0 h 576"/>
                <a:gd name="T11" fmla="*/ 864 w 864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576">
                  <a:moveTo>
                    <a:pt x="0" y="576"/>
                  </a:moveTo>
                  <a:cubicBezTo>
                    <a:pt x="48" y="456"/>
                    <a:pt x="96" y="336"/>
                    <a:pt x="240" y="240"/>
                  </a:cubicBezTo>
                  <a:cubicBezTo>
                    <a:pt x="384" y="144"/>
                    <a:pt x="760" y="40"/>
                    <a:pt x="864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2" name="Freeform 12"/>
            <p:cNvSpPr>
              <a:spLocks/>
            </p:cNvSpPr>
            <p:nvPr/>
          </p:nvSpPr>
          <p:spPr bwMode="auto">
            <a:xfrm>
              <a:off x="2112" y="768"/>
              <a:ext cx="864" cy="576"/>
            </a:xfrm>
            <a:custGeom>
              <a:avLst/>
              <a:gdLst>
                <a:gd name="T0" fmla="*/ 864 w 864"/>
                <a:gd name="T1" fmla="*/ 0 h 576"/>
                <a:gd name="T2" fmla="*/ 480 w 864"/>
                <a:gd name="T3" fmla="*/ 384 h 576"/>
                <a:gd name="T4" fmla="*/ 0 w 864"/>
                <a:gd name="T5" fmla="*/ 576 h 576"/>
                <a:gd name="T6" fmla="*/ 0 60000 65536"/>
                <a:gd name="T7" fmla="*/ 0 60000 65536"/>
                <a:gd name="T8" fmla="*/ 0 60000 65536"/>
                <a:gd name="T9" fmla="*/ 0 w 864"/>
                <a:gd name="T10" fmla="*/ 0 h 576"/>
                <a:gd name="T11" fmla="*/ 864 w 864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576">
                  <a:moveTo>
                    <a:pt x="864" y="0"/>
                  </a:moveTo>
                  <a:cubicBezTo>
                    <a:pt x="744" y="144"/>
                    <a:pt x="624" y="288"/>
                    <a:pt x="480" y="384"/>
                  </a:cubicBezTo>
                  <a:cubicBezTo>
                    <a:pt x="336" y="480"/>
                    <a:pt x="168" y="528"/>
                    <a:pt x="0" y="57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3" name="Line 13"/>
            <p:cNvSpPr>
              <a:spLocks noChangeShapeType="1"/>
            </p:cNvSpPr>
            <p:nvPr/>
          </p:nvSpPr>
          <p:spPr bwMode="auto">
            <a:xfrm flipH="1">
              <a:off x="2496" y="72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4" name="Line 14"/>
            <p:cNvSpPr>
              <a:spLocks noChangeShapeType="1"/>
            </p:cNvSpPr>
            <p:nvPr/>
          </p:nvSpPr>
          <p:spPr bwMode="auto">
            <a:xfrm>
              <a:off x="2064" y="9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Line 15"/>
            <p:cNvSpPr>
              <a:spLocks noChangeShapeType="1"/>
            </p:cNvSpPr>
            <p:nvPr/>
          </p:nvSpPr>
          <p:spPr bwMode="auto">
            <a:xfrm>
              <a:off x="2448" y="139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16"/>
            <p:cNvSpPr>
              <a:spLocks noChangeShapeType="1"/>
            </p:cNvSpPr>
            <p:nvPr/>
          </p:nvSpPr>
          <p:spPr bwMode="auto">
            <a:xfrm flipV="1">
              <a:off x="2304" y="96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17"/>
            <p:cNvSpPr>
              <a:spLocks noChangeShapeType="1"/>
            </p:cNvSpPr>
            <p:nvPr/>
          </p:nvSpPr>
          <p:spPr bwMode="auto">
            <a:xfrm flipH="1">
              <a:off x="2640" y="1056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Text Box 18"/>
            <p:cNvSpPr txBox="1">
              <a:spLocks noChangeArrowheads="1"/>
            </p:cNvSpPr>
            <p:nvPr/>
          </p:nvSpPr>
          <p:spPr bwMode="auto">
            <a:xfrm>
              <a:off x="3024" y="624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4</a:t>
              </a:r>
              <a:endParaRPr lang="en-US" altLang="zh-CN" sz="1400"/>
            </a:p>
          </p:txBody>
        </p:sp>
        <p:sp>
          <p:nvSpPr>
            <p:cNvPr id="4119" name="Text Box 19"/>
            <p:cNvSpPr txBox="1">
              <a:spLocks noChangeArrowheads="1"/>
            </p:cNvSpPr>
            <p:nvPr/>
          </p:nvSpPr>
          <p:spPr bwMode="auto">
            <a:xfrm>
              <a:off x="1824" y="624"/>
              <a:ext cx="432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1</a:t>
              </a:r>
              <a:endParaRPr lang="en-US" altLang="zh-CN" sz="1400"/>
            </a:p>
          </p:txBody>
        </p:sp>
        <p:sp>
          <p:nvSpPr>
            <p:cNvPr id="4120" name="Text Box 20"/>
            <p:cNvSpPr txBox="1">
              <a:spLocks noChangeArrowheads="1"/>
            </p:cNvSpPr>
            <p:nvPr/>
          </p:nvSpPr>
          <p:spPr bwMode="auto">
            <a:xfrm>
              <a:off x="1776" y="1296"/>
              <a:ext cx="432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2</a:t>
              </a:r>
              <a:endParaRPr lang="en-US" altLang="zh-CN" sz="1400"/>
            </a:p>
          </p:txBody>
        </p:sp>
        <p:sp>
          <p:nvSpPr>
            <p:cNvPr id="4121" name="Text Box 21"/>
            <p:cNvSpPr txBox="1">
              <a:spLocks noChangeArrowheads="1"/>
            </p:cNvSpPr>
            <p:nvPr/>
          </p:nvSpPr>
          <p:spPr bwMode="auto">
            <a:xfrm>
              <a:off x="2880" y="1392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v</a:t>
              </a:r>
              <a:r>
                <a:rPr lang="en-US" altLang="zh-CN" sz="1400" baseline="-25000"/>
                <a:t>3</a:t>
              </a:r>
              <a:endParaRPr lang="en-US" altLang="zh-CN" sz="1400"/>
            </a:p>
          </p:txBody>
        </p:sp>
        <p:sp>
          <p:nvSpPr>
            <p:cNvPr id="4122" name="Text Box 22"/>
            <p:cNvSpPr txBox="1">
              <a:spLocks noChangeArrowheads="1"/>
            </p:cNvSpPr>
            <p:nvPr/>
          </p:nvSpPr>
          <p:spPr bwMode="auto">
            <a:xfrm>
              <a:off x="1824" y="960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1</a:t>
              </a:r>
              <a:endParaRPr lang="en-US" altLang="zh-CN" sz="1400"/>
            </a:p>
          </p:txBody>
        </p:sp>
        <p:sp>
          <p:nvSpPr>
            <p:cNvPr id="4123" name="Text Box 23"/>
            <p:cNvSpPr txBox="1">
              <a:spLocks noChangeArrowheads="1"/>
            </p:cNvSpPr>
            <p:nvPr/>
          </p:nvSpPr>
          <p:spPr bwMode="auto">
            <a:xfrm>
              <a:off x="2352" y="480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2</a:t>
              </a:r>
              <a:endParaRPr lang="en-US" altLang="zh-CN" sz="1400"/>
            </a:p>
          </p:txBody>
        </p:sp>
        <p:sp>
          <p:nvSpPr>
            <p:cNvPr id="4124" name="Text Box 24"/>
            <p:cNvSpPr txBox="1">
              <a:spLocks noChangeArrowheads="1"/>
            </p:cNvSpPr>
            <p:nvPr/>
          </p:nvSpPr>
          <p:spPr bwMode="auto">
            <a:xfrm>
              <a:off x="2208" y="768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3</a:t>
              </a:r>
              <a:endParaRPr lang="en-US" altLang="zh-CN" sz="1400"/>
            </a:p>
          </p:txBody>
        </p:sp>
        <p:sp>
          <p:nvSpPr>
            <p:cNvPr id="4125" name="Text Box 25"/>
            <p:cNvSpPr txBox="1">
              <a:spLocks noChangeArrowheads="1"/>
            </p:cNvSpPr>
            <p:nvPr/>
          </p:nvSpPr>
          <p:spPr bwMode="auto">
            <a:xfrm>
              <a:off x="2688" y="1008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4</a:t>
              </a:r>
              <a:endParaRPr lang="en-US" altLang="zh-CN" sz="1400"/>
            </a:p>
          </p:txBody>
        </p:sp>
        <p:sp>
          <p:nvSpPr>
            <p:cNvPr id="4126" name="Text Box 26"/>
            <p:cNvSpPr txBox="1">
              <a:spLocks noChangeArrowheads="1"/>
            </p:cNvSpPr>
            <p:nvPr/>
          </p:nvSpPr>
          <p:spPr bwMode="auto">
            <a:xfrm>
              <a:off x="2352" y="1392"/>
              <a:ext cx="384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itchFamily="18" charset="0"/>
                </a:rPr>
                <a:t>e</a:t>
              </a:r>
              <a:r>
                <a:rPr lang="en-US" altLang="zh-CN" sz="1400" baseline="-25000"/>
                <a:t>5</a:t>
              </a:r>
              <a:endParaRPr lang="en-US" altLang="zh-CN" sz="1400"/>
            </a:p>
          </p:txBody>
        </p:sp>
      </p:grpSp>
      <p:graphicFrame>
        <p:nvGraphicFramePr>
          <p:cNvPr id="174108" name="Object 28"/>
          <p:cNvGraphicFramePr>
            <a:graphicFrameLocks noChangeAspect="1"/>
          </p:cNvGraphicFramePr>
          <p:nvPr/>
        </p:nvGraphicFramePr>
        <p:xfrm>
          <a:off x="533400" y="3505200"/>
          <a:ext cx="3276600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3" imgW="2006280" imgH="914400" progId="">
                  <p:embed/>
                </p:oleObj>
              </mc:Choice>
              <mc:Fallback>
                <p:oleObj name="Equation" r:id="rId3" imgW="2006280" imgH="914400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505200"/>
                        <a:ext cx="3276600" cy="149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3995738" y="981075"/>
            <a:ext cx="5905500" cy="3295650"/>
            <a:chOff x="2517" y="618"/>
            <a:chExt cx="3744" cy="2076"/>
          </a:xfrm>
        </p:grpSpPr>
        <p:graphicFrame>
          <p:nvGraphicFramePr>
            <p:cNvPr id="4099" name="Object 30"/>
            <p:cNvGraphicFramePr>
              <a:graphicFrameLocks noChangeAspect="1"/>
            </p:cNvGraphicFramePr>
            <p:nvPr/>
          </p:nvGraphicFramePr>
          <p:xfrm>
            <a:off x="2727" y="910"/>
            <a:ext cx="2624" cy="1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Equation" r:id="rId5" imgW="2666880" imgH="1320480" progId="Equation.3">
                    <p:embed/>
                  </p:oleObj>
                </mc:Choice>
                <mc:Fallback>
                  <p:oleObj name="Equation" r:id="rId5" imgW="2666880" imgH="1320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7" y="910"/>
                          <a:ext cx="2624" cy="14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" name="Text Box 31"/>
            <p:cNvSpPr txBox="1">
              <a:spLocks noChangeArrowheads="1"/>
            </p:cNvSpPr>
            <p:nvPr/>
          </p:nvSpPr>
          <p:spPr bwMode="auto">
            <a:xfrm>
              <a:off x="2517" y="618"/>
              <a:ext cx="3744" cy="20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solidFill>
                    <a:srgbClr val="FF3300"/>
                  </a:solidFill>
                  <a:latin typeface="Times New Roman" pitchFamily="18" charset="0"/>
                </a:rPr>
                <a:t>性质</a:t>
              </a:r>
              <a:r>
                <a:rPr lang="en-US" altLang="zh-CN" sz="2800" b="1">
                  <a:solidFill>
                    <a:srgbClr val="FF3300"/>
                  </a:solidFill>
                  <a:latin typeface="Times New Roman" pitchFamily="18" charset="0"/>
                </a:rPr>
                <a:t>:  </a:t>
              </a: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solidFill>
                  <a:srgbClr val="FF33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latin typeface="Times New Roman" pitchFamily="18" charset="0"/>
              </a:endParaRP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latin typeface="Times New Roman" pitchFamily="18" charset="0"/>
              </a:endParaRP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 </a:t>
              </a: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  </a:t>
              </a:r>
            </a:p>
            <a:p>
              <a:pPr algn="just">
                <a:lnSpc>
                  <a:spcPct val="90000"/>
                </a:lnSpc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</a:t>
              </a:r>
              <a:r>
                <a:rPr lang="en-US" altLang="zh-CN" sz="2400" b="1">
                  <a:latin typeface="Times New Roman" pitchFamily="18" charset="0"/>
                </a:rPr>
                <a:t>(4) </a:t>
              </a:r>
              <a:r>
                <a:rPr lang="zh-CN" altLang="en-US" sz="2400" b="1">
                  <a:latin typeface="Times New Roman" pitchFamily="18" charset="0"/>
                </a:rPr>
                <a:t>平行边对应的列相同</a:t>
              </a: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BD6384-DEA9-4414-8465-A907DCE9853C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126" name="Text Box 8"/>
          <p:cNvSpPr txBox="1">
            <a:spLocks noChangeArrowheads="1"/>
          </p:cNvSpPr>
          <p:nvPr/>
        </p:nvSpPr>
        <p:spPr bwMode="auto">
          <a:xfrm>
            <a:off x="539750" y="1281113"/>
            <a:ext cx="8153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rgbClr val="FF3300"/>
                </a:solidFill>
                <a:latin typeface="Times New Roman" pitchFamily="18" charset="0"/>
              </a:rPr>
              <a:t>定义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lang="zh-CN" altLang="en-US" sz="2800" b="1">
                <a:latin typeface="Times New Roman" pitchFamily="18" charset="0"/>
              </a:rPr>
              <a:t> 设有向图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=&lt;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,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&gt;,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n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>
                <a:latin typeface="Times New Roman" pitchFamily="18" charset="0"/>
              </a:rPr>
              <a:t>={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baseline="-30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, …, </a:t>
            </a:r>
            <a:r>
              <a:rPr lang="en-US" altLang="zh-CN" sz="2800" b="1" i="1">
                <a:latin typeface="Times New Roman" pitchFamily="18" charset="0"/>
              </a:rPr>
              <a:t>e</a:t>
            </a:r>
            <a:r>
              <a:rPr lang="en-US" altLang="zh-CN" sz="2800" b="1" i="1" baseline="-30000">
                <a:latin typeface="Times New Roman" pitchFamily="18" charset="0"/>
              </a:rPr>
              <a:t>m</a:t>
            </a:r>
            <a:r>
              <a:rPr lang="en-US" altLang="zh-CN" sz="2800" b="1">
                <a:latin typeface="Times New Roman" pitchFamily="18" charset="0"/>
              </a:rPr>
              <a:t>}, </a:t>
            </a:r>
            <a:r>
              <a:rPr lang="zh-CN" altLang="en-US" sz="2800" b="1">
                <a:latin typeface="Times New Roman" pitchFamily="18" charset="0"/>
              </a:rPr>
              <a:t>令      为顶点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i</a:t>
            </a:r>
            <a:r>
              <a:rPr lang="zh-CN" altLang="en-US" sz="2800" b="1">
                <a:latin typeface="Times New Roman" pitchFamily="18" charset="0"/>
              </a:rPr>
              <a:t>邻接到顶点</a:t>
            </a:r>
            <a:r>
              <a:rPr lang="en-US" altLang="zh-CN" sz="2800" b="1" i="1">
                <a:latin typeface="Times New Roman" pitchFamily="18" charset="0"/>
              </a:rPr>
              <a:t>v</a:t>
            </a:r>
            <a:r>
              <a:rPr lang="en-US" altLang="zh-CN" sz="2800" b="1" i="1" baseline="-30000">
                <a:latin typeface="Times New Roman" pitchFamily="18" charset="0"/>
              </a:rPr>
              <a:t>j</a:t>
            </a:r>
            <a:r>
              <a:rPr lang="zh-CN" altLang="en-US" sz="2800" b="1">
                <a:latin typeface="Times New Roman" pitchFamily="18" charset="0"/>
              </a:rPr>
              <a:t>边的条数，称</a:t>
            </a:r>
            <a:r>
              <a:rPr lang="en-US" altLang="zh-CN" sz="2800" b="1">
                <a:latin typeface="Times New Roman" pitchFamily="18" charset="0"/>
              </a:rPr>
              <a:t>(       )</a:t>
            </a:r>
            <a:r>
              <a:rPr lang="en-US" altLang="zh-CN" sz="2800" b="1" i="1" baseline="-25000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 sz="2800" b="1" i="1" baseline="-25000">
                <a:latin typeface="Times New Roman" pitchFamily="18" charset="0"/>
                <a:sym typeface="Symbol" pitchFamily="18" charset="2"/>
              </a:rPr>
              <a:t>n</a:t>
            </a:r>
            <a:r>
              <a:rPr lang="zh-CN" altLang="en-US" sz="2800" b="1">
                <a:latin typeface="Times New Roman" pitchFamily="18" charset="0"/>
              </a:rPr>
              <a:t>为</a:t>
            </a:r>
            <a:r>
              <a:rPr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D</a:t>
            </a:r>
            <a:r>
              <a:rPr lang="zh-CN" altLang="en-US" sz="2800" b="1">
                <a:solidFill>
                  <a:srgbClr val="FF3300"/>
                </a:solidFill>
                <a:latin typeface="Times New Roman" pitchFamily="18" charset="0"/>
              </a:rPr>
              <a:t>的邻接矩阵</a:t>
            </a:r>
            <a:r>
              <a:rPr lang="en-US" altLang="zh-CN" sz="2800" b="1">
                <a:latin typeface="Times New Roman" pitchFamily="18" charset="0"/>
              </a:rPr>
              <a:t>, </a:t>
            </a:r>
            <a:r>
              <a:rPr lang="zh-CN" altLang="en-US" sz="2800" b="1">
                <a:latin typeface="Times New Roman" pitchFamily="18" charset="0"/>
              </a:rPr>
              <a:t>记作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en-US" altLang="zh-CN" sz="2800" b="1">
                <a:latin typeface="Times New Roman" pitchFamily="18" charset="0"/>
              </a:rPr>
              <a:t>(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en-US" altLang="zh-CN" sz="2800" b="1">
                <a:latin typeface="Times New Roman" pitchFamily="18" charset="0"/>
              </a:rPr>
              <a:t>), </a:t>
            </a:r>
            <a:r>
              <a:rPr lang="zh-CN" altLang="en-US" sz="2800" b="1">
                <a:latin typeface="Times New Roman" pitchFamily="18" charset="0"/>
              </a:rPr>
              <a:t>简记为</a:t>
            </a:r>
            <a:r>
              <a:rPr lang="en-US" altLang="zh-CN" sz="2800" b="1" i="1">
                <a:latin typeface="Times New Roman" pitchFamily="18" charset="0"/>
              </a:rPr>
              <a:t>A</a:t>
            </a:r>
            <a:r>
              <a:rPr lang="en-US" altLang="zh-CN" sz="2800" b="1">
                <a:latin typeface="Times New Roman" pitchFamily="18" charset="0"/>
              </a:rPr>
              <a:t>. 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rgbClr val="3366CC"/>
                </a:solidFill>
                <a:latin typeface="宋体" charset="-122"/>
              </a:rPr>
              <a:t>性质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627063" y="3644900"/>
          <a:ext cx="7378700" cy="278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3441600" imgH="1295280" progId="">
                  <p:embed/>
                </p:oleObj>
              </mc:Choice>
              <mc:Fallback>
                <p:oleObj name="Equation" r:id="rId3" imgW="3441600" imgH="12952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3644900"/>
                        <a:ext cx="7378700" cy="2789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2627313" y="1989138"/>
          <a:ext cx="555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5" imgW="241200" imgH="253800" progId="Equation.3">
                  <p:embed/>
                </p:oleObj>
              </mc:Choice>
              <mc:Fallback>
                <p:oleObj name="Equation" r:id="rId5" imgW="24120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989138"/>
                        <a:ext cx="5556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7"/>
          <p:cNvGraphicFramePr>
            <a:graphicFrameLocks noChangeAspect="1"/>
          </p:cNvGraphicFramePr>
          <p:nvPr/>
        </p:nvGraphicFramePr>
        <p:xfrm>
          <a:off x="1133475" y="2411413"/>
          <a:ext cx="5556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公式" r:id="rId7" imgW="241200" imgH="253800" progId="Equation.3">
                  <p:embed/>
                </p:oleObj>
              </mc:Choice>
              <mc:Fallback>
                <p:oleObj name="公式" r:id="rId7" imgW="24120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2411413"/>
                        <a:ext cx="5556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44475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有向图的邻接矩阵</a:t>
            </a:r>
          </a:p>
        </p:txBody>
      </p:sp>
      <p:sp>
        <p:nvSpPr>
          <p:cNvPr id="51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672263"/>
            <a:ext cx="8229600" cy="18573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>
                <a:latin typeface="宋体" charset="-122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sz="2400" b="1">
              <a:latin typeface="宋体" charset="-122"/>
            </a:endParaRPr>
          </a:p>
        </p:txBody>
      </p:sp>
      <p:sp>
        <p:nvSpPr>
          <p:cNvPr id="5129" name="Rectangle 4"/>
          <p:cNvSpPr>
            <a:spLocks noChangeArrowheads="1"/>
          </p:cNvSpPr>
          <p:nvPr/>
        </p:nvSpPr>
        <p:spPr bwMode="auto">
          <a:xfrm>
            <a:off x="3509963" y="2914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B367A0-0C7B-48AA-98BB-B2100C03C6C9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grpSp>
        <p:nvGrpSpPr>
          <p:cNvPr id="6148" name="Group 24"/>
          <p:cNvGrpSpPr>
            <a:grpSpLocks/>
          </p:cNvGrpSpPr>
          <p:nvPr/>
        </p:nvGrpSpPr>
        <p:grpSpPr bwMode="auto">
          <a:xfrm>
            <a:off x="2339975" y="765175"/>
            <a:ext cx="4608513" cy="2643188"/>
            <a:chOff x="1632" y="480"/>
            <a:chExt cx="1488" cy="990"/>
          </a:xfrm>
        </p:grpSpPr>
        <p:sp>
          <p:nvSpPr>
            <p:cNvPr id="6149" name="Oval 2"/>
            <p:cNvSpPr>
              <a:spLocks noChangeArrowheads="1"/>
            </p:cNvSpPr>
            <p:nvPr/>
          </p:nvSpPr>
          <p:spPr bwMode="auto">
            <a:xfrm>
              <a:off x="1872" y="72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" name="Oval 3"/>
            <p:cNvSpPr>
              <a:spLocks noChangeArrowheads="1"/>
            </p:cNvSpPr>
            <p:nvPr/>
          </p:nvSpPr>
          <p:spPr bwMode="auto">
            <a:xfrm>
              <a:off x="1824" y="480"/>
              <a:ext cx="192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1" name="Oval 4"/>
            <p:cNvSpPr>
              <a:spLocks noChangeArrowheads="1"/>
            </p:cNvSpPr>
            <p:nvPr/>
          </p:nvSpPr>
          <p:spPr bwMode="auto">
            <a:xfrm>
              <a:off x="1872" y="124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2" name="Oval 5"/>
            <p:cNvSpPr>
              <a:spLocks noChangeArrowheads="1"/>
            </p:cNvSpPr>
            <p:nvPr/>
          </p:nvSpPr>
          <p:spPr bwMode="auto">
            <a:xfrm>
              <a:off x="1824" y="768"/>
              <a:ext cx="144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3" name="Oval 6"/>
            <p:cNvSpPr>
              <a:spLocks noChangeArrowheads="1"/>
            </p:cNvSpPr>
            <p:nvPr/>
          </p:nvSpPr>
          <p:spPr bwMode="auto">
            <a:xfrm>
              <a:off x="2784" y="1248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4" name="Oval 7"/>
            <p:cNvSpPr>
              <a:spLocks noChangeArrowheads="1"/>
            </p:cNvSpPr>
            <p:nvPr/>
          </p:nvSpPr>
          <p:spPr bwMode="auto">
            <a:xfrm>
              <a:off x="2736" y="768"/>
              <a:ext cx="144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5" name="Oval 8"/>
            <p:cNvSpPr>
              <a:spLocks noChangeArrowheads="1"/>
            </p:cNvSpPr>
            <p:nvPr/>
          </p:nvSpPr>
          <p:spPr bwMode="auto">
            <a:xfrm>
              <a:off x="2784" y="72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6" name="Line 9"/>
            <p:cNvSpPr>
              <a:spLocks noChangeShapeType="1"/>
            </p:cNvSpPr>
            <p:nvPr/>
          </p:nvSpPr>
          <p:spPr bwMode="auto">
            <a:xfrm>
              <a:off x="1920" y="129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7" name="Line 10"/>
            <p:cNvSpPr>
              <a:spLocks noChangeShapeType="1"/>
            </p:cNvSpPr>
            <p:nvPr/>
          </p:nvSpPr>
          <p:spPr bwMode="auto">
            <a:xfrm>
              <a:off x="1920" y="720"/>
              <a:ext cx="91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Line 11"/>
            <p:cNvSpPr>
              <a:spLocks noChangeShapeType="1"/>
            </p:cNvSpPr>
            <p:nvPr/>
          </p:nvSpPr>
          <p:spPr bwMode="auto">
            <a:xfrm>
              <a:off x="1824" y="96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9" name="Line 12"/>
            <p:cNvSpPr>
              <a:spLocks noChangeShapeType="1"/>
            </p:cNvSpPr>
            <p:nvPr/>
          </p:nvSpPr>
          <p:spPr bwMode="auto">
            <a:xfrm>
              <a:off x="1968" y="9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0" name="Line 13"/>
            <p:cNvSpPr>
              <a:spLocks noChangeShapeType="1"/>
            </p:cNvSpPr>
            <p:nvPr/>
          </p:nvSpPr>
          <p:spPr bwMode="auto">
            <a:xfrm>
              <a:off x="2256" y="129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6"/>
            <p:cNvSpPr>
              <a:spLocks noChangeShapeType="1"/>
            </p:cNvSpPr>
            <p:nvPr/>
          </p:nvSpPr>
          <p:spPr bwMode="auto">
            <a:xfrm>
              <a:off x="2256" y="91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17"/>
            <p:cNvSpPr>
              <a:spLocks noChangeShapeType="1"/>
            </p:cNvSpPr>
            <p:nvPr/>
          </p:nvSpPr>
          <p:spPr bwMode="auto">
            <a:xfrm flipV="1">
              <a:off x="2736" y="9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18"/>
            <p:cNvSpPr>
              <a:spLocks noChangeShapeType="1"/>
            </p:cNvSpPr>
            <p:nvPr/>
          </p:nvSpPr>
          <p:spPr bwMode="auto">
            <a:xfrm>
              <a:off x="2880" y="9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Line 19"/>
            <p:cNvSpPr>
              <a:spLocks noChangeShapeType="1"/>
            </p:cNvSpPr>
            <p:nvPr/>
          </p:nvSpPr>
          <p:spPr bwMode="auto">
            <a:xfrm flipH="1">
              <a:off x="1824" y="4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Text Box 20"/>
            <p:cNvSpPr txBox="1">
              <a:spLocks noChangeArrowheads="1"/>
            </p:cNvSpPr>
            <p:nvPr/>
          </p:nvSpPr>
          <p:spPr bwMode="auto">
            <a:xfrm>
              <a:off x="1776" y="1344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2</a:t>
              </a:r>
              <a:endParaRPr lang="en-US" altLang="zh-CN" sz="1600"/>
            </a:p>
          </p:txBody>
        </p:sp>
        <p:sp>
          <p:nvSpPr>
            <p:cNvPr id="6166" name="Text Box 21"/>
            <p:cNvSpPr txBox="1">
              <a:spLocks noChangeArrowheads="1"/>
            </p:cNvSpPr>
            <p:nvPr/>
          </p:nvSpPr>
          <p:spPr bwMode="auto">
            <a:xfrm>
              <a:off x="1632" y="624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1</a:t>
              </a:r>
              <a:endParaRPr lang="en-US" altLang="zh-CN" sz="1600"/>
            </a:p>
          </p:txBody>
        </p:sp>
        <p:sp>
          <p:nvSpPr>
            <p:cNvPr id="6167" name="Text Box 22"/>
            <p:cNvSpPr txBox="1">
              <a:spLocks noChangeArrowheads="1"/>
            </p:cNvSpPr>
            <p:nvPr/>
          </p:nvSpPr>
          <p:spPr bwMode="auto">
            <a:xfrm>
              <a:off x="2880" y="672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4</a:t>
              </a:r>
              <a:endParaRPr lang="en-US" altLang="zh-CN" sz="1600"/>
            </a:p>
          </p:txBody>
        </p:sp>
        <p:sp>
          <p:nvSpPr>
            <p:cNvPr id="6168" name="Text Box 23"/>
            <p:cNvSpPr txBox="1">
              <a:spLocks noChangeArrowheads="1"/>
            </p:cNvSpPr>
            <p:nvPr/>
          </p:nvSpPr>
          <p:spPr bwMode="auto">
            <a:xfrm>
              <a:off x="2880" y="1248"/>
              <a:ext cx="24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/>
                <a:t>v</a:t>
              </a:r>
              <a:r>
                <a:rPr lang="en-US" altLang="zh-CN" sz="1600" baseline="-25000"/>
                <a:t>3</a:t>
              </a:r>
              <a:endParaRPr lang="en-US" altLang="zh-CN" sz="1600"/>
            </a:p>
          </p:txBody>
        </p:sp>
      </p:grpSp>
      <p:graphicFrame>
        <p:nvGraphicFramePr>
          <p:cNvPr id="6146" name="Object 25"/>
          <p:cNvGraphicFramePr>
            <a:graphicFrameLocks noChangeAspect="1"/>
          </p:cNvGraphicFramePr>
          <p:nvPr/>
        </p:nvGraphicFramePr>
        <p:xfrm>
          <a:off x="2843213" y="3789363"/>
          <a:ext cx="3240087" cy="21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3" imgW="1396800" imgH="914400" progId="">
                  <p:embed/>
                </p:oleObj>
              </mc:Choice>
              <mc:Fallback>
                <p:oleObj name="Equation" r:id="rId3" imgW="1396800" imgH="9144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789363"/>
                        <a:ext cx="3240087" cy="2119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A8AC64D-C896-424D-B270-4BF90989C8DA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84188" y="276225"/>
            <a:ext cx="8002587" cy="733425"/>
          </a:xfrm>
        </p:spPr>
        <p:txBody>
          <a:bodyPr/>
          <a:lstStyle/>
          <a:p>
            <a:pPr>
              <a:defRPr/>
            </a:pPr>
            <a:r>
              <a:rPr lang="en-US" altLang="zh-CN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中的通路及回路数</a:t>
            </a:r>
          </a:p>
        </p:txBody>
      </p:sp>
      <p:sp>
        <p:nvSpPr>
          <p:cNvPr id="7176" name="Rectangle 4"/>
          <p:cNvSpPr>
            <a:spLocks noChangeArrowheads="1"/>
          </p:cNvSpPr>
          <p:nvPr/>
        </p:nvSpPr>
        <p:spPr bwMode="auto">
          <a:xfrm>
            <a:off x="4449763" y="3295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77" name="Rectangle 7"/>
          <p:cNvSpPr>
            <a:spLocks noChangeArrowheads="1"/>
          </p:cNvSpPr>
          <p:nvPr/>
        </p:nvSpPr>
        <p:spPr bwMode="auto">
          <a:xfrm>
            <a:off x="4297363" y="32273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78" name="Rectangle 9"/>
          <p:cNvSpPr>
            <a:spLocks noChangeArrowheads="1"/>
          </p:cNvSpPr>
          <p:nvPr/>
        </p:nvSpPr>
        <p:spPr bwMode="auto">
          <a:xfrm>
            <a:off x="4370388" y="3230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7179" name="Group 12"/>
          <p:cNvGrpSpPr>
            <a:grpSpLocks/>
          </p:cNvGrpSpPr>
          <p:nvPr/>
        </p:nvGrpSpPr>
        <p:grpSpPr bwMode="auto">
          <a:xfrm>
            <a:off x="539750" y="1557338"/>
            <a:ext cx="8153400" cy="4557712"/>
            <a:chOff x="288" y="960"/>
            <a:chExt cx="5136" cy="2871"/>
          </a:xfrm>
        </p:grpSpPr>
        <p:graphicFrame>
          <p:nvGraphicFramePr>
            <p:cNvPr id="7170" name="Object 5"/>
            <p:cNvGraphicFramePr>
              <a:graphicFrameLocks noChangeAspect="1"/>
            </p:cNvGraphicFramePr>
            <p:nvPr/>
          </p:nvGraphicFramePr>
          <p:xfrm>
            <a:off x="657" y="1706"/>
            <a:ext cx="396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0" name="Equation" r:id="rId3" imgW="241200" imgH="253800" progId="Equation.3">
                    <p:embed/>
                  </p:oleObj>
                </mc:Choice>
                <mc:Fallback>
                  <p:oleObj name="Equation" r:id="rId3" imgW="241200" imgH="2538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706"/>
                          <a:ext cx="396" cy="4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1" name="Object 6"/>
            <p:cNvGraphicFramePr>
              <a:graphicFrameLocks noChangeAspect="1"/>
            </p:cNvGraphicFramePr>
            <p:nvPr/>
          </p:nvGraphicFramePr>
          <p:xfrm>
            <a:off x="657" y="2069"/>
            <a:ext cx="421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1" name="Equation" r:id="rId5" imgW="241200" imgH="241200" progId="Equation.3">
                    <p:embed/>
                  </p:oleObj>
                </mc:Choice>
                <mc:Fallback>
                  <p:oleObj name="Equation" r:id="rId5" imgW="24120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069"/>
                          <a:ext cx="421" cy="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8"/>
            <p:cNvGraphicFramePr>
              <a:graphicFrameLocks noChangeAspect="1"/>
            </p:cNvGraphicFramePr>
            <p:nvPr/>
          </p:nvGraphicFramePr>
          <p:xfrm>
            <a:off x="657" y="2489"/>
            <a:ext cx="954" cy="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2" name="Equation" r:id="rId7" imgW="609480" imgH="457200" progId="Equation.3">
                    <p:embed/>
                  </p:oleObj>
                </mc:Choice>
                <mc:Fallback>
                  <p:oleObj name="Equation" r:id="rId7" imgW="609480" imgH="457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489"/>
                          <a:ext cx="954" cy="7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3" name="Object 10"/>
            <p:cNvGraphicFramePr>
              <a:graphicFrameLocks noChangeAspect="1"/>
            </p:cNvGraphicFramePr>
            <p:nvPr/>
          </p:nvGraphicFramePr>
          <p:xfrm>
            <a:off x="703" y="3113"/>
            <a:ext cx="665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3" name="Equation" r:id="rId9" imgW="431640" imgH="431640" progId="Equation.3">
                    <p:embed/>
                  </p:oleObj>
                </mc:Choice>
                <mc:Fallback>
                  <p:oleObj name="Equation" r:id="rId9" imgW="431640" imgH="4316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3113"/>
                          <a:ext cx="665" cy="6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0" name="Text Box 11"/>
            <p:cNvSpPr txBox="1">
              <a:spLocks noChangeArrowheads="1"/>
            </p:cNvSpPr>
            <p:nvPr/>
          </p:nvSpPr>
          <p:spPr bwMode="auto">
            <a:xfrm>
              <a:off x="288" y="960"/>
              <a:ext cx="5136" cy="28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定理</a:t>
              </a:r>
              <a:r>
                <a:rPr lang="zh-CN" altLang="en-US" sz="2800" b="1">
                  <a:latin typeface="Times New Roman" pitchFamily="18" charset="0"/>
                </a:rPr>
                <a:t> 设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zh-CN" altLang="en-US" sz="2800" b="1">
                  <a:latin typeface="Times New Roman" pitchFamily="18" charset="0"/>
                </a:rPr>
                <a:t>为</a:t>
              </a:r>
              <a:r>
                <a:rPr lang="en-US" altLang="zh-CN" sz="2800" b="1" i="1">
                  <a:latin typeface="Times New Roman" pitchFamily="18" charset="0"/>
                </a:rPr>
                <a:t>n</a:t>
              </a:r>
              <a:r>
                <a:rPr lang="zh-CN" altLang="en-US" sz="2800" b="1">
                  <a:latin typeface="Times New Roman" pitchFamily="18" charset="0"/>
                </a:rPr>
                <a:t>阶有向图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的邻接矩阵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zh-CN" altLang="en-US" sz="2800" b="1">
                  <a:latin typeface="Times New Roman" pitchFamily="18" charset="0"/>
                </a:rPr>
                <a:t>则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 i="1" baseline="30000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  <a:sym typeface="Symbol" pitchFamily="18" charset="2"/>
                </a:rPr>
                <a:t></a:t>
              </a:r>
              <a:r>
                <a:rPr lang="en-US" altLang="zh-CN" sz="2800" b="1">
                  <a:latin typeface="Times New Roman" pitchFamily="18" charset="0"/>
                </a:rPr>
                <a:t>1)</a:t>
              </a:r>
              <a:r>
                <a:rPr lang="zh-CN" altLang="en-US" sz="2800" b="1">
                  <a:latin typeface="Times New Roman" pitchFamily="18" charset="0"/>
                </a:rPr>
                <a:t>中</a:t>
              </a:r>
            </a:p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元素。</a:t>
              </a:r>
            </a:p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i</a:t>
              </a:r>
              <a:r>
                <a:rPr lang="zh-CN" altLang="en-US" sz="2800" b="1">
                  <a:latin typeface="Times New Roman" pitchFamily="18" charset="0"/>
                </a:rPr>
                <a:t>到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j</a:t>
              </a:r>
              <a:r>
                <a:rPr lang="zh-CN" altLang="en-US" sz="2800" b="1">
                  <a:latin typeface="Times New Roman" pitchFamily="18" charset="0"/>
                </a:rPr>
                <a:t>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的通路数，</a:t>
              </a:r>
            </a:p>
            <a:p>
              <a:pPr algn="just">
                <a:spcBef>
                  <a:spcPct val="45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为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i</a:t>
              </a:r>
              <a:r>
                <a:rPr lang="zh-CN" altLang="en-US" sz="2800" b="1">
                  <a:latin typeface="Times New Roman" pitchFamily="18" charset="0"/>
                </a:rPr>
                <a:t>到自身长度为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的回路数，</a:t>
              </a:r>
            </a:p>
            <a:p>
              <a:pPr algn="just">
                <a:spcBef>
                  <a:spcPct val="10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的通路总数，</a:t>
              </a:r>
            </a:p>
            <a:p>
              <a:pPr algn="just">
                <a:spcBef>
                  <a:spcPct val="10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中长度为 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的回路总数</a:t>
              </a:r>
              <a:r>
                <a:rPr lang="en-US" altLang="zh-CN" sz="2800" b="1">
                  <a:latin typeface="Times New Roman" pitchFamily="18" charset="0"/>
                </a:rPr>
                <a:t>.  </a:t>
              </a:r>
            </a:p>
            <a:p>
              <a:pPr>
                <a:spcBef>
                  <a:spcPct val="50000"/>
                </a:spcBef>
              </a:pPr>
              <a:endParaRPr lang="en-US" altLang="zh-CN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7C6B4A-2916-4E5C-9200-FC0892D039E6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288925"/>
            <a:ext cx="7705725" cy="733425"/>
          </a:xfrm>
        </p:spPr>
        <p:txBody>
          <a:bodyPr/>
          <a:lstStyle/>
          <a:p>
            <a:pPr>
              <a:defRPr/>
            </a:pPr>
            <a:r>
              <a:rPr lang="en-US" altLang="zh-CN" b="1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中的通路及回路数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3860800"/>
            <a:ext cx="7777162" cy="2743200"/>
          </a:xfrm>
          <a:solidFill>
            <a:srgbClr val="D6F4FE"/>
          </a:solidFill>
          <a:ln w="28575">
            <a:solidFill>
              <a:srgbClr val="003399"/>
            </a:solidFill>
          </a:ln>
        </p:spPr>
        <p:txBody>
          <a:bodyPr/>
          <a:lstStyle/>
          <a:p>
            <a:pPr marL="609600" indent="-609600" algn="just">
              <a:buFont typeface="Wingdings" pitchFamily="2" charset="2"/>
              <a:buNone/>
            </a:pPr>
            <a:r>
              <a:rPr lang="zh-CN" altLang="en-US" sz="2800" b="1">
                <a:solidFill>
                  <a:srgbClr val="3366CC"/>
                </a:solidFill>
                <a:latin typeface="Times New Roman" pitchFamily="18" charset="0"/>
              </a:rPr>
              <a:t>例</a:t>
            </a:r>
            <a:r>
              <a:rPr lang="zh-CN" altLang="en-US" sz="2400" b="1">
                <a:latin typeface="Times New Roman" pitchFamily="18" charset="0"/>
              </a:rPr>
              <a:t> 有向图</a:t>
            </a:r>
            <a:r>
              <a:rPr lang="en-US" altLang="zh-CN" sz="2400" b="1" i="1">
                <a:latin typeface="Times New Roman" pitchFamily="18" charset="0"/>
              </a:rPr>
              <a:t>D</a:t>
            </a:r>
            <a:r>
              <a:rPr lang="zh-CN" altLang="en-US" sz="2400" b="1">
                <a:latin typeface="Times New Roman" pitchFamily="18" charset="0"/>
              </a:rPr>
              <a:t>如图所示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zh-CN" altLang="en-US" sz="2400" b="1">
                <a:latin typeface="Times New Roman" pitchFamily="18" charset="0"/>
              </a:rPr>
              <a:t>求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 baseline="30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 baseline="30000">
                <a:latin typeface="Times New Roman" pitchFamily="18" charset="0"/>
              </a:rPr>
              <a:t>3</a:t>
            </a:r>
            <a:r>
              <a:rPr lang="en-US" altLang="zh-CN" sz="2400" b="1">
                <a:latin typeface="Times New Roman" pitchFamily="18" charset="0"/>
              </a:rPr>
              <a:t>, 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en-US" altLang="zh-CN" sz="2400" b="1" baseline="30000">
                <a:latin typeface="Times New Roman" pitchFamily="18" charset="0"/>
              </a:rPr>
              <a:t>4</a:t>
            </a:r>
            <a:r>
              <a:rPr lang="en-US" altLang="zh-CN" sz="2400" b="1">
                <a:latin typeface="Times New Roman" pitchFamily="18" charset="0"/>
              </a:rPr>
              <a:t>, 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    </a:t>
            </a:r>
            <a:r>
              <a:rPr lang="zh-CN" altLang="en-US" sz="2400" b="1">
                <a:latin typeface="Times New Roman" pitchFamily="18" charset="0"/>
              </a:rPr>
              <a:t>并回答问题：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(1) </a:t>
            </a:r>
            <a:r>
              <a:rPr lang="en-US" altLang="zh-CN" sz="2400" b="1" i="1">
                <a:latin typeface="Times New Roman" pitchFamily="18" charset="0"/>
              </a:rPr>
              <a:t>D</a:t>
            </a:r>
            <a:r>
              <a:rPr lang="zh-CN" altLang="en-US" sz="2400" b="1">
                <a:latin typeface="Times New Roman" pitchFamily="18" charset="0"/>
              </a:rPr>
              <a:t>中长度为</a:t>
            </a:r>
            <a:r>
              <a:rPr lang="en-US" altLang="zh-CN" sz="2400" b="1">
                <a:latin typeface="Times New Roman" pitchFamily="18" charset="0"/>
              </a:rPr>
              <a:t>1, 2, 3, 4</a:t>
            </a:r>
            <a:r>
              <a:rPr lang="zh-CN" altLang="en-US" sz="2400" b="1">
                <a:latin typeface="Times New Roman" pitchFamily="18" charset="0"/>
              </a:rPr>
              <a:t>的通路各有多</a:t>
            </a:r>
          </a:p>
          <a:p>
            <a:pPr marL="609600" indent="-609600" algn="just">
              <a:buFont typeface="Wingding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     少条？其中回路分别为多少条？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(2) </a:t>
            </a:r>
            <a:r>
              <a:rPr lang="en-US" altLang="zh-CN" sz="2400" b="1" i="1">
                <a:latin typeface="Times New Roman" pitchFamily="18" charset="0"/>
              </a:rPr>
              <a:t>D</a:t>
            </a:r>
            <a:r>
              <a:rPr lang="zh-CN" altLang="en-US" sz="2400" b="1">
                <a:latin typeface="Times New Roman" pitchFamily="18" charset="0"/>
              </a:rPr>
              <a:t>中长度小于或等于</a:t>
            </a:r>
            <a:r>
              <a:rPr lang="en-US" altLang="zh-CN" sz="2400" b="1">
                <a:latin typeface="Times New Roman" pitchFamily="18" charset="0"/>
              </a:rPr>
              <a:t>4</a:t>
            </a:r>
            <a:r>
              <a:rPr lang="zh-CN" altLang="en-US" sz="2400" b="1">
                <a:latin typeface="Times New Roman" pitchFamily="18" charset="0"/>
              </a:rPr>
              <a:t>的通路为多</a:t>
            </a:r>
          </a:p>
          <a:p>
            <a:pPr marL="609600" indent="-609600">
              <a:buFont typeface="Wingding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    少条？其中有多少条回路？ </a:t>
            </a:r>
          </a:p>
        </p:txBody>
      </p:sp>
      <p:sp>
        <p:nvSpPr>
          <p:cNvPr id="8199" name="Rectangle 4"/>
          <p:cNvSpPr>
            <a:spLocks noChangeArrowheads="1"/>
          </p:cNvSpPr>
          <p:nvPr/>
        </p:nvSpPr>
        <p:spPr bwMode="auto">
          <a:xfrm>
            <a:off x="3959225" y="2925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167945" name="Picture 9"/>
          <p:cNvPicPr>
            <a:picLocks noChangeAspect="1" noChangeArrowheads="1"/>
          </p:cNvPicPr>
          <p:nvPr/>
        </p:nvPicPr>
        <p:blipFill>
          <a:blip r:embed="rId3" cstate="print"/>
          <a:srcRect l="2682" r="8105"/>
          <a:stretch>
            <a:fillRect/>
          </a:stretch>
        </p:blipFill>
        <p:spPr bwMode="auto">
          <a:xfrm>
            <a:off x="5651500" y="4076700"/>
            <a:ext cx="2665413" cy="231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201" name="Group 11"/>
          <p:cNvGrpSpPr>
            <a:grpSpLocks/>
          </p:cNvGrpSpPr>
          <p:nvPr/>
        </p:nvGrpSpPr>
        <p:grpSpPr bwMode="auto">
          <a:xfrm>
            <a:off x="611188" y="1557338"/>
            <a:ext cx="8077200" cy="2170112"/>
            <a:chOff x="240" y="973"/>
            <a:chExt cx="5088" cy="1367"/>
          </a:xfrm>
        </p:grpSpPr>
        <p:graphicFrame>
          <p:nvGraphicFramePr>
            <p:cNvPr id="8194" name="Object 7"/>
            <p:cNvGraphicFramePr>
              <a:graphicFrameLocks noChangeAspect="1"/>
            </p:cNvGraphicFramePr>
            <p:nvPr/>
          </p:nvGraphicFramePr>
          <p:xfrm>
            <a:off x="567" y="1253"/>
            <a:ext cx="830" cy="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Equation" r:id="rId4" imgW="609480" imgH="457200" progId="Equation.3">
                    <p:embed/>
                  </p:oleObj>
                </mc:Choice>
                <mc:Fallback>
                  <p:oleObj name="Equation" r:id="rId4" imgW="609480" imgH="457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253"/>
                          <a:ext cx="830" cy="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" name="Object 8"/>
            <p:cNvGraphicFramePr>
              <a:graphicFrameLocks noChangeAspect="1"/>
            </p:cNvGraphicFramePr>
            <p:nvPr/>
          </p:nvGraphicFramePr>
          <p:xfrm>
            <a:off x="567" y="1752"/>
            <a:ext cx="58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5" name="Equation" r:id="rId6" imgW="431640" imgH="431640" progId="Equation.3">
                    <p:embed/>
                  </p:oleObj>
                </mc:Choice>
                <mc:Fallback>
                  <p:oleObj name="Equation" r:id="rId6" imgW="431640" imgH="4316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752"/>
                          <a:ext cx="588" cy="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240" y="973"/>
              <a:ext cx="5088" cy="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10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推论</a:t>
              </a:r>
              <a:r>
                <a:rPr lang="zh-CN" altLang="en-US" sz="2800" b="1">
                  <a:latin typeface="Times New Roman" pitchFamily="18" charset="0"/>
                </a:rPr>
                <a:t>  设</a:t>
              </a:r>
              <a:r>
                <a:rPr lang="en-US" altLang="zh-CN" sz="2800" b="1" i="1">
                  <a:latin typeface="Times New Roman" pitchFamily="18" charset="0"/>
                </a:rPr>
                <a:t>B</a:t>
              </a:r>
              <a:r>
                <a:rPr lang="en-US" altLang="zh-CN" sz="2800" b="1" i="1" baseline="-30000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</a:rPr>
                <a:t>=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>
                  <a:latin typeface="Times New Roman" pitchFamily="18" charset="0"/>
                </a:rPr>
                <a:t>+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 baseline="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+…+</a:t>
              </a:r>
              <a:r>
                <a:rPr lang="en-US" altLang="zh-CN" sz="2800" b="1" i="1">
                  <a:latin typeface="Times New Roman" pitchFamily="18" charset="0"/>
                </a:rPr>
                <a:t>A</a:t>
              </a:r>
              <a:r>
                <a:rPr lang="en-US" altLang="zh-CN" sz="2800" b="1" i="1" baseline="30000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l</a:t>
              </a:r>
              <a:r>
                <a:rPr lang="en-US" altLang="zh-CN" sz="2800" b="1">
                  <a:latin typeface="Times New Roman" pitchFamily="18" charset="0"/>
                  <a:sym typeface="Symbol" pitchFamily="18" charset="2"/>
                </a:rPr>
                <a:t></a:t>
              </a:r>
              <a:r>
                <a:rPr lang="en-US" altLang="zh-CN" sz="2800" b="1">
                  <a:latin typeface="Times New Roman" pitchFamily="18" charset="0"/>
                </a:rPr>
                <a:t>1), </a:t>
              </a:r>
              <a:r>
                <a:rPr lang="zh-CN" altLang="en-US" sz="2800" b="1">
                  <a:latin typeface="Times New Roman" pitchFamily="18" charset="0"/>
                </a:rPr>
                <a:t>则</a:t>
              </a:r>
              <a:r>
                <a:rPr lang="en-US" altLang="zh-CN" sz="2800" b="1" i="1">
                  <a:latin typeface="Times New Roman" pitchFamily="18" charset="0"/>
                </a:rPr>
                <a:t>B</a:t>
              </a:r>
              <a:r>
                <a:rPr lang="en-US" altLang="zh-CN" sz="2800" b="1" i="1" baseline="-30000">
                  <a:latin typeface="Times New Roman" pitchFamily="18" charset="0"/>
                </a:rPr>
                <a:t>l</a:t>
              </a:r>
              <a:r>
                <a:rPr lang="zh-CN" altLang="en-US" sz="2800" b="1">
                  <a:latin typeface="Times New Roman" pitchFamily="18" charset="0"/>
                </a:rPr>
                <a:t>中元素</a:t>
              </a:r>
            </a:p>
            <a:p>
              <a:pPr algn="just">
                <a:spcBef>
                  <a:spcPct val="6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中长度小于或等于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的通路数，</a:t>
              </a:r>
            </a:p>
            <a:p>
              <a:pPr>
                <a:spcBef>
                  <a:spcPct val="6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          为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zh-CN" altLang="en-US" sz="2800" b="1">
                  <a:latin typeface="Times New Roman" pitchFamily="18" charset="0"/>
                </a:rPr>
                <a:t>中长度小于或等于</a:t>
              </a:r>
              <a:r>
                <a:rPr lang="en-US" altLang="zh-CN" sz="2800" b="1" i="1">
                  <a:latin typeface="Times New Roman" pitchFamily="18" charset="0"/>
                </a:rPr>
                <a:t>l </a:t>
              </a:r>
              <a:r>
                <a:rPr lang="zh-CN" altLang="en-US" sz="2800" b="1">
                  <a:latin typeface="Times New Roman" pitchFamily="18" charset="0"/>
                </a:rPr>
                <a:t>的回路数</a:t>
              </a:r>
              <a:r>
                <a:rPr lang="en-US" altLang="zh-CN" sz="2800" b="1">
                  <a:latin typeface="Times New Roman" pitchFamily="18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57ACCA-A62E-4251-BF5D-84E75BDEC60B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101600"/>
            <a:ext cx="8229600" cy="1219200"/>
          </a:xfrm>
        </p:spPr>
        <p:txBody>
          <a:bodyPr/>
          <a:lstStyle/>
          <a:p>
            <a:r>
              <a:rPr lang="zh-CN" altLang="en-US" b="1"/>
              <a:t>例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zh-CN" altLang="en-US" b="1">
                <a:latin typeface="Times New Roman" pitchFamily="18" charset="0"/>
              </a:rPr>
              <a:t>续</a:t>
            </a:r>
            <a:r>
              <a:rPr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229600" cy="4343400"/>
          </a:xfrm>
          <a:solidFill>
            <a:srgbClr val="D9F1FF"/>
          </a:solidFill>
          <a:ln w="28575">
            <a:solidFill>
              <a:srgbClr val="003399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b="1"/>
              <a:t>                                                 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/>
              <a:t>                                                         </a:t>
            </a:r>
            <a:r>
              <a:rPr lang="zh-CN" altLang="en-US" sz="2400" b="1">
                <a:latin typeface="宋体" charset="-122"/>
              </a:rPr>
              <a:t>长度 通路 回路</a:t>
            </a:r>
            <a:r>
              <a:rPr lang="zh-CN" altLang="en-US" sz="2800" b="1"/>
              <a:t>                         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609600" y="1752600"/>
          <a:ext cx="5260975" cy="378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3" imgW="2577960" imgH="1854000" progId="Equation.3">
                  <p:embed/>
                </p:oleObj>
              </mc:Choice>
              <mc:Fallback>
                <p:oleObj name="Equation" r:id="rId3" imgW="2577960" imgH="18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52600"/>
                        <a:ext cx="5260975" cy="378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6019800" y="43434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合计    </a:t>
            </a:r>
            <a:r>
              <a:rPr lang="en-US" altLang="zh-CN" sz="2400" b="1">
                <a:latin typeface="Times New Roman" pitchFamily="18" charset="0"/>
              </a:rPr>
              <a:t>50      8</a:t>
            </a:r>
          </a:p>
        </p:txBody>
      </p:sp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6248400" y="2514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</a:t>
            </a:r>
          </a:p>
        </p:txBody>
      </p:sp>
      <p:sp>
        <p:nvSpPr>
          <p:cNvPr id="168967" name="Text Box 7"/>
          <p:cNvSpPr txBox="1">
            <a:spLocks noChangeArrowheads="1"/>
          </p:cNvSpPr>
          <p:nvPr/>
        </p:nvSpPr>
        <p:spPr bwMode="auto">
          <a:xfrm>
            <a:off x="7010400" y="25146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8       1</a:t>
            </a:r>
          </a:p>
        </p:txBody>
      </p:sp>
      <p:sp>
        <p:nvSpPr>
          <p:cNvPr id="168968" name="Text Box 8"/>
          <p:cNvSpPr txBox="1">
            <a:spLocks noChangeArrowheads="1"/>
          </p:cNvSpPr>
          <p:nvPr/>
        </p:nvSpPr>
        <p:spPr bwMode="auto">
          <a:xfrm>
            <a:off x="6248400" y="28956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2</a:t>
            </a:r>
          </a:p>
        </p:txBody>
      </p:sp>
      <p:sp>
        <p:nvSpPr>
          <p:cNvPr id="168969" name="Text Box 9"/>
          <p:cNvSpPr txBox="1">
            <a:spLocks noChangeArrowheads="1"/>
          </p:cNvSpPr>
          <p:nvPr/>
        </p:nvSpPr>
        <p:spPr bwMode="auto">
          <a:xfrm>
            <a:off x="6934200" y="2895600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11      3</a:t>
            </a:r>
          </a:p>
        </p:txBody>
      </p:sp>
      <p:sp>
        <p:nvSpPr>
          <p:cNvPr id="168970" name="Text Box 10"/>
          <p:cNvSpPr txBox="1">
            <a:spLocks noChangeArrowheads="1"/>
          </p:cNvSpPr>
          <p:nvPr/>
        </p:nvSpPr>
        <p:spPr bwMode="auto">
          <a:xfrm>
            <a:off x="6248400" y="33528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3</a:t>
            </a:r>
          </a:p>
        </p:txBody>
      </p:sp>
      <p:sp>
        <p:nvSpPr>
          <p:cNvPr id="168971" name="Text Box 11"/>
          <p:cNvSpPr txBox="1">
            <a:spLocks noChangeArrowheads="1"/>
          </p:cNvSpPr>
          <p:nvPr/>
        </p:nvSpPr>
        <p:spPr bwMode="auto">
          <a:xfrm>
            <a:off x="6934200" y="33528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14      1</a:t>
            </a:r>
          </a:p>
        </p:txBody>
      </p:sp>
      <p:sp>
        <p:nvSpPr>
          <p:cNvPr id="168972" name="Text Box 12"/>
          <p:cNvSpPr txBox="1">
            <a:spLocks noChangeArrowheads="1"/>
          </p:cNvSpPr>
          <p:nvPr/>
        </p:nvSpPr>
        <p:spPr bwMode="auto">
          <a:xfrm>
            <a:off x="6248400" y="3810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4</a:t>
            </a:r>
          </a:p>
        </p:txBody>
      </p:sp>
      <p:sp>
        <p:nvSpPr>
          <p:cNvPr id="168973" name="Text Box 13"/>
          <p:cNvSpPr txBox="1">
            <a:spLocks noChangeArrowheads="1"/>
          </p:cNvSpPr>
          <p:nvPr/>
        </p:nvSpPr>
        <p:spPr bwMode="auto">
          <a:xfrm>
            <a:off x="6934200" y="38100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17      3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 autoUpdateAnimBg="0"/>
      <p:bldP spid="168966" grpId="0" autoUpdateAnimBg="0"/>
      <p:bldP spid="168967" grpId="0" autoUpdateAnimBg="0"/>
      <p:bldP spid="168968" grpId="0" autoUpdateAnimBg="0"/>
      <p:bldP spid="168969" grpId="0" autoUpdateAnimBg="0"/>
      <p:bldP spid="168970" grpId="0" autoUpdateAnimBg="0"/>
      <p:bldP spid="168971" grpId="0" autoUpdateAnimBg="0"/>
      <p:bldP spid="168972" grpId="0" autoUpdateAnimBg="0"/>
      <p:bldP spid="16897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B53CC8-D622-4341-A64E-7E42AEDA9E01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002587" cy="795338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有向图的可达矩阵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605588"/>
            <a:ext cx="8229600" cy="252412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</a:t>
            </a: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3973513" y="32083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0247" name="Group 8"/>
          <p:cNvGrpSpPr>
            <a:grpSpLocks/>
          </p:cNvGrpSpPr>
          <p:nvPr/>
        </p:nvGrpSpPr>
        <p:grpSpPr bwMode="auto">
          <a:xfrm>
            <a:off x="395288" y="1484313"/>
            <a:ext cx="8077200" cy="4240212"/>
            <a:chOff x="249" y="1071"/>
            <a:chExt cx="5088" cy="2671"/>
          </a:xfrm>
        </p:grpSpPr>
        <p:graphicFrame>
          <p:nvGraphicFramePr>
            <p:cNvPr id="10242" name="Object 5"/>
            <p:cNvGraphicFramePr>
              <a:graphicFrameLocks noChangeAspect="1"/>
            </p:cNvGraphicFramePr>
            <p:nvPr/>
          </p:nvGraphicFramePr>
          <p:xfrm>
            <a:off x="1304" y="1481"/>
            <a:ext cx="1782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7" name="公式" r:id="rId3" imgW="1269720" imgH="431640" progId="Equation.3">
                    <p:embed/>
                  </p:oleObj>
                </mc:Choice>
                <mc:Fallback>
                  <p:oleObj name="公式" r:id="rId3" imgW="1269720" imgH="431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4" y="1481"/>
                          <a:ext cx="1782" cy="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8" name="Text Box 6"/>
            <p:cNvSpPr txBox="1">
              <a:spLocks noChangeArrowheads="1"/>
            </p:cNvSpPr>
            <p:nvPr/>
          </p:nvSpPr>
          <p:spPr bwMode="auto">
            <a:xfrm>
              <a:off x="249" y="1071"/>
              <a:ext cx="5088" cy="26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FF3300"/>
                  </a:solidFill>
                  <a:latin typeface="Times New Roman" pitchFamily="18" charset="0"/>
                </a:rPr>
                <a:t>定义</a:t>
              </a:r>
              <a:r>
                <a:rPr lang="zh-CN" altLang="en-US" sz="2800" b="1">
                  <a:latin typeface="Times New Roman" pitchFamily="18" charset="0"/>
                </a:rPr>
                <a:t>  设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=&lt;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,</a:t>
              </a:r>
              <a:r>
                <a:rPr lang="en-US" altLang="zh-CN" sz="2800" b="1" i="1">
                  <a:latin typeface="Times New Roman" pitchFamily="18" charset="0"/>
                </a:rPr>
                <a:t>E</a:t>
              </a:r>
              <a:r>
                <a:rPr lang="en-US" altLang="zh-CN" sz="2800" b="1">
                  <a:latin typeface="Times New Roman" pitchFamily="18" charset="0"/>
                </a:rPr>
                <a:t>&gt;</a:t>
              </a:r>
              <a:r>
                <a:rPr lang="zh-CN" altLang="en-US" sz="2800" b="1">
                  <a:latin typeface="Times New Roman" pitchFamily="18" charset="0"/>
                </a:rPr>
                <a:t>为有向图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>
                  <a:latin typeface="Times New Roman" pitchFamily="18" charset="0"/>
                </a:rPr>
                <a:t>={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baseline="-30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, …, </a:t>
              </a:r>
              <a:r>
                <a:rPr lang="en-US" altLang="zh-CN" sz="2800" b="1" i="1">
                  <a:latin typeface="Times New Roman" pitchFamily="18" charset="0"/>
                </a:rPr>
                <a:t>v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>
                  <a:latin typeface="Times New Roman" pitchFamily="18" charset="0"/>
                </a:rPr>
                <a:t>}, </a:t>
              </a:r>
              <a:r>
                <a:rPr lang="zh-CN" altLang="en-US" sz="2800" b="1">
                  <a:latin typeface="Times New Roman" pitchFamily="18" charset="0"/>
                </a:rPr>
                <a:t>令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    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zh-CN" altLang="en-US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2800" b="1">
                  <a:latin typeface="Times New Roman" pitchFamily="18" charset="0"/>
                </a:rPr>
                <a:t>称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 i="1" baseline="-30000">
                  <a:latin typeface="Times New Roman" pitchFamily="18" charset="0"/>
                </a:rPr>
                <a:t>ij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en-US" altLang="zh-CN" sz="2800" b="1" baseline="-30000">
                  <a:latin typeface="Times New Roman" pitchFamily="18" charset="0"/>
                  <a:sym typeface="Symbol" pitchFamily="18" charset="2"/>
                </a:rPr>
                <a:t></a:t>
              </a:r>
              <a:r>
                <a:rPr lang="en-US" altLang="zh-CN" sz="2800" b="1" i="1" baseline="-30000">
                  <a:latin typeface="Times New Roman" pitchFamily="18" charset="0"/>
                </a:rPr>
                <a:t>n</a:t>
              </a:r>
              <a:r>
                <a:rPr lang="zh-CN" altLang="en-US" sz="2800" b="1">
                  <a:latin typeface="Times New Roman" pitchFamily="18" charset="0"/>
                </a:rPr>
                <a:t>为</a:t>
              </a:r>
              <a:r>
                <a:rPr lang="en-US" altLang="zh-CN" sz="2800" b="1" i="1">
                  <a:solidFill>
                    <a:srgbClr val="FF3300"/>
                  </a:solidFill>
                  <a:latin typeface="Times New Roman" pitchFamily="18" charset="0"/>
                </a:rPr>
                <a:t>D</a:t>
              </a:r>
              <a:r>
                <a:rPr lang="zh-CN" altLang="en-US" sz="2800" b="1">
                  <a:solidFill>
                    <a:srgbClr val="FF3300"/>
                  </a:solidFill>
                  <a:latin typeface="Times New Roman" pitchFamily="18" charset="0"/>
                </a:rPr>
                <a:t>的可达矩阵</a:t>
              </a:r>
              <a:r>
                <a:rPr lang="en-US" altLang="zh-CN" sz="2800" b="1">
                  <a:latin typeface="Times New Roman" pitchFamily="18" charset="0"/>
                </a:rPr>
                <a:t>, </a:t>
              </a:r>
              <a:r>
                <a:rPr lang="zh-CN" altLang="en-US" sz="2800" b="1">
                  <a:latin typeface="Times New Roman" pitchFamily="18" charset="0"/>
                </a:rPr>
                <a:t>记作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), </a:t>
              </a:r>
              <a:r>
                <a:rPr lang="zh-CN" altLang="en-US" sz="2800" b="1">
                  <a:latin typeface="Times New Roman" pitchFamily="18" charset="0"/>
                </a:rPr>
                <a:t>简记为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.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endParaRPr lang="en-US" altLang="zh-CN" sz="2800" b="1">
                <a:latin typeface="Times New Roman" pitchFamily="18" charset="0"/>
              </a:endParaRP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rgbClr val="3366CC"/>
                  </a:solidFill>
                  <a:latin typeface="Times New Roman" pitchFamily="18" charset="0"/>
                </a:rPr>
                <a:t>性质</a:t>
              </a:r>
              <a:r>
                <a:rPr lang="en-US" altLang="zh-CN" sz="3200" b="1">
                  <a:solidFill>
                    <a:srgbClr val="3366CC"/>
                  </a:solidFill>
                  <a:latin typeface="Times New Roman" pitchFamily="18" charset="0"/>
                </a:rPr>
                <a:t>: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   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zh-CN" altLang="en-US" sz="2800" b="1">
                  <a:latin typeface="Times New Roman" pitchFamily="18" charset="0"/>
                </a:rPr>
                <a:t>主对角线上的元素全为</a:t>
              </a:r>
              <a:r>
                <a:rPr lang="en-US" altLang="zh-CN" sz="2800" b="1">
                  <a:latin typeface="Times New Roman" pitchFamily="18" charset="0"/>
                </a:rPr>
                <a:t>1. </a:t>
              </a:r>
            </a:p>
            <a:p>
              <a:pPr algn="just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 b="1" i="1">
                  <a:latin typeface="Times New Roman" pitchFamily="18" charset="0"/>
                </a:rPr>
                <a:t>    D</a:t>
              </a:r>
              <a:r>
                <a:rPr lang="zh-CN" altLang="en-US" sz="2800" b="1">
                  <a:latin typeface="Times New Roman" pitchFamily="18" charset="0"/>
                </a:rPr>
                <a:t>强连通当且仅当</a:t>
              </a:r>
              <a:r>
                <a:rPr lang="en-US" altLang="zh-CN" sz="2800" b="1" i="1">
                  <a:latin typeface="Times New Roman" pitchFamily="18" charset="0"/>
                </a:rPr>
                <a:t>P</a:t>
              </a:r>
              <a:r>
                <a:rPr lang="en-US" altLang="zh-CN" sz="2800" b="1">
                  <a:latin typeface="Times New Roman" pitchFamily="18" charset="0"/>
                </a:rPr>
                <a:t>(</a:t>
              </a:r>
              <a:r>
                <a:rPr lang="en-US" altLang="zh-CN" sz="2800" b="1" i="1">
                  <a:latin typeface="Times New Roman" pitchFamily="18" charset="0"/>
                </a:rPr>
                <a:t>D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  <a:r>
                <a:rPr lang="zh-CN" altLang="en-US" sz="2800" b="1">
                  <a:latin typeface="Times New Roman" pitchFamily="18" charset="0"/>
                </a:rPr>
                <a:t>的元素全为</a:t>
              </a:r>
              <a:r>
                <a:rPr lang="en-US" altLang="zh-CN" sz="2800" b="1">
                  <a:latin typeface="Times New Roman" pitchFamily="18" charset="0"/>
                </a:rPr>
                <a:t>1.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9950D1-1F43-496A-B537-AC144799701F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有向图的可达矩阵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(</a:t>
            </a:r>
            <a:r>
              <a:rPr lang="zh-CN" alt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续</a:t>
            </a:r>
            <a:r>
              <a:rPr lang="en-US" altLang="zh-CN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charset="-122"/>
              </a:rPr>
              <a:t>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3505200"/>
          </a:xfrm>
          <a:solidFill>
            <a:srgbClr val="CEF9FE"/>
          </a:solidFill>
          <a:ln w="28575">
            <a:solidFill>
              <a:srgbClr val="003399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>
                <a:solidFill>
                  <a:srgbClr val="3366CC"/>
                </a:solidFill>
                <a:latin typeface="Times New Roman" pitchFamily="18" charset="0"/>
              </a:rPr>
              <a:t>例 </a:t>
            </a:r>
            <a:r>
              <a:rPr lang="zh-CN" altLang="en-US" sz="2800" b="1">
                <a:latin typeface="Times New Roman" pitchFamily="18" charset="0"/>
              </a:rPr>
              <a:t>右图所示的有向图</a:t>
            </a:r>
            <a:r>
              <a:rPr lang="en-US" altLang="zh-CN" sz="2800" b="1" i="1">
                <a:latin typeface="Times New Roman" pitchFamily="18" charset="0"/>
              </a:rPr>
              <a:t>D</a:t>
            </a:r>
            <a:r>
              <a:rPr lang="zh-CN" altLang="en-US" sz="2800" b="1">
                <a:latin typeface="Times New Roman" pitchFamily="18" charset="0"/>
              </a:rPr>
              <a:t>的可达矩阵为</a:t>
            </a:r>
          </a:p>
        </p:txBody>
      </p:sp>
      <p:sp>
        <p:nvSpPr>
          <p:cNvPr id="11270" name="Rectangle 4"/>
          <p:cNvSpPr>
            <a:spLocks noChangeArrowheads="1"/>
          </p:cNvSpPr>
          <p:nvPr/>
        </p:nvSpPr>
        <p:spPr bwMode="auto">
          <a:xfrm>
            <a:off x="4038600" y="30019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/>
        </p:nvGraphicFramePr>
        <p:xfrm>
          <a:off x="1404938" y="2744788"/>
          <a:ext cx="2754312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3" imgW="1168200" imgH="914400" progId="Equation.3">
                  <p:embed/>
                </p:oleObj>
              </mc:Choice>
              <mc:Fallback>
                <p:oleObj name="Equation" r:id="rId3" imgW="1168200" imgH="91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2744788"/>
                        <a:ext cx="2754312" cy="216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5" cstate="print"/>
          <a:srcRect l="2682" r="8105"/>
          <a:stretch>
            <a:fillRect/>
          </a:stretch>
        </p:blipFill>
        <p:spPr bwMode="auto">
          <a:xfrm>
            <a:off x="5076825" y="2708275"/>
            <a:ext cx="2879725" cy="250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图论练习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buNone/>
            </a:pPr>
            <a:r>
              <a:rPr lang="en-US" altLang="zh-CN" b="1" dirty="0">
                <a:latin typeface="Times New Roman" pitchFamily="18" charset="0"/>
              </a:rPr>
              <a:t>1</a:t>
            </a:r>
            <a:r>
              <a:rPr lang="zh-CN" altLang="en-US" b="1" dirty="0">
                <a:latin typeface="Times New Roman" pitchFamily="18" charset="0"/>
              </a:rPr>
              <a:t>、证明不存在具有奇数个面且每个面都具有奇数条棱的多面体。</a:t>
            </a:r>
            <a:endParaRPr lang="en-US" altLang="zh-CN" b="1" dirty="0">
              <a:latin typeface="Times New Roman" pitchFamily="18" charset="0"/>
            </a:endParaRPr>
          </a:p>
          <a:p>
            <a:pPr>
              <a:buClr>
                <a:schemeClr val="hlink"/>
              </a:buClr>
              <a:buSzPct val="80000"/>
              <a:buNone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b="1" dirty="0">
                <a:latin typeface="Times New Roman" pitchFamily="18" charset="0"/>
              </a:rPr>
              <a:t>设</a:t>
            </a:r>
            <a:r>
              <a:rPr lang="en-US" altLang="zh-CN" b="1" dirty="0">
                <a:latin typeface="Times New Roman" pitchFamily="18" charset="0"/>
              </a:rPr>
              <a:t>G</a:t>
            </a:r>
            <a:r>
              <a:rPr lang="zh-CN" altLang="en-US" b="1" dirty="0">
                <a:latin typeface="Times New Roman" pitchFamily="18" charset="0"/>
              </a:rPr>
              <a:t>是具有</a:t>
            </a:r>
            <a:r>
              <a:rPr lang="en-US" altLang="zh-CN" b="1" dirty="0">
                <a:latin typeface="Times New Roman" pitchFamily="18" charset="0"/>
              </a:rPr>
              <a:t>8</a:t>
            </a:r>
            <a:r>
              <a:rPr lang="zh-CN" altLang="en-US" b="1" dirty="0">
                <a:latin typeface="Times New Roman" pitchFamily="18" charset="0"/>
              </a:rPr>
              <a:t>个顶点的树，则</a:t>
            </a:r>
            <a:r>
              <a:rPr lang="en-US" altLang="zh-CN" b="1" dirty="0">
                <a:latin typeface="Times New Roman" pitchFamily="18" charset="0"/>
              </a:rPr>
              <a:t>G</a:t>
            </a:r>
            <a:r>
              <a:rPr lang="zh-CN" altLang="en-US" b="1" dirty="0">
                <a:latin typeface="Times New Roman" pitchFamily="18" charset="0"/>
              </a:rPr>
              <a:t>中增加</a:t>
            </a:r>
            <a:r>
              <a:rPr lang="en-US" altLang="zh-CN" b="1" dirty="0">
                <a:latin typeface="Times New Roman" pitchFamily="18" charset="0"/>
              </a:rPr>
              <a:t>_________</a:t>
            </a:r>
            <a:r>
              <a:rPr lang="zh-CN" altLang="en-US" b="1" dirty="0">
                <a:latin typeface="Times New Roman" pitchFamily="18" charset="0"/>
              </a:rPr>
              <a:t>条边才能把</a:t>
            </a:r>
            <a:r>
              <a:rPr lang="en-US" altLang="zh-CN" b="1" dirty="0">
                <a:latin typeface="Times New Roman" pitchFamily="18" charset="0"/>
              </a:rPr>
              <a:t>G</a:t>
            </a:r>
            <a:r>
              <a:rPr lang="zh-CN" altLang="en-US" b="1" dirty="0">
                <a:latin typeface="Times New Roman" pitchFamily="18" charset="0"/>
              </a:rPr>
              <a:t>变成完全图。  </a:t>
            </a:r>
          </a:p>
          <a:p>
            <a:pPr>
              <a:lnSpc>
                <a:spcPct val="125000"/>
              </a:lnSpc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C020B0-63A5-466E-A202-798B444589E4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6"/>
          <p:cNvSpPr txBox="1">
            <a:spLocks noChangeArrowheads="1"/>
          </p:cNvSpPr>
          <p:nvPr/>
        </p:nvSpPr>
        <p:spPr bwMode="auto">
          <a:xfrm>
            <a:off x="395288" y="1412875"/>
            <a:ext cx="8077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3</a:t>
            </a:r>
            <a:r>
              <a:rPr lang="zh-CN" altLang="en-US" sz="2800" dirty="0"/>
              <a:t>、图</a:t>
            </a:r>
            <a:r>
              <a:rPr lang="en-US" altLang="zh-CN" sz="2800" dirty="0"/>
              <a:t>G</a:t>
            </a:r>
            <a:r>
              <a:rPr lang="zh-CN" altLang="en-US" sz="2800" dirty="0"/>
              <a:t>如右图所示，以下说法正确的是</a:t>
            </a:r>
            <a:r>
              <a:rPr lang="en-US" altLang="zh-CN" sz="2800" dirty="0"/>
              <a:t>_____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A {(</a:t>
            </a:r>
            <a:r>
              <a:rPr lang="en-US" altLang="zh-CN" sz="2800" dirty="0" err="1"/>
              <a:t>a,d</a:t>
            </a:r>
            <a:r>
              <a:rPr lang="en-US" altLang="zh-CN" sz="2800" dirty="0"/>
              <a:t>)}</a:t>
            </a:r>
            <a:r>
              <a:rPr lang="zh-CN" altLang="en-US" sz="2800" dirty="0"/>
              <a:t>是割边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B {(</a:t>
            </a:r>
            <a:r>
              <a:rPr lang="en-US" altLang="zh-CN" sz="2800" dirty="0" err="1"/>
              <a:t>a,d</a:t>
            </a:r>
            <a:r>
              <a:rPr lang="en-US" altLang="zh-CN" sz="2800" dirty="0"/>
              <a:t>)}</a:t>
            </a:r>
            <a:r>
              <a:rPr lang="zh-CN" altLang="en-US" sz="2800" dirty="0"/>
              <a:t>是边割集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C {(</a:t>
            </a:r>
            <a:r>
              <a:rPr lang="en-US" altLang="zh-CN" sz="2800" dirty="0" err="1"/>
              <a:t>d,e</a:t>
            </a:r>
            <a:r>
              <a:rPr lang="en-US" altLang="zh-CN" sz="2800" dirty="0"/>
              <a:t>)}</a:t>
            </a:r>
            <a:r>
              <a:rPr lang="zh-CN" altLang="en-US" sz="2800" dirty="0"/>
              <a:t>是边割集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D {(</a:t>
            </a:r>
            <a:r>
              <a:rPr lang="en-US" altLang="zh-CN" sz="2800" dirty="0" err="1"/>
              <a:t>a,d</a:t>
            </a:r>
            <a:r>
              <a:rPr lang="en-US" altLang="zh-CN" sz="2800" dirty="0"/>
              <a:t>) ,(a, c)}</a:t>
            </a:r>
            <a:r>
              <a:rPr lang="zh-CN" altLang="en-US" sz="2800" dirty="0"/>
              <a:t>是边割集 </a:t>
            </a:r>
          </a:p>
        </p:txBody>
      </p:sp>
      <p:pic>
        <p:nvPicPr>
          <p:cNvPr id="86020" name="图片 4"/>
          <p:cNvPicPr>
            <a:picLocks noChangeAspect="1" noChangeArrowheads="1"/>
          </p:cNvPicPr>
          <p:nvPr/>
        </p:nvPicPr>
        <p:blipFill>
          <a:blip r:embed="rId2"/>
          <a:srcRect l="41174" t="33051" r="42662" b="45953"/>
          <a:stretch>
            <a:fillRect/>
          </a:stretch>
        </p:blipFill>
        <p:spPr bwMode="auto">
          <a:xfrm>
            <a:off x="4433888" y="2133600"/>
            <a:ext cx="4386262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图论练习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E0EDA4-EF0B-496F-9731-E6D3EB6447D2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5720" y="1214422"/>
            <a:ext cx="82868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3200" dirty="0">
                <a:latin typeface="+mn-ea"/>
                <a:ea typeface="+mn-ea"/>
              </a:rPr>
              <a:t>4 </a:t>
            </a:r>
            <a:r>
              <a:rPr lang="zh-CN" altLang="en-US" sz="3200" dirty="0">
                <a:latin typeface="+mn-ea"/>
                <a:ea typeface="+mn-ea"/>
              </a:rPr>
              <a:t>设有</a:t>
            </a:r>
            <a:r>
              <a:rPr lang="en-US" altLang="zh-CN" sz="3200" dirty="0" err="1">
                <a:latin typeface="+mn-ea"/>
                <a:ea typeface="+mn-ea"/>
              </a:rPr>
              <a:t>a,b,c,d,e,f,g</a:t>
            </a:r>
            <a:r>
              <a:rPr lang="zh-CN" altLang="en-US" sz="3200" dirty="0">
                <a:latin typeface="+mn-ea"/>
                <a:ea typeface="+mn-ea"/>
              </a:rPr>
              <a:t>等七个人，已知</a:t>
            </a:r>
            <a:r>
              <a:rPr lang="en-US" altLang="zh-CN" sz="3200" dirty="0">
                <a:latin typeface="+mn-ea"/>
                <a:ea typeface="+mn-ea"/>
              </a:rPr>
              <a:t>a</a:t>
            </a:r>
            <a:r>
              <a:rPr lang="zh-CN" altLang="en-US" sz="3200" dirty="0">
                <a:latin typeface="+mn-ea"/>
                <a:ea typeface="+mn-ea"/>
              </a:rPr>
              <a:t>会讲英语；</a:t>
            </a:r>
            <a:r>
              <a:rPr lang="en-US" altLang="zh-CN" sz="3200" dirty="0">
                <a:latin typeface="+mn-ea"/>
                <a:ea typeface="+mn-ea"/>
              </a:rPr>
              <a:t>b</a:t>
            </a:r>
            <a:r>
              <a:rPr lang="zh-CN" altLang="en-US" sz="3200" dirty="0">
                <a:latin typeface="+mn-ea"/>
                <a:ea typeface="+mn-ea"/>
              </a:rPr>
              <a:t>会讲英语、汉语；</a:t>
            </a:r>
            <a:r>
              <a:rPr lang="en-US" altLang="zh-CN" sz="3200" dirty="0">
                <a:latin typeface="+mn-ea"/>
                <a:ea typeface="+mn-ea"/>
              </a:rPr>
              <a:t>c</a:t>
            </a:r>
            <a:r>
              <a:rPr lang="zh-CN" altLang="en-US" sz="3200" dirty="0">
                <a:latin typeface="+mn-ea"/>
                <a:ea typeface="+mn-ea"/>
              </a:rPr>
              <a:t>会讲英、俄语；</a:t>
            </a:r>
            <a:r>
              <a:rPr lang="en-US" altLang="zh-CN" sz="3200" dirty="0">
                <a:latin typeface="+mn-ea"/>
                <a:ea typeface="+mn-ea"/>
              </a:rPr>
              <a:t>d</a:t>
            </a:r>
            <a:r>
              <a:rPr lang="zh-CN" altLang="en-US" sz="3200" dirty="0">
                <a:latin typeface="+mn-ea"/>
                <a:ea typeface="+mn-ea"/>
              </a:rPr>
              <a:t>会讲日、汉语；</a:t>
            </a:r>
            <a:r>
              <a:rPr lang="en-US" altLang="zh-CN" sz="3200" dirty="0">
                <a:latin typeface="+mn-ea"/>
                <a:ea typeface="+mn-ea"/>
              </a:rPr>
              <a:t>e</a:t>
            </a:r>
            <a:r>
              <a:rPr lang="zh-CN" altLang="en-US" sz="3200" dirty="0">
                <a:latin typeface="+mn-ea"/>
                <a:ea typeface="+mn-ea"/>
              </a:rPr>
              <a:t>会讲德语、俄语；</a:t>
            </a:r>
            <a:r>
              <a:rPr lang="en-US" altLang="zh-CN" sz="3200" dirty="0">
                <a:latin typeface="+mn-ea"/>
                <a:ea typeface="+mn-ea"/>
              </a:rPr>
              <a:t>f</a:t>
            </a:r>
            <a:r>
              <a:rPr lang="zh-CN" altLang="en-US" sz="3200" dirty="0">
                <a:latin typeface="+mn-ea"/>
                <a:ea typeface="+mn-ea"/>
              </a:rPr>
              <a:t>会讲法语、日语；</a:t>
            </a:r>
            <a:r>
              <a:rPr lang="en-US" altLang="zh-CN" sz="3200" dirty="0">
                <a:latin typeface="+mn-ea"/>
                <a:ea typeface="+mn-ea"/>
              </a:rPr>
              <a:t>g</a:t>
            </a:r>
            <a:r>
              <a:rPr lang="zh-CN" altLang="en-US" sz="3200" dirty="0">
                <a:latin typeface="+mn-ea"/>
                <a:ea typeface="+mn-ea"/>
              </a:rPr>
              <a:t>会讲法语、德语。试用图论方法安排圆桌座位，使每人都能与其身边的人交谈。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图论练习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4"/>
          <p:cNvSpPr txBox="1">
            <a:spLocks noGrp="1"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fld id="{3E963A21-9529-409B-BD42-AAC31E38679A}" type="slidenum">
              <a:rPr lang="en-US" altLang="zh-CN" sz="1200"/>
              <a:pPr algn="ctr" eaLnBrk="1" hangingPunct="1"/>
              <a:t>29</a:t>
            </a:fld>
            <a:endParaRPr lang="en-US" altLang="zh-CN" sz="120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1428750"/>
            <a:ext cx="8229600" cy="128587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Times New Roman" pitchFamily="18" charset="0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</a:rPr>
              <a:t>： </a:t>
            </a:r>
            <a:r>
              <a:rPr lang="zh-CN" altLang="en-US" sz="2800" b="1" dirty="0">
                <a:latin typeface="Times New Roman" pitchFamily="18" charset="0"/>
              </a:rPr>
              <a:t>证明不存在具有奇数个面且每个面都具有奇</a:t>
            </a:r>
          </a:p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800" b="1" dirty="0">
                <a:latin typeface="Times New Roman" pitchFamily="18" charset="0"/>
              </a:rPr>
              <a:t>             数条棱的多面体.</a:t>
            </a:r>
          </a:p>
        </p:txBody>
      </p:sp>
      <p:sp>
        <p:nvSpPr>
          <p:cNvPr id="30725" name="矩形 4"/>
          <p:cNvSpPr>
            <a:spLocks noChangeArrowheads="1"/>
          </p:cNvSpPr>
          <p:nvPr/>
        </p:nvSpPr>
        <p:spPr bwMode="auto">
          <a:xfrm>
            <a:off x="428625" y="2786063"/>
            <a:ext cx="8429625" cy="278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</a:rPr>
              <a:t>证明：</a:t>
            </a:r>
            <a:r>
              <a:rPr lang="zh-CN" altLang="en-US" sz="2800" b="1" dirty="0">
                <a:latin typeface="Times New Roman" pitchFamily="18" charset="0"/>
              </a:rPr>
              <a:t>  用反证法</a:t>
            </a:r>
            <a:r>
              <a:rPr lang="en-US" altLang="zh-CN" sz="2800" b="1" dirty="0">
                <a:latin typeface="Times New Roman" pitchFamily="18" charset="0"/>
              </a:rPr>
              <a:t>. </a:t>
            </a:r>
            <a:r>
              <a:rPr lang="zh-CN" altLang="en-US" sz="2800" b="1" dirty="0">
                <a:latin typeface="Times New Roman" pitchFamily="18" charset="0"/>
              </a:rPr>
              <a:t>假设存在这样的多面体</a:t>
            </a:r>
            <a:r>
              <a:rPr lang="en-US" altLang="zh-CN" sz="2800" b="1" dirty="0">
                <a:latin typeface="Times New Roman" pitchFamily="18" charset="0"/>
              </a:rPr>
              <a:t>, 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Times New Roman" pitchFamily="18" charset="0"/>
              </a:rPr>
              <a:t>    </a:t>
            </a:r>
            <a:r>
              <a:rPr lang="zh-CN" altLang="en-US" sz="2800" b="1" dirty="0">
                <a:latin typeface="Times New Roman" pitchFamily="18" charset="0"/>
              </a:rPr>
              <a:t>作无向图</a:t>
            </a:r>
            <a:r>
              <a:rPr lang="en-US" altLang="zh-CN" sz="2800" b="1" i="1" dirty="0">
                <a:latin typeface="Times New Roman" pitchFamily="18" charset="0"/>
              </a:rPr>
              <a:t>G</a:t>
            </a:r>
            <a:r>
              <a:rPr lang="en-US" altLang="zh-CN" sz="2800" b="1" dirty="0">
                <a:latin typeface="Times New Roman" pitchFamily="18" charset="0"/>
              </a:rPr>
              <a:t>=&lt;</a:t>
            </a:r>
            <a:r>
              <a:rPr lang="en-US" altLang="zh-CN" sz="2800" b="1" i="1" dirty="0">
                <a:latin typeface="Times New Roman" pitchFamily="18" charset="0"/>
              </a:rPr>
              <a:t>V,E</a:t>
            </a:r>
            <a:r>
              <a:rPr lang="en-US" altLang="zh-CN" sz="2800" b="1" dirty="0">
                <a:latin typeface="Times New Roman" pitchFamily="18" charset="0"/>
              </a:rPr>
              <a:t>&gt;,   </a:t>
            </a:r>
            <a:r>
              <a:rPr lang="zh-CN" altLang="en-US" sz="2800" b="1" dirty="0">
                <a:latin typeface="Times New Roman" pitchFamily="18" charset="0"/>
              </a:rPr>
              <a:t>其中</a:t>
            </a:r>
            <a:r>
              <a:rPr lang="en-US" altLang="zh-CN" sz="2800" b="1" i="1" dirty="0">
                <a:latin typeface="Times New Roman" pitchFamily="18" charset="0"/>
              </a:rPr>
              <a:t>V</a:t>
            </a:r>
            <a:r>
              <a:rPr lang="en-US" altLang="zh-CN" sz="2800" b="1" dirty="0">
                <a:latin typeface="Times New Roman" pitchFamily="18" charset="0"/>
              </a:rPr>
              <a:t>={</a:t>
            </a:r>
            <a:r>
              <a:rPr lang="en-US" altLang="zh-CN" sz="2800" b="1" i="1" dirty="0">
                <a:latin typeface="Times New Roman" pitchFamily="18" charset="0"/>
              </a:rPr>
              <a:t>v </a:t>
            </a:r>
            <a:r>
              <a:rPr lang="en-US" altLang="zh-CN" sz="2800" b="1" dirty="0">
                <a:latin typeface="Times New Roman" pitchFamily="18" charset="0"/>
              </a:rPr>
              <a:t>| </a:t>
            </a:r>
            <a:r>
              <a:rPr lang="en-US" altLang="zh-CN" sz="2800" b="1" i="1" dirty="0">
                <a:latin typeface="Times New Roman" pitchFamily="18" charset="0"/>
              </a:rPr>
              <a:t>v</a:t>
            </a:r>
            <a:r>
              <a:rPr lang="zh-CN" altLang="en-US" sz="2800" b="1" dirty="0">
                <a:latin typeface="Times New Roman" pitchFamily="18" charset="0"/>
              </a:rPr>
              <a:t>为多面体的面</a:t>
            </a:r>
            <a:r>
              <a:rPr lang="en-US" altLang="zh-CN" sz="2800" b="1" dirty="0">
                <a:latin typeface="Times New Roman" pitchFamily="18" charset="0"/>
              </a:rPr>
              <a:t>},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Times New Roman" pitchFamily="18" charset="0"/>
              </a:rPr>
              <a:t>    </a:t>
            </a:r>
            <a:r>
              <a:rPr lang="en-US" altLang="zh-CN" sz="2800" b="1" i="1" dirty="0">
                <a:latin typeface="Times New Roman" pitchFamily="18" charset="0"/>
              </a:rPr>
              <a:t>E</a:t>
            </a:r>
            <a:r>
              <a:rPr lang="en-US" altLang="zh-CN" sz="2800" b="1" dirty="0">
                <a:latin typeface="Times New Roman" pitchFamily="18" charset="0"/>
              </a:rPr>
              <a:t>={(</a:t>
            </a:r>
            <a:r>
              <a:rPr lang="en-US" altLang="zh-CN" sz="2800" b="1" i="1" dirty="0" err="1">
                <a:latin typeface="Times New Roman" pitchFamily="18" charset="0"/>
              </a:rPr>
              <a:t>u,v</a:t>
            </a:r>
            <a:r>
              <a:rPr lang="en-US" altLang="zh-CN" sz="2800" b="1" dirty="0">
                <a:latin typeface="Times New Roman" pitchFamily="18" charset="0"/>
              </a:rPr>
              <a:t>) | </a:t>
            </a:r>
            <a:r>
              <a:rPr lang="en-US" altLang="zh-CN" sz="2800" b="1" i="1" dirty="0" err="1">
                <a:latin typeface="Times New Roman" pitchFamily="18" charset="0"/>
              </a:rPr>
              <a:t>u,v</a:t>
            </a:r>
            <a:r>
              <a:rPr lang="en-US" altLang="zh-CN" sz="2800" b="1" dirty="0" err="1">
                <a:sym typeface="Symbol" pitchFamily="18" charset="2"/>
              </a:rPr>
              <a:t></a:t>
            </a:r>
            <a:r>
              <a:rPr lang="en-US" altLang="zh-CN" sz="2800" b="1" i="1" dirty="0" err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 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u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与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v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有公共的棱  </a:t>
            </a:r>
            <a:r>
              <a:rPr lang="en-US" altLang="zh-CN" sz="2800" b="1" i="1" dirty="0" err="1">
                <a:latin typeface="Times New Roman" pitchFamily="18" charset="0"/>
                <a:sym typeface="Symbol" pitchFamily="18" charset="2"/>
              </a:rPr>
              <a:t>u</a:t>
            </a:r>
            <a:r>
              <a:rPr lang="en-US" altLang="zh-CN" sz="2800" b="1" dirty="0" err="1">
                <a:sym typeface="Symbol" pitchFamily="18" charset="2"/>
              </a:rPr>
              <a:t></a:t>
            </a:r>
            <a:r>
              <a:rPr lang="en-US" altLang="zh-CN" sz="2800" b="1" i="1" dirty="0" err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}.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   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根据假设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, |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|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为奇数且</a:t>
            </a:r>
            <a:r>
              <a:rPr lang="en-US" altLang="zh-CN" sz="2800" b="1" i="1" dirty="0" err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 err="1">
                <a:sym typeface="Symbol" pitchFamily="18" charset="2"/>
              </a:rPr>
              <a:t></a:t>
            </a:r>
            <a:r>
              <a:rPr lang="en-US" altLang="zh-CN" sz="2800" b="1" i="1" dirty="0" err="1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d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2800" b="1" i="1" dirty="0">
                <a:latin typeface="Times New Roman" pitchFamily="18" charset="0"/>
                <a:sym typeface="Symbol" pitchFamily="18" charset="2"/>
              </a:rPr>
              <a:t>v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为奇数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. 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这与握手</a:t>
            </a:r>
            <a:endParaRPr lang="en-US" altLang="zh-CN" sz="2800" b="1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    </a:t>
            </a:r>
            <a:r>
              <a:rPr lang="zh-CN" altLang="en-US" sz="2800" b="1" dirty="0">
                <a:latin typeface="Times New Roman" pitchFamily="18" charset="0"/>
                <a:sym typeface="Symbol" pitchFamily="18" charset="2"/>
              </a:rPr>
              <a:t>定理的推论矛盾</a:t>
            </a:r>
            <a:r>
              <a:rPr lang="en-US" altLang="zh-CN" sz="2800" b="1" dirty="0">
                <a:latin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323850" y="0"/>
            <a:ext cx="8002588" cy="11001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图论练习答案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719141-48A2-4DBD-BE5B-30BE6624DED3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357158" y="1285860"/>
            <a:ext cx="878684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hlink"/>
              </a:buClr>
              <a:buSzPct val="80000"/>
              <a:buNone/>
            </a:pPr>
            <a:r>
              <a:rPr lang="en-US" altLang="zh-CN" sz="3200" b="1" dirty="0">
                <a:latin typeface="Times New Roman" pitchFamily="18" charset="0"/>
              </a:rPr>
              <a:t>2 </a:t>
            </a:r>
            <a:r>
              <a:rPr lang="zh-CN" altLang="en-US" sz="3200" b="1" dirty="0">
                <a:latin typeface="Times New Roman" pitchFamily="18" charset="0"/>
              </a:rPr>
              <a:t>设</a:t>
            </a:r>
            <a:r>
              <a:rPr lang="en-US" altLang="zh-CN" sz="3200" b="1" dirty="0">
                <a:latin typeface="Times New Roman" pitchFamily="18" charset="0"/>
              </a:rPr>
              <a:t>G</a:t>
            </a:r>
            <a:r>
              <a:rPr lang="zh-CN" altLang="en-US" sz="3200" b="1" dirty="0">
                <a:latin typeface="Times New Roman" pitchFamily="18" charset="0"/>
              </a:rPr>
              <a:t>是具有</a:t>
            </a:r>
            <a:r>
              <a:rPr lang="en-US" altLang="zh-CN" sz="3200" b="1" dirty="0">
                <a:latin typeface="Times New Roman" pitchFamily="18" charset="0"/>
              </a:rPr>
              <a:t>8</a:t>
            </a:r>
            <a:r>
              <a:rPr lang="zh-CN" altLang="en-US" sz="3200" b="1" dirty="0">
                <a:latin typeface="Times New Roman" pitchFamily="18" charset="0"/>
              </a:rPr>
              <a:t>个顶点的树，则</a:t>
            </a:r>
            <a:r>
              <a:rPr lang="en-US" altLang="zh-CN" sz="3200" b="1" dirty="0">
                <a:latin typeface="Times New Roman" pitchFamily="18" charset="0"/>
              </a:rPr>
              <a:t>G</a:t>
            </a:r>
            <a:r>
              <a:rPr lang="zh-CN" altLang="en-US" sz="3200" b="1" dirty="0">
                <a:latin typeface="Times New Roman" pitchFamily="18" charset="0"/>
              </a:rPr>
              <a:t>中增加（</a:t>
            </a:r>
            <a:r>
              <a:rPr lang="en-US" altLang="zh-CN" sz="3200" b="1" dirty="0">
                <a:latin typeface="Times New Roman" pitchFamily="18" charset="0"/>
              </a:rPr>
              <a:t>21</a:t>
            </a:r>
            <a:r>
              <a:rPr lang="zh-CN" altLang="en-US" sz="3200" b="1" dirty="0">
                <a:latin typeface="Times New Roman" pitchFamily="18" charset="0"/>
              </a:rPr>
              <a:t>）</a:t>
            </a:r>
            <a:r>
              <a:rPr lang="zh-CN" altLang="en-US" sz="3200" b="1" u="sng" dirty="0">
                <a:latin typeface="Times New Roman" pitchFamily="18" charset="0"/>
              </a:rPr>
              <a:t>条</a:t>
            </a:r>
            <a:r>
              <a:rPr lang="zh-CN" altLang="en-US" sz="3200" b="1" dirty="0">
                <a:latin typeface="Times New Roman" pitchFamily="18" charset="0"/>
              </a:rPr>
              <a:t>边才能把</a:t>
            </a:r>
            <a:r>
              <a:rPr lang="en-US" altLang="zh-CN" sz="3200" b="1" dirty="0">
                <a:latin typeface="Times New Roman" pitchFamily="18" charset="0"/>
              </a:rPr>
              <a:t>G</a:t>
            </a:r>
            <a:r>
              <a:rPr lang="zh-CN" altLang="en-US" sz="3200" b="1" dirty="0">
                <a:latin typeface="Times New Roman" pitchFamily="18" charset="0"/>
              </a:rPr>
              <a:t>变成完全图。  </a:t>
            </a:r>
            <a:endParaRPr lang="en-US" altLang="zh-CN" sz="3200" b="1" dirty="0">
              <a:latin typeface="Times New Roman" pitchFamily="18" charset="0"/>
            </a:endParaRPr>
          </a:p>
          <a:p>
            <a:pPr>
              <a:buClr>
                <a:schemeClr val="hlink"/>
              </a:buClr>
              <a:buSzPct val="80000"/>
              <a:buNone/>
            </a:pPr>
            <a:endParaRPr lang="en-US" altLang="zh-CN" sz="3200" b="1" dirty="0">
              <a:latin typeface="Times New Roman" pitchFamily="18" charset="0"/>
            </a:endParaRPr>
          </a:p>
          <a:p>
            <a:pPr>
              <a:buClr>
                <a:schemeClr val="hlink"/>
              </a:buClr>
              <a:buSzPct val="80000"/>
              <a:buNone/>
            </a:pPr>
            <a:r>
              <a:rPr lang="zh-CN" altLang="en-US" sz="3200" b="1" dirty="0">
                <a:latin typeface="Times New Roman" pitchFamily="18" charset="0"/>
              </a:rPr>
              <a:t>    </a:t>
            </a:r>
            <a:r>
              <a:rPr lang="en-US" altLang="zh-CN" sz="3200" b="1" dirty="0">
                <a:latin typeface="Times New Roman" pitchFamily="18" charset="0"/>
              </a:rPr>
              <a:t>8</a:t>
            </a:r>
            <a:r>
              <a:rPr lang="zh-CN" altLang="en-US" sz="3200" b="1" dirty="0">
                <a:latin typeface="Times New Roman" pitchFamily="18" charset="0"/>
              </a:rPr>
              <a:t>个顶点的树有</a:t>
            </a:r>
            <a:r>
              <a:rPr lang="en-US" altLang="zh-CN" sz="3200" b="1" dirty="0">
                <a:latin typeface="Times New Roman" pitchFamily="18" charset="0"/>
              </a:rPr>
              <a:t>7</a:t>
            </a:r>
            <a:r>
              <a:rPr lang="zh-CN" altLang="en-US" sz="3200" b="1" dirty="0">
                <a:latin typeface="Times New Roman" pitchFamily="18" charset="0"/>
              </a:rPr>
              <a:t>条边， </a:t>
            </a:r>
            <a:r>
              <a:rPr lang="en-US" altLang="zh-CN" sz="3200" b="1" dirty="0">
                <a:latin typeface="Times New Roman" pitchFamily="18" charset="0"/>
              </a:rPr>
              <a:t>8</a:t>
            </a:r>
            <a:r>
              <a:rPr lang="zh-CN" altLang="en-US" sz="3200" b="1" dirty="0">
                <a:latin typeface="Times New Roman" pitchFamily="18" charset="0"/>
              </a:rPr>
              <a:t>个顶点的完全图边数为</a:t>
            </a:r>
            <a:r>
              <a:rPr lang="en-US" altLang="zh-CN" sz="3200" b="1" dirty="0">
                <a:latin typeface="Times New Roman" pitchFamily="18" charset="0"/>
              </a:rPr>
              <a:t>8×7/2=28</a:t>
            </a:r>
            <a:r>
              <a:rPr lang="zh-CN" altLang="en-US" sz="3200" b="1" dirty="0">
                <a:latin typeface="Times New Roman" pitchFamily="18" charset="0"/>
              </a:rPr>
              <a:t>，</a:t>
            </a:r>
            <a:r>
              <a:rPr lang="en-US" altLang="zh-CN" sz="3200" b="1" dirty="0">
                <a:latin typeface="Times New Roman" pitchFamily="18" charset="0"/>
              </a:rPr>
              <a:t>28-7=21</a:t>
            </a:r>
            <a:r>
              <a:rPr lang="zh-CN" altLang="en-US" sz="3200" b="1" dirty="0">
                <a:latin typeface="Times New Roman" pitchFamily="18" charset="0"/>
              </a:rPr>
              <a:t>条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28596" y="0"/>
            <a:ext cx="8002588" cy="11001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图论练习答案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6"/>
          <p:cNvSpPr txBox="1">
            <a:spLocks noChangeArrowheads="1"/>
          </p:cNvSpPr>
          <p:nvPr/>
        </p:nvSpPr>
        <p:spPr bwMode="auto">
          <a:xfrm>
            <a:off x="395288" y="1412875"/>
            <a:ext cx="8077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3</a:t>
            </a:r>
            <a:r>
              <a:rPr lang="zh-CN" altLang="en-US" sz="2800" dirty="0"/>
              <a:t>、图</a:t>
            </a:r>
            <a:r>
              <a:rPr lang="en-US" altLang="zh-CN" sz="2800" dirty="0"/>
              <a:t>G</a:t>
            </a:r>
            <a:r>
              <a:rPr lang="zh-CN" altLang="en-US" sz="2800" dirty="0"/>
              <a:t>如右图所示，以下说法正确的是（</a:t>
            </a:r>
            <a:r>
              <a:rPr lang="en-US" altLang="zh-CN" sz="2800" dirty="0"/>
              <a:t>C</a:t>
            </a:r>
            <a:r>
              <a:rPr lang="zh-CN" altLang="en-US" sz="2800" dirty="0"/>
              <a:t>）。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A {(</a:t>
            </a:r>
            <a:r>
              <a:rPr lang="en-US" altLang="zh-CN" sz="2800" dirty="0" err="1"/>
              <a:t>a,d</a:t>
            </a:r>
            <a:r>
              <a:rPr lang="en-US" altLang="zh-CN" sz="2800" dirty="0"/>
              <a:t>)}</a:t>
            </a:r>
            <a:r>
              <a:rPr lang="zh-CN" altLang="en-US" sz="2800" dirty="0"/>
              <a:t>是割边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B {(</a:t>
            </a:r>
            <a:r>
              <a:rPr lang="en-US" altLang="zh-CN" sz="2800" dirty="0" err="1"/>
              <a:t>a,d</a:t>
            </a:r>
            <a:r>
              <a:rPr lang="en-US" altLang="zh-CN" sz="2800" dirty="0"/>
              <a:t>)}</a:t>
            </a:r>
            <a:r>
              <a:rPr lang="zh-CN" altLang="en-US" sz="2800" dirty="0"/>
              <a:t>是边割集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C {(</a:t>
            </a:r>
            <a:r>
              <a:rPr lang="en-US" altLang="zh-CN" sz="2800" dirty="0" err="1"/>
              <a:t>d,e</a:t>
            </a:r>
            <a:r>
              <a:rPr lang="en-US" altLang="zh-CN" sz="2800" dirty="0"/>
              <a:t>)}</a:t>
            </a:r>
            <a:r>
              <a:rPr lang="zh-CN" altLang="en-US" sz="2800" dirty="0"/>
              <a:t>是边割集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2800" dirty="0"/>
              <a:t>D {(</a:t>
            </a:r>
            <a:r>
              <a:rPr lang="en-US" altLang="zh-CN" sz="2800" dirty="0" err="1"/>
              <a:t>a,d</a:t>
            </a:r>
            <a:r>
              <a:rPr lang="en-US" altLang="zh-CN" sz="2800" dirty="0"/>
              <a:t>) ,(a, c)}</a:t>
            </a:r>
            <a:r>
              <a:rPr lang="zh-CN" altLang="en-US" sz="2800" dirty="0"/>
              <a:t>是边割集 </a:t>
            </a:r>
          </a:p>
        </p:txBody>
      </p:sp>
      <p:pic>
        <p:nvPicPr>
          <p:cNvPr id="86020" name="图片 4"/>
          <p:cNvPicPr>
            <a:picLocks noChangeAspect="1" noChangeArrowheads="1"/>
          </p:cNvPicPr>
          <p:nvPr/>
        </p:nvPicPr>
        <p:blipFill>
          <a:blip r:embed="rId2"/>
          <a:srcRect l="41174" t="33051" r="42662" b="45953"/>
          <a:stretch>
            <a:fillRect/>
          </a:stretch>
        </p:blipFill>
        <p:spPr bwMode="auto">
          <a:xfrm>
            <a:off x="4433888" y="2133600"/>
            <a:ext cx="4386262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图论练习答案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E0EDA4-EF0B-496F-9731-E6D3EB6447D2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5720" y="1214422"/>
            <a:ext cx="82868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zh-CN" sz="3200" dirty="0">
                <a:latin typeface="+mn-ea"/>
                <a:ea typeface="+mn-ea"/>
              </a:rPr>
              <a:t>4 </a:t>
            </a:r>
            <a:r>
              <a:rPr lang="zh-CN" altLang="en-US" sz="3200" dirty="0">
                <a:latin typeface="+mn-ea"/>
                <a:ea typeface="+mn-ea"/>
              </a:rPr>
              <a:t>设有</a:t>
            </a:r>
            <a:r>
              <a:rPr lang="en-US" altLang="zh-CN" sz="3200" dirty="0" err="1">
                <a:latin typeface="+mn-ea"/>
                <a:ea typeface="+mn-ea"/>
              </a:rPr>
              <a:t>a,b,c,d,e,f,g</a:t>
            </a:r>
            <a:r>
              <a:rPr lang="zh-CN" altLang="en-US" sz="3200" dirty="0">
                <a:latin typeface="+mn-ea"/>
                <a:ea typeface="+mn-ea"/>
              </a:rPr>
              <a:t>等七个人，已知</a:t>
            </a:r>
            <a:r>
              <a:rPr lang="en-US" altLang="zh-CN" sz="3200" dirty="0">
                <a:latin typeface="+mn-ea"/>
                <a:ea typeface="+mn-ea"/>
              </a:rPr>
              <a:t>a</a:t>
            </a:r>
            <a:r>
              <a:rPr lang="zh-CN" altLang="en-US" sz="3200" dirty="0">
                <a:latin typeface="+mn-ea"/>
                <a:ea typeface="+mn-ea"/>
              </a:rPr>
              <a:t>会讲英语；</a:t>
            </a:r>
            <a:r>
              <a:rPr lang="en-US" altLang="zh-CN" sz="3200" dirty="0">
                <a:latin typeface="+mn-ea"/>
                <a:ea typeface="+mn-ea"/>
              </a:rPr>
              <a:t>b</a:t>
            </a:r>
            <a:r>
              <a:rPr lang="zh-CN" altLang="en-US" sz="3200" dirty="0">
                <a:latin typeface="+mn-ea"/>
                <a:ea typeface="+mn-ea"/>
              </a:rPr>
              <a:t>会讲英语、汉语；</a:t>
            </a:r>
            <a:r>
              <a:rPr lang="en-US" altLang="zh-CN" sz="3200" dirty="0">
                <a:latin typeface="+mn-ea"/>
                <a:ea typeface="+mn-ea"/>
              </a:rPr>
              <a:t>c</a:t>
            </a:r>
            <a:r>
              <a:rPr lang="zh-CN" altLang="en-US" sz="3200" dirty="0">
                <a:latin typeface="+mn-ea"/>
                <a:ea typeface="+mn-ea"/>
              </a:rPr>
              <a:t>会讲英、俄语；</a:t>
            </a:r>
            <a:r>
              <a:rPr lang="en-US" altLang="zh-CN" sz="3200" dirty="0">
                <a:latin typeface="+mn-ea"/>
                <a:ea typeface="+mn-ea"/>
              </a:rPr>
              <a:t>d</a:t>
            </a:r>
            <a:r>
              <a:rPr lang="zh-CN" altLang="en-US" sz="3200" dirty="0">
                <a:latin typeface="+mn-ea"/>
                <a:ea typeface="+mn-ea"/>
              </a:rPr>
              <a:t>会讲日、汉语；</a:t>
            </a:r>
            <a:r>
              <a:rPr lang="en-US" altLang="zh-CN" sz="3200" dirty="0">
                <a:latin typeface="+mn-ea"/>
                <a:ea typeface="+mn-ea"/>
              </a:rPr>
              <a:t>e</a:t>
            </a:r>
            <a:r>
              <a:rPr lang="zh-CN" altLang="en-US" sz="3200" dirty="0">
                <a:latin typeface="+mn-ea"/>
                <a:ea typeface="+mn-ea"/>
              </a:rPr>
              <a:t>会讲德语、俄语；</a:t>
            </a:r>
            <a:r>
              <a:rPr lang="en-US" altLang="zh-CN" sz="3200" dirty="0">
                <a:latin typeface="+mn-ea"/>
                <a:ea typeface="+mn-ea"/>
              </a:rPr>
              <a:t>f</a:t>
            </a:r>
            <a:r>
              <a:rPr lang="zh-CN" altLang="en-US" sz="3200" dirty="0">
                <a:latin typeface="+mn-ea"/>
                <a:ea typeface="+mn-ea"/>
              </a:rPr>
              <a:t>会讲法语、日语；</a:t>
            </a:r>
            <a:r>
              <a:rPr lang="en-US" altLang="zh-CN" sz="3200" dirty="0">
                <a:latin typeface="+mn-ea"/>
                <a:ea typeface="+mn-ea"/>
              </a:rPr>
              <a:t>g</a:t>
            </a:r>
            <a:r>
              <a:rPr lang="zh-CN" altLang="en-US" sz="3200" dirty="0">
                <a:latin typeface="+mn-ea"/>
                <a:ea typeface="+mn-ea"/>
              </a:rPr>
              <a:t>会讲法语、德语。试用图论方法安排圆桌座位，使每人都能与其身边的人交谈。</a:t>
            </a:r>
          </a:p>
        </p:txBody>
      </p:sp>
      <p:sp>
        <p:nvSpPr>
          <p:cNvPr id="7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图论练习答案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571604" y="3857628"/>
          <a:ext cx="2214578" cy="2730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公式" r:id="rId4" imgW="1307880" imgH="1612800" progId="Equation.3">
                  <p:embed/>
                </p:oleObj>
              </mc:Choice>
              <mc:Fallback>
                <p:oleObj name="公式" r:id="rId4" imgW="1307880" imgH="1612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3857628"/>
                        <a:ext cx="2214578" cy="27305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Pixel">
  <a:themeElements>
    <a:clrScheme name="2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2_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2488</TotalTime>
  <Words>2576</Words>
  <Application>Microsoft Office PowerPoint</Application>
  <PresentationFormat>全屏显示(4:3)</PresentationFormat>
  <Paragraphs>249</Paragraphs>
  <Slides>32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宋体</vt:lpstr>
      <vt:lpstr>Arial</vt:lpstr>
      <vt:lpstr>Arial Black</vt:lpstr>
      <vt:lpstr>Times New Roman</vt:lpstr>
      <vt:lpstr>Wingdings</vt:lpstr>
      <vt:lpstr>1_Pixel</vt:lpstr>
      <vt:lpstr>2_Pixel</vt:lpstr>
      <vt:lpstr>公式</vt:lpstr>
      <vt:lpstr>Equation</vt:lpstr>
      <vt:lpstr>5.2 通路、回路与图的连通性 </vt:lpstr>
      <vt:lpstr>通路与回路 </vt:lpstr>
      <vt:lpstr>通路与回路(续)</vt:lpstr>
      <vt:lpstr>通路与回路(续) </vt:lpstr>
      <vt:lpstr>无向图的连通性 </vt:lpstr>
      <vt:lpstr>短程线与距离</vt:lpstr>
      <vt:lpstr>点割集 </vt:lpstr>
      <vt:lpstr>点割集(续)</vt:lpstr>
      <vt:lpstr>边割集</vt:lpstr>
      <vt:lpstr>边割集(续)</vt:lpstr>
      <vt:lpstr>有向图的连通性 </vt:lpstr>
      <vt:lpstr>有向图的连通性(续) </vt:lpstr>
      <vt:lpstr>有向图的短程线与距离</vt:lpstr>
      <vt:lpstr>5.3 图的矩阵表示 </vt:lpstr>
      <vt:lpstr>无向图的关联矩阵</vt:lpstr>
      <vt:lpstr>PowerPoint 演示文稿</vt:lpstr>
      <vt:lpstr>有向图的关联矩阵</vt:lpstr>
      <vt:lpstr>PowerPoint 演示文稿</vt:lpstr>
      <vt:lpstr>有向图的邻接矩阵</vt:lpstr>
      <vt:lpstr>PowerPoint 演示文稿</vt:lpstr>
      <vt:lpstr>D中的通路及回路数</vt:lpstr>
      <vt:lpstr>D中的通路及回路数(续)</vt:lpstr>
      <vt:lpstr>例(续)</vt:lpstr>
      <vt:lpstr>有向图的可达矩阵</vt:lpstr>
      <vt:lpstr>有向图的可达矩阵(续)</vt:lpstr>
      <vt:lpstr>图论练习</vt:lpstr>
      <vt:lpstr>图论练习</vt:lpstr>
      <vt:lpstr>图论练习</vt:lpstr>
      <vt:lpstr>PowerPoint 演示文稿</vt:lpstr>
      <vt:lpstr>PowerPoint 演示文稿</vt:lpstr>
      <vt:lpstr>  图论练习答案</vt:lpstr>
      <vt:lpstr>  图论练习答案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集合论</dc:title>
  <dc:creator>Qu Wan Ling</dc:creator>
  <cp:lastModifiedBy>chuchu murongchuchu</cp:lastModifiedBy>
  <cp:revision>88</cp:revision>
  <cp:lastPrinted>1601-01-01T00:00:00Z</cp:lastPrinted>
  <dcterms:created xsi:type="dcterms:W3CDTF">2004-11-29T12:10:45Z</dcterms:created>
  <dcterms:modified xsi:type="dcterms:W3CDTF">2023-12-03T13:58:18Z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